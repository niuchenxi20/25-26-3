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notesMasterIdLst>
    <p:notesMasterId r:id="rId21"/>
  </p:notesMasterIdLst>
  <p:sldIdLst>
    <p:sldId id="319" r:id="rId2"/>
    <p:sldId id="280" r:id="rId3"/>
    <p:sldId id="321" r:id="rId4"/>
    <p:sldId id="325" r:id="rId5"/>
    <p:sldId id="322" r:id="rId6"/>
    <p:sldId id="323" r:id="rId7"/>
    <p:sldId id="324" r:id="rId8"/>
    <p:sldId id="326" r:id="rId9"/>
    <p:sldId id="329" r:id="rId10"/>
    <p:sldId id="327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40" r:id="rId19"/>
    <p:sldId id="320" r:id="rId20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802" autoAdjust="0"/>
  </p:normalViewPr>
  <p:slideViewPr>
    <p:cSldViewPr>
      <p:cViewPr varScale="1">
        <p:scale>
          <a:sx n="67" d="100"/>
          <a:sy n="67" d="100"/>
        </p:scale>
        <p:origin x="64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7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12" Type="http://schemas.openxmlformats.org/officeDocument/2006/relationships/image" Target="../media/image16.wmf"/><Relationship Id="rId17" Type="http://schemas.openxmlformats.org/officeDocument/2006/relationships/image" Target="../media/image21.wmf"/><Relationship Id="rId2" Type="http://schemas.openxmlformats.org/officeDocument/2006/relationships/image" Target="../media/image5.wmf"/><Relationship Id="rId16" Type="http://schemas.openxmlformats.org/officeDocument/2006/relationships/image" Target="../media/image20.wmf"/><Relationship Id="rId1" Type="http://schemas.openxmlformats.org/officeDocument/2006/relationships/image" Target="../media/image3.w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5" Type="http://schemas.openxmlformats.org/officeDocument/2006/relationships/image" Target="../media/image9.wmf"/><Relationship Id="rId15" Type="http://schemas.openxmlformats.org/officeDocument/2006/relationships/image" Target="../media/image1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Relationship Id="rId1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45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12" Type="http://schemas.openxmlformats.org/officeDocument/2006/relationships/image" Target="../media/image44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Relationship Id="rId14" Type="http://schemas.openxmlformats.org/officeDocument/2006/relationships/image" Target="../media/image4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4" Type="http://schemas.openxmlformats.org/officeDocument/2006/relationships/image" Target="../media/image5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6.wmf"/><Relationship Id="rId7" Type="http://schemas.openxmlformats.org/officeDocument/2006/relationships/image" Target="../media/image9.wmf"/><Relationship Id="rId12" Type="http://schemas.openxmlformats.org/officeDocument/2006/relationships/image" Target="../media/image71.wmf"/><Relationship Id="rId2" Type="http://schemas.openxmlformats.org/officeDocument/2006/relationships/image" Target="../media/image5.wmf"/><Relationship Id="rId1" Type="http://schemas.openxmlformats.org/officeDocument/2006/relationships/image" Target="../media/image3.wmf"/><Relationship Id="rId6" Type="http://schemas.openxmlformats.org/officeDocument/2006/relationships/image" Target="../media/image70.wmf"/><Relationship Id="rId11" Type="http://schemas.openxmlformats.org/officeDocument/2006/relationships/image" Target="../media/image21.wmf"/><Relationship Id="rId5" Type="http://schemas.openxmlformats.org/officeDocument/2006/relationships/image" Target="../media/image69.wmf"/><Relationship Id="rId10" Type="http://schemas.openxmlformats.org/officeDocument/2006/relationships/image" Target="../media/image14.wmf"/><Relationship Id="rId4" Type="http://schemas.openxmlformats.org/officeDocument/2006/relationships/image" Target="../media/image68.wmf"/><Relationship Id="rId9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6.wmf"/><Relationship Id="rId7" Type="http://schemas.openxmlformats.org/officeDocument/2006/relationships/image" Target="../media/image78.wmf"/><Relationship Id="rId2" Type="http://schemas.openxmlformats.org/officeDocument/2006/relationships/image" Target="../media/image5.wmf"/><Relationship Id="rId1" Type="http://schemas.openxmlformats.org/officeDocument/2006/relationships/image" Target="../media/image3.wmf"/><Relationship Id="rId6" Type="http://schemas.openxmlformats.org/officeDocument/2006/relationships/image" Target="../media/image77.wmf"/><Relationship Id="rId5" Type="http://schemas.openxmlformats.org/officeDocument/2006/relationships/image" Target="../media/image71.wmf"/><Relationship Id="rId4" Type="http://schemas.openxmlformats.org/officeDocument/2006/relationships/image" Target="../media/image21.wmf"/><Relationship Id="rId9" Type="http://schemas.openxmlformats.org/officeDocument/2006/relationships/image" Target="../media/image8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image" Target="../media/image117.wmf"/><Relationship Id="rId18" Type="http://schemas.openxmlformats.org/officeDocument/2006/relationships/image" Target="../media/image122.wmf"/><Relationship Id="rId3" Type="http://schemas.openxmlformats.org/officeDocument/2006/relationships/image" Target="../media/image107.wmf"/><Relationship Id="rId21" Type="http://schemas.openxmlformats.org/officeDocument/2006/relationships/image" Target="../media/image125.wmf"/><Relationship Id="rId7" Type="http://schemas.openxmlformats.org/officeDocument/2006/relationships/image" Target="../media/image111.wmf"/><Relationship Id="rId12" Type="http://schemas.openxmlformats.org/officeDocument/2006/relationships/image" Target="../media/image116.wmf"/><Relationship Id="rId17" Type="http://schemas.openxmlformats.org/officeDocument/2006/relationships/image" Target="../media/image121.wmf"/><Relationship Id="rId2" Type="http://schemas.openxmlformats.org/officeDocument/2006/relationships/image" Target="../media/image106.wmf"/><Relationship Id="rId16" Type="http://schemas.openxmlformats.org/officeDocument/2006/relationships/image" Target="../media/image120.wmf"/><Relationship Id="rId20" Type="http://schemas.openxmlformats.org/officeDocument/2006/relationships/image" Target="../media/image124.wmf"/><Relationship Id="rId1" Type="http://schemas.openxmlformats.org/officeDocument/2006/relationships/image" Target="../media/image105.wmf"/><Relationship Id="rId6" Type="http://schemas.openxmlformats.org/officeDocument/2006/relationships/image" Target="../media/image110.wmf"/><Relationship Id="rId11" Type="http://schemas.openxmlformats.org/officeDocument/2006/relationships/image" Target="../media/image115.wmf"/><Relationship Id="rId5" Type="http://schemas.openxmlformats.org/officeDocument/2006/relationships/image" Target="../media/image109.wmf"/><Relationship Id="rId15" Type="http://schemas.openxmlformats.org/officeDocument/2006/relationships/image" Target="../media/image119.wmf"/><Relationship Id="rId10" Type="http://schemas.openxmlformats.org/officeDocument/2006/relationships/image" Target="../media/image114.wmf"/><Relationship Id="rId19" Type="http://schemas.openxmlformats.org/officeDocument/2006/relationships/image" Target="../media/image123.wmf"/><Relationship Id="rId4" Type="http://schemas.openxmlformats.org/officeDocument/2006/relationships/image" Target="../media/image108.wmf"/><Relationship Id="rId9" Type="http://schemas.openxmlformats.org/officeDocument/2006/relationships/image" Target="../media/image113.wmf"/><Relationship Id="rId14" Type="http://schemas.openxmlformats.org/officeDocument/2006/relationships/image" Target="../media/image11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image" Target="../media/image145.wmf"/><Relationship Id="rId7" Type="http://schemas.openxmlformats.org/officeDocument/2006/relationships/image" Target="../media/image149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EF1AF67-5D85-4BDF-9BE3-0669F05422E0}" type="datetimeFigureOut">
              <a:rPr lang="zh-CN" altLang="en-US"/>
              <a:pPr>
                <a:defRPr/>
              </a:pPr>
              <a:t>2026/3/31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5F961-C73F-4324-A9FE-A3438FFF417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8042CA-A2B8-4882-8BAF-F7872B7C4E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915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AB7C3-1A9E-4EB4-BCBD-4955CBDFF6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991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7F129-03C4-41C9-9D67-7948A42170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639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258C4-5148-4590-8A3B-99FC5DAC30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337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9D1A5D-859D-493A-8276-73FB1B10F7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9596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8E7873-8106-47D4-8D65-FBFCEB742D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3749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58C68-DE25-46F0-B0DE-5B514D7F7F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2154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84DA0-D17B-470C-ACCD-CC89BB2A55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104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3E07-8DA5-4D74-AA5E-D2E85C8394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8540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7E36E-7BC5-4C80-A307-EDD2BDF811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211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267E0-C656-43DC-86BF-74388DA7C6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69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40F7CDD-ADE6-4318-9986-1383C3791B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583279-E2D1-A343-4DF1-AB3642BDFC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592" y="50077"/>
            <a:ext cx="720000" cy="714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5.bin"/><Relationship Id="rId3" Type="http://schemas.openxmlformats.org/officeDocument/2006/relationships/image" Target="../media/image7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.wmf"/><Relationship Id="rId4" Type="http://schemas.openxmlformats.org/officeDocument/2006/relationships/image" Target="../media/image8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wmf"/><Relationship Id="rId18" Type="http://schemas.openxmlformats.org/officeDocument/2006/relationships/oleObject" Target="../embeddings/oleObject11.bin"/><Relationship Id="rId26" Type="http://schemas.openxmlformats.org/officeDocument/2006/relationships/image" Target="../media/image15.wmf"/><Relationship Id="rId21" Type="http://schemas.openxmlformats.org/officeDocument/2006/relationships/oleObject" Target="../embeddings/oleObject12.bin"/><Relationship Id="rId34" Type="http://schemas.openxmlformats.org/officeDocument/2006/relationships/image" Target="../media/image19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1.wmf"/><Relationship Id="rId25" Type="http://schemas.openxmlformats.org/officeDocument/2006/relationships/oleObject" Target="../embeddings/oleObject14.bin"/><Relationship Id="rId33" Type="http://schemas.openxmlformats.org/officeDocument/2006/relationships/oleObject" Target="../embeddings/oleObject18.bin"/><Relationship Id="rId38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.bin"/><Relationship Id="rId20" Type="http://schemas.openxmlformats.org/officeDocument/2006/relationships/image" Target="../media/image23.png"/><Relationship Id="rId29" Type="http://schemas.openxmlformats.org/officeDocument/2006/relationships/oleObject" Target="../embeddings/oleObject16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wmf"/><Relationship Id="rId24" Type="http://schemas.openxmlformats.org/officeDocument/2006/relationships/image" Target="../media/image14.wmf"/><Relationship Id="rId32" Type="http://schemas.openxmlformats.org/officeDocument/2006/relationships/image" Target="../media/image18.wmf"/><Relationship Id="rId37" Type="http://schemas.openxmlformats.org/officeDocument/2006/relationships/oleObject" Target="../embeddings/oleObject20.bin"/><Relationship Id="rId5" Type="http://schemas.openxmlformats.org/officeDocument/2006/relationships/image" Target="../media/image3.wmf"/><Relationship Id="rId15" Type="http://schemas.openxmlformats.org/officeDocument/2006/relationships/image" Target="../media/image10.wmf"/><Relationship Id="rId23" Type="http://schemas.openxmlformats.org/officeDocument/2006/relationships/oleObject" Target="../embeddings/oleObject13.bin"/><Relationship Id="rId28" Type="http://schemas.openxmlformats.org/officeDocument/2006/relationships/image" Target="../media/image16.wmf"/><Relationship Id="rId36" Type="http://schemas.openxmlformats.org/officeDocument/2006/relationships/image" Target="../media/image20.wmf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2.wmf"/><Relationship Id="rId31" Type="http://schemas.openxmlformats.org/officeDocument/2006/relationships/oleObject" Target="../embeddings/oleObject17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9.bin"/><Relationship Id="rId22" Type="http://schemas.openxmlformats.org/officeDocument/2006/relationships/image" Target="../media/image13.wmf"/><Relationship Id="rId27" Type="http://schemas.openxmlformats.org/officeDocument/2006/relationships/oleObject" Target="../embeddings/oleObject15.bin"/><Relationship Id="rId30" Type="http://schemas.openxmlformats.org/officeDocument/2006/relationships/image" Target="../media/image17.wmf"/><Relationship Id="rId35" Type="http://schemas.openxmlformats.org/officeDocument/2006/relationships/oleObject" Target="../embeddings/oleObject19.bin"/><Relationship Id="rId8" Type="http://schemas.openxmlformats.org/officeDocument/2006/relationships/oleObject" Target="../embeddings/oleObject6.bin"/><Relationship Id="rId3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29.wmf"/><Relationship Id="rId3" Type="http://schemas.openxmlformats.org/officeDocument/2006/relationships/image" Target="../media/image30.png"/><Relationship Id="rId21" Type="http://schemas.openxmlformats.org/officeDocument/2006/relationships/image" Target="../media/image31.png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.wmf"/><Relationship Id="rId20" Type="http://schemas.openxmlformats.org/officeDocument/2006/relationships/image" Target="../media/image34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25.wmf"/><Relationship Id="rId19" Type="http://schemas.openxmlformats.org/officeDocument/2006/relationships/image" Target="../media/image33.png"/><Relationship Id="rId4" Type="http://schemas.openxmlformats.org/officeDocument/2006/relationships/image" Target="../media/image320.png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7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9.wmf"/><Relationship Id="rId26" Type="http://schemas.openxmlformats.org/officeDocument/2006/relationships/image" Target="../media/image43.wmf"/><Relationship Id="rId3" Type="http://schemas.openxmlformats.org/officeDocument/2006/relationships/image" Target="../media/image47.png"/><Relationship Id="rId21" Type="http://schemas.openxmlformats.org/officeDocument/2006/relationships/oleObject" Target="../embeddings/oleObject36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34.bin"/><Relationship Id="rId25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29" Type="http://schemas.openxmlformats.org/officeDocument/2006/relationships/oleObject" Target="../embeddings/oleObject40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1.bin"/><Relationship Id="rId24" Type="http://schemas.openxmlformats.org/officeDocument/2006/relationships/image" Target="../media/image42.wmf"/><Relationship Id="rId32" Type="http://schemas.openxmlformats.org/officeDocument/2006/relationships/image" Target="../media/image46.wmf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23" Type="http://schemas.openxmlformats.org/officeDocument/2006/relationships/oleObject" Target="../embeddings/oleObject37.bin"/><Relationship Id="rId28" Type="http://schemas.openxmlformats.org/officeDocument/2006/relationships/image" Target="../media/image44.wmf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35.bin"/><Relationship Id="rId31" Type="http://schemas.openxmlformats.org/officeDocument/2006/relationships/oleObject" Target="../embeddings/oleObject41.bin"/><Relationship Id="rId4" Type="http://schemas.openxmlformats.org/officeDocument/2006/relationships/image" Target="../media/image52.png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7.wmf"/><Relationship Id="rId22" Type="http://schemas.openxmlformats.org/officeDocument/2006/relationships/image" Target="../media/image41.wmf"/><Relationship Id="rId27" Type="http://schemas.openxmlformats.org/officeDocument/2006/relationships/oleObject" Target="../embeddings/oleObject39.bin"/><Relationship Id="rId30" Type="http://schemas.openxmlformats.org/officeDocument/2006/relationships/image" Target="../media/image4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9.wmf"/><Relationship Id="rId11" Type="http://schemas.openxmlformats.org/officeDocument/2006/relationships/image" Target="../media/image57.png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56.wmf"/><Relationship Id="rId3" Type="http://schemas.openxmlformats.org/officeDocument/2006/relationships/image" Target="../media/image58.png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5" Type="http://schemas.openxmlformats.org/officeDocument/2006/relationships/image" Target="../media/image65.png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4.wmf"/><Relationship Id="rId1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73.png"/><Relationship Id="rId18" Type="http://schemas.openxmlformats.org/officeDocument/2006/relationships/oleObject" Target="../embeddings/oleObject55.bin"/><Relationship Id="rId3" Type="http://schemas.openxmlformats.org/officeDocument/2006/relationships/image" Target="../media/image66.png"/><Relationship Id="rId21" Type="http://schemas.openxmlformats.org/officeDocument/2006/relationships/image" Target="../media/image63.wmf"/><Relationship Id="rId7" Type="http://schemas.openxmlformats.org/officeDocument/2006/relationships/image" Target="../media/image60.wmf"/><Relationship Id="rId12" Type="http://schemas.openxmlformats.org/officeDocument/2006/relationships/image" Target="../media/image61.wmf"/><Relationship Id="rId17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5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2.bin"/><Relationship Id="rId11" Type="http://schemas.openxmlformats.org/officeDocument/2006/relationships/oleObject" Target="../embeddings/oleObject53.bin"/><Relationship Id="rId5" Type="http://schemas.openxmlformats.org/officeDocument/2006/relationships/image" Target="../media/image59.wmf"/><Relationship Id="rId15" Type="http://schemas.openxmlformats.org/officeDocument/2006/relationships/image" Target="../media/image62.wmf"/><Relationship Id="rId23" Type="http://schemas.openxmlformats.org/officeDocument/2006/relationships/image" Target="../media/image67.png"/><Relationship Id="rId10" Type="http://schemas.openxmlformats.org/officeDocument/2006/relationships/image" Target="../media/image72.png"/><Relationship Id="rId19" Type="http://schemas.openxmlformats.org/officeDocument/2006/relationships/image" Target="../media/image63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54.bin"/><Relationship Id="rId22" Type="http://schemas.openxmlformats.org/officeDocument/2006/relationships/image" Target="../media/image67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69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59.bin"/><Relationship Id="rId3" Type="http://schemas.openxmlformats.org/officeDocument/2006/relationships/image" Target="../media/image74.png"/><Relationship Id="rId21" Type="http://schemas.openxmlformats.org/officeDocument/2006/relationships/image" Target="../media/image13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9.wmf"/><Relationship Id="rId25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2.bin"/><Relationship Id="rId29" Type="http://schemas.openxmlformats.org/officeDocument/2006/relationships/image" Target="../media/image76.png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68.wmf"/><Relationship Id="rId24" Type="http://schemas.openxmlformats.org/officeDocument/2006/relationships/oleObject" Target="../embeddings/oleObject20.bin"/><Relationship Id="rId5" Type="http://schemas.openxmlformats.org/officeDocument/2006/relationships/image" Target="../media/image3.wmf"/><Relationship Id="rId15" Type="http://schemas.openxmlformats.org/officeDocument/2006/relationships/image" Target="../media/image70.wmf"/><Relationship Id="rId23" Type="http://schemas.openxmlformats.org/officeDocument/2006/relationships/image" Target="../media/image14.wmf"/><Relationship Id="rId28" Type="http://schemas.openxmlformats.org/officeDocument/2006/relationships/image" Target="../media/image75.png"/><Relationship Id="rId10" Type="http://schemas.openxmlformats.org/officeDocument/2006/relationships/oleObject" Target="../embeddings/oleObject56.bin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58.bin"/><Relationship Id="rId22" Type="http://schemas.openxmlformats.org/officeDocument/2006/relationships/oleObject" Target="../embeddings/oleObject13.bin"/><Relationship Id="rId27" Type="http://schemas.openxmlformats.org/officeDocument/2006/relationships/image" Target="../media/image7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71.wmf"/><Relationship Id="rId18" Type="http://schemas.openxmlformats.org/officeDocument/2006/relationships/image" Target="../media/image83.png"/><Relationship Id="rId3" Type="http://schemas.openxmlformats.org/officeDocument/2006/relationships/image" Target="../media/image81.png"/><Relationship Id="rId21" Type="http://schemas.openxmlformats.org/officeDocument/2006/relationships/oleObject" Target="../embeddings/oleObject62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20" Type="http://schemas.openxmlformats.org/officeDocument/2006/relationships/image" Target="../media/image78.w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1.wmf"/><Relationship Id="rId24" Type="http://schemas.openxmlformats.org/officeDocument/2006/relationships/image" Target="../media/image80.wmf"/><Relationship Id="rId5" Type="http://schemas.openxmlformats.org/officeDocument/2006/relationships/image" Target="../media/image3.wmf"/><Relationship Id="rId15" Type="http://schemas.openxmlformats.org/officeDocument/2006/relationships/image" Target="../media/image77.wmf"/><Relationship Id="rId23" Type="http://schemas.openxmlformats.org/officeDocument/2006/relationships/oleObject" Target="../embeddings/oleObject63.bin"/><Relationship Id="rId10" Type="http://schemas.openxmlformats.org/officeDocument/2006/relationships/oleObject" Target="../embeddings/oleObject20.bin"/><Relationship Id="rId19" Type="http://schemas.openxmlformats.org/officeDocument/2006/relationships/oleObject" Target="../embeddings/oleObject61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0.bin"/><Relationship Id="rId22" Type="http://schemas.openxmlformats.org/officeDocument/2006/relationships/image" Target="../media/image7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image" Target="../media/image92.png"/><Relationship Id="rId7" Type="http://schemas.openxmlformats.org/officeDocument/2006/relationships/image" Target="../media/image8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82.wmf"/><Relationship Id="rId10" Type="http://schemas.openxmlformats.org/officeDocument/2006/relationships/image" Target="../media/image93.png"/><Relationship Id="rId4" Type="http://schemas.openxmlformats.org/officeDocument/2006/relationships/oleObject" Target="../embeddings/oleObject64.bin"/><Relationship Id="rId9" Type="http://schemas.openxmlformats.org/officeDocument/2006/relationships/image" Target="../media/image8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88.wmf"/><Relationship Id="rId3" Type="http://schemas.openxmlformats.org/officeDocument/2006/relationships/image" Target="../media/image91.png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9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2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87.wmf"/><Relationship Id="rId5" Type="http://schemas.openxmlformats.org/officeDocument/2006/relationships/image" Target="../media/image102.png"/><Relationship Id="rId15" Type="http://schemas.openxmlformats.org/officeDocument/2006/relationships/image" Target="../media/image89.wmf"/><Relationship Id="rId10" Type="http://schemas.openxmlformats.org/officeDocument/2006/relationships/oleObject" Target="../embeddings/oleObject69.bin"/><Relationship Id="rId4" Type="http://schemas.openxmlformats.org/officeDocument/2006/relationships/image" Target="../media/image101.png"/><Relationship Id="rId9" Type="http://schemas.openxmlformats.org/officeDocument/2006/relationships/image" Target="../media/image86.wmf"/><Relationship Id="rId14" Type="http://schemas.openxmlformats.org/officeDocument/2006/relationships/oleObject" Target="../embeddings/oleObject7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114.png"/><Relationship Id="rId3" Type="http://schemas.openxmlformats.org/officeDocument/2006/relationships/image" Target="../media/image98.png"/><Relationship Id="rId21" Type="http://schemas.openxmlformats.org/officeDocument/2006/relationships/image" Target="../media/image104.png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94.wmf"/><Relationship Id="rId17" Type="http://schemas.openxmlformats.org/officeDocument/2006/relationships/image" Target="../media/image10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6.wmf"/><Relationship Id="rId20" Type="http://schemas.openxmlformats.org/officeDocument/2006/relationships/image" Target="../media/image97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0.png"/><Relationship Id="rId11" Type="http://schemas.openxmlformats.org/officeDocument/2006/relationships/oleObject" Target="../embeddings/oleObject75.bin"/><Relationship Id="rId5" Type="http://schemas.openxmlformats.org/officeDocument/2006/relationships/image" Target="../media/image99.png"/><Relationship Id="rId15" Type="http://schemas.openxmlformats.org/officeDocument/2006/relationships/oleObject" Target="../embeddings/oleObject77.bin"/><Relationship Id="rId10" Type="http://schemas.openxmlformats.org/officeDocument/2006/relationships/image" Target="../media/image93.wmf"/><Relationship Id="rId19" Type="http://schemas.openxmlformats.org/officeDocument/2006/relationships/oleObject" Target="../embeddings/oleObject78.bin"/><Relationship Id="rId4" Type="http://schemas.openxmlformats.org/officeDocument/2006/relationships/image" Target="../media/image110.png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95.w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3.bin"/><Relationship Id="rId18" Type="http://schemas.openxmlformats.org/officeDocument/2006/relationships/image" Target="../media/image112.wmf"/><Relationship Id="rId26" Type="http://schemas.openxmlformats.org/officeDocument/2006/relationships/image" Target="../media/image116.wmf"/><Relationship Id="rId39" Type="http://schemas.openxmlformats.org/officeDocument/2006/relationships/oleObject" Target="../embeddings/oleObject96.bin"/><Relationship Id="rId21" Type="http://schemas.openxmlformats.org/officeDocument/2006/relationships/oleObject" Target="../embeddings/oleObject87.bin"/><Relationship Id="rId34" Type="http://schemas.openxmlformats.org/officeDocument/2006/relationships/image" Target="../media/image120.wmf"/><Relationship Id="rId42" Type="http://schemas.openxmlformats.org/officeDocument/2006/relationships/image" Target="../media/image124.wmf"/><Relationship Id="rId7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1.wmf"/><Relationship Id="rId20" Type="http://schemas.openxmlformats.org/officeDocument/2006/relationships/image" Target="../media/image113.wmf"/><Relationship Id="rId29" Type="http://schemas.openxmlformats.org/officeDocument/2006/relationships/oleObject" Target="../embeddings/oleObject91.bin"/><Relationship Id="rId41" Type="http://schemas.openxmlformats.org/officeDocument/2006/relationships/oleObject" Target="../embeddings/oleObject97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82.bin"/><Relationship Id="rId24" Type="http://schemas.openxmlformats.org/officeDocument/2006/relationships/image" Target="../media/image115.wmf"/><Relationship Id="rId32" Type="http://schemas.openxmlformats.org/officeDocument/2006/relationships/image" Target="../media/image119.wmf"/><Relationship Id="rId37" Type="http://schemas.openxmlformats.org/officeDocument/2006/relationships/oleObject" Target="../embeddings/oleObject95.bin"/><Relationship Id="rId40" Type="http://schemas.openxmlformats.org/officeDocument/2006/relationships/image" Target="../media/image123.wmf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8.bin"/><Relationship Id="rId28" Type="http://schemas.openxmlformats.org/officeDocument/2006/relationships/image" Target="../media/image117.wmf"/><Relationship Id="rId36" Type="http://schemas.openxmlformats.org/officeDocument/2006/relationships/image" Target="../media/image121.wmf"/><Relationship Id="rId10" Type="http://schemas.openxmlformats.org/officeDocument/2006/relationships/image" Target="../media/image108.wmf"/><Relationship Id="rId19" Type="http://schemas.openxmlformats.org/officeDocument/2006/relationships/oleObject" Target="../embeddings/oleObject86.bin"/><Relationship Id="rId31" Type="http://schemas.openxmlformats.org/officeDocument/2006/relationships/oleObject" Target="../embeddings/oleObject92.bin"/><Relationship Id="rId44" Type="http://schemas.openxmlformats.org/officeDocument/2006/relationships/image" Target="../media/image125.wmf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110.wmf"/><Relationship Id="rId22" Type="http://schemas.openxmlformats.org/officeDocument/2006/relationships/image" Target="../media/image114.wmf"/><Relationship Id="rId27" Type="http://schemas.openxmlformats.org/officeDocument/2006/relationships/oleObject" Target="../embeddings/oleObject90.bin"/><Relationship Id="rId30" Type="http://schemas.openxmlformats.org/officeDocument/2006/relationships/image" Target="../media/image118.wmf"/><Relationship Id="rId35" Type="http://schemas.openxmlformats.org/officeDocument/2006/relationships/oleObject" Target="../embeddings/oleObject94.bin"/><Relationship Id="rId43" Type="http://schemas.openxmlformats.org/officeDocument/2006/relationships/oleObject" Target="../embeddings/oleObject98.bin"/><Relationship Id="rId8" Type="http://schemas.openxmlformats.org/officeDocument/2006/relationships/image" Target="../media/image107.wmf"/><Relationship Id="rId3" Type="http://schemas.openxmlformats.org/officeDocument/2006/relationships/oleObject" Target="../embeddings/oleObject79.bin"/><Relationship Id="rId12" Type="http://schemas.openxmlformats.org/officeDocument/2006/relationships/image" Target="../media/image109.wmf"/><Relationship Id="rId17" Type="http://schemas.openxmlformats.org/officeDocument/2006/relationships/oleObject" Target="../embeddings/oleObject85.bin"/><Relationship Id="rId25" Type="http://schemas.openxmlformats.org/officeDocument/2006/relationships/oleObject" Target="../embeddings/oleObject89.bin"/><Relationship Id="rId33" Type="http://schemas.openxmlformats.org/officeDocument/2006/relationships/oleObject" Target="../embeddings/oleObject93.bin"/><Relationship Id="rId38" Type="http://schemas.openxmlformats.org/officeDocument/2006/relationships/image" Target="../media/image12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03.bin"/><Relationship Id="rId3" Type="http://schemas.openxmlformats.org/officeDocument/2006/relationships/image" Target="../media/image132.png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29.wmf"/><Relationship Id="rId17" Type="http://schemas.openxmlformats.org/officeDocument/2006/relationships/image" Target="../media/image13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128.wmf"/><Relationship Id="rId4" Type="http://schemas.openxmlformats.org/officeDocument/2006/relationships/image" Target="../media/image133.png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13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39.wmf"/><Relationship Id="rId3" Type="http://schemas.openxmlformats.org/officeDocument/2006/relationships/image" Target="../media/image141.png"/><Relationship Id="rId7" Type="http://schemas.openxmlformats.org/officeDocument/2006/relationships/image" Target="../media/image136.wmf"/><Relationship Id="rId12" Type="http://schemas.openxmlformats.org/officeDocument/2006/relationships/oleObject" Target="../embeddings/oleObject109.bin"/><Relationship Id="rId17" Type="http://schemas.openxmlformats.org/officeDocument/2006/relationships/image" Target="../media/image14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3.png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38.wmf"/><Relationship Id="rId5" Type="http://schemas.openxmlformats.org/officeDocument/2006/relationships/image" Target="../media/image135.wmf"/><Relationship Id="rId15" Type="http://schemas.openxmlformats.org/officeDocument/2006/relationships/image" Target="../media/image140.wmf"/><Relationship Id="rId10" Type="http://schemas.openxmlformats.org/officeDocument/2006/relationships/oleObject" Target="../embeddings/oleObject108.bin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37.wmf"/><Relationship Id="rId14" Type="http://schemas.openxmlformats.org/officeDocument/2006/relationships/oleObject" Target="../embeddings/oleObject11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49.wmf"/><Relationship Id="rId3" Type="http://schemas.openxmlformats.org/officeDocument/2006/relationships/image" Target="../media/image151.png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46.wmf"/><Relationship Id="rId17" Type="http://schemas.openxmlformats.org/officeDocument/2006/relationships/oleObject" Target="../embeddings/oleObject11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8.wmf"/><Relationship Id="rId20" Type="http://schemas.openxmlformats.org/officeDocument/2006/relationships/image" Target="../media/image150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45.wmf"/><Relationship Id="rId19" Type="http://schemas.openxmlformats.org/officeDocument/2006/relationships/oleObject" Target="../embeddings/oleObject118.bin"/><Relationship Id="rId4" Type="http://schemas.openxmlformats.org/officeDocument/2006/relationships/image" Target="../media/image141.png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47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16633"/>
            <a:ext cx="10515600" cy="792088"/>
          </a:xfrm>
        </p:spPr>
        <p:txBody>
          <a:bodyPr/>
          <a:lstStyle/>
          <a:p>
            <a:pPr algn="ctr"/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第二章 静态电磁场</a:t>
            </a:r>
            <a:endParaRPr lang="zh-CN" altLang="en-US" sz="2800" dirty="0"/>
          </a:p>
        </p:txBody>
      </p:sp>
      <p:sp>
        <p:nvSpPr>
          <p:cNvPr id="22" name="Rectangle 3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503712" y="1988840"/>
            <a:ext cx="597666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引言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静电场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恒流电场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恒流磁场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  <a:endParaRPr lang="zh-CN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786388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引言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5182737" y="3356992"/>
            <a:ext cx="6096000" cy="3170099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静态电磁场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不随时间变化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的电场和磁场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在静态电磁场中，电荷和电流也是不随时间变化的恒定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电荷和恒定电流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静态电场与静态磁场没有关联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在麦克斯韦方程组和电荷守恒定律方程中，令对时间的导数等于零，就可以得到静态电磁场的麦克斯韦方程和电荷守恒定律方程，这些方程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中的任何一个方程都没有同时有电场和磁场。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静态电场中，如果电流为零，就是静电场；如果有恒定电流，就是恒定电场。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94892" y="1016693"/>
            <a:ext cx="1080120" cy="400110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电磁场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0613" y="1974875"/>
            <a:ext cx="1512168" cy="707886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时变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电磁场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电磁波</a:t>
            </a:r>
            <a:r>
              <a:rPr lang="en-US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51584" y="1989919"/>
            <a:ext cx="1512168" cy="400110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静态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电磁场</a:t>
            </a:r>
            <a:endParaRPr lang="zh-CN" altLang="en-US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81399" y="3191622"/>
            <a:ext cx="1512168" cy="400110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静态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电场</a:t>
            </a:r>
            <a:endParaRPr lang="zh-CN" altLang="en-US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15680" y="2886890"/>
            <a:ext cx="1512168" cy="707886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静态磁</a:t>
            </a:r>
            <a:r>
              <a:rPr lang="zh-CN" altLang="zh-CN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场</a:t>
            </a:r>
            <a:endParaRPr lang="en-US" altLang="zh-CN" sz="2000" kern="1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恒流磁场</a:t>
            </a:r>
            <a:r>
              <a:rPr lang="en-US" altLang="zh-CN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000" kern="1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51384" y="4081215"/>
                <a:ext cx="1333994" cy="677108"/>
              </a:xfrm>
              <a:prstGeom prst="rect">
                <a:avLst/>
              </a:prstGeom>
              <a:ln w="1905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altLang="zh-CN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kern="1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2000" kern="100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静</a:t>
                </a:r>
                <a:r>
                  <a:rPr lang="zh-CN" altLang="zh-CN" sz="2000" kern="100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电场</a:t>
                </a:r>
                <a:endParaRPr lang="zh-CN" altLang="en-US" sz="2000" kern="1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4081215"/>
                <a:ext cx="1333994" cy="677108"/>
              </a:xfrm>
              <a:prstGeom prst="rect">
                <a:avLst/>
              </a:prstGeom>
              <a:blipFill>
                <a:blip r:embed="rId3"/>
                <a:stretch>
                  <a:fillRect b="-12174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341649" y="4114862"/>
                <a:ext cx="1512168" cy="707886"/>
              </a:xfrm>
              <a:prstGeom prst="rect">
                <a:avLst/>
              </a:prstGeom>
              <a:ln w="1905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altLang="zh-CN" sz="200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≠0</m:t>
                      </m:r>
                    </m:oMath>
                  </m:oMathPara>
                </a14:m>
                <a:endParaRPr lang="en-US" altLang="zh-CN" sz="2000" kern="1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2000" kern="100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恒</a:t>
                </a:r>
                <a:r>
                  <a:rPr lang="zh-CN" altLang="en-US" sz="2000" kern="1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流</a:t>
                </a:r>
                <a:r>
                  <a:rPr lang="zh-CN" altLang="zh-CN" sz="2000" kern="1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电场</a:t>
                </a:r>
                <a:endParaRPr lang="zh-CN" altLang="en-US" sz="2000" kern="1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649" y="4114862"/>
                <a:ext cx="1512168" cy="707886"/>
              </a:xfrm>
              <a:prstGeom prst="rect">
                <a:avLst/>
              </a:prstGeom>
              <a:blipFill>
                <a:blip r:embed="rId4"/>
                <a:stretch>
                  <a:fillRect b="-12605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圆角右箭头 7"/>
          <p:cNvSpPr/>
          <p:nvPr/>
        </p:nvSpPr>
        <p:spPr>
          <a:xfrm rot="5400000">
            <a:off x="2545535" y="1291065"/>
            <a:ext cx="820431" cy="55606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圆角右箭头 16"/>
          <p:cNvSpPr/>
          <p:nvPr/>
        </p:nvSpPr>
        <p:spPr>
          <a:xfrm rot="16200000" flipH="1">
            <a:off x="817354" y="1193741"/>
            <a:ext cx="806010" cy="746088"/>
          </a:xfrm>
          <a:prstGeom prst="bentArrow">
            <a:avLst>
              <a:gd name="adj1" fmla="val 17340"/>
              <a:gd name="adj2" fmla="val 21168"/>
              <a:gd name="adj3" fmla="val 17337"/>
              <a:gd name="adj4" fmla="val 475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左箭头 15"/>
          <p:cNvSpPr/>
          <p:nvPr/>
        </p:nvSpPr>
        <p:spPr>
          <a:xfrm rot="16200000">
            <a:off x="3442946" y="2516903"/>
            <a:ext cx="461828" cy="23775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左箭头 18"/>
          <p:cNvSpPr/>
          <p:nvPr/>
        </p:nvSpPr>
        <p:spPr>
          <a:xfrm rot="16200000">
            <a:off x="1351983" y="3713293"/>
            <a:ext cx="461828" cy="23775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左箭头 19"/>
          <p:cNvSpPr/>
          <p:nvPr/>
        </p:nvSpPr>
        <p:spPr>
          <a:xfrm rot="16200000">
            <a:off x="2120051" y="2662530"/>
            <a:ext cx="781466" cy="25767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左箭头 20"/>
          <p:cNvSpPr/>
          <p:nvPr/>
        </p:nvSpPr>
        <p:spPr>
          <a:xfrm rot="16200000">
            <a:off x="2331718" y="3729167"/>
            <a:ext cx="493578" cy="23775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322004"/>
              </p:ext>
            </p:extLst>
          </p:nvPr>
        </p:nvGraphicFramePr>
        <p:xfrm>
          <a:off x="7387190" y="1647973"/>
          <a:ext cx="940860" cy="21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Equation" r:id="rId5" imgW="596641" imgH="165028" progId="Equation.DSMT4">
                  <p:embed/>
                </p:oleObj>
              </mc:Choice>
              <mc:Fallback>
                <p:oleObj name="Equation" r:id="rId5" imgW="596641" imgH="165028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7190" y="1647973"/>
                        <a:ext cx="940860" cy="214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470342"/>
              </p:ext>
            </p:extLst>
          </p:nvPr>
        </p:nvGraphicFramePr>
        <p:xfrm>
          <a:off x="7392144" y="1871934"/>
          <a:ext cx="838593" cy="21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Equation" r:id="rId7" imgW="558558" imgH="165028" progId="Equation.DSMT4">
                  <p:embed/>
                </p:oleObj>
              </mc:Choice>
              <mc:Fallback>
                <p:oleObj name="Equation" r:id="rId7" imgW="558558" imgH="165028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1871934"/>
                        <a:ext cx="838593" cy="214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33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377446"/>
              </p:ext>
            </p:extLst>
          </p:nvPr>
        </p:nvGraphicFramePr>
        <p:xfrm>
          <a:off x="7376177" y="2131619"/>
          <a:ext cx="838593" cy="21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Equation" r:id="rId9" imgW="507780" imgH="165028" progId="Equation.DSMT4">
                  <p:embed/>
                </p:oleObj>
              </mc:Choice>
              <mc:Fallback>
                <p:oleObj name="Equation" r:id="rId9" imgW="507780" imgH="165028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6177" y="2131619"/>
                        <a:ext cx="838593" cy="214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211114"/>
              </p:ext>
            </p:extLst>
          </p:nvPr>
        </p:nvGraphicFramePr>
        <p:xfrm>
          <a:off x="7385720" y="2404022"/>
          <a:ext cx="762357" cy="288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Equation" r:id="rId11" imgW="545863" imgH="190417" progId="Equation.DSMT4">
                  <p:embed/>
                </p:oleObj>
              </mc:Choice>
              <mc:Fallback>
                <p:oleObj name="Equation" r:id="rId11" imgW="545863" imgH="190417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5720" y="2404022"/>
                        <a:ext cx="762357" cy="2882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995403"/>
              </p:ext>
            </p:extLst>
          </p:nvPr>
        </p:nvGraphicFramePr>
        <p:xfrm>
          <a:off x="7392566" y="2723508"/>
          <a:ext cx="736325" cy="21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Equation" r:id="rId13" imgW="494870" imgH="164957" progId="Equation.DSMT4">
                  <p:embed/>
                </p:oleObj>
              </mc:Choice>
              <mc:Fallback>
                <p:oleObj name="Equation" r:id="rId13" imgW="494870" imgH="164957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566" y="2723508"/>
                        <a:ext cx="736325" cy="214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/>
          <p:cNvSpPr/>
          <p:nvPr/>
        </p:nvSpPr>
        <p:spPr>
          <a:xfrm>
            <a:off x="6672064" y="101320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静态电磁场的基本方程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8471" y="5172364"/>
            <a:ext cx="4320480" cy="1231106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恒</a:t>
            </a:r>
            <a:r>
              <a:rPr lang="zh-CN" altLang="en-US" sz="200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流电场条件：</a:t>
            </a:r>
            <a:endParaRPr lang="en-US" altLang="zh-CN" sz="2000" kern="10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导体中有电流，电场有能量损耗，电场幅度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将下降，</a:t>
            </a:r>
            <a:r>
              <a:rPr lang="zh-CN" altLang="en-US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只有同时补充能量</a:t>
            </a:r>
            <a:r>
              <a:rPr lang="en-US" altLang="zh-CN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外接电源</a:t>
            </a:r>
            <a:r>
              <a:rPr lang="en-US" altLang="zh-CN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，才能保持电场能量和电场恒定。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707" y="1050567"/>
            <a:ext cx="3011382" cy="22819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基本方程和边界条件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4583832" y="3502213"/>
            <a:ext cx="7057420" cy="2862322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 eaLnBrk="1" hangingPunct="1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静电场电力线不闭合，其始于正电荷终于负电荷。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 eaLnBrk="1" hangingPunct="1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导体内部电场为零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内部电荷为零，电荷分布在导体表面；导体是等位体，电力线垂直于导体表面。（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静电场中，普通导体与理想导体几乎没有差异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342900" indent="-342900" algn="just" eaLnBrk="1" hangingPunct="1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令时间导数为零，可以从一般电磁场方程得到静电场方程。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 eaLnBrk="1" hangingPunct="1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电位：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在静电场中，两点之间的电位差（电压）具有唯一性。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时变场中两点间电压与积分路径有关，不具有唯一性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电位零点不要选在源处（无穷远为一个点）。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）电位的边界条件与电场和电位移矢量的边界条件是等效的。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392651"/>
              </p:ext>
            </p:extLst>
          </p:nvPr>
        </p:nvGraphicFramePr>
        <p:xfrm>
          <a:off x="911424" y="1392355"/>
          <a:ext cx="922452" cy="23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" name="Equation" r:id="rId4" imgW="558558" imgH="165028" progId="Equation.DSMT4">
                  <p:embed/>
                </p:oleObj>
              </mc:Choice>
              <mc:Fallback>
                <p:oleObj name="Equation" r:id="rId4" imgW="558558" imgH="165028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1392355"/>
                        <a:ext cx="922452" cy="23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894916"/>
              </p:ext>
            </p:extLst>
          </p:nvPr>
        </p:nvGraphicFramePr>
        <p:xfrm>
          <a:off x="911424" y="1661337"/>
          <a:ext cx="762357" cy="288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" name="Equation" r:id="rId6" imgW="545863" imgH="190417" progId="Equation.DSMT4">
                  <p:embed/>
                </p:oleObj>
              </mc:Choice>
              <mc:Fallback>
                <p:oleObj name="Equation" r:id="rId6" imgW="545863" imgH="190417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1661337"/>
                        <a:ext cx="762357" cy="2882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/>
          <p:cNvSpPr/>
          <p:nvPr/>
        </p:nvSpPr>
        <p:spPr>
          <a:xfrm>
            <a:off x="821035" y="98072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基本方程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492553"/>
              </p:ext>
            </p:extLst>
          </p:nvPr>
        </p:nvGraphicFramePr>
        <p:xfrm>
          <a:off x="951815" y="4143002"/>
          <a:ext cx="869274" cy="265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7" name="Equation" r:id="rId8" imgW="545626" imgH="164957" progId="Equation.DSMT4">
                  <p:embed/>
                </p:oleObj>
              </mc:Choice>
              <mc:Fallback>
                <p:oleObj name="Equation" r:id="rId8" imgW="545626" imgH="16495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815" y="4143002"/>
                        <a:ext cx="869274" cy="2658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063869"/>
              </p:ext>
            </p:extLst>
          </p:nvPr>
        </p:nvGraphicFramePr>
        <p:xfrm>
          <a:off x="953353" y="4546797"/>
          <a:ext cx="838593" cy="31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8" name="Equation" r:id="rId10" imgW="520474" imgH="190417" progId="Equation.DSMT4">
                  <p:embed/>
                </p:oleObj>
              </mc:Choice>
              <mc:Fallback>
                <p:oleObj name="Equation" r:id="rId10" imgW="520474" imgH="19041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353" y="4546797"/>
                        <a:ext cx="838593" cy="3170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853521"/>
              </p:ext>
            </p:extLst>
          </p:nvPr>
        </p:nvGraphicFramePr>
        <p:xfrm>
          <a:off x="906775" y="5457082"/>
          <a:ext cx="1534012" cy="33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" name="Equation" r:id="rId12" imgW="952087" imgH="203112" progId="Equation.DSMT4">
                  <p:embed/>
                </p:oleObj>
              </mc:Choice>
              <mc:Fallback>
                <p:oleObj name="Equation" r:id="rId12" imgW="952087" imgH="203112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75" y="5457082"/>
                        <a:ext cx="1534012" cy="33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795054"/>
              </p:ext>
            </p:extLst>
          </p:nvPr>
        </p:nvGraphicFramePr>
        <p:xfrm>
          <a:off x="911424" y="5844269"/>
          <a:ext cx="1585145" cy="33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" name="Equation" r:id="rId14" imgW="977476" imgH="203112" progId="Equation.DSMT4">
                  <p:embed/>
                </p:oleObj>
              </mc:Choice>
              <mc:Fallback>
                <p:oleObj name="Equation" r:id="rId14" imgW="977476" imgH="20311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5844269"/>
                        <a:ext cx="1585145" cy="33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120742"/>
              </p:ext>
            </p:extLst>
          </p:nvPr>
        </p:nvGraphicFramePr>
        <p:xfrm>
          <a:off x="857965" y="2511946"/>
          <a:ext cx="869274" cy="31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" name="Equation" r:id="rId16" imgW="545863" imgH="190417" progId="Equation.DSMT4">
                  <p:embed/>
                </p:oleObj>
              </mc:Choice>
              <mc:Fallback>
                <p:oleObj name="Equation" r:id="rId16" imgW="545863" imgH="190417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965" y="2511946"/>
                        <a:ext cx="869274" cy="3170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588401"/>
              </p:ext>
            </p:extLst>
          </p:nvPr>
        </p:nvGraphicFramePr>
        <p:xfrm>
          <a:off x="865793" y="2780928"/>
          <a:ext cx="1360158" cy="51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" name="Equation" r:id="rId18" imgW="863225" imgH="317362" progId="Equation.DSMT4">
                  <p:embed/>
                </p:oleObj>
              </mc:Choice>
              <mc:Fallback>
                <p:oleObj name="Equation" r:id="rId18" imgW="863225" imgH="317362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793" y="2780928"/>
                        <a:ext cx="1360158" cy="51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/>
          <p:nvPr/>
        </p:nvSpPr>
        <p:spPr>
          <a:xfrm>
            <a:off x="821035" y="3717032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导体表面边界条件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38200" y="504708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介质分界面边界条件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21035" y="2061267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静电场电位及电位方程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784615" y="3275459"/>
                <a:ext cx="22620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式中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为</m:t>
                    </m:r>
                  </m:oMath>
                </a14:m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零电位位置</a:t>
                </a:r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15" y="3275459"/>
                <a:ext cx="2262094" cy="369332"/>
              </a:xfrm>
              <a:prstGeom prst="rect">
                <a:avLst/>
              </a:prstGeom>
              <a:blipFill>
                <a:blip r:embed="rId20"/>
                <a:stretch>
                  <a:fillRect l="-2426" t="-11475" r="-1078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222418"/>
              </p:ext>
            </p:extLst>
          </p:nvPr>
        </p:nvGraphicFramePr>
        <p:xfrm>
          <a:off x="2854387" y="5422461"/>
          <a:ext cx="705646" cy="33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" name="Equation" r:id="rId21" imgW="431613" imgH="203112" progId="Equation.DSMT4">
                  <p:embed/>
                </p:oleObj>
              </mc:Choice>
              <mc:Fallback>
                <p:oleObj name="Equation" r:id="rId21" imgW="431613" imgH="203112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87" y="5422461"/>
                        <a:ext cx="705646" cy="33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196836"/>
              </p:ext>
            </p:extLst>
          </p:nvPr>
        </p:nvGraphicFramePr>
        <p:xfrm>
          <a:off x="2725412" y="5768424"/>
          <a:ext cx="1953307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4" name="Equation" r:id="rId23" imgW="1218671" imgH="355446" progId="Equation.DSMT4">
                  <p:embed/>
                </p:oleObj>
              </mc:Choice>
              <mc:Fallback>
                <p:oleObj name="Equation" r:id="rId23" imgW="1218671" imgH="355446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412" y="5768424"/>
                        <a:ext cx="1953307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909267"/>
              </p:ext>
            </p:extLst>
          </p:nvPr>
        </p:nvGraphicFramePr>
        <p:xfrm>
          <a:off x="2048391" y="4145233"/>
          <a:ext cx="848819" cy="32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5" name="Equation" r:id="rId25" imgW="520474" imgH="203112" progId="Equation.DSMT4">
                  <p:embed/>
                </p:oleObj>
              </mc:Choice>
              <mc:Fallback>
                <p:oleObj name="Equation" r:id="rId25" imgW="520474" imgH="203112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8391" y="4145233"/>
                        <a:ext cx="848819" cy="327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2849"/>
              </p:ext>
            </p:extLst>
          </p:nvPr>
        </p:nvGraphicFramePr>
        <p:xfrm>
          <a:off x="1975257" y="4408537"/>
          <a:ext cx="1012448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6" name="Equation" r:id="rId27" imgW="634725" imgH="355446" progId="Equation.DSMT4">
                  <p:embed/>
                </p:oleObj>
              </mc:Choice>
              <mc:Fallback>
                <p:oleObj name="Equation" r:id="rId27" imgW="634725" imgH="355446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5257" y="4408537"/>
                        <a:ext cx="1012448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244240"/>
              </p:ext>
            </p:extLst>
          </p:nvPr>
        </p:nvGraphicFramePr>
        <p:xfrm>
          <a:off x="2207511" y="2400127"/>
          <a:ext cx="1012448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7" name="Equation" r:id="rId29" imgW="622030" imgH="355446" progId="Equation.DSMT4">
                  <p:embed/>
                </p:oleObj>
              </mc:Choice>
              <mc:Fallback>
                <p:oleObj name="Equation" r:id="rId29" imgW="622030" imgH="355446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11" y="2400127"/>
                        <a:ext cx="1012448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50041"/>
              </p:ext>
            </p:extLst>
          </p:nvPr>
        </p:nvGraphicFramePr>
        <p:xfrm>
          <a:off x="5049753" y="1447663"/>
          <a:ext cx="3538451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" name="Equation" r:id="rId31" imgW="2197100" imgH="381000" progId="Equation.DSMT4">
                  <p:embed/>
                </p:oleObj>
              </mc:Choice>
              <mc:Fallback>
                <p:oleObj name="Equation" r:id="rId31" imgW="2197100" imgH="381000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9753" y="1447663"/>
                        <a:ext cx="3538451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910026"/>
              </p:ext>
            </p:extLst>
          </p:nvPr>
        </p:nvGraphicFramePr>
        <p:xfrm>
          <a:off x="5080432" y="2042224"/>
          <a:ext cx="3477091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9" name="Equation" r:id="rId33" imgW="2159000" imgH="381000" progId="Equation.DSMT4">
                  <p:embed/>
                </p:oleObj>
              </mc:Choice>
              <mc:Fallback>
                <p:oleObj name="Equation" r:id="rId33" imgW="2159000" imgH="3810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432" y="2042224"/>
                        <a:ext cx="3477091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611285"/>
              </p:ext>
            </p:extLst>
          </p:nvPr>
        </p:nvGraphicFramePr>
        <p:xfrm>
          <a:off x="5115109" y="2633770"/>
          <a:ext cx="3231650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" name="Equation" r:id="rId35" imgW="2019300" imgH="381000" progId="Equation.DSMT4">
                  <p:embed/>
                </p:oleObj>
              </mc:Choice>
              <mc:Fallback>
                <p:oleObj name="Equation" r:id="rId35" imgW="2019300" imgH="3810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5109" y="2633770"/>
                        <a:ext cx="3231650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矩形 56"/>
          <p:cNvSpPr/>
          <p:nvPr/>
        </p:nvSpPr>
        <p:spPr>
          <a:xfrm>
            <a:off x="3931498" y="1050568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电位方程的积分解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931498" y="1541410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体电荷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931498" y="2092786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面电荷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933001" y="2706950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体电荷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231226" y="103100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状态方程</a:t>
            </a:r>
            <a:endParaRPr lang="zh-CN" altLang="en-US" sz="2000" dirty="0"/>
          </a:p>
        </p:txBody>
      </p:sp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813649"/>
              </p:ext>
            </p:extLst>
          </p:nvPr>
        </p:nvGraphicFramePr>
        <p:xfrm>
          <a:off x="2360343" y="1535505"/>
          <a:ext cx="687981" cy="241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" name="Equation" r:id="rId37" imgW="469696" imgH="165028" progId="Equation.DSMT4">
                  <p:embed/>
                </p:oleObj>
              </mc:Choice>
              <mc:Fallback>
                <p:oleObj name="Equation" r:id="rId37" imgW="469696" imgH="165028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0343" y="1535505"/>
                        <a:ext cx="687981" cy="2417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044205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638278"/>
            <a:ext cx="2664296" cy="283204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例题：电偶极子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6692992" y="1402484"/>
                <a:ext cx="502361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000" b="0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sz="2000" b="0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≫</m:t>
                    </m:r>
                    <m:r>
                      <a:rPr lang="en-US" altLang="zh-CN" sz="2000" b="0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en-US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远处，</a:t>
                </a:r>
                <a:r>
                  <a:rPr lang="en-US" altLang="zh-CN" sz="2000" kern="100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2000" i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zh-CN" sz="2000" b="0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𝑐𝑜𝑠</m:t>
                    </m:r>
                    <m:r>
                      <m:rPr>
                        <m:sty m:val="p"/>
                      </m:rPr>
                      <a:rPr lang="el-GR" altLang="zh-CN" sz="2000" b="0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altLang="zh-CN" sz="2000" i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000" kern="100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≈</m:t>
                    </m:r>
                    <m:sSup>
                      <m:sSupPr>
                        <m:ctrlPr>
                          <a:rPr lang="en-US" altLang="zh-CN" sz="2000" i="1" kern="1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 kern="1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000" i="1" kern="1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992" y="1402484"/>
                <a:ext cx="5023619" cy="400110"/>
              </a:xfrm>
              <a:prstGeom prst="rect">
                <a:avLst/>
              </a:prstGeom>
              <a:blipFill>
                <a:blip r:embed="rId4"/>
                <a:stretch>
                  <a:fillRect l="-1335" t="-12121" b="-21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335360" y="3501008"/>
            <a:ext cx="4455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GB" altLang="zh-CN" kern="100" dirty="0">
                <a:latin typeface="黑体" panose="02010609060101010101" pitchFamily="49" charset="-122"/>
                <a:ea typeface="黑体" panose="02010609060101010101" pitchFamily="49" charset="-122"/>
              </a:rPr>
              <a:t>2.2.1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】计算电偶极子的电位和静电场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85468" y="4518645"/>
          <a:ext cx="3477091" cy="634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Equation" r:id="rId5" imgW="2159000" imgH="393700" progId="Equation.DSMT4">
                  <p:embed/>
                </p:oleObj>
              </mc:Choice>
              <mc:Fallback>
                <p:oleObj name="Equation" r:id="rId5" imgW="2159000" imgH="3937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468" y="4518645"/>
                        <a:ext cx="3477091" cy="634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57629" y="5373216"/>
          <a:ext cx="4458859" cy="1268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7" imgW="2768600" imgH="800100" progId="Equation.DSMT4">
                  <p:embed/>
                </p:oleObj>
              </mc:Choice>
              <mc:Fallback>
                <p:oleObj name="Equation" r:id="rId7" imgW="2768600" imgH="8001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29" y="5373216"/>
                        <a:ext cx="4458859" cy="12681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778490" y="709514"/>
          <a:ext cx="4019110" cy="695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Equation" r:id="rId9" imgW="2501640" imgH="419040" progId="Equation.DSMT4">
                  <p:embed/>
                </p:oleObj>
              </mc:Choice>
              <mc:Fallback>
                <p:oleObj name="Equation" r:id="rId9" imgW="2501640" imgH="4190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490" y="709514"/>
                        <a:ext cx="4019110" cy="6954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487285" y="1879115"/>
          <a:ext cx="1789679" cy="634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Equation" r:id="rId11" imgW="1104421" imgH="406224" progId="Equation.DSMT4">
                  <p:embed/>
                </p:oleObj>
              </mc:Choice>
              <mc:Fallback>
                <p:oleObj name="Equation" r:id="rId11" imgW="1104421" imgH="406224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7285" y="1879115"/>
                        <a:ext cx="1789679" cy="634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499836" y="2474428"/>
          <a:ext cx="2239657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Equation" r:id="rId13" imgW="1396394" imgH="355446" progId="Equation.DSMT4">
                  <p:embed/>
                </p:oleObj>
              </mc:Choice>
              <mc:Fallback>
                <p:oleObj name="Equation" r:id="rId13" imgW="1396394" imgH="355446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9836" y="2474428"/>
                        <a:ext cx="2239657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8553823" y="3174445"/>
          <a:ext cx="1687413" cy="634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Equation" r:id="rId15" imgW="1053643" imgH="406224" progId="Equation.DSMT4">
                  <p:embed/>
                </p:oleObj>
              </mc:Choice>
              <mc:Fallback>
                <p:oleObj name="Equation" r:id="rId15" imgW="1053643" imgH="406224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3823" y="3174445"/>
                        <a:ext cx="1687413" cy="634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8553824" y="4029015"/>
          <a:ext cx="3374824" cy="1912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Equation" r:id="rId17" imgW="2095500" imgH="1181100" progId="Equation.DSMT4">
                  <p:embed/>
                </p:oleObj>
              </mc:Choice>
              <mc:Fallback>
                <p:oleObj name="Equation" r:id="rId17" imgW="2095500" imgH="11811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3824" y="4029015"/>
                        <a:ext cx="3374824" cy="19124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320181" y="3942027"/>
                <a:ext cx="440766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【</a:t>
                </a:r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zh-CN" altLang="zh-CN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】电偶极子的</a:t>
                </a:r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电偶极矩为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endParaRPr lang="en-US" altLang="zh-CN" b="1" kern="1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  方向由负电荷指向正电荷，其电位</a:t>
                </a:r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81" y="3942027"/>
                <a:ext cx="4407667" cy="646331"/>
              </a:xfrm>
              <a:prstGeom prst="rect">
                <a:avLst/>
              </a:prstGeom>
              <a:blipFill>
                <a:blip r:embed="rId19"/>
                <a:stretch>
                  <a:fillRect l="-1245" t="-754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405835" y="5119092"/>
                <a:ext cx="37592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统一用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表示，幂级数展开</a:t>
                </a:r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35" y="5119092"/>
                <a:ext cx="3759234" cy="369332"/>
              </a:xfrm>
              <a:prstGeom prst="rect">
                <a:avLst/>
              </a:prstGeom>
              <a:blipFill>
                <a:blip r:embed="rId20"/>
                <a:stretch>
                  <a:fillRect l="-1461"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 29"/>
          <p:cNvSpPr/>
          <p:nvPr/>
        </p:nvSpPr>
        <p:spPr>
          <a:xfrm>
            <a:off x="6734385" y="202310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有电位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03717" y="257233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由图可以看出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833452" y="3162173"/>
            <a:ext cx="17203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由此得电偶极子远区电位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864705" y="4114220"/>
            <a:ext cx="17203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电偶极子远区电场强度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93717" y="881030"/>
            <a:ext cx="2886478" cy="247684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4993100" y="5012000"/>
            <a:ext cx="3743210" cy="1631216"/>
          </a:xfrm>
          <a:prstGeom prst="rect">
            <a:avLst/>
          </a:prstGeom>
          <a:ln w="28575">
            <a:solidFill>
              <a:schemeClr val="accent1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远区电偶极子</a:t>
            </a:r>
            <a:r>
              <a:rPr lang="zh-CN" altLang="zh-CN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电位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与场源点距离的</a:t>
            </a:r>
            <a:r>
              <a:rPr lang="zh-CN" altLang="zh-CN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平方成反比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，电场与该距离的</a:t>
            </a:r>
            <a:r>
              <a:rPr lang="zh-CN" altLang="zh-CN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三次方成反比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。单个点电荷的静电场，其电位与距离成反比，其电场与该距离的平方成反比。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704738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不同电荷分布电位电场与距离关系</a:t>
            </a:r>
            <a:endParaRPr lang="zh-CN" altLang="en-US" sz="2800" dirty="0"/>
          </a:p>
        </p:txBody>
      </p:sp>
      <p:sp>
        <p:nvSpPr>
          <p:cNvPr id="27" name="Rectangle 33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906114"/>
            <a:ext cx="8383821" cy="364967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38200" y="4555787"/>
            <a:ext cx="107291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现象：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电偶极子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：电位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与场源点距离的平方成反比、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电场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与场源点距离的三次方成反比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点电荷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电位与场源点距离成反比、电场与场源点距离的平方成反比；无限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长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的线电荷源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电位与场源点距离的对数成反比、电场与场源点距离成反比；无限大的平面电荷源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电位与场源点距离成正比、电场与距离无关。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主要规律：（</a:t>
            </a:r>
            <a:r>
              <a:rPr lang="en-CA" altLang="zh-CN" sz="2000" kern="1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）电位随着距离的减小比电场慢一个量级，因为后者是前者的导数。（</a:t>
            </a:r>
            <a:r>
              <a:rPr lang="en-CA" altLang="zh-CN" sz="2000" kern="1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）随着源的分布范围从点到线到面变化，电位和电场随着距离的减小的速率依次变慢一个量级。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23586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871786"/>
            <a:ext cx="3677163" cy="247684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例题：同轴线</a:t>
            </a:r>
            <a:endParaRPr lang="zh-CN" altLang="en-US" sz="2800" dirty="0"/>
          </a:p>
        </p:txBody>
      </p:sp>
      <p:sp>
        <p:nvSpPr>
          <p:cNvPr id="33" name="矩形 32"/>
          <p:cNvSpPr/>
          <p:nvPr/>
        </p:nvSpPr>
        <p:spPr>
          <a:xfrm>
            <a:off x="479376" y="616219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边界条件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79376" y="3383706"/>
                <a:ext cx="5400600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【例</a:t>
                </a:r>
                <a:r>
                  <a:rPr lang="en-CA" altLang="zh-CN" kern="1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2.2.2</a:t>
                </a:r>
                <a:r>
                  <a:rPr lang="zh-CN" altLang="zh-CN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】同轴线内导体半径为</a:t>
                </a:r>
                <a:r>
                  <a:rPr lang="en-CA" altLang="zh-CN" i="1" kern="1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r>
                  <a:rPr lang="zh-CN" altLang="zh-CN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，外导体内径为</a:t>
                </a:r>
                <a:r>
                  <a:rPr lang="en-CA" altLang="zh-CN" i="1" kern="1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r>
                  <a:rPr lang="zh-CN" altLang="zh-CN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，内外导体之间理想介质</a:t>
                </a:r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相对介电常数为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同轴线内导体的电位为</a:t>
                </a:r>
                <a:r>
                  <a:rPr lang="en-CA" altLang="zh-CN" i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U</a:t>
                </a:r>
                <a:r>
                  <a:rPr lang="zh-CN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，外导体的电位为零。计算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：</a:t>
                </a: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同轴线内外导体之间的电位、电场和电位移矢量；</a:t>
                </a: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(2)</a:t>
                </a:r>
                <a:r>
                  <a:rPr lang="zh-CN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同轴线内外导体单位长度的表面电荷电量。</a:t>
                </a:r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3383706"/>
                <a:ext cx="5400600" cy="1477328"/>
              </a:xfrm>
              <a:prstGeom prst="rect">
                <a:avLst/>
              </a:prstGeom>
              <a:blipFill>
                <a:blip r:embed="rId4"/>
                <a:stretch>
                  <a:fillRect l="-1016" t="-2066" r="-903" b="-5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470670" y="4854535"/>
            <a:ext cx="540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由于对称性，在圆柱坐标系电位仅仅与径向坐标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有关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电位满足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39365"/>
              </p:ext>
            </p:extLst>
          </p:nvPr>
        </p:nvGraphicFramePr>
        <p:xfrm>
          <a:off x="2135560" y="5505712"/>
          <a:ext cx="1493104" cy="58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8" name="Equation" r:id="rId5" imgW="926698" imgH="355446" progId="Equation.DSMT4">
                  <p:embed/>
                </p:oleObj>
              </mc:Choice>
              <mc:Fallback>
                <p:oleObj name="Equation" r:id="rId5" imgW="926698" imgH="3554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5505712"/>
                        <a:ext cx="1493104" cy="58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365621"/>
              </p:ext>
            </p:extLst>
          </p:nvPr>
        </p:nvGraphicFramePr>
        <p:xfrm>
          <a:off x="1676400" y="6124575"/>
          <a:ext cx="2122488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" name="Equation" r:id="rId7" imgW="1307880" imgH="203040" progId="Equation.DSMT4">
                  <p:embed/>
                </p:oleObj>
              </mc:Choice>
              <mc:Fallback>
                <p:oleObj name="Equation" r:id="rId7" imgW="130788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6124575"/>
                        <a:ext cx="2122488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522385"/>
              </p:ext>
            </p:extLst>
          </p:nvPr>
        </p:nvGraphicFramePr>
        <p:xfrm>
          <a:off x="1693863" y="6440488"/>
          <a:ext cx="20066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" name="Equation" r:id="rId9" imgW="1257120" imgH="203040" progId="Equation.DSMT4">
                  <p:embed/>
                </p:oleObj>
              </mc:Choice>
              <mc:Fallback>
                <p:oleObj name="Equation" r:id="rId9" imgW="125712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863" y="6440488"/>
                        <a:ext cx="2006600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306139"/>
              </p:ext>
            </p:extLst>
          </p:nvPr>
        </p:nvGraphicFramePr>
        <p:xfrm>
          <a:off x="6782137" y="849313"/>
          <a:ext cx="2239962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" name="Equation" r:id="rId11" imgW="1422360" imgH="203040" progId="Equation.DSMT4">
                  <p:embed/>
                </p:oleObj>
              </mc:Choice>
              <mc:Fallback>
                <p:oleObj name="Equation" r:id="rId11" imgW="142236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2137" y="849313"/>
                        <a:ext cx="2239962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537295"/>
              </p:ext>
            </p:extLst>
          </p:nvPr>
        </p:nvGraphicFramePr>
        <p:xfrm>
          <a:off x="6879444" y="1537538"/>
          <a:ext cx="1022674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2" name="Equation" r:id="rId13" imgW="634725" imgH="355446" progId="Equation.DSMT4">
                  <p:embed/>
                </p:oleObj>
              </mc:Choice>
              <mc:Fallback>
                <p:oleObj name="Equation" r:id="rId13" imgW="634725" imgH="35544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9444" y="1537538"/>
                        <a:ext cx="1022674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589384"/>
              </p:ext>
            </p:extLst>
          </p:nvPr>
        </p:nvGraphicFramePr>
        <p:xfrm>
          <a:off x="8923747" y="2023893"/>
          <a:ext cx="1216983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" name="Equation" r:id="rId15" imgW="748975" imgH="380835" progId="Equation.DSMT4">
                  <p:embed/>
                </p:oleObj>
              </mc:Choice>
              <mc:Fallback>
                <p:oleObj name="Equation" r:id="rId15" imgW="748975" imgH="38083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3747" y="2023893"/>
                        <a:ext cx="1216983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732698"/>
              </p:ext>
            </p:extLst>
          </p:nvPr>
        </p:nvGraphicFramePr>
        <p:xfrm>
          <a:off x="7246563" y="2563231"/>
          <a:ext cx="1677184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4" name="Equation" r:id="rId17" imgW="1040948" imgH="380835" progId="Equation.DSMT4">
                  <p:embed/>
                </p:oleObj>
              </mc:Choice>
              <mc:Fallback>
                <p:oleObj name="Equation" r:id="rId17" imgW="1040948" imgH="380835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6563" y="2563231"/>
                        <a:ext cx="1677184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036570"/>
              </p:ext>
            </p:extLst>
          </p:nvPr>
        </p:nvGraphicFramePr>
        <p:xfrm>
          <a:off x="7463910" y="3151143"/>
          <a:ext cx="3119157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5" name="Equation" r:id="rId19" imgW="1930400" imgH="381000" progId="Equation.DSMT4">
                  <p:embed/>
                </p:oleObj>
              </mc:Choice>
              <mc:Fallback>
                <p:oleObj name="Equation" r:id="rId19" imgW="1930400" imgH="381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3910" y="3151143"/>
                        <a:ext cx="3119157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133264"/>
              </p:ext>
            </p:extLst>
          </p:nvPr>
        </p:nvGraphicFramePr>
        <p:xfrm>
          <a:off x="7544108" y="3799304"/>
          <a:ext cx="2086255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name="Equation" r:id="rId21" imgW="1295400" imgH="381000" progId="Equation.DSMT4">
                  <p:embed/>
                </p:oleObj>
              </mc:Choice>
              <mc:Fallback>
                <p:oleObj name="Equation" r:id="rId21" imgW="1295400" imgH="3810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4108" y="3799304"/>
                        <a:ext cx="2086255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482973" y="564686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拉普拉斯方程</a:t>
            </a:r>
          </a:p>
        </p:txBody>
      </p:sp>
      <p:sp>
        <p:nvSpPr>
          <p:cNvPr id="30" name="矩形 29"/>
          <p:cNvSpPr/>
          <p:nvPr/>
        </p:nvSpPr>
        <p:spPr>
          <a:xfrm>
            <a:off x="6096000" y="83671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通解</a:t>
            </a:r>
          </a:p>
        </p:txBody>
      </p:sp>
      <p:sp>
        <p:nvSpPr>
          <p:cNvPr id="32" name="矩形 31"/>
          <p:cNvSpPr/>
          <p:nvPr/>
        </p:nvSpPr>
        <p:spPr>
          <a:xfrm>
            <a:off x="6098627" y="1211646"/>
            <a:ext cx="3531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把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(2.2.27)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代入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(2.2.28)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。可得</a:t>
            </a:r>
          </a:p>
        </p:txBody>
      </p:sp>
      <p:sp>
        <p:nvSpPr>
          <p:cNvPr id="34" name="矩形 33"/>
          <p:cNvSpPr/>
          <p:nvPr/>
        </p:nvSpPr>
        <p:spPr>
          <a:xfrm>
            <a:off x="6113197" y="165456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695303"/>
              </p:ext>
            </p:extLst>
          </p:nvPr>
        </p:nvGraphicFramePr>
        <p:xfrm>
          <a:off x="9496141" y="1249097"/>
          <a:ext cx="1298798" cy="33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" name="Equation" r:id="rId23" imgW="812447" imgH="203112" progId="Equation.DSMT4">
                  <p:embed/>
                </p:oleObj>
              </mc:Choice>
              <mc:Fallback>
                <p:oleObj name="Equation" r:id="rId23" imgW="812447" imgH="203112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6141" y="1249097"/>
                        <a:ext cx="1298798" cy="33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 37"/>
          <p:cNvSpPr/>
          <p:nvPr/>
        </p:nvSpPr>
        <p:spPr>
          <a:xfrm>
            <a:off x="6096000" y="2140917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把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(2.2.26)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代入上式，得</a:t>
            </a:r>
          </a:p>
        </p:txBody>
      </p:sp>
      <p:sp>
        <p:nvSpPr>
          <p:cNvPr id="39" name="矩形 38"/>
          <p:cNvSpPr/>
          <p:nvPr/>
        </p:nvSpPr>
        <p:spPr>
          <a:xfrm>
            <a:off x="6113197" y="270085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电位</a:t>
            </a:r>
          </a:p>
        </p:txBody>
      </p:sp>
      <p:sp>
        <p:nvSpPr>
          <p:cNvPr id="40" name="矩形 39"/>
          <p:cNvSpPr/>
          <p:nvPr/>
        </p:nvSpPr>
        <p:spPr>
          <a:xfrm>
            <a:off x="6135806" y="3209815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电场</a:t>
            </a:r>
          </a:p>
        </p:txBody>
      </p:sp>
      <p:sp>
        <p:nvSpPr>
          <p:cNvPr id="41" name="矩形 40"/>
          <p:cNvSpPr/>
          <p:nvPr/>
        </p:nvSpPr>
        <p:spPr>
          <a:xfrm>
            <a:off x="6154451" y="3873156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电位移矢量</a:t>
            </a:r>
          </a:p>
        </p:txBody>
      </p:sp>
      <p:sp>
        <p:nvSpPr>
          <p:cNvPr id="42" name="矩形 41"/>
          <p:cNvSpPr/>
          <p:nvPr/>
        </p:nvSpPr>
        <p:spPr>
          <a:xfrm>
            <a:off x="6154451" y="4392268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内导体表面电荷密度</a:t>
            </a:r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001806"/>
              </p:ext>
            </p:extLst>
          </p:nvPr>
        </p:nvGraphicFramePr>
        <p:xfrm>
          <a:off x="8447243" y="4271239"/>
          <a:ext cx="2771447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" name="Equation" r:id="rId25" imgW="1727200" imgH="381000" progId="Equation.DSMT4">
                  <p:embed/>
                </p:oleObj>
              </mc:Choice>
              <mc:Fallback>
                <p:oleObj name="Equation" r:id="rId25" imgW="1727200" imgH="3810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7243" y="4271239"/>
                        <a:ext cx="2771447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568552"/>
              </p:ext>
            </p:extLst>
          </p:nvPr>
        </p:nvGraphicFramePr>
        <p:xfrm>
          <a:off x="8447243" y="5476014"/>
          <a:ext cx="3047568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Equation" r:id="rId27" imgW="1892300" imgH="381000" progId="Equation.DSMT4">
                  <p:embed/>
                </p:oleObj>
              </mc:Choice>
              <mc:Fallback>
                <p:oleObj name="Equation" r:id="rId27" imgW="1892300" imgH="3810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7243" y="5476014"/>
                        <a:ext cx="3047568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207887"/>
              </p:ext>
            </p:extLst>
          </p:nvPr>
        </p:nvGraphicFramePr>
        <p:xfrm>
          <a:off x="9295717" y="6072797"/>
          <a:ext cx="2679406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" name="Equation" r:id="rId29" imgW="1663700" imgH="381000" progId="Equation.DSMT4">
                  <p:embed/>
                </p:oleObj>
              </mc:Choice>
              <mc:Fallback>
                <p:oleObj name="Equation" r:id="rId29" imgW="1663700" imgH="381000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5717" y="6072797"/>
                        <a:ext cx="2679406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613671"/>
              </p:ext>
            </p:extLst>
          </p:nvPr>
        </p:nvGraphicFramePr>
        <p:xfrm>
          <a:off x="9292939" y="4849805"/>
          <a:ext cx="2505551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1" name="Equation" r:id="rId31" imgW="1562100" imgH="381000" progId="Equation.DSMT4">
                  <p:embed/>
                </p:oleObj>
              </mc:Choice>
              <mc:Fallback>
                <p:oleObj name="Equation" r:id="rId31" imgW="1562100" imgH="3810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2939" y="4849805"/>
                        <a:ext cx="2505551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矩形 50"/>
          <p:cNvSpPr/>
          <p:nvPr/>
        </p:nvSpPr>
        <p:spPr>
          <a:xfrm>
            <a:off x="6173203" y="4973529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内导体单位长度表面电荷电量</a:t>
            </a:r>
          </a:p>
        </p:txBody>
      </p:sp>
      <p:sp>
        <p:nvSpPr>
          <p:cNvPr id="52" name="矩形 51"/>
          <p:cNvSpPr/>
          <p:nvPr/>
        </p:nvSpPr>
        <p:spPr>
          <a:xfrm>
            <a:off x="6177465" y="5580933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外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导体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表面电荷密度</a:t>
            </a:r>
          </a:p>
        </p:txBody>
      </p:sp>
      <p:sp>
        <p:nvSpPr>
          <p:cNvPr id="53" name="矩形 52"/>
          <p:cNvSpPr/>
          <p:nvPr/>
        </p:nvSpPr>
        <p:spPr>
          <a:xfrm>
            <a:off x="6138509" y="6162194"/>
            <a:ext cx="3300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外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导体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单位长度表面电荷电量</a:t>
            </a:r>
          </a:p>
        </p:txBody>
      </p:sp>
      <p:sp>
        <p:nvSpPr>
          <p:cNvPr id="54" name="矩形 53"/>
          <p:cNvSpPr/>
          <p:nvPr/>
        </p:nvSpPr>
        <p:spPr>
          <a:xfrm>
            <a:off x="4012376" y="5603842"/>
            <a:ext cx="2025577" cy="70788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内外导体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电荷密度不同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电量相等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667807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静电场能量特性：单双电容</a:t>
            </a:r>
            <a:endParaRPr lang="zh-CN" altLang="en-US" sz="2800" dirty="0"/>
          </a:p>
        </p:txBody>
      </p:sp>
      <p:sp>
        <p:nvSpPr>
          <p:cNvPr id="31" name="矩形 30"/>
          <p:cNvSpPr/>
          <p:nvPr/>
        </p:nvSpPr>
        <p:spPr>
          <a:xfrm>
            <a:off x="551385" y="908720"/>
            <a:ext cx="63367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电磁场理论：电场有能量，有电场区域，就有电场能量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电路理论：电场能量在电容里，电容器存贮电能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768717"/>
              </p:ext>
            </p:extLst>
          </p:nvPr>
        </p:nvGraphicFramePr>
        <p:xfrm>
          <a:off x="2171163" y="1661775"/>
          <a:ext cx="2556685" cy="58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Equation" r:id="rId3" imgW="1586811" imgH="355446" progId="Equation.DSMT4">
                  <p:embed/>
                </p:oleObj>
              </mc:Choice>
              <mc:Fallback>
                <p:oleObj name="Equation" r:id="rId3" imgW="1586811" imgH="355446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163" y="1661775"/>
                        <a:ext cx="2556685" cy="58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92042"/>
              </p:ext>
            </p:extLst>
          </p:nvPr>
        </p:nvGraphicFramePr>
        <p:xfrm>
          <a:off x="2167773" y="2211036"/>
          <a:ext cx="1820359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Equation" r:id="rId5" imgW="1143000" imgH="355600" progId="Equation.DSMT4">
                  <p:embed/>
                </p:oleObj>
              </mc:Choice>
              <mc:Fallback>
                <p:oleObj name="Equation" r:id="rId5" imgW="1143000" imgH="3556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773" y="2211036"/>
                        <a:ext cx="1820359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652212"/>
              </p:ext>
            </p:extLst>
          </p:nvPr>
        </p:nvGraphicFramePr>
        <p:xfrm>
          <a:off x="2158333" y="2919190"/>
          <a:ext cx="634059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7" imgW="406048" imgH="355292" progId="Equation.DSMT4">
                  <p:embed/>
                </p:oleObj>
              </mc:Choice>
              <mc:Fallback>
                <p:oleObj name="Equation" r:id="rId7" imgW="406048" imgH="355292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8333" y="2919190"/>
                        <a:ext cx="634059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172262"/>
              </p:ext>
            </p:extLst>
          </p:nvPr>
        </p:nvGraphicFramePr>
        <p:xfrm>
          <a:off x="2057897" y="5923680"/>
          <a:ext cx="2495324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Equation" r:id="rId9" imgW="1548728" imgH="380835" progId="Equation.DSMT4">
                  <p:embed/>
                </p:oleObj>
              </mc:Choice>
              <mc:Fallback>
                <p:oleObj name="Equation" r:id="rId9" imgW="1548728" imgH="380835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897" y="5923680"/>
                        <a:ext cx="2495324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/>
          <p:cNvSpPr/>
          <p:nvPr/>
        </p:nvSpPr>
        <p:spPr>
          <a:xfrm>
            <a:off x="551384" y="1713766"/>
            <a:ext cx="15121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电场能量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51384" y="2289869"/>
            <a:ext cx="15121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电容能量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45729" y="2950841"/>
            <a:ext cx="15121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双导体电容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5729" y="3516382"/>
            <a:ext cx="62703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单导体电容：其定义可以从双导体电容定义得到。把双导体电容的一个极板移到无穷远处，此时的双导体电容就是单导体电容。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/>
              <p:cNvSpPr/>
              <p:nvPr/>
            </p:nvSpPr>
            <p:spPr>
              <a:xfrm>
                <a:off x="514979" y="4631321"/>
                <a:ext cx="6733149" cy="10895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zh-CN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【例</a:t>
                </a:r>
                <a:r>
                  <a:rPr lang="en-CA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2.2.3</a:t>
                </a:r>
                <a:r>
                  <a:rPr lang="zh-CN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】计算例</a:t>
                </a:r>
                <a:r>
                  <a:rPr lang="en-CA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2.2.2</a:t>
                </a:r>
                <a:r>
                  <a:rPr lang="zh-CN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中同轴线内外导体之间单位长度的电容。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</a:t>
                </a:r>
                <a:r>
                  <a:rPr lang="zh-CN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：从例</a:t>
                </a:r>
                <a:r>
                  <a:rPr lang="en-CA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2.2.2</a:t>
                </a:r>
                <a:r>
                  <a:rPr lang="zh-CN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可知，内外导体之间的电压为</a:t>
                </a:r>
                <a:r>
                  <a:rPr lang="en-CA" altLang="zh-CN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zh-CN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，同轴线单位长度的电容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等于内导体或外导体所带的单位长度的电量除于</a:t>
                </a:r>
                <a:r>
                  <a:rPr lang="en-CA" altLang="zh-CN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endParaRPr lang="zh-CN" altLang="en-US" kern="1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矩形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79" y="4631321"/>
                <a:ext cx="6733149" cy="1089529"/>
              </a:xfrm>
              <a:prstGeom prst="rect">
                <a:avLst/>
              </a:prstGeom>
              <a:blipFill>
                <a:blip r:embed="rId11"/>
                <a:stretch>
                  <a:fillRect l="-724" t="-2247" b="-6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矩形 50"/>
          <p:cNvSpPr/>
          <p:nvPr/>
        </p:nvSpPr>
        <p:spPr>
          <a:xfrm>
            <a:off x="7231335" y="2512725"/>
            <a:ext cx="3960440" cy="1015663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双导体电容，两个极板上的电荷符号相反，电量相等。</a:t>
            </a:r>
            <a:r>
              <a:rPr lang="zh-CN" altLang="en-US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多导体各个导体的电量还一定一样吗？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75161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82" y="1026337"/>
            <a:ext cx="5203003" cy="237626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静电场能量特性：多导体电容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endParaRPr lang="zh-CN" altLang="en-US" sz="2800" dirty="0"/>
          </a:p>
        </p:txBody>
      </p:sp>
      <p:sp>
        <p:nvSpPr>
          <p:cNvPr id="31" name="矩形 30"/>
          <p:cNvSpPr/>
          <p:nvPr/>
        </p:nvSpPr>
        <p:spPr>
          <a:xfrm>
            <a:off x="439532" y="3708949"/>
            <a:ext cx="52244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个导体，静电场满足叠加原理，任一点电位等于所有电荷产生电位的叠加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469092"/>
              </p:ext>
            </p:extLst>
          </p:nvPr>
        </p:nvGraphicFramePr>
        <p:xfrm>
          <a:off x="2916572" y="4376369"/>
          <a:ext cx="26781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Equation" r:id="rId4" imgW="1663560" imgH="419040" progId="Equation.DSMT4">
                  <p:embed/>
                </p:oleObj>
              </mc:Choice>
              <mc:Fallback>
                <p:oleObj name="Equation" r:id="rId4" imgW="1663560" imgH="419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572" y="4376369"/>
                        <a:ext cx="2678113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840366"/>
              </p:ext>
            </p:extLst>
          </p:nvPr>
        </p:nvGraphicFramePr>
        <p:xfrm>
          <a:off x="7928304" y="982901"/>
          <a:ext cx="2303462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Equation" r:id="rId6" imgW="1422360" imgH="469800" progId="Equation.DSMT4">
                  <p:embed/>
                </p:oleObj>
              </mc:Choice>
              <mc:Fallback>
                <p:oleObj name="Equation" r:id="rId6" imgW="1422360" imgH="469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8304" y="982901"/>
                        <a:ext cx="2303462" cy="757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105052"/>
              </p:ext>
            </p:extLst>
          </p:nvPr>
        </p:nvGraphicFramePr>
        <p:xfrm>
          <a:off x="10127059" y="5512705"/>
          <a:ext cx="1513557" cy="705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Equation" r:id="rId8" imgW="939392" imgH="431613" progId="Equation.DSMT4">
                  <p:embed/>
                </p:oleObj>
              </mc:Choice>
              <mc:Fallback>
                <p:oleObj name="Equation" r:id="rId8" imgW="939392" imgH="43161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7059" y="5512705"/>
                        <a:ext cx="1513557" cy="7056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256031"/>
              </p:ext>
            </p:extLst>
          </p:nvPr>
        </p:nvGraphicFramePr>
        <p:xfrm>
          <a:off x="6510131" y="5531666"/>
          <a:ext cx="1513557" cy="705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Equation" r:id="rId10" imgW="939392" imgH="431613" progId="Equation.DSMT4">
                  <p:embed/>
                </p:oleObj>
              </mc:Choice>
              <mc:Fallback>
                <p:oleObj name="Equation" r:id="rId10" imgW="939392" imgH="43161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0131" y="5531666"/>
                        <a:ext cx="1513557" cy="7056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439532" y="4501386"/>
            <a:ext cx="23503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CA" altLang="zh-CN" sz="2000" i="1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zh-CN" sz="20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个导体上的电位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026219"/>
              </p:ext>
            </p:extLst>
          </p:nvPr>
        </p:nvGraphicFramePr>
        <p:xfrm>
          <a:off x="1024032" y="5469979"/>
          <a:ext cx="35591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Equation" r:id="rId12" imgW="2209680" imgH="419040" progId="Equation.DSMT4">
                  <p:embed/>
                </p:oleObj>
              </mc:Choice>
              <mc:Fallback>
                <p:oleObj name="Equation" r:id="rId12" imgW="2209680" imgH="4190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4032" y="5469979"/>
                        <a:ext cx="3559175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418487" y="5095584"/>
            <a:ext cx="36776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求逆，可得</a:t>
            </a:r>
            <a:r>
              <a:rPr lang="zh-CN" altLang="zh-CN" sz="20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CA" altLang="zh-CN" sz="2000" i="1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zh-CN" sz="20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个导体上的</a:t>
            </a:r>
            <a:r>
              <a:rPr lang="zh-CN" altLang="en-US" sz="20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电量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32532" y="566547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如无大地，则有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6303020" y="2801885"/>
                <a:ext cx="5319679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en-US" sz="20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理解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zh-CN" altLang="en-US" sz="20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的物理意义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：把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导体</a:t>
                </a:r>
                <a:r>
                  <a:rPr lang="en-CA" altLang="zh-CN" sz="2000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电位设为</a:t>
                </a:r>
                <a:r>
                  <a:rPr lang="en-CA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1V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、其它导体电位都设为零，电力线从导体</a:t>
                </a:r>
                <a:r>
                  <a:rPr lang="en-CA" altLang="zh-CN" sz="2000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出发落到其余导体或者大地</a:t>
                </a:r>
                <a:r>
                  <a:rPr lang="en-US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均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零电位</a:t>
                </a:r>
                <a:r>
                  <a:rPr lang="en-US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因而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导体</a:t>
                </a:r>
                <a:r>
                  <a:rPr lang="en-CA" altLang="zh-CN" sz="2000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带正电荷，导体</a:t>
                </a:r>
                <a:r>
                  <a:rPr lang="en-CA" altLang="zh-CN" sz="2000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电量就是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，其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值为正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，可理解为导体</a:t>
                </a:r>
                <a:r>
                  <a:rPr lang="en-CA" altLang="zh-CN" sz="20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出发所有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电力线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电力线终于导体</a:t>
                </a:r>
                <a:r>
                  <a:rPr lang="en-CA" altLang="zh-CN" sz="20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，导体</a:t>
                </a:r>
                <a:r>
                  <a:rPr lang="en-CA" altLang="zh-CN" sz="20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上带负电荷，导体</a:t>
                </a:r>
                <a:r>
                  <a:rPr lang="en-CA" altLang="zh-CN" sz="20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上电量就是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，其值为负，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其绝对值可理解为从导体</a:t>
                </a:r>
                <a:r>
                  <a:rPr lang="en-CA" altLang="zh-CN" sz="20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出发落到导体</a:t>
                </a:r>
                <a:r>
                  <a:rPr lang="en-CA" altLang="zh-CN" sz="20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上的电力线数量。如果另有大地作为零电位点时，还有电力线落到大地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。因此有</a:t>
                </a:r>
                <a:endParaRPr lang="en-US" altLang="zh-CN" sz="2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020" y="2801885"/>
                <a:ext cx="5319679" cy="2862322"/>
              </a:xfrm>
              <a:prstGeom prst="rect">
                <a:avLst/>
              </a:prstGeom>
              <a:blipFill>
                <a:blip r:embed="rId14"/>
                <a:stretch>
                  <a:fillRect l="-1260" t="-1706" r="-1031" b="-25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6294108" y="1718366"/>
                <a:ext cx="5328592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式中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称为静电感应系数，其中相同下标的称为自静电感应系数，不同下标的称为互静电感应系数</a:t>
                </a:r>
                <a:r>
                  <a:rPr lang="zh-CN" altLang="zh-CN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电位</a:t>
                </a:r>
                <a:r>
                  <a:rPr lang="zh-CN" altLang="en-US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。可以证明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en-US" altLang="zh-CN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108" y="1718366"/>
                <a:ext cx="5328592" cy="1015663"/>
              </a:xfrm>
              <a:prstGeom prst="rect">
                <a:avLst/>
              </a:prstGeom>
              <a:blipFill>
                <a:blip r:embed="rId15"/>
                <a:stretch>
                  <a:fillRect l="-1143" t="-4819" b="-90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136861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351" y="757181"/>
            <a:ext cx="2926266" cy="25694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静电场能量特性：多导体电容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endParaRPr lang="zh-CN" altLang="en-US" sz="2800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299682"/>
              </p:ext>
            </p:extLst>
          </p:nvPr>
        </p:nvGraphicFramePr>
        <p:xfrm>
          <a:off x="1227645" y="5893203"/>
          <a:ext cx="4080470" cy="695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" name="Equation" r:id="rId4" imgW="2527300" imgH="419100" progId="Equation.DSMT4">
                  <p:embed/>
                </p:oleObj>
              </mc:Choice>
              <mc:Fallback>
                <p:oleObj name="Equation" r:id="rId4" imgW="2527300" imgH="4191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645" y="5893203"/>
                        <a:ext cx="4080470" cy="6954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220508"/>
              </p:ext>
            </p:extLst>
          </p:nvPr>
        </p:nvGraphicFramePr>
        <p:xfrm>
          <a:off x="7815764" y="1655374"/>
          <a:ext cx="2178297" cy="695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" name="Equation" r:id="rId6" imgW="1346200" imgH="419100" progId="Equation.DSMT4">
                  <p:embed/>
                </p:oleObj>
              </mc:Choice>
              <mc:Fallback>
                <p:oleObj name="Equation" r:id="rId6" imgW="1346200" imgH="4191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5764" y="1655374"/>
                        <a:ext cx="2178297" cy="6954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941212"/>
              </p:ext>
            </p:extLst>
          </p:nvPr>
        </p:nvGraphicFramePr>
        <p:xfrm>
          <a:off x="901551" y="3522911"/>
          <a:ext cx="35591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" name="Equation" r:id="rId8" imgW="2209680" imgH="419040" progId="Equation.DSMT4">
                  <p:embed/>
                </p:oleObj>
              </mc:Choice>
              <mc:Fallback>
                <p:oleObj name="Equation" r:id="rId8" imgW="2209680" imgH="4190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551" y="3522911"/>
                        <a:ext cx="3559175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437083" y="4218236"/>
                <a:ext cx="5661595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定义一个导体（或大地）的电位为零，导体</a:t>
                </a:r>
                <a:r>
                  <a:rPr lang="en-CA" altLang="zh-CN" sz="2000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电位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可以写成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000" b="0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，其余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导体</a:t>
                </a:r>
                <a:r>
                  <a:rPr lang="en-CA" altLang="zh-CN" sz="20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的电位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可以写成</a:t>
                </a: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83" y="4218236"/>
                <a:ext cx="5661595" cy="707886"/>
              </a:xfrm>
              <a:prstGeom prst="rect">
                <a:avLst/>
              </a:prstGeom>
              <a:blipFill>
                <a:blip r:embed="rId10"/>
                <a:stretch>
                  <a:fillRect l="-1185" t="-6897" r="-862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007570"/>
              </p:ext>
            </p:extLst>
          </p:nvPr>
        </p:nvGraphicFramePr>
        <p:xfrm>
          <a:off x="1813182" y="5046516"/>
          <a:ext cx="2679406" cy="323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3" name="Equation" r:id="rId11" imgW="1676400" imgH="203200" progId="Equation.DSMT4">
                  <p:embed/>
                </p:oleObj>
              </mc:Choice>
              <mc:Fallback>
                <p:oleObj name="Equation" r:id="rId11" imgW="1676400" imgH="2032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182" y="5046516"/>
                        <a:ext cx="2679406" cy="3236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/>
          <p:cNvSpPr/>
          <p:nvPr/>
        </p:nvSpPr>
        <p:spPr>
          <a:xfrm>
            <a:off x="554772" y="5506014"/>
            <a:ext cx="53972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把这些电位表示式代入</a:t>
            </a:r>
            <a:r>
              <a:rPr lang="en-US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(2.2.40)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的左端，可得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240617" y="1057544"/>
            <a:ext cx="5328592" cy="695419"/>
            <a:chOff x="6600056" y="986921"/>
            <a:chExt cx="5328592" cy="6954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/>
                <p:cNvSpPr/>
                <p:nvPr/>
              </p:nvSpPr>
              <p:spPr>
                <a:xfrm>
                  <a:off x="6600056" y="1124744"/>
                  <a:ext cx="5328592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2000" kern="100" dirty="0">
                      <a:latin typeface="黑体" panose="02010609060101010101" pitchFamily="49" charset="-122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令         、             并注意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kern="1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𝑘𝑘</m:t>
                          </m:r>
                        </m:sub>
                      </m:sSub>
                    </m:oMath>
                  </a14:m>
                  <a:r>
                    <a:rPr lang="en-US" altLang="zh-CN" sz="2000" kern="100" dirty="0">
                      <a:latin typeface="黑体" panose="02010609060101010101" pitchFamily="49" charset="-122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=0,</a:t>
                  </a:r>
                  <a:r>
                    <a:rPr lang="zh-CN" altLang="en-US" sz="2000" kern="100" dirty="0">
                      <a:latin typeface="黑体" panose="02010609060101010101" pitchFamily="49" charset="-122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得</a:t>
                  </a:r>
                  <a:endPara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6" name="矩形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0056" y="1124744"/>
                  <a:ext cx="5328592" cy="400110"/>
                </a:xfrm>
                <a:prstGeom prst="rect">
                  <a:avLst/>
                </a:prstGeom>
                <a:blipFill>
                  <a:blip r:embed="rId13"/>
                  <a:stretch>
                    <a:fillRect l="-1259" t="-10606" r="-343" b="-22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" name="对象 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76344482"/>
                    </p:ext>
                  </p:extLst>
                </p:nvPr>
              </p:nvGraphicFramePr>
              <p:xfrm>
                <a:off x="7033513" y="986921"/>
                <a:ext cx="1114715" cy="69541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7204" name="Equation" r:id="rId14" imgW="698500" imgH="419100" progId="Equation.DSMT4">
                        <p:embed/>
                      </p:oleObj>
                    </mc:Choice>
                    <mc:Fallback>
                      <p:oleObj name="Equation" r:id="rId14" imgW="698500" imgH="419100" progId="Equation.DSMT4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033513" y="986921"/>
                              <a:ext cx="1114715" cy="69541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5" name="对象 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76344482"/>
                    </p:ext>
                  </p:extLst>
                </p:nvPr>
              </p:nvGraphicFramePr>
              <p:xfrm>
                <a:off x="7033513" y="986921"/>
                <a:ext cx="1114715" cy="69541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5466" name="Equation" r:id="rId16" imgW="698500" imgH="419100" progId="Equation.DSMT4">
                        <p:embed/>
                      </p:oleObj>
                    </mc:Choice>
                    <mc:Fallback>
                      <p:oleObj name="Equation" r:id="rId16" imgW="698500" imgH="419100" progId="Equation.DSMT4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033513" y="986921"/>
                              <a:ext cx="1114715" cy="69541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" name="对象 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87219211"/>
                    </p:ext>
                  </p:extLst>
                </p:nvPr>
              </p:nvGraphicFramePr>
              <p:xfrm>
                <a:off x="8291042" y="1166355"/>
                <a:ext cx="1630362" cy="3365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7205" name="Equation" r:id="rId18" imgW="990360" imgH="203040" progId="Equation.DSMT4">
                        <p:embed/>
                      </p:oleObj>
                    </mc:Choice>
                    <mc:Fallback>
                      <p:oleObj name="Equation" r:id="rId18" imgW="990360" imgH="203040" progId="Equation.DSMT4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291042" y="1166355"/>
                              <a:ext cx="1630362" cy="33655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9" name="对象 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87219211"/>
                    </p:ext>
                  </p:extLst>
                </p:nvPr>
              </p:nvGraphicFramePr>
              <p:xfrm>
                <a:off x="8291042" y="1166355"/>
                <a:ext cx="1630362" cy="3365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5467" name="Equation" r:id="rId20" imgW="990360" imgH="203040" progId="Equation.DSMT4">
                        <p:embed/>
                      </p:oleObj>
                    </mc:Choice>
                    <mc:Fallback>
                      <p:oleObj name="Equation" r:id="rId20" imgW="990360" imgH="203040" progId="Equation.DSMT4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291042" y="1166355"/>
                              <a:ext cx="1630362" cy="33655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6259333" y="2277900"/>
                <a:ext cx="5688632" cy="409342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n"/>
                </a:pP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电容的物理意义：其中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𝑘𝑘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自部分电容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，是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导体</a:t>
                </a:r>
                <a:r>
                  <a:rPr lang="en-CA" altLang="zh-CN" sz="20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的对地电容，形象看等于导体</a:t>
                </a:r>
                <a:r>
                  <a:rPr lang="en-CA" altLang="zh-CN" sz="20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出发落到地的电力线数量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互部分电容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，是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导体</a:t>
                </a:r>
                <a:r>
                  <a:rPr lang="en-CA" altLang="zh-CN" sz="20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与导体</a:t>
                </a:r>
                <a:r>
                  <a:rPr lang="en-CA" altLang="zh-CN" sz="20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之间的电容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等于从导体</a:t>
                </a:r>
                <a:r>
                  <a:rPr lang="en-CA" altLang="zh-CN" sz="20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出发落到导体</a:t>
                </a:r>
                <a:r>
                  <a:rPr lang="en-CA" altLang="zh-CN" sz="20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的电力线数量。无论是自部分电容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互部分电容的值都大于零。</a:t>
                </a:r>
                <a:endParaRPr lang="en-US" altLang="zh-CN" sz="2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n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等效电容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多导体中两个导体之间的总电容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其不仅与两个导体间直接的互部分电容有关，而且还与这两个导体之间通过其它导体形成的电容有关。等效电容的计算，也可以利用等效电路的方法。此时每个导体缩成电路中的一个节点，节点之间的电容就是就是导体之间的互部分电容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333" y="2277900"/>
                <a:ext cx="5688632" cy="4093428"/>
              </a:xfrm>
              <a:prstGeom prst="rect">
                <a:avLst/>
              </a:prstGeom>
              <a:blipFill>
                <a:blip r:embed="rId22"/>
                <a:stretch>
                  <a:fillRect l="-746" t="-888" r="-746" b="-1036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图片 2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8762" y="913542"/>
            <a:ext cx="2694182" cy="239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35599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706" y="4567574"/>
            <a:ext cx="3515510" cy="18262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恒流电场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基本方程和边界条件</a:t>
            </a:r>
            <a:endParaRPr lang="zh-CN" altLang="en-US" sz="2800" dirty="0"/>
          </a:p>
        </p:txBody>
      </p:sp>
      <p:sp>
        <p:nvSpPr>
          <p:cNvPr id="31" name="矩形 30"/>
          <p:cNvSpPr/>
          <p:nvPr/>
        </p:nvSpPr>
        <p:spPr>
          <a:xfrm>
            <a:off x="3012757" y="830717"/>
            <a:ext cx="780213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除了有恒定电流引起的效应以外，恒流电场与静电场完全相同</a:t>
            </a:r>
            <a:endParaRPr lang="zh-CN" altLang="en-US" sz="2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782628"/>
              </p:ext>
            </p:extLst>
          </p:nvPr>
        </p:nvGraphicFramePr>
        <p:xfrm>
          <a:off x="2005720" y="3220700"/>
          <a:ext cx="922452" cy="23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4" name="Equation" r:id="rId4" imgW="558558" imgH="165028" progId="Equation.DSMT4">
                  <p:embed/>
                </p:oleObj>
              </mc:Choice>
              <mc:Fallback>
                <p:oleObj name="Equation" r:id="rId4" imgW="558558" imgH="165028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720" y="3220700"/>
                        <a:ext cx="922452" cy="23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581188"/>
              </p:ext>
            </p:extLst>
          </p:nvPr>
        </p:nvGraphicFramePr>
        <p:xfrm>
          <a:off x="2005720" y="3538874"/>
          <a:ext cx="762357" cy="288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5" name="Equation" r:id="rId6" imgW="545863" imgH="190417" progId="Equation.DSMT4">
                  <p:embed/>
                </p:oleObj>
              </mc:Choice>
              <mc:Fallback>
                <p:oleObj name="Equation" r:id="rId6" imgW="545863" imgH="190417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720" y="3538874"/>
                        <a:ext cx="762357" cy="2882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897461"/>
              </p:ext>
            </p:extLst>
          </p:nvPr>
        </p:nvGraphicFramePr>
        <p:xfrm>
          <a:off x="1991544" y="3857639"/>
          <a:ext cx="809958" cy="23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" name="Equation" r:id="rId8" imgW="494870" imgH="164957" progId="Equation.DSMT4">
                  <p:embed/>
                </p:oleObj>
              </mc:Choice>
              <mc:Fallback>
                <p:oleObj name="Equation" r:id="rId8" imgW="494870" imgH="164957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3857639"/>
                        <a:ext cx="809958" cy="23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580925"/>
              </p:ext>
            </p:extLst>
          </p:nvPr>
        </p:nvGraphicFramePr>
        <p:xfrm>
          <a:off x="625061" y="5685392"/>
          <a:ext cx="1411290" cy="33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" name="Equation" r:id="rId10" imgW="876300" imgH="203200" progId="Equation.DSMT4">
                  <p:embed/>
                </p:oleObj>
              </mc:Choice>
              <mc:Fallback>
                <p:oleObj name="Equation" r:id="rId10" imgW="876300" imgH="203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061" y="5685392"/>
                        <a:ext cx="1411290" cy="33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274230"/>
              </p:ext>
            </p:extLst>
          </p:nvPr>
        </p:nvGraphicFramePr>
        <p:xfrm>
          <a:off x="1006534" y="6075725"/>
          <a:ext cx="859046" cy="33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8" name="Equation" r:id="rId12" imgW="533169" imgH="203112" progId="Equation.DSMT4">
                  <p:embed/>
                </p:oleObj>
              </mc:Choice>
              <mc:Fallback>
                <p:oleObj name="Equation" r:id="rId12" imgW="533169" imgH="20311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534" y="6075725"/>
                        <a:ext cx="859046" cy="33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274271"/>
              </p:ext>
            </p:extLst>
          </p:nvPr>
        </p:nvGraphicFramePr>
        <p:xfrm>
          <a:off x="2839138" y="6021288"/>
          <a:ext cx="1513557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" name="Equation" r:id="rId14" imgW="939392" imgH="355446" progId="Equation.DSMT4">
                  <p:embed/>
                </p:oleObj>
              </mc:Choice>
              <mc:Fallback>
                <p:oleObj name="Equation" r:id="rId14" imgW="939392" imgH="35544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9138" y="6021288"/>
                        <a:ext cx="1513557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525244" y="1296555"/>
            <a:ext cx="3698548" cy="1631216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恒流电场与静电场主要不同点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导体内部有电流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电场不再垂直于导体表面，导体不再是等位体。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有能量损耗。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25244" y="3138764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基本方程</a:t>
            </a:r>
            <a:endParaRPr lang="zh-CN" altLang="en-US" sz="2000" dirty="0"/>
          </a:p>
        </p:txBody>
      </p:sp>
      <p:sp>
        <p:nvSpPr>
          <p:cNvPr id="17" name="矩形 16"/>
          <p:cNvSpPr/>
          <p:nvPr/>
        </p:nvSpPr>
        <p:spPr>
          <a:xfrm>
            <a:off x="498023" y="409356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状态方程</a:t>
            </a:r>
            <a:endParaRPr lang="zh-CN" altLang="en-US" sz="2000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658160"/>
              </p:ext>
            </p:extLst>
          </p:nvPr>
        </p:nvGraphicFramePr>
        <p:xfrm>
          <a:off x="623392" y="4879945"/>
          <a:ext cx="1534012" cy="33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" name="Equation" r:id="rId16" imgW="952087" imgH="203112" progId="Equation.DSMT4">
                  <p:embed/>
                </p:oleObj>
              </mc:Choice>
              <mc:Fallback>
                <p:oleObj name="Equation" r:id="rId16" imgW="952087" imgH="203112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392" y="4879945"/>
                        <a:ext cx="1534012" cy="33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347942"/>
              </p:ext>
            </p:extLst>
          </p:nvPr>
        </p:nvGraphicFramePr>
        <p:xfrm>
          <a:off x="628041" y="5267132"/>
          <a:ext cx="1585145" cy="33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1" name="Equation" r:id="rId18" imgW="977476" imgH="203112" progId="Equation.DSMT4">
                  <p:embed/>
                </p:oleObj>
              </mc:Choice>
              <mc:Fallback>
                <p:oleObj name="Equation" r:id="rId18" imgW="977476" imgH="203112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041" y="5267132"/>
                        <a:ext cx="1585145" cy="33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842552"/>
              </p:ext>
            </p:extLst>
          </p:nvPr>
        </p:nvGraphicFramePr>
        <p:xfrm>
          <a:off x="2441462" y="4879944"/>
          <a:ext cx="705646" cy="33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2" name="Equation" r:id="rId20" imgW="431613" imgH="203112" progId="Equation.DSMT4">
                  <p:embed/>
                </p:oleObj>
              </mc:Choice>
              <mc:Fallback>
                <p:oleObj name="Equation" r:id="rId20" imgW="431613" imgH="203112" progId="Equation.DSMT4">
                  <p:embed/>
                  <p:pic>
                    <p:nvPicPr>
                      <p:cNvPr id="42" name="对象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462" y="4879944"/>
                        <a:ext cx="705646" cy="33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79170"/>
              </p:ext>
            </p:extLst>
          </p:nvPr>
        </p:nvGraphicFramePr>
        <p:xfrm>
          <a:off x="2301397" y="5179005"/>
          <a:ext cx="1953307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" name="Equation" r:id="rId22" imgW="1218671" imgH="355446" progId="Equation.DSMT4">
                  <p:embed/>
                </p:oleObj>
              </mc:Choice>
              <mc:Fallback>
                <p:oleObj name="Equation" r:id="rId22" imgW="1218671" imgH="355446" progId="Equation.DSMT4">
                  <p:embed/>
                  <p:pic>
                    <p:nvPicPr>
                      <p:cNvPr id="44" name="对象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397" y="5179005"/>
                        <a:ext cx="1953307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282048"/>
              </p:ext>
            </p:extLst>
          </p:nvPr>
        </p:nvGraphicFramePr>
        <p:xfrm>
          <a:off x="1833980" y="4186164"/>
          <a:ext cx="756779" cy="265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name="Equation" r:id="rId24" imgW="469696" imgH="165028" progId="Equation.DSMT4">
                  <p:embed/>
                </p:oleObj>
              </mc:Choice>
              <mc:Fallback>
                <p:oleObj name="Equation" r:id="rId24" imgW="469696" imgH="16502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980" y="4186164"/>
                        <a:ext cx="756779" cy="2658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937312"/>
              </p:ext>
            </p:extLst>
          </p:nvPr>
        </p:nvGraphicFramePr>
        <p:xfrm>
          <a:off x="2882043" y="4195718"/>
          <a:ext cx="756779" cy="265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" name="Equation" r:id="rId26" imgW="469696" imgH="165028" progId="Equation.DSMT4">
                  <p:embed/>
                </p:oleObj>
              </mc:Choice>
              <mc:Fallback>
                <p:oleObj name="Equation" r:id="rId26" imgW="469696" imgH="165028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043" y="4195718"/>
                        <a:ext cx="756779" cy="2658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1850617" y="4576545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边界条件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498023" y="6057791"/>
            <a:ext cx="4852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lang="zh-CN" altLang="en-US" sz="200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14744" y="1299027"/>
            <a:ext cx="3262712" cy="1748643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4223792" y="3010876"/>
            <a:ext cx="37048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CA" altLang="zh-CN" kern="100" dirty="0">
                <a:latin typeface="黑体" panose="02010609060101010101" pitchFamily="49" charset="-122"/>
                <a:ea typeface="黑体" panose="02010609060101010101" pitchFamily="49" charset="-122"/>
              </a:rPr>
              <a:t>(a)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不同电导率导体界面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有电流穿越界面，界面两侧电场切向分量相等、电流密度的法向分量相等，界面可能有面电荷。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09955" y="1296555"/>
            <a:ext cx="3174604" cy="1751116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8221728" y="3005752"/>
            <a:ext cx="36165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CA" altLang="zh-CN" kern="100" dirty="0">
                <a:latin typeface="黑体" panose="02010609060101010101" pitchFamily="49" charset="-122"/>
                <a:ea typeface="黑体" panose="02010609060101010101" pitchFamily="49" charset="-122"/>
              </a:rPr>
              <a:t>(c)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理想介质与理想导体界面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理想介质内有电场无电流，理想导体表面有切向电流无电场，分界面有面电荷。理想导体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可以有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也可以没有切向电流，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后者是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静电场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情况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185341" y="4858318"/>
            <a:ext cx="36893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CA" altLang="zh-CN" kern="100" dirty="0">
                <a:latin typeface="黑体" panose="02010609060101010101" pitchFamily="49" charset="-122"/>
                <a:ea typeface="黑体" panose="02010609060101010101" pitchFamily="49" charset="-122"/>
              </a:rPr>
              <a:t>(b)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理想介质与导体界面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理想介质中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无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电流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，导体一侧只有切向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电流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和切向电场，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界面有面电荷。导体不是等位体；界面理想介质一侧的电力线不再垂直于导体的表面。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60057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389" y="1207925"/>
            <a:ext cx="4492696" cy="329658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恒流电场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静电比拟法和电导</a:t>
            </a:r>
            <a:endParaRPr lang="zh-CN" altLang="en-US" sz="2800" dirty="0"/>
          </a:p>
        </p:txBody>
      </p:sp>
      <p:sp>
        <p:nvSpPr>
          <p:cNvPr id="31" name="矩形 30"/>
          <p:cNvSpPr/>
          <p:nvPr/>
        </p:nvSpPr>
        <p:spPr>
          <a:xfrm>
            <a:off x="2063552" y="836712"/>
            <a:ext cx="808426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静电场与恒流电场很相似</a:t>
            </a:r>
            <a:r>
              <a:rPr lang="en-US" altLang="zh-CN" sz="22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2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差别在于是否有电流</a:t>
            </a:r>
            <a:r>
              <a:rPr lang="en-US" altLang="zh-CN" sz="22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2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，两者可以比拟</a:t>
            </a:r>
            <a:endParaRPr lang="zh-CN" altLang="en-US" sz="2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46801" y="1284730"/>
            <a:ext cx="2006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介质内静电场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1384" y="1267599"/>
            <a:ext cx="19954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导体内恒流电场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950537"/>
              </p:ext>
            </p:extLst>
          </p:nvPr>
        </p:nvGraphicFramePr>
        <p:xfrm>
          <a:off x="976847" y="1700808"/>
          <a:ext cx="1014697" cy="25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3" name="Equation" r:id="rId4" imgW="558558" imgH="165028" progId="Equation.DSMT4">
                  <p:embed/>
                </p:oleObj>
              </mc:Choice>
              <mc:Fallback>
                <p:oleObj name="Equation" r:id="rId4" imgW="558558" imgH="165028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847" y="1700808"/>
                        <a:ext cx="1014697" cy="259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559916"/>
              </p:ext>
            </p:extLst>
          </p:nvPr>
        </p:nvGraphicFramePr>
        <p:xfrm>
          <a:off x="2899813" y="1960670"/>
          <a:ext cx="762357" cy="288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4" name="Equation" r:id="rId6" imgW="545863" imgH="190417" progId="Equation.DSMT4">
                  <p:embed/>
                </p:oleObj>
              </mc:Choice>
              <mc:Fallback>
                <p:oleObj name="Equation" r:id="rId6" imgW="545863" imgH="190417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9813" y="1960670"/>
                        <a:ext cx="762357" cy="2882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559403"/>
              </p:ext>
            </p:extLst>
          </p:nvPr>
        </p:nvGraphicFramePr>
        <p:xfrm>
          <a:off x="953428" y="1948923"/>
          <a:ext cx="890954" cy="25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name="Equation" r:id="rId8" imgW="494870" imgH="164957" progId="Equation.DSMT4">
                  <p:embed/>
                </p:oleObj>
              </mc:Choice>
              <mc:Fallback>
                <p:oleObj name="Equation" r:id="rId8" imgW="494870" imgH="164957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428" y="1948923"/>
                        <a:ext cx="890954" cy="259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695312"/>
              </p:ext>
            </p:extLst>
          </p:nvPr>
        </p:nvGraphicFramePr>
        <p:xfrm>
          <a:off x="2855640" y="2205184"/>
          <a:ext cx="756779" cy="265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6" name="Equation" r:id="rId10" imgW="469696" imgH="165028" progId="Equation.DSMT4">
                  <p:embed/>
                </p:oleObj>
              </mc:Choice>
              <mc:Fallback>
                <p:oleObj name="Equation" r:id="rId10" imgW="469696" imgH="165028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2205184"/>
                        <a:ext cx="756779" cy="2658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231409"/>
              </p:ext>
            </p:extLst>
          </p:nvPr>
        </p:nvGraphicFramePr>
        <p:xfrm>
          <a:off x="959527" y="2199659"/>
          <a:ext cx="756779" cy="265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7" name="Equation" r:id="rId12" imgW="469696" imgH="165028" progId="Equation.DSMT4">
                  <p:embed/>
                </p:oleObj>
              </mc:Choice>
              <mc:Fallback>
                <p:oleObj name="Equation" r:id="rId12" imgW="469696" imgH="165028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527" y="2199659"/>
                        <a:ext cx="756779" cy="2658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19157"/>
              </p:ext>
            </p:extLst>
          </p:nvPr>
        </p:nvGraphicFramePr>
        <p:xfrm>
          <a:off x="932674" y="2453829"/>
          <a:ext cx="869274" cy="31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8" name="Equation" r:id="rId14" imgW="545863" imgH="190417" progId="Equation.DSMT4">
                  <p:embed/>
                </p:oleObj>
              </mc:Choice>
              <mc:Fallback>
                <p:oleObj name="Equation" r:id="rId14" imgW="545863" imgH="190417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674" y="2453829"/>
                        <a:ext cx="869274" cy="3170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479187"/>
              </p:ext>
            </p:extLst>
          </p:nvPr>
        </p:nvGraphicFramePr>
        <p:xfrm>
          <a:off x="2899813" y="1700808"/>
          <a:ext cx="1014697" cy="25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9" name="Equation" r:id="rId4" imgW="558558" imgH="165028" progId="Equation.DSMT4">
                  <p:embed/>
                </p:oleObj>
              </mc:Choice>
              <mc:Fallback>
                <p:oleObj name="Equation" r:id="rId4" imgW="558558" imgH="165028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9813" y="1700808"/>
                        <a:ext cx="1014697" cy="259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992471"/>
              </p:ext>
            </p:extLst>
          </p:nvPr>
        </p:nvGraphicFramePr>
        <p:xfrm>
          <a:off x="2855640" y="2453829"/>
          <a:ext cx="869274" cy="31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Equation" r:id="rId14" imgW="545863" imgH="190417" progId="Equation.DSMT4">
                  <p:embed/>
                </p:oleObj>
              </mc:Choice>
              <mc:Fallback>
                <p:oleObj name="Equation" r:id="rId14" imgW="545863" imgH="190417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2453829"/>
                        <a:ext cx="869274" cy="3170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542112" y="2767202"/>
                <a:ext cx="5481880" cy="1323439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如果</a:t>
                </a:r>
                <a:r>
                  <a:rPr lang="en-US" altLang="zh-CN" sz="2000" b="1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2000" b="1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交换、</a:t>
                </a:r>
                <a14:m>
                  <m:oMath xmlns:m="http://schemas.openxmlformats.org/officeDocument/2006/math">
                    <m:r>
                      <a:rPr lang="zh-CN" altLang="en-US" sz="2000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zh-CN" altLang="en-US" sz="2000" i="1" kern="100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交换，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导体内恒流电场基本方程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状态方程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和没有自由电荷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介质内静电场基本方程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状态方程的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形式一样。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如果</a:t>
                </a:r>
                <a:r>
                  <a:rPr lang="zh-CN" altLang="en-US" sz="20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边界条件再一样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，两种情况下解的形式也将一样。</a:t>
                </a:r>
                <a:endParaRPr lang="zh-CN" altLang="en-US" sz="2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12" y="2767202"/>
                <a:ext cx="5481880" cy="1323439"/>
              </a:xfrm>
              <a:prstGeom prst="rect">
                <a:avLst/>
              </a:prstGeom>
              <a:blipFill>
                <a:blip r:embed="rId18"/>
                <a:stretch>
                  <a:fillRect l="-996" t="-2703" r="-774" b="-4955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625009"/>
              </p:ext>
            </p:extLst>
          </p:nvPr>
        </p:nvGraphicFramePr>
        <p:xfrm>
          <a:off x="707115" y="5902014"/>
          <a:ext cx="2631061" cy="855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name="Equation" r:id="rId19" imgW="1790700" imgH="584200" progId="Equation.DSMT4">
                  <p:embed/>
                </p:oleObj>
              </mc:Choice>
              <mc:Fallback>
                <p:oleObj name="Equation" r:id="rId19" imgW="1790700" imgH="584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115" y="5902014"/>
                        <a:ext cx="2631061" cy="8553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870129"/>
              </p:ext>
            </p:extLst>
          </p:nvPr>
        </p:nvGraphicFramePr>
        <p:xfrm>
          <a:off x="733592" y="4952572"/>
          <a:ext cx="2556685" cy="855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2" name="Equation" r:id="rId21" imgW="1739900" imgH="584200" progId="Equation.DSMT4">
                  <p:embed/>
                </p:oleObj>
              </mc:Choice>
              <mc:Fallback>
                <p:oleObj name="Equation" r:id="rId21" imgW="1739900" imgH="584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592" y="4952572"/>
                        <a:ext cx="2556685" cy="8553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026144"/>
              </p:ext>
            </p:extLst>
          </p:nvPr>
        </p:nvGraphicFramePr>
        <p:xfrm>
          <a:off x="8328248" y="5693295"/>
          <a:ext cx="654511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3" name="Equation" r:id="rId23" imgW="418918" imgH="355446" progId="Equation.DSMT4">
                  <p:embed/>
                </p:oleObj>
              </mc:Choice>
              <mc:Fallback>
                <p:oleObj name="Equation" r:id="rId23" imgW="418918" imgH="355446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248" y="5693295"/>
                        <a:ext cx="654511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/>
          <p:cNvSpPr/>
          <p:nvPr/>
        </p:nvSpPr>
        <p:spPr>
          <a:xfrm>
            <a:off x="536144" y="4150571"/>
            <a:ext cx="548784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电导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两个电极之间的电流与电压的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比值，表征媒质的损耗特性，其定义与电容的定义类似</a:t>
            </a:r>
          </a:p>
        </p:txBody>
      </p:sp>
      <p:sp>
        <p:nvSpPr>
          <p:cNvPr id="32" name="矩形 31"/>
          <p:cNvSpPr/>
          <p:nvPr/>
        </p:nvSpPr>
        <p:spPr>
          <a:xfrm>
            <a:off x="6121464" y="4616209"/>
            <a:ext cx="52323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静电场两个导体的形状、大小和位置，与恒流电场中对应的两个电极的形状、大小和位置一样；如果两种情况下边界条件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也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一样，那么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就有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247568" y="6296674"/>
            <a:ext cx="68158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与静电场类似，恒定电场同样可以定义多电极的电导</a:t>
            </a:r>
            <a:r>
              <a:rPr lang="en-US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电阻</a:t>
            </a:r>
            <a:r>
              <a:rPr lang="en-US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302924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恒流电场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导体内部不存在净电荷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2801024" y="1070248"/>
                <a:ext cx="55194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恒流电场</a:t>
                </a:r>
                <a14:m>
                  <m:oMath xmlns:m="http://schemas.openxmlformats.org/officeDocument/2006/math">
                    <m:r>
                      <a:rPr lang="zh-CN" altLang="en-US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𝛻</m:t>
                    </m:r>
                    <m:r>
                      <a:rPr lang="zh-CN" altLang="en-US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⋅</m:t>
                    </m:r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𝑱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，假设导体内部的电导率均匀，有</a:t>
                </a:r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024" y="1070248"/>
                <a:ext cx="5519460" cy="369332"/>
              </a:xfrm>
              <a:prstGeom prst="rect">
                <a:avLst/>
              </a:prstGeom>
              <a:blipFill>
                <a:blip r:embed="rId3"/>
                <a:stretch>
                  <a:fillRect l="-883"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45862"/>
              </p:ext>
            </p:extLst>
          </p:nvPr>
        </p:nvGraphicFramePr>
        <p:xfrm>
          <a:off x="3305080" y="1421734"/>
          <a:ext cx="3446411" cy="556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Equation" r:id="rId4" imgW="2133600" imgH="355600" progId="Equation.DSMT4">
                  <p:embed/>
                </p:oleObj>
              </mc:Choice>
              <mc:Fallback>
                <p:oleObj name="Equation" r:id="rId4" imgW="2133600" imgH="355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5080" y="1421734"/>
                        <a:ext cx="3446411" cy="5568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061910"/>
              </p:ext>
            </p:extLst>
          </p:nvPr>
        </p:nvGraphicFramePr>
        <p:xfrm>
          <a:off x="4330397" y="3727649"/>
          <a:ext cx="2789855" cy="363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" name="Equation" r:id="rId6" imgW="1562100" imgH="215900" progId="Equation.DSMT4">
                  <p:embed/>
                </p:oleObj>
              </mc:Choice>
              <mc:Fallback>
                <p:oleObj name="Equation" r:id="rId6" imgW="1562100" imgH="215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397" y="3727649"/>
                        <a:ext cx="2789855" cy="3633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744243"/>
              </p:ext>
            </p:extLst>
          </p:nvPr>
        </p:nvGraphicFramePr>
        <p:xfrm>
          <a:off x="5032031" y="4747532"/>
          <a:ext cx="1057444" cy="342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Equation" r:id="rId8" imgW="583947" imgH="203112" progId="Equation.DSMT4">
                  <p:embed/>
                </p:oleObj>
              </mc:Choice>
              <mc:Fallback>
                <p:oleObj name="Equation" r:id="rId8" imgW="583947" imgH="20311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031" y="4747532"/>
                        <a:ext cx="1057444" cy="3426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2801024" y="2017887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上式</a:t>
            </a:r>
            <a:r>
              <a:rPr lang="zh-CN" altLang="zh-CN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表明导体中的净电荷密度为零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。根据真空形式的麦克斯韦方程组，这里的电荷是包括自由电子、非自由电子和质子在内所有载荷子携带的电荷。在金属导体内部，带正电荷的质子和带负电的电子，两者所带电量相等，因此净电荷等于零，即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801024" y="4206445"/>
                <a:ext cx="4806957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zh-CN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产生恒定电流是导体中的自由电子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00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，即</a:t>
                </a:r>
                <a:endPara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024" y="4206445"/>
                <a:ext cx="4806957" cy="424732"/>
              </a:xfrm>
              <a:prstGeom prst="rect">
                <a:avLst/>
              </a:prstGeom>
              <a:blipFill>
                <a:blip r:embed="rId10"/>
                <a:stretch>
                  <a:fillRect l="-1267" t="-11429" r="-380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2808312" y="5090150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很多材料都是多种不同性质的媒质组成的，电导率不均匀，因此会出现电荷分布不均匀，导致出现局部的电场，这些电场会影响材料的性质。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55640" y="2065512"/>
            <a:ext cx="4032448" cy="33099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97718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05" y="741857"/>
            <a:ext cx="7877719" cy="23881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恒流电场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例题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335360" y="4750183"/>
                <a:ext cx="7488832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en-US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000" kern="1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平板外的长度</a:t>
                </a:r>
                <a:r>
                  <a:rPr lang="en-CA" altLang="zh-CN" sz="2000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l</a:t>
                </a:r>
                <a:r>
                  <a:rPr lang="en-CA" altLang="zh-CN" sz="2000" kern="1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远大于两平板间的长度</a:t>
                </a:r>
                <a:r>
                  <a:rPr lang="en-CA" altLang="zh-CN" sz="2000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l</a:t>
                </a:r>
                <a:r>
                  <a:rPr lang="en-CA" altLang="zh-CN" sz="2000" kern="1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，忽略电场方向变化和场强的不均匀，大致有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𝑈</m:t>
                        </m:r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2000" i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2000" i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≪</m:t>
                    </m:r>
                    <m:sSub>
                      <m:sSubPr>
                        <m:ctrlP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，即平板间的电场远大于平板外面的电场。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在平板之间，大部分电力线都垂直于平板，场量都仅仅与</a:t>
                </a:r>
                <a:r>
                  <a:rPr lang="en-CA" altLang="zh-CN" sz="20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坐标有关，在两平板之间没有净电荷，电位满足齐次泊松方程，即拉普拉斯方程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0" y="4750183"/>
                <a:ext cx="7488832" cy="1938992"/>
              </a:xfrm>
              <a:prstGeom prst="rect">
                <a:avLst/>
              </a:prstGeom>
              <a:blipFill>
                <a:blip r:embed="rId4"/>
                <a:stretch>
                  <a:fillRect l="-814" t="-1572" r="-81" b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35360" y="3401705"/>
                <a:ext cx="7344816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【例</a:t>
                </a:r>
                <a:r>
                  <a:rPr lang="en-CA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2.3.1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】两无限长的理想导体平板平行放置，平板的宽度为</a:t>
                </a:r>
                <a:r>
                  <a:rPr lang="en-CA" altLang="zh-CN" sz="2000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，两平板的间距为</a:t>
                </a:r>
                <a:r>
                  <a:rPr lang="en-CA" altLang="zh-CN" sz="2000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，且</a:t>
                </a:r>
                <a:r>
                  <a:rPr lang="en-CA" altLang="zh-CN" sz="2000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</a:t>
                </a:r>
                <a:r>
                  <a:rPr lang="en-CA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&gt;&gt;</a:t>
                </a:r>
                <a:r>
                  <a:rPr lang="en-CA" altLang="zh-CN" sz="2000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；两平板之间的媒质的介电常数为</a:t>
                </a:r>
                <a:r>
                  <a:rPr lang="el-GR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ε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、电导率为</a:t>
                </a:r>
                <a:r>
                  <a:rPr lang="el-GR" altLang="zh-CN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σ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求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(1) 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两平板单位长度的电容；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(2) 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两平板单位长度的电导；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(3) 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给出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长度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的平板的等效电路。</a:t>
                </a:r>
                <a:endParaRPr lang="zh-CN" altLang="en-US" sz="2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0" y="3401705"/>
                <a:ext cx="7344816" cy="1323439"/>
              </a:xfrm>
              <a:prstGeom prst="rect">
                <a:avLst/>
              </a:prstGeom>
              <a:blipFill>
                <a:blip r:embed="rId5"/>
                <a:stretch>
                  <a:fillRect l="-830" t="-3226" r="-913" b="-78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8400256" y="3291893"/>
            <a:ext cx="2372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边界条件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535457"/>
              </p:ext>
            </p:extLst>
          </p:nvPr>
        </p:nvGraphicFramePr>
        <p:xfrm>
          <a:off x="10240365" y="2389654"/>
          <a:ext cx="767006" cy="644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6" name="Equation" r:id="rId6" imgW="482391" imgH="406224" progId="Equation.DSMT4">
                  <p:embed/>
                </p:oleObj>
              </mc:Choice>
              <mc:Fallback>
                <p:oleObj name="Equation" r:id="rId6" imgW="482391" imgH="406224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40365" y="2389654"/>
                        <a:ext cx="767006" cy="6442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044621"/>
              </p:ext>
            </p:extLst>
          </p:nvPr>
        </p:nvGraphicFramePr>
        <p:xfrm>
          <a:off x="9586520" y="3184782"/>
          <a:ext cx="1124941" cy="31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7" name="Equation" r:id="rId8" imgW="685800" imgH="190500" progId="Equation.DSMT4">
                  <p:embed/>
                </p:oleObj>
              </mc:Choice>
              <mc:Fallback>
                <p:oleObj name="Equation" r:id="rId8" imgW="685800" imgH="190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6520" y="3184782"/>
                        <a:ext cx="1124941" cy="3170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575047"/>
              </p:ext>
            </p:extLst>
          </p:nvPr>
        </p:nvGraphicFramePr>
        <p:xfrm>
          <a:off x="9586520" y="3624922"/>
          <a:ext cx="1216983" cy="31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8" name="Equation" r:id="rId10" imgW="749300" imgH="190500" progId="Equation.DSMT4">
                  <p:embed/>
                </p:oleObj>
              </mc:Choice>
              <mc:Fallback>
                <p:oleObj name="Equation" r:id="rId10" imgW="749300" imgH="190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6520" y="3624922"/>
                        <a:ext cx="1216983" cy="3170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679982"/>
              </p:ext>
            </p:extLst>
          </p:nvPr>
        </p:nvGraphicFramePr>
        <p:xfrm>
          <a:off x="9552385" y="5219585"/>
          <a:ext cx="756779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" name="Equation" r:id="rId12" imgW="469696" imgH="355446" progId="Equation.DSMT4">
                  <p:embed/>
                </p:oleObj>
              </mc:Choice>
              <mc:Fallback>
                <p:oleObj name="Equation" r:id="rId12" imgW="469696" imgH="35544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2385" y="5219585"/>
                        <a:ext cx="756779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328114"/>
              </p:ext>
            </p:extLst>
          </p:nvPr>
        </p:nvGraphicFramePr>
        <p:xfrm>
          <a:off x="9116472" y="5705941"/>
          <a:ext cx="2546458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" name="Equation" r:id="rId14" imgW="1574117" imgH="355446" progId="Equation.DSMT4">
                  <p:embed/>
                </p:oleObj>
              </mc:Choice>
              <mc:Fallback>
                <p:oleObj name="Equation" r:id="rId14" imgW="1574117" imgH="355446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6472" y="5705941"/>
                        <a:ext cx="2546458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8481808" y="252713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拉普拉斯方程</a:t>
            </a:r>
            <a:endParaRPr lang="zh-CN" altLang="en-US" dirty="0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823782"/>
              </p:ext>
            </p:extLst>
          </p:nvPr>
        </p:nvGraphicFramePr>
        <p:xfrm>
          <a:off x="9683992" y="4132482"/>
          <a:ext cx="1012448" cy="31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Equation" r:id="rId16" imgW="634725" imgH="190417" progId="Equation.DSMT4">
                  <p:embed/>
                </p:oleObj>
              </mc:Choice>
              <mc:Fallback>
                <p:oleObj name="Equation" r:id="rId16" imgW="634725" imgH="190417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992" y="4132482"/>
                        <a:ext cx="1012448" cy="3170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8400256" y="4106331"/>
            <a:ext cx="11862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方程通解</a:t>
            </a:r>
          </a:p>
        </p:txBody>
      </p:sp>
      <p:sp>
        <p:nvSpPr>
          <p:cNvPr id="22" name="矩形 21"/>
          <p:cNvSpPr/>
          <p:nvPr/>
        </p:nvSpPr>
        <p:spPr>
          <a:xfrm>
            <a:off x="8442185" y="4479514"/>
            <a:ext cx="29771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边界条件代入通解，可得</a:t>
            </a:r>
            <a:r>
              <a:rPr lang="en-CA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CA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解得电位</a:t>
            </a:r>
          </a:p>
        </p:txBody>
      </p:sp>
      <p:sp>
        <p:nvSpPr>
          <p:cNvPr id="24" name="矩形 23"/>
          <p:cNvSpPr/>
          <p:nvPr/>
        </p:nvSpPr>
        <p:spPr>
          <a:xfrm>
            <a:off x="8481808" y="5822964"/>
            <a:ext cx="11862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电场</a:t>
            </a:r>
          </a:p>
        </p:txBody>
      </p:sp>
    </p:spTree>
    <p:extLst>
      <p:ext uri="{BB962C8B-B14F-4D97-AF65-F5344CB8AC3E}">
        <p14:creationId xmlns:p14="http://schemas.microsoft.com/office/powerpoint/2010/main" val="98073523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5" y="1018476"/>
            <a:ext cx="3010320" cy="188621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恒流电场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例题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551384" y="4557681"/>
                <a:ext cx="532665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上导体平板的下表面，平板法向单位矢量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4557681"/>
                <a:ext cx="5326651" cy="369332"/>
              </a:xfrm>
              <a:prstGeom prst="rect">
                <a:avLst/>
              </a:prstGeom>
              <a:blipFill>
                <a:blip r:embed="rId4"/>
                <a:stretch>
                  <a:fillRect l="-915"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92" y="908720"/>
            <a:ext cx="1724266" cy="224821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1584" y="908720"/>
            <a:ext cx="2143698" cy="1952897"/>
          </a:xfrm>
          <a:prstGeom prst="rect">
            <a:avLst/>
          </a:prstGeom>
        </p:spPr>
      </p:pic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856"/>
              </p:ext>
            </p:extLst>
          </p:nvPr>
        </p:nvGraphicFramePr>
        <p:xfrm>
          <a:off x="620001" y="3947051"/>
          <a:ext cx="5604253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Equation" r:id="rId7" imgW="3467100" imgH="355600" progId="Equation.DSMT4">
                  <p:embed/>
                </p:oleObj>
              </mc:Choice>
              <mc:Fallback>
                <p:oleObj name="Equation" r:id="rId7" imgW="3467100" imgH="355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001" y="3947051"/>
                        <a:ext cx="5604253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869357"/>
              </p:ext>
            </p:extLst>
          </p:nvPr>
        </p:nvGraphicFramePr>
        <p:xfrm>
          <a:off x="655045" y="5345901"/>
          <a:ext cx="3139610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Equation" r:id="rId9" imgW="1943100" imgH="355600" progId="Equation.DSMT4">
                  <p:embed/>
                </p:oleObj>
              </mc:Choice>
              <mc:Fallback>
                <p:oleObj name="Equation" r:id="rId9" imgW="1943100" imgH="355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045" y="5345901"/>
                        <a:ext cx="3139610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239803"/>
              </p:ext>
            </p:extLst>
          </p:nvPr>
        </p:nvGraphicFramePr>
        <p:xfrm>
          <a:off x="5096547" y="5988211"/>
          <a:ext cx="1012448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2" name="Equation" r:id="rId11" imgW="622030" imgH="355446" progId="Equation.DSMT4">
                  <p:embed/>
                </p:oleObj>
              </mc:Choice>
              <mc:Fallback>
                <p:oleObj name="Equation" r:id="rId11" imgW="622030" imgH="35544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6547" y="5988211"/>
                        <a:ext cx="1012448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152265"/>
              </p:ext>
            </p:extLst>
          </p:nvPr>
        </p:nvGraphicFramePr>
        <p:xfrm>
          <a:off x="7715031" y="1213943"/>
          <a:ext cx="2154818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Equation" r:id="rId13" imgW="1193800" imgH="355600" progId="Equation.DSMT4">
                  <p:embed/>
                </p:oleObj>
              </mc:Choice>
              <mc:Fallback>
                <p:oleObj name="Equation" r:id="rId13" imgW="1193800" imgH="355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031" y="1213943"/>
                        <a:ext cx="2154818" cy="6033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671863"/>
              </p:ext>
            </p:extLst>
          </p:nvPr>
        </p:nvGraphicFramePr>
        <p:xfrm>
          <a:off x="9815817" y="2978182"/>
          <a:ext cx="746554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name="Equation" r:id="rId15" imgW="457200" imgH="381000" progId="Equation.DSMT4">
                  <p:embed/>
                </p:oleObj>
              </mc:Choice>
              <mc:Fallback>
                <p:oleObj name="Equation" r:id="rId15" imgW="457200" imgH="381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5817" y="2978182"/>
                        <a:ext cx="746554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/>
          <p:cNvSpPr/>
          <p:nvPr/>
        </p:nvSpPr>
        <p:spPr>
          <a:xfrm>
            <a:off x="551384" y="5016093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上导体平板下表面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电荷密度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551384" y="3284984"/>
                <a:ext cx="51482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下</a:t>
                </a:r>
                <a:r>
                  <a:rPr lang="zh-CN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导体平板</a:t>
                </a:r>
                <a:r>
                  <a:rPr lang="zh-CN" altLang="zh-CN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的</a:t>
                </a:r>
                <a:r>
                  <a:rPr lang="zh-CN" altLang="en-US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上</a:t>
                </a:r>
                <a:r>
                  <a:rPr lang="zh-CN" altLang="zh-CN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表面</a:t>
                </a:r>
                <a:r>
                  <a:rPr lang="zh-CN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，平板法向单位矢量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3284984"/>
                <a:ext cx="5148204" cy="369332"/>
              </a:xfrm>
              <a:prstGeom prst="rect">
                <a:avLst/>
              </a:prstGeom>
              <a:blipFill>
                <a:blip r:embed="rId17"/>
                <a:stretch>
                  <a:fillRect l="-947"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/>
          <p:cNvSpPr/>
          <p:nvPr/>
        </p:nvSpPr>
        <p:spPr>
          <a:xfrm>
            <a:off x="551384" y="3743396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下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导体</a:t>
            </a:r>
            <a:r>
              <a:rPr lang="zh-CN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平板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lang="zh-CN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表面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电荷密度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519714" y="5949280"/>
                <a:ext cx="440761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上下平板面电荷密度的符号相反、大小一样，这样单位长度的平板所带的电量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 kern="1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为</a:t>
                </a:r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14" y="5949280"/>
                <a:ext cx="4407616" cy="646331"/>
              </a:xfrm>
              <a:prstGeom prst="rect">
                <a:avLst/>
              </a:prstGeom>
              <a:blipFill>
                <a:blip r:embed="rId18"/>
                <a:stretch>
                  <a:fillRect l="-1107" t="-5660" b="-12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/>
          <p:cNvSpPr/>
          <p:nvPr/>
        </p:nvSpPr>
        <p:spPr>
          <a:xfrm>
            <a:off x="7536159" y="782394"/>
            <a:ext cx="27792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平板间单位长度的电容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754508"/>
              </p:ext>
            </p:extLst>
          </p:nvPr>
        </p:nvGraphicFramePr>
        <p:xfrm>
          <a:off x="10109095" y="3637240"/>
          <a:ext cx="1472650" cy="58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Equation" r:id="rId19" imgW="914003" imgH="355446" progId="Equation.DSMT4">
                  <p:embed/>
                </p:oleObj>
              </mc:Choice>
              <mc:Fallback>
                <p:oleObj name="Equation" r:id="rId19" imgW="914003" imgH="355446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9095" y="3637240"/>
                        <a:ext cx="1472650" cy="58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 37"/>
          <p:cNvSpPr/>
          <p:nvPr/>
        </p:nvSpPr>
        <p:spPr>
          <a:xfrm>
            <a:off x="7608168" y="3732626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平板间单位长度的电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598285" y="1914012"/>
            <a:ext cx="39834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媒质中的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恒流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电场依然垂直于平板表面，边界条件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求解电容时一样，可以使用静电比拟法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/>
              <p:cNvSpPr/>
              <p:nvPr/>
            </p:nvSpPr>
            <p:spPr>
              <a:xfrm>
                <a:off x="7341607" y="4283266"/>
                <a:ext cx="4496816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en-US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）长度为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理想导体平板</a:t>
                </a:r>
                <a:r>
                  <a:rPr lang="zh-CN" altLang="zh-CN" kern="100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kern="100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电容电导</a:t>
                </a:r>
                <a:r>
                  <a:rPr lang="zh-CN" altLang="zh-CN" kern="100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等效电路</a:t>
                </a:r>
                <a:r>
                  <a:rPr lang="zh-CN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，等效电路中，用导线</a:t>
                </a:r>
                <a:r>
                  <a:rPr lang="en-CA" altLang="zh-CN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代表上导体，导线</a:t>
                </a:r>
                <a:r>
                  <a:rPr lang="en-CA" altLang="zh-CN" i="1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kern="1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代表下导体。</a:t>
                </a:r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电容位于导线</a:t>
                </a:r>
                <a:r>
                  <a:rPr lang="en-CA" altLang="zh-CN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CA" altLang="zh-CN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之间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该电导也位于导线</a:t>
                </a:r>
                <a:r>
                  <a:rPr lang="en-CA" altLang="zh-CN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CA" altLang="zh-CN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之间，与电容并联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US" altLang="zh-CN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en-US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注意：电容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电导是分布在空间范围，而非集中在某个很小的区域，因此前者也称为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分布电容</a:t>
                </a:r>
                <a:r>
                  <a:rPr lang="en-US" altLang="zh-CN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电导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，后者称为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集总电容</a:t>
                </a:r>
                <a:r>
                  <a:rPr lang="en-US" altLang="zh-CN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电导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607" y="4283266"/>
                <a:ext cx="4496816" cy="2308324"/>
              </a:xfrm>
              <a:prstGeom prst="rect">
                <a:avLst/>
              </a:prstGeom>
              <a:blipFill>
                <a:blip r:embed="rId21"/>
                <a:stretch>
                  <a:fillRect l="-1084" t="-2116" r="-1220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47785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恒流磁场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基本方程和边界条件</a:t>
            </a:r>
            <a:endParaRPr lang="zh-CN" altLang="en-US" sz="28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623907"/>
              </p:ext>
            </p:extLst>
          </p:nvPr>
        </p:nvGraphicFramePr>
        <p:xfrm>
          <a:off x="626107" y="1372430"/>
          <a:ext cx="961313" cy="265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9" name="Equation" r:id="rId3" imgW="596641" imgH="165028" progId="Equation.DSMT4">
                  <p:embed/>
                </p:oleObj>
              </mc:Choice>
              <mc:Fallback>
                <p:oleObj name="Equation" r:id="rId3" imgW="596641" imgH="165028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107" y="1372430"/>
                        <a:ext cx="961313" cy="2658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112193"/>
              </p:ext>
            </p:extLst>
          </p:nvPr>
        </p:nvGraphicFramePr>
        <p:xfrm>
          <a:off x="650168" y="1650937"/>
          <a:ext cx="828366" cy="265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0" name="Equation" r:id="rId5" imgW="507780" imgH="165028" progId="Equation.DSMT4">
                  <p:embed/>
                </p:oleObj>
              </mc:Choice>
              <mc:Fallback>
                <p:oleObj name="Equation" r:id="rId5" imgW="507780" imgH="16502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168" y="1650937"/>
                        <a:ext cx="828366" cy="2658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422376"/>
              </p:ext>
            </p:extLst>
          </p:nvPr>
        </p:nvGraphicFramePr>
        <p:xfrm>
          <a:off x="2080115" y="1372430"/>
          <a:ext cx="797685" cy="31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1" name="Equation" r:id="rId7" imgW="495085" imgH="190417" progId="Equation.DSMT4">
                  <p:embed/>
                </p:oleObj>
              </mc:Choice>
              <mc:Fallback>
                <p:oleObj name="Equation" r:id="rId7" imgW="495085" imgH="1904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115" y="1372430"/>
                        <a:ext cx="797685" cy="3170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矩形 43"/>
          <p:cNvSpPr/>
          <p:nvPr/>
        </p:nvSpPr>
        <p:spPr>
          <a:xfrm>
            <a:off x="551384" y="96167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基本方程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87804" y="1988840"/>
            <a:ext cx="26032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矢量磁位及库伦规范及矢量位边界条件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216183" y="4274407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体电流的矢量磁位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216183" y="5175420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细导线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中的</a:t>
            </a:r>
            <a:r>
              <a:rPr lang="zh-CN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电流，电流的方向就是导线的方向，有</a:t>
            </a:r>
          </a:p>
        </p:txBody>
      </p:sp>
      <p:sp>
        <p:nvSpPr>
          <p:cNvPr id="63" name="矩形 62"/>
          <p:cNvSpPr/>
          <p:nvPr/>
        </p:nvSpPr>
        <p:spPr>
          <a:xfrm>
            <a:off x="1980498" y="98072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状态方程</a:t>
            </a:r>
            <a:endParaRPr lang="zh-CN" altLang="en-US" sz="2000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204377"/>
              </p:ext>
            </p:extLst>
          </p:nvPr>
        </p:nvGraphicFramePr>
        <p:xfrm>
          <a:off x="818862" y="5858501"/>
          <a:ext cx="1329477" cy="306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2" name="Equation" r:id="rId9" imgW="901309" imgH="203112" progId="Equation.DSMT4">
                  <p:embed/>
                </p:oleObj>
              </mc:Choice>
              <mc:Fallback>
                <p:oleObj name="Equation" r:id="rId9" imgW="901309" imgH="20311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862" y="5858501"/>
                        <a:ext cx="1329477" cy="3068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885070"/>
              </p:ext>
            </p:extLst>
          </p:nvPr>
        </p:nvGraphicFramePr>
        <p:xfrm>
          <a:off x="752388" y="5536358"/>
          <a:ext cx="1478230" cy="306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3" name="Equation" r:id="rId11" imgW="1002865" imgH="203112" progId="Equation.DSMT4">
                  <p:embed/>
                </p:oleObj>
              </mc:Choice>
              <mc:Fallback>
                <p:oleObj name="Equation" r:id="rId11" imgW="1002865" imgH="20311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388" y="5536358"/>
                        <a:ext cx="1478230" cy="3068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346815"/>
              </p:ext>
            </p:extLst>
          </p:nvPr>
        </p:nvGraphicFramePr>
        <p:xfrm>
          <a:off x="813877" y="4768147"/>
          <a:ext cx="797685" cy="265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4" name="Equation" r:id="rId13" imgW="494870" imgH="164957" progId="Equation.DSMT4">
                  <p:embed/>
                </p:oleObj>
              </mc:Choice>
              <mc:Fallback>
                <p:oleObj name="Equation" r:id="rId13" imgW="494870" imgH="16495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877" y="4768147"/>
                        <a:ext cx="797685" cy="2658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075675"/>
              </p:ext>
            </p:extLst>
          </p:nvPr>
        </p:nvGraphicFramePr>
        <p:xfrm>
          <a:off x="788988" y="4495800"/>
          <a:ext cx="1023937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5" name="Equation" r:id="rId15" imgW="622080" imgH="203040" progId="Equation.DSMT4">
                  <p:embed/>
                </p:oleObj>
              </mc:Choice>
              <mc:Fallback>
                <p:oleObj name="Equation" r:id="rId15" imgW="622080" imgH="2030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8" y="4495800"/>
                        <a:ext cx="1023937" cy="32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779626"/>
              </p:ext>
            </p:extLst>
          </p:nvPr>
        </p:nvGraphicFramePr>
        <p:xfrm>
          <a:off x="4296540" y="1297335"/>
          <a:ext cx="1124941" cy="35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6" name="Equation" r:id="rId17" imgW="685800" imgH="228600" progId="Equation.DSMT4">
                  <p:embed/>
                </p:oleObj>
              </mc:Choice>
              <mc:Fallback>
                <p:oleObj name="Equation" r:id="rId17" imgW="6858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6540" y="1297335"/>
                        <a:ext cx="1124941" cy="357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矩形 50"/>
          <p:cNvSpPr/>
          <p:nvPr/>
        </p:nvSpPr>
        <p:spPr>
          <a:xfrm>
            <a:off x="606588" y="4158682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理想导体表面边界条件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23753" y="5120908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介质分界面边界条件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213104" y="93254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矢量磁位泊松方程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202489" y="1695980"/>
            <a:ext cx="6340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直角坐标系中矢量泊松方程可分解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为三个标量泊松方程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637175" y="2793945"/>
            <a:ext cx="3113051" cy="1283127"/>
            <a:chOff x="662420" y="2433905"/>
            <a:chExt cx="3113051" cy="1283127"/>
          </a:xfrm>
        </p:grpSpPr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1348668"/>
                </p:ext>
              </p:extLst>
            </p:nvPr>
          </p:nvGraphicFramePr>
          <p:xfrm>
            <a:off x="662420" y="2433905"/>
            <a:ext cx="961313" cy="2658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7" name="Equation" r:id="rId19" imgW="583693" imgH="164957" progId="Equation.DSMT4">
                    <p:embed/>
                  </p:oleObj>
                </mc:Choice>
                <mc:Fallback>
                  <p:oleObj name="Equation" r:id="rId19" imgW="583693" imgH="164957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420" y="2433905"/>
                          <a:ext cx="961313" cy="2658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1518250"/>
                </p:ext>
              </p:extLst>
            </p:nvPr>
          </p:nvGraphicFramePr>
          <p:xfrm>
            <a:off x="2531330" y="2446946"/>
            <a:ext cx="828366" cy="2658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8" name="Equation" r:id="rId21" imgW="507780" imgH="165028" progId="Equation.DSMT4">
                    <p:embed/>
                  </p:oleObj>
                </mc:Choice>
                <mc:Fallback>
                  <p:oleObj name="Equation" r:id="rId21" imgW="507780" imgH="165028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1330" y="2446946"/>
                          <a:ext cx="828366" cy="2658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对象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7304518"/>
                </p:ext>
              </p:extLst>
            </p:nvPr>
          </p:nvGraphicFramePr>
          <p:xfrm>
            <a:off x="1761972" y="3379549"/>
            <a:ext cx="746554" cy="337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9" name="Equation" r:id="rId23" imgW="457002" imgH="203112" progId="Equation.DSMT4">
                    <p:embed/>
                  </p:oleObj>
                </mc:Choice>
                <mc:Fallback>
                  <p:oleObj name="Equation" r:id="rId23" imgW="457002" imgH="203112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1972" y="3379549"/>
                          <a:ext cx="746554" cy="3374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对象 6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8055482"/>
                </p:ext>
              </p:extLst>
            </p:nvPr>
          </p:nvGraphicFramePr>
          <p:xfrm>
            <a:off x="2313046" y="2908289"/>
            <a:ext cx="1462425" cy="337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0" name="Equation" r:id="rId25" imgW="901309" imgH="203112" progId="Equation.DSMT4">
                    <p:embed/>
                  </p:oleObj>
                </mc:Choice>
                <mc:Fallback>
                  <p:oleObj name="Equation" r:id="rId25" imgW="901309" imgH="203112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3046" y="2908289"/>
                          <a:ext cx="1462425" cy="3374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对象 7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1623091"/>
                </p:ext>
              </p:extLst>
            </p:nvPr>
          </p:nvGraphicFramePr>
          <p:xfrm>
            <a:off x="662420" y="2917815"/>
            <a:ext cx="1513557" cy="337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1" name="Equation" r:id="rId27" imgW="939392" imgH="203112" progId="Equation.DSMT4">
                    <p:embed/>
                  </p:oleObj>
                </mc:Choice>
                <mc:Fallback>
                  <p:oleObj name="Equation" r:id="rId27" imgW="939392" imgH="203112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420" y="2917815"/>
                          <a:ext cx="1513557" cy="3374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" name="下箭头 74"/>
            <p:cNvSpPr/>
            <p:nvPr/>
          </p:nvSpPr>
          <p:spPr>
            <a:xfrm>
              <a:off x="2864375" y="2721937"/>
              <a:ext cx="135281" cy="23528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下箭头 75"/>
            <p:cNvSpPr/>
            <p:nvPr/>
          </p:nvSpPr>
          <p:spPr>
            <a:xfrm>
              <a:off x="1055440" y="2721937"/>
              <a:ext cx="135281" cy="23528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直角上箭头 76"/>
            <p:cNvSpPr/>
            <p:nvPr/>
          </p:nvSpPr>
          <p:spPr>
            <a:xfrm rot="16200000" flipH="1">
              <a:off x="2639616" y="3322987"/>
              <a:ext cx="360040" cy="328255"/>
            </a:xfrm>
            <a:prstGeom prst="bent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直角上箭头 77"/>
            <p:cNvSpPr/>
            <p:nvPr/>
          </p:nvSpPr>
          <p:spPr>
            <a:xfrm rot="5400000">
              <a:off x="1359364" y="3313894"/>
              <a:ext cx="360040" cy="328255"/>
            </a:xfrm>
            <a:prstGeom prst="bent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80" name="对象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325596"/>
              </p:ext>
            </p:extLst>
          </p:nvPr>
        </p:nvGraphicFramePr>
        <p:xfrm>
          <a:off x="4354059" y="2139829"/>
          <a:ext cx="1257890" cy="35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2" name="Equation" r:id="rId29" imgW="774364" imgH="228501" progId="Equation.DSMT4">
                  <p:embed/>
                </p:oleObj>
              </mc:Choice>
              <mc:Fallback>
                <p:oleObj name="Equation" r:id="rId29" imgW="774364" imgH="228501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059" y="2139829"/>
                        <a:ext cx="1257890" cy="357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634155"/>
              </p:ext>
            </p:extLst>
          </p:nvPr>
        </p:nvGraphicFramePr>
        <p:xfrm>
          <a:off x="5810054" y="2139829"/>
          <a:ext cx="1257890" cy="398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3" name="Equation" r:id="rId31" imgW="787058" imgH="253890" progId="Equation.DSMT4">
                  <p:embed/>
                </p:oleObj>
              </mc:Choice>
              <mc:Fallback>
                <p:oleObj name="Equation" r:id="rId31" imgW="787058" imgH="25389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054" y="2139829"/>
                        <a:ext cx="1257890" cy="3988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对象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92311"/>
              </p:ext>
            </p:extLst>
          </p:nvPr>
        </p:nvGraphicFramePr>
        <p:xfrm>
          <a:off x="7266049" y="2145312"/>
          <a:ext cx="1216983" cy="35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4" name="Equation" r:id="rId33" imgW="761669" imgH="228501" progId="Equation.DSMT4">
                  <p:embed/>
                </p:oleObj>
              </mc:Choice>
              <mc:Fallback>
                <p:oleObj name="Equation" r:id="rId33" imgW="761669" imgH="228501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6049" y="2145312"/>
                        <a:ext cx="1216983" cy="357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Rectangle 65"/>
          <p:cNvSpPr>
            <a:spLocks noChangeArrowheads="1"/>
          </p:cNvSpPr>
          <p:nvPr/>
        </p:nvSpPr>
        <p:spPr bwMode="auto">
          <a:xfrm>
            <a:off x="0" y="6794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CA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0" lang="zh-CN" alt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202489" y="2488662"/>
            <a:ext cx="73661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矢量位标量泊松方程与电位泊松方程形式一样，其解形式也一样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" name="对象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080183"/>
              </p:ext>
            </p:extLst>
          </p:nvPr>
        </p:nvGraphicFramePr>
        <p:xfrm>
          <a:off x="4350692" y="3513678"/>
          <a:ext cx="5184958" cy="654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5" name="Equation" r:id="rId35" imgW="3225800" imgH="406400" progId="Equation.DSMT4">
                  <p:embed/>
                </p:oleObj>
              </mc:Choice>
              <mc:Fallback>
                <p:oleObj name="Equation" r:id="rId35" imgW="3225800" imgH="40640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0692" y="3513678"/>
                        <a:ext cx="5184958" cy="6545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对象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126094"/>
              </p:ext>
            </p:extLst>
          </p:nvPr>
        </p:nvGraphicFramePr>
        <p:xfrm>
          <a:off x="6824240" y="4190575"/>
          <a:ext cx="1881719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6" name="Equation" r:id="rId37" imgW="1168400" imgH="381000" progId="Equation.DSMT4">
                  <p:embed/>
                </p:oleObj>
              </mc:Choice>
              <mc:Fallback>
                <p:oleObj name="Equation" r:id="rId37" imgW="1168400" imgH="381000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4240" y="4190575"/>
                        <a:ext cx="1881719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对象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188132"/>
              </p:ext>
            </p:extLst>
          </p:nvPr>
        </p:nvGraphicFramePr>
        <p:xfrm>
          <a:off x="5211652" y="5638640"/>
          <a:ext cx="3057795" cy="306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" name="Equation" r:id="rId39" imgW="1892300" imgH="190500" progId="Equation.DSMT4">
                  <p:embed/>
                </p:oleObj>
              </mc:Choice>
              <mc:Fallback>
                <p:oleObj name="Equation" r:id="rId39" imgW="1892300" imgH="190500" progId="Equation.DSMT4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1652" y="5638640"/>
                        <a:ext cx="3057795" cy="3068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对象 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908446"/>
              </p:ext>
            </p:extLst>
          </p:nvPr>
        </p:nvGraphicFramePr>
        <p:xfrm>
          <a:off x="6683125" y="5983748"/>
          <a:ext cx="1799907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8" name="Equation" r:id="rId41" imgW="1117600" imgH="381000" progId="Equation.DSMT4">
                  <p:embed/>
                </p:oleObj>
              </mc:Choice>
              <mc:Fallback>
                <p:oleObj name="Equation" r:id="rId41" imgW="1117600" imgH="381000" progId="Equation.DSMT4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125" y="5983748"/>
                        <a:ext cx="1799907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对象 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679482"/>
              </p:ext>
            </p:extLst>
          </p:nvPr>
        </p:nvGraphicFramePr>
        <p:xfrm>
          <a:off x="4354059" y="3000166"/>
          <a:ext cx="3558905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9" name="Equation" r:id="rId43" imgW="2209800" imgH="381000" progId="Equation.DSMT4">
                  <p:embed/>
                </p:oleObj>
              </mc:Choice>
              <mc:Fallback>
                <p:oleObj name="Equation" r:id="rId43" imgW="2209800" imgH="381000" progId="Equation.DSMT4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059" y="3000166"/>
                        <a:ext cx="3558905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矩形 100"/>
          <p:cNvSpPr/>
          <p:nvPr/>
        </p:nvSpPr>
        <p:spPr>
          <a:xfrm>
            <a:off x="4229550" y="6029646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线电流的矢量磁位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4213104" y="4685074"/>
            <a:ext cx="32624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磁位的方向与电流方向一致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062961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701" y="3771437"/>
            <a:ext cx="3467584" cy="2534004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459" y="717367"/>
            <a:ext cx="2991267" cy="28578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恒流磁场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电感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551385" y="908720"/>
            <a:ext cx="410445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电磁场理论：磁场有能量，有磁场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区域，就有磁场能量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电路理论：磁场能量在电感里，电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感存贮电能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782464"/>
              </p:ext>
            </p:extLst>
          </p:nvPr>
        </p:nvGraphicFramePr>
        <p:xfrm>
          <a:off x="1901018" y="2156322"/>
          <a:ext cx="26781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8" name="Equation" r:id="rId5" imgW="1663560" imgH="355320" progId="Equation.DSMT4">
                  <p:embed/>
                </p:oleObj>
              </mc:Choice>
              <mc:Fallback>
                <p:oleObj name="Equation" r:id="rId5" imgW="1663560" imgH="35532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018" y="2156322"/>
                        <a:ext cx="2678113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579491" y="2212560"/>
            <a:ext cx="15121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磁场能量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1384" y="2781387"/>
            <a:ext cx="19874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电感中磁场能量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1858" y="3253716"/>
            <a:ext cx="57405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电感：磁通量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磁链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与激励电流比值</a:t>
            </a:r>
          </a:p>
        </p:txBody>
      </p:sp>
      <p:sp>
        <p:nvSpPr>
          <p:cNvPr id="11" name="矩形 10"/>
          <p:cNvSpPr/>
          <p:nvPr/>
        </p:nvSpPr>
        <p:spPr>
          <a:xfrm>
            <a:off x="541859" y="5013176"/>
            <a:ext cx="14401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磁通量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084123"/>
              </p:ext>
            </p:extLst>
          </p:nvPr>
        </p:nvGraphicFramePr>
        <p:xfrm>
          <a:off x="2730877" y="2771753"/>
          <a:ext cx="976190" cy="548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Equation" r:id="rId7" imgW="672808" imgH="355446" progId="Equation.DSMT4">
                  <p:embed/>
                </p:oleObj>
              </mc:Choice>
              <mc:Fallback>
                <p:oleObj name="Equation" r:id="rId7" imgW="672808" imgH="355446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877" y="2771753"/>
                        <a:ext cx="976190" cy="5485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214335"/>
              </p:ext>
            </p:extLst>
          </p:nvPr>
        </p:nvGraphicFramePr>
        <p:xfrm>
          <a:off x="1921789" y="5038439"/>
          <a:ext cx="1186303" cy="449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0" name="Equation" r:id="rId9" imgW="736600" imgH="279400" progId="Equation.DSMT4">
                  <p:embed/>
                </p:oleObj>
              </mc:Choice>
              <mc:Fallback>
                <p:oleObj name="Equation" r:id="rId9" imgW="736600" imgH="279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789" y="5038439"/>
                        <a:ext cx="1186303" cy="4499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949499"/>
              </p:ext>
            </p:extLst>
          </p:nvPr>
        </p:nvGraphicFramePr>
        <p:xfrm>
          <a:off x="1171666" y="5992702"/>
          <a:ext cx="3364598" cy="449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" name="Equation" r:id="rId11" imgW="2082800" imgH="279400" progId="Equation.DSMT4">
                  <p:embed/>
                </p:oleObj>
              </mc:Choice>
              <mc:Fallback>
                <p:oleObj name="Equation" r:id="rId11" imgW="2082800" imgH="279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666" y="5992702"/>
                        <a:ext cx="3364598" cy="4499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047356"/>
              </p:ext>
            </p:extLst>
          </p:nvPr>
        </p:nvGraphicFramePr>
        <p:xfrm>
          <a:off x="1559496" y="3627270"/>
          <a:ext cx="634059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2" name="Equation" r:id="rId13" imgW="393359" imgH="355292" progId="Equation.DSMT4">
                  <p:embed/>
                </p:oleObj>
              </mc:Choice>
              <mc:Fallback>
                <p:oleObj name="Equation" r:id="rId13" imgW="393359" imgH="35529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3627270"/>
                        <a:ext cx="634059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923095"/>
              </p:ext>
            </p:extLst>
          </p:nvPr>
        </p:nvGraphicFramePr>
        <p:xfrm>
          <a:off x="3175277" y="3641392"/>
          <a:ext cx="1063580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Equation" r:id="rId15" imgW="647700" imgH="381000" progId="Equation.DSMT4">
                  <p:embed/>
                </p:oleObj>
              </mc:Choice>
              <mc:Fallback>
                <p:oleObj name="Equation" r:id="rId15" imgW="647700" imgH="381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277" y="3641392"/>
                        <a:ext cx="1063580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/>
          <p:cNvSpPr/>
          <p:nvPr/>
        </p:nvSpPr>
        <p:spPr>
          <a:xfrm>
            <a:off x="541858" y="5519949"/>
            <a:ext cx="36819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矢量位计算磁通的计算量少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04285" y="908720"/>
            <a:ext cx="2819825" cy="2577059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508793" y="4161274"/>
            <a:ext cx="50500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自感：磁通回路与激励电流同一回路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互感：磁通回路与激励电流回路不同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36133" y="3706936"/>
            <a:ext cx="7560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自感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538876" y="3706936"/>
            <a:ext cx="7560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互感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020020" y="3706936"/>
            <a:ext cx="362574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n"/>
            </a:pP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单匝导体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：包括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内磁链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和外磁链，内磁链磁力线包围全部电流，外磁链磁力线穿过电流</a:t>
            </a:r>
            <a:r>
              <a:rPr lang="zh-CN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n"/>
            </a:pPr>
            <a:r>
              <a:rPr lang="en-US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匝导体：磁力线穿过</a:t>
            </a:r>
            <a:r>
              <a:rPr lang="en-US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条电流，相当于积分</a:t>
            </a:r>
            <a:r>
              <a:rPr lang="en-US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次，磁场为单匝电流</a:t>
            </a:r>
            <a:r>
              <a:rPr lang="en-US" altLang="zh-CN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倍，电感</a:t>
            </a:r>
            <a:r>
              <a:rPr lang="en-US" altLang="zh-CN" sz="200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kern="100" baseline="300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倍</a:t>
            </a:r>
            <a:r>
              <a:rPr lang="zh-CN" altLang="en-US" sz="2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单匝电感。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483180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44" y="802588"/>
            <a:ext cx="4533940" cy="30017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恒流磁场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例题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endParaRPr lang="zh-CN" altLang="en-US" sz="2800" dirty="0"/>
          </a:p>
        </p:txBody>
      </p:sp>
      <p:sp>
        <p:nvSpPr>
          <p:cNvPr id="34" name="矩形 33"/>
          <p:cNvSpPr/>
          <p:nvPr/>
        </p:nvSpPr>
        <p:spPr>
          <a:xfrm>
            <a:off x="6636486" y="899439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只有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方向电流，矢量位也只有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分量</a:t>
            </a:r>
          </a:p>
        </p:txBody>
      </p:sp>
      <p:sp>
        <p:nvSpPr>
          <p:cNvPr id="3" name="矩形 2"/>
          <p:cNvSpPr/>
          <p:nvPr/>
        </p:nvSpPr>
        <p:spPr>
          <a:xfrm>
            <a:off x="373460" y="3921321"/>
            <a:ext cx="4455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CA" altLang="zh-CN" kern="100" dirty="0">
                <a:latin typeface="黑体" panose="02010609060101010101" pitchFamily="49" charset="-122"/>
                <a:ea typeface="黑体" panose="02010609060101010101" pitchFamily="49" charset="-122"/>
              </a:rPr>
              <a:t>2.4.1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】计算同轴线单位长度的电感。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6011" y="4311328"/>
            <a:ext cx="6096000" cy="14219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内外导体在无限远处连接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可以看成一个无限长的导体回路，设同轴线内导体上</a:t>
            </a:r>
            <a:r>
              <a:rPr lang="en-CA" altLang="zh-CN" i="1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zh-CN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方向的电流强度为</a:t>
            </a:r>
            <a:r>
              <a:rPr lang="en-US" altLang="zh-CN" i="1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外导体的电流方向与内导体相反，电流强度一样。</a:t>
            </a:r>
            <a:r>
              <a:rPr lang="zh-CN" altLang="zh-CN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外</a:t>
            </a:r>
            <a:r>
              <a:rPr lang="zh-CN" altLang="zh-CN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导体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都</a:t>
            </a:r>
            <a:r>
              <a:rPr lang="zh-CN" altLang="zh-CN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是理想导体，只有表面电流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564130"/>
              </p:ext>
            </p:extLst>
          </p:nvPr>
        </p:nvGraphicFramePr>
        <p:xfrm>
          <a:off x="3285753" y="5745971"/>
          <a:ext cx="1216983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2" name="Equation" r:id="rId4" imgW="736280" imgH="355446" progId="Equation.DSMT4">
                  <p:embed/>
                </p:oleObj>
              </mc:Choice>
              <mc:Fallback>
                <p:oleObj name="Equation" r:id="rId4" imgW="736280" imgH="355446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5753" y="5745971"/>
                        <a:ext cx="1216983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898910"/>
              </p:ext>
            </p:extLst>
          </p:nvPr>
        </p:nvGraphicFramePr>
        <p:xfrm>
          <a:off x="8184232" y="1660038"/>
          <a:ext cx="2239657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3" name="Equation" r:id="rId6" imgW="1396394" imgH="355446" progId="Equation.DSMT4">
                  <p:embed/>
                </p:oleObj>
              </mc:Choice>
              <mc:Fallback>
                <p:oleObj name="Equation" r:id="rId6" imgW="1396394" imgH="35544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4232" y="1660038"/>
                        <a:ext cx="2239657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113864"/>
              </p:ext>
            </p:extLst>
          </p:nvPr>
        </p:nvGraphicFramePr>
        <p:xfrm>
          <a:off x="8199544" y="2291839"/>
          <a:ext cx="1411290" cy="33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" name="Equation" r:id="rId8" imgW="876300" imgH="203200" progId="Equation.DSMT4">
                  <p:embed/>
                </p:oleObj>
              </mc:Choice>
              <mc:Fallback>
                <p:oleObj name="Equation" r:id="rId8" imgW="876300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9544" y="2291839"/>
                        <a:ext cx="1411290" cy="33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272196"/>
              </p:ext>
            </p:extLst>
          </p:nvPr>
        </p:nvGraphicFramePr>
        <p:xfrm>
          <a:off x="8193757" y="4015217"/>
          <a:ext cx="1145395" cy="634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" name="Equation" r:id="rId10" imgW="723586" imgH="393529" progId="Equation.DSMT4">
                  <p:embed/>
                </p:oleObj>
              </mc:Choice>
              <mc:Fallback>
                <p:oleObj name="Equation" r:id="rId10" imgW="723586" imgH="3935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3757" y="4015217"/>
                        <a:ext cx="1145395" cy="634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910715"/>
              </p:ext>
            </p:extLst>
          </p:nvPr>
        </p:nvGraphicFramePr>
        <p:xfrm>
          <a:off x="8204180" y="5258979"/>
          <a:ext cx="1216983" cy="33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6" name="Equation" r:id="rId12" imgW="736600" imgH="203200" progId="Equation.DSMT4">
                  <p:embed/>
                </p:oleObj>
              </mc:Choice>
              <mc:Fallback>
                <p:oleObj name="Equation" r:id="rId12" imgW="736600" imgH="203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4180" y="5258979"/>
                        <a:ext cx="1216983" cy="3374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19646"/>
              </p:ext>
            </p:extLst>
          </p:nvPr>
        </p:nvGraphicFramePr>
        <p:xfrm>
          <a:off x="8152209" y="5767724"/>
          <a:ext cx="3211196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7" name="Equation" r:id="rId14" imgW="1981200" imgH="381000" progId="Equation.DSMT4">
                  <p:embed/>
                </p:oleObj>
              </mc:Choice>
              <mc:Fallback>
                <p:oleObj name="Equation" r:id="rId14" imgW="1981200" imgH="381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2209" y="5767724"/>
                        <a:ext cx="3211196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/>
          <p:cNvSpPr/>
          <p:nvPr/>
        </p:nvSpPr>
        <p:spPr>
          <a:xfrm>
            <a:off x="6645077" y="133149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矢量位的泊松方程</a:t>
            </a:r>
          </a:p>
        </p:txBody>
      </p:sp>
      <p:sp>
        <p:nvSpPr>
          <p:cNvPr id="42" name="矩形 41"/>
          <p:cNvSpPr/>
          <p:nvPr/>
        </p:nvSpPr>
        <p:spPr>
          <a:xfrm>
            <a:off x="6638156" y="227773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其通解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/>
              <p:cNvSpPr/>
              <p:nvPr/>
            </p:nvSpPr>
            <p:spPr>
              <a:xfrm>
                <a:off x="6651237" y="4562706"/>
                <a:ext cx="484657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需要用边界条件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，确定积分常数</a:t>
                </a:r>
                <a:r>
                  <a:rPr lang="en-US" altLang="zh-CN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在内导体的表面，要满足理想导体表面的边界条件</a:t>
                </a:r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矩形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237" y="4562706"/>
                <a:ext cx="4846579" cy="646331"/>
              </a:xfrm>
              <a:prstGeom prst="rect">
                <a:avLst/>
              </a:prstGeom>
              <a:blipFill>
                <a:blip r:embed="rId16"/>
                <a:stretch>
                  <a:fillRect l="-1006" t="-6542" b="-11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 43"/>
              <p:cNvSpPr/>
              <p:nvPr/>
            </p:nvSpPr>
            <p:spPr>
              <a:xfrm>
                <a:off x="6642115" y="2791081"/>
                <a:ext cx="507050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从物理角度，上式中的</a:t>
                </a:r>
                <a:r>
                  <a:rPr lang="en-CA" altLang="zh-CN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应该是和矢量磁位一样的单位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；对数函数的自变量的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量纲应该为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无量纲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现在</a:t>
                </a:r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上式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𝑙𝑛𝑅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并不满足量纲要求。</a:t>
                </a:r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为此可以把积分常数</a:t>
                </a:r>
                <a:r>
                  <a:rPr lang="en-CA" altLang="zh-CN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改写成</a:t>
                </a: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𝑙𝑛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这样矢量位为</a:t>
                </a:r>
              </a:p>
            </p:txBody>
          </p:sp>
        </mc:Choice>
        <mc:Fallback>
          <p:sp>
            <p:nvSpPr>
              <p:cNvPr id="44" name="矩形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15" y="2791081"/>
                <a:ext cx="5070509" cy="1200329"/>
              </a:xfrm>
              <a:prstGeom prst="rect">
                <a:avLst/>
              </a:prstGeom>
              <a:blipFill>
                <a:blip r:embed="rId17"/>
                <a:stretch>
                  <a:fillRect l="-1083" t="-4061" b="-7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矩形 44"/>
          <p:cNvSpPr/>
          <p:nvPr/>
        </p:nvSpPr>
        <p:spPr>
          <a:xfrm>
            <a:off x="6636270" y="587813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磁场强度</a:t>
            </a:r>
          </a:p>
        </p:txBody>
      </p:sp>
      <p:sp>
        <p:nvSpPr>
          <p:cNvPr id="47" name="矩形 46"/>
          <p:cNvSpPr/>
          <p:nvPr/>
        </p:nvSpPr>
        <p:spPr>
          <a:xfrm>
            <a:off x="398612" y="5862995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内导体的</a:t>
            </a:r>
            <a:r>
              <a:rPr lang="zh-CN" altLang="zh-CN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表面电流密度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759206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338" y="4062394"/>
            <a:ext cx="3379040" cy="25543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44" y="802588"/>
            <a:ext cx="4533940" cy="30017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39"/>
            <a:ext cx="10515600" cy="648073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静态电磁场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恒流磁场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例题</a:t>
            </a:r>
            <a:r>
              <a:rPr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endParaRPr lang="zh-CN" altLang="en-US" sz="2800" dirty="0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346774"/>
              </p:ext>
            </p:extLst>
          </p:nvPr>
        </p:nvGraphicFramePr>
        <p:xfrm>
          <a:off x="2044317" y="4733503"/>
          <a:ext cx="2485098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6" name="Equation" r:id="rId5" imgW="1548728" imgH="380835" progId="Equation.DSMT4">
                  <p:embed/>
                </p:oleObj>
              </mc:Choice>
              <mc:Fallback>
                <p:oleObj name="Equation" r:id="rId5" imgW="1548728" imgH="380835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317" y="4733503"/>
                        <a:ext cx="2485098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129602"/>
              </p:ext>
            </p:extLst>
          </p:nvPr>
        </p:nvGraphicFramePr>
        <p:xfrm>
          <a:off x="1828423" y="5896659"/>
          <a:ext cx="1421518" cy="634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7" name="Equation" r:id="rId7" imgW="888614" imgH="393529" progId="Equation.DSMT4">
                  <p:embed/>
                </p:oleObj>
              </mc:Choice>
              <mc:Fallback>
                <p:oleObj name="Equation" r:id="rId7" imgW="888614" imgH="393529" progId="Equation.DSMT4">
                  <p:embed/>
                  <p:pic>
                    <p:nvPicPr>
                      <p:cNvPr id="39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423" y="5896659"/>
                        <a:ext cx="1421518" cy="634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/>
          <p:cNvSpPr/>
          <p:nvPr/>
        </p:nvSpPr>
        <p:spPr>
          <a:xfrm>
            <a:off x="510836" y="532733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解得</a:t>
            </a:r>
          </a:p>
        </p:txBody>
      </p:sp>
      <p:sp>
        <p:nvSpPr>
          <p:cNvPr id="42" name="矩形 41"/>
          <p:cNvSpPr/>
          <p:nvPr/>
        </p:nvSpPr>
        <p:spPr>
          <a:xfrm>
            <a:off x="6023992" y="91436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磁场强度</a:t>
            </a:r>
          </a:p>
        </p:txBody>
      </p:sp>
      <p:sp>
        <p:nvSpPr>
          <p:cNvPr id="43" name="矩形 42"/>
          <p:cNvSpPr/>
          <p:nvPr/>
        </p:nvSpPr>
        <p:spPr>
          <a:xfrm>
            <a:off x="6037073" y="1927560"/>
            <a:ext cx="48465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长度为</a:t>
            </a:r>
            <a:r>
              <a:rPr lang="en-CA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CA" altLang="zh-CN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的同轴线内外导体之间的磁通为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44" name="矩形 43"/>
          <p:cNvSpPr/>
          <p:nvPr/>
        </p:nvSpPr>
        <p:spPr>
          <a:xfrm>
            <a:off x="6027951" y="1435465"/>
            <a:ext cx="5070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磁感应强度</a:t>
            </a:r>
          </a:p>
        </p:txBody>
      </p:sp>
      <p:sp>
        <p:nvSpPr>
          <p:cNvPr id="45" name="矩形 44"/>
          <p:cNvSpPr/>
          <p:nvPr/>
        </p:nvSpPr>
        <p:spPr>
          <a:xfrm>
            <a:off x="507951" y="601199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矢量位</a:t>
            </a:r>
          </a:p>
        </p:txBody>
      </p:sp>
      <p:sp>
        <p:nvSpPr>
          <p:cNvPr id="46" name="矩形 45"/>
          <p:cNvSpPr/>
          <p:nvPr/>
        </p:nvSpPr>
        <p:spPr>
          <a:xfrm>
            <a:off x="507951" y="4048497"/>
            <a:ext cx="44359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内导体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表面电流密度和内导体表面的磁场强度代入边界条件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，得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590554"/>
              </p:ext>
            </p:extLst>
          </p:nvPr>
        </p:nvGraphicFramePr>
        <p:xfrm>
          <a:off x="1854741" y="5254605"/>
          <a:ext cx="869274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8" name="Equation" r:id="rId9" imgW="545626" imgH="355292" progId="Equation.DSMT4">
                  <p:embed/>
                </p:oleObj>
              </mc:Choice>
              <mc:Fallback>
                <p:oleObj name="Equation" r:id="rId9" imgW="545626" imgH="35529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741" y="5254605"/>
                        <a:ext cx="869274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987982"/>
              </p:ext>
            </p:extLst>
          </p:nvPr>
        </p:nvGraphicFramePr>
        <p:xfrm>
          <a:off x="7100258" y="821861"/>
          <a:ext cx="3057795" cy="6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" name="Equation" r:id="rId11" imgW="1892300" imgH="381000" progId="Equation.DSMT4">
                  <p:embed/>
                </p:oleObj>
              </mc:Choice>
              <mc:Fallback>
                <p:oleObj name="Equation" r:id="rId11" imgW="1892300" imgH="381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0258" y="821861"/>
                        <a:ext cx="3057795" cy="613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113266"/>
              </p:ext>
            </p:extLst>
          </p:nvPr>
        </p:nvGraphicFramePr>
        <p:xfrm>
          <a:off x="6082698" y="2297030"/>
          <a:ext cx="5542892" cy="58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0" name="Equation" r:id="rId13" imgW="3441700" imgH="355600" progId="Equation.DSMT4">
                  <p:embed/>
                </p:oleObj>
              </mc:Choice>
              <mc:Fallback>
                <p:oleObj name="Equation" r:id="rId13" imgW="3441700" imgH="355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2698" y="2297030"/>
                        <a:ext cx="5542892" cy="58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866514"/>
              </p:ext>
            </p:extLst>
          </p:nvPr>
        </p:nvGraphicFramePr>
        <p:xfrm>
          <a:off x="7907338" y="3402013"/>
          <a:ext cx="21891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1" name="Equation" r:id="rId15" imgW="1358640" imgH="355320" progId="Equation.DSMT4">
                  <p:embed/>
                </p:oleObj>
              </mc:Choice>
              <mc:Fallback>
                <p:oleObj name="Equation" r:id="rId15" imgW="1358640" imgH="3553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7338" y="3402013"/>
                        <a:ext cx="2189162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063623"/>
              </p:ext>
            </p:extLst>
          </p:nvPr>
        </p:nvGraphicFramePr>
        <p:xfrm>
          <a:off x="7926442" y="2791656"/>
          <a:ext cx="715872" cy="60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2" name="Equation" r:id="rId17" imgW="444114" imgH="355292" progId="Equation.DSMT4">
                  <p:embed/>
                </p:oleObj>
              </mc:Choice>
              <mc:Fallback>
                <p:oleObj name="Equation" r:id="rId17" imgW="444114" imgH="35529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6442" y="2791656"/>
                        <a:ext cx="715872" cy="603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794034"/>
              </p:ext>
            </p:extLst>
          </p:nvPr>
        </p:nvGraphicFramePr>
        <p:xfrm>
          <a:off x="7550235" y="1354863"/>
          <a:ext cx="2607818" cy="572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name="Equation" r:id="rId19" imgW="1612900" imgH="355600" progId="Equation.DSMT4">
                  <p:embed/>
                </p:oleObj>
              </mc:Choice>
              <mc:Fallback>
                <p:oleObj name="Equation" r:id="rId19" imgW="1612900" imgH="355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235" y="1354863"/>
                        <a:ext cx="2607818" cy="5726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6023992" y="290096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单位长度的磁通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044201" y="351870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单位长度</a:t>
            </a:r>
            <a:r>
              <a:rPr lang="zh-CN" altLang="zh-CN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电感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17881" y="477820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边界条件方程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357160" y="4311667"/>
            <a:ext cx="3268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电感是内外导体构成的回路产生的，因此电感是沿着同轴线导体方向分布的</a:t>
            </a:r>
            <a:r>
              <a:rPr lang="zh-CN" altLang="zh-CN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kern="10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：电感是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分布在空间范围，而非集中在某个很小的区域，因此前者也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分布电感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后者称为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集总电感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789841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3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838200" y="188640"/>
            <a:ext cx="10515600" cy="607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/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导行和谐振电磁波</a:t>
            </a:r>
            <a:r>
              <a:rPr lang="en-US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1559496" y="2492896"/>
            <a:ext cx="871296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本章的重点是如何从电磁场的场量（电场、磁场），得到电路的参量（电压、电流、电容、电导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电阻和电感），建立了电磁场量与电路参量之间的关系。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本章给出的电磁场量与电路参量的关系是建立在静态场的框架下，后面我们还将学习在时变场框架下，电磁场量与电路参量的联系。</a:t>
            </a:r>
          </a:p>
        </p:txBody>
      </p:sp>
    </p:spTree>
    <p:extLst>
      <p:ext uri="{BB962C8B-B14F-4D97-AF65-F5344CB8AC3E}">
        <p14:creationId xmlns:p14="http://schemas.microsoft.com/office/powerpoint/2010/main" val="110996959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简明电磁场与电磁波" id="{F378FBA4-5EBC-43CA-893B-F99F2340DC8B}" vid="{B95AD574-0383-4A50-8266-A79B1358D01E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简明电磁场与电磁波-模板</Template>
  <TotalTime>30975</TotalTime>
  <Words>2382</Words>
  <Application>Microsoft Office PowerPoint</Application>
  <PresentationFormat>宽屏</PresentationFormat>
  <Paragraphs>194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等线</vt:lpstr>
      <vt:lpstr>等线 Light</vt:lpstr>
      <vt:lpstr>黑体</vt:lpstr>
      <vt:lpstr>宋体</vt:lpstr>
      <vt:lpstr>Arial</vt:lpstr>
      <vt:lpstr>Calibri</vt:lpstr>
      <vt:lpstr>Calibri Light</vt:lpstr>
      <vt:lpstr>Cambria Math</vt:lpstr>
      <vt:lpstr>Times New Roman</vt:lpstr>
      <vt:lpstr>Wingdings</vt:lpstr>
      <vt:lpstr>默认设计模板</vt:lpstr>
      <vt:lpstr>Equation</vt:lpstr>
      <vt:lpstr>第二章 静态电磁场</vt:lpstr>
      <vt:lpstr>静态电磁场: 引言</vt:lpstr>
      <vt:lpstr>静态电磁场: 静电场——基本方程和边界条件</vt:lpstr>
      <vt:lpstr>静态电磁场:静电场——例题：电偶极子</vt:lpstr>
      <vt:lpstr>静态电磁场:静电场——不同电荷分布电位电场与距离关系</vt:lpstr>
      <vt:lpstr>静态电磁场:静电场——例题：同轴线</vt:lpstr>
      <vt:lpstr>静态电磁场:静电场——静电场能量特性：单双电容</vt:lpstr>
      <vt:lpstr>静态电磁场:静电场——静电场能量特性：多导体电容-1</vt:lpstr>
      <vt:lpstr>静态电磁场:静电场——静电场能量特性：多导体电容-2</vt:lpstr>
      <vt:lpstr>静态电磁场:恒流电场——基本方程和边界条件</vt:lpstr>
      <vt:lpstr>静态电磁场:恒流电场——静电比拟法和电导</vt:lpstr>
      <vt:lpstr>静态电磁场:恒流电场——导体内部不存在净电荷</vt:lpstr>
      <vt:lpstr>静态电磁场:恒流电场——例题-1</vt:lpstr>
      <vt:lpstr>静态电磁场:恒流电场——例题-2</vt:lpstr>
      <vt:lpstr>静态电磁场:恒流磁场——基本方程和边界条件</vt:lpstr>
      <vt:lpstr>静态电磁场:恒流磁场——电感</vt:lpstr>
      <vt:lpstr>静态电磁场:恒流磁场——例题-1</vt:lpstr>
      <vt:lpstr>静态电磁场:恒流磁场——例题-2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章名蓝色黑体28号: 节名红色黑体28号-（分节名红色黑体28号)</dc:title>
  <dc:creator>Zhixia Xu</dc:creator>
  <cp:lastModifiedBy>8613912947543</cp:lastModifiedBy>
  <cp:revision>658</cp:revision>
  <dcterms:created xsi:type="dcterms:W3CDTF">2025-11-03T00:45:30Z</dcterms:created>
  <dcterms:modified xsi:type="dcterms:W3CDTF">2026-03-31T05:10:23Z</dcterms:modified>
</cp:coreProperties>
</file>