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56"/>
  </p:notesMasterIdLst>
  <p:sldIdLst>
    <p:sldId id="303" r:id="rId2"/>
    <p:sldId id="594" r:id="rId3"/>
    <p:sldId id="597" r:id="rId4"/>
    <p:sldId id="261" r:id="rId5"/>
    <p:sldId id="665" r:id="rId6"/>
    <p:sldId id="667" r:id="rId7"/>
    <p:sldId id="668" r:id="rId8"/>
    <p:sldId id="528" r:id="rId9"/>
    <p:sldId id="659" r:id="rId10"/>
    <p:sldId id="669" r:id="rId11"/>
    <p:sldId id="672" r:id="rId12"/>
    <p:sldId id="719" r:id="rId13"/>
    <p:sldId id="720" r:id="rId14"/>
    <p:sldId id="670" r:id="rId15"/>
    <p:sldId id="671" r:id="rId16"/>
    <p:sldId id="678" r:id="rId17"/>
    <p:sldId id="673" r:id="rId18"/>
    <p:sldId id="674" r:id="rId19"/>
    <p:sldId id="679" r:id="rId20"/>
    <p:sldId id="685" r:id="rId21"/>
    <p:sldId id="686" r:id="rId22"/>
    <p:sldId id="680" r:id="rId23"/>
    <p:sldId id="675" r:id="rId24"/>
    <p:sldId id="677" r:id="rId25"/>
    <p:sldId id="683" r:id="rId26"/>
    <p:sldId id="684" r:id="rId27"/>
    <p:sldId id="715" r:id="rId28"/>
    <p:sldId id="687" r:id="rId29"/>
    <p:sldId id="688" r:id="rId30"/>
    <p:sldId id="690" r:id="rId31"/>
    <p:sldId id="716" r:id="rId32"/>
    <p:sldId id="691" r:id="rId33"/>
    <p:sldId id="694" r:id="rId34"/>
    <p:sldId id="693" r:id="rId35"/>
    <p:sldId id="717" r:id="rId36"/>
    <p:sldId id="702" r:id="rId37"/>
    <p:sldId id="704" r:id="rId38"/>
    <p:sldId id="718" r:id="rId39"/>
    <p:sldId id="705" r:id="rId40"/>
    <p:sldId id="706" r:id="rId41"/>
    <p:sldId id="707" r:id="rId42"/>
    <p:sldId id="708" r:id="rId43"/>
    <p:sldId id="711" r:id="rId44"/>
    <p:sldId id="710" r:id="rId45"/>
    <p:sldId id="712" r:id="rId46"/>
    <p:sldId id="695" r:id="rId47"/>
    <p:sldId id="699" r:id="rId48"/>
    <p:sldId id="713" r:id="rId49"/>
    <p:sldId id="714" r:id="rId50"/>
    <p:sldId id="721" r:id="rId51"/>
    <p:sldId id="696" r:id="rId52"/>
    <p:sldId id="697" r:id="rId53"/>
    <p:sldId id="722" r:id="rId54"/>
    <p:sldId id="300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255"/>
    <a:srgbClr val="1D8DE5"/>
    <a:srgbClr val="FD7A2A"/>
    <a:srgbClr val="00B853"/>
    <a:srgbClr val="2ABDF2"/>
    <a:srgbClr val="FF9300"/>
    <a:srgbClr val="00B050"/>
    <a:srgbClr val="5DCB08"/>
    <a:srgbClr val="FBFBFB"/>
    <a:srgbClr val="608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0426" autoAdjust="0"/>
  </p:normalViewPr>
  <p:slideViewPr>
    <p:cSldViewPr>
      <p:cViewPr varScale="1">
        <p:scale>
          <a:sx n="105" d="100"/>
          <a:sy n="105" d="100"/>
        </p:scale>
        <p:origin x="1536" y="12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1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本章需要回答这几个非常重要的问题。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8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38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90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82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44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29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75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3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29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57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3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81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03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80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90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84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074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5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265747"/>
            <a:ext cx="7488832" cy="81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第七章 可编程接口芯片及应用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微软雅黑" panose="020B0503020204020204" pitchFamily="34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969273" y="1916832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10" grpId="0" animBg="1"/>
      <p:bldP spid="12" grpId="0" animBg="1"/>
      <p:bldP spid="23" grpId="0"/>
      <p:bldP spid="24" grpId="0"/>
      <p:bldP spid="31" grpId="0"/>
      <p:bldP spid="32" grpId="0"/>
      <p:bldP spid="33" grpId="0"/>
      <p:bldP spid="34" grpId="0"/>
      <p:bldP spid="35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1" r:id="rId3"/>
    <p:sldLayoutId id="2147483676" r:id="rId4"/>
    <p:sldLayoutId id="2147483677" r:id="rId5"/>
    <p:sldLayoutId id="2147483681" r:id="rId6"/>
    <p:sldLayoutId id="2147483678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jpeg"/><Relationship Id="rId4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 panose="020B0503020204020204" pitchFamily="34" charset="-122"/>
                <a:cs typeface="Arial"/>
              </a:rPr>
              <a:t>本节</a:t>
            </a: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目标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b="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OBJECTIVE</a:t>
            </a:r>
            <a:endParaRPr lang="zh-CN" altLang="en-US" sz="1800" b="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4099" name="矩形 4"/>
          <p:cNvSpPr>
            <a:spLocks noChangeArrowheads="1"/>
          </p:cNvSpPr>
          <p:nvPr/>
        </p:nvSpPr>
        <p:spPr bwMode="auto">
          <a:xfrm>
            <a:off x="3851275" y="2276872"/>
            <a:ext cx="5113338" cy="193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了解定时的基本概念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外部特性（重点）</a:t>
            </a:r>
            <a:endParaRPr lang="en-US" altLang="zh-CN" sz="20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工作模式（重点）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初始化（重点）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4" descr="http://lusongsong.com/upload/173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576" y="2060848"/>
            <a:ext cx="280831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48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9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253127"/>
            <a:ext cx="1728439" cy="1343740"/>
          </a:xfrm>
          <a:prstGeom prst="rect">
            <a:avLst/>
          </a:prstGeom>
        </p:spPr>
      </p:pic>
      <p:sp>
        <p:nvSpPr>
          <p:cNvPr id="5" name="流程图: 可选过程 4"/>
          <p:cNvSpPr/>
          <p:nvPr/>
        </p:nvSpPr>
        <p:spPr>
          <a:xfrm>
            <a:off x="2278872" y="1628800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外部特性：有几个计数器？计数通道的信号线作用？</a:t>
            </a:r>
          </a:p>
        </p:txBody>
      </p:sp>
      <p:sp>
        <p:nvSpPr>
          <p:cNvPr id="19" name="流程图: 可选过程 18"/>
          <p:cNvSpPr/>
          <p:nvPr/>
        </p:nvSpPr>
        <p:spPr>
          <a:xfrm>
            <a:off x="2267744" y="2780928"/>
            <a:ext cx="6397584" cy="902445"/>
          </a:xfrm>
          <a:prstGeom prst="flowChartAlternateProcess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有几种工作模式？哪些是自动重复计数的？</a:t>
            </a:r>
          </a:p>
        </p:txBody>
      </p:sp>
      <p:sp>
        <p:nvSpPr>
          <p:cNvPr id="21" name="流程图: 可选过程 20"/>
          <p:cNvSpPr/>
          <p:nvPr/>
        </p:nvSpPr>
        <p:spPr>
          <a:xfrm>
            <a:off x="2267744" y="3894707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的初始化过程如何完成？</a:t>
            </a:r>
          </a:p>
        </p:txBody>
      </p:sp>
      <p:sp>
        <p:nvSpPr>
          <p:cNvPr id="33" name="椭圆 32"/>
          <p:cNvSpPr/>
          <p:nvPr/>
        </p:nvSpPr>
        <p:spPr>
          <a:xfrm>
            <a:off x="1259632" y="176790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259632" y="29487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259632" y="402889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978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定时基本概念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8253</a:t>
            </a:r>
            <a:r>
              <a:rPr lang="zh-CN" altLang="en-US" dirty="0"/>
              <a:t>定时器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005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定时的基本概念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>
            <a:spLocks noChangeAspect="1"/>
          </p:cNvSpPr>
          <p:nvPr/>
        </p:nvSpPr>
        <p:spPr>
          <a:xfrm>
            <a:off x="899592" y="1484785"/>
            <a:ext cx="7452617" cy="3096344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7"/>
          <p:cNvSpPr txBox="1"/>
          <p:nvPr/>
        </p:nvSpPr>
        <p:spPr>
          <a:xfrm>
            <a:off x="1079401" y="1556793"/>
            <a:ext cx="7272808" cy="295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在微机系统或智能化仪器仪表的工作中，常需要使系统处于定时工作状态或对外部过程计数。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定时或计数的工作实质均体现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为对脉冲信号的计数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如果计数的对象是标准的内部时钟，由于其周期恒定，故计数值就恒定地对应于一定的时间，这一过程即为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定时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如果计数的对象是与外部过程相对应的脉冲信号（周期可以不相等），则此时即为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计数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1907704" y="5013176"/>
            <a:ext cx="5796855" cy="79406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软件方法：用一段程序实现延时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硬件方法：定时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</a:p>
        </p:txBody>
      </p:sp>
      <p:sp>
        <p:nvSpPr>
          <p:cNvPr id="11" name="矩形 10"/>
          <p:cNvSpPr/>
          <p:nvPr/>
        </p:nvSpPr>
        <p:spPr>
          <a:xfrm>
            <a:off x="899592" y="4869160"/>
            <a:ext cx="7452617" cy="108012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928791" y="4947164"/>
            <a:ext cx="893766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9"/>
          <p:cNvSpPr txBox="1"/>
          <p:nvPr/>
        </p:nvSpPr>
        <p:spPr>
          <a:xfrm>
            <a:off x="1132358" y="4935983"/>
            <a:ext cx="461665" cy="9412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2639282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17" name="矩形 1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"/>
          <p:cNvSpPr>
            <a:spLocks noChangeArrowheads="1"/>
          </p:cNvSpPr>
          <p:nvPr/>
        </p:nvSpPr>
        <p:spPr bwMode="auto">
          <a:xfrm>
            <a:off x="6235899" y="1874330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PUSH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endParaRPr lang="en-US" altLang="zh-CN" sz="20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5076056" y="2640323"/>
            <a:ext cx="1730904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LP:</a:t>
            </a:r>
          </a:p>
        </p:txBody>
      </p:sp>
      <p:sp>
        <p:nvSpPr>
          <p:cNvPr id="34" name="矩形 3"/>
          <p:cNvSpPr>
            <a:spLocks noChangeArrowheads="1"/>
          </p:cNvSpPr>
          <p:nvPr/>
        </p:nvSpPr>
        <p:spPr bwMode="auto">
          <a:xfrm>
            <a:off x="6235899" y="2274267"/>
            <a:ext cx="247133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CX, </a:t>
            </a: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37209</a:t>
            </a:r>
          </a:p>
        </p:txBody>
      </p:sp>
      <p:sp>
        <p:nvSpPr>
          <p:cNvPr id="35" name="矩形 3"/>
          <p:cNvSpPr>
            <a:spLocks noChangeArrowheads="1"/>
          </p:cNvSpPr>
          <p:nvPr/>
        </p:nvSpPr>
        <p:spPr bwMode="auto">
          <a:xfrm>
            <a:off x="6235899" y="2632147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PUSHF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"/>
          <p:cNvSpPr>
            <a:spLocks noChangeArrowheads="1"/>
          </p:cNvSpPr>
          <p:nvPr/>
        </p:nvSpPr>
        <p:spPr bwMode="auto">
          <a:xfrm>
            <a:off x="6235899" y="3032084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POPF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"/>
          <p:cNvSpPr>
            <a:spLocks noChangeArrowheads="1"/>
          </p:cNvSpPr>
          <p:nvPr/>
        </p:nvSpPr>
        <p:spPr bwMode="auto">
          <a:xfrm>
            <a:off x="6235899" y="3373023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LOOP  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LP</a:t>
            </a:r>
          </a:p>
        </p:txBody>
      </p:sp>
      <p:sp>
        <p:nvSpPr>
          <p:cNvPr id="38" name="矩形 3"/>
          <p:cNvSpPr>
            <a:spLocks noChangeArrowheads="1"/>
          </p:cNvSpPr>
          <p:nvPr/>
        </p:nvSpPr>
        <p:spPr bwMode="auto">
          <a:xfrm>
            <a:off x="6235898" y="4111972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RET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TextBox 17"/>
          <p:cNvSpPr txBox="1"/>
          <p:nvPr/>
        </p:nvSpPr>
        <p:spPr>
          <a:xfrm>
            <a:off x="706139" y="1485577"/>
            <a:ext cx="3799506" cy="295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编写子程序，要求延时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20ms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假设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的时钟是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8MHz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，一个时钟周期是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T=0.125us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用执行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PUSHF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POPF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PUSHF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14T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POPF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12T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LOOP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17T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循环次数：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4255" y="4437112"/>
            <a:ext cx="4155777" cy="46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20000/(14+12+17)/0.125=37209</a:t>
            </a: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5076055" y="1484784"/>
            <a:ext cx="363118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DELAY20MS  PROC</a:t>
            </a:r>
          </a:p>
        </p:txBody>
      </p:sp>
      <p:sp>
        <p:nvSpPr>
          <p:cNvPr id="45" name="矩形 3"/>
          <p:cNvSpPr>
            <a:spLocks noChangeArrowheads="1"/>
          </p:cNvSpPr>
          <p:nvPr/>
        </p:nvSpPr>
        <p:spPr bwMode="auto">
          <a:xfrm>
            <a:off x="6235898" y="3739667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POP   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TextBox 10"/>
          <p:cNvSpPr txBox="1">
            <a:spLocks noChangeArrowheads="1"/>
          </p:cNvSpPr>
          <p:nvPr/>
        </p:nvSpPr>
        <p:spPr bwMode="auto">
          <a:xfrm>
            <a:off x="1626983" y="5179366"/>
            <a:ext cx="6185377" cy="79406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误差较大：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RET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不能从事其它工作，降低了机器的利用率。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11560" y="5138057"/>
            <a:ext cx="7992888" cy="93808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607515" y="5249305"/>
            <a:ext cx="888246" cy="56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19"/>
          <p:cNvSpPr txBox="1"/>
          <p:nvPr/>
        </p:nvSpPr>
        <p:spPr>
          <a:xfrm>
            <a:off x="844326" y="5204880"/>
            <a:ext cx="461665" cy="9354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缺点</a:t>
            </a: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5076055" y="4556162"/>
            <a:ext cx="3631181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DELAY20MS  ENDP</a:t>
            </a:r>
          </a:p>
        </p:txBody>
      </p:sp>
    </p:spTree>
    <p:extLst>
      <p:ext uri="{BB962C8B-B14F-4D97-AF65-F5344CB8AC3E}">
        <p14:creationId xmlns:p14="http://schemas.microsoft.com/office/powerpoint/2010/main" val="360639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6" grpId="0"/>
      <p:bldP spid="37" grpId="0"/>
      <p:bldP spid="43" grpId="0"/>
      <p:bldP spid="46" grpId="0"/>
      <p:bldP spid="47" grpId="0" animBg="1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定时基本概念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8253</a:t>
            </a:r>
            <a:r>
              <a:rPr lang="zh-CN" altLang="en-US" dirty="0"/>
              <a:t>定时器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838697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8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外部特性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编程结构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芯片特性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535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功能介绍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703436" y="1913530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功能概述</a:t>
            </a:r>
          </a:p>
        </p:txBody>
      </p:sp>
      <p:sp>
        <p:nvSpPr>
          <p:cNvPr id="9" name="矩形 8"/>
          <p:cNvSpPr/>
          <p:nvPr/>
        </p:nvSpPr>
        <p:spPr>
          <a:xfrm>
            <a:off x="2379488" y="1913530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8253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是一种可编程的计数器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定时器接口芯片，最高计数频率为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2MHz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，可用于产生各种定时波形，也可用于对外部事件计数。 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379488" y="2576874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03436" y="2954436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芯片特点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2379488" y="3617780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379488" y="2961760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内部有三个独立的计数器，通过设置控制字，各计数器可以工作于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中工作方式。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40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1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芯片引脚功能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3491880" y="1772817"/>
            <a:ext cx="1512168" cy="3573900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387508" y="4935646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GATE1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87508" y="464945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87508" y="436326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CLK1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387508" y="4077073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GATE2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387508" y="379088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87508" y="350469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CLK2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387508" y="32037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387508" y="291758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87508" y="263139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387508" y="234519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387508" y="205900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387508" y="177281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572000" y="493564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72000" y="464945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572000" y="436326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72000" y="407707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72000" y="37908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19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572000" y="350469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18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72000" y="32037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28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572000" y="291758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572000" y="263139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572000" y="234519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572000" y="205900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572000" y="1772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 flipH="1">
            <a:off x="5004048" y="486924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H="1">
            <a:off x="5013146" y="515728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>
            <a:off x="5006796" y="4276292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H="1">
            <a:off x="5013146" y="4549466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H="1">
            <a:off x="4997698" y="369807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H="1">
            <a:off x="5006796" y="398610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H="1">
            <a:off x="5010398" y="3069048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H="1">
            <a:off x="5019496" y="335708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4994950" y="256499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5004048" y="285302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5007650" y="1935970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H="1">
            <a:off x="5016748" y="222400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3488165" y="493564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552285" y="464945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552285" y="436326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552285" y="407707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9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552285" y="379088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552285" y="350469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3552285" y="32037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3552285" y="291758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552285" y="263139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552285" y="234519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488165" y="205900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488165" y="17728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660353" y="264912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660353" y="236293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60353" y="207674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660353" y="179055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660353" y="378457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660353" y="34978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2660353" y="321163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660353" y="292544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195736" y="463327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2336800" y="434708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2375272" y="40608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339752" y="490959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 flipH="1">
            <a:off x="3047019" y="254575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H="1">
            <a:off x="3056117" y="2833791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 flipH="1">
            <a:off x="3059719" y="191673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 flipH="1">
            <a:off x="3068817" y="220476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flipH="1">
            <a:off x="3037921" y="3708346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 flipH="1">
            <a:off x="3047019" y="399637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 flipH="1">
            <a:off x="3050621" y="307932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 flipH="1">
            <a:off x="3059719" y="3367356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H="1">
            <a:off x="3047019" y="509619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 flipH="1">
            <a:off x="3037921" y="452410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 flipH="1">
            <a:off x="3059832" y="481435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 flipH="1">
            <a:off x="3059719" y="425151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7"/>
          <p:cNvSpPr txBox="1"/>
          <p:nvPr/>
        </p:nvSpPr>
        <p:spPr>
          <a:xfrm>
            <a:off x="1259632" y="2348318"/>
            <a:ext cx="1250679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数据总线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5970365" y="2593587"/>
            <a:ext cx="1152128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片选信号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" name="TextBox 17"/>
          <p:cNvSpPr txBox="1"/>
          <p:nvPr/>
        </p:nvSpPr>
        <p:spPr>
          <a:xfrm>
            <a:off x="5970365" y="2092127"/>
            <a:ext cx="1152128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读写信号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TextBox 17"/>
          <p:cNvSpPr txBox="1"/>
          <p:nvPr/>
        </p:nvSpPr>
        <p:spPr>
          <a:xfrm>
            <a:off x="923146" y="4308954"/>
            <a:ext cx="1250679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120" name="TextBox 17"/>
          <p:cNvSpPr txBox="1"/>
          <p:nvPr/>
        </p:nvSpPr>
        <p:spPr>
          <a:xfrm>
            <a:off x="6301104" y="3674919"/>
            <a:ext cx="1250679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121" name="TextBox 17"/>
          <p:cNvSpPr txBox="1"/>
          <p:nvPr/>
        </p:nvSpPr>
        <p:spPr>
          <a:xfrm>
            <a:off x="6301104" y="4587802"/>
            <a:ext cx="1250679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122" name="TextBox 17"/>
          <p:cNvSpPr txBox="1"/>
          <p:nvPr/>
        </p:nvSpPr>
        <p:spPr>
          <a:xfrm>
            <a:off x="5956895" y="3080149"/>
            <a:ext cx="1250679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地址线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TextBox 17"/>
          <p:cNvSpPr txBox="1"/>
          <p:nvPr/>
        </p:nvSpPr>
        <p:spPr>
          <a:xfrm>
            <a:off x="3185467" y="5517232"/>
            <a:ext cx="2215088" cy="460767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有几个端口？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968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2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6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3" grpId="0"/>
      <p:bldP spid="24" grpId="0"/>
      <p:bldP spid="34" grpId="0"/>
      <p:bldP spid="35" grpId="0"/>
      <p:bldP spid="36" grpId="0"/>
      <p:bldP spid="37" grpId="0"/>
      <p:bldP spid="38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91" grpId="0"/>
      <p:bldP spid="92" grpId="0"/>
      <p:bldP spid="93" grpId="0"/>
      <p:bldP spid="109" grpId="0" animBg="1"/>
      <p:bldP spid="109" grpId="1" animBg="1"/>
      <p:bldP spid="111" grpId="0" animBg="1"/>
      <p:bldP spid="111" grpId="1" animBg="1"/>
      <p:bldP spid="112" grpId="0" animBg="1"/>
      <p:bldP spid="112" grpId="1" animBg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1985490"/>
            <a:ext cx="1512168" cy="2880158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013146" y="1985328"/>
            <a:ext cx="1368152" cy="288032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565181" y="436159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M/IO*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822827" y="288580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822827" y="254434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286375" y="3070468"/>
            <a:ext cx="272677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286375" y="2688362"/>
            <a:ext cx="272677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031777" y="288306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031777" y="254160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013146" y="414556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91680" y="356037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691680" y="321891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264498" y="3785690"/>
            <a:ext cx="274864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2264498" y="3403584"/>
            <a:ext cx="274864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5031777" y="356037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5031777" y="321891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1" name="左右箭头 50"/>
          <p:cNvSpPr/>
          <p:nvPr/>
        </p:nvSpPr>
        <p:spPr>
          <a:xfrm>
            <a:off x="2286376" y="2202890"/>
            <a:ext cx="2726770" cy="187455"/>
          </a:xfrm>
          <a:prstGeom prst="left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1431772" y="2112516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31777" y="2088856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093917" y="4956239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CPU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4558018" y="4313605"/>
            <a:ext cx="45512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5282615" y="4983559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8253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189866" y="4018356"/>
            <a:ext cx="1368152" cy="677333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3233172" y="41723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地址译码器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2246921" y="4541688"/>
            <a:ext cx="902436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445194" y="43523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586258" y="39330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624730" y="350100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H="1">
            <a:off x="6390396" y="4505608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>
            <a:off x="6381298" y="3648476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 flipH="1">
            <a:off x="6390396" y="4082365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连接图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6" name="直接连接符 9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7" name="右箭头 96"/>
          <p:cNvSpPr/>
          <p:nvPr/>
        </p:nvSpPr>
        <p:spPr>
          <a:xfrm>
            <a:off x="2299539" y="4126137"/>
            <a:ext cx="849818" cy="216024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标注 102"/>
          <p:cNvSpPr/>
          <p:nvPr/>
        </p:nvSpPr>
        <p:spPr>
          <a:xfrm>
            <a:off x="7164288" y="2921198"/>
            <a:ext cx="1584176" cy="579810"/>
          </a:xfrm>
          <a:prstGeom prst="wedgeRectCallout">
            <a:avLst>
              <a:gd name="adj1" fmla="val -68485"/>
              <a:gd name="adj2" fmla="val 64626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输入脉冲信号</a:t>
            </a:r>
          </a:p>
        </p:txBody>
      </p:sp>
      <p:sp>
        <p:nvSpPr>
          <p:cNvPr id="104" name="矩形标注 103"/>
          <p:cNvSpPr/>
          <p:nvPr/>
        </p:nvSpPr>
        <p:spPr>
          <a:xfrm>
            <a:off x="7154065" y="3682849"/>
            <a:ext cx="1584176" cy="579810"/>
          </a:xfrm>
          <a:prstGeom prst="wedgeRectCallout">
            <a:avLst>
              <a:gd name="adj1" fmla="val -72986"/>
              <a:gd name="adj2" fmla="val 15682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输出波形</a:t>
            </a:r>
          </a:p>
        </p:txBody>
      </p:sp>
      <p:sp>
        <p:nvSpPr>
          <p:cNvPr id="105" name="矩形标注 104"/>
          <p:cNvSpPr/>
          <p:nvPr/>
        </p:nvSpPr>
        <p:spPr>
          <a:xfrm>
            <a:off x="7151285" y="4403749"/>
            <a:ext cx="1584176" cy="579810"/>
          </a:xfrm>
          <a:prstGeom prst="wedgeRectCallout">
            <a:avLst>
              <a:gd name="adj1" fmla="val -72012"/>
              <a:gd name="adj2" fmla="val -3507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输入门控信号</a:t>
            </a:r>
          </a:p>
        </p:txBody>
      </p:sp>
    </p:spTree>
    <p:extLst>
      <p:ext uri="{BB962C8B-B14F-4D97-AF65-F5344CB8AC3E}">
        <p14:creationId xmlns:p14="http://schemas.microsoft.com/office/powerpoint/2010/main" val="413158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0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IO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端口编址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755576" y="1412938"/>
            <a:ext cx="1512168" cy="482453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707904" y="3550837"/>
            <a:ext cx="1368152" cy="2589002"/>
          </a:xfrm>
          <a:prstGeom prst="rect">
            <a:avLst/>
          </a:prstGeom>
          <a:noFill/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12160" y="1412776"/>
            <a:ext cx="1368152" cy="271036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797704" y="556706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7704" y="53134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00950" y="48598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A8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264498" y="5769365"/>
            <a:ext cx="5073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264498" y="5044534"/>
            <a:ext cx="4352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797704" y="429249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00950" y="398587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800950" y="36444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264498" y="4477158"/>
            <a:ext cx="144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264498" y="4170542"/>
            <a:ext cx="144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264498" y="3788436"/>
            <a:ext cx="144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779912" y="569626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G2B*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779912" y="522920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G2A*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83158" y="472217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779912" y="427663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83158" y="397002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783158" y="362856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70925" y="571212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Y7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570925" y="541673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Y6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570925" y="512135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Y5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570925" y="423519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570925" y="393980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Y1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4570925" y="364442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Y0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4570925" y="482596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Y4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570925" y="453057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Y3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51" name="流程图: 延期 50"/>
          <p:cNvSpPr/>
          <p:nvPr/>
        </p:nvSpPr>
        <p:spPr>
          <a:xfrm>
            <a:off x="2716586" y="5684633"/>
            <a:ext cx="504056" cy="432048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2595001" y="5713276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565181" y="586814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M/IO*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2203706" y="6003663"/>
            <a:ext cx="5073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2583786" y="5940831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3220642" y="5830748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/>
        </p:nvCxnSpPr>
        <p:spPr>
          <a:xfrm>
            <a:off x="3347864" y="5893439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822827" y="231325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822827" y="197179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2286375" y="2497916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2286375" y="2115810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6030791" y="231050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030791" y="196905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012160" y="363573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91680" y="298782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1691680" y="264636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2264498" y="3213138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2264498" y="2831032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6030791" y="298782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030791" y="264636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4" name="左右箭头 73"/>
          <p:cNvSpPr/>
          <p:nvPr/>
        </p:nvSpPr>
        <p:spPr>
          <a:xfrm>
            <a:off x="2286375" y="1642654"/>
            <a:ext cx="3703908" cy="202332"/>
          </a:xfrm>
          <a:prstGeom prst="left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1431772" y="1539964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030791" y="1516304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55576" y="3629307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CPU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5076056" y="3803769"/>
            <a:ext cx="954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3707904" y="6118755"/>
            <a:ext cx="1418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74LS138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490325" y="24836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IO</a:t>
            </a:r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芯片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1798166" y="464087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A9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2" name="流程图: 延期 81"/>
          <p:cNvSpPr/>
          <p:nvPr/>
        </p:nvSpPr>
        <p:spPr>
          <a:xfrm>
            <a:off x="2699792" y="4722176"/>
            <a:ext cx="504056" cy="432048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/>
          <p:nvPr/>
        </p:nvCxnSpPr>
        <p:spPr>
          <a:xfrm>
            <a:off x="3203848" y="4938200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2253416" y="4844013"/>
            <a:ext cx="4352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2267744" y="5284816"/>
            <a:ext cx="415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流程图: 延期 87"/>
          <p:cNvSpPr/>
          <p:nvPr/>
        </p:nvSpPr>
        <p:spPr>
          <a:xfrm>
            <a:off x="2715005" y="5190908"/>
            <a:ext cx="504056" cy="432048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/>
        </p:nvSpPr>
        <p:spPr>
          <a:xfrm>
            <a:off x="2593420" y="5219551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" name="直接连接符 106"/>
          <p:cNvCxnSpPr/>
          <p:nvPr/>
        </p:nvCxnSpPr>
        <p:spPr>
          <a:xfrm>
            <a:off x="2267744" y="5519114"/>
            <a:ext cx="3546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椭圆 107"/>
          <p:cNvSpPr/>
          <p:nvPr/>
        </p:nvSpPr>
        <p:spPr>
          <a:xfrm>
            <a:off x="2582205" y="5447106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3219061" y="5337023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0" name="直接连接符 109"/>
          <p:cNvCxnSpPr/>
          <p:nvPr/>
        </p:nvCxnSpPr>
        <p:spPr>
          <a:xfrm>
            <a:off x="3363077" y="5408890"/>
            <a:ext cx="3448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1810266" y="508390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399346" y="4745651"/>
            <a:ext cx="3797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A9 A8 A7 A6 A5 A4 A3 A2  A1  A0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5399346" y="5034885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1     1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6145353" y="503488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0    0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6839947" y="503488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7182348" y="504453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0   0    0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5330635" y="5665207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四个端口：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300H~303H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191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127" grpId="0"/>
      <p:bldP spid="128" grpId="0"/>
      <p:bldP spid="129" grpId="0"/>
      <p:bldP spid="130" grpId="0"/>
      <p:bldP spid="1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IO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端口编址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755576" y="1412938"/>
            <a:ext cx="1512168" cy="482453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707904" y="3550837"/>
            <a:ext cx="1368152" cy="2589002"/>
          </a:xfrm>
          <a:prstGeom prst="rect">
            <a:avLst/>
          </a:prstGeom>
          <a:noFill/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12160" y="1412776"/>
            <a:ext cx="1368152" cy="271036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797704" y="556706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7704" y="53134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00950" y="48598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A8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264498" y="5769365"/>
            <a:ext cx="5073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264498" y="5044534"/>
            <a:ext cx="4352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797704" y="429249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00950" y="398587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800950" y="36444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264498" y="4477158"/>
            <a:ext cx="144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264498" y="4170542"/>
            <a:ext cx="144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264498" y="3788436"/>
            <a:ext cx="144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779912" y="569626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G2B*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779912" y="522920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G2A*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83158" y="472217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779912" y="427663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83158" y="397002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783158" y="362856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70925" y="571212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Y7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570925" y="541673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Y6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570925" y="512135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Y5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570925" y="423519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570925" y="393980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Y1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4570925" y="364442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Y0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4570925" y="482596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Y4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570925" y="453057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Y3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51" name="流程图: 延期 50"/>
          <p:cNvSpPr/>
          <p:nvPr/>
        </p:nvSpPr>
        <p:spPr>
          <a:xfrm>
            <a:off x="2716586" y="5684633"/>
            <a:ext cx="504056" cy="432048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2595001" y="5713276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565181" y="586814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M/IO*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2203706" y="6003663"/>
            <a:ext cx="5073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2583786" y="5940831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3220642" y="5830748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/>
        </p:nvCxnSpPr>
        <p:spPr>
          <a:xfrm>
            <a:off x="3347864" y="5893439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822827" y="231325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822827" y="197179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2286375" y="2497916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2286375" y="2115810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6030791" y="231050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030791" y="196905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012160" y="363573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91680" y="298782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1691680" y="264636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2264498" y="3213138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2264498" y="2831032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6030791" y="298782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030791" y="264636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4" name="左右箭头 73"/>
          <p:cNvSpPr/>
          <p:nvPr/>
        </p:nvSpPr>
        <p:spPr>
          <a:xfrm>
            <a:off x="2286375" y="1642654"/>
            <a:ext cx="3703908" cy="202332"/>
          </a:xfrm>
          <a:prstGeom prst="left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1431772" y="1539964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030791" y="1516304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55576" y="3629307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CPU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5076056" y="5010208"/>
            <a:ext cx="3232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3707904" y="6118755"/>
            <a:ext cx="1418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74LS138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490325" y="24836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IO</a:t>
            </a:r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芯片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1798166" y="464087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A9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2" name="流程图: 延期 81"/>
          <p:cNvSpPr/>
          <p:nvPr/>
        </p:nvSpPr>
        <p:spPr>
          <a:xfrm>
            <a:off x="2699792" y="4722176"/>
            <a:ext cx="504056" cy="432048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/>
          <p:nvPr/>
        </p:nvCxnSpPr>
        <p:spPr>
          <a:xfrm>
            <a:off x="3203848" y="4938200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2253416" y="4844013"/>
            <a:ext cx="4352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2267744" y="5284816"/>
            <a:ext cx="415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流程图: 延期 87"/>
          <p:cNvSpPr/>
          <p:nvPr/>
        </p:nvSpPr>
        <p:spPr>
          <a:xfrm>
            <a:off x="2715005" y="5190908"/>
            <a:ext cx="504056" cy="432048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/>
        </p:nvSpPr>
        <p:spPr>
          <a:xfrm>
            <a:off x="2593420" y="5219551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" name="直接连接符 106"/>
          <p:cNvCxnSpPr/>
          <p:nvPr/>
        </p:nvCxnSpPr>
        <p:spPr>
          <a:xfrm>
            <a:off x="2267744" y="5519114"/>
            <a:ext cx="3546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椭圆 107"/>
          <p:cNvSpPr/>
          <p:nvPr/>
        </p:nvSpPr>
        <p:spPr>
          <a:xfrm>
            <a:off x="2582205" y="5447106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3219061" y="5337023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0" name="直接连接符 109"/>
          <p:cNvCxnSpPr/>
          <p:nvPr/>
        </p:nvCxnSpPr>
        <p:spPr>
          <a:xfrm>
            <a:off x="3363077" y="5408890"/>
            <a:ext cx="3448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1810266" y="508390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526693" y="4745651"/>
            <a:ext cx="3797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A9 A8 A7 A6 A5 A4 A3 A2  A1  A0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5526693" y="5034885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1     1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6272700" y="503488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0    0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6967294" y="503488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7309695" y="5044534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1   0                 0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5399346" y="3790599"/>
            <a:ext cx="0" cy="1219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>
            <a:off x="5399346" y="3788436"/>
            <a:ext cx="612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5330635" y="5665207"/>
            <a:ext cx="391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四个端口：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310H, 312H, 314H, 316H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783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127" grpId="0"/>
      <p:bldP spid="128" grpId="0"/>
      <p:bldP spid="129" grpId="0"/>
      <p:bldP spid="130" grpId="0"/>
      <p:bldP spid="7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14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外部特性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编程结构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芯片特性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75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69192" y="1929442"/>
            <a:ext cx="1440160" cy="1440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数据总线缓冲器</a:t>
            </a:r>
          </a:p>
        </p:txBody>
      </p:sp>
      <p:sp>
        <p:nvSpPr>
          <p:cNvPr id="3" name="矩形 2"/>
          <p:cNvSpPr/>
          <p:nvPr/>
        </p:nvSpPr>
        <p:spPr>
          <a:xfrm>
            <a:off x="2169192" y="3440938"/>
            <a:ext cx="1440160" cy="1697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读写控制逻辑</a:t>
            </a:r>
          </a:p>
        </p:txBody>
      </p:sp>
      <p:sp>
        <p:nvSpPr>
          <p:cNvPr id="9" name="左右箭头 8"/>
          <p:cNvSpPr/>
          <p:nvPr/>
        </p:nvSpPr>
        <p:spPr>
          <a:xfrm>
            <a:off x="1100661" y="2505506"/>
            <a:ext cx="1080120" cy="288032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460701" y="3729642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1460701" y="4017674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449112" y="4305706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464768" y="4593738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7"/>
          <p:cNvSpPr txBox="1"/>
          <p:nvPr/>
        </p:nvSpPr>
        <p:spPr>
          <a:xfrm>
            <a:off x="1001037" y="2081864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D0~D7</a:t>
            </a:r>
          </a:p>
        </p:txBody>
      </p:sp>
      <p:sp>
        <p:nvSpPr>
          <p:cNvPr id="16" name="TextBox 17"/>
          <p:cNvSpPr txBox="1"/>
          <p:nvPr/>
        </p:nvSpPr>
        <p:spPr>
          <a:xfrm>
            <a:off x="558473" y="3522025"/>
            <a:ext cx="1250679" cy="4607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RD*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473" y="3815373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WR*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472" y="4108721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A0</a:t>
            </a:r>
          </a:p>
        </p:txBody>
      </p:sp>
      <p:sp>
        <p:nvSpPr>
          <p:cNvPr id="19" name="TextBox 17"/>
          <p:cNvSpPr txBox="1"/>
          <p:nvPr/>
        </p:nvSpPr>
        <p:spPr>
          <a:xfrm>
            <a:off x="558472" y="4381917"/>
            <a:ext cx="1250679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A1</a:t>
            </a:r>
          </a:p>
        </p:txBody>
      </p:sp>
      <p:sp>
        <p:nvSpPr>
          <p:cNvPr id="39" name="左右箭头 38"/>
          <p:cNvSpPr/>
          <p:nvPr/>
        </p:nvSpPr>
        <p:spPr>
          <a:xfrm>
            <a:off x="3597763" y="2505506"/>
            <a:ext cx="659661" cy="288032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150984" y="3796500"/>
            <a:ext cx="1587462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/>
          <p:cNvCxnSpPr/>
          <p:nvPr/>
        </p:nvCxnSpPr>
        <p:spPr>
          <a:xfrm flipH="1">
            <a:off x="3609352" y="5661248"/>
            <a:ext cx="314576" cy="0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902026" y="257769"/>
            <a:ext cx="2645121" cy="1519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</a:p>
          <a:p>
            <a:pPr algn="ctr" eaLnBrk="0" hangingPunct="0"/>
            <a:r>
              <a:rPr lang="zh-CN" altLang="en-US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内部结构</a:t>
            </a:r>
            <a:endParaRPr lang="zh-CN" altLang="en-US" sz="36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H="1">
            <a:off x="6746070" y="2853081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 flipV="1">
            <a:off x="6749257" y="3502972"/>
            <a:ext cx="432048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17"/>
          <p:cNvSpPr txBox="1"/>
          <p:nvPr/>
        </p:nvSpPr>
        <p:spPr>
          <a:xfrm>
            <a:off x="7223582" y="2636912"/>
            <a:ext cx="90223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CLK0</a:t>
            </a:r>
          </a:p>
        </p:txBody>
      </p:sp>
      <p:cxnSp>
        <p:nvCxnSpPr>
          <p:cNvPr id="89" name="直接箭头连接符 88"/>
          <p:cNvCxnSpPr/>
          <p:nvPr/>
        </p:nvCxnSpPr>
        <p:spPr>
          <a:xfrm flipH="1">
            <a:off x="6720127" y="3174027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17"/>
          <p:cNvSpPr txBox="1"/>
          <p:nvPr/>
        </p:nvSpPr>
        <p:spPr>
          <a:xfrm>
            <a:off x="7223582" y="2925089"/>
            <a:ext cx="962046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GATE0</a:t>
            </a: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1460752" y="4908246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17"/>
          <p:cNvSpPr txBox="1"/>
          <p:nvPr/>
        </p:nvSpPr>
        <p:spPr>
          <a:xfrm>
            <a:off x="539552" y="4696425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CS*</a:t>
            </a:r>
          </a:p>
        </p:txBody>
      </p:sp>
      <p:sp>
        <p:nvSpPr>
          <p:cNvPr id="69" name="矩形 68"/>
          <p:cNvSpPr/>
          <p:nvPr/>
        </p:nvSpPr>
        <p:spPr>
          <a:xfrm>
            <a:off x="5148064" y="4941313"/>
            <a:ext cx="1587462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4" name="直接箭头连接符 73"/>
          <p:cNvCxnSpPr/>
          <p:nvPr/>
        </p:nvCxnSpPr>
        <p:spPr>
          <a:xfrm flipH="1">
            <a:off x="6732339" y="3954418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V="1">
            <a:off x="6735526" y="4604309"/>
            <a:ext cx="432048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17"/>
          <p:cNvSpPr txBox="1"/>
          <p:nvPr/>
        </p:nvSpPr>
        <p:spPr>
          <a:xfrm>
            <a:off x="7209851" y="3738249"/>
            <a:ext cx="90223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CLK1</a:t>
            </a:r>
          </a:p>
        </p:txBody>
      </p:sp>
      <p:cxnSp>
        <p:nvCxnSpPr>
          <p:cNvPr id="85" name="直接箭头连接符 84"/>
          <p:cNvCxnSpPr/>
          <p:nvPr/>
        </p:nvCxnSpPr>
        <p:spPr>
          <a:xfrm flipH="1">
            <a:off x="6706396" y="4275364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17"/>
          <p:cNvSpPr txBox="1"/>
          <p:nvPr/>
        </p:nvSpPr>
        <p:spPr>
          <a:xfrm>
            <a:off x="7209851" y="4026426"/>
            <a:ext cx="962046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GATE1</a:t>
            </a:r>
          </a:p>
        </p:txBody>
      </p:sp>
      <p:cxnSp>
        <p:nvCxnSpPr>
          <p:cNvPr id="98" name="直接箭头连接符 97"/>
          <p:cNvCxnSpPr/>
          <p:nvPr/>
        </p:nvCxnSpPr>
        <p:spPr>
          <a:xfrm flipH="1">
            <a:off x="6729152" y="5111747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flipV="1">
            <a:off x="6732339" y="5761638"/>
            <a:ext cx="432048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17"/>
          <p:cNvSpPr txBox="1"/>
          <p:nvPr/>
        </p:nvSpPr>
        <p:spPr>
          <a:xfrm>
            <a:off x="7206664" y="4895578"/>
            <a:ext cx="90223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CLK2</a:t>
            </a:r>
          </a:p>
        </p:txBody>
      </p:sp>
      <p:sp>
        <p:nvSpPr>
          <p:cNvPr id="101" name="TextBox 17"/>
          <p:cNvSpPr txBox="1"/>
          <p:nvPr/>
        </p:nvSpPr>
        <p:spPr>
          <a:xfrm>
            <a:off x="7206664" y="5543795"/>
            <a:ext cx="92037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OUT2</a:t>
            </a:r>
          </a:p>
        </p:txBody>
      </p:sp>
      <p:cxnSp>
        <p:nvCxnSpPr>
          <p:cNvPr id="102" name="直接箭头连接符 101"/>
          <p:cNvCxnSpPr/>
          <p:nvPr/>
        </p:nvCxnSpPr>
        <p:spPr>
          <a:xfrm flipH="1">
            <a:off x="6703209" y="5432693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7"/>
          <p:cNvSpPr txBox="1"/>
          <p:nvPr/>
        </p:nvSpPr>
        <p:spPr>
          <a:xfrm>
            <a:off x="7206664" y="5183755"/>
            <a:ext cx="962046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GATE2</a:t>
            </a:r>
          </a:p>
        </p:txBody>
      </p:sp>
      <p:sp>
        <p:nvSpPr>
          <p:cNvPr id="104" name="TextBox 17"/>
          <p:cNvSpPr txBox="1"/>
          <p:nvPr/>
        </p:nvSpPr>
        <p:spPr>
          <a:xfrm>
            <a:off x="7209851" y="4386466"/>
            <a:ext cx="92037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OUT1</a:t>
            </a:r>
          </a:p>
        </p:txBody>
      </p:sp>
      <p:sp>
        <p:nvSpPr>
          <p:cNvPr id="105" name="TextBox 17"/>
          <p:cNvSpPr txBox="1"/>
          <p:nvPr/>
        </p:nvSpPr>
        <p:spPr>
          <a:xfrm>
            <a:off x="7223582" y="3285129"/>
            <a:ext cx="92037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OUT0</a:t>
            </a:r>
          </a:p>
        </p:txBody>
      </p:sp>
      <p:cxnSp>
        <p:nvCxnSpPr>
          <p:cNvPr id="106" name="直接箭头连接符 105"/>
          <p:cNvCxnSpPr/>
          <p:nvPr/>
        </p:nvCxnSpPr>
        <p:spPr>
          <a:xfrm>
            <a:off x="3923928" y="4805559"/>
            <a:ext cx="0" cy="855689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3609352" y="4795280"/>
            <a:ext cx="314576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3597763" y="4320750"/>
            <a:ext cx="1550301" cy="0"/>
          </a:xfrm>
          <a:prstGeom prst="line">
            <a:avLst/>
          </a:prstGeom>
          <a:ln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3609352" y="4555723"/>
            <a:ext cx="458592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4067944" y="4548945"/>
            <a:ext cx="0" cy="883748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4067944" y="5432693"/>
            <a:ext cx="1053576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3609352" y="3954418"/>
            <a:ext cx="458592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>
            <a:off x="4067944" y="3144928"/>
            <a:ext cx="0" cy="815497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4067944" y="3144928"/>
            <a:ext cx="1091399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2915816" y="6097499"/>
            <a:ext cx="0" cy="283829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2915816" y="6390730"/>
            <a:ext cx="187220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4788024" y="3440938"/>
            <a:ext cx="0" cy="2940390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 flipV="1">
            <a:off x="4788024" y="3422559"/>
            <a:ext cx="360040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 flipV="1">
            <a:off x="4788024" y="4577246"/>
            <a:ext cx="360040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V="1">
            <a:off x="4788024" y="5733255"/>
            <a:ext cx="360040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左右箭头 122"/>
          <p:cNvSpPr/>
          <p:nvPr/>
        </p:nvSpPr>
        <p:spPr>
          <a:xfrm>
            <a:off x="3608915" y="5867688"/>
            <a:ext cx="542972" cy="222480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4247850" y="1929442"/>
            <a:ext cx="177355" cy="45959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左右箭头 127"/>
          <p:cNvSpPr/>
          <p:nvPr/>
        </p:nvSpPr>
        <p:spPr>
          <a:xfrm>
            <a:off x="4382519" y="2772579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左右箭头 128"/>
          <p:cNvSpPr/>
          <p:nvPr/>
        </p:nvSpPr>
        <p:spPr>
          <a:xfrm>
            <a:off x="4382519" y="3941392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左右箭头 129"/>
          <p:cNvSpPr/>
          <p:nvPr/>
        </p:nvSpPr>
        <p:spPr>
          <a:xfrm>
            <a:off x="4357720" y="5097280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4647322" y="174460"/>
            <a:ext cx="4389173" cy="224642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1" name="曲线连接符 60"/>
          <p:cNvCxnSpPr/>
          <p:nvPr/>
        </p:nvCxnSpPr>
        <p:spPr>
          <a:xfrm rot="5400000" flipH="1" flipV="1">
            <a:off x="6064295" y="2480440"/>
            <a:ext cx="432087" cy="31290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5159343" y="2691797"/>
            <a:ext cx="1587462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4825026" y="332656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3" name="矩形 132"/>
          <p:cNvSpPr/>
          <p:nvPr/>
        </p:nvSpPr>
        <p:spPr>
          <a:xfrm>
            <a:off x="5940152" y="332656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6" name="矩形 135"/>
          <p:cNvSpPr/>
          <p:nvPr/>
        </p:nvSpPr>
        <p:spPr>
          <a:xfrm>
            <a:off x="4825026" y="1763793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7" name="矩形 136"/>
          <p:cNvSpPr/>
          <p:nvPr/>
        </p:nvSpPr>
        <p:spPr>
          <a:xfrm>
            <a:off x="5940152" y="1763793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41" name="下箭头 140"/>
          <p:cNvSpPr/>
          <p:nvPr/>
        </p:nvSpPr>
        <p:spPr>
          <a:xfrm>
            <a:off x="5868143" y="1556791"/>
            <a:ext cx="103501" cy="207001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/>
          <p:cNvSpPr/>
          <p:nvPr/>
        </p:nvSpPr>
        <p:spPr>
          <a:xfrm>
            <a:off x="4825026" y="1061726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5" name="矩形 134"/>
          <p:cNvSpPr/>
          <p:nvPr/>
        </p:nvSpPr>
        <p:spPr>
          <a:xfrm>
            <a:off x="5940152" y="1061726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42" name="TextBox 17"/>
          <p:cNvSpPr txBox="1"/>
          <p:nvPr/>
        </p:nvSpPr>
        <p:spPr>
          <a:xfrm>
            <a:off x="7052974" y="369100"/>
            <a:ext cx="1886635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计数初值寄存器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" name="TextBox 17"/>
          <p:cNvSpPr txBox="1"/>
          <p:nvPr/>
        </p:nvSpPr>
        <p:spPr>
          <a:xfrm>
            <a:off x="7071956" y="1093746"/>
            <a:ext cx="1886635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减一计数寄存器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TextBox 17"/>
          <p:cNvSpPr txBox="1"/>
          <p:nvPr/>
        </p:nvSpPr>
        <p:spPr>
          <a:xfrm>
            <a:off x="7057100" y="1786667"/>
            <a:ext cx="1886635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输出锁存寄存器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5" name="下箭头 144"/>
          <p:cNvSpPr/>
          <p:nvPr/>
        </p:nvSpPr>
        <p:spPr>
          <a:xfrm>
            <a:off x="5868144" y="836712"/>
            <a:ext cx="103501" cy="207001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169192" y="5301208"/>
            <a:ext cx="1440160" cy="864097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</a:p>
        </p:txBody>
      </p:sp>
      <p:sp>
        <p:nvSpPr>
          <p:cNvPr id="148" name="矩形 147"/>
          <p:cNvSpPr/>
          <p:nvPr/>
        </p:nvSpPr>
        <p:spPr>
          <a:xfrm>
            <a:off x="4769182" y="6157564"/>
            <a:ext cx="2546824" cy="4494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几个端口作用是什么</a:t>
            </a:r>
          </a:p>
        </p:txBody>
      </p:sp>
    </p:spTree>
    <p:extLst>
      <p:ext uri="{BB962C8B-B14F-4D97-AF65-F5344CB8AC3E}">
        <p14:creationId xmlns:p14="http://schemas.microsoft.com/office/powerpoint/2010/main" val="170126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6" grpId="0" animBg="1"/>
      <p:bldP spid="137" grpId="0" animBg="1"/>
      <p:bldP spid="141" grpId="0" animBg="1"/>
      <p:bldP spid="134" grpId="0" animBg="1"/>
      <p:bldP spid="135" grpId="0" animBg="1"/>
      <p:bldP spid="142" grpId="0"/>
      <p:bldP spid="143" grpId="0"/>
      <p:bldP spid="144" grpId="0"/>
      <p:bldP spid="145" grpId="0" animBg="1"/>
      <p:bldP spid="1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67545"/>
            <a:ext cx="6912768" cy="56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编程结构：端口地址与寄存器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18197" y="2035917"/>
            <a:ext cx="2639880" cy="125745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端口号的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A0A1</a:t>
            </a: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88024" y="1412776"/>
            <a:ext cx="3751630" cy="245993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59334" y="1631435"/>
            <a:ext cx="2688712" cy="80111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计数初值寄存器</a:t>
            </a:r>
          </a:p>
        </p:txBody>
      </p:sp>
      <p:sp>
        <p:nvSpPr>
          <p:cNvPr id="19" name="矩形 18"/>
          <p:cNvSpPr/>
          <p:nvPr/>
        </p:nvSpPr>
        <p:spPr>
          <a:xfrm>
            <a:off x="5659334" y="2495531"/>
            <a:ext cx="2688712" cy="80111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输出锁存寄存器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当前计数器的值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7"/>
          <p:cNvSpPr txBox="1"/>
          <p:nvPr/>
        </p:nvSpPr>
        <p:spPr>
          <a:xfrm>
            <a:off x="4788024" y="1750198"/>
            <a:ext cx="943318" cy="58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17"/>
          <p:cNvSpPr txBox="1"/>
          <p:nvPr/>
        </p:nvSpPr>
        <p:spPr>
          <a:xfrm>
            <a:off x="4788024" y="2640793"/>
            <a:ext cx="943318" cy="58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读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7584" y="1412776"/>
            <a:ext cx="3126680" cy="245993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左右箭头 27"/>
          <p:cNvSpPr/>
          <p:nvPr/>
        </p:nvSpPr>
        <p:spPr>
          <a:xfrm>
            <a:off x="3972629" y="2475705"/>
            <a:ext cx="798007" cy="377881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141504" y="4523495"/>
            <a:ext cx="2639880" cy="90508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端口号的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A0A1=11</a:t>
            </a:r>
          </a:p>
        </p:txBody>
      </p:sp>
      <p:sp>
        <p:nvSpPr>
          <p:cNvPr id="31" name="矩形 30"/>
          <p:cNvSpPr/>
          <p:nvPr/>
        </p:nvSpPr>
        <p:spPr>
          <a:xfrm>
            <a:off x="4788024" y="4293096"/>
            <a:ext cx="3751630" cy="136476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686718" y="4523495"/>
            <a:ext cx="2688712" cy="80111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</a:p>
        </p:txBody>
      </p:sp>
      <p:sp>
        <p:nvSpPr>
          <p:cNvPr id="34" name="TextBox 17"/>
          <p:cNvSpPr txBox="1"/>
          <p:nvPr/>
        </p:nvSpPr>
        <p:spPr>
          <a:xfrm>
            <a:off x="4788024" y="4642258"/>
            <a:ext cx="943318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只写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27584" y="4293096"/>
            <a:ext cx="3126680" cy="136476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右箭头 37"/>
          <p:cNvSpPr/>
          <p:nvPr/>
        </p:nvSpPr>
        <p:spPr>
          <a:xfrm>
            <a:off x="4036137" y="4760424"/>
            <a:ext cx="705651" cy="43011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5010840" y="3368650"/>
            <a:ext cx="2448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相应计数器</a:t>
            </a:r>
            <a:r>
              <a:rPr lang="en-US" altLang="zh-CN" sz="24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0~2</a:t>
            </a:r>
            <a:endParaRPr lang="zh-CN" altLang="en-US" sz="2400" dirty="0">
              <a:solidFill>
                <a:srgbClr val="FF3255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99592" y="6021288"/>
            <a:ext cx="6408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定时和计数需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写入计数器初值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，计数需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读出计数器的值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7683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9631" y="2771363"/>
            <a:ext cx="7345027" cy="73843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8253</a:t>
            </a:r>
            <a:r>
              <a:rPr lang="zh-CN" altLang="en-US" sz="2000" b="1" dirty="0">
                <a:ea typeface="微软雅黑" panose="020B0503020204020204" pitchFamily="34" charset="-122"/>
              </a:rPr>
              <a:t>每个计数通道与外设接口有哪些信号线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，每个信号线的用途是什么？</a:t>
            </a:r>
          </a:p>
        </p:txBody>
      </p:sp>
      <p:sp>
        <p:nvSpPr>
          <p:cNvPr id="7" name="矩形 6"/>
          <p:cNvSpPr/>
          <p:nvPr/>
        </p:nvSpPr>
        <p:spPr>
          <a:xfrm>
            <a:off x="1259632" y="3635459"/>
            <a:ext cx="7345028" cy="94566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8253</a:t>
            </a:r>
            <a:r>
              <a:rPr lang="zh-CN" altLang="en-US" sz="2000" b="1" dirty="0">
                <a:ea typeface="微软雅黑" panose="020B0503020204020204" pitchFamily="34" charset="-122"/>
              </a:rPr>
              <a:t>占用几个端口？各个端口分别对应什么？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59420" y="1744898"/>
            <a:ext cx="7345028" cy="88244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8253</a:t>
            </a:r>
            <a:r>
              <a:rPr lang="zh-CN" altLang="en-US" sz="2000" b="1" dirty="0">
                <a:ea typeface="微软雅黑" panose="020B0503020204020204" pitchFamily="34" charset="-122"/>
              </a:rPr>
              <a:t>有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个定时通道，每个计数器是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位计数。每个计数器是加一计数还是</a:t>
            </a:r>
            <a:r>
              <a:rPr lang="zh-CN" altLang="en-US" sz="2000" b="1" dirty="0">
                <a:solidFill>
                  <a:srgbClr val="FFFF00"/>
                </a:solidFill>
                <a:ea typeface="微软雅黑" panose="020B0503020204020204" pitchFamily="34" charset="-122"/>
              </a:rPr>
              <a:t>减一</a:t>
            </a:r>
            <a:r>
              <a:rPr lang="zh-CN" altLang="en-US" sz="2000" b="1" dirty="0">
                <a:ea typeface="微软雅黑" panose="020B0503020204020204" pitchFamily="34" charset="-122"/>
              </a:rPr>
              <a:t>计数？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3568" y="1744898"/>
            <a:ext cx="538872" cy="8824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568" y="2771362"/>
            <a:ext cx="538872" cy="7384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3568" y="3635458"/>
            <a:ext cx="538872" cy="9456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0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18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控制字格式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工作方式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控制字和工作方式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0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65267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SC1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401371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SC0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337475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RW1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273579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RW0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145787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M1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81891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M0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017995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BCD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209683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M2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971600" y="292494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450043" y="2276872"/>
            <a:ext cx="0" cy="504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283" y="2276872"/>
            <a:ext cx="0" cy="119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833419" y="2279802"/>
            <a:ext cx="0" cy="645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250967"/>
              </p:ext>
            </p:extLst>
          </p:nvPr>
        </p:nvGraphicFramePr>
        <p:xfrm>
          <a:off x="338349" y="3501008"/>
          <a:ext cx="207113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950">
                  <a:extLst>
                    <a:ext uri="{9D8B030D-6E8A-4147-A177-3AD203B41FA5}">
                      <a16:colId xmlns:a16="http://schemas.microsoft.com/office/drawing/2014/main" xmlns="" val="300892345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146483291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xmlns="" val="2776193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选计数器</a:t>
                      </a:r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316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选计数器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320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选计数器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7535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无意义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77660155"/>
                  </a:ext>
                </a:extLst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6660232" y="2689234"/>
            <a:ext cx="2376264" cy="63834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：计数值为</a:t>
            </a:r>
            <a:r>
              <a:rPr lang="en-US" altLang="zh-CN" sz="1600" dirty="0">
                <a:ea typeface="微软雅黑" panose="020B0503020204020204" pitchFamily="34" charset="-122"/>
              </a:rPr>
              <a:t>BCD</a:t>
            </a:r>
            <a:r>
              <a:rPr lang="zh-CN" altLang="en-US" sz="1600" dirty="0">
                <a:ea typeface="微软雅黑" panose="020B0503020204020204" pitchFamily="34" charset="-122"/>
              </a:rPr>
              <a:t>码格式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：计数值为二进制格式</a:t>
            </a:r>
          </a:p>
        </p:txBody>
      </p:sp>
      <p:cxnSp>
        <p:nvCxnSpPr>
          <p:cNvPr id="23" name="直接连接符 2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控制字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971600" y="2924944"/>
            <a:ext cx="8618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783066" y="2280691"/>
            <a:ext cx="0" cy="1220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722585"/>
              </p:ext>
            </p:extLst>
          </p:nvPr>
        </p:nvGraphicFramePr>
        <p:xfrm>
          <a:off x="2625506" y="3501008"/>
          <a:ext cx="24753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829">
                  <a:extLst>
                    <a:ext uri="{9D8B030D-6E8A-4147-A177-3AD203B41FA5}">
                      <a16:colId xmlns:a16="http://schemas.microsoft.com/office/drawing/2014/main" xmlns="" val="3008923453"/>
                    </a:ext>
                  </a:extLst>
                </a:gridCol>
                <a:gridCol w="429858">
                  <a:extLst>
                    <a:ext uri="{9D8B030D-6E8A-4147-A177-3AD203B41FA5}">
                      <a16:colId xmlns:a16="http://schemas.microsoft.com/office/drawing/2014/main" xmlns="" val="1464832919"/>
                    </a:ext>
                  </a:extLst>
                </a:gridCol>
                <a:gridCol w="1529672">
                  <a:extLst>
                    <a:ext uri="{9D8B030D-6E8A-4147-A177-3AD203B41FA5}">
                      <a16:colId xmlns:a16="http://schemas.microsoft.com/office/drawing/2014/main" xmlns="" val="2776193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对计数器进行锁存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7316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只读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写低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位字节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320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只读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写高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位字节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7535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先读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写低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位字节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再读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写高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位字节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377660155"/>
                  </a:ext>
                </a:extLst>
              </a:tr>
            </a:tbl>
          </a:graphicData>
        </a:graphic>
      </p:graphicFrame>
      <p:cxnSp>
        <p:nvCxnSpPr>
          <p:cNvPr id="41" name="直接连接符 40"/>
          <p:cNvCxnSpPr/>
          <p:nvPr/>
        </p:nvCxnSpPr>
        <p:spPr>
          <a:xfrm>
            <a:off x="3777635" y="2279802"/>
            <a:ext cx="0" cy="645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347864" y="2924944"/>
            <a:ext cx="4297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347864" y="292494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698817" y="2249550"/>
            <a:ext cx="0" cy="891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511657" y="2249550"/>
            <a:ext cx="67" cy="675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endCxn id="51" idx="0"/>
          </p:cNvCxnSpPr>
          <p:nvPr/>
        </p:nvCxnSpPr>
        <p:spPr>
          <a:xfrm>
            <a:off x="6513939" y="2279802"/>
            <a:ext cx="11841" cy="1229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860433"/>
              </p:ext>
            </p:extLst>
          </p:nvPr>
        </p:nvGraphicFramePr>
        <p:xfrm>
          <a:off x="5313486" y="3509558"/>
          <a:ext cx="242458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373">
                  <a:extLst>
                    <a:ext uri="{9D8B030D-6E8A-4147-A177-3AD203B41FA5}">
                      <a16:colId xmlns:a16="http://schemas.microsoft.com/office/drawing/2014/main" xmlns="" val="300892345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146483291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94214827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776193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模式</a:t>
                      </a:r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316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320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7535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7766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44190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5500340"/>
                  </a:ext>
                </a:extLst>
              </a:tr>
            </a:tbl>
          </a:graphicData>
        </a:graphic>
      </p:graphicFrame>
      <p:cxnSp>
        <p:nvCxnSpPr>
          <p:cNvPr id="60" name="直接连接符 59"/>
          <p:cNvCxnSpPr/>
          <p:nvPr/>
        </p:nvCxnSpPr>
        <p:spPr>
          <a:xfrm>
            <a:off x="5511657" y="2924944"/>
            <a:ext cx="525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029719" y="293349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4698817" y="3140968"/>
            <a:ext cx="8128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5511657" y="3145602"/>
            <a:ext cx="0" cy="363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214237" y="2498029"/>
            <a:ext cx="2373987" cy="83366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sz="2200" b="1" dirty="0">
                <a:ea typeface="微软雅黑" panose="020B0503020204020204" pitchFamily="34" charset="-122"/>
              </a:rPr>
              <a:t>设定十进制或二进制计数方式。</a:t>
            </a:r>
            <a:endParaRPr lang="en-US" altLang="zh-CN" sz="2200" b="1" dirty="0">
              <a:solidFill>
                <a:srgbClr val="FFFF00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436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3" grpId="0" animBg="1"/>
      <p:bldP spid="3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控制字的解读：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RW1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RW0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6"/>
          <p:cNvSpPr/>
          <p:nvPr/>
        </p:nvSpPr>
        <p:spPr>
          <a:xfrm>
            <a:off x="2694902" y="2708920"/>
            <a:ext cx="5909546" cy="129614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设定计数器的计数初值写入或计数值的读取方法。</a:t>
            </a:r>
            <a:r>
              <a:rPr lang="zh-CN" altLang="en-US" sz="2400" b="1" dirty="0">
                <a:solidFill>
                  <a:srgbClr val="FFFF00"/>
                </a:solidFill>
                <a:ea typeface="微软雅黑" panose="020B0503020204020204" pitchFamily="34" charset="-122"/>
              </a:rPr>
              <a:t>为什么要这么设计？解决</a:t>
            </a:r>
            <a:r>
              <a:rPr lang="en-US" altLang="zh-CN" sz="2400" b="1" dirty="0">
                <a:solidFill>
                  <a:srgbClr val="FFFF00"/>
                </a:solidFill>
                <a:ea typeface="微软雅黑" panose="020B0503020204020204" pitchFamily="34" charset="-122"/>
              </a:rPr>
              <a:t>16</a:t>
            </a:r>
            <a:r>
              <a:rPr lang="zh-CN" altLang="en-US" sz="2400" b="1" dirty="0">
                <a:solidFill>
                  <a:srgbClr val="FFFF00"/>
                </a:solidFill>
                <a:ea typeface="微软雅黑" panose="020B0503020204020204" pitchFamily="34" charset="-122"/>
              </a:rPr>
              <a:t>位计数器，而每个计数器只有一个端口的问题。</a:t>
            </a:r>
          </a:p>
        </p:txBody>
      </p:sp>
      <p:sp>
        <p:nvSpPr>
          <p:cNvPr id="8" name="矩形 7"/>
          <p:cNvSpPr/>
          <p:nvPr/>
        </p:nvSpPr>
        <p:spPr>
          <a:xfrm>
            <a:off x="755576" y="2708920"/>
            <a:ext cx="1939326" cy="1296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0     1</a:t>
            </a:r>
          </a:p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1     0</a:t>
            </a:r>
          </a:p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1     1</a:t>
            </a:r>
          </a:p>
        </p:txBody>
      </p:sp>
      <p:sp>
        <p:nvSpPr>
          <p:cNvPr id="9" name="矩形 8"/>
          <p:cNvSpPr/>
          <p:nvPr/>
        </p:nvSpPr>
        <p:spPr>
          <a:xfrm>
            <a:off x="2694902" y="1484784"/>
            <a:ext cx="5909546" cy="10801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对某个（高两位决定）计数器发出的锁存命令，此时控制字的低四位无用。</a:t>
            </a:r>
          </a:p>
        </p:txBody>
      </p:sp>
      <p:sp>
        <p:nvSpPr>
          <p:cNvPr id="10" name="矩形 9"/>
          <p:cNvSpPr/>
          <p:nvPr/>
        </p:nvSpPr>
        <p:spPr>
          <a:xfrm>
            <a:off x="755576" y="1484784"/>
            <a:ext cx="1939326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0     0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755576" y="4215182"/>
            <a:ext cx="7848872" cy="180610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47479" y="4329838"/>
            <a:ext cx="968358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9"/>
          <p:cNvSpPr txBox="1"/>
          <p:nvPr/>
        </p:nvSpPr>
        <p:spPr>
          <a:xfrm>
            <a:off x="988342" y="4281361"/>
            <a:ext cx="461665" cy="10198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注意</a:t>
            </a:r>
          </a:p>
        </p:txBody>
      </p:sp>
      <p:sp>
        <p:nvSpPr>
          <p:cNvPr id="14" name="TextBox 17"/>
          <p:cNvSpPr txBox="1"/>
          <p:nvPr/>
        </p:nvSpPr>
        <p:spPr>
          <a:xfrm>
            <a:off x="1692564" y="4221088"/>
            <a:ext cx="669586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若控制字里规定只写低八位，则写入低八位，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高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位自动置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；若只写高八位，则写入高八位，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低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位自动置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若是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位计数值，则分两次写入，先写入低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位，再写入高八位。（读取也需要分两次）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890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控制字的解读：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计数方式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6"/>
          <p:cNvSpPr/>
          <p:nvPr/>
        </p:nvSpPr>
        <p:spPr>
          <a:xfrm>
            <a:off x="2694902" y="2690128"/>
            <a:ext cx="5909546" cy="88288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采用二进制减法计数。</a:t>
            </a:r>
          </a:p>
        </p:txBody>
      </p:sp>
      <p:sp>
        <p:nvSpPr>
          <p:cNvPr id="8" name="矩形 7"/>
          <p:cNvSpPr/>
          <p:nvPr/>
        </p:nvSpPr>
        <p:spPr>
          <a:xfrm>
            <a:off x="755576" y="2690128"/>
            <a:ext cx="1939326" cy="8828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二进制计数</a:t>
            </a:r>
            <a:endParaRPr lang="en-US" altLang="zh-CN" sz="2400" b="1" dirty="0"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94902" y="1700808"/>
            <a:ext cx="5909546" cy="84530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十进制计数：实现方法采用</a:t>
            </a:r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减法计数。</a:t>
            </a:r>
          </a:p>
        </p:txBody>
      </p:sp>
      <p:sp>
        <p:nvSpPr>
          <p:cNvPr id="10" name="矩形 9"/>
          <p:cNvSpPr/>
          <p:nvPr/>
        </p:nvSpPr>
        <p:spPr>
          <a:xfrm>
            <a:off x="755576" y="1700808"/>
            <a:ext cx="1939326" cy="84530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计数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755576" y="4130590"/>
            <a:ext cx="7848872" cy="156966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56950" y="4235775"/>
            <a:ext cx="949416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9"/>
          <p:cNvSpPr txBox="1"/>
          <p:nvPr/>
        </p:nvSpPr>
        <p:spPr>
          <a:xfrm>
            <a:off x="988342" y="4196769"/>
            <a:ext cx="461665" cy="9998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564" y="4305597"/>
            <a:ext cx="6695860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的减一计数规则：先减一再判断是否为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若以二进制计数，最大计数次数是多少？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若以十进制计数，最大计数次数是多少？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732240" y="4797152"/>
            <a:ext cx="1406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b="1" baseline="30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=65536</a:t>
            </a:r>
            <a:endParaRPr lang="zh-CN" altLang="en-US" dirty="0">
              <a:solidFill>
                <a:srgbClr val="FF3255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732240" y="5196667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en-US" altLang="zh-CN" b="1" baseline="30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=10000</a:t>
            </a:r>
            <a:endParaRPr lang="zh-CN" altLang="en-US" dirty="0">
              <a:solidFill>
                <a:srgbClr val="FF32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69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5" grpId="0" animBg="1"/>
      <p:bldP spid="17" grpId="0"/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的初始化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/>
          <p:nvPr/>
        </p:nvSpPr>
        <p:spPr>
          <a:xfrm>
            <a:off x="2694902" y="3212976"/>
            <a:ext cx="5909546" cy="10801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计数初始值经由各计数器的端口地址写入。</a:t>
            </a:r>
          </a:p>
        </p:txBody>
      </p:sp>
      <p:sp>
        <p:nvSpPr>
          <p:cNvPr id="10" name="矩形 9"/>
          <p:cNvSpPr/>
          <p:nvPr/>
        </p:nvSpPr>
        <p:spPr>
          <a:xfrm>
            <a:off x="720080" y="3212976"/>
            <a:ext cx="1974822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写入计数初始值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94902" y="1772816"/>
            <a:ext cx="5909546" cy="108012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任一计数器的控制字都要从控制口写入，控制哪个计数器由控制字的</a:t>
            </a:r>
            <a:r>
              <a:rPr lang="en-US" altLang="zh-CN" sz="2400" b="1" dirty="0">
                <a:ea typeface="微软雅黑" panose="020B0503020204020204" pitchFamily="34" charset="-122"/>
              </a:rPr>
              <a:t>D7D6</a:t>
            </a:r>
            <a:r>
              <a:rPr lang="zh-CN" altLang="en-US" sz="2400" b="1" dirty="0">
                <a:ea typeface="微软雅黑" panose="020B0503020204020204" pitchFamily="34" charset="-122"/>
              </a:rPr>
              <a:t>位来决定。</a:t>
            </a:r>
          </a:p>
        </p:txBody>
      </p:sp>
      <p:sp>
        <p:nvSpPr>
          <p:cNvPr id="12" name="矩形 11"/>
          <p:cNvSpPr/>
          <p:nvPr/>
        </p:nvSpPr>
        <p:spPr>
          <a:xfrm>
            <a:off x="720080" y="1772816"/>
            <a:ext cx="1974822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写入控制字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5735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23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控制字格式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工作方式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控制字和工作方式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939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的工作过程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TextBox 17"/>
          <p:cNvSpPr txBox="1"/>
          <p:nvPr/>
        </p:nvSpPr>
        <p:spPr>
          <a:xfrm>
            <a:off x="827584" y="1334365"/>
            <a:ext cx="7776864" cy="4758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的工作方式：</a:t>
            </a:r>
            <a:endParaRPr lang="en-US" altLang="zh-CN" sz="2400" b="1" dirty="0">
              <a:solidFill>
                <a:srgbClr val="FD7A2A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33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此时，全部控制逻辑电路复位，输出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为初始状态（高电平或低电平）；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设置计数初值到初值寄存器，第一个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信号使初值寄存器的内容置入计数寄存器。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以后每来一个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信号：</a:t>
            </a:r>
            <a:endParaRPr lang="en-US" altLang="zh-CN" sz="2400" b="1" dirty="0">
              <a:solidFill>
                <a:srgbClr val="FD7A2A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33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的上升沿时，计数器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对门控信号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进行采样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，来决定工作状态（计数、触发、停止、重新置初值）；</a:t>
            </a:r>
          </a:p>
          <a:p>
            <a:pPr marL="800100" lvl="1" indent="-342900">
              <a:lnSpc>
                <a:spcPct val="133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的下降沿时，计数器执行部件从初值开始作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减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计数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lvl="1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减到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端输出一特殊波形的信号。</a:t>
            </a:r>
            <a:endParaRPr lang="en-US" altLang="zh-CN" sz="2400" b="1" dirty="0">
              <a:solidFill>
                <a:srgbClr val="FD7A2A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810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：计数结束产生中断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683568" y="20993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1043608" y="209935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43608" y="2458528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2843808" y="209848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2843808" y="2098488"/>
            <a:ext cx="39815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83568" y="2745692"/>
            <a:ext cx="3780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等腰三角形 69"/>
          <p:cNvSpPr/>
          <p:nvPr/>
        </p:nvSpPr>
        <p:spPr>
          <a:xfrm>
            <a:off x="3113838" y="154625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/>
          <p:cNvSpPr/>
          <p:nvPr/>
        </p:nvSpPr>
        <p:spPr>
          <a:xfrm rot="10800000">
            <a:off x="3473877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 rot="10800000">
            <a:off x="5622183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 rot="10800000">
            <a:off x="6346558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7074278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0800000">
            <a:off x="7794358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 rot="10800000">
            <a:off x="8514438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/>
          <p:cNvCxnSpPr/>
          <p:nvPr/>
        </p:nvCxnSpPr>
        <p:spPr>
          <a:xfrm flipV="1">
            <a:off x="4463988" y="274656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4463988" y="3105732"/>
            <a:ext cx="1044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5508104" y="274569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508104" y="2745692"/>
            <a:ext cx="32763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83568" y="3754672"/>
            <a:ext cx="7920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8616383" y="339463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8604448" y="3394632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3"/>
          <p:cNvSpPr>
            <a:spLocks noChangeArrowheads="1"/>
          </p:cNvSpPr>
          <p:nvPr/>
        </p:nvSpPr>
        <p:spPr bwMode="auto">
          <a:xfrm>
            <a:off x="3275856" y="3223695"/>
            <a:ext cx="360040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3563887" y="1810456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4283968" y="1815040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5724128" y="1852068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8616383" y="1810456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3"/>
          <p:cNvSpPr>
            <a:spLocks noChangeArrowheads="1"/>
          </p:cNvSpPr>
          <p:nvPr/>
        </p:nvSpPr>
        <p:spPr bwMode="auto">
          <a:xfrm>
            <a:off x="4043054" y="3223695"/>
            <a:ext cx="384930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矩形 3"/>
          <p:cNvSpPr>
            <a:spLocks noChangeArrowheads="1"/>
          </p:cNvSpPr>
          <p:nvPr/>
        </p:nvSpPr>
        <p:spPr bwMode="auto">
          <a:xfrm>
            <a:off x="5436096" y="322369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6230137" y="322369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918716" y="3226100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7645869" y="322369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8373022" y="3217744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" name="矩形 3"/>
          <p:cNvSpPr>
            <a:spLocks noChangeArrowheads="1"/>
          </p:cNvSpPr>
          <p:nvPr/>
        </p:nvSpPr>
        <p:spPr bwMode="auto">
          <a:xfrm>
            <a:off x="158445" y="2041485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44016" y="2753628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333936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845274"/>
            <a:ext cx="8546193" cy="230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GATE=1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写入控制字，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端输出低电平为起始电平，装入计数初值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写信号后沿经一个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装入计数初值，每过一个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下降沿计数器减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n=0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时计数结束，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由低电平变为高电平并保持，不开始重新计数。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GATE=0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停止计数，直至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恢复高电平，再继续计数。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1354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817971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变低电平，计数结束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输出高电平。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4021303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端应保持高电平。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628800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软件启动，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不自动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重复计数。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628800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817970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4021302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068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148064" y="1772816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01110000B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148064" y="223054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5148064" y="2660429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0F5H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5148064" y="3132374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5148064" y="354532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0FH</a:t>
            </a:r>
          </a:p>
        </p:txBody>
      </p:sp>
      <p:sp>
        <p:nvSpPr>
          <p:cNvPr id="31" name="矩形 3"/>
          <p:cNvSpPr>
            <a:spLocks noChangeArrowheads="1"/>
          </p:cNvSpPr>
          <p:nvPr/>
        </p:nvSpPr>
        <p:spPr bwMode="auto">
          <a:xfrm>
            <a:off x="5148064" y="3991990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693824" y="1484784"/>
            <a:ext cx="3601889" cy="3530903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端口地址范围是：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40H~43H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使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号计数器工作在方式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，计数初值为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0FF5H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，二进制计数。写出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的初始化程序。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746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1" grpId="0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：可编程单稳态触发器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683568" y="20993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1043608" y="209935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43608" y="2458528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2843808" y="209848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2843808" y="2098488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86895" y="3105732"/>
            <a:ext cx="2430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等腰三角形 69"/>
          <p:cNvSpPr/>
          <p:nvPr/>
        </p:nvSpPr>
        <p:spPr>
          <a:xfrm>
            <a:off x="3113838" y="154625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/>
          <p:cNvSpPr/>
          <p:nvPr/>
        </p:nvSpPr>
        <p:spPr>
          <a:xfrm rot="10800000">
            <a:off x="3473877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 rot="10800000">
            <a:off x="5631311" y="1558426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 rot="10800000">
            <a:off x="6346558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4914037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/>
          <p:cNvCxnSpPr/>
          <p:nvPr/>
        </p:nvCxnSpPr>
        <p:spPr>
          <a:xfrm flipV="1">
            <a:off x="3113838" y="274569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3113838" y="2750872"/>
            <a:ext cx="2106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5220072" y="275362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220072" y="3113668"/>
            <a:ext cx="3672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83568" y="3397111"/>
            <a:ext cx="2880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3563888" y="339463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3563887" y="3756066"/>
            <a:ext cx="2872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3563887" y="1810456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4283968" y="1815040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6444208" y="1852068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3"/>
          <p:cNvSpPr>
            <a:spLocks noChangeArrowheads="1"/>
          </p:cNvSpPr>
          <p:nvPr/>
        </p:nvSpPr>
        <p:spPr bwMode="auto">
          <a:xfrm>
            <a:off x="3059832" y="3265883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3779912" y="3263478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4572000" y="3265883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5220072" y="3263478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5940152" y="3257527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" name="矩形 3"/>
          <p:cNvSpPr>
            <a:spLocks noChangeArrowheads="1"/>
          </p:cNvSpPr>
          <p:nvPr/>
        </p:nvSpPr>
        <p:spPr bwMode="auto">
          <a:xfrm>
            <a:off x="158445" y="2041485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44016" y="2753628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333936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845274"/>
            <a:ext cx="8546193" cy="230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计数过程中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仅有一个上升沿：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写入控制字，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端输出高电平为起始电平。装入计数初值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后，必须等待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的上升沿来后才转入计数，这时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变低，开始计数，每一个计数脉冲，计数器值减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计数到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变成高电平，负脉冲结束，脉冲宽度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tc×n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tc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为时钟周期）。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在计数过程中，若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变低，不影响计数。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 flipV="1">
            <a:off x="6436568" y="339463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6436568" y="3396610"/>
            <a:ext cx="2455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等腰三角形 111"/>
          <p:cNvSpPr/>
          <p:nvPr/>
        </p:nvSpPr>
        <p:spPr>
          <a:xfrm>
            <a:off x="3020555" y="285370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98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：可编程单稳态触发器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86895" y="2490634"/>
            <a:ext cx="2178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等腰三角形 70"/>
          <p:cNvSpPr/>
          <p:nvPr/>
        </p:nvSpPr>
        <p:spPr>
          <a:xfrm rot="10800000">
            <a:off x="3473877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 rot="10800000">
            <a:off x="5631311" y="1558426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 rot="10800000">
            <a:off x="6346558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/>
          <p:cNvCxnSpPr/>
          <p:nvPr/>
        </p:nvCxnSpPr>
        <p:spPr>
          <a:xfrm flipV="1">
            <a:off x="2865083" y="213059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2865083" y="2135774"/>
            <a:ext cx="1058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3923928" y="213853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3923928" y="2505084"/>
            <a:ext cx="1024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83568" y="2854021"/>
            <a:ext cx="2880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3563888" y="285154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3563887" y="3212976"/>
            <a:ext cx="5040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3563887" y="1810456"/>
            <a:ext cx="0" cy="1474528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5724128" y="1842715"/>
            <a:ext cx="0" cy="1442269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6444208" y="1852068"/>
            <a:ext cx="0" cy="1432916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3"/>
          <p:cNvSpPr>
            <a:spLocks noChangeArrowheads="1"/>
          </p:cNvSpPr>
          <p:nvPr/>
        </p:nvSpPr>
        <p:spPr bwMode="auto">
          <a:xfrm>
            <a:off x="3275856" y="2722793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4067944" y="2720388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4788024" y="2722793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7668344" y="2720388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8388424" y="2714437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44016" y="213853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279627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790358"/>
            <a:ext cx="8546193" cy="230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计数过程中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不止产生一个上升沿：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在计数过程中，若再次产生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的上升沿触发，则要重新装入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值。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在触发脉冲上升沿之后的一个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脉冲的下降沿，计数器重新开始计数。可以通过该方法改变脉冲的宽度。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如果是计数结束后，再次产生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的上升沿触发，则重新装入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值计数。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 flipV="1">
            <a:off x="8604448" y="285154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604448" y="2853520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等腰三角形 111"/>
          <p:cNvSpPr/>
          <p:nvPr/>
        </p:nvSpPr>
        <p:spPr>
          <a:xfrm>
            <a:off x="2771800" y="2238606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直接连接符 90"/>
          <p:cNvCxnSpPr/>
          <p:nvPr/>
        </p:nvCxnSpPr>
        <p:spPr>
          <a:xfrm flipV="1">
            <a:off x="4948111" y="2137108"/>
            <a:ext cx="0" cy="367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4948111" y="2138530"/>
            <a:ext cx="40163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3"/>
          <p:cNvSpPr>
            <a:spLocks noChangeArrowheads="1"/>
          </p:cNvSpPr>
          <p:nvPr/>
        </p:nvSpPr>
        <p:spPr bwMode="auto">
          <a:xfrm>
            <a:off x="5508104" y="2743652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矩形 3"/>
          <p:cNvSpPr>
            <a:spLocks noChangeArrowheads="1"/>
          </p:cNvSpPr>
          <p:nvPr/>
        </p:nvSpPr>
        <p:spPr bwMode="auto">
          <a:xfrm>
            <a:off x="6228184" y="2741247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7" name="矩形 3"/>
          <p:cNvSpPr>
            <a:spLocks noChangeArrowheads="1"/>
          </p:cNvSpPr>
          <p:nvPr/>
        </p:nvSpPr>
        <p:spPr bwMode="auto">
          <a:xfrm>
            <a:off x="6948264" y="2743652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等腰三角形 81"/>
          <p:cNvSpPr/>
          <p:nvPr/>
        </p:nvSpPr>
        <p:spPr>
          <a:xfrm>
            <a:off x="4860032" y="227687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102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740964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端变高电平，计数开始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端变为低电平，计数结束后又变高。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944296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再次上升沿触发，则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端负脉冲拉宽为两次计数过程之和。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551793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门控信号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的上升沿启动计数（硬件启动），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的跳变可重复触发计数。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551793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740963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944295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91256" y="5147627"/>
            <a:ext cx="6408924" cy="8736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计数过程中写入新初值不影响本次计数。下次触发在装入新的初值。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191" y="514762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344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148064" y="1772816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01110011B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148064" y="223054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5148064" y="2660429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0H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5148064" y="3132374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5148064" y="354532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10H</a:t>
            </a:r>
          </a:p>
        </p:txBody>
      </p:sp>
      <p:sp>
        <p:nvSpPr>
          <p:cNvPr id="31" name="矩形 3"/>
          <p:cNvSpPr>
            <a:spLocks noChangeArrowheads="1"/>
          </p:cNvSpPr>
          <p:nvPr/>
        </p:nvSpPr>
        <p:spPr bwMode="auto">
          <a:xfrm>
            <a:off x="5148064" y="3991990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689616" y="1709335"/>
            <a:ext cx="3601889" cy="3039678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时钟为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2MHz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号计数器产生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500</a:t>
            </a:r>
            <a:r>
              <a:rPr lang="el-GR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μ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的负脉冲。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写出初始化程序。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500/0.5 = 1000</a:t>
            </a:r>
          </a:p>
        </p:txBody>
      </p:sp>
    </p:spTree>
    <p:extLst>
      <p:ext uri="{BB962C8B-B14F-4D97-AF65-F5344CB8AC3E}">
        <p14:creationId xmlns:p14="http://schemas.microsoft.com/office/powerpoint/2010/main" val="45824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1" grpId="0"/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：分频器（矩形波）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683568" y="20993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1043608" y="209935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1043608" y="2456792"/>
            <a:ext cx="864096" cy="1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1907704" y="209848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907704" y="2098488"/>
            <a:ext cx="5616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等腰三角形 70"/>
          <p:cNvSpPr/>
          <p:nvPr/>
        </p:nvSpPr>
        <p:spPr>
          <a:xfrm rot="10800000">
            <a:off x="3473877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4914037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连接符 84"/>
          <p:cNvCxnSpPr/>
          <p:nvPr/>
        </p:nvCxnSpPr>
        <p:spPr>
          <a:xfrm flipV="1">
            <a:off x="683568" y="2918033"/>
            <a:ext cx="3600400" cy="2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4283968" y="291803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2123728" y="1810456"/>
            <a:ext cx="0" cy="1546536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4283967" y="1815040"/>
            <a:ext cx="1" cy="1541952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H="1">
            <a:off x="7164287" y="1852068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3"/>
          <p:cNvSpPr>
            <a:spLocks noChangeArrowheads="1"/>
          </p:cNvSpPr>
          <p:nvPr/>
        </p:nvSpPr>
        <p:spPr bwMode="auto">
          <a:xfrm>
            <a:off x="1799229" y="2792118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2555776" y="283383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3284857" y="2833835"/>
            <a:ext cx="342037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4067944" y="2786879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4720511" y="2785241"/>
            <a:ext cx="355545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" name="矩形 3"/>
          <p:cNvSpPr>
            <a:spLocks noChangeArrowheads="1"/>
          </p:cNvSpPr>
          <p:nvPr/>
        </p:nvSpPr>
        <p:spPr bwMode="auto">
          <a:xfrm>
            <a:off x="158445" y="2041485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294168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789040"/>
            <a:ext cx="8546193" cy="230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GATE=1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时：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写入控制字，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端输出高电平为起始电平，装入计数初值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每一个计数脉冲下降沿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，当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减至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变低，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减为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变高，产生一个与时钟脉冲周期一样宽的负脉冲。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接着自动装入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连续计数，输出频率为：</a:t>
            </a:r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</a:t>
            </a:r>
            <a:r>
              <a:rPr lang="en-US" altLang="zh-CN" b="1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计数过程中，允许重新装入新的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值，下一个计数周期按新的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值计数。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 flipV="1">
            <a:off x="7884368" y="291803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7884368" y="2918033"/>
            <a:ext cx="1080120" cy="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V="1">
            <a:off x="5004048" y="2924944"/>
            <a:ext cx="216024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331640" y="2060848"/>
            <a:ext cx="312757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等腰三角形 95"/>
          <p:cNvSpPr/>
          <p:nvPr/>
        </p:nvSpPr>
        <p:spPr>
          <a:xfrm rot="10800000">
            <a:off x="2769584" y="1543739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V="1">
            <a:off x="4283968" y="292581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 flipV="1">
            <a:off x="4283967" y="3284984"/>
            <a:ext cx="720080" cy="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V="1">
            <a:off x="5004048" y="292494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V="1">
            <a:off x="7164288" y="292494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V="1">
            <a:off x="7164288" y="293272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flipV="1">
            <a:off x="7164287" y="3291895"/>
            <a:ext cx="720080" cy="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4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：分频器（矩形波）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683568" y="2098488"/>
            <a:ext cx="1800200" cy="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2483768" y="209935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2483768" y="2456792"/>
            <a:ext cx="1303691" cy="1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3779912" y="209848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3779912" y="2098488"/>
            <a:ext cx="5184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1835696" y="291803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" name="矩形 3"/>
          <p:cNvSpPr>
            <a:spLocks noChangeArrowheads="1"/>
          </p:cNvSpPr>
          <p:nvPr/>
        </p:nvSpPr>
        <p:spPr bwMode="auto">
          <a:xfrm>
            <a:off x="158445" y="2041485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294168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789040"/>
            <a:ext cx="8546193" cy="1197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GATE=0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时：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计数过程中，若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，停止计数，并强迫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输出高电平，在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变为高电平后，重新装入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值，开始计数。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0" name="直接连接符 109"/>
          <p:cNvCxnSpPr/>
          <p:nvPr/>
        </p:nvCxnSpPr>
        <p:spPr>
          <a:xfrm flipV="1">
            <a:off x="755576" y="2918033"/>
            <a:ext cx="1080120" cy="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V="1">
            <a:off x="2555776" y="2918033"/>
            <a:ext cx="3168352" cy="6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V="1">
            <a:off x="1835696" y="292581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 flipV="1">
            <a:off x="1835695" y="3284984"/>
            <a:ext cx="720080" cy="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V="1">
            <a:off x="2555776" y="292494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V="1">
            <a:off x="6444208" y="292494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V="1">
            <a:off x="5724128" y="293272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flipV="1">
            <a:off x="5724128" y="3291895"/>
            <a:ext cx="720080" cy="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flipH="1">
            <a:off x="4283967" y="1815040"/>
            <a:ext cx="1" cy="1541952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3"/>
          <p:cNvSpPr>
            <a:spLocks noChangeArrowheads="1"/>
          </p:cNvSpPr>
          <p:nvPr/>
        </p:nvSpPr>
        <p:spPr bwMode="auto">
          <a:xfrm>
            <a:off x="4060396" y="2831430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矩形 3"/>
          <p:cNvSpPr>
            <a:spLocks noChangeArrowheads="1"/>
          </p:cNvSpPr>
          <p:nvPr/>
        </p:nvSpPr>
        <p:spPr bwMode="auto">
          <a:xfrm>
            <a:off x="4780476" y="283383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矩形 3"/>
          <p:cNvSpPr>
            <a:spLocks noChangeArrowheads="1"/>
          </p:cNvSpPr>
          <p:nvPr/>
        </p:nvSpPr>
        <p:spPr bwMode="auto">
          <a:xfrm>
            <a:off x="5500556" y="2831430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6156176" y="2825479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2" name="直接连接符 111"/>
          <p:cNvCxnSpPr/>
          <p:nvPr/>
        </p:nvCxnSpPr>
        <p:spPr>
          <a:xfrm flipV="1">
            <a:off x="6444208" y="2924944"/>
            <a:ext cx="25202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702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端变高电平，计数到最后一个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输出负脉冲，并连续重复此过程。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为计数的控制信号：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变低计数停止，再变高时的下一个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下降沿，从初值开始重新计数。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软、硬件启动，自动重复计数。要求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91256" y="5080618"/>
            <a:ext cx="6408924" cy="8736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计数过程中修改初值不影响本轮计数过程，下一个计数周期按新的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值计数。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191" y="5080617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187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148064" y="2148769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01010100B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148064" y="2606494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5148064" y="3036382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50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5148064" y="3508327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689616" y="1709335"/>
            <a:ext cx="3601889" cy="3039678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时钟为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2MHz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号计数器输出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40KHz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序列负脉冲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采用二进制计数。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写出初始化程序。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2000/40 = 50</a:t>
            </a:r>
          </a:p>
        </p:txBody>
      </p:sp>
    </p:spTree>
    <p:extLst>
      <p:ext uri="{BB962C8B-B14F-4D97-AF65-F5344CB8AC3E}">
        <p14:creationId xmlns:p14="http://schemas.microsoft.com/office/powerpoint/2010/main" val="189756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：方波频率发生器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等腰三角形 70"/>
          <p:cNvSpPr/>
          <p:nvPr/>
        </p:nvSpPr>
        <p:spPr>
          <a:xfrm rot="10800000">
            <a:off x="3473877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4914037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连接符 84"/>
          <p:cNvCxnSpPr/>
          <p:nvPr/>
        </p:nvCxnSpPr>
        <p:spPr>
          <a:xfrm flipV="1">
            <a:off x="683568" y="2412143"/>
            <a:ext cx="14401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5004047" y="242348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3572892" y="1808620"/>
            <a:ext cx="1" cy="1541952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H="1">
            <a:off x="6453210" y="1773744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3"/>
          <p:cNvSpPr>
            <a:spLocks noChangeArrowheads="1"/>
          </p:cNvSpPr>
          <p:nvPr/>
        </p:nvSpPr>
        <p:spPr bwMode="auto">
          <a:xfrm>
            <a:off x="553852" y="2035983"/>
            <a:ext cx="116837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n=4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1176904" y="2369127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1855943" y="2371019"/>
            <a:ext cx="342037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2617064" y="2371019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3296104" y="2351912"/>
            <a:ext cx="355545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2433316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429000"/>
            <a:ext cx="8546193" cy="2671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GATE=1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：输出频率为：</a:t>
            </a:r>
            <a:r>
              <a:rPr lang="en-US" altLang="zh-CN" b="1" dirty="0" err="1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fclk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/n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的方波。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写入控制字后，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端输出低电平作为起始电平，装入计数值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后，变为高电平。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为偶数，每个时钟脉冲下降沿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值减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n/2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后，电平变为低电平，并继续减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，然后改变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电平，重新装入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为奇数，输出高电平宽度为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(n+1)/2,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低电平宽度为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(n-1)/2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的方波。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GATE=0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停止计数，并强迫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输出高电平，在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变高后，重新将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装入，开始计数。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0" name="直接连接符 109"/>
          <p:cNvCxnSpPr/>
          <p:nvPr/>
        </p:nvCxnSpPr>
        <p:spPr>
          <a:xfrm>
            <a:off x="6444206" y="2409664"/>
            <a:ext cx="14401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V="1">
            <a:off x="3563888" y="2416576"/>
            <a:ext cx="14401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等腰三角形 95"/>
          <p:cNvSpPr/>
          <p:nvPr/>
        </p:nvSpPr>
        <p:spPr>
          <a:xfrm rot="10800000">
            <a:off x="2769584" y="1543739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V="1">
            <a:off x="2123729" y="241744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2123728" y="2779219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V="1">
            <a:off x="3563888" y="2416575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V="1">
            <a:off x="7884369" y="2416575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V="1">
            <a:off x="7884369" y="242435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>
            <a:off x="7884368" y="2786130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5004048" y="2780928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 flipV="1">
            <a:off x="6444208" y="242088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3"/>
          <p:cNvSpPr>
            <a:spLocks noChangeArrowheads="1"/>
          </p:cNvSpPr>
          <p:nvPr/>
        </p:nvSpPr>
        <p:spPr bwMode="auto">
          <a:xfrm>
            <a:off x="3369105" y="2048439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" name="矩形 3"/>
          <p:cNvSpPr>
            <a:spLocks noChangeArrowheads="1"/>
          </p:cNvSpPr>
          <p:nvPr/>
        </p:nvSpPr>
        <p:spPr bwMode="auto">
          <a:xfrm>
            <a:off x="4042460" y="237500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6" name="矩形 3"/>
          <p:cNvSpPr>
            <a:spLocks noChangeArrowheads="1"/>
          </p:cNvSpPr>
          <p:nvPr/>
        </p:nvSpPr>
        <p:spPr bwMode="auto">
          <a:xfrm>
            <a:off x="4758773" y="2371018"/>
            <a:ext cx="342037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7" name="矩形 3"/>
          <p:cNvSpPr>
            <a:spLocks noChangeArrowheads="1"/>
          </p:cNvSpPr>
          <p:nvPr/>
        </p:nvSpPr>
        <p:spPr bwMode="auto">
          <a:xfrm>
            <a:off x="5469855" y="2377890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矩形 3"/>
          <p:cNvSpPr>
            <a:spLocks noChangeArrowheads="1"/>
          </p:cNvSpPr>
          <p:nvPr/>
        </p:nvSpPr>
        <p:spPr bwMode="auto">
          <a:xfrm>
            <a:off x="6180088" y="2351912"/>
            <a:ext cx="355545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9333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端变高电平，然后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连续输出对称方波。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N/2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为高，后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N/2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为低。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软、硬件启动，自动重复计数。要求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91256" y="5080618"/>
            <a:ext cx="6408924" cy="8736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计数中修改初值不影响本半轮计数过程，其余与方式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191" y="5080617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356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689616" y="1709335"/>
            <a:ext cx="3601889" cy="3039678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时钟为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2MHz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号计数器输出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2KHz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的方波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采用二进制计数。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写出初始化程序。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2000/2 = 1000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5148064" y="1865217"/>
            <a:ext cx="3528392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00110110B</a:t>
            </a: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5148064" y="2322942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5148064" y="2752830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1000</a:t>
            </a: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5148064" y="3224775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40H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5148064" y="3637722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AH</a:t>
            </a:r>
          </a:p>
        </p:txBody>
      </p: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5148064" y="408439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40H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981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21" grpId="0"/>
      <p:bldP spid="23" grpId="0"/>
      <p:bldP spid="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：软件触发选通脉冲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251520" y="3429000"/>
            <a:ext cx="8546193" cy="1934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GATE=1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写入控制字后，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端变为高电平，写入初始值后，计数器作减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电平保持不变。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计数器减至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端输出一个脉冲周期的负脉冲，然后停止计数，只有输入新的计数值后，才能开始新的计数。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683568" y="2046711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V="1">
            <a:off x="1043608" y="2046711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043608" y="2405883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2843808" y="204584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2843808" y="2045843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58445" y="198884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1043608" y="2708920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H="1">
            <a:off x="3563886" y="1651685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3275856" y="2348880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矩形 3"/>
          <p:cNvSpPr>
            <a:spLocks noChangeArrowheads="1"/>
          </p:cNvSpPr>
          <p:nvPr/>
        </p:nvSpPr>
        <p:spPr bwMode="auto">
          <a:xfrm>
            <a:off x="3999943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矩形 3"/>
          <p:cNvSpPr>
            <a:spLocks noChangeArrowheads="1"/>
          </p:cNvSpPr>
          <p:nvPr/>
        </p:nvSpPr>
        <p:spPr bwMode="auto">
          <a:xfrm>
            <a:off x="4678888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矩形 3"/>
          <p:cNvSpPr>
            <a:spLocks noChangeArrowheads="1"/>
          </p:cNvSpPr>
          <p:nvPr/>
        </p:nvSpPr>
        <p:spPr bwMode="auto">
          <a:xfrm>
            <a:off x="5400552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矩形 3"/>
          <p:cNvSpPr>
            <a:spLocks noChangeArrowheads="1"/>
          </p:cNvSpPr>
          <p:nvPr/>
        </p:nvSpPr>
        <p:spPr bwMode="auto">
          <a:xfrm>
            <a:off x="6203454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2" name="直接连接符 121"/>
          <p:cNvCxnSpPr/>
          <p:nvPr/>
        </p:nvCxnSpPr>
        <p:spPr>
          <a:xfrm flipV="1">
            <a:off x="6444208" y="270892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6444208" y="306809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7164288" y="270805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7164288" y="2708052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3"/>
          <p:cNvSpPr>
            <a:spLocks noChangeArrowheads="1"/>
          </p:cNvSpPr>
          <p:nvPr/>
        </p:nvSpPr>
        <p:spPr bwMode="auto">
          <a:xfrm>
            <a:off x="126902" y="2675683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cxnSp>
        <p:nvCxnSpPr>
          <p:cNvPr id="127" name="直接连接符 126"/>
          <p:cNvCxnSpPr/>
          <p:nvPr/>
        </p:nvCxnSpPr>
        <p:spPr>
          <a:xfrm flipH="1">
            <a:off x="6444206" y="1709282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6918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：软件触发选通脉冲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274279" y="4221088"/>
            <a:ext cx="8546193" cy="1197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在计数中改变：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计数过程中，若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变低电平，停止计数，在其变高后，重新将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装入，开始计数。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683568" y="2046711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V="1">
            <a:off x="1043608" y="2046711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043608" y="2405883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2843808" y="204584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2843808" y="2045843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58445" y="198884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1043608" y="3427770"/>
            <a:ext cx="6912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3275856" y="3067730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矩形 3"/>
          <p:cNvSpPr>
            <a:spLocks noChangeArrowheads="1"/>
          </p:cNvSpPr>
          <p:nvPr/>
        </p:nvSpPr>
        <p:spPr bwMode="auto">
          <a:xfrm>
            <a:off x="5428366" y="306773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矩形 3"/>
          <p:cNvSpPr>
            <a:spLocks noChangeArrowheads="1"/>
          </p:cNvSpPr>
          <p:nvPr/>
        </p:nvSpPr>
        <p:spPr bwMode="auto">
          <a:xfrm>
            <a:off x="6107311" y="306773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矩形 3"/>
          <p:cNvSpPr>
            <a:spLocks noChangeArrowheads="1"/>
          </p:cNvSpPr>
          <p:nvPr/>
        </p:nvSpPr>
        <p:spPr bwMode="auto">
          <a:xfrm>
            <a:off x="6828975" y="306773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矩形 3"/>
          <p:cNvSpPr>
            <a:spLocks noChangeArrowheads="1"/>
          </p:cNvSpPr>
          <p:nvPr/>
        </p:nvSpPr>
        <p:spPr bwMode="auto">
          <a:xfrm>
            <a:off x="7631877" y="306773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2" name="直接连接符 121"/>
          <p:cNvCxnSpPr/>
          <p:nvPr/>
        </p:nvCxnSpPr>
        <p:spPr>
          <a:xfrm flipV="1">
            <a:off x="7956376" y="342900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7956376" y="378694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8676456" y="342690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8676456" y="3426902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3"/>
          <p:cNvSpPr>
            <a:spLocks noChangeArrowheads="1"/>
          </p:cNvSpPr>
          <p:nvPr/>
        </p:nvSpPr>
        <p:spPr bwMode="auto">
          <a:xfrm>
            <a:off x="126902" y="3394533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cxnSp>
        <p:nvCxnSpPr>
          <p:cNvPr id="71" name="直接连接符 70"/>
          <p:cNvCxnSpPr/>
          <p:nvPr/>
        </p:nvCxnSpPr>
        <p:spPr>
          <a:xfrm>
            <a:off x="1043608" y="2636912"/>
            <a:ext cx="2664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3707904" y="263901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3707904" y="2996952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4716016" y="263691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4716016" y="2636912"/>
            <a:ext cx="4248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3"/>
          <p:cNvSpPr>
            <a:spLocks noChangeArrowheads="1"/>
          </p:cNvSpPr>
          <p:nvPr/>
        </p:nvSpPr>
        <p:spPr bwMode="auto">
          <a:xfrm>
            <a:off x="4679549" y="3045533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矩形 3"/>
          <p:cNvSpPr>
            <a:spLocks noChangeArrowheads="1"/>
          </p:cNvSpPr>
          <p:nvPr/>
        </p:nvSpPr>
        <p:spPr bwMode="auto">
          <a:xfrm>
            <a:off x="125971" y="2681230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</a:p>
        </p:txBody>
      </p:sp>
    </p:spTree>
    <p:extLst>
      <p:ext uri="{BB962C8B-B14F-4D97-AF65-F5344CB8AC3E}">
        <p14:creationId xmlns:p14="http://schemas.microsoft.com/office/powerpoint/2010/main" val="9668599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装入初值后输出端变高电平，计数结束输出一个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宽度的负脉冲。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端应保持高电平。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软件启动，不自动重复计数。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528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：硬件触发选通脉冲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251520" y="3429000"/>
            <a:ext cx="8546193" cy="1934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产生一个上升沿：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写入控制字后，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端变为高电平，写入初始值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后，必须等待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的上升沿触发才转入计数。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计数器减至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端输出一个脉冲周期的负脉冲。然后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值自动装入计数器，但要等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的上升沿来后才再次开始计数。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1043608" y="2405883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1763688" y="204584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1763688" y="2045843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58445" y="198884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</a:p>
        </p:txBody>
      </p:sp>
      <p:cxnSp>
        <p:nvCxnSpPr>
          <p:cNvPr id="93" name="直接连接符 92"/>
          <p:cNvCxnSpPr/>
          <p:nvPr/>
        </p:nvCxnSpPr>
        <p:spPr>
          <a:xfrm>
            <a:off x="1043608" y="2708920"/>
            <a:ext cx="396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H="1">
            <a:off x="2123726" y="1651685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835696" y="2348880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矩形 3"/>
          <p:cNvSpPr>
            <a:spLocks noChangeArrowheads="1"/>
          </p:cNvSpPr>
          <p:nvPr/>
        </p:nvSpPr>
        <p:spPr bwMode="auto">
          <a:xfrm>
            <a:off x="2559783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矩形 3"/>
          <p:cNvSpPr>
            <a:spLocks noChangeArrowheads="1"/>
          </p:cNvSpPr>
          <p:nvPr/>
        </p:nvSpPr>
        <p:spPr bwMode="auto">
          <a:xfrm>
            <a:off x="3238728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矩形 3"/>
          <p:cNvSpPr>
            <a:spLocks noChangeArrowheads="1"/>
          </p:cNvSpPr>
          <p:nvPr/>
        </p:nvSpPr>
        <p:spPr bwMode="auto">
          <a:xfrm>
            <a:off x="3960392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矩形 3"/>
          <p:cNvSpPr>
            <a:spLocks noChangeArrowheads="1"/>
          </p:cNvSpPr>
          <p:nvPr/>
        </p:nvSpPr>
        <p:spPr bwMode="auto">
          <a:xfrm>
            <a:off x="4763294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2" name="直接连接符 121"/>
          <p:cNvCxnSpPr/>
          <p:nvPr/>
        </p:nvCxnSpPr>
        <p:spPr>
          <a:xfrm flipV="1">
            <a:off x="5004048" y="270892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5004048" y="306809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5724128" y="270805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5724128" y="2708052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3"/>
          <p:cNvSpPr>
            <a:spLocks noChangeArrowheads="1"/>
          </p:cNvSpPr>
          <p:nvPr/>
        </p:nvSpPr>
        <p:spPr bwMode="auto">
          <a:xfrm>
            <a:off x="126902" y="2675683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cxnSp>
        <p:nvCxnSpPr>
          <p:cNvPr id="127" name="直接连接符 126"/>
          <p:cNvCxnSpPr/>
          <p:nvPr/>
        </p:nvCxnSpPr>
        <p:spPr>
          <a:xfrm flipH="1">
            <a:off x="5004046" y="1709282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396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：硬件触发选通脉冲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251520" y="3429000"/>
            <a:ext cx="8546193" cy="116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计数过程中，若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变低电平，不影响计数，但其上升沿将使得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重新装入计数器，开始计数。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如果是计数结束后，再一次产生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的上升沿，则再次计数。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1043608" y="2405883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1763688" y="204584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58445" y="198884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GATE</a:t>
            </a:r>
          </a:p>
        </p:txBody>
      </p:sp>
      <p:cxnSp>
        <p:nvCxnSpPr>
          <p:cNvPr id="93" name="直接连接符 92"/>
          <p:cNvCxnSpPr/>
          <p:nvPr/>
        </p:nvCxnSpPr>
        <p:spPr>
          <a:xfrm>
            <a:off x="1043608" y="2708920"/>
            <a:ext cx="68407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H="1">
            <a:off x="2123726" y="1651685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835696" y="2348880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矩形 3"/>
          <p:cNvSpPr>
            <a:spLocks noChangeArrowheads="1"/>
          </p:cNvSpPr>
          <p:nvPr/>
        </p:nvSpPr>
        <p:spPr bwMode="auto">
          <a:xfrm>
            <a:off x="2559783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矩形 3"/>
          <p:cNvSpPr>
            <a:spLocks noChangeArrowheads="1"/>
          </p:cNvSpPr>
          <p:nvPr/>
        </p:nvSpPr>
        <p:spPr bwMode="auto">
          <a:xfrm>
            <a:off x="3238728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矩形 3"/>
          <p:cNvSpPr>
            <a:spLocks noChangeArrowheads="1"/>
          </p:cNvSpPr>
          <p:nvPr/>
        </p:nvSpPr>
        <p:spPr bwMode="auto">
          <a:xfrm>
            <a:off x="3960392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2" name="直接连接符 121"/>
          <p:cNvCxnSpPr/>
          <p:nvPr/>
        </p:nvCxnSpPr>
        <p:spPr>
          <a:xfrm flipV="1">
            <a:off x="7884368" y="270892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7884368" y="306809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8604448" y="270805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8604448" y="2708052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3"/>
          <p:cNvSpPr>
            <a:spLocks noChangeArrowheads="1"/>
          </p:cNvSpPr>
          <p:nvPr/>
        </p:nvSpPr>
        <p:spPr bwMode="auto">
          <a:xfrm>
            <a:off x="126902" y="2675683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</a:p>
        </p:txBody>
      </p:sp>
      <p:cxnSp>
        <p:nvCxnSpPr>
          <p:cNvPr id="127" name="直接连接符 126"/>
          <p:cNvCxnSpPr/>
          <p:nvPr/>
        </p:nvCxnSpPr>
        <p:spPr>
          <a:xfrm flipH="1">
            <a:off x="5004046" y="1709282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1763686" y="2039571"/>
            <a:ext cx="1584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3347864" y="204410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3347864" y="2401780"/>
            <a:ext cx="11161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4463988" y="2039571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4463988" y="2039571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3"/>
          <p:cNvSpPr>
            <a:spLocks noChangeArrowheads="1"/>
          </p:cNvSpPr>
          <p:nvPr/>
        </p:nvSpPr>
        <p:spPr bwMode="auto">
          <a:xfrm>
            <a:off x="4722608" y="2329771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 3"/>
          <p:cNvSpPr>
            <a:spLocks noChangeArrowheads="1"/>
          </p:cNvSpPr>
          <p:nvPr/>
        </p:nvSpPr>
        <p:spPr bwMode="auto">
          <a:xfrm>
            <a:off x="5498755" y="2325471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矩形 3"/>
          <p:cNvSpPr>
            <a:spLocks noChangeArrowheads="1"/>
          </p:cNvSpPr>
          <p:nvPr/>
        </p:nvSpPr>
        <p:spPr bwMode="auto">
          <a:xfrm>
            <a:off x="6177700" y="2325471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矩形 3"/>
          <p:cNvSpPr>
            <a:spLocks noChangeArrowheads="1"/>
          </p:cNvSpPr>
          <p:nvPr/>
        </p:nvSpPr>
        <p:spPr bwMode="auto">
          <a:xfrm>
            <a:off x="6899364" y="2325471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矩形 3"/>
          <p:cNvSpPr>
            <a:spLocks noChangeArrowheads="1"/>
          </p:cNvSpPr>
          <p:nvPr/>
        </p:nvSpPr>
        <p:spPr bwMode="auto">
          <a:xfrm>
            <a:off x="7661580" y="2306362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20220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写入初值时，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端应保持低电平，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每出现一次正脉冲，计数一个周期，然后停止计数。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每个计数周期结束时（减到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时），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端输出一个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宽度的负脉冲。计数过程中修改初值不影响本轮计数过程。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硬件启动，不自动重复计数，但是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上升沿可重复触发。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端波形与方式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621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工作方式总结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，虽然不自动重复，但是，可通过产生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上升沿即通过硬件重复触发。</a:t>
            </a:r>
          </a:p>
        </p:txBody>
      </p:sp>
      <p:sp>
        <p:nvSpPr>
          <p:cNvPr id="6" name="矩形 5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用于计数结束产生中断。方式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产生一个宽度为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的负脉冲。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自动重复计数，常用作分频，要求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91256" y="5080618"/>
            <a:ext cx="6408924" cy="8736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波形相同，产生选通信号，但门控信号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要求不同，方式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上升沿。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15191" y="5080617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718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定时基本概念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8253</a:t>
            </a:r>
            <a:r>
              <a:rPr lang="zh-CN" altLang="en-US" dirty="0"/>
              <a:t>定时器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744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直接连接符 60"/>
          <p:cNvCxnSpPr/>
          <p:nvPr/>
        </p:nvCxnSpPr>
        <p:spPr>
          <a:xfrm>
            <a:off x="4443215" y="2918644"/>
            <a:ext cx="3448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827410" y="260648"/>
            <a:ext cx="7993061" cy="1063946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下图是用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监视的一个生产流水线示意图，每通过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个工件扬声器响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秒钟，频率为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2000Hz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2699792" y="2141166"/>
            <a:ext cx="1765188" cy="187220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2262081" y="335049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666237" y="233002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27765" y="358182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694129" y="316582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694129" y="364404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724933" y="23455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 flipH="1">
            <a:off x="2262081" y="382870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4427984" y="2514690"/>
            <a:ext cx="6840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4464980" y="3797331"/>
            <a:ext cx="111513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>
            <a:off x="5117283" y="2309270"/>
            <a:ext cx="144016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 flipV="1">
            <a:off x="5117283" y="2093228"/>
            <a:ext cx="144016" cy="161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5261299" y="2082624"/>
            <a:ext cx="0" cy="43206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117283" y="1445174"/>
            <a:ext cx="0" cy="648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261299" y="2281641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5729847" y="2480659"/>
            <a:ext cx="72008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5733956" y="1855726"/>
            <a:ext cx="72008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5115259" y="1661198"/>
            <a:ext cx="650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5765355" y="1653388"/>
            <a:ext cx="0" cy="194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5765355" y="2082624"/>
            <a:ext cx="0" cy="387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5765355" y="2696683"/>
            <a:ext cx="0" cy="387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5693347" y="3084113"/>
            <a:ext cx="1440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4552832" y="141277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+5V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076056" y="2888215"/>
            <a:ext cx="72008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连接符 63"/>
          <p:cNvCxnSpPr/>
          <p:nvPr/>
        </p:nvCxnSpPr>
        <p:spPr>
          <a:xfrm flipV="1">
            <a:off x="5111564" y="3104239"/>
            <a:ext cx="0" cy="387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039556" y="3491669"/>
            <a:ext cx="1440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5112060" y="2502968"/>
            <a:ext cx="0" cy="387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5580112" y="3423839"/>
            <a:ext cx="426329" cy="8097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驱动器</a:t>
            </a:r>
          </a:p>
        </p:txBody>
      </p:sp>
      <p:cxnSp>
        <p:nvCxnSpPr>
          <p:cNvPr id="70" name="直接连接符 69"/>
          <p:cNvCxnSpPr/>
          <p:nvPr/>
        </p:nvCxnSpPr>
        <p:spPr>
          <a:xfrm>
            <a:off x="6006441" y="3828707"/>
            <a:ext cx="650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6656537" y="3766495"/>
            <a:ext cx="75703" cy="2468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梯形 71"/>
          <p:cNvSpPr/>
          <p:nvPr/>
        </p:nvSpPr>
        <p:spPr>
          <a:xfrm rot="16200000">
            <a:off x="6658633" y="3798950"/>
            <a:ext cx="339463" cy="192249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7051900" y="37202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扬声器</a:t>
            </a:r>
          </a:p>
        </p:txBody>
      </p:sp>
      <p:cxnSp>
        <p:nvCxnSpPr>
          <p:cNvPr id="74" name="直接箭头连接符 73"/>
          <p:cNvCxnSpPr/>
          <p:nvPr/>
        </p:nvCxnSpPr>
        <p:spPr>
          <a:xfrm flipH="1">
            <a:off x="5899441" y="2584962"/>
            <a:ext cx="1591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6682485" y="2091930"/>
            <a:ext cx="256361" cy="1626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6517957" y="16107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工件</a:t>
            </a:r>
          </a:p>
        </p:txBody>
      </p:sp>
      <p:cxnSp>
        <p:nvCxnSpPr>
          <p:cNvPr id="79" name="直接箭头连接符 78"/>
          <p:cNvCxnSpPr>
            <a:stCxn id="76" idx="2"/>
          </p:cNvCxnSpPr>
          <p:nvPr/>
        </p:nvCxnSpPr>
        <p:spPr>
          <a:xfrm flipH="1">
            <a:off x="6810665" y="2254606"/>
            <a:ext cx="1" cy="74162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7454061" y="240029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光源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5948815" y="22196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光敏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5948815" y="264389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电阻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1115616" y="364404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8255PC0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124920" y="3153928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1.4MHz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157633" y="234062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2131412" y="2407169"/>
            <a:ext cx="275818" cy="215042"/>
            <a:chOff x="5786718" y="2564904"/>
            <a:chExt cx="551637" cy="304797"/>
          </a:xfrm>
        </p:grpSpPr>
        <p:sp>
          <p:nvSpPr>
            <p:cNvPr id="86" name="等腰三角形 85"/>
            <p:cNvSpPr/>
            <p:nvPr/>
          </p:nvSpPr>
          <p:spPr>
            <a:xfrm rot="16200000">
              <a:off x="5966665" y="2498011"/>
              <a:ext cx="304797" cy="4385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5786718" y="2635739"/>
              <a:ext cx="144016" cy="14401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0" name="直接连接符 89"/>
          <p:cNvCxnSpPr/>
          <p:nvPr/>
        </p:nvCxnSpPr>
        <p:spPr>
          <a:xfrm flipH="1">
            <a:off x="2420507" y="2525294"/>
            <a:ext cx="273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flipH="1">
            <a:off x="1857790" y="2520286"/>
            <a:ext cx="273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17"/>
          <p:cNvSpPr txBox="1"/>
          <p:nvPr/>
        </p:nvSpPr>
        <p:spPr>
          <a:xfrm>
            <a:off x="887717" y="4365103"/>
            <a:ext cx="7920878" cy="1566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：方式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分频方式，每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CLK0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产生一个中断，控制字为：</a:t>
            </a:r>
            <a:r>
              <a:rPr lang="en-US" altLang="zh-CN" b="1" dirty="0" smtClean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00010101B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初值只写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低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位，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计数，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初值为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50H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：工作于方式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方波方式，控制字为：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01110111B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，即方式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，先低后高，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15534" y="4365104"/>
            <a:ext cx="7993061" cy="1638077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3615890" y="5504285"/>
            <a:ext cx="53485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初值（分频比）=（1.4×10</a:t>
            </a:r>
            <a:r>
              <a:rPr lang="zh-CN" altLang="en-US" b="1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）/2000=700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3486701" y="2733279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 flipV="1">
            <a:off x="4784069" y="1855727"/>
            <a:ext cx="0" cy="1062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4779237" y="1853758"/>
            <a:ext cx="3360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84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75656" y="908720"/>
            <a:ext cx="244827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15H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43H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50H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40H,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00H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63H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77H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43H,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00H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41H,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07H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41H,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STI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NOP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JMP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LOP</a:t>
            </a:r>
          </a:p>
        </p:txBody>
      </p:sp>
      <p:sp>
        <p:nvSpPr>
          <p:cNvPr id="7" name="矩形 6"/>
          <p:cNvSpPr/>
          <p:nvPr/>
        </p:nvSpPr>
        <p:spPr>
          <a:xfrm>
            <a:off x="4891724" y="974724"/>
            <a:ext cx="3976588" cy="42567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置计数器</a:t>
            </a:r>
            <a:r>
              <a:rPr lang="en-US" altLang="zh-CN" sz="2200" dirty="0"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ea typeface="微软雅黑" panose="020B0503020204020204" pitchFamily="34" charset="-122"/>
              </a:rPr>
              <a:t>的工作方式</a:t>
            </a:r>
          </a:p>
        </p:txBody>
      </p:sp>
      <p:sp>
        <p:nvSpPr>
          <p:cNvPr id="8" name="矩形 7"/>
          <p:cNvSpPr/>
          <p:nvPr/>
        </p:nvSpPr>
        <p:spPr>
          <a:xfrm>
            <a:off x="4891724" y="1575364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装初值</a:t>
            </a:r>
          </a:p>
        </p:txBody>
      </p:sp>
      <p:sp>
        <p:nvSpPr>
          <p:cNvPr id="10" name="矩形 9"/>
          <p:cNvSpPr/>
          <p:nvPr/>
        </p:nvSpPr>
        <p:spPr>
          <a:xfrm>
            <a:off x="4891724" y="2235378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关</a:t>
            </a:r>
            <a:r>
              <a:rPr lang="en-US" altLang="zh-CN" sz="2200" dirty="0">
                <a:ea typeface="微软雅黑" panose="020B0503020204020204" pitchFamily="34" charset="-122"/>
              </a:rPr>
              <a:t>8255</a:t>
            </a:r>
            <a:r>
              <a:rPr lang="zh-CN" altLang="en-US" sz="2200" dirty="0">
                <a:ea typeface="微软雅黑" panose="020B0503020204020204" pitchFamily="34" charset="-122"/>
              </a:rPr>
              <a:t>的</a:t>
            </a:r>
            <a:r>
              <a:rPr lang="en-US" altLang="zh-CN" sz="2200" dirty="0">
                <a:ea typeface="微软雅黑" panose="020B0503020204020204" pitchFamily="34" charset="-122"/>
              </a:rPr>
              <a:t>PC0</a:t>
            </a:r>
            <a:endParaRPr lang="zh-CN" altLang="en-US" sz="2200" dirty="0"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91724" y="2908803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置计数器</a:t>
            </a:r>
            <a:r>
              <a:rPr lang="en-US" altLang="zh-CN" sz="2200" dirty="0"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ea typeface="微软雅黑" panose="020B0503020204020204" pitchFamily="34" charset="-122"/>
              </a:rPr>
              <a:t>的工作方式</a:t>
            </a:r>
          </a:p>
        </p:txBody>
      </p:sp>
      <p:sp>
        <p:nvSpPr>
          <p:cNvPr id="12" name="矩形 11"/>
          <p:cNvSpPr/>
          <p:nvPr/>
        </p:nvSpPr>
        <p:spPr>
          <a:xfrm>
            <a:off x="4891724" y="3449414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装初值，低</a:t>
            </a:r>
            <a:r>
              <a:rPr lang="en-US" altLang="zh-CN" sz="2200" dirty="0">
                <a:ea typeface="微软雅黑" panose="020B0503020204020204" pitchFamily="34" charset="-122"/>
              </a:rPr>
              <a:t>8</a:t>
            </a:r>
            <a:r>
              <a:rPr lang="zh-CN" altLang="en-US" sz="2200" dirty="0"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" name="矩形 12"/>
          <p:cNvSpPr/>
          <p:nvPr/>
        </p:nvSpPr>
        <p:spPr>
          <a:xfrm>
            <a:off x="4891724" y="4036135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装初值，高</a:t>
            </a:r>
            <a:r>
              <a:rPr lang="en-US" altLang="zh-CN" sz="2200" dirty="0">
                <a:ea typeface="微软雅黑" panose="020B0503020204020204" pitchFamily="34" charset="-122"/>
              </a:rPr>
              <a:t>8</a:t>
            </a:r>
            <a:r>
              <a:rPr lang="zh-CN" altLang="en-US" sz="2200" dirty="0"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4" name="矩形 13"/>
          <p:cNvSpPr/>
          <p:nvPr/>
        </p:nvSpPr>
        <p:spPr>
          <a:xfrm>
            <a:off x="4891724" y="4567688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开中断</a:t>
            </a:r>
          </a:p>
        </p:txBody>
      </p:sp>
      <p:sp>
        <p:nvSpPr>
          <p:cNvPr id="15" name="矩形 14"/>
          <p:cNvSpPr/>
          <p:nvPr/>
        </p:nvSpPr>
        <p:spPr>
          <a:xfrm>
            <a:off x="4891724" y="5293655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进入循环等待中断</a:t>
            </a:r>
          </a:p>
        </p:txBody>
      </p:sp>
      <p:sp>
        <p:nvSpPr>
          <p:cNvPr id="3" name="矩形 2"/>
          <p:cNvSpPr/>
          <p:nvPr/>
        </p:nvSpPr>
        <p:spPr>
          <a:xfrm>
            <a:off x="736824" y="4873670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LOP:</a:t>
            </a:r>
          </a:p>
        </p:txBody>
      </p:sp>
    </p:spTree>
    <p:extLst>
      <p:ext uri="{BB962C8B-B14F-4D97-AF65-F5344CB8AC3E}">
        <p14:creationId xmlns:p14="http://schemas.microsoft.com/office/powerpoint/2010/main" val="20980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75656" y="908720"/>
            <a:ext cx="324036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INTP</a:t>
            </a:r>
            <a:r>
              <a:rPr lang="zh-CN" altLang="en-US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PROC</a:t>
            </a:r>
            <a:endParaRPr lang="zh-CN" altLang="en-US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3255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01H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63H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DLY5S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00H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63H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IRET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00B853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INTP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ENDP</a:t>
            </a:r>
          </a:p>
        </p:txBody>
      </p:sp>
      <p:sp>
        <p:nvSpPr>
          <p:cNvPr id="7" name="矩形 6"/>
          <p:cNvSpPr/>
          <p:nvPr/>
        </p:nvSpPr>
        <p:spPr>
          <a:xfrm>
            <a:off x="4890843" y="1557903"/>
            <a:ext cx="3976588" cy="42567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</a:t>
            </a:r>
            <a:r>
              <a:rPr lang="zh-CN" altLang="en-US" sz="2200" dirty="0">
                <a:ea typeface="微软雅黑" panose="020B0503020204020204" pitchFamily="34" charset="-122"/>
              </a:rPr>
              <a:t>开</a:t>
            </a:r>
            <a:r>
              <a:rPr lang="en-US" altLang="zh-CN" sz="2200" dirty="0">
                <a:ea typeface="微软雅黑" panose="020B0503020204020204" pitchFamily="34" charset="-122"/>
              </a:rPr>
              <a:t>8255</a:t>
            </a:r>
            <a:r>
              <a:rPr lang="zh-CN" altLang="en-US" sz="2200" dirty="0">
                <a:ea typeface="微软雅黑" panose="020B0503020204020204" pitchFamily="34" charset="-122"/>
              </a:rPr>
              <a:t>的</a:t>
            </a:r>
            <a:r>
              <a:rPr lang="en-US" altLang="zh-CN" sz="2200" dirty="0">
                <a:ea typeface="微软雅黑" panose="020B0503020204020204" pitchFamily="34" charset="-122"/>
              </a:rPr>
              <a:t>PC0</a:t>
            </a:r>
            <a:endParaRPr lang="zh-CN" altLang="en-US" sz="2200" dirty="0"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90843" y="2033334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</a:t>
            </a:r>
            <a:r>
              <a:rPr lang="zh-CN" altLang="en-US" sz="2200" dirty="0">
                <a:ea typeface="微软雅黑" panose="020B0503020204020204" pitchFamily="34" charset="-122"/>
              </a:rPr>
              <a:t>调</a:t>
            </a:r>
            <a:r>
              <a:rPr lang="en-US" altLang="zh-CN" sz="2200" dirty="0">
                <a:ea typeface="微软雅黑" panose="020B0503020204020204" pitchFamily="34" charset="-122"/>
              </a:rPr>
              <a:t>5S</a:t>
            </a:r>
            <a:r>
              <a:rPr lang="zh-CN" altLang="en-US" sz="2200" dirty="0">
                <a:ea typeface="微软雅黑" panose="020B0503020204020204" pitchFamily="34" charset="-122"/>
              </a:rPr>
              <a:t>延迟子程序</a:t>
            </a:r>
          </a:p>
        </p:txBody>
      </p:sp>
      <p:sp>
        <p:nvSpPr>
          <p:cNvPr id="10" name="矩形 9"/>
          <p:cNvSpPr/>
          <p:nvPr/>
        </p:nvSpPr>
        <p:spPr>
          <a:xfrm>
            <a:off x="4890843" y="2564904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</a:t>
            </a:r>
            <a:r>
              <a:rPr lang="zh-CN" altLang="en-US" sz="2200" dirty="0">
                <a:ea typeface="微软雅黑" panose="020B0503020204020204" pitchFamily="34" charset="-122"/>
              </a:rPr>
              <a:t>关</a:t>
            </a:r>
            <a:r>
              <a:rPr lang="en-US" altLang="zh-CN" sz="2200" dirty="0">
                <a:ea typeface="微软雅黑" panose="020B0503020204020204" pitchFamily="34" charset="-122"/>
              </a:rPr>
              <a:t>8255</a:t>
            </a:r>
            <a:r>
              <a:rPr lang="zh-CN" altLang="en-US" sz="2200" dirty="0">
                <a:ea typeface="微软雅黑" panose="020B0503020204020204" pitchFamily="34" charset="-122"/>
              </a:rPr>
              <a:t>的</a:t>
            </a:r>
            <a:r>
              <a:rPr lang="en-US" altLang="zh-CN" sz="2200" dirty="0">
                <a:ea typeface="微软雅黑" panose="020B0503020204020204" pitchFamily="34" charset="-122"/>
              </a:rPr>
              <a:t>PC0</a:t>
            </a:r>
            <a:endParaRPr lang="zh-CN" altLang="en-US" sz="2200" dirty="0">
              <a:ea typeface="微软雅黑" panose="020B0503020204020204" pitchFamily="34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97360" y="4698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如何知道当前通过了多少个工件？</a:t>
            </a:r>
            <a:endParaRPr lang="zh-CN" altLang="en-US" sz="24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49499" y="5423593"/>
            <a:ext cx="7920880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可以在中断服务子程序中设置一个变量记录中断的次数。</a:t>
            </a:r>
          </a:p>
        </p:txBody>
      </p:sp>
      <p:pic>
        <p:nvPicPr>
          <p:cNvPr id="11" name="图片 10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322287"/>
            <a:ext cx="1224260" cy="95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如何读取计数器的值？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6" name="直接连接符 5"/>
          <p:cNvCxnSpPr/>
          <p:nvPr/>
        </p:nvCxnSpPr>
        <p:spPr>
          <a:xfrm>
            <a:off x="4719784" y="134076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754087" y="1869066"/>
            <a:ext cx="3601889" cy="3039678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号计数器，采用二进制计数，计数初值为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写出读取计数器计数值的程序。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endParaRPr lang="en-US" altLang="zh-CN" sz="28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5148064" y="1844824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00000000B</a:t>
            </a: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5148064" y="2302549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5148064" y="2760535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   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40H</a:t>
            </a: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5148064" y="3173482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AH,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</a:t>
            </a: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5148064" y="362015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    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40H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5148064" y="4109329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XCHG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AH</a:t>
            </a:r>
          </a:p>
        </p:txBody>
      </p:sp>
    </p:spTree>
    <p:extLst>
      <p:ext uri="{BB962C8B-B14F-4D97-AF65-F5344CB8AC3E}">
        <p14:creationId xmlns:p14="http://schemas.microsoft.com/office/powerpoint/2010/main" val="180793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86205" y="691184"/>
            <a:ext cx="7430211" cy="2952328"/>
            <a:chOff x="1846734" y="1456184"/>
            <a:chExt cx="9937104" cy="3904659"/>
          </a:xfrm>
        </p:grpSpPr>
        <p:sp>
          <p:nvSpPr>
            <p:cNvPr id="15" name="矩形 14"/>
            <p:cNvSpPr/>
            <p:nvPr/>
          </p:nvSpPr>
          <p:spPr>
            <a:xfrm>
              <a:off x="1846734" y="1512424"/>
              <a:ext cx="9937104" cy="3848419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16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5100" y="4367129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30"/>
            <p:cNvSpPr txBox="1"/>
            <p:nvPr/>
          </p:nvSpPr>
          <p:spPr>
            <a:xfrm>
              <a:off x="10702950" y="1550372"/>
              <a:ext cx="658589" cy="10486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问题</a:t>
              </a:r>
            </a:p>
          </p:txBody>
        </p:sp>
      </p:grpSp>
      <p:sp>
        <p:nvSpPr>
          <p:cNvPr id="19" name="TextBox 32"/>
          <p:cNvSpPr txBox="1"/>
          <p:nvPr/>
        </p:nvSpPr>
        <p:spPr>
          <a:xfrm>
            <a:off x="1187624" y="971026"/>
            <a:ext cx="2160240" cy="116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CLK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频率为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2MHz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，要求在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OUT1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端产生频率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2Hz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的脉冲。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/>
        </p:nvSpPr>
        <p:spPr>
          <a:xfrm>
            <a:off x="886205" y="4003551"/>
            <a:ext cx="7430211" cy="180020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97280" y="4422151"/>
            <a:ext cx="1656184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9"/>
          <p:cNvSpPr txBox="1"/>
          <p:nvPr/>
        </p:nvSpPr>
        <p:spPr>
          <a:xfrm>
            <a:off x="1191259" y="4051241"/>
            <a:ext cx="461665" cy="135663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解决方法</a:t>
            </a:r>
          </a:p>
        </p:txBody>
      </p:sp>
      <p:sp>
        <p:nvSpPr>
          <p:cNvPr id="23" name="TextBox 17"/>
          <p:cNvSpPr txBox="1"/>
          <p:nvPr/>
        </p:nvSpPr>
        <p:spPr>
          <a:xfrm>
            <a:off x="1969421" y="4075560"/>
            <a:ext cx="615750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可将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个计数通道串联起来使用，甚至可把多个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串联起来使用；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这个题目中，可将计数器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串联，工作方式都均为方式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，计数初值为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24" name="Picture 3" descr="E:\仝德志文件，勿删！\03-参考文档\！PPT图片及版面资源\06-PPT精选插图\06-问号\锐普论坛实用商务PPT图片-疑问感慨 (18)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570"/>
          <a:stretch/>
        </p:blipFill>
        <p:spPr bwMode="auto">
          <a:xfrm>
            <a:off x="3851920" y="835200"/>
            <a:ext cx="3144516" cy="2664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32"/>
          <p:cNvSpPr txBox="1"/>
          <p:nvPr/>
        </p:nvSpPr>
        <p:spPr>
          <a:xfrm>
            <a:off x="1187624" y="2563392"/>
            <a:ext cx="2160240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计数值为</a:t>
            </a:r>
            <a:r>
              <a:rPr lang="en-US" altLang="zh-CN" sz="3200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en-US" altLang="zh-CN" sz="3200" baseline="30000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怎么实现？</a:t>
            </a:r>
          </a:p>
        </p:txBody>
      </p:sp>
    </p:spTree>
    <p:extLst>
      <p:ext uri="{BB962C8B-B14F-4D97-AF65-F5344CB8AC3E}">
        <p14:creationId xmlns:p14="http://schemas.microsoft.com/office/powerpoint/2010/main" val="419688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4"/>
          <p:cNvGrpSpPr>
            <a:grpSpLocks/>
          </p:cNvGrpSpPr>
          <p:nvPr/>
        </p:nvGrpSpPr>
        <p:grpSpPr bwMode="auto">
          <a:xfrm>
            <a:off x="4596283" y="3231257"/>
            <a:ext cx="2343150" cy="485775"/>
            <a:chOff x="3581" y="2469"/>
            <a:chExt cx="2119" cy="306"/>
          </a:xfrm>
        </p:grpSpPr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3581" y="2766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6"/>
            <p:cNvSpPr>
              <a:spLocks noChangeShapeType="1"/>
            </p:cNvSpPr>
            <p:nvPr/>
          </p:nvSpPr>
          <p:spPr bwMode="auto">
            <a:xfrm flipV="1">
              <a:off x="3886" y="2469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886" y="2469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8"/>
            <p:cNvSpPr>
              <a:spLocks noChangeShapeType="1"/>
            </p:cNvSpPr>
            <p:nvPr/>
          </p:nvSpPr>
          <p:spPr bwMode="auto">
            <a:xfrm flipV="1">
              <a:off x="4187" y="2470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9"/>
            <p:cNvSpPr>
              <a:spLocks noChangeShapeType="1"/>
            </p:cNvSpPr>
            <p:nvPr/>
          </p:nvSpPr>
          <p:spPr bwMode="auto">
            <a:xfrm>
              <a:off x="4184" y="2774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30"/>
            <p:cNvSpPr>
              <a:spLocks noChangeShapeType="1"/>
            </p:cNvSpPr>
            <p:nvPr/>
          </p:nvSpPr>
          <p:spPr bwMode="auto">
            <a:xfrm flipV="1">
              <a:off x="4489" y="2477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>
              <a:off x="4489" y="2477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2"/>
            <p:cNvSpPr>
              <a:spLocks noChangeShapeType="1"/>
            </p:cNvSpPr>
            <p:nvPr/>
          </p:nvSpPr>
          <p:spPr bwMode="auto">
            <a:xfrm flipV="1">
              <a:off x="4790" y="2478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3"/>
            <p:cNvSpPr>
              <a:spLocks noChangeShapeType="1"/>
            </p:cNvSpPr>
            <p:nvPr/>
          </p:nvSpPr>
          <p:spPr bwMode="auto">
            <a:xfrm>
              <a:off x="4793" y="2774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 flipV="1">
              <a:off x="5098" y="2477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5098" y="2477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 flipV="1">
              <a:off x="5399" y="2478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5399" y="2771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7" name="Group 38"/>
          <p:cNvGrpSpPr>
            <a:grpSpLocks/>
          </p:cNvGrpSpPr>
          <p:nvPr/>
        </p:nvGrpSpPr>
        <p:grpSpPr bwMode="auto">
          <a:xfrm>
            <a:off x="4524275" y="1844824"/>
            <a:ext cx="2640013" cy="504825"/>
            <a:chOff x="3481" y="1093"/>
            <a:chExt cx="1663" cy="396"/>
          </a:xfrm>
        </p:grpSpPr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481" y="1489"/>
              <a:ext cx="503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 flipV="1">
              <a:off x="3991" y="1097"/>
              <a:ext cx="0" cy="39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3990" y="1097"/>
              <a:ext cx="622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4614" y="1482"/>
              <a:ext cx="53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 flipV="1">
              <a:off x="4612" y="1093"/>
              <a:ext cx="0" cy="39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4" name="Group 45"/>
          <p:cNvGrpSpPr>
            <a:grpSpLocks/>
          </p:cNvGrpSpPr>
          <p:nvPr/>
        </p:nvGrpSpPr>
        <p:grpSpPr bwMode="auto">
          <a:xfrm>
            <a:off x="4627437" y="4509120"/>
            <a:ext cx="1697038" cy="552450"/>
            <a:chOff x="3809" y="3158"/>
            <a:chExt cx="1069" cy="348"/>
          </a:xfrm>
        </p:grpSpPr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3809" y="3506"/>
              <a:ext cx="114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6" name="Group 47"/>
            <p:cNvGrpSpPr>
              <a:grpSpLocks/>
            </p:cNvGrpSpPr>
            <p:nvPr/>
          </p:nvGrpSpPr>
          <p:grpSpPr bwMode="auto">
            <a:xfrm>
              <a:off x="3921" y="3158"/>
              <a:ext cx="138" cy="348"/>
              <a:chOff x="3900" y="3158"/>
              <a:chExt cx="138" cy="348"/>
            </a:xfrm>
          </p:grpSpPr>
          <p:sp>
            <p:nvSpPr>
              <p:cNvPr id="77" name="Line 48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8" name="Line 49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9" name="Line 50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0" name="Line 51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7" name="Group 52"/>
            <p:cNvGrpSpPr>
              <a:grpSpLocks/>
            </p:cNvGrpSpPr>
            <p:nvPr/>
          </p:nvGrpSpPr>
          <p:grpSpPr bwMode="auto">
            <a:xfrm>
              <a:off x="4057" y="3158"/>
              <a:ext cx="138" cy="348"/>
              <a:chOff x="3900" y="3158"/>
              <a:chExt cx="138" cy="348"/>
            </a:xfrm>
          </p:grpSpPr>
          <p:sp>
            <p:nvSpPr>
              <p:cNvPr id="73" name="Line 53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" name="Line 54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5" name="Line 55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6" name="Line 56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8" name="Group 57"/>
            <p:cNvGrpSpPr>
              <a:grpSpLocks/>
            </p:cNvGrpSpPr>
            <p:nvPr/>
          </p:nvGrpSpPr>
          <p:grpSpPr bwMode="auto">
            <a:xfrm>
              <a:off x="4195" y="3158"/>
              <a:ext cx="138" cy="348"/>
              <a:chOff x="3900" y="3158"/>
              <a:chExt cx="138" cy="348"/>
            </a:xfrm>
          </p:grpSpPr>
          <p:sp>
            <p:nvSpPr>
              <p:cNvPr id="69" name="Line 58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Line 59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" name="Line 60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Line 61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9" name="Group 62"/>
            <p:cNvGrpSpPr>
              <a:grpSpLocks/>
            </p:cNvGrpSpPr>
            <p:nvPr/>
          </p:nvGrpSpPr>
          <p:grpSpPr bwMode="auto">
            <a:xfrm>
              <a:off x="4332" y="3158"/>
              <a:ext cx="138" cy="348"/>
              <a:chOff x="3900" y="3158"/>
              <a:chExt cx="138" cy="348"/>
            </a:xfrm>
          </p:grpSpPr>
          <p:sp>
            <p:nvSpPr>
              <p:cNvPr id="65" name="Line 63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" name="Line 64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" name="Line 65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Line 66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0" name="Group 67"/>
            <p:cNvGrpSpPr>
              <a:grpSpLocks/>
            </p:cNvGrpSpPr>
            <p:nvPr/>
          </p:nvGrpSpPr>
          <p:grpSpPr bwMode="auto">
            <a:xfrm>
              <a:off x="4468" y="3158"/>
              <a:ext cx="138" cy="348"/>
              <a:chOff x="3900" y="3158"/>
              <a:chExt cx="138" cy="348"/>
            </a:xfrm>
          </p:grpSpPr>
          <p:sp>
            <p:nvSpPr>
              <p:cNvPr id="61" name="Line 68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" name="Line 69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3" name="Line 70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71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" name="Group 72"/>
            <p:cNvGrpSpPr>
              <a:grpSpLocks/>
            </p:cNvGrpSpPr>
            <p:nvPr/>
          </p:nvGrpSpPr>
          <p:grpSpPr bwMode="auto">
            <a:xfrm>
              <a:off x="4604" y="3158"/>
              <a:ext cx="138" cy="348"/>
              <a:chOff x="3900" y="3158"/>
              <a:chExt cx="138" cy="348"/>
            </a:xfrm>
          </p:grpSpPr>
          <p:sp>
            <p:nvSpPr>
              <p:cNvPr id="57" name="Line 73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" name="Line 74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" name="Line 75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" name="Line 76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2" name="Group 77"/>
            <p:cNvGrpSpPr>
              <a:grpSpLocks/>
            </p:cNvGrpSpPr>
            <p:nvPr/>
          </p:nvGrpSpPr>
          <p:grpSpPr bwMode="auto">
            <a:xfrm>
              <a:off x="4740" y="3158"/>
              <a:ext cx="138" cy="348"/>
              <a:chOff x="3900" y="3158"/>
              <a:chExt cx="138" cy="348"/>
            </a:xfrm>
          </p:grpSpPr>
          <p:sp>
            <p:nvSpPr>
              <p:cNvPr id="53" name="Line 78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" name="Line 79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" name="Line 80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" name="Line 81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81" name="矩形 80"/>
          <p:cNvSpPr/>
          <p:nvPr/>
        </p:nvSpPr>
        <p:spPr>
          <a:xfrm>
            <a:off x="1931987" y="2057336"/>
            <a:ext cx="1368152" cy="2880320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2213364" y="4983559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8253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2364035" y="395739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505099" y="35381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543571" y="438276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>
            <a:off x="3309237" y="4577616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H="1">
            <a:off x="3300139" y="414908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H="1">
            <a:off x="3309237" y="371703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2364035" y="25521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505099" y="21328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2543571" y="298766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8" name="直接箭头连接符 97"/>
          <p:cNvCxnSpPr/>
          <p:nvPr/>
        </p:nvCxnSpPr>
        <p:spPr>
          <a:xfrm flipH="1">
            <a:off x="3309237" y="3170957"/>
            <a:ext cx="422950" cy="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flipH="1">
            <a:off x="3300139" y="231796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 flipH="1">
            <a:off x="3309237" y="275185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3732187" y="3170957"/>
            <a:ext cx="0" cy="54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3687592" y="256987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+5V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687592" y="399577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+5V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687592" y="4427820"/>
            <a:ext cx="80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2MHz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687592" y="213285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2Hz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08" name="直接连接符 10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09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扩展定时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计数范围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0" name="直接连接符 10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39361839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作业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HOMEWORK</a:t>
            </a:r>
            <a:endParaRPr lang="zh-CN" altLang="en-US" sz="180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44942" y="2615982"/>
            <a:ext cx="5113338" cy="90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习题：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7.10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7.11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 descr="D:\Teliss_Tong\Copy\定期备份\工作备份\！PPT图片及版面资源\06-PPT精选插图\02-商务\GF0IEK5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5499" y="1901808"/>
            <a:ext cx="2158349" cy="33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86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3480</Words>
  <Application>Microsoft Office PowerPoint</Application>
  <PresentationFormat>全屏显示(4:3)</PresentationFormat>
  <Paragraphs>757</Paragraphs>
  <Slides>54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8" baseType="lpstr">
      <vt:lpstr>Arial Unicode MS</vt:lpstr>
      <vt:lpstr>经典繁仿黑</vt:lpstr>
      <vt:lpstr>宋体</vt:lpstr>
      <vt:lpstr>微软简综艺</vt:lpstr>
      <vt:lpstr>微软雅黑</vt:lpstr>
      <vt:lpstr>Arial</vt:lpstr>
      <vt:lpstr>Arial Black</vt:lpstr>
      <vt:lpstr>Broadway</vt:lpstr>
      <vt:lpstr>Calibri</vt:lpstr>
      <vt:lpstr>Impact</vt:lpstr>
      <vt:lpstr>Tahoma</vt:lpstr>
      <vt:lpstr>Times New Roman</vt:lpstr>
      <vt:lpstr>Wingdings</vt:lpstr>
      <vt:lpstr>2_Office 主题​​</vt:lpstr>
      <vt:lpstr>PowerPoint 演示文稿</vt:lpstr>
      <vt:lpstr>本节目标• OBJECTIVE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wang</cp:lastModifiedBy>
  <cp:revision>3695</cp:revision>
  <dcterms:created xsi:type="dcterms:W3CDTF">2012-06-23T00:51:09Z</dcterms:created>
  <dcterms:modified xsi:type="dcterms:W3CDTF">2017-01-13T03:01:37Z</dcterms:modified>
</cp:coreProperties>
</file>