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1"/>
  </p:sldMasterIdLst>
  <p:notesMasterIdLst>
    <p:notesMasterId r:id="rId64"/>
  </p:notesMasterIdLst>
  <p:sldIdLst>
    <p:sldId id="303" r:id="rId2"/>
    <p:sldId id="594" r:id="rId3"/>
    <p:sldId id="597" r:id="rId4"/>
    <p:sldId id="261" r:id="rId5"/>
    <p:sldId id="717" r:id="rId6"/>
    <p:sldId id="749" r:id="rId7"/>
    <p:sldId id="748" r:id="rId8"/>
    <p:sldId id="754" r:id="rId9"/>
    <p:sldId id="750" r:id="rId10"/>
    <p:sldId id="757" r:id="rId11"/>
    <p:sldId id="766" r:id="rId12"/>
    <p:sldId id="756" r:id="rId13"/>
    <p:sldId id="751" r:id="rId14"/>
    <p:sldId id="767" r:id="rId15"/>
    <p:sldId id="759" r:id="rId16"/>
    <p:sldId id="752" r:id="rId17"/>
    <p:sldId id="768" r:id="rId18"/>
    <p:sldId id="769" r:id="rId19"/>
    <p:sldId id="771" r:id="rId20"/>
    <p:sldId id="770" r:id="rId21"/>
    <p:sldId id="772" r:id="rId22"/>
    <p:sldId id="773" r:id="rId23"/>
    <p:sldId id="775" r:id="rId24"/>
    <p:sldId id="713" r:id="rId25"/>
    <p:sldId id="776" r:id="rId26"/>
    <p:sldId id="777" r:id="rId27"/>
    <p:sldId id="778" r:id="rId28"/>
    <p:sldId id="779" r:id="rId29"/>
    <p:sldId id="780" r:id="rId30"/>
    <p:sldId id="781" r:id="rId31"/>
    <p:sldId id="782" r:id="rId32"/>
    <p:sldId id="784" r:id="rId33"/>
    <p:sldId id="783" r:id="rId34"/>
    <p:sldId id="785" r:id="rId35"/>
    <p:sldId id="760" r:id="rId36"/>
    <p:sldId id="786" r:id="rId37"/>
    <p:sldId id="788" r:id="rId38"/>
    <p:sldId id="789" r:id="rId39"/>
    <p:sldId id="790" r:id="rId40"/>
    <p:sldId id="791" r:id="rId41"/>
    <p:sldId id="679" r:id="rId42"/>
    <p:sldId id="722" r:id="rId43"/>
    <p:sldId id="794" r:id="rId44"/>
    <p:sldId id="795" r:id="rId45"/>
    <p:sldId id="797" r:id="rId46"/>
    <p:sldId id="798" r:id="rId47"/>
    <p:sldId id="799" r:id="rId48"/>
    <p:sldId id="801" r:id="rId49"/>
    <p:sldId id="802" r:id="rId50"/>
    <p:sldId id="803" r:id="rId51"/>
    <p:sldId id="792" r:id="rId52"/>
    <p:sldId id="793" r:id="rId53"/>
    <p:sldId id="804" r:id="rId54"/>
    <p:sldId id="805" r:id="rId55"/>
    <p:sldId id="806" r:id="rId56"/>
    <p:sldId id="808" r:id="rId57"/>
    <p:sldId id="809" r:id="rId58"/>
    <p:sldId id="810" r:id="rId59"/>
    <p:sldId id="811" r:id="rId60"/>
    <p:sldId id="723" r:id="rId61"/>
    <p:sldId id="812" r:id="rId62"/>
    <p:sldId id="300" r:id="rId6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7A2A"/>
    <a:srgbClr val="00B050"/>
    <a:srgbClr val="1D8DE5"/>
    <a:srgbClr val="00B853"/>
    <a:srgbClr val="FF3255"/>
    <a:srgbClr val="4F81BD"/>
    <a:srgbClr val="FF9300"/>
    <a:srgbClr val="5DCB08"/>
    <a:srgbClr val="FBFBFB"/>
    <a:srgbClr val="608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浅色样式 3 - 强调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363" autoAdjust="0"/>
    <p:restoredTop sz="90426" autoAdjust="0"/>
  </p:normalViewPr>
  <p:slideViewPr>
    <p:cSldViewPr>
      <p:cViewPr varScale="1">
        <p:scale>
          <a:sx n="61" d="100"/>
          <a:sy n="61" d="100"/>
        </p:scale>
        <p:origin x="448" y="56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84524F-5C8C-4CF8-964C-68B44E826FEE}" type="datetimeFigureOut">
              <a:rPr lang="en-US" smtClean="0"/>
              <a:t>5/2/2016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E00F3E-42E3-47B8-AD52-3484E0D8A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4119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本章需要回答这几个非常重要的问题。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5819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1652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3193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6155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3706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9921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2033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5180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5695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5092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10</a:t>
            </a:r>
            <a:r>
              <a:rPr lang="zh-CN" altLang="en-US" dirty="0"/>
              <a:t>个寄存器。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213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7614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8680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9449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6053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8237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1652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04142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54493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97705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52809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1090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hyperlink" Target="http://www.eyefulpresentations.co.uk/" TargetMode="External"/><Relationship Id="rId7" Type="http://schemas.openxmlformats.org/officeDocument/2006/relationships/image" Target="../media/image7.png"/><Relationship Id="rId2" Type="http://schemas.openxmlformats.org/officeDocument/2006/relationships/hyperlink" Target="mailto:info@eyefulpresentations.co.uk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Relationship Id="rId9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1032"/>
          <p:cNvSpPr txBox="1">
            <a:spLocks noChangeArrowheads="1"/>
          </p:cNvSpPr>
          <p:nvPr userDrawn="1"/>
        </p:nvSpPr>
        <p:spPr bwMode="auto">
          <a:xfrm>
            <a:off x="539552" y="1265747"/>
            <a:ext cx="7488832" cy="814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b" anchorCtr="1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130000"/>
              </a:lnSpc>
              <a:defRPr/>
            </a:pPr>
            <a:r>
              <a:rPr lang="zh-CN" altLang="en-US" sz="40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第七章 可编程接口芯片及应用</a:t>
            </a:r>
          </a:p>
        </p:txBody>
      </p:sp>
      <p:cxnSp>
        <p:nvCxnSpPr>
          <p:cNvPr id="8" name="直接连接符 7"/>
          <p:cNvCxnSpPr/>
          <p:nvPr userDrawn="1"/>
        </p:nvCxnSpPr>
        <p:spPr bwMode="auto">
          <a:xfrm>
            <a:off x="755576" y="2349500"/>
            <a:ext cx="7129288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algn="ctr" rotWithShape="0">
              <a:prstClr val="black">
                <a:alpha val="64000"/>
              </a:prstClr>
            </a:outerShdw>
          </a:effectLst>
        </p:spPr>
      </p:cxnSp>
      <p:sp>
        <p:nvSpPr>
          <p:cNvPr id="9" name="矩形 8"/>
          <p:cNvSpPr>
            <a:spLocks noChangeArrowheads="1"/>
          </p:cNvSpPr>
          <p:nvPr userDrawn="1"/>
        </p:nvSpPr>
        <p:spPr bwMode="auto">
          <a:xfrm>
            <a:off x="755576" y="549275"/>
            <a:ext cx="39592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微机系统与接口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——</a:t>
            </a:r>
            <a:endParaRPr lang="zh-CN" altLang="en-US" b="1" dirty="0">
              <a:solidFill>
                <a:schemeClr val="tx1">
                  <a:lumMod val="65000"/>
                  <a:lumOff val="35000"/>
                </a:schemeClr>
              </a:solidFill>
              <a:ea typeface="微软雅黑" panose="020B0503020204020204" pitchFamily="34" charset="-122"/>
            </a:endParaRPr>
          </a:p>
        </p:txBody>
      </p: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827089" y="2508250"/>
            <a:ext cx="3096840" cy="354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1700" b="1" dirty="0">
                <a:solidFill>
                  <a:srgbClr val="FC6204"/>
                </a:solidFill>
                <a:latin typeface="微软雅黑" pitchFamily="34" charset="-122"/>
                <a:ea typeface="微软雅黑" pitchFamily="34" charset="-122"/>
                <a:cs typeface="Tahoma" pitchFamily="34" charset="0"/>
              </a:rPr>
              <a:t>东南大学信息科学与工程学院</a:t>
            </a:r>
            <a:endParaRPr lang="en-US" altLang="zh-CN" sz="1700" b="1" dirty="0">
              <a:solidFill>
                <a:srgbClr val="FC6204"/>
              </a:solidFill>
              <a:latin typeface="微软雅黑" pitchFamily="34" charset="-122"/>
              <a:ea typeface="微软雅黑" pitchFamily="34" charset="-122"/>
              <a:cs typeface="Tahoma" pitchFamily="34" charset="0"/>
            </a:endParaRPr>
          </a:p>
        </p:txBody>
      </p:sp>
      <p:sp>
        <p:nvSpPr>
          <p:cNvPr id="17" name="TextBox 18"/>
          <p:cNvSpPr txBox="1"/>
          <p:nvPr userDrawn="1"/>
        </p:nvSpPr>
        <p:spPr>
          <a:xfrm>
            <a:off x="7235825" y="5733256"/>
            <a:ext cx="1152599" cy="46166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  <a:latin typeface="Broadway" pitchFamily="82" charset="0"/>
                <a:ea typeface="微软雅黑" panose="020B0503020204020204" pitchFamily="34" charset="-122"/>
                <a:cs typeface="经典繁仿黑" pitchFamily="49" charset="-122"/>
              </a:rPr>
              <a:t>王东明</a:t>
            </a:r>
          </a:p>
        </p:txBody>
      </p:sp>
      <p:pic>
        <p:nvPicPr>
          <p:cNvPr id="18" name="Picture 2" descr="D:\Teliss_Tong\Copy\定期备份\工作备份\！PPT图片及版面资源\06-PPT精选插图\04-图标\59E394F1F59BE1688CBD1D9A59D1E886.png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555776" y="2986582"/>
            <a:ext cx="2885504" cy="3138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1214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7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1043608" y="0"/>
            <a:ext cx="1080120" cy="1052736"/>
          </a:xfrm>
          <a:prstGeom prst="rect">
            <a:avLst/>
          </a:prstGeom>
          <a:solidFill>
            <a:srgbClr val="FF91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 userDrawn="1"/>
        </p:nvSpPr>
        <p:spPr>
          <a:xfrm>
            <a:off x="1043608" y="548680"/>
            <a:ext cx="10801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前言</a:t>
            </a:r>
          </a:p>
        </p:txBody>
      </p:sp>
      <p:sp>
        <p:nvSpPr>
          <p:cNvPr id="4" name="椭圆 3"/>
          <p:cNvSpPr/>
          <p:nvPr userDrawn="1"/>
        </p:nvSpPr>
        <p:spPr>
          <a:xfrm>
            <a:off x="8461631" y="6348095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TextBox 15"/>
          <p:cNvSpPr txBox="1"/>
          <p:nvPr userDrawn="1"/>
        </p:nvSpPr>
        <p:spPr>
          <a:xfrm>
            <a:off x="8316416" y="6358818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pPr algn="ctr"/>
              <a:t>‹#›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3741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1043608" y="0"/>
            <a:ext cx="1080120" cy="1052736"/>
          </a:xfrm>
          <a:prstGeom prst="rect">
            <a:avLst/>
          </a:prstGeom>
          <a:solidFill>
            <a:srgbClr val="FF91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 userDrawn="1"/>
        </p:nvSpPr>
        <p:spPr>
          <a:xfrm>
            <a:off x="1043608" y="526368"/>
            <a:ext cx="10801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目录页</a:t>
            </a:r>
          </a:p>
        </p:txBody>
      </p:sp>
      <p:sp>
        <p:nvSpPr>
          <p:cNvPr id="6" name="椭圆 5"/>
          <p:cNvSpPr/>
          <p:nvPr userDrawn="1"/>
        </p:nvSpPr>
        <p:spPr>
          <a:xfrm>
            <a:off x="8461631" y="6348095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TextBox 15"/>
          <p:cNvSpPr txBox="1"/>
          <p:nvPr userDrawn="1"/>
        </p:nvSpPr>
        <p:spPr>
          <a:xfrm>
            <a:off x="8316416" y="6358818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pPr algn="ctr"/>
              <a:t>‹#›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18" name="Picture 3" descr="D:\Teliss_Tong\Copy\定期备份\工作备份\！PPT图片及版面资源\06-PPT精选插图\04-图标\西装小人.png"/>
          <p:cNvPicPr>
            <a:picLocks noChangeAspect="1" noChangeArrowheads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43608" y="1852068"/>
            <a:ext cx="2210937" cy="3098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0766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1043608" y="0"/>
            <a:ext cx="1080120" cy="1052736"/>
          </a:xfrm>
          <a:prstGeom prst="rect">
            <a:avLst/>
          </a:prstGeom>
          <a:solidFill>
            <a:srgbClr val="FF91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 userDrawn="1"/>
        </p:nvSpPr>
        <p:spPr>
          <a:xfrm>
            <a:off x="1043608" y="526368"/>
            <a:ext cx="10801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过渡页</a:t>
            </a:r>
          </a:p>
        </p:txBody>
      </p:sp>
      <p:sp>
        <p:nvSpPr>
          <p:cNvPr id="6" name="椭圆 5"/>
          <p:cNvSpPr/>
          <p:nvPr userDrawn="1"/>
        </p:nvSpPr>
        <p:spPr>
          <a:xfrm>
            <a:off x="8461631" y="6348095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TextBox 15"/>
          <p:cNvSpPr txBox="1"/>
          <p:nvPr userDrawn="1"/>
        </p:nvSpPr>
        <p:spPr>
          <a:xfrm>
            <a:off x="8316416" y="6358818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pPr algn="ctr"/>
              <a:t>‹#›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46169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4354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 userDrawn="1"/>
        </p:nvSpPr>
        <p:spPr bwMode="auto">
          <a:xfrm>
            <a:off x="1619251" y="548680"/>
            <a:ext cx="5905499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eaLnBrk="0" hangingPunct="0">
              <a:buFont typeface="Wingdings" pitchFamily="2" charset="2"/>
              <a:buNone/>
            </a:pPr>
            <a:endParaRPr lang="zh-CN" altLang="en-US" sz="3200" b="1" dirty="0">
              <a:solidFill>
                <a:prstClr val="white">
                  <a:lumMod val="65000"/>
                </a:prstClr>
              </a:solidFill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2349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60">
            <a:hlinkClick r:id="rId2"/>
          </p:cNvPr>
          <p:cNvSpPr>
            <a:spLocks noChangeArrowheads="1"/>
          </p:cNvSpPr>
          <p:nvPr userDrawn="1"/>
        </p:nvSpPr>
        <p:spPr bwMode="auto">
          <a:xfrm>
            <a:off x="5004049" y="2757241"/>
            <a:ext cx="444010" cy="523875"/>
          </a:xfrm>
          <a:prstGeom prst="ellipse">
            <a:avLst/>
          </a:prstGeom>
          <a:solidFill>
            <a:srgbClr val="0079C5">
              <a:alpha val="0"/>
            </a:srgbClr>
          </a:solidFill>
          <a:ln w="33338">
            <a:noFill/>
            <a:miter lim="800000"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3" name="Oval 61">
            <a:hlinkClick r:id="rId3"/>
          </p:cNvPr>
          <p:cNvSpPr>
            <a:spLocks noChangeArrowheads="1"/>
          </p:cNvSpPr>
          <p:nvPr userDrawn="1"/>
        </p:nvSpPr>
        <p:spPr bwMode="auto">
          <a:xfrm>
            <a:off x="5016011" y="3565675"/>
            <a:ext cx="420086" cy="521494"/>
          </a:xfrm>
          <a:prstGeom prst="ellipse">
            <a:avLst/>
          </a:prstGeom>
          <a:solidFill>
            <a:srgbClr val="0079C5">
              <a:alpha val="0"/>
            </a:srgbClr>
          </a:solidFill>
          <a:ln w="33338">
            <a:noFill/>
            <a:miter lim="800000"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4" name="矩形​​ 5"/>
          <p:cNvSpPr>
            <a:spLocks noChangeArrowheads="1"/>
          </p:cNvSpPr>
          <p:nvPr userDrawn="1"/>
        </p:nvSpPr>
        <p:spPr bwMode="auto">
          <a:xfrm>
            <a:off x="98301" y="538162"/>
            <a:ext cx="8964613" cy="3946525"/>
          </a:xfrm>
          <a:prstGeom prst="rect">
            <a:avLst/>
          </a:prstGeom>
          <a:solidFill>
            <a:srgbClr val="00ADDC"/>
          </a:solidFill>
          <a:ln w="9525" cmpd="sng">
            <a:noFill/>
            <a:miter lim="800000"/>
            <a:headEnd/>
            <a:tailEnd/>
          </a:ln>
        </p:spPr>
        <p:txBody>
          <a:bodyPr lIns="288000" anchor="b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 sz="2800" dirty="0">
              <a:solidFill>
                <a:prstClr val="white"/>
              </a:solidFill>
              <a:ea typeface="微软雅黑" panose="020B0503020204020204" pitchFamily="34" charset="-122"/>
              <a:sym typeface="Arial" pitchFamily="34" charset="0"/>
            </a:endParaRPr>
          </a:p>
        </p:txBody>
      </p:sp>
      <p:sp>
        <p:nvSpPr>
          <p:cNvPr id="6" name="Line 33"/>
          <p:cNvSpPr>
            <a:spLocks noChangeShapeType="1"/>
          </p:cNvSpPr>
          <p:nvPr userDrawn="1"/>
        </p:nvSpPr>
        <p:spPr bwMode="auto">
          <a:xfrm flipV="1">
            <a:off x="5224465" y="1671390"/>
            <a:ext cx="1587" cy="2700338"/>
          </a:xfrm>
          <a:prstGeom prst="line">
            <a:avLst/>
          </a:prstGeom>
          <a:noFill/>
          <a:ln w="33338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8" name="Freeform 18"/>
          <p:cNvSpPr>
            <a:spLocks/>
          </p:cNvSpPr>
          <p:nvPr userDrawn="1"/>
        </p:nvSpPr>
        <p:spPr bwMode="auto">
          <a:xfrm>
            <a:off x="1366838" y="2767956"/>
            <a:ext cx="201612" cy="1279922"/>
          </a:xfrm>
          <a:custGeom>
            <a:avLst/>
            <a:gdLst>
              <a:gd name="T0" fmla="*/ 127 w 127"/>
              <a:gd name="T1" fmla="*/ 0 h 1075"/>
              <a:gd name="T2" fmla="*/ 0 w 127"/>
              <a:gd name="T3" fmla="*/ 1075 h 1075"/>
              <a:gd name="T4" fmla="*/ 127 w 127"/>
              <a:gd name="T5" fmla="*/ 0 h 1075"/>
              <a:gd name="T6" fmla="*/ 0 60000 65536"/>
              <a:gd name="T7" fmla="*/ 0 60000 65536"/>
              <a:gd name="T8" fmla="*/ 0 60000 65536"/>
              <a:gd name="T9" fmla="*/ 0 w 127"/>
              <a:gd name="T10" fmla="*/ 0 h 1075"/>
              <a:gd name="T11" fmla="*/ 127 w 127"/>
              <a:gd name="T12" fmla="*/ 1075 h 107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7" h="1075">
                <a:moveTo>
                  <a:pt x="127" y="0"/>
                </a:moveTo>
                <a:lnTo>
                  <a:pt x="0" y="1075"/>
                </a:lnTo>
                <a:lnTo>
                  <a:pt x="127" y="0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10" name="Freeform 20"/>
          <p:cNvSpPr>
            <a:spLocks/>
          </p:cNvSpPr>
          <p:nvPr userDrawn="1"/>
        </p:nvSpPr>
        <p:spPr bwMode="auto">
          <a:xfrm>
            <a:off x="2717800" y="2561978"/>
            <a:ext cx="7938" cy="1806178"/>
          </a:xfrm>
          <a:custGeom>
            <a:avLst/>
            <a:gdLst>
              <a:gd name="T0" fmla="*/ 0 w 5"/>
              <a:gd name="T1" fmla="*/ 0 h 1517"/>
              <a:gd name="T2" fmla="*/ 5 w 5"/>
              <a:gd name="T3" fmla="*/ 1517 h 1517"/>
              <a:gd name="T4" fmla="*/ 0 w 5"/>
              <a:gd name="T5" fmla="*/ 0 h 1517"/>
              <a:gd name="T6" fmla="*/ 0 60000 65536"/>
              <a:gd name="T7" fmla="*/ 0 60000 65536"/>
              <a:gd name="T8" fmla="*/ 0 60000 65536"/>
              <a:gd name="T9" fmla="*/ 0 w 5"/>
              <a:gd name="T10" fmla="*/ 0 h 1517"/>
              <a:gd name="T11" fmla="*/ 5 w 5"/>
              <a:gd name="T12" fmla="*/ 1517 h 151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" h="1517">
                <a:moveTo>
                  <a:pt x="0" y="0"/>
                </a:moveTo>
                <a:lnTo>
                  <a:pt x="5" y="151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12" name="Oval 22"/>
          <p:cNvSpPr>
            <a:spLocks noChangeArrowheads="1"/>
          </p:cNvSpPr>
          <p:nvPr userDrawn="1"/>
        </p:nvSpPr>
        <p:spPr bwMode="auto">
          <a:xfrm>
            <a:off x="4716019" y="692696"/>
            <a:ext cx="1008109" cy="978694"/>
          </a:xfrm>
          <a:prstGeom prst="ellipse">
            <a:avLst/>
          </a:prstGeom>
          <a:noFill/>
          <a:ln w="33338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prstClr val="white"/>
                </a:solidFill>
                <a:ea typeface="微软雅黑" panose="020B0503020204020204" pitchFamily="34" charset="-122"/>
              </a:rPr>
              <a:t>授课教师</a:t>
            </a:r>
          </a:p>
        </p:txBody>
      </p:sp>
      <p:sp>
        <p:nvSpPr>
          <p:cNvPr id="14" name="Oval 25"/>
          <p:cNvSpPr>
            <a:spLocks noChangeArrowheads="1"/>
          </p:cNvSpPr>
          <p:nvPr userDrawn="1"/>
        </p:nvSpPr>
        <p:spPr bwMode="auto">
          <a:xfrm>
            <a:off x="4944003" y="1965479"/>
            <a:ext cx="564102" cy="523876"/>
          </a:xfrm>
          <a:prstGeom prst="ellipse">
            <a:avLst/>
          </a:prstGeom>
          <a:solidFill>
            <a:schemeClr val="accent1"/>
          </a:solidFill>
          <a:ln w="33338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grpSp>
        <p:nvGrpSpPr>
          <p:cNvPr id="16" name="Group 63"/>
          <p:cNvGrpSpPr>
            <a:grpSpLocks/>
          </p:cNvGrpSpPr>
          <p:nvPr userDrawn="1"/>
        </p:nvGrpSpPr>
        <p:grpSpPr bwMode="auto">
          <a:xfrm>
            <a:off x="4944004" y="2757241"/>
            <a:ext cx="564100" cy="523875"/>
            <a:chOff x="3073" y="2610"/>
            <a:chExt cx="438" cy="440"/>
          </a:xfrm>
        </p:grpSpPr>
        <p:sp>
          <p:nvSpPr>
            <p:cNvPr id="17" name="Rectangle 28"/>
            <p:cNvSpPr>
              <a:spLocks noChangeArrowheads="1"/>
            </p:cNvSpPr>
            <p:nvPr/>
          </p:nvSpPr>
          <p:spPr bwMode="auto">
            <a:xfrm>
              <a:off x="3181" y="2748"/>
              <a:ext cx="222" cy="164"/>
            </a:xfrm>
            <a:prstGeom prst="rect">
              <a:avLst/>
            </a:prstGeom>
            <a:solidFill>
              <a:srgbClr val="FFFFFF"/>
            </a:solidFill>
            <a:ln w="11113">
              <a:noFill/>
              <a:miter lim="800000"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18" name="Freeform 29"/>
            <p:cNvSpPr>
              <a:spLocks/>
            </p:cNvSpPr>
            <p:nvPr/>
          </p:nvSpPr>
          <p:spPr bwMode="auto">
            <a:xfrm>
              <a:off x="3182" y="2748"/>
              <a:ext cx="220" cy="110"/>
            </a:xfrm>
            <a:custGeom>
              <a:avLst/>
              <a:gdLst>
                <a:gd name="T0" fmla="*/ 0 w 278"/>
                <a:gd name="T1" fmla="*/ 0 h 140"/>
                <a:gd name="T2" fmla="*/ 138 w 278"/>
                <a:gd name="T3" fmla="*/ 140 h 140"/>
                <a:gd name="T4" fmla="*/ 278 w 278"/>
                <a:gd name="T5" fmla="*/ 0 h 140"/>
                <a:gd name="T6" fmla="*/ 0 w 278"/>
                <a:gd name="T7" fmla="*/ 0 h 14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78"/>
                <a:gd name="T13" fmla="*/ 0 h 140"/>
                <a:gd name="T14" fmla="*/ 278 w 278"/>
                <a:gd name="T15" fmla="*/ 140 h 14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78" h="140">
                  <a:moveTo>
                    <a:pt x="0" y="0"/>
                  </a:moveTo>
                  <a:lnTo>
                    <a:pt x="138" y="140"/>
                  </a:lnTo>
                  <a:lnTo>
                    <a:pt x="2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accent1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19" name="Oval 27"/>
            <p:cNvSpPr>
              <a:spLocks noChangeArrowheads="1"/>
            </p:cNvSpPr>
            <p:nvPr/>
          </p:nvSpPr>
          <p:spPr bwMode="auto">
            <a:xfrm>
              <a:off x="3073" y="2610"/>
              <a:ext cx="438" cy="440"/>
            </a:xfrm>
            <a:prstGeom prst="ellipse">
              <a:avLst/>
            </a:prstGeom>
            <a:solidFill>
              <a:schemeClr val="accent1"/>
            </a:solidFill>
            <a:ln w="33338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0" name="Group 64"/>
          <p:cNvGrpSpPr>
            <a:grpSpLocks/>
          </p:cNvGrpSpPr>
          <p:nvPr userDrawn="1"/>
        </p:nvGrpSpPr>
        <p:grpSpPr bwMode="auto">
          <a:xfrm>
            <a:off x="4944004" y="3565675"/>
            <a:ext cx="564100" cy="521494"/>
            <a:chOff x="3073" y="3289"/>
            <a:chExt cx="438" cy="438"/>
          </a:xfrm>
        </p:grpSpPr>
        <p:sp>
          <p:nvSpPr>
            <p:cNvPr id="21" name="Freeform 32"/>
            <p:cNvSpPr>
              <a:spLocks/>
            </p:cNvSpPr>
            <p:nvPr/>
          </p:nvSpPr>
          <p:spPr bwMode="auto">
            <a:xfrm>
              <a:off x="3173" y="3389"/>
              <a:ext cx="240" cy="241"/>
            </a:xfrm>
            <a:custGeom>
              <a:avLst/>
              <a:gdLst>
                <a:gd name="T0" fmla="*/ 303 w 303"/>
                <a:gd name="T1" fmla="*/ 263 h 305"/>
                <a:gd name="T2" fmla="*/ 171 w 303"/>
                <a:gd name="T3" fmla="*/ 131 h 305"/>
                <a:gd name="T4" fmla="*/ 223 w 303"/>
                <a:gd name="T5" fmla="*/ 77 h 305"/>
                <a:gd name="T6" fmla="*/ 0 w 303"/>
                <a:gd name="T7" fmla="*/ 0 h 305"/>
                <a:gd name="T8" fmla="*/ 76 w 303"/>
                <a:gd name="T9" fmla="*/ 224 h 305"/>
                <a:gd name="T10" fmla="*/ 129 w 303"/>
                <a:gd name="T11" fmla="*/ 170 h 305"/>
                <a:gd name="T12" fmla="*/ 262 w 303"/>
                <a:gd name="T13" fmla="*/ 305 h 305"/>
                <a:gd name="T14" fmla="*/ 303 w 303"/>
                <a:gd name="T15" fmla="*/ 263 h 30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303"/>
                <a:gd name="T25" fmla="*/ 0 h 305"/>
                <a:gd name="T26" fmla="*/ 303 w 303"/>
                <a:gd name="T27" fmla="*/ 305 h 305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303" h="305">
                  <a:moveTo>
                    <a:pt x="303" y="263"/>
                  </a:moveTo>
                  <a:lnTo>
                    <a:pt x="171" y="131"/>
                  </a:lnTo>
                  <a:lnTo>
                    <a:pt x="223" y="77"/>
                  </a:lnTo>
                  <a:lnTo>
                    <a:pt x="0" y="0"/>
                  </a:lnTo>
                  <a:lnTo>
                    <a:pt x="76" y="224"/>
                  </a:lnTo>
                  <a:lnTo>
                    <a:pt x="129" y="170"/>
                  </a:lnTo>
                  <a:lnTo>
                    <a:pt x="262" y="305"/>
                  </a:lnTo>
                  <a:lnTo>
                    <a:pt x="303" y="263"/>
                  </a:lnTo>
                  <a:close/>
                </a:path>
              </a:pathLst>
            </a:custGeom>
            <a:solidFill>
              <a:schemeClr val="bg1"/>
            </a:solidFill>
            <a:ln w="11113" cap="flat">
              <a:noFill/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22" name="Oval 30"/>
            <p:cNvSpPr>
              <a:spLocks noChangeArrowheads="1"/>
            </p:cNvSpPr>
            <p:nvPr/>
          </p:nvSpPr>
          <p:spPr bwMode="auto">
            <a:xfrm>
              <a:off x="3073" y="3289"/>
              <a:ext cx="438" cy="438"/>
            </a:xfrm>
            <a:prstGeom prst="ellipse">
              <a:avLst/>
            </a:prstGeom>
            <a:solidFill>
              <a:schemeClr val="accent1"/>
            </a:solidFill>
            <a:ln w="33338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</p:grpSp>
      <p:sp>
        <p:nvSpPr>
          <p:cNvPr id="23" name="Line 43"/>
          <p:cNvSpPr>
            <a:spLocks noChangeShapeType="1"/>
          </p:cNvSpPr>
          <p:nvPr userDrawn="1"/>
        </p:nvSpPr>
        <p:spPr bwMode="auto">
          <a:xfrm>
            <a:off x="774700" y="2878685"/>
            <a:ext cx="1588" cy="1190"/>
          </a:xfrm>
          <a:prstGeom prst="line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24" name="Line 45"/>
          <p:cNvSpPr>
            <a:spLocks noChangeShapeType="1"/>
          </p:cNvSpPr>
          <p:nvPr userDrawn="1"/>
        </p:nvSpPr>
        <p:spPr bwMode="auto">
          <a:xfrm>
            <a:off x="3741739" y="910581"/>
            <a:ext cx="1587" cy="1191"/>
          </a:xfrm>
          <a:prstGeom prst="line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31" name="Text Box 52"/>
          <p:cNvSpPr txBox="1">
            <a:spLocks noChangeArrowheads="1"/>
          </p:cNvSpPr>
          <p:nvPr userDrawn="1"/>
        </p:nvSpPr>
        <p:spPr bwMode="auto">
          <a:xfrm>
            <a:off x="5802759" y="2051200"/>
            <a:ext cx="3233737" cy="3512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Tel</a:t>
            </a:r>
            <a:r>
              <a:rPr lang="zh-CN" altLang="en-US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：</a:t>
            </a:r>
            <a:r>
              <a:rPr lang="en-US" altLang="zh-CN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13915982595</a:t>
            </a:r>
            <a:endParaRPr lang="en-GB" altLang="zh-CN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32" name="Text Box 54"/>
          <p:cNvSpPr txBox="1">
            <a:spLocks noChangeArrowheads="1"/>
          </p:cNvSpPr>
          <p:nvPr userDrawn="1"/>
        </p:nvSpPr>
        <p:spPr bwMode="auto">
          <a:xfrm>
            <a:off x="5796136" y="2842965"/>
            <a:ext cx="2952328" cy="3512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wangdm@seu.edu.cn</a:t>
            </a:r>
          </a:p>
        </p:txBody>
      </p:sp>
      <p:sp>
        <p:nvSpPr>
          <p:cNvPr id="33" name="Text Box 59"/>
          <p:cNvSpPr txBox="1">
            <a:spLocks noChangeArrowheads="1"/>
          </p:cNvSpPr>
          <p:nvPr userDrawn="1"/>
        </p:nvSpPr>
        <p:spPr bwMode="auto">
          <a:xfrm>
            <a:off x="5796136" y="3668617"/>
            <a:ext cx="1728192" cy="3512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rgbClr val="FFFFFF"/>
                </a:solidFill>
                <a:ea typeface="微软雅黑" panose="020B0503020204020204" pitchFamily="34" charset="-122"/>
              </a:rPr>
              <a:t>无线谷</a:t>
            </a:r>
            <a:r>
              <a:rPr lang="en-US" altLang="zh-CN" sz="1600" b="1" dirty="0">
                <a:solidFill>
                  <a:srgbClr val="FFFFFF"/>
                </a:solidFill>
                <a:ea typeface="微软雅黑" panose="020B0503020204020204" pitchFamily="34" charset="-122"/>
              </a:rPr>
              <a:t>1-205</a:t>
            </a:r>
            <a:endParaRPr lang="en-US" altLang="zh-CN" sz="1600" b="1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34" name="Text Box 62"/>
          <p:cNvSpPr txBox="1">
            <a:spLocks noChangeArrowheads="1"/>
          </p:cNvSpPr>
          <p:nvPr userDrawn="1"/>
        </p:nvSpPr>
        <p:spPr bwMode="auto">
          <a:xfrm>
            <a:off x="5796136" y="764704"/>
            <a:ext cx="3252000" cy="919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rgbClr val="FFFFFF"/>
                </a:solidFill>
                <a:ea typeface="微软雅黑" panose="020B0503020204020204" pitchFamily="34" charset="-122"/>
              </a:rPr>
              <a:t>王东明</a:t>
            </a:r>
            <a:endParaRPr lang="en-US" altLang="zh-CN" sz="1600" b="1" dirty="0">
              <a:solidFill>
                <a:srgbClr val="FFFFFF"/>
              </a:solidFill>
              <a:ea typeface="微软雅黑" panose="020B0503020204020204" pitchFamily="34" charset="-122"/>
            </a:endParaRP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srgbClr val="FFFFFF"/>
                </a:solidFill>
                <a:ea typeface="微软雅黑" panose="020B0503020204020204" pitchFamily="34" charset="-122"/>
              </a:rPr>
              <a:t>移动通信国家重点实验室</a:t>
            </a:r>
            <a:endParaRPr lang="en-GB" altLang="zh-CN" sz="1100" b="1" dirty="0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35" name="TextBox 34"/>
          <p:cNvSpPr txBox="1"/>
          <p:nvPr userDrawn="1"/>
        </p:nvSpPr>
        <p:spPr>
          <a:xfrm>
            <a:off x="969273" y="1916832"/>
            <a:ext cx="2954655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5400" b="1" dirty="0">
                <a:solidFill>
                  <a:srgbClr val="FFFFFF"/>
                </a:solidFill>
                <a:ea typeface="微软雅黑" panose="020B0503020204020204" pitchFamily="34" charset="-122"/>
              </a:rPr>
              <a:t>谢谢听讲</a:t>
            </a:r>
          </a:p>
        </p:txBody>
      </p:sp>
      <p:pic>
        <p:nvPicPr>
          <p:cNvPr id="37" name="图片 36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699" y="4609838"/>
            <a:ext cx="2889201" cy="1909115"/>
          </a:xfrm>
          <a:prstGeom prst="rect">
            <a:avLst/>
          </a:prstGeom>
        </p:spPr>
      </p:pic>
      <p:pic>
        <p:nvPicPr>
          <p:cNvPr id="38" name="图片 37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9579" y="4609838"/>
            <a:ext cx="3024336" cy="1921895"/>
          </a:xfrm>
          <a:prstGeom prst="rect">
            <a:avLst/>
          </a:prstGeom>
        </p:spPr>
      </p:pic>
      <p:pic>
        <p:nvPicPr>
          <p:cNvPr id="46" name="图片 45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4603449"/>
            <a:ext cx="2863673" cy="1909115"/>
          </a:xfrm>
          <a:prstGeom prst="rect">
            <a:avLst/>
          </a:prstGeom>
        </p:spPr>
      </p:pic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40742" y="2823944"/>
            <a:ext cx="402490" cy="402490"/>
          </a:xfrm>
          <a:prstGeom prst="rect">
            <a:avLst/>
          </a:prstGeom>
        </p:spPr>
      </p:pic>
      <p:pic>
        <p:nvPicPr>
          <p:cNvPr id="41" name="Picture 4" descr="E:\仝德志文件，勿删！\03-参考文档\！PPT图片及版面资源\06-PPT精选插图\04-图标\home256.png"/>
          <p:cNvPicPr>
            <a:picLocks noChangeAspect="1" noChangeArrowheads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063037" y="3651103"/>
            <a:ext cx="357899" cy="357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5" descr="E:\仝德志文件，勿删！\03-参考文档\！PPT图片及版面资源\06-PPT精选插图\04-图标\png-0030.png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055260" y="2054293"/>
            <a:ext cx="348142" cy="348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6169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6" presetClass="entr" presetSubtype="21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10" grpId="0" animBg="1"/>
      <p:bldP spid="12" grpId="0" animBg="1"/>
      <p:bldP spid="23" grpId="0"/>
      <p:bldP spid="24" grpId="0"/>
      <p:bldP spid="31" grpId="0"/>
      <p:bldP spid="32" grpId="0"/>
      <p:bldP spid="33" grpId="0"/>
      <p:bldP spid="34" grpId="0"/>
      <p:bldP spid="35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>
            <a:off x="-32" y="6599238"/>
            <a:ext cx="7307263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V="1">
            <a:off x="7367588" y="6165850"/>
            <a:ext cx="0" cy="431800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flipV="1">
            <a:off x="7451725" y="6308725"/>
            <a:ext cx="0" cy="288925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flipV="1">
            <a:off x="611188" y="-26988"/>
            <a:ext cx="0" cy="431801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768350" y="0"/>
            <a:ext cx="0" cy="287338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椭圆 8"/>
          <p:cNvSpPr/>
          <p:nvPr userDrawn="1"/>
        </p:nvSpPr>
        <p:spPr>
          <a:xfrm>
            <a:off x="431188" y="6201750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TextBox 15"/>
          <p:cNvSpPr txBox="1"/>
          <p:nvPr userDrawn="1"/>
        </p:nvSpPr>
        <p:spPr>
          <a:xfrm>
            <a:off x="285973" y="6212473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pPr algn="ctr"/>
              <a:t>‹#›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0569" y="6043193"/>
            <a:ext cx="705847" cy="69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669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66" r:id="rId2"/>
    <p:sldLayoutId id="2147483671" r:id="rId3"/>
    <p:sldLayoutId id="2147483676" r:id="rId4"/>
    <p:sldLayoutId id="2147483677" r:id="rId5"/>
    <p:sldLayoutId id="2147483681" r:id="rId6"/>
    <p:sldLayoutId id="2147483678" r:id="rId7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78047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3851274" y="1000116"/>
            <a:ext cx="5007006" cy="11430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微软雅黑" panose="020B0503020204020204" pitchFamily="34" charset="-122"/>
                <a:cs typeface="Arial"/>
              </a:rPr>
              <a:t>本节</a:t>
            </a:r>
            <a:r>
              <a:rPr lang="zh-CN" altLang="en-US" sz="5300" dirty="0">
                <a:solidFill>
                  <a:srgbClr val="00C4F0"/>
                </a:solidFill>
                <a:ea typeface="微软雅黑" panose="020B0503020204020204" pitchFamily="34" charset="-122"/>
                <a:cs typeface="+mn-cs"/>
              </a:rPr>
              <a:t>目标</a:t>
            </a:r>
            <a:r>
              <a:rPr lang="en-US" altLang="zh-CN" dirty="0">
                <a:latin typeface="Arial"/>
                <a:ea typeface="微软雅黑" panose="020B0503020204020204" pitchFamily="34" charset="-122"/>
                <a:cs typeface="Arial"/>
              </a:rPr>
              <a:t>• </a:t>
            </a:r>
            <a:r>
              <a:rPr lang="en-US" altLang="zh-CN" sz="2800" b="0" dirty="0">
                <a:solidFill>
                  <a:srgbClr val="FFC000"/>
                </a:solidFill>
                <a:latin typeface="Tahoma" pitchFamily="34" charset="0"/>
                <a:ea typeface="微软简综艺" pitchFamily="49" charset="-122"/>
                <a:cs typeface="Tahoma" pitchFamily="34" charset="0"/>
              </a:rPr>
              <a:t>OBJECTIVE</a:t>
            </a:r>
            <a:endParaRPr lang="zh-CN" altLang="en-US" sz="1800" b="0" dirty="0">
              <a:solidFill>
                <a:srgbClr val="FFC000"/>
              </a:solidFill>
              <a:latin typeface="Tahoma" pitchFamily="34" charset="0"/>
              <a:ea typeface="微软简综艺" pitchFamily="49" charset="-122"/>
              <a:cs typeface="Tahoma" pitchFamily="34" charset="0"/>
            </a:endParaRPr>
          </a:p>
        </p:txBody>
      </p:sp>
      <p:sp>
        <p:nvSpPr>
          <p:cNvPr id="4099" name="矩形 4"/>
          <p:cNvSpPr>
            <a:spLocks noChangeArrowheads="1"/>
          </p:cNvSpPr>
          <p:nvPr/>
        </p:nvSpPr>
        <p:spPr bwMode="auto">
          <a:xfrm>
            <a:off x="3851275" y="2276872"/>
            <a:ext cx="5113338" cy="19343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85750" indent="-285750">
              <a:lnSpc>
                <a:spcPct val="134000"/>
              </a:lnSpc>
              <a:spcBef>
                <a:spcPts val="400"/>
              </a:spcBef>
              <a:spcAft>
                <a:spcPts val="6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熟悉</a:t>
            </a:r>
            <a:r>
              <a:rPr lang="zh-CN" altLang="en-US" sz="2000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串行通信的概念（重点）</a:t>
            </a:r>
            <a:endParaRPr lang="en-US" altLang="zh-CN" sz="2000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34000"/>
              </a:lnSpc>
              <a:spcBef>
                <a:spcPts val="400"/>
              </a:spcBef>
              <a:spcAft>
                <a:spcPts val="6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熟悉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8250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sz="2000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工作模式（重点）</a:t>
            </a:r>
            <a:endParaRPr lang="en-US" altLang="zh-CN" sz="200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34000"/>
              </a:lnSpc>
              <a:spcBef>
                <a:spcPts val="400"/>
              </a:spcBef>
              <a:spcAft>
                <a:spcPts val="6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熟悉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8250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sz="2000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初始化（重点）</a:t>
            </a:r>
            <a:endParaRPr lang="en-US" altLang="zh-CN" sz="2000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  <a:p>
            <a:pPr marL="285750" indent="-285750">
              <a:lnSpc>
                <a:spcPct val="134000"/>
              </a:lnSpc>
              <a:spcBef>
                <a:spcPts val="400"/>
              </a:spcBef>
              <a:spcAft>
                <a:spcPts val="6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掌握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8250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sz="2000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串行通信实现方法（重点）</a:t>
            </a:r>
            <a:endParaRPr lang="en-US" altLang="zh-CN" sz="200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8" name="Picture 4" descr="http://lusongsong.com/upload/173_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5576" y="2060848"/>
            <a:ext cx="2808312" cy="2808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2482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09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问号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16" y="5253127"/>
            <a:ext cx="1728439" cy="1343740"/>
          </a:xfrm>
          <a:prstGeom prst="rect">
            <a:avLst/>
          </a:prstGeom>
        </p:spPr>
      </p:pic>
      <p:sp>
        <p:nvSpPr>
          <p:cNvPr id="5" name="流程图: 可选过程 4"/>
          <p:cNvSpPr/>
          <p:nvPr/>
        </p:nvSpPr>
        <p:spPr>
          <a:xfrm>
            <a:off x="2278872" y="1628800"/>
            <a:ext cx="6397584" cy="902445"/>
          </a:xfrm>
          <a:prstGeom prst="flowChartAlternateProcess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串行通信：通信的格式是什么？</a:t>
            </a:r>
          </a:p>
        </p:txBody>
      </p:sp>
      <p:sp>
        <p:nvSpPr>
          <p:cNvPr id="19" name="流程图: 可选过程 18"/>
          <p:cNvSpPr/>
          <p:nvPr/>
        </p:nvSpPr>
        <p:spPr>
          <a:xfrm>
            <a:off x="2267744" y="2780928"/>
            <a:ext cx="6397584" cy="902445"/>
          </a:xfrm>
          <a:prstGeom prst="flowChartAlternateProcess">
            <a:avLst/>
          </a:prstGeom>
          <a:solidFill>
            <a:srgbClr val="00B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8250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的内部结构、典型的连接和应用？</a:t>
            </a:r>
          </a:p>
        </p:txBody>
      </p:sp>
      <p:sp>
        <p:nvSpPr>
          <p:cNvPr id="21" name="流程图: 可选过程 20"/>
          <p:cNvSpPr/>
          <p:nvPr/>
        </p:nvSpPr>
        <p:spPr>
          <a:xfrm>
            <a:off x="2267744" y="3894707"/>
            <a:ext cx="6397584" cy="902445"/>
          </a:xfrm>
          <a:prstGeom prst="flowChartAlternateProcess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如何用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8250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完成串行通信？</a:t>
            </a:r>
          </a:p>
        </p:txBody>
      </p:sp>
      <p:sp>
        <p:nvSpPr>
          <p:cNvPr id="33" name="椭圆 32"/>
          <p:cNvSpPr/>
          <p:nvPr/>
        </p:nvSpPr>
        <p:spPr>
          <a:xfrm>
            <a:off x="1259632" y="1767902"/>
            <a:ext cx="624239" cy="624239"/>
          </a:xfrm>
          <a:prstGeom prst="ellipse">
            <a:avLst/>
          </a:prstGeom>
          <a:solidFill>
            <a:srgbClr val="6969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1</a:t>
            </a:r>
            <a:endParaRPr lang="zh-CN" altLang="en-US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4" name="椭圆 33"/>
          <p:cNvSpPr/>
          <p:nvPr/>
        </p:nvSpPr>
        <p:spPr>
          <a:xfrm>
            <a:off x="1259632" y="2948777"/>
            <a:ext cx="624239" cy="624239"/>
          </a:xfrm>
          <a:prstGeom prst="ellipse">
            <a:avLst/>
          </a:prstGeom>
          <a:solidFill>
            <a:srgbClr val="6969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2</a:t>
            </a:r>
            <a:endParaRPr lang="zh-CN" altLang="en-US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5" name="椭圆 34"/>
          <p:cNvSpPr/>
          <p:nvPr/>
        </p:nvSpPr>
        <p:spPr>
          <a:xfrm>
            <a:off x="1259632" y="4028897"/>
            <a:ext cx="624239" cy="624239"/>
          </a:xfrm>
          <a:prstGeom prst="ellipse">
            <a:avLst/>
          </a:prstGeom>
          <a:solidFill>
            <a:srgbClr val="6969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3</a:t>
            </a:r>
            <a:endParaRPr lang="zh-CN" altLang="en-US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99786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/>
          <p:cNvSpPr txBox="1"/>
          <p:nvPr/>
        </p:nvSpPr>
        <p:spPr>
          <a:xfrm>
            <a:off x="4292127" y="1867768"/>
            <a:ext cx="3808265" cy="841375"/>
          </a:xfrm>
          <a:prstGeom prst="roundRect">
            <a:avLst>
              <a:gd name="adj" fmla="val 8176"/>
            </a:avLst>
          </a:prstGeom>
          <a:solidFill>
            <a:srgbClr val="5DCB08"/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/>
          <a:p>
            <a:pPr algn="ctr">
              <a:defRPr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串行通信概念</a:t>
            </a:r>
          </a:p>
        </p:txBody>
      </p:sp>
      <p:sp>
        <p:nvSpPr>
          <p:cNvPr id="3" name="椭圆 2"/>
          <p:cNvSpPr/>
          <p:nvPr/>
        </p:nvSpPr>
        <p:spPr>
          <a:xfrm>
            <a:off x="3859857" y="1916832"/>
            <a:ext cx="745008" cy="733425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itchFamily="34" charset="-122"/>
              </a:rPr>
              <a:t>1</a:t>
            </a:r>
            <a:endParaRPr lang="zh-CN" altLang="en-US" sz="2800" b="1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itchFamily="34" charset="-122"/>
            </a:endParaRPr>
          </a:p>
        </p:txBody>
      </p:sp>
      <p:sp>
        <p:nvSpPr>
          <p:cNvPr id="4" name="TextBox 9"/>
          <p:cNvSpPr txBox="1"/>
          <p:nvPr/>
        </p:nvSpPr>
        <p:spPr>
          <a:xfrm>
            <a:off x="4292127" y="3020293"/>
            <a:ext cx="3808265" cy="841375"/>
          </a:xfrm>
          <a:prstGeom prst="roundRect">
            <a:avLst>
              <a:gd name="adj" fmla="val 8176"/>
            </a:avLst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>
            <a:defPPr>
              <a:defRPr lang="en-US"/>
            </a:defPPr>
            <a:lvl1pPr algn="ctr">
              <a:defRPr sz="2800" b="1">
                <a:solidFill>
                  <a:srgbClr val="A6A6A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8250</a:t>
            </a:r>
            <a:r>
              <a:rPr lang="zh-CN" altLang="en-US" dirty="0"/>
              <a:t>串行通信芯片</a:t>
            </a:r>
          </a:p>
        </p:txBody>
      </p:sp>
      <p:sp>
        <p:nvSpPr>
          <p:cNvPr id="5" name="椭圆 4"/>
          <p:cNvSpPr/>
          <p:nvPr/>
        </p:nvSpPr>
        <p:spPr>
          <a:xfrm>
            <a:off x="3859857" y="3069357"/>
            <a:ext cx="745008" cy="733425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itchFamily="34" charset="-122"/>
              </a:rPr>
              <a:t>2</a:t>
            </a:r>
            <a:endParaRPr lang="zh-CN" altLang="en-US" sz="2800" b="1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itchFamily="34" charset="-122"/>
            </a:endParaRPr>
          </a:p>
        </p:txBody>
      </p:sp>
      <p:sp>
        <p:nvSpPr>
          <p:cNvPr id="6" name="TextBox 9"/>
          <p:cNvSpPr txBox="1"/>
          <p:nvPr/>
        </p:nvSpPr>
        <p:spPr>
          <a:xfrm>
            <a:off x="4284190" y="4171801"/>
            <a:ext cx="3808265" cy="841375"/>
          </a:xfrm>
          <a:prstGeom prst="roundRect">
            <a:avLst>
              <a:gd name="adj" fmla="val 8176"/>
            </a:avLst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>
            <a:defPPr>
              <a:defRPr lang="en-US"/>
            </a:defPPr>
            <a:lvl1pPr algn="ctr">
              <a:defRPr sz="2800" b="1">
                <a:solidFill>
                  <a:srgbClr val="A6A6A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8250</a:t>
            </a:r>
            <a:r>
              <a:rPr lang="zh-CN" altLang="en-US" dirty="0"/>
              <a:t>编程和应用</a:t>
            </a:r>
          </a:p>
        </p:txBody>
      </p:sp>
      <p:sp>
        <p:nvSpPr>
          <p:cNvPr id="7" name="椭圆 6"/>
          <p:cNvSpPr/>
          <p:nvPr/>
        </p:nvSpPr>
        <p:spPr>
          <a:xfrm>
            <a:off x="3851920" y="4220865"/>
            <a:ext cx="745008" cy="733425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itchFamily="34" charset="-122"/>
              </a:rPr>
              <a:t>3</a:t>
            </a:r>
            <a:endParaRPr lang="zh-CN" altLang="en-US" sz="2800" b="1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24005816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/>
          <p:cNvSpPr/>
          <p:nvPr/>
        </p:nvSpPr>
        <p:spPr>
          <a:xfrm>
            <a:off x="8461631" y="6348095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15"/>
          <p:cNvSpPr txBox="1"/>
          <p:nvPr/>
        </p:nvSpPr>
        <p:spPr>
          <a:xfrm>
            <a:off x="8316416" y="6358818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pPr algn="ctr"/>
              <a:t>5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2" name="TextBox 15"/>
          <p:cNvSpPr txBox="1">
            <a:spLocks noChangeArrowheads="1"/>
          </p:cNvSpPr>
          <p:nvPr/>
        </p:nvSpPr>
        <p:spPr bwMode="auto">
          <a:xfrm>
            <a:off x="3110260" y="3685282"/>
            <a:ext cx="3405956" cy="2515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7730" tIns="33865" rIns="67730" bIns="33865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 indent="-342900"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工作方式</a:t>
            </a:r>
            <a:endParaRPr lang="en-US" altLang="zh-CN" sz="2400" b="1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串行传输速率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调制解调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indent="-342900"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串行通信协议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1404144" y="1772816"/>
            <a:ext cx="6264275" cy="1587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cxnSp>
        <p:nvCxnSpPr>
          <p:cNvPr id="15" name="直接连接符 14"/>
          <p:cNvCxnSpPr/>
          <p:nvPr/>
        </p:nvCxnSpPr>
        <p:spPr>
          <a:xfrm>
            <a:off x="1475582" y="3501603"/>
            <a:ext cx="6264275" cy="1588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sp>
        <p:nvSpPr>
          <p:cNvPr id="16" name="TextBox 10"/>
          <p:cNvSpPr txBox="1">
            <a:spLocks noChangeArrowheads="1"/>
          </p:cNvSpPr>
          <p:nvPr/>
        </p:nvSpPr>
        <p:spPr bwMode="auto">
          <a:xfrm>
            <a:off x="1475697" y="2056914"/>
            <a:ext cx="6985934" cy="1162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14000"/>
              </a:lnSpc>
            </a:pPr>
            <a:r>
              <a:rPr lang="zh-CN" altLang="en-US" sz="66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串行通信的概念</a:t>
            </a:r>
            <a:endParaRPr lang="zh-CN" altLang="en-US" sz="80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24053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串行通信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grpSp>
        <p:nvGrpSpPr>
          <p:cNvPr id="5" name="Group 5"/>
          <p:cNvGrpSpPr>
            <a:grpSpLocks/>
          </p:cNvGrpSpPr>
          <p:nvPr/>
        </p:nvGrpSpPr>
        <p:grpSpPr bwMode="auto">
          <a:xfrm>
            <a:off x="2123728" y="2138536"/>
            <a:ext cx="1295400" cy="2514600"/>
            <a:chOff x="864" y="2400"/>
            <a:chExt cx="816" cy="1584"/>
          </a:xfrm>
          <a:solidFill>
            <a:srgbClr val="FD7A2A"/>
          </a:solidFill>
        </p:grpSpPr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864" y="2400"/>
              <a:ext cx="816" cy="1584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Text Box 7"/>
            <p:cNvSpPr txBox="1">
              <a:spLocks noChangeArrowheads="1"/>
            </p:cNvSpPr>
            <p:nvPr/>
          </p:nvSpPr>
          <p:spPr bwMode="auto">
            <a:xfrm>
              <a:off x="1043" y="2784"/>
              <a:ext cx="349" cy="768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400" b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计 算 机</a:t>
              </a:r>
            </a:p>
          </p:txBody>
        </p:sp>
      </p:grpSp>
      <p:grpSp>
        <p:nvGrpSpPr>
          <p:cNvPr id="8" name="Group 8"/>
          <p:cNvGrpSpPr>
            <a:grpSpLocks/>
          </p:cNvGrpSpPr>
          <p:nvPr/>
        </p:nvGrpSpPr>
        <p:grpSpPr bwMode="auto">
          <a:xfrm>
            <a:off x="5703962" y="2138536"/>
            <a:ext cx="1295400" cy="2514600"/>
            <a:chOff x="3120" y="2400"/>
            <a:chExt cx="816" cy="1584"/>
          </a:xfrm>
          <a:solidFill>
            <a:srgbClr val="1D8DE5"/>
          </a:solidFill>
        </p:grpSpPr>
        <p:sp>
          <p:nvSpPr>
            <p:cNvPr id="9" name="Rectangle 9"/>
            <p:cNvSpPr>
              <a:spLocks noChangeArrowheads="1"/>
            </p:cNvSpPr>
            <p:nvPr/>
          </p:nvSpPr>
          <p:spPr bwMode="auto">
            <a:xfrm>
              <a:off x="3120" y="2400"/>
              <a:ext cx="816" cy="1584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Text Box 10"/>
            <p:cNvSpPr txBox="1">
              <a:spLocks noChangeArrowheads="1"/>
            </p:cNvSpPr>
            <p:nvPr/>
          </p:nvSpPr>
          <p:spPr bwMode="auto">
            <a:xfrm>
              <a:off x="3417" y="2544"/>
              <a:ext cx="349" cy="1296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400" b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计算机或外设</a:t>
              </a:r>
            </a:p>
          </p:txBody>
        </p:sp>
      </p:grpSp>
      <p:grpSp>
        <p:nvGrpSpPr>
          <p:cNvPr id="11" name="Group 11"/>
          <p:cNvGrpSpPr>
            <a:grpSpLocks/>
          </p:cNvGrpSpPr>
          <p:nvPr/>
        </p:nvGrpSpPr>
        <p:grpSpPr bwMode="auto">
          <a:xfrm>
            <a:off x="3419128" y="2420888"/>
            <a:ext cx="2286000" cy="1080120"/>
            <a:chOff x="1680" y="2352"/>
            <a:chExt cx="1440" cy="544"/>
          </a:xfrm>
        </p:grpSpPr>
        <p:sp>
          <p:nvSpPr>
            <p:cNvPr id="12" name="Line 12"/>
            <p:cNvSpPr>
              <a:spLocks noChangeShapeType="1"/>
            </p:cNvSpPr>
            <p:nvPr/>
          </p:nvSpPr>
          <p:spPr bwMode="auto">
            <a:xfrm>
              <a:off x="1680" y="2496"/>
              <a:ext cx="1440" cy="0"/>
            </a:xfrm>
            <a:prstGeom prst="line">
              <a:avLst/>
            </a:prstGeom>
            <a:noFill/>
            <a:ln w="28575">
              <a:solidFill>
                <a:srgbClr val="00B853"/>
              </a:solidFill>
              <a:miter lim="800000"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Text Box 13"/>
            <p:cNvSpPr txBox="1">
              <a:spLocks noChangeArrowheads="1"/>
            </p:cNvSpPr>
            <p:nvPr/>
          </p:nvSpPr>
          <p:spPr bwMode="auto">
            <a:xfrm>
              <a:off x="2188" y="2352"/>
              <a:ext cx="432" cy="15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1600" dirty="0">
                  <a:solidFill>
                    <a:srgbClr val="FF32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TXD</a:t>
              </a:r>
              <a:endParaRPr lang="en-US" altLang="zh-CN" sz="1600" baseline="-25000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Line 14"/>
            <p:cNvSpPr>
              <a:spLocks noChangeShapeType="1"/>
            </p:cNvSpPr>
            <p:nvPr/>
          </p:nvSpPr>
          <p:spPr bwMode="auto">
            <a:xfrm>
              <a:off x="1680" y="2688"/>
              <a:ext cx="1440" cy="0"/>
            </a:xfrm>
            <a:prstGeom prst="line">
              <a:avLst/>
            </a:prstGeom>
            <a:noFill/>
            <a:ln w="28575">
              <a:solidFill>
                <a:srgbClr val="00B853"/>
              </a:solidFill>
              <a:miter lim="800000"/>
              <a:headEnd type="triangl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Text Box 15"/>
            <p:cNvSpPr txBox="1">
              <a:spLocks noChangeArrowheads="1"/>
            </p:cNvSpPr>
            <p:nvPr/>
          </p:nvSpPr>
          <p:spPr bwMode="auto">
            <a:xfrm>
              <a:off x="2188" y="2548"/>
              <a:ext cx="432" cy="15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1600" dirty="0">
                  <a:solidFill>
                    <a:srgbClr val="FF32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RXD</a:t>
              </a:r>
              <a:endParaRPr lang="en-US" altLang="zh-CN" sz="1600" baseline="-25000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Line 16"/>
            <p:cNvSpPr>
              <a:spLocks noChangeShapeType="1"/>
            </p:cNvSpPr>
            <p:nvPr/>
          </p:nvSpPr>
          <p:spPr bwMode="auto">
            <a:xfrm>
              <a:off x="1680" y="2880"/>
              <a:ext cx="1440" cy="0"/>
            </a:xfrm>
            <a:prstGeom prst="line">
              <a:avLst/>
            </a:prstGeom>
            <a:noFill/>
            <a:ln w="28575">
              <a:solidFill>
                <a:srgbClr val="00B853"/>
              </a:solidFill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Text Box 17"/>
            <p:cNvSpPr txBox="1">
              <a:spLocks noChangeArrowheads="1"/>
            </p:cNvSpPr>
            <p:nvPr/>
          </p:nvSpPr>
          <p:spPr bwMode="auto">
            <a:xfrm>
              <a:off x="2188" y="2741"/>
              <a:ext cx="432" cy="155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1600" dirty="0">
                  <a:solidFill>
                    <a:srgbClr val="FF32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GND</a:t>
              </a:r>
              <a:endParaRPr lang="en-US" altLang="zh-CN" sz="1600" baseline="-25000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8" name="矩形 27"/>
          <p:cNvSpPr/>
          <p:nvPr/>
        </p:nvSpPr>
        <p:spPr>
          <a:xfrm>
            <a:off x="2123728" y="5229200"/>
            <a:ext cx="4875634" cy="465933"/>
          </a:xfrm>
          <a:prstGeom prst="rect">
            <a:avLst/>
          </a:prstGeom>
          <a:solidFill>
            <a:srgbClr val="00B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数据在单根数据线上逐位传送。</a:t>
            </a:r>
          </a:p>
        </p:txBody>
      </p:sp>
    </p:spTree>
    <p:extLst>
      <p:ext uri="{BB962C8B-B14F-4D97-AF65-F5344CB8AC3E}">
        <p14:creationId xmlns:p14="http://schemas.microsoft.com/office/powerpoint/2010/main" val="9247459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数据的传送方向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13" name="Rectangle 3"/>
          <p:cNvSpPr>
            <a:spLocks noChangeArrowheads="1"/>
          </p:cNvSpPr>
          <p:nvPr/>
        </p:nvSpPr>
        <p:spPr bwMode="auto">
          <a:xfrm>
            <a:off x="2516560" y="1545109"/>
            <a:ext cx="1524000" cy="914400"/>
          </a:xfrm>
          <a:prstGeom prst="rect">
            <a:avLst/>
          </a:prstGeom>
          <a:solidFill>
            <a:srgbClr val="1D8DE5"/>
          </a:solidFill>
          <a:ln w="254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2697535" y="1740371"/>
            <a:ext cx="1295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9966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339966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发送器</a:t>
            </a:r>
          </a:p>
        </p:txBody>
      </p:sp>
      <p:sp>
        <p:nvSpPr>
          <p:cNvPr id="15" name="Rectangle 5"/>
          <p:cNvSpPr>
            <a:spLocks noChangeArrowheads="1"/>
          </p:cNvSpPr>
          <p:nvPr/>
        </p:nvSpPr>
        <p:spPr bwMode="auto">
          <a:xfrm>
            <a:off x="6250360" y="1545109"/>
            <a:ext cx="1524000" cy="914400"/>
          </a:xfrm>
          <a:prstGeom prst="rect">
            <a:avLst/>
          </a:prstGeom>
          <a:solidFill>
            <a:srgbClr val="1D8DE5"/>
          </a:solidFill>
          <a:ln w="254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 Box 6"/>
          <p:cNvSpPr txBox="1">
            <a:spLocks noChangeArrowheads="1"/>
          </p:cNvSpPr>
          <p:nvPr/>
        </p:nvSpPr>
        <p:spPr bwMode="auto">
          <a:xfrm>
            <a:off x="6459910" y="1740371"/>
            <a:ext cx="1295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9966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339966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接收器</a:t>
            </a:r>
          </a:p>
        </p:txBody>
      </p:sp>
      <p:sp>
        <p:nvSpPr>
          <p:cNvPr id="17" name="Line 7"/>
          <p:cNvSpPr>
            <a:spLocks noChangeShapeType="1"/>
          </p:cNvSpPr>
          <p:nvPr/>
        </p:nvSpPr>
        <p:spPr bwMode="auto">
          <a:xfrm>
            <a:off x="4040560" y="1773709"/>
            <a:ext cx="2209800" cy="0"/>
          </a:xfrm>
          <a:prstGeom prst="line">
            <a:avLst/>
          </a:prstGeom>
          <a:noFill/>
          <a:ln w="25400" cap="sq">
            <a:solidFill>
              <a:srgbClr val="0000FF"/>
            </a:solidFill>
            <a:round/>
            <a:headEnd type="none" w="sm" len="sm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Rectangle 8"/>
          <p:cNvSpPr>
            <a:spLocks noChangeArrowheads="1"/>
          </p:cNvSpPr>
          <p:nvPr/>
        </p:nvSpPr>
        <p:spPr bwMode="auto">
          <a:xfrm>
            <a:off x="2516560" y="3076476"/>
            <a:ext cx="1524000" cy="914400"/>
          </a:xfrm>
          <a:prstGeom prst="rect">
            <a:avLst/>
          </a:prstGeom>
          <a:solidFill>
            <a:srgbClr val="1D8DE5"/>
          </a:solidFill>
          <a:ln w="254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Text Box 9"/>
          <p:cNvSpPr txBox="1">
            <a:spLocks noChangeArrowheads="1"/>
          </p:cNvSpPr>
          <p:nvPr/>
        </p:nvSpPr>
        <p:spPr bwMode="auto">
          <a:xfrm>
            <a:off x="2673723" y="3152676"/>
            <a:ext cx="142398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9966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339966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发送器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接收器</a:t>
            </a:r>
          </a:p>
        </p:txBody>
      </p:sp>
      <p:sp>
        <p:nvSpPr>
          <p:cNvPr id="20" name="Rectangle 10"/>
          <p:cNvSpPr>
            <a:spLocks noChangeArrowheads="1"/>
          </p:cNvSpPr>
          <p:nvPr/>
        </p:nvSpPr>
        <p:spPr bwMode="auto">
          <a:xfrm>
            <a:off x="2516560" y="4592092"/>
            <a:ext cx="1524000" cy="990600"/>
          </a:xfrm>
          <a:prstGeom prst="rect">
            <a:avLst/>
          </a:prstGeom>
          <a:solidFill>
            <a:srgbClr val="1D8DE5"/>
          </a:solidFill>
          <a:ln w="254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Text Box 11"/>
          <p:cNvSpPr txBox="1">
            <a:spLocks noChangeArrowheads="1"/>
          </p:cNvSpPr>
          <p:nvPr/>
        </p:nvSpPr>
        <p:spPr bwMode="auto">
          <a:xfrm>
            <a:off x="2697535" y="4668292"/>
            <a:ext cx="1295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9966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339966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发送器</a:t>
            </a:r>
            <a:r>
              <a:rPr lang="en-US" altLang="zh-CN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接收器</a:t>
            </a:r>
          </a:p>
        </p:txBody>
      </p:sp>
      <p:sp>
        <p:nvSpPr>
          <p:cNvPr id="22" name="Rectangle 12"/>
          <p:cNvSpPr>
            <a:spLocks noChangeArrowheads="1"/>
          </p:cNvSpPr>
          <p:nvPr/>
        </p:nvSpPr>
        <p:spPr bwMode="auto">
          <a:xfrm>
            <a:off x="6250360" y="3076476"/>
            <a:ext cx="1524000" cy="914400"/>
          </a:xfrm>
          <a:prstGeom prst="rect">
            <a:avLst/>
          </a:prstGeom>
          <a:solidFill>
            <a:srgbClr val="1D8DE5"/>
          </a:solidFill>
          <a:ln w="254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Text Box 13"/>
          <p:cNvSpPr txBox="1">
            <a:spLocks noChangeArrowheads="1"/>
          </p:cNvSpPr>
          <p:nvPr/>
        </p:nvSpPr>
        <p:spPr bwMode="auto">
          <a:xfrm>
            <a:off x="6459910" y="3109813"/>
            <a:ext cx="1295400" cy="830997"/>
          </a:xfrm>
          <a:prstGeom prst="rect">
            <a:avLst/>
          </a:prstGeom>
          <a:solidFill>
            <a:srgbClr val="1D8DE5"/>
          </a:solidFill>
          <a:ln>
            <a:noFill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发送器</a:t>
            </a:r>
            <a:r>
              <a:rPr lang="en-US" altLang="zh-CN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接收器</a:t>
            </a:r>
          </a:p>
        </p:txBody>
      </p:sp>
      <p:sp>
        <p:nvSpPr>
          <p:cNvPr id="24" name="Rectangle 14"/>
          <p:cNvSpPr>
            <a:spLocks noChangeArrowheads="1"/>
          </p:cNvSpPr>
          <p:nvPr/>
        </p:nvSpPr>
        <p:spPr bwMode="auto">
          <a:xfrm>
            <a:off x="6255123" y="4592092"/>
            <a:ext cx="1524000" cy="990600"/>
          </a:xfrm>
          <a:prstGeom prst="rect">
            <a:avLst/>
          </a:prstGeom>
          <a:solidFill>
            <a:srgbClr val="1D8DE5"/>
          </a:solidFill>
          <a:ln w="254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 Box 15"/>
          <p:cNvSpPr txBox="1">
            <a:spLocks noChangeArrowheads="1"/>
          </p:cNvSpPr>
          <p:nvPr/>
        </p:nvSpPr>
        <p:spPr bwMode="auto">
          <a:xfrm>
            <a:off x="6450385" y="4654004"/>
            <a:ext cx="1295400" cy="830997"/>
          </a:xfrm>
          <a:prstGeom prst="rect">
            <a:avLst/>
          </a:prstGeom>
          <a:solidFill>
            <a:srgbClr val="1D8DE5"/>
          </a:solidFill>
          <a:ln>
            <a:noFill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发送器</a:t>
            </a:r>
            <a:r>
              <a:rPr lang="en-US" altLang="zh-CN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接收器</a:t>
            </a:r>
          </a:p>
        </p:txBody>
      </p:sp>
      <p:sp>
        <p:nvSpPr>
          <p:cNvPr id="26" name="Line 16"/>
          <p:cNvSpPr>
            <a:spLocks noChangeShapeType="1"/>
          </p:cNvSpPr>
          <p:nvPr/>
        </p:nvSpPr>
        <p:spPr bwMode="auto">
          <a:xfrm>
            <a:off x="4040560" y="4896892"/>
            <a:ext cx="2209800" cy="0"/>
          </a:xfrm>
          <a:prstGeom prst="line">
            <a:avLst/>
          </a:prstGeom>
          <a:noFill/>
          <a:ln w="25400" cap="sq">
            <a:solidFill>
              <a:srgbClr val="0000FF"/>
            </a:solidFill>
            <a:round/>
            <a:headEnd type="none" w="sm" len="sm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Line 17"/>
          <p:cNvSpPr>
            <a:spLocks noChangeShapeType="1"/>
          </p:cNvSpPr>
          <p:nvPr/>
        </p:nvSpPr>
        <p:spPr bwMode="auto">
          <a:xfrm>
            <a:off x="4040560" y="3381276"/>
            <a:ext cx="2209800" cy="0"/>
          </a:xfrm>
          <a:prstGeom prst="line">
            <a:avLst/>
          </a:prstGeom>
          <a:noFill/>
          <a:ln w="25400" cap="sq">
            <a:solidFill>
              <a:srgbClr val="0000FF"/>
            </a:solidFill>
            <a:round/>
            <a:headEnd type="triangle"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Line 18"/>
          <p:cNvSpPr>
            <a:spLocks noChangeShapeType="1"/>
          </p:cNvSpPr>
          <p:nvPr/>
        </p:nvSpPr>
        <p:spPr bwMode="auto">
          <a:xfrm flipH="1">
            <a:off x="4040560" y="5317579"/>
            <a:ext cx="2209800" cy="0"/>
          </a:xfrm>
          <a:prstGeom prst="line">
            <a:avLst/>
          </a:prstGeom>
          <a:noFill/>
          <a:ln w="25400" cap="sq">
            <a:solidFill>
              <a:srgbClr val="008080"/>
            </a:solidFill>
            <a:round/>
            <a:headEnd type="none" w="sm" len="sm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Line 19"/>
          <p:cNvSpPr>
            <a:spLocks noChangeShapeType="1"/>
          </p:cNvSpPr>
          <p:nvPr/>
        </p:nvSpPr>
        <p:spPr bwMode="auto">
          <a:xfrm>
            <a:off x="4040560" y="2154709"/>
            <a:ext cx="457200" cy="0"/>
          </a:xfrm>
          <a:prstGeom prst="line">
            <a:avLst/>
          </a:prstGeom>
          <a:noFill/>
          <a:ln w="25400" cap="sq">
            <a:solidFill>
              <a:srgbClr val="808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Line 21"/>
          <p:cNvSpPr>
            <a:spLocks noChangeShapeType="1"/>
          </p:cNvSpPr>
          <p:nvPr/>
        </p:nvSpPr>
        <p:spPr bwMode="auto">
          <a:xfrm>
            <a:off x="4283448" y="2459509"/>
            <a:ext cx="381000" cy="0"/>
          </a:xfrm>
          <a:prstGeom prst="line">
            <a:avLst/>
          </a:prstGeom>
          <a:noFill/>
          <a:ln w="25400" cap="sq">
            <a:solidFill>
              <a:srgbClr val="808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Line 22"/>
          <p:cNvSpPr>
            <a:spLocks noChangeShapeType="1"/>
          </p:cNvSpPr>
          <p:nvPr/>
        </p:nvSpPr>
        <p:spPr bwMode="auto">
          <a:xfrm>
            <a:off x="4373935" y="2569046"/>
            <a:ext cx="228600" cy="0"/>
          </a:xfrm>
          <a:prstGeom prst="line">
            <a:avLst/>
          </a:prstGeom>
          <a:noFill/>
          <a:ln w="25400" cap="sq">
            <a:solidFill>
              <a:srgbClr val="808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Line 23"/>
          <p:cNvSpPr>
            <a:spLocks noChangeShapeType="1"/>
          </p:cNvSpPr>
          <p:nvPr/>
        </p:nvSpPr>
        <p:spPr bwMode="auto">
          <a:xfrm>
            <a:off x="4421560" y="2688109"/>
            <a:ext cx="152400" cy="0"/>
          </a:xfrm>
          <a:prstGeom prst="line">
            <a:avLst/>
          </a:prstGeom>
          <a:noFill/>
          <a:ln w="25400" cap="sq">
            <a:solidFill>
              <a:srgbClr val="808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Line 24"/>
          <p:cNvSpPr>
            <a:spLocks noChangeShapeType="1"/>
          </p:cNvSpPr>
          <p:nvPr/>
        </p:nvSpPr>
        <p:spPr bwMode="auto">
          <a:xfrm>
            <a:off x="4040560" y="3762276"/>
            <a:ext cx="457200" cy="0"/>
          </a:xfrm>
          <a:prstGeom prst="line">
            <a:avLst/>
          </a:prstGeom>
          <a:noFill/>
          <a:ln w="25400" cap="sq">
            <a:solidFill>
              <a:srgbClr val="808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Line 25"/>
          <p:cNvSpPr>
            <a:spLocks noChangeShapeType="1"/>
          </p:cNvSpPr>
          <p:nvPr/>
        </p:nvSpPr>
        <p:spPr bwMode="auto">
          <a:xfrm>
            <a:off x="4497760" y="3762276"/>
            <a:ext cx="0" cy="304800"/>
          </a:xfrm>
          <a:prstGeom prst="line">
            <a:avLst/>
          </a:prstGeom>
          <a:noFill/>
          <a:ln w="25400" cap="sq">
            <a:solidFill>
              <a:srgbClr val="808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Line 26"/>
          <p:cNvSpPr>
            <a:spLocks noChangeShapeType="1"/>
          </p:cNvSpPr>
          <p:nvPr/>
        </p:nvSpPr>
        <p:spPr bwMode="auto">
          <a:xfrm>
            <a:off x="4283448" y="4067076"/>
            <a:ext cx="381000" cy="0"/>
          </a:xfrm>
          <a:prstGeom prst="line">
            <a:avLst/>
          </a:prstGeom>
          <a:noFill/>
          <a:ln w="25400" cap="sq">
            <a:solidFill>
              <a:srgbClr val="808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Line 27"/>
          <p:cNvSpPr>
            <a:spLocks noChangeShapeType="1"/>
          </p:cNvSpPr>
          <p:nvPr/>
        </p:nvSpPr>
        <p:spPr bwMode="auto">
          <a:xfrm>
            <a:off x="4373935" y="4176613"/>
            <a:ext cx="228600" cy="0"/>
          </a:xfrm>
          <a:prstGeom prst="line">
            <a:avLst/>
          </a:prstGeom>
          <a:noFill/>
          <a:ln w="25400" cap="sq">
            <a:solidFill>
              <a:srgbClr val="808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Line 28"/>
          <p:cNvSpPr>
            <a:spLocks noChangeShapeType="1"/>
          </p:cNvSpPr>
          <p:nvPr/>
        </p:nvSpPr>
        <p:spPr bwMode="auto">
          <a:xfrm>
            <a:off x="4421560" y="4295676"/>
            <a:ext cx="152400" cy="0"/>
          </a:xfrm>
          <a:prstGeom prst="line">
            <a:avLst/>
          </a:prstGeom>
          <a:noFill/>
          <a:ln w="25400" cap="sq">
            <a:solidFill>
              <a:srgbClr val="808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Line 29"/>
          <p:cNvSpPr>
            <a:spLocks noChangeShapeType="1"/>
          </p:cNvSpPr>
          <p:nvPr/>
        </p:nvSpPr>
        <p:spPr bwMode="auto">
          <a:xfrm>
            <a:off x="4069135" y="5506492"/>
            <a:ext cx="457200" cy="0"/>
          </a:xfrm>
          <a:prstGeom prst="line">
            <a:avLst/>
          </a:prstGeom>
          <a:noFill/>
          <a:ln w="25400" cap="sq">
            <a:solidFill>
              <a:srgbClr val="808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Line 30"/>
          <p:cNvSpPr>
            <a:spLocks noChangeShapeType="1"/>
          </p:cNvSpPr>
          <p:nvPr/>
        </p:nvSpPr>
        <p:spPr bwMode="auto">
          <a:xfrm>
            <a:off x="4526335" y="5506492"/>
            <a:ext cx="0" cy="304800"/>
          </a:xfrm>
          <a:prstGeom prst="line">
            <a:avLst/>
          </a:prstGeom>
          <a:noFill/>
          <a:ln w="25400" cap="sq">
            <a:solidFill>
              <a:srgbClr val="808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Line 31"/>
          <p:cNvSpPr>
            <a:spLocks noChangeShapeType="1"/>
          </p:cNvSpPr>
          <p:nvPr/>
        </p:nvSpPr>
        <p:spPr bwMode="auto">
          <a:xfrm>
            <a:off x="4312023" y="5811292"/>
            <a:ext cx="381000" cy="0"/>
          </a:xfrm>
          <a:prstGeom prst="line">
            <a:avLst/>
          </a:prstGeom>
          <a:noFill/>
          <a:ln w="25400" cap="sq">
            <a:solidFill>
              <a:srgbClr val="808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Line 32"/>
          <p:cNvSpPr>
            <a:spLocks noChangeShapeType="1"/>
          </p:cNvSpPr>
          <p:nvPr/>
        </p:nvSpPr>
        <p:spPr bwMode="auto">
          <a:xfrm>
            <a:off x="4402510" y="5920829"/>
            <a:ext cx="228600" cy="0"/>
          </a:xfrm>
          <a:prstGeom prst="line">
            <a:avLst/>
          </a:prstGeom>
          <a:noFill/>
          <a:ln w="25400" cap="sq">
            <a:solidFill>
              <a:srgbClr val="808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Line 33"/>
          <p:cNvSpPr>
            <a:spLocks noChangeShapeType="1"/>
          </p:cNvSpPr>
          <p:nvPr/>
        </p:nvSpPr>
        <p:spPr bwMode="auto">
          <a:xfrm>
            <a:off x="4450135" y="6039892"/>
            <a:ext cx="152400" cy="0"/>
          </a:xfrm>
          <a:prstGeom prst="line">
            <a:avLst/>
          </a:prstGeom>
          <a:noFill/>
          <a:ln w="25400" cap="sq">
            <a:solidFill>
              <a:srgbClr val="808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Line 34"/>
          <p:cNvSpPr>
            <a:spLocks noChangeShapeType="1"/>
          </p:cNvSpPr>
          <p:nvPr/>
        </p:nvSpPr>
        <p:spPr bwMode="auto">
          <a:xfrm>
            <a:off x="5774110" y="2230909"/>
            <a:ext cx="457200" cy="0"/>
          </a:xfrm>
          <a:prstGeom prst="line">
            <a:avLst/>
          </a:prstGeom>
          <a:noFill/>
          <a:ln w="25400" cap="sq">
            <a:solidFill>
              <a:srgbClr val="808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Line 35"/>
          <p:cNvSpPr>
            <a:spLocks noChangeShapeType="1"/>
          </p:cNvSpPr>
          <p:nvPr/>
        </p:nvSpPr>
        <p:spPr bwMode="auto">
          <a:xfrm>
            <a:off x="5778873" y="2230909"/>
            <a:ext cx="0" cy="304800"/>
          </a:xfrm>
          <a:prstGeom prst="line">
            <a:avLst/>
          </a:prstGeom>
          <a:noFill/>
          <a:ln w="25400" cap="sq">
            <a:solidFill>
              <a:srgbClr val="808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Line 36"/>
          <p:cNvSpPr>
            <a:spLocks noChangeShapeType="1"/>
          </p:cNvSpPr>
          <p:nvPr/>
        </p:nvSpPr>
        <p:spPr bwMode="auto">
          <a:xfrm>
            <a:off x="5564560" y="2535709"/>
            <a:ext cx="381000" cy="0"/>
          </a:xfrm>
          <a:prstGeom prst="line">
            <a:avLst/>
          </a:prstGeom>
          <a:noFill/>
          <a:ln w="25400" cap="sq">
            <a:solidFill>
              <a:srgbClr val="808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Line 37"/>
          <p:cNvSpPr>
            <a:spLocks noChangeShapeType="1"/>
          </p:cNvSpPr>
          <p:nvPr/>
        </p:nvSpPr>
        <p:spPr bwMode="auto">
          <a:xfrm>
            <a:off x="5655048" y="2645246"/>
            <a:ext cx="228600" cy="0"/>
          </a:xfrm>
          <a:prstGeom prst="line">
            <a:avLst/>
          </a:prstGeom>
          <a:noFill/>
          <a:ln w="25400" cap="sq">
            <a:solidFill>
              <a:srgbClr val="808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Line 38"/>
          <p:cNvSpPr>
            <a:spLocks noChangeShapeType="1"/>
          </p:cNvSpPr>
          <p:nvPr/>
        </p:nvSpPr>
        <p:spPr bwMode="auto">
          <a:xfrm>
            <a:off x="5702673" y="2764309"/>
            <a:ext cx="152400" cy="0"/>
          </a:xfrm>
          <a:prstGeom prst="line">
            <a:avLst/>
          </a:prstGeom>
          <a:noFill/>
          <a:ln w="25400" cap="sq">
            <a:solidFill>
              <a:srgbClr val="808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Line 39"/>
          <p:cNvSpPr>
            <a:spLocks noChangeShapeType="1"/>
          </p:cNvSpPr>
          <p:nvPr/>
        </p:nvSpPr>
        <p:spPr bwMode="auto">
          <a:xfrm>
            <a:off x="5759823" y="3795613"/>
            <a:ext cx="457200" cy="0"/>
          </a:xfrm>
          <a:prstGeom prst="line">
            <a:avLst/>
          </a:prstGeom>
          <a:noFill/>
          <a:ln w="25400" cap="sq">
            <a:solidFill>
              <a:srgbClr val="808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Line 40"/>
          <p:cNvSpPr>
            <a:spLocks noChangeShapeType="1"/>
          </p:cNvSpPr>
          <p:nvPr/>
        </p:nvSpPr>
        <p:spPr bwMode="auto">
          <a:xfrm>
            <a:off x="5764585" y="3795613"/>
            <a:ext cx="0" cy="304800"/>
          </a:xfrm>
          <a:prstGeom prst="line">
            <a:avLst/>
          </a:prstGeom>
          <a:noFill/>
          <a:ln w="25400" cap="sq">
            <a:solidFill>
              <a:srgbClr val="808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Line 41"/>
          <p:cNvSpPr>
            <a:spLocks noChangeShapeType="1"/>
          </p:cNvSpPr>
          <p:nvPr/>
        </p:nvSpPr>
        <p:spPr bwMode="auto">
          <a:xfrm>
            <a:off x="5550273" y="4100413"/>
            <a:ext cx="381000" cy="0"/>
          </a:xfrm>
          <a:prstGeom prst="line">
            <a:avLst/>
          </a:prstGeom>
          <a:noFill/>
          <a:ln w="25400" cap="sq">
            <a:solidFill>
              <a:srgbClr val="808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Line 42"/>
          <p:cNvSpPr>
            <a:spLocks noChangeShapeType="1"/>
          </p:cNvSpPr>
          <p:nvPr/>
        </p:nvSpPr>
        <p:spPr bwMode="auto">
          <a:xfrm>
            <a:off x="5640760" y="4209951"/>
            <a:ext cx="228600" cy="0"/>
          </a:xfrm>
          <a:prstGeom prst="line">
            <a:avLst/>
          </a:prstGeom>
          <a:noFill/>
          <a:ln w="25400" cap="sq">
            <a:solidFill>
              <a:srgbClr val="808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Line 43"/>
          <p:cNvSpPr>
            <a:spLocks noChangeShapeType="1"/>
          </p:cNvSpPr>
          <p:nvPr/>
        </p:nvSpPr>
        <p:spPr bwMode="auto">
          <a:xfrm>
            <a:off x="5688385" y="4329013"/>
            <a:ext cx="152400" cy="0"/>
          </a:xfrm>
          <a:prstGeom prst="line">
            <a:avLst/>
          </a:prstGeom>
          <a:noFill/>
          <a:ln w="25400" cap="sq">
            <a:solidFill>
              <a:srgbClr val="808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Line 44"/>
          <p:cNvSpPr>
            <a:spLocks noChangeShapeType="1"/>
          </p:cNvSpPr>
          <p:nvPr/>
        </p:nvSpPr>
        <p:spPr bwMode="auto">
          <a:xfrm>
            <a:off x="5759823" y="5506492"/>
            <a:ext cx="457200" cy="0"/>
          </a:xfrm>
          <a:prstGeom prst="line">
            <a:avLst/>
          </a:prstGeom>
          <a:noFill/>
          <a:ln w="25400" cap="sq">
            <a:solidFill>
              <a:srgbClr val="808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Line 45"/>
          <p:cNvSpPr>
            <a:spLocks noChangeShapeType="1"/>
          </p:cNvSpPr>
          <p:nvPr/>
        </p:nvSpPr>
        <p:spPr bwMode="auto">
          <a:xfrm>
            <a:off x="5764585" y="5506492"/>
            <a:ext cx="0" cy="304800"/>
          </a:xfrm>
          <a:prstGeom prst="line">
            <a:avLst/>
          </a:prstGeom>
          <a:noFill/>
          <a:ln w="25400" cap="sq">
            <a:solidFill>
              <a:srgbClr val="808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Line 46"/>
          <p:cNvSpPr>
            <a:spLocks noChangeShapeType="1"/>
          </p:cNvSpPr>
          <p:nvPr/>
        </p:nvSpPr>
        <p:spPr bwMode="auto">
          <a:xfrm>
            <a:off x="5550273" y="5811292"/>
            <a:ext cx="381000" cy="0"/>
          </a:xfrm>
          <a:prstGeom prst="line">
            <a:avLst/>
          </a:prstGeom>
          <a:noFill/>
          <a:ln w="25400" cap="sq">
            <a:solidFill>
              <a:srgbClr val="808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Line 47"/>
          <p:cNvSpPr>
            <a:spLocks noChangeShapeType="1"/>
          </p:cNvSpPr>
          <p:nvPr/>
        </p:nvSpPr>
        <p:spPr bwMode="auto">
          <a:xfrm>
            <a:off x="5640760" y="5920829"/>
            <a:ext cx="228600" cy="0"/>
          </a:xfrm>
          <a:prstGeom prst="line">
            <a:avLst/>
          </a:prstGeom>
          <a:noFill/>
          <a:ln w="25400" cap="sq">
            <a:solidFill>
              <a:srgbClr val="808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Line 48"/>
          <p:cNvSpPr>
            <a:spLocks noChangeShapeType="1"/>
          </p:cNvSpPr>
          <p:nvPr/>
        </p:nvSpPr>
        <p:spPr bwMode="auto">
          <a:xfrm>
            <a:off x="5688385" y="6039892"/>
            <a:ext cx="152400" cy="0"/>
          </a:xfrm>
          <a:prstGeom prst="line">
            <a:avLst/>
          </a:prstGeom>
          <a:noFill/>
          <a:ln w="25400" cap="sq">
            <a:solidFill>
              <a:srgbClr val="808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Text Box 49"/>
          <p:cNvSpPr txBox="1">
            <a:spLocks noChangeArrowheads="1"/>
          </p:cNvSpPr>
          <p:nvPr/>
        </p:nvSpPr>
        <p:spPr bwMode="auto">
          <a:xfrm>
            <a:off x="731168" y="1747857"/>
            <a:ext cx="1752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9966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339966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单工方式</a:t>
            </a:r>
          </a:p>
        </p:txBody>
      </p:sp>
      <p:sp>
        <p:nvSpPr>
          <p:cNvPr id="60" name="Text Box 50"/>
          <p:cNvSpPr txBox="1">
            <a:spLocks noChangeArrowheads="1"/>
          </p:cNvSpPr>
          <p:nvPr/>
        </p:nvSpPr>
        <p:spPr bwMode="auto">
          <a:xfrm>
            <a:off x="603227" y="3356992"/>
            <a:ext cx="2174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9966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339966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半双工方式</a:t>
            </a:r>
          </a:p>
        </p:txBody>
      </p:sp>
      <p:sp>
        <p:nvSpPr>
          <p:cNvPr id="61" name="Text Box 51"/>
          <p:cNvSpPr txBox="1">
            <a:spLocks noChangeArrowheads="1"/>
          </p:cNvSpPr>
          <p:nvPr/>
        </p:nvSpPr>
        <p:spPr bwMode="auto">
          <a:xfrm>
            <a:off x="603227" y="4844008"/>
            <a:ext cx="2209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9966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339966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全双工方式</a:t>
            </a:r>
          </a:p>
        </p:txBody>
      </p:sp>
      <p:sp>
        <p:nvSpPr>
          <p:cNvPr id="62" name="Text Box 52"/>
          <p:cNvSpPr txBox="1">
            <a:spLocks noChangeArrowheads="1"/>
          </p:cNvSpPr>
          <p:nvPr/>
        </p:nvSpPr>
        <p:spPr bwMode="auto">
          <a:xfrm>
            <a:off x="2910260" y="5718200"/>
            <a:ext cx="7969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FF66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800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800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站</a:t>
            </a:r>
          </a:p>
        </p:txBody>
      </p:sp>
      <p:sp>
        <p:nvSpPr>
          <p:cNvPr id="63" name="Text Box 53"/>
          <p:cNvSpPr txBox="1">
            <a:spLocks noChangeArrowheads="1"/>
          </p:cNvSpPr>
          <p:nvPr/>
        </p:nvSpPr>
        <p:spPr bwMode="auto">
          <a:xfrm>
            <a:off x="6602785" y="5676925"/>
            <a:ext cx="7762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FF66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800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800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站</a:t>
            </a:r>
          </a:p>
        </p:txBody>
      </p:sp>
      <p:grpSp>
        <p:nvGrpSpPr>
          <p:cNvPr id="64" name="Group 54"/>
          <p:cNvGrpSpPr>
            <a:grpSpLocks/>
          </p:cNvGrpSpPr>
          <p:nvPr/>
        </p:nvGrpSpPr>
        <p:grpSpPr bwMode="auto">
          <a:xfrm>
            <a:off x="4154860" y="1484784"/>
            <a:ext cx="863600" cy="215900"/>
            <a:chOff x="748" y="2523"/>
            <a:chExt cx="818" cy="181"/>
          </a:xfrm>
        </p:grpSpPr>
        <p:sp>
          <p:nvSpPr>
            <p:cNvPr id="65" name="Line 55"/>
            <p:cNvSpPr>
              <a:spLocks noChangeShapeType="1"/>
            </p:cNvSpPr>
            <p:nvPr/>
          </p:nvSpPr>
          <p:spPr bwMode="auto">
            <a:xfrm>
              <a:off x="748" y="2704"/>
              <a:ext cx="137" cy="0"/>
            </a:xfrm>
            <a:prstGeom prst="line">
              <a:avLst/>
            </a:prstGeom>
            <a:noFill/>
            <a:ln w="25400" cap="sq">
              <a:solidFill>
                <a:srgbClr val="FF3255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6" name="Line 56"/>
            <p:cNvSpPr>
              <a:spLocks noChangeShapeType="1"/>
            </p:cNvSpPr>
            <p:nvPr/>
          </p:nvSpPr>
          <p:spPr bwMode="auto">
            <a:xfrm flipV="1">
              <a:off x="885" y="2523"/>
              <a:ext cx="0" cy="181"/>
            </a:xfrm>
            <a:prstGeom prst="line">
              <a:avLst/>
            </a:prstGeom>
            <a:noFill/>
            <a:ln w="25400" cap="sq">
              <a:solidFill>
                <a:srgbClr val="FF3255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7" name="Line 57"/>
            <p:cNvSpPr>
              <a:spLocks noChangeShapeType="1"/>
            </p:cNvSpPr>
            <p:nvPr/>
          </p:nvSpPr>
          <p:spPr bwMode="auto">
            <a:xfrm>
              <a:off x="885" y="2523"/>
              <a:ext cx="90" cy="0"/>
            </a:xfrm>
            <a:prstGeom prst="line">
              <a:avLst/>
            </a:prstGeom>
            <a:noFill/>
            <a:ln w="25400" cap="sq">
              <a:solidFill>
                <a:srgbClr val="FF3255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8" name="Line 58"/>
            <p:cNvSpPr>
              <a:spLocks noChangeShapeType="1"/>
            </p:cNvSpPr>
            <p:nvPr/>
          </p:nvSpPr>
          <p:spPr bwMode="auto">
            <a:xfrm flipV="1">
              <a:off x="975" y="2523"/>
              <a:ext cx="0" cy="181"/>
            </a:xfrm>
            <a:prstGeom prst="line">
              <a:avLst/>
            </a:prstGeom>
            <a:noFill/>
            <a:ln w="25400" cap="sq">
              <a:solidFill>
                <a:srgbClr val="FF3255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" name="Line 59"/>
            <p:cNvSpPr>
              <a:spLocks noChangeShapeType="1"/>
            </p:cNvSpPr>
            <p:nvPr/>
          </p:nvSpPr>
          <p:spPr bwMode="auto">
            <a:xfrm>
              <a:off x="975" y="2704"/>
              <a:ext cx="136" cy="0"/>
            </a:xfrm>
            <a:prstGeom prst="line">
              <a:avLst/>
            </a:prstGeom>
            <a:noFill/>
            <a:ln w="25400" cap="sq">
              <a:solidFill>
                <a:srgbClr val="FF3255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0" name="Line 60"/>
            <p:cNvSpPr>
              <a:spLocks noChangeShapeType="1"/>
            </p:cNvSpPr>
            <p:nvPr/>
          </p:nvSpPr>
          <p:spPr bwMode="auto">
            <a:xfrm flipV="1">
              <a:off x="1111" y="2523"/>
              <a:ext cx="0" cy="181"/>
            </a:xfrm>
            <a:prstGeom prst="line">
              <a:avLst/>
            </a:prstGeom>
            <a:noFill/>
            <a:ln w="25400" cap="sq">
              <a:solidFill>
                <a:srgbClr val="FF3255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1" name="Line 61"/>
            <p:cNvSpPr>
              <a:spLocks noChangeShapeType="1"/>
            </p:cNvSpPr>
            <p:nvPr/>
          </p:nvSpPr>
          <p:spPr bwMode="auto">
            <a:xfrm>
              <a:off x="1111" y="2523"/>
              <a:ext cx="90" cy="0"/>
            </a:xfrm>
            <a:prstGeom prst="line">
              <a:avLst/>
            </a:prstGeom>
            <a:noFill/>
            <a:ln w="25400" cap="sq">
              <a:solidFill>
                <a:srgbClr val="FF3255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2" name="Line 62"/>
            <p:cNvSpPr>
              <a:spLocks noChangeShapeType="1"/>
            </p:cNvSpPr>
            <p:nvPr/>
          </p:nvSpPr>
          <p:spPr bwMode="auto">
            <a:xfrm flipV="1">
              <a:off x="1201" y="2523"/>
              <a:ext cx="0" cy="181"/>
            </a:xfrm>
            <a:prstGeom prst="line">
              <a:avLst/>
            </a:prstGeom>
            <a:noFill/>
            <a:ln w="25400" cap="sq">
              <a:solidFill>
                <a:srgbClr val="FF3255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3" name="Line 63"/>
            <p:cNvSpPr>
              <a:spLocks noChangeShapeType="1"/>
            </p:cNvSpPr>
            <p:nvPr/>
          </p:nvSpPr>
          <p:spPr bwMode="auto">
            <a:xfrm>
              <a:off x="1202" y="2704"/>
              <a:ext cx="137" cy="0"/>
            </a:xfrm>
            <a:prstGeom prst="line">
              <a:avLst/>
            </a:prstGeom>
            <a:noFill/>
            <a:ln w="25400" cap="sq">
              <a:solidFill>
                <a:srgbClr val="FF3255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4" name="Line 64"/>
            <p:cNvSpPr>
              <a:spLocks noChangeShapeType="1"/>
            </p:cNvSpPr>
            <p:nvPr/>
          </p:nvSpPr>
          <p:spPr bwMode="auto">
            <a:xfrm flipV="1">
              <a:off x="1339" y="2523"/>
              <a:ext cx="0" cy="181"/>
            </a:xfrm>
            <a:prstGeom prst="line">
              <a:avLst/>
            </a:prstGeom>
            <a:noFill/>
            <a:ln w="25400" cap="sq">
              <a:solidFill>
                <a:srgbClr val="FF3255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5" name="Line 65"/>
            <p:cNvSpPr>
              <a:spLocks noChangeShapeType="1"/>
            </p:cNvSpPr>
            <p:nvPr/>
          </p:nvSpPr>
          <p:spPr bwMode="auto">
            <a:xfrm>
              <a:off x="1339" y="2523"/>
              <a:ext cx="90" cy="0"/>
            </a:xfrm>
            <a:prstGeom prst="line">
              <a:avLst/>
            </a:prstGeom>
            <a:noFill/>
            <a:ln w="25400" cap="sq">
              <a:solidFill>
                <a:srgbClr val="FF3255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6" name="Line 66"/>
            <p:cNvSpPr>
              <a:spLocks noChangeShapeType="1"/>
            </p:cNvSpPr>
            <p:nvPr/>
          </p:nvSpPr>
          <p:spPr bwMode="auto">
            <a:xfrm flipV="1">
              <a:off x="1429" y="2523"/>
              <a:ext cx="0" cy="181"/>
            </a:xfrm>
            <a:prstGeom prst="line">
              <a:avLst/>
            </a:prstGeom>
            <a:noFill/>
            <a:ln w="25400" cap="sq">
              <a:solidFill>
                <a:srgbClr val="FF3255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7" name="Line 67"/>
            <p:cNvSpPr>
              <a:spLocks noChangeShapeType="1"/>
            </p:cNvSpPr>
            <p:nvPr/>
          </p:nvSpPr>
          <p:spPr bwMode="auto">
            <a:xfrm>
              <a:off x="1429" y="2704"/>
              <a:ext cx="137" cy="0"/>
            </a:xfrm>
            <a:prstGeom prst="line">
              <a:avLst/>
            </a:prstGeom>
            <a:noFill/>
            <a:ln w="25400" cap="sq">
              <a:solidFill>
                <a:srgbClr val="FF3255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8" name="Group 68"/>
          <p:cNvGrpSpPr>
            <a:grpSpLocks/>
          </p:cNvGrpSpPr>
          <p:nvPr/>
        </p:nvGrpSpPr>
        <p:grpSpPr bwMode="auto">
          <a:xfrm>
            <a:off x="4154860" y="3084413"/>
            <a:ext cx="863600" cy="215900"/>
            <a:chOff x="748" y="2523"/>
            <a:chExt cx="818" cy="181"/>
          </a:xfrm>
        </p:grpSpPr>
        <p:sp>
          <p:nvSpPr>
            <p:cNvPr id="79" name="Line 69"/>
            <p:cNvSpPr>
              <a:spLocks noChangeShapeType="1"/>
            </p:cNvSpPr>
            <p:nvPr/>
          </p:nvSpPr>
          <p:spPr bwMode="auto">
            <a:xfrm>
              <a:off x="748" y="2704"/>
              <a:ext cx="137" cy="0"/>
            </a:xfrm>
            <a:prstGeom prst="line">
              <a:avLst/>
            </a:prstGeom>
            <a:noFill/>
            <a:ln w="25400" cap="sq">
              <a:solidFill>
                <a:srgbClr val="FF3255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0" name="Line 70"/>
            <p:cNvSpPr>
              <a:spLocks noChangeShapeType="1"/>
            </p:cNvSpPr>
            <p:nvPr/>
          </p:nvSpPr>
          <p:spPr bwMode="auto">
            <a:xfrm flipV="1">
              <a:off x="885" y="2523"/>
              <a:ext cx="0" cy="181"/>
            </a:xfrm>
            <a:prstGeom prst="line">
              <a:avLst/>
            </a:prstGeom>
            <a:noFill/>
            <a:ln w="25400" cap="sq">
              <a:solidFill>
                <a:srgbClr val="FF3255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1" name="Line 71"/>
            <p:cNvSpPr>
              <a:spLocks noChangeShapeType="1"/>
            </p:cNvSpPr>
            <p:nvPr/>
          </p:nvSpPr>
          <p:spPr bwMode="auto">
            <a:xfrm>
              <a:off x="885" y="2523"/>
              <a:ext cx="90" cy="0"/>
            </a:xfrm>
            <a:prstGeom prst="line">
              <a:avLst/>
            </a:prstGeom>
            <a:noFill/>
            <a:ln w="25400" cap="sq">
              <a:solidFill>
                <a:srgbClr val="FF3255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2" name="Line 72"/>
            <p:cNvSpPr>
              <a:spLocks noChangeShapeType="1"/>
            </p:cNvSpPr>
            <p:nvPr/>
          </p:nvSpPr>
          <p:spPr bwMode="auto">
            <a:xfrm flipV="1">
              <a:off x="975" y="2523"/>
              <a:ext cx="0" cy="181"/>
            </a:xfrm>
            <a:prstGeom prst="line">
              <a:avLst/>
            </a:prstGeom>
            <a:noFill/>
            <a:ln w="25400" cap="sq">
              <a:solidFill>
                <a:srgbClr val="FF3255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3" name="Line 73"/>
            <p:cNvSpPr>
              <a:spLocks noChangeShapeType="1"/>
            </p:cNvSpPr>
            <p:nvPr/>
          </p:nvSpPr>
          <p:spPr bwMode="auto">
            <a:xfrm>
              <a:off x="975" y="2704"/>
              <a:ext cx="136" cy="0"/>
            </a:xfrm>
            <a:prstGeom prst="line">
              <a:avLst/>
            </a:prstGeom>
            <a:noFill/>
            <a:ln w="25400" cap="sq">
              <a:solidFill>
                <a:srgbClr val="FF3255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4" name="Line 74"/>
            <p:cNvSpPr>
              <a:spLocks noChangeShapeType="1"/>
            </p:cNvSpPr>
            <p:nvPr/>
          </p:nvSpPr>
          <p:spPr bwMode="auto">
            <a:xfrm flipV="1">
              <a:off x="1111" y="2523"/>
              <a:ext cx="0" cy="181"/>
            </a:xfrm>
            <a:prstGeom prst="line">
              <a:avLst/>
            </a:prstGeom>
            <a:noFill/>
            <a:ln w="25400" cap="sq">
              <a:solidFill>
                <a:srgbClr val="FF3255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5" name="Line 75"/>
            <p:cNvSpPr>
              <a:spLocks noChangeShapeType="1"/>
            </p:cNvSpPr>
            <p:nvPr/>
          </p:nvSpPr>
          <p:spPr bwMode="auto">
            <a:xfrm>
              <a:off x="1111" y="2523"/>
              <a:ext cx="90" cy="0"/>
            </a:xfrm>
            <a:prstGeom prst="line">
              <a:avLst/>
            </a:prstGeom>
            <a:noFill/>
            <a:ln w="25400" cap="sq">
              <a:solidFill>
                <a:srgbClr val="FF3255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6" name="Line 76"/>
            <p:cNvSpPr>
              <a:spLocks noChangeShapeType="1"/>
            </p:cNvSpPr>
            <p:nvPr/>
          </p:nvSpPr>
          <p:spPr bwMode="auto">
            <a:xfrm flipV="1">
              <a:off x="1201" y="2523"/>
              <a:ext cx="0" cy="181"/>
            </a:xfrm>
            <a:prstGeom prst="line">
              <a:avLst/>
            </a:prstGeom>
            <a:noFill/>
            <a:ln w="25400" cap="sq">
              <a:solidFill>
                <a:srgbClr val="FF3255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7" name="Line 77"/>
            <p:cNvSpPr>
              <a:spLocks noChangeShapeType="1"/>
            </p:cNvSpPr>
            <p:nvPr/>
          </p:nvSpPr>
          <p:spPr bwMode="auto">
            <a:xfrm>
              <a:off x="1202" y="2704"/>
              <a:ext cx="137" cy="0"/>
            </a:xfrm>
            <a:prstGeom prst="line">
              <a:avLst/>
            </a:prstGeom>
            <a:noFill/>
            <a:ln w="25400" cap="sq">
              <a:solidFill>
                <a:srgbClr val="FF3255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8" name="Line 78"/>
            <p:cNvSpPr>
              <a:spLocks noChangeShapeType="1"/>
            </p:cNvSpPr>
            <p:nvPr/>
          </p:nvSpPr>
          <p:spPr bwMode="auto">
            <a:xfrm flipV="1">
              <a:off x="1339" y="2523"/>
              <a:ext cx="0" cy="181"/>
            </a:xfrm>
            <a:prstGeom prst="line">
              <a:avLst/>
            </a:prstGeom>
            <a:noFill/>
            <a:ln w="25400" cap="sq">
              <a:solidFill>
                <a:srgbClr val="FF3255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9" name="Line 79"/>
            <p:cNvSpPr>
              <a:spLocks noChangeShapeType="1"/>
            </p:cNvSpPr>
            <p:nvPr/>
          </p:nvSpPr>
          <p:spPr bwMode="auto">
            <a:xfrm>
              <a:off x="1339" y="2523"/>
              <a:ext cx="90" cy="0"/>
            </a:xfrm>
            <a:prstGeom prst="line">
              <a:avLst/>
            </a:prstGeom>
            <a:noFill/>
            <a:ln w="25400" cap="sq">
              <a:solidFill>
                <a:srgbClr val="FF3255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0" name="Line 80"/>
            <p:cNvSpPr>
              <a:spLocks noChangeShapeType="1"/>
            </p:cNvSpPr>
            <p:nvPr/>
          </p:nvSpPr>
          <p:spPr bwMode="auto">
            <a:xfrm flipV="1">
              <a:off x="1429" y="2523"/>
              <a:ext cx="0" cy="181"/>
            </a:xfrm>
            <a:prstGeom prst="line">
              <a:avLst/>
            </a:prstGeom>
            <a:noFill/>
            <a:ln w="25400" cap="sq">
              <a:solidFill>
                <a:srgbClr val="FF3255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1" name="Line 81"/>
            <p:cNvSpPr>
              <a:spLocks noChangeShapeType="1"/>
            </p:cNvSpPr>
            <p:nvPr/>
          </p:nvSpPr>
          <p:spPr bwMode="auto">
            <a:xfrm>
              <a:off x="1429" y="2704"/>
              <a:ext cx="137" cy="0"/>
            </a:xfrm>
            <a:prstGeom prst="line">
              <a:avLst/>
            </a:prstGeom>
            <a:noFill/>
            <a:ln w="25400" cap="sq">
              <a:solidFill>
                <a:srgbClr val="FF3255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2" name="Group 82"/>
          <p:cNvGrpSpPr>
            <a:grpSpLocks/>
          </p:cNvGrpSpPr>
          <p:nvPr/>
        </p:nvGrpSpPr>
        <p:grpSpPr bwMode="auto">
          <a:xfrm>
            <a:off x="4154860" y="3084413"/>
            <a:ext cx="863600" cy="215900"/>
            <a:chOff x="2517" y="2296"/>
            <a:chExt cx="544" cy="136"/>
          </a:xfrm>
        </p:grpSpPr>
        <p:sp>
          <p:nvSpPr>
            <p:cNvPr id="93" name="Line 83"/>
            <p:cNvSpPr>
              <a:spLocks noChangeShapeType="1"/>
            </p:cNvSpPr>
            <p:nvPr/>
          </p:nvSpPr>
          <p:spPr bwMode="auto">
            <a:xfrm>
              <a:off x="2517" y="2432"/>
              <a:ext cx="78" cy="0"/>
            </a:xfrm>
            <a:prstGeom prst="line">
              <a:avLst/>
            </a:prstGeom>
            <a:noFill/>
            <a:ln w="25400" cap="sq">
              <a:solidFill>
                <a:srgbClr val="FF3255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4" name="Line 84"/>
            <p:cNvSpPr>
              <a:spLocks noChangeShapeType="1"/>
            </p:cNvSpPr>
            <p:nvPr/>
          </p:nvSpPr>
          <p:spPr bwMode="auto">
            <a:xfrm flipV="1">
              <a:off x="2608" y="2296"/>
              <a:ext cx="0" cy="136"/>
            </a:xfrm>
            <a:prstGeom prst="line">
              <a:avLst/>
            </a:prstGeom>
            <a:noFill/>
            <a:ln w="25400" cap="sq">
              <a:solidFill>
                <a:srgbClr val="FF3255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5" name="Line 85"/>
            <p:cNvSpPr>
              <a:spLocks noChangeShapeType="1"/>
            </p:cNvSpPr>
            <p:nvPr/>
          </p:nvSpPr>
          <p:spPr bwMode="auto">
            <a:xfrm>
              <a:off x="2608" y="2296"/>
              <a:ext cx="64" cy="0"/>
            </a:xfrm>
            <a:prstGeom prst="line">
              <a:avLst/>
            </a:prstGeom>
            <a:noFill/>
            <a:ln w="25400" cap="sq">
              <a:solidFill>
                <a:srgbClr val="FF3255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6" name="Line 86"/>
            <p:cNvSpPr>
              <a:spLocks noChangeShapeType="1"/>
            </p:cNvSpPr>
            <p:nvPr/>
          </p:nvSpPr>
          <p:spPr bwMode="auto">
            <a:xfrm flipV="1">
              <a:off x="2672" y="2296"/>
              <a:ext cx="0" cy="136"/>
            </a:xfrm>
            <a:prstGeom prst="line">
              <a:avLst/>
            </a:prstGeom>
            <a:noFill/>
            <a:ln w="25400" cap="sq">
              <a:solidFill>
                <a:srgbClr val="FF3255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7" name="Line 87"/>
            <p:cNvSpPr>
              <a:spLocks noChangeShapeType="1"/>
            </p:cNvSpPr>
            <p:nvPr/>
          </p:nvSpPr>
          <p:spPr bwMode="auto">
            <a:xfrm>
              <a:off x="2672" y="2432"/>
              <a:ext cx="78" cy="0"/>
            </a:xfrm>
            <a:prstGeom prst="line">
              <a:avLst/>
            </a:prstGeom>
            <a:noFill/>
            <a:ln w="25400" cap="sq">
              <a:solidFill>
                <a:srgbClr val="FF3255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8" name="Line 88"/>
            <p:cNvSpPr>
              <a:spLocks noChangeShapeType="1"/>
            </p:cNvSpPr>
            <p:nvPr/>
          </p:nvSpPr>
          <p:spPr bwMode="auto">
            <a:xfrm flipV="1">
              <a:off x="2756" y="2296"/>
              <a:ext cx="0" cy="136"/>
            </a:xfrm>
            <a:prstGeom prst="line">
              <a:avLst/>
            </a:prstGeom>
            <a:noFill/>
            <a:ln w="25400" cap="sq">
              <a:solidFill>
                <a:srgbClr val="FF3255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9" name="Line 89"/>
            <p:cNvSpPr>
              <a:spLocks noChangeShapeType="1"/>
            </p:cNvSpPr>
            <p:nvPr/>
          </p:nvSpPr>
          <p:spPr bwMode="auto">
            <a:xfrm flipV="1">
              <a:off x="2820" y="2296"/>
              <a:ext cx="0" cy="136"/>
            </a:xfrm>
            <a:prstGeom prst="line">
              <a:avLst/>
            </a:prstGeom>
            <a:noFill/>
            <a:ln w="25400" cap="sq">
              <a:solidFill>
                <a:srgbClr val="FF3255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0" name="Line 90"/>
            <p:cNvSpPr>
              <a:spLocks noChangeShapeType="1"/>
            </p:cNvSpPr>
            <p:nvPr/>
          </p:nvSpPr>
          <p:spPr bwMode="auto">
            <a:xfrm>
              <a:off x="2828" y="2432"/>
              <a:ext cx="78" cy="0"/>
            </a:xfrm>
            <a:prstGeom prst="line">
              <a:avLst/>
            </a:prstGeom>
            <a:noFill/>
            <a:ln w="25400" cap="sq">
              <a:solidFill>
                <a:srgbClr val="FF3255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" name="Line 91"/>
            <p:cNvSpPr>
              <a:spLocks noChangeShapeType="1"/>
            </p:cNvSpPr>
            <p:nvPr/>
          </p:nvSpPr>
          <p:spPr bwMode="auto">
            <a:xfrm flipV="1">
              <a:off x="2909" y="2296"/>
              <a:ext cx="0" cy="136"/>
            </a:xfrm>
            <a:prstGeom prst="line">
              <a:avLst/>
            </a:prstGeom>
            <a:noFill/>
            <a:ln w="25400" cap="sq">
              <a:solidFill>
                <a:srgbClr val="FF3255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" name="Line 92"/>
            <p:cNvSpPr>
              <a:spLocks noChangeShapeType="1"/>
            </p:cNvSpPr>
            <p:nvPr/>
          </p:nvSpPr>
          <p:spPr bwMode="auto">
            <a:xfrm flipV="1">
              <a:off x="2975" y="2296"/>
              <a:ext cx="0" cy="136"/>
            </a:xfrm>
            <a:prstGeom prst="line">
              <a:avLst/>
            </a:prstGeom>
            <a:noFill/>
            <a:ln w="25400" cap="sq">
              <a:solidFill>
                <a:srgbClr val="FF3255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" name="Line 93"/>
            <p:cNvSpPr>
              <a:spLocks noChangeShapeType="1"/>
            </p:cNvSpPr>
            <p:nvPr/>
          </p:nvSpPr>
          <p:spPr bwMode="auto">
            <a:xfrm>
              <a:off x="2983" y="2432"/>
              <a:ext cx="78" cy="0"/>
            </a:xfrm>
            <a:prstGeom prst="line">
              <a:avLst/>
            </a:prstGeom>
            <a:noFill/>
            <a:ln w="25400" cap="sq">
              <a:solidFill>
                <a:srgbClr val="FF3255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" name="Line 94"/>
            <p:cNvSpPr>
              <a:spLocks noChangeShapeType="1"/>
            </p:cNvSpPr>
            <p:nvPr/>
          </p:nvSpPr>
          <p:spPr bwMode="auto">
            <a:xfrm>
              <a:off x="2756" y="2296"/>
              <a:ext cx="64" cy="0"/>
            </a:xfrm>
            <a:prstGeom prst="line">
              <a:avLst/>
            </a:prstGeom>
            <a:noFill/>
            <a:ln w="25400" cap="sq">
              <a:solidFill>
                <a:srgbClr val="FF3255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" name="Line 95"/>
            <p:cNvSpPr>
              <a:spLocks noChangeShapeType="1"/>
            </p:cNvSpPr>
            <p:nvPr/>
          </p:nvSpPr>
          <p:spPr bwMode="auto">
            <a:xfrm>
              <a:off x="2911" y="2296"/>
              <a:ext cx="64" cy="0"/>
            </a:xfrm>
            <a:prstGeom prst="line">
              <a:avLst/>
            </a:prstGeom>
            <a:noFill/>
            <a:ln w="25400" cap="sq">
              <a:solidFill>
                <a:srgbClr val="FF3255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06" name="Group 96"/>
          <p:cNvGrpSpPr>
            <a:grpSpLocks/>
          </p:cNvGrpSpPr>
          <p:nvPr/>
        </p:nvGrpSpPr>
        <p:grpSpPr bwMode="auto">
          <a:xfrm>
            <a:off x="4154860" y="3084413"/>
            <a:ext cx="863600" cy="215900"/>
            <a:chOff x="2517" y="2296"/>
            <a:chExt cx="544" cy="136"/>
          </a:xfrm>
        </p:grpSpPr>
        <p:sp>
          <p:nvSpPr>
            <p:cNvPr id="107" name="Line 97"/>
            <p:cNvSpPr>
              <a:spLocks noChangeShapeType="1"/>
            </p:cNvSpPr>
            <p:nvPr/>
          </p:nvSpPr>
          <p:spPr bwMode="auto">
            <a:xfrm>
              <a:off x="2517" y="2432"/>
              <a:ext cx="78" cy="0"/>
            </a:xfrm>
            <a:prstGeom prst="line">
              <a:avLst/>
            </a:prstGeom>
            <a:noFill/>
            <a:ln w="25400" cap="sq">
              <a:solidFill>
                <a:srgbClr val="FF3255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8" name="Line 98"/>
            <p:cNvSpPr>
              <a:spLocks noChangeShapeType="1"/>
            </p:cNvSpPr>
            <p:nvPr/>
          </p:nvSpPr>
          <p:spPr bwMode="auto">
            <a:xfrm flipV="1">
              <a:off x="2608" y="2296"/>
              <a:ext cx="0" cy="136"/>
            </a:xfrm>
            <a:prstGeom prst="line">
              <a:avLst/>
            </a:prstGeom>
            <a:noFill/>
            <a:ln w="25400" cap="sq">
              <a:solidFill>
                <a:srgbClr val="FF3255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9" name="Line 99"/>
            <p:cNvSpPr>
              <a:spLocks noChangeShapeType="1"/>
            </p:cNvSpPr>
            <p:nvPr/>
          </p:nvSpPr>
          <p:spPr bwMode="auto">
            <a:xfrm>
              <a:off x="2608" y="2296"/>
              <a:ext cx="64" cy="0"/>
            </a:xfrm>
            <a:prstGeom prst="line">
              <a:avLst/>
            </a:prstGeom>
            <a:noFill/>
            <a:ln w="25400" cap="sq">
              <a:solidFill>
                <a:srgbClr val="FF3255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0" name="Line 100"/>
            <p:cNvSpPr>
              <a:spLocks noChangeShapeType="1"/>
            </p:cNvSpPr>
            <p:nvPr/>
          </p:nvSpPr>
          <p:spPr bwMode="auto">
            <a:xfrm flipV="1">
              <a:off x="2672" y="2296"/>
              <a:ext cx="0" cy="136"/>
            </a:xfrm>
            <a:prstGeom prst="line">
              <a:avLst/>
            </a:prstGeom>
            <a:noFill/>
            <a:ln w="25400" cap="sq">
              <a:solidFill>
                <a:srgbClr val="FF3255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1" name="Line 101"/>
            <p:cNvSpPr>
              <a:spLocks noChangeShapeType="1"/>
            </p:cNvSpPr>
            <p:nvPr/>
          </p:nvSpPr>
          <p:spPr bwMode="auto">
            <a:xfrm>
              <a:off x="2672" y="2432"/>
              <a:ext cx="78" cy="0"/>
            </a:xfrm>
            <a:prstGeom prst="line">
              <a:avLst/>
            </a:prstGeom>
            <a:noFill/>
            <a:ln w="25400" cap="sq">
              <a:solidFill>
                <a:srgbClr val="FF3255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" name="Line 102"/>
            <p:cNvSpPr>
              <a:spLocks noChangeShapeType="1"/>
            </p:cNvSpPr>
            <p:nvPr/>
          </p:nvSpPr>
          <p:spPr bwMode="auto">
            <a:xfrm flipV="1">
              <a:off x="2756" y="2296"/>
              <a:ext cx="0" cy="136"/>
            </a:xfrm>
            <a:prstGeom prst="line">
              <a:avLst/>
            </a:prstGeom>
            <a:noFill/>
            <a:ln w="25400" cap="sq">
              <a:solidFill>
                <a:srgbClr val="FF3255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" name="Line 103"/>
            <p:cNvSpPr>
              <a:spLocks noChangeShapeType="1"/>
            </p:cNvSpPr>
            <p:nvPr/>
          </p:nvSpPr>
          <p:spPr bwMode="auto">
            <a:xfrm flipV="1">
              <a:off x="2820" y="2296"/>
              <a:ext cx="0" cy="136"/>
            </a:xfrm>
            <a:prstGeom prst="line">
              <a:avLst/>
            </a:prstGeom>
            <a:noFill/>
            <a:ln w="25400" cap="sq">
              <a:solidFill>
                <a:srgbClr val="FF3255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" name="Line 104"/>
            <p:cNvSpPr>
              <a:spLocks noChangeShapeType="1"/>
            </p:cNvSpPr>
            <p:nvPr/>
          </p:nvSpPr>
          <p:spPr bwMode="auto">
            <a:xfrm>
              <a:off x="2828" y="2432"/>
              <a:ext cx="78" cy="0"/>
            </a:xfrm>
            <a:prstGeom prst="line">
              <a:avLst/>
            </a:prstGeom>
            <a:noFill/>
            <a:ln w="25400" cap="sq">
              <a:solidFill>
                <a:srgbClr val="FF3255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" name="Line 105"/>
            <p:cNvSpPr>
              <a:spLocks noChangeShapeType="1"/>
            </p:cNvSpPr>
            <p:nvPr/>
          </p:nvSpPr>
          <p:spPr bwMode="auto">
            <a:xfrm flipV="1">
              <a:off x="2909" y="2296"/>
              <a:ext cx="0" cy="136"/>
            </a:xfrm>
            <a:prstGeom prst="line">
              <a:avLst/>
            </a:prstGeom>
            <a:noFill/>
            <a:ln w="25400" cap="sq">
              <a:solidFill>
                <a:srgbClr val="FF3255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" name="Line 106"/>
            <p:cNvSpPr>
              <a:spLocks noChangeShapeType="1"/>
            </p:cNvSpPr>
            <p:nvPr/>
          </p:nvSpPr>
          <p:spPr bwMode="auto">
            <a:xfrm flipV="1">
              <a:off x="2975" y="2296"/>
              <a:ext cx="0" cy="136"/>
            </a:xfrm>
            <a:prstGeom prst="line">
              <a:avLst/>
            </a:prstGeom>
            <a:noFill/>
            <a:ln w="25400" cap="sq">
              <a:solidFill>
                <a:srgbClr val="FF3255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" name="Line 107"/>
            <p:cNvSpPr>
              <a:spLocks noChangeShapeType="1"/>
            </p:cNvSpPr>
            <p:nvPr/>
          </p:nvSpPr>
          <p:spPr bwMode="auto">
            <a:xfrm>
              <a:off x="2983" y="2432"/>
              <a:ext cx="78" cy="0"/>
            </a:xfrm>
            <a:prstGeom prst="line">
              <a:avLst/>
            </a:prstGeom>
            <a:noFill/>
            <a:ln w="25400" cap="sq">
              <a:solidFill>
                <a:srgbClr val="FF3255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" name="Line 108"/>
            <p:cNvSpPr>
              <a:spLocks noChangeShapeType="1"/>
            </p:cNvSpPr>
            <p:nvPr/>
          </p:nvSpPr>
          <p:spPr bwMode="auto">
            <a:xfrm>
              <a:off x="2756" y="2296"/>
              <a:ext cx="64" cy="0"/>
            </a:xfrm>
            <a:prstGeom prst="line">
              <a:avLst/>
            </a:prstGeom>
            <a:noFill/>
            <a:ln w="25400" cap="sq">
              <a:solidFill>
                <a:srgbClr val="FF3255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" name="Line 109"/>
            <p:cNvSpPr>
              <a:spLocks noChangeShapeType="1"/>
            </p:cNvSpPr>
            <p:nvPr/>
          </p:nvSpPr>
          <p:spPr bwMode="auto">
            <a:xfrm>
              <a:off x="2911" y="2296"/>
              <a:ext cx="64" cy="0"/>
            </a:xfrm>
            <a:prstGeom prst="line">
              <a:avLst/>
            </a:prstGeom>
            <a:noFill/>
            <a:ln w="25400" cap="sq">
              <a:solidFill>
                <a:srgbClr val="FF3255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20" name="Group 110"/>
          <p:cNvGrpSpPr>
            <a:grpSpLocks/>
          </p:cNvGrpSpPr>
          <p:nvPr/>
        </p:nvGrpSpPr>
        <p:grpSpPr bwMode="auto">
          <a:xfrm>
            <a:off x="5323260" y="3084413"/>
            <a:ext cx="871538" cy="215900"/>
            <a:chOff x="3505" y="2296"/>
            <a:chExt cx="549" cy="136"/>
          </a:xfrm>
        </p:grpSpPr>
        <p:sp>
          <p:nvSpPr>
            <p:cNvPr id="121" name="Line 111"/>
            <p:cNvSpPr>
              <a:spLocks noChangeShapeType="1"/>
            </p:cNvSpPr>
            <p:nvPr/>
          </p:nvSpPr>
          <p:spPr bwMode="auto">
            <a:xfrm>
              <a:off x="3505" y="2432"/>
              <a:ext cx="91" cy="0"/>
            </a:xfrm>
            <a:prstGeom prst="line">
              <a:avLst/>
            </a:prstGeom>
            <a:noFill/>
            <a:ln w="25400" cap="sq">
              <a:solidFill>
                <a:srgbClr val="00B85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" name="Line 112"/>
            <p:cNvSpPr>
              <a:spLocks noChangeShapeType="1"/>
            </p:cNvSpPr>
            <p:nvPr/>
          </p:nvSpPr>
          <p:spPr bwMode="auto">
            <a:xfrm>
              <a:off x="3596" y="2296"/>
              <a:ext cx="73" cy="0"/>
            </a:xfrm>
            <a:prstGeom prst="line">
              <a:avLst/>
            </a:prstGeom>
            <a:noFill/>
            <a:ln w="25400" cap="sq">
              <a:solidFill>
                <a:srgbClr val="00B85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" name="Line 113"/>
            <p:cNvSpPr>
              <a:spLocks noChangeShapeType="1"/>
            </p:cNvSpPr>
            <p:nvPr/>
          </p:nvSpPr>
          <p:spPr bwMode="auto">
            <a:xfrm flipV="1">
              <a:off x="3596" y="2296"/>
              <a:ext cx="0" cy="136"/>
            </a:xfrm>
            <a:prstGeom prst="line">
              <a:avLst/>
            </a:prstGeom>
            <a:noFill/>
            <a:ln w="25400" cap="sq">
              <a:solidFill>
                <a:srgbClr val="00B85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" name="Line 114"/>
            <p:cNvSpPr>
              <a:spLocks noChangeShapeType="1"/>
            </p:cNvSpPr>
            <p:nvPr/>
          </p:nvSpPr>
          <p:spPr bwMode="auto">
            <a:xfrm flipV="1">
              <a:off x="3669" y="2296"/>
              <a:ext cx="0" cy="136"/>
            </a:xfrm>
            <a:prstGeom prst="line">
              <a:avLst/>
            </a:prstGeom>
            <a:noFill/>
            <a:ln w="25400" cap="sq">
              <a:solidFill>
                <a:srgbClr val="00B85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" name="Line 115"/>
            <p:cNvSpPr>
              <a:spLocks noChangeShapeType="1"/>
            </p:cNvSpPr>
            <p:nvPr/>
          </p:nvSpPr>
          <p:spPr bwMode="auto">
            <a:xfrm>
              <a:off x="3669" y="2432"/>
              <a:ext cx="73" cy="0"/>
            </a:xfrm>
            <a:prstGeom prst="line">
              <a:avLst/>
            </a:prstGeom>
            <a:noFill/>
            <a:ln w="25400" cap="sq">
              <a:solidFill>
                <a:srgbClr val="00B85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6" name="Line 116"/>
            <p:cNvSpPr>
              <a:spLocks noChangeShapeType="1"/>
            </p:cNvSpPr>
            <p:nvPr/>
          </p:nvSpPr>
          <p:spPr bwMode="auto">
            <a:xfrm>
              <a:off x="3748" y="2296"/>
              <a:ext cx="73" cy="0"/>
            </a:xfrm>
            <a:prstGeom prst="line">
              <a:avLst/>
            </a:prstGeom>
            <a:noFill/>
            <a:ln w="25400" cap="sq">
              <a:solidFill>
                <a:srgbClr val="00B85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" name="Line 117"/>
            <p:cNvSpPr>
              <a:spLocks noChangeShapeType="1"/>
            </p:cNvSpPr>
            <p:nvPr/>
          </p:nvSpPr>
          <p:spPr bwMode="auto">
            <a:xfrm flipV="1">
              <a:off x="3748" y="2296"/>
              <a:ext cx="0" cy="136"/>
            </a:xfrm>
            <a:prstGeom prst="line">
              <a:avLst/>
            </a:prstGeom>
            <a:noFill/>
            <a:ln w="25400" cap="sq">
              <a:solidFill>
                <a:srgbClr val="00B85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" name="Line 118"/>
            <p:cNvSpPr>
              <a:spLocks noChangeShapeType="1"/>
            </p:cNvSpPr>
            <p:nvPr/>
          </p:nvSpPr>
          <p:spPr bwMode="auto">
            <a:xfrm flipV="1">
              <a:off x="3821" y="2296"/>
              <a:ext cx="0" cy="136"/>
            </a:xfrm>
            <a:prstGeom prst="line">
              <a:avLst/>
            </a:prstGeom>
            <a:noFill/>
            <a:ln w="25400" cap="sq">
              <a:solidFill>
                <a:srgbClr val="00B85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" name="Line 119"/>
            <p:cNvSpPr>
              <a:spLocks noChangeShapeType="1"/>
            </p:cNvSpPr>
            <p:nvPr/>
          </p:nvSpPr>
          <p:spPr bwMode="auto">
            <a:xfrm>
              <a:off x="3821" y="2432"/>
              <a:ext cx="73" cy="0"/>
            </a:xfrm>
            <a:prstGeom prst="line">
              <a:avLst/>
            </a:prstGeom>
            <a:noFill/>
            <a:ln w="25400" cap="sq">
              <a:solidFill>
                <a:srgbClr val="00B85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" name="Line 120"/>
            <p:cNvSpPr>
              <a:spLocks noChangeShapeType="1"/>
            </p:cNvSpPr>
            <p:nvPr/>
          </p:nvSpPr>
          <p:spPr bwMode="auto">
            <a:xfrm>
              <a:off x="3908" y="2296"/>
              <a:ext cx="73" cy="0"/>
            </a:xfrm>
            <a:prstGeom prst="line">
              <a:avLst/>
            </a:prstGeom>
            <a:noFill/>
            <a:ln w="25400" cap="sq">
              <a:solidFill>
                <a:srgbClr val="00B85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" name="Line 121"/>
            <p:cNvSpPr>
              <a:spLocks noChangeShapeType="1"/>
            </p:cNvSpPr>
            <p:nvPr/>
          </p:nvSpPr>
          <p:spPr bwMode="auto">
            <a:xfrm flipV="1">
              <a:off x="3908" y="2296"/>
              <a:ext cx="0" cy="136"/>
            </a:xfrm>
            <a:prstGeom prst="line">
              <a:avLst/>
            </a:prstGeom>
            <a:noFill/>
            <a:ln w="25400" cap="sq">
              <a:solidFill>
                <a:srgbClr val="00B85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" name="Line 122"/>
            <p:cNvSpPr>
              <a:spLocks noChangeShapeType="1"/>
            </p:cNvSpPr>
            <p:nvPr/>
          </p:nvSpPr>
          <p:spPr bwMode="auto">
            <a:xfrm flipV="1">
              <a:off x="3981" y="2296"/>
              <a:ext cx="0" cy="136"/>
            </a:xfrm>
            <a:prstGeom prst="line">
              <a:avLst/>
            </a:prstGeom>
            <a:noFill/>
            <a:ln w="25400" cap="sq">
              <a:solidFill>
                <a:srgbClr val="00B85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" name="Line 123"/>
            <p:cNvSpPr>
              <a:spLocks noChangeShapeType="1"/>
            </p:cNvSpPr>
            <p:nvPr/>
          </p:nvSpPr>
          <p:spPr bwMode="auto">
            <a:xfrm>
              <a:off x="3981" y="2432"/>
              <a:ext cx="73" cy="0"/>
            </a:xfrm>
            <a:prstGeom prst="line">
              <a:avLst/>
            </a:prstGeom>
            <a:noFill/>
            <a:ln w="25400" cap="sq">
              <a:solidFill>
                <a:srgbClr val="00B85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34" name="Group 124"/>
          <p:cNvGrpSpPr>
            <a:grpSpLocks/>
          </p:cNvGrpSpPr>
          <p:nvPr/>
        </p:nvGrpSpPr>
        <p:grpSpPr bwMode="auto">
          <a:xfrm>
            <a:off x="4154860" y="4596854"/>
            <a:ext cx="863600" cy="215900"/>
            <a:chOff x="748" y="2523"/>
            <a:chExt cx="818" cy="181"/>
          </a:xfrm>
        </p:grpSpPr>
        <p:sp>
          <p:nvSpPr>
            <p:cNvPr id="135" name="Line 125"/>
            <p:cNvSpPr>
              <a:spLocks noChangeShapeType="1"/>
            </p:cNvSpPr>
            <p:nvPr/>
          </p:nvSpPr>
          <p:spPr bwMode="auto">
            <a:xfrm>
              <a:off x="748" y="2704"/>
              <a:ext cx="137" cy="0"/>
            </a:xfrm>
            <a:prstGeom prst="line">
              <a:avLst/>
            </a:prstGeom>
            <a:noFill/>
            <a:ln w="25400" cap="sq">
              <a:solidFill>
                <a:srgbClr val="FF3255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6" name="Line 126"/>
            <p:cNvSpPr>
              <a:spLocks noChangeShapeType="1"/>
            </p:cNvSpPr>
            <p:nvPr/>
          </p:nvSpPr>
          <p:spPr bwMode="auto">
            <a:xfrm flipV="1">
              <a:off x="885" y="2523"/>
              <a:ext cx="0" cy="181"/>
            </a:xfrm>
            <a:prstGeom prst="line">
              <a:avLst/>
            </a:prstGeom>
            <a:noFill/>
            <a:ln w="25400" cap="sq">
              <a:solidFill>
                <a:srgbClr val="FF3255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7" name="Line 127"/>
            <p:cNvSpPr>
              <a:spLocks noChangeShapeType="1"/>
            </p:cNvSpPr>
            <p:nvPr/>
          </p:nvSpPr>
          <p:spPr bwMode="auto">
            <a:xfrm>
              <a:off x="885" y="2523"/>
              <a:ext cx="90" cy="0"/>
            </a:xfrm>
            <a:prstGeom prst="line">
              <a:avLst/>
            </a:prstGeom>
            <a:noFill/>
            <a:ln w="25400" cap="sq">
              <a:solidFill>
                <a:srgbClr val="FF3255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8" name="Line 128"/>
            <p:cNvSpPr>
              <a:spLocks noChangeShapeType="1"/>
            </p:cNvSpPr>
            <p:nvPr/>
          </p:nvSpPr>
          <p:spPr bwMode="auto">
            <a:xfrm flipV="1">
              <a:off x="975" y="2523"/>
              <a:ext cx="0" cy="181"/>
            </a:xfrm>
            <a:prstGeom prst="line">
              <a:avLst/>
            </a:prstGeom>
            <a:noFill/>
            <a:ln w="25400" cap="sq">
              <a:solidFill>
                <a:srgbClr val="FF3255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9" name="Line 129"/>
            <p:cNvSpPr>
              <a:spLocks noChangeShapeType="1"/>
            </p:cNvSpPr>
            <p:nvPr/>
          </p:nvSpPr>
          <p:spPr bwMode="auto">
            <a:xfrm>
              <a:off x="975" y="2704"/>
              <a:ext cx="136" cy="0"/>
            </a:xfrm>
            <a:prstGeom prst="line">
              <a:avLst/>
            </a:prstGeom>
            <a:noFill/>
            <a:ln w="25400" cap="sq">
              <a:solidFill>
                <a:srgbClr val="FF3255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0" name="Line 130"/>
            <p:cNvSpPr>
              <a:spLocks noChangeShapeType="1"/>
            </p:cNvSpPr>
            <p:nvPr/>
          </p:nvSpPr>
          <p:spPr bwMode="auto">
            <a:xfrm flipV="1">
              <a:off x="1111" y="2523"/>
              <a:ext cx="0" cy="181"/>
            </a:xfrm>
            <a:prstGeom prst="line">
              <a:avLst/>
            </a:prstGeom>
            <a:noFill/>
            <a:ln w="25400" cap="sq">
              <a:solidFill>
                <a:srgbClr val="FF3255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1" name="Line 131"/>
            <p:cNvSpPr>
              <a:spLocks noChangeShapeType="1"/>
            </p:cNvSpPr>
            <p:nvPr/>
          </p:nvSpPr>
          <p:spPr bwMode="auto">
            <a:xfrm>
              <a:off x="1111" y="2523"/>
              <a:ext cx="90" cy="0"/>
            </a:xfrm>
            <a:prstGeom prst="line">
              <a:avLst/>
            </a:prstGeom>
            <a:noFill/>
            <a:ln w="25400" cap="sq">
              <a:solidFill>
                <a:srgbClr val="FF3255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2" name="Line 132"/>
            <p:cNvSpPr>
              <a:spLocks noChangeShapeType="1"/>
            </p:cNvSpPr>
            <p:nvPr/>
          </p:nvSpPr>
          <p:spPr bwMode="auto">
            <a:xfrm flipV="1">
              <a:off x="1201" y="2523"/>
              <a:ext cx="0" cy="181"/>
            </a:xfrm>
            <a:prstGeom prst="line">
              <a:avLst/>
            </a:prstGeom>
            <a:noFill/>
            <a:ln w="25400" cap="sq">
              <a:solidFill>
                <a:srgbClr val="FF3255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3" name="Line 133"/>
            <p:cNvSpPr>
              <a:spLocks noChangeShapeType="1"/>
            </p:cNvSpPr>
            <p:nvPr/>
          </p:nvSpPr>
          <p:spPr bwMode="auto">
            <a:xfrm>
              <a:off x="1202" y="2704"/>
              <a:ext cx="137" cy="0"/>
            </a:xfrm>
            <a:prstGeom prst="line">
              <a:avLst/>
            </a:prstGeom>
            <a:noFill/>
            <a:ln w="25400" cap="sq">
              <a:solidFill>
                <a:srgbClr val="FF3255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4" name="Line 134"/>
            <p:cNvSpPr>
              <a:spLocks noChangeShapeType="1"/>
            </p:cNvSpPr>
            <p:nvPr/>
          </p:nvSpPr>
          <p:spPr bwMode="auto">
            <a:xfrm flipV="1">
              <a:off x="1339" y="2523"/>
              <a:ext cx="0" cy="181"/>
            </a:xfrm>
            <a:prstGeom prst="line">
              <a:avLst/>
            </a:prstGeom>
            <a:noFill/>
            <a:ln w="25400" cap="sq">
              <a:solidFill>
                <a:srgbClr val="FF3255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5" name="Line 135"/>
            <p:cNvSpPr>
              <a:spLocks noChangeShapeType="1"/>
            </p:cNvSpPr>
            <p:nvPr/>
          </p:nvSpPr>
          <p:spPr bwMode="auto">
            <a:xfrm>
              <a:off x="1339" y="2523"/>
              <a:ext cx="90" cy="0"/>
            </a:xfrm>
            <a:prstGeom prst="line">
              <a:avLst/>
            </a:prstGeom>
            <a:noFill/>
            <a:ln w="25400" cap="sq">
              <a:solidFill>
                <a:srgbClr val="FF3255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6" name="Line 136"/>
            <p:cNvSpPr>
              <a:spLocks noChangeShapeType="1"/>
            </p:cNvSpPr>
            <p:nvPr/>
          </p:nvSpPr>
          <p:spPr bwMode="auto">
            <a:xfrm flipV="1">
              <a:off x="1429" y="2523"/>
              <a:ext cx="0" cy="181"/>
            </a:xfrm>
            <a:prstGeom prst="line">
              <a:avLst/>
            </a:prstGeom>
            <a:noFill/>
            <a:ln w="25400" cap="sq">
              <a:solidFill>
                <a:srgbClr val="FF3255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7" name="Line 137"/>
            <p:cNvSpPr>
              <a:spLocks noChangeShapeType="1"/>
            </p:cNvSpPr>
            <p:nvPr/>
          </p:nvSpPr>
          <p:spPr bwMode="auto">
            <a:xfrm>
              <a:off x="1429" y="2704"/>
              <a:ext cx="137" cy="0"/>
            </a:xfrm>
            <a:prstGeom prst="line">
              <a:avLst/>
            </a:prstGeom>
            <a:noFill/>
            <a:ln w="25400" cap="sq">
              <a:solidFill>
                <a:srgbClr val="FF3255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48" name="Group 138"/>
          <p:cNvGrpSpPr>
            <a:grpSpLocks/>
          </p:cNvGrpSpPr>
          <p:nvPr/>
        </p:nvGrpSpPr>
        <p:grpSpPr bwMode="auto">
          <a:xfrm>
            <a:off x="5378823" y="5028654"/>
            <a:ext cx="863600" cy="215900"/>
            <a:chOff x="748" y="2523"/>
            <a:chExt cx="818" cy="181"/>
          </a:xfrm>
        </p:grpSpPr>
        <p:sp>
          <p:nvSpPr>
            <p:cNvPr id="149" name="Line 139"/>
            <p:cNvSpPr>
              <a:spLocks noChangeShapeType="1"/>
            </p:cNvSpPr>
            <p:nvPr/>
          </p:nvSpPr>
          <p:spPr bwMode="auto">
            <a:xfrm>
              <a:off x="748" y="2704"/>
              <a:ext cx="137" cy="0"/>
            </a:xfrm>
            <a:prstGeom prst="line">
              <a:avLst/>
            </a:prstGeom>
            <a:noFill/>
            <a:ln w="25400" cap="sq">
              <a:solidFill>
                <a:srgbClr val="00B85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0" name="Line 140"/>
            <p:cNvSpPr>
              <a:spLocks noChangeShapeType="1"/>
            </p:cNvSpPr>
            <p:nvPr/>
          </p:nvSpPr>
          <p:spPr bwMode="auto">
            <a:xfrm flipV="1">
              <a:off x="885" y="2523"/>
              <a:ext cx="0" cy="181"/>
            </a:xfrm>
            <a:prstGeom prst="line">
              <a:avLst/>
            </a:prstGeom>
            <a:noFill/>
            <a:ln w="25400" cap="sq">
              <a:solidFill>
                <a:srgbClr val="00B85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" name="Line 141"/>
            <p:cNvSpPr>
              <a:spLocks noChangeShapeType="1"/>
            </p:cNvSpPr>
            <p:nvPr/>
          </p:nvSpPr>
          <p:spPr bwMode="auto">
            <a:xfrm>
              <a:off x="885" y="2523"/>
              <a:ext cx="90" cy="0"/>
            </a:xfrm>
            <a:prstGeom prst="line">
              <a:avLst/>
            </a:prstGeom>
            <a:noFill/>
            <a:ln w="25400" cap="sq">
              <a:solidFill>
                <a:srgbClr val="00B85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" name="Line 142"/>
            <p:cNvSpPr>
              <a:spLocks noChangeShapeType="1"/>
            </p:cNvSpPr>
            <p:nvPr/>
          </p:nvSpPr>
          <p:spPr bwMode="auto">
            <a:xfrm flipV="1">
              <a:off x="975" y="2523"/>
              <a:ext cx="0" cy="181"/>
            </a:xfrm>
            <a:prstGeom prst="line">
              <a:avLst/>
            </a:prstGeom>
            <a:noFill/>
            <a:ln w="25400" cap="sq">
              <a:solidFill>
                <a:srgbClr val="00B85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" name="Line 143"/>
            <p:cNvSpPr>
              <a:spLocks noChangeShapeType="1"/>
            </p:cNvSpPr>
            <p:nvPr/>
          </p:nvSpPr>
          <p:spPr bwMode="auto">
            <a:xfrm>
              <a:off x="975" y="2704"/>
              <a:ext cx="136" cy="0"/>
            </a:xfrm>
            <a:prstGeom prst="line">
              <a:avLst/>
            </a:prstGeom>
            <a:noFill/>
            <a:ln w="25400" cap="sq">
              <a:solidFill>
                <a:srgbClr val="00B85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" name="Line 144"/>
            <p:cNvSpPr>
              <a:spLocks noChangeShapeType="1"/>
            </p:cNvSpPr>
            <p:nvPr/>
          </p:nvSpPr>
          <p:spPr bwMode="auto">
            <a:xfrm flipV="1">
              <a:off x="1111" y="2523"/>
              <a:ext cx="0" cy="181"/>
            </a:xfrm>
            <a:prstGeom prst="line">
              <a:avLst/>
            </a:prstGeom>
            <a:noFill/>
            <a:ln w="25400" cap="sq">
              <a:solidFill>
                <a:srgbClr val="00B85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5" name="Line 145"/>
            <p:cNvSpPr>
              <a:spLocks noChangeShapeType="1"/>
            </p:cNvSpPr>
            <p:nvPr/>
          </p:nvSpPr>
          <p:spPr bwMode="auto">
            <a:xfrm>
              <a:off x="1111" y="2523"/>
              <a:ext cx="90" cy="0"/>
            </a:xfrm>
            <a:prstGeom prst="line">
              <a:avLst/>
            </a:prstGeom>
            <a:noFill/>
            <a:ln w="25400" cap="sq">
              <a:solidFill>
                <a:srgbClr val="00B85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6" name="Line 146"/>
            <p:cNvSpPr>
              <a:spLocks noChangeShapeType="1"/>
            </p:cNvSpPr>
            <p:nvPr/>
          </p:nvSpPr>
          <p:spPr bwMode="auto">
            <a:xfrm flipV="1">
              <a:off x="1201" y="2523"/>
              <a:ext cx="0" cy="181"/>
            </a:xfrm>
            <a:prstGeom prst="line">
              <a:avLst/>
            </a:prstGeom>
            <a:noFill/>
            <a:ln w="25400" cap="sq">
              <a:solidFill>
                <a:srgbClr val="00B85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7" name="Line 147"/>
            <p:cNvSpPr>
              <a:spLocks noChangeShapeType="1"/>
            </p:cNvSpPr>
            <p:nvPr/>
          </p:nvSpPr>
          <p:spPr bwMode="auto">
            <a:xfrm>
              <a:off x="1202" y="2704"/>
              <a:ext cx="137" cy="0"/>
            </a:xfrm>
            <a:prstGeom prst="line">
              <a:avLst/>
            </a:prstGeom>
            <a:noFill/>
            <a:ln w="25400" cap="sq">
              <a:solidFill>
                <a:srgbClr val="00B85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8" name="Line 148"/>
            <p:cNvSpPr>
              <a:spLocks noChangeShapeType="1"/>
            </p:cNvSpPr>
            <p:nvPr/>
          </p:nvSpPr>
          <p:spPr bwMode="auto">
            <a:xfrm flipV="1">
              <a:off x="1339" y="2523"/>
              <a:ext cx="0" cy="181"/>
            </a:xfrm>
            <a:prstGeom prst="line">
              <a:avLst/>
            </a:prstGeom>
            <a:noFill/>
            <a:ln w="25400" cap="sq">
              <a:solidFill>
                <a:srgbClr val="00B85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9" name="Line 149"/>
            <p:cNvSpPr>
              <a:spLocks noChangeShapeType="1"/>
            </p:cNvSpPr>
            <p:nvPr/>
          </p:nvSpPr>
          <p:spPr bwMode="auto">
            <a:xfrm>
              <a:off x="1339" y="2523"/>
              <a:ext cx="90" cy="0"/>
            </a:xfrm>
            <a:prstGeom prst="line">
              <a:avLst/>
            </a:prstGeom>
            <a:noFill/>
            <a:ln w="25400" cap="sq">
              <a:solidFill>
                <a:srgbClr val="00B85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0" name="Line 150"/>
            <p:cNvSpPr>
              <a:spLocks noChangeShapeType="1"/>
            </p:cNvSpPr>
            <p:nvPr/>
          </p:nvSpPr>
          <p:spPr bwMode="auto">
            <a:xfrm flipV="1">
              <a:off x="1429" y="2523"/>
              <a:ext cx="0" cy="181"/>
            </a:xfrm>
            <a:prstGeom prst="line">
              <a:avLst/>
            </a:prstGeom>
            <a:noFill/>
            <a:ln w="25400" cap="sq">
              <a:solidFill>
                <a:srgbClr val="00B85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1" name="Line 151"/>
            <p:cNvSpPr>
              <a:spLocks noChangeShapeType="1"/>
            </p:cNvSpPr>
            <p:nvPr/>
          </p:nvSpPr>
          <p:spPr bwMode="auto">
            <a:xfrm>
              <a:off x="1429" y="2704"/>
              <a:ext cx="137" cy="0"/>
            </a:xfrm>
            <a:prstGeom prst="line">
              <a:avLst/>
            </a:prstGeom>
            <a:noFill/>
            <a:ln w="25400" cap="sq">
              <a:solidFill>
                <a:srgbClr val="00B85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62" name="Line 35"/>
          <p:cNvSpPr>
            <a:spLocks noChangeShapeType="1"/>
          </p:cNvSpPr>
          <p:nvPr/>
        </p:nvSpPr>
        <p:spPr bwMode="auto">
          <a:xfrm>
            <a:off x="4518398" y="2154709"/>
            <a:ext cx="0" cy="304800"/>
          </a:xfrm>
          <a:prstGeom prst="line">
            <a:avLst/>
          </a:prstGeom>
          <a:noFill/>
          <a:ln w="25400" cap="sq">
            <a:solidFill>
              <a:srgbClr val="808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97354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63" presetClass="path" presetSubtype="0" repeatCount="3000" accel="50000" decel="50000" fill="remove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6302 0.00532 L 0.18698 0.00532 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0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8"/>
                                            </p:cond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6302 0.00532 L 0.18698 0.00532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0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5"/>
                                            </p:cond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6302 7.40741E-7 L 0.18698 7.40741E-7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0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1"/>
                                            </p:cond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0"/>
                            </p:stCondLst>
                            <p:childTnLst>
                              <p:par>
                                <p:cTn id="27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6302 7.40741E-7 L 0.18698 7.40741E-7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0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7"/>
                                            </p:cond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7000"/>
                            </p:stCondLst>
                            <p:childTnLst>
                              <p:par>
                                <p:cTn id="30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7500"/>
                            </p:stCondLst>
                            <p:childTnLst>
                              <p:par>
                                <p:cTn id="33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51 7.40741E-7 L -0.2349 7.40741E-7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00" y="0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33"/>
                                            </p:cond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9500"/>
                            </p:stCondLst>
                            <p:childTnLst>
                              <p:par>
                                <p:cTn id="3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9500"/>
                            </p:stCondLst>
                            <p:childTnLst>
                              <p:par>
                                <p:cTn id="39" presetID="63" presetClass="path" presetSubtype="0" repeatCount="3000" accel="50000" decel="50000" fill="remove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6302 0.00533 L 0.18698 0.00533 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0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39"/>
                                            </p:cond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35" presetClass="path" presetSubtype="0" repeatCount="300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312 -4.07407E-6 L -0.19688 -4.07407E-6 " pathEditMode="relative" rAng="0" ptsTypes="AA">
                                      <p:cBhvr>
                                        <p:cTn id="44" dur="20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00" y="0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43"/>
                                            </p:cond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串行通信的工作方式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grpSp>
        <p:nvGrpSpPr>
          <p:cNvPr id="5" name="组合 4"/>
          <p:cNvGrpSpPr/>
          <p:nvPr/>
        </p:nvGrpSpPr>
        <p:grpSpPr>
          <a:xfrm>
            <a:off x="827584" y="1628800"/>
            <a:ext cx="7344816" cy="3888432"/>
            <a:chOff x="3433291" y="1916832"/>
            <a:chExt cx="7344816" cy="3672408"/>
          </a:xfrm>
        </p:grpSpPr>
        <p:sp>
          <p:nvSpPr>
            <p:cNvPr id="7" name="等腰三角形 6"/>
            <p:cNvSpPr/>
            <p:nvPr/>
          </p:nvSpPr>
          <p:spPr>
            <a:xfrm>
              <a:off x="3433291" y="3789040"/>
              <a:ext cx="432048" cy="216024"/>
            </a:xfrm>
            <a:prstGeom prst="triangl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8" name="等腰三角形 7"/>
            <p:cNvSpPr/>
            <p:nvPr/>
          </p:nvSpPr>
          <p:spPr>
            <a:xfrm>
              <a:off x="3433291" y="2034210"/>
              <a:ext cx="432048" cy="216024"/>
            </a:xfrm>
            <a:prstGeom prst="triangl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3577307" y="1916832"/>
              <a:ext cx="7200800" cy="367240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矩形 2"/>
            <p:cNvSpPr/>
            <p:nvPr/>
          </p:nvSpPr>
          <p:spPr>
            <a:xfrm>
              <a:off x="3433291" y="2250234"/>
              <a:ext cx="3456384" cy="576064"/>
            </a:xfrm>
            <a:custGeom>
              <a:avLst/>
              <a:gdLst>
                <a:gd name="connsiteX0" fmla="*/ 0 w 4032448"/>
                <a:gd name="connsiteY0" fmla="*/ 0 h 648072"/>
                <a:gd name="connsiteX1" fmla="*/ 4032448 w 4032448"/>
                <a:gd name="connsiteY1" fmla="*/ 0 h 648072"/>
                <a:gd name="connsiteX2" fmla="*/ 4032448 w 4032448"/>
                <a:gd name="connsiteY2" fmla="*/ 648072 h 648072"/>
                <a:gd name="connsiteX3" fmla="*/ 0 w 4032448"/>
                <a:gd name="connsiteY3" fmla="*/ 648072 h 648072"/>
                <a:gd name="connsiteX4" fmla="*/ 0 w 4032448"/>
                <a:gd name="connsiteY4" fmla="*/ 0 h 648072"/>
                <a:gd name="connsiteX0" fmla="*/ 0 w 4035860"/>
                <a:gd name="connsiteY0" fmla="*/ 0 h 648072"/>
                <a:gd name="connsiteX1" fmla="*/ 4032448 w 4035860"/>
                <a:gd name="connsiteY1" fmla="*/ 0 h 648072"/>
                <a:gd name="connsiteX2" fmla="*/ 4035860 w 4035860"/>
                <a:gd name="connsiteY2" fmla="*/ 24154 h 648072"/>
                <a:gd name="connsiteX3" fmla="*/ 4032448 w 4035860"/>
                <a:gd name="connsiteY3" fmla="*/ 648072 h 648072"/>
                <a:gd name="connsiteX4" fmla="*/ 0 w 4035860"/>
                <a:gd name="connsiteY4" fmla="*/ 648072 h 648072"/>
                <a:gd name="connsiteX5" fmla="*/ 0 w 4035860"/>
                <a:gd name="connsiteY5" fmla="*/ 0 h 648072"/>
                <a:gd name="connsiteX0" fmla="*/ 0 w 4282044"/>
                <a:gd name="connsiteY0" fmla="*/ 0 h 648072"/>
                <a:gd name="connsiteX1" fmla="*/ 4032448 w 4282044"/>
                <a:gd name="connsiteY1" fmla="*/ 0 h 648072"/>
                <a:gd name="connsiteX2" fmla="*/ 4282044 w 4282044"/>
                <a:gd name="connsiteY2" fmla="*/ 293785 h 648072"/>
                <a:gd name="connsiteX3" fmla="*/ 4032448 w 4282044"/>
                <a:gd name="connsiteY3" fmla="*/ 648072 h 648072"/>
                <a:gd name="connsiteX4" fmla="*/ 0 w 4282044"/>
                <a:gd name="connsiteY4" fmla="*/ 648072 h 648072"/>
                <a:gd name="connsiteX5" fmla="*/ 0 w 4282044"/>
                <a:gd name="connsiteY5" fmla="*/ 0 h 648072"/>
                <a:gd name="connsiteX0" fmla="*/ 0 w 4282044"/>
                <a:gd name="connsiteY0" fmla="*/ 0 h 648072"/>
                <a:gd name="connsiteX1" fmla="*/ 4032448 w 4282044"/>
                <a:gd name="connsiteY1" fmla="*/ 0 h 648072"/>
                <a:gd name="connsiteX2" fmla="*/ 4282044 w 4282044"/>
                <a:gd name="connsiteY2" fmla="*/ 293785 h 648072"/>
                <a:gd name="connsiteX3" fmla="*/ 4032448 w 4282044"/>
                <a:gd name="connsiteY3" fmla="*/ 648072 h 648072"/>
                <a:gd name="connsiteX4" fmla="*/ 0 w 4282044"/>
                <a:gd name="connsiteY4" fmla="*/ 648072 h 648072"/>
                <a:gd name="connsiteX5" fmla="*/ 0 w 4282044"/>
                <a:gd name="connsiteY5" fmla="*/ 0 h 648072"/>
                <a:gd name="connsiteX0" fmla="*/ 0 w 4282044"/>
                <a:gd name="connsiteY0" fmla="*/ 0 h 648072"/>
                <a:gd name="connsiteX1" fmla="*/ 4032448 w 4282044"/>
                <a:gd name="connsiteY1" fmla="*/ 0 h 648072"/>
                <a:gd name="connsiteX2" fmla="*/ 4282044 w 4282044"/>
                <a:gd name="connsiteY2" fmla="*/ 293785 h 648072"/>
                <a:gd name="connsiteX3" fmla="*/ 4032448 w 4282044"/>
                <a:gd name="connsiteY3" fmla="*/ 648072 h 648072"/>
                <a:gd name="connsiteX4" fmla="*/ 0 w 4282044"/>
                <a:gd name="connsiteY4" fmla="*/ 648072 h 648072"/>
                <a:gd name="connsiteX5" fmla="*/ 0 w 4282044"/>
                <a:gd name="connsiteY5" fmla="*/ 0 h 648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82044" h="648072">
                  <a:moveTo>
                    <a:pt x="0" y="0"/>
                  </a:moveTo>
                  <a:lnTo>
                    <a:pt x="4032448" y="0"/>
                  </a:lnTo>
                  <a:lnTo>
                    <a:pt x="4282044" y="293785"/>
                  </a:lnTo>
                  <a:cubicBezTo>
                    <a:pt x="4269184" y="314189"/>
                    <a:pt x="4197708" y="404929"/>
                    <a:pt x="4032448" y="648072"/>
                  </a:cubicBezTo>
                  <a:lnTo>
                    <a:pt x="0" y="6480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7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24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异步工作方式</a:t>
              </a:r>
            </a:p>
          </p:txBody>
        </p:sp>
        <p:sp>
          <p:nvSpPr>
            <p:cNvPr id="11" name="TextBox 16"/>
            <p:cNvSpPr txBox="1"/>
            <p:nvPr/>
          </p:nvSpPr>
          <p:spPr>
            <a:xfrm>
              <a:off x="3850241" y="2924944"/>
              <a:ext cx="6711842" cy="7342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不发数据时处于高电平。有数据时，先发送一个低电平为起始位，然后发数据位、停止位。</a:t>
              </a:r>
              <a:r>
                <a:rPr lang="zh-CN" altLang="en-US" dirty="0">
                  <a:solidFill>
                    <a:srgbClr val="1D8DE5"/>
                  </a:solidFill>
                  <a:latin typeface="微软雅黑" pitchFamily="34" charset="-122"/>
                  <a:ea typeface="微软雅黑" pitchFamily="34" charset="-122"/>
                </a:rPr>
                <a:t>不要求时钟相同，传输速率双方约定。</a:t>
              </a:r>
              <a:endParaRPr lang="en-US" altLang="zh-CN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2" name="矩形 2"/>
            <p:cNvSpPr/>
            <p:nvPr/>
          </p:nvSpPr>
          <p:spPr>
            <a:xfrm>
              <a:off x="3433291" y="4005064"/>
              <a:ext cx="3456384" cy="576064"/>
            </a:xfrm>
            <a:custGeom>
              <a:avLst/>
              <a:gdLst>
                <a:gd name="connsiteX0" fmla="*/ 0 w 4032448"/>
                <a:gd name="connsiteY0" fmla="*/ 0 h 648072"/>
                <a:gd name="connsiteX1" fmla="*/ 4032448 w 4032448"/>
                <a:gd name="connsiteY1" fmla="*/ 0 h 648072"/>
                <a:gd name="connsiteX2" fmla="*/ 4032448 w 4032448"/>
                <a:gd name="connsiteY2" fmla="*/ 648072 h 648072"/>
                <a:gd name="connsiteX3" fmla="*/ 0 w 4032448"/>
                <a:gd name="connsiteY3" fmla="*/ 648072 h 648072"/>
                <a:gd name="connsiteX4" fmla="*/ 0 w 4032448"/>
                <a:gd name="connsiteY4" fmla="*/ 0 h 648072"/>
                <a:gd name="connsiteX0" fmla="*/ 0 w 4035860"/>
                <a:gd name="connsiteY0" fmla="*/ 0 h 648072"/>
                <a:gd name="connsiteX1" fmla="*/ 4032448 w 4035860"/>
                <a:gd name="connsiteY1" fmla="*/ 0 h 648072"/>
                <a:gd name="connsiteX2" fmla="*/ 4035860 w 4035860"/>
                <a:gd name="connsiteY2" fmla="*/ 24154 h 648072"/>
                <a:gd name="connsiteX3" fmla="*/ 4032448 w 4035860"/>
                <a:gd name="connsiteY3" fmla="*/ 648072 h 648072"/>
                <a:gd name="connsiteX4" fmla="*/ 0 w 4035860"/>
                <a:gd name="connsiteY4" fmla="*/ 648072 h 648072"/>
                <a:gd name="connsiteX5" fmla="*/ 0 w 4035860"/>
                <a:gd name="connsiteY5" fmla="*/ 0 h 648072"/>
                <a:gd name="connsiteX0" fmla="*/ 0 w 4282044"/>
                <a:gd name="connsiteY0" fmla="*/ 0 h 648072"/>
                <a:gd name="connsiteX1" fmla="*/ 4032448 w 4282044"/>
                <a:gd name="connsiteY1" fmla="*/ 0 h 648072"/>
                <a:gd name="connsiteX2" fmla="*/ 4282044 w 4282044"/>
                <a:gd name="connsiteY2" fmla="*/ 293785 h 648072"/>
                <a:gd name="connsiteX3" fmla="*/ 4032448 w 4282044"/>
                <a:gd name="connsiteY3" fmla="*/ 648072 h 648072"/>
                <a:gd name="connsiteX4" fmla="*/ 0 w 4282044"/>
                <a:gd name="connsiteY4" fmla="*/ 648072 h 648072"/>
                <a:gd name="connsiteX5" fmla="*/ 0 w 4282044"/>
                <a:gd name="connsiteY5" fmla="*/ 0 h 648072"/>
                <a:gd name="connsiteX0" fmla="*/ 0 w 4282044"/>
                <a:gd name="connsiteY0" fmla="*/ 0 h 648072"/>
                <a:gd name="connsiteX1" fmla="*/ 4032448 w 4282044"/>
                <a:gd name="connsiteY1" fmla="*/ 0 h 648072"/>
                <a:gd name="connsiteX2" fmla="*/ 4282044 w 4282044"/>
                <a:gd name="connsiteY2" fmla="*/ 293785 h 648072"/>
                <a:gd name="connsiteX3" fmla="*/ 4032448 w 4282044"/>
                <a:gd name="connsiteY3" fmla="*/ 648072 h 648072"/>
                <a:gd name="connsiteX4" fmla="*/ 0 w 4282044"/>
                <a:gd name="connsiteY4" fmla="*/ 648072 h 648072"/>
                <a:gd name="connsiteX5" fmla="*/ 0 w 4282044"/>
                <a:gd name="connsiteY5" fmla="*/ 0 h 648072"/>
                <a:gd name="connsiteX0" fmla="*/ 0 w 4282044"/>
                <a:gd name="connsiteY0" fmla="*/ 0 h 648072"/>
                <a:gd name="connsiteX1" fmla="*/ 4032448 w 4282044"/>
                <a:gd name="connsiteY1" fmla="*/ 0 h 648072"/>
                <a:gd name="connsiteX2" fmla="*/ 4282044 w 4282044"/>
                <a:gd name="connsiteY2" fmla="*/ 293785 h 648072"/>
                <a:gd name="connsiteX3" fmla="*/ 4032448 w 4282044"/>
                <a:gd name="connsiteY3" fmla="*/ 648072 h 648072"/>
                <a:gd name="connsiteX4" fmla="*/ 0 w 4282044"/>
                <a:gd name="connsiteY4" fmla="*/ 648072 h 648072"/>
                <a:gd name="connsiteX5" fmla="*/ 0 w 4282044"/>
                <a:gd name="connsiteY5" fmla="*/ 0 h 648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82044" h="648072">
                  <a:moveTo>
                    <a:pt x="0" y="0"/>
                  </a:moveTo>
                  <a:lnTo>
                    <a:pt x="4032448" y="0"/>
                  </a:lnTo>
                  <a:lnTo>
                    <a:pt x="4282044" y="293785"/>
                  </a:lnTo>
                  <a:cubicBezTo>
                    <a:pt x="4269184" y="314189"/>
                    <a:pt x="4197708" y="404929"/>
                    <a:pt x="4032448" y="648072"/>
                  </a:cubicBezTo>
                  <a:lnTo>
                    <a:pt x="0" y="6480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7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2400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同步工作方式</a:t>
              </a:r>
            </a:p>
          </p:txBody>
        </p:sp>
        <p:sp>
          <p:nvSpPr>
            <p:cNvPr id="13" name="TextBox 18"/>
            <p:cNvSpPr txBox="1"/>
            <p:nvPr/>
          </p:nvSpPr>
          <p:spPr>
            <a:xfrm>
              <a:off x="3850241" y="4676037"/>
              <a:ext cx="6711842" cy="7774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先发送一到两个特殊同步字符，当收发同步后，连续发送一块数据。</a:t>
              </a:r>
              <a:r>
                <a:rPr lang="zh-CN" altLang="en-US" dirty="0">
                  <a:solidFill>
                    <a:srgbClr val="1D8DE5"/>
                  </a:solidFill>
                  <a:latin typeface="微软雅黑" pitchFamily="34" charset="-122"/>
                  <a:ea typeface="微软雅黑" pitchFamily="34" charset="-122"/>
                </a:rPr>
                <a:t>收发双方必须用同一时钟协调</a:t>
              </a:r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，以确定数据中每一位的位置。</a:t>
              </a:r>
              <a:endPara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07224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串行异步通信示例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cxnSp>
        <p:nvCxnSpPr>
          <p:cNvPr id="8" name="直接连接符 7"/>
          <p:cNvCxnSpPr/>
          <p:nvPr/>
        </p:nvCxnSpPr>
        <p:spPr>
          <a:xfrm>
            <a:off x="683568" y="2060848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1043608" y="2060848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1043608" y="2420888"/>
            <a:ext cx="5762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flipV="1">
            <a:off x="1619883" y="2060848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1619883" y="2060848"/>
            <a:ext cx="511235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/>
          <p:cNvCxnSpPr/>
          <p:nvPr/>
        </p:nvCxnSpPr>
        <p:spPr>
          <a:xfrm>
            <a:off x="1619883" y="2420888"/>
            <a:ext cx="4469221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/>
          <p:cNvCxnSpPr/>
          <p:nvPr/>
        </p:nvCxnSpPr>
        <p:spPr>
          <a:xfrm flipV="1">
            <a:off x="2195736" y="2060848"/>
            <a:ext cx="0" cy="36004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连接符 67"/>
          <p:cNvCxnSpPr/>
          <p:nvPr/>
        </p:nvCxnSpPr>
        <p:spPr>
          <a:xfrm flipV="1">
            <a:off x="4211749" y="2060848"/>
            <a:ext cx="0" cy="36004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/>
          <p:cNvCxnSpPr/>
          <p:nvPr/>
        </p:nvCxnSpPr>
        <p:spPr>
          <a:xfrm flipV="1">
            <a:off x="4777303" y="2060848"/>
            <a:ext cx="0" cy="36004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连接符 71"/>
          <p:cNvCxnSpPr/>
          <p:nvPr/>
        </p:nvCxnSpPr>
        <p:spPr>
          <a:xfrm flipV="1">
            <a:off x="5364088" y="2060848"/>
            <a:ext cx="0" cy="36004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/>
        </p:nvCxnSpPr>
        <p:spPr>
          <a:xfrm flipV="1">
            <a:off x="6089104" y="2060848"/>
            <a:ext cx="0" cy="36004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箭头连接符 78"/>
          <p:cNvCxnSpPr/>
          <p:nvPr/>
        </p:nvCxnSpPr>
        <p:spPr>
          <a:xfrm flipV="1">
            <a:off x="1043608" y="1830654"/>
            <a:ext cx="577934" cy="410214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 Box 49"/>
          <p:cNvSpPr txBox="1">
            <a:spLocks noChangeArrowheads="1"/>
          </p:cNvSpPr>
          <p:nvPr/>
        </p:nvSpPr>
        <p:spPr bwMode="auto">
          <a:xfrm>
            <a:off x="1508993" y="1556792"/>
            <a:ext cx="446449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9966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339966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lang="en-US" altLang="zh-CN" sz="2000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000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的跳变作为字符的开始</a:t>
            </a:r>
          </a:p>
        </p:txBody>
      </p:sp>
      <p:cxnSp>
        <p:nvCxnSpPr>
          <p:cNvPr id="82" name="直接箭头连接符 81"/>
          <p:cNvCxnSpPr/>
          <p:nvPr/>
        </p:nvCxnSpPr>
        <p:spPr>
          <a:xfrm>
            <a:off x="1331640" y="2420888"/>
            <a:ext cx="0" cy="288032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连接符 83"/>
          <p:cNvCxnSpPr/>
          <p:nvPr/>
        </p:nvCxnSpPr>
        <p:spPr>
          <a:xfrm>
            <a:off x="1331640" y="5301208"/>
            <a:ext cx="70185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左大括号 84"/>
          <p:cNvSpPr/>
          <p:nvPr/>
        </p:nvSpPr>
        <p:spPr>
          <a:xfrm rot="16200000">
            <a:off x="3154371" y="1191637"/>
            <a:ext cx="170963" cy="280831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cxnSp>
        <p:nvCxnSpPr>
          <p:cNvPr id="87" name="直接箭头连接符 86"/>
          <p:cNvCxnSpPr/>
          <p:nvPr/>
        </p:nvCxnSpPr>
        <p:spPr>
          <a:xfrm>
            <a:off x="3239852" y="2681275"/>
            <a:ext cx="0" cy="1971861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连接符 88"/>
          <p:cNvCxnSpPr/>
          <p:nvPr/>
        </p:nvCxnSpPr>
        <p:spPr>
          <a:xfrm>
            <a:off x="3239852" y="4653136"/>
            <a:ext cx="511032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箭头连接符 89"/>
          <p:cNvCxnSpPr/>
          <p:nvPr/>
        </p:nvCxnSpPr>
        <p:spPr>
          <a:xfrm>
            <a:off x="5076056" y="2420888"/>
            <a:ext cx="0" cy="1584176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连接符 91"/>
          <p:cNvCxnSpPr/>
          <p:nvPr/>
        </p:nvCxnSpPr>
        <p:spPr>
          <a:xfrm>
            <a:off x="5076056" y="4005064"/>
            <a:ext cx="327411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接箭头连接符 92"/>
          <p:cNvCxnSpPr/>
          <p:nvPr/>
        </p:nvCxnSpPr>
        <p:spPr>
          <a:xfrm>
            <a:off x="5724128" y="2420888"/>
            <a:ext cx="0" cy="976636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连接符 98"/>
          <p:cNvCxnSpPr/>
          <p:nvPr/>
        </p:nvCxnSpPr>
        <p:spPr>
          <a:xfrm>
            <a:off x="5724128" y="3397524"/>
            <a:ext cx="26260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 Box 49"/>
          <p:cNvSpPr txBox="1">
            <a:spLocks noChangeArrowheads="1"/>
          </p:cNvSpPr>
          <p:nvPr/>
        </p:nvSpPr>
        <p:spPr bwMode="auto">
          <a:xfrm>
            <a:off x="1362418" y="4869160"/>
            <a:ext cx="317525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9966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339966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000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起始位，低电平，占</a:t>
            </a:r>
            <a:r>
              <a:rPr lang="en-US" altLang="zh-CN" sz="2000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</a:p>
        </p:txBody>
      </p:sp>
      <p:sp>
        <p:nvSpPr>
          <p:cNvPr id="105" name="Text Box 49"/>
          <p:cNvSpPr txBox="1">
            <a:spLocks noChangeArrowheads="1"/>
          </p:cNvSpPr>
          <p:nvPr/>
        </p:nvSpPr>
        <p:spPr bwMode="auto">
          <a:xfrm>
            <a:off x="3239851" y="4253026"/>
            <a:ext cx="367016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9966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339966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000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lang="en-US" altLang="zh-CN" sz="2000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000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位数据低位先发高位后发</a:t>
            </a:r>
          </a:p>
        </p:txBody>
      </p:sp>
      <p:sp>
        <p:nvSpPr>
          <p:cNvPr id="106" name="Text Box 49"/>
          <p:cNvSpPr txBox="1">
            <a:spLocks noChangeArrowheads="1"/>
          </p:cNvSpPr>
          <p:nvPr/>
        </p:nvSpPr>
        <p:spPr bwMode="auto">
          <a:xfrm>
            <a:off x="5041760" y="3604954"/>
            <a:ext cx="320264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9966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339966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位可选的奇偶校验位</a:t>
            </a:r>
          </a:p>
        </p:txBody>
      </p:sp>
      <p:sp>
        <p:nvSpPr>
          <p:cNvPr id="107" name="Text Box 49"/>
          <p:cNvSpPr txBox="1">
            <a:spLocks noChangeArrowheads="1"/>
          </p:cNvSpPr>
          <p:nvPr/>
        </p:nvSpPr>
        <p:spPr bwMode="auto">
          <a:xfrm>
            <a:off x="5723591" y="3037484"/>
            <a:ext cx="262658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9966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339966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000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高电平，</a:t>
            </a:r>
            <a:r>
              <a:rPr lang="en-US" altLang="zh-CN" sz="2000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1.5</a:t>
            </a:r>
            <a:r>
              <a:rPr lang="zh-CN" altLang="en-US" sz="2000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2000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</a:p>
        </p:txBody>
      </p:sp>
      <p:cxnSp>
        <p:nvCxnSpPr>
          <p:cNvPr id="112" name="直接箭头连接符 111"/>
          <p:cNvCxnSpPr/>
          <p:nvPr/>
        </p:nvCxnSpPr>
        <p:spPr>
          <a:xfrm>
            <a:off x="6484910" y="2060848"/>
            <a:ext cx="0" cy="83262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接连接符 113"/>
          <p:cNvCxnSpPr/>
          <p:nvPr/>
        </p:nvCxnSpPr>
        <p:spPr>
          <a:xfrm>
            <a:off x="6480212" y="2897239"/>
            <a:ext cx="186996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 Box 49"/>
          <p:cNvSpPr txBox="1">
            <a:spLocks noChangeArrowheads="1"/>
          </p:cNvSpPr>
          <p:nvPr/>
        </p:nvSpPr>
        <p:spPr bwMode="auto">
          <a:xfrm>
            <a:off x="6480211" y="2525147"/>
            <a:ext cx="205201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9966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339966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000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空闲位，高电平</a:t>
            </a:r>
          </a:p>
        </p:txBody>
      </p:sp>
      <p:sp>
        <p:nvSpPr>
          <p:cNvPr id="34" name="矩形 33"/>
          <p:cNvSpPr/>
          <p:nvPr/>
        </p:nvSpPr>
        <p:spPr>
          <a:xfrm>
            <a:off x="1547664" y="5951021"/>
            <a:ext cx="5904656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zh-CN" altLang="en-US" sz="2000" dirty="0">
                <a:ln w="17780" cmpd="sng">
                  <a:noFill/>
                  <a:prstDash val="solid"/>
                  <a:miter lim="800000"/>
                </a:ln>
                <a:solidFill>
                  <a:srgbClr val="FD7A2A"/>
                </a:solidFill>
                <a:latin typeface="微软雅黑" pitchFamily="34" charset="-122"/>
                <a:ea typeface="微软雅黑" pitchFamily="34" charset="-122"/>
              </a:rPr>
              <a:t>奇偶校验：</a:t>
            </a:r>
            <a:r>
              <a:rPr lang="zh-CN" altLang="en-US" sz="1600" dirty="0">
                <a:ln w="17780" cmpd="sng">
                  <a:noFill/>
                  <a:prstDash val="solid"/>
                  <a:miter lim="800000"/>
                </a:ln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增加一位，使</a:t>
            </a:r>
            <a:r>
              <a:rPr lang="en-US" altLang="zh-CN" sz="1600" dirty="0">
                <a:ln w="17780" cmpd="sng">
                  <a:noFill/>
                  <a:prstDash val="solid"/>
                  <a:miter lim="800000"/>
                </a:ln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600" dirty="0">
                <a:ln w="17780" cmpd="sng">
                  <a:noFill/>
                  <a:prstDash val="solid"/>
                  <a:miter lim="800000"/>
                </a:ln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的个数为奇数个（偶数个），称为奇校验（偶校验）。</a:t>
            </a:r>
          </a:p>
        </p:txBody>
      </p:sp>
      <p:pic>
        <p:nvPicPr>
          <p:cNvPr id="35" name="Picture 2" descr="C:\Documents and Settings\tdz\桌面\未标题-1 拷贝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72765" y="5524698"/>
            <a:ext cx="834828" cy="782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6985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串行异步通信示例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cxnSp>
        <p:nvCxnSpPr>
          <p:cNvPr id="5" name="直接连接符 4"/>
          <p:cNvCxnSpPr/>
          <p:nvPr/>
        </p:nvCxnSpPr>
        <p:spPr>
          <a:xfrm>
            <a:off x="1547664" y="2954784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1907704" y="2954784"/>
            <a:ext cx="0" cy="5040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1907704" y="3458840"/>
            <a:ext cx="5762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V="1">
            <a:off x="3059621" y="2954784"/>
            <a:ext cx="0" cy="5040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 Box 49"/>
          <p:cNvSpPr txBox="1">
            <a:spLocks noChangeArrowheads="1"/>
          </p:cNvSpPr>
          <p:nvPr/>
        </p:nvSpPr>
        <p:spPr bwMode="auto">
          <a:xfrm>
            <a:off x="1484510" y="1977785"/>
            <a:ext cx="635923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9966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339966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</a:t>
            </a:r>
            <a:r>
              <a:rPr lang="en-US" altLang="zh-CN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位数据</a:t>
            </a:r>
            <a:r>
              <a:rPr lang="en-US" altLang="zh-CN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42H</a:t>
            </a:r>
            <a:r>
              <a: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1000010B</a:t>
            </a:r>
            <a:r>
              <a: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），奇校验，</a:t>
            </a:r>
            <a:r>
              <a:rPr lang="en-US" altLang="zh-CN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位停止位</a:t>
            </a:r>
          </a:p>
        </p:txBody>
      </p:sp>
      <p:cxnSp>
        <p:nvCxnSpPr>
          <p:cNvPr id="42" name="直接连接符 41"/>
          <p:cNvCxnSpPr/>
          <p:nvPr/>
        </p:nvCxnSpPr>
        <p:spPr>
          <a:xfrm>
            <a:off x="2483346" y="3458840"/>
            <a:ext cx="5762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>
            <a:off x="3059621" y="2954784"/>
            <a:ext cx="5762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>
            <a:off x="3635896" y="3458840"/>
            <a:ext cx="5762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>
            <a:off x="4211538" y="3458840"/>
            <a:ext cx="5762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 flipV="1">
            <a:off x="3635896" y="2954784"/>
            <a:ext cx="0" cy="5040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>
            <a:off x="4788024" y="3458840"/>
            <a:ext cx="5762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5363666" y="3458840"/>
            <a:ext cx="5762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 flipV="1">
            <a:off x="5932412" y="2954784"/>
            <a:ext cx="0" cy="5040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/>
        </p:nvCxnSpPr>
        <p:spPr>
          <a:xfrm>
            <a:off x="5932412" y="2954784"/>
            <a:ext cx="5762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>
          <a:xfrm flipV="1">
            <a:off x="6508687" y="2954784"/>
            <a:ext cx="0" cy="114176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>
            <a:off x="6516216" y="2954784"/>
            <a:ext cx="5762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>
            <a:off x="7092280" y="2954784"/>
            <a:ext cx="5762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/>
        </p:nvCxnSpPr>
        <p:spPr>
          <a:xfrm flipV="1">
            <a:off x="7086550" y="2954784"/>
            <a:ext cx="0" cy="114176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 flipV="1">
            <a:off x="2483346" y="3284984"/>
            <a:ext cx="0" cy="173856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 Box 49"/>
          <p:cNvSpPr txBox="1">
            <a:spLocks noChangeArrowheads="1"/>
          </p:cNvSpPr>
          <p:nvPr/>
        </p:nvSpPr>
        <p:spPr bwMode="auto">
          <a:xfrm>
            <a:off x="1907704" y="3562407"/>
            <a:ext cx="596186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9966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339966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1600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起始</a:t>
            </a:r>
          </a:p>
        </p:txBody>
      </p:sp>
      <p:sp>
        <p:nvSpPr>
          <p:cNvPr id="58" name="Text Box 49"/>
          <p:cNvSpPr txBox="1">
            <a:spLocks noChangeArrowheads="1"/>
          </p:cNvSpPr>
          <p:nvPr/>
        </p:nvSpPr>
        <p:spPr bwMode="auto">
          <a:xfrm>
            <a:off x="2607028" y="3532946"/>
            <a:ext cx="32891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9966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339966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sz="2000" dirty="0">
              <a:solidFill>
                <a:srgbClr val="FF32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Text Box 49"/>
          <p:cNvSpPr txBox="1">
            <a:spLocks noChangeArrowheads="1"/>
          </p:cNvSpPr>
          <p:nvPr/>
        </p:nvSpPr>
        <p:spPr bwMode="auto">
          <a:xfrm>
            <a:off x="3183303" y="3532946"/>
            <a:ext cx="32891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9966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339966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000" dirty="0">
              <a:solidFill>
                <a:srgbClr val="FF32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Text Box 49"/>
          <p:cNvSpPr txBox="1">
            <a:spLocks noChangeArrowheads="1"/>
          </p:cNvSpPr>
          <p:nvPr/>
        </p:nvSpPr>
        <p:spPr bwMode="auto">
          <a:xfrm>
            <a:off x="3759578" y="3532946"/>
            <a:ext cx="32891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9966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339966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sz="2000" dirty="0">
              <a:solidFill>
                <a:srgbClr val="FF32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Text Box 49"/>
          <p:cNvSpPr txBox="1">
            <a:spLocks noChangeArrowheads="1"/>
          </p:cNvSpPr>
          <p:nvPr/>
        </p:nvSpPr>
        <p:spPr bwMode="auto">
          <a:xfrm>
            <a:off x="4335220" y="3532946"/>
            <a:ext cx="32891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9966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339966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sz="2000" dirty="0">
              <a:solidFill>
                <a:srgbClr val="FF32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Text Box 49"/>
          <p:cNvSpPr txBox="1">
            <a:spLocks noChangeArrowheads="1"/>
          </p:cNvSpPr>
          <p:nvPr/>
        </p:nvSpPr>
        <p:spPr bwMode="auto">
          <a:xfrm>
            <a:off x="4911706" y="3532946"/>
            <a:ext cx="32891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9966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339966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sz="2000" dirty="0">
              <a:solidFill>
                <a:srgbClr val="FF32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Text Box 49"/>
          <p:cNvSpPr txBox="1">
            <a:spLocks noChangeArrowheads="1"/>
          </p:cNvSpPr>
          <p:nvPr/>
        </p:nvSpPr>
        <p:spPr bwMode="auto">
          <a:xfrm>
            <a:off x="5492699" y="3532946"/>
            <a:ext cx="32891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9966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339966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sz="2000" dirty="0">
              <a:solidFill>
                <a:srgbClr val="FF32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Text Box 49"/>
          <p:cNvSpPr txBox="1">
            <a:spLocks noChangeArrowheads="1"/>
          </p:cNvSpPr>
          <p:nvPr/>
        </p:nvSpPr>
        <p:spPr bwMode="auto">
          <a:xfrm>
            <a:off x="6056094" y="3531629"/>
            <a:ext cx="32891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9966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339966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2000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000" dirty="0">
              <a:solidFill>
                <a:srgbClr val="FF32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Text Box 49"/>
          <p:cNvSpPr txBox="1">
            <a:spLocks noChangeArrowheads="1"/>
          </p:cNvSpPr>
          <p:nvPr/>
        </p:nvSpPr>
        <p:spPr bwMode="auto">
          <a:xfrm>
            <a:off x="6542053" y="3562407"/>
            <a:ext cx="596186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9966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339966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1600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校验</a:t>
            </a:r>
          </a:p>
        </p:txBody>
      </p:sp>
      <p:sp>
        <p:nvSpPr>
          <p:cNvPr id="66" name="Text Box 49"/>
          <p:cNvSpPr txBox="1">
            <a:spLocks noChangeArrowheads="1"/>
          </p:cNvSpPr>
          <p:nvPr/>
        </p:nvSpPr>
        <p:spPr bwMode="auto">
          <a:xfrm>
            <a:off x="7143955" y="3562407"/>
            <a:ext cx="596186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9966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339966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1600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停止</a:t>
            </a:r>
          </a:p>
        </p:txBody>
      </p:sp>
      <p:cxnSp>
        <p:nvCxnSpPr>
          <p:cNvPr id="67" name="直接连接符 66"/>
          <p:cNvCxnSpPr/>
          <p:nvPr/>
        </p:nvCxnSpPr>
        <p:spPr>
          <a:xfrm flipV="1">
            <a:off x="7668555" y="2954784"/>
            <a:ext cx="0" cy="114176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 Box 49"/>
          <p:cNvSpPr txBox="1">
            <a:spLocks noChangeArrowheads="1"/>
          </p:cNvSpPr>
          <p:nvPr/>
        </p:nvSpPr>
        <p:spPr bwMode="auto">
          <a:xfrm>
            <a:off x="2935938" y="4508583"/>
            <a:ext cx="388450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9966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339966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奇校验：</a:t>
            </a:r>
            <a:r>
              <a:rPr lang="en-US" altLang="zh-CN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1000010B   </a:t>
            </a:r>
            <a:r>
              <a: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校验位：</a:t>
            </a:r>
            <a:r>
              <a:rPr lang="en-US" altLang="zh-CN" sz="2000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000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000" dirty="0">
              <a:solidFill>
                <a:srgbClr val="FF32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2348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/>
      <p:bldP spid="65" grpId="0"/>
      <p:bldP spid="66" grpId="0"/>
      <p:bldP spid="3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/>
          <p:cNvSpPr/>
          <p:nvPr/>
        </p:nvSpPr>
        <p:spPr>
          <a:xfrm>
            <a:off x="8461631" y="6348095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15"/>
          <p:cNvSpPr txBox="1"/>
          <p:nvPr/>
        </p:nvSpPr>
        <p:spPr>
          <a:xfrm>
            <a:off x="8316416" y="6358818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pPr algn="ctr"/>
              <a:t>11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2" name="TextBox 15"/>
          <p:cNvSpPr txBox="1">
            <a:spLocks noChangeArrowheads="1"/>
          </p:cNvSpPr>
          <p:nvPr/>
        </p:nvSpPr>
        <p:spPr bwMode="auto">
          <a:xfrm>
            <a:off x="3110260" y="3685282"/>
            <a:ext cx="3405956" cy="2515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7730" tIns="33865" rIns="67730" bIns="33865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 indent="-342900"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工作方式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indent="-342900"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串行传输速率</a:t>
            </a:r>
            <a:endParaRPr lang="en-US" altLang="zh-CN" sz="2400" b="1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 调制解调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indent="-342900"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串行通信协议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1404144" y="1772816"/>
            <a:ext cx="6264275" cy="1587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cxnSp>
        <p:nvCxnSpPr>
          <p:cNvPr id="15" name="直接连接符 14"/>
          <p:cNvCxnSpPr/>
          <p:nvPr/>
        </p:nvCxnSpPr>
        <p:spPr>
          <a:xfrm>
            <a:off x="1475582" y="3501603"/>
            <a:ext cx="6264275" cy="1588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sp>
        <p:nvSpPr>
          <p:cNvPr id="16" name="TextBox 10"/>
          <p:cNvSpPr txBox="1">
            <a:spLocks noChangeArrowheads="1"/>
          </p:cNvSpPr>
          <p:nvPr/>
        </p:nvSpPr>
        <p:spPr bwMode="auto">
          <a:xfrm>
            <a:off x="1475697" y="2056914"/>
            <a:ext cx="6985934" cy="1162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14000"/>
              </a:lnSpc>
            </a:pPr>
            <a:r>
              <a:rPr lang="zh-CN" altLang="en-US" sz="66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串行通信的概念</a:t>
            </a:r>
            <a:endParaRPr lang="zh-CN" altLang="en-US" sz="80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23713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1" name="直接连接符 500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502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波特率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503" name="直接连接符 502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505" name="矩形 504"/>
          <p:cNvSpPr/>
          <p:nvPr/>
        </p:nvSpPr>
        <p:spPr>
          <a:xfrm>
            <a:off x="1547664" y="1628800"/>
            <a:ext cx="6264695" cy="864096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波特率：每秒传送数据的位数，单位波特，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Baud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，它用于表示数据传送的速率。</a:t>
            </a:r>
          </a:p>
        </p:txBody>
      </p:sp>
      <p:cxnSp>
        <p:nvCxnSpPr>
          <p:cNvPr id="508" name="直接连接符 507"/>
          <p:cNvCxnSpPr/>
          <p:nvPr/>
        </p:nvCxnSpPr>
        <p:spPr>
          <a:xfrm>
            <a:off x="1547664" y="3777650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9" name="直接连接符 508"/>
          <p:cNvCxnSpPr/>
          <p:nvPr/>
        </p:nvCxnSpPr>
        <p:spPr>
          <a:xfrm>
            <a:off x="1907704" y="3777650"/>
            <a:ext cx="0" cy="5040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0" name="直接连接符 509"/>
          <p:cNvCxnSpPr/>
          <p:nvPr/>
        </p:nvCxnSpPr>
        <p:spPr>
          <a:xfrm>
            <a:off x="1907704" y="4281706"/>
            <a:ext cx="5762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" name="直接连接符 512"/>
          <p:cNvCxnSpPr/>
          <p:nvPr/>
        </p:nvCxnSpPr>
        <p:spPr>
          <a:xfrm>
            <a:off x="2483346" y="3777650"/>
            <a:ext cx="102886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0" name="直接连接符 519"/>
          <p:cNvCxnSpPr/>
          <p:nvPr/>
        </p:nvCxnSpPr>
        <p:spPr>
          <a:xfrm>
            <a:off x="5652120" y="3777650"/>
            <a:ext cx="8640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1" name="直接连接符 520"/>
          <p:cNvCxnSpPr/>
          <p:nvPr/>
        </p:nvCxnSpPr>
        <p:spPr>
          <a:xfrm flipV="1">
            <a:off x="6516216" y="3777651"/>
            <a:ext cx="0" cy="50405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2" name="直接连接符 521"/>
          <p:cNvCxnSpPr/>
          <p:nvPr/>
        </p:nvCxnSpPr>
        <p:spPr>
          <a:xfrm>
            <a:off x="6516216" y="3777650"/>
            <a:ext cx="5762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3" name="直接连接符 522"/>
          <p:cNvCxnSpPr/>
          <p:nvPr/>
        </p:nvCxnSpPr>
        <p:spPr>
          <a:xfrm>
            <a:off x="7092280" y="3777650"/>
            <a:ext cx="5762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4" name="直接连接符 523"/>
          <p:cNvCxnSpPr/>
          <p:nvPr/>
        </p:nvCxnSpPr>
        <p:spPr>
          <a:xfrm flipV="1">
            <a:off x="7086550" y="3777650"/>
            <a:ext cx="0" cy="504056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5" name="直接连接符 524"/>
          <p:cNvCxnSpPr/>
          <p:nvPr/>
        </p:nvCxnSpPr>
        <p:spPr>
          <a:xfrm flipV="1">
            <a:off x="2483346" y="3777650"/>
            <a:ext cx="0" cy="504056"/>
          </a:xfrm>
          <a:prstGeom prst="line">
            <a:avLst/>
          </a:prstGeom>
          <a:ln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6" name="Text Box 49"/>
          <p:cNvSpPr txBox="1">
            <a:spLocks noChangeArrowheads="1"/>
          </p:cNvSpPr>
          <p:nvPr/>
        </p:nvSpPr>
        <p:spPr bwMode="auto">
          <a:xfrm>
            <a:off x="1908002" y="4386590"/>
            <a:ext cx="596186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9966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339966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1600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起始</a:t>
            </a:r>
          </a:p>
        </p:txBody>
      </p:sp>
      <p:sp>
        <p:nvSpPr>
          <p:cNvPr id="534" name="Text Box 49"/>
          <p:cNvSpPr txBox="1">
            <a:spLocks noChangeArrowheads="1"/>
          </p:cNvSpPr>
          <p:nvPr/>
        </p:nvSpPr>
        <p:spPr bwMode="auto">
          <a:xfrm>
            <a:off x="6542053" y="4385273"/>
            <a:ext cx="596186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9966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339966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1600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校验</a:t>
            </a:r>
          </a:p>
        </p:txBody>
      </p:sp>
      <p:sp>
        <p:nvSpPr>
          <p:cNvPr id="535" name="Text Box 49"/>
          <p:cNvSpPr txBox="1">
            <a:spLocks noChangeArrowheads="1"/>
          </p:cNvSpPr>
          <p:nvPr/>
        </p:nvSpPr>
        <p:spPr bwMode="auto">
          <a:xfrm>
            <a:off x="7143955" y="4385273"/>
            <a:ext cx="596186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9966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339966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1600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停止</a:t>
            </a:r>
          </a:p>
        </p:txBody>
      </p:sp>
      <p:cxnSp>
        <p:nvCxnSpPr>
          <p:cNvPr id="536" name="直接连接符 535"/>
          <p:cNvCxnSpPr/>
          <p:nvPr/>
        </p:nvCxnSpPr>
        <p:spPr>
          <a:xfrm flipV="1">
            <a:off x="7668555" y="3777650"/>
            <a:ext cx="0" cy="504056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0" name="直接连接符 539"/>
          <p:cNvCxnSpPr/>
          <p:nvPr/>
        </p:nvCxnSpPr>
        <p:spPr>
          <a:xfrm>
            <a:off x="3512213" y="3777650"/>
            <a:ext cx="2139907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6" name="Text Box 49"/>
          <p:cNvSpPr txBox="1">
            <a:spLocks noChangeArrowheads="1"/>
          </p:cNvSpPr>
          <p:nvPr/>
        </p:nvSpPr>
        <p:spPr bwMode="auto">
          <a:xfrm>
            <a:off x="4067944" y="4385273"/>
            <a:ext cx="127020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9966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339966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1600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1600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个数据位</a:t>
            </a:r>
          </a:p>
        </p:txBody>
      </p:sp>
      <p:cxnSp>
        <p:nvCxnSpPr>
          <p:cNvPr id="550" name="直接箭头连接符 549"/>
          <p:cNvCxnSpPr/>
          <p:nvPr/>
        </p:nvCxnSpPr>
        <p:spPr>
          <a:xfrm flipV="1">
            <a:off x="4618066" y="3849658"/>
            <a:ext cx="0" cy="432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1" name="矩形 550"/>
          <p:cNvSpPr/>
          <p:nvPr/>
        </p:nvSpPr>
        <p:spPr>
          <a:xfrm>
            <a:off x="1547664" y="2708920"/>
            <a:ext cx="6264695" cy="7499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例：表示一个串行字符要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位，每秒传送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240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个字符。</a:t>
            </a:r>
          </a:p>
        </p:txBody>
      </p:sp>
      <p:sp>
        <p:nvSpPr>
          <p:cNvPr id="552" name="矩形 551"/>
          <p:cNvSpPr/>
          <p:nvPr/>
        </p:nvSpPr>
        <p:spPr>
          <a:xfrm>
            <a:off x="1691681" y="5104571"/>
            <a:ext cx="6264695" cy="7499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波特率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=10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字符*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240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秒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=2400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Baud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7038013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5"/>
          <p:cNvSpPr>
            <a:spLocks noChangeShapeType="1"/>
          </p:cNvSpPr>
          <p:nvPr/>
        </p:nvSpPr>
        <p:spPr bwMode="auto">
          <a:xfrm>
            <a:off x="2771775" y="3788122"/>
            <a:ext cx="576263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Line 6"/>
          <p:cNvSpPr>
            <a:spLocks noChangeShapeType="1"/>
          </p:cNvSpPr>
          <p:nvPr/>
        </p:nvSpPr>
        <p:spPr bwMode="auto">
          <a:xfrm>
            <a:off x="2771775" y="3788122"/>
            <a:ext cx="0" cy="4318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Line 7"/>
          <p:cNvSpPr>
            <a:spLocks noChangeShapeType="1"/>
          </p:cNvSpPr>
          <p:nvPr/>
        </p:nvSpPr>
        <p:spPr bwMode="auto">
          <a:xfrm flipV="1">
            <a:off x="5076825" y="3788122"/>
            <a:ext cx="0" cy="4318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 flipV="1">
            <a:off x="6229350" y="4219922"/>
            <a:ext cx="574675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Line 9"/>
          <p:cNvSpPr>
            <a:spLocks noChangeShapeType="1"/>
          </p:cNvSpPr>
          <p:nvPr/>
        </p:nvSpPr>
        <p:spPr bwMode="auto">
          <a:xfrm>
            <a:off x="6804025" y="3788122"/>
            <a:ext cx="0" cy="4318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Line 10"/>
          <p:cNvSpPr>
            <a:spLocks noChangeShapeType="1"/>
          </p:cNvSpPr>
          <p:nvPr/>
        </p:nvSpPr>
        <p:spPr bwMode="auto">
          <a:xfrm>
            <a:off x="3348038" y="4219922"/>
            <a:ext cx="1728787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Line 11"/>
          <p:cNvSpPr>
            <a:spLocks noChangeShapeType="1"/>
          </p:cNvSpPr>
          <p:nvPr/>
        </p:nvSpPr>
        <p:spPr bwMode="auto">
          <a:xfrm>
            <a:off x="7380288" y="3788122"/>
            <a:ext cx="576262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Line 12"/>
          <p:cNvSpPr>
            <a:spLocks noChangeShapeType="1"/>
          </p:cNvSpPr>
          <p:nvPr/>
        </p:nvSpPr>
        <p:spPr bwMode="auto">
          <a:xfrm>
            <a:off x="2771775" y="3427759"/>
            <a:ext cx="1588" cy="144145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Line 13"/>
          <p:cNvSpPr>
            <a:spLocks noChangeShapeType="1"/>
          </p:cNvSpPr>
          <p:nvPr/>
        </p:nvSpPr>
        <p:spPr bwMode="auto">
          <a:xfrm>
            <a:off x="3348038" y="3427759"/>
            <a:ext cx="0" cy="144145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Line 14"/>
          <p:cNvSpPr>
            <a:spLocks noChangeShapeType="1"/>
          </p:cNvSpPr>
          <p:nvPr/>
        </p:nvSpPr>
        <p:spPr bwMode="auto">
          <a:xfrm>
            <a:off x="3924300" y="3427759"/>
            <a:ext cx="0" cy="144145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Line 15"/>
          <p:cNvSpPr>
            <a:spLocks noChangeShapeType="1"/>
          </p:cNvSpPr>
          <p:nvPr/>
        </p:nvSpPr>
        <p:spPr bwMode="auto">
          <a:xfrm>
            <a:off x="4500563" y="3427759"/>
            <a:ext cx="0" cy="144145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Line 16"/>
          <p:cNvSpPr>
            <a:spLocks noChangeShapeType="1"/>
          </p:cNvSpPr>
          <p:nvPr/>
        </p:nvSpPr>
        <p:spPr bwMode="auto">
          <a:xfrm>
            <a:off x="5076825" y="3427759"/>
            <a:ext cx="0" cy="144145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Line 17"/>
          <p:cNvSpPr>
            <a:spLocks noChangeShapeType="1"/>
          </p:cNvSpPr>
          <p:nvPr/>
        </p:nvSpPr>
        <p:spPr bwMode="auto">
          <a:xfrm>
            <a:off x="5653088" y="3427759"/>
            <a:ext cx="0" cy="144145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Line 18"/>
          <p:cNvSpPr>
            <a:spLocks noChangeShapeType="1"/>
          </p:cNvSpPr>
          <p:nvPr/>
        </p:nvSpPr>
        <p:spPr bwMode="auto">
          <a:xfrm>
            <a:off x="6804025" y="3427759"/>
            <a:ext cx="0" cy="144145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Line 19"/>
          <p:cNvSpPr>
            <a:spLocks noChangeShapeType="1"/>
          </p:cNvSpPr>
          <p:nvPr/>
        </p:nvSpPr>
        <p:spPr bwMode="auto">
          <a:xfrm>
            <a:off x="2195513" y="3427759"/>
            <a:ext cx="0" cy="1512888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 Box 20"/>
          <p:cNvSpPr txBox="1">
            <a:spLocks noChangeArrowheads="1"/>
          </p:cNvSpPr>
          <p:nvPr/>
        </p:nvSpPr>
        <p:spPr bwMode="auto">
          <a:xfrm>
            <a:off x="323850" y="3716684"/>
            <a:ext cx="1020763" cy="719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algn="ctr"/>
            <a:r>
              <a:rPr kumimoji="0" lang="zh-CN" altLang="en-US" b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</a:p>
          <a:p>
            <a:pPr algn="ctr"/>
            <a:r>
              <a:rPr kumimoji="0" lang="zh-CN" altLang="en-US" b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kumimoji="0" lang="en-US" altLang="zh-CN" b="0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62H</a:t>
            </a:r>
            <a:r>
              <a:rPr kumimoji="0" lang="zh-CN" altLang="en-US" b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18" name="Text Box 21"/>
          <p:cNvSpPr txBox="1">
            <a:spLocks noChangeArrowheads="1"/>
          </p:cNvSpPr>
          <p:nvPr/>
        </p:nvSpPr>
        <p:spPr bwMode="auto">
          <a:xfrm>
            <a:off x="2303463" y="3789709"/>
            <a:ext cx="358775" cy="328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/>
          <a:lstStyle/>
          <a:p>
            <a:pPr algn="ctr"/>
            <a:r>
              <a:rPr kumimoji="0" lang="en-US" altLang="zh-CN" sz="1800" b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</a:p>
        </p:txBody>
      </p:sp>
      <p:sp>
        <p:nvSpPr>
          <p:cNvPr id="19" name="Text Box 22"/>
          <p:cNvSpPr txBox="1">
            <a:spLocks noChangeArrowheads="1"/>
          </p:cNvSpPr>
          <p:nvPr/>
        </p:nvSpPr>
        <p:spPr bwMode="auto">
          <a:xfrm>
            <a:off x="3421063" y="3788122"/>
            <a:ext cx="4318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0" lang="en-US" altLang="zh-CN" sz="1800" b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</a:p>
        </p:txBody>
      </p:sp>
      <p:sp>
        <p:nvSpPr>
          <p:cNvPr id="20" name="Text Box 23"/>
          <p:cNvSpPr txBox="1">
            <a:spLocks noChangeArrowheads="1"/>
          </p:cNvSpPr>
          <p:nvPr/>
        </p:nvSpPr>
        <p:spPr bwMode="auto">
          <a:xfrm>
            <a:off x="3995738" y="3788122"/>
            <a:ext cx="4318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0" lang="en-US" altLang="zh-CN" sz="1800" b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</a:p>
        </p:txBody>
      </p:sp>
      <p:sp>
        <p:nvSpPr>
          <p:cNvPr id="21" name="Text Box 24"/>
          <p:cNvSpPr txBox="1">
            <a:spLocks noChangeArrowheads="1"/>
          </p:cNvSpPr>
          <p:nvPr/>
        </p:nvSpPr>
        <p:spPr bwMode="auto">
          <a:xfrm>
            <a:off x="4572000" y="3788122"/>
            <a:ext cx="4318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0" lang="en-US" altLang="zh-CN" sz="1800" b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</a:p>
        </p:txBody>
      </p:sp>
      <p:sp>
        <p:nvSpPr>
          <p:cNvPr id="22" name="Text Box 25"/>
          <p:cNvSpPr txBox="1">
            <a:spLocks noChangeArrowheads="1"/>
          </p:cNvSpPr>
          <p:nvPr/>
        </p:nvSpPr>
        <p:spPr bwMode="auto">
          <a:xfrm>
            <a:off x="5148263" y="3788122"/>
            <a:ext cx="4318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0" lang="en-US" altLang="zh-CN" sz="1800" b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sp>
        <p:nvSpPr>
          <p:cNvPr id="23" name="Text Box 26"/>
          <p:cNvSpPr txBox="1">
            <a:spLocks noChangeArrowheads="1"/>
          </p:cNvSpPr>
          <p:nvPr/>
        </p:nvSpPr>
        <p:spPr bwMode="auto">
          <a:xfrm>
            <a:off x="5724525" y="3788122"/>
            <a:ext cx="4318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0" lang="en-US" altLang="zh-CN" sz="1800" b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sp>
        <p:nvSpPr>
          <p:cNvPr id="24" name="Text Box 27"/>
          <p:cNvSpPr txBox="1">
            <a:spLocks noChangeArrowheads="1"/>
          </p:cNvSpPr>
          <p:nvPr/>
        </p:nvSpPr>
        <p:spPr bwMode="auto">
          <a:xfrm>
            <a:off x="7524750" y="4653309"/>
            <a:ext cx="7921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0" lang="zh-CN" altLang="en-US" sz="1800" b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停止位</a:t>
            </a:r>
          </a:p>
        </p:txBody>
      </p:sp>
      <p:sp>
        <p:nvSpPr>
          <p:cNvPr id="25" name="Text Box 28"/>
          <p:cNvSpPr txBox="1">
            <a:spLocks noChangeArrowheads="1"/>
          </p:cNvSpPr>
          <p:nvPr/>
        </p:nvSpPr>
        <p:spPr bwMode="auto">
          <a:xfrm>
            <a:off x="2268538" y="5156547"/>
            <a:ext cx="2952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/>
          <a:lstStyle/>
          <a:p>
            <a:pPr algn="r">
              <a:spcBef>
                <a:spcPct val="50000"/>
              </a:spcBef>
            </a:pPr>
            <a:r>
              <a:rPr kumimoji="0" lang="zh-CN" altLang="en-US" b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异步传输先发送低位</a:t>
            </a:r>
            <a:r>
              <a:rPr kumimoji="0" lang="en-US" altLang="zh-CN" b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(LSB)</a:t>
            </a:r>
          </a:p>
        </p:txBody>
      </p:sp>
      <p:sp>
        <p:nvSpPr>
          <p:cNvPr id="26" name="Text Box 29"/>
          <p:cNvSpPr txBox="1">
            <a:spLocks noChangeArrowheads="1"/>
          </p:cNvSpPr>
          <p:nvPr/>
        </p:nvSpPr>
        <p:spPr bwMode="auto">
          <a:xfrm>
            <a:off x="2916238" y="1333847"/>
            <a:ext cx="547211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/>
          <a:lstStyle/>
          <a:p>
            <a:pPr>
              <a:spcBef>
                <a:spcPct val="50000"/>
              </a:spcBef>
            </a:pPr>
            <a:r>
              <a:rPr kumimoji="0" lang="zh-CN" altLang="en-US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发送方</a:t>
            </a:r>
            <a:r>
              <a:rPr kumimoji="0" lang="zh-CN" altLang="en-US" b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利用发送时钟来决定发送每个位的时刻</a:t>
            </a:r>
          </a:p>
        </p:txBody>
      </p:sp>
      <p:sp>
        <p:nvSpPr>
          <p:cNvPr id="27" name="Text Box 30"/>
          <p:cNvSpPr txBox="1">
            <a:spLocks noChangeArrowheads="1"/>
          </p:cNvSpPr>
          <p:nvPr/>
        </p:nvSpPr>
        <p:spPr bwMode="auto">
          <a:xfrm>
            <a:off x="3348038" y="1771997"/>
            <a:ext cx="5110957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/>
          <a:lstStyle/>
          <a:p>
            <a:pPr>
              <a:spcBef>
                <a:spcPct val="50000"/>
              </a:spcBef>
            </a:pPr>
            <a:r>
              <a:rPr kumimoji="0" lang="zh-CN" altLang="en-US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接收方</a:t>
            </a:r>
            <a:r>
              <a:rPr kumimoji="0" lang="zh-CN" altLang="en-US" b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检测起始位的下降沿，并用它来同步接收时钟，然后利用接收时钟从每一位的中间接收该位。</a:t>
            </a:r>
          </a:p>
        </p:txBody>
      </p:sp>
      <p:sp>
        <p:nvSpPr>
          <p:cNvPr id="28" name="Line 31"/>
          <p:cNvSpPr>
            <a:spLocks noChangeShapeType="1"/>
          </p:cNvSpPr>
          <p:nvPr/>
        </p:nvSpPr>
        <p:spPr bwMode="auto">
          <a:xfrm flipH="1">
            <a:off x="1620838" y="1556097"/>
            <a:ext cx="1152525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Line 32"/>
          <p:cNvSpPr>
            <a:spLocks noChangeShapeType="1"/>
          </p:cNvSpPr>
          <p:nvPr/>
        </p:nvSpPr>
        <p:spPr bwMode="auto">
          <a:xfrm>
            <a:off x="1620838" y="1556097"/>
            <a:ext cx="0" cy="1152525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Line 33"/>
          <p:cNvSpPr>
            <a:spLocks noChangeShapeType="1"/>
          </p:cNvSpPr>
          <p:nvPr/>
        </p:nvSpPr>
        <p:spPr bwMode="auto">
          <a:xfrm flipH="1">
            <a:off x="2484438" y="1987897"/>
            <a:ext cx="792162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Line 34"/>
          <p:cNvSpPr>
            <a:spLocks noChangeShapeType="1"/>
          </p:cNvSpPr>
          <p:nvPr/>
        </p:nvSpPr>
        <p:spPr bwMode="auto">
          <a:xfrm>
            <a:off x="2484438" y="1987897"/>
            <a:ext cx="0" cy="6477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Text Box 35"/>
          <p:cNvSpPr txBox="1">
            <a:spLocks noChangeArrowheads="1"/>
          </p:cNvSpPr>
          <p:nvPr/>
        </p:nvSpPr>
        <p:spPr bwMode="auto">
          <a:xfrm>
            <a:off x="2844800" y="3788122"/>
            <a:ext cx="4318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0" lang="en-US" altLang="zh-CN" sz="1800" b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sp>
        <p:nvSpPr>
          <p:cNvPr id="33" name="Line 36"/>
          <p:cNvSpPr>
            <a:spLocks noChangeShapeType="1"/>
          </p:cNvSpPr>
          <p:nvPr/>
        </p:nvSpPr>
        <p:spPr bwMode="auto">
          <a:xfrm flipH="1">
            <a:off x="1620838" y="4219922"/>
            <a:ext cx="1150937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Line 37"/>
          <p:cNvSpPr>
            <a:spLocks noChangeShapeType="1"/>
          </p:cNvSpPr>
          <p:nvPr/>
        </p:nvSpPr>
        <p:spPr bwMode="auto">
          <a:xfrm>
            <a:off x="1620838" y="3788122"/>
            <a:ext cx="0" cy="4318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Line 38"/>
          <p:cNvSpPr>
            <a:spLocks noChangeShapeType="1"/>
          </p:cNvSpPr>
          <p:nvPr/>
        </p:nvSpPr>
        <p:spPr bwMode="auto">
          <a:xfrm flipH="1">
            <a:off x="1403350" y="3788122"/>
            <a:ext cx="217488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Line 39"/>
          <p:cNvSpPr>
            <a:spLocks noChangeShapeType="1"/>
          </p:cNvSpPr>
          <p:nvPr/>
        </p:nvSpPr>
        <p:spPr bwMode="auto">
          <a:xfrm>
            <a:off x="1620838" y="3427759"/>
            <a:ext cx="0" cy="1512888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Text Box 40"/>
          <p:cNvSpPr txBox="1">
            <a:spLocks noChangeArrowheads="1"/>
          </p:cNvSpPr>
          <p:nvPr/>
        </p:nvSpPr>
        <p:spPr bwMode="auto">
          <a:xfrm>
            <a:off x="1476375" y="5510559"/>
            <a:ext cx="7921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0" lang="zh-CN" altLang="en-US" sz="1800" b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起始位</a:t>
            </a:r>
          </a:p>
        </p:txBody>
      </p:sp>
      <p:sp>
        <p:nvSpPr>
          <p:cNvPr id="38" name="Text Box 41"/>
          <p:cNvSpPr txBox="1">
            <a:spLocks noChangeArrowheads="1"/>
          </p:cNvSpPr>
          <p:nvPr/>
        </p:nvSpPr>
        <p:spPr bwMode="auto">
          <a:xfrm>
            <a:off x="2124075" y="4653309"/>
            <a:ext cx="7191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/>
          <a:lstStyle/>
          <a:p>
            <a:pPr algn="ctr">
              <a:spcBef>
                <a:spcPct val="50000"/>
              </a:spcBef>
            </a:pPr>
            <a:r>
              <a:rPr kumimoji="0" lang="en-US" altLang="zh-CN" b="0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LSB</a:t>
            </a:r>
          </a:p>
        </p:txBody>
      </p:sp>
      <p:sp>
        <p:nvSpPr>
          <p:cNvPr id="39" name="Text Box 42"/>
          <p:cNvSpPr txBox="1">
            <a:spLocks noChangeArrowheads="1"/>
          </p:cNvSpPr>
          <p:nvPr/>
        </p:nvSpPr>
        <p:spPr bwMode="auto">
          <a:xfrm>
            <a:off x="6156325" y="4645372"/>
            <a:ext cx="71913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/>
          <a:lstStyle/>
          <a:p>
            <a:pPr algn="ctr">
              <a:spcBef>
                <a:spcPct val="50000"/>
              </a:spcBef>
            </a:pPr>
            <a:r>
              <a:rPr kumimoji="0" lang="en-US" altLang="zh-CN" b="0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MSB</a:t>
            </a:r>
          </a:p>
        </p:txBody>
      </p:sp>
      <p:sp>
        <p:nvSpPr>
          <p:cNvPr id="40" name="Line 43"/>
          <p:cNvSpPr>
            <a:spLocks noChangeShapeType="1"/>
          </p:cNvSpPr>
          <p:nvPr/>
        </p:nvSpPr>
        <p:spPr bwMode="auto">
          <a:xfrm>
            <a:off x="1403350" y="3426172"/>
            <a:ext cx="215900" cy="0"/>
          </a:xfrm>
          <a:prstGeom prst="line">
            <a:avLst/>
          </a:prstGeom>
          <a:noFill/>
          <a:ln w="3175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1" name="Group 44"/>
          <p:cNvGrpSpPr>
            <a:grpSpLocks/>
          </p:cNvGrpSpPr>
          <p:nvPr/>
        </p:nvGrpSpPr>
        <p:grpSpPr bwMode="auto">
          <a:xfrm>
            <a:off x="1620838" y="3067397"/>
            <a:ext cx="574675" cy="360362"/>
            <a:chOff x="930" y="2114"/>
            <a:chExt cx="182" cy="227"/>
          </a:xfrm>
        </p:grpSpPr>
        <p:grpSp>
          <p:nvGrpSpPr>
            <p:cNvPr id="42" name="Group 45"/>
            <p:cNvGrpSpPr>
              <a:grpSpLocks/>
            </p:cNvGrpSpPr>
            <p:nvPr/>
          </p:nvGrpSpPr>
          <p:grpSpPr bwMode="auto">
            <a:xfrm>
              <a:off x="930" y="2114"/>
              <a:ext cx="91" cy="227"/>
              <a:chOff x="1338" y="2024"/>
              <a:chExt cx="362" cy="227"/>
            </a:xfrm>
          </p:grpSpPr>
          <p:sp>
            <p:nvSpPr>
              <p:cNvPr id="60" name="Line 46"/>
              <p:cNvSpPr>
                <a:spLocks noChangeShapeType="1"/>
              </p:cNvSpPr>
              <p:nvPr/>
            </p:nvSpPr>
            <p:spPr bwMode="auto">
              <a:xfrm flipV="1">
                <a:off x="1338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1" name="Line 47"/>
              <p:cNvSpPr>
                <a:spLocks noChangeShapeType="1"/>
              </p:cNvSpPr>
              <p:nvPr/>
            </p:nvSpPr>
            <p:spPr bwMode="auto">
              <a:xfrm>
                <a:off x="1338" y="2024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2" name="Line 48"/>
              <p:cNvSpPr>
                <a:spLocks noChangeShapeType="1"/>
              </p:cNvSpPr>
              <p:nvPr/>
            </p:nvSpPr>
            <p:spPr bwMode="auto">
              <a:xfrm flipV="1">
                <a:off x="1383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3" name="Line 49"/>
              <p:cNvSpPr>
                <a:spLocks noChangeShapeType="1"/>
              </p:cNvSpPr>
              <p:nvPr/>
            </p:nvSpPr>
            <p:spPr bwMode="auto">
              <a:xfrm>
                <a:off x="1383" y="2251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4" name="Line 50"/>
              <p:cNvSpPr>
                <a:spLocks noChangeShapeType="1"/>
              </p:cNvSpPr>
              <p:nvPr/>
            </p:nvSpPr>
            <p:spPr bwMode="auto">
              <a:xfrm flipV="1">
                <a:off x="1429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5" name="Line 51"/>
              <p:cNvSpPr>
                <a:spLocks noChangeShapeType="1"/>
              </p:cNvSpPr>
              <p:nvPr/>
            </p:nvSpPr>
            <p:spPr bwMode="auto">
              <a:xfrm>
                <a:off x="1429" y="2024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6" name="Line 52"/>
              <p:cNvSpPr>
                <a:spLocks noChangeShapeType="1"/>
              </p:cNvSpPr>
              <p:nvPr/>
            </p:nvSpPr>
            <p:spPr bwMode="auto">
              <a:xfrm flipV="1">
                <a:off x="1474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7" name="Line 53"/>
              <p:cNvSpPr>
                <a:spLocks noChangeShapeType="1"/>
              </p:cNvSpPr>
              <p:nvPr/>
            </p:nvSpPr>
            <p:spPr bwMode="auto">
              <a:xfrm>
                <a:off x="1474" y="2251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8" name="Line 54"/>
              <p:cNvSpPr>
                <a:spLocks noChangeShapeType="1"/>
              </p:cNvSpPr>
              <p:nvPr/>
            </p:nvSpPr>
            <p:spPr bwMode="auto">
              <a:xfrm flipV="1">
                <a:off x="1519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9" name="Line 55"/>
              <p:cNvSpPr>
                <a:spLocks noChangeShapeType="1"/>
              </p:cNvSpPr>
              <p:nvPr/>
            </p:nvSpPr>
            <p:spPr bwMode="auto">
              <a:xfrm>
                <a:off x="1519" y="2024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0" name="Line 56"/>
              <p:cNvSpPr>
                <a:spLocks noChangeShapeType="1"/>
              </p:cNvSpPr>
              <p:nvPr/>
            </p:nvSpPr>
            <p:spPr bwMode="auto">
              <a:xfrm flipV="1">
                <a:off x="1564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1" name="Line 57"/>
              <p:cNvSpPr>
                <a:spLocks noChangeShapeType="1"/>
              </p:cNvSpPr>
              <p:nvPr/>
            </p:nvSpPr>
            <p:spPr bwMode="auto">
              <a:xfrm>
                <a:off x="1564" y="2251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2" name="Line 58"/>
              <p:cNvSpPr>
                <a:spLocks noChangeShapeType="1"/>
              </p:cNvSpPr>
              <p:nvPr/>
            </p:nvSpPr>
            <p:spPr bwMode="auto">
              <a:xfrm flipV="1">
                <a:off x="1610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3" name="Line 59"/>
              <p:cNvSpPr>
                <a:spLocks noChangeShapeType="1"/>
              </p:cNvSpPr>
              <p:nvPr/>
            </p:nvSpPr>
            <p:spPr bwMode="auto">
              <a:xfrm>
                <a:off x="1610" y="2024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4" name="Line 60"/>
              <p:cNvSpPr>
                <a:spLocks noChangeShapeType="1"/>
              </p:cNvSpPr>
              <p:nvPr/>
            </p:nvSpPr>
            <p:spPr bwMode="auto">
              <a:xfrm flipV="1">
                <a:off x="1655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5" name="Line 61"/>
              <p:cNvSpPr>
                <a:spLocks noChangeShapeType="1"/>
              </p:cNvSpPr>
              <p:nvPr/>
            </p:nvSpPr>
            <p:spPr bwMode="auto">
              <a:xfrm>
                <a:off x="1655" y="2251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3" name="Group 62"/>
            <p:cNvGrpSpPr>
              <a:grpSpLocks/>
            </p:cNvGrpSpPr>
            <p:nvPr/>
          </p:nvGrpSpPr>
          <p:grpSpPr bwMode="auto">
            <a:xfrm>
              <a:off x="1021" y="2114"/>
              <a:ext cx="91" cy="227"/>
              <a:chOff x="1338" y="2024"/>
              <a:chExt cx="362" cy="227"/>
            </a:xfrm>
          </p:grpSpPr>
          <p:sp>
            <p:nvSpPr>
              <p:cNvPr id="44" name="Line 63"/>
              <p:cNvSpPr>
                <a:spLocks noChangeShapeType="1"/>
              </p:cNvSpPr>
              <p:nvPr/>
            </p:nvSpPr>
            <p:spPr bwMode="auto">
              <a:xfrm flipV="1">
                <a:off x="1338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5" name="Line 64"/>
              <p:cNvSpPr>
                <a:spLocks noChangeShapeType="1"/>
              </p:cNvSpPr>
              <p:nvPr/>
            </p:nvSpPr>
            <p:spPr bwMode="auto">
              <a:xfrm>
                <a:off x="1338" y="2024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6" name="Line 65"/>
              <p:cNvSpPr>
                <a:spLocks noChangeShapeType="1"/>
              </p:cNvSpPr>
              <p:nvPr/>
            </p:nvSpPr>
            <p:spPr bwMode="auto">
              <a:xfrm flipV="1">
                <a:off x="1383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7" name="Line 66"/>
              <p:cNvSpPr>
                <a:spLocks noChangeShapeType="1"/>
              </p:cNvSpPr>
              <p:nvPr/>
            </p:nvSpPr>
            <p:spPr bwMode="auto">
              <a:xfrm>
                <a:off x="1383" y="2251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8" name="Line 67"/>
              <p:cNvSpPr>
                <a:spLocks noChangeShapeType="1"/>
              </p:cNvSpPr>
              <p:nvPr/>
            </p:nvSpPr>
            <p:spPr bwMode="auto">
              <a:xfrm flipV="1">
                <a:off x="1429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9" name="Line 68"/>
              <p:cNvSpPr>
                <a:spLocks noChangeShapeType="1"/>
              </p:cNvSpPr>
              <p:nvPr/>
            </p:nvSpPr>
            <p:spPr bwMode="auto">
              <a:xfrm>
                <a:off x="1429" y="2024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0" name="Line 69"/>
              <p:cNvSpPr>
                <a:spLocks noChangeShapeType="1"/>
              </p:cNvSpPr>
              <p:nvPr/>
            </p:nvSpPr>
            <p:spPr bwMode="auto">
              <a:xfrm flipV="1">
                <a:off x="1474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1" name="Line 70"/>
              <p:cNvSpPr>
                <a:spLocks noChangeShapeType="1"/>
              </p:cNvSpPr>
              <p:nvPr/>
            </p:nvSpPr>
            <p:spPr bwMode="auto">
              <a:xfrm>
                <a:off x="1474" y="2251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2" name="Line 71"/>
              <p:cNvSpPr>
                <a:spLocks noChangeShapeType="1"/>
              </p:cNvSpPr>
              <p:nvPr/>
            </p:nvSpPr>
            <p:spPr bwMode="auto">
              <a:xfrm flipV="1">
                <a:off x="1519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3" name="Line 72"/>
              <p:cNvSpPr>
                <a:spLocks noChangeShapeType="1"/>
              </p:cNvSpPr>
              <p:nvPr/>
            </p:nvSpPr>
            <p:spPr bwMode="auto">
              <a:xfrm>
                <a:off x="1519" y="2024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4" name="Line 73"/>
              <p:cNvSpPr>
                <a:spLocks noChangeShapeType="1"/>
              </p:cNvSpPr>
              <p:nvPr/>
            </p:nvSpPr>
            <p:spPr bwMode="auto">
              <a:xfrm flipV="1">
                <a:off x="1564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5" name="Line 74"/>
              <p:cNvSpPr>
                <a:spLocks noChangeShapeType="1"/>
              </p:cNvSpPr>
              <p:nvPr/>
            </p:nvSpPr>
            <p:spPr bwMode="auto">
              <a:xfrm>
                <a:off x="1564" y="2251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6" name="Line 75"/>
              <p:cNvSpPr>
                <a:spLocks noChangeShapeType="1"/>
              </p:cNvSpPr>
              <p:nvPr/>
            </p:nvSpPr>
            <p:spPr bwMode="auto">
              <a:xfrm flipV="1">
                <a:off x="1610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7" name="Line 76"/>
              <p:cNvSpPr>
                <a:spLocks noChangeShapeType="1"/>
              </p:cNvSpPr>
              <p:nvPr/>
            </p:nvSpPr>
            <p:spPr bwMode="auto">
              <a:xfrm>
                <a:off x="1610" y="2024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8" name="Line 77"/>
              <p:cNvSpPr>
                <a:spLocks noChangeShapeType="1"/>
              </p:cNvSpPr>
              <p:nvPr/>
            </p:nvSpPr>
            <p:spPr bwMode="auto">
              <a:xfrm flipV="1">
                <a:off x="1655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9" name="Line 78"/>
              <p:cNvSpPr>
                <a:spLocks noChangeShapeType="1"/>
              </p:cNvSpPr>
              <p:nvPr/>
            </p:nvSpPr>
            <p:spPr bwMode="auto">
              <a:xfrm>
                <a:off x="1655" y="2251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76" name="Line 79"/>
          <p:cNvSpPr>
            <a:spLocks noChangeShapeType="1"/>
          </p:cNvSpPr>
          <p:nvPr/>
        </p:nvSpPr>
        <p:spPr bwMode="auto">
          <a:xfrm>
            <a:off x="1620838" y="2853084"/>
            <a:ext cx="0" cy="215900"/>
          </a:xfrm>
          <a:prstGeom prst="line">
            <a:avLst/>
          </a:prstGeom>
          <a:noFill/>
          <a:ln w="3175">
            <a:solidFill>
              <a:schemeClr val="tx1"/>
            </a:solidFill>
            <a:prstDash val="dash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Line 80"/>
          <p:cNvSpPr>
            <a:spLocks noChangeShapeType="1"/>
          </p:cNvSpPr>
          <p:nvPr/>
        </p:nvSpPr>
        <p:spPr bwMode="auto">
          <a:xfrm>
            <a:off x="2771775" y="2853084"/>
            <a:ext cx="0" cy="215900"/>
          </a:xfrm>
          <a:prstGeom prst="line">
            <a:avLst/>
          </a:prstGeom>
          <a:noFill/>
          <a:ln w="3175">
            <a:solidFill>
              <a:schemeClr val="tx1"/>
            </a:solidFill>
            <a:prstDash val="dash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Line 81"/>
          <p:cNvSpPr>
            <a:spLocks noChangeShapeType="1"/>
          </p:cNvSpPr>
          <p:nvPr/>
        </p:nvSpPr>
        <p:spPr bwMode="auto">
          <a:xfrm>
            <a:off x="2195513" y="2853084"/>
            <a:ext cx="0" cy="215900"/>
          </a:xfrm>
          <a:prstGeom prst="line">
            <a:avLst/>
          </a:prstGeom>
          <a:noFill/>
          <a:ln w="3175">
            <a:solidFill>
              <a:schemeClr val="tx1"/>
            </a:solidFill>
            <a:prstDash val="dash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Text Box 82"/>
          <p:cNvSpPr txBox="1">
            <a:spLocks noChangeArrowheads="1"/>
          </p:cNvSpPr>
          <p:nvPr/>
        </p:nvSpPr>
        <p:spPr bwMode="auto">
          <a:xfrm>
            <a:off x="6300788" y="3788122"/>
            <a:ext cx="4318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0" lang="en-US" altLang="zh-CN" sz="1800" b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</a:p>
        </p:txBody>
      </p:sp>
      <p:sp>
        <p:nvSpPr>
          <p:cNvPr id="80" name="Line 83"/>
          <p:cNvSpPr>
            <a:spLocks noChangeShapeType="1"/>
          </p:cNvSpPr>
          <p:nvPr/>
        </p:nvSpPr>
        <p:spPr bwMode="auto">
          <a:xfrm>
            <a:off x="3348038" y="2853084"/>
            <a:ext cx="0" cy="215900"/>
          </a:xfrm>
          <a:prstGeom prst="line">
            <a:avLst/>
          </a:prstGeom>
          <a:noFill/>
          <a:ln w="3175">
            <a:solidFill>
              <a:schemeClr val="tx1"/>
            </a:solidFill>
            <a:prstDash val="dash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Line 84"/>
          <p:cNvSpPr>
            <a:spLocks noChangeShapeType="1"/>
          </p:cNvSpPr>
          <p:nvPr/>
        </p:nvSpPr>
        <p:spPr bwMode="auto">
          <a:xfrm>
            <a:off x="3924300" y="2853084"/>
            <a:ext cx="0" cy="215900"/>
          </a:xfrm>
          <a:prstGeom prst="line">
            <a:avLst/>
          </a:prstGeom>
          <a:noFill/>
          <a:ln w="3175">
            <a:solidFill>
              <a:schemeClr val="tx1"/>
            </a:solidFill>
            <a:prstDash val="dash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2" name="Line 85"/>
          <p:cNvSpPr>
            <a:spLocks noChangeShapeType="1"/>
          </p:cNvSpPr>
          <p:nvPr/>
        </p:nvSpPr>
        <p:spPr bwMode="auto">
          <a:xfrm>
            <a:off x="4500563" y="2853084"/>
            <a:ext cx="0" cy="215900"/>
          </a:xfrm>
          <a:prstGeom prst="line">
            <a:avLst/>
          </a:prstGeom>
          <a:noFill/>
          <a:ln w="3175">
            <a:solidFill>
              <a:schemeClr val="tx1"/>
            </a:solidFill>
            <a:prstDash val="dash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3" name="Line 86"/>
          <p:cNvSpPr>
            <a:spLocks noChangeShapeType="1"/>
          </p:cNvSpPr>
          <p:nvPr/>
        </p:nvSpPr>
        <p:spPr bwMode="auto">
          <a:xfrm>
            <a:off x="5076825" y="2853084"/>
            <a:ext cx="0" cy="215900"/>
          </a:xfrm>
          <a:prstGeom prst="line">
            <a:avLst/>
          </a:prstGeom>
          <a:noFill/>
          <a:ln w="3175">
            <a:solidFill>
              <a:schemeClr val="tx1"/>
            </a:solidFill>
            <a:prstDash val="dash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" name="Line 87"/>
          <p:cNvSpPr>
            <a:spLocks noChangeShapeType="1"/>
          </p:cNvSpPr>
          <p:nvPr/>
        </p:nvSpPr>
        <p:spPr bwMode="auto">
          <a:xfrm>
            <a:off x="5653088" y="2853084"/>
            <a:ext cx="0" cy="215900"/>
          </a:xfrm>
          <a:prstGeom prst="line">
            <a:avLst/>
          </a:prstGeom>
          <a:noFill/>
          <a:ln w="3175">
            <a:solidFill>
              <a:schemeClr val="tx1"/>
            </a:solidFill>
            <a:prstDash val="dash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5" name="Line 88"/>
          <p:cNvSpPr>
            <a:spLocks noChangeShapeType="1"/>
          </p:cNvSpPr>
          <p:nvPr/>
        </p:nvSpPr>
        <p:spPr bwMode="auto">
          <a:xfrm>
            <a:off x="6229350" y="2853084"/>
            <a:ext cx="0" cy="215900"/>
          </a:xfrm>
          <a:prstGeom prst="line">
            <a:avLst/>
          </a:prstGeom>
          <a:noFill/>
          <a:ln w="3175">
            <a:solidFill>
              <a:schemeClr val="tx1"/>
            </a:solidFill>
            <a:prstDash val="dash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Line 89"/>
          <p:cNvSpPr>
            <a:spLocks noChangeShapeType="1"/>
          </p:cNvSpPr>
          <p:nvPr/>
        </p:nvSpPr>
        <p:spPr bwMode="auto">
          <a:xfrm>
            <a:off x="7380288" y="3427759"/>
            <a:ext cx="0" cy="144145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Line 90"/>
          <p:cNvSpPr>
            <a:spLocks noChangeShapeType="1"/>
          </p:cNvSpPr>
          <p:nvPr/>
        </p:nvSpPr>
        <p:spPr bwMode="auto">
          <a:xfrm flipV="1">
            <a:off x="3348038" y="3788122"/>
            <a:ext cx="0" cy="4318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Line 91"/>
          <p:cNvSpPr>
            <a:spLocks noChangeShapeType="1"/>
          </p:cNvSpPr>
          <p:nvPr/>
        </p:nvSpPr>
        <p:spPr bwMode="auto">
          <a:xfrm>
            <a:off x="6229350" y="3427759"/>
            <a:ext cx="1588" cy="144145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Line 92"/>
          <p:cNvSpPr>
            <a:spLocks noChangeShapeType="1"/>
          </p:cNvSpPr>
          <p:nvPr/>
        </p:nvSpPr>
        <p:spPr bwMode="auto">
          <a:xfrm>
            <a:off x="6804025" y="2853084"/>
            <a:ext cx="0" cy="215900"/>
          </a:xfrm>
          <a:prstGeom prst="line">
            <a:avLst/>
          </a:prstGeom>
          <a:noFill/>
          <a:ln w="3175">
            <a:solidFill>
              <a:schemeClr val="tx1"/>
            </a:solidFill>
            <a:prstDash val="dash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Line 93"/>
          <p:cNvSpPr>
            <a:spLocks noChangeShapeType="1"/>
          </p:cNvSpPr>
          <p:nvPr/>
        </p:nvSpPr>
        <p:spPr bwMode="auto">
          <a:xfrm>
            <a:off x="7380288" y="2853084"/>
            <a:ext cx="0" cy="215900"/>
          </a:xfrm>
          <a:prstGeom prst="line">
            <a:avLst/>
          </a:prstGeom>
          <a:noFill/>
          <a:ln w="3175">
            <a:solidFill>
              <a:schemeClr val="tx1"/>
            </a:solidFill>
            <a:prstDash val="dash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Line 94"/>
          <p:cNvSpPr>
            <a:spLocks noChangeShapeType="1"/>
          </p:cNvSpPr>
          <p:nvPr/>
        </p:nvSpPr>
        <p:spPr bwMode="auto">
          <a:xfrm>
            <a:off x="6804025" y="3788122"/>
            <a:ext cx="576263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Line 95"/>
          <p:cNvSpPr>
            <a:spLocks noChangeShapeType="1"/>
          </p:cNvSpPr>
          <p:nvPr/>
        </p:nvSpPr>
        <p:spPr bwMode="auto">
          <a:xfrm>
            <a:off x="8029575" y="3788122"/>
            <a:ext cx="576263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Line 96"/>
          <p:cNvSpPr>
            <a:spLocks noChangeShapeType="1"/>
          </p:cNvSpPr>
          <p:nvPr/>
        </p:nvSpPr>
        <p:spPr bwMode="auto">
          <a:xfrm flipV="1">
            <a:off x="1908175" y="4940647"/>
            <a:ext cx="0" cy="576262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Text Box 97"/>
          <p:cNvSpPr txBox="1">
            <a:spLocks noChangeArrowheads="1"/>
          </p:cNvSpPr>
          <p:nvPr/>
        </p:nvSpPr>
        <p:spPr bwMode="auto">
          <a:xfrm>
            <a:off x="6732588" y="5085109"/>
            <a:ext cx="792162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0" lang="zh-CN" altLang="en-US" sz="1800" b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奇偶</a:t>
            </a:r>
          </a:p>
          <a:p>
            <a:pPr algn="ctr"/>
            <a:r>
              <a:rPr kumimoji="0" lang="zh-CN" altLang="en-US" sz="1800" b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校验位</a:t>
            </a:r>
          </a:p>
        </p:txBody>
      </p:sp>
      <p:sp>
        <p:nvSpPr>
          <p:cNvPr id="95" name="Line 98"/>
          <p:cNvSpPr>
            <a:spLocks noChangeShapeType="1"/>
          </p:cNvSpPr>
          <p:nvPr/>
        </p:nvSpPr>
        <p:spPr bwMode="auto">
          <a:xfrm flipV="1">
            <a:off x="7092950" y="4508847"/>
            <a:ext cx="0" cy="504825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Line 99"/>
          <p:cNvSpPr>
            <a:spLocks noChangeShapeType="1"/>
          </p:cNvSpPr>
          <p:nvPr/>
        </p:nvSpPr>
        <p:spPr bwMode="auto">
          <a:xfrm flipV="1">
            <a:off x="5076825" y="3788122"/>
            <a:ext cx="1152525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8" name="Text Box 101"/>
          <p:cNvSpPr txBox="1">
            <a:spLocks noChangeArrowheads="1"/>
          </p:cNvSpPr>
          <p:nvPr/>
        </p:nvSpPr>
        <p:spPr bwMode="auto">
          <a:xfrm>
            <a:off x="1735138" y="3788122"/>
            <a:ext cx="358775" cy="328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/>
          <a:lstStyle/>
          <a:p>
            <a:pPr algn="ctr"/>
            <a:r>
              <a:rPr kumimoji="0" lang="en-US" altLang="zh-CN" sz="1800" b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</a:p>
        </p:txBody>
      </p:sp>
      <p:sp>
        <p:nvSpPr>
          <p:cNvPr id="99" name="Text Box 102"/>
          <p:cNvSpPr txBox="1">
            <a:spLocks noChangeArrowheads="1"/>
          </p:cNvSpPr>
          <p:nvPr/>
        </p:nvSpPr>
        <p:spPr bwMode="auto">
          <a:xfrm>
            <a:off x="6804025" y="3788122"/>
            <a:ext cx="576263" cy="328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/>
          <a:lstStyle/>
          <a:p>
            <a:pPr algn="ctr"/>
            <a:r>
              <a:rPr kumimoji="0" lang="en-US" altLang="zh-CN" sz="1800" b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0/1</a:t>
            </a:r>
          </a:p>
        </p:txBody>
      </p:sp>
      <p:sp>
        <p:nvSpPr>
          <p:cNvPr id="100" name="Text Box 103"/>
          <p:cNvSpPr txBox="1">
            <a:spLocks noChangeArrowheads="1"/>
          </p:cNvSpPr>
          <p:nvPr/>
        </p:nvSpPr>
        <p:spPr bwMode="auto">
          <a:xfrm>
            <a:off x="7524750" y="3788122"/>
            <a:ext cx="720725" cy="328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/>
          <a:lstStyle/>
          <a:p>
            <a:pPr algn="ctr"/>
            <a:r>
              <a:rPr kumimoji="0" lang="en-US" altLang="zh-CN" sz="1800" b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1     1</a:t>
            </a:r>
          </a:p>
        </p:txBody>
      </p:sp>
      <p:grpSp>
        <p:nvGrpSpPr>
          <p:cNvPr id="101" name="Group 104"/>
          <p:cNvGrpSpPr>
            <a:grpSpLocks/>
          </p:cNvGrpSpPr>
          <p:nvPr/>
        </p:nvGrpSpPr>
        <p:grpSpPr bwMode="auto">
          <a:xfrm>
            <a:off x="2195513" y="3068984"/>
            <a:ext cx="574675" cy="360363"/>
            <a:chOff x="930" y="2114"/>
            <a:chExt cx="182" cy="227"/>
          </a:xfrm>
        </p:grpSpPr>
        <p:grpSp>
          <p:nvGrpSpPr>
            <p:cNvPr id="102" name="Group 105"/>
            <p:cNvGrpSpPr>
              <a:grpSpLocks/>
            </p:cNvGrpSpPr>
            <p:nvPr/>
          </p:nvGrpSpPr>
          <p:grpSpPr bwMode="auto">
            <a:xfrm>
              <a:off x="930" y="2114"/>
              <a:ext cx="91" cy="227"/>
              <a:chOff x="1338" y="2024"/>
              <a:chExt cx="362" cy="227"/>
            </a:xfrm>
          </p:grpSpPr>
          <p:sp>
            <p:nvSpPr>
              <p:cNvPr id="120" name="Line 106"/>
              <p:cNvSpPr>
                <a:spLocks noChangeShapeType="1"/>
              </p:cNvSpPr>
              <p:nvPr/>
            </p:nvSpPr>
            <p:spPr bwMode="auto">
              <a:xfrm flipV="1">
                <a:off x="1338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1" name="Line 107"/>
              <p:cNvSpPr>
                <a:spLocks noChangeShapeType="1"/>
              </p:cNvSpPr>
              <p:nvPr/>
            </p:nvSpPr>
            <p:spPr bwMode="auto">
              <a:xfrm>
                <a:off x="1338" y="2024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2" name="Line 108"/>
              <p:cNvSpPr>
                <a:spLocks noChangeShapeType="1"/>
              </p:cNvSpPr>
              <p:nvPr/>
            </p:nvSpPr>
            <p:spPr bwMode="auto">
              <a:xfrm flipV="1">
                <a:off x="1383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3" name="Line 109"/>
              <p:cNvSpPr>
                <a:spLocks noChangeShapeType="1"/>
              </p:cNvSpPr>
              <p:nvPr/>
            </p:nvSpPr>
            <p:spPr bwMode="auto">
              <a:xfrm>
                <a:off x="1383" y="2251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4" name="Line 110"/>
              <p:cNvSpPr>
                <a:spLocks noChangeShapeType="1"/>
              </p:cNvSpPr>
              <p:nvPr/>
            </p:nvSpPr>
            <p:spPr bwMode="auto">
              <a:xfrm flipV="1">
                <a:off x="1429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5" name="Line 111"/>
              <p:cNvSpPr>
                <a:spLocks noChangeShapeType="1"/>
              </p:cNvSpPr>
              <p:nvPr/>
            </p:nvSpPr>
            <p:spPr bwMode="auto">
              <a:xfrm>
                <a:off x="1429" y="2024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6" name="Line 112"/>
              <p:cNvSpPr>
                <a:spLocks noChangeShapeType="1"/>
              </p:cNvSpPr>
              <p:nvPr/>
            </p:nvSpPr>
            <p:spPr bwMode="auto">
              <a:xfrm flipV="1">
                <a:off x="1474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7" name="Line 113"/>
              <p:cNvSpPr>
                <a:spLocks noChangeShapeType="1"/>
              </p:cNvSpPr>
              <p:nvPr/>
            </p:nvSpPr>
            <p:spPr bwMode="auto">
              <a:xfrm>
                <a:off x="1474" y="2251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8" name="Line 114"/>
              <p:cNvSpPr>
                <a:spLocks noChangeShapeType="1"/>
              </p:cNvSpPr>
              <p:nvPr/>
            </p:nvSpPr>
            <p:spPr bwMode="auto">
              <a:xfrm flipV="1">
                <a:off x="1519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9" name="Line 115"/>
              <p:cNvSpPr>
                <a:spLocks noChangeShapeType="1"/>
              </p:cNvSpPr>
              <p:nvPr/>
            </p:nvSpPr>
            <p:spPr bwMode="auto">
              <a:xfrm>
                <a:off x="1519" y="2024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0" name="Line 116"/>
              <p:cNvSpPr>
                <a:spLocks noChangeShapeType="1"/>
              </p:cNvSpPr>
              <p:nvPr/>
            </p:nvSpPr>
            <p:spPr bwMode="auto">
              <a:xfrm flipV="1">
                <a:off x="1564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1" name="Line 117"/>
              <p:cNvSpPr>
                <a:spLocks noChangeShapeType="1"/>
              </p:cNvSpPr>
              <p:nvPr/>
            </p:nvSpPr>
            <p:spPr bwMode="auto">
              <a:xfrm>
                <a:off x="1564" y="2251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2" name="Line 118"/>
              <p:cNvSpPr>
                <a:spLocks noChangeShapeType="1"/>
              </p:cNvSpPr>
              <p:nvPr/>
            </p:nvSpPr>
            <p:spPr bwMode="auto">
              <a:xfrm flipV="1">
                <a:off x="1610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3" name="Line 119"/>
              <p:cNvSpPr>
                <a:spLocks noChangeShapeType="1"/>
              </p:cNvSpPr>
              <p:nvPr/>
            </p:nvSpPr>
            <p:spPr bwMode="auto">
              <a:xfrm>
                <a:off x="1610" y="2024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4" name="Line 120"/>
              <p:cNvSpPr>
                <a:spLocks noChangeShapeType="1"/>
              </p:cNvSpPr>
              <p:nvPr/>
            </p:nvSpPr>
            <p:spPr bwMode="auto">
              <a:xfrm flipV="1">
                <a:off x="1655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5" name="Line 121"/>
              <p:cNvSpPr>
                <a:spLocks noChangeShapeType="1"/>
              </p:cNvSpPr>
              <p:nvPr/>
            </p:nvSpPr>
            <p:spPr bwMode="auto">
              <a:xfrm>
                <a:off x="1655" y="2251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03" name="Group 122"/>
            <p:cNvGrpSpPr>
              <a:grpSpLocks/>
            </p:cNvGrpSpPr>
            <p:nvPr/>
          </p:nvGrpSpPr>
          <p:grpSpPr bwMode="auto">
            <a:xfrm>
              <a:off x="1021" y="2114"/>
              <a:ext cx="91" cy="227"/>
              <a:chOff x="1338" y="2024"/>
              <a:chExt cx="362" cy="227"/>
            </a:xfrm>
          </p:grpSpPr>
          <p:sp>
            <p:nvSpPr>
              <p:cNvPr id="104" name="Line 123"/>
              <p:cNvSpPr>
                <a:spLocks noChangeShapeType="1"/>
              </p:cNvSpPr>
              <p:nvPr/>
            </p:nvSpPr>
            <p:spPr bwMode="auto">
              <a:xfrm flipV="1">
                <a:off x="1338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5" name="Line 124"/>
              <p:cNvSpPr>
                <a:spLocks noChangeShapeType="1"/>
              </p:cNvSpPr>
              <p:nvPr/>
            </p:nvSpPr>
            <p:spPr bwMode="auto">
              <a:xfrm>
                <a:off x="1338" y="2024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6" name="Line 125"/>
              <p:cNvSpPr>
                <a:spLocks noChangeShapeType="1"/>
              </p:cNvSpPr>
              <p:nvPr/>
            </p:nvSpPr>
            <p:spPr bwMode="auto">
              <a:xfrm flipV="1">
                <a:off x="1383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7" name="Line 126"/>
              <p:cNvSpPr>
                <a:spLocks noChangeShapeType="1"/>
              </p:cNvSpPr>
              <p:nvPr/>
            </p:nvSpPr>
            <p:spPr bwMode="auto">
              <a:xfrm>
                <a:off x="1383" y="2251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8" name="Line 127"/>
              <p:cNvSpPr>
                <a:spLocks noChangeShapeType="1"/>
              </p:cNvSpPr>
              <p:nvPr/>
            </p:nvSpPr>
            <p:spPr bwMode="auto">
              <a:xfrm flipV="1">
                <a:off x="1429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9" name="Line 128"/>
              <p:cNvSpPr>
                <a:spLocks noChangeShapeType="1"/>
              </p:cNvSpPr>
              <p:nvPr/>
            </p:nvSpPr>
            <p:spPr bwMode="auto">
              <a:xfrm>
                <a:off x="1429" y="2024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0" name="Line 129"/>
              <p:cNvSpPr>
                <a:spLocks noChangeShapeType="1"/>
              </p:cNvSpPr>
              <p:nvPr/>
            </p:nvSpPr>
            <p:spPr bwMode="auto">
              <a:xfrm flipV="1">
                <a:off x="1474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1" name="Line 130"/>
              <p:cNvSpPr>
                <a:spLocks noChangeShapeType="1"/>
              </p:cNvSpPr>
              <p:nvPr/>
            </p:nvSpPr>
            <p:spPr bwMode="auto">
              <a:xfrm>
                <a:off x="1474" y="2251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2" name="Line 131"/>
              <p:cNvSpPr>
                <a:spLocks noChangeShapeType="1"/>
              </p:cNvSpPr>
              <p:nvPr/>
            </p:nvSpPr>
            <p:spPr bwMode="auto">
              <a:xfrm flipV="1">
                <a:off x="1519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3" name="Line 132"/>
              <p:cNvSpPr>
                <a:spLocks noChangeShapeType="1"/>
              </p:cNvSpPr>
              <p:nvPr/>
            </p:nvSpPr>
            <p:spPr bwMode="auto">
              <a:xfrm>
                <a:off x="1519" y="2024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4" name="Line 133"/>
              <p:cNvSpPr>
                <a:spLocks noChangeShapeType="1"/>
              </p:cNvSpPr>
              <p:nvPr/>
            </p:nvSpPr>
            <p:spPr bwMode="auto">
              <a:xfrm flipV="1">
                <a:off x="1564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5" name="Line 134"/>
              <p:cNvSpPr>
                <a:spLocks noChangeShapeType="1"/>
              </p:cNvSpPr>
              <p:nvPr/>
            </p:nvSpPr>
            <p:spPr bwMode="auto">
              <a:xfrm>
                <a:off x="1564" y="2251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6" name="Line 135"/>
              <p:cNvSpPr>
                <a:spLocks noChangeShapeType="1"/>
              </p:cNvSpPr>
              <p:nvPr/>
            </p:nvSpPr>
            <p:spPr bwMode="auto">
              <a:xfrm flipV="1">
                <a:off x="1610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7" name="Line 136"/>
              <p:cNvSpPr>
                <a:spLocks noChangeShapeType="1"/>
              </p:cNvSpPr>
              <p:nvPr/>
            </p:nvSpPr>
            <p:spPr bwMode="auto">
              <a:xfrm>
                <a:off x="1610" y="2024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8" name="Line 137"/>
              <p:cNvSpPr>
                <a:spLocks noChangeShapeType="1"/>
              </p:cNvSpPr>
              <p:nvPr/>
            </p:nvSpPr>
            <p:spPr bwMode="auto">
              <a:xfrm flipV="1">
                <a:off x="1655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9" name="Line 138"/>
              <p:cNvSpPr>
                <a:spLocks noChangeShapeType="1"/>
              </p:cNvSpPr>
              <p:nvPr/>
            </p:nvSpPr>
            <p:spPr bwMode="auto">
              <a:xfrm>
                <a:off x="1655" y="2251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36" name="Group 139"/>
          <p:cNvGrpSpPr>
            <a:grpSpLocks/>
          </p:cNvGrpSpPr>
          <p:nvPr/>
        </p:nvGrpSpPr>
        <p:grpSpPr bwMode="auto">
          <a:xfrm>
            <a:off x="2771775" y="3068984"/>
            <a:ext cx="574675" cy="360363"/>
            <a:chOff x="930" y="2114"/>
            <a:chExt cx="182" cy="227"/>
          </a:xfrm>
        </p:grpSpPr>
        <p:grpSp>
          <p:nvGrpSpPr>
            <p:cNvPr id="137" name="Group 140"/>
            <p:cNvGrpSpPr>
              <a:grpSpLocks/>
            </p:cNvGrpSpPr>
            <p:nvPr/>
          </p:nvGrpSpPr>
          <p:grpSpPr bwMode="auto">
            <a:xfrm>
              <a:off x="930" y="2114"/>
              <a:ext cx="91" cy="227"/>
              <a:chOff x="1338" y="2024"/>
              <a:chExt cx="362" cy="227"/>
            </a:xfrm>
          </p:grpSpPr>
          <p:sp>
            <p:nvSpPr>
              <p:cNvPr id="155" name="Line 141"/>
              <p:cNvSpPr>
                <a:spLocks noChangeShapeType="1"/>
              </p:cNvSpPr>
              <p:nvPr/>
            </p:nvSpPr>
            <p:spPr bwMode="auto">
              <a:xfrm flipV="1">
                <a:off x="1338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6" name="Line 142"/>
              <p:cNvSpPr>
                <a:spLocks noChangeShapeType="1"/>
              </p:cNvSpPr>
              <p:nvPr/>
            </p:nvSpPr>
            <p:spPr bwMode="auto">
              <a:xfrm>
                <a:off x="1338" y="2024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7" name="Line 143"/>
              <p:cNvSpPr>
                <a:spLocks noChangeShapeType="1"/>
              </p:cNvSpPr>
              <p:nvPr/>
            </p:nvSpPr>
            <p:spPr bwMode="auto">
              <a:xfrm flipV="1">
                <a:off x="1383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8" name="Line 144"/>
              <p:cNvSpPr>
                <a:spLocks noChangeShapeType="1"/>
              </p:cNvSpPr>
              <p:nvPr/>
            </p:nvSpPr>
            <p:spPr bwMode="auto">
              <a:xfrm>
                <a:off x="1383" y="2251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9" name="Line 145"/>
              <p:cNvSpPr>
                <a:spLocks noChangeShapeType="1"/>
              </p:cNvSpPr>
              <p:nvPr/>
            </p:nvSpPr>
            <p:spPr bwMode="auto">
              <a:xfrm flipV="1">
                <a:off x="1429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0" name="Line 146"/>
              <p:cNvSpPr>
                <a:spLocks noChangeShapeType="1"/>
              </p:cNvSpPr>
              <p:nvPr/>
            </p:nvSpPr>
            <p:spPr bwMode="auto">
              <a:xfrm>
                <a:off x="1429" y="2024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1" name="Line 147"/>
              <p:cNvSpPr>
                <a:spLocks noChangeShapeType="1"/>
              </p:cNvSpPr>
              <p:nvPr/>
            </p:nvSpPr>
            <p:spPr bwMode="auto">
              <a:xfrm flipV="1">
                <a:off x="1474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2" name="Line 148"/>
              <p:cNvSpPr>
                <a:spLocks noChangeShapeType="1"/>
              </p:cNvSpPr>
              <p:nvPr/>
            </p:nvSpPr>
            <p:spPr bwMode="auto">
              <a:xfrm>
                <a:off x="1474" y="2251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3" name="Line 149"/>
              <p:cNvSpPr>
                <a:spLocks noChangeShapeType="1"/>
              </p:cNvSpPr>
              <p:nvPr/>
            </p:nvSpPr>
            <p:spPr bwMode="auto">
              <a:xfrm flipV="1">
                <a:off x="1519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4" name="Line 150"/>
              <p:cNvSpPr>
                <a:spLocks noChangeShapeType="1"/>
              </p:cNvSpPr>
              <p:nvPr/>
            </p:nvSpPr>
            <p:spPr bwMode="auto">
              <a:xfrm>
                <a:off x="1519" y="2024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5" name="Line 151"/>
              <p:cNvSpPr>
                <a:spLocks noChangeShapeType="1"/>
              </p:cNvSpPr>
              <p:nvPr/>
            </p:nvSpPr>
            <p:spPr bwMode="auto">
              <a:xfrm flipV="1">
                <a:off x="1564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6" name="Line 152"/>
              <p:cNvSpPr>
                <a:spLocks noChangeShapeType="1"/>
              </p:cNvSpPr>
              <p:nvPr/>
            </p:nvSpPr>
            <p:spPr bwMode="auto">
              <a:xfrm>
                <a:off x="1564" y="2251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7" name="Line 153"/>
              <p:cNvSpPr>
                <a:spLocks noChangeShapeType="1"/>
              </p:cNvSpPr>
              <p:nvPr/>
            </p:nvSpPr>
            <p:spPr bwMode="auto">
              <a:xfrm flipV="1">
                <a:off x="1610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8" name="Line 154"/>
              <p:cNvSpPr>
                <a:spLocks noChangeShapeType="1"/>
              </p:cNvSpPr>
              <p:nvPr/>
            </p:nvSpPr>
            <p:spPr bwMode="auto">
              <a:xfrm>
                <a:off x="1610" y="2024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9" name="Line 155"/>
              <p:cNvSpPr>
                <a:spLocks noChangeShapeType="1"/>
              </p:cNvSpPr>
              <p:nvPr/>
            </p:nvSpPr>
            <p:spPr bwMode="auto">
              <a:xfrm flipV="1">
                <a:off x="1655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0" name="Line 156"/>
              <p:cNvSpPr>
                <a:spLocks noChangeShapeType="1"/>
              </p:cNvSpPr>
              <p:nvPr/>
            </p:nvSpPr>
            <p:spPr bwMode="auto">
              <a:xfrm>
                <a:off x="1655" y="2251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38" name="Group 157"/>
            <p:cNvGrpSpPr>
              <a:grpSpLocks/>
            </p:cNvGrpSpPr>
            <p:nvPr/>
          </p:nvGrpSpPr>
          <p:grpSpPr bwMode="auto">
            <a:xfrm>
              <a:off x="1021" y="2114"/>
              <a:ext cx="91" cy="227"/>
              <a:chOff x="1338" y="2024"/>
              <a:chExt cx="362" cy="227"/>
            </a:xfrm>
          </p:grpSpPr>
          <p:sp>
            <p:nvSpPr>
              <p:cNvPr id="139" name="Line 158"/>
              <p:cNvSpPr>
                <a:spLocks noChangeShapeType="1"/>
              </p:cNvSpPr>
              <p:nvPr/>
            </p:nvSpPr>
            <p:spPr bwMode="auto">
              <a:xfrm flipV="1">
                <a:off x="1338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0" name="Line 159"/>
              <p:cNvSpPr>
                <a:spLocks noChangeShapeType="1"/>
              </p:cNvSpPr>
              <p:nvPr/>
            </p:nvSpPr>
            <p:spPr bwMode="auto">
              <a:xfrm>
                <a:off x="1338" y="2024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1" name="Line 160"/>
              <p:cNvSpPr>
                <a:spLocks noChangeShapeType="1"/>
              </p:cNvSpPr>
              <p:nvPr/>
            </p:nvSpPr>
            <p:spPr bwMode="auto">
              <a:xfrm flipV="1">
                <a:off x="1383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2" name="Line 161"/>
              <p:cNvSpPr>
                <a:spLocks noChangeShapeType="1"/>
              </p:cNvSpPr>
              <p:nvPr/>
            </p:nvSpPr>
            <p:spPr bwMode="auto">
              <a:xfrm>
                <a:off x="1383" y="2251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3" name="Line 162"/>
              <p:cNvSpPr>
                <a:spLocks noChangeShapeType="1"/>
              </p:cNvSpPr>
              <p:nvPr/>
            </p:nvSpPr>
            <p:spPr bwMode="auto">
              <a:xfrm flipV="1">
                <a:off x="1429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4" name="Line 163"/>
              <p:cNvSpPr>
                <a:spLocks noChangeShapeType="1"/>
              </p:cNvSpPr>
              <p:nvPr/>
            </p:nvSpPr>
            <p:spPr bwMode="auto">
              <a:xfrm>
                <a:off x="1429" y="2024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5" name="Line 164"/>
              <p:cNvSpPr>
                <a:spLocks noChangeShapeType="1"/>
              </p:cNvSpPr>
              <p:nvPr/>
            </p:nvSpPr>
            <p:spPr bwMode="auto">
              <a:xfrm flipV="1">
                <a:off x="1474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6" name="Line 165"/>
              <p:cNvSpPr>
                <a:spLocks noChangeShapeType="1"/>
              </p:cNvSpPr>
              <p:nvPr/>
            </p:nvSpPr>
            <p:spPr bwMode="auto">
              <a:xfrm>
                <a:off x="1474" y="2251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7" name="Line 166"/>
              <p:cNvSpPr>
                <a:spLocks noChangeShapeType="1"/>
              </p:cNvSpPr>
              <p:nvPr/>
            </p:nvSpPr>
            <p:spPr bwMode="auto">
              <a:xfrm flipV="1">
                <a:off x="1519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8" name="Line 167"/>
              <p:cNvSpPr>
                <a:spLocks noChangeShapeType="1"/>
              </p:cNvSpPr>
              <p:nvPr/>
            </p:nvSpPr>
            <p:spPr bwMode="auto">
              <a:xfrm>
                <a:off x="1519" y="2024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9" name="Line 168"/>
              <p:cNvSpPr>
                <a:spLocks noChangeShapeType="1"/>
              </p:cNvSpPr>
              <p:nvPr/>
            </p:nvSpPr>
            <p:spPr bwMode="auto">
              <a:xfrm flipV="1">
                <a:off x="1564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0" name="Line 169"/>
              <p:cNvSpPr>
                <a:spLocks noChangeShapeType="1"/>
              </p:cNvSpPr>
              <p:nvPr/>
            </p:nvSpPr>
            <p:spPr bwMode="auto">
              <a:xfrm>
                <a:off x="1564" y="2251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1" name="Line 170"/>
              <p:cNvSpPr>
                <a:spLocks noChangeShapeType="1"/>
              </p:cNvSpPr>
              <p:nvPr/>
            </p:nvSpPr>
            <p:spPr bwMode="auto">
              <a:xfrm flipV="1">
                <a:off x="1610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2" name="Line 171"/>
              <p:cNvSpPr>
                <a:spLocks noChangeShapeType="1"/>
              </p:cNvSpPr>
              <p:nvPr/>
            </p:nvSpPr>
            <p:spPr bwMode="auto">
              <a:xfrm>
                <a:off x="1610" y="2024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3" name="Line 172"/>
              <p:cNvSpPr>
                <a:spLocks noChangeShapeType="1"/>
              </p:cNvSpPr>
              <p:nvPr/>
            </p:nvSpPr>
            <p:spPr bwMode="auto">
              <a:xfrm flipV="1">
                <a:off x="1655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4" name="Line 173"/>
              <p:cNvSpPr>
                <a:spLocks noChangeShapeType="1"/>
              </p:cNvSpPr>
              <p:nvPr/>
            </p:nvSpPr>
            <p:spPr bwMode="auto">
              <a:xfrm>
                <a:off x="1655" y="2251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71" name="Group 174"/>
          <p:cNvGrpSpPr>
            <a:grpSpLocks/>
          </p:cNvGrpSpPr>
          <p:nvPr/>
        </p:nvGrpSpPr>
        <p:grpSpPr bwMode="auto">
          <a:xfrm>
            <a:off x="3348038" y="3068984"/>
            <a:ext cx="574675" cy="360363"/>
            <a:chOff x="930" y="2114"/>
            <a:chExt cx="182" cy="227"/>
          </a:xfrm>
        </p:grpSpPr>
        <p:grpSp>
          <p:nvGrpSpPr>
            <p:cNvPr id="172" name="Group 175"/>
            <p:cNvGrpSpPr>
              <a:grpSpLocks/>
            </p:cNvGrpSpPr>
            <p:nvPr/>
          </p:nvGrpSpPr>
          <p:grpSpPr bwMode="auto">
            <a:xfrm>
              <a:off x="930" y="2114"/>
              <a:ext cx="91" cy="227"/>
              <a:chOff x="1338" y="2024"/>
              <a:chExt cx="362" cy="227"/>
            </a:xfrm>
          </p:grpSpPr>
          <p:sp>
            <p:nvSpPr>
              <p:cNvPr id="190" name="Line 176"/>
              <p:cNvSpPr>
                <a:spLocks noChangeShapeType="1"/>
              </p:cNvSpPr>
              <p:nvPr/>
            </p:nvSpPr>
            <p:spPr bwMode="auto">
              <a:xfrm flipV="1">
                <a:off x="1338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1" name="Line 177"/>
              <p:cNvSpPr>
                <a:spLocks noChangeShapeType="1"/>
              </p:cNvSpPr>
              <p:nvPr/>
            </p:nvSpPr>
            <p:spPr bwMode="auto">
              <a:xfrm>
                <a:off x="1338" y="2024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2" name="Line 178"/>
              <p:cNvSpPr>
                <a:spLocks noChangeShapeType="1"/>
              </p:cNvSpPr>
              <p:nvPr/>
            </p:nvSpPr>
            <p:spPr bwMode="auto">
              <a:xfrm flipV="1">
                <a:off x="1383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3" name="Line 179"/>
              <p:cNvSpPr>
                <a:spLocks noChangeShapeType="1"/>
              </p:cNvSpPr>
              <p:nvPr/>
            </p:nvSpPr>
            <p:spPr bwMode="auto">
              <a:xfrm>
                <a:off x="1383" y="2251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4" name="Line 180"/>
              <p:cNvSpPr>
                <a:spLocks noChangeShapeType="1"/>
              </p:cNvSpPr>
              <p:nvPr/>
            </p:nvSpPr>
            <p:spPr bwMode="auto">
              <a:xfrm flipV="1">
                <a:off x="1429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5" name="Line 181"/>
              <p:cNvSpPr>
                <a:spLocks noChangeShapeType="1"/>
              </p:cNvSpPr>
              <p:nvPr/>
            </p:nvSpPr>
            <p:spPr bwMode="auto">
              <a:xfrm>
                <a:off x="1429" y="2024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6" name="Line 182"/>
              <p:cNvSpPr>
                <a:spLocks noChangeShapeType="1"/>
              </p:cNvSpPr>
              <p:nvPr/>
            </p:nvSpPr>
            <p:spPr bwMode="auto">
              <a:xfrm flipV="1">
                <a:off x="1474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7" name="Line 183"/>
              <p:cNvSpPr>
                <a:spLocks noChangeShapeType="1"/>
              </p:cNvSpPr>
              <p:nvPr/>
            </p:nvSpPr>
            <p:spPr bwMode="auto">
              <a:xfrm>
                <a:off x="1474" y="2251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8" name="Line 184"/>
              <p:cNvSpPr>
                <a:spLocks noChangeShapeType="1"/>
              </p:cNvSpPr>
              <p:nvPr/>
            </p:nvSpPr>
            <p:spPr bwMode="auto">
              <a:xfrm flipV="1">
                <a:off x="1519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9" name="Line 185"/>
              <p:cNvSpPr>
                <a:spLocks noChangeShapeType="1"/>
              </p:cNvSpPr>
              <p:nvPr/>
            </p:nvSpPr>
            <p:spPr bwMode="auto">
              <a:xfrm>
                <a:off x="1519" y="2024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0" name="Line 186"/>
              <p:cNvSpPr>
                <a:spLocks noChangeShapeType="1"/>
              </p:cNvSpPr>
              <p:nvPr/>
            </p:nvSpPr>
            <p:spPr bwMode="auto">
              <a:xfrm flipV="1">
                <a:off x="1564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1" name="Line 187"/>
              <p:cNvSpPr>
                <a:spLocks noChangeShapeType="1"/>
              </p:cNvSpPr>
              <p:nvPr/>
            </p:nvSpPr>
            <p:spPr bwMode="auto">
              <a:xfrm>
                <a:off x="1564" y="2251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2" name="Line 188"/>
              <p:cNvSpPr>
                <a:spLocks noChangeShapeType="1"/>
              </p:cNvSpPr>
              <p:nvPr/>
            </p:nvSpPr>
            <p:spPr bwMode="auto">
              <a:xfrm flipV="1">
                <a:off x="1610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3" name="Line 189"/>
              <p:cNvSpPr>
                <a:spLocks noChangeShapeType="1"/>
              </p:cNvSpPr>
              <p:nvPr/>
            </p:nvSpPr>
            <p:spPr bwMode="auto">
              <a:xfrm>
                <a:off x="1610" y="2024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4" name="Line 190"/>
              <p:cNvSpPr>
                <a:spLocks noChangeShapeType="1"/>
              </p:cNvSpPr>
              <p:nvPr/>
            </p:nvSpPr>
            <p:spPr bwMode="auto">
              <a:xfrm flipV="1">
                <a:off x="1655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5" name="Line 191"/>
              <p:cNvSpPr>
                <a:spLocks noChangeShapeType="1"/>
              </p:cNvSpPr>
              <p:nvPr/>
            </p:nvSpPr>
            <p:spPr bwMode="auto">
              <a:xfrm>
                <a:off x="1655" y="2251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73" name="Group 192"/>
            <p:cNvGrpSpPr>
              <a:grpSpLocks/>
            </p:cNvGrpSpPr>
            <p:nvPr/>
          </p:nvGrpSpPr>
          <p:grpSpPr bwMode="auto">
            <a:xfrm>
              <a:off x="1021" y="2114"/>
              <a:ext cx="91" cy="227"/>
              <a:chOff x="1338" y="2024"/>
              <a:chExt cx="362" cy="227"/>
            </a:xfrm>
          </p:grpSpPr>
          <p:sp>
            <p:nvSpPr>
              <p:cNvPr id="174" name="Line 193"/>
              <p:cNvSpPr>
                <a:spLocks noChangeShapeType="1"/>
              </p:cNvSpPr>
              <p:nvPr/>
            </p:nvSpPr>
            <p:spPr bwMode="auto">
              <a:xfrm flipV="1">
                <a:off x="1338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5" name="Line 194"/>
              <p:cNvSpPr>
                <a:spLocks noChangeShapeType="1"/>
              </p:cNvSpPr>
              <p:nvPr/>
            </p:nvSpPr>
            <p:spPr bwMode="auto">
              <a:xfrm>
                <a:off x="1338" y="2024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6" name="Line 195"/>
              <p:cNvSpPr>
                <a:spLocks noChangeShapeType="1"/>
              </p:cNvSpPr>
              <p:nvPr/>
            </p:nvSpPr>
            <p:spPr bwMode="auto">
              <a:xfrm flipV="1">
                <a:off x="1383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7" name="Line 196"/>
              <p:cNvSpPr>
                <a:spLocks noChangeShapeType="1"/>
              </p:cNvSpPr>
              <p:nvPr/>
            </p:nvSpPr>
            <p:spPr bwMode="auto">
              <a:xfrm>
                <a:off x="1383" y="2251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8" name="Line 197"/>
              <p:cNvSpPr>
                <a:spLocks noChangeShapeType="1"/>
              </p:cNvSpPr>
              <p:nvPr/>
            </p:nvSpPr>
            <p:spPr bwMode="auto">
              <a:xfrm flipV="1">
                <a:off x="1429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9" name="Line 198"/>
              <p:cNvSpPr>
                <a:spLocks noChangeShapeType="1"/>
              </p:cNvSpPr>
              <p:nvPr/>
            </p:nvSpPr>
            <p:spPr bwMode="auto">
              <a:xfrm>
                <a:off x="1429" y="2024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0" name="Line 199"/>
              <p:cNvSpPr>
                <a:spLocks noChangeShapeType="1"/>
              </p:cNvSpPr>
              <p:nvPr/>
            </p:nvSpPr>
            <p:spPr bwMode="auto">
              <a:xfrm flipV="1">
                <a:off x="1474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1" name="Line 200"/>
              <p:cNvSpPr>
                <a:spLocks noChangeShapeType="1"/>
              </p:cNvSpPr>
              <p:nvPr/>
            </p:nvSpPr>
            <p:spPr bwMode="auto">
              <a:xfrm>
                <a:off x="1474" y="2251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2" name="Line 201"/>
              <p:cNvSpPr>
                <a:spLocks noChangeShapeType="1"/>
              </p:cNvSpPr>
              <p:nvPr/>
            </p:nvSpPr>
            <p:spPr bwMode="auto">
              <a:xfrm flipV="1">
                <a:off x="1519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3" name="Line 202"/>
              <p:cNvSpPr>
                <a:spLocks noChangeShapeType="1"/>
              </p:cNvSpPr>
              <p:nvPr/>
            </p:nvSpPr>
            <p:spPr bwMode="auto">
              <a:xfrm>
                <a:off x="1519" y="2024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4" name="Line 203"/>
              <p:cNvSpPr>
                <a:spLocks noChangeShapeType="1"/>
              </p:cNvSpPr>
              <p:nvPr/>
            </p:nvSpPr>
            <p:spPr bwMode="auto">
              <a:xfrm flipV="1">
                <a:off x="1564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5" name="Line 204"/>
              <p:cNvSpPr>
                <a:spLocks noChangeShapeType="1"/>
              </p:cNvSpPr>
              <p:nvPr/>
            </p:nvSpPr>
            <p:spPr bwMode="auto">
              <a:xfrm>
                <a:off x="1564" y="2251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6" name="Line 205"/>
              <p:cNvSpPr>
                <a:spLocks noChangeShapeType="1"/>
              </p:cNvSpPr>
              <p:nvPr/>
            </p:nvSpPr>
            <p:spPr bwMode="auto">
              <a:xfrm flipV="1">
                <a:off x="1610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7" name="Line 206"/>
              <p:cNvSpPr>
                <a:spLocks noChangeShapeType="1"/>
              </p:cNvSpPr>
              <p:nvPr/>
            </p:nvSpPr>
            <p:spPr bwMode="auto">
              <a:xfrm>
                <a:off x="1610" y="2024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8" name="Line 207"/>
              <p:cNvSpPr>
                <a:spLocks noChangeShapeType="1"/>
              </p:cNvSpPr>
              <p:nvPr/>
            </p:nvSpPr>
            <p:spPr bwMode="auto">
              <a:xfrm flipV="1">
                <a:off x="1655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9" name="Line 208"/>
              <p:cNvSpPr>
                <a:spLocks noChangeShapeType="1"/>
              </p:cNvSpPr>
              <p:nvPr/>
            </p:nvSpPr>
            <p:spPr bwMode="auto">
              <a:xfrm>
                <a:off x="1655" y="2251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206" name="Group 209"/>
          <p:cNvGrpSpPr>
            <a:grpSpLocks/>
          </p:cNvGrpSpPr>
          <p:nvPr/>
        </p:nvGrpSpPr>
        <p:grpSpPr bwMode="auto">
          <a:xfrm>
            <a:off x="3924300" y="3068984"/>
            <a:ext cx="574675" cy="360363"/>
            <a:chOff x="930" y="2114"/>
            <a:chExt cx="182" cy="227"/>
          </a:xfrm>
        </p:grpSpPr>
        <p:grpSp>
          <p:nvGrpSpPr>
            <p:cNvPr id="207" name="Group 210"/>
            <p:cNvGrpSpPr>
              <a:grpSpLocks/>
            </p:cNvGrpSpPr>
            <p:nvPr/>
          </p:nvGrpSpPr>
          <p:grpSpPr bwMode="auto">
            <a:xfrm>
              <a:off x="930" y="2114"/>
              <a:ext cx="91" cy="227"/>
              <a:chOff x="1338" y="2024"/>
              <a:chExt cx="362" cy="227"/>
            </a:xfrm>
          </p:grpSpPr>
          <p:sp>
            <p:nvSpPr>
              <p:cNvPr id="225" name="Line 211"/>
              <p:cNvSpPr>
                <a:spLocks noChangeShapeType="1"/>
              </p:cNvSpPr>
              <p:nvPr/>
            </p:nvSpPr>
            <p:spPr bwMode="auto">
              <a:xfrm flipV="1">
                <a:off x="1338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6" name="Line 212"/>
              <p:cNvSpPr>
                <a:spLocks noChangeShapeType="1"/>
              </p:cNvSpPr>
              <p:nvPr/>
            </p:nvSpPr>
            <p:spPr bwMode="auto">
              <a:xfrm>
                <a:off x="1338" y="2024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7" name="Line 213"/>
              <p:cNvSpPr>
                <a:spLocks noChangeShapeType="1"/>
              </p:cNvSpPr>
              <p:nvPr/>
            </p:nvSpPr>
            <p:spPr bwMode="auto">
              <a:xfrm flipV="1">
                <a:off x="1383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8" name="Line 214"/>
              <p:cNvSpPr>
                <a:spLocks noChangeShapeType="1"/>
              </p:cNvSpPr>
              <p:nvPr/>
            </p:nvSpPr>
            <p:spPr bwMode="auto">
              <a:xfrm>
                <a:off x="1383" y="2251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9" name="Line 215"/>
              <p:cNvSpPr>
                <a:spLocks noChangeShapeType="1"/>
              </p:cNvSpPr>
              <p:nvPr/>
            </p:nvSpPr>
            <p:spPr bwMode="auto">
              <a:xfrm flipV="1">
                <a:off x="1429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0" name="Line 216"/>
              <p:cNvSpPr>
                <a:spLocks noChangeShapeType="1"/>
              </p:cNvSpPr>
              <p:nvPr/>
            </p:nvSpPr>
            <p:spPr bwMode="auto">
              <a:xfrm>
                <a:off x="1429" y="2024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1" name="Line 217"/>
              <p:cNvSpPr>
                <a:spLocks noChangeShapeType="1"/>
              </p:cNvSpPr>
              <p:nvPr/>
            </p:nvSpPr>
            <p:spPr bwMode="auto">
              <a:xfrm flipV="1">
                <a:off x="1474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2" name="Line 218"/>
              <p:cNvSpPr>
                <a:spLocks noChangeShapeType="1"/>
              </p:cNvSpPr>
              <p:nvPr/>
            </p:nvSpPr>
            <p:spPr bwMode="auto">
              <a:xfrm>
                <a:off x="1474" y="2251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3" name="Line 219"/>
              <p:cNvSpPr>
                <a:spLocks noChangeShapeType="1"/>
              </p:cNvSpPr>
              <p:nvPr/>
            </p:nvSpPr>
            <p:spPr bwMode="auto">
              <a:xfrm flipV="1">
                <a:off x="1519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4" name="Line 220"/>
              <p:cNvSpPr>
                <a:spLocks noChangeShapeType="1"/>
              </p:cNvSpPr>
              <p:nvPr/>
            </p:nvSpPr>
            <p:spPr bwMode="auto">
              <a:xfrm>
                <a:off x="1519" y="2024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5" name="Line 221"/>
              <p:cNvSpPr>
                <a:spLocks noChangeShapeType="1"/>
              </p:cNvSpPr>
              <p:nvPr/>
            </p:nvSpPr>
            <p:spPr bwMode="auto">
              <a:xfrm flipV="1">
                <a:off x="1564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6" name="Line 222"/>
              <p:cNvSpPr>
                <a:spLocks noChangeShapeType="1"/>
              </p:cNvSpPr>
              <p:nvPr/>
            </p:nvSpPr>
            <p:spPr bwMode="auto">
              <a:xfrm>
                <a:off x="1564" y="2251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7" name="Line 223"/>
              <p:cNvSpPr>
                <a:spLocks noChangeShapeType="1"/>
              </p:cNvSpPr>
              <p:nvPr/>
            </p:nvSpPr>
            <p:spPr bwMode="auto">
              <a:xfrm flipV="1">
                <a:off x="1610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8" name="Line 224"/>
              <p:cNvSpPr>
                <a:spLocks noChangeShapeType="1"/>
              </p:cNvSpPr>
              <p:nvPr/>
            </p:nvSpPr>
            <p:spPr bwMode="auto">
              <a:xfrm>
                <a:off x="1610" y="2024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9" name="Line 225"/>
              <p:cNvSpPr>
                <a:spLocks noChangeShapeType="1"/>
              </p:cNvSpPr>
              <p:nvPr/>
            </p:nvSpPr>
            <p:spPr bwMode="auto">
              <a:xfrm flipV="1">
                <a:off x="1655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0" name="Line 226"/>
              <p:cNvSpPr>
                <a:spLocks noChangeShapeType="1"/>
              </p:cNvSpPr>
              <p:nvPr/>
            </p:nvSpPr>
            <p:spPr bwMode="auto">
              <a:xfrm>
                <a:off x="1655" y="2251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08" name="Group 227"/>
            <p:cNvGrpSpPr>
              <a:grpSpLocks/>
            </p:cNvGrpSpPr>
            <p:nvPr/>
          </p:nvGrpSpPr>
          <p:grpSpPr bwMode="auto">
            <a:xfrm>
              <a:off x="1021" y="2114"/>
              <a:ext cx="91" cy="227"/>
              <a:chOff x="1338" y="2024"/>
              <a:chExt cx="362" cy="227"/>
            </a:xfrm>
          </p:grpSpPr>
          <p:sp>
            <p:nvSpPr>
              <p:cNvPr id="209" name="Line 228"/>
              <p:cNvSpPr>
                <a:spLocks noChangeShapeType="1"/>
              </p:cNvSpPr>
              <p:nvPr/>
            </p:nvSpPr>
            <p:spPr bwMode="auto">
              <a:xfrm flipV="1">
                <a:off x="1338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0" name="Line 229"/>
              <p:cNvSpPr>
                <a:spLocks noChangeShapeType="1"/>
              </p:cNvSpPr>
              <p:nvPr/>
            </p:nvSpPr>
            <p:spPr bwMode="auto">
              <a:xfrm>
                <a:off x="1338" y="2024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1" name="Line 230"/>
              <p:cNvSpPr>
                <a:spLocks noChangeShapeType="1"/>
              </p:cNvSpPr>
              <p:nvPr/>
            </p:nvSpPr>
            <p:spPr bwMode="auto">
              <a:xfrm flipV="1">
                <a:off x="1383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2" name="Line 231"/>
              <p:cNvSpPr>
                <a:spLocks noChangeShapeType="1"/>
              </p:cNvSpPr>
              <p:nvPr/>
            </p:nvSpPr>
            <p:spPr bwMode="auto">
              <a:xfrm>
                <a:off x="1383" y="2251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3" name="Line 232"/>
              <p:cNvSpPr>
                <a:spLocks noChangeShapeType="1"/>
              </p:cNvSpPr>
              <p:nvPr/>
            </p:nvSpPr>
            <p:spPr bwMode="auto">
              <a:xfrm flipV="1">
                <a:off x="1429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4" name="Line 233"/>
              <p:cNvSpPr>
                <a:spLocks noChangeShapeType="1"/>
              </p:cNvSpPr>
              <p:nvPr/>
            </p:nvSpPr>
            <p:spPr bwMode="auto">
              <a:xfrm>
                <a:off x="1429" y="2024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5" name="Line 234"/>
              <p:cNvSpPr>
                <a:spLocks noChangeShapeType="1"/>
              </p:cNvSpPr>
              <p:nvPr/>
            </p:nvSpPr>
            <p:spPr bwMode="auto">
              <a:xfrm flipV="1">
                <a:off x="1474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6" name="Line 235"/>
              <p:cNvSpPr>
                <a:spLocks noChangeShapeType="1"/>
              </p:cNvSpPr>
              <p:nvPr/>
            </p:nvSpPr>
            <p:spPr bwMode="auto">
              <a:xfrm>
                <a:off x="1474" y="2251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7" name="Line 236"/>
              <p:cNvSpPr>
                <a:spLocks noChangeShapeType="1"/>
              </p:cNvSpPr>
              <p:nvPr/>
            </p:nvSpPr>
            <p:spPr bwMode="auto">
              <a:xfrm flipV="1">
                <a:off x="1519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8" name="Line 237"/>
              <p:cNvSpPr>
                <a:spLocks noChangeShapeType="1"/>
              </p:cNvSpPr>
              <p:nvPr/>
            </p:nvSpPr>
            <p:spPr bwMode="auto">
              <a:xfrm>
                <a:off x="1519" y="2024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9" name="Line 238"/>
              <p:cNvSpPr>
                <a:spLocks noChangeShapeType="1"/>
              </p:cNvSpPr>
              <p:nvPr/>
            </p:nvSpPr>
            <p:spPr bwMode="auto">
              <a:xfrm flipV="1">
                <a:off x="1564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0" name="Line 239"/>
              <p:cNvSpPr>
                <a:spLocks noChangeShapeType="1"/>
              </p:cNvSpPr>
              <p:nvPr/>
            </p:nvSpPr>
            <p:spPr bwMode="auto">
              <a:xfrm>
                <a:off x="1564" y="2251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1" name="Line 240"/>
              <p:cNvSpPr>
                <a:spLocks noChangeShapeType="1"/>
              </p:cNvSpPr>
              <p:nvPr/>
            </p:nvSpPr>
            <p:spPr bwMode="auto">
              <a:xfrm flipV="1">
                <a:off x="1610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2" name="Line 241"/>
              <p:cNvSpPr>
                <a:spLocks noChangeShapeType="1"/>
              </p:cNvSpPr>
              <p:nvPr/>
            </p:nvSpPr>
            <p:spPr bwMode="auto">
              <a:xfrm>
                <a:off x="1610" y="2024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3" name="Line 242"/>
              <p:cNvSpPr>
                <a:spLocks noChangeShapeType="1"/>
              </p:cNvSpPr>
              <p:nvPr/>
            </p:nvSpPr>
            <p:spPr bwMode="auto">
              <a:xfrm flipV="1">
                <a:off x="1655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4" name="Line 243"/>
              <p:cNvSpPr>
                <a:spLocks noChangeShapeType="1"/>
              </p:cNvSpPr>
              <p:nvPr/>
            </p:nvSpPr>
            <p:spPr bwMode="auto">
              <a:xfrm>
                <a:off x="1655" y="2251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241" name="Group 244"/>
          <p:cNvGrpSpPr>
            <a:grpSpLocks/>
          </p:cNvGrpSpPr>
          <p:nvPr/>
        </p:nvGrpSpPr>
        <p:grpSpPr bwMode="auto">
          <a:xfrm>
            <a:off x="4500563" y="3068984"/>
            <a:ext cx="574675" cy="360363"/>
            <a:chOff x="930" y="2114"/>
            <a:chExt cx="182" cy="227"/>
          </a:xfrm>
        </p:grpSpPr>
        <p:grpSp>
          <p:nvGrpSpPr>
            <p:cNvPr id="242" name="Group 245"/>
            <p:cNvGrpSpPr>
              <a:grpSpLocks/>
            </p:cNvGrpSpPr>
            <p:nvPr/>
          </p:nvGrpSpPr>
          <p:grpSpPr bwMode="auto">
            <a:xfrm>
              <a:off x="930" y="2114"/>
              <a:ext cx="91" cy="227"/>
              <a:chOff x="1338" y="2024"/>
              <a:chExt cx="362" cy="227"/>
            </a:xfrm>
          </p:grpSpPr>
          <p:sp>
            <p:nvSpPr>
              <p:cNvPr id="260" name="Line 246"/>
              <p:cNvSpPr>
                <a:spLocks noChangeShapeType="1"/>
              </p:cNvSpPr>
              <p:nvPr/>
            </p:nvSpPr>
            <p:spPr bwMode="auto">
              <a:xfrm flipV="1">
                <a:off x="1338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1" name="Line 247"/>
              <p:cNvSpPr>
                <a:spLocks noChangeShapeType="1"/>
              </p:cNvSpPr>
              <p:nvPr/>
            </p:nvSpPr>
            <p:spPr bwMode="auto">
              <a:xfrm>
                <a:off x="1338" y="2024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2" name="Line 248"/>
              <p:cNvSpPr>
                <a:spLocks noChangeShapeType="1"/>
              </p:cNvSpPr>
              <p:nvPr/>
            </p:nvSpPr>
            <p:spPr bwMode="auto">
              <a:xfrm flipV="1">
                <a:off x="1383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3" name="Line 249"/>
              <p:cNvSpPr>
                <a:spLocks noChangeShapeType="1"/>
              </p:cNvSpPr>
              <p:nvPr/>
            </p:nvSpPr>
            <p:spPr bwMode="auto">
              <a:xfrm>
                <a:off x="1383" y="2251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4" name="Line 250"/>
              <p:cNvSpPr>
                <a:spLocks noChangeShapeType="1"/>
              </p:cNvSpPr>
              <p:nvPr/>
            </p:nvSpPr>
            <p:spPr bwMode="auto">
              <a:xfrm flipV="1">
                <a:off x="1429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5" name="Line 251"/>
              <p:cNvSpPr>
                <a:spLocks noChangeShapeType="1"/>
              </p:cNvSpPr>
              <p:nvPr/>
            </p:nvSpPr>
            <p:spPr bwMode="auto">
              <a:xfrm>
                <a:off x="1429" y="2024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6" name="Line 252"/>
              <p:cNvSpPr>
                <a:spLocks noChangeShapeType="1"/>
              </p:cNvSpPr>
              <p:nvPr/>
            </p:nvSpPr>
            <p:spPr bwMode="auto">
              <a:xfrm flipV="1">
                <a:off x="1474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7" name="Line 253"/>
              <p:cNvSpPr>
                <a:spLocks noChangeShapeType="1"/>
              </p:cNvSpPr>
              <p:nvPr/>
            </p:nvSpPr>
            <p:spPr bwMode="auto">
              <a:xfrm>
                <a:off x="1474" y="2251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8" name="Line 254"/>
              <p:cNvSpPr>
                <a:spLocks noChangeShapeType="1"/>
              </p:cNvSpPr>
              <p:nvPr/>
            </p:nvSpPr>
            <p:spPr bwMode="auto">
              <a:xfrm flipV="1">
                <a:off x="1519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9" name="Line 255"/>
              <p:cNvSpPr>
                <a:spLocks noChangeShapeType="1"/>
              </p:cNvSpPr>
              <p:nvPr/>
            </p:nvSpPr>
            <p:spPr bwMode="auto">
              <a:xfrm>
                <a:off x="1519" y="2024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0" name="Line 256"/>
              <p:cNvSpPr>
                <a:spLocks noChangeShapeType="1"/>
              </p:cNvSpPr>
              <p:nvPr/>
            </p:nvSpPr>
            <p:spPr bwMode="auto">
              <a:xfrm flipV="1">
                <a:off x="1564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1" name="Line 257"/>
              <p:cNvSpPr>
                <a:spLocks noChangeShapeType="1"/>
              </p:cNvSpPr>
              <p:nvPr/>
            </p:nvSpPr>
            <p:spPr bwMode="auto">
              <a:xfrm>
                <a:off x="1564" y="2251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2" name="Line 258"/>
              <p:cNvSpPr>
                <a:spLocks noChangeShapeType="1"/>
              </p:cNvSpPr>
              <p:nvPr/>
            </p:nvSpPr>
            <p:spPr bwMode="auto">
              <a:xfrm flipV="1">
                <a:off x="1610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3" name="Line 259"/>
              <p:cNvSpPr>
                <a:spLocks noChangeShapeType="1"/>
              </p:cNvSpPr>
              <p:nvPr/>
            </p:nvSpPr>
            <p:spPr bwMode="auto">
              <a:xfrm>
                <a:off x="1610" y="2024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4" name="Line 260"/>
              <p:cNvSpPr>
                <a:spLocks noChangeShapeType="1"/>
              </p:cNvSpPr>
              <p:nvPr/>
            </p:nvSpPr>
            <p:spPr bwMode="auto">
              <a:xfrm flipV="1">
                <a:off x="1655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5" name="Line 261"/>
              <p:cNvSpPr>
                <a:spLocks noChangeShapeType="1"/>
              </p:cNvSpPr>
              <p:nvPr/>
            </p:nvSpPr>
            <p:spPr bwMode="auto">
              <a:xfrm>
                <a:off x="1655" y="2251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43" name="Group 262"/>
            <p:cNvGrpSpPr>
              <a:grpSpLocks/>
            </p:cNvGrpSpPr>
            <p:nvPr/>
          </p:nvGrpSpPr>
          <p:grpSpPr bwMode="auto">
            <a:xfrm>
              <a:off x="1021" y="2114"/>
              <a:ext cx="91" cy="227"/>
              <a:chOff x="1338" y="2024"/>
              <a:chExt cx="362" cy="227"/>
            </a:xfrm>
          </p:grpSpPr>
          <p:sp>
            <p:nvSpPr>
              <p:cNvPr id="244" name="Line 263"/>
              <p:cNvSpPr>
                <a:spLocks noChangeShapeType="1"/>
              </p:cNvSpPr>
              <p:nvPr/>
            </p:nvSpPr>
            <p:spPr bwMode="auto">
              <a:xfrm flipV="1">
                <a:off x="1338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5" name="Line 264"/>
              <p:cNvSpPr>
                <a:spLocks noChangeShapeType="1"/>
              </p:cNvSpPr>
              <p:nvPr/>
            </p:nvSpPr>
            <p:spPr bwMode="auto">
              <a:xfrm>
                <a:off x="1338" y="2024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6" name="Line 265"/>
              <p:cNvSpPr>
                <a:spLocks noChangeShapeType="1"/>
              </p:cNvSpPr>
              <p:nvPr/>
            </p:nvSpPr>
            <p:spPr bwMode="auto">
              <a:xfrm flipV="1">
                <a:off x="1383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7" name="Line 266"/>
              <p:cNvSpPr>
                <a:spLocks noChangeShapeType="1"/>
              </p:cNvSpPr>
              <p:nvPr/>
            </p:nvSpPr>
            <p:spPr bwMode="auto">
              <a:xfrm>
                <a:off x="1383" y="2251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8" name="Line 267"/>
              <p:cNvSpPr>
                <a:spLocks noChangeShapeType="1"/>
              </p:cNvSpPr>
              <p:nvPr/>
            </p:nvSpPr>
            <p:spPr bwMode="auto">
              <a:xfrm flipV="1">
                <a:off x="1429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9" name="Line 268"/>
              <p:cNvSpPr>
                <a:spLocks noChangeShapeType="1"/>
              </p:cNvSpPr>
              <p:nvPr/>
            </p:nvSpPr>
            <p:spPr bwMode="auto">
              <a:xfrm>
                <a:off x="1429" y="2024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0" name="Line 269"/>
              <p:cNvSpPr>
                <a:spLocks noChangeShapeType="1"/>
              </p:cNvSpPr>
              <p:nvPr/>
            </p:nvSpPr>
            <p:spPr bwMode="auto">
              <a:xfrm flipV="1">
                <a:off x="1474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1" name="Line 270"/>
              <p:cNvSpPr>
                <a:spLocks noChangeShapeType="1"/>
              </p:cNvSpPr>
              <p:nvPr/>
            </p:nvSpPr>
            <p:spPr bwMode="auto">
              <a:xfrm>
                <a:off x="1474" y="2251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2" name="Line 271"/>
              <p:cNvSpPr>
                <a:spLocks noChangeShapeType="1"/>
              </p:cNvSpPr>
              <p:nvPr/>
            </p:nvSpPr>
            <p:spPr bwMode="auto">
              <a:xfrm flipV="1">
                <a:off x="1519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3" name="Line 272"/>
              <p:cNvSpPr>
                <a:spLocks noChangeShapeType="1"/>
              </p:cNvSpPr>
              <p:nvPr/>
            </p:nvSpPr>
            <p:spPr bwMode="auto">
              <a:xfrm>
                <a:off x="1519" y="2024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4" name="Line 273"/>
              <p:cNvSpPr>
                <a:spLocks noChangeShapeType="1"/>
              </p:cNvSpPr>
              <p:nvPr/>
            </p:nvSpPr>
            <p:spPr bwMode="auto">
              <a:xfrm flipV="1">
                <a:off x="1564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5" name="Line 274"/>
              <p:cNvSpPr>
                <a:spLocks noChangeShapeType="1"/>
              </p:cNvSpPr>
              <p:nvPr/>
            </p:nvSpPr>
            <p:spPr bwMode="auto">
              <a:xfrm>
                <a:off x="1564" y="2251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6" name="Line 275"/>
              <p:cNvSpPr>
                <a:spLocks noChangeShapeType="1"/>
              </p:cNvSpPr>
              <p:nvPr/>
            </p:nvSpPr>
            <p:spPr bwMode="auto">
              <a:xfrm flipV="1">
                <a:off x="1610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7" name="Line 276"/>
              <p:cNvSpPr>
                <a:spLocks noChangeShapeType="1"/>
              </p:cNvSpPr>
              <p:nvPr/>
            </p:nvSpPr>
            <p:spPr bwMode="auto">
              <a:xfrm>
                <a:off x="1610" y="2024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8" name="Line 277"/>
              <p:cNvSpPr>
                <a:spLocks noChangeShapeType="1"/>
              </p:cNvSpPr>
              <p:nvPr/>
            </p:nvSpPr>
            <p:spPr bwMode="auto">
              <a:xfrm flipV="1">
                <a:off x="1655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9" name="Line 278"/>
              <p:cNvSpPr>
                <a:spLocks noChangeShapeType="1"/>
              </p:cNvSpPr>
              <p:nvPr/>
            </p:nvSpPr>
            <p:spPr bwMode="auto">
              <a:xfrm>
                <a:off x="1655" y="2251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276" name="Group 279"/>
          <p:cNvGrpSpPr>
            <a:grpSpLocks/>
          </p:cNvGrpSpPr>
          <p:nvPr/>
        </p:nvGrpSpPr>
        <p:grpSpPr bwMode="auto">
          <a:xfrm>
            <a:off x="5076825" y="3068984"/>
            <a:ext cx="574675" cy="360363"/>
            <a:chOff x="930" y="2114"/>
            <a:chExt cx="182" cy="227"/>
          </a:xfrm>
        </p:grpSpPr>
        <p:grpSp>
          <p:nvGrpSpPr>
            <p:cNvPr id="277" name="Group 280"/>
            <p:cNvGrpSpPr>
              <a:grpSpLocks/>
            </p:cNvGrpSpPr>
            <p:nvPr/>
          </p:nvGrpSpPr>
          <p:grpSpPr bwMode="auto">
            <a:xfrm>
              <a:off x="930" y="2114"/>
              <a:ext cx="91" cy="227"/>
              <a:chOff x="1338" y="2024"/>
              <a:chExt cx="362" cy="227"/>
            </a:xfrm>
          </p:grpSpPr>
          <p:sp>
            <p:nvSpPr>
              <p:cNvPr id="295" name="Line 281"/>
              <p:cNvSpPr>
                <a:spLocks noChangeShapeType="1"/>
              </p:cNvSpPr>
              <p:nvPr/>
            </p:nvSpPr>
            <p:spPr bwMode="auto">
              <a:xfrm flipV="1">
                <a:off x="1338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6" name="Line 282"/>
              <p:cNvSpPr>
                <a:spLocks noChangeShapeType="1"/>
              </p:cNvSpPr>
              <p:nvPr/>
            </p:nvSpPr>
            <p:spPr bwMode="auto">
              <a:xfrm>
                <a:off x="1338" y="2024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7" name="Line 283"/>
              <p:cNvSpPr>
                <a:spLocks noChangeShapeType="1"/>
              </p:cNvSpPr>
              <p:nvPr/>
            </p:nvSpPr>
            <p:spPr bwMode="auto">
              <a:xfrm flipV="1">
                <a:off x="1383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8" name="Line 284"/>
              <p:cNvSpPr>
                <a:spLocks noChangeShapeType="1"/>
              </p:cNvSpPr>
              <p:nvPr/>
            </p:nvSpPr>
            <p:spPr bwMode="auto">
              <a:xfrm>
                <a:off x="1383" y="2251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9" name="Line 285"/>
              <p:cNvSpPr>
                <a:spLocks noChangeShapeType="1"/>
              </p:cNvSpPr>
              <p:nvPr/>
            </p:nvSpPr>
            <p:spPr bwMode="auto">
              <a:xfrm flipV="1">
                <a:off x="1429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0" name="Line 286"/>
              <p:cNvSpPr>
                <a:spLocks noChangeShapeType="1"/>
              </p:cNvSpPr>
              <p:nvPr/>
            </p:nvSpPr>
            <p:spPr bwMode="auto">
              <a:xfrm>
                <a:off x="1429" y="2024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1" name="Line 287"/>
              <p:cNvSpPr>
                <a:spLocks noChangeShapeType="1"/>
              </p:cNvSpPr>
              <p:nvPr/>
            </p:nvSpPr>
            <p:spPr bwMode="auto">
              <a:xfrm flipV="1">
                <a:off x="1474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2" name="Line 288"/>
              <p:cNvSpPr>
                <a:spLocks noChangeShapeType="1"/>
              </p:cNvSpPr>
              <p:nvPr/>
            </p:nvSpPr>
            <p:spPr bwMode="auto">
              <a:xfrm>
                <a:off x="1474" y="2251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3" name="Line 289"/>
              <p:cNvSpPr>
                <a:spLocks noChangeShapeType="1"/>
              </p:cNvSpPr>
              <p:nvPr/>
            </p:nvSpPr>
            <p:spPr bwMode="auto">
              <a:xfrm flipV="1">
                <a:off x="1519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4" name="Line 290"/>
              <p:cNvSpPr>
                <a:spLocks noChangeShapeType="1"/>
              </p:cNvSpPr>
              <p:nvPr/>
            </p:nvSpPr>
            <p:spPr bwMode="auto">
              <a:xfrm>
                <a:off x="1519" y="2024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5" name="Line 291"/>
              <p:cNvSpPr>
                <a:spLocks noChangeShapeType="1"/>
              </p:cNvSpPr>
              <p:nvPr/>
            </p:nvSpPr>
            <p:spPr bwMode="auto">
              <a:xfrm flipV="1">
                <a:off x="1564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6" name="Line 292"/>
              <p:cNvSpPr>
                <a:spLocks noChangeShapeType="1"/>
              </p:cNvSpPr>
              <p:nvPr/>
            </p:nvSpPr>
            <p:spPr bwMode="auto">
              <a:xfrm>
                <a:off x="1564" y="2251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7" name="Line 293"/>
              <p:cNvSpPr>
                <a:spLocks noChangeShapeType="1"/>
              </p:cNvSpPr>
              <p:nvPr/>
            </p:nvSpPr>
            <p:spPr bwMode="auto">
              <a:xfrm flipV="1">
                <a:off x="1610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8" name="Line 294"/>
              <p:cNvSpPr>
                <a:spLocks noChangeShapeType="1"/>
              </p:cNvSpPr>
              <p:nvPr/>
            </p:nvSpPr>
            <p:spPr bwMode="auto">
              <a:xfrm>
                <a:off x="1610" y="2024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9" name="Line 295"/>
              <p:cNvSpPr>
                <a:spLocks noChangeShapeType="1"/>
              </p:cNvSpPr>
              <p:nvPr/>
            </p:nvSpPr>
            <p:spPr bwMode="auto">
              <a:xfrm flipV="1">
                <a:off x="1655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0" name="Line 296"/>
              <p:cNvSpPr>
                <a:spLocks noChangeShapeType="1"/>
              </p:cNvSpPr>
              <p:nvPr/>
            </p:nvSpPr>
            <p:spPr bwMode="auto">
              <a:xfrm>
                <a:off x="1655" y="2251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78" name="Group 297"/>
            <p:cNvGrpSpPr>
              <a:grpSpLocks/>
            </p:cNvGrpSpPr>
            <p:nvPr/>
          </p:nvGrpSpPr>
          <p:grpSpPr bwMode="auto">
            <a:xfrm>
              <a:off x="1021" y="2114"/>
              <a:ext cx="91" cy="227"/>
              <a:chOff x="1338" y="2024"/>
              <a:chExt cx="362" cy="227"/>
            </a:xfrm>
          </p:grpSpPr>
          <p:sp>
            <p:nvSpPr>
              <p:cNvPr id="279" name="Line 298"/>
              <p:cNvSpPr>
                <a:spLocks noChangeShapeType="1"/>
              </p:cNvSpPr>
              <p:nvPr/>
            </p:nvSpPr>
            <p:spPr bwMode="auto">
              <a:xfrm flipV="1">
                <a:off x="1338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0" name="Line 299"/>
              <p:cNvSpPr>
                <a:spLocks noChangeShapeType="1"/>
              </p:cNvSpPr>
              <p:nvPr/>
            </p:nvSpPr>
            <p:spPr bwMode="auto">
              <a:xfrm>
                <a:off x="1338" y="2024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1" name="Line 300"/>
              <p:cNvSpPr>
                <a:spLocks noChangeShapeType="1"/>
              </p:cNvSpPr>
              <p:nvPr/>
            </p:nvSpPr>
            <p:spPr bwMode="auto">
              <a:xfrm flipV="1">
                <a:off x="1383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2" name="Line 301"/>
              <p:cNvSpPr>
                <a:spLocks noChangeShapeType="1"/>
              </p:cNvSpPr>
              <p:nvPr/>
            </p:nvSpPr>
            <p:spPr bwMode="auto">
              <a:xfrm>
                <a:off x="1383" y="2251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3" name="Line 302"/>
              <p:cNvSpPr>
                <a:spLocks noChangeShapeType="1"/>
              </p:cNvSpPr>
              <p:nvPr/>
            </p:nvSpPr>
            <p:spPr bwMode="auto">
              <a:xfrm flipV="1">
                <a:off x="1429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4" name="Line 303"/>
              <p:cNvSpPr>
                <a:spLocks noChangeShapeType="1"/>
              </p:cNvSpPr>
              <p:nvPr/>
            </p:nvSpPr>
            <p:spPr bwMode="auto">
              <a:xfrm>
                <a:off x="1429" y="2024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5" name="Line 304"/>
              <p:cNvSpPr>
                <a:spLocks noChangeShapeType="1"/>
              </p:cNvSpPr>
              <p:nvPr/>
            </p:nvSpPr>
            <p:spPr bwMode="auto">
              <a:xfrm flipV="1">
                <a:off x="1474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6" name="Line 305"/>
              <p:cNvSpPr>
                <a:spLocks noChangeShapeType="1"/>
              </p:cNvSpPr>
              <p:nvPr/>
            </p:nvSpPr>
            <p:spPr bwMode="auto">
              <a:xfrm>
                <a:off x="1474" y="2251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7" name="Line 306"/>
              <p:cNvSpPr>
                <a:spLocks noChangeShapeType="1"/>
              </p:cNvSpPr>
              <p:nvPr/>
            </p:nvSpPr>
            <p:spPr bwMode="auto">
              <a:xfrm flipV="1">
                <a:off x="1519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8" name="Line 307"/>
              <p:cNvSpPr>
                <a:spLocks noChangeShapeType="1"/>
              </p:cNvSpPr>
              <p:nvPr/>
            </p:nvSpPr>
            <p:spPr bwMode="auto">
              <a:xfrm>
                <a:off x="1519" y="2024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9" name="Line 308"/>
              <p:cNvSpPr>
                <a:spLocks noChangeShapeType="1"/>
              </p:cNvSpPr>
              <p:nvPr/>
            </p:nvSpPr>
            <p:spPr bwMode="auto">
              <a:xfrm flipV="1">
                <a:off x="1564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0" name="Line 309"/>
              <p:cNvSpPr>
                <a:spLocks noChangeShapeType="1"/>
              </p:cNvSpPr>
              <p:nvPr/>
            </p:nvSpPr>
            <p:spPr bwMode="auto">
              <a:xfrm>
                <a:off x="1564" y="2251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1" name="Line 310"/>
              <p:cNvSpPr>
                <a:spLocks noChangeShapeType="1"/>
              </p:cNvSpPr>
              <p:nvPr/>
            </p:nvSpPr>
            <p:spPr bwMode="auto">
              <a:xfrm flipV="1">
                <a:off x="1610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2" name="Line 311"/>
              <p:cNvSpPr>
                <a:spLocks noChangeShapeType="1"/>
              </p:cNvSpPr>
              <p:nvPr/>
            </p:nvSpPr>
            <p:spPr bwMode="auto">
              <a:xfrm>
                <a:off x="1610" y="2024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3" name="Line 312"/>
              <p:cNvSpPr>
                <a:spLocks noChangeShapeType="1"/>
              </p:cNvSpPr>
              <p:nvPr/>
            </p:nvSpPr>
            <p:spPr bwMode="auto">
              <a:xfrm flipV="1">
                <a:off x="1655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4" name="Line 313"/>
              <p:cNvSpPr>
                <a:spLocks noChangeShapeType="1"/>
              </p:cNvSpPr>
              <p:nvPr/>
            </p:nvSpPr>
            <p:spPr bwMode="auto">
              <a:xfrm>
                <a:off x="1655" y="2251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311" name="Group 314"/>
          <p:cNvGrpSpPr>
            <a:grpSpLocks/>
          </p:cNvGrpSpPr>
          <p:nvPr/>
        </p:nvGrpSpPr>
        <p:grpSpPr bwMode="auto">
          <a:xfrm>
            <a:off x="5653088" y="3068984"/>
            <a:ext cx="574675" cy="360363"/>
            <a:chOff x="930" y="2114"/>
            <a:chExt cx="182" cy="227"/>
          </a:xfrm>
        </p:grpSpPr>
        <p:grpSp>
          <p:nvGrpSpPr>
            <p:cNvPr id="312" name="Group 315"/>
            <p:cNvGrpSpPr>
              <a:grpSpLocks/>
            </p:cNvGrpSpPr>
            <p:nvPr/>
          </p:nvGrpSpPr>
          <p:grpSpPr bwMode="auto">
            <a:xfrm>
              <a:off x="930" y="2114"/>
              <a:ext cx="91" cy="227"/>
              <a:chOff x="1338" y="2024"/>
              <a:chExt cx="362" cy="227"/>
            </a:xfrm>
          </p:grpSpPr>
          <p:sp>
            <p:nvSpPr>
              <p:cNvPr id="330" name="Line 316"/>
              <p:cNvSpPr>
                <a:spLocks noChangeShapeType="1"/>
              </p:cNvSpPr>
              <p:nvPr/>
            </p:nvSpPr>
            <p:spPr bwMode="auto">
              <a:xfrm flipV="1">
                <a:off x="1338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1" name="Line 317"/>
              <p:cNvSpPr>
                <a:spLocks noChangeShapeType="1"/>
              </p:cNvSpPr>
              <p:nvPr/>
            </p:nvSpPr>
            <p:spPr bwMode="auto">
              <a:xfrm>
                <a:off x="1338" y="2024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2" name="Line 318"/>
              <p:cNvSpPr>
                <a:spLocks noChangeShapeType="1"/>
              </p:cNvSpPr>
              <p:nvPr/>
            </p:nvSpPr>
            <p:spPr bwMode="auto">
              <a:xfrm flipV="1">
                <a:off x="1383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3" name="Line 319"/>
              <p:cNvSpPr>
                <a:spLocks noChangeShapeType="1"/>
              </p:cNvSpPr>
              <p:nvPr/>
            </p:nvSpPr>
            <p:spPr bwMode="auto">
              <a:xfrm>
                <a:off x="1383" y="2251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4" name="Line 320"/>
              <p:cNvSpPr>
                <a:spLocks noChangeShapeType="1"/>
              </p:cNvSpPr>
              <p:nvPr/>
            </p:nvSpPr>
            <p:spPr bwMode="auto">
              <a:xfrm flipV="1">
                <a:off x="1429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5" name="Line 321"/>
              <p:cNvSpPr>
                <a:spLocks noChangeShapeType="1"/>
              </p:cNvSpPr>
              <p:nvPr/>
            </p:nvSpPr>
            <p:spPr bwMode="auto">
              <a:xfrm>
                <a:off x="1429" y="2024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6" name="Line 322"/>
              <p:cNvSpPr>
                <a:spLocks noChangeShapeType="1"/>
              </p:cNvSpPr>
              <p:nvPr/>
            </p:nvSpPr>
            <p:spPr bwMode="auto">
              <a:xfrm flipV="1">
                <a:off x="1474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7" name="Line 323"/>
              <p:cNvSpPr>
                <a:spLocks noChangeShapeType="1"/>
              </p:cNvSpPr>
              <p:nvPr/>
            </p:nvSpPr>
            <p:spPr bwMode="auto">
              <a:xfrm>
                <a:off x="1474" y="2251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8" name="Line 324"/>
              <p:cNvSpPr>
                <a:spLocks noChangeShapeType="1"/>
              </p:cNvSpPr>
              <p:nvPr/>
            </p:nvSpPr>
            <p:spPr bwMode="auto">
              <a:xfrm flipV="1">
                <a:off x="1519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9" name="Line 325"/>
              <p:cNvSpPr>
                <a:spLocks noChangeShapeType="1"/>
              </p:cNvSpPr>
              <p:nvPr/>
            </p:nvSpPr>
            <p:spPr bwMode="auto">
              <a:xfrm>
                <a:off x="1519" y="2024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0" name="Line 326"/>
              <p:cNvSpPr>
                <a:spLocks noChangeShapeType="1"/>
              </p:cNvSpPr>
              <p:nvPr/>
            </p:nvSpPr>
            <p:spPr bwMode="auto">
              <a:xfrm flipV="1">
                <a:off x="1564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1" name="Line 327"/>
              <p:cNvSpPr>
                <a:spLocks noChangeShapeType="1"/>
              </p:cNvSpPr>
              <p:nvPr/>
            </p:nvSpPr>
            <p:spPr bwMode="auto">
              <a:xfrm>
                <a:off x="1564" y="2251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2" name="Line 328"/>
              <p:cNvSpPr>
                <a:spLocks noChangeShapeType="1"/>
              </p:cNvSpPr>
              <p:nvPr/>
            </p:nvSpPr>
            <p:spPr bwMode="auto">
              <a:xfrm flipV="1">
                <a:off x="1610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3" name="Line 329"/>
              <p:cNvSpPr>
                <a:spLocks noChangeShapeType="1"/>
              </p:cNvSpPr>
              <p:nvPr/>
            </p:nvSpPr>
            <p:spPr bwMode="auto">
              <a:xfrm>
                <a:off x="1610" y="2024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4" name="Line 330"/>
              <p:cNvSpPr>
                <a:spLocks noChangeShapeType="1"/>
              </p:cNvSpPr>
              <p:nvPr/>
            </p:nvSpPr>
            <p:spPr bwMode="auto">
              <a:xfrm flipV="1">
                <a:off x="1655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5" name="Line 331"/>
              <p:cNvSpPr>
                <a:spLocks noChangeShapeType="1"/>
              </p:cNvSpPr>
              <p:nvPr/>
            </p:nvSpPr>
            <p:spPr bwMode="auto">
              <a:xfrm>
                <a:off x="1655" y="2251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13" name="Group 332"/>
            <p:cNvGrpSpPr>
              <a:grpSpLocks/>
            </p:cNvGrpSpPr>
            <p:nvPr/>
          </p:nvGrpSpPr>
          <p:grpSpPr bwMode="auto">
            <a:xfrm>
              <a:off x="1021" y="2114"/>
              <a:ext cx="91" cy="227"/>
              <a:chOff x="1338" y="2024"/>
              <a:chExt cx="362" cy="227"/>
            </a:xfrm>
          </p:grpSpPr>
          <p:sp>
            <p:nvSpPr>
              <p:cNvPr id="314" name="Line 333"/>
              <p:cNvSpPr>
                <a:spLocks noChangeShapeType="1"/>
              </p:cNvSpPr>
              <p:nvPr/>
            </p:nvSpPr>
            <p:spPr bwMode="auto">
              <a:xfrm flipV="1">
                <a:off x="1338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5" name="Line 334"/>
              <p:cNvSpPr>
                <a:spLocks noChangeShapeType="1"/>
              </p:cNvSpPr>
              <p:nvPr/>
            </p:nvSpPr>
            <p:spPr bwMode="auto">
              <a:xfrm>
                <a:off x="1338" y="2024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6" name="Line 335"/>
              <p:cNvSpPr>
                <a:spLocks noChangeShapeType="1"/>
              </p:cNvSpPr>
              <p:nvPr/>
            </p:nvSpPr>
            <p:spPr bwMode="auto">
              <a:xfrm flipV="1">
                <a:off x="1383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7" name="Line 336"/>
              <p:cNvSpPr>
                <a:spLocks noChangeShapeType="1"/>
              </p:cNvSpPr>
              <p:nvPr/>
            </p:nvSpPr>
            <p:spPr bwMode="auto">
              <a:xfrm>
                <a:off x="1383" y="2251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8" name="Line 337"/>
              <p:cNvSpPr>
                <a:spLocks noChangeShapeType="1"/>
              </p:cNvSpPr>
              <p:nvPr/>
            </p:nvSpPr>
            <p:spPr bwMode="auto">
              <a:xfrm flipV="1">
                <a:off x="1429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9" name="Line 338"/>
              <p:cNvSpPr>
                <a:spLocks noChangeShapeType="1"/>
              </p:cNvSpPr>
              <p:nvPr/>
            </p:nvSpPr>
            <p:spPr bwMode="auto">
              <a:xfrm>
                <a:off x="1429" y="2024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0" name="Line 339"/>
              <p:cNvSpPr>
                <a:spLocks noChangeShapeType="1"/>
              </p:cNvSpPr>
              <p:nvPr/>
            </p:nvSpPr>
            <p:spPr bwMode="auto">
              <a:xfrm flipV="1">
                <a:off x="1474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1" name="Line 340"/>
              <p:cNvSpPr>
                <a:spLocks noChangeShapeType="1"/>
              </p:cNvSpPr>
              <p:nvPr/>
            </p:nvSpPr>
            <p:spPr bwMode="auto">
              <a:xfrm>
                <a:off x="1474" y="2251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2" name="Line 341"/>
              <p:cNvSpPr>
                <a:spLocks noChangeShapeType="1"/>
              </p:cNvSpPr>
              <p:nvPr/>
            </p:nvSpPr>
            <p:spPr bwMode="auto">
              <a:xfrm flipV="1">
                <a:off x="1519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3" name="Line 342"/>
              <p:cNvSpPr>
                <a:spLocks noChangeShapeType="1"/>
              </p:cNvSpPr>
              <p:nvPr/>
            </p:nvSpPr>
            <p:spPr bwMode="auto">
              <a:xfrm>
                <a:off x="1519" y="2024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4" name="Line 343"/>
              <p:cNvSpPr>
                <a:spLocks noChangeShapeType="1"/>
              </p:cNvSpPr>
              <p:nvPr/>
            </p:nvSpPr>
            <p:spPr bwMode="auto">
              <a:xfrm flipV="1">
                <a:off x="1564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5" name="Line 344"/>
              <p:cNvSpPr>
                <a:spLocks noChangeShapeType="1"/>
              </p:cNvSpPr>
              <p:nvPr/>
            </p:nvSpPr>
            <p:spPr bwMode="auto">
              <a:xfrm>
                <a:off x="1564" y="2251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6" name="Line 345"/>
              <p:cNvSpPr>
                <a:spLocks noChangeShapeType="1"/>
              </p:cNvSpPr>
              <p:nvPr/>
            </p:nvSpPr>
            <p:spPr bwMode="auto">
              <a:xfrm flipV="1">
                <a:off x="1610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7" name="Line 346"/>
              <p:cNvSpPr>
                <a:spLocks noChangeShapeType="1"/>
              </p:cNvSpPr>
              <p:nvPr/>
            </p:nvSpPr>
            <p:spPr bwMode="auto">
              <a:xfrm>
                <a:off x="1610" y="2024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8" name="Line 347"/>
              <p:cNvSpPr>
                <a:spLocks noChangeShapeType="1"/>
              </p:cNvSpPr>
              <p:nvPr/>
            </p:nvSpPr>
            <p:spPr bwMode="auto">
              <a:xfrm flipV="1">
                <a:off x="1655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9" name="Line 348"/>
              <p:cNvSpPr>
                <a:spLocks noChangeShapeType="1"/>
              </p:cNvSpPr>
              <p:nvPr/>
            </p:nvSpPr>
            <p:spPr bwMode="auto">
              <a:xfrm>
                <a:off x="1655" y="2251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346" name="Group 349"/>
          <p:cNvGrpSpPr>
            <a:grpSpLocks/>
          </p:cNvGrpSpPr>
          <p:nvPr/>
        </p:nvGrpSpPr>
        <p:grpSpPr bwMode="auto">
          <a:xfrm>
            <a:off x="6229350" y="3068984"/>
            <a:ext cx="574675" cy="360363"/>
            <a:chOff x="930" y="2114"/>
            <a:chExt cx="182" cy="227"/>
          </a:xfrm>
        </p:grpSpPr>
        <p:grpSp>
          <p:nvGrpSpPr>
            <p:cNvPr id="347" name="Group 350"/>
            <p:cNvGrpSpPr>
              <a:grpSpLocks/>
            </p:cNvGrpSpPr>
            <p:nvPr/>
          </p:nvGrpSpPr>
          <p:grpSpPr bwMode="auto">
            <a:xfrm>
              <a:off x="930" y="2114"/>
              <a:ext cx="91" cy="227"/>
              <a:chOff x="1338" y="2024"/>
              <a:chExt cx="362" cy="227"/>
            </a:xfrm>
          </p:grpSpPr>
          <p:sp>
            <p:nvSpPr>
              <p:cNvPr id="365" name="Line 351"/>
              <p:cNvSpPr>
                <a:spLocks noChangeShapeType="1"/>
              </p:cNvSpPr>
              <p:nvPr/>
            </p:nvSpPr>
            <p:spPr bwMode="auto">
              <a:xfrm flipV="1">
                <a:off x="1338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6" name="Line 352"/>
              <p:cNvSpPr>
                <a:spLocks noChangeShapeType="1"/>
              </p:cNvSpPr>
              <p:nvPr/>
            </p:nvSpPr>
            <p:spPr bwMode="auto">
              <a:xfrm>
                <a:off x="1338" y="2024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7" name="Line 353"/>
              <p:cNvSpPr>
                <a:spLocks noChangeShapeType="1"/>
              </p:cNvSpPr>
              <p:nvPr/>
            </p:nvSpPr>
            <p:spPr bwMode="auto">
              <a:xfrm flipV="1">
                <a:off x="1383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8" name="Line 354"/>
              <p:cNvSpPr>
                <a:spLocks noChangeShapeType="1"/>
              </p:cNvSpPr>
              <p:nvPr/>
            </p:nvSpPr>
            <p:spPr bwMode="auto">
              <a:xfrm>
                <a:off x="1383" y="2251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9" name="Line 355"/>
              <p:cNvSpPr>
                <a:spLocks noChangeShapeType="1"/>
              </p:cNvSpPr>
              <p:nvPr/>
            </p:nvSpPr>
            <p:spPr bwMode="auto">
              <a:xfrm flipV="1">
                <a:off x="1429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70" name="Line 356"/>
              <p:cNvSpPr>
                <a:spLocks noChangeShapeType="1"/>
              </p:cNvSpPr>
              <p:nvPr/>
            </p:nvSpPr>
            <p:spPr bwMode="auto">
              <a:xfrm>
                <a:off x="1429" y="2024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71" name="Line 357"/>
              <p:cNvSpPr>
                <a:spLocks noChangeShapeType="1"/>
              </p:cNvSpPr>
              <p:nvPr/>
            </p:nvSpPr>
            <p:spPr bwMode="auto">
              <a:xfrm flipV="1">
                <a:off x="1474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72" name="Line 358"/>
              <p:cNvSpPr>
                <a:spLocks noChangeShapeType="1"/>
              </p:cNvSpPr>
              <p:nvPr/>
            </p:nvSpPr>
            <p:spPr bwMode="auto">
              <a:xfrm>
                <a:off x="1474" y="2251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73" name="Line 359"/>
              <p:cNvSpPr>
                <a:spLocks noChangeShapeType="1"/>
              </p:cNvSpPr>
              <p:nvPr/>
            </p:nvSpPr>
            <p:spPr bwMode="auto">
              <a:xfrm flipV="1">
                <a:off x="1519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74" name="Line 360"/>
              <p:cNvSpPr>
                <a:spLocks noChangeShapeType="1"/>
              </p:cNvSpPr>
              <p:nvPr/>
            </p:nvSpPr>
            <p:spPr bwMode="auto">
              <a:xfrm>
                <a:off x="1519" y="2024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75" name="Line 361"/>
              <p:cNvSpPr>
                <a:spLocks noChangeShapeType="1"/>
              </p:cNvSpPr>
              <p:nvPr/>
            </p:nvSpPr>
            <p:spPr bwMode="auto">
              <a:xfrm flipV="1">
                <a:off x="1564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76" name="Line 362"/>
              <p:cNvSpPr>
                <a:spLocks noChangeShapeType="1"/>
              </p:cNvSpPr>
              <p:nvPr/>
            </p:nvSpPr>
            <p:spPr bwMode="auto">
              <a:xfrm>
                <a:off x="1564" y="2251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77" name="Line 363"/>
              <p:cNvSpPr>
                <a:spLocks noChangeShapeType="1"/>
              </p:cNvSpPr>
              <p:nvPr/>
            </p:nvSpPr>
            <p:spPr bwMode="auto">
              <a:xfrm flipV="1">
                <a:off x="1610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78" name="Line 364"/>
              <p:cNvSpPr>
                <a:spLocks noChangeShapeType="1"/>
              </p:cNvSpPr>
              <p:nvPr/>
            </p:nvSpPr>
            <p:spPr bwMode="auto">
              <a:xfrm>
                <a:off x="1610" y="2024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79" name="Line 365"/>
              <p:cNvSpPr>
                <a:spLocks noChangeShapeType="1"/>
              </p:cNvSpPr>
              <p:nvPr/>
            </p:nvSpPr>
            <p:spPr bwMode="auto">
              <a:xfrm flipV="1">
                <a:off x="1655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80" name="Line 366"/>
              <p:cNvSpPr>
                <a:spLocks noChangeShapeType="1"/>
              </p:cNvSpPr>
              <p:nvPr/>
            </p:nvSpPr>
            <p:spPr bwMode="auto">
              <a:xfrm>
                <a:off x="1655" y="2251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48" name="Group 367"/>
            <p:cNvGrpSpPr>
              <a:grpSpLocks/>
            </p:cNvGrpSpPr>
            <p:nvPr/>
          </p:nvGrpSpPr>
          <p:grpSpPr bwMode="auto">
            <a:xfrm>
              <a:off x="1021" y="2114"/>
              <a:ext cx="91" cy="227"/>
              <a:chOff x="1338" y="2024"/>
              <a:chExt cx="362" cy="227"/>
            </a:xfrm>
          </p:grpSpPr>
          <p:sp>
            <p:nvSpPr>
              <p:cNvPr id="349" name="Line 368"/>
              <p:cNvSpPr>
                <a:spLocks noChangeShapeType="1"/>
              </p:cNvSpPr>
              <p:nvPr/>
            </p:nvSpPr>
            <p:spPr bwMode="auto">
              <a:xfrm flipV="1">
                <a:off x="1338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0" name="Line 369"/>
              <p:cNvSpPr>
                <a:spLocks noChangeShapeType="1"/>
              </p:cNvSpPr>
              <p:nvPr/>
            </p:nvSpPr>
            <p:spPr bwMode="auto">
              <a:xfrm>
                <a:off x="1338" y="2024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1" name="Line 370"/>
              <p:cNvSpPr>
                <a:spLocks noChangeShapeType="1"/>
              </p:cNvSpPr>
              <p:nvPr/>
            </p:nvSpPr>
            <p:spPr bwMode="auto">
              <a:xfrm flipV="1">
                <a:off x="1383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2" name="Line 371"/>
              <p:cNvSpPr>
                <a:spLocks noChangeShapeType="1"/>
              </p:cNvSpPr>
              <p:nvPr/>
            </p:nvSpPr>
            <p:spPr bwMode="auto">
              <a:xfrm>
                <a:off x="1383" y="2251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3" name="Line 372"/>
              <p:cNvSpPr>
                <a:spLocks noChangeShapeType="1"/>
              </p:cNvSpPr>
              <p:nvPr/>
            </p:nvSpPr>
            <p:spPr bwMode="auto">
              <a:xfrm flipV="1">
                <a:off x="1429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4" name="Line 373"/>
              <p:cNvSpPr>
                <a:spLocks noChangeShapeType="1"/>
              </p:cNvSpPr>
              <p:nvPr/>
            </p:nvSpPr>
            <p:spPr bwMode="auto">
              <a:xfrm>
                <a:off x="1429" y="2024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5" name="Line 374"/>
              <p:cNvSpPr>
                <a:spLocks noChangeShapeType="1"/>
              </p:cNvSpPr>
              <p:nvPr/>
            </p:nvSpPr>
            <p:spPr bwMode="auto">
              <a:xfrm flipV="1">
                <a:off x="1474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6" name="Line 375"/>
              <p:cNvSpPr>
                <a:spLocks noChangeShapeType="1"/>
              </p:cNvSpPr>
              <p:nvPr/>
            </p:nvSpPr>
            <p:spPr bwMode="auto">
              <a:xfrm>
                <a:off x="1474" y="2251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7" name="Line 376"/>
              <p:cNvSpPr>
                <a:spLocks noChangeShapeType="1"/>
              </p:cNvSpPr>
              <p:nvPr/>
            </p:nvSpPr>
            <p:spPr bwMode="auto">
              <a:xfrm flipV="1">
                <a:off x="1519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8" name="Line 377"/>
              <p:cNvSpPr>
                <a:spLocks noChangeShapeType="1"/>
              </p:cNvSpPr>
              <p:nvPr/>
            </p:nvSpPr>
            <p:spPr bwMode="auto">
              <a:xfrm>
                <a:off x="1519" y="2024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9" name="Line 378"/>
              <p:cNvSpPr>
                <a:spLocks noChangeShapeType="1"/>
              </p:cNvSpPr>
              <p:nvPr/>
            </p:nvSpPr>
            <p:spPr bwMode="auto">
              <a:xfrm flipV="1">
                <a:off x="1564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0" name="Line 379"/>
              <p:cNvSpPr>
                <a:spLocks noChangeShapeType="1"/>
              </p:cNvSpPr>
              <p:nvPr/>
            </p:nvSpPr>
            <p:spPr bwMode="auto">
              <a:xfrm>
                <a:off x="1564" y="2251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1" name="Line 380"/>
              <p:cNvSpPr>
                <a:spLocks noChangeShapeType="1"/>
              </p:cNvSpPr>
              <p:nvPr/>
            </p:nvSpPr>
            <p:spPr bwMode="auto">
              <a:xfrm flipV="1">
                <a:off x="1610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2" name="Line 381"/>
              <p:cNvSpPr>
                <a:spLocks noChangeShapeType="1"/>
              </p:cNvSpPr>
              <p:nvPr/>
            </p:nvSpPr>
            <p:spPr bwMode="auto">
              <a:xfrm>
                <a:off x="1610" y="2024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3" name="Line 382"/>
              <p:cNvSpPr>
                <a:spLocks noChangeShapeType="1"/>
              </p:cNvSpPr>
              <p:nvPr/>
            </p:nvSpPr>
            <p:spPr bwMode="auto">
              <a:xfrm flipV="1">
                <a:off x="1655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4" name="Line 383"/>
              <p:cNvSpPr>
                <a:spLocks noChangeShapeType="1"/>
              </p:cNvSpPr>
              <p:nvPr/>
            </p:nvSpPr>
            <p:spPr bwMode="auto">
              <a:xfrm>
                <a:off x="1655" y="2251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381" name="Group 384"/>
          <p:cNvGrpSpPr>
            <a:grpSpLocks/>
          </p:cNvGrpSpPr>
          <p:nvPr/>
        </p:nvGrpSpPr>
        <p:grpSpPr bwMode="auto">
          <a:xfrm>
            <a:off x="6804025" y="3068984"/>
            <a:ext cx="574675" cy="360363"/>
            <a:chOff x="930" y="2114"/>
            <a:chExt cx="182" cy="227"/>
          </a:xfrm>
        </p:grpSpPr>
        <p:grpSp>
          <p:nvGrpSpPr>
            <p:cNvPr id="382" name="Group 385"/>
            <p:cNvGrpSpPr>
              <a:grpSpLocks/>
            </p:cNvGrpSpPr>
            <p:nvPr/>
          </p:nvGrpSpPr>
          <p:grpSpPr bwMode="auto">
            <a:xfrm>
              <a:off x="930" y="2114"/>
              <a:ext cx="91" cy="227"/>
              <a:chOff x="1338" y="2024"/>
              <a:chExt cx="362" cy="227"/>
            </a:xfrm>
          </p:grpSpPr>
          <p:sp>
            <p:nvSpPr>
              <p:cNvPr id="400" name="Line 386"/>
              <p:cNvSpPr>
                <a:spLocks noChangeShapeType="1"/>
              </p:cNvSpPr>
              <p:nvPr/>
            </p:nvSpPr>
            <p:spPr bwMode="auto">
              <a:xfrm flipV="1">
                <a:off x="1338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01" name="Line 387"/>
              <p:cNvSpPr>
                <a:spLocks noChangeShapeType="1"/>
              </p:cNvSpPr>
              <p:nvPr/>
            </p:nvSpPr>
            <p:spPr bwMode="auto">
              <a:xfrm>
                <a:off x="1338" y="2024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02" name="Line 388"/>
              <p:cNvSpPr>
                <a:spLocks noChangeShapeType="1"/>
              </p:cNvSpPr>
              <p:nvPr/>
            </p:nvSpPr>
            <p:spPr bwMode="auto">
              <a:xfrm flipV="1">
                <a:off x="1383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03" name="Line 389"/>
              <p:cNvSpPr>
                <a:spLocks noChangeShapeType="1"/>
              </p:cNvSpPr>
              <p:nvPr/>
            </p:nvSpPr>
            <p:spPr bwMode="auto">
              <a:xfrm>
                <a:off x="1383" y="2251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04" name="Line 390"/>
              <p:cNvSpPr>
                <a:spLocks noChangeShapeType="1"/>
              </p:cNvSpPr>
              <p:nvPr/>
            </p:nvSpPr>
            <p:spPr bwMode="auto">
              <a:xfrm flipV="1">
                <a:off x="1429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05" name="Line 391"/>
              <p:cNvSpPr>
                <a:spLocks noChangeShapeType="1"/>
              </p:cNvSpPr>
              <p:nvPr/>
            </p:nvSpPr>
            <p:spPr bwMode="auto">
              <a:xfrm>
                <a:off x="1429" y="2024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06" name="Line 392"/>
              <p:cNvSpPr>
                <a:spLocks noChangeShapeType="1"/>
              </p:cNvSpPr>
              <p:nvPr/>
            </p:nvSpPr>
            <p:spPr bwMode="auto">
              <a:xfrm flipV="1">
                <a:off x="1474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07" name="Line 393"/>
              <p:cNvSpPr>
                <a:spLocks noChangeShapeType="1"/>
              </p:cNvSpPr>
              <p:nvPr/>
            </p:nvSpPr>
            <p:spPr bwMode="auto">
              <a:xfrm>
                <a:off x="1474" y="2251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08" name="Line 394"/>
              <p:cNvSpPr>
                <a:spLocks noChangeShapeType="1"/>
              </p:cNvSpPr>
              <p:nvPr/>
            </p:nvSpPr>
            <p:spPr bwMode="auto">
              <a:xfrm flipV="1">
                <a:off x="1519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09" name="Line 395"/>
              <p:cNvSpPr>
                <a:spLocks noChangeShapeType="1"/>
              </p:cNvSpPr>
              <p:nvPr/>
            </p:nvSpPr>
            <p:spPr bwMode="auto">
              <a:xfrm>
                <a:off x="1519" y="2024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10" name="Line 396"/>
              <p:cNvSpPr>
                <a:spLocks noChangeShapeType="1"/>
              </p:cNvSpPr>
              <p:nvPr/>
            </p:nvSpPr>
            <p:spPr bwMode="auto">
              <a:xfrm flipV="1">
                <a:off x="1564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11" name="Line 397"/>
              <p:cNvSpPr>
                <a:spLocks noChangeShapeType="1"/>
              </p:cNvSpPr>
              <p:nvPr/>
            </p:nvSpPr>
            <p:spPr bwMode="auto">
              <a:xfrm>
                <a:off x="1564" y="2251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12" name="Line 398"/>
              <p:cNvSpPr>
                <a:spLocks noChangeShapeType="1"/>
              </p:cNvSpPr>
              <p:nvPr/>
            </p:nvSpPr>
            <p:spPr bwMode="auto">
              <a:xfrm flipV="1">
                <a:off x="1610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13" name="Line 399"/>
              <p:cNvSpPr>
                <a:spLocks noChangeShapeType="1"/>
              </p:cNvSpPr>
              <p:nvPr/>
            </p:nvSpPr>
            <p:spPr bwMode="auto">
              <a:xfrm>
                <a:off x="1610" y="2024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14" name="Line 400"/>
              <p:cNvSpPr>
                <a:spLocks noChangeShapeType="1"/>
              </p:cNvSpPr>
              <p:nvPr/>
            </p:nvSpPr>
            <p:spPr bwMode="auto">
              <a:xfrm flipV="1">
                <a:off x="1655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15" name="Line 401"/>
              <p:cNvSpPr>
                <a:spLocks noChangeShapeType="1"/>
              </p:cNvSpPr>
              <p:nvPr/>
            </p:nvSpPr>
            <p:spPr bwMode="auto">
              <a:xfrm>
                <a:off x="1655" y="2251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83" name="Group 402"/>
            <p:cNvGrpSpPr>
              <a:grpSpLocks/>
            </p:cNvGrpSpPr>
            <p:nvPr/>
          </p:nvGrpSpPr>
          <p:grpSpPr bwMode="auto">
            <a:xfrm>
              <a:off x="1021" y="2114"/>
              <a:ext cx="91" cy="227"/>
              <a:chOff x="1338" y="2024"/>
              <a:chExt cx="362" cy="227"/>
            </a:xfrm>
          </p:grpSpPr>
          <p:sp>
            <p:nvSpPr>
              <p:cNvPr id="384" name="Line 403"/>
              <p:cNvSpPr>
                <a:spLocks noChangeShapeType="1"/>
              </p:cNvSpPr>
              <p:nvPr/>
            </p:nvSpPr>
            <p:spPr bwMode="auto">
              <a:xfrm flipV="1">
                <a:off x="1338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85" name="Line 404"/>
              <p:cNvSpPr>
                <a:spLocks noChangeShapeType="1"/>
              </p:cNvSpPr>
              <p:nvPr/>
            </p:nvSpPr>
            <p:spPr bwMode="auto">
              <a:xfrm>
                <a:off x="1338" y="2024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86" name="Line 405"/>
              <p:cNvSpPr>
                <a:spLocks noChangeShapeType="1"/>
              </p:cNvSpPr>
              <p:nvPr/>
            </p:nvSpPr>
            <p:spPr bwMode="auto">
              <a:xfrm flipV="1">
                <a:off x="1383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87" name="Line 406"/>
              <p:cNvSpPr>
                <a:spLocks noChangeShapeType="1"/>
              </p:cNvSpPr>
              <p:nvPr/>
            </p:nvSpPr>
            <p:spPr bwMode="auto">
              <a:xfrm>
                <a:off x="1383" y="2251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88" name="Line 407"/>
              <p:cNvSpPr>
                <a:spLocks noChangeShapeType="1"/>
              </p:cNvSpPr>
              <p:nvPr/>
            </p:nvSpPr>
            <p:spPr bwMode="auto">
              <a:xfrm flipV="1">
                <a:off x="1429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89" name="Line 408"/>
              <p:cNvSpPr>
                <a:spLocks noChangeShapeType="1"/>
              </p:cNvSpPr>
              <p:nvPr/>
            </p:nvSpPr>
            <p:spPr bwMode="auto">
              <a:xfrm>
                <a:off x="1429" y="2024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90" name="Line 409"/>
              <p:cNvSpPr>
                <a:spLocks noChangeShapeType="1"/>
              </p:cNvSpPr>
              <p:nvPr/>
            </p:nvSpPr>
            <p:spPr bwMode="auto">
              <a:xfrm flipV="1">
                <a:off x="1474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91" name="Line 410"/>
              <p:cNvSpPr>
                <a:spLocks noChangeShapeType="1"/>
              </p:cNvSpPr>
              <p:nvPr/>
            </p:nvSpPr>
            <p:spPr bwMode="auto">
              <a:xfrm>
                <a:off x="1474" y="2251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92" name="Line 411"/>
              <p:cNvSpPr>
                <a:spLocks noChangeShapeType="1"/>
              </p:cNvSpPr>
              <p:nvPr/>
            </p:nvSpPr>
            <p:spPr bwMode="auto">
              <a:xfrm flipV="1">
                <a:off x="1519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93" name="Line 412"/>
              <p:cNvSpPr>
                <a:spLocks noChangeShapeType="1"/>
              </p:cNvSpPr>
              <p:nvPr/>
            </p:nvSpPr>
            <p:spPr bwMode="auto">
              <a:xfrm>
                <a:off x="1519" y="2024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94" name="Line 413"/>
              <p:cNvSpPr>
                <a:spLocks noChangeShapeType="1"/>
              </p:cNvSpPr>
              <p:nvPr/>
            </p:nvSpPr>
            <p:spPr bwMode="auto">
              <a:xfrm flipV="1">
                <a:off x="1564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95" name="Line 414"/>
              <p:cNvSpPr>
                <a:spLocks noChangeShapeType="1"/>
              </p:cNvSpPr>
              <p:nvPr/>
            </p:nvSpPr>
            <p:spPr bwMode="auto">
              <a:xfrm>
                <a:off x="1564" y="2251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96" name="Line 415"/>
              <p:cNvSpPr>
                <a:spLocks noChangeShapeType="1"/>
              </p:cNvSpPr>
              <p:nvPr/>
            </p:nvSpPr>
            <p:spPr bwMode="auto">
              <a:xfrm flipV="1">
                <a:off x="1610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97" name="Line 416"/>
              <p:cNvSpPr>
                <a:spLocks noChangeShapeType="1"/>
              </p:cNvSpPr>
              <p:nvPr/>
            </p:nvSpPr>
            <p:spPr bwMode="auto">
              <a:xfrm>
                <a:off x="1610" y="2024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98" name="Line 417"/>
              <p:cNvSpPr>
                <a:spLocks noChangeShapeType="1"/>
              </p:cNvSpPr>
              <p:nvPr/>
            </p:nvSpPr>
            <p:spPr bwMode="auto">
              <a:xfrm flipV="1">
                <a:off x="1655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99" name="Line 418"/>
              <p:cNvSpPr>
                <a:spLocks noChangeShapeType="1"/>
              </p:cNvSpPr>
              <p:nvPr/>
            </p:nvSpPr>
            <p:spPr bwMode="auto">
              <a:xfrm>
                <a:off x="1655" y="2251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416" name="Group 419"/>
          <p:cNvGrpSpPr>
            <a:grpSpLocks/>
          </p:cNvGrpSpPr>
          <p:nvPr/>
        </p:nvGrpSpPr>
        <p:grpSpPr bwMode="auto">
          <a:xfrm>
            <a:off x="7380288" y="3068984"/>
            <a:ext cx="574675" cy="360363"/>
            <a:chOff x="930" y="2114"/>
            <a:chExt cx="182" cy="227"/>
          </a:xfrm>
        </p:grpSpPr>
        <p:grpSp>
          <p:nvGrpSpPr>
            <p:cNvPr id="417" name="Group 420"/>
            <p:cNvGrpSpPr>
              <a:grpSpLocks/>
            </p:cNvGrpSpPr>
            <p:nvPr/>
          </p:nvGrpSpPr>
          <p:grpSpPr bwMode="auto">
            <a:xfrm>
              <a:off x="930" y="2114"/>
              <a:ext cx="91" cy="227"/>
              <a:chOff x="1338" y="2024"/>
              <a:chExt cx="362" cy="227"/>
            </a:xfrm>
          </p:grpSpPr>
          <p:sp>
            <p:nvSpPr>
              <p:cNvPr id="435" name="Line 421"/>
              <p:cNvSpPr>
                <a:spLocks noChangeShapeType="1"/>
              </p:cNvSpPr>
              <p:nvPr/>
            </p:nvSpPr>
            <p:spPr bwMode="auto">
              <a:xfrm flipV="1">
                <a:off x="1338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36" name="Line 422"/>
              <p:cNvSpPr>
                <a:spLocks noChangeShapeType="1"/>
              </p:cNvSpPr>
              <p:nvPr/>
            </p:nvSpPr>
            <p:spPr bwMode="auto">
              <a:xfrm>
                <a:off x="1338" y="2024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37" name="Line 423"/>
              <p:cNvSpPr>
                <a:spLocks noChangeShapeType="1"/>
              </p:cNvSpPr>
              <p:nvPr/>
            </p:nvSpPr>
            <p:spPr bwMode="auto">
              <a:xfrm flipV="1">
                <a:off x="1383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38" name="Line 424"/>
              <p:cNvSpPr>
                <a:spLocks noChangeShapeType="1"/>
              </p:cNvSpPr>
              <p:nvPr/>
            </p:nvSpPr>
            <p:spPr bwMode="auto">
              <a:xfrm>
                <a:off x="1383" y="2251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39" name="Line 425"/>
              <p:cNvSpPr>
                <a:spLocks noChangeShapeType="1"/>
              </p:cNvSpPr>
              <p:nvPr/>
            </p:nvSpPr>
            <p:spPr bwMode="auto">
              <a:xfrm flipV="1">
                <a:off x="1429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40" name="Line 426"/>
              <p:cNvSpPr>
                <a:spLocks noChangeShapeType="1"/>
              </p:cNvSpPr>
              <p:nvPr/>
            </p:nvSpPr>
            <p:spPr bwMode="auto">
              <a:xfrm>
                <a:off x="1429" y="2024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41" name="Line 427"/>
              <p:cNvSpPr>
                <a:spLocks noChangeShapeType="1"/>
              </p:cNvSpPr>
              <p:nvPr/>
            </p:nvSpPr>
            <p:spPr bwMode="auto">
              <a:xfrm flipV="1">
                <a:off x="1474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42" name="Line 428"/>
              <p:cNvSpPr>
                <a:spLocks noChangeShapeType="1"/>
              </p:cNvSpPr>
              <p:nvPr/>
            </p:nvSpPr>
            <p:spPr bwMode="auto">
              <a:xfrm>
                <a:off x="1474" y="2251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43" name="Line 429"/>
              <p:cNvSpPr>
                <a:spLocks noChangeShapeType="1"/>
              </p:cNvSpPr>
              <p:nvPr/>
            </p:nvSpPr>
            <p:spPr bwMode="auto">
              <a:xfrm flipV="1">
                <a:off x="1519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44" name="Line 430"/>
              <p:cNvSpPr>
                <a:spLocks noChangeShapeType="1"/>
              </p:cNvSpPr>
              <p:nvPr/>
            </p:nvSpPr>
            <p:spPr bwMode="auto">
              <a:xfrm>
                <a:off x="1519" y="2024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45" name="Line 431"/>
              <p:cNvSpPr>
                <a:spLocks noChangeShapeType="1"/>
              </p:cNvSpPr>
              <p:nvPr/>
            </p:nvSpPr>
            <p:spPr bwMode="auto">
              <a:xfrm flipV="1">
                <a:off x="1564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46" name="Line 432"/>
              <p:cNvSpPr>
                <a:spLocks noChangeShapeType="1"/>
              </p:cNvSpPr>
              <p:nvPr/>
            </p:nvSpPr>
            <p:spPr bwMode="auto">
              <a:xfrm>
                <a:off x="1564" y="2251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47" name="Line 433"/>
              <p:cNvSpPr>
                <a:spLocks noChangeShapeType="1"/>
              </p:cNvSpPr>
              <p:nvPr/>
            </p:nvSpPr>
            <p:spPr bwMode="auto">
              <a:xfrm flipV="1">
                <a:off x="1610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48" name="Line 434"/>
              <p:cNvSpPr>
                <a:spLocks noChangeShapeType="1"/>
              </p:cNvSpPr>
              <p:nvPr/>
            </p:nvSpPr>
            <p:spPr bwMode="auto">
              <a:xfrm>
                <a:off x="1610" y="2024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49" name="Line 435"/>
              <p:cNvSpPr>
                <a:spLocks noChangeShapeType="1"/>
              </p:cNvSpPr>
              <p:nvPr/>
            </p:nvSpPr>
            <p:spPr bwMode="auto">
              <a:xfrm flipV="1">
                <a:off x="1655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50" name="Line 436"/>
              <p:cNvSpPr>
                <a:spLocks noChangeShapeType="1"/>
              </p:cNvSpPr>
              <p:nvPr/>
            </p:nvSpPr>
            <p:spPr bwMode="auto">
              <a:xfrm>
                <a:off x="1655" y="2251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18" name="Group 437"/>
            <p:cNvGrpSpPr>
              <a:grpSpLocks/>
            </p:cNvGrpSpPr>
            <p:nvPr/>
          </p:nvGrpSpPr>
          <p:grpSpPr bwMode="auto">
            <a:xfrm>
              <a:off x="1021" y="2114"/>
              <a:ext cx="91" cy="227"/>
              <a:chOff x="1338" y="2024"/>
              <a:chExt cx="362" cy="227"/>
            </a:xfrm>
          </p:grpSpPr>
          <p:sp>
            <p:nvSpPr>
              <p:cNvPr id="419" name="Line 438"/>
              <p:cNvSpPr>
                <a:spLocks noChangeShapeType="1"/>
              </p:cNvSpPr>
              <p:nvPr/>
            </p:nvSpPr>
            <p:spPr bwMode="auto">
              <a:xfrm flipV="1">
                <a:off x="1338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20" name="Line 439"/>
              <p:cNvSpPr>
                <a:spLocks noChangeShapeType="1"/>
              </p:cNvSpPr>
              <p:nvPr/>
            </p:nvSpPr>
            <p:spPr bwMode="auto">
              <a:xfrm>
                <a:off x="1338" y="2024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21" name="Line 440"/>
              <p:cNvSpPr>
                <a:spLocks noChangeShapeType="1"/>
              </p:cNvSpPr>
              <p:nvPr/>
            </p:nvSpPr>
            <p:spPr bwMode="auto">
              <a:xfrm flipV="1">
                <a:off x="1383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22" name="Line 441"/>
              <p:cNvSpPr>
                <a:spLocks noChangeShapeType="1"/>
              </p:cNvSpPr>
              <p:nvPr/>
            </p:nvSpPr>
            <p:spPr bwMode="auto">
              <a:xfrm>
                <a:off x="1383" y="2251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23" name="Line 442"/>
              <p:cNvSpPr>
                <a:spLocks noChangeShapeType="1"/>
              </p:cNvSpPr>
              <p:nvPr/>
            </p:nvSpPr>
            <p:spPr bwMode="auto">
              <a:xfrm flipV="1">
                <a:off x="1429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24" name="Line 443"/>
              <p:cNvSpPr>
                <a:spLocks noChangeShapeType="1"/>
              </p:cNvSpPr>
              <p:nvPr/>
            </p:nvSpPr>
            <p:spPr bwMode="auto">
              <a:xfrm>
                <a:off x="1429" y="2024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25" name="Line 444"/>
              <p:cNvSpPr>
                <a:spLocks noChangeShapeType="1"/>
              </p:cNvSpPr>
              <p:nvPr/>
            </p:nvSpPr>
            <p:spPr bwMode="auto">
              <a:xfrm flipV="1">
                <a:off x="1474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26" name="Line 445"/>
              <p:cNvSpPr>
                <a:spLocks noChangeShapeType="1"/>
              </p:cNvSpPr>
              <p:nvPr/>
            </p:nvSpPr>
            <p:spPr bwMode="auto">
              <a:xfrm>
                <a:off x="1474" y="2251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27" name="Line 446"/>
              <p:cNvSpPr>
                <a:spLocks noChangeShapeType="1"/>
              </p:cNvSpPr>
              <p:nvPr/>
            </p:nvSpPr>
            <p:spPr bwMode="auto">
              <a:xfrm flipV="1">
                <a:off x="1519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28" name="Line 447"/>
              <p:cNvSpPr>
                <a:spLocks noChangeShapeType="1"/>
              </p:cNvSpPr>
              <p:nvPr/>
            </p:nvSpPr>
            <p:spPr bwMode="auto">
              <a:xfrm>
                <a:off x="1519" y="2024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29" name="Line 448"/>
              <p:cNvSpPr>
                <a:spLocks noChangeShapeType="1"/>
              </p:cNvSpPr>
              <p:nvPr/>
            </p:nvSpPr>
            <p:spPr bwMode="auto">
              <a:xfrm flipV="1">
                <a:off x="1564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30" name="Line 449"/>
              <p:cNvSpPr>
                <a:spLocks noChangeShapeType="1"/>
              </p:cNvSpPr>
              <p:nvPr/>
            </p:nvSpPr>
            <p:spPr bwMode="auto">
              <a:xfrm>
                <a:off x="1564" y="2251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31" name="Line 450"/>
              <p:cNvSpPr>
                <a:spLocks noChangeShapeType="1"/>
              </p:cNvSpPr>
              <p:nvPr/>
            </p:nvSpPr>
            <p:spPr bwMode="auto">
              <a:xfrm flipV="1">
                <a:off x="1610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32" name="Line 451"/>
              <p:cNvSpPr>
                <a:spLocks noChangeShapeType="1"/>
              </p:cNvSpPr>
              <p:nvPr/>
            </p:nvSpPr>
            <p:spPr bwMode="auto">
              <a:xfrm>
                <a:off x="1610" y="2024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33" name="Line 452"/>
              <p:cNvSpPr>
                <a:spLocks noChangeShapeType="1"/>
              </p:cNvSpPr>
              <p:nvPr/>
            </p:nvSpPr>
            <p:spPr bwMode="auto">
              <a:xfrm flipV="1">
                <a:off x="1655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34" name="Line 453"/>
              <p:cNvSpPr>
                <a:spLocks noChangeShapeType="1"/>
              </p:cNvSpPr>
              <p:nvPr/>
            </p:nvSpPr>
            <p:spPr bwMode="auto">
              <a:xfrm>
                <a:off x="1655" y="2251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451" name="Line 454"/>
          <p:cNvSpPr>
            <a:spLocks noChangeShapeType="1"/>
          </p:cNvSpPr>
          <p:nvPr/>
        </p:nvSpPr>
        <p:spPr bwMode="auto">
          <a:xfrm>
            <a:off x="8532813" y="3427759"/>
            <a:ext cx="144462" cy="0"/>
          </a:xfrm>
          <a:prstGeom prst="line">
            <a:avLst/>
          </a:prstGeom>
          <a:noFill/>
          <a:ln w="3175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52" name="Group 455"/>
          <p:cNvGrpSpPr>
            <a:grpSpLocks/>
          </p:cNvGrpSpPr>
          <p:nvPr/>
        </p:nvGrpSpPr>
        <p:grpSpPr bwMode="auto">
          <a:xfrm>
            <a:off x="7956550" y="3068984"/>
            <a:ext cx="574675" cy="360363"/>
            <a:chOff x="930" y="2114"/>
            <a:chExt cx="182" cy="227"/>
          </a:xfrm>
        </p:grpSpPr>
        <p:grpSp>
          <p:nvGrpSpPr>
            <p:cNvPr id="453" name="Group 456"/>
            <p:cNvGrpSpPr>
              <a:grpSpLocks/>
            </p:cNvGrpSpPr>
            <p:nvPr/>
          </p:nvGrpSpPr>
          <p:grpSpPr bwMode="auto">
            <a:xfrm>
              <a:off x="930" y="2114"/>
              <a:ext cx="91" cy="227"/>
              <a:chOff x="1338" y="2024"/>
              <a:chExt cx="362" cy="227"/>
            </a:xfrm>
          </p:grpSpPr>
          <p:sp>
            <p:nvSpPr>
              <p:cNvPr id="471" name="Line 457"/>
              <p:cNvSpPr>
                <a:spLocks noChangeShapeType="1"/>
              </p:cNvSpPr>
              <p:nvPr/>
            </p:nvSpPr>
            <p:spPr bwMode="auto">
              <a:xfrm flipV="1">
                <a:off x="1338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72" name="Line 458"/>
              <p:cNvSpPr>
                <a:spLocks noChangeShapeType="1"/>
              </p:cNvSpPr>
              <p:nvPr/>
            </p:nvSpPr>
            <p:spPr bwMode="auto">
              <a:xfrm>
                <a:off x="1338" y="2024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73" name="Line 459"/>
              <p:cNvSpPr>
                <a:spLocks noChangeShapeType="1"/>
              </p:cNvSpPr>
              <p:nvPr/>
            </p:nvSpPr>
            <p:spPr bwMode="auto">
              <a:xfrm flipV="1">
                <a:off x="1383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74" name="Line 460"/>
              <p:cNvSpPr>
                <a:spLocks noChangeShapeType="1"/>
              </p:cNvSpPr>
              <p:nvPr/>
            </p:nvSpPr>
            <p:spPr bwMode="auto">
              <a:xfrm>
                <a:off x="1383" y="2251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75" name="Line 461"/>
              <p:cNvSpPr>
                <a:spLocks noChangeShapeType="1"/>
              </p:cNvSpPr>
              <p:nvPr/>
            </p:nvSpPr>
            <p:spPr bwMode="auto">
              <a:xfrm flipV="1">
                <a:off x="1429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76" name="Line 462"/>
              <p:cNvSpPr>
                <a:spLocks noChangeShapeType="1"/>
              </p:cNvSpPr>
              <p:nvPr/>
            </p:nvSpPr>
            <p:spPr bwMode="auto">
              <a:xfrm>
                <a:off x="1429" y="2024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77" name="Line 463"/>
              <p:cNvSpPr>
                <a:spLocks noChangeShapeType="1"/>
              </p:cNvSpPr>
              <p:nvPr/>
            </p:nvSpPr>
            <p:spPr bwMode="auto">
              <a:xfrm flipV="1">
                <a:off x="1474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78" name="Line 464"/>
              <p:cNvSpPr>
                <a:spLocks noChangeShapeType="1"/>
              </p:cNvSpPr>
              <p:nvPr/>
            </p:nvSpPr>
            <p:spPr bwMode="auto">
              <a:xfrm>
                <a:off x="1474" y="2251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79" name="Line 465"/>
              <p:cNvSpPr>
                <a:spLocks noChangeShapeType="1"/>
              </p:cNvSpPr>
              <p:nvPr/>
            </p:nvSpPr>
            <p:spPr bwMode="auto">
              <a:xfrm flipV="1">
                <a:off x="1519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80" name="Line 466"/>
              <p:cNvSpPr>
                <a:spLocks noChangeShapeType="1"/>
              </p:cNvSpPr>
              <p:nvPr/>
            </p:nvSpPr>
            <p:spPr bwMode="auto">
              <a:xfrm>
                <a:off x="1519" y="2024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81" name="Line 467"/>
              <p:cNvSpPr>
                <a:spLocks noChangeShapeType="1"/>
              </p:cNvSpPr>
              <p:nvPr/>
            </p:nvSpPr>
            <p:spPr bwMode="auto">
              <a:xfrm flipV="1">
                <a:off x="1564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82" name="Line 468"/>
              <p:cNvSpPr>
                <a:spLocks noChangeShapeType="1"/>
              </p:cNvSpPr>
              <p:nvPr/>
            </p:nvSpPr>
            <p:spPr bwMode="auto">
              <a:xfrm>
                <a:off x="1564" y="2251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83" name="Line 469"/>
              <p:cNvSpPr>
                <a:spLocks noChangeShapeType="1"/>
              </p:cNvSpPr>
              <p:nvPr/>
            </p:nvSpPr>
            <p:spPr bwMode="auto">
              <a:xfrm flipV="1">
                <a:off x="1610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84" name="Line 470"/>
              <p:cNvSpPr>
                <a:spLocks noChangeShapeType="1"/>
              </p:cNvSpPr>
              <p:nvPr/>
            </p:nvSpPr>
            <p:spPr bwMode="auto">
              <a:xfrm>
                <a:off x="1610" y="2024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85" name="Line 471"/>
              <p:cNvSpPr>
                <a:spLocks noChangeShapeType="1"/>
              </p:cNvSpPr>
              <p:nvPr/>
            </p:nvSpPr>
            <p:spPr bwMode="auto">
              <a:xfrm flipV="1">
                <a:off x="1655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86" name="Line 472"/>
              <p:cNvSpPr>
                <a:spLocks noChangeShapeType="1"/>
              </p:cNvSpPr>
              <p:nvPr/>
            </p:nvSpPr>
            <p:spPr bwMode="auto">
              <a:xfrm>
                <a:off x="1655" y="2251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54" name="Group 473"/>
            <p:cNvGrpSpPr>
              <a:grpSpLocks/>
            </p:cNvGrpSpPr>
            <p:nvPr/>
          </p:nvGrpSpPr>
          <p:grpSpPr bwMode="auto">
            <a:xfrm>
              <a:off x="1021" y="2114"/>
              <a:ext cx="91" cy="227"/>
              <a:chOff x="1338" y="2024"/>
              <a:chExt cx="362" cy="227"/>
            </a:xfrm>
          </p:grpSpPr>
          <p:sp>
            <p:nvSpPr>
              <p:cNvPr id="455" name="Line 474"/>
              <p:cNvSpPr>
                <a:spLocks noChangeShapeType="1"/>
              </p:cNvSpPr>
              <p:nvPr/>
            </p:nvSpPr>
            <p:spPr bwMode="auto">
              <a:xfrm flipV="1">
                <a:off x="1338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56" name="Line 475"/>
              <p:cNvSpPr>
                <a:spLocks noChangeShapeType="1"/>
              </p:cNvSpPr>
              <p:nvPr/>
            </p:nvSpPr>
            <p:spPr bwMode="auto">
              <a:xfrm>
                <a:off x="1338" y="2024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57" name="Line 476"/>
              <p:cNvSpPr>
                <a:spLocks noChangeShapeType="1"/>
              </p:cNvSpPr>
              <p:nvPr/>
            </p:nvSpPr>
            <p:spPr bwMode="auto">
              <a:xfrm flipV="1">
                <a:off x="1383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58" name="Line 477"/>
              <p:cNvSpPr>
                <a:spLocks noChangeShapeType="1"/>
              </p:cNvSpPr>
              <p:nvPr/>
            </p:nvSpPr>
            <p:spPr bwMode="auto">
              <a:xfrm>
                <a:off x="1383" y="2251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59" name="Line 478"/>
              <p:cNvSpPr>
                <a:spLocks noChangeShapeType="1"/>
              </p:cNvSpPr>
              <p:nvPr/>
            </p:nvSpPr>
            <p:spPr bwMode="auto">
              <a:xfrm flipV="1">
                <a:off x="1429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60" name="Line 479"/>
              <p:cNvSpPr>
                <a:spLocks noChangeShapeType="1"/>
              </p:cNvSpPr>
              <p:nvPr/>
            </p:nvSpPr>
            <p:spPr bwMode="auto">
              <a:xfrm>
                <a:off x="1429" y="2024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61" name="Line 480"/>
              <p:cNvSpPr>
                <a:spLocks noChangeShapeType="1"/>
              </p:cNvSpPr>
              <p:nvPr/>
            </p:nvSpPr>
            <p:spPr bwMode="auto">
              <a:xfrm flipV="1">
                <a:off x="1474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62" name="Line 481"/>
              <p:cNvSpPr>
                <a:spLocks noChangeShapeType="1"/>
              </p:cNvSpPr>
              <p:nvPr/>
            </p:nvSpPr>
            <p:spPr bwMode="auto">
              <a:xfrm>
                <a:off x="1474" y="2251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63" name="Line 482"/>
              <p:cNvSpPr>
                <a:spLocks noChangeShapeType="1"/>
              </p:cNvSpPr>
              <p:nvPr/>
            </p:nvSpPr>
            <p:spPr bwMode="auto">
              <a:xfrm flipV="1">
                <a:off x="1519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64" name="Line 483"/>
              <p:cNvSpPr>
                <a:spLocks noChangeShapeType="1"/>
              </p:cNvSpPr>
              <p:nvPr/>
            </p:nvSpPr>
            <p:spPr bwMode="auto">
              <a:xfrm>
                <a:off x="1519" y="2024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65" name="Line 484"/>
              <p:cNvSpPr>
                <a:spLocks noChangeShapeType="1"/>
              </p:cNvSpPr>
              <p:nvPr/>
            </p:nvSpPr>
            <p:spPr bwMode="auto">
              <a:xfrm flipV="1">
                <a:off x="1564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66" name="Line 485"/>
              <p:cNvSpPr>
                <a:spLocks noChangeShapeType="1"/>
              </p:cNvSpPr>
              <p:nvPr/>
            </p:nvSpPr>
            <p:spPr bwMode="auto">
              <a:xfrm>
                <a:off x="1564" y="2251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67" name="Line 486"/>
              <p:cNvSpPr>
                <a:spLocks noChangeShapeType="1"/>
              </p:cNvSpPr>
              <p:nvPr/>
            </p:nvSpPr>
            <p:spPr bwMode="auto">
              <a:xfrm flipV="1">
                <a:off x="1610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68" name="Line 487"/>
              <p:cNvSpPr>
                <a:spLocks noChangeShapeType="1"/>
              </p:cNvSpPr>
              <p:nvPr/>
            </p:nvSpPr>
            <p:spPr bwMode="auto">
              <a:xfrm>
                <a:off x="1610" y="2024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69" name="Line 488"/>
              <p:cNvSpPr>
                <a:spLocks noChangeShapeType="1"/>
              </p:cNvSpPr>
              <p:nvPr/>
            </p:nvSpPr>
            <p:spPr bwMode="auto">
              <a:xfrm flipV="1">
                <a:off x="1655" y="2024"/>
                <a:ext cx="0" cy="227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70" name="Line 489"/>
              <p:cNvSpPr>
                <a:spLocks noChangeShapeType="1"/>
              </p:cNvSpPr>
              <p:nvPr/>
            </p:nvSpPr>
            <p:spPr bwMode="auto">
              <a:xfrm>
                <a:off x="1655" y="2251"/>
                <a:ext cx="45" cy="0"/>
              </a:xfrm>
              <a:prstGeom prst="line">
                <a:avLst/>
              </a:prstGeom>
              <a:noFill/>
              <a:ln w="31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487" name="Text Box 490"/>
          <p:cNvSpPr txBox="1">
            <a:spLocks noChangeArrowheads="1"/>
          </p:cNvSpPr>
          <p:nvPr/>
        </p:nvSpPr>
        <p:spPr bwMode="auto">
          <a:xfrm>
            <a:off x="144463" y="2853084"/>
            <a:ext cx="1258887" cy="72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/>
          <a:lstStyle/>
          <a:p>
            <a:pPr algn="ctr">
              <a:spcBef>
                <a:spcPct val="50000"/>
              </a:spcBef>
            </a:pPr>
            <a:r>
              <a:rPr kumimoji="0" lang="zh-CN" altLang="en-US" b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</a:t>
            </a:r>
            <a:r>
              <a:rPr kumimoji="0" lang="en-US" altLang="zh-CN" b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0" lang="zh-CN" altLang="en-US" b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</a:t>
            </a:r>
          </a:p>
          <a:p>
            <a:pPr algn="ctr"/>
            <a:r>
              <a:rPr kumimoji="0" lang="zh-CN" altLang="en-US" b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时钟</a:t>
            </a:r>
          </a:p>
        </p:txBody>
      </p:sp>
      <p:sp>
        <p:nvSpPr>
          <p:cNvPr id="488" name="AutoShape 491"/>
          <p:cNvSpPr>
            <a:spLocks/>
          </p:cNvSpPr>
          <p:nvPr/>
        </p:nvSpPr>
        <p:spPr bwMode="auto">
          <a:xfrm rot="16200000">
            <a:off x="7849394" y="4039741"/>
            <a:ext cx="215900" cy="1008062"/>
          </a:xfrm>
          <a:prstGeom prst="leftBrace">
            <a:avLst>
              <a:gd name="adj1" fmla="val 38909"/>
              <a:gd name="adj2" fmla="val 50000"/>
            </a:avLst>
          </a:prstGeom>
          <a:noFill/>
          <a:ln w="9525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9" name="Freeform 492"/>
          <p:cNvSpPr>
            <a:spLocks/>
          </p:cNvSpPr>
          <p:nvPr/>
        </p:nvSpPr>
        <p:spPr bwMode="auto">
          <a:xfrm>
            <a:off x="1619250" y="1987897"/>
            <a:ext cx="792163" cy="2016125"/>
          </a:xfrm>
          <a:custGeom>
            <a:avLst/>
            <a:gdLst>
              <a:gd name="T0" fmla="*/ 499 w 499"/>
              <a:gd name="T1" fmla="*/ 0 h 1270"/>
              <a:gd name="T2" fmla="*/ 300 w 499"/>
              <a:gd name="T3" fmla="*/ 155 h 1270"/>
              <a:gd name="T4" fmla="*/ 182 w 499"/>
              <a:gd name="T5" fmla="*/ 499 h 1270"/>
              <a:gd name="T6" fmla="*/ 164 w 499"/>
              <a:gd name="T7" fmla="*/ 1019 h 1270"/>
              <a:gd name="T8" fmla="*/ 0 w 499"/>
              <a:gd name="T9" fmla="*/ 1270 h 12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99" h="1270">
                <a:moveTo>
                  <a:pt x="499" y="0"/>
                </a:moveTo>
                <a:cubicBezTo>
                  <a:pt x="466" y="26"/>
                  <a:pt x="353" y="72"/>
                  <a:pt x="300" y="155"/>
                </a:cubicBezTo>
                <a:cubicBezTo>
                  <a:pt x="247" y="238"/>
                  <a:pt x="205" y="355"/>
                  <a:pt x="182" y="499"/>
                </a:cubicBezTo>
                <a:cubicBezTo>
                  <a:pt x="159" y="643"/>
                  <a:pt x="194" y="891"/>
                  <a:pt x="164" y="1019"/>
                </a:cubicBezTo>
                <a:cubicBezTo>
                  <a:pt x="134" y="1147"/>
                  <a:pt x="34" y="1218"/>
                  <a:pt x="0" y="1270"/>
                </a:cubicBezTo>
              </a:path>
            </a:pathLst>
          </a:custGeom>
          <a:noFill/>
          <a:ln w="6350" cap="sq" cmpd="sng">
            <a:solidFill>
              <a:srgbClr val="CC0000"/>
            </a:solidFill>
            <a:prstDash val="solid"/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0" name="Line 493"/>
          <p:cNvSpPr>
            <a:spLocks noChangeShapeType="1"/>
          </p:cNvSpPr>
          <p:nvPr/>
        </p:nvSpPr>
        <p:spPr bwMode="auto">
          <a:xfrm>
            <a:off x="2484438" y="3500784"/>
            <a:ext cx="0" cy="215900"/>
          </a:xfrm>
          <a:prstGeom prst="line">
            <a:avLst/>
          </a:prstGeom>
          <a:noFill/>
          <a:ln w="9525" cap="sq">
            <a:solidFill>
              <a:srgbClr val="CC0000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1" name="Line 494"/>
          <p:cNvSpPr>
            <a:spLocks noChangeShapeType="1"/>
          </p:cNvSpPr>
          <p:nvPr/>
        </p:nvSpPr>
        <p:spPr bwMode="auto">
          <a:xfrm>
            <a:off x="3059113" y="3500784"/>
            <a:ext cx="0" cy="215900"/>
          </a:xfrm>
          <a:prstGeom prst="line">
            <a:avLst/>
          </a:prstGeom>
          <a:noFill/>
          <a:ln w="9525" cap="sq">
            <a:solidFill>
              <a:srgbClr val="CC0000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2" name="Line 495"/>
          <p:cNvSpPr>
            <a:spLocks noChangeShapeType="1"/>
          </p:cNvSpPr>
          <p:nvPr/>
        </p:nvSpPr>
        <p:spPr bwMode="auto">
          <a:xfrm>
            <a:off x="3635375" y="3500784"/>
            <a:ext cx="0" cy="215900"/>
          </a:xfrm>
          <a:prstGeom prst="line">
            <a:avLst/>
          </a:prstGeom>
          <a:noFill/>
          <a:ln w="9525" cap="sq">
            <a:solidFill>
              <a:srgbClr val="CC0000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3" name="Line 496"/>
          <p:cNvSpPr>
            <a:spLocks noChangeShapeType="1"/>
          </p:cNvSpPr>
          <p:nvPr/>
        </p:nvSpPr>
        <p:spPr bwMode="auto">
          <a:xfrm>
            <a:off x="4213225" y="3500784"/>
            <a:ext cx="0" cy="215900"/>
          </a:xfrm>
          <a:prstGeom prst="line">
            <a:avLst/>
          </a:prstGeom>
          <a:noFill/>
          <a:ln w="9525" cap="sq">
            <a:solidFill>
              <a:srgbClr val="CC0000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4" name="Line 497"/>
          <p:cNvSpPr>
            <a:spLocks noChangeShapeType="1"/>
          </p:cNvSpPr>
          <p:nvPr/>
        </p:nvSpPr>
        <p:spPr bwMode="auto">
          <a:xfrm>
            <a:off x="4787900" y="3500784"/>
            <a:ext cx="0" cy="215900"/>
          </a:xfrm>
          <a:prstGeom prst="line">
            <a:avLst/>
          </a:prstGeom>
          <a:noFill/>
          <a:ln w="9525" cap="sq">
            <a:solidFill>
              <a:srgbClr val="CC0000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5" name="Line 498"/>
          <p:cNvSpPr>
            <a:spLocks noChangeShapeType="1"/>
          </p:cNvSpPr>
          <p:nvPr/>
        </p:nvSpPr>
        <p:spPr bwMode="auto">
          <a:xfrm>
            <a:off x="5364163" y="3500784"/>
            <a:ext cx="0" cy="215900"/>
          </a:xfrm>
          <a:prstGeom prst="line">
            <a:avLst/>
          </a:prstGeom>
          <a:noFill/>
          <a:ln w="9525" cap="sq">
            <a:solidFill>
              <a:srgbClr val="CC0000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6" name="Line 499"/>
          <p:cNvSpPr>
            <a:spLocks noChangeShapeType="1"/>
          </p:cNvSpPr>
          <p:nvPr/>
        </p:nvSpPr>
        <p:spPr bwMode="auto">
          <a:xfrm>
            <a:off x="5942013" y="3500784"/>
            <a:ext cx="0" cy="215900"/>
          </a:xfrm>
          <a:prstGeom prst="line">
            <a:avLst/>
          </a:prstGeom>
          <a:noFill/>
          <a:ln w="9525" cap="sq">
            <a:solidFill>
              <a:srgbClr val="CC0000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7" name="Line 500"/>
          <p:cNvSpPr>
            <a:spLocks noChangeShapeType="1"/>
          </p:cNvSpPr>
          <p:nvPr/>
        </p:nvSpPr>
        <p:spPr bwMode="auto">
          <a:xfrm>
            <a:off x="6516688" y="3500784"/>
            <a:ext cx="0" cy="215900"/>
          </a:xfrm>
          <a:prstGeom prst="line">
            <a:avLst/>
          </a:prstGeom>
          <a:noFill/>
          <a:ln w="9525" cap="sq">
            <a:solidFill>
              <a:srgbClr val="CC0000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8" name="Line 501"/>
          <p:cNvSpPr>
            <a:spLocks noChangeShapeType="1"/>
          </p:cNvSpPr>
          <p:nvPr/>
        </p:nvSpPr>
        <p:spPr bwMode="auto">
          <a:xfrm>
            <a:off x="7092950" y="3500784"/>
            <a:ext cx="0" cy="215900"/>
          </a:xfrm>
          <a:prstGeom prst="line">
            <a:avLst/>
          </a:prstGeom>
          <a:noFill/>
          <a:ln w="9525" cap="sq">
            <a:solidFill>
              <a:srgbClr val="CC0000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9" name="Line 502"/>
          <p:cNvSpPr>
            <a:spLocks noChangeShapeType="1"/>
          </p:cNvSpPr>
          <p:nvPr/>
        </p:nvSpPr>
        <p:spPr bwMode="auto">
          <a:xfrm>
            <a:off x="7667625" y="3500784"/>
            <a:ext cx="0" cy="215900"/>
          </a:xfrm>
          <a:prstGeom prst="line">
            <a:avLst/>
          </a:prstGeom>
          <a:noFill/>
          <a:ln w="9525" cap="sq">
            <a:solidFill>
              <a:srgbClr val="CC0000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0" name="Line 503"/>
          <p:cNvSpPr>
            <a:spLocks noChangeShapeType="1"/>
          </p:cNvSpPr>
          <p:nvPr/>
        </p:nvSpPr>
        <p:spPr bwMode="auto">
          <a:xfrm>
            <a:off x="8101013" y="3500784"/>
            <a:ext cx="0" cy="215900"/>
          </a:xfrm>
          <a:prstGeom prst="line">
            <a:avLst/>
          </a:prstGeom>
          <a:noFill/>
          <a:ln w="9525" cap="sq">
            <a:solidFill>
              <a:srgbClr val="CC0000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01" name="直接连接符 500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502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异步通信的时钟定时方法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503" name="直接连接符 502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506" name="Line 9"/>
          <p:cNvSpPr>
            <a:spLocks noChangeShapeType="1"/>
          </p:cNvSpPr>
          <p:nvPr/>
        </p:nvSpPr>
        <p:spPr bwMode="auto">
          <a:xfrm>
            <a:off x="6227764" y="3784212"/>
            <a:ext cx="0" cy="4318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7" name="Line 18"/>
          <p:cNvSpPr>
            <a:spLocks noChangeShapeType="1"/>
          </p:cNvSpPr>
          <p:nvPr/>
        </p:nvSpPr>
        <p:spPr bwMode="auto">
          <a:xfrm>
            <a:off x="6227764" y="3423849"/>
            <a:ext cx="0" cy="144145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5" name="矩形 504"/>
          <p:cNvSpPr/>
          <p:nvPr/>
        </p:nvSpPr>
        <p:spPr>
          <a:xfrm>
            <a:off x="1132805" y="6167045"/>
            <a:ext cx="6319515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zh-CN" altLang="en-US" dirty="0">
                <a:ln w="17780" cmpd="sng">
                  <a:noFill/>
                  <a:prstDash val="solid"/>
                  <a:miter lim="800000"/>
                </a:ln>
                <a:solidFill>
                  <a:srgbClr val="FD7A2A"/>
                </a:solidFill>
                <a:latin typeface="微软雅黑" pitchFamily="34" charset="-122"/>
                <a:ea typeface="微软雅黑" pitchFamily="34" charset="-122"/>
              </a:rPr>
              <a:t>解释为什么串行异步通信不需要时钟相同，只需波特率相同。</a:t>
            </a:r>
            <a:endParaRPr lang="zh-CN" altLang="en-US" sz="1400" dirty="0">
              <a:ln w="17780" cmpd="sng">
                <a:noFill/>
                <a:prstDash val="solid"/>
                <a:miter lim="800000"/>
              </a:ln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508" name="Picture 2" descr="C:\Documents and Settings\tdz\桌面\未标题-1 拷贝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94423" y="5858163"/>
            <a:ext cx="834828" cy="782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6089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/>
          <p:cNvSpPr/>
          <p:nvPr/>
        </p:nvSpPr>
        <p:spPr>
          <a:xfrm>
            <a:off x="8461631" y="6348095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15"/>
          <p:cNvSpPr txBox="1"/>
          <p:nvPr/>
        </p:nvSpPr>
        <p:spPr>
          <a:xfrm>
            <a:off x="8316416" y="6358818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pPr algn="ctr"/>
              <a:t>14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2" name="TextBox 15"/>
          <p:cNvSpPr txBox="1">
            <a:spLocks noChangeArrowheads="1"/>
          </p:cNvSpPr>
          <p:nvPr/>
        </p:nvSpPr>
        <p:spPr bwMode="auto">
          <a:xfrm>
            <a:off x="3110260" y="3685282"/>
            <a:ext cx="3405956" cy="2515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7730" tIns="33865" rIns="67730" bIns="33865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 indent="-342900"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工作方式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indent="-342900"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串行传输速率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indent="-342900"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调制解调</a:t>
            </a:r>
            <a:endParaRPr lang="en-US" altLang="zh-CN" sz="2400" b="1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-342900"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串行通信协议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1404144" y="1772816"/>
            <a:ext cx="6264275" cy="1587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cxnSp>
        <p:nvCxnSpPr>
          <p:cNvPr id="15" name="直接连接符 14"/>
          <p:cNvCxnSpPr/>
          <p:nvPr/>
        </p:nvCxnSpPr>
        <p:spPr>
          <a:xfrm>
            <a:off x="1475582" y="3501603"/>
            <a:ext cx="6264275" cy="1588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sp>
        <p:nvSpPr>
          <p:cNvPr id="16" name="TextBox 10"/>
          <p:cNvSpPr txBox="1">
            <a:spLocks noChangeArrowheads="1"/>
          </p:cNvSpPr>
          <p:nvPr/>
        </p:nvSpPr>
        <p:spPr bwMode="auto">
          <a:xfrm>
            <a:off x="1475697" y="2056914"/>
            <a:ext cx="6985934" cy="1162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14000"/>
              </a:lnSpc>
            </a:pPr>
            <a:r>
              <a:rPr lang="zh-CN" altLang="en-US" sz="66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串行通信的概念</a:t>
            </a:r>
            <a:endParaRPr lang="zh-CN" altLang="en-US" sz="80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95271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信号的调制</a:t>
            </a:r>
            <a:r>
              <a:rPr lang="en-US" altLang="zh-CN" sz="3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3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解调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cxnSp>
        <p:nvCxnSpPr>
          <p:cNvPr id="7" name="直接连接符 6"/>
          <p:cNvCxnSpPr/>
          <p:nvPr/>
        </p:nvCxnSpPr>
        <p:spPr>
          <a:xfrm flipV="1">
            <a:off x="1231065" y="1988841"/>
            <a:ext cx="2116799" cy="16456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3503337" y="1974738"/>
            <a:ext cx="2505403" cy="0"/>
          </a:xfrm>
          <a:prstGeom prst="line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6228184" y="1988840"/>
            <a:ext cx="1944216" cy="0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755576" y="2492896"/>
            <a:ext cx="648072" cy="1440160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计</a:t>
            </a:r>
            <a:endParaRPr lang="en-US" altLang="zh-CN" dirty="0"/>
          </a:p>
          <a:p>
            <a:pPr algn="ctr"/>
            <a:r>
              <a:rPr lang="zh-CN" altLang="en-US" dirty="0"/>
              <a:t>算</a:t>
            </a:r>
            <a:endParaRPr lang="en-US" altLang="zh-CN" dirty="0"/>
          </a:p>
          <a:p>
            <a:pPr algn="ctr"/>
            <a:r>
              <a:rPr lang="zh-CN" altLang="en-US" dirty="0"/>
              <a:t>机</a:t>
            </a:r>
          </a:p>
        </p:txBody>
      </p:sp>
      <p:sp>
        <p:nvSpPr>
          <p:cNvPr id="14" name="矩形 13"/>
          <p:cNvSpPr/>
          <p:nvPr/>
        </p:nvSpPr>
        <p:spPr>
          <a:xfrm>
            <a:off x="8028384" y="2492896"/>
            <a:ext cx="648072" cy="1440160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计</a:t>
            </a:r>
            <a:endParaRPr lang="en-US" altLang="zh-CN" dirty="0"/>
          </a:p>
          <a:p>
            <a:pPr algn="ctr"/>
            <a:r>
              <a:rPr lang="zh-CN" altLang="en-US" dirty="0"/>
              <a:t>算</a:t>
            </a:r>
            <a:endParaRPr lang="en-US" altLang="zh-CN" dirty="0"/>
          </a:p>
          <a:p>
            <a:pPr algn="ctr"/>
            <a:r>
              <a:rPr lang="zh-CN" altLang="en-US" dirty="0"/>
              <a:t>机</a:t>
            </a:r>
          </a:p>
        </p:txBody>
      </p:sp>
      <p:sp>
        <p:nvSpPr>
          <p:cNvPr id="15" name="Freeform 6"/>
          <p:cNvSpPr>
            <a:spLocks/>
          </p:cNvSpPr>
          <p:nvPr/>
        </p:nvSpPr>
        <p:spPr bwMode="auto">
          <a:xfrm>
            <a:off x="1547664" y="2420888"/>
            <a:ext cx="1368152" cy="288032"/>
          </a:xfrm>
          <a:custGeom>
            <a:avLst/>
            <a:gdLst>
              <a:gd name="T0" fmla="*/ 0 w 3917"/>
              <a:gd name="T1" fmla="*/ 356 h 357"/>
              <a:gd name="T2" fmla="*/ 712 w 3917"/>
              <a:gd name="T3" fmla="*/ 356 h 357"/>
              <a:gd name="T4" fmla="*/ 712 w 3917"/>
              <a:gd name="T5" fmla="*/ 0 h 357"/>
              <a:gd name="T6" fmla="*/ 1424 w 3917"/>
              <a:gd name="T7" fmla="*/ 0 h 357"/>
              <a:gd name="T8" fmla="*/ 1424 w 3917"/>
              <a:gd name="T9" fmla="*/ 356 h 357"/>
              <a:gd name="T10" fmla="*/ 1780 w 3917"/>
              <a:gd name="T11" fmla="*/ 356 h 357"/>
              <a:gd name="T12" fmla="*/ 1780 w 3917"/>
              <a:gd name="T13" fmla="*/ 0 h 357"/>
              <a:gd name="T14" fmla="*/ 2136 w 3917"/>
              <a:gd name="T15" fmla="*/ 0 h 357"/>
              <a:gd name="T16" fmla="*/ 2136 w 3917"/>
              <a:gd name="T17" fmla="*/ 356 h 357"/>
              <a:gd name="T18" fmla="*/ 3204 w 3917"/>
              <a:gd name="T19" fmla="*/ 356 h 357"/>
              <a:gd name="T20" fmla="*/ 3204 w 3917"/>
              <a:gd name="T21" fmla="*/ 0 h 357"/>
              <a:gd name="T22" fmla="*/ 3560 w 3917"/>
              <a:gd name="T23" fmla="*/ 0 h 357"/>
              <a:gd name="T24" fmla="*/ 3560 w 3917"/>
              <a:gd name="T25" fmla="*/ 356 h 357"/>
              <a:gd name="T26" fmla="*/ 3916 w 3917"/>
              <a:gd name="T27" fmla="*/ 356 h 3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3917" h="357">
                <a:moveTo>
                  <a:pt x="0" y="356"/>
                </a:moveTo>
                <a:lnTo>
                  <a:pt x="712" y="356"/>
                </a:lnTo>
                <a:lnTo>
                  <a:pt x="712" y="0"/>
                </a:lnTo>
                <a:lnTo>
                  <a:pt x="1424" y="0"/>
                </a:lnTo>
                <a:lnTo>
                  <a:pt x="1424" y="356"/>
                </a:lnTo>
                <a:lnTo>
                  <a:pt x="1780" y="356"/>
                </a:lnTo>
                <a:lnTo>
                  <a:pt x="1780" y="0"/>
                </a:lnTo>
                <a:lnTo>
                  <a:pt x="2136" y="0"/>
                </a:lnTo>
                <a:lnTo>
                  <a:pt x="2136" y="356"/>
                </a:lnTo>
                <a:lnTo>
                  <a:pt x="3204" y="356"/>
                </a:lnTo>
                <a:lnTo>
                  <a:pt x="3204" y="0"/>
                </a:lnTo>
                <a:lnTo>
                  <a:pt x="3560" y="0"/>
                </a:lnTo>
                <a:lnTo>
                  <a:pt x="3560" y="356"/>
                </a:lnTo>
                <a:lnTo>
                  <a:pt x="3916" y="356"/>
                </a:lnTo>
              </a:path>
            </a:pathLst>
          </a:custGeom>
          <a:noFill/>
          <a:ln w="19050" cap="rnd" cmpd="sng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6" name="Group 7"/>
          <p:cNvGrpSpPr>
            <a:grpSpLocks/>
          </p:cNvGrpSpPr>
          <p:nvPr/>
        </p:nvGrpSpPr>
        <p:grpSpPr bwMode="auto">
          <a:xfrm>
            <a:off x="3851920" y="2370004"/>
            <a:ext cx="1800200" cy="338916"/>
            <a:chOff x="543" y="2855"/>
            <a:chExt cx="3917" cy="356"/>
          </a:xfrm>
        </p:grpSpPr>
        <p:sp>
          <p:nvSpPr>
            <p:cNvPr id="17" name="Freeform 8"/>
            <p:cNvSpPr>
              <a:spLocks/>
            </p:cNvSpPr>
            <p:nvPr/>
          </p:nvSpPr>
          <p:spPr bwMode="auto">
            <a:xfrm>
              <a:off x="1611" y="2855"/>
              <a:ext cx="179" cy="356"/>
            </a:xfrm>
            <a:custGeom>
              <a:avLst/>
              <a:gdLst>
                <a:gd name="T0" fmla="*/ 0 w 179"/>
                <a:gd name="T1" fmla="*/ 177 h 356"/>
                <a:gd name="T2" fmla="*/ 22 w 179"/>
                <a:gd name="T3" fmla="*/ 43 h 356"/>
                <a:gd name="T4" fmla="*/ 34 w 179"/>
                <a:gd name="T5" fmla="*/ 9 h 356"/>
                <a:gd name="T6" fmla="*/ 44 w 179"/>
                <a:gd name="T7" fmla="*/ 0 h 356"/>
                <a:gd name="T8" fmla="*/ 55 w 179"/>
                <a:gd name="T9" fmla="*/ 9 h 356"/>
                <a:gd name="T10" fmla="*/ 65 w 179"/>
                <a:gd name="T11" fmla="*/ 43 h 356"/>
                <a:gd name="T12" fmla="*/ 89 w 179"/>
                <a:gd name="T13" fmla="*/ 177 h 356"/>
                <a:gd name="T14" fmla="*/ 111 w 179"/>
                <a:gd name="T15" fmla="*/ 310 h 356"/>
                <a:gd name="T16" fmla="*/ 123 w 179"/>
                <a:gd name="T17" fmla="*/ 343 h 356"/>
                <a:gd name="T18" fmla="*/ 133 w 179"/>
                <a:gd name="T19" fmla="*/ 355 h 356"/>
                <a:gd name="T20" fmla="*/ 144 w 179"/>
                <a:gd name="T21" fmla="*/ 343 h 356"/>
                <a:gd name="T22" fmla="*/ 154 w 179"/>
                <a:gd name="T23" fmla="*/ 310 h 356"/>
                <a:gd name="T24" fmla="*/ 178 w 179"/>
                <a:gd name="T25" fmla="*/ 177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9" h="356">
                  <a:moveTo>
                    <a:pt x="0" y="177"/>
                  </a:moveTo>
                  <a:lnTo>
                    <a:pt x="22" y="43"/>
                  </a:lnTo>
                  <a:lnTo>
                    <a:pt x="34" y="9"/>
                  </a:lnTo>
                  <a:lnTo>
                    <a:pt x="44" y="0"/>
                  </a:lnTo>
                  <a:lnTo>
                    <a:pt x="55" y="9"/>
                  </a:lnTo>
                  <a:lnTo>
                    <a:pt x="65" y="43"/>
                  </a:lnTo>
                  <a:lnTo>
                    <a:pt x="89" y="177"/>
                  </a:lnTo>
                  <a:lnTo>
                    <a:pt x="111" y="310"/>
                  </a:lnTo>
                  <a:lnTo>
                    <a:pt x="123" y="343"/>
                  </a:lnTo>
                  <a:lnTo>
                    <a:pt x="133" y="355"/>
                  </a:lnTo>
                  <a:lnTo>
                    <a:pt x="144" y="343"/>
                  </a:lnTo>
                  <a:lnTo>
                    <a:pt x="154" y="310"/>
                  </a:lnTo>
                  <a:lnTo>
                    <a:pt x="178" y="177"/>
                  </a:lnTo>
                </a:path>
              </a:pathLst>
            </a:custGeom>
            <a:noFill/>
            <a:ln w="25400" cap="rnd" cmpd="sng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Freeform 9"/>
            <p:cNvSpPr>
              <a:spLocks/>
            </p:cNvSpPr>
            <p:nvPr/>
          </p:nvSpPr>
          <p:spPr bwMode="auto">
            <a:xfrm>
              <a:off x="1789" y="2855"/>
              <a:ext cx="179" cy="356"/>
            </a:xfrm>
            <a:custGeom>
              <a:avLst/>
              <a:gdLst>
                <a:gd name="T0" fmla="*/ 0 w 179"/>
                <a:gd name="T1" fmla="*/ 177 h 356"/>
                <a:gd name="T2" fmla="*/ 22 w 179"/>
                <a:gd name="T3" fmla="*/ 43 h 356"/>
                <a:gd name="T4" fmla="*/ 34 w 179"/>
                <a:gd name="T5" fmla="*/ 9 h 356"/>
                <a:gd name="T6" fmla="*/ 44 w 179"/>
                <a:gd name="T7" fmla="*/ 0 h 356"/>
                <a:gd name="T8" fmla="*/ 55 w 179"/>
                <a:gd name="T9" fmla="*/ 9 h 356"/>
                <a:gd name="T10" fmla="*/ 65 w 179"/>
                <a:gd name="T11" fmla="*/ 43 h 356"/>
                <a:gd name="T12" fmla="*/ 89 w 179"/>
                <a:gd name="T13" fmla="*/ 177 h 356"/>
                <a:gd name="T14" fmla="*/ 111 w 179"/>
                <a:gd name="T15" fmla="*/ 310 h 356"/>
                <a:gd name="T16" fmla="*/ 123 w 179"/>
                <a:gd name="T17" fmla="*/ 343 h 356"/>
                <a:gd name="T18" fmla="*/ 133 w 179"/>
                <a:gd name="T19" fmla="*/ 355 h 356"/>
                <a:gd name="T20" fmla="*/ 144 w 179"/>
                <a:gd name="T21" fmla="*/ 343 h 356"/>
                <a:gd name="T22" fmla="*/ 154 w 179"/>
                <a:gd name="T23" fmla="*/ 310 h 356"/>
                <a:gd name="T24" fmla="*/ 178 w 179"/>
                <a:gd name="T25" fmla="*/ 177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9" h="356">
                  <a:moveTo>
                    <a:pt x="0" y="177"/>
                  </a:moveTo>
                  <a:lnTo>
                    <a:pt x="22" y="43"/>
                  </a:lnTo>
                  <a:lnTo>
                    <a:pt x="34" y="9"/>
                  </a:lnTo>
                  <a:lnTo>
                    <a:pt x="44" y="0"/>
                  </a:lnTo>
                  <a:lnTo>
                    <a:pt x="55" y="9"/>
                  </a:lnTo>
                  <a:lnTo>
                    <a:pt x="65" y="43"/>
                  </a:lnTo>
                  <a:lnTo>
                    <a:pt x="89" y="177"/>
                  </a:lnTo>
                  <a:lnTo>
                    <a:pt x="111" y="310"/>
                  </a:lnTo>
                  <a:lnTo>
                    <a:pt x="123" y="343"/>
                  </a:lnTo>
                  <a:lnTo>
                    <a:pt x="133" y="355"/>
                  </a:lnTo>
                  <a:lnTo>
                    <a:pt x="144" y="343"/>
                  </a:lnTo>
                  <a:lnTo>
                    <a:pt x="154" y="310"/>
                  </a:lnTo>
                  <a:lnTo>
                    <a:pt x="178" y="177"/>
                  </a:lnTo>
                </a:path>
              </a:pathLst>
            </a:custGeom>
            <a:noFill/>
            <a:ln w="25400" cap="rnd" cmpd="sng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Freeform 10"/>
            <p:cNvSpPr>
              <a:spLocks/>
            </p:cNvSpPr>
            <p:nvPr/>
          </p:nvSpPr>
          <p:spPr bwMode="auto">
            <a:xfrm>
              <a:off x="2323" y="2855"/>
              <a:ext cx="179" cy="356"/>
            </a:xfrm>
            <a:custGeom>
              <a:avLst/>
              <a:gdLst>
                <a:gd name="T0" fmla="*/ 0 w 179"/>
                <a:gd name="T1" fmla="*/ 177 h 356"/>
                <a:gd name="T2" fmla="*/ 22 w 179"/>
                <a:gd name="T3" fmla="*/ 43 h 356"/>
                <a:gd name="T4" fmla="*/ 34 w 179"/>
                <a:gd name="T5" fmla="*/ 9 h 356"/>
                <a:gd name="T6" fmla="*/ 44 w 179"/>
                <a:gd name="T7" fmla="*/ 0 h 356"/>
                <a:gd name="T8" fmla="*/ 56 w 179"/>
                <a:gd name="T9" fmla="*/ 9 h 356"/>
                <a:gd name="T10" fmla="*/ 65 w 179"/>
                <a:gd name="T11" fmla="*/ 43 h 356"/>
                <a:gd name="T12" fmla="*/ 89 w 179"/>
                <a:gd name="T13" fmla="*/ 177 h 356"/>
                <a:gd name="T14" fmla="*/ 111 w 179"/>
                <a:gd name="T15" fmla="*/ 310 h 356"/>
                <a:gd name="T16" fmla="*/ 123 w 179"/>
                <a:gd name="T17" fmla="*/ 343 h 356"/>
                <a:gd name="T18" fmla="*/ 133 w 179"/>
                <a:gd name="T19" fmla="*/ 355 h 356"/>
                <a:gd name="T20" fmla="*/ 145 w 179"/>
                <a:gd name="T21" fmla="*/ 343 h 356"/>
                <a:gd name="T22" fmla="*/ 154 w 179"/>
                <a:gd name="T23" fmla="*/ 310 h 356"/>
                <a:gd name="T24" fmla="*/ 178 w 179"/>
                <a:gd name="T25" fmla="*/ 177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9" h="356">
                  <a:moveTo>
                    <a:pt x="0" y="177"/>
                  </a:moveTo>
                  <a:lnTo>
                    <a:pt x="22" y="43"/>
                  </a:lnTo>
                  <a:lnTo>
                    <a:pt x="34" y="9"/>
                  </a:lnTo>
                  <a:lnTo>
                    <a:pt x="44" y="0"/>
                  </a:lnTo>
                  <a:lnTo>
                    <a:pt x="56" y="9"/>
                  </a:lnTo>
                  <a:lnTo>
                    <a:pt x="65" y="43"/>
                  </a:lnTo>
                  <a:lnTo>
                    <a:pt x="89" y="177"/>
                  </a:lnTo>
                  <a:lnTo>
                    <a:pt x="111" y="310"/>
                  </a:lnTo>
                  <a:lnTo>
                    <a:pt x="123" y="343"/>
                  </a:lnTo>
                  <a:lnTo>
                    <a:pt x="133" y="355"/>
                  </a:lnTo>
                  <a:lnTo>
                    <a:pt x="145" y="343"/>
                  </a:lnTo>
                  <a:lnTo>
                    <a:pt x="154" y="310"/>
                  </a:lnTo>
                  <a:lnTo>
                    <a:pt x="178" y="177"/>
                  </a:lnTo>
                </a:path>
              </a:pathLst>
            </a:custGeom>
            <a:noFill/>
            <a:ln w="25400" cap="rnd" cmpd="sng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Freeform 11"/>
            <p:cNvSpPr>
              <a:spLocks/>
            </p:cNvSpPr>
            <p:nvPr/>
          </p:nvSpPr>
          <p:spPr bwMode="auto">
            <a:xfrm>
              <a:off x="2501" y="2855"/>
              <a:ext cx="179" cy="356"/>
            </a:xfrm>
            <a:custGeom>
              <a:avLst/>
              <a:gdLst>
                <a:gd name="T0" fmla="*/ 0 w 179"/>
                <a:gd name="T1" fmla="*/ 177 h 356"/>
                <a:gd name="T2" fmla="*/ 22 w 179"/>
                <a:gd name="T3" fmla="*/ 43 h 356"/>
                <a:gd name="T4" fmla="*/ 34 w 179"/>
                <a:gd name="T5" fmla="*/ 9 h 356"/>
                <a:gd name="T6" fmla="*/ 44 w 179"/>
                <a:gd name="T7" fmla="*/ 0 h 356"/>
                <a:gd name="T8" fmla="*/ 56 w 179"/>
                <a:gd name="T9" fmla="*/ 9 h 356"/>
                <a:gd name="T10" fmla="*/ 65 w 179"/>
                <a:gd name="T11" fmla="*/ 43 h 356"/>
                <a:gd name="T12" fmla="*/ 89 w 179"/>
                <a:gd name="T13" fmla="*/ 177 h 356"/>
                <a:gd name="T14" fmla="*/ 111 w 179"/>
                <a:gd name="T15" fmla="*/ 310 h 356"/>
                <a:gd name="T16" fmla="*/ 123 w 179"/>
                <a:gd name="T17" fmla="*/ 343 h 356"/>
                <a:gd name="T18" fmla="*/ 133 w 179"/>
                <a:gd name="T19" fmla="*/ 355 h 356"/>
                <a:gd name="T20" fmla="*/ 145 w 179"/>
                <a:gd name="T21" fmla="*/ 343 h 356"/>
                <a:gd name="T22" fmla="*/ 154 w 179"/>
                <a:gd name="T23" fmla="*/ 310 h 356"/>
                <a:gd name="T24" fmla="*/ 178 w 179"/>
                <a:gd name="T25" fmla="*/ 177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9" h="356">
                  <a:moveTo>
                    <a:pt x="0" y="177"/>
                  </a:moveTo>
                  <a:lnTo>
                    <a:pt x="22" y="43"/>
                  </a:lnTo>
                  <a:lnTo>
                    <a:pt x="34" y="9"/>
                  </a:lnTo>
                  <a:lnTo>
                    <a:pt x="44" y="0"/>
                  </a:lnTo>
                  <a:lnTo>
                    <a:pt x="56" y="9"/>
                  </a:lnTo>
                  <a:lnTo>
                    <a:pt x="65" y="43"/>
                  </a:lnTo>
                  <a:lnTo>
                    <a:pt x="89" y="177"/>
                  </a:lnTo>
                  <a:lnTo>
                    <a:pt x="111" y="310"/>
                  </a:lnTo>
                  <a:lnTo>
                    <a:pt x="123" y="343"/>
                  </a:lnTo>
                  <a:lnTo>
                    <a:pt x="133" y="355"/>
                  </a:lnTo>
                  <a:lnTo>
                    <a:pt x="145" y="343"/>
                  </a:lnTo>
                  <a:lnTo>
                    <a:pt x="154" y="310"/>
                  </a:lnTo>
                  <a:lnTo>
                    <a:pt x="178" y="177"/>
                  </a:lnTo>
                </a:path>
              </a:pathLst>
            </a:custGeom>
            <a:noFill/>
            <a:ln w="25400" cap="rnd" cmpd="sng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Freeform 12"/>
            <p:cNvSpPr>
              <a:spLocks/>
            </p:cNvSpPr>
            <p:nvPr/>
          </p:nvSpPr>
          <p:spPr bwMode="auto">
            <a:xfrm>
              <a:off x="3747" y="2855"/>
              <a:ext cx="179" cy="356"/>
            </a:xfrm>
            <a:custGeom>
              <a:avLst/>
              <a:gdLst>
                <a:gd name="T0" fmla="*/ 0 w 179"/>
                <a:gd name="T1" fmla="*/ 177 h 356"/>
                <a:gd name="T2" fmla="*/ 22 w 179"/>
                <a:gd name="T3" fmla="*/ 43 h 356"/>
                <a:gd name="T4" fmla="*/ 34 w 179"/>
                <a:gd name="T5" fmla="*/ 9 h 356"/>
                <a:gd name="T6" fmla="*/ 44 w 179"/>
                <a:gd name="T7" fmla="*/ 0 h 356"/>
                <a:gd name="T8" fmla="*/ 56 w 179"/>
                <a:gd name="T9" fmla="*/ 9 h 356"/>
                <a:gd name="T10" fmla="*/ 66 w 179"/>
                <a:gd name="T11" fmla="*/ 43 h 356"/>
                <a:gd name="T12" fmla="*/ 89 w 179"/>
                <a:gd name="T13" fmla="*/ 177 h 356"/>
                <a:gd name="T14" fmla="*/ 111 w 179"/>
                <a:gd name="T15" fmla="*/ 310 h 356"/>
                <a:gd name="T16" fmla="*/ 123 w 179"/>
                <a:gd name="T17" fmla="*/ 343 h 356"/>
                <a:gd name="T18" fmla="*/ 133 w 179"/>
                <a:gd name="T19" fmla="*/ 355 h 356"/>
                <a:gd name="T20" fmla="*/ 145 w 179"/>
                <a:gd name="T21" fmla="*/ 343 h 356"/>
                <a:gd name="T22" fmla="*/ 155 w 179"/>
                <a:gd name="T23" fmla="*/ 310 h 356"/>
                <a:gd name="T24" fmla="*/ 178 w 179"/>
                <a:gd name="T25" fmla="*/ 177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9" h="356">
                  <a:moveTo>
                    <a:pt x="0" y="177"/>
                  </a:moveTo>
                  <a:lnTo>
                    <a:pt x="22" y="43"/>
                  </a:lnTo>
                  <a:lnTo>
                    <a:pt x="34" y="9"/>
                  </a:lnTo>
                  <a:lnTo>
                    <a:pt x="44" y="0"/>
                  </a:lnTo>
                  <a:lnTo>
                    <a:pt x="56" y="9"/>
                  </a:lnTo>
                  <a:lnTo>
                    <a:pt x="66" y="43"/>
                  </a:lnTo>
                  <a:lnTo>
                    <a:pt x="89" y="177"/>
                  </a:lnTo>
                  <a:lnTo>
                    <a:pt x="111" y="310"/>
                  </a:lnTo>
                  <a:lnTo>
                    <a:pt x="123" y="343"/>
                  </a:lnTo>
                  <a:lnTo>
                    <a:pt x="133" y="355"/>
                  </a:lnTo>
                  <a:lnTo>
                    <a:pt x="145" y="343"/>
                  </a:lnTo>
                  <a:lnTo>
                    <a:pt x="155" y="310"/>
                  </a:lnTo>
                  <a:lnTo>
                    <a:pt x="178" y="177"/>
                  </a:lnTo>
                </a:path>
              </a:pathLst>
            </a:custGeom>
            <a:noFill/>
            <a:ln w="25400" cap="rnd" cmpd="sng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Freeform 13"/>
            <p:cNvSpPr>
              <a:spLocks/>
            </p:cNvSpPr>
            <p:nvPr/>
          </p:nvSpPr>
          <p:spPr bwMode="auto">
            <a:xfrm>
              <a:off x="3925" y="2855"/>
              <a:ext cx="179" cy="356"/>
            </a:xfrm>
            <a:custGeom>
              <a:avLst/>
              <a:gdLst>
                <a:gd name="T0" fmla="*/ 0 w 179"/>
                <a:gd name="T1" fmla="*/ 177 h 356"/>
                <a:gd name="T2" fmla="*/ 22 w 179"/>
                <a:gd name="T3" fmla="*/ 43 h 356"/>
                <a:gd name="T4" fmla="*/ 34 w 179"/>
                <a:gd name="T5" fmla="*/ 9 h 356"/>
                <a:gd name="T6" fmla="*/ 44 w 179"/>
                <a:gd name="T7" fmla="*/ 0 h 356"/>
                <a:gd name="T8" fmla="*/ 56 w 179"/>
                <a:gd name="T9" fmla="*/ 9 h 356"/>
                <a:gd name="T10" fmla="*/ 66 w 179"/>
                <a:gd name="T11" fmla="*/ 43 h 356"/>
                <a:gd name="T12" fmla="*/ 89 w 179"/>
                <a:gd name="T13" fmla="*/ 177 h 356"/>
                <a:gd name="T14" fmla="*/ 111 w 179"/>
                <a:gd name="T15" fmla="*/ 310 h 356"/>
                <a:gd name="T16" fmla="*/ 123 w 179"/>
                <a:gd name="T17" fmla="*/ 343 h 356"/>
                <a:gd name="T18" fmla="*/ 133 w 179"/>
                <a:gd name="T19" fmla="*/ 355 h 356"/>
                <a:gd name="T20" fmla="*/ 145 w 179"/>
                <a:gd name="T21" fmla="*/ 343 h 356"/>
                <a:gd name="T22" fmla="*/ 155 w 179"/>
                <a:gd name="T23" fmla="*/ 310 h 356"/>
                <a:gd name="T24" fmla="*/ 178 w 179"/>
                <a:gd name="T25" fmla="*/ 177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9" h="356">
                  <a:moveTo>
                    <a:pt x="0" y="177"/>
                  </a:moveTo>
                  <a:lnTo>
                    <a:pt x="22" y="43"/>
                  </a:lnTo>
                  <a:lnTo>
                    <a:pt x="34" y="9"/>
                  </a:lnTo>
                  <a:lnTo>
                    <a:pt x="44" y="0"/>
                  </a:lnTo>
                  <a:lnTo>
                    <a:pt x="56" y="9"/>
                  </a:lnTo>
                  <a:lnTo>
                    <a:pt x="66" y="43"/>
                  </a:lnTo>
                  <a:lnTo>
                    <a:pt x="89" y="177"/>
                  </a:lnTo>
                  <a:lnTo>
                    <a:pt x="111" y="310"/>
                  </a:lnTo>
                  <a:lnTo>
                    <a:pt x="123" y="343"/>
                  </a:lnTo>
                  <a:lnTo>
                    <a:pt x="133" y="355"/>
                  </a:lnTo>
                  <a:lnTo>
                    <a:pt x="145" y="343"/>
                  </a:lnTo>
                  <a:lnTo>
                    <a:pt x="155" y="310"/>
                  </a:lnTo>
                  <a:lnTo>
                    <a:pt x="178" y="177"/>
                  </a:lnTo>
                </a:path>
              </a:pathLst>
            </a:custGeom>
            <a:noFill/>
            <a:ln w="25400" cap="rnd" cmpd="sng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Freeform 14"/>
            <p:cNvSpPr>
              <a:spLocks/>
            </p:cNvSpPr>
            <p:nvPr/>
          </p:nvSpPr>
          <p:spPr bwMode="auto">
            <a:xfrm>
              <a:off x="899" y="2855"/>
              <a:ext cx="357" cy="356"/>
            </a:xfrm>
            <a:custGeom>
              <a:avLst/>
              <a:gdLst>
                <a:gd name="T0" fmla="*/ 0 w 357"/>
                <a:gd name="T1" fmla="*/ 177 h 356"/>
                <a:gd name="T2" fmla="*/ 43 w 357"/>
                <a:gd name="T3" fmla="*/ 43 h 356"/>
                <a:gd name="T4" fmla="*/ 65 w 357"/>
                <a:gd name="T5" fmla="*/ 9 h 356"/>
                <a:gd name="T6" fmla="*/ 89 w 357"/>
                <a:gd name="T7" fmla="*/ 0 h 356"/>
                <a:gd name="T8" fmla="*/ 111 w 357"/>
                <a:gd name="T9" fmla="*/ 9 h 356"/>
                <a:gd name="T10" fmla="*/ 132 w 357"/>
                <a:gd name="T11" fmla="*/ 43 h 356"/>
                <a:gd name="T12" fmla="*/ 178 w 357"/>
                <a:gd name="T13" fmla="*/ 177 h 356"/>
                <a:gd name="T14" fmla="*/ 221 w 357"/>
                <a:gd name="T15" fmla="*/ 310 h 356"/>
                <a:gd name="T16" fmla="*/ 243 w 357"/>
                <a:gd name="T17" fmla="*/ 343 h 356"/>
                <a:gd name="T18" fmla="*/ 267 w 357"/>
                <a:gd name="T19" fmla="*/ 355 h 356"/>
                <a:gd name="T20" fmla="*/ 289 w 357"/>
                <a:gd name="T21" fmla="*/ 343 h 356"/>
                <a:gd name="T22" fmla="*/ 311 w 357"/>
                <a:gd name="T23" fmla="*/ 310 h 356"/>
                <a:gd name="T24" fmla="*/ 356 w 357"/>
                <a:gd name="T25" fmla="*/ 177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7" h="356">
                  <a:moveTo>
                    <a:pt x="0" y="177"/>
                  </a:moveTo>
                  <a:lnTo>
                    <a:pt x="43" y="43"/>
                  </a:lnTo>
                  <a:lnTo>
                    <a:pt x="65" y="9"/>
                  </a:lnTo>
                  <a:lnTo>
                    <a:pt x="89" y="0"/>
                  </a:lnTo>
                  <a:lnTo>
                    <a:pt x="111" y="9"/>
                  </a:lnTo>
                  <a:lnTo>
                    <a:pt x="132" y="43"/>
                  </a:lnTo>
                  <a:lnTo>
                    <a:pt x="178" y="177"/>
                  </a:lnTo>
                  <a:lnTo>
                    <a:pt x="221" y="310"/>
                  </a:lnTo>
                  <a:lnTo>
                    <a:pt x="243" y="343"/>
                  </a:lnTo>
                  <a:lnTo>
                    <a:pt x="267" y="355"/>
                  </a:lnTo>
                  <a:lnTo>
                    <a:pt x="289" y="343"/>
                  </a:lnTo>
                  <a:lnTo>
                    <a:pt x="311" y="310"/>
                  </a:lnTo>
                  <a:lnTo>
                    <a:pt x="356" y="177"/>
                  </a:lnTo>
                </a:path>
              </a:pathLst>
            </a:custGeom>
            <a:noFill/>
            <a:ln w="25400" cap="rnd" cmpd="sng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Freeform 15"/>
            <p:cNvSpPr>
              <a:spLocks/>
            </p:cNvSpPr>
            <p:nvPr/>
          </p:nvSpPr>
          <p:spPr bwMode="auto">
            <a:xfrm>
              <a:off x="543" y="2855"/>
              <a:ext cx="357" cy="356"/>
            </a:xfrm>
            <a:custGeom>
              <a:avLst/>
              <a:gdLst>
                <a:gd name="T0" fmla="*/ 0 w 357"/>
                <a:gd name="T1" fmla="*/ 177 h 356"/>
                <a:gd name="T2" fmla="*/ 43 w 357"/>
                <a:gd name="T3" fmla="*/ 43 h 356"/>
                <a:gd name="T4" fmla="*/ 65 w 357"/>
                <a:gd name="T5" fmla="*/ 9 h 356"/>
                <a:gd name="T6" fmla="*/ 89 w 357"/>
                <a:gd name="T7" fmla="*/ 0 h 356"/>
                <a:gd name="T8" fmla="*/ 111 w 357"/>
                <a:gd name="T9" fmla="*/ 9 h 356"/>
                <a:gd name="T10" fmla="*/ 132 w 357"/>
                <a:gd name="T11" fmla="*/ 43 h 356"/>
                <a:gd name="T12" fmla="*/ 178 w 357"/>
                <a:gd name="T13" fmla="*/ 177 h 356"/>
                <a:gd name="T14" fmla="*/ 221 w 357"/>
                <a:gd name="T15" fmla="*/ 310 h 356"/>
                <a:gd name="T16" fmla="*/ 243 w 357"/>
                <a:gd name="T17" fmla="*/ 343 h 356"/>
                <a:gd name="T18" fmla="*/ 267 w 357"/>
                <a:gd name="T19" fmla="*/ 355 h 356"/>
                <a:gd name="T20" fmla="*/ 289 w 357"/>
                <a:gd name="T21" fmla="*/ 343 h 356"/>
                <a:gd name="T22" fmla="*/ 310 w 357"/>
                <a:gd name="T23" fmla="*/ 310 h 356"/>
                <a:gd name="T24" fmla="*/ 356 w 357"/>
                <a:gd name="T25" fmla="*/ 177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7" h="356">
                  <a:moveTo>
                    <a:pt x="0" y="177"/>
                  </a:moveTo>
                  <a:lnTo>
                    <a:pt x="43" y="43"/>
                  </a:lnTo>
                  <a:lnTo>
                    <a:pt x="65" y="9"/>
                  </a:lnTo>
                  <a:lnTo>
                    <a:pt x="89" y="0"/>
                  </a:lnTo>
                  <a:lnTo>
                    <a:pt x="111" y="9"/>
                  </a:lnTo>
                  <a:lnTo>
                    <a:pt x="132" y="43"/>
                  </a:lnTo>
                  <a:lnTo>
                    <a:pt x="178" y="177"/>
                  </a:lnTo>
                  <a:lnTo>
                    <a:pt x="221" y="310"/>
                  </a:lnTo>
                  <a:lnTo>
                    <a:pt x="243" y="343"/>
                  </a:lnTo>
                  <a:lnTo>
                    <a:pt x="267" y="355"/>
                  </a:lnTo>
                  <a:lnTo>
                    <a:pt x="289" y="343"/>
                  </a:lnTo>
                  <a:lnTo>
                    <a:pt x="310" y="310"/>
                  </a:lnTo>
                  <a:lnTo>
                    <a:pt x="356" y="177"/>
                  </a:lnTo>
                </a:path>
              </a:pathLst>
            </a:custGeom>
            <a:noFill/>
            <a:ln w="25400" cap="rnd" cmpd="sng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Freeform 16"/>
            <p:cNvSpPr>
              <a:spLocks/>
            </p:cNvSpPr>
            <p:nvPr/>
          </p:nvSpPr>
          <p:spPr bwMode="auto">
            <a:xfrm>
              <a:off x="1967" y="2855"/>
              <a:ext cx="357" cy="356"/>
            </a:xfrm>
            <a:custGeom>
              <a:avLst/>
              <a:gdLst>
                <a:gd name="T0" fmla="*/ 0 w 357"/>
                <a:gd name="T1" fmla="*/ 177 h 356"/>
                <a:gd name="T2" fmla="*/ 44 w 357"/>
                <a:gd name="T3" fmla="*/ 43 h 356"/>
                <a:gd name="T4" fmla="*/ 65 w 357"/>
                <a:gd name="T5" fmla="*/ 9 h 356"/>
                <a:gd name="T6" fmla="*/ 89 w 357"/>
                <a:gd name="T7" fmla="*/ 0 h 356"/>
                <a:gd name="T8" fmla="*/ 111 w 357"/>
                <a:gd name="T9" fmla="*/ 9 h 356"/>
                <a:gd name="T10" fmla="*/ 133 w 357"/>
                <a:gd name="T11" fmla="*/ 43 h 356"/>
                <a:gd name="T12" fmla="*/ 178 w 357"/>
                <a:gd name="T13" fmla="*/ 177 h 356"/>
                <a:gd name="T14" fmla="*/ 222 w 357"/>
                <a:gd name="T15" fmla="*/ 310 h 356"/>
                <a:gd name="T16" fmla="*/ 243 w 357"/>
                <a:gd name="T17" fmla="*/ 343 h 356"/>
                <a:gd name="T18" fmla="*/ 267 w 357"/>
                <a:gd name="T19" fmla="*/ 355 h 356"/>
                <a:gd name="T20" fmla="*/ 289 w 357"/>
                <a:gd name="T21" fmla="*/ 343 h 356"/>
                <a:gd name="T22" fmla="*/ 311 w 357"/>
                <a:gd name="T23" fmla="*/ 310 h 356"/>
                <a:gd name="T24" fmla="*/ 356 w 357"/>
                <a:gd name="T25" fmla="*/ 177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7" h="356">
                  <a:moveTo>
                    <a:pt x="0" y="177"/>
                  </a:moveTo>
                  <a:lnTo>
                    <a:pt x="44" y="43"/>
                  </a:lnTo>
                  <a:lnTo>
                    <a:pt x="65" y="9"/>
                  </a:lnTo>
                  <a:lnTo>
                    <a:pt x="89" y="0"/>
                  </a:lnTo>
                  <a:lnTo>
                    <a:pt x="111" y="9"/>
                  </a:lnTo>
                  <a:lnTo>
                    <a:pt x="133" y="43"/>
                  </a:lnTo>
                  <a:lnTo>
                    <a:pt x="178" y="177"/>
                  </a:lnTo>
                  <a:lnTo>
                    <a:pt x="222" y="310"/>
                  </a:lnTo>
                  <a:lnTo>
                    <a:pt x="243" y="343"/>
                  </a:lnTo>
                  <a:lnTo>
                    <a:pt x="267" y="355"/>
                  </a:lnTo>
                  <a:lnTo>
                    <a:pt x="289" y="343"/>
                  </a:lnTo>
                  <a:lnTo>
                    <a:pt x="311" y="310"/>
                  </a:lnTo>
                  <a:lnTo>
                    <a:pt x="356" y="177"/>
                  </a:lnTo>
                </a:path>
              </a:pathLst>
            </a:custGeom>
            <a:noFill/>
            <a:ln w="25400" cap="rnd" cmpd="sng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Freeform 17"/>
            <p:cNvSpPr>
              <a:spLocks/>
            </p:cNvSpPr>
            <p:nvPr/>
          </p:nvSpPr>
          <p:spPr bwMode="auto">
            <a:xfrm>
              <a:off x="2679" y="2855"/>
              <a:ext cx="357" cy="356"/>
            </a:xfrm>
            <a:custGeom>
              <a:avLst/>
              <a:gdLst>
                <a:gd name="T0" fmla="*/ 0 w 357"/>
                <a:gd name="T1" fmla="*/ 177 h 356"/>
                <a:gd name="T2" fmla="*/ 44 w 357"/>
                <a:gd name="T3" fmla="*/ 43 h 356"/>
                <a:gd name="T4" fmla="*/ 65 w 357"/>
                <a:gd name="T5" fmla="*/ 9 h 356"/>
                <a:gd name="T6" fmla="*/ 89 w 357"/>
                <a:gd name="T7" fmla="*/ 0 h 356"/>
                <a:gd name="T8" fmla="*/ 111 w 357"/>
                <a:gd name="T9" fmla="*/ 9 h 356"/>
                <a:gd name="T10" fmla="*/ 133 w 357"/>
                <a:gd name="T11" fmla="*/ 43 h 356"/>
                <a:gd name="T12" fmla="*/ 178 w 357"/>
                <a:gd name="T13" fmla="*/ 177 h 356"/>
                <a:gd name="T14" fmla="*/ 222 w 357"/>
                <a:gd name="T15" fmla="*/ 310 h 356"/>
                <a:gd name="T16" fmla="*/ 243 w 357"/>
                <a:gd name="T17" fmla="*/ 343 h 356"/>
                <a:gd name="T18" fmla="*/ 267 w 357"/>
                <a:gd name="T19" fmla="*/ 355 h 356"/>
                <a:gd name="T20" fmla="*/ 289 w 357"/>
                <a:gd name="T21" fmla="*/ 343 h 356"/>
                <a:gd name="T22" fmla="*/ 311 w 357"/>
                <a:gd name="T23" fmla="*/ 310 h 356"/>
                <a:gd name="T24" fmla="*/ 356 w 357"/>
                <a:gd name="T25" fmla="*/ 177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7" h="356">
                  <a:moveTo>
                    <a:pt x="0" y="177"/>
                  </a:moveTo>
                  <a:lnTo>
                    <a:pt x="44" y="43"/>
                  </a:lnTo>
                  <a:lnTo>
                    <a:pt x="65" y="9"/>
                  </a:lnTo>
                  <a:lnTo>
                    <a:pt x="89" y="0"/>
                  </a:lnTo>
                  <a:lnTo>
                    <a:pt x="111" y="9"/>
                  </a:lnTo>
                  <a:lnTo>
                    <a:pt x="133" y="43"/>
                  </a:lnTo>
                  <a:lnTo>
                    <a:pt x="178" y="177"/>
                  </a:lnTo>
                  <a:lnTo>
                    <a:pt x="222" y="310"/>
                  </a:lnTo>
                  <a:lnTo>
                    <a:pt x="243" y="343"/>
                  </a:lnTo>
                  <a:lnTo>
                    <a:pt x="267" y="355"/>
                  </a:lnTo>
                  <a:lnTo>
                    <a:pt x="289" y="343"/>
                  </a:lnTo>
                  <a:lnTo>
                    <a:pt x="311" y="310"/>
                  </a:lnTo>
                  <a:lnTo>
                    <a:pt x="356" y="177"/>
                  </a:lnTo>
                </a:path>
              </a:pathLst>
            </a:custGeom>
            <a:noFill/>
            <a:ln w="25400" cap="rnd" cmpd="sng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Freeform 18"/>
            <p:cNvSpPr>
              <a:spLocks/>
            </p:cNvSpPr>
            <p:nvPr/>
          </p:nvSpPr>
          <p:spPr bwMode="auto">
            <a:xfrm>
              <a:off x="3035" y="2855"/>
              <a:ext cx="357" cy="356"/>
            </a:xfrm>
            <a:custGeom>
              <a:avLst/>
              <a:gdLst>
                <a:gd name="T0" fmla="*/ 0 w 357"/>
                <a:gd name="T1" fmla="*/ 177 h 356"/>
                <a:gd name="T2" fmla="*/ 44 w 357"/>
                <a:gd name="T3" fmla="*/ 43 h 356"/>
                <a:gd name="T4" fmla="*/ 65 w 357"/>
                <a:gd name="T5" fmla="*/ 9 h 356"/>
                <a:gd name="T6" fmla="*/ 89 w 357"/>
                <a:gd name="T7" fmla="*/ 0 h 356"/>
                <a:gd name="T8" fmla="*/ 111 w 357"/>
                <a:gd name="T9" fmla="*/ 9 h 356"/>
                <a:gd name="T10" fmla="*/ 133 w 357"/>
                <a:gd name="T11" fmla="*/ 43 h 356"/>
                <a:gd name="T12" fmla="*/ 178 w 357"/>
                <a:gd name="T13" fmla="*/ 177 h 356"/>
                <a:gd name="T14" fmla="*/ 222 w 357"/>
                <a:gd name="T15" fmla="*/ 310 h 356"/>
                <a:gd name="T16" fmla="*/ 244 w 357"/>
                <a:gd name="T17" fmla="*/ 343 h 356"/>
                <a:gd name="T18" fmla="*/ 267 w 357"/>
                <a:gd name="T19" fmla="*/ 355 h 356"/>
                <a:gd name="T20" fmla="*/ 289 w 357"/>
                <a:gd name="T21" fmla="*/ 343 h 356"/>
                <a:gd name="T22" fmla="*/ 311 w 357"/>
                <a:gd name="T23" fmla="*/ 310 h 356"/>
                <a:gd name="T24" fmla="*/ 356 w 357"/>
                <a:gd name="T25" fmla="*/ 177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7" h="356">
                  <a:moveTo>
                    <a:pt x="0" y="177"/>
                  </a:moveTo>
                  <a:lnTo>
                    <a:pt x="44" y="43"/>
                  </a:lnTo>
                  <a:lnTo>
                    <a:pt x="65" y="9"/>
                  </a:lnTo>
                  <a:lnTo>
                    <a:pt x="89" y="0"/>
                  </a:lnTo>
                  <a:lnTo>
                    <a:pt x="111" y="9"/>
                  </a:lnTo>
                  <a:lnTo>
                    <a:pt x="133" y="43"/>
                  </a:lnTo>
                  <a:lnTo>
                    <a:pt x="178" y="177"/>
                  </a:lnTo>
                  <a:lnTo>
                    <a:pt x="222" y="310"/>
                  </a:lnTo>
                  <a:lnTo>
                    <a:pt x="244" y="343"/>
                  </a:lnTo>
                  <a:lnTo>
                    <a:pt x="267" y="355"/>
                  </a:lnTo>
                  <a:lnTo>
                    <a:pt x="289" y="343"/>
                  </a:lnTo>
                  <a:lnTo>
                    <a:pt x="311" y="310"/>
                  </a:lnTo>
                  <a:lnTo>
                    <a:pt x="356" y="177"/>
                  </a:lnTo>
                </a:path>
              </a:pathLst>
            </a:custGeom>
            <a:noFill/>
            <a:ln w="25400" cap="rnd" cmpd="sng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Freeform 19"/>
            <p:cNvSpPr>
              <a:spLocks/>
            </p:cNvSpPr>
            <p:nvPr/>
          </p:nvSpPr>
          <p:spPr bwMode="auto">
            <a:xfrm>
              <a:off x="3391" y="2855"/>
              <a:ext cx="357" cy="356"/>
            </a:xfrm>
            <a:custGeom>
              <a:avLst/>
              <a:gdLst>
                <a:gd name="T0" fmla="*/ 0 w 357"/>
                <a:gd name="T1" fmla="*/ 177 h 356"/>
                <a:gd name="T2" fmla="*/ 44 w 357"/>
                <a:gd name="T3" fmla="*/ 43 h 356"/>
                <a:gd name="T4" fmla="*/ 66 w 357"/>
                <a:gd name="T5" fmla="*/ 9 h 356"/>
                <a:gd name="T6" fmla="*/ 89 w 357"/>
                <a:gd name="T7" fmla="*/ 0 h 356"/>
                <a:gd name="T8" fmla="*/ 111 w 357"/>
                <a:gd name="T9" fmla="*/ 9 h 356"/>
                <a:gd name="T10" fmla="*/ 133 w 357"/>
                <a:gd name="T11" fmla="*/ 43 h 356"/>
                <a:gd name="T12" fmla="*/ 178 w 357"/>
                <a:gd name="T13" fmla="*/ 177 h 356"/>
                <a:gd name="T14" fmla="*/ 222 w 357"/>
                <a:gd name="T15" fmla="*/ 310 h 356"/>
                <a:gd name="T16" fmla="*/ 244 w 357"/>
                <a:gd name="T17" fmla="*/ 343 h 356"/>
                <a:gd name="T18" fmla="*/ 267 w 357"/>
                <a:gd name="T19" fmla="*/ 355 h 356"/>
                <a:gd name="T20" fmla="*/ 289 w 357"/>
                <a:gd name="T21" fmla="*/ 343 h 356"/>
                <a:gd name="T22" fmla="*/ 311 w 357"/>
                <a:gd name="T23" fmla="*/ 310 h 356"/>
                <a:gd name="T24" fmla="*/ 356 w 357"/>
                <a:gd name="T25" fmla="*/ 177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7" h="356">
                  <a:moveTo>
                    <a:pt x="0" y="177"/>
                  </a:moveTo>
                  <a:lnTo>
                    <a:pt x="44" y="43"/>
                  </a:lnTo>
                  <a:lnTo>
                    <a:pt x="66" y="9"/>
                  </a:lnTo>
                  <a:lnTo>
                    <a:pt x="89" y="0"/>
                  </a:lnTo>
                  <a:lnTo>
                    <a:pt x="111" y="9"/>
                  </a:lnTo>
                  <a:lnTo>
                    <a:pt x="133" y="43"/>
                  </a:lnTo>
                  <a:lnTo>
                    <a:pt x="178" y="177"/>
                  </a:lnTo>
                  <a:lnTo>
                    <a:pt x="222" y="310"/>
                  </a:lnTo>
                  <a:lnTo>
                    <a:pt x="244" y="343"/>
                  </a:lnTo>
                  <a:lnTo>
                    <a:pt x="267" y="355"/>
                  </a:lnTo>
                  <a:lnTo>
                    <a:pt x="289" y="343"/>
                  </a:lnTo>
                  <a:lnTo>
                    <a:pt x="311" y="310"/>
                  </a:lnTo>
                  <a:lnTo>
                    <a:pt x="356" y="177"/>
                  </a:lnTo>
                </a:path>
              </a:pathLst>
            </a:custGeom>
            <a:noFill/>
            <a:ln w="25400" cap="rnd" cmpd="sng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Freeform 20"/>
            <p:cNvSpPr>
              <a:spLocks/>
            </p:cNvSpPr>
            <p:nvPr/>
          </p:nvSpPr>
          <p:spPr bwMode="auto">
            <a:xfrm>
              <a:off x="4103" y="2855"/>
              <a:ext cx="357" cy="356"/>
            </a:xfrm>
            <a:custGeom>
              <a:avLst/>
              <a:gdLst>
                <a:gd name="T0" fmla="*/ 0 w 357"/>
                <a:gd name="T1" fmla="*/ 177 h 356"/>
                <a:gd name="T2" fmla="*/ 44 w 357"/>
                <a:gd name="T3" fmla="*/ 43 h 356"/>
                <a:gd name="T4" fmla="*/ 66 w 357"/>
                <a:gd name="T5" fmla="*/ 9 h 356"/>
                <a:gd name="T6" fmla="*/ 89 w 357"/>
                <a:gd name="T7" fmla="*/ 0 h 356"/>
                <a:gd name="T8" fmla="*/ 111 w 357"/>
                <a:gd name="T9" fmla="*/ 9 h 356"/>
                <a:gd name="T10" fmla="*/ 133 w 357"/>
                <a:gd name="T11" fmla="*/ 43 h 356"/>
                <a:gd name="T12" fmla="*/ 178 w 357"/>
                <a:gd name="T13" fmla="*/ 177 h 356"/>
                <a:gd name="T14" fmla="*/ 222 w 357"/>
                <a:gd name="T15" fmla="*/ 310 h 356"/>
                <a:gd name="T16" fmla="*/ 244 w 357"/>
                <a:gd name="T17" fmla="*/ 343 h 356"/>
                <a:gd name="T18" fmla="*/ 267 w 357"/>
                <a:gd name="T19" fmla="*/ 355 h 356"/>
                <a:gd name="T20" fmla="*/ 289 w 357"/>
                <a:gd name="T21" fmla="*/ 343 h 356"/>
                <a:gd name="T22" fmla="*/ 311 w 357"/>
                <a:gd name="T23" fmla="*/ 310 h 356"/>
                <a:gd name="T24" fmla="*/ 356 w 357"/>
                <a:gd name="T25" fmla="*/ 177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7" h="356">
                  <a:moveTo>
                    <a:pt x="0" y="177"/>
                  </a:moveTo>
                  <a:lnTo>
                    <a:pt x="44" y="43"/>
                  </a:lnTo>
                  <a:lnTo>
                    <a:pt x="66" y="9"/>
                  </a:lnTo>
                  <a:lnTo>
                    <a:pt x="89" y="0"/>
                  </a:lnTo>
                  <a:lnTo>
                    <a:pt x="111" y="9"/>
                  </a:lnTo>
                  <a:lnTo>
                    <a:pt x="133" y="43"/>
                  </a:lnTo>
                  <a:lnTo>
                    <a:pt x="178" y="177"/>
                  </a:lnTo>
                  <a:lnTo>
                    <a:pt x="222" y="310"/>
                  </a:lnTo>
                  <a:lnTo>
                    <a:pt x="244" y="343"/>
                  </a:lnTo>
                  <a:lnTo>
                    <a:pt x="267" y="355"/>
                  </a:lnTo>
                  <a:lnTo>
                    <a:pt x="289" y="343"/>
                  </a:lnTo>
                  <a:lnTo>
                    <a:pt x="311" y="310"/>
                  </a:lnTo>
                  <a:lnTo>
                    <a:pt x="356" y="177"/>
                  </a:lnTo>
                </a:path>
              </a:pathLst>
            </a:custGeom>
            <a:noFill/>
            <a:ln w="25400" cap="rnd" cmpd="sng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Freeform 21"/>
            <p:cNvSpPr>
              <a:spLocks/>
            </p:cNvSpPr>
            <p:nvPr/>
          </p:nvSpPr>
          <p:spPr bwMode="auto">
            <a:xfrm>
              <a:off x="1255" y="2855"/>
              <a:ext cx="179" cy="356"/>
            </a:xfrm>
            <a:custGeom>
              <a:avLst/>
              <a:gdLst>
                <a:gd name="T0" fmla="*/ 0 w 179"/>
                <a:gd name="T1" fmla="*/ 177 h 356"/>
                <a:gd name="T2" fmla="*/ 22 w 179"/>
                <a:gd name="T3" fmla="*/ 43 h 356"/>
                <a:gd name="T4" fmla="*/ 34 w 179"/>
                <a:gd name="T5" fmla="*/ 9 h 356"/>
                <a:gd name="T6" fmla="*/ 44 w 179"/>
                <a:gd name="T7" fmla="*/ 0 h 356"/>
                <a:gd name="T8" fmla="*/ 55 w 179"/>
                <a:gd name="T9" fmla="*/ 9 h 356"/>
                <a:gd name="T10" fmla="*/ 65 w 179"/>
                <a:gd name="T11" fmla="*/ 43 h 356"/>
                <a:gd name="T12" fmla="*/ 89 w 179"/>
                <a:gd name="T13" fmla="*/ 177 h 356"/>
                <a:gd name="T14" fmla="*/ 111 w 179"/>
                <a:gd name="T15" fmla="*/ 310 h 356"/>
                <a:gd name="T16" fmla="*/ 123 w 179"/>
                <a:gd name="T17" fmla="*/ 343 h 356"/>
                <a:gd name="T18" fmla="*/ 133 w 179"/>
                <a:gd name="T19" fmla="*/ 355 h 356"/>
                <a:gd name="T20" fmla="*/ 144 w 179"/>
                <a:gd name="T21" fmla="*/ 343 h 356"/>
                <a:gd name="T22" fmla="*/ 154 w 179"/>
                <a:gd name="T23" fmla="*/ 310 h 356"/>
                <a:gd name="T24" fmla="*/ 178 w 179"/>
                <a:gd name="T25" fmla="*/ 177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9" h="356">
                  <a:moveTo>
                    <a:pt x="0" y="177"/>
                  </a:moveTo>
                  <a:lnTo>
                    <a:pt x="22" y="43"/>
                  </a:lnTo>
                  <a:lnTo>
                    <a:pt x="34" y="9"/>
                  </a:lnTo>
                  <a:lnTo>
                    <a:pt x="44" y="0"/>
                  </a:lnTo>
                  <a:lnTo>
                    <a:pt x="55" y="9"/>
                  </a:lnTo>
                  <a:lnTo>
                    <a:pt x="65" y="43"/>
                  </a:lnTo>
                  <a:lnTo>
                    <a:pt x="89" y="177"/>
                  </a:lnTo>
                  <a:lnTo>
                    <a:pt x="111" y="310"/>
                  </a:lnTo>
                  <a:lnTo>
                    <a:pt x="123" y="343"/>
                  </a:lnTo>
                  <a:lnTo>
                    <a:pt x="133" y="355"/>
                  </a:lnTo>
                  <a:lnTo>
                    <a:pt x="144" y="343"/>
                  </a:lnTo>
                  <a:lnTo>
                    <a:pt x="154" y="310"/>
                  </a:lnTo>
                  <a:lnTo>
                    <a:pt x="178" y="177"/>
                  </a:lnTo>
                </a:path>
              </a:pathLst>
            </a:custGeom>
            <a:noFill/>
            <a:ln w="25400" cap="rnd" cmpd="sng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Freeform 22"/>
            <p:cNvSpPr>
              <a:spLocks/>
            </p:cNvSpPr>
            <p:nvPr/>
          </p:nvSpPr>
          <p:spPr bwMode="auto">
            <a:xfrm>
              <a:off x="1433" y="2855"/>
              <a:ext cx="179" cy="356"/>
            </a:xfrm>
            <a:custGeom>
              <a:avLst/>
              <a:gdLst>
                <a:gd name="T0" fmla="*/ 0 w 179"/>
                <a:gd name="T1" fmla="*/ 177 h 356"/>
                <a:gd name="T2" fmla="*/ 22 w 179"/>
                <a:gd name="T3" fmla="*/ 43 h 356"/>
                <a:gd name="T4" fmla="*/ 34 w 179"/>
                <a:gd name="T5" fmla="*/ 9 h 356"/>
                <a:gd name="T6" fmla="*/ 44 w 179"/>
                <a:gd name="T7" fmla="*/ 0 h 356"/>
                <a:gd name="T8" fmla="*/ 55 w 179"/>
                <a:gd name="T9" fmla="*/ 9 h 356"/>
                <a:gd name="T10" fmla="*/ 65 w 179"/>
                <a:gd name="T11" fmla="*/ 43 h 356"/>
                <a:gd name="T12" fmla="*/ 89 w 179"/>
                <a:gd name="T13" fmla="*/ 177 h 356"/>
                <a:gd name="T14" fmla="*/ 111 w 179"/>
                <a:gd name="T15" fmla="*/ 310 h 356"/>
                <a:gd name="T16" fmla="*/ 123 w 179"/>
                <a:gd name="T17" fmla="*/ 343 h 356"/>
                <a:gd name="T18" fmla="*/ 133 w 179"/>
                <a:gd name="T19" fmla="*/ 355 h 356"/>
                <a:gd name="T20" fmla="*/ 144 w 179"/>
                <a:gd name="T21" fmla="*/ 343 h 356"/>
                <a:gd name="T22" fmla="*/ 154 w 179"/>
                <a:gd name="T23" fmla="*/ 310 h 356"/>
                <a:gd name="T24" fmla="*/ 178 w 179"/>
                <a:gd name="T25" fmla="*/ 177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9" h="356">
                  <a:moveTo>
                    <a:pt x="0" y="177"/>
                  </a:moveTo>
                  <a:lnTo>
                    <a:pt x="22" y="43"/>
                  </a:lnTo>
                  <a:lnTo>
                    <a:pt x="34" y="9"/>
                  </a:lnTo>
                  <a:lnTo>
                    <a:pt x="44" y="0"/>
                  </a:lnTo>
                  <a:lnTo>
                    <a:pt x="55" y="9"/>
                  </a:lnTo>
                  <a:lnTo>
                    <a:pt x="65" y="43"/>
                  </a:lnTo>
                  <a:lnTo>
                    <a:pt x="89" y="177"/>
                  </a:lnTo>
                  <a:lnTo>
                    <a:pt x="111" y="310"/>
                  </a:lnTo>
                  <a:lnTo>
                    <a:pt x="123" y="343"/>
                  </a:lnTo>
                  <a:lnTo>
                    <a:pt x="133" y="355"/>
                  </a:lnTo>
                  <a:lnTo>
                    <a:pt x="144" y="343"/>
                  </a:lnTo>
                  <a:lnTo>
                    <a:pt x="154" y="310"/>
                  </a:lnTo>
                  <a:lnTo>
                    <a:pt x="178" y="177"/>
                  </a:lnTo>
                </a:path>
              </a:pathLst>
            </a:custGeom>
            <a:noFill/>
            <a:ln w="25400" cap="rnd" cmpd="sng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9" name="Freeform 6"/>
          <p:cNvSpPr>
            <a:spLocks/>
          </p:cNvSpPr>
          <p:nvPr/>
        </p:nvSpPr>
        <p:spPr bwMode="auto">
          <a:xfrm>
            <a:off x="6588224" y="2420888"/>
            <a:ext cx="1368152" cy="288032"/>
          </a:xfrm>
          <a:custGeom>
            <a:avLst/>
            <a:gdLst>
              <a:gd name="T0" fmla="*/ 0 w 3917"/>
              <a:gd name="T1" fmla="*/ 356 h 357"/>
              <a:gd name="T2" fmla="*/ 712 w 3917"/>
              <a:gd name="T3" fmla="*/ 356 h 357"/>
              <a:gd name="T4" fmla="*/ 712 w 3917"/>
              <a:gd name="T5" fmla="*/ 0 h 357"/>
              <a:gd name="T6" fmla="*/ 1424 w 3917"/>
              <a:gd name="T7" fmla="*/ 0 h 357"/>
              <a:gd name="T8" fmla="*/ 1424 w 3917"/>
              <a:gd name="T9" fmla="*/ 356 h 357"/>
              <a:gd name="T10" fmla="*/ 1780 w 3917"/>
              <a:gd name="T11" fmla="*/ 356 h 357"/>
              <a:gd name="T12" fmla="*/ 1780 w 3917"/>
              <a:gd name="T13" fmla="*/ 0 h 357"/>
              <a:gd name="T14" fmla="*/ 2136 w 3917"/>
              <a:gd name="T15" fmla="*/ 0 h 357"/>
              <a:gd name="T16" fmla="*/ 2136 w 3917"/>
              <a:gd name="T17" fmla="*/ 356 h 357"/>
              <a:gd name="T18" fmla="*/ 3204 w 3917"/>
              <a:gd name="T19" fmla="*/ 356 h 357"/>
              <a:gd name="T20" fmla="*/ 3204 w 3917"/>
              <a:gd name="T21" fmla="*/ 0 h 357"/>
              <a:gd name="T22" fmla="*/ 3560 w 3917"/>
              <a:gd name="T23" fmla="*/ 0 h 357"/>
              <a:gd name="T24" fmla="*/ 3560 w 3917"/>
              <a:gd name="T25" fmla="*/ 356 h 357"/>
              <a:gd name="T26" fmla="*/ 3916 w 3917"/>
              <a:gd name="T27" fmla="*/ 356 h 3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3917" h="357">
                <a:moveTo>
                  <a:pt x="0" y="356"/>
                </a:moveTo>
                <a:lnTo>
                  <a:pt x="712" y="356"/>
                </a:lnTo>
                <a:lnTo>
                  <a:pt x="712" y="0"/>
                </a:lnTo>
                <a:lnTo>
                  <a:pt x="1424" y="0"/>
                </a:lnTo>
                <a:lnTo>
                  <a:pt x="1424" y="356"/>
                </a:lnTo>
                <a:lnTo>
                  <a:pt x="1780" y="356"/>
                </a:lnTo>
                <a:lnTo>
                  <a:pt x="1780" y="0"/>
                </a:lnTo>
                <a:lnTo>
                  <a:pt x="2136" y="0"/>
                </a:lnTo>
                <a:lnTo>
                  <a:pt x="2136" y="356"/>
                </a:lnTo>
                <a:lnTo>
                  <a:pt x="3204" y="356"/>
                </a:lnTo>
                <a:lnTo>
                  <a:pt x="3204" y="0"/>
                </a:lnTo>
                <a:lnTo>
                  <a:pt x="3560" y="0"/>
                </a:lnTo>
                <a:lnTo>
                  <a:pt x="3560" y="356"/>
                </a:lnTo>
                <a:lnTo>
                  <a:pt x="3916" y="356"/>
                </a:lnTo>
              </a:path>
            </a:pathLst>
          </a:custGeom>
          <a:noFill/>
          <a:ln w="19050" cap="rnd" cmpd="sng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2699792" y="3356992"/>
            <a:ext cx="1315741" cy="576064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MODEM</a:t>
            </a:r>
            <a:endParaRPr lang="zh-CN" altLang="en-US" dirty="0"/>
          </a:p>
        </p:txBody>
      </p:sp>
      <p:sp>
        <p:nvSpPr>
          <p:cNvPr id="44" name="矩形 43"/>
          <p:cNvSpPr/>
          <p:nvPr/>
        </p:nvSpPr>
        <p:spPr>
          <a:xfrm>
            <a:off x="5422879" y="3356992"/>
            <a:ext cx="1315741" cy="576064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MODEM</a:t>
            </a:r>
            <a:endParaRPr lang="zh-CN" altLang="en-US" dirty="0"/>
          </a:p>
        </p:txBody>
      </p:sp>
      <p:cxnSp>
        <p:nvCxnSpPr>
          <p:cNvPr id="46" name="直接连接符 45"/>
          <p:cNvCxnSpPr/>
          <p:nvPr/>
        </p:nvCxnSpPr>
        <p:spPr>
          <a:xfrm>
            <a:off x="1403648" y="3429000"/>
            <a:ext cx="12961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>
            <a:off x="1403648" y="3717032"/>
            <a:ext cx="12961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4071561" y="3429000"/>
            <a:ext cx="1296144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>
            <a:off x="4071561" y="3717032"/>
            <a:ext cx="1296144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/>
        </p:nvCxnSpPr>
        <p:spPr>
          <a:xfrm>
            <a:off x="6732240" y="3429000"/>
            <a:ext cx="12961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>
          <a:xfrm>
            <a:off x="6732240" y="3717032"/>
            <a:ext cx="12961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>
            <a:off x="3419872" y="1757264"/>
            <a:ext cx="0" cy="3755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/>
          <p:cNvCxnSpPr/>
          <p:nvPr/>
        </p:nvCxnSpPr>
        <p:spPr>
          <a:xfrm>
            <a:off x="6080749" y="1757264"/>
            <a:ext cx="0" cy="3755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矩形 57"/>
          <p:cNvSpPr/>
          <p:nvPr/>
        </p:nvSpPr>
        <p:spPr>
          <a:xfrm>
            <a:off x="1907704" y="4797152"/>
            <a:ext cx="5976664" cy="511725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调制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将信号转换成适于信道传输的信号。</a:t>
            </a:r>
          </a:p>
        </p:txBody>
      </p:sp>
      <p:cxnSp>
        <p:nvCxnSpPr>
          <p:cNvPr id="40" name="直接连接符 39"/>
          <p:cNvCxnSpPr/>
          <p:nvPr/>
        </p:nvCxnSpPr>
        <p:spPr>
          <a:xfrm>
            <a:off x="1403648" y="3861048"/>
            <a:ext cx="12961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>
            <a:off x="4071561" y="3861048"/>
            <a:ext cx="1296144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6732240" y="3861048"/>
            <a:ext cx="12961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2051720" y="3861048"/>
            <a:ext cx="0" cy="1440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" name="组合 61"/>
          <p:cNvGrpSpPr/>
          <p:nvPr/>
        </p:nvGrpSpPr>
        <p:grpSpPr>
          <a:xfrm>
            <a:off x="1999047" y="4005063"/>
            <a:ext cx="105346" cy="64071"/>
            <a:chOff x="1999047" y="4005063"/>
            <a:chExt cx="105346" cy="64071"/>
          </a:xfrm>
        </p:grpSpPr>
        <p:cxnSp>
          <p:nvCxnSpPr>
            <p:cNvPr id="11" name="直接连接符 10"/>
            <p:cNvCxnSpPr/>
            <p:nvPr/>
          </p:nvCxnSpPr>
          <p:spPr>
            <a:xfrm>
              <a:off x="1999047" y="4005063"/>
              <a:ext cx="10534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/>
            <p:cNvCxnSpPr/>
            <p:nvPr/>
          </p:nvCxnSpPr>
          <p:spPr>
            <a:xfrm>
              <a:off x="2015980" y="4035796"/>
              <a:ext cx="7200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/>
            <p:cNvCxnSpPr/>
            <p:nvPr/>
          </p:nvCxnSpPr>
          <p:spPr>
            <a:xfrm>
              <a:off x="2043236" y="4069134"/>
              <a:ext cx="19597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3" name="直接连接符 62"/>
          <p:cNvCxnSpPr/>
          <p:nvPr/>
        </p:nvCxnSpPr>
        <p:spPr>
          <a:xfrm>
            <a:off x="7399647" y="3854881"/>
            <a:ext cx="0" cy="1440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4" name="组合 63"/>
          <p:cNvGrpSpPr/>
          <p:nvPr/>
        </p:nvGrpSpPr>
        <p:grpSpPr>
          <a:xfrm>
            <a:off x="7346974" y="3998896"/>
            <a:ext cx="105346" cy="64071"/>
            <a:chOff x="1999047" y="4005063"/>
            <a:chExt cx="105346" cy="64071"/>
          </a:xfrm>
        </p:grpSpPr>
        <p:cxnSp>
          <p:nvCxnSpPr>
            <p:cNvPr id="65" name="直接连接符 64"/>
            <p:cNvCxnSpPr/>
            <p:nvPr/>
          </p:nvCxnSpPr>
          <p:spPr>
            <a:xfrm>
              <a:off x="1999047" y="4005063"/>
              <a:ext cx="10534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/>
            <p:cNvCxnSpPr/>
            <p:nvPr/>
          </p:nvCxnSpPr>
          <p:spPr>
            <a:xfrm>
              <a:off x="2015980" y="4035796"/>
              <a:ext cx="7200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/>
            <p:cNvCxnSpPr/>
            <p:nvPr/>
          </p:nvCxnSpPr>
          <p:spPr>
            <a:xfrm>
              <a:off x="2043236" y="4069134"/>
              <a:ext cx="19597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8" name="矩形 67"/>
          <p:cNvSpPr/>
          <p:nvPr/>
        </p:nvSpPr>
        <p:spPr>
          <a:xfrm>
            <a:off x="1295636" y="1501401"/>
            <a:ext cx="1872208" cy="511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数字信号</a:t>
            </a:r>
          </a:p>
        </p:txBody>
      </p:sp>
      <p:sp>
        <p:nvSpPr>
          <p:cNvPr id="69" name="矩形 68"/>
          <p:cNvSpPr/>
          <p:nvPr/>
        </p:nvSpPr>
        <p:spPr>
          <a:xfrm>
            <a:off x="3857459" y="1501401"/>
            <a:ext cx="1872208" cy="511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模拟信号</a:t>
            </a:r>
          </a:p>
        </p:txBody>
      </p:sp>
      <p:sp>
        <p:nvSpPr>
          <p:cNvPr id="70" name="矩形 69"/>
          <p:cNvSpPr/>
          <p:nvPr/>
        </p:nvSpPr>
        <p:spPr>
          <a:xfrm>
            <a:off x="6336196" y="1501401"/>
            <a:ext cx="1872208" cy="511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数字信号</a:t>
            </a:r>
          </a:p>
        </p:txBody>
      </p:sp>
    </p:spTree>
    <p:extLst>
      <p:ext uri="{BB962C8B-B14F-4D97-AF65-F5344CB8AC3E}">
        <p14:creationId xmlns:p14="http://schemas.microsoft.com/office/powerpoint/2010/main" val="370114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3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6"/>
          <p:cNvSpPr>
            <a:spLocks/>
          </p:cNvSpPr>
          <p:nvPr/>
        </p:nvSpPr>
        <p:spPr bwMode="auto">
          <a:xfrm>
            <a:off x="2242195" y="2065511"/>
            <a:ext cx="6218237" cy="566737"/>
          </a:xfrm>
          <a:custGeom>
            <a:avLst/>
            <a:gdLst>
              <a:gd name="T0" fmla="*/ 0 w 3917"/>
              <a:gd name="T1" fmla="*/ 356 h 357"/>
              <a:gd name="T2" fmla="*/ 712 w 3917"/>
              <a:gd name="T3" fmla="*/ 356 h 357"/>
              <a:gd name="T4" fmla="*/ 712 w 3917"/>
              <a:gd name="T5" fmla="*/ 0 h 357"/>
              <a:gd name="T6" fmla="*/ 1424 w 3917"/>
              <a:gd name="T7" fmla="*/ 0 h 357"/>
              <a:gd name="T8" fmla="*/ 1424 w 3917"/>
              <a:gd name="T9" fmla="*/ 356 h 357"/>
              <a:gd name="T10" fmla="*/ 1780 w 3917"/>
              <a:gd name="T11" fmla="*/ 356 h 357"/>
              <a:gd name="T12" fmla="*/ 1780 w 3917"/>
              <a:gd name="T13" fmla="*/ 0 h 357"/>
              <a:gd name="T14" fmla="*/ 2136 w 3917"/>
              <a:gd name="T15" fmla="*/ 0 h 357"/>
              <a:gd name="T16" fmla="*/ 2136 w 3917"/>
              <a:gd name="T17" fmla="*/ 356 h 357"/>
              <a:gd name="T18" fmla="*/ 3204 w 3917"/>
              <a:gd name="T19" fmla="*/ 356 h 357"/>
              <a:gd name="T20" fmla="*/ 3204 w 3917"/>
              <a:gd name="T21" fmla="*/ 0 h 357"/>
              <a:gd name="T22" fmla="*/ 3560 w 3917"/>
              <a:gd name="T23" fmla="*/ 0 h 357"/>
              <a:gd name="T24" fmla="*/ 3560 w 3917"/>
              <a:gd name="T25" fmla="*/ 356 h 357"/>
              <a:gd name="T26" fmla="*/ 3916 w 3917"/>
              <a:gd name="T27" fmla="*/ 356 h 3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3917" h="357">
                <a:moveTo>
                  <a:pt x="0" y="356"/>
                </a:moveTo>
                <a:lnTo>
                  <a:pt x="712" y="356"/>
                </a:lnTo>
                <a:lnTo>
                  <a:pt x="712" y="0"/>
                </a:lnTo>
                <a:lnTo>
                  <a:pt x="1424" y="0"/>
                </a:lnTo>
                <a:lnTo>
                  <a:pt x="1424" y="356"/>
                </a:lnTo>
                <a:lnTo>
                  <a:pt x="1780" y="356"/>
                </a:lnTo>
                <a:lnTo>
                  <a:pt x="1780" y="0"/>
                </a:lnTo>
                <a:lnTo>
                  <a:pt x="2136" y="0"/>
                </a:lnTo>
                <a:lnTo>
                  <a:pt x="2136" y="356"/>
                </a:lnTo>
                <a:lnTo>
                  <a:pt x="3204" y="356"/>
                </a:lnTo>
                <a:lnTo>
                  <a:pt x="3204" y="0"/>
                </a:lnTo>
                <a:lnTo>
                  <a:pt x="3560" y="0"/>
                </a:lnTo>
                <a:lnTo>
                  <a:pt x="3560" y="356"/>
                </a:lnTo>
                <a:lnTo>
                  <a:pt x="3916" y="356"/>
                </a:lnTo>
              </a:path>
            </a:pathLst>
          </a:custGeom>
          <a:noFill/>
          <a:ln w="19050" cap="rnd" cmpd="sng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2242195" y="4192488"/>
            <a:ext cx="6218237" cy="565150"/>
            <a:chOff x="543" y="2855"/>
            <a:chExt cx="3917" cy="356"/>
          </a:xfrm>
        </p:grpSpPr>
        <p:sp>
          <p:nvSpPr>
            <p:cNvPr id="4" name="Freeform 8"/>
            <p:cNvSpPr>
              <a:spLocks/>
            </p:cNvSpPr>
            <p:nvPr/>
          </p:nvSpPr>
          <p:spPr bwMode="auto">
            <a:xfrm>
              <a:off x="1611" y="2855"/>
              <a:ext cx="179" cy="356"/>
            </a:xfrm>
            <a:custGeom>
              <a:avLst/>
              <a:gdLst>
                <a:gd name="T0" fmla="*/ 0 w 179"/>
                <a:gd name="T1" fmla="*/ 177 h 356"/>
                <a:gd name="T2" fmla="*/ 22 w 179"/>
                <a:gd name="T3" fmla="*/ 43 h 356"/>
                <a:gd name="T4" fmla="*/ 34 w 179"/>
                <a:gd name="T5" fmla="*/ 9 h 356"/>
                <a:gd name="T6" fmla="*/ 44 w 179"/>
                <a:gd name="T7" fmla="*/ 0 h 356"/>
                <a:gd name="T8" fmla="*/ 55 w 179"/>
                <a:gd name="T9" fmla="*/ 9 h 356"/>
                <a:gd name="T10" fmla="*/ 65 w 179"/>
                <a:gd name="T11" fmla="*/ 43 h 356"/>
                <a:gd name="T12" fmla="*/ 89 w 179"/>
                <a:gd name="T13" fmla="*/ 177 h 356"/>
                <a:gd name="T14" fmla="*/ 111 w 179"/>
                <a:gd name="T15" fmla="*/ 310 h 356"/>
                <a:gd name="T16" fmla="*/ 123 w 179"/>
                <a:gd name="T17" fmla="*/ 343 h 356"/>
                <a:gd name="T18" fmla="*/ 133 w 179"/>
                <a:gd name="T19" fmla="*/ 355 h 356"/>
                <a:gd name="T20" fmla="*/ 144 w 179"/>
                <a:gd name="T21" fmla="*/ 343 h 356"/>
                <a:gd name="T22" fmla="*/ 154 w 179"/>
                <a:gd name="T23" fmla="*/ 310 h 356"/>
                <a:gd name="T24" fmla="*/ 178 w 179"/>
                <a:gd name="T25" fmla="*/ 177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9" h="356">
                  <a:moveTo>
                    <a:pt x="0" y="177"/>
                  </a:moveTo>
                  <a:lnTo>
                    <a:pt x="22" y="43"/>
                  </a:lnTo>
                  <a:lnTo>
                    <a:pt x="34" y="9"/>
                  </a:lnTo>
                  <a:lnTo>
                    <a:pt x="44" y="0"/>
                  </a:lnTo>
                  <a:lnTo>
                    <a:pt x="55" y="9"/>
                  </a:lnTo>
                  <a:lnTo>
                    <a:pt x="65" y="43"/>
                  </a:lnTo>
                  <a:lnTo>
                    <a:pt x="89" y="177"/>
                  </a:lnTo>
                  <a:lnTo>
                    <a:pt x="111" y="310"/>
                  </a:lnTo>
                  <a:lnTo>
                    <a:pt x="123" y="343"/>
                  </a:lnTo>
                  <a:lnTo>
                    <a:pt x="133" y="355"/>
                  </a:lnTo>
                  <a:lnTo>
                    <a:pt x="144" y="343"/>
                  </a:lnTo>
                  <a:lnTo>
                    <a:pt x="154" y="310"/>
                  </a:lnTo>
                  <a:lnTo>
                    <a:pt x="178" y="177"/>
                  </a:lnTo>
                </a:path>
              </a:pathLst>
            </a:custGeom>
            <a:noFill/>
            <a:ln w="25400" cap="rnd" cmpd="sng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Freeform 9"/>
            <p:cNvSpPr>
              <a:spLocks/>
            </p:cNvSpPr>
            <p:nvPr/>
          </p:nvSpPr>
          <p:spPr bwMode="auto">
            <a:xfrm>
              <a:off x="1789" y="2855"/>
              <a:ext cx="179" cy="356"/>
            </a:xfrm>
            <a:custGeom>
              <a:avLst/>
              <a:gdLst>
                <a:gd name="T0" fmla="*/ 0 w 179"/>
                <a:gd name="T1" fmla="*/ 177 h 356"/>
                <a:gd name="T2" fmla="*/ 22 w 179"/>
                <a:gd name="T3" fmla="*/ 43 h 356"/>
                <a:gd name="T4" fmla="*/ 34 w 179"/>
                <a:gd name="T5" fmla="*/ 9 h 356"/>
                <a:gd name="T6" fmla="*/ 44 w 179"/>
                <a:gd name="T7" fmla="*/ 0 h 356"/>
                <a:gd name="T8" fmla="*/ 55 w 179"/>
                <a:gd name="T9" fmla="*/ 9 h 356"/>
                <a:gd name="T10" fmla="*/ 65 w 179"/>
                <a:gd name="T11" fmla="*/ 43 h 356"/>
                <a:gd name="T12" fmla="*/ 89 w 179"/>
                <a:gd name="T13" fmla="*/ 177 h 356"/>
                <a:gd name="T14" fmla="*/ 111 w 179"/>
                <a:gd name="T15" fmla="*/ 310 h 356"/>
                <a:gd name="T16" fmla="*/ 123 w 179"/>
                <a:gd name="T17" fmla="*/ 343 h 356"/>
                <a:gd name="T18" fmla="*/ 133 w 179"/>
                <a:gd name="T19" fmla="*/ 355 h 356"/>
                <a:gd name="T20" fmla="*/ 144 w 179"/>
                <a:gd name="T21" fmla="*/ 343 h 356"/>
                <a:gd name="T22" fmla="*/ 154 w 179"/>
                <a:gd name="T23" fmla="*/ 310 h 356"/>
                <a:gd name="T24" fmla="*/ 178 w 179"/>
                <a:gd name="T25" fmla="*/ 177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9" h="356">
                  <a:moveTo>
                    <a:pt x="0" y="177"/>
                  </a:moveTo>
                  <a:lnTo>
                    <a:pt x="22" y="43"/>
                  </a:lnTo>
                  <a:lnTo>
                    <a:pt x="34" y="9"/>
                  </a:lnTo>
                  <a:lnTo>
                    <a:pt x="44" y="0"/>
                  </a:lnTo>
                  <a:lnTo>
                    <a:pt x="55" y="9"/>
                  </a:lnTo>
                  <a:lnTo>
                    <a:pt x="65" y="43"/>
                  </a:lnTo>
                  <a:lnTo>
                    <a:pt x="89" y="177"/>
                  </a:lnTo>
                  <a:lnTo>
                    <a:pt x="111" y="310"/>
                  </a:lnTo>
                  <a:lnTo>
                    <a:pt x="123" y="343"/>
                  </a:lnTo>
                  <a:lnTo>
                    <a:pt x="133" y="355"/>
                  </a:lnTo>
                  <a:lnTo>
                    <a:pt x="144" y="343"/>
                  </a:lnTo>
                  <a:lnTo>
                    <a:pt x="154" y="310"/>
                  </a:lnTo>
                  <a:lnTo>
                    <a:pt x="178" y="177"/>
                  </a:lnTo>
                </a:path>
              </a:pathLst>
            </a:custGeom>
            <a:noFill/>
            <a:ln w="25400" cap="rnd" cmpd="sng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Freeform 10"/>
            <p:cNvSpPr>
              <a:spLocks/>
            </p:cNvSpPr>
            <p:nvPr/>
          </p:nvSpPr>
          <p:spPr bwMode="auto">
            <a:xfrm>
              <a:off x="2323" y="2855"/>
              <a:ext cx="179" cy="356"/>
            </a:xfrm>
            <a:custGeom>
              <a:avLst/>
              <a:gdLst>
                <a:gd name="T0" fmla="*/ 0 w 179"/>
                <a:gd name="T1" fmla="*/ 177 h 356"/>
                <a:gd name="T2" fmla="*/ 22 w 179"/>
                <a:gd name="T3" fmla="*/ 43 h 356"/>
                <a:gd name="T4" fmla="*/ 34 w 179"/>
                <a:gd name="T5" fmla="*/ 9 h 356"/>
                <a:gd name="T6" fmla="*/ 44 w 179"/>
                <a:gd name="T7" fmla="*/ 0 h 356"/>
                <a:gd name="T8" fmla="*/ 56 w 179"/>
                <a:gd name="T9" fmla="*/ 9 h 356"/>
                <a:gd name="T10" fmla="*/ 65 w 179"/>
                <a:gd name="T11" fmla="*/ 43 h 356"/>
                <a:gd name="T12" fmla="*/ 89 w 179"/>
                <a:gd name="T13" fmla="*/ 177 h 356"/>
                <a:gd name="T14" fmla="*/ 111 w 179"/>
                <a:gd name="T15" fmla="*/ 310 h 356"/>
                <a:gd name="T16" fmla="*/ 123 w 179"/>
                <a:gd name="T17" fmla="*/ 343 h 356"/>
                <a:gd name="T18" fmla="*/ 133 w 179"/>
                <a:gd name="T19" fmla="*/ 355 h 356"/>
                <a:gd name="T20" fmla="*/ 145 w 179"/>
                <a:gd name="T21" fmla="*/ 343 h 356"/>
                <a:gd name="T22" fmla="*/ 154 w 179"/>
                <a:gd name="T23" fmla="*/ 310 h 356"/>
                <a:gd name="T24" fmla="*/ 178 w 179"/>
                <a:gd name="T25" fmla="*/ 177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9" h="356">
                  <a:moveTo>
                    <a:pt x="0" y="177"/>
                  </a:moveTo>
                  <a:lnTo>
                    <a:pt x="22" y="43"/>
                  </a:lnTo>
                  <a:lnTo>
                    <a:pt x="34" y="9"/>
                  </a:lnTo>
                  <a:lnTo>
                    <a:pt x="44" y="0"/>
                  </a:lnTo>
                  <a:lnTo>
                    <a:pt x="56" y="9"/>
                  </a:lnTo>
                  <a:lnTo>
                    <a:pt x="65" y="43"/>
                  </a:lnTo>
                  <a:lnTo>
                    <a:pt x="89" y="177"/>
                  </a:lnTo>
                  <a:lnTo>
                    <a:pt x="111" y="310"/>
                  </a:lnTo>
                  <a:lnTo>
                    <a:pt x="123" y="343"/>
                  </a:lnTo>
                  <a:lnTo>
                    <a:pt x="133" y="355"/>
                  </a:lnTo>
                  <a:lnTo>
                    <a:pt x="145" y="343"/>
                  </a:lnTo>
                  <a:lnTo>
                    <a:pt x="154" y="310"/>
                  </a:lnTo>
                  <a:lnTo>
                    <a:pt x="178" y="177"/>
                  </a:lnTo>
                </a:path>
              </a:pathLst>
            </a:custGeom>
            <a:noFill/>
            <a:ln w="25400" cap="rnd" cmpd="sng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Freeform 11"/>
            <p:cNvSpPr>
              <a:spLocks/>
            </p:cNvSpPr>
            <p:nvPr/>
          </p:nvSpPr>
          <p:spPr bwMode="auto">
            <a:xfrm>
              <a:off x="2501" y="2855"/>
              <a:ext cx="179" cy="356"/>
            </a:xfrm>
            <a:custGeom>
              <a:avLst/>
              <a:gdLst>
                <a:gd name="T0" fmla="*/ 0 w 179"/>
                <a:gd name="T1" fmla="*/ 177 h 356"/>
                <a:gd name="T2" fmla="*/ 22 w 179"/>
                <a:gd name="T3" fmla="*/ 43 h 356"/>
                <a:gd name="T4" fmla="*/ 34 w 179"/>
                <a:gd name="T5" fmla="*/ 9 h 356"/>
                <a:gd name="T6" fmla="*/ 44 w 179"/>
                <a:gd name="T7" fmla="*/ 0 h 356"/>
                <a:gd name="T8" fmla="*/ 56 w 179"/>
                <a:gd name="T9" fmla="*/ 9 h 356"/>
                <a:gd name="T10" fmla="*/ 65 w 179"/>
                <a:gd name="T11" fmla="*/ 43 h 356"/>
                <a:gd name="T12" fmla="*/ 89 w 179"/>
                <a:gd name="T13" fmla="*/ 177 h 356"/>
                <a:gd name="T14" fmla="*/ 111 w 179"/>
                <a:gd name="T15" fmla="*/ 310 h 356"/>
                <a:gd name="T16" fmla="*/ 123 w 179"/>
                <a:gd name="T17" fmla="*/ 343 h 356"/>
                <a:gd name="T18" fmla="*/ 133 w 179"/>
                <a:gd name="T19" fmla="*/ 355 h 356"/>
                <a:gd name="T20" fmla="*/ 145 w 179"/>
                <a:gd name="T21" fmla="*/ 343 h 356"/>
                <a:gd name="T22" fmla="*/ 154 w 179"/>
                <a:gd name="T23" fmla="*/ 310 h 356"/>
                <a:gd name="T24" fmla="*/ 178 w 179"/>
                <a:gd name="T25" fmla="*/ 177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9" h="356">
                  <a:moveTo>
                    <a:pt x="0" y="177"/>
                  </a:moveTo>
                  <a:lnTo>
                    <a:pt x="22" y="43"/>
                  </a:lnTo>
                  <a:lnTo>
                    <a:pt x="34" y="9"/>
                  </a:lnTo>
                  <a:lnTo>
                    <a:pt x="44" y="0"/>
                  </a:lnTo>
                  <a:lnTo>
                    <a:pt x="56" y="9"/>
                  </a:lnTo>
                  <a:lnTo>
                    <a:pt x="65" y="43"/>
                  </a:lnTo>
                  <a:lnTo>
                    <a:pt x="89" y="177"/>
                  </a:lnTo>
                  <a:lnTo>
                    <a:pt x="111" y="310"/>
                  </a:lnTo>
                  <a:lnTo>
                    <a:pt x="123" y="343"/>
                  </a:lnTo>
                  <a:lnTo>
                    <a:pt x="133" y="355"/>
                  </a:lnTo>
                  <a:lnTo>
                    <a:pt x="145" y="343"/>
                  </a:lnTo>
                  <a:lnTo>
                    <a:pt x="154" y="310"/>
                  </a:lnTo>
                  <a:lnTo>
                    <a:pt x="178" y="177"/>
                  </a:lnTo>
                </a:path>
              </a:pathLst>
            </a:custGeom>
            <a:noFill/>
            <a:ln w="25400" cap="rnd" cmpd="sng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Freeform 12"/>
            <p:cNvSpPr>
              <a:spLocks/>
            </p:cNvSpPr>
            <p:nvPr/>
          </p:nvSpPr>
          <p:spPr bwMode="auto">
            <a:xfrm>
              <a:off x="3747" y="2855"/>
              <a:ext cx="179" cy="356"/>
            </a:xfrm>
            <a:custGeom>
              <a:avLst/>
              <a:gdLst>
                <a:gd name="T0" fmla="*/ 0 w 179"/>
                <a:gd name="T1" fmla="*/ 177 h 356"/>
                <a:gd name="T2" fmla="*/ 22 w 179"/>
                <a:gd name="T3" fmla="*/ 43 h 356"/>
                <a:gd name="T4" fmla="*/ 34 w 179"/>
                <a:gd name="T5" fmla="*/ 9 h 356"/>
                <a:gd name="T6" fmla="*/ 44 w 179"/>
                <a:gd name="T7" fmla="*/ 0 h 356"/>
                <a:gd name="T8" fmla="*/ 56 w 179"/>
                <a:gd name="T9" fmla="*/ 9 h 356"/>
                <a:gd name="T10" fmla="*/ 66 w 179"/>
                <a:gd name="T11" fmla="*/ 43 h 356"/>
                <a:gd name="T12" fmla="*/ 89 w 179"/>
                <a:gd name="T13" fmla="*/ 177 h 356"/>
                <a:gd name="T14" fmla="*/ 111 w 179"/>
                <a:gd name="T15" fmla="*/ 310 h 356"/>
                <a:gd name="T16" fmla="*/ 123 w 179"/>
                <a:gd name="T17" fmla="*/ 343 h 356"/>
                <a:gd name="T18" fmla="*/ 133 w 179"/>
                <a:gd name="T19" fmla="*/ 355 h 356"/>
                <a:gd name="T20" fmla="*/ 145 w 179"/>
                <a:gd name="T21" fmla="*/ 343 h 356"/>
                <a:gd name="T22" fmla="*/ 155 w 179"/>
                <a:gd name="T23" fmla="*/ 310 h 356"/>
                <a:gd name="T24" fmla="*/ 178 w 179"/>
                <a:gd name="T25" fmla="*/ 177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9" h="356">
                  <a:moveTo>
                    <a:pt x="0" y="177"/>
                  </a:moveTo>
                  <a:lnTo>
                    <a:pt x="22" y="43"/>
                  </a:lnTo>
                  <a:lnTo>
                    <a:pt x="34" y="9"/>
                  </a:lnTo>
                  <a:lnTo>
                    <a:pt x="44" y="0"/>
                  </a:lnTo>
                  <a:lnTo>
                    <a:pt x="56" y="9"/>
                  </a:lnTo>
                  <a:lnTo>
                    <a:pt x="66" y="43"/>
                  </a:lnTo>
                  <a:lnTo>
                    <a:pt x="89" y="177"/>
                  </a:lnTo>
                  <a:lnTo>
                    <a:pt x="111" y="310"/>
                  </a:lnTo>
                  <a:lnTo>
                    <a:pt x="123" y="343"/>
                  </a:lnTo>
                  <a:lnTo>
                    <a:pt x="133" y="355"/>
                  </a:lnTo>
                  <a:lnTo>
                    <a:pt x="145" y="343"/>
                  </a:lnTo>
                  <a:lnTo>
                    <a:pt x="155" y="310"/>
                  </a:lnTo>
                  <a:lnTo>
                    <a:pt x="178" y="177"/>
                  </a:lnTo>
                </a:path>
              </a:pathLst>
            </a:custGeom>
            <a:noFill/>
            <a:ln w="25400" cap="rnd" cmpd="sng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Freeform 13"/>
            <p:cNvSpPr>
              <a:spLocks/>
            </p:cNvSpPr>
            <p:nvPr/>
          </p:nvSpPr>
          <p:spPr bwMode="auto">
            <a:xfrm>
              <a:off x="3925" y="2855"/>
              <a:ext cx="179" cy="356"/>
            </a:xfrm>
            <a:custGeom>
              <a:avLst/>
              <a:gdLst>
                <a:gd name="T0" fmla="*/ 0 w 179"/>
                <a:gd name="T1" fmla="*/ 177 h 356"/>
                <a:gd name="T2" fmla="*/ 22 w 179"/>
                <a:gd name="T3" fmla="*/ 43 h 356"/>
                <a:gd name="T4" fmla="*/ 34 w 179"/>
                <a:gd name="T5" fmla="*/ 9 h 356"/>
                <a:gd name="T6" fmla="*/ 44 w 179"/>
                <a:gd name="T7" fmla="*/ 0 h 356"/>
                <a:gd name="T8" fmla="*/ 56 w 179"/>
                <a:gd name="T9" fmla="*/ 9 h 356"/>
                <a:gd name="T10" fmla="*/ 66 w 179"/>
                <a:gd name="T11" fmla="*/ 43 h 356"/>
                <a:gd name="T12" fmla="*/ 89 w 179"/>
                <a:gd name="T13" fmla="*/ 177 h 356"/>
                <a:gd name="T14" fmla="*/ 111 w 179"/>
                <a:gd name="T15" fmla="*/ 310 h 356"/>
                <a:gd name="T16" fmla="*/ 123 w 179"/>
                <a:gd name="T17" fmla="*/ 343 h 356"/>
                <a:gd name="T18" fmla="*/ 133 w 179"/>
                <a:gd name="T19" fmla="*/ 355 h 356"/>
                <a:gd name="T20" fmla="*/ 145 w 179"/>
                <a:gd name="T21" fmla="*/ 343 h 356"/>
                <a:gd name="T22" fmla="*/ 155 w 179"/>
                <a:gd name="T23" fmla="*/ 310 h 356"/>
                <a:gd name="T24" fmla="*/ 178 w 179"/>
                <a:gd name="T25" fmla="*/ 177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9" h="356">
                  <a:moveTo>
                    <a:pt x="0" y="177"/>
                  </a:moveTo>
                  <a:lnTo>
                    <a:pt x="22" y="43"/>
                  </a:lnTo>
                  <a:lnTo>
                    <a:pt x="34" y="9"/>
                  </a:lnTo>
                  <a:lnTo>
                    <a:pt x="44" y="0"/>
                  </a:lnTo>
                  <a:lnTo>
                    <a:pt x="56" y="9"/>
                  </a:lnTo>
                  <a:lnTo>
                    <a:pt x="66" y="43"/>
                  </a:lnTo>
                  <a:lnTo>
                    <a:pt x="89" y="177"/>
                  </a:lnTo>
                  <a:lnTo>
                    <a:pt x="111" y="310"/>
                  </a:lnTo>
                  <a:lnTo>
                    <a:pt x="123" y="343"/>
                  </a:lnTo>
                  <a:lnTo>
                    <a:pt x="133" y="355"/>
                  </a:lnTo>
                  <a:lnTo>
                    <a:pt x="145" y="343"/>
                  </a:lnTo>
                  <a:lnTo>
                    <a:pt x="155" y="310"/>
                  </a:lnTo>
                  <a:lnTo>
                    <a:pt x="178" y="177"/>
                  </a:lnTo>
                </a:path>
              </a:pathLst>
            </a:custGeom>
            <a:noFill/>
            <a:ln w="25400" cap="rnd" cmpd="sng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Freeform 14"/>
            <p:cNvSpPr>
              <a:spLocks/>
            </p:cNvSpPr>
            <p:nvPr/>
          </p:nvSpPr>
          <p:spPr bwMode="auto">
            <a:xfrm>
              <a:off x="899" y="2855"/>
              <a:ext cx="357" cy="356"/>
            </a:xfrm>
            <a:custGeom>
              <a:avLst/>
              <a:gdLst>
                <a:gd name="T0" fmla="*/ 0 w 357"/>
                <a:gd name="T1" fmla="*/ 177 h 356"/>
                <a:gd name="T2" fmla="*/ 43 w 357"/>
                <a:gd name="T3" fmla="*/ 43 h 356"/>
                <a:gd name="T4" fmla="*/ 65 w 357"/>
                <a:gd name="T5" fmla="*/ 9 h 356"/>
                <a:gd name="T6" fmla="*/ 89 w 357"/>
                <a:gd name="T7" fmla="*/ 0 h 356"/>
                <a:gd name="T8" fmla="*/ 111 w 357"/>
                <a:gd name="T9" fmla="*/ 9 h 356"/>
                <a:gd name="T10" fmla="*/ 132 w 357"/>
                <a:gd name="T11" fmla="*/ 43 h 356"/>
                <a:gd name="T12" fmla="*/ 178 w 357"/>
                <a:gd name="T13" fmla="*/ 177 h 356"/>
                <a:gd name="T14" fmla="*/ 221 w 357"/>
                <a:gd name="T15" fmla="*/ 310 h 356"/>
                <a:gd name="T16" fmla="*/ 243 w 357"/>
                <a:gd name="T17" fmla="*/ 343 h 356"/>
                <a:gd name="T18" fmla="*/ 267 w 357"/>
                <a:gd name="T19" fmla="*/ 355 h 356"/>
                <a:gd name="T20" fmla="*/ 289 w 357"/>
                <a:gd name="T21" fmla="*/ 343 h 356"/>
                <a:gd name="T22" fmla="*/ 311 w 357"/>
                <a:gd name="T23" fmla="*/ 310 h 356"/>
                <a:gd name="T24" fmla="*/ 356 w 357"/>
                <a:gd name="T25" fmla="*/ 177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7" h="356">
                  <a:moveTo>
                    <a:pt x="0" y="177"/>
                  </a:moveTo>
                  <a:lnTo>
                    <a:pt x="43" y="43"/>
                  </a:lnTo>
                  <a:lnTo>
                    <a:pt x="65" y="9"/>
                  </a:lnTo>
                  <a:lnTo>
                    <a:pt x="89" y="0"/>
                  </a:lnTo>
                  <a:lnTo>
                    <a:pt x="111" y="9"/>
                  </a:lnTo>
                  <a:lnTo>
                    <a:pt x="132" y="43"/>
                  </a:lnTo>
                  <a:lnTo>
                    <a:pt x="178" y="177"/>
                  </a:lnTo>
                  <a:lnTo>
                    <a:pt x="221" y="310"/>
                  </a:lnTo>
                  <a:lnTo>
                    <a:pt x="243" y="343"/>
                  </a:lnTo>
                  <a:lnTo>
                    <a:pt x="267" y="355"/>
                  </a:lnTo>
                  <a:lnTo>
                    <a:pt x="289" y="343"/>
                  </a:lnTo>
                  <a:lnTo>
                    <a:pt x="311" y="310"/>
                  </a:lnTo>
                  <a:lnTo>
                    <a:pt x="356" y="177"/>
                  </a:lnTo>
                </a:path>
              </a:pathLst>
            </a:custGeom>
            <a:noFill/>
            <a:ln w="25400" cap="rnd" cmpd="sng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Freeform 15"/>
            <p:cNvSpPr>
              <a:spLocks/>
            </p:cNvSpPr>
            <p:nvPr/>
          </p:nvSpPr>
          <p:spPr bwMode="auto">
            <a:xfrm>
              <a:off x="543" y="2855"/>
              <a:ext cx="357" cy="356"/>
            </a:xfrm>
            <a:custGeom>
              <a:avLst/>
              <a:gdLst>
                <a:gd name="T0" fmla="*/ 0 w 357"/>
                <a:gd name="T1" fmla="*/ 177 h 356"/>
                <a:gd name="T2" fmla="*/ 43 w 357"/>
                <a:gd name="T3" fmla="*/ 43 h 356"/>
                <a:gd name="T4" fmla="*/ 65 w 357"/>
                <a:gd name="T5" fmla="*/ 9 h 356"/>
                <a:gd name="T6" fmla="*/ 89 w 357"/>
                <a:gd name="T7" fmla="*/ 0 h 356"/>
                <a:gd name="T8" fmla="*/ 111 w 357"/>
                <a:gd name="T9" fmla="*/ 9 h 356"/>
                <a:gd name="T10" fmla="*/ 132 w 357"/>
                <a:gd name="T11" fmla="*/ 43 h 356"/>
                <a:gd name="T12" fmla="*/ 178 w 357"/>
                <a:gd name="T13" fmla="*/ 177 h 356"/>
                <a:gd name="T14" fmla="*/ 221 w 357"/>
                <a:gd name="T15" fmla="*/ 310 h 356"/>
                <a:gd name="T16" fmla="*/ 243 w 357"/>
                <a:gd name="T17" fmla="*/ 343 h 356"/>
                <a:gd name="T18" fmla="*/ 267 w 357"/>
                <a:gd name="T19" fmla="*/ 355 h 356"/>
                <a:gd name="T20" fmla="*/ 289 w 357"/>
                <a:gd name="T21" fmla="*/ 343 h 356"/>
                <a:gd name="T22" fmla="*/ 310 w 357"/>
                <a:gd name="T23" fmla="*/ 310 h 356"/>
                <a:gd name="T24" fmla="*/ 356 w 357"/>
                <a:gd name="T25" fmla="*/ 177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7" h="356">
                  <a:moveTo>
                    <a:pt x="0" y="177"/>
                  </a:moveTo>
                  <a:lnTo>
                    <a:pt x="43" y="43"/>
                  </a:lnTo>
                  <a:lnTo>
                    <a:pt x="65" y="9"/>
                  </a:lnTo>
                  <a:lnTo>
                    <a:pt x="89" y="0"/>
                  </a:lnTo>
                  <a:lnTo>
                    <a:pt x="111" y="9"/>
                  </a:lnTo>
                  <a:lnTo>
                    <a:pt x="132" y="43"/>
                  </a:lnTo>
                  <a:lnTo>
                    <a:pt x="178" y="177"/>
                  </a:lnTo>
                  <a:lnTo>
                    <a:pt x="221" y="310"/>
                  </a:lnTo>
                  <a:lnTo>
                    <a:pt x="243" y="343"/>
                  </a:lnTo>
                  <a:lnTo>
                    <a:pt x="267" y="355"/>
                  </a:lnTo>
                  <a:lnTo>
                    <a:pt x="289" y="343"/>
                  </a:lnTo>
                  <a:lnTo>
                    <a:pt x="310" y="310"/>
                  </a:lnTo>
                  <a:lnTo>
                    <a:pt x="356" y="177"/>
                  </a:lnTo>
                </a:path>
              </a:pathLst>
            </a:custGeom>
            <a:noFill/>
            <a:ln w="25400" cap="rnd" cmpd="sng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Freeform 16"/>
            <p:cNvSpPr>
              <a:spLocks/>
            </p:cNvSpPr>
            <p:nvPr/>
          </p:nvSpPr>
          <p:spPr bwMode="auto">
            <a:xfrm>
              <a:off x="1967" y="2855"/>
              <a:ext cx="357" cy="356"/>
            </a:xfrm>
            <a:custGeom>
              <a:avLst/>
              <a:gdLst>
                <a:gd name="T0" fmla="*/ 0 w 357"/>
                <a:gd name="T1" fmla="*/ 177 h 356"/>
                <a:gd name="T2" fmla="*/ 44 w 357"/>
                <a:gd name="T3" fmla="*/ 43 h 356"/>
                <a:gd name="T4" fmla="*/ 65 w 357"/>
                <a:gd name="T5" fmla="*/ 9 h 356"/>
                <a:gd name="T6" fmla="*/ 89 w 357"/>
                <a:gd name="T7" fmla="*/ 0 h 356"/>
                <a:gd name="T8" fmla="*/ 111 w 357"/>
                <a:gd name="T9" fmla="*/ 9 h 356"/>
                <a:gd name="T10" fmla="*/ 133 w 357"/>
                <a:gd name="T11" fmla="*/ 43 h 356"/>
                <a:gd name="T12" fmla="*/ 178 w 357"/>
                <a:gd name="T13" fmla="*/ 177 h 356"/>
                <a:gd name="T14" fmla="*/ 222 w 357"/>
                <a:gd name="T15" fmla="*/ 310 h 356"/>
                <a:gd name="T16" fmla="*/ 243 w 357"/>
                <a:gd name="T17" fmla="*/ 343 h 356"/>
                <a:gd name="T18" fmla="*/ 267 w 357"/>
                <a:gd name="T19" fmla="*/ 355 h 356"/>
                <a:gd name="T20" fmla="*/ 289 w 357"/>
                <a:gd name="T21" fmla="*/ 343 h 356"/>
                <a:gd name="T22" fmla="*/ 311 w 357"/>
                <a:gd name="T23" fmla="*/ 310 h 356"/>
                <a:gd name="T24" fmla="*/ 356 w 357"/>
                <a:gd name="T25" fmla="*/ 177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7" h="356">
                  <a:moveTo>
                    <a:pt x="0" y="177"/>
                  </a:moveTo>
                  <a:lnTo>
                    <a:pt x="44" y="43"/>
                  </a:lnTo>
                  <a:lnTo>
                    <a:pt x="65" y="9"/>
                  </a:lnTo>
                  <a:lnTo>
                    <a:pt x="89" y="0"/>
                  </a:lnTo>
                  <a:lnTo>
                    <a:pt x="111" y="9"/>
                  </a:lnTo>
                  <a:lnTo>
                    <a:pt x="133" y="43"/>
                  </a:lnTo>
                  <a:lnTo>
                    <a:pt x="178" y="177"/>
                  </a:lnTo>
                  <a:lnTo>
                    <a:pt x="222" y="310"/>
                  </a:lnTo>
                  <a:lnTo>
                    <a:pt x="243" y="343"/>
                  </a:lnTo>
                  <a:lnTo>
                    <a:pt x="267" y="355"/>
                  </a:lnTo>
                  <a:lnTo>
                    <a:pt x="289" y="343"/>
                  </a:lnTo>
                  <a:lnTo>
                    <a:pt x="311" y="310"/>
                  </a:lnTo>
                  <a:lnTo>
                    <a:pt x="356" y="177"/>
                  </a:lnTo>
                </a:path>
              </a:pathLst>
            </a:custGeom>
            <a:noFill/>
            <a:ln w="25400" cap="rnd" cmpd="sng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Freeform 17"/>
            <p:cNvSpPr>
              <a:spLocks/>
            </p:cNvSpPr>
            <p:nvPr/>
          </p:nvSpPr>
          <p:spPr bwMode="auto">
            <a:xfrm>
              <a:off x="2679" y="2855"/>
              <a:ext cx="357" cy="356"/>
            </a:xfrm>
            <a:custGeom>
              <a:avLst/>
              <a:gdLst>
                <a:gd name="T0" fmla="*/ 0 w 357"/>
                <a:gd name="T1" fmla="*/ 177 h 356"/>
                <a:gd name="T2" fmla="*/ 44 w 357"/>
                <a:gd name="T3" fmla="*/ 43 h 356"/>
                <a:gd name="T4" fmla="*/ 65 w 357"/>
                <a:gd name="T5" fmla="*/ 9 h 356"/>
                <a:gd name="T6" fmla="*/ 89 w 357"/>
                <a:gd name="T7" fmla="*/ 0 h 356"/>
                <a:gd name="T8" fmla="*/ 111 w 357"/>
                <a:gd name="T9" fmla="*/ 9 h 356"/>
                <a:gd name="T10" fmla="*/ 133 w 357"/>
                <a:gd name="T11" fmla="*/ 43 h 356"/>
                <a:gd name="T12" fmla="*/ 178 w 357"/>
                <a:gd name="T13" fmla="*/ 177 h 356"/>
                <a:gd name="T14" fmla="*/ 222 w 357"/>
                <a:gd name="T15" fmla="*/ 310 h 356"/>
                <a:gd name="T16" fmla="*/ 243 w 357"/>
                <a:gd name="T17" fmla="*/ 343 h 356"/>
                <a:gd name="T18" fmla="*/ 267 w 357"/>
                <a:gd name="T19" fmla="*/ 355 h 356"/>
                <a:gd name="T20" fmla="*/ 289 w 357"/>
                <a:gd name="T21" fmla="*/ 343 h 356"/>
                <a:gd name="T22" fmla="*/ 311 w 357"/>
                <a:gd name="T23" fmla="*/ 310 h 356"/>
                <a:gd name="T24" fmla="*/ 356 w 357"/>
                <a:gd name="T25" fmla="*/ 177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7" h="356">
                  <a:moveTo>
                    <a:pt x="0" y="177"/>
                  </a:moveTo>
                  <a:lnTo>
                    <a:pt x="44" y="43"/>
                  </a:lnTo>
                  <a:lnTo>
                    <a:pt x="65" y="9"/>
                  </a:lnTo>
                  <a:lnTo>
                    <a:pt x="89" y="0"/>
                  </a:lnTo>
                  <a:lnTo>
                    <a:pt x="111" y="9"/>
                  </a:lnTo>
                  <a:lnTo>
                    <a:pt x="133" y="43"/>
                  </a:lnTo>
                  <a:lnTo>
                    <a:pt x="178" y="177"/>
                  </a:lnTo>
                  <a:lnTo>
                    <a:pt x="222" y="310"/>
                  </a:lnTo>
                  <a:lnTo>
                    <a:pt x="243" y="343"/>
                  </a:lnTo>
                  <a:lnTo>
                    <a:pt x="267" y="355"/>
                  </a:lnTo>
                  <a:lnTo>
                    <a:pt x="289" y="343"/>
                  </a:lnTo>
                  <a:lnTo>
                    <a:pt x="311" y="310"/>
                  </a:lnTo>
                  <a:lnTo>
                    <a:pt x="356" y="177"/>
                  </a:lnTo>
                </a:path>
              </a:pathLst>
            </a:custGeom>
            <a:noFill/>
            <a:ln w="25400" cap="rnd" cmpd="sng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18"/>
            <p:cNvSpPr>
              <a:spLocks/>
            </p:cNvSpPr>
            <p:nvPr/>
          </p:nvSpPr>
          <p:spPr bwMode="auto">
            <a:xfrm>
              <a:off x="3035" y="2855"/>
              <a:ext cx="357" cy="356"/>
            </a:xfrm>
            <a:custGeom>
              <a:avLst/>
              <a:gdLst>
                <a:gd name="T0" fmla="*/ 0 w 357"/>
                <a:gd name="T1" fmla="*/ 177 h 356"/>
                <a:gd name="T2" fmla="*/ 44 w 357"/>
                <a:gd name="T3" fmla="*/ 43 h 356"/>
                <a:gd name="T4" fmla="*/ 65 w 357"/>
                <a:gd name="T5" fmla="*/ 9 h 356"/>
                <a:gd name="T6" fmla="*/ 89 w 357"/>
                <a:gd name="T7" fmla="*/ 0 h 356"/>
                <a:gd name="T8" fmla="*/ 111 w 357"/>
                <a:gd name="T9" fmla="*/ 9 h 356"/>
                <a:gd name="T10" fmla="*/ 133 w 357"/>
                <a:gd name="T11" fmla="*/ 43 h 356"/>
                <a:gd name="T12" fmla="*/ 178 w 357"/>
                <a:gd name="T13" fmla="*/ 177 h 356"/>
                <a:gd name="T14" fmla="*/ 222 w 357"/>
                <a:gd name="T15" fmla="*/ 310 h 356"/>
                <a:gd name="T16" fmla="*/ 244 w 357"/>
                <a:gd name="T17" fmla="*/ 343 h 356"/>
                <a:gd name="T18" fmla="*/ 267 w 357"/>
                <a:gd name="T19" fmla="*/ 355 h 356"/>
                <a:gd name="T20" fmla="*/ 289 w 357"/>
                <a:gd name="T21" fmla="*/ 343 h 356"/>
                <a:gd name="T22" fmla="*/ 311 w 357"/>
                <a:gd name="T23" fmla="*/ 310 h 356"/>
                <a:gd name="T24" fmla="*/ 356 w 357"/>
                <a:gd name="T25" fmla="*/ 177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7" h="356">
                  <a:moveTo>
                    <a:pt x="0" y="177"/>
                  </a:moveTo>
                  <a:lnTo>
                    <a:pt x="44" y="43"/>
                  </a:lnTo>
                  <a:lnTo>
                    <a:pt x="65" y="9"/>
                  </a:lnTo>
                  <a:lnTo>
                    <a:pt x="89" y="0"/>
                  </a:lnTo>
                  <a:lnTo>
                    <a:pt x="111" y="9"/>
                  </a:lnTo>
                  <a:lnTo>
                    <a:pt x="133" y="43"/>
                  </a:lnTo>
                  <a:lnTo>
                    <a:pt x="178" y="177"/>
                  </a:lnTo>
                  <a:lnTo>
                    <a:pt x="222" y="310"/>
                  </a:lnTo>
                  <a:lnTo>
                    <a:pt x="244" y="343"/>
                  </a:lnTo>
                  <a:lnTo>
                    <a:pt x="267" y="355"/>
                  </a:lnTo>
                  <a:lnTo>
                    <a:pt x="289" y="343"/>
                  </a:lnTo>
                  <a:lnTo>
                    <a:pt x="311" y="310"/>
                  </a:lnTo>
                  <a:lnTo>
                    <a:pt x="356" y="177"/>
                  </a:lnTo>
                </a:path>
              </a:pathLst>
            </a:custGeom>
            <a:noFill/>
            <a:ln w="25400" cap="rnd" cmpd="sng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19"/>
            <p:cNvSpPr>
              <a:spLocks/>
            </p:cNvSpPr>
            <p:nvPr/>
          </p:nvSpPr>
          <p:spPr bwMode="auto">
            <a:xfrm>
              <a:off x="3391" y="2855"/>
              <a:ext cx="357" cy="356"/>
            </a:xfrm>
            <a:custGeom>
              <a:avLst/>
              <a:gdLst>
                <a:gd name="T0" fmla="*/ 0 w 357"/>
                <a:gd name="T1" fmla="*/ 177 h 356"/>
                <a:gd name="T2" fmla="*/ 44 w 357"/>
                <a:gd name="T3" fmla="*/ 43 h 356"/>
                <a:gd name="T4" fmla="*/ 66 w 357"/>
                <a:gd name="T5" fmla="*/ 9 h 356"/>
                <a:gd name="T6" fmla="*/ 89 w 357"/>
                <a:gd name="T7" fmla="*/ 0 h 356"/>
                <a:gd name="T8" fmla="*/ 111 w 357"/>
                <a:gd name="T9" fmla="*/ 9 h 356"/>
                <a:gd name="T10" fmla="*/ 133 w 357"/>
                <a:gd name="T11" fmla="*/ 43 h 356"/>
                <a:gd name="T12" fmla="*/ 178 w 357"/>
                <a:gd name="T13" fmla="*/ 177 h 356"/>
                <a:gd name="T14" fmla="*/ 222 w 357"/>
                <a:gd name="T15" fmla="*/ 310 h 356"/>
                <a:gd name="T16" fmla="*/ 244 w 357"/>
                <a:gd name="T17" fmla="*/ 343 h 356"/>
                <a:gd name="T18" fmla="*/ 267 w 357"/>
                <a:gd name="T19" fmla="*/ 355 h 356"/>
                <a:gd name="T20" fmla="*/ 289 w 357"/>
                <a:gd name="T21" fmla="*/ 343 h 356"/>
                <a:gd name="T22" fmla="*/ 311 w 357"/>
                <a:gd name="T23" fmla="*/ 310 h 356"/>
                <a:gd name="T24" fmla="*/ 356 w 357"/>
                <a:gd name="T25" fmla="*/ 177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7" h="356">
                  <a:moveTo>
                    <a:pt x="0" y="177"/>
                  </a:moveTo>
                  <a:lnTo>
                    <a:pt x="44" y="43"/>
                  </a:lnTo>
                  <a:lnTo>
                    <a:pt x="66" y="9"/>
                  </a:lnTo>
                  <a:lnTo>
                    <a:pt x="89" y="0"/>
                  </a:lnTo>
                  <a:lnTo>
                    <a:pt x="111" y="9"/>
                  </a:lnTo>
                  <a:lnTo>
                    <a:pt x="133" y="43"/>
                  </a:lnTo>
                  <a:lnTo>
                    <a:pt x="178" y="177"/>
                  </a:lnTo>
                  <a:lnTo>
                    <a:pt x="222" y="310"/>
                  </a:lnTo>
                  <a:lnTo>
                    <a:pt x="244" y="343"/>
                  </a:lnTo>
                  <a:lnTo>
                    <a:pt x="267" y="355"/>
                  </a:lnTo>
                  <a:lnTo>
                    <a:pt x="289" y="343"/>
                  </a:lnTo>
                  <a:lnTo>
                    <a:pt x="311" y="310"/>
                  </a:lnTo>
                  <a:lnTo>
                    <a:pt x="356" y="177"/>
                  </a:lnTo>
                </a:path>
              </a:pathLst>
            </a:custGeom>
            <a:noFill/>
            <a:ln w="25400" cap="rnd" cmpd="sng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Freeform 20"/>
            <p:cNvSpPr>
              <a:spLocks/>
            </p:cNvSpPr>
            <p:nvPr/>
          </p:nvSpPr>
          <p:spPr bwMode="auto">
            <a:xfrm>
              <a:off x="4103" y="2855"/>
              <a:ext cx="357" cy="356"/>
            </a:xfrm>
            <a:custGeom>
              <a:avLst/>
              <a:gdLst>
                <a:gd name="T0" fmla="*/ 0 w 357"/>
                <a:gd name="T1" fmla="*/ 177 h 356"/>
                <a:gd name="T2" fmla="*/ 44 w 357"/>
                <a:gd name="T3" fmla="*/ 43 h 356"/>
                <a:gd name="T4" fmla="*/ 66 w 357"/>
                <a:gd name="T5" fmla="*/ 9 h 356"/>
                <a:gd name="T6" fmla="*/ 89 w 357"/>
                <a:gd name="T7" fmla="*/ 0 h 356"/>
                <a:gd name="T8" fmla="*/ 111 w 357"/>
                <a:gd name="T9" fmla="*/ 9 h 356"/>
                <a:gd name="T10" fmla="*/ 133 w 357"/>
                <a:gd name="T11" fmla="*/ 43 h 356"/>
                <a:gd name="T12" fmla="*/ 178 w 357"/>
                <a:gd name="T13" fmla="*/ 177 h 356"/>
                <a:gd name="T14" fmla="*/ 222 w 357"/>
                <a:gd name="T15" fmla="*/ 310 h 356"/>
                <a:gd name="T16" fmla="*/ 244 w 357"/>
                <a:gd name="T17" fmla="*/ 343 h 356"/>
                <a:gd name="T18" fmla="*/ 267 w 357"/>
                <a:gd name="T19" fmla="*/ 355 h 356"/>
                <a:gd name="T20" fmla="*/ 289 w 357"/>
                <a:gd name="T21" fmla="*/ 343 h 356"/>
                <a:gd name="T22" fmla="*/ 311 w 357"/>
                <a:gd name="T23" fmla="*/ 310 h 356"/>
                <a:gd name="T24" fmla="*/ 356 w 357"/>
                <a:gd name="T25" fmla="*/ 177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7" h="356">
                  <a:moveTo>
                    <a:pt x="0" y="177"/>
                  </a:moveTo>
                  <a:lnTo>
                    <a:pt x="44" y="43"/>
                  </a:lnTo>
                  <a:lnTo>
                    <a:pt x="66" y="9"/>
                  </a:lnTo>
                  <a:lnTo>
                    <a:pt x="89" y="0"/>
                  </a:lnTo>
                  <a:lnTo>
                    <a:pt x="111" y="9"/>
                  </a:lnTo>
                  <a:lnTo>
                    <a:pt x="133" y="43"/>
                  </a:lnTo>
                  <a:lnTo>
                    <a:pt x="178" y="177"/>
                  </a:lnTo>
                  <a:lnTo>
                    <a:pt x="222" y="310"/>
                  </a:lnTo>
                  <a:lnTo>
                    <a:pt x="244" y="343"/>
                  </a:lnTo>
                  <a:lnTo>
                    <a:pt x="267" y="355"/>
                  </a:lnTo>
                  <a:lnTo>
                    <a:pt x="289" y="343"/>
                  </a:lnTo>
                  <a:lnTo>
                    <a:pt x="311" y="310"/>
                  </a:lnTo>
                  <a:lnTo>
                    <a:pt x="356" y="177"/>
                  </a:lnTo>
                </a:path>
              </a:pathLst>
            </a:custGeom>
            <a:noFill/>
            <a:ln w="25400" cap="rnd" cmpd="sng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Freeform 21"/>
            <p:cNvSpPr>
              <a:spLocks/>
            </p:cNvSpPr>
            <p:nvPr/>
          </p:nvSpPr>
          <p:spPr bwMode="auto">
            <a:xfrm>
              <a:off x="1255" y="2855"/>
              <a:ext cx="179" cy="356"/>
            </a:xfrm>
            <a:custGeom>
              <a:avLst/>
              <a:gdLst>
                <a:gd name="T0" fmla="*/ 0 w 179"/>
                <a:gd name="T1" fmla="*/ 177 h 356"/>
                <a:gd name="T2" fmla="*/ 22 w 179"/>
                <a:gd name="T3" fmla="*/ 43 h 356"/>
                <a:gd name="T4" fmla="*/ 34 w 179"/>
                <a:gd name="T5" fmla="*/ 9 h 356"/>
                <a:gd name="T6" fmla="*/ 44 w 179"/>
                <a:gd name="T7" fmla="*/ 0 h 356"/>
                <a:gd name="T8" fmla="*/ 55 w 179"/>
                <a:gd name="T9" fmla="*/ 9 h 356"/>
                <a:gd name="T10" fmla="*/ 65 w 179"/>
                <a:gd name="T11" fmla="*/ 43 h 356"/>
                <a:gd name="T12" fmla="*/ 89 w 179"/>
                <a:gd name="T13" fmla="*/ 177 h 356"/>
                <a:gd name="T14" fmla="*/ 111 w 179"/>
                <a:gd name="T15" fmla="*/ 310 h 356"/>
                <a:gd name="T16" fmla="*/ 123 w 179"/>
                <a:gd name="T17" fmla="*/ 343 h 356"/>
                <a:gd name="T18" fmla="*/ 133 w 179"/>
                <a:gd name="T19" fmla="*/ 355 h 356"/>
                <a:gd name="T20" fmla="*/ 144 w 179"/>
                <a:gd name="T21" fmla="*/ 343 h 356"/>
                <a:gd name="T22" fmla="*/ 154 w 179"/>
                <a:gd name="T23" fmla="*/ 310 h 356"/>
                <a:gd name="T24" fmla="*/ 178 w 179"/>
                <a:gd name="T25" fmla="*/ 177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9" h="356">
                  <a:moveTo>
                    <a:pt x="0" y="177"/>
                  </a:moveTo>
                  <a:lnTo>
                    <a:pt x="22" y="43"/>
                  </a:lnTo>
                  <a:lnTo>
                    <a:pt x="34" y="9"/>
                  </a:lnTo>
                  <a:lnTo>
                    <a:pt x="44" y="0"/>
                  </a:lnTo>
                  <a:lnTo>
                    <a:pt x="55" y="9"/>
                  </a:lnTo>
                  <a:lnTo>
                    <a:pt x="65" y="43"/>
                  </a:lnTo>
                  <a:lnTo>
                    <a:pt x="89" y="177"/>
                  </a:lnTo>
                  <a:lnTo>
                    <a:pt x="111" y="310"/>
                  </a:lnTo>
                  <a:lnTo>
                    <a:pt x="123" y="343"/>
                  </a:lnTo>
                  <a:lnTo>
                    <a:pt x="133" y="355"/>
                  </a:lnTo>
                  <a:lnTo>
                    <a:pt x="144" y="343"/>
                  </a:lnTo>
                  <a:lnTo>
                    <a:pt x="154" y="310"/>
                  </a:lnTo>
                  <a:lnTo>
                    <a:pt x="178" y="177"/>
                  </a:lnTo>
                </a:path>
              </a:pathLst>
            </a:custGeom>
            <a:noFill/>
            <a:ln w="25400" cap="rnd" cmpd="sng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auto">
            <a:xfrm>
              <a:off x="1433" y="2855"/>
              <a:ext cx="179" cy="356"/>
            </a:xfrm>
            <a:custGeom>
              <a:avLst/>
              <a:gdLst>
                <a:gd name="T0" fmla="*/ 0 w 179"/>
                <a:gd name="T1" fmla="*/ 177 h 356"/>
                <a:gd name="T2" fmla="*/ 22 w 179"/>
                <a:gd name="T3" fmla="*/ 43 h 356"/>
                <a:gd name="T4" fmla="*/ 34 w 179"/>
                <a:gd name="T5" fmla="*/ 9 h 356"/>
                <a:gd name="T6" fmla="*/ 44 w 179"/>
                <a:gd name="T7" fmla="*/ 0 h 356"/>
                <a:gd name="T8" fmla="*/ 55 w 179"/>
                <a:gd name="T9" fmla="*/ 9 h 356"/>
                <a:gd name="T10" fmla="*/ 65 w 179"/>
                <a:gd name="T11" fmla="*/ 43 h 356"/>
                <a:gd name="T12" fmla="*/ 89 w 179"/>
                <a:gd name="T13" fmla="*/ 177 h 356"/>
                <a:gd name="T14" fmla="*/ 111 w 179"/>
                <a:gd name="T15" fmla="*/ 310 h 356"/>
                <a:gd name="T16" fmla="*/ 123 w 179"/>
                <a:gd name="T17" fmla="*/ 343 h 356"/>
                <a:gd name="T18" fmla="*/ 133 w 179"/>
                <a:gd name="T19" fmla="*/ 355 h 356"/>
                <a:gd name="T20" fmla="*/ 144 w 179"/>
                <a:gd name="T21" fmla="*/ 343 h 356"/>
                <a:gd name="T22" fmla="*/ 154 w 179"/>
                <a:gd name="T23" fmla="*/ 310 h 356"/>
                <a:gd name="T24" fmla="*/ 178 w 179"/>
                <a:gd name="T25" fmla="*/ 177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9" h="356">
                  <a:moveTo>
                    <a:pt x="0" y="177"/>
                  </a:moveTo>
                  <a:lnTo>
                    <a:pt x="22" y="43"/>
                  </a:lnTo>
                  <a:lnTo>
                    <a:pt x="34" y="9"/>
                  </a:lnTo>
                  <a:lnTo>
                    <a:pt x="44" y="0"/>
                  </a:lnTo>
                  <a:lnTo>
                    <a:pt x="55" y="9"/>
                  </a:lnTo>
                  <a:lnTo>
                    <a:pt x="65" y="43"/>
                  </a:lnTo>
                  <a:lnTo>
                    <a:pt x="89" y="177"/>
                  </a:lnTo>
                  <a:lnTo>
                    <a:pt x="111" y="310"/>
                  </a:lnTo>
                  <a:lnTo>
                    <a:pt x="123" y="343"/>
                  </a:lnTo>
                  <a:lnTo>
                    <a:pt x="133" y="355"/>
                  </a:lnTo>
                  <a:lnTo>
                    <a:pt x="144" y="343"/>
                  </a:lnTo>
                  <a:lnTo>
                    <a:pt x="154" y="310"/>
                  </a:lnTo>
                  <a:lnTo>
                    <a:pt x="178" y="177"/>
                  </a:lnTo>
                </a:path>
              </a:pathLst>
            </a:custGeom>
            <a:noFill/>
            <a:ln w="25400" cap="rnd" cmpd="sng">
              <a:solidFill>
                <a:srgbClr val="00B05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9" name="Group 23"/>
          <p:cNvGrpSpPr>
            <a:grpSpLocks/>
          </p:cNvGrpSpPr>
          <p:nvPr/>
        </p:nvGrpSpPr>
        <p:grpSpPr bwMode="auto">
          <a:xfrm>
            <a:off x="2242195" y="3214588"/>
            <a:ext cx="6216650" cy="566738"/>
            <a:chOff x="543" y="2239"/>
            <a:chExt cx="3916" cy="357"/>
          </a:xfrm>
        </p:grpSpPr>
        <p:sp>
          <p:nvSpPr>
            <p:cNvPr id="20" name="Freeform 24"/>
            <p:cNvSpPr>
              <a:spLocks/>
            </p:cNvSpPr>
            <p:nvPr/>
          </p:nvSpPr>
          <p:spPr bwMode="auto">
            <a:xfrm>
              <a:off x="1255" y="2239"/>
              <a:ext cx="179" cy="357"/>
            </a:xfrm>
            <a:custGeom>
              <a:avLst/>
              <a:gdLst>
                <a:gd name="T0" fmla="*/ 0 w 179"/>
                <a:gd name="T1" fmla="*/ 178 h 357"/>
                <a:gd name="T2" fmla="*/ 22 w 179"/>
                <a:gd name="T3" fmla="*/ 44 h 357"/>
                <a:gd name="T4" fmla="*/ 34 w 179"/>
                <a:gd name="T5" fmla="*/ 10 h 357"/>
                <a:gd name="T6" fmla="*/ 44 w 179"/>
                <a:gd name="T7" fmla="*/ 0 h 357"/>
                <a:gd name="T8" fmla="*/ 55 w 179"/>
                <a:gd name="T9" fmla="*/ 10 h 357"/>
                <a:gd name="T10" fmla="*/ 65 w 179"/>
                <a:gd name="T11" fmla="*/ 44 h 357"/>
                <a:gd name="T12" fmla="*/ 89 w 179"/>
                <a:gd name="T13" fmla="*/ 178 h 357"/>
                <a:gd name="T14" fmla="*/ 111 w 179"/>
                <a:gd name="T15" fmla="*/ 310 h 357"/>
                <a:gd name="T16" fmla="*/ 123 w 179"/>
                <a:gd name="T17" fmla="*/ 344 h 357"/>
                <a:gd name="T18" fmla="*/ 133 w 179"/>
                <a:gd name="T19" fmla="*/ 356 h 357"/>
                <a:gd name="T20" fmla="*/ 144 w 179"/>
                <a:gd name="T21" fmla="*/ 344 h 357"/>
                <a:gd name="T22" fmla="*/ 154 w 179"/>
                <a:gd name="T23" fmla="*/ 310 h 357"/>
                <a:gd name="T24" fmla="*/ 178 w 179"/>
                <a:gd name="T25" fmla="*/ 178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9" h="357">
                  <a:moveTo>
                    <a:pt x="0" y="178"/>
                  </a:moveTo>
                  <a:lnTo>
                    <a:pt x="22" y="44"/>
                  </a:lnTo>
                  <a:lnTo>
                    <a:pt x="34" y="10"/>
                  </a:lnTo>
                  <a:lnTo>
                    <a:pt x="44" y="0"/>
                  </a:lnTo>
                  <a:lnTo>
                    <a:pt x="55" y="10"/>
                  </a:lnTo>
                  <a:lnTo>
                    <a:pt x="65" y="44"/>
                  </a:lnTo>
                  <a:lnTo>
                    <a:pt x="89" y="178"/>
                  </a:lnTo>
                  <a:lnTo>
                    <a:pt x="111" y="310"/>
                  </a:lnTo>
                  <a:lnTo>
                    <a:pt x="123" y="344"/>
                  </a:lnTo>
                  <a:lnTo>
                    <a:pt x="133" y="356"/>
                  </a:lnTo>
                  <a:lnTo>
                    <a:pt x="144" y="344"/>
                  </a:lnTo>
                  <a:lnTo>
                    <a:pt x="154" y="310"/>
                  </a:lnTo>
                  <a:lnTo>
                    <a:pt x="178" y="178"/>
                  </a:lnTo>
                </a:path>
              </a:pathLst>
            </a:custGeom>
            <a:noFill/>
            <a:ln w="25400" cap="rnd" cmpd="sng">
              <a:solidFill>
                <a:srgbClr val="FD7A2A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Freeform 25"/>
            <p:cNvSpPr>
              <a:spLocks/>
            </p:cNvSpPr>
            <p:nvPr/>
          </p:nvSpPr>
          <p:spPr bwMode="auto">
            <a:xfrm>
              <a:off x="1433" y="2239"/>
              <a:ext cx="179" cy="357"/>
            </a:xfrm>
            <a:custGeom>
              <a:avLst/>
              <a:gdLst>
                <a:gd name="T0" fmla="*/ 0 w 179"/>
                <a:gd name="T1" fmla="*/ 178 h 357"/>
                <a:gd name="T2" fmla="*/ 22 w 179"/>
                <a:gd name="T3" fmla="*/ 44 h 357"/>
                <a:gd name="T4" fmla="*/ 34 w 179"/>
                <a:gd name="T5" fmla="*/ 10 h 357"/>
                <a:gd name="T6" fmla="*/ 44 w 179"/>
                <a:gd name="T7" fmla="*/ 0 h 357"/>
                <a:gd name="T8" fmla="*/ 55 w 179"/>
                <a:gd name="T9" fmla="*/ 10 h 357"/>
                <a:gd name="T10" fmla="*/ 65 w 179"/>
                <a:gd name="T11" fmla="*/ 44 h 357"/>
                <a:gd name="T12" fmla="*/ 89 w 179"/>
                <a:gd name="T13" fmla="*/ 178 h 357"/>
                <a:gd name="T14" fmla="*/ 111 w 179"/>
                <a:gd name="T15" fmla="*/ 310 h 357"/>
                <a:gd name="T16" fmla="*/ 123 w 179"/>
                <a:gd name="T17" fmla="*/ 344 h 357"/>
                <a:gd name="T18" fmla="*/ 133 w 179"/>
                <a:gd name="T19" fmla="*/ 356 h 357"/>
                <a:gd name="T20" fmla="*/ 144 w 179"/>
                <a:gd name="T21" fmla="*/ 344 h 357"/>
                <a:gd name="T22" fmla="*/ 154 w 179"/>
                <a:gd name="T23" fmla="*/ 310 h 357"/>
                <a:gd name="T24" fmla="*/ 178 w 179"/>
                <a:gd name="T25" fmla="*/ 178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9" h="357">
                  <a:moveTo>
                    <a:pt x="0" y="178"/>
                  </a:moveTo>
                  <a:lnTo>
                    <a:pt x="22" y="44"/>
                  </a:lnTo>
                  <a:lnTo>
                    <a:pt x="34" y="10"/>
                  </a:lnTo>
                  <a:lnTo>
                    <a:pt x="44" y="0"/>
                  </a:lnTo>
                  <a:lnTo>
                    <a:pt x="55" y="10"/>
                  </a:lnTo>
                  <a:lnTo>
                    <a:pt x="65" y="44"/>
                  </a:lnTo>
                  <a:lnTo>
                    <a:pt x="89" y="178"/>
                  </a:lnTo>
                  <a:lnTo>
                    <a:pt x="111" y="310"/>
                  </a:lnTo>
                  <a:lnTo>
                    <a:pt x="123" y="344"/>
                  </a:lnTo>
                  <a:lnTo>
                    <a:pt x="133" y="356"/>
                  </a:lnTo>
                  <a:lnTo>
                    <a:pt x="144" y="344"/>
                  </a:lnTo>
                  <a:lnTo>
                    <a:pt x="154" y="310"/>
                  </a:lnTo>
                  <a:lnTo>
                    <a:pt x="178" y="178"/>
                  </a:lnTo>
                </a:path>
              </a:pathLst>
            </a:custGeom>
            <a:noFill/>
            <a:ln w="25400" cap="rnd" cmpd="sng">
              <a:solidFill>
                <a:srgbClr val="FD7A2A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Freeform 26"/>
            <p:cNvSpPr>
              <a:spLocks/>
            </p:cNvSpPr>
            <p:nvPr/>
          </p:nvSpPr>
          <p:spPr bwMode="auto">
            <a:xfrm>
              <a:off x="1611" y="2239"/>
              <a:ext cx="179" cy="357"/>
            </a:xfrm>
            <a:custGeom>
              <a:avLst/>
              <a:gdLst>
                <a:gd name="T0" fmla="*/ 0 w 179"/>
                <a:gd name="T1" fmla="*/ 178 h 357"/>
                <a:gd name="T2" fmla="*/ 22 w 179"/>
                <a:gd name="T3" fmla="*/ 44 h 357"/>
                <a:gd name="T4" fmla="*/ 34 w 179"/>
                <a:gd name="T5" fmla="*/ 10 h 357"/>
                <a:gd name="T6" fmla="*/ 44 w 179"/>
                <a:gd name="T7" fmla="*/ 0 h 357"/>
                <a:gd name="T8" fmla="*/ 55 w 179"/>
                <a:gd name="T9" fmla="*/ 10 h 357"/>
                <a:gd name="T10" fmla="*/ 65 w 179"/>
                <a:gd name="T11" fmla="*/ 44 h 357"/>
                <a:gd name="T12" fmla="*/ 89 w 179"/>
                <a:gd name="T13" fmla="*/ 178 h 357"/>
                <a:gd name="T14" fmla="*/ 111 w 179"/>
                <a:gd name="T15" fmla="*/ 310 h 357"/>
                <a:gd name="T16" fmla="*/ 123 w 179"/>
                <a:gd name="T17" fmla="*/ 344 h 357"/>
                <a:gd name="T18" fmla="*/ 133 w 179"/>
                <a:gd name="T19" fmla="*/ 356 h 357"/>
                <a:gd name="T20" fmla="*/ 144 w 179"/>
                <a:gd name="T21" fmla="*/ 344 h 357"/>
                <a:gd name="T22" fmla="*/ 154 w 179"/>
                <a:gd name="T23" fmla="*/ 310 h 357"/>
                <a:gd name="T24" fmla="*/ 178 w 179"/>
                <a:gd name="T25" fmla="*/ 178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9" h="357">
                  <a:moveTo>
                    <a:pt x="0" y="178"/>
                  </a:moveTo>
                  <a:lnTo>
                    <a:pt x="22" y="44"/>
                  </a:lnTo>
                  <a:lnTo>
                    <a:pt x="34" y="10"/>
                  </a:lnTo>
                  <a:lnTo>
                    <a:pt x="44" y="0"/>
                  </a:lnTo>
                  <a:lnTo>
                    <a:pt x="55" y="10"/>
                  </a:lnTo>
                  <a:lnTo>
                    <a:pt x="65" y="44"/>
                  </a:lnTo>
                  <a:lnTo>
                    <a:pt x="89" y="178"/>
                  </a:lnTo>
                  <a:lnTo>
                    <a:pt x="111" y="310"/>
                  </a:lnTo>
                  <a:lnTo>
                    <a:pt x="123" y="344"/>
                  </a:lnTo>
                  <a:lnTo>
                    <a:pt x="133" y="356"/>
                  </a:lnTo>
                  <a:lnTo>
                    <a:pt x="144" y="344"/>
                  </a:lnTo>
                  <a:lnTo>
                    <a:pt x="154" y="310"/>
                  </a:lnTo>
                  <a:lnTo>
                    <a:pt x="178" y="178"/>
                  </a:lnTo>
                </a:path>
              </a:pathLst>
            </a:custGeom>
            <a:noFill/>
            <a:ln w="25400" cap="rnd" cmpd="sng">
              <a:solidFill>
                <a:srgbClr val="FD7A2A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Freeform 27"/>
            <p:cNvSpPr>
              <a:spLocks/>
            </p:cNvSpPr>
            <p:nvPr/>
          </p:nvSpPr>
          <p:spPr bwMode="auto">
            <a:xfrm>
              <a:off x="1789" y="2239"/>
              <a:ext cx="179" cy="357"/>
            </a:xfrm>
            <a:custGeom>
              <a:avLst/>
              <a:gdLst>
                <a:gd name="T0" fmla="*/ 0 w 179"/>
                <a:gd name="T1" fmla="*/ 178 h 357"/>
                <a:gd name="T2" fmla="*/ 22 w 179"/>
                <a:gd name="T3" fmla="*/ 44 h 357"/>
                <a:gd name="T4" fmla="*/ 34 w 179"/>
                <a:gd name="T5" fmla="*/ 10 h 357"/>
                <a:gd name="T6" fmla="*/ 44 w 179"/>
                <a:gd name="T7" fmla="*/ 0 h 357"/>
                <a:gd name="T8" fmla="*/ 55 w 179"/>
                <a:gd name="T9" fmla="*/ 10 h 357"/>
                <a:gd name="T10" fmla="*/ 65 w 179"/>
                <a:gd name="T11" fmla="*/ 44 h 357"/>
                <a:gd name="T12" fmla="*/ 89 w 179"/>
                <a:gd name="T13" fmla="*/ 178 h 357"/>
                <a:gd name="T14" fmla="*/ 111 w 179"/>
                <a:gd name="T15" fmla="*/ 310 h 357"/>
                <a:gd name="T16" fmla="*/ 123 w 179"/>
                <a:gd name="T17" fmla="*/ 344 h 357"/>
                <a:gd name="T18" fmla="*/ 133 w 179"/>
                <a:gd name="T19" fmla="*/ 356 h 357"/>
                <a:gd name="T20" fmla="*/ 144 w 179"/>
                <a:gd name="T21" fmla="*/ 344 h 357"/>
                <a:gd name="T22" fmla="*/ 154 w 179"/>
                <a:gd name="T23" fmla="*/ 310 h 357"/>
                <a:gd name="T24" fmla="*/ 178 w 179"/>
                <a:gd name="T25" fmla="*/ 178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9" h="357">
                  <a:moveTo>
                    <a:pt x="0" y="178"/>
                  </a:moveTo>
                  <a:lnTo>
                    <a:pt x="22" y="44"/>
                  </a:lnTo>
                  <a:lnTo>
                    <a:pt x="34" y="10"/>
                  </a:lnTo>
                  <a:lnTo>
                    <a:pt x="44" y="0"/>
                  </a:lnTo>
                  <a:lnTo>
                    <a:pt x="55" y="10"/>
                  </a:lnTo>
                  <a:lnTo>
                    <a:pt x="65" y="44"/>
                  </a:lnTo>
                  <a:lnTo>
                    <a:pt x="89" y="178"/>
                  </a:lnTo>
                  <a:lnTo>
                    <a:pt x="111" y="310"/>
                  </a:lnTo>
                  <a:lnTo>
                    <a:pt x="123" y="344"/>
                  </a:lnTo>
                  <a:lnTo>
                    <a:pt x="133" y="356"/>
                  </a:lnTo>
                  <a:lnTo>
                    <a:pt x="144" y="344"/>
                  </a:lnTo>
                  <a:lnTo>
                    <a:pt x="154" y="310"/>
                  </a:lnTo>
                  <a:lnTo>
                    <a:pt x="178" y="178"/>
                  </a:lnTo>
                </a:path>
              </a:pathLst>
            </a:custGeom>
            <a:noFill/>
            <a:ln w="25400" cap="rnd" cmpd="sng">
              <a:solidFill>
                <a:srgbClr val="FD7A2A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Freeform 28"/>
            <p:cNvSpPr>
              <a:spLocks/>
            </p:cNvSpPr>
            <p:nvPr/>
          </p:nvSpPr>
          <p:spPr bwMode="auto">
            <a:xfrm>
              <a:off x="2323" y="2239"/>
              <a:ext cx="179" cy="357"/>
            </a:xfrm>
            <a:custGeom>
              <a:avLst/>
              <a:gdLst>
                <a:gd name="T0" fmla="*/ 0 w 179"/>
                <a:gd name="T1" fmla="*/ 178 h 357"/>
                <a:gd name="T2" fmla="*/ 22 w 179"/>
                <a:gd name="T3" fmla="*/ 44 h 357"/>
                <a:gd name="T4" fmla="*/ 34 w 179"/>
                <a:gd name="T5" fmla="*/ 10 h 357"/>
                <a:gd name="T6" fmla="*/ 44 w 179"/>
                <a:gd name="T7" fmla="*/ 0 h 357"/>
                <a:gd name="T8" fmla="*/ 56 w 179"/>
                <a:gd name="T9" fmla="*/ 10 h 357"/>
                <a:gd name="T10" fmla="*/ 65 w 179"/>
                <a:gd name="T11" fmla="*/ 44 h 357"/>
                <a:gd name="T12" fmla="*/ 89 w 179"/>
                <a:gd name="T13" fmla="*/ 178 h 357"/>
                <a:gd name="T14" fmla="*/ 111 w 179"/>
                <a:gd name="T15" fmla="*/ 310 h 357"/>
                <a:gd name="T16" fmla="*/ 123 w 179"/>
                <a:gd name="T17" fmla="*/ 344 h 357"/>
                <a:gd name="T18" fmla="*/ 133 w 179"/>
                <a:gd name="T19" fmla="*/ 356 h 357"/>
                <a:gd name="T20" fmla="*/ 145 w 179"/>
                <a:gd name="T21" fmla="*/ 344 h 357"/>
                <a:gd name="T22" fmla="*/ 154 w 179"/>
                <a:gd name="T23" fmla="*/ 310 h 357"/>
                <a:gd name="T24" fmla="*/ 178 w 179"/>
                <a:gd name="T25" fmla="*/ 178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9" h="357">
                  <a:moveTo>
                    <a:pt x="0" y="178"/>
                  </a:moveTo>
                  <a:lnTo>
                    <a:pt x="22" y="44"/>
                  </a:lnTo>
                  <a:lnTo>
                    <a:pt x="34" y="10"/>
                  </a:lnTo>
                  <a:lnTo>
                    <a:pt x="44" y="0"/>
                  </a:lnTo>
                  <a:lnTo>
                    <a:pt x="56" y="10"/>
                  </a:lnTo>
                  <a:lnTo>
                    <a:pt x="65" y="44"/>
                  </a:lnTo>
                  <a:lnTo>
                    <a:pt x="89" y="178"/>
                  </a:lnTo>
                  <a:lnTo>
                    <a:pt x="111" y="310"/>
                  </a:lnTo>
                  <a:lnTo>
                    <a:pt x="123" y="344"/>
                  </a:lnTo>
                  <a:lnTo>
                    <a:pt x="133" y="356"/>
                  </a:lnTo>
                  <a:lnTo>
                    <a:pt x="145" y="344"/>
                  </a:lnTo>
                  <a:lnTo>
                    <a:pt x="154" y="310"/>
                  </a:lnTo>
                  <a:lnTo>
                    <a:pt x="178" y="178"/>
                  </a:lnTo>
                </a:path>
              </a:pathLst>
            </a:custGeom>
            <a:noFill/>
            <a:ln w="25400" cap="rnd" cmpd="sng">
              <a:solidFill>
                <a:srgbClr val="FD7A2A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Freeform 29"/>
            <p:cNvSpPr>
              <a:spLocks/>
            </p:cNvSpPr>
            <p:nvPr/>
          </p:nvSpPr>
          <p:spPr bwMode="auto">
            <a:xfrm>
              <a:off x="2501" y="2239"/>
              <a:ext cx="179" cy="357"/>
            </a:xfrm>
            <a:custGeom>
              <a:avLst/>
              <a:gdLst>
                <a:gd name="T0" fmla="*/ 0 w 179"/>
                <a:gd name="T1" fmla="*/ 178 h 357"/>
                <a:gd name="T2" fmla="*/ 22 w 179"/>
                <a:gd name="T3" fmla="*/ 44 h 357"/>
                <a:gd name="T4" fmla="*/ 34 w 179"/>
                <a:gd name="T5" fmla="*/ 10 h 357"/>
                <a:gd name="T6" fmla="*/ 44 w 179"/>
                <a:gd name="T7" fmla="*/ 0 h 357"/>
                <a:gd name="T8" fmla="*/ 56 w 179"/>
                <a:gd name="T9" fmla="*/ 10 h 357"/>
                <a:gd name="T10" fmla="*/ 65 w 179"/>
                <a:gd name="T11" fmla="*/ 44 h 357"/>
                <a:gd name="T12" fmla="*/ 89 w 179"/>
                <a:gd name="T13" fmla="*/ 178 h 357"/>
                <a:gd name="T14" fmla="*/ 111 w 179"/>
                <a:gd name="T15" fmla="*/ 310 h 357"/>
                <a:gd name="T16" fmla="*/ 123 w 179"/>
                <a:gd name="T17" fmla="*/ 344 h 357"/>
                <a:gd name="T18" fmla="*/ 133 w 179"/>
                <a:gd name="T19" fmla="*/ 356 h 357"/>
                <a:gd name="T20" fmla="*/ 145 w 179"/>
                <a:gd name="T21" fmla="*/ 344 h 357"/>
                <a:gd name="T22" fmla="*/ 154 w 179"/>
                <a:gd name="T23" fmla="*/ 310 h 357"/>
                <a:gd name="T24" fmla="*/ 178 w 179"/>
                <a:gd name="T25" fmla="*/ 178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9" h="357">
                  <a:moveTo>
                    <a:pt x="0" y="178"/>
                  </a:moveTo>
                  <a:lnTo>
                    <a:pt x="22" y="44"/>
                  </a:lnTo>
                  <a:lnTo>
                    <a:pt x="34" y="10"/>
                  </a:lnTo>
                  <a:lnTo>
                    <a:pt x="44" y="0"/>
                  </a:lnTo>
                  <a:lnTo>
                    <a:pt x="56" y="10"/>
                  </a:lnTo>
                  <a:lnTo>
                    <a:pt x="65" y="44"/>
                  </a:lnTo>
                  <a:lnTo>
                    <a:pt x="89" y="178"/>
                  </a:lnTo>
                  <a:lnTo>
                    <a:pt x="111" y="310"/>
                  </a:lnTo>
                  <a:lnTo>
                    <a:pt x="123" y="344"/>
                  </a:lnTo>
                  <a:lnTo>
                    <a:pt x="133" y="356"/>
                  </a:lnTo>
                  <a:lnTo>
                    <a:pt x="145" y="344"/>
                  </a:lnTo>
                  <a:lnTo>
                    <a:pt x="154" y="310"/>
                  </a:lnTo>
                  <a:lnTo>
                    <a:pt x="178" y="178"/>
                  </a:lnTo>
                </a:path>
              </a:pathLst>
            </a:custGeom>
            <a:noFill/>
            <a:ln w="25400" cap="rnd" cmpd="sng">
              <a:solidFill>
                <a:srgbClr val="FD7A2A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Freeform 30"/>
            <p:cNvSpPr>
              <a:spLocks/>
            </p:cNvSpPr>
            <p:nvPr/>
          </p:nvSpPr>
          <p:spPr bwMode="auto">
            <a:xfrm>
              <a:off x="3747" y="2239"/>
              <a:ext cx="179" cy="357"/>
            </a:xfrm>
            <a:custGeom>
              <a:avLst/>
              <a:gdLst>
                <a:gd name="T0" fmla="*/ 0 w 179"/>
                <a:gd name="T1" fmla="*/ 178 h 357"/>
                <a:gd name="T2" fmla="*/ 22 w 179"/>
                <a:gd name="T3" fmla="*/ 44 h 357"/>
                <a:gd name="T4" fmla="*/ 34 w 179"/>
                <a:gd name="T5" fmla="*/ 10 h 357"/>
                <a:gd name="T6" fmla="*/ 44 w 179"/>
                <a:gd name="T7" fmla="*/ 0 h 357"/>
                <a:gd name="T8" fmla="*/ 56 w 179"/>
                <a:gd name="T9" fmla="*/ 10 h 357"/>
                <a:gd name="T10" fmla="*/ 66 w 179"/>
                <a:gd name="T11" fmla="*/ 44 h 357"/>
                <a:gd name="T12" fmla="*/ 89 w 179"/>
                <a:gd name="T13" fmla="*/ 178 h 357"/>
                <a:gd name="T14" fmla="*/ 111 w 179"/>
                <a:gd name="T15" fmla="*/ 310 h 357"/>
                <a:gd name="T16" fmla="*/ 123 w 179"/>
                <a:gd name="T17" fmla="*/ 344 h 357"/>
                <a:gd name="T18" fmla="*/ 133 w 179"/>
                <a:gd name="T19" fmla="*/ 356 h 357"/>
                <a:gd name="T20" fmla="*/ 145 w 179"/>
                <a:gd name="T21" fmla="*/ 344 h 357"/>
                <a:gd name="T22" fmla="*/ 155 w 179"/>
                <a:gd name="T23" fmla="*/ 310 h 357"/>
                <a:gd name="T24" fmla="*/ 178 w 179"/>
                <a:gd name="T25" fmla="*/ 178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9" h="357">
                  <a:moveTo>
                    <a:pt x="0" y="178"/>
                  </a:moveTo>
                  <a:lnTo>
                    <a:pt x="22" y="44"/>
                  </a:lnTo>
                  <a:lnTo>
                    <a:pt x="34" y="10"/>
                  </a:lnTo>
                  <a:lnTo>
                    <a:pt x="44" y="0"/>
                  </a:lnTo>
                  <a:lnTo>
                    <a:pt x="56" y="10"/>
                  </a:lnTo>
                  <a:lnTo>
                    <a:pt x="66" y="44"/>
                  </a:lnTo>
                  <a:lnTo>
                    <a:pt x="89" y="178"/>
                  </a:lnTo>
                  <a:lnTo>
                    <a:pt x="111" y="310"/>
                  </a:lnTo>
                  <a:lnTo>
                    <a:pt x="123" y="344"/>
                  </a:lnTo>
                  <a:lnTo>
                    <a:pt x="133" y="356"/>
                  </a:lnTo>
                  <a:lnTo>
                    <a:pt x="145" y="344"/>
                  </a:lnTo>
                  <a:lnTo>
                    <a:pt x="155" y="310"/>
                  </a:lnTo>
                  <a:lnTo>
                    <a:pt x="178" y="178"/>
                  </a:lnTo>
                </a:path>
              </a:pathLst>
            </a:custGeom>
            <a:noFill/>
            <a:ln w="25400" cap="rnd" cmpd="sng">
              <a:solidFill>
                <a:srgbClr val="FD7A2A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Freeform 31"/>
            <p:cNvSpPr>
              <a:spLocks/>
            </p:cNvSpPr>
            <p:nvPr/>
          </p:nvSpPr>
          <p:spPr bwMode="auto">
            <a:xfrm>
              <a:off x="3925" y="2239"/>
              <a:ext cx="179" cy="357"/>
            </a:xfrm>
            <a:custGeom>
              <a:avLst/>
              <a:gdLst>
                <a:gd name="T0" fmla="*/ 0 w 179"/>
                <a:gd name="T1" fmla="*/ 178 h 357"/>
                <a:gd name="T2" fmla="*/ 22 w 179"/>
                <a:gd name="T3" fmla="*/ 44 h 357"/>
                <a:gd name="T4" fmla="*/ 34 w 179"/>
                <a:gd name="T5" fmla="*/ 10 h 357"/>
                <a:gd name="T6" fmla="*/ 44 w 179"/>
                <a:gd name="T7" fmla="*/ 0 h 357"/>
                <a:gd name="T8" fmla="*/ 56 w 179"/>
                <a:gd name="T9" fmla="*/ 10 h 357"/>
                <a:gd name="T10" fmla="*/ 66 w 179"/>
                <a:gd name="T11" fmla="*/ 44 h 357"/>
                <a:gd name="T12" fmla="*/ 89 w 179"/>
                <a:gd name="T13" fmla="*/ 178 h 357"/>
                <a:gd name="T14" fmla="*/ 111 w 179"/>
                <a:gd name="T15" fmla="*/ 310 h 357"/>
                <a:gd name="T16" fmla="*/ 123 w 179"/>
                <a:gd name="T17" fmla="*/ 344 h 357"/>
                <a:gd name="T18" fmla="*/ 133 w 179"/>
                <a:gd name="T19" fmla="*/ 356 h 357"/>
                <a:gd name="T20" fmla="*/ 145 w 179"/>
                <a:gd name="T21" fmla="*/ 344 h 357"/>
                <a:gd name="T22" fmla="*/ 155 w 179"/>
                <a:gd name="T23" fmla="*/ 310 h 357"/>
                <a:gd name="T24" fmla="*/ 178 w 179"/>
                <a:gd name="T25" fmla="*/ 178 h 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9" h="357">
                  <a:moveTo>
                    <a:pt x="0" y="178"/>
                  </a:moveTo>
                  <a:lnTo>
                    <a:pt x="22" y="44"/>
                  </a:lnTo>
                  <a:lnTo>
                    <a:pt x="34" y="10"/>
                  </a:lnTo>
                  <a:lnTo>
                    <a:pt x="44" y="0"/>
                  </a:lnTo>
                  <a:lnTo>
                    <a:pt x="56" y="10"/>
                  </a:lnTo>
                  <a:lnTo>
                    <a:pt x="66" y="44"/>
                  </a:lnTo>
                  <a:lnTo>
                    <a:pt x="89" y="178"/>
                  </a:lnTo>
                  <a:lnTo>
                    <a:pt x="111" y="310"/>
                  </a:lnTo>
                  <a:lnTo>
                    <a:pt x="123" y="344"/>
                  </a:lnTo>
                  <a:lnTo>
                    <a:pt x="133" y="356"/>
                  </a:lnTo>
                  <a:lnTo>
                    <a:pt x="145" y="344"/>
                  </a:lnTo>
                  <a:lnTo>
                    <a:pt x="155" y="310"/>
                  </a:lnTo>
                  <a:lnTo>
                    <a:pt x="178" y="178"/>
                  </a:lnTo>
                </a:path>
              </a:pathLst>
            </a:custGeom>
            <a:noFill/>
            <a:ln w="25400" cap="rnd" cmpd="sng">
              <a:solidFill>
                <a:srgbClr val="FD7A2A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32"/>
            <p:cNvSpPr>
              <a:spLocks noChangeShapeType="1"/>
            </p:cNvSpPr>
            <p:nvPr/>
          </p:nvSpPr>
          <p:spPr bwMode="auto">
            <a:xfrm flipH="1">
              <a:off x="543" y="2417"/>
              <a:ext cx="712" cy="0"/>
            </a:xfrm>
            <a:prstGeom prst="line">
              <a:avLst/>
            </a:prstGeom>
            <a:noFill/>
            <a:ln w="25400">
              <a:solidFill>
                <a:srgbClr val="FD7A2A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" name="Line 33"/>
            <p:cNvSpPr>
              <a:spLocks noChangeShapeType="1"/>
            </p:cNvSpPr>
            <p:nvPr/>
          </p:nvSpPr>
          <p:spPr bwMode="auto">
            <a:xfrm>
              <a:off x="1967" y="2417"/>
              <a:ext cx="356" cy="0"/>
            </a:xfrm>
            <a:prstGeom prst="line">
              <a:avLst/>
            </a:prstGeom>
            <a:noFill/>
            <a:ln w="25400">
              <a:solidFill>
                <a:srgbClr val="FD7A2A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" name="Line 34"/>
            <p:cNvSpPr>
              <a:spLocks noChangeShapeType="1"/>
            </p:cNvSpPr>
            <p:nvPr/>
          </p:nvSpPr>
          <p:spPr bwMode="auto">
            <a:xfrm>
              <a:off x="2679" y="2417"/>
              <a:ext cx="1068" cy="0"/>
            </a:xfrm>
            <a:prstGeom prst="line">
              <a:avLst/>
            </a:prstGeom>
            <a:noFill/>
            <a:ln w="25400">
              <a:solidFill>
                <a:srgbClr val="FD7A2A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" name="Line 35"/>
            <p:cNvSpPr>
              <a:spLocks noChangeShapeType="1"/>
            </p:cNvSpPr>
            <p:nvPr/>
          </p:nvSpPr>
          <p:spPr bwMode="auto">
            <a:xfrm>
              <a:off x="4103" y="2417"/>
              <a:ext cx="356" cy="0"/>
            </a:xfrm>
            <a:prstGeom prst="line">
              <a:avLst/>
            </a:prstGeom>
            <a:noFill/>
            <a:ln w="25400">
              <a:solidFill>
                <a:srgbClr val="FD7A2A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2" name="Group 36"/>
          <p:cNvGrpSpPr>
            <a:grpSpLocks/>
          </p:cNvGrpSpPr>
          <p:nvPr/>
        </p:nvGrpSpPr>
        <p:grpSpPr bwMode="auto">
          <a:xfrm>
            <a:off x="2242195" y="5168801"/>
            <a:ext cx="6218237" cy="565150"/>
            <a:chOff x="543" y="3470"/>
            <a:chExt cx="3917" cy="356"/>
          </a:xfrm>
        </p:grpSpPr>
        <p:sp>
          <p:nvSpPr>
            <p:cNvPr id="33" name="Freeform 37"/>
            <p:cNvSpPr>
              <a:spLocks/>
            </p:cNvSpPr>
            <p:nvPr/>
          </p:nvSpPr>
          <p:spPr bwMode="auto">
            <a:xfrm>
              <a:off x="543" y="3470"/>
              <a:ext cx="179" cy="356"/>
            </a:xfrm>
            <a:custGeom>
              <a:avLst/>
              <a:gdLst>
                <a:gd name="T0" fmla="*/ 0 w 179"/>
                <a:gd name="T1" fmla="*/ 178 h 356"/>
                <a:gd name="T2" fmla="*/ 22 w 179"/>
                <a:gd name="T3" fmla="*/ 43 h 356"/>
                <a:gd name="T4" fmla="*/ 34 w 179"/>
                <a:gd name="T5" fmla="*/ 10 h 356"/>
                <a:gd name="T6" fmla="*/ 43 w 179"/>
                <a:gd name="T7" fmla="*/ 0 h 356"/>
                <a:gd name="T8" fmla="*/ 55 w 179"/>
                <a:gd name="T9" fmla="*/ 10 h 356"/>
                <a:gd name="T10" fmla="*/ 65 w 179"/>
                <a:gd name="T11" fmla="*/ 43 h 356"/>
                <a:gd name="T12" fmla="*/ 89 w 179"/>
                <a:gd name="T13" fmla="*/ 178 h 356"/>
                <a:gd name="T14" fmla="*/ 111 w 179"/>
                <a:gd name="T15" fmla="*/ 310 h 356"/>
                <a:gd name="T16" fmla="*/ 123 w 179"/>
                <a:gd name="T17" fmla="*/ 344 h 356"/>
                <a:gd name="T18" fmla="*/ 132 w 179"/>
                <a:gd name="T19" fmla="*/ 355 h 356"/>
                <a:gd name="T20" fmla="*/ 144 w 179"/>
                <a:gd name="T21" fmla="*/ 344 h 356"/>
                <a:gd name="T22" fmla="*/ 154 w 179"/>
                <a:gd name="T23" fmla="*/ 310 h 356"/>
                <a:gd name="T24" fmla="*/ 178 w 179"/>
                <a:gd name="T25" fmla="*/ 178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9" h="356">
                  <a:moveTo>
                    <a:pt x="0" y="178"/>
                  </a:moveTo>
                  <a:lnTo>
                    <a:pt x="22" y="43"/>
                  </a:lnTo>
                  <a:lnTo>
                    <a:pt x="34" y="10"/>
                  </a:lnTo>
                  <a:lnTo>
                    <a:pt x="43" y="0"/>
                  </a:lnTo>
                  <a:lnTo>
                    <a:pt x="55" y="10"/>
                  </a:lnTo>
                  <a:lnTo>
                    <a:pt x="65" y="43"/>
                  </a:lnTo>
                  <a:lnTo>
                    <a:pt x="89" y="178"/>
                  </a:lnTo>
                  <a:lnTo>
                    <a:pt x="111" y="310"/>
                  </a:lnTo>
                  <a:lnTo>
                    <a:pt x="123" y="344"/>
                  </a:lnTo>
                  <a:lnTo>
                    <a:pt x="132" y="355"/>
                  </a:lnTo>
                  <a:lnTo>
                    <a:pt x="144" y="344"/>
                  </a:lnTo>
                  <a:lnTo>
                    <a:pt x="154" y="310"/>
                  </a:lnTo>
                  <a:lnTo>
                    <a:pt x="178" y="178"/>
                  </a:lnTo>
                </a:path>
              </a:pathLst>
            </a:custGeom>
            <a:noFill/>
            <a:ln w="25400" cap="rnd" cmpd="sng">
              <a:solidFill>
                <a:srgbClr val="FF66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Freeform 38"/>
            <p:cNvSpPr>
              <a:spLocks/>
            </p:cNvSpPr>
            <p:nvPr/>
          </p:nvSpPr>
          <p:spPr bwMode="auto">
            <a:xfrm>
              <a:off x="721" y="3470"/>
              <a:ext cx="179" cy="356"/>
            </a:xfrm>
            <a:custGeom>
              <a:avLst/>
              <a:gdLst>
                <a:gd name="T0" fmla="*/ 0 w 179"/>
                <a:gd name="T1" fmla="*/ 178 h 356"/>
                <a:gd name="T2" fmla="*/ 22 w 179"/>
                <a:gd name="T3" fmla="*/ 43 h 356"/>
                <a:gd name="T4" fmla="*/ 34 w 179"/>
                <a:gd name="T5" fmla="*/ 10 h 356"/>
                <a:gd name="T6" fmla="*/ 43 w 179"/>
                <a:gd name="T7" fmla="*/ 0 h 356"/>
                <a:gd name="T8" fmla="*/ 55 w 179"/>
                <a:gd name="T9" fmla="*/ 10 h 356"/>
                <a:gd name="T10" fmla="*/ 65 w 179"/>
                <a:gd name="T11" fmla="*/ 43 h 356"/>
                <a:gd name="T12" fmla="*/ 89 w 179"/>
                <a:gd name="T13" fmla="*/ 178 h 356"/>
                <a:gd name="T14" fmla="*/ 111 w 179"/>
                <a:gd name="T15" fmla="*/ 310 h 356"/>
                <a:gd name="T16" fmla="*/ 123 w 179"/>
                <a:gd name="T17" fmla="*/ 344 h 356"/>
                <a:gd name="T18" fmla="*/ 132 w 179"/>
                <a:gd name="T19" fmla="*/ 355 h 356"/>
                <a:gd name="T20" fmla="*/ 144 w 179"/>
                <a:gd name="T21" fmla="*/ 344 h 356"/>
                <a:gd name="T22" fmla="*/ 154 w 179"/>
                <a:gd name="T23" fmla="*/ 310 h 356"/>
                <a:gd name="T24" fmla="*/ 178 w 179"/>
                <a:gd name="T25" fmla="*/ 178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9" h="356">
                  <a:moveTo>
                    <a:pt x="0" y="178"/>
                  </a:moveTo>
                  <a:lnTo>
                    <a:pt x="22" y="43"/>
                  </a:lnTo>
                  <a:lnTo>
                    <a:pt x="34" y="10"/>
                  </a:lnTo>
                  <a:lnTo>
                    <a:pt x="43" y="0"/>
                  </a:lnTo>
                  <a:lnTo>
                    <a:pt x="55" y="10"/>
                  </a:lnTo>
                  <a:lnTo>
                    <a:pt x="65" y="43"/>
                  </a:lnTo>
                  <a:lnTo>
                    <a:pt x="89" y="178"/>
                  </a:lnTo>
                  <a:lnTo>
                    <a:pt x="111" y="310"/>
                  </a:lnTo>
                  <a:lnTo>
                    <a:pt x="123" y="344"/>
                  </a:lnTo>
                  <a:lnTo>
                    <a:pt x="132" y="355"/>
                  </a:lnTo>
                  <a:lnTo>
                    <a:pt x="144" y="344"/>
                  </a:lnTo>
                  <a:lnTo>
                    <a:pt x="154" y="310"/>
                  </a:lnTo>
                  <a:lnTo>
                    <a:pt x="178" y="178"/>
                  </a:lnTo>
                </a:path>
              </a:pathLst>
            </a:custGeom>
            <a:noFill/>
            <a:ln w="25400" cap="rnd" cmpd="sng">
              <a:solidFill>
                <a:srgbClr val="FF66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Freeform 39"/>
            <p:cNvSpPr>
              <a:spLocks/>
            </p:cNvSpPr>
            <p:nvPr/>
          </p:nvSpPr>
          <p:spPr bwMode="auto">
            <a:xfrm>
              <a:off x="1433" y="3470"/>
              <a:ext cx="179" cy="356"/>
            </a:xfrm>
            <a:custGeom>
              <a:avLst/>
              <a:gdLst>
                <a:gd name="T0" fmla="*/ 178 w 179"/>
                <a:gd name="T1" fmla="*/ 178 h 356"/>
                <a:gd name="T2" fmla="*/ 154 w 179"/>
                <a:gd name="T3" fmla="*/ 43 h 356"/>
                <a:gd name="T4" fmla="*/ 144 w 179"/>
                <a:gd name="T5" fmla="*/ 10 h 356"/>
                <a:gd name="T6" fmla="*/ 133 w 179"/>
                <a:gd name="T7" fmla="*/ 0 h 356"/>
                <a:gd name="T8" fmla="*/ 123 w 179"/>
                <a:gd name="T9" fmla="*/ 10 h 356"/>
                <a:gd name="T10" fmla="*/ 111 w 179"/>
                <a:gd name="T11" fmla="*/ 43 h 356"/>
                <a:gd name="T12" fmla="*/ 89 w 179"/>
                <a:gd name="T13" fmla="*/ 178 h 356"/>
                <a:gd name="T14" fmla="*/ 65 w 179"/>
                <a:gd name="T15" fmla="*/ 310 h 356"/>
                <a:gd name="T16" fmla="*/ 55 w 179"/>
                <a:gd name="T17" fmla="*/ 344 h 356"/>
                <a:gd name="T18" fmla="*/ 44 w 179"/>
                <a:gd name="T19" fmla="*/ 355 h 356"/>
                <a:gd name="T20" fmla="*/ 34 w 179"/>
                <a:gd name="T21" fmla="*/ 344 h 356"/>
                <a:gd name="T22" fmla="*/ 22 w 179"/>
                <a:gd name="T23" fmla="*/ 310 h 356"/>
                <a:gd name="T24" fmla="*/ 0 w 179"/>
                <a:gd name="T25" fmla="*/ 178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9" h="356">
                  <a:moveTo>
                    <a:pt x="178" y="178"/>
                  </a:moveTo>
                  <a:lnTo>
                    <a:pt x="154" y="43"/>
                  </a:lnTo>
                  <a:lnTo>
                    <a:pt x="144" y="10"/>
                  </a:lnTo>
                  <a:lnTo>
                    <a:pt x="133" y="0"/>
                  </a:lnTo>
                  <a:lnTo>
                    <a:pt x="123" y="10"/>
                  </a:lnTo>
                  <a:lnTo>
                    <a:pt x="111" y="43"/>
                  </a:lnTo>
                  <a:lnTo>
                    <a:pt x="89" y="178"/>
                  </a:lnTo>
                  <a:lnTo>
                    <a:pt x="65" y="310"/>
                  </a:lnTo>
                  <a:lnTo>
                    <a:pt x="55" y="344"/>
                  </a:lnTo>
                  <a:lnTo>
                    <a:pt x="44" y="355"/>
                  </a:lnTo>
                  <a:lnTo>
                    <a:pt x="34" y="344"/>
                  </a:lnTo>
                  <a:lnTo>
                    <a:pt x="22" y="310"/>
                  </a:lnTo>
                  <a:lnTo>
                    <a:pt x="0" y="178"/>
                  </a:lnTo>
                </a:path>
              </a:pathLst>
            </a:custGeom>
            <a:noFill/>
            <a:ln w="25400" cap="rnd" cmpd="sng">
              <a:solidFill>
                <a:srgbClr val="FF66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Freeform 40"/>
            <p:cNvSpPr>
              <a:spLocks/>
            </p:cNvSpPr>
            <p:nvPr/>
          </p:nvSpPr>
          <p:spPr bwMode="auto">
            <a:xfrm>
              <a:off x="1255" y="3470"/>
              <a:ext cx="179" cy="356"/>
            </a:xfrm>
            <a:custGeom>
              <a:avLst/>
              <a:gdLst>
                <a:gd name="T0" fmla="*/ 178 w 179"/>
                <a:gd name="T1" fmla="*/ 178 h 356"/>
                <a:gd name="T2" fmla="*/ 154 w 179"/>
                <a:gd name="T3" fmla="*/ 43 h 356"/>
                <a:gd name="T4" fmla="*/ 144 w 179"/>
                <a:gd name="T5" fmla="*/ 10 h 356"/>
                <a:gd name="T6" fmla="*/ 133 w 179"/>
                <a:gd name="T7" fmla="*/ 0 h 356"/>
                <a:gd name="T8" fmla="*/ 123 w 179"/>
                <a:gd name="T9" fmla="*/ 10 h 356"/>
                <a:gd name="T10" fmla="*/ 111 w 179"/>
                <a:gd name="T11" fmla="*/ 43 h 356"/>
                <a:gd name="T12" fmla="*/ 89 w 179"/>
                <a:gd name="T13" fmla="*/ 178 h 356"/>
                <a:gd name="T14" fmla="*/ 65 w 179"/>
                <a:gd name="T15" fmla="*/ 310 h 356"/>
                <a:gd name="T16" fmla="*/ 55 w 179"/>
                <a:gd name="T17" fmla="*/ 344 h 356"/>
                <a:gd name="T18" fmla="*/ 44 w 179"/>
                <a:gd name="T19" fmla="*/ 355 h 356"/>
                <a:gd name="T20" fmla="*/ 34 w 179"/>
                <a:gd name="T21" fmla="*/ 344 h 356"/>
                <a:gd name="T22" fmla="*/ 22 w 179"/>
                <a:gd name="T23" fmla="*/ 310 h 356"/>
                <a:gd name="T24" fmla="*/ 0 w 179"/>
                <a:gd name="T25" fmla="*/ 178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9" h="356">
                  <a:moveTo>
                    <a:pt x="178" y="178"/>
                  </a:moveTo>
                  <a:lnTo>
                    <a:pt x="154" y="43"/>
                  </a:lnTo>
                  <a:lnTo>
                    <a:pt x="144" y="10"/>
                  </a:lnTo>
                  <a:lnTo>
                    <a:pt x="133" y="0"/>
                  </a:lnTo>
                  <a:lnTo>
                    <a:pt x="123" y="10"/>
                  </a:lnTo>
                  <a:lnTo>
                    <a:pt x="111" y="43"/>
                  </a:lnTo>
                  <a:lnTo>
                    <a:pt x="89" y="178"/>
                  </a:lnTo>
                  <a:lnTo>
                    <a:pt x="65" y="310"/>
                  </a:lnTo>
                  <a:lnTo>
                    <a:pt x="55" y="344"/>
                  </a:lnTo>
                  <a:lnTo>
                    <a:pt x="44" y="355"/>
                  </a:lnTo>
                  <a:lnTo>
                    <a:pt x="34" y="344"/>
                  </a:lnTo>
                  <a:lnTo>
                    <a:pt x="22" y="310"/>
                  </a:lnTo>
                  <a:lnTo>
                    <a:pt x="0" y="178"/>
                  </a:lnTo>
                </a:path>
              </a:pathLst>
            </a:custGeom>
            <a:noFill/>
            <a:ln w="25400" cap="rnd" cmpd="sng">
              <a:solidFill>
                <a:srgbClr val="FF66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Freeform 41"/>
            <p:cNvSpPr>
              <a:spLocks/>
            </p:cNvSpPr>
            <p:nvPr/>
          </p:nvSpPr>
          <p:spPr bwMode="auto">
            <a:xfrm>
              <a:off x="1611" y="3470"/>
              <a:ext cx="179" cy="356"/>
            </a:xfrm>
            <a:custGeom>
              <a:avLst/>
              <a:gdLst>
                <a:gd name="T0" fmla="*/ 0 w 179"/>
                <a:gd name="T1" fmla="*/ 178 h 356"/>
                <a:gd name="T2" fmla="*/ 22 w 179"/>
                <a:gd name="T3" fmla="*/ 43 h 356"/>
                <a:gd name="T4" fmla="*/ 34 w 179"/>
                <a:gd name="T5" fmla="*/ 10 h 356"/>
                <a:gd name="T6" fmla="*/ 44 w 179"/>
                <a:gd name="T7" fmla="*/ 0 h 356"/>
                <a:gd name="T8" fmla="*/ 55 w 179"/>
                <a:gd name="T9" fmla="*/ 10 h 356"/>
                <a:gd name="T10" fmla="*/ 65 w 179"/>
                <a:gd name="T11" fmla="*/ 43 h 356"/>
                <a:gd name="T12" fmla="*/ 89 w 179"/>
                <a:gd name="T13" fmla="*/ 178 h 356"/>
                <a:gd name="T14" fmla="*/ 111 w 179"/>
                <a:gd name="T15" fmla="*/ 310 h 356"/>
                <a:gd name="T16" fmla="*/ 123 w 179"/>
                <a:gd name="T17" fmla="*/ 344 h 356"/>
                <a:gd name="T18" fmla="*/ 133 w 179"/>
                <a:gd name="T19" fmla="*/ 355 h 356"/>
                <a:gd name="T20" fmla="*/ 144 w 179"/>
                <a:gd name="T21" fmla="*/ 344 h 356"/>
                <a:gd name="T22" fmla="*/ 154 w 179"/>
                <a:gd name="T23" fmla="*/ 310 h 356"/>
                <a:gd name="T24" fmla="*/ 178 w 179"/>
                <a:gd name="T25" fmla="*/ 178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9" h="356">
                  <a:moveTo>
                    <a:pt x="0" y="178"/>
                  </a:moveTo>
                  <a:lnTo>
                    <a:pt x="22" y="43"/>
                  </a:lnTo>
                  <a:lnTo>
                    <a:pt x="34" y="10"/>
                  </a:lnTo>
                  <a:lnTo>
                    <a:pt x="44" y="0"/>
                  </a:lnTo>
                  <a:lnTo>
                    <a:pt x="55" y="10"/>
                  </a:lnTo>
                  <a:lnTo>
                    <a:pt x="65" y="43"/>
                  </a:lnTo>
                  <a:lnTo>
                    <a:pt x="89" y="178"/>
                  </a:lnTo>
                  <a:lnTo>
                    <a:pt x="111" y="310"/>
                  </a:lnTo>
                  <a:lnTo>
                    <a:pt x="123" y="344"/>
                  </a:lnTo>
                  <a:lnTo>
                    <a:pt x="133" y="355"/>
                  </a:lnTo>
                  <a:lnTo>
                    <a:pt x="144" y="344"/>
                  </a:lnTo>
                  <a:lnTo>
                    <a:pt x="154" y="310"/>
                  </a:lnTo>
                  <a:lnTo>
                    <a:pt x="178" y="178"/>
                  </a:lnTo>
                </a:path>
              </a:pathLst>
            </a:custGeom>
            <a:noFill/>
            <a:ln w="25400" cap="rnd" cmpd="sng">
              <a:solidFill>
                <a:srgbClr val="FF66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Freeform 42"/>
            <p:cNvSpPr>
              <a:spLocks/>
            </p:cNvSpPr>
            <p:nvPr/>
          </p:nvSpPr>
          <p:spPr bwMode="auto">
            <a:xfrm>
              <a:off x="1789" y="3470"/>
              <a:ext cx="179" cy="356"/>
            </a:xfrm>
            <a:custGeom>
              <a:avLst/>
              <a:gdLst>
                <a:gd name="T0" fmla="*/ 0 w 179"/>
                <a:gd name="T1" fmla="*/ 178 h 356"/>
                <a:gd name="T2" fmla="*/ 22 w 179"/>
                <a:gd name="T3" fmla="*/ 43 h 356"/>
                <a:gd name="T4" fmla="*/ 34 w 179"/>
                <a:gd name="T5" fmla="*/ 10 h 356"/>
                <a:gd name="T6" fmla="*/ 44 w 179"/>
                <a:gd name="T7" fmla="*/ 0 h 356"/>
                <a:gd name="T8" fmla="*/ 55 w 179"/>
                <a:gd name="T9" fmla="*/ 10 h 356"/>
                <a:gd name="T10" fmla="*/ 65 w 179"/>
                <a:gd name="T11" fmla="*/ 43 h 356"/>
                <a:gd name="T12" fmla="*/ 89 w 179"/>
                <a:gd name="T13" fmla="*/ 178 h 356"/>
                <a:gd name="T14" fmla="*/ 111 w 179"/>
                <a:gd name="T15" fmla="*/ 310 h 356"/>
                <a:gd name="T16" fmla="*/ 123 w 179"/>
                <a:gd name="T17" fmla="*/ 344 h 356"/>
                <a:gd name="T18" fmla="*/ 133 w 179"/>
                <a:gd name="T19" fmla="*/ 355 h 356"/>
                <a:gd name="T20" fmla="*/ 144 w 179"/>
                <a:gd name="T21" fmla="*/ 344 h 356"/>
                <a:gd name="T22" fmla="*/ 154 w 179"/>
                <a:gd name="T23" fmla="*/ 310 h 356"/>
                <a:gd name="T24" fmla="*/ 178 w 179"/>
                <a:gd name="T25" fmla="*/ 178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9" h="356">
                  <a:moveTo>
                    <a:pt x="0" y="178"/>
                  </a:moveTo>
                  <a:lnTo>
                    <a:pt x="22" y="43"/>
                  </a:lnTo>
                  <a:lnTo>
                    <a:pt x="34" y="10"/>
                  </a:lnTo>
                  <a:lnTo>
                    <a:pt x="44" y="0"/>
                  </a:lnTo>
                  <a:lnTo>
                    <a:pt x="55" y="10"/>
                  </a:lnTo>
                  <a:lnTo>
                    <a:pt x="65" y="43"/>
                  </a:lnTo>
                  <a:lnTo>
                    <a:pt x="89" y="178"/>
                  </a:lnTo>
                  <a:lnTo>
                    <a:pt x="111" y="310"/>
                  </a:lnTo>
                  <a:lnTo>
                    <a:pt x="123" y="344"/>
                  </a:lnTo>
                  <a:lnTo>
                    <a:pt x="133" y="355"/>
                  </a:lnTo>
                  <a:lnTo>
                    <a:pt x="144" y="344"/>
                  </a:lnTo>
                  <a:lnTo>
                    <a:pt x="154" y="310"/>
                  </a:lnTo>
                  <a:lnTo>
                    <a:pt x="178" y="178"/>
                  </a:lnTo>
                </a:path>
              </a:pathLst>
            </a:custGeom>
            <a:noFill/>
            <a:ln w="25400" cap="rnd" cmpd="sng">
              <a:solidFill>
                <a:srgbClr val="FF66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Freeform 43"/>
            <p:cNvSpPr>
              <a:spLocks/>
            </p:cNvSpPr>
            <p:nvPr/>
          </p:nvSpPr>
          <p:spPr bwMode="auto">
            <a:xfrm>
              <a:off x="899" y="3470"/>
              <a:ext cx="179" cy="356"/>
            </a:xfrm>
            <a:custGeom>
              <a:avLst/>
              <a:gdLst>
                <a:gd name="T0" fmla="*/ 0 w 179"/>
                <a:gd name="T1" fmla="*/ 178 h 356"/>
                <a:gd name="T2" fmla="*/ 22 w 179"/>
                <a:gd name="T3" fmla="*/ 43 h 356"/>
                <a:gd name="T4" fmla="*/ 34 w 179"/>
                <a:gd name="T5" fmla="*/ 10 h 356"/>
                <a:gd name="T6" fmla="*/ 43 w 179"/>
                <a:gd name="T7" fmla="*/ 0 h 356"/>
                <a:gd name="T8" fmla="*/ 55 w 179"/>
                <a:gd name="T9" fmla="*/ 10 h 356"/>
                <a:gd name="T10" fmla="*/ 65 w 179"/>
                <a:gd name="T11" fmla="*/ 43 h 356"/>
                <a:gd name="T12" fmla="*/ 89 w 179"/>
                <a:gd name="T13" fmla="*/ 178 h 356"/>
                <a:gd name="T14" fmla="*/ 111 w 179"/>
                <a:gd name="T15" fmla="*/ 310 h 356"/>
                <a:gd name="T16" fmla="*/ 123 w 179"/>
                <a:gd name="T17" fmla="*/ 344 h 356"/>
                <a:gd name="T18" fmla="*/ 132 w 179"/>
                <a:gd name="T19" fmla="*/ 355 h 356"/>
                <a:gd name="T20" fmla="*/ 144 w 179"/>
                <a:gd name="T21" fmla="*/ 344 h 356"/>
                <a:gd name="T22" fmla="*/ 154 w 179"/>
                <a:gd name="T23" fmla="*/ 310 h 356"/>
                <a:gd name="T24" fmla="*/ 178 w 179"/>
                <a:gd name="T25" fmla="*/ 178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9" h="356">
                  <a:moveTo>
                    <a:pt x="0" y="178"/>
                  </a:moveTo>
                  <a:lnTo>
                    <a:pt x="22" y="43"/>
                  </a:lnTo>
                  <a:lnTo>
                    <a:pt x="34" y="10"/>
                  </a:lnTo>
                  <a:lnTo>
                    <a:pt x="43" y="0"/>
                  </a:lnTo>
                  <a:lnTo>
                    <a:pt x="55" y="10"/>
                  </a:lnTo>
                  <a:lnTo>
                    <a:pt x="65" y="43"/>
                  </a:lnTo>
                  <a:lnTo>
                    <a:pt x="89" y="178"/>
                  </a:lnTo>
                  <a:lnTo>
                    <a:pt x="111" y="310"/>
                  </a:lnTo>
                  <a:lnTo>
                    <a:pt x="123" y="344"/>
                  </a:lnTo>
                  <a:lnTo>
                    <a:pt x="132" y="355"/>
                  </a:lnTo>
                  <a:lnTo>
                    <a:pt x="144" y="344"/>
                  </a:lnTo>
                  <a:lnTo>
                    <a:pt x="154" y="310"/>
                  </a:lnTo>
                  <a:lnTo>
                    <a:pt x="178" y="178"/>
                  </a:lnTo>
                </a:path>
              </a:pathLst>
            </a:custGeom>
            <a:noFill/>
            <a:ln w="25400" cap="rnd" cmpd="sng">
              <a:solidFill>
                <a:srgbClr val="FF66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Freeform 44"/>
            <p:cNvSpPr>
              <a:spLocks/>
            </p:cNvSpPr>
            <p:nvPr/>
          </p:nvSpPr>
          <p:spPr bwMode="auto">
            <a:xfrm>
              <a:off x="1077" y="3470"/>
              <a:ext cx="179" cy="356"/>
            </a:xfrm>
            <a:custGeom>
              <a:avLst/>
              <a:gdLst>
                <a:gd name="T0" fmla="*/ 0 w 179"/>
                <a:gd name="T1" fmla="*/ 178 h 356"/>
                <a:gd name="T2" fmla="*/ 22 w 179"/>
                <a:gd name="T3" fmla="*/ 43 h 356"/>
                <a:gd name="T4" fmla="*/ 34 w 179"/>
                <a:gd name="T5" fmla="*/ 10 h 356"/>
                <a:gd name="T6" fmla="*/ 43 w 179"/>
                <a:gd name="T7" fmla="*/ 0 h 356"/>
                <a:gd name="T8" fmla="*/ 55 w 179"/>
                <a:gd name="T9" fmla="*/ 10 h 356"/>
                <a:gd name="T10" fmla="*/ 65 w 179"/>
                <a:gd name="T11" fmla="*/ 43 h 356"/>
                <a:gd name="T12" fmla="*/ 89 w 179"/>
                <a:gd name="T13" fmla="*/ 178 h 356"/>
                <a:gd name="T14" fmla="*/ 111 w 179"/>
                <a:gd name="T15" fmla="*/ 310 h 356"/>
                <a:gd name="T16" fmla="*/ 123 w 179"/>
                <a:gd name="T17" fmla="*/ 344 h 356"/>
                <a:gd name="T18" fmla="*/ 133 w 179"/>
                <a:gd name="T19" fmla="*/ 355 h 356"/>
                <a:gd name="T20" fmla="*/ 144 w 179"/>
                <a:gd name="T21" fmla="*/ 344 h 356"/>
                <a:gd name="T22" fmla="*/ 154 w 179"/>
                <a:gd name="T23" fmla="*/ 310 h 356"/>
                <a:gd name="T24" fmla="*/ 178 w 179"/>
                <a:gd name="T25" fmla="*/ 178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9" h="356">
                  <a:moveTo>
                    <a:pt x="0" y="178"/>
                  </a:moveTo>
                  <a:lnTo>
                    <a:pt x="22" y="43"/>
                  </a:lnTo>
                  <a:lnTo>
                    <a:pt x="34" y="10"/>
                  </a:lnTo>
                  <a:lnTo>
                    <a:pt x="43" y="0"/>
                  </a:lnTo>
                  <a:lnTo>
                    <a:pt x="55" y="10"/>
                  </a:lnTo>
                  <a:lnTo>
                    <a:pt x="65" y="43"/>
                  </a:lnTo>
                  <a:lnTo>
                    <a:pt x="89" y="178"/>
                  </a:lnTo>
                  <a:lnTo>
                    <a:pt x="111" y="310"/>
                  </a:lnTo>
                  <a:lnTo>
                    <a:pt x="123" y="344"/>
                  </a:lnTo>
                  <a:lnTo>
                    <a:pt x="133" y="355"/>
                  </a:lnTo>
                  <a:lnTo>
                    <a:pt x="144" y="344"/>
                  </a:lnTo>
                  <a:lnTo>
                    <a:pt x="154" y="310"/>
                  </a:lnTo>
                  <a:lnTo>
                    <a:pt x="178" y="178"/>
                  </a:lnTo>
                </a:path>
              </a:pathLst>
            </a:custGeom>
            <a:noFill/>
            <a:ln w="25400" cap="rnd" cmpd="sng">
              <a:solidFill>
                <a:srgbClr val="FF66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Freeform 45"/>
            <p:cNvSpPr>
              <a:spLocks/>
            </p:cNvSpPr>
            <p:nvPr/>
          </p:nvSpPr>
          <p:spPr bwMode="auto">
            <a:xfrm>
              <a:off x="1967" y="3470"/>
              <a:ext cx="179" cy="356"/>
            </a:xfrm>
            <a:custGeom>
              <a:avLst/>
              <a:gdLst>
                <a:gd name="T0" fmla="*/ 0 w 179"/>
                <a:gd name="T1" fmla="*/ 178 h 356"/>
                <a:gd name="T2" fmla="*/ 22 w 179"/>
                <a:gd name="T3" fmla="*/ 43 h 356"/>
                <a:gd name="T4" fmla="*/ 34 w 179"/>
                <a:gd name="T5" fmla="*/ 10 h 356"/>
                <a:gd name="T6" fmla="*/ 44 w 179"/>
                <a:gd name="T7" fmla="*/ 0 h 356"/>
                <a:gd name="T8" fmla="*/ 55 w 179"/>
                <a:gd name="T9" fmla="*/ 10 h 356"/>
                <a:gd name="T10" fmla="*/ 65 w 179"/>
                <a:gd name="T11" fmla="*/ 43 h 356"/>
                <a:gd name="T12" fmla="*/ 89 w 179"/>
                <a:gd name="T13" fmla="*/ 178 h 356"/>
                <a:gd name="T14" fmla="*/ 111 w 179"/>
                <a:gd name="T15" fmla="*/ 310 h 356"/>
                <a:gd name="T16" fmla="*/ 123 w 179"/>
                <a:gd name="T17" fmla="*/ 344 h 356"/>
                <a:gd name="T18" fmla="*/ 133 w 179"/>
                <a:gd name="T19" fmla="*/ 355 h 356"/>
                <a:gd name="T20" fmla="*/ 144 w 179"/>
                <a:gd name="T21" fmla="*/ 344 h 356"/>
                <a:gd name="T22" fmla="*/ 154 w 179"/>
                <a:gd name="T23" fmla="*/ 310 h 356"/>
                <a:gd name="T24" fmla="*/ 178 w 179"/>
                <a:gd name="T25" fmla="*/ 178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9" h="356">
                  <a:moveTo>
                    <a:pt x="0" y="178"/>
                  </a:moveTo>
                  <a:lnTo>
                    <a:pt x="22" y="43"/>
                  </a:lnTo>
                  <a:lnTo>
                    <a:pt x="34" y="10"/>
                  </a:lnTo>
                  <a:lnTo>
                    <a:pt x="44" y="0"/>
                  </a:lnTo>
                  <a:lnTo>
                    <a:pt x="55" y="10"/>
                  </a:lnTo>
                  <a:lnTo>
                    <a:pt x="65" y="43"/>
                  </a:lnTo>
                  <a:lnTo>
                    <a:pt x="89" y="178"/>
                  </a:lnTo>
                  <a:lnTo>
                    <a:pt x="111" y="310"/>
                  </a:lnTo>
                  <a:lnTo>
                    <a:pt x="123" y="344"/>
                  </a:lnTo>
                  <a:lnTo>
                    <a:pt x="133" y="355"/>
                  </a:lnTo>
                  <a:lnTo>
                    <a:pt x="144" y="344"/>
                  </a:lnTo>
                  <a:lnTo>
                    <a:pt x="154" y="310"/>
                  </a:lnTo>
                  <a:lnTo>
                    <a:pt x="178" y="178"/>
                  </a:lnTo>
                </a:path>
              </a:pathLst>
            </a:custGeom>
            <a:noFill/>
            <a:ln w="25400" cap="rnd" cmpd="sng">
              <a:solidFill>
                <a:srgbClr val="FF66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Freeform 46"/>
            <p:cNvSpPr>
              <a:spLocks/>
            </p:cNvSpPr>
            <p:nvPr/>
          </p:nvSpPr>
          <p:spPr bwMode="auto">
            <a:xfrm>
              <a:off x="2145" y="3470"/>
              <a:ext cx="179" cy="356"/>
            </a:xfrm>
            <a:custGeom>
              <a:avLst/>
              <a:gdLst>
                <a:gd name="T0" fmla="*/ 0 w 179"/>
                <a:gd name="T1" fmla="*/ 178 h 356"/>
                <a:gd name="T2" fmla="*/ 22 w 179"/>
                <a:gd name="T3" fmla="*/ 43 h 356"/>
                <a:gd name="T4" fmla="*/ 34 w 179"/>
                <a:gd name="T5" fmla="*/ 10 h 356"/>
                <a:gd name="T6" fmla="*/ 44 w 179"/>
                <a:gd name="T7" fmla="*/ 0 h 356"/>
                <a:gd name="T8" fmla="*/ 55 w 179"/>
                <a:gd name="T9" fmla="*/ 10 h 356"/>
                <a:gd name="T10" fmla="*/ 65 w 179"/>
                <a:gd name="T11" fmla="*/ 43 h 356"/>
                <a:gd name="T12" fmla="*/ 89 w 179"/>
                <a:gd name="T13" fmla="*/ 178 h 356"/>
                <a:gd name="T14" fmla="*/ 111 w 179"/>
                <a:gd name="T15" fmla="*/ 310 h 356"/>
                <a:gd name="T16" fmla="*/ 123 w 179"/>
                <a:gd name="T17" fmla="*/ 344 h 356"/>
                <a:gd name="T18" fmla="*/ 133 w 179"/>
                <a:gd name="T19" fmla="*/ 355 h 356"/>
                <a:gd name="T20" fmla="*/ 145 w 179"/>
                <a:gd name="T21" fmla="*/ 344 h 356"/>
                <a:gd name="T22" fmla="*/ 154 w 179"/>
                <a:gd name="T23" fmla="*/ 310 h 356"/>
                <a:gd name="T24" fmla="*/ 178 w 179"/>
                <a:gd name="T25" fmla="*/ 178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9" h="356">
                  <a:moveTo>
                    <a:pt x="0" y="178"/>
                  </a:moveTo>
                  <a:lnTo>
                    <a:pt x="22" y="43"/>
                  </a:lnTo>
                  <a:lnTo>
                    <a:pt x="34" y="10"/>
                  </a:lnTo>
                  <a:lnTo>
                    <a:pt x="44" y="0"/>
                  </a:lnTo>
                  <a:lnTo>
                    <a:pt x="55" y="10"/>
                  </a:lnTo>
                  <a:lnTo>
                    <a:pt x="65" y="43"/>
                  </a:lnTo>
                  <a:lnTo>
                    <a:pt x="89" y="178"/>
                  </a:lnTo>
                  <a:lnTo>
                    <a:pt x="111" y="310"/>
                  </a:lnTo>
                  <a:lnTo>
                    <a:pt x="123" y="344"/>
                  </a:lnTo>
                  <a:lnTo>
                    <a:pt x="133" y="355"/>
                  </a:lnTo>
                  <a:lnTo>
                    <a:pt x="145" y="344"/>
                  </a:lnTo>
                  <a:lnTo>
                    <a:pt x="154" y="310"/>
                  </a:lnTo>
                  <a:lnTo>
                    <a:pt x="178" y="178"/>
                  </a:lnTo>
                </a:path>
              </a:pathLst>
            </a:custGeom>
            <a:noFill/>
            <a:ln w="25400" cap="rnd" cmpd="sng">
              <a:solidFill>
                <a:srgbClr val="FF66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Freeform 47"/>
            <p:cNvSpPr>
              <a:spLocks/>
            </p:cNvSpPr>
            <p:nvPr/>
          </p:nvSpPr>
          <p:spPr bwMode="auto">
            <a:xfrm>
              <a:off x="2857" y="3470"/>
              <a:ext cx="179" cy="356"/>
            </a:xfrm>
            <a:custGeom>
              <a:avLst/>
              <a:gdLst>
                <a:gd name="T0" fmla="*/ 178 w 179"/>
                <a:gd name="T1" fmla="*/ 178 h 356"/>
                <a:gd name="T2" fmla="*/ 154 w 179"/>
                <a:gd name="T3" fmla="*/ 43 h 356"/>
                <a:gd name="T4" fmla="*/ 145 w 179"/>
                <a:gd name="T5" fmla="*/ 10 h 356"/>
                <a:gd name="T6" fmla="*/ 133 w 179"/>
                <a:gd name="T7" fmla="*/ 0 h 356"/>
                <a:gd name="T8" fmla="*/ 123 w 179"/>
                <a:gd name="T9" fmla="*/ 10 h 356"/>
                <a:gd name="T10" fmla="*/ 111 w 179"/>
                <a:gd name="T11" fmla="*/ 43 h 356"/>
                <a:gd name="T12" fmla="*/ 89 w 179"/>
                <a:gd name="T13" fmla="*/ 178 h 356"/>
                <a:gd name="T14" fmla="*/ 65 w 179"/>
                <a:gd name="T15" fmla="*/ 310 h 356"/>
                <a:gd name="T16" fmla="*/ 56 w 179"/>
                <a:gd name="T17" fmla="*/ 344 h 356"/>
                <a:gd name="T18" fmla="*/ 44 w 179"/>
                <a:gd name="T19" fmla="*/ 355 h 356"/>
                <a:gd name="T20" fmla="*/ 34 w 179"/>
                <a:gd name="T21" fmla="*/ 344 h 356"/>
                <a:gd name="T22" fmla="*/ 22 w 179"/>
                <a:gd name="T23" fmla="*/ 310 h 356"/>
                <a:gd name="T24" fmla="*/ 0 w 179"/>
                <a:gd name="T25" fmla="*/ 178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9" h="356">
                  <a:moveTo>
                    <a:pt x="178" y="178"/>
                  </a:moveTo>
                  <a:lnTo>
                    <a:pt x="154" y="43"/>
                  </a:lnTo>
                  <a:lnTo>
                    <a:pt x="145" y="10"/>
                  </a:lnTo>
                  <a:lnTo>
                    <a:pt x="133" y="0"/>
                  </a:lnTo>
                  <a:lnTo>
                    <a:pt x="123" y="10"/>
                  </a:lnTo>
                  <a:lnTo>
                    <a:pt x="111" y="43"/>
                  </a:lnTo>
                  <a:lnTo>
                    <a:pt x="89" y="178"/>
                  </a:lnTo>
                  <a:lnTo>
                    <a:pt x="65" y="310"/>
                  </a:lnTo>
                  <a:lnTo>
                    <a:pt x="56" y="344"/>
                  </a:lnTo>
                  <a:lnTo>
                    <a:pt x="44" y="355"/>
                  </a:lnTo>
                  <a:lnTo>
                    <a:pt x="34" y="344"/>
                  </a:lnTo>
                  <a:lnTo>
                    <a:pt x="22" y="310"/>
                  </a:lnTo>
                  <a:lnTo>
                    <a:pt x="0" y="178"/>
                  </a:lnTo>
                </a:path>
              </a:pathLst>
            </a:custGeom>
            <a:noFill/>
            <a:ln w="25400" cap="rnd" cmpd="sng">
              <a:solidFill>
                <a:srgbClr val="FF66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Freeform 48"/>
            <p:cNvSpPr>
              <a:spLocks/>
            </p:cNvSpPr>
            <p:nvPr/>
          </p:nvSpPr>
          <p:spPr bwMode="auto">
            <a:xfrm>
              <a:off x="2679" y="3470"/>
              <a:ext cx="179" cy="356"/>
            </a:xfrm>
            <a:custGeom>
              <a:avLst/>
              <a:gdLst>
                <a:gd name="T0" fmla="*/ 178 w 179"/>
                <a:gd name="T1" fmla="*/ 178 h 356"/>
                <a:gd name="T2" fmla="*/ 154 w 179"/>
                <a:gd name="T3" fmla="*/ 43 h 356"/>
                <a:gd name="T4" fmla="*/ 145 w 179"/>
                <a:gd name="T5" fmla="*/ 10 h 356"/>
                <a:gd name="T6" fmla="*/ 133 w 179"/>
                <a:gd name="T7" fmla="*/ 0 h 356"/>
                <a:gd name="T8" fmla="*/ 123 w 179"/>
                <a:gd name="T9" fmla="*/ 10 h 356"/>
                <a:gd name="T10" fmla="*/ 111 w 179"/>
                <a:gd name="T11" fmla="*/ 43 h 356"/>
                <a:gd name="T12" fmla="*/ 89 w 179"/>
                <a:gd name="T13" fmla="*/ 178 h 356"/>
                <a:gd name="T14" fmla="*/ 65 w 179"/>
                <a:gd name="T15" fmla="*/ 310 h 356"/>
                <a:gd name="T16" fmla="*/ 56 w 179"/>
                <a:gd name="T17" fmla="*/ 344 h 356"/>
                <a:gd name="T18" fmla="*/ 44 w 179"/>
                <a:gd name="T19" fmla="*/ 355 h 356"/>
                <a:gd name="T20" fmla="*/ 34 w 179"/>
                <a:gd name="T21" fmla="*/ 344 h 356"/>
                <a:gd name="T22" fmla="*/ 22 w 179"/>
                <a:gd name="T23" fmla="*/ 310 h 356"/>
                <a:gd name="T24" fmla="*/ 0 w 179"/>
                <a:gd name="T25" fmla="*/ 178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9" h="356">
                  <a:moveTo>
                    <a:pt x="178" y="178"/>
                  </a:moveTo>
                  <a:lnTo>
                    <a:pt x="154" y="43"/>
                  </a:lnTo>
                  <a:lnTo>
                    <a:pt x="145" y="10"/>
                  </a:lnTo>
                  <a:lnTo>
                    <a:pt x="133" y="0"/>
                  </a:lnTo>
                  <a:lnTo>
                    <a:pt x="123" y="10"/>
                  </a:lnTo>
                  <a:lnTo>
                    <a:pt x="111" y="43"/>
                  </a:lnTo>
                  <a:lnTo>
                    <a:pt x="89" y="178"/>
                  </a:lnTo>
                  <a:lnTo>
                    <a:pt x="65" y="310"/>
                  </a:lnTo>
                  <a:lnTo>
                    <a:pt x="56" y="344"/>
                  </a:lnTo>
                  <a:lnTo>
                    <a:pt x="44" y="355"/>
                  </a:lnTo>
                  <a:lnTo>
                    <a:pt x="34" y="344"/>
                  </a:lnTo>
                  <a:lnTo>
                    <a:pt x="22" y="310"/>
                  </a:lnTo>
                  <a:lnTo>
                    <a:pt x="0" y="178"/>
                  </a:lnTo>
                </a:path>
              </a:pathLst>
            </a:custGeom>
            <a:noFill/>
            <a:ln w="25400" cap="rnd" cmpd="sng">
              <a:solidFill>
                <a:srgbClr val="FF66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Freeform 49"/>
            <p:cNvSpPr>
              <a:spLocks/>
            </p:cNvSpPr>
            <p:nvPr/>
          </p:nvSpPr>
          <p:spPr bwMode="auto">
            <a:xfrm>
              <a:off x="3213" y="3470"/>
              <a:ext cx="179" cy="356"/>
            </a:xfrm>
            <a:custGeom>
              <a:avLst/>
              <a:gdLst>
                <a:gd name="T0" fmla="*/ 178 w 179"/>
                <a:gd name="T1" fmla="*/ 178 h 356"/>
                <a:gd name="T2" fmla="*/ 155 w 179"/>
                <a:gd name="T3" fmla="*/ 43 h 356"/>
                <a:gd name="T4" fmla="*/ 145 w 179"/>
                <a:gd name="T5" fmla="*/ 10 h 356"/>
                <a:gd name="T6" fmla="*/ 133 w 179"/>
                <a:gd name="T7" fmla="*/ 0 h 356"/>
                <a:gd name="T8" fmla="*/ 123 w 179"/>
                <a:gd name="T9" fmla="*/ 10 h 356"/>
                <a:gd name="T10" fmla="*/ 111 w 179"/>
                <a:gd name="T11" fmla="*/ 43 h 356"/>
                <a:gd name="T12" fmla="*/ 89 w 179"/>
                <a:gd name="T13" fmla="*/ 178 h 356"/>
                <a:gd name="T14" fmla="*/ 66 w 179"/>
                <a:gd name="T15" fmla="*/ 310 h 356"/>
                <a:gd name="T16" fmla="*/ 56 w 179"/>
                <a:gd name="T17" fmla="*/ 344 h 356"/>
                <a:gd name="T18" fmla="*/ 44 w 179"/>
                <a:gd name="T19" fmla="*/ 355 h 356"/>
                <a:gd name="T20" fmla="*/ 34 w 179"/>
                <a:gd name="T21" fmla="*/ 344 h 356"/>
                <a:gd name="T22" fmla="*/ 22 w 179"/>
                <a:gd name="T23" fmla="*/ 310 h 356"/>
                <a:gd name="T24" fmla="*/ 0 w 179"/>
                <a:gd name="T25" fmla="*/ 178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9" h="356">
                  <a:moveTo>
                    <a:pt x="178" y="178"/>
                  </a:moveTo>
                  <a:lnTo>
                    <a:pt x="155" y="43"/>
                  </a:lnTo>
                  <a:lnTo>
                    <a:pt x="145" y="10"/>
                  </a:lnTo>
                  <a:lnTo>
                    <a:pt x="133" y="0"/>
                  </a:lnTo>
                  <a:lnTo>
                    <a:pt x="123" y="10"/>
                  </a:lnTo>
                  <a:lnTo>
                    <a:pt x="111" y="43"/>
                  </a:lnTo>
                  <a:lnTo>
                    <a:pt x="89" y="178"/>
                  </a:lnTo>
                  <a:lnTo>
                    <a:pt x="66" y="310"/>
                  </a:lnTo>
                  <a:lnTo>
                    <a:pt x="56" y="344"/>
                  </a:lnTo>
                  <a:lnTo>
                    <a:pt x="44" y="355"/>
                  </a:lnTo>
                  <a:lnTo>
                    <a:pt x="34" y="344"/>
                  </a:lnTo>
                  <a:lnTo>
                    <a:pt x="22" y="310"/>
                  </a:lnTo>
                  <a:lnTo>
                    <a:pt x="0" y="178"/>
                  </a:lnTo>
                </a:path>
              </a:pathLst>
            </a:custGeom>
            <a:noFill/>
            <a:ln w="25400" cap="rnd" cmpd="sng">
              <a:solidFill>
                <a:srgbClr val="FF66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Freeform 50"/>
            <p:cNvSpPr>
              <a:spLocks/>
            </p:cNvSpPr>
            <p:nvPr/>
          </p:nvSpPr>
          <p:spPr bwMode="auto">
            <a:xfrm>
              <a:off x="3035" y="3470"/>
              <a:ext cx="179" cy="356"/>
            </a:xfrm>
            <a:custGeom>
              <a:avLst/>
              <a:gdLst>
                <a:gd name="T0" fmla="*/ 178 w 179"/>
                <a:gd name="T1" fmla="*/ 178 h 356"/>
                <a:gd name="T2" fmla="*/ 154 w 179"/>
                <a:gd name="T3" fmla="*/ 43 h 356"/>
                <a:gd name="T4" fmla="*/ 145 w 179"/>
                <a:gd name="T5" fmla="*/ 10 h 356"/>
                <a:gd name="T6" fmla="*/ 133 w 179"/>
                <a:gd name="T7" fmla="*/ 0 h 356"/>
                <a:gd name="T8" fmla="*/ 123 w 179"/>
                <a:gd name="T9" fmla="*/ 10 h 356"/>
                <a:gd name="T10" fmla="*/ 111 w 179"/>
                <a:gd name="T11" fmla="*/ 43 h 356"/>
                <a:gd name="T12" fmla="*/ 89 w 179"/>
                <a:gd name="T13" fmla="*/ 178 h 356"/>
                <a:gd name="T14" fmla="*/ 65 w 179"/>
                <a:gd name="T15" fmla="*/ 310 h 356"/>
                <a:gd name="T16" fmla="*/ 56 w 179"/>
                <a:gd name="T17" fmla="*/ 344 h 356"/>
                <a:gd name="T18" fmla="*/ 44 w 179"/>
                <a:gd name="T19" fmla="*/ 355 h 356"/>
                <a:gd name="T20" fmla="*/ 34 w 179"/>
                <a:gd name="T21" fmla="*/ 344 h 356"/>
                <a:gd name="T22" fmla="*/ 22 w 179"/>
                <a:gd name="T23" fmla="*/ 310 h 356"/>
                <a:gd name="T24" fmla="*/ 0 w 179"/>
                <a:gd name="T25" fmla="*/ 178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9" h="356">
                  <a:moveTo>
                    <a:pt x="178" y="178"/>
                  </a:moveTo>
                  <a:lnTo>
                    <a:pt x="154" y="43"/>
                  </a:lnTo>
                  <a:lnTo>
                    <a:pt x="145" y="10"/>
                  </a:lnTo>
                  <a:lnTo>
                    <a:pt x="133" y="0"/>
                  </a:lnTo>
                  <a:lnTo>
                    <a:pt x="123" y="10"/>
                  </a:lnTo>
                  <a:lnTo>
                    <a:pt x="111" y="43"/>
                  </a:lnTo>
                  <a:lnTo>
                    <a:pt x="89" y="178"/>
                  </a:lnTo>
                  <a:lnTo>
                    <a:pt x="65" y="310"/>
                  </a:lnTo>
                  <a:lnTo>
                    <a:pt x="56" y="344"/>
                  </a:lnTo>
                  <a:lnTo>
                    <a:pt x="44" y="355"/>
                  </a:lnTo>
                  <a:lnTo>
                    <a:pt x="34" y="344"/>
                  </a:lnTo>
                  <a:lnTo>
                    <a:pt x="22" y="310"/>
                  </a:lnTo>
                  <a:lnTo>
                    <a:pt x="0" y="178"/>
                  </a:lnTo>
                </a:path>
              </a:pathLst>
            </a:custGeom>
            <a:noFill/>
            <a:ln w="25400" cap="rnd" cmpd="sng">
              <a:solidFill>
                <a:srgbClr val="FF66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Freeform 51"/>
            <p:cNvSpPr>
              <a:spLocks/>
            </p:cNvSpPr>
            <p:nvPr/>
          </p:nvSpPr>
          <p:spPr bwMode="auto">
            <a:xfrm>
              <a:off x="2501" y="3470"/>
              <a:ext cx="179" cy="356"/>
            </a:xfrm>
            <a:custGeom>
              <a:avLst/>
              <a:gdLst>
                <a:gd name="T0" fmla="*/ 178 w 179"/>
                <a:gd name="T1" fmla="*/ 178 h 356"/>
                <a:gd name="T2" fmla="*/ 154 w 179"/>
                <a:gd name="T3" fmla="*/ 43 h 356"/>
                <a:gd name="T4" fmla="*/ 145 w 179"/>
                <a:gd name="T5" fmla="*/ 10 h 356"/>
                <a:gd name="T6" fmla="*/ 133 w 179"/>
                <a:gd name="T7" fmla="*/ 0 h 356"/>
                <a:gd name="T8" fmla="*/ 123 w 179"/>
                <a:gd name="T9" fmla="*/ 10 h 356"/>
                <a:gd name="T10" fmla="*/ 111 w 179"/>
                <a:gd name="T11" fmla="*/ 43 h 356"/>
                <a:gd name="T12" fmla="*/ 89 w 179"/>
                <a:gd name="T13" fmla="*/ 178 h 356"/>
                <a:gd name="T14" fmla="*/ 65 w 179"/>
                <a:gd name="T15" fmla="*/ 310 h 356"/>
                <a:gd name="T16" fmla="*/ 56 w 179"/>
                <a:gd name="T17" fmla="*/ 344 h 356"/>
                <a:gd name="T18" fmla="*/ 44 w 179"/>
                <a:gd name="T19" fmla="*/ 355 h 356"/>
                <a:gd name="T20" fmla="*/ 34 w 179"/>
                <a:gd name="T21" fmla="*/ 344 h 356"/>
                <a:gd name="T22" fmla="*/ 22 w 179"/>
                <a:gd name="T23" fmla="*/ 310 h 356"/>
                <a:gd name="T24" fmla="*/ 0 w 179"/>
                <a:gd name="T25" fmla="*/ 178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9" h="356">
                  <a:moveTo>
                    <a:pt x="178" y="178"/>
                  </a:moveTo>
                  <a:lnTo>
                    <a:pt x="154" y="43"/>
                  </a:lnTo>
                  <a:lnTo>
                    <a:pt x="145" y="10"/>
                  </a:lnTo>
                  <a:lnTo>
                    <a:pt x="133" y="0"/>
                  </a:lnTo>
                  <a:lnTo>
                    <a:pt x="123" y="10"/>
                  </a:lnTo>
                  <a:lnTo>
                    <a:pt x="111" y="43"/>
                  </a:lnTo>
                  <a:lnTo>
                    <a:pt x="89" y="178"/>
                  </a:lnTo>
                  <a:lnTo>
                    <a:pt x="65" y="310"/>
                  </a:lnTo>
                  <a:lnTo>
                    <a:pt x="56" y="344"/>
                  </a:lnTo>
                  <a:lnTo>
                    <a:pt x="44" y="355"/>
                  </a:lnTo>
                  <a:lnTo>
                    <a:pt x="34" y="344"/>
                  </a:lnTo>
                  <a:lnTo>
                    <a:pt x="22" y="310"/>
                  </a:lnTo>
                  <a:lnTo>
                    <a:pt x="0" y="178"/>
                  </a:lnTo>
                </a:path>
              </a:pathLst>
            </a:custGeom>
            <a:noFill/>
            <a:ln w="25400" cap="rnd" cmpd="sng">
              <a:solidFill>
                <a:srgbClr val="FF66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Freeform 52"/>
            <p:cNvSpPr>
              <a:spLocks/>
            </p:cNvSpPr>
            <p:nvPr/>
          </p:nvSpPr>
          <p:spPr bwMode="auto">
            <a:xfrm>
              <a:off x="2323" y="3470"/>
              <a:ext cx="179" cy="356"/>
            </a:xfrm>
            <a:custGeom>
              <a:avLst/>
              <a:gdLst>
                <a:gd name="T0" fmla="*/ 178 w 179"/>
                <a:gd name="T1" fmla="*/ 178 h 356"/>
                <a:gd name="T2" fmla="*/ 154 w 179"/>
                <a:gd name="T3" fmla="*/ 43 h 356"/>
                <a:gd name="T4" fmla="*/ 145 w 179"/>
                <a:gd name="T5" fmla="*/ 10 h 356"/>
                <a:gd name="T6" fmla="*/ 133 w 179"/>
                <a:gd name="T7" fmla="*/ 0 h 356"/>
                <a:gd name="T8" fmla="*/ 123 w 179"/>
                <a:gd name="T9" fmla="*/ 10 h 356"/>
                <a:gd name="T10" fmla="*/ 111 w 179"/>
                <a:gd name="T11" fmla="*/ 43 h 356"/>
                <a:gd name="T12" fmla="*/ 89 w 179"/>
                <a:gd name="T13" fmla="*/ 178 h 356"/>
                <a:gd name="T14" fmla="*/ 65 w 179"/>
                <a:gd name="T15" fmla="*/ 310 h 356"/>
                <a:gd name="T16" fmla="*/ 56 w 179"/>
                <a:gd name="T17" fmla="*/ 344 h 356"/>
                <a:gd name="T18" fmla="*/ 44 w 179"/>
                <a:gd name="T19" fmla="*/ 355 h 356"/>
                <a:gd name="T20" fmla="*/ 34 w 179"/>
                <a:gd name="T21" fmla="*/ 344 h 356"/>
                <a:gd name="T22" fmla="*/ 22 w 179"/>
                <a:gd name="T23" fmla="*/ 310 h 356"/>
                <a:gd name="T24" fmla="*/ 0 w 179"/>
                <a:gd name="T25" fmla="*/ 178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9" h="356">
                  <a:moveTo>
                    <a:pt x="178" y="178"/>
                  </a:moveTo>
                  <a:lnTo>
                    <a:pt x="154" y="43"/>
                  </a:lnTo>
                  <a:lnTo>
                    <a:pt x="145" y="10"/>
                  </a:lnTo>
                  <a:lnTo>
                    <a:pt x="133" y="0"/>
                  </a:lnTo>
                  <a:lnTo>
                    <a:pt x="123" y="10"/>
                  </a:lnTo>
                  <a:lnTo>
                    <a:pt x="111" y="43"/>
                  </a:lnTo>
                  <a:lnTo>
                    <a:pt x="89" y="178"/>
                  </a:lnTo>
                  <a:lnTo>
                    <a:pt x="65" y="310"/>
                  </a:lnTo>
                  <a:lnTo>
                    <a:pt x="56" y="344"/>
                  </a:lnTo>
                  <a:lnTo>
                    <a:pt x="44" y="355"/>
                  </a:lnTo>
                  <a:lnTo>
                    <a:pt x="34" y="344"/>
                  </a:lnTo>
                  <a:lnTo>
                    <a:pt x="22" y="310"/>
                  </a:lnTo>
                  <a:lnTo>
                    <a:pt x="0" y="178"/>
                  </a:lnTo>
                </a:path>
              </a:pathLst>
            </a:custGeom>
            <a:noFill/>
            <a:ln w="25400" cap="rnd" cmpd="sng">
              <a:solidFill>
                <a:srgbClr val="FF66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Freeform 53"/>
            <p:cNvSpPr>
              <a:spLocks/>
            </p:cNvSpPr>
            <p:nvPr/>
          </p:nvSpPr>
          <p:spPr bwMode="auto">
            <a:xfrm>
              <a:off x="3747" y="3470"/>
              <a:ext cx="179" cy="356"/>
            </a:xfrm>
            <a:custGeom>
              <a:avLst/>
              <a:gdLst>
                <a:gd name="T0" fmla="*/ 0 w 179"/>
                <a:gd name="T1" fmla="*/ 178 h 356"/>
                <a:gd name="T2" fmla="*/ 22 w 179"/>
                <a:gd name="T3" fmla="*/ 43 h 356"/>
                <a:gd name="T4" fmla="*/ 34 w 179"/>
                <a:gd name="T5" fmla="*/ 10 h 356"/>
                <a:gd name="T6" fmla="*/ 44 w 179"/>
                <a:gd name="T7" fmla="*/ 0 h 356"/>
                <a:gd name="T8" fmla="*/ 56 w 179"/>
                <a:gd name="T9" fmla="*/ 10 h 356"/>
                <a:gd name="T10" fmla="*/ 66 w 179"/>
                <a:gd name="T11" fmla="*/ 43 h 356"/>
                <a:gd name="T12" fmla="*/ 89 w 179"/>
                <a:gd name="T13" fmla="*/ 178 h 356"/>
                <a:gd name="T14" fmla="*/ 111 w 179"/>
                <a:gd name="T15" fmla="*/ 310 h 356"/>
                <a:gd name="T16" fmla="*/ 123 w 179"/>
                <a:gd name="T17" fmla="*/ 344 h 356"/>
                <a:gd name="T18" fmla="*/ 133 w 179"/>
                <a:gd name="T19" fmla="*/ 355 h 356"/>
                <a:gd name="T20" fmla="*/ 145 w 179"/>
                <a:gd name="T21" fmla="*/ 344 h 356"/>
                <a:gd name="T22" fmla="*/ 155 w 179"/>
                <a:gd name="T23" fmla="*/ 310 h 356"/>
                <a:gd name="T24" fmla="*/ 178 w 179"/>
                <a:gd name="T25" fmla="*/ 178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9" h="356">
                  <a:moveTo>
                    <a:pt x="0" y="178"/>
                  </a:moveTo>
                  <a:lnTo>
                    <a:pt x="22" y="43"/>
                  </a:lnTo>
                  <a:lnTo>
                    <a:pt x="34" y="10"/>
                  </a:lnTo>
                  <a:lnTo>
                    <a:pt x="44" y="0"/>
                  </a:lnTo>
                  <a:lnTo>
                    <a:pt x="56" y="10"/>
                  </a:lnTo>
                  <a:lnTo>
                    <a:pt x="66" y="43"/>
                  </a:lnTo>
                  <a:lnTo>
                    <a:pt x="89" y="178"/>
                  </a:lnTo>
                  <a:lnTo>
                    <a:pt x="111" y="310"/>
                  </a:lnTo>
                  <a:lnTo>
                    <a:pt x="123" y="344"/>
                  </a:lnTo>
                  <a:lnTo>
                    <a:pt x="133" y="355"/>
                  </a:lnTo>
                  <a:lnTo>
                    <a:pt x="145" y="344"/>
                  </a:lnTo>
                  <a:lnTo>
                    <a:pt x="155" y="310"/>
                  </a:lnTo>
                  <a:lnTo>
                    <a:pt x="178" y="178"/>
                  </a:lnTo>
                </a:path>
              </a:pathLst>
            </a:custGeom>
            <a:noFill/>
            <a:ln w="25400" cap="rnd" cmpd="sng">
              <a:solidFill>
                <a:srgbClr val="FF66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Freeform 54"/>
            <p:cNvSpPr>
              <a:spLocks/>
            </p:cNvSpPr>
            <p:nvPr/>
          </p:nvSpPr>
          <p:spPr bwMode="auto">
            <a:xfrm>
              <a:off x="3925" y="3470"/>
              <a:ext cx="179" cy="356"/>
            </a:xfrm>
            <a:custGeom>
              <a:avLst/>
              <a:gdLst>
                <a:gd name="T0" fmla="*/ 0 w 179"/>
                <a:gd name="T1" fmla="*/ 178 h 356"/>
                <a:gd name="T2" fmla="*/ 22 w 179"/>
                <a:gd name="T3" fmla="*/ 43 h 356"/>
                <a:gd name="T4" fmla="*/ 34 w 179"/>
                <a:gd name="T5" fmla="*/ 10 h 356"/>
                <a:gd name="T6" fmla="*/ 44 w 179"/>
                <a:gd name="T7" fmla="*/ 0 h 356"/>
                <a:gd name="T8" fmla="*/ 56 w 179"/>
                <a:gd name="T9" fmla="*/ 10 h 356"/>
                <a:gd name="T10" fmla="*/ 66 w 179"/>
                <a:gd name="T11" fmla="*/ 43 h 356"/>
                <a:gd name="T12" fmla="*/ 89 w 179"/>
                <a:gd name="T13" fmla="*/ 178 h 356"/>
                <a:gd name="T14" fmla="*/ 111 w 179"/>
                <a:gd name="T15" fmla="*/ 310 h 356"/>
                <a:gd name="T16" fmla="*/ 123 w 179"/>
                <a:gd name="T17" fmla="*/ 344 h 356"/>
                <a:gd name="T18" fmla="*/ 133 w 179"/>
                <a:gd name="T19" fmla="*/ 355 h 356"/>
                <a:gd name="T20" fmla="*/ 145 w 179"/>
                <a:gd name="T21" fmla="*/ 344 h 356"/>
                <a:gd name="T22" fmla="*/ 155 w 179"/>
                <a:gd name="T23" fmla="*/ 310 h 356"/>
                <a:gd name="T24" fmla="*/ 178 w 179"/>
                <a:gd name="T25" fmla="*/ 178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9" h="356">
                  <a:moveTo>
                    <a:pt x="0" y="178"/>
                  </a:moveTo>
                  <a:lnTo>
                    <a:pt x="22" y="43"/>
                  </a:lnTo>
                  <a:lnTo>
                    <a:pt x="34" y="10"/>
                  </a:lnTo>
                  <a:lnTo>
                    <a:pt x="44" y="0"/>
                  </a:lnTo>
                  <a:lnTo>
                    <a:pt x="56" y="10"/>
                  </a:lnTo>
                  <a:lnTo>
                    <a:pt x="66" y="43"/>
                  </a:lnTo>
                  <a:lnTo>
                    <a:pt x="89" y="178"/>
                  </a:lnTo>
                  <a:lnTo>
                    <a:pt x="111" y="310"/>
                  </a:lnTo>
                  <a:lnTo>
                    <a:pt x="123" y="344"/>
                  </a:lnTo>
                  <a:lnTo>
                    <a:pt x="133" y="355"/>
                  </a:lnTo>
                  <a:lnTo>
                    <a:pt x="145" y="344"/>
                  </a:lnTo>
                  <a:lnTo>
                    <a:pt x="155" y="310"/>
                  </a:lnTo>
                  <a:lnTo>
                    <a:pt x="178" y="178"/>
                  </a:lnTo>
                </a:path>
              </a:pathLst>
            </a:custGeom>
            <a:noFill/>
            <a:ln w="25400" cap="rnd" cmpd="sng">
              <a:solidFill>
                <a:srgbClr val="FF66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Freeform 55"/>
            <p:cNvSpPr>
              <a:spLocks/>
            </p:cNvSpPr>
            <p:nvPr/>
          </p:nvSpPr>
          <p:spPr bwMode="auto">
            <a:xfrm>
              <a:off x="4103" y="3470"/>
              <a:ext cx="179" cy="356"/>
            </a:xfrm>
            <a:custGeom>
              <a:avLst/>
              <a:gdLst>
                <a:gd name="T0" fmla="*/ 0 w 179"/>
                <a:gd name="T1" fmla="*/ 178 h 356"/>
                <a:gd name="T2" fmla="*/ 22 w 179"/>
                <a:gd name="T3" fmla="*/ 43 h 356"/>
                <a:gd name="T4" fmla="*/ 34 w 179"/>
                <a:gd name="T5" fmla="*/ 10 h 356"/>
                <a:gd name="T6" fmla="*/ 44 w 179"/>
                <a:gd name="T7" fmla="*/ 0 h 356"/>
                <a:gd name="T8" fmla="*/ 56 w 179"/>
                <a:gd name="T9" fmla="*/ 10 h 356"/>
                <a:gd name="T10" fmla="*/ 66 w 179"/>
                <a:gd name="T11" fmla="*/ 43 h 356"/>
                <a:gd name="T12" fmla="*/ 89 w 179"/>
                <a:gd name="T13" fmla="*/ 178 h 356"/>
                <a:gd name="T14" fmla="*/ 111 w 179"/>
                <a:gd name="T15" fmla="*/ 310 h 356"/>
                <a:gd name="T16" fmla="*/ 123 w 179"/>
                <a:gd name="T17" fmla="*/ 344 h 356"/>
                <a:gd name="T18" fmla="*/ 133 w 179"/>
                <a:gd name="T19" fmla="*/ 355 h 356"/>
                <a:gd name="T20" fmla="*/ 145 w 179"/>
                <a:gd name="T21" fmla="*/ 344 h 356"/>
                <a:gd name="T22" fmla="*/ 155 w 179"/>
                <a:gd name="T23" fmla="*/ 310 h 356"/>
                <a:gd name="T24" fmla="*/ 178 w 179"/>
                <a:gd name="T25" fmla="*/ 178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9" h="356">
                  <a:moveTo>
                    <a:pt x="0" y="178"/>
                  </a:moveTo>
                  <a:lnTo>
                    <a:pt x="22" y="43"/>
                  </a:lnTo>
                  <a:lnTo>
                    <a:pt x="34" y="10"/>
                  </a:lnTo>
                  <a:lnTo>
                    <a:pt x="44" y="0"/>
                  </a:lnTo>
                  <a:lnTo>
                    <a:pt x="56" y="10"/>
                  </a:lnTo>
                  <a:lnTo>
                    <a:pt x="66" y="43"/>
                  </a:lnTo>
                  <a:lnTo>
                    <a:pt x="89" y="178"/>
                  </a:lnTo>
                  <a:lnTo>
                    <a:pt x="111" y="310"/>
                  </a:lnTo>
                  <a:lnTo>
                    <a:pt x="123" y="344"/>
                  </a:lnTo>
                  <a:lnTo>
                    <a:pt x="133" y="355"/>
                  </a:lnTo>
                  <a:lnTo>
                    <a:pt x="145" y="344"/>
                  </a:lnTo>
                  <a:lnTo>
                    <a:pt x="155" y="310"/>
                  </a:lnTo>
                  <a:lnTo>
                    <a:pt x="178" y="178"/>
                  </a:lnTo>
                </a:path>
              </a:pathLst>
            </a:custGeom>
            <a:noFill/>
            <a:ln w="25400" cap="rnd" cmpd="sng">
              <a:solidFill>
                <a:srgbClr val="FF66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Freeform 56"/>
            <p:cNvSpPr>
              <a:spLocks/>
            </p:cNvSpPr>
            <p:nvPr/>
          </p:nvSpPr>
          <p:spPr bwMode="auto">
            <a:xfrm>
              <a:off x="4281" y="3470"/>
              <a:ext cx="179" cy="356"/>
            </a:xfrm>
            <a:custGeom>
              <a:avLst/>
              <a:gdLst>
                <a:gd name="T0" fmla="*/ 0 w 179"/>
                <a:gd name="T1" fmla="*/ 178 h 356"/>
                <a:gd name="T2" fmla="*/ 22 w 179"/>
                <a:gd name="T3" fmla="*/ 43 h 356"/>
                <a:gd name="T4" fmla="*/ 34 w 179"/>
                <a:gd name="T5" fmla="*/ 10 h 356"/>
                <a:gd name="T6" fmla="*/ 44 w 179"/>
                <a:gd name="T7" fmla="*/ 0 h 356"/>
                <a:gd name="T8" fmla="*/ 56 w 179"/>
                <a:gd name="T9" fmla="*/ 10 h 356"/>
                <a:gd name="T10" fmla="*/ 66 w 179"/>
                <a:gd name="T11" fmla="*/ 43 h 356"/>
                <a:gd name="T12" fmla="*/ 89 w 179"/>
                <a:gd name="T13" fmla="*/ 178 h 356"/>
                <a:gd name="T14" fmla="*/ 111 w 179"/>
                <a:gd name="T15" fmla="*/ 310 h 356"/>
                <a:gd name="T16" fmla="*/ 123 w 179"/>
                <a:gd name="T17" fmla="*/ 344 h 356"/>
                <a:gd name="T18" fmla="*/ 133 w 179"/>
                <a:gd name="T19" fmla="*/ 355 h 356"/>
                <a:gd name="T20" fmla="*/ 145 w 179"/>
                <a:gd name="T21" fmla="*/ 344 h 356"/>
                <a:gd name="T22" fmla="*/ 155 w 179"/>
                <a:gd name="T23" fmla="*/ 310 h 356"/>
                <a:gd name="T24" fmla="*/ 178 w 179"/>
                <a:gd name="T25" fmla="*/ 178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9" h="356">
                  <a:moveTo>
                    <a:pt x="0" y="178"/>
                  </a:moveTo>
                  <a:lnTo>
                    <a:pt x="22" y="43"/>
                  </a:lnTo>
                  <a:lnTo>
                    <a:pt x="34" y="10"/>
                  </a:lnTo>
                  <a:lnTo>
                    <a:pt x="44" y="0"/>
                  </a:lnTo>
                  <a:lnTo>
                    <a:pt x="56" y="10"/>
                  </a:lnTo>
                  <a:lnTo>
                    <a:pt x="66" y="43"/>
                  </a:lnTo>
                  <a:lnTo>
                    <a:pt x="89" y="178"/>
                  </a:lnTo>
                  <a:lnTo>
                    <a:pt x="111" y="310"/>
                  </a:lnTo>
                  <a:lnTo>
                    <a:pt x="123" y="344"/>
                  </a:lnTo>
                  <a:lnTo>
                    <a:pt x="133" y="355"/>
                  </a:lnTo>
                  <a:lnTo>
                    <a:pt x="145" y="344"/>
                  </a:lnTo>
                  <a:lnTo>
                    <a:pt x="155" y="310"/>
                  </a:lnTo>
                  <a:lnTo>
                    <a:pt x="178" y="178"/>
                  </a:lnTo>
                </a:path>
              </a:pathLst>
            </a:custGeom>
            <a:noFill/>
            <a:ln w="25400" cap="rnd" cmpd="sng">
              <a:solidFill>
                <a:srgbClr val="FF66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Freeform 57"/>
            <p:cNvSpPr>
              <a:spLocks/>
            </p:cNvSpPr>
            <p:nvPr/>
          </p:nvSpPr>
          <p:spPr bwMode="auto">
            <a:xfrm>
              <a:off x="3569" y="3470"/>
              <a:ext cx="179" cy="356"/>
            </a:xfrm>
            <a:custGeom>
              <a:avLst/>
              <a:gdLst>
                <a:gd name="T0" fmla="*/ 178 w 179"/>
                <a:gd name="T1" fmla="*/ 178 h 356"/>
                <a:gd name="T2" fmla="*/ 155 w 179"/>
                <a:gd name="T3" fmla="*/ 43 h 356"/>
                <a:gd name="T4" fmla="*/ 145 w 179"/>
                <a:gd name="T5" fmla="*/ 10 h 356"/>
                <a:gd name="T6" fmla="*/ 133 w 179"/>
                <a:gd name="T7" fmla="*/ 0 h 356"/>
                <a:gd name="T8" fmla="*/ 123 w 179"/>
                <a:gd name="T9" fmla="*/ 10 h 356"/>
                <a:gd name="T10" fmla="*/ 111 w 179"/>
                <a:gd name="T11" fmla="*/ 43 h 356"/>
                <a:gd name="T12" fmla="*/ 89 w 179"/>
                <a:gd name="T13" fmla="*/ 178 h 356"/>
                <a:gd name="T14" fmla="*/ 66 w 179"/>
                <a:gd name="T15" fmla="*/ 310 h 356"/>
                <a:gd name="T16" fmla="*/ 56 w 179"/>
                <a:gd name="T17" fmla="*/ 344 h 356"/>
                <a:gd name="T18" fmla="*/ 44 w 179"/>
                <a:gd name="T19" fmla="*/ 355 h 356"/>
                <a:gd name="T20" fmla="*/ 34 w 179"/>
                <a:gd name="T21" fmla="*/ 344 h 356"/>
                <a:gd name="T22" fmla="*/ 22 w 179"/>
                <a:gd name="T23" fmla="*/ 310 h 356"/>
                <a:gd name="T24" fmla="*/ 0 w 179"/>
                <a:gd name="T25" fmla="*/ 178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9" h="356">
                  <a:moveTo>
                    <a:pt x="178" y="178"/>
                  </a:moveTo>
                  <a:lnTo>
                    <a:pt x="155" y="43"/>
                  </a:lnTo>
                  <a:lnTo>
                    <a:pt x="145" y="10"/>
                  </a:lnTo>
                  <a:lnTo>
                    <a:pt x="133" y="0"/>
                  </a:lnTo>
                  <a:lnTo>
                    <a:pt x="123" y="10"/>
                  </a:lnTo>
                  <a:lnTo>
                    <a:pt x="111" y="43"/>
                  </a:lnTo>
                  <a:lnTo>
                    <a:pt x="89" y="178"/>
                  </a:lnTo>
                  <a:lnTo>
                    <a:pt x="66" y="310"/>
                  </a:lnTo>
                  <a:lnTo>
                    <a:pt x="56" y="344"/>
                  </a:lnTo>
                  <a:lnTo>
                    <a:pt x="44" y="355"/>
                  </a:lnTo>
                  <a:lnTo>
                    <a:pt x="34" y="344"/>
                  </a:lnTo>
                  <a:lnTo>
                    <a:pt x="22" y="310"/>
                  </a:lnTo>
                  <a:lnTo>
                    <a:pt x="0" y="178"/>
                  </a:lnTo>
                </a:path>
              </a:pathLst>
            </a:custGeom>
            <a:noFill/>
            <a:ln w="25400" cap="rnd" cmpd="sng">
              <a:solidFill>
                <a:srgbClr val="FF66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Freeform 58"/>
            <p:cNvSpPr>
              <a:spLocks/>
            </p:cNvSpPr>
            <p:nvPr/>
          </p:nvSpPr>
          <p:spPr bwMode="auto">
            <a:xfrm>
              <a:off x="3391" y="3470"/>
              <a:ext cx="179" cy="356"/>
            </a:xfrm>
            <a:custGeom>
              <a:avLst/>
              <a:gdLst>
                <a:gd name="T0" fmla="*/ 178 w 179"/>
                <a:gd name="T1" fmla="*/ 178 h 356"/>
                <a:gd name="T2" fmla="*/ 155 w 179"/>
                <a:gd name="T3" fmla="*/ 43 h 356"/>
                <a:gd name="T4" fmla="*/ 145 w 179"/>
                <a:gd name="T5" fmla="*/ 10 h 356"/>
                <a:gd name="T6" fmla="*/ 133 w 179"/>
                <a:gd name="T7" fmla="*/ 0 h 356"/>
                <a:gd name="T8" fmla="*/ 123 w 179"/>
                <a:gd name="T9" fmla="*/ 10 h 356"/>
                <a:gd name="T10" fmla="*/ 111 w 179"/>
                <a:gd name="T11" fmla="*/ 43 h 356"/>
                <a:gd name="T12" fmla="*/ 89 w 179"/>
                <a:gd name="T13" fmla="*/ 178 h 356"/>
                <a:gd name="T14" fmla="*/ 66 w 179"/>
                <a:gd name="T15" fmla="*/ 310 h 356"/>
                <a:gd name="T16" fmla="*/ 56 w 179"/>
                <a:gd name="T17" fmla="*/ 344 h 356"/>
                <a:gd name="T18" fmla="*/ 44 w 179"/>
                <a:gd name="T19" fmla="*/ 355 h 356"/>
                <a:gd name="T20" fmla="*/ 34 w 179"/>
                <a:gd name="T21" fmla="*/ 344 h 356"/>
                <a:gd name="T22" fmla="*/ 22 w 179"/>
                <a:gd name="T23" fmla="*/ 310 h 356"/>
                <a:gd name="T24" fmla="*/ 0 w 179"/>
                <a:gd name="T25" fmla="*/ 178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9" h="356">
                  <a:moveTo>
                    <a:pt x="178" y="178"/>
                  </a:moveTo>
                  <a:lnTo>
                    <a:pt x="155" y="43"/>
                  </a:lnTo>
                  <a:lnTo>
                    <a:pt x="145" y="10"/>
                  </a:lnTo>
                  <a:lnTo>
                    <a:pt x="133" y="0"/>
                  </a:lnTo>
                  <a:lnTo>
                    <a:pt x="123" y="10"/>
                  </a:lnTo>
                  <a:lnTo>
                    <a:pt x="111" y="43"/>
                  </a:lnTo>
                  <a:lnTo>
                    <a:pt x="89" y="178"/>
                  </a:lnTo>
                  <a:lnTo>
                    <a:pt x="66" y="310"/>
                  </a:lnTo>
                  <a:lnTo>
                    <a:pt x="56" y="344"/>
                  </a:lnTo>
                  <a:lnTo>
                    <a:pt x="44" y="355"/>
                  </a:lnTo>
                  <a:lnTo>
                    <a:pt x="34" y="344"/>
                  </a:lnTo>
                  <a:lnTo>
                    <a:pt x="22" y="310"/>
                  </a:lnTo>
                  <a:lnTo>
                    <a:pt x="0" y="178"/>
                  </a:lnTo>
                </a:path>
              </a:pathLst>
            </a:custGeom>
            <a:noFill/>
            <a:ln w="25400" cap="rnd" cmpd="sng">
              <a:solidFill>
                <a:srgbClr val="FF660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5" name="Rectangle 59"/>
          <p:cNvSpPr>
            <a:spLocks noChangeArrowheads="1"/>
          </p:cNvSpPr>
          <p:nvPr/>
        </p:nvSpPr>
        <p:spPr bwMode="auto">
          <a:xfrm>
            <a:off x="2397770" y="1503263"/>
            <a:ext cx="3460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715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145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2800">
                <a:solidFill>
                  <a:srgbClr val="FF3255"/>
                </a:solidFill>
                <a:latin typeface="Arial Narrow" panose="020B0606020202030204" pitchFamily="34" charset="0"/>
              </a:rPr>
              <a:t>0</a:t>
            </a:r>
          </a:p>
        </p:txBody>
      </p:sp>
      <p:sp>
        <p:nvSpPr>
          <p:cNvPr id="56" name="Rectangle 60"/>
          <p:cNvSpPr>
            <a:spLocks noChangeArrowheads="1"/>
          </p:cNvSpPr>
          <p:nvPr/>
        </p:nvSpPr>
        <p:spPr bwMode="auto">
          <a:xfrm>
            <a:off x="2931170" y="1503263"/>
            <a:ext cx="3460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715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145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2800">
                <a:solidFill>
                  <a:srgbClr val="FF3255"/>
                </a:solidFill>
                <a:latin typeface="Arial Narrow" panose="020B0606020202030204" pitchFamily="34" charset="0"/>
              </a:rPr>
              <a:t>0</a:t>
            </a:r>
          </a:p>
        </p:txBody>
      </p:sp>
      <p:sp>
        <p:nvSpPr>
          <p:cNvPr id="57" name="Rectangle 61"/>
          <p:cNvSpPr>
            <a:spLocks noChangeArrowheads="1"/>
          </p:cNvSpPr>
          <p:nvPr/>
        </p:nvSpPr>
        <p:spPr bwMode="auto">
          <a:xfrm>
            <a:off x="3469332" y="1503263"/>
            <a:ext cx="3460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715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145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2800">
                <a:solidFill>
                  <a:srgbClr val="FF3255"/>
                </a:solidFill>
                <a:latin typeface="Arial Narrow" panose="020B0606020202030204" pitchFamily="34" charset="0"/>
              </a:rPr>
              <a:t>1</a:t>
            </a:r>
          </a:p>
        </p:txBody>
      </p:sp>
      <p:sp>
        <p:nvSpPr>
          <p:cNvPr id="58" name="Rectangle 62"/>
          <p:cNvSpPr>
            <a:spLocks noChangeArrowheads="1"/>
          </p:cNvSpPr>
          <p:nvPr/>
        </p:nvSpPr>
        <p:spPr bwMode="auto">
          <a:xfrm>
            <a:off x="3997970" y="1503263"/>
            <a:ext cx="3460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715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145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2800">
                <a:solidFill>
                  <a:srgbClr val="FF3255"/>
                </a:solidFill>
                <a:latin typeface="Arial Narrow" panose="020B0606020202030204" pitchFamily="34" charset="0"/>
              </a:rPr>
              <a:t>1</a:t>
            </a:r>
          </a:p>
        </p:txBody>
      </p:sp>
      <p:sp>
        <p:nvSpPr>
          <p:cNvPr id="59" name="Rectangle 63"/>
          <p:cNvSpPr>
            <a:spLocks noChangeArrowheads="1"/>
          </p:cNvSpPr>
          <p:nvPr/>
        </p:nvSpPr>
        <p:spPr bwMode="auto">
          <a:xfrm>
            <a:off x="4607570" y="1503263"/>
            <a:ext cx="3460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715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145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2800">
                <a:solidFill>
                  <a:srgbClr val="FF3255"/>
                </a:solidFill>
                <a:latin typeface="Arial Narrow" panose="020B0606020202030204" pitchFamily="34" charset="0"/>
              </a:rPr>
              <a:t>0</a:t>
            </a:r>
          </a:p>
        </p:txBody>
      </p:sp>
      <p:sp>
        <p:nvSpPr>
          <p:cNvPr id="60" name="Rectangle 64"/>
          <p:cNvSpPr>
            <a:spLocks noChangeArrowheads="1"/>
          </p:cNvSpPr>
          <p:nvPr/>
        </p:nvSpPr>
        <p:spPr bwMode="auto">
          <a:xfrm>
            <a:off x="5174307" y="1503263"/>
            <a:ext cx="3460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715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145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2800">
                <a:solidFill>
                  <a:srgbClr val="FF3255"/>
                </a:solidFill>
                <a:latin typeface="Arial Narrow" panose="020B0606020202030204" pitchFamily="34" charset="0"/>
              </a:rPr>
              <a:t>1</a:t>
            </a:r>
          </a:p>
        </p:txBody>
      </p:sp>
      <p:sp>
        <p:nvSpPr>
          <p:cNvPr id="61" name="Rectangle 65"/>
          <p:cNvSpPr>
            <a:spLocks noChangeArrowheads="1"/>
          </p:cNvSpPr>
          <p:nvPr/>
        </p:nvSpPr>
        <p:spPr bwMode="auto">
          <a:xfrm>
            <a:off x="6241107" y="1503263"/>
            <a:ext cx="3460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715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145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2800">
                <a:solidFill>
                  <a:srgbClr val="FF3255"/>
                </a:solidFill>
                <a:latin typeface="Arial Narrow" panose="020B0606020202030204" pitchFamily="34" charset="0"/>
              </a:rPr>
              <a:t>0</a:t>
            </a:r>
          </a:p>
        </p:txBody>
      </p:sp>
      <p:sp>
        <p:nvSpPr>
          <p:cNvPr id="62" name="Rectangle 66"/>
          <p:cNvSpPr>
            <a:spLocks noChangeArrowheads="1"/>
          </p:cNvSpPr>
          <p:nvPr/>
        </p:nvSpPr>
        <p:spPr bwMode="auto">
          <a:xfrm>
            <a:off x="5741045" y="1503263"/>
            <a:ext cx="3460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715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145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2800">
                <a:solidFill>
                  <a:srgbClr val="FF3255"/>
                </a:solidFill>
                <a:latin typeface="Arial Narrow" panose="020B0606020202030204" pitchFamily="34" charset="0"/>
              </a:rPr>
              <a:t>0</a:t>
            </a:r>
          </a:p>
        </p:txBody>
      </p:sp>
      <p:sp>
        <p:nvSpPr>
          <p:cNvPr id="63" name="Rectangle 67"/>
          <p:cNvSpPr>
            <a:spLocks noChangeArrowheads="1"/>
          </p:cNvSpPr>
          <p:nvPr/>
        </p:nvSpPr>
        <p:spPr bwMode="auto">
          <a:xfrm>
            <a:off x="6774507" y="1503263"/>
            <a:ext cx="3460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715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145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2800">
                <a:solidFill>
                  <a:srgbClr val="FF3255"/>
                </a:solidFill>
                <a:latin typeface="Arial Narrow" panose="020B0606020202030204" pitchFamily="34" charset="0"/>
              </a:rPr>
              <a:t>0</a:t>
            </a:r>
          </a:p>
        </p:txBody>
      </p:sp>
      <p:sp>
        <p:nvSpPr>
          <p:cNvPr id="64" name="Rectangle 68"/>
          <p:cNvSpPr>
            <a:spLocks noChangeArrowheads="1"/>
          </p:cNvSpPr>
          <p:nvPr/>
        </p:nvSpPr>
        <p:spPr bwMode="auto">
          <a:xfrm>
            <a:off x="7384107" y="1503263"/>
            <a:ext cx="3460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715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145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2800">
                <a:solidFill>
                  <a:srgbClr val="FF3255"/>
                </a:solidFill>
                <a:latin typeface="Arial Narrow" panose="020B0606020202030204" pitchFamily="34" charset="0"/>
              </a:rPr>
              <a:t>1</a:t>
            </a:r>
          </a:p>
        </p:txBody>
      </p:sp>
      <p:sp>
        <p:nvSpPr>
          <p:cNvPr id="65" name="Rectangle 69"/>
          <p:cNvSpPr>
            <a:spLocks noChangeArrowheads="1"/>
          </p:cNvSpPr>
          <p:nvPr/>
        </p:nvSpPr>
        <p:spPr bwMode="auto">
          <a:xfrm>
            <a:off x="7993707" y="1503263"/>
            <a:ext cx="3460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715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145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2800">
                <a:solidFill>
                  <a:srgbClr val="FF3255"/>
                </a:solidFill>
                <a:latin typeface="Arial Narrow" panose="020B0606020202030204" pitchFamily="34" charset="0"/>
              </a:rPr>
              <a:t>0</a:t>
            </a:r>
          </a:p>
        </p:txBody>
      </p:sp>
      <p:sp>
        <p:nvSpPr>
          <p:cNvPr id="66" name="Rectangle 70"/>
          <p:cNvSpPr>
            <a:spLocks noChangeArrowheads="1"/>
          </p:cNvSpPr>
          <p:nvPr/>
        </p:nvSpPr>
        <p:spPr bwMode="auto">
          <a:xfrm>
            <a:off x="807343" y="3279347"/>
            <a:ext cx="904094" cy="4376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715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145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hangingPunct="0">
              <a:lnSpc>
                <a:spcPct val="80000"/>
              </a:lnSpc>
            </a:pPr>
            <a:r>
              <a:rPr lang="zh-CN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调幅</a:t>
            </a:r>
          </a:p>
        </p:txBody>
      </p:sp>
      <p:sp>
        <p:nvSpPr>
          <p:cNvPr id="67" name="Rectangle 71"/>
          <p:cNvSpPr>
            <a:spLocks noChangeArrowheads="1"/>
          </p:cNvSpPr>
          <p:nvPr/>
        </p:nvSpPr>
        <p:spPr bwMode="auto">
          <a:xfrm>
            <a:off x="807343" y="4293096"/>
            <a:ext cx="904094" cy="4376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715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145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hangingPunct="0">
              <a:lnSpc>
                <a:spcPct val="80000"/>
              </a:lnSpc>
            </a:pPr>
            <a:r>
              <a:rPr lang="zh-CN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调频</a:t>
            </a:r>
          </a:p>
        </p:txBody>
      </p:sp>
      <p:sp>
        <p:nvSpPr>
          <p:cNvPr id="68" name="Rectangle 72"/>
          <p:cNvSpPr>
            <a:spLocks noChangeArrowheads="1"/>
          </p:cNvSpPr>
          <p:nvPr/>
        </p:nvSpPr>
        <p:spPr bwMode="auto">
          <a:xfrm>
            <a:off x="807343" y="5295571"/>
            <a:ext cx="904094" cy="4376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715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145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hangingPunct="0">
              <a:lnSpc>
                <a:spcPct val="80000"/>
              </a:lnSpc>
            </a:pPr>
            <a:r>
              <a:rPr lang="zh-CN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调相</a:t>
            </a:r>
          </a:p>
        </p:txBody>
      </p:sp>
      <p:sp>
        <p:nvSpPr>
          <p:cNvPr id="69" name="Rectangle 73"/>
          <p:cNvSpPr>
            <a:spLocks noChangeArrowheads="1"/>
          </p:cNvSpPr>
          <p:nvPr/>
        </p:nvSpPr>
        <p:spPr bwMode="auto">
          <a:xfrm>
            <a:off x="369193" y="2348880"/>
            <a:ext cx="1622239" cy="4376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715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145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hangingPunct="0">
              <a:lnSpc>
                <a:spcPct val="80000"/>
              </a:lnSpc>
            </a:pPr>
            <a:r>
              <a:rPr lang="zh-CN" altLang="en-US" sz="2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数字信号</a:t>
            </a:r>
          </a:p>
        </p:txBody>
      </p:sp>
      <p:sp>
        <p:nvSpPr>
          <p:cNvPr id="70" name="Rectangle 74"/>
          <p:cNvSpPr>
            <a:spLocks noChangeArrowheads="1"/>
          </p:cNvSpPr>
          <p:nvPr/>
        </p:nvSpPr>
        <p:spPr bwMode="auto">
          <a:xfrm>
            <a:off x="375543" y="1556792"/>
            <a:ext cx="1622239" cy="4376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715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145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hangingPunct="0">
              <a:lnSpc>
                <a:spcPct val="80000"/>
              </a:lnSpc>
            </a:pPr>
            <a:r>
              <a:rPr lang="zh-CN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数字数据</a:t>
            </a:r>
          </a:p>
        </p:txBody>
      </p:sp>
      <p:sp>
        <p:nvSpPr>
          <p:cNvPr id="71" name="Line 75"/>
          <p:cNvSpPr>
            <a:spLocks noChangeShapeType="1"/>
          </p:cNvSpPr>
          <p:nvPr/>
        </p:nvSpPr>
        <p:spPr bwMode="auto">
          <a:xfrm>
            <a:off x="2816870" y="1484784"/>
            <a:ext cx="0" cy="4608512"/>
          </a:xfrm>
          <a:prstGeom prst="line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" name="Line 76"/>
          <p:cNvSpPr>
            <a:spLocks noChangeShapeType="1"/>
          </p:cNvSpPr>
          <p:nvPr/>
        </p:nvSpPr>
        <p:spPr bwMode="auto">
          <a:xfrm>
            <a:off x="3378845" y="1484784"/>
            <a:ext cx="0" cy="4608512"/>
          </a:xfrm>
          <a:prstGeom prst="line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3" name="Line 77"/>
          <p:cNvSpPr>
            <a:spLocks noChangeShapeType="1"/>
          </p:cNvSpPr>
          <p:nvPr/>
        </p:nvSpPr>
        <p:spPr bwMode="auto">
          <a:xfrm>
            <a:off x="3940820" y="1484784"/>
            <a:ext cx="0" cy="4608512"/>
          </a:xfrm>
          <a:prstGeom prst="line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4" name="Line 78"/>
          <p:cNvSpPr>
            <a:spLocks noChangeShapeType="1"/>
          </p:cNvSpPr>
          <p:nvPr/>
        </p:nvSpPr>
        <p:spPr bwMode="auto">
          <a:xfrm>
            <a:off x="4502795" y="1484784"/>
            <a:ext cx="0" cy="4608512"/>
          </a:xfrm>
          <a:prstGeom prst="line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5" name="Line 79"/>
          <p:cNvSpPr>
            <a:spLocks noChangeShapeType="1"/>
          </p:cNvSpPr>
          <p:nvPr/>
        </p:nvSpPr>
        <p:spPr bwMode="auto">
          <a:xfrm>
            <a:off x="5079057" y="1484784"/>
            <a:ext cx="0" cy="4608512"/>
          </a:xfrm>
          <a:prstGeom prst="line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" name="Line 80"/>
          <p:cNvSpPr>
            <a:spLocks noChangeShapeType="1"/>
          </p:cNvSpPr>
          <p:nvPr/>
        </p:nvSpPr>
        <p:spPr bwMode="auto">
          <a:xfrm>
            <a:off x="5653732" y="1484784"/>
            <a:ext cx="0" cy="4608512"/>
          </a:xfrm>
          <a:prstGeom prst="line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" name="Line 81"/>
          <p:cNvSpPr>
            <a:spLocks noChangeShapeType="1"/>
          </p:cNvSpPr>
          <p:nvPr/>
        </p:nvSpPr>
        <p:spPr bwMode="auto">
          <a:xfrm>
            <a:off x="6201420" y="1484784"/>
            <a:ext cx="0" cy="4608512"/>
          </a:xfrm>
          <a:prstGeom prst="line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8" name="Line 82"/>
          <p:cNvSpPr>
            <a:spLocks noChangeShapeType="1"/>
          </p:cNvSpPr>
          <p:nvPr/>
        </p:nvSpPr>
        <p:spPr bwMode="auto">
          <a:xfrm>
            <a:off x="6706245" y="1484784"/>
            <a:ext cx="0" cy="4608512"/>
          </a:xfrm>
          <a:prstGeom prst="line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9" name="Line 83"/>
          <p:cNvSpPr>
            <a:spLocks noChangeShapeType="1"/>
          </p:cNvSpPr>
          <p:nvPr/>
        </p:nvSpPr>
        <p:spPr bwMode="auto">
          <a:xfrm>
            <a:off x="7325370" y="1484784"/>
            <a:ext cx="0" cy="4608512"/>
          </a:xfrm>
          <a:prstGeom prst="line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0" name="Line 84"/>
          <p:cNvSpPr>
            <a:spLocks noChangeShapeType="1"/>
          </p:cNvSpPr>
          <p:nvPr/>
        </p:nvSpPr>
        <p:spPr bwMode="auto">
          <a:xfrm>
            <a:off x="7887345" y="1484784"/>
            <a:ext cx="0" cy="4608512"/>
          </a:xfrm>
          <a:prstGeom prst="line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prstDash val="dash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cxnSp>
        <p:nvCxnSpPr>
          <p:cNvPr id="81" name="直接连接符 80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82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调制方式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83" name="直接连接符 82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</p:spTree>
    <p:extLst>
      <p:ext uri="{BB962C8B-B14F-4D97-AF65-F5344CB8AC3E}">
        <p14:creationId xmlns:p14="http://schemas.microsoft.com/office/powerpoint/2010/main" val="2453007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6" grpId="0"/>
      <p:bldP spid="67" grpId="0"/>
      <p:bldP spid="68" grpId="0"/>
      <p:bldP spid="6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/>
          <p:cNvSpPr/>
          <p:nvPr/>
        </p:nvSpPr>
        <p:spPr>
          <a:xfrm>
            <a:off x="8461631" y="6348095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15"/>
          <p:cNvSpPr txBox="1"/>
          <p:nvPr/>
        </p:nvSpPr>
        <p:spPr>
          <a:xfrm>
            <a:off x="8316416" y="6358818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pPr algn="ctr"/>
              <a:t>17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2" name="TextBox 15"/>
          <p:cNvSpPr txBox="1">
            <a:spLocks noChangeArrowheads="1"/>
          </p:cNvSpPr>
          <p:nvPr/>
        </p:nvSpPr>
        <p:spPr bwMode="auto">
          <a:xfrm>
            <a:off x="3110260" y="3685282"/>
            <a:ext cx="3405956" cy="2515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7730" tIns="33865" rIns="67730" bIns="33865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 indent="-342900"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工作方式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indent="-342900"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串行传输速率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indent="-342900"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调制解调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indent="-342900"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串行通信协议</a:t>
            </a:r>
            <a:endParaRPr lang="en-US" altLang="zh-CN" sz="2400" b="1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1404144" y="1772816"/>
            <a:ext cx="6264275" cy="1587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cxnSp>
        <p:nvCxnSpPr>
          <p:cNvPr id="15" name="直接连接符 14"/>
          <p:cNvCxnSpPr/>
          <p:nvPr/>
        </p:nvCxnSpPr>
        <p:spPr>
          <a:xfrm>
            <a:off x="1475582" y="3501603"/>
            <a:ext cx="6264275" cy="1588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sp>
        <p:nvSpPr>
          <p:cNvPr id="16" name="TextBox 10"/>
          <p:cNvSpPr txBox="1">
            <a:spLocks noChangeArrowheads="1"/>
          </p:cNvSpPr>
          <p:nvPr/>
        </p:nvSpPr>
        <p:spPr bwMode="auto">
          <a:xfrm>
            <a:off x="1475697" y="2056914"/>
            <a:ext cx="6985934" cy="1162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14000"/>
              </a:lnSpc>
            </a:pPr>
            <a:r>
              <a:rPr lang="zh-CN" altLang="en-US" sz="66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串行通信的概念</a:t>
            </a:r>
            <a:endParaRPr lang="zh-CN" altLang="en-US" sz="80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2625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通信协议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9" name="矩形 8"/>
          <p:cNvSpPr>
            <a:spLocks noChangeAspect="1"/>
          </p:cNvSpPr>
          <p:nvPr/>
        </p:nvSpPr>
        <p:spPr>
          <a:xfrm>
            <a:off x="1123913" y="3698542"/>
            <a:ext cx="7128792" cy="1602666"/>
          </a:xfrm>
          <a:prstGeom prst="rect">
            <a:avLst/>
          </a:prstGeom>
          <a:ln>
            <a:solidFill>
              <a:srgbClr val="0883C8"/>
            </a:solidFill>
            <a:prstDash val="soli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Picture 2" descr="E:\仝德志文件，勿删！\03-参考文档\！PPT图片及版面资源\06-PPT精选插图\12-标签\蓝色燕尾01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6200000">
            <a:off x="881380" y="4039337"/>
            <a:ext cx="1362654" cy="574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9"/>
          <p:cNvSpPr txBox="1"/>
          <p:nvPr/>
        </p:nvSpPr>
        <p:spPr>
          <a:xfrm>
            <a:off x="1348382" y="3764721"/>
            <a:ext cx="461665" cy="143510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协议内容</a:t>
            </a:r>
          </a:p>
        </p:txBody>
      </p:sp>
      <p:sp>
        <p:nvSpPr>
          <p:cNvPr id="12" name="TextBox 17"/>
          <p:cNvSpPr txBox="1"/>
          <p:nvPr/>
        </p:nvSpPr>
        <p:spPr>
          <a:xfrm>
            <a:off x="2052604" y="3704448"/>
            <a:ext cx="6081561" cy="1320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收发双方的同步方式、传输速率、通信报文格式；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传输控制步骤、及控制字符定义；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差错检验方式、数据编码。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369144" y="1942498"/>
            <a:ext cx="6019280" cy="11264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zh-CN" altLang="en-US" sz="28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通信收</a:t>
            </a:r>
            <a:r>
              <a:rPr lang="en-US" altLang="zh-CN" sz="28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sz="28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发双方必须共同遵守的基本通信规程。</a:t>
            </a:r>
          </a:p>
        </p:txBody>
      </p:sp>
      <p:sp>
        <p:nvSpPr>
          <p:cNvPr id="15" name="矩形 14"/>
          <p:cNvSpPr/>
          <p:nvPr/>
        </p:nvSpPr>
        <p:spPr>
          <a:xfrm>
            <a:off x="1123913" y="1872340"/>
            <a:ext cx="1179819" cy="112461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协议</a:t>
            </a:r>
          </a:p>
        </p:txBody>
      </p:sp>
      <p:sp>
        <p:nvSpPr>
          <p:cNvPr id="16" name="矩形 15"/>
          <p:cNvSpPr/>
          <p:nvPr/>
        </p:nvSpPr>
        <p:spPr>
          <a:xfrm>
            <a:off x="2303732" y="1872340"/>
            <a:ext cx="5948973" cy="1124612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通信收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发双方必须共同遵守的基本通信规程。</a:t>
            </a:r>
          </a:p>
        </p:txBody>
      </p:sp>
    </p:spTree>
    <p:extLst>
      <p:ext uri="{BB962C8B-B14F-4D97-AF65-F5344CB8AC3E}">
        <p14:creationId xmlns:p14="http://schemas.microsoft.com/office/powerpoint/2010/main" val="2096307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/>
      <p:bldP spid="14" grpId="0"/>
      <p:bldP spid="15" grpId="0" animBg="1"/>
      <p:bldP spid="1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RS-232-C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串行通信标准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199" y="3683238"/>
            <a:ext cx="2664085" cy="2131268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1115616" y="3789040"/>
            <a:ext cx="7560840" cy="22322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TextBox 17"/>
          <p:cNvSpPr txBox="1"/>
          <p:nvPr/>
        </p:nvSpPr>
        <p:spPr>
          <a:xfrm>
            <a:off x="3741894" y="3789040"/>
            <a:ext cx="4258536" cy="2139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RS-232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直接连接的最大物理距离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15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米，通信速率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&lt;20Kbps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；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RS-232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对电气特性：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>
              <a:lnSpc>
                <a:spcPct val="133000"/>
              </a:lnSpc>
              <a:defRPr/>
            </a:pPr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“</a:t>
            </a:r>
            <a:r>
              <a:rPr lang="en-US" altLang="zh-CN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1”= -3V</a:t>
            </a:r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～</a:t>
            </a:r>
            <a:r>
              <a:rPr lang="en-US" altLang="zh-CN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-15V</a:t>
            </a:r>
          </a:p>
          <a:p>
            <a:pPr algn="ctr">
              <a:lnSpc>
                <a:spcPct val="133000"/>
              </a:lnSpc>
              <a:defRPr/>
            </a:pPr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  “</a:t>
            </a:r>
            <a:r>
              <a:rPr lang="en-US" altLang="zh-CN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0”= +3V</a:t>
            </a:r>
            <a:r>
              <a:rPr lang="zh-CN" altLang="en-US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～</a:t>
            </a:r>
            <a:r>
              <a:rPr lang="en-US" altLang="zh-CN" sz="20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+15V</a:t>
            </a:r>
          </a:p>
        </p:txBody>
      </p:sp>
      <p:sp>
        <p:nvSpPr>
          <p:cNvPr id="15" name="矩形 14"/>
          <p:cNvSpPr/>
          <p:nvPr/>
        </p:nvSpPr>
        <p:spPr>
          <a:xfrm>
            <a:off x="1234306" y="1450990"/>
            <a:ext cx="6866086" cy="947556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国际通用的一种串行通信接口标准，它是一个</a:t>
            </a:r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25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芯或者</a:t>
            </a:r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9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芯的</a:t>
            </a:r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D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型连接器。</a:t>
            </a:r>
          </a:p>
        </p:txBody>
      </p:sp>
      <p:sp>
        <p:nvSpPr>
          <p:cNvPr id="17" name="矩形 16"/>
          <p:cNvSpPr/>
          <p:nvPr/>
        </p:nvSpPr>
        <p:spPr>
          <a:xfrm>
            <a:off x="1234306" y="2564904"/>
            <a:ext cx="6866086" cy="947556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对电缆的机械特性、电气特性以及逻辑电平和各种信号线的功能都作了规定。</a:t>
            </a:r>
          </a:p>
        </p:txBody>
      </p:sp>
      <p:sp>
        <p:nvSpPr>
          <p:cNvPr id="16" name="矩形 15"/>
          <p:cNvSpPr/>
          <p:nvPr/>
        </p:nvSpPr>
        <p:spPr>
          <a:xfrm>
            <a:off x="1234306" y="3789040"/>
            <a:ext cx="6866086" cy="2131268"/>
          </a:xfrm>
          <a:prstGeom prst="rect">
            <a:avLst/>
          </a:prstGeom>
          <a:noFill/>
          <a:ln w="9525">
            <a:solidFill>
              <a:srgbClr val="FD7A2A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1343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7" grpId="0" animBg="1"/>
      <p:bldP spid="1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RS-232-C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串行通信标准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1892806"/>
              </p:ext>
            </p:extLst>
          </p:nvPr>
        </p:nvGraphicFramePr>
        <p:xfrm>
          <a:off x="1331638" y="1410424"/>
          <a:ext cx="6336706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4">
                  <a:extLst>
                    <a:ext uri="{9D8B030D-6E8A-4147-A177-3AD203B41FA5}">
                      <a16:colId xmlns:a16="http://schemas.microsoft.com/office/drawing/2014/main" val="3777455252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181678172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1880633270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844155530"/>
                    </a:ext>
                  </a:extLst>
                </a:gridCol>
                <a:gridCol w="2376264">
                  <a:extLst>
                    <a:ext uri="{9D8B030D-6E8A-4147-A177-3AD203B41FA5}">
                      <a16:colId xmlns:a16="http://schemas.microsoft.com/office/drawing/2014/main" val="12257341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9</a:t>
                      </a:r>
                      <a:r>
                        <a:rPr lang="zh-CN" altLang="en-US" dirty="0"/>
                        <a:t>针连接器端号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25</a:t>
                      </a:r>
                      <a:r>
                        <a:rPr lang="zh-CN" altLang="en-US" dirty="0"/>
                        <a:t>针连接器端号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名称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方向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功能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74856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rgbClr val="FF3255"/>
                          </a:solidFill>
                        </a:rPr>
                        <a:t>3</a:t>
                      </a:r>
                      <a:endParaRPr lang="zh-CN" altLang="en-US" sz="2400" dirty="0">
                        <a:solidFill>
                          <a:srgbClr val="FF3255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rgbClr val="FF3255"/>
                          </a:solidFill>
                        </a:rPr>
                        <a:t>2</a:t>
                      </a:r>
                      <a:endParaRPr lang="zh-CN" altLang="en-US" sz="2400" dirty="0">
                        <a:solidFill>
                          <a:srgbClr val="FF3255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rgbClr val="FF3255"/>
                          </a:solidFill>
                        </a:rPr>
                        <a:t>TXD</a:t>
                      </a:r>
                      <a:endParaRPr lang="zh-CN" altLang="en-US" sz="2400" dirty="0">
                        <a:solidFill>
                          <a:srgbClr val="FF3255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solidFill>
                            <a:srgbClr val="FF3255"/>
                          </a:solidFill>
                        </a:rPr>
                        <a:t>输出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solidFill>
                            <a:srgbClr val="FF3255"/>
                          </a:solidFill>
                        </a:rPr>
                        <a:t>发送数据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72935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rgbClr val="FF3255"/>
                          </a:solidFill>
                        </a:rPr>
                        <a:t>2</a:t>
                      </a:r>
                      <a:endParaRPr lang="zh-CN" altLang="en-US" sz="2400" dirty="0">
                        <a:solidFill>
                          <a:srgbClr val="FF3255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rgbClr val="FF3255"/>
                          </a:solidFill>
                        </a:rPr>
                        <a:t>3</a:t>
                      </a:r>
                      <a:endParaRPr lang="zh-CN" altLang="en-US" sz="2400" dirty="0">
                        <a:solidFill>
                          <a:srgbClr val="FF3255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rgbClr val="FF3255"/>
                          </a:solidFill>
                        </a:rPr>
                        <a:t>RXD</a:t>
                      </a:r>
                      <a:endParaRPr lang="zh-CN" altLang="en-US" sz="2400" dirty="0">
                        <a:solidFill>
                          <a:srgbClr val="FF3255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solidFill>
                            <a:srgbClr val="FF3255"/>
                          </a:solidFill>
                        </a:rPr>
                        <a:t>输入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solidFill>
                            <a:srgbClr val="FF3255"/>
                          </a:solidFill>
                        </a:rPr>
                        <a:t>接收数据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3830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RTS*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dirty="0">
                          <a:solidFill>
                            <a:schemeClr val="tx1"/>
                          </a:solidFill>
                        </a:rPr>
                        <a:t>输出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solidFill>
                            <a:schemeClr val="tx1"/>
                          </a:solidFill>
                        </a:rPr>
                        <a:t>请求发送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0098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CTS*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solidFill>
                            <a:schemeClr val="tx1"/>
                          </a:solidFill>
                        </a:rPr>
                        <a:t>输入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solidFill>
                            <a:schemeClr val="tx1"/>
                          </a:solidFill>
                        </a:rPr>
                        <a:t>允许发送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7899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DSR*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solidFill>
                            <a:schemeClr val="tx1"/>
                          </a:solidFill>
                        </a:rPr>
                        <a:t>输入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solidFill>
                            <a:schemeClr val="tx1"/>
                          </a:solidFill>
                        </a:rPr>
                        <a:t>数据设备准备好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29665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rgbClr val="FF3255"/>
                          </a:solidFill>
                        </a:rPr>
                        <a:t>5</a:t>
                      </a:r>
                      <a:endParaRPr lang="zh-CN" altLang="en-US" sz="2400" dirty="0">
                        <a:solidFill>
                          <a:srgbClr val="FF3255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rgbClr val="FF3255"/>
                          </a:solidFill>
                        </a:rPr>
                        <a:t>7</a:t>
                      </a:r>
                      <a:endParaRPr lang="zh-CN" altLang="en-US" sz="2400" dirty="0">
                        <a:solidFill>
                          <a:srgbClr val="FF3255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rgbClr val="FF3255"/>
                          </a:solidFill>
                        </a:rPr>
                        <a:t>GND</a:t>
                      </a:r>
                      <a:endParaRPr lang="zh-CN" altLang="en-US" sz="2400" dirty="0">
                        <a:solidFill>
                          <a:srgbClr val="FF3255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2400">
                        <a:solidFill>
                          <a:srgbClr val="FF3255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solidFill>
                            <a:srgbClr val="FF3255"/>
                          </a:solidFill>
                        </a:rPr>
                        <a:t>信号地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21520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DCD*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solidFill>
                            <a:schemeClr val="tx1"/>
                          </a:solidFill>
                        </a:rPr>
                        <a:t>输入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solidFill>
                            <a:schemeClr val="tx1"/>
                          </a:solidFill>
                        </a:rPr>
                        <a:t>载波检测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61916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DTR*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dirty="0">
                          <a:solidFill>
                            <a:schemeClr val="tx1"/>
                          </a:solidFill>
                        </a:rPr>
                        <a:t>输出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solidFill>
                            <a:schemeClr val="tx1"/>
                          </a:solidFill>
                        </a:rPr>
                        <a:t>数据终端准备好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79745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22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RI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dirty="0">
                          <a:solidFill>
                            <a:schemeClr val="tx1"/>
                          </a:solidFill>
                        </a:rPr>
                        <a:t>输入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solidFill>
                            <a:schemeClr val="tx1"/>
                          </a:solidFill>
                        </a:rPr>
                        <a:t>振铃指示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19915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41553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/>
          <p:cNvSpPr txBox="1"/>
          <p:nvPr/>
        </p:nvSpPr>
        <p:spPr>
          <a:xfrm>
            <a:off x="4292127" y="1867768"/>
            <a:ext cx="3808265" cy="841375"/>
          </a:xfrm>
          <a:prstGeom prst="roundRect">
            <a:avLst>
              <a:gd name="adj" fmla="val 8176"/>
            </a:avLst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>
            <a:defPPr>
              <a:defRPr lang="en-US"/>
            </a:defPPr>
            <a:lvl1pPr algn="ctr">
              <a:defRPr sz="2800" b="1">
                <a:solidFill>
                  <a:srgbClr val="A6A6A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串行通信概念</a:t>
            </a:r>
          </a:p>
        </p:txBody>
      </p:sp>
      <p:sp>
        <p:nvSpPr>
          <p:cNvPr id="3" name="椭圆 2"/>
          <p:cNvSpPr/>
          <p:nvPr/>
        </p:nvSpPr>
        <p:spPr>
          <a:xfrm>
            <a:off x="3859857" y="1916832"/>
            <a:ext cx="745008" cy="733425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itchFamily="34" charset="-122"/>
              </a:rPr>
              <a:t>1</a:t>
            </a:r>
            <a:endParaRPr lang="zh-CN" altLang="en-US" sz="2800" b="1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itchFamily="34" charset="-122"/>
            </a:endParaRPr>
          </a:p>
        </p:txBody>
      </p:sp>
      <p:sp>
        <p:nvSpPr>
          <p:cNvPr id="4" name="TextBox 9"/>
          <p:cNvSpPr txBox="1"/>
          <p:nvPr/>
        </p:nvSpPr>
        <p:spPr>
          <a:xfrm>
            <a:off x="4292127" y="3020293"/>
            <a:ext cx="3808265" cy="841375"/>
          </a:xfrm>
          <a:prstGeom prst="roundRect">
            <a:avLst>
              <a:gd name="adj" fmla="val 8176"/>
            </a:avLst>
          </a:prstGeom>
          <a:solidFill>
            <a:srgbClr val="5DCB08"/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>
            <a:defPPr>
              <a:defRPr lang="en-US"/>
            </a:defPPr>
            <a:lvl1pPr algn="ctr">
              <a:defRPr sz="2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  </a:t>
            </a:r>
            <a:r>
              <a:rPr lang="en-US" altLang="zh-CN" dirty="0"/>
              <a:t>8250</a:t>
            </a:r>
            <a:r>
              <a:rPr lang="zh-CN" altLang="en-US" dirty="0"/>
              <a:t>串行通信芯片</a:t>
            </a:r>
          </a:p>
        </p:txBody>
      </p:sp>
      <p:sp>
        <p:nvSpPr>
          <p:cNvPr id="5" name="椭圆 4"/>
          <p:cNvSpPr/>
          <p:nvPr/>
        </p:nvSpPr>
        <p:spPr>
          <a:xfrm>
            <a:off x="3859857" y="3069357"/>
            <a:ext cx="745008" cy="733425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itchFamily="34" charset="-122"/>
              </a:rPr>
              <a:t>2</a:t>
            </a:r>
            <a:endParaRPr lang="zh-CN" altLang="en-US" sz="2800" b="1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itchFamily="34" charset="-122"/>
            </a:endParaRPr>
          </a:p>
        </p:txBody>
      </p:sp>
      <p:sp>
        <p:nvSpPr>
          <p:cNvPr id="6" name="TextBox 9"/>
          <p:cNvSpPr txBox="1"/>
          <p:nvPr/>
        </p:nvSpPr>
        <p:spPr>
          <a:xfrm>
            <a:off x="4284190" y="4171801"/>
            <a:ext cx="3808265" cy="841375"/>
          </a:xfrm>
          <a:prstGeom prst="roundRect">
            <a:avLst>
              <a:gd name="adj" fmla="val 8176"/>
            </a:avLst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>
            <a:defPPr>
              <a:defRPr lang="en-US"/>
            </a:defPPr>
            <a:lvl1pPr algn="ctr">
              <a:defRPr sz="2800" b="1">
                <a:solidFill>
                  <a:srgbClr val="A6A6A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8250</a:t>
            </a:r>
            <a:r>
              <a:rPr lang="zh-CN" altLang="en-US" dirty="0"/>
              <a:t>编程和应用</a:t>
            </a:r>
          </a:p>
        </p:txBody>
      </p:sp>
      <p:sp>
        <p:nvSpPr>
          <p:cNvPr id="7" name="椭圆 6"/>
          <p:cNvSpPr/>
          <p:nvPr/>
        </p:nvSpPr>
        <p:spPr>
          <a:xfrm>
            <a:off x="3851920" y="4220865"/>
            <a:ext cx="745008" cy="733425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itchFamily="34" charset="-122"/>
              </a:rPr>
              <a:t>3</a:t>
            </a:r>
            <a:endParaRPr lang="zh-CN" altLang="en-US" sz="2800" b="1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30415512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/>
          <p:cNvSpPr/>
          <p:nvPr/>
        </p:nvSpPr>
        <p:spPr>
          <a:xfrm>
            <a:off x="8461631" y="6348095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15"/>
          <p:cNvSpPr txBox="1"/>
          <p:nvPr/>
        </p:nvSpPr>
        <p:spPr>
          <a:xfrm>
            <a:off x="8316416" y="6358818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pPr algn="ctr"/>
              <a:t>22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2" name="TextBox 15"/>
          <p:cNvSpPr txBox="1">
            <a:spLocks noChangeArrowheads="1"/>
          </p:cNvSpPr>
          <p:nvPr/>
        </p:nvSpPr>
        <p:spPr bwMode="auto">
          <a:xfrm>
            <a:off x="3552812" y="3741684"/>
            <a:ext cx="2109812" cy="1253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7730" tIns="33865" rIns="67730" bIns="33865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 indent="-342900"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外部结构</a:t>
            </a:r>
            <a:endParaRPr lang="en-US" altLang="zh-CN" sz="2400" b="1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-342900"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编程结构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1404144" y="1772816"/>
            <a:ext cx="6264275" cy="1587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cxnSp>
        <p:nvCxnSpPr>
          <p:cNvPr id="15" name="直接连接符 14"/>
          <p:cNvCxnSpPr/>
          <p:nvPr/>
        </p:nvCxnSpPr>
        <p:spPr>
          <a:xfrm>
            <a:off x="1475582" y="3501603"/>
            <a:ext cx="6264275" cy="1588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sp>
        <p:nvSpPr>
          <p:cNvPr id="16" name="TextBox 10"/>
          <p:cNvSpPr txBox="1">
            <a:spLocks noChangeArrowheads="1"/>
          </p:cNvSpPr>
          <p:nvPr/>
        </p:nvSpPr>
        <p:spPr bwMode="auto">
          <a:xfrm>
            <a:off x="934711" y="2012896"/>
            <a:ext cx="7346015" cy="1250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14000"/>
              </a:lnSpc>
            </a:pPr>
            <a:r>
              <a:rPr lang="en-US" altLang="zh-CN" sz="66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8250</a:t>
            </a:r>
            <a:r>
              <a:rPr lang="zh-CN" altLang="en-US" sz="66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串行通信芯片</a:t>
            </a:r>
            <a:endParaRPr lang="zh-CN" altLang="en-US" sz="80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41040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8250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特性介绍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0" name="矩形 29"/>
          <p:cNvSpPr/>
          <p:nvPr/>
        </p:nvSpPr>
        <p:spPr>
          <a:xfrm>
            <a:off x="1495941" y="1621768"/>
            <a:ext cx="6794078" cy="947556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支持异步串行通信规程，发送时可自动插入起始位、停止位和奇偶校验位，接收时能自动删除。</a:t>
            </a:r>
          </a:p>
        </p:txBody>
      </p:sp>
      <p:sp>
        <p:nvSpPr>
          <p:cNvPr id="31" name="矩形 30"/>
          <p:cNvSpPr/>
          <p:nvPr/>
        </p:nvSpPr>
        <p:spPr>
          <a:xfrm>
            <a:off x="1495941" y="2879698"/>
            <a:ext cx="6794078" cy="947556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内部具有可编程的时钟产生电路，发送和接收都采用双缓冲结构。</a:t>
            </a:r>
          </a:p>
        </p:txBody>
      </p:sp>
      <p:sp>
        <p:nvSpPr>
          <p:cNvPr id="32" name="矩形 31"/>
          <p:cNvSpPr/>
          <p:nvPr/>
        </p:nvSpPr>
        <p:spPr>
          <a:xfrm>
            <a:off x="1494179" y="4137628"/>
            <a:ext cx="6794078" cy="947556"/>
          </a:xfrm>
          <a:prstGeom prst="rect">
            <a:avLst/>
          </a:prstGeom>
          <a:solidFill>
            <a:srgbClr val="00B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可编程</a:t>
            </a:r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MODEM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的控制信号，有中断式收发功能。</a:t>
            </a:r>
          </a:p>
        </p:txBody>
      </p:sp>
      <p:sp>
        <p:nvSpPr>
          <p:cNvPr id="33" name="矩形 32"/>
          <p:cNvSpPr/>
          <p:nvPr/>
        </p:nvSpPr>
        <p:spPr>
          <a:xfrm>
            <a:off x="899592" y="1621768"/>
            <a:ext cx="569813" cy="94844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Arial Black" pitchFamily="34" charset="0"/>
              </a:rPr>
              <a:t>1</a:t>
            </a:r>
            <a:endParaRPr lang="zh-CN" altLang="en-US" sz="3200" dirty="0">
              <a:latin typeface="Arial Black" pitchFamily="34" charset="0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899592" y="2879699"/>
            <a:ext cx="569813" cy="94755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Arial Black" pitchFamily="34" charset="0"/>
              </a:rPr>
              <a:t>2</a:t>
            </a:r>
            <a:endParaRPr lang="zh-CN" altLang="en-US" sz="3200" dirty="0">
              <a:latin typeface="Arial Black" pitchFamily="34" charset="0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899592" y="4139515"/>
            <a:ext cx="569813" cy="94566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Arial Black" pitchFamily="34" charset="0"/>
              </a:rPr>
              <a:t>3</a:t>
            </a:r>
            <a:endParaRPr lang="zh-CN" altLang="en-US" sz="3200" dirty="0"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7353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矩形 133"/>
          <p:cNvSpPr/>
          <p:nvPr/>
        </p:nvSpPr>
        <p:spPr>
          <a:xfrm>
            <a:off x="3463111" y="745672"/>
            <a:ext cx="1744262" cy="5416476"/>
          </a:xfrm>
          <a:prstGeom prst="rect">
            <a:avLst/>
          </a:prstGeom>
          <a:noFill/>
          <a:ln>
            <a:solidFill>
              <a:srgbClr val="FD7A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1" name="文本框 140"/>
          <p:cNvSpPr txBox="1"/>
          <p:nvPr/>
        </p:nvSpPr>
        <p:spPr>
          <a:xfrm>
            <a:off x="3409279" y="3408368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CS2</a:t>
            </a:r>
            <a:r>
              <a:rPr lang="zh-CN" altLang="en-US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*</a:t>
            </a:r>
          </a:p>
        </p:txBody>
      </p:sp>
      <p:sp>
        <p:nvSpPr>
          <p:cNvPr id="142" name="文本框 141"/>
          <p:cNvSpPr txBox="1"/>
          <p:nvPr/>
        </p:nvSpPr>
        <p:spPr>
          <a:xfrm>
            <a:off x="3409279" y="3075531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CS1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43" name="文本框 142"/>
          <p:cNvSpPr txBox="1"/>
          <p:nvPr/>
        </p:nvSpPr>
        <p:spPr>
          <a:xfrm>
            <a:off x="3471996" y="2409857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A0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44" name="文本框 143"/>
          <p:cNvSpPr txBox="1"/>
          <p:nvPr/>
        </p:nvSpPr>
        <p:spPr>
          <a:xfrm>
            <a:off x="3472989" y="2077020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A1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45" name="文本框 144"/>
          <p:cNvSpPr txBox="1"/>
          <p:nvPr/>
        </p:nvSpPr>
        <p:spPr>
          <a:xfrm>
            <a:off x="4415284" y="2077020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XTAL1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46" name="文本框 145"/>
          <p:cNvSpPr txBox="1"/>
          <p:nvPr/>
        </p:nvSpPr>
        <p:spPr>
          <a:xfrm>
            <a:off x="4668187" y="5423484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err="1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Vcc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159" name="直接箭头连接符 158"/>
          <p:cNvCxnSpPr/>
          <p:nvPr/>
        </p:nvCxnSpPr>
        <p:spPr>
          <a:xfrm flipH="1">
            <a:off x="3047132" y="2939201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接箭头连接符 168"/>
          <p:cNvCxnSpPr/>
          <p:nvPr/>
        </p:nvCxnSpPr>
        <p:spPr>
          <a:xfrm flipH="1">
            <a:off x="5203770" y="4897362"/>
            <a:ext cx="43204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接箭头连接符 169"/>
          <p:cNvCxnSpPr/>
          <p:nvPr/>
        </p:nvCxnSpPr>
        <p:spPr>
          <a:xfrm flipH="1">
            <a:off x="5220072" y="2248283"/>
            <a:ext cx="43204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文本框 182"/>
          <p:cNvSpPr txBox="1"/>
          <p:nvPr/>
        </p:nvSpPr>
        <p:spPr>
          <a:xfrm>
            <a:off x="4487292" y="3741703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DSR*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84" name="文本框 183"/>
          <p:cNvSpPr txBox="1"/>
          <p:nvPr/>
        </p:nvSpPr>
        <p:spPr>
          <a:xfrm>
            <a:off x="4487292" y="3408866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CTS*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85" name="文本框 184"/>
          <p:cNvSpPr txBox="1"/>
          <p:nvPr/>
        </p:nvSpPr>
        <p:spPr>
          <a:xfrm>
            <a:off x="4487292" y="3076029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RTS*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86" name="文本框 185"/>
          <p:cNvSpPr txBox="1"/>
          <p:nvPr/>
        </p:nvSpPr>
        <p:spPr>
          <a:xfrm>
            <a:off x="4487292" y="2743192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DTR*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87" name="文本框 186"/>
          <p:cNvSpPr txBox="1"/>
          <p:nvPr/>
        </p:nvSpPr>
        <p:spPr>
          <a:xfrm>
            <a:off x="4479161" y="5072736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RLSD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88" name="文本框 187"/>
          <p:cNvSpPr txBox="1"/>
          <p:nvPr/>
        </p:nvSpPr>
        <p:spPr>
          <a:xfrm>
            <a:off x="4703316" y="4712696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RI*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89" name="文本框 188"/>
          <p:cNvSpPr txBox="1"/>
          <p:nvPr/>
        </p:nvSpPr>
        <p:spPr>
          <a:xfrm>
            <a:off x="4487292" y="4424664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OUT2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90" name="文本框 189"/>
          <p:cNvSpPr txBox="1"/>
          <p:nvPr/>
        </p:nvSpPr>
        <p:spPr>
          <a:xfrm>
            <a:off x="4487292" y="4064624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OUT1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94" name="文本框 193"/>
          <p:cNvSpPr txBox="1"/>
          <p:nvPr/>
        </p:nvSpPr>
        <p:spPr>
          <a:xfrm>
            <a:off x="3407172" y="2742694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CS0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195" name="直接箭头连接符 194"/>
          <p:cNvCxnSpPr/>
          <p:nvPr/>
        </p:nvCxnSpPr>
        <p:spPr>
          <a:xfrm flipH="1">
            <a:off x="5203770" y="3249198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直接箭头连接符 195"/>
          <p:cNvCxnSpPr/>
          <p:nvPr/>
        </p:nvCxnSpPr>
        <p:spPr>
          <a:xfrm flipH="1">
            <a:off x="5217473" y="3585156"/>
            <a:ext cx="43204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直接箭头连接符 196"/>
          <p:cNvCxnSpPr/>
          <p:nvPr/>
        </p:nvCxnSpPr>
        <p:spPr>
          <a:xfrm flipH="1">
            <a:off x="5220072" y="2602494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直接箭头连接符 197"/>
          <p:cNvCxnSpPr/>
          <p:nvPr/>
        </p:nvCxnSpPr>
        <p:spPr>
          <a:xfrm flipH="1">
            <a:off x="5220072" y="2939201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直接箭头连接符 198"/>
          <p:cNvCxnSpPr/>
          <p:nvPr/>
        </p:nvCxnSpPr>
        <p:spPr>
          <a:xfrm flipH="1">
            <a:off x="5194672" y="4603918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直接箭头连接符 200"/>
          <p:cNvCxnSpPr/>
          <p:nvPr/>
        </p:nvCxnSpPr>
        <p:spPr>
          <a:xfrm flipH="1">
            <a:off x="5212868" y="3923754"/>
            <a:ext cx="43204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直接箭头连接符 201"/>
          <p:cNvCxnSpPr/>
          <p:nvPr/>
        </p:nvCxnSpPr>
        <p:spPr>
          <a:xfrm flipH="1">
            <a:off x="5194672" y="4249290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直接箭头连接符 202"/>
          <p:cNvCxnSpPr/>
          <p:nvPr/>
        </p:nvCxnSpPr>
        <p:spPr>
          <a:xfrm flipH="1">
            <a:off x="3047132" y="2579161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文本框 206"/>
          <p:cNvSpPr txBox="1"/>
          <p:nvPr/>
        </p:nvSpPr>
        <p:spPr>
          <a:xfrm>
            <a:off x="3468463" y="1744183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A2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08" name="文本框 207"/>
          <p:cNvSpPr txBox="1"/>
          <p:nvPr/>
        </p:nvSpPr>
        <p:spPr>
          <a:xfrm>
            <a:off x="3468463" y="1411346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D7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09" name="文本框 208"/>
          <p:cNvSpPr txBox="1"/>
          <p:nvPr/>
        </p:nvSpPr>
        <p:spPr>
          <a:xfrm>
            <a:off x="3468463" y="1078509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D1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10" name="文本框 209"/>
          <p:cNvSpPr txBox="1"/>
          <p:nvPr/>
        </p:nvSpPr>
        <p:spPr>
          <a:xfrm>
            <a:off x="3468463" y="745672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D0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11" name="文本框 210"/>
          <p:cNvSpPr txBox="1"/>
          <p:nvPr/>
        </p:nvSpPr>
        <p:spPr>
          <a:xfrm>
            <a:off x="4415284" y="1744183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SOUT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12" name="文本框 211"/>
          <p:cNvSpPr txBox="1"/>
          <p:nvPr/>
        </p:nvSpPr>
        <p:spPr>
          <a:xfrm>
            <a:off x="4415284" y="1411346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SIN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13" name="文本框 212"/>
          <p:cNvSpPr txBox="1"/>
          <p:nvPr/>
        </p:nvSpPr>
        <p:spPr>
          <a:xfrm>
            <a:off x="4415284" y="1078509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BAUD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14" name="文本框 213"/>
          <p:cNvSpPr txBox="1"/>
          <p:nvPr/>
        </p:nvSpPr>
        <p:spPr>
          <a:xfrm>
            <a:off x="4415284" y="745672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RCLK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215" name="直接箭头连接符 214"/>
          <p:cNvCxnSpPr/>
          <p:nvPr/>
        </p:nvCxnSpPr>
        <p:spPr>
          <a:xfrm flipH="1">
            <a:off x="3047132" y="1571049"/>
            <a:ext cx="43204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直接箭头连接符 215"/>
          <p:cNvCxnSpPr/>
          <p:nvPr/>
        </p:nvCxnSpPr>
        <p:spPr>
          <a:xfrm flipH="1">
            <a:off x="3047132" y="1931089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直接箭头连接符 216"/>
          <p:cNvCxnSpPr/>
          <p:nvPr/>
        </p:nvCxnSpPr>
        <p:spPr>
          <a:xfrm flipH="1">
            <a:off x="3047132" y="922977"/>
            <a:ext cx="43204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直接箭头连接符 217"/>
          <p:cNvCxnSpPr/>
          <p:nvPr/>
        </p:nvCxnSpPr>
        <p:spPr>
          <a:xfrm flipH="1">
            <a:off x="3047132" y="1283017"/>
            <a:ext cx="43204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直接箭头连接符 218"/>
          <p:cNvCxnSpPr/>
          <p:nvPr/>
        </p:nvCxnSpPr>
        <p:spPr>
          <a:xfrm flipH="1">
            <a:off x="5194672" y="1599129"/>
            <a:ext cx="43204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直接箭头连接符 219"/>
          <p:cNvCxnSpPr/>
          <p:nvPr/>
        </p:nvCxnSpPr>
        <p:spPr>
          <a:xfrm flipH="1">
            <a:off x="5203770" y="1931089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直接箭头连接符 220"/>
          <p:cNvCxnSpPr/>
          <p:nvPr/>
        </p:nvCxnSpPr>
        <p:spPr>
          <a:xfrm flipH="1">
            <a:off x="5207372" y="922977"/>
            <a:ext cx="43204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直接箭头连接符 221"/>
          <p:cNvCxnSpPr/>
          <p:nvPr/>
        </p:nvCxnSpPr>
        <p:spPr>
          <a:xfrm flipH="1">
            <a:off x="5216470" y="1283017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" name="文本框 226"/>
          <p:cNvSpPr txBox="1"/>
          <p:nvPr/>
        </p:nvSpPr>
        <p:spPr>
          <a:xfrm>
            <a:off x="4559300" y="5747513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GND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233" name="直接箭头连接符 232"/>
          <p:cNvCxnSpPr/>
          <p:nvPr/>
        </p:nvCxnSpPr>
        <p:spPr>
          <a:xfrm flipH="1">
            <a:off x="3047132" y="5603497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直接箭头连接符 233"/>
          <p:cNvCxnSpPr/>
          <p:nvPr/>
        </p:nvCxnSpPr>
        <p:spPr>
          <a:xfrm flipH="1">
            <a:off x="3047132" y="5933364"/>
            <a:ext cx="43204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直接箭头连接符 234"/>
          <p:cNvCxnSpPr/>
          <p:nvPr/>
        </p:nvCxnSpPr>
        <p:spPr>
          <a:xfrm flipH="1">
            <a:off x="5194672" y="5588129"/>
            <a:ext cx="43204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直接箭头连接符 235"/>
          <p:cNvCxnSpPr/>
          <p:nvPr/>
        </p:nvCxnSpPr>
        <p:spPr>
          <a:xfrm flipH="1">
            <a:off x="5212868" y="5257219"/>
            <a:ext cx="43204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直接箭头连接符 236"/>
          <p:cNvCxnSpPr/>
          <p:nvPr/>
        </p:nvCxnSpPr>
        <p:spPr>
          <a:xfrm flipH="1">
            <a:off x="5203770" y="5932179"/>
            <a:ext cx="43204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文本框 238"/>
          <p:cNvSpPr txBox="1"/>
          <p:nvPr/>
        </p:nvSpPr>
        <p:spPr>
          <a:xfrm>
            <a:off x="3457571" y="374120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DISTR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40" name="文本框 239"/>
          <p:cNvSpPr txBox="1"/>
          <p:nvPr/>
        </p:nvSpPr>
        <p:spPr>
          <a:xfrm>
            <a:off x="3457571" y="4074042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DISTR*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41" name="文本框 240"/>
          <p:cNvSpPr txBox="1"/>
          <p:nvPr/>
        </p:nvSpPr>
        <p:spPr>
          <a:xfrm>
            <a:off x="3457571" y="4406879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DOSTR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42" name="文本框 241"/>
          <p:cNvSpPr txBox="1"/>
          <p:nvPr/>
        </p:nvSpPr>
        <p:spPr>
          <a:xfrm>
            <a:off x="3442038" y="4739716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DOSTR*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243" name="直接箭头连接符 242"/>
          <p:cNvCxnSpPr/>
          <p:nvPr/>
        </p:nvCxnSpPr>
        <p:spPr>
          <a:xfrm flipH="1">
            <a:off x="3047132" y="3947313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直接箭头连接符 243"/>
          <p:cNvCxnSpPr/>
          <p:nvPr/>
        </p:nvCxnSpPr>
        <p:spPr>
          <a:xfrm flipH="1">
            <a:off x="3047132" y="3587273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直接箭头连接符 244"/>
          <p:cNvCxnSpPr/>
          <p:nvPr/>
        </p:nvCxnSpPr>
        <p:spPr>
          <a:xfrm flipH="1">
            <a:off x="3047132" y="4307353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文本框 247"/>
          <p:cNvSpPr txBox="1"/>
          <p:nvPr/>
        </p:nvSpPr>
        <p:spPr>
          <a:xfrm>
            <a:off x="3452761" y="5738221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INT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49" name="文本框 248"/>
          <p:cNvSpPr txBox="1"/>
          <p:nvPr/>
        </p:nvSpPr>
        <p:spPr>
          <a:xfrm>
            <a:off x="3452761" y="5405390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MR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50" name="文本框 249"/>
          <p:cNvSpPr txBox="1"/>
          <p:nvPr/>
        </p:nvSpPr>
        <p:spPr>
          <a:xfrm>
            <a:off x="3452761" y="5072553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ADS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251" name="直接箭头连接符 250"/>
          <p:cNvCxnSpPr/>
          <p:nvPr/>
        </p:nvCxnSpPr>
        <p:spPr>
          <a:xfrm flipH="1">
            <a:off x="3047132" y="4920934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直接箭头连接符 251"/>
          <p:cNvCxnSpPr/>
          <p:nvPr/>
        </p:nvCxnSpPr>
        <p:spPr>
          <a:xfrm flipH="1">
            <a:off x="3047132" y="4588072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直接箭头连接符 252"/>
          <p:cNvCxnSpPr/>
          <p:nvPr/>
        </p:nvCxnSpPr>
        <p:spPr>
          <a:xfrm flipH="1">
            <a:off x="3047132" y="5257219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直接箭头连接符 254"/>
          <p:cNvCxnSpPr/>
          <p:nvPr/>
        </p:nvCxnSpPr>
        <p:spPr>
          <a:xfrm flipH="1">
            <a:off x="3047132" y="3227233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直接箭头连接符 255"/>
          <p:cNvCxnSpPr/>
          <p:nvPr/>
        </p:nvCxnSpPr>
        <p:spPr>
          <a:xfrm flipH="1">
            <a:off x="3047132" y="2291129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3" name="TextBox 17"/>
          <p:cNvSpPr txBox="1"/>
          <p:nvPr/>
        </p:nvSpPr>
        <p:spPr>
          <a:xfrm>
            <a:off x="1478368" y="850969"/>
            <a:ext cx="1432633" cy="829201"/>
          </a:xfrm>
          <a:prstGeom prst="rect">
            <a:avLst/>
          </a:prstGeom>
          <a:solidFill>
            <a:srgbClr val="1D8DE5"/>
          </a:solidFill>
        </p:spPr>
        <p:txBody>
          <a:bodyPr wrap="square">
            <a:spAutoFit/>
          </a:bodyPr>
          <a:lstStyle/>
          <a:p>
            <a:pPr algn="ctr">
              <a:lnSpc>
                <a:spcPct val="133000"/>
              </a:lnSpc>
              <a:defRPr/>
            </a:pP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双向数据总线</a:t>
            </a:r>
            <a:endParaRPr lang="en-US" altLang="zh-CN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7" name="TextBox 17"/>
          <p:cNvSpPr txBox="1"/>
          <p:nvPr/>
        </p:nvSpPr>
        <p:spPr>
          <a:xfrm>
            <a:off x="212778" y="3692565"/>
            <a:ext cx="2795369" cy="1197636"/>
          </a:xfrm>
          <a:prstGeom prst="rect">
            <a:avLst/>
          </a:prstGeom>
          <a:solidFill>
            <a:srgbClr val="1D8DE5"/>
          </a:solidFill>
        </p:spPr>
        <p:txBody>
          <a:bodyPr wrap="square">
            <a:spAutoFit/>
          </a:bodyPr>
          <a:lstStyle/>
          <a:p>
            <a:pPr algn="ctr">
              <a:lnSpc>
                <a:spcPct val="133000"/>
              </a:lnSpc>
              <a:defRPr/>
            </a:pP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数据输入选通：任一引脚有效，</a:t>
            </a:r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CPU</a:t>
            </a: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均可从</a:t>
            </a:r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8250</a:t>
            </a: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中读出状态字或数据信息</a:t>
            </a:r>
            <a:endParaRPr lang="en-US" altLang="zh-CN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3" name="Rectangle 2"/>
          <p:cNvSpPr>
            <a:spLocks noChangeArrowheads="1"/>
          </p:cNvSpPr>
          <p:nvPr/>
        </p:nvSpPr>
        <p:spPr bwMode="auto">
          <a:xfrm>
            <a:off x="3059832" y="116632"/>
            <a:ext cx="2258160" cy="52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8250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4410347" y="2435145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XTAL2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75" name="TextBox 17"/>
          <p:cNvSpPr txBox="1"/>
          <p:nvPr/>
        </p:nvSpPr>
        <p:spPr>
          <a:xfrm>
            <a:off x="1478368" y="2022710"/>
            <a:ext cx="1432633" cy="423642"/>
          </a:xfrm>
          <a:prstGeom prst="rect">
            <a:avLst/>
          </a:prstGeom>
          <a:solidFill>
            <a:srgbClr val="1D8DE5"/>
          </a:solidFill>
        </p:spPr>
        <p:txBody>
          <a:bodyPr wrap="square">
            <a:spAutoFit/>
          </a:bodyPr>
          <a:lstStyle/>
          <a:p>
            <a:pPr algn="ctr">
              <a:lnSpc>
                <a:spcPct val="133000"/>
              </a:lnSpc>
              <a:defRPr/>
            </a:pP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地址总线</a:t>
            </a:r>
            <a:endParaRPr lang="en-US" altLang="zh-CN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6" name="椭圆 75"/>
          <p:cNvSpPr/>
          <p:nvPr/>
        </p:nvSpPr>
        <p:spPr>
          <a:xfrm>
            <a:off x="3162298" y="778472"/>
            <a:ext cx="211255" cy="934988"/>
          </a:xfrm>
          <a:prstGeom prst="ellipse">
            <a:avLst/>
          </a:prstGeom>
          <a:noFill/>
          <a:ln>
            <a:solidFill>
              <a:srgbClr val="FF325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椭圆 76"/>
          <p:cNvSpPr/>
          <p:nvPr/>
        </p:nvSpPr>
        <p:spPr>
          <a:xfrm>
            <a:off x="3162298" y="1830025"/>
            <a:ext cx="211255" cy="934988"/>
          </a:xfrm>
          <a:prstGeom prst="ellipse">
            <a:avLst/>
          </a:prstGeom>
          <a:noFill/>
          <a:ln>
            <a:solidFill>
              <a:srgbClr val="FF325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椭圆 77"/>
          <p:cNvSpPr/>
          <p:nvPr/>
        </p:nvSpPr>
        <p:spPr>
          <a:xfrm>
            <a:off x="3162298" y="2837613"/>
            <a:ext cx="211255" cy="934988"/>
          </a:xfrm>
          <a:prstGeom prst="ellipse">
            <a:avLst/>
          </a:prstGeom>
          <a:noFill/>
          <a:ln>
            <a:solidFill>
              <a:srgbClr val="FF325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TextBox 17"/>
          <p:cNvSpPr txBox="1"/>
          <p:nvPr/>
        </p:nvSpPr>
        <p:spPr>
          <a:xfrm>
            <a:off x="210670" y="2815823"/>
            <a:ext cx="2786181" cy="829201"/>
          </a:xfrm>
          <a:prstGeom prst="rect">
            <a:avLst/>
          </a:prstGeom>
          <a:solidFill>
            <a:srgbClr val="1D8DE5"/>
          </a:solidFill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片选信号：当三个信号都有效时</a:t>
            </a:r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8250</a:t>
            </a: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被选中</a:t>
            </a:r>
            <a:endParaRPr lang="en-US" altLang="zh-CN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0" name="椭圆 79"/>
          <p:cNvSpPr/>
          <p:nvPr/>
        </p:nvSpPr>
        <p:spPr>
          <a:xfrm>
            <a:off x="3162298" y="3849600"/>
            <a:ext cx="216024" cy="630718"/>
          </a:xfrm>
          <a:prstGeom prst="ellipse">
            <a:avLst/>
          </a:prstGeom>
          <a:noFill/>
          <a:ln>
            <a:solidFill>
              <a:srgbClr val="FF325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653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3" grpId="0" animBg="1"/>
      <p:bldP spid="267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矩形 133"/>
          <p:cNvSpPr/>
          <p:nvPr/>
        </p:nvSpPr>
        <p:spPr>
          <a:xfrm>
            <a:off x="3463111" y="745672"/>
            <a:ext cx="1744262" cy="5416476"/>
          </a:xfrm>
          <a:prstGeom prst="rect">
            <a:avLst/>
          </a:prstGeom>
          <a:noFill/>
          <a:ln>
            <a:solidFill>
              <a:srgbClr val="FD7A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1" name="文本框 140"/>
          <p:cNvSpPr txBox="1"/>
          <p:nvPr/>
        </p:nvSpPr>
        <p:spPr>
          <a:xfrm>
            <a:off x="3409279" y="3408368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CS2</a:t>
            </a:r>
            <a:r>
              <a:rPr lang="zh-CN" altLang="en-US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*</a:t>
            </a:r>
          </a:p>
        </p:txBody>
      </p:sp>
      <p:sp>
        <p:nvSpPr>
          <p:cNvPr id="142" name="文本框 141"/>
          <p:cNvSpPr txBox="1"/>
          <p:nvPr/>
        </p:nvSpPr>
        <p:spPr>
          <a:xfrm>
            <a:off x="3409279" y="3075531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CS1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43" name="文本框 142"/>
          <p:cNvSpPr txBox="1"/>
          <p:nvPr/>
        </p:nvSpPr>
        <p:spPr>
          <a:xfrm>
            <a:off x="3471996" y="2409857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A0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44" name="文本框 143"/>
          <p:cNvSpPr txBox="1"/>
          <p:nvPr/>
        </p:nvSpPr>
        <p:spPr>
          <a:xfrm>
            <a:off x="3472989" y="2077020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A1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45" name="文本框 144"/>
          <p:cNvSpPr txBox="1"/>
          <p:nvPr/>
        </p:nvSpPr>
        <p:spPr>
          <a:xfrm>
            <a:off x="4415284" y="2077020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XTAL1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46" name="文本框 145"/>
          <p:cNvSpPr txBox="1"/>
          <p:nvPr/>
        </p:nvSpPr>
        <p:spPr>
          <a:xfrm>
            <a:off x="4668187" y="5423484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err="1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Vcc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159" name="直接箭头连接符 158"/>
          <p:cNvCxnSpPr/>
          <p:nvPr/>
        </p:nvCxnSpPr>
        <p:spPr>
          <a:xfrm flipH="1">
            <a:off x="3047132" y="2939201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接箭头连接符 168"/>
          <p:cNvCxnSpPr/>
          <p:nvPr/>
        </p:nvCxnSpPr>
        <p:spPr>
          <a:xfrm flipH="1">
            <a:off x="5203770" y="4897362"/>
            <a:ext cx="43204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接箭头连接符 169"/>
          <p:cNvCxnSpPr/>
          <p:nvPr/>
        </p:nvCxnSpPr>
        <p:spPr>
          <a:xfrm flipH="1">
            <a:off x="5220072" y="2248283"/>
            <a:ext cx="43204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文本框 182"/>
          <p:cNvSpPr txBox="1"/>
          <p:nvPr/>
        </p:nvSpPr>
        <p:spPr>
          <a:xfrm>
            <a:off x="4487292" y="3741703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DSR*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84" name="文本框 183"/>
          <p:cNvSpPr txBox="1"/>
          <p:nvPr/>
        </p:nvSpPr>
        <p:spPr>
          <a:xfrm>
            <a:off x="4487292" y="3408866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CTS*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85" name="文本框 184"/>
          <p:cNvSpPr txBox="1"/>
          <p:nvPr/>
        </p:nvSpPr>
        <p:spPr>
          <a:xfrm>
            <a:off x="4487292" y="3076029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RTS*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86" name="文本框 185"/>
          <p:cNvSpPr txBox="1"/>
          <p:nvPr/>
        </p:nvSpPr>
        <p:spPr>
          <a:xfrm>
            <a:off x="4487292" y="2743192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DTR*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87" name="文本框 186"/>
          <p:cNvSpPr txBox="1"/>
          <p:nvPr/>
        </p:nvSpPr>
        <p:spPr>
          <a:xfrm>
            <a:off x="4479161" y="5072736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RLSD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88" name="文本框 187"/>
          <p:cNvSpPr txBox="1"/>
          <p:nvPr/>
        </p:nvSpPr>
        <p:spPr>
          <a:xfrm>
            <a:off x="4703316" y="4712696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RI*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89" name="文本框 188"/>
          <p:cNvSpPr txBox="1"/>
          <p:nvPr/>
        </p:nvSpPr>
        <p:spPr>
          <a:xfrm>
            <a:off x="4487292" y="4424664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OUT2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90" name="文本框 189"/>
          <p:cNvSpPr txBox="1"/>
          <p:nvPr/>
        </p:nvSpPr>
        <p:spPr>
          <a:xfrm>
            <a:off x="4487292" y="4064624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OUT1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94" name="文本框 193"/>
          <p:cNvSpPr txBox="1"/>
          <p:nvPr/>
        </p:nvSpPr>
        <p:spPr>
          <a:xfrm>
            <a:off x="3407172" y="2742694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CS0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195" name="直接箭头连接符 194"/>
          <p:cNvCxnSpPr/>
          <p:nvPr/>
        </p:nvCxnSpPr>
        <p:spPr>
          <a:xfrm flipH="1">
            <a:off x="5203770" y="3249198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直接箭头连接符 195"/>
          <p:cNvCxnSpPr/>
          <p:nvPr/>
        </p:nvCxnSpPr>
        <p:spPr>
          <a:xfrm flipH="1">
            <a:off x="5217473" y="3585156"/>
            <a:ext cx="43204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直接箭头连接符 196"/>
          <p:cNvCxnSpPr/>
          <p:nvPr/>
        </p:nvCxnSpPr>
        <p:spPr>
          <a:xfrm flipH="1">
            <a:off x="5220072" y="2602494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直接箭头连接符 197"/>
          <p:cNvCxnSpPr/>
          <p:nvPr/>
        </p:nvCxnSpPr>
        <p:spPr>
          <a:xfrm flipH="1">
            <a:off x="5220072" y="2939201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直接箭头连接符 198"/>
          <p:cNvCxnSpPr/>
          <p:nvPr/>
        </p:nvCxnSpPr>
        <p:spPr>
          <a:xfrm flipH="1">
            <a:off x="5194672" y="4603918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直接箭头连接符 200"/>
          <p:cNvCxnSpPr/>
          <p:nvPr/>
        </p:nvCxnSpPr>
        <p:spPr>
          <a:xfrm flipH="1">
            <a:off x="5212868" y="3923754"/>
            <a:ext cx="43204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直接箭头连接符 201"/>
          <p:cNvCxnSpPr/>
          <p:nvPr/>
        </p:nvCxnSpPr>
        <p:spPr>
          <a:xfrm flipH="1">
            <a:off x="5194672" y="4249290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直接箭头连接符 202"/>
          <p:cNvCxnSpPr/>
          <p:nvPr/>
        </p:nvCxnSpPr>
        <p:spPr>
          <a:xfrm flipH="1">
            <a:off x="3047132" y="2579161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文本框 206"/>
          <p:cNvSpPr txBox="1"/>
          <p:nvPr/>
        </p:nvSpPr>
        <p:spPr>
          <a:xfrm>
            <a:off x="3468463" y="1744183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A2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08" name="文本框 207"/>
          <p:cNvSpPr txBox="1"/>
          <p:nvPr/>
        </p:nvSpPr>
        <p:spPr>
          <a:xfrm>
            <a:off x="3468463" y="1411346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D7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09" name="文本框 208"/>
          <p:cNvSpPr txBox="1"/>
          <p:nvPr/>
        </p:nvSpPr>
        <p:spPr>
          <a:xfrm>
            <a:off x="3468463" y="1078509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D1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10" name="文本框 209"/>
          <p:cNvSpPr txBox="1"/>
          <p:nvPr/>
        </p:nvSpPr>
        <p:spPr>
          <a:xfrm>
            <a:off x="3468463" y="745672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D0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11" name="文本框 210"/>
          <p:cNvSpPr txBox="1"/>
          <p:nvPr/>
        </p:nvSpPr>
        <p:spPr>
          <a:xfrm>
            <a:off x="4415284" y="1744183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SOUT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12" name="文本框 211"/>
          <p:cNvSpPr txBox="1"/>
          <p:nvPr/>
        </p:nvSpPr>
        <p:spPr>
          <a:xfrm>
            <a:off x="4415284" y="1411346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SIN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13" name="文本框 212"/>
          <p:cNvSpPr txBox="1"/>
          <p:nvPr/>
        </p:nvSpPr>
        <p:spPr>
          <a:xfrm>
            <a:off x="4415284" y="1078509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BAUD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14" name="文本框 213"/>
          <p:cNvSpPr txBox="1"/>
          <p:nvPr/>
        </p:nvSpPr>
        <p:spPr>
          <a:xfrm>
            <a:off x="4415284" y="745672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RCLK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215" name="直接箭头连接符 214"/>
          <p:cNvCxnSpPr/>
          <p:nvPr/>
        </p:nvCxnSpPr>
        <p:spPr>
          <a:xfrm flipH="1">
            <a:off x="3047132" y="1571049"/>
            <a:ext cx="43204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直接箭头连接符 215"/>
          <p:cNvCxnSpPr/>
          <p:nvPr/>
        </p:nvCxnSpPr>
        <p:spPr>
          <a:xfrm flipH="1">
            <a:off x="3047132" y="1931089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直接箭头连接符 216"/>
          <p:cNvCxnSpPr/>
          <p:nvPr/>
        </p:nvCxnSpPr>
        <p:spPr>
          <a:xfrm flipH="1">
            <a:off x="3047132" y="922977"/>
            <a:ext cx="43204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直接箭头连接符 217"/>
          <p:cNvCxnSpPr/>
          <p:nvPr/>
        </p:nvCxnSpPr>
        <p:spPr>
          <a:xfrm flipH="1">
            <a:off x="3047132" y="1283017"/>
            <a:ext cx="43204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直接箭头连接符 218"/>
          <p:cNvCxnSpPr/>
          <p:nvPr/>
        </p:nvCxnSpPr>
        <p:spPr>
          <a:xfrm flipH="1">
            <a:off x="5194672" y="1599129"/>
            <a:ext cx="43204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直接箭头连接符 219"/>
          <p:cNvCxnSpPr/>
          <p:nvPr/>
        </p:nvCxnSpPr>
        <p:spPr>
          <a:xfrm flipH="1">
            <a:off x="5203770" y="1931089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直接箭头连接符 220"/>
          <p:cNvCxnSpPr/>
          <p:nvPr/>
        </p:nvCxnSpPr>
        <p:spPr>
          <a:xfrm flipH="1">
            <a:off x="5207372" y="922977"/>
            <a:ext cx="43204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直接箭头连接符 221"/>
          <p:cNvCxnSpPr/>
          <p:nvPr/>
        </p:nvCxnSpPr>
        <p:spPr>
          <a:xfrm flipH="1">
            <a:off x="5216470" y="1283017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" name="文本框 226"/>
          <p:cNvSpPr txBox="1"/>
          <p:nvPr/>
        </p:nvSpPr>
        <p:spPr>
          <a:xfrm>
            <a:off x="4559300" y="5747513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GND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233" name="直接箭头连接符 232"/>
          <p:cNvCxnSpPr/>
          <p:nvPr/>
        </p:nvCxnSpPr>
        <p:spPr>
          <a:xfrm flipH="1">
            <a:off x="3047132" y="5603497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直接箭头连接符 233"/>
          <p:cNvCxnSpPr/>
          <p:nvPr/>
        </p:nvCxnSpPr>
        <p:spPr>
          <a:xfrm flipH="1">
            <a:off x="3047132" y="5933364"/>
            <a:ext cx="43204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直接箭头连接符 234"/>
          <p:cNvCxnSpPr/>
          <p:nvPr/>
        </p:nvCxnSpPr>
        <p:spPr>
          <a:xfrm flipH="1">
            <a:off x="5194672" y="5588129"/>
            <a:ext cx="43204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直接箭头连接符 235"/>
          <p:cNvCxnSpPr/>
          <p:nvPr/>
        </p:nvCxnSpPr>
        <p:spPr>
          <a:xfrm flipH="1">
            <a:off x="5212868" y="5257219"/>
            <a:ext cx="43204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直接箭头连接符 236"/>
          <p:cNvCxnSpPr/>
          <p:nvPr/>
        </p:nvCxnSpPr>
        <p:spPr>
          <a:xfrm flipH="1">
            <a:off x="5203770" y="5932179"/>
            <a:ext cx="43204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文本框 238"/>
          <p:cNvSpPr txBox="1"/>
          <p:nvPr/>
        </p:nvSpPr>
        <p:spPr>
          <a:xfrm>
            <a:off x="3457571" y="374120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DISTR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40" name="文本框 239"/>
          <p:cNvSpPr txBox="1"/>
          <p:nvPr/>
        </p:nvSpPr>
        <p:spPr>
          <a:xfrm>
            <a:off x="3457571" y="4074042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DISTR*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41" name="文本框 240"/>
          <p:cNvSpPr txBox="1"/>
          <p:nvPr/>
        </p:nvSpPr>
        <p:spPr>
          <a:xfrm>
            <a:off x="3457571" y="4406879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DOSTR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42" name="文本框 241"/>
          <p:cNvSpPr txBox="1"/>
          <p:nvPr/>
        </p:nvSpPr>
        <p:spPr>
          <a:xfrm>
            <a:off x="3442038" y="4739716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DOSTR*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243" name="直接箭头连接符 242"/>
          <p:cNvCxnSpPr/>
          <p:nvPr/>
        </p:nvCxnSpPr>
        <p:spPr>
          <a:xfrm flipH="1">
            <a:off x="3047132" y="3947313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直接箭头连接符 243"/>
          <p:cNvCxnSpPr/>
          <p:nvPr/>
        </p:nvCxnSpPr>
        <p:spPr>
          <a:xfrm flipH="1">
            <a:off x="3047132" y="3587273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直接箭头连接符 244"/>
          <p:cNvCxnSpPr/>
          <p:nvPr/>
        </p:nvCxnSpPr>
        <p:spPr>
          <a:xfrm flipH="1">
            <a:off x="3047132" y="4307353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文本框 247"/>
          <p:cNvSpPr txBox="1"/>
          <p:nvPr/>
        </p:nvSpPr>
        <p:spPr>
          <a:xfrm>
            <a:off x="3452761" y="5738221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INT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49" name="文本框 248"/>
          <p:cNvSpPr txBox="1"/>
          <p:nvPr/>
        </p:nvSpPr>
        <p:spPr>
          <a:xfrm>
            <a:off x="3452761" y="5405390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MR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50" name="文本框 249"/>
          <p:cNvSpPr txBox="1"/>
          <p:nvPr/>
        </p:nvSpPr>
        <p:spPr>
          <a:xfrm>
            <a:off x="3452761" y="5072553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ADS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251" name="直接箭头连接符 250"/>
          <p:cNvCxnSpPr/>
          <p:nvPr/>
        </p:nvCxnSpPr>
        <p:spPr>
          <a:xfrm flipH="1">
            <a:off x="3047132" y="4920934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直接箭头连接符 251"/>
          <p:cNvCxnSpPr/>
          <p:nvPr/>
        </p:nvCxnSpPr>
        <p:spPr>
          <a:xfrm flipH="1">
            <a:off x="3047132" y="4588072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直接箭头连接符 252"/>
          <p:cNvCxnSpPr/>
          <p:nvPr/>
        </p:nvCxnSpPr>
        <p:spPr>
          <a:xfrm flipH="1">
            <a:off x="3047132" y="5257219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直接箭头连接符 254"/>
          <p:cNvCxnSpPr/>
          <p:nvPr/>
        </p:nvCxnSpPr>
        <p:spPr>
          <a:xfrm flipH="1">
            <a:off x="3047132" y="3227233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直接箭头连接符 255"/>
          <p:cNvCxnSpPr/>
          <p:nvPr/>
        </p:nvCxnSpPr>
        <p:spPr>
          <a:xfrm flipH="1">
            <a:off x="3047132" y="2291129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Rectangle 2"/>
          <p:cNvSpPr>
            <a:spLocks noChangeArrowheads="1"/>
          </p:cNvSpPr>
          <p:nvPr/>
        </p:nvSpPr>
        <p:spPr bwMode="auto">
          <a:xfrm>
            <a:off x="3059832" y="116632"/>
            <a:ext cx="2258160" cy="52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8250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4410347" y="2435145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XTAL2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81" name="椭圆 80"/>
          <p:cNvSpPr/>
          <p:nvPr/>
        </p:nvSpPr>
        <p:spPr>
          <a:xfrm>
            <a:off x="3155096" y="4509120"/>
            <a:ext cx="216024" cy="630718"/>
          </a:xfrm>
          <a:prstGeom prst="ellipse">
            <a:avLst/>
          </a:prstGeom>
          <a:noFill/>
          <a:ln>
            <a:solidFill>
              <a:srgbClr val="FF325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TextBox 17"/>
          <p:cNvSpPr txBox="1"/>
          <p:nvPr/>
        </p:nvSpPr>
        <p:spPr>
          <a:xfrm>
            <a:off x="212778" y="3933056"/>
            <a:ext cx="2795369" cy="1197636"/>
          </a:xfrm>
          <a:prstGeom prst="rect">
            <a:avLst/>
          </a:prstGeom>
          <a:solidFill>
            <a:srgbClr val="1D8DE5"/>
          </a:solidFill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数据输出选通：任一引脚有效，</a:t>
            </a:r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CPU</a:t>
            </a: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均可重</a:t>
            </a:r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8250</a:t>
            </a: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中写入数据或命令信息</a:t>
            </a:r>
            <a:endParaRPr lang="en-US" altLang="zh-CN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61504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 animBg="1"/>
      <p:bldP spid="8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矩形 133"/>
          <p:cNvSpPr/>
          <p:nvPr/>
        </p:nvSpPr>
        <p:spPr>
          <a:xfrm>
            <a:off x="3463111" y="745672"/>
            <a:ext cx="1744262" cy="5416476"/>
          </a:xfrm>
          <a:prstGeom prst="rect">
            <a:avLst/>
          </a:prstGeom>
          <a:noFill/>
          <a:ln>
            <a:solidFill>
              <a:srgbClr val="FD7A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1" name="文本框 140"/>
          <p:cNvSpPr txBox="1"/>
          <p:nvPr/>
        </p:nvSpPr>
        <p:spPr>
          <a:xfrm>
            <a:off x="3409279" y="3408368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CS2</a:t>
            </a:r>
            <a:r>
              <a:rPr lang="zh-CN" altLang="en-US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*</a:t>
            </a:r>
          </a:p>
        </p:txBody>
      </p:sp>
      <p:sp>
        <p:nvSpPr>
          <p:cNvPr id="142" name="文本框 141"/>
          <p:cNvSpPr txBox="1"/>
          <p:nvPr/>
        </p:nvSpPr>
        <p:spPr>
          <a:xfrm>
            <a:off x="3409279" y="3075531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CS1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43" name="文本框 142"/>
          <p:cNvSpPr txBox="1"/>
          <p:nvPr/>
        </p:nvSpPr>
        <p:spPr>
          <a:xfrm>
            <a:off x="3471996" y="2409857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A0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44" name="文本框 143"/>
          <p:cNvSpPr txBox="1"/>
          <p:nvPr/>
        </p:nvSpPr>
        <p:spPr>
          <a:xfrm>
            <a:off x="3472989" y="2077020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A1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45" name="文本框 144"/>
          <p:cNvSpPr txBox="1"/>
          <p:nvPr/>
        </p:nvSpPr>
        <p:spPr>
          <a:xfrm>
            <a:off x="4415284" y="2077020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XTAL1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46" name="文本框 145"/>
          <p:cNvSpPr txBox="1"/>
          <p:nvPr/>
        </p:nvSpPr>
        <p:spPr>
          <a:xfrm>
            <a:off x="4668187" y="5423484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err="1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Vcc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159" name="直接箭头连接符 158"/>
          <p:cNvCxnSpPr/>
          <p:nvPr/>
        </p:nvCxnSpPr>
        <p:spPr>
          <a:xfrm flipH="1">
            <a:off x="3047132" y="2939201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接箭头连接符 168"/>
          <p:cNvCxnSpPr/>
          <p:nvPr/>
        </p:nvCxnSpPr>
        <p:spPr>
          <a:xfrm flipH="1">
            <a:off x="5203770" y="4897362"/>
            <a:ext cx="43204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接箭头连接符 169"/>
          <p:cNvCxnSpPr/>
          <p:nvPr/>
        </p:nvCxnSpPr>
        <p:spPr>
          <a:xfrm flipH="1">
            <a:off x="5220072" y="2248283"/>
            <a:ext cx="43204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文本框 182"/>
          <p:cNvSpPr txBox="1"/>
          <p:nvPr/>
        </p:nvSpPr>
        <p:spPr>
          <a:xfrm>
            <a:off x="4487292" y="3741703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DSR*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84" name="文本框 183"/>
          <p:cNvSpPr txBox="1"/>
          <p:nvPr/>
        </p:nvSpPr>
        <p:spPr>
          <a:xfrm>
            <a:off x="4487292" y="3408866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CTS*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85" name="文本框 184"/>
          <p:cNvSpPr txBox="1"/>
          <p:nvPr/>
        </p:nvSpPr>
        <p:spPr>
          <a:xfrm>
            <a:off x="4487292" y="3076029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RTS*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86" name="文本框 185"/>
          <p:cNvSpPr txBox="1"/>
          <p:nvPr/>
        </p:nvSpPr>
        <p:spPr>
          <a:xfrm>
            <a:off x="4487292" y="2743192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DTR*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87" name="文本框 186"/>
          <p:cNvSpPr txBox="1"/>
          <p:nvPr/>
        </p:nvSpPr>
        <p:spPr>
          <a:xfrm>
            <a:off x="4479161" y="5072736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RLSD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88" name="文本框 187"/>
          <p:cNvSpPr txBox="1"/>
          <p:nvPr/>
        </p:nvSpPr>
        <p:spPr>
          <a:xfrm>
            <a:off x="4703316" y="4712696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RI*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89" name="文本框 188"/>
          <p:cNvSpPr txBox="1"/>
          <p:nvPr/>
        </p:nvSpPr>
        <p:spPr>
          <a:xfrm>
            <a:off x="4487292" y="4424664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OUT2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90" name="文本框 189"/>
          <p:cNvSpPr txBox="1"/>
          <p:nvPr/>
        </p:nvSpPr>
        <p:spPr>
          <a:xfrm>
            <a:off x="4487292" y="4064624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OUT1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94" name="文本框 193"/>
          <p:cNvSpPr txBox="1"/>
          <p:nvPr/>
        </p:nvSpPr>
        <p:spPr>
          <a:xfrm>
            <a:off x="3407172" y="2742694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CS0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195" name="直接箭头连接符 194"/>
          <p:cNvCxnSpPr/>
          <p:nvPr/>
        </p:nvCxnSpPr>
        <p:spPr>
          <a:xfrm flipH="1">
            <a:off x="5203770" y="3249198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直接箭头连接符 195"/>
          <p:cNvCxnSpPr/>
          <p:nvPr/>
        </p:nvCxnSpPr>
        <p:spPr>
          <a:xfrm flipH="1">
            <a:off x="5217473" y="3585156"/>
            <a:ext cx="43204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直接箭头连接符 196"/>
          <p:cNvCxnSpPr/>
          <p:nvPr/>
        </p:nvCxnSpPr>
        <p:spPr>
          <a:xfrm flipH="1">
            <a:off x="5220072" y="2602494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直接箭头连接符 197"/>
          <p:cNvCxnSpPr/>
          <p:nvPr/>
        </p:nvCxnSpPr>
        <p:spPr>
          <a:xfrm flipH="1">
            <a:off x="5220072" y="2939201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直接箭头连接符 198"/>
          <p:cNvCxnSpPr/>
          <p:nvPr/>
        </p:nvCxnSpPr>
        <p:spPr>
          <a:xfrm flipH="1">
            <a:off x="5194672" y="4603918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直接箭头连接符 200"/>
          <p:cNvCxnSpPr/>
          <p:nvPr/>
        </p:nvCxnSpPr>
        <p:spPr>
          <a:xfrm flipH="1">
            <a:off x="5212868" y="3923754"/>
            <a:ext cx="43204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直接箭头连接符 201"/>
          <p:cNvCxnSpPr/>
          <p:nvPr/>
        </p:nvCxnSpPr>
        <p:spPr>
          <a:xfrm flipH="1">
            <a:off x="5194672" y="4249290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直接箭头连接符 202"/>
          <p:cNvCxnSpPr/>
          <p:nvPr/>
        </p:nvCxnSpPr>
        <p:spPr>
          <a:xfrm flipH="1">
            <a:off x="3047132" y="2579161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文本框 206"/>
          <p:cNvSpPr txBox="1"/>
          <p:nvPr/>
        </p:nvSpPr>
        <p:spPr>
          <a:xfrm>
            <a:off x="3468463" y="1744183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A2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08" name="文本框 207"/>
          <p:cNvSpPr txBox="1"/>
          <p:nvPr/>
        </p:nvSpPr>
        <p:spPr>
          <a:xfrm>
            <a:off x="3468463" y="1411346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D7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09" name="文本框 208"/>
          <p:cNvSpPr txBox="1"/>
          <p:nvPr/>
        </p:nvSpPr>
        <p:spPr>
          <a:xfrm>
            <a:off x="3468463" y="1078509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D1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10" name="文本框 209"/>
          <p:cNvSpPr txBox="1"/>
          <p:nvPr/>
        </p:nvSpPr>
        <p:spPr>
          <a:xfrm>
            <a:off x="3468463" y="745672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D0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11" name="文本框 210"/>
          <p:cNvSpPr txBox="1"/>
          <p:nvPr/>
        </p:nvSpPr>
        <p:spPr>
          <a:xfrm>
            <a:off x="4415284" y="1744183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SOUT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12" name="文本框 211"/>
          <p:cNvSpPr txBox="1"/>
          <p:nvPr/>
        </p:nvSpPr>
        <p:spPr>
          <a:xfrm>
            <a:off x="4415284" y="1411346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SIN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13" name="文本框 212"/>
          <p:cNvSpPr txBox="1"/>
          <p:nvPr/>
        </p:nvSpPr>
        <p:spPr>
          <a:xfrm>
            <a:off x="4415284" y="1078509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BAUD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14" name="文本框 213"/>
          <p:cNvSpPr txBox="1"/>
          <p:nvPr/>
        </p:nvSpPr>
        <p:spPr>
          <a:xfrm>
            <a:off x="4415284" y="745672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RCLK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215" name="直接箭头连接符 214"/>
          <p:cNvCxnSpPr/>
          <p:nvPr/>
        </p:nvCxnSpPr>
        <p:spPr>
          <a:xfrm flipH="1">
            <a:off x="3047132" y="1571049"/>
            <a:ext cx="43204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直接箭头连接符 215"/>
          <p:cNvCxnSpPr/>
          <p:nvPr/>
        </p:nvCxnSpPr>
        <p:spPr>
          <a:xfrm flipH="1">
            <a:off x="3047132" y="1931089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直接箭头连接符 216"/>
          <p:cNvCxnSpPr/>
          <p:nvPr/>
        </p:nvCxnSpPr>
        <p:spPr>
          <a:xfrm flipH="1">
            <a:off x="3047132" y="922977"/>
            <a:ext cx="43204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直接箭头连接符 217"/>
          <p:cNvCxnSpPr/>
          <p:nvPr/>
        </p:nvCxnSpPr>
        <p:spPr>
          <a:xfrm flipH="1">
            <a:off x="3047132" y="1283017"/>
            <a:ext cx="43204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直接箭头连接符 218"/>
          <p:cNvCxnSpPr/>
          <p:nvPr/>
        </p:nvCxnSpPr>
        <p:spPr>
          <a:xfrm flipH="1">
            <a:off x="5194672" y="1599129"/>
            <a:ext cx="43204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直接箭头连接符 219"/>
          <p:cNvCxnSpPr/>
          <p:nvPr/>
        </p:nvCxnSpPr>
        <p:spPr>
          <a:xfrm flipH="1">
            <a:off x="5203770" y="1931089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直接箭头连接符 220"/>
          <p:cNvCxnSpPr/>
          <p:nvPr/>
        </p:nvCxnSpPr>
        <p:spPr>
          <a:xfrm flipH="1">
            <a:off x="5207372" y="922977"/>
            <a:ext cx="43204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直接箭头连接符 221"/>
          <p:cNvCxnSpPr/>
          <p:nvPr/>
        </p:nvCxnSpPr>
        <p:spPr>
          <a:xfrm flipH="1">
            <a:off x="5216470" y="1283017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" name="文本框 226"/>
          <p:cNvSpPr txBox="1"/>
          <p:nvPr/>
        </p:nvSpPr>
        <p:spPr>
          <a:xfrm>
            <a:off x="4559300" y="5747513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GND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233" name="直接箭头连接符 232"/>
          <p:cNvCxnSpPr/>
          <p:nvPr/>
        </p:nvCxnSpPr>
        <p:spPr>
          <a:xfrm flipH="1">
            <a:off x="3047132" y="5603497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直接箭头连接符 233"/>
          <p:cNvCxnSpPr/>
          <p:nvPr/>
        </p:nvCxnSpPr>
        <p:spPr>
          <a:xfrm flipH="1">
            <a:off x="3047132" y="5933364"/>
            <a:ext cx="43204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直接箭头连接符 234"/>
          <p:cNvCxnSpPr/>
          <p:nvPr/>
        </p:nvCxnSpPr>
        <p:spPr>
          <a:xfrm flipH="1">
            <a:off x="5194672" y="5588129"/>
            <a:ext cx="43204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直接箭头连接符 235"/>
          <p:cNvCxnSpPr/>
          <p:nvPr/>
        </p:nvCxnSpPr>
        <p:spPr>
          <a:xfrm flipH="1">
            <a:off x="5212868" y="5257219"/>
            <a:ext cx="43204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直接箭头连接符 236"/>
          <p:cNvCxnSpPr/>
          <p:nvPr/>
        </p:nvCxnSpPr>
        <p:spPr>
          <a:xfrm flipH="1">
            <a:off x="5203770" y="5932179"/>
            <a:ext cx="43204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文本框 238"/>
          <p:cNvSpPr txBox="1"/>
          <p:nvPr/>
        </p:nvSpPr>
        <p:spPr>
          <a:xfrm>
            <a:off x="3457571" y="374120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DISTR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40" name="文本框 239"/>
          <p:cNvSpPr txBox="1"/>
          <p:nvPr/>
        </p:nvSpPr>
        <p:spPr>
          <a:xfrm>
            <a:off x="3457571" y="4074042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DISTR*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41" name="文本框 240"/>
          <p:cNvSpPr txBox="1"/>
          <p:nvPr/>
        </p:nvSpPr>
        <p:spPr>
          <a:xfrm>
            <a:off x="3457571" y="4406879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DOSTR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42" name="文本框 241"/>
          <p:cNvSpPr txBox="1"/>
          <p:nvPr/>
        </p:nvSpPr>
        <p:spPr>
          <a:xfrm>
            <a:off x="3442038" y="4739716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DOSTR*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243" name="直接箭头连接符 242"/>
          <p:cNvCxnSpPr/>
          <p:nvPr/>
        </p:nvCxnSpPr>
        <p:spPr>
          <a:xfrm flipH="1">
            <a:off x="3047132" y="3947313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直接箭头连接符 243"/>
          <p:cNvCxnSpPr/>
          <p:nvPr/>
        </p:nvCxnSpPr>
        <p:spPr>
          <a:xfrm flipH="1">
            <a:off x="3047132" y="3587273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直接箭头连接符 244"/>
          <p:cNvCxnSpPr/>
          <p:nvPr/>
        </p:nvCxnSpPr>
        <p:spPr>
          <a:xfrm flipH="1">
            <a:off x="3047132" y="4307353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文本框 247"/>
          <p:cNvSpPr txBox="1"/>
          <p:nvPr/>
        </p:nvSpPr>
        <p:spPr>
          <a:xfrm>
            <a:off x="3452761" y="5738221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INT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49" name="文本框 248"/>
          <p:cNvSpPr txBox="1"/>
          <p:nvPr/>
        </p:nvSpPr>
        <p:spPr>
          <a:xfrm>
            <a:off x="3452761" y="5405390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MR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50" name="文本框 249"/>
          <p:cNvSpPr txBox="1"/>
          <p:nvPr/>
        </p:nvSpPr>
        <p:spPr>
          <a:xfrm>
            <a:off x="3452761" y="5072553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ADS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251" name="直接箭头连接符 250"/>
          <p:cNvCxnSpPr/>
          <p:nvPr/>
        </p:nvCxnSpPr>
        <p:spPr>
          <a:xfrm flipH="1">
            <a:off x="3047132" y="4920934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直接箭头连接符 251"/>
          <p:cNvCxnSpPr/>
          <p:nvPr/>
        </p:nvCxnSpPr>
        <p:spPr>
          <a:xfrm flipH="1">
            <a:off x="3047132" y="4588072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直接箭头连接符 252"/>
          <p:cNvCxnSpPr/>
          <p:nvPr/>
        </p:nvCxnSpPr>
        <p:spPr>
          <a:xfrm flipH="1">
            <a:off x="3047132" y="5257219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直接箭头连接符 254"/>
          <p:cNvCxnSpPr/>
          <p:nvPr/>
        </p:nvCxnSpPr>
        <p:spPr>
          <a:xfrm flipH="1">
            <a:off x="3047132" y="3227233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直接箭头连接符 255"/>
          <p:cNvCxnSpPr/>
          <p:nvPr/>
        </p:nvCxnSpPr>
        <p:spPr>
          <a:xfrm flipH="1">
            <a:off x="3047132" y="2291129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Rectangle 2"/>
          <p:cNvSpPr>
            <a:spLocks noChangeArrowheads="1"/>
          </p:cNvSpPr>
          <p:nvPr/>
        </p:nvSpPr>
        <p:spPr bwMode="auto">
          <a:xfrm>
            <a:off x="3059832" y="116632"/>
            <a:ext cx="2258160" cy="52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8250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4410347" y="2435145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XTAL2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81" name="椭圆 80"/>
          <p:cNvSpPr/>
          <p:nvPr/>
        </p:nvSpPr>
        <p:spPr>
          <a:xfrm>
            <a:off x="3208120" y="5065658"/>
            <a:ext cx="139744" cy="506920"/>
          </a:xfrm>
          <a:prstGeom prst="ellipse">
            <a:avLst/>
          </a:prstGeom>
          <a:noFill/>
          <a:ln>
            <a:solidFill>
              <a:srgbClr val="FF325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TextBox 17"/>
          <p:cNvSpPr txBox="1"/>
          <p:nvPr/>
        </p:nvSpPr>
        <p:spPr>
          <a:xfrm>
            <a:off x="128536" y="4200382"/>
            <a:ext cx="2795369" cy="1528945"/>
          </a:xfrm>
          <a:prstGeom prst="rect">
            <a:avLst/>
          </a:prstGeom>
          <a:solidFill>
            <a:srgbClr val="1D8DE5"/>
          </a:solidFill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地址锁存输入引脚，锁存片选信号和寄存器选择信号，以保证读写期间地址的稳定。</a:t>
            </a:r>
            <a:endParaRPr lang="en-US" altLang="zh-CN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41448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 animBg="1"/>
      <p:bldP spid="8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矩形 133"/>
          <p:cNvSpPr/>
          <p:nvPr/>
        </p:nvSpPr>
        <p:spPr>
          <a:xfrm>
            <a:off x="3463111" y="745672"/>
            <a:ext cx="1744262" cy="5416476"/>
          </a:xfrm>
          <a:prstGeom prst="rect">
            <a:avLst/>
          </a:prstGeom>
          <a:noFill/>
          <a:ln>
            <a:solidFill>
              <a:srgbClr val="FD7A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1" name="文本框 140"/>
          <p:cNvSpPr txBox="1"/>
          <p:nvPr/>
        </p:nvSpPr>
        <p:spPr>
          <a:xfrm>
            <a:off x="3409279" y="3408368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CS2</a:t>
            </a:r>
            <a:r>
              <a:rPr lang="zh-CN" altLang="en-US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*</a:t>
            </a:r>
          </a:p>
        </p:txBody>
      </p:sp>
      <p:sp>
        <p:nvSpPr>
          <p:cNvPr id="142" name="文本框 141"/>
          <p:cNvSpPr txBox="1"/>
          <p:nvPr/>
        </p:nvSpPr>
        <p:spPr>
          <a:xfrm>
            <a:off x="3409279" y="3075531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CS1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43" name="文本框 142"/>
          <p:cNvSpPr txBox="1"/>
          <p:nvPr/>
        </p:nvSpPr>
        <p:spPr>
          <a:xfrm>
            <a:off x="3471996" y="2409857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A0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44" name="文本框 143"/>
          <p:cNvSpPr txBox="1"/>
          <p:nvPr/>
        </p:nvSpPr>
        <p:spPr>
          <a:xfrm>
            <a:off x="3472989" y="2077020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A1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45" name="文本框 144"/>
          <p:cNvSpPr txBox="1"/>
          <p:nvPr/>
        </p:nvSpPr>
        <p:spPr>
          <a:xfrm>
            <a:off x="4415284" y="2077020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XTAL1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46" name="文本框 145"/>
          <p:cNvSpPr txBox="1"/>
          <p:nvPr/>
        </p:nvSpPr>
        <p:spPr>
          <a:xfrm>
            <a:off x="4668187" y="5423484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err="1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Vcc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159" name="直接箭头连接符 158"/>
          <p:cNvCxnSpPr/>
          <p:nvPr/>
        </p:nvCxnSpPr>
        <p:spPr>
          <a:xfrm flipH="1">
            <a:off x="3047132" y="2939201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接箭头连接符 168"/>
          <p:cNvCxnSpPr/>
          <p:nvPr/>
        </p:nvCxnSpPr>
        <p:spPr>
          <a:xfrm flipH="1">
            <a:off x="5203770" y="4897362"/>
            <a:ext cx="43204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接箭头连接符 169"/>
          <p:cNvCxnSpPr/>
          <p:nvPr/>
        </p:nvCxnSpPr>
        <p:spPr>
          <a:xfrm flipH="1">
            <a:off x="5220072" y="2248283"/>
            <a:ext cx="43204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文本框 182"/>
          <p:cNvSpPr txBox="1"/>
          <p:nvPr/>
        </p:nvSpPr>
        <p:spPr>
          <a:xfrm>
            <a:off x="4487292" y="3741703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DSR*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84" name="文本框 183"/>
          <p:cNvSpPr txBox="1"/>
          <p:nvPr/>
        </p:nvSpPr>
        <p:spPr>
          <a:xfrm>
            <a:off x="4487292" y="3408866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CTS*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85" name="文本框 184"/>
          <p:cNvSpPr txBox="1"/>
          <p:nvPr/>
        </p:nvSpPr>
        <p:spPr>
          <a:xfrm>
            <a:off x="4487292" y="3076029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RTS*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86" name="文本框 185"/>
          <p:cNvSpPr txBox="1"/>
          <p:nvPr/>
        </p:nvSpPr>
        <p:spPr>
          <a:xfrm>
            <a:off x="4487292" y="2743192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DTR*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87" name="文本框 186"/>
          <p:cNvSpPr txBox="1"/>
          <p:nvPr/>
        </p:nvSpPr>
        <p:spPr>
          <a:xfrm>
            <a:off x="4479161" y="5072736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RLSD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88" name="文本框 187"/>
          <p:cNvSpPr txBox="1"/>
          <p:nvPr/>
        </p:nvSpPr>
        <p:spPr>
          <a:xfrm>
            <a:off x="4703316" y="4712696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RI*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89" name="文本框 188"/>
          <p:cNvSpPr txBox="1"/>
          <p:nvPr/>
        </p:nvSpPr>
        <p:spPr>
          <a:xfrm>
            <a:off x="4487292" y="4424664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OUT2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90" name="文本框 189"/>
          <p:cNvSpPr txBox="1"/>
          <p:nvPr/>
        </p:nvSpPr>
        <p:spPr>
          <a:xfrm>
            <a:off x="4487292" y="4064624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OUT1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94" name="文本框 193"/>
          <p:cNvSpPr txBox="1"/>
          <p:nvPr/>
        </p:nvSpPr>
        <p:spPr>
          <a:xfrm>
            <a:off x="3407172" y="2742694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CS0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195" name="直接箭头连接符 194"/>
          <p:cNvCxnSpPr/>
          <p:nvPr/>
        </p:nvCxnSpPr>
        <p:spPr>
          <a:xfrm flipH="1">
            <a:off x="5203770" y="3249198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直接箭头连接符 195"/>
          <p:cNvCxnSpPr/>
          <p:nvPr/>
        </p:nvCxnSpPr>
        <p:spPr>
          <a:xfrm flipH="1">
            <a:off x="5217473" y="3585156"/>
            <a:ext cx="43204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直接箭头连接符 196"/>
          <p:cNvCxnSpPr/>
          <p:nvPr/>
        </p:nvCxnSpPr>
        <p:spPr>
          <a:xfrm flipH="1">
            <a:off x="5220072" y="2602494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直接箭头连接符 197"/>
          <p:cNvCxnSpPr/>
          <p:nvPr/>
        </p:nvCxnSpPr>
        <p:spPr>
          <a:xfrm flipH="1">
            <a:off x="5220072" y="2939201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直接箭头连接符 198"/>
          <p:cNvCxnSpPr/>
          <p:nvPr/>
        </p:nvCxnSpPr>
        <p:spPr>
          <a:xfrm flipH="1">
            <a:off x="5194672" y="4603918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直接箭头连接符 200"/>
          <p:cNvCxnSpPr/>
          <p:nvPr/>
        </p:nvCxnSpPr>
        <p:spPr>
          <a:xfrm flipH="1">
            <a:off x="5212868" y="3923754"/>
            <a:ext cx="43204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直接箭头连接符 201"/>
          <p:cNvCxnSpPr/>
          <p:nvPr/>
        </p:nvCxnSpPr>
        <p:spPr>
          <a:xfrm flipH="1">
            <a:off x="5194672" y="4249290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直接箭头连接符 202"/>
          <p:cNvCxnSpPr/>
          <p:nvPr/>
        </p:nvCxnSpPr>
        <p:spPr>
          <a:xfrm flipH="1">
            <a:off x="3047132" y="2579161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文本框 206"/>
          <p:cNvSpPr txBox="1"/>
          <p:nvPr/>
        </p:nvSpPr>
        <p:spPr>
          <a:xfrm>
            <a:off x="3468463" y="1744183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A2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08" name="文本框 207"/>
          <p:cNvSpPr txBox="1"/>
          <p:nvPr/>
        </p:nvSpPr>
        <p:spPr>
          <a:xfrm>
            <a:off x="3468463" y="1411346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D7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09" name="文本框 208"/>
          <p:cNvSpPr txBox="1"/>
          <p:nvPr/>
        </p:nvSpPr>
        <p:spPr>
          <a:xfrm>
            <a:off x="3468463" y="1078509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D1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10" name="文本框 209"/>
          <p:cNvSpPr txBox="1"/>
          <p:nvPr/>
        </p:nvSpPr>
        <p:spPr>
          <a:xfrm>
            <a:off x="3468463" y="745672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D0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11" name="文本框 210"/>
          <p:cNvSpPr txBox="1"/>
          <p:nvPr/>
        </p:nvSpPr>
        <p:spPr>
          <a:xfrm>
            <a:off x="4415284" y="1744183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SOUT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12" name="文本框 211"/>
          <p:cNvSpPr txBox="1"/>
          <p:nvPr/>
        </p:nvSpPr>
        <p:spPr>
          <a:xfrm>
            <a:off x="4415284" y="1411346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SIN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13" name="文本框 212"/>
          <p:cNvSpPr txBox="1"/>
          <p:nvPr/>
        </p:nvSpPr>
        <p:spPr>
          <a:xfrm>
            <a:off x="4415284" y="1078509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BAUD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14" name="文本框 213"/>
          <p:cNvSpPr txBox="1"/>
          <p:nvPr/>
        </p:nvSpPr>
        <p:spPr>
          <a:xfrm>
            <a:off x="4415284" y="745672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RCLK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215" name="直接箭头连接符 214"/>
          <p:cNvCxnSpPr/>
          <p:nvPr/>
        </p:nvCxnSpPr>
        <p:spPr>
          <a:xfrm flipH="1">
            <a:off x="3047132" y="1571049"/>
            <a:ext cx="43204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直接箭头连接符 215"/>
          <p:cNvCxnSpPr/>
          <p:nvPr/>
        </p:nvCxnSpPr>
        <p:spPr>
          <a:xfrm flipH="1">
            <a:off x="3047132" y="1931089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直接箭头连接符 216"/>
          <p:cNvCxnSpPr/>
          <p:nvPr/>
        </p:nvCxnSpPr>
        <p:spPr>
          <a:xfrm flipH="1">
            <a:off x="3047132" y="922977"/>
            <a:ext cx="43204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直接箭头连接符 217"/>
          <p:cNvCxnSpPr/>
          <p:nvPr/>
        </p:nvCxnSpPr>
        <p:spPr>
          <a:xfrm flipH="1">
            <a:off x="3047132" y="1283017"/>
            <a:ext cx="43204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直接箭头连接符 218"/>
          <p:cNvCxnSpPr/>
          <p:nvPr/>
        </p:nvCxnSpPr>
        <p:spPr>
          <a:xfrm flipH="1">
            <a:off x="5194672" y="1599129"/>
            <a:ext cx="43204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直接箭头连接符 219"/>
          <p:cNvCxnSpPr/>
          <p:nvPr/>
        </p:nvCxnSpPr>
        <p:spPr>
          <a:xfrm flipH="1">
            <a:off x="5203770" y="1931089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直接箭头连接符 220"/>
          <p:cNvCxnSpPr/>
          <p:nvPr/>
        </p:nvCxnSpPr>
        <p:spPr>
          <a:xfrm flipH="1">
            <a:off x="5207372" y="922977"/>
            <a:ext cx="43204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直接箭头连接符 221"/>
          <p:cNvCxnSpPr/>
          <p:nvPr/>
        </p:nvCxnSpPr>
        <p:spPr>
          <a:xfrm flipH="1">
            <a:off x="5216470" y="1283017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" name="文本框 226"/>
          <p:cNvSpPr txBox="1"/>
          <p:nvPr/>
        </p:nvSpPr>
        <p:spPr>
          <a:xfrm>
            <a:off x="4559300" y="5747513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GND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233" name="直接箭头连接符 232"/>
          <p:cNvCxnSpPr/>
          <p:nvPr/>
        </p:nvCxnSpPr>
        <p:spPr>
          <a:xfrm flipH="1">
            <a:off x="3047132" y="5603497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直接箭头连接符 233"/>
          <p:cNvCxnSpPr/>
          <p:nvPr/>
        </p:nvCxnSpPr>
        <p:spPr>
          <a:xfrm flipH="1">
            <a:off x="3047132" y="5933364"/>
            <a:ext cx="43204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直接箭头连接符 234"/>
          <p:cNvCxnSpPr/>
          <p:nvPr/>
        </p:nvCxnSpPr>
        <p:spPr>
          <a:xfrm flipH="1">
            <a:off x="5194672" y="5588129"/>
            <a:ext cx="43204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直接箭头连接符 235"/>
          <p:cNvCxnSpPr/>
          <p:nvPr/>
        </p:nvCxnSpPr>
        <p:spPr>
          <a:xfrm flipH="1">
            <a:off x="5212868" y="5257219"/>
            <a:ext cx="43204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直接箭头连接符 236"/>
          <p:cNvCxnSpPr/>
          <p:nvPr/>
        </p:nvCxnSpPr>
        <p:spPr>
          <a:xfrm flipH="1">
            <a:off x="5203770" y="5932179"/>
            <a:ext cx="43204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文本框 238"/>
          <p:cNvSpPr txBox="1"/>
          <p:nvPr/>
        </p:nvSpPr>
        <p:spPr>
          <a:xfrm>
            <a:off x="3457571" y="374120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DISTR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40" name="文本框 239"/>
          <p:cNvSpPr txBox="1"/>
          <p:nvPr/>
        </p:nvSpPr>
        <p:spPr>
          <a:xfrm>
            <a:off x="3457571" y="4074042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DISTR*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41" name="文本框 240"/>
          <p:cNvSpPr txBox="1"/>
          <p:nvPr/>
        </p:nvSpPr>
        <p:spPr>
          <a:xfrm>
            <a:off x="3457571" y="4406879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DOSTR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42" name="文本框 241"/>
          <p:cNvSpPr txBox="1"/>
          <p:nvPr/>
        </p:nvSpPr>
        <p:spPr>
          <a:xfrm>
            <a:off x="3442038" y="4739716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DOSTR*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243" name="直接箭头连接符 242"/>
          <p:cNvCxnSpPr/>
          <p:nvPr/>
        </p:nvCxnSpPr>
        <p:spPr>
          <a:xfrm flipH="1">
            <a:off x="3047132" y="3947313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直接箭头连接符 243"/>
          <p:cNvCxnSpPr/>
          <p:nvPr/>
        </p:nvCxnSpPr>
        <p:spPr>
          <a:xfrm flipH="1">
            <a:off x="3047132" y="3587273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直接箭头连接符 244"/>
          <p:cNvCxnSpPr/>
          <p:nvPr/>
        </p:nvCxnSpPr>
        <p:spPr>
          <a:xfrm flipH="1">
            <a:off x="3047132" y="4307353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文本框 247"/>
          <p:cNvSpPr txBox="1"/>
          <p:nvPr/>
        </p:nvSpPr>
        <p:spPr>
          <a:xfrm>
            <a:off x="3452761" y="5738221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INT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49" name="文本框 248"/>
          <p:cNvSpPr txBox="1"/>
          <p:nvPr/>
        </p:nvSpPr>
        <p:spPr>
          <a:xfrm>
            <a:off x="3452761" y="5405390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MR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50" name="文本框 249"/>
          <p:cNvSpPr txBox="1"/>
          <p:nvPr/>
        </p:nvSpPr>
        <p:spPr>
          <a:xfrm>
            <a:off x="3452761" y="5072553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ADS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251" name="直接箭头连接符 250"/>
          <p:cNvCxnSpPr/>
          <p:nvPr/>
        </p:nvCxnSpPr>
        <p:spPr>
          <a:xfrm flipH="1">
            <a:off x="3047132" y="4920934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直接箭头连接符 251"/>
          <p:cNvCxnSpPr/>
          <p:nvPr/>
        </p:nvCxnSpPr>
        <p:spPr>
          <a:xfrm flipH="1">
            <a:off x="3047132" y="4588072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直接箭头连接符 252"/>
          <p:cNvCxnSpPr/>
          <p:nvPr/>
        </p:nvCxnSpPr>
        <p:spPr>
          <a:xfrm flipH="1">
            <a:off x="3047132" y="5257219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直接箭头连接符 254"/>
          <p:cNvCxnSpPr/>
          <p:nvPr/>
        </p:nvCxnSpPr>
        <p:spPr>
          <a:xfrm flipH="1">
            <a:off x="3047132" y="3227233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直接箭头连接符 255"/>
          <p:cNvCxnSpPr/>
          <p:nvPr/>
        </p:nvCxnSpPr>
        <p:spPr>
          <a:xfrm flipH="1">
            <a:off x="3047132" y="2291129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Rectangle 2"/>
          <p:cNvSpPr>
            <a:spLocks noChangeArrowheads="1"/>
          </p:cNvSpPr>
          <p:nvPr/>
        </p:nvSpPr>
        <p:spPr bwMode="auto">
          <a:xfrm>
            <a:off x="3059832" y="116632"/>
            <a:ext cx="2258160" cy="52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8250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4410347" y="2435145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XTAL2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81" name="椭圆 80"/>
          <p:cNvSpPr/>
          <p:nvPr/>
        </p:nvSpPr>
        <p:spPr>
          <a:xfrm>
            <a:off x="3188702" y="5373216"/>
            <a:ext cx="145536" cy="419725"/>
          </a:xfrm>
          <a:prstGeom prst="ellipse">
            <a:avLst/>
          </a:prstGeom>
          <a:noFill/>
          <a:ln>
            <a:solidFill>
              <a:srgbClr val="FF325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TextBox 17"/>
          <p:cNvSpPr txBox="1"/>
          <p:nvPr/>
        </p:nvSpPr>
        <p:spPr>
          <a:xfrm>
            <a:off x="939757" y="4914439"/>
            <a:ext cx="2009477" cy="829201"/>
          </a:xfrm>
          <a:prstGeom prst="rect">
            <a:avLst/>
          </a:prstGeom>
          <a:solidFill>
            <a:srgbClr val="1D8DE5"/>
          </a:solidFill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主复位输入信号，高电平有效。</a:t>
            </a:r>
            <a:endParaRPr lang="en-US" altLang="zh-CN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0" name="TextBox 17"/>
          <p:cNvSpPr txBox="1"/>
          <p:nvPr/>
        </p:nvSpPr>
        <p:spPr>
          <a:xfrm>
            <a:off x="939756" y="5799637"/>
            <a:ext cx="2027237" cy="460767"/>
          </a:xfrm>
          <a:prstGeom prst="rect">
            <a:avLst/>
          </a:prstGeom>
          <a:solidFill>
            <a:srgbClr val="1D8DE5"/>
          </a:solidFill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中断请求输出信号</a:t>
            </a:r>
            <a:endParaRPr lang="en-US" altLang="zh-CN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1" name="椭圆 70"/>
          <p:cNvSpPr/>
          <p:nvPr/>
        </p:nvSpPr>
        <p:spPr>
          <a:xfrm>
            <a:off x="3188702" y="5805264"/>
            <a:ext cx="145536" cy="419725"/>
          </a:xfrm>
          <a:prstGeom prst="ellipse">
            <a:avLst/>
          </a:prstGeom>
          <a:noFill/>
          <a:ln>
            <a:solidFill>
              <a:srgbClr val="FF325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8111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 animBg="1"/>
      <p:bldP spid="82" grpId="0" animBg="1"/>
      <p:bldP spid="70" grpId="0" animBg="1"/>
      <p:bldP spid="7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矩形 133"/>
          <p:cNvSpPr/>
          <p:nvPr/>
        </p:nvSpPr>
        <p:spPr>
          <a:xfrm>
            <a:off x="3463111" y="745672"/>
            <a:ext cx="1744262" cy="5416476"/>
          </a:xfrm>
          <a:prstGeom prst="rect">
            <a:avLst/>
          </a:prstGeom>
          <a:noFill/>
          <a:ln>
            <a:solidFill>
              <a:srgbClr val="FD7A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1" name="文本框 140"/>
          <p:cNvSpPr txBox="1"/>
          <p:nvPr/>
        </p:nvSpPr>
        <p:spPr>
          <a:xfrm>
            <a:off x="3409279" y="3408368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CS2</a:t>
            </a:r>
            <a:r>
              <a:rPr lang="zh-CN" altLang="en-US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*</a:t>
            </a:r>
          </a:p>
        </p:txBody>
      </p:sp>
      <p:sp>
        <p:nvSpPr>
          <p:cNvPr id="142" name="文本框 141"/>
          <p:cNvSpPr txBox="1"/>
          <p:nvPr/>
        </p:nvSpPr>
        <p:spPr>
          <a:xfrm>
            <a:off x="3409279" y="3075531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CS1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43" name="文本框 142"/>
          <p:cNvSpPr txBox="1"/>
          <p:nvPr/>
        </p:nvSpPr>
        <p:spPr>
          <a:xfrm>
            <a:off x="3471996" y="2409857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A0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44" name="文本框 143"/>
          <p:cNvSpPr txBox="1"/>
          <p:nvPr/>
        </p:nvSpPr>
        <p:spPr>
          <a:xfrm>
            <a:off x="3472989" y="2077020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A1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45" name="文本框 144"/>
          <p:cNvSpPr txBox="1"/>
          <p:nvPr/>
        </p:nvSpPr>
        <p:spPr>
          <a:xfrm>
            <a:off x="4415284" y="2077020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XTAL1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46" name="文本框 145"/>
          <p:cNvSpPr txBox="1"/>
          <p:nvPr/>
        </p:nvSpPr>
        <p:spPr>
          <a:xfrm>
            <a:off x="4668187" y="5423484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err="1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Vcc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159" name="直接箭头连接符 158"/>
          <p:cNvCxnSpPr/>
          <p:nvPr/>
        </p:nvCxnSpPr>
        <p:spPr>
          <a:xfrm flipH="1">
            <a:off x="3047132" y="2939201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接箭头连接符 168"/>
          <p:cNvCxnSpPr/>
          <p:nvPr/>
        </p:nvCxnSpPr>
        <p:spPr>
          <a:xfrm flipH="1">
            <a:off x="5203770" y="4897362"/>
            <a:ext cx="43204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接箭头连接符 169"/>
          <p:cNvCxnSpPr/>
          <p:nvPr/>
        </p:nvCxnSpPr>
        <p:spPr>
          <a:xfrm flipH="1">
            <a:off x="5220072" y="2248283"/>
            <a:ext cx="43204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文本框 182"/>
          <p:cNvSpPr txBox="1"/>
          <p:nvPr/>
        </p:nvSpPr>
        <p:spPr>
          <a:xfrm>
            <a:off x="4487292" y="3741703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DSR*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84" name="文本框 183"/>
          <p:cNvSpPr txBox="1"/>
          <p:nvPr/>
        </p:nvSpPr>
        <p:spPr>
          <a:xfrm>
            <a:off x="4487292" y="3408866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CTS*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85" name="文本框 184"/>
          <p:cNvSpPr txBox="1"/>
          <p:nvPr/>
        </p:nvSpPr>
        <p:spPr>
          <a:xfrm>
            <a:off x="4487292" y="3076029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RTS*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86" name="文本框 185"/>
          <p:cNvSpPr txBox="1"/>
          <p:nvPr/>
        </p:nvSpPr>
        <p:spPr>
          <a:xfrm>
            <a:off x="4487292" y="2743192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DTR*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87" name="文本框 186"/>
          <p:cNvSpPr txBox="1"/>
          <p:nvPr/>
        </p:nvSpPr>
        <p:spPr>
          <a:xfrm>
            <a:off x="4479161" y="5072736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RLSD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88" name="文本框 187"/>
          <p:cNvSpPr txBox="1"/>
          <p:nvPr/>
        </p:nvSpPr>
        <p:spPr>
          <a:xfrm>
            <a:off x="4703316" y="4712696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RI*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89" name="文本框 188"/>
          <p:cNvSpPr txBox="1"/>
          <p:nvPr/>
        </p:nvSpPr>
        <p:spPr>
          <a:xfrm>
            <a:off x="4487292" y="4424664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OUT2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90" name="文本框 189"/>
          <p:cNvSpPr txBox="1"/>
          <p:nvPr/>
        </p:nvSpPr>
        <p:spPr>
          <a:xfrm>
            <a:off x="4487292" y="4064624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OUT1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94" name="文本框 193"/>
          <p:cNvSpPr txBox="1"/>
          <p:nvPr/>
        </p:nvSpPr>
        <p:spPr>
          <a:xfrm>
            <a:off x="3407172" y="2742694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CS0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195" name="直接箭头连接符 194"/>
          <p:cNvCxnSpPr/>
          <p:nvPr/>
        </p:nvCxnSpPr>
        <p:spPr>
          <a:xfrm flipH="1">
            <a:off x="5203770" y="3249198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直接箭头连接符 195"/>
          <p:cNvCxnSpPr/>
          <p:nvPr/>
        </p:nvCxnSpPr>
        <p:spPr>
          <a:xfrm flipH="1">
            <a:off x="5217473" y="3585156"/>
            <a:ext cx="43204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直接箭头连接符 196"/>
          <p:cNvCxnSpPr/>
          <p:nvPr/>
        </p:nvCxnSpPr>
        <p:spPr>
          <a:xfrm flipH="1">
            <a:off x="5220072" y="2602494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直接箭头连接符 197"/>
          <p:cNvCxnSpPr/>
          <p:nvPr/>
        </p:nvCxnSpPr>
        <p:spPr>
          <a:xfrm flipH="1">
            <a:off x="5220072" y="2939201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直接箭头连接符 198"/>
          <p:cNvCxnSpPr/>
          <p:nvPr/>
        </p:nvCxnSpPr>
        <p:spPr>
          <a:xfrm flipH="1">
            <a:off x="5194672" y="4603918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直接箭头连接符 200"/>
          <p:cNvCxnSpPr/>
          <p:nvPr/>
        </p:nvCxnSpPr>
        <p:spPr>
          <a:xfrm flipH="1">
            <a:off x="5212868" y="3923754"/>
            <a:ext cx="43204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直接箭头连接符 201"/>
          <p:cNvCxnSpPr/>
          <p:nvPr/>
        </p:nvCxnSpPr>
        <p:spPr>
          <a:xfrm flipH="1">
            <a:off x="5194672" y="4249290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直接箭头连接符 202"/>
          <p:cNvCxnSpPr/>
          <p:nvPr/>
        </p:nvCxnSpPr>
        <p:spPr>
          <a:xfrm flipH="1">
            <a:off x="3047132" y="2579161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文本框 206"/>
          <p:cNvSpPr txBox="1"/>
          <p:nvPr/>
        </p:nvSpPr>
        <p:spPr>
          <a:xfrm>
            <a:off x="3468463" y="1744183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A2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08" name="文本框 207"/>
          <p:cNvSpPr txBox="1"/>
          <p:nvPr/>
        </p:nvSpPr>
        <p:spPr>
          <a:xfrm>
            <a:off x="3468463" y="1411346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D7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09" name="文本框 208"/>
          <p:cNvSpPr txBox="1"/>
          <p:nvPr/>
        </p:nvSpPr>
        <p:spPr>
          <a:xfrm>
            <a:off x="3468463" y="1078509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D1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10" name="文本框 209"/>
          <p:cNvSpPr txBox="1"/>
          <p:nvPr/>
        </p:nvSpPr>
        <p:spPr>
          <a:xfrm>
            <a:off x="3468463" y="745672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D0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11" name="文本框 210"/>
          <p:cNvSpPr txBox="1"/>
          <p:nvPr/>
        </p:nvSpPr>
        <p:spPr>
          <a:xfrm>
            <a:off x="4415284" y="1744183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SOUT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12" name="文本框 211"/>
          <p:cNvSpPr txBox="1"/>
          <p:nvPr/>
        </p:nvSpPr>
        <p:spPr>
          <a:xfrm>
            <a:off x="4415284" y="1411346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SIN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13" name="文本框 212"/>
          <p:cNvSpPr txBox="1"/>
          <p:nvPr/>
        </p:nvSpPr>
        <p:spPr>
          <a:xfrm>
            <a:off x="4415284" y="1078509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BAUD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14" name="文本框 213"/>
          <p:cNvSpPr txBox="1"/>
          <p:nvPr/>
        </p:nvSpPr>
        <p:spPr>
          <a:xfrm>
            <a:off x="4415284" y="745672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RCLK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215" name="直接箭头连接符 214"/>
          <p:cNvCxnSpPr/>
          <p:nvPr/>
        </p:nvCxnSpPr>
        <p:spPr>
          <a:xfrm flipH="1">
            <a:off x="3047132" y="1571049"/>
            <a:ext cx="43204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直接箭头连接符 215"/>
          <p:cNvCxnSpPr/>
          <p:nvPr/>
        </p:nvCxnSpPr>
        <p:spPr>
          <a:xfrm flipH="1">
            <a:off x="3047132" y="1931089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直接箭头连接符 216"/>
          <p:cNvCxnSpPr/>
          <p:nvPr/>
        </p:nvCxnSpPr>
        <p:spPr>
          <a:xfrm flipH="1">
            <a:off x="3047132" y="922977"/>
            <a:ext cx="43204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直接箭头连接符 217"/>
          <p:cNvCxnSpPr/>
          <p:nvPr/>
        </p:nvCxnSpPr>
        <p:spPr>
          <a:xfrm flipH="1">
            <a:off x="3047132" y="1283017"/>
            <a:ext cx="43204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直接箭头连接符 218"/>
          <p:cNvCxnSpPr/>
          <p:nvPr/>
        </p:nvCxnSpPr>
        <p:spPr>
          <a:xfrm flipH="1">
            <a:off x="5194672" y="1599129"/>
            <a:ext cx="43204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直接箭头连接符 219"/>
          <p:cNvCxnSpPr/>
          <p:nvPr/>
        </p:nvCxnSpPr>
        <p:spPr>
          <a:xfrm flipH="1">
            <a:off x="5203770" y="1931089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直接箭头连接符 220"/>
          <p:cNvCxnSpPr/>
          <p:nvPr/>
        </p:nvCxnSpPr>
        <p:spPr>
          <a:xfrm flipH="1">
            <a:off x="5207372" y="922977"/>
            <a:ext cx="43204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直接箭头连接符 221"/>
          <p:cNvCxnSpPr/>
          <p:nvPr/>
        </p:nvCxnSpPr>
        <p:spPr>
          <a:xfrm flipH="1">
            <a:off x="5216470" y="1283017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" name="文本框 226"/>
          <p:cNvSpPr txBox="1"/>
          <p:nvPr/>
        </p:nvSpPr>
        <p:spPr>
          <a:xfrm>
            <a:off x="4559300" y="5747513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GND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233" name="直接箭头连接符 232"/>
          <p:cNvCxnSpPr/>
          <p:nvPr/>
        </p:nvCxnSpPr>
        <p:spPr>
          <a:xfrm flipH="1">
            <a:off x="3047132" y="5603497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直接箭头连接符 233"/>
          <p:cNvCxnSpPr/>
          <p:nvPr/>
        </p:nvCxnSpPr>
        <p:spPr>
          <a:xfrm flipH="1">
            <a:off x="3047132" y="5933364"/>
            <a:ext cx="43204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直接箭头连接符 234"/>
          <p:cNvCxnSpPr/>
          <p:nvPr/>
        </p:nvCxnSpPr>
        <p:spPr>
          <a:xfrm flipH="1">
            <a:off x="5194672" y="5588129"/>
            <a:ext cx="43204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直接箭头连接符 235"/>
          <p:cNvCxnSpPr/>
          <p:nvPr/>
        </p:nvCxnSpPr>
        <p:spPr>
          <a:xfrm flipH="1">
            <a:off x="5212868" y="5257219"/>
            <a:ext cx="43204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直接箭头连接符 236"/>
          <p:cNvCxnSpPr/>
          <p:nvPr/>
        </p:nvCxnSpPr>
        <p:spPr>
          <a:xfrm flipH="1">
            <a:off x="5203770" y="5932179"/>
            <a:ext cx="43204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文本框 238"/>
          <p:cNvSpPr txBox="1"/>
          <p:nvPr/>
        </p:nvSpPr>
        <p:spPr>
          <a:xfrm>
            <a:off x="3457571" y="374120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DISTR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40" name="文本框 239"/>
          <p:cNvSpPr txBox="1"/>
          <p:nvPr/>
        </p:nvSpPr>
        <p:spPr>
          <a:xfrm>
            <a:off x="3457571" y="4074042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DISTR*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41" name="文本框 240"/>
          <p:cNvSpPr txBox="1"/>
          <p:nvPr/>
        </p:nvSpPr>
        <p:spPr>
          <a:xfrm>
            <a:off x="3457571" y="4406879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DOSTR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42" name="文本框 241"/>
          <p:cNvSpPr txBox="1"/>
          <p:nvPr/>
        </p:nvSpPr>
        <p:spPr>
          <a:xfrm>
            <a:off x="3442038" y="4739716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DOSTR*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243" name="直接箭头连接符 242"/>
          <p:cNvCxnSpPr/>
          <p:nvPr/>
        </p:nvCxnSpPr>
        <p:spPr>
          <a:xfrm flipH="1">
            <a:off x="3047132" y="3947313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直接箭头连接符 243"/>
          <p:cNvCxnSpPr/>
          <p:nvPr/>
        </p:nvCxnSpPr>
        <p:spPr>
          <a:xfrm flipH="1">
            <a:off x="3047132" y="3587273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直接箭头连接符 244"/>
          <p:cNvCxnSpPr/>
          <p:nvPr/>
        </p:nvCxnSpPr>
        <p:spPr>
          <a:xfrm flipH="1">
            <a:off x="3047132" y="4307353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文本框 247"/>
          <p:cNvSpPr txBox="1"/>
          <p:nvPr/>
        </p:nvSpPr>
        <p:spPr>
          <a:xfrm>
            <a:off x="3452761" y="5738221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INT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49" name="文本框 248"/>
          <p:cNvSpPr txBox="1"/>
          <p:nvPr/>
        </p:nvSpPr>
        <p:spPr>
          <a:xfrm>
            <a:off x="3452761" y="5405390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MR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50" name="文本框 249"/>
          <p:cNvSpPr txBox="1"/>
          <p:nvPr/>
        </p:nvSpPr>
        <p:spPr>
          <a:xfrm>
            <a:off x="3452761" y="5072553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ADS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251" name="直接箭头连接符 250"/>
          <p:cNvCxnSpPr/>
          <p:nvPr/>
        </p:nvCxnSpPr>
        <p:spPr>
          <a:xfrm flipH="1">
            <a:off x="3047132" y="4920934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直接箭头连接符 251"/>
          <p:cNvCxnSpPr/>
          <p:nvPr/>
        </p:nvCxnSpPr>
        <p:spPr>
          <a:xfrm flipH="1">
            <a:off x="3047132" y="4588072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直接箭头连接符 252"/>
          <p:cNvCxnSpPr/>
          <p:nvPr/>
        </p:nvCxnSpPr>
        <p:spPr>
          <a:xfrm flipH="1">
            <a:off x="3047132" y="5257219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直接箭头连接符 254"/>
          <p:cNvCxnSpPr/>
          <p:nvPr/>
        </p:nvCxnSpPr>
        <p:spPr>
          <a:xfrm flipH="1">
            <a:off x="3047132" y="3227233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直接箭头连接符 255"/>
          <p:cNvCxnSpPr/>
          <p:nvPr/>
        </p:nvCxnSpPr>
        <p:spPr>
          <a:xfrm flipH="1">
            <a:off x="3047132" y="2291129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Rectangle 2"/>
          <p:cNvSpPr>
            <a:spLocks noChangeArrowheads="1"/>
          </p:cNvSpPr>
          <p:nvPr/>
        </p:nvSpPr>
        <p:spPr bwMode="auto">
          <a:xfrm>
            <a:off x="3059832" y="116632"/>
            <a:ext cx="2258160" cy="52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8250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4410347" y="2435145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XTAL2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81" name="椭圆 80"/>
          <p:cNvSpPr/>
          <p:nvPr/>
        </p:nvSpPr>
        <p:spPr>
          <a:xfrm>
            <a:off x="5395133" y="720475"/>
            <a:ext cx="145536" cy="419725"/>
          </a:xfrm>
          <a:prstGeom prst="ellipse">
            <a:avLst/>
          </a:prstGeom>
          <a:noFill/>
          <a:ln>
            <a:solidFill>
              <a:srgbClr val="FF325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TextBox 17"/>
          <p:cNvSpPr txBox="1"/>
          <p:nvPr/>
        </p:nvSpPr>
        <p:spPr>
          <a:xfrm>
            <a:off x="5714550" y="285803"/>
            <a:ext cx="2255358" cy="829201"/>
          </a:xfrm>
          <a:prstGeom prst="rect">
            <a:avLst/>
          </a:prstGeom>
          <a:solidFill>
            <a:srgbClr val="1D8DE5"/>
          </a:solidFill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接收时钟输入引脚，通常连到</a:t>
            </a:r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BAUD</a:t>
            </a:r>
          </a:p>
        </p:txBody>
      </p:sp>
      <p:sp>
        <p:nvSpPr>
          <p:cNvPr id="70" name="TextBox 17"/>
          <p:cNvSpPr txBox="1"/>
          <p:nvPr/>
        </p:nvSpPr>
        <p:spPr>
          <a:xfrm>
            <a:off x="5720299" y="1138641"/>
            <a:ext cx="2249609" cy="423642"/>
          </a:xfrm>
          <a:prstGeom prst="rect">
            <a:avLst/>
          </a:prstGeom>
          <a:solidFill>
            <a:srgbClr val="1D8DE5"/>
          </a:solidFill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发送时钟，输出</a:t>
            </a:r>
            <a:endParaRPr lang="en-US" altLang="zh-CN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1" name="椭圆 70"/>
          <p:cNvSpPr/>
          <p:nvPr/>
        </p:nvSpPr>
        <p:spPr>
          <a:xfrm>
            <a:off x="5404230" y="1138641"/>
            <a:ext cx="145536" cy="419725"/>
          </a:xfrm>
          <a:prstGeom prst="ellipse">
            <a:avLst/>
          </a:prstGeom>
          <a:noFill/>
          <a:ln>
            <a:solidFill>
              <a:srgbClr val="FF325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0299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 animBg="1"/>
      <p:bldP spid="82" grpId="0" animBg="1"/>
      <p:bldP spid="70" grpId="0" animBg="1"/>
      <p:bldP spid="7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矩形 133"/>
          <p:cNvSpPr/>
          <p:nvPr/>
        </p:nvSpPr>
        <p:spPr>
          <a:xfrm>
            <a:off x="3463111" y="745672"/>
            <a:ext cx="1744262" cy="5416476"/>
          </a:xfrm>
          <a:prstGeom prst="rect">
            <a:avLst/>
          </a:prstGeom>
          <a:noFill/>
          <a:ln>
            <a:solidFill>
              <a:srgbClr val="FD7A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1" name="文本框 140"/>
          <p:cNvSpPr txBox="1"/>
          <p:nvPr/>
        </p:nvSpPr>
        <p:spPr>
          <a:xfrm>
            <a:off x="3409279" y="3408368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CS2</a:t>
            </a:r>
            <a:r>
              <a:rPr lang="zh-CN" altLang="en-US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*</a:t>
            </a:r>
          </a:p>
        </p:txBody>
      </p:sp>
      <p:sp>
        <p:nvSpPr>
          <p:cNvPr id="142" name="文本框 141"/>
          <p:cNvSpPr txBox="1"/>
          <p:nvPr/>
        </p:nvSpPr>
        <p:spPr>
          <a:xfrm>
            <a:off x="3409279" y="3075531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CS1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43" name="文本框 142"/>
          <p:cNvSpPr txBox="1"/>
          <p:nvPr/>
        </p:nvSpPr>
        <p:spPr>
          <a:xfrm>
            <a:off x="3471996" y="2409857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A0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44" name="文本框 143"/>
          <p:cNvSpPr txBox="1"/>
          <p:nvPr/>
        </p:nvSpPr>
        <p:spPr>
          <a:xfrm>
            <a:off x="3472989" y="2077020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A1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45" name="文本框 144"/>
          <p:cNvSpPr txBox="1"/>
          <p:nvPr/>
        </p:nvSpPr>
        <p:spPr>
          <a:xfrm>
            <a:off x="4415284" y="2077020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XTAL1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46" name="文本框 145"/>
          <p:cNvSpPr txBox="1"/>
          <p:nvPr/>
        </p:nvSpPr>
        <p:spPr>
          <a:xfrm>
            <a:off x="4668187" y="5423484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err="1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Vcc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159" name="直接箭头连接符 158"/>
          <p:cNvCxnSpPr/>
          <p:nvPr/>
        </p:nvCxnSpPr>
        <p:spPr>
          <a:xfrm flipH="1">
            <a:off x="3047132" y="2939201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接箭头连接符 168"/>
          <p:cNvCxnSpPr/>
          <p:nvPr/>
        </p:nvCxnSpPr>
        <p:spPr>
          <a:xfrm flipH="1">
            <a:off x="5203770" y="4897362"/>
            <a:ext cx="43204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接箭头连接符 169"/>
          <p:cNvCxnSpPr/>
          <p:nvPr/>
        </p:nvCxnSpPr>
        <p:spPr>
          <a:xfrm flipH="1">
            <a:off x="5220072" y="2248283"/>
            <a:ext cx="43204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文本框 182"/>
          <p:cNvSpPr txBox="1"/>
          <p:nvPr/>
        </p:nvSpPr>
        <p:spPr>
          <a:xfrm>
            <a:off x="4487292" y="3741703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DSR*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84" name="文本框 183"/>
          <p:cNvSpPr txBox="1"/>
          <p:nvPr/>
        </p:nvSpPr>
        <p:spPr>
          <a:xfrm>
            <a:off x="4487292" y="3408866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CTS*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85" name="文本框 184"/>
          <p:cNvSpPr txBox="1"/>
          <p:nvPr/>
        </p:nvSpPr>
        <p:spPr>
          <a:xfrm>
            <a:off x="4487292" y="3076029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RTS*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86" name="文本框 185"/>
          <p:cNvSpPr txBox="1"/>
          <p:nvPr/>
        </p:nvSpPr>
        <p:spPr>
          <a:xfrm>
            <a:off x="4487292" y="2743192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DTR*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87" name="文本框 186"/>
          <p:cNvSpPr txBox="1"/>
          <p:nvPr/>
        </p:nvSpPr>
        <p:spPr>
          <a:xfrm>
            <a:off x="4479161" y="5072736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RLSD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88" name="文本框 187"/>
          <p:cNvSpPr txBox="1"/>
          <p:nvPr/>
        </p:nvSpPr>
        <p:spPr>
          <a:xfrm>
            <a:off x="4703316" y="4712696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RI*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89" name="文本框 188"/>
          <p:cNvSpPr txBox="1"/>
          <p:nvPr/>
        </p:nvSpPr>
        <p:spPr>
          <a:xfrm>
            <a:off x="4487292" y="4424664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OUT2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90" name="文本框 189"/>
          <p:cNvSpPr txBox="1"/>
          <p:nvPr/>
        </p:nvSpPr>
        <p:spPr>
          <a:xfrm>
            <a:off x="4487292" y="4064624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OUT1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94" name="文本框 193"/>
          <p:cNvSpPr txBox="1"/>
          <p:nvPr/>
        </p:nvSpPr>
        <p:spPr>
          <a:xfrm>
            <a:off x="3407172" y="2742694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CS0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195" name="直接箭头连接符 194"/>
          <p:cNvCxnSpPr/>
          <p:nvPr/>
        </p:nvCxnSpPr>
        <p:spPr>
          <a:xfrm flipH="1">
            <a:off x="5203770" y="3249198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直接箭头连接符 195"/>
          <p:cNvCxnSpPr/>
          <p:nvPr/>
        </p:nvCxnSpPr>
        <p:spPr>
          <a:xfrm flipH="1">
            <a:off x="5217473" y="3585156"/>
            <a:ext cx="43204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直接箭头连接符 196"/>
          <p:cNvCxnSpPr/>
          <p:nvPr/>
        </p:nvCxnSpPr>
        <p:spPr>
          <a:xfrm flipH="1">
            <a:off x="5220072" y="2602494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直接箭头连接符 197"/>
          <p:cNvCxnSpPr/>
          <p:nvPr/>
        </p:nvCxnSpPr>
        <p:spPr>
          <a:xfrm flipH="1">
            <a:off x="5220072" y="2939201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直接箭头连接符 198"/>
          <p:cNvCxnSpPr/>
          <p:nvPr/>
        </p:nvCxnSpPr>
        <p:spPr>
          <a:xfrm flipH="1">
            <a:off x="5194672" y="4603918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直接箭头连接符 200"/>
          <p:cNvCxnSpPr/>
          <p:nvPr/>
        </p:nvCxnSpPr>
        <p:spPr>
          <a:xfrm flipH="1">
            <a:off x="5212868" y="3923754"/>
            <a:ext cx="43204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直接箭头连接符 201"/>
          <p:cNvCxnSpPr/>
          <p:nvPr/>
        </p:nvCxnSpPr>
        <p:spPr>
          <a:xfrm flipH="1">
            <a:off x="5194672" y="4249290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直接箭头连接符 202"/>
          <p:cNvCxnSpPr/>
          <p:nvPr/>
        </p:nvCxnSpPr>
        <p:spPr>
          <a:xfrm flipH="1">
            <a:off x="3047132" y="2579161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文本框 206"/>
          <p:cNvSpPr txBox="1"/>
          <p:nvPr/>
        </p:nvSpPr>
        <p:spPr>
          <a:xfrm>
            <a:off x="3468463" y="1744183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A2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08" name="文本框 207"/>
          <p:cNvSpPr txBox="1"/>
          <p:nvPr/>
        </p:nvSpPr>
        <p:spPr>
          <a:xfrm>
            <a:off x="3468463" y="1411346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D7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09" name="文本框 208"/>
          <p:cNvSpPr txBox="1"/>
          <p:nvPr/>
        </p:nvSpPr>
        <p:spPr>
          <a:xfrm>
            <a:off x="3468463" y="1078509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D1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10" name="文本框 209"/>
          <p:cNvSpPr txBox="1"/>
          <p:nvPr/>
        </p:nvSpPr>
        <p:spPr>
          <a:xfrm>
            <a:off x="3468463" y="745672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D0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11" name="文本框 210"/>
          <p:cNvSpPr txBox="1"/>
          <p:nvPr/>
        </p:nvSpPr>
        <p:spPr>
          <a:xfrm>
            <a:off x="4415284" y="1744183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SOUT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12" name="文本框 211"/>
          <p:cNvSpPr txBox="1"/>
          <p:nvPr/>
        </p:nvSpPr>
        <p:spPr>
          <a:xfrm>
            <a:off x="4415284" y="1411346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SIN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13" name="文本框 212"/>
          <p:cNvSpPr txBox="1"/>
          <p:nvPr/>
        </p:nvSpPr>
        <p:spPr>
          <a:xfrm>
            <a:off x="4415284" y="1078509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BAUD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14" name="文本框 213"/>
          <p:cNvSpPr txBox="1"/>
          <p:nvPr/>
        </p:nvSpPr>
        <p:spPr>
          <a:xfrm>
            <a:off x="4415284" y="745672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RCLK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215" name="直接箭头连接符 214"/>
          <p:cNvCxnSpPr/>
          <p:nvPr/>
        </p:nvCxnSpPr>
        <p:spPr>
          <a:xfrm flipH="1">
            <a:off x="3047132" y="1571049"/>
            <a:ext cx="43204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直接箭头连接符 215"/>
          <p:cNvCxnSpPr/>
          <p:nvPr/>
        </p:nvCxnSpPr>
        <p:spPr>
          <a:xfrm flipH="1">
            <a:off x="3047132" y="1931089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直接箭头连接符 216"/>
          <p:cNvCxnSpPr/>
          <p:nvPr/>
        </p:nvCxnSpPr>
        <p:spPr>
          <a:xfrm flipH="1">
            <a:off x="3047132" y="922977"/>
            <a:ext cx="43204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直接箭头连接符 217"/>
          <p:cNvCxnSpPr/>
          <p:nvPr/>
        </p:nvCxnSpPr>
        <p:spPr>
          <a:xfrm flipH="1">
            <a:off x="3047132" y="1283017"/>
            <a:ext cx="43204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直接箭头连接符 218"/>
          <p:cNvCxnSpPr/>
          <p:nvPr/>
        </p:nvCxnSpPr>
        <p:spPr>
          <a:xfrm flipH="1">
            <a:off x="5194672" y="1599129"/>
            <a:ext cx="43204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直接箭头连接符 219"/>
          <p:cNvCxnSpPr/>
          <p:nvPr/>
        </p:nvCxnSpPr>
        <p:spPr>
          <a:xfrm flipH="1">
            <a:off x="5203770" y="1931089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直接箭头连接符 220"/>
          <p:cNvCxnSpPr/>
          <p:nvPr/>
        </p:nvCxnSpPr>
        <p:spPr>
          <a:xfrm flipH="1">
            <a:off x="5207372" y="922977"/>
            <a:ext cx="43204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直接箭头连接符 221"/>
          <p:cNvCxnSpPr/>
          <p:nvPr/>
        </p:nvCxnSpPr>
        <p:spPr>
          <a:xfrm flipH="1">
            <a:off x="5216470" y="1283017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" name="文本框 226"/>
          <p:cNvSpPr txBox="1"/>
          <p:nvPr/>
        </p:nvSpPr>
        <p:spPr>
          <a:xfrm>
            <a:off x="4559300" y="5747513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GND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233" name="直接箭头连接符 232"/>
          <p:cNvCxnSpPr/>
          <p:nvPr/>
        </p:nvCxnSpPr>
        <p:spPr>
          <a:xfrm flipH="1">
            <a:off x="3047132" y="5603497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直接箭头连接符 233"/>
          <p:cNvCxnSpPr/>
          <p:nvPr/>
        </p:nvCxnSpPr>
        <p:spPr>
          <a:xfrm flipH="1">
            <a:off x="3047132" y="5933364"/>
            <a:ext cx="43204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直接箭头连接符 234"/>
          <p:cNvCxnSpPr/>
          <p:nvPr/>
        </p:nvCxnSpPr>
        <p:spPr>
          <a:xfrm flipH="1">
            <a:off x="5194672" y="5588129"/>
            <a:ext cx="43204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直接箭头连接符 235"/>
          <p:cNvCxnSpPr/>
          <p:nvPr/>
        </p:nvCxnSpPr>
        <p:spPr>
          <a:xfrm flipH="1">
            <a:off x="5212868" y="5257219"/>
            <a:ext cx="43204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直接箭头连接符 236"/>
          <p:cNvCxnSpPr/>
          <p:nvPr/>
        </p:nvCxnSpPr>
        <p:spPr>
          <a:xfrm flipH="1">
            <a:off x="5203770" y="5932179"/>
            <a:ext cx="43204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文本框 238"/>
          <p:cNvSpPr txBox="1"/>
          <p:nvPr/>
        </p:nvSpPr>
        <p:spPr>
          <a:xfrm>
            <a:off x="3457571" y="374120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DISTR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40" name="文本框 239"/>
          <p:cNvSpPr txBox="1"/>
          <p:nvPr/>
        </p:nvSpPr>
        <p:spPr>
          <a:xfrm>
            <a:off x="3457571" y="4074042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DISTR*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41" name="文本框 240"/>
          <p:cNvSpPr txBox="1"/>
          <p:nvPr/>
        </p:nvSpPr>
        <p:spPr>
          <a:xfrm>
            <a:off x="3457571" y="4406879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DOSTR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42" name="文本框 241"/>
          <p:cNvSpPr txBox="1"/>
          <p:nvPr/>
        </p:nvSpPr>
        <p:spPr>
          <a:xfrm>
            <a:off x="3442038" y="4739716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DOSTR*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243" name="直接箭头连接符 242"/>
          <p:cNvCxnSpPr/>
          <p:nvPr/>
        </p:nvCxnSpPr>
        <p:spPr>
          <a:xfrm flipH="1">
            <a:off x="3047132" y="3947313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直接箭头连接符 243"/>
          <p:cNvCxnSpPr/>
          <p:nvPr/>
        </p:nvCxnSpPr>
        <p:spPr>
          <a:xfrm flipH="1">
            <a:off x="3047132" y="3587273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直接箭头连接符 244"/>
          <p:cNvCxnSpPr/>
          <p:nvPr/>
        </p:nvCxnSpPr>
        <p:spPr>
          <a:xfrm flipH="1">
            <a:off x="3047132" y="4307353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文本框 247"/>
          <p:cNvSpPr txBox="1"/>
          <p:nvPr/>
        </p:nvSpPr>
        <p:spPr>
          <a:xfrm>
            <a:off x="3452761" y="5738221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INT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49" name="文本框 248"/>
          <p:cNvSpPr txBox="1"/>
          <p:nvPr/>
        </p:nvSpPr>
        <p:spPr>
          <a:xfrm>
            <a:off x="3452761" y="5405390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MR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50" name="文本框 249"/>
          <p:cNvSpPr txBox="1"/>
          <p:nvPr/>
        </p:nvSpPr>
        <p:spPr>
          <a:xfrm>
            <a:off x="3452761" y="5072553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ADS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251" name="直接箭头连接符 250"/>
          <p:cNvCxnSpPr/>
          <p:nvPr/>
        </p:nvCxnSpPr>
        <p:spPr>
          <a:xfrm flipH="1">
            <a:off x="3047132" y="4920934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直接箭头连接符 251"/>
          <p:cNvCxnSpPr/>
          <p:nvPr/>
        </p:nvCxnSpPr>
        <p:spPr>
          <a:xfrm flipH="1">
            <a:off x="3047132" y="4588072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直接箭头连接符 252"/>
          <p:cNvCxnSpPr/>
          <p:nvPr/>
        </p:nvCxnSpPr>
        <p:spPr>
          <a:xfrm flipH="1">
            <a:off x="3047132" y="5257219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直接箭头连接符 254"/>
          <p:cNvCxnSpPr/>
          <p:nvPr/>
        </p:nvCxnSpPr>
        <p:spPr>
          <a:xfrm flipH="1">
            <a:off x="3047132" y="3227233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直接箭头连接符 255"/>
          <p:cNvCxnSpPr/>
          <p:nvPr/>
        </p:nvCxnSpPr>
        <p:spPr>
          <a:xfrm flipH="1">
            <a:off x="3047132" y="2291129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Rectangle 2"/>
          <p:cNvSpPr>
            <a:spLocks noChangeArrowheads="1"/>
          </p:cNvSpPr>
          <p:nvPr/>
        </p:nvSpPr>
        <p:spPr bwMode="auto">
          <a:xfrm>
            <a:off x="3059832" y="116632"/>
            <a:ext cx="2258160" cy="52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8250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4410347" y="2435145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XTAL2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81" name="椭圆 80"/>
          <p:cNvSpPr/>
          <p:nvPr/>
        </p:nvSpPr>
        <p:spPr>
          <a:xfrm>
            <a:off x="5395133" y="1428574"/>
            <a:ext cx="177453" cy="710931"/>
          </a:xfrm>
          <a:prstGeom prst="ellipse">
            <a:avLst/>
          </a:prstGeom>
          <a:noFill/>
          <a:ln>
            <a:solidFill>
              <a:srgbClr val="FF325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TextBox 17"/>
          <p:cNvSpPr txBox="1"/>
          <p:nvPr/>
        </p:nvSpPr>
        <p:spPr>
          <a:xfrm>
            <a:off x="5772474" y="1329582"/>
            <a:ext cx="2255358" cy="792076"/>
          </a:xfrm>
          <a:prstGeom prst="rect">
            <a:avLst/>
          </a:prstGeom>
          <a:solidFill>
            <a:srgbClr val="FF3255"/>
          </a:solidFill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串行数据输入</a:t>
            </a:r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输出端口</a:t>
            </a:r>
            <a:endParaRPr lang="en-US" altLang="zh-CN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3" name="椭圆 72"/>
          <p:cNvSpPr/>
          <p:nvPr/>
        </p:nvSpPr>
        <p:spPr>
          <a:xfrm>
            <a:off x="5385147" y="2143243"/>
            <a:ext cx="177453" cy="710931"/>
          </a:xfrm>
          <a:prstGeom prst="ellipse">
            <a:avLst/>
          </a:prstGeom>
          <a:noFill/>
          <a:ln>
            <a:solidFill>
              <a:srgbClr val="FF325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TextBox 17"/>
          <p:cNvSpPr txBox="1"/>
          <p:nvPr/>
        </p:nvSpPr>
        <p:spPr>
          <a:xfrm>
            <a:off x="5780772" y="2179922"/>
            <a:ext cx="2249609" cy="1160511"/>
          </a:xfrm>
          <a:prstGeom prst="rect">
            <a:avLst/>
          </a:prstGeom>
          <a:solidFill>
            <a:srgbClr val="1D8DE5"/>
          </a:solidFill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XTAL1: </a:t>
            </a: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时钟输入引脚</a:t>
            </a:r>
            <a:r>
              <a:rPr lang="en-US" altLang="zh-CN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(1.8432MHz) XTAL2: </a:t>
            </a: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时钟输出</a:t>
            </a:r>
            <a:endParaRPr lang="en-US" altLang="zh-CN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98501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 animBg="1"/>
      <p:bldP spid="82" grpId="0" animBg="1"/>
      <p:bldP spid="73" grpId="0" animBg="1"/>
      <p:bldP spid="7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矩形 133"/>
          <p:cNvSpPr/>
          <p:nvPr/>
        </p:nvSpPr>
        <p:spPr>
          <a:xfrm>
            <a:off x="3463111" y="745672"/>
            <a:ext cx="1744262" cy="5416476"/>
          </a:xfrm>
          <a:prstGeom prst="rect">
            <a:avLst/>
          </a:prstGeom>
          <a:noFill/>
          <a:ln>
            <a:solidFill>
              <a:srgbClr val="FD7A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1" name="文本框 140"/>
          <p:cNvSpPr txBox="1"/>
          <p:nvPr/>
        </p:nvSpPr>
        <p:spPr>
          <a:xfrm>
            <a:off x="3409279" y="3408368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CS2</a:t>
            </a:r>
            <a:r>
              <a:rPr lang="zh-CN" altLang="en-US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*</a:t>
            </a:r>
          </a:p>
        </p:txBody>
      </p:sp>
      <p:sp>
        <p:nvSpPr>
          <p:cNvPr id="142" name="文本框 141"/>
          <p:cNvSpPr txBox="1"/>
          <p:nvPr/>
        </p:nvSpPr>
        <p:spPr>
          <a:xfrm>
            <a:off x="3409279" y="3075531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CS1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43" name="文本框 142"/>
          <p:cNvSpPr txBox="1"/>
          <p:nvPr/>
        </p:nvSpPr>
        <p:spPr>
          <a:xfrm>
            <a:off x="3471996" y="2409857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A0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44" name="文本框 143"/>
          <p:cNvSpPr txBox="1"/>
          <p:nvPr/>
        </p:nvSpPr>
        <p:spPr>
          <a:xfrm>
            <a:off x="3472989" y="2077020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A1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45" name="文本框 144"/>
          <p:cNvSpPr txBox="1"/>
          <p:nvPr/>
        </p:nvSpPr>
        <p:spPr>
          <a:xfrm>
            <a:off x="4415284" y="2077020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XTAL1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46" name="文本框 145"/>
          <p:cNvSpPr txBox="1"/>
          <p:nvPr/>
        </p:nvSpPr>
        <p:spPr>
          <a:xfrm>
            <a:off x="4668187" y="5423484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err="1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Vcc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159" name="直接箭头连接符 158"/>
          <p:cNvCxnSpPr/>
          <p:nvPr/>
        </p:nvCxnSpPr>
        <p:spPr>
          <a:xfrm flipH="1">
            <a:off x="3047132" y="2939201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接箭头连接符 168"/>
          <p:cNvCxnSpPr/>
          <p:nvPr/>
        </p:nvCxnSpPr>
        <p:spPr>
          <a:xfrm flipH="1">
            <a:off x="5203770" y="4897362"/>
            <a:ext cx="43204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接箭头连接符 169"/>
          <p:cNvCxnSpPr/>
          <p:nvPr/>
        </p:nvCxnSpPr>
        <p:spPr>
          <a:xfrm flipH="1">
            <a:off x="5220072" y="2248283"/>
            <a:ext cx="43204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文本框 182"/>
          <p:cNvSpPr txBox="1"/>
          <p:nvPr/>
        </p:nvSpPr>
        <p:spPr>
          <a:xfrm>
            <a:off x="4487292" y="3741703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DSR*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84" name="文本框 183"/>
          <p:cNvSpPr txBox="1"/>
          <p:nvPr/>
        </p:nvSpPr>
        <p:spPr>
          <a:xfrm>
            <a:off x="4487292" y="3408866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CTS*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85" name="文本框 184"/>
          <p:cNvSpPr txBox="1"/>
          <p:nvPr/>
        </p:nvSpPr>
        <p:spPr>
          <a:xfrm>
            <a:off x="4487292" y="3076029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RTS*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86" name="文本框 185"/>
          <p:cNvSpPr txBox="1"/>
          <p:nvPr/>
        </p:nvSpPr>
        <p:spPr>
          <a:xfrm>
            <a:off x="4487292" y="2743192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DTR*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87" name="文本框 186"/>
          <p:cNvSpPr txBox="1"/>
          <p:nvPr/>
        </p:nvSpPr>
        <p:spPr>
          <a:xfrm>
            <a:off x="4479161" y="5072736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RLSD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88" name="文本框 187"/>
          <p:cNvSpPr txBox="1"/>
          <p:nvPr/>
        </p:nvSpPr>
        <p:spPr>
          <a:xfrm>
            <a:off x="4703316" y="4712696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RI*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89" name="文本框 188"/>
          <p:cNvSpPr txBox="1"/>
          <p:nvPr/>
        </p:nvSpPr>
        <p:spPr>
          <a:xfrm>
            <a:off x="4487292" y="4424664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OUT2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90" name="文本框 189"/>
          <p:cNvSpPr txBox="1"/>
          <p:nvPr/>
        </p:nvSpPr>
        <p:spPr>
          <a:xfrm>
            <a:off x="4487292" y="4064624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OUT1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94" name="文本框 193"/>
          <p:cNvSpPr txBox="1"/>
          <p:nvPr/>
        </p:nvSpPr>
        <p:spPr>
          <a:xfrm>
            <a:off x="3407172" y="2742694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CS0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195" name="直接箭头连接符 194"/>
          <p:cNvCxnSpPr/>
          <p:nvPr/>
        </p:nvCxnSpPr>
        <p:spPr>
          <a:xfrm flipH="1">
            <a:off x="5203770" y="3249198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直接箭头连接符 195"/>
          <p:cNvCxnSpPr/>
          <p:nvPr/>
        </p:nvCxnSpPr>
        <p:spPr>
          <a:xfrm flipH="1">
            <a:off x="5217473" y="3585156"/>
            <a:ext cx="43204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直接箭头连接符 196"/>
          <p:cNvCxnSpPr/>
          <p:nvPr/>
        </p:nvCxnSpPr>
        <p:spPr>
          <a:xfrm flipH="1">
            <a:off x="5220072" y="2602494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直接箭头连接符 197"/>
          <p:cNvCxnSpPr/>
          <p:nvPr/>
        </p:nvCxnSpPr>
        <p:spPr>
          <a:xfrm flipH="1">
            <a:off x="5220072" y="2939201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直接箭头连接符 198"/>
          <p:cNvCxnSpPr/>
          <p:nvPr/>
        </p:nvCxnSpPr>
        <p:spPr>
          <a:xfrm flipH="1">
            <a:off x="5194672" y="4603918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直接箭头连接符 200"/>
          <p:cNvCxnSpPr/>
          <p:nvPr/>
        </p:nvCxnSpPr>
        <p:spPr>
          <a:xfrm flipH="1">
            <a:off x="5212868" y="3923754"/>
            <a:ext cx="43204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直接箭头连接符 201"/>
          <p:cNvCxnSpPr/>
          <p:nvPr/>
        </p:nvCxnSpPr>
        <p:spPr>
          <a:xfrm flipH="1">
            <a:off x="5194672" y="4249290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直接箭头连接符 202"/>
          <p:cNvCxnSpPr/>
          <p:nvPr/>
        </p:nvCxnSpPr>
        <p:spPr>
          <a:xfrm flipH="1">
            <a:off x="3047132" y="2579161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文本框 206"/>
          <p:cNvSpPr txBox="1"/>
          <p:nvPr/>
        </p:nvSpPr>
        <p:spPr>
          <a:xfrm>
            <a:off x="3468463" y="1744183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A2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08" name="文本框 207"/>
          <p:cNvSpPr txBox="1"/>
          <p:nvPr/>
        </p:nvSpPr>
        <p:spPr>
          <a:xfrm>
            <a:off x="3468463" y="1411346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D7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09" name="文本框 208"/>
          <p:cNvSpPr txBox="1"/>
          <p:nvPr/>
        </p:nvSpPr>
        <p:spPr>
          <a:xfrm>
            <a:off x="3468463" y="1078509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D1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10" name="文本框 209"/>
          <p:cNvSpPr txBox="1"/>
          <p:nvPr/>
        </p:nvSpPr>
        <p:spPr>
          <a:xfrm>
            <a:off x="3468463" y="745672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D0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11" name="文本框 210"/>
          <p:cNvSpPr txBox="1"/>
          <p:nvPr/>
        </p:nvSpPr>
        <p:spPr>
          <a:xfrm>
            <a:off x="4415284" y="1744183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SOUT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12" name="文本框 211"/>
          <p:cNvSpPr txBox="1"/>
          <p:nvPr/>
        </p:nvSpPr>
        <p:spPr>
          <a:xfrm>
            <a:off x="4415284" y="1411346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SIN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13" name="文本框 212"/>
          <p:cNvSpPr txBox="1"/>
          <p:nvPr/>
        </p:nvSpPr>
        <p:spPr>
          <a:xfrm>
            <a:off x="4415284" y="1078509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BAUD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14" name="文本框 213"/>
          <p:cNvSpPr txBox="1"/>
          <p:nvPr/>
        </p:nvSpPr>
        <p:spPr>
          <a:xfrm>
            <a:off x="4415284" y="745672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RCLK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215" name="直接箭头连接符 214"/>
          <p:cNvCxnSpPr/>
          <p:nvPr/>
        </p:nvCxnSpPr>
        <p:spPr>
          <a:xfrm flipH="1">
            <a:off x="3047132" y="1571049"/>
            <a:ext cx="43204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直接箭头连接符 215"/>
          <p:cNvCxnSpPr/>
          <p:nvPr/>
        </p:nvCxnSpPr>
        <p:spPr>
          <a:xfrm flipH="1">
            <a:off x="3047132" y="1931089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直接箭头连接符 216"/>
          <p:cNvCxnSpPr/>
          <p:nvPr/>
        </p:nvCxnSpPr>
        <p:spPr>
          <a:xfrm flipH="1">
            <a:off x="3047132" y="922977"/>
            <a:ext cx="43204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直接箭头连接符 217"/>
          <p:cNvCxnSpPr/>
          <p:nvPr/>
        </p:nvCxnSpPr>
        <p:spPr>
          <a:xfrm flipH="1">
            <a:off x="3047132" y="1283017"/>
            <a:ext cx="43204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直接箭头连接符 218"/>
          <p:cNvCxnSpPr/>
          <p:nvPr/>
        </p:nvCxnSpPr>
        <p:spPr>
          <a:xfrm flipH="1">
            <a:off x="5194672" y="1599129"/>
            <a:ext cx="43204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直接箭头连接符 219"/>
          <p:cNvCxnSpPr/>
          <p:nvPr/>
        </p:nvCxnSpPr>
        <p:spPr>
          <a:xfrm flipH="1">
            <a:off x="5203770" y="1931089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直接箭头连接符 220"/>
          <p:cNvCxnSpPr/>
          <p:nvPr/>
        </p:nvCxnSpPr>
        <p:spPr>
          <a:xfrm flipH="1">
            <a:off x="5207372" y="922977"/>
            <a:ext cx="43204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直接箭头连接符 221"/>
          <p:cNvCxnSpPr/>
          <p:nvPr/>
        </p:nvCxnSpPr>
        <p:spPr>
          <a:xfrm flipH="1">
            <a:off x="5216470" y="1283017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" name="文本框 226"/>
          <p:cNvSpPr txBox="1"/>
          <p:nvPr/>
        </p:nvSpPr>
        <p:spPr>
          <a:xfrm>
            <a:off x="4559300" y="5747513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GND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233" name="直接箭头连接符 232"/>
          <p:cNvCxnSpPr/>
          <p:nvPr/>
        </p:nvCxnSpPr>
        <p:spPr>
          <a:xfrm flipH="1">
            <a:off x="3047132" y="5603497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直接箭头连接符 233"/>
          <p:cNvCxnSpPr/>
          <p:nvPr/>
        </p:nvCxnSpPr>
        <p:spPr>
          <a:xfrm flipH="1">
            <a:off x="3047132" y="5933364"/>
            <a:ext cx="43204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直接箭头连接符 234"/>
          <p:cNvCxnSpPr/>
          <p:nvPr/>
        </p:nvCxnSpPr>
        <p:spPr>
          <a:xfrm flipH="1">
            <a:off x="5194672" y="5588129"/>
            <a:ext cx="43204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直接箭头连接符 235"/>
          <p:cNvCxnSpPr/>
          <p:nvPr/>
        </p:nvCxnSpPr>
        <p:spPr>
          <a:xfrm flipH="1">
            <a:off x="5212868" y="5257219"/>
            <a:ext cx="43204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直接箭头连接符 236"/>
          <p:cNvCxnSpPr/>
          <p:nvPr/>
        </p:nvCxnSpPr>
        <p:spPr>
          <a:xfrm flipH="1">
            <a:off x="5203770" y="5932179"/>
            <a:ext cx="43204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文本框 238"/>
          <p:cNvSpPr txBox="1"/>
          <p:nvPr/>
        </p:nvSpPr>
        <p:spPr>
          <a:xfrm>
            <a:off x="3457571" y="374120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DISTR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40" name="文本框 239"/>
          <p:cNvSpPr txBox="1"/>
          <p:nvPr/>
        </p:nvSpPr>
        <p:spPr>
          <a:xfrm>
            <a:off x="3457571" y="4074042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DISTR*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41" name="文本框 240"/>
          <p:cNvSpPr txBox="1"/>
          <p:nvPr/>
        </p:nvSpPr>
        <p:spPr>
          <a:xfrm>
            <a:off x="3457571" y="4406879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DOSTR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42" name="文本框 241"/>
          <p:cNvSpPr txBox="1"/>
          <p:nvPr/>
        </p:nvSpPr>
        <p:spPr>
          <a:xfrm>
            <a:off x="3442038" y="4739716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DOSTR*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243" name="直接箭头连接符 242"/>
          <p:cNvCxnSpPr/>
          <p:nvPr/>
        </p:nvCxnSpPr>
        <p:spPr>
          <a:xfrm flipH="1">
            <a:off x="3047132" y="3947313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直接箭头连接符 243"/>
          <p:cNvCxnSpPr/>
          <p:nvPr/>
        </p:nvCxnSpPr>
        <p:spPr>
          <a:xfrm flipH="1">
            <a:off x="3047132" y="3587273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直接箭头连接符 244"/>
          <p:cNvCxnSpPr/>
          <p:nvPr/>
        </p:nvCxnSpPr>
        <p:spPr>
          <a:xfrm flipH="1">
            <a:off x="3047132" y="4307353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文本框 247"/>
          <p:cNvSpPr txBox="1"/>
          <p:nvPr/>
        </p:nvSpPr>
        <p:spPr>
          <a:xfrm>
            <a:off x="3452761" y="5738221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INT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49" name="文本框 248"/>
          <p:cNvSpPr txBox="1"/>
          <p:nvPr/>
        </p:nvSpPr>
        <p:spPr>
          <a:xfrm>
            <a:off x="3452761" y="5405390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MR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50" name="文本框 249"/>
          <p:cNvSpPr txBox="1"/>
          <p:nvPr/>
        </p:nvSpPr>
        <p:spPr>
          <a:xfrm>
            <a:off x="3452761" y="5072553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ADS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251" name="直接箭头连接符 250"/>
          <p:cNvCxnSpPr/>
          <p:nvPr/>
        </p:nvCxnSpPr>
        <p:spPr>
          <a:xfrm flipH="1">
            <a:off x="3047132" y="4920934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直接箭头连接符 251"/>
          <p:cNvCxnSpPr/>
          <p:nvPr/>
        </p:nvCxnSpPr>
        <p:spPr>
          <a:xfrm flipH="1">
            <a:off x="3047132" y="4588072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直接箭头连接符 252"/>
          <p:cNvCxnSpPr/>
          <p:nvPr/>
        </p:nvCxnSpPr>
        <p:spPr>
          <a:xfrm flipH="1">
            <a:off x="3047132" y="5257219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直接箭头连接符 254"/>
          <p:cNvCxnSpPr/>
          <p:nvPr/>
        </p:nvCxnSpPr>
        <p:spPr>
          <a:xfrm flipH="1">
            <a:off x="3047132" y="3227233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直接箭头连接符 255"/>
          <p:cNvCxnSpPr/>
          <p:nvPr/>
        </p:nvCxnSpPr>
        <p:spPr>
          <a:xfrm flipH="1">
            <a:off x="3047132" y="2291129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Rectangle 2"/>
          <p:cNvSpPr>
            <a:spLocks noChangeArrowheads="1"/>
          </p:cNvSpPr>
          <p:nvPr/>
        </p:nvSpPr>
        <p:spPr bwMode="auto">
          <a:xfrm>
            <a:off x="3059832" y="116632"/>
            <a:ext cx="2258160" cy="52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8250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4410347" y="2435145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XTAL2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73" name="椭圆 72"/>
          <p:cNvSpPr/>
          <p:nvPr/>
        </p:nvSpPr>
        <p:spPr>
          <a:xfrm>
            <a:off x="5364088" y="2742979"/>
            <a:ext cx="189541" cy="1316234"/>
          </a:xfrm>
          <a:prstGeom prst="ellipse">
            <a:avLst/>
          </a:prstGeom>
          <a:noFill/>
          <a:ln>
            <a:solidFill>
              <a:srgbClr val="FF325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TextBox 17"/>
          <p:cNvSpPr txBox="1"/>
          <p:nvPr/>
        </p:nvSpPr>
        <p:spPr>
          <a:xfrm>
            <a:off x="5895499" y="2564904"/>
            <a:ext cx="2495242" cy="423642"/>
          </a:xfrm>
          <a:prstGeom prst="rect">
            <a:avLst/>
          </a:prstGeom>
          <a:solidFill>
            <a:srgbClr val="1D8DE5"/>
          </a:solidFill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数据终端准备好</a:t>
            </a:r>
            <a:endParaRPr lang="en-US" altLang="zh-CN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2" name="椭圆 71"/>
          <p:cNvSpPr/>
          <p:nvPr/>
        </p:nvSpPr>
        <p:spPr>
          <a:xfrm>
            <a:off x="5359519" y="4769008"/>
            <a:ext cx="144016" cy="650560"/>
          </a:xfrm>
          <a:prstGeom prst="ellipse">
            <a:avLst/>
          </a:prstGeom>
          <a:noFill/>
          <a:ln>
            <a:solidFill>
              <a:srgbClr val="FF325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TextBox 17"/>
          <p:cNvSpPr txBox="1"/>
          <p:nvPr/>
        </p:nvSpPr>
        <p:spPr>
          <a:xfrm>
            <a:off x="5895499" y="2996952"/>
            <a:ext cx="2495242" cy="423642"/>
          </a:xfrm>
          <a:prstGeom prst="rect">
            <a:avLst/>
          </a:prstGeom>
          <a:solidFill>
            <a:srgbClr val="1D8DE5"/>
          </a:solidFill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请求发送</a:t>
            </a:r>
            <a:endParaRPr lang="en-US" altLang="zh-CN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0" name="TextBox 17"/>
          <p:cNvSpPr txBox="1"/>
          <p:nvPr/>
        </p:nvSpPr>
        <p:spPr>
          <a:xfrm>
            <a:off x="5895499" y="3869454"/>
            <a:ext cx="2495242" cy="423642"/>
          </a:xfrm>
          <a:prstGeom prst="rect">
            <a:avLst/>
          </a:prstGeom>
          <a:solidFill>
            <a:srgbClr val="1D8DE5"/>
          </a:solidFill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数据设备准备好</a:t>
            </a:r>
            <a:endParaRPr lang="en-US" altLang="zh-CN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5" name="TextBox 17"/>
          <p:cNvSpPr txBox="1"/>
          <p:nvPr/>
        </p:nvSpPr>
        <p:spPr>
          <a:xfrm>
            <a:off x="5895499" y="5045398"/>
            <a:ext cx="2495242" cy="423642"/>
          </a:xfrm>
          <a:prstGeom prst="rect">
            <a:avLst/>
          </a:prstGeom>
          <a:solidFill>
            <a:srgbClr val="1D8DE5"/>
          </a:solidFill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载波检测</a:t>
            </a:r>
            <a:endParaRPr lang="en-US" altLang="zh-CN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6" name="TextBox 17"/>
          <p:cNvSpPr txBox="1"/>
          <p:nvPr/>
        </p:nvSpPr>
        <p:spPr>
          <a:xfrm>
            <a:off x="5895499" y="3436878"/>
            <a:ext cx="2495242" cy="423642"/>
          </a:xfrm>
          <a:prstGeom prst="rect">
            <a:avLst/>
          </a:prstGeom>
          <a:solidFill>
            <a:srgbClr val="1D8DE5"/>
          </a:solidFill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允许发送</a:t>
            </a:r>
            <a:endParaRPr lang="en-US" altLang="zh-CN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7" name="TextBox 17"/>
          <p:cNvSpPr txBox="1"/>
          <p:nvPr/>
        </p:nvSpPr>
        <p:spPr>
          <a:xfrm>
            <a:off x="5895499" y="4612822"/>
            <a:ext cx="2495242" cy="423642"/>
          </a:xfrm>
          <a:prstGeom prst="rect">
            <a:avLst/>
          </a:prstGeom>
          <a:solidFill>
            <a:srgbClr val="1D8DE5"/>
          </a:solidFill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振铃指示</a:t>
            </a:r>
            <a:endParaRPr lang="en-US" altLang="zh-CN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8" name="TextBox 17"/>
          <p:cNvSpPr txBox="1"/>
          <p:nvPr/>
        </p:nvSpPr>
        <p:spPr>
          <a:xfrm>
            <a:off x="8503006" y="2663298"/>
            <a:ext cx="504056" cy="2634247"/>
          </a:xfrm>
          <a:prstGeom prst="rect">
            <a:avLst/>
          </a:prstGeom>
          <a:solidFill>
            <a:srgbClr val="FF3255"/>
          </a:solidFill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调制解调器信号</a:t>
            </a:r>
            <a:endParaRPr lang="en-US" altLang="zh-CN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25754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animBg="1"/>
      <p:bldP spid="75" grpId="0" animBg="1"/>
      <p:bldP spid="72" grpId="0" animBg="1"/>
      <p:bldP spid="77" grpId="0" animBg="1"/>
      <p:bldP spid="80" grpId="0" animBg="1"/>
      <p:bldP spid="85" grpId="0" animBg="1"/>
      <p:bldP spid="86" grpId="0" animBg="1"/>
      <p:bldP spid="87" grpId="0" animBg="1"/>
      <p:bldP spid="8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矩形 133"/>
          <p:cNvSpPr/>
          <p:nvPr/>
        </p:nvSpPr>
        <p:spPr>
          <a:xfrm>
            <a:off x="3463111" y="745672"/>
            <a:ext cx="1744262" cy="5416476"/>
          </a:xfrm>
          <a:prstGeom prst="rect">
            <a:avLst/>
          </a:prstGeom>
          <a:noFill/>
          <a:ln>
            <a:solidFill>
              <a:srgbClr val="FD7A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1" name="文本框 140"/>
          <p:cNvSpPr txBox="1"/>
          <p:nvPr/>
        </p:nvSpPr>
        <p:spPr>
          <a:xfrm>
            <a:off x="3409279" y="3408368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CS2</a:t>
            </a:r>
            <a:r>
              <a:rPr lang="zh-CN" altLang="en-US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*</a:t>
            </a:r>
          </a:p>
        </p:txBody>
      </p:sp>
      <p:sp>
        <p:nvSpPr>
          <p:cNvPr id="142" name="文本框 141"/>
          <p:cNvSpPr txBox="1"/>
          <p:nvPr/>
        </p:nvSpPr>
        <p:spPr>
          <a:xfrm>
            <a:off x="3409279" y="3075531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CS1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43" name="文本框 142"/>
          <p:cNvSpPr txBox="1"/>
          <p:nvPr/>
        </p:nvSpPr>
        <p:spPr>
          <a:xfrm>
            <a:off x="3471996" y="2409857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A0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44" name="文本框 143"/>
          <p:cNvSpPr txBox="1"/>
          <p:nvPr/>
        </p:nvSpPr>
        <p:spPr>
          <a:xfrm>
            <a:off x="3472989" y="2077020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A1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45" name="文本框 144"/>
          <p:cNvSpPr txBox="1"/>
          <p:nvPr/>
        </p:nvSpPr>
        <p:spPr>
          <a:xfrm>
            <a:off x="4415284" y="2077020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XTAL1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46" name="文本框 145"/>
          <p:cNvSpPr txBox="1"/>
          <p:nvPr/>
        </p:nvSpPr>
        <p:spPr>
          <a:xfrm>
            <a:off x="4668187" y="5423484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err="1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Vcc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159" name="直接箭头连接符 158"/>
          <p:cNvCxnSpPr/>
          <p:nvPr/>
        </p:nvCxnSpPr>
        <p:spPr>
          <a:xfrm flipH="1">
            <a:off x="3047132" y="2939201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接箭头连接符 168"/>
          <p:cNvCxnSpPr/>
          <p:nvPr/>
        </p:nvCxnSpPr>
        <p:spPr>
          <a:xfrm flipH="1">
            <a:off x="5203770" y="4897362"/>
            <a:ext cx="43204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接箭头连接符 169"/>
          <p:cNvCxnSpPr/>
          <p:nvPr/>
        </p:nvCxnSpPr>
        <p:spPr>
          <a:xfrm flipH="1">
            <a:off x="5220072" y="2248283"/>
            <a:ext cx="43204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文本框 182"/>
          <p:cNvSpPr txBox="1"/>
          <p:nvPr/>
        </p:nvSpPr>
        <p:spPr>
          <a:xfrm>
            <a:off x="4487292" y="3741703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DSR*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84" name="文本框 183"/>
          <p:cNvSpPr txBox="1"/>
          <p:nvPr/>
        </p:nvSpPr>
        <p:spPr>
          <a:xfrm>
            <a:off x="4487292" y="3408866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CTS*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85" name="文本框 184"/>
          <p:cNvSpPr txBox="1"/>
          <p:nvPr/>
        </p:nvSpPr>
        <p:spPr>
          <a:xfrm>
            <a:off x="4487292" y="3076029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RTS*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86" name="文本框 185"/>
          <p:cNvSpPr txBox="1"/>
          <p:nvPr/>
        </p:nvSpPr>
        <p:spPr>
          <a:xfrm>
            <a:off x="4487292" y="2743192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DTR*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87" name="文本框 186"/>
          <p:cNvSpPr txBox="1"/>
          <p:nvPr/>
        </p:nvSpPr>
        <p:spPr>
          <a:xfrm>
            <a:off x="4479161" y="5072736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RLSD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88" name="文本框 187"/>
          <p:cNvSpPr txBox="1"/>
          <p:nvPr/>
        </p:nvSpPr>
        <p:spPr>
          <a:xfrm>
            <a:off x="4703316" y="4712696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RI*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89" name="文本框 188"/>
          <p:cNvSpPr txBox="1"/>
          <p:nvPr/>
        </p:nvSpPr>
        <p:spPr>
          <a:xfrm>
            <a:off x="4487292" y="4424664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OUT2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90" name="文本框 189"/>
          <p:cNvSpPr txBox="1"/>
          <p:nvPr/>
        </p:nvSpPr>
        <p:spPr>
          <a:xfrm>
            <a:off x="4487292" y="4064624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OUT1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94" name="文本框 193"/>
          <p:cNvSpPr txBox="1"/>
          <p:nvPr/>
        </p:nvSpPr>
        <p:spPr>
          <a:xfrm>
            <a:off x="3407172" y="2742694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CS0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195" name="直接箭头连接符 194"/>
          <p:cNvCxnSpPr/>
          <p:nvPr/>
        </p:nvCxnSpPr>
        <p:spPr>
          <a:xfrm flipH="1">
            <a:off x="5203770" y="3249198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直接箭头连接符 195"/>
          <p:cNvCxnSpPr/>
          <p:nvPr/>
        </p:nvCxnSpPr>
        <p:spPr>
          <a:xfrm flipH="1">
            <a:off x="5217473" y="3585156"/>
            <a:ext cx="43204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直接箭头连接符 196"/>
          <p:cNvCxnSpPr/>
          <p:nvPr/>
        </p:nvCxnSpPr>
        <p:spPr>
          <a:xfrm flipH="1">
            <a:off x="5220072" y="2602494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直接箭头连接符 197"/>
          <p:cNvCxnSpPr/>
          <p:nvPr/>
        </p:nvCxnSpPr>
        <p:spPr>
          <a:xfrm flipH="1">
            <a:off x="5220072" y="2939201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直接箭头连接符 198"/>
          <p:cNvCxnSpPr/>
          <p:nvPr/>
        </p:nvCxnSpPr>
        <p:spPr>
          <a:xfrm flipH="1">
            <a:off x="5194672" y="4603918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直接箭头连接符 200"/>
          <p:cNvCxnSpPr/>
          <p:nvPr/>
        </p:nvCxnSpPr>
        <p:spPr>
          <a:xfrm flipH="1">
            <a:off x="5212868" y="3923754"/>
            <a:ext cx="43204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直接箭头连接符 201"/>
          <p:cNvCxnSpPr/>
          <p:nvPr/>
        </p:nvCxnSpPr>
        <p:spPr>
          <a:xfrm flipH="1">
            <a:off x="5194672" y="4249290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直接箭头连接符 202"/>
          <p:cNvCxnSpPr/>
          <p:nvPr/>
        </p:nvCxnSpPr>
        <p:spPr>
          <a:xfrm flipH="1">
            <a:off x="3047132" y="2579161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文本框 206"/>
          <p:cNvSpPr txBox="1"/>
          <p:nvPr/>
        </p:nvSpPr>
        <p:spPr>
          <a:xfrm>
            <a:off x="3468463" y="1744183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A2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08" name="文本框 207"/>
          <p:cNvSpPr txBox="1"/>
          <p:nvPr/>
        </p:nvSpPr>
        <p:spPr>
          <a:xfrm>
            <a:off x="3468463" y="1411346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D7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09" name="文本框 208"/>
          <p:cNvSpPr txBox="1"/>
          <p:nvPr/>
        </p:nvSpPr>
        <p:spPr>
          <a:xfrm>
            <a:off x="3468463" y="1078509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D1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10" name="文本框 209"/>
          <p:cNvSpPr txBox="1"/>
          <p:nvPr/>
        </p:nvSpPr>
        <p:spPr>
          <a:xfrm>
            <a:off x="3468463" y="745672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D0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11" name="文本框 210"/>
          <p:cNvSpPr txBox="1"/>
          <p:nvPr/>
        </p:nvSpPr>
        <p:spPr>
          <a:xfrm>
            <a:off x="4415284" y="1744183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SOUT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12" name="文本框 211"/>
          <p:cNvSpPr txBox="1"/>
          <p:nvPr/>
        </p:nvSpPr>
        <p:spPr>
          <a:xfrm>
            <a:off x="4415284" y="1411346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SIN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13" name="文本框 212"/>
          <p:cNvSpPr txBox="1"/>
          <p:nvPr/>
        </p:nvSpPr>
        <p:spPr>
          <a:xfrm>
            <a:off x="4415284" y="1078509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BAUD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14" name="文本框 213"/>
          <p:cNvSpPr txBox="1"/>
          <p:nvPr/>
        </p:nvSpPr>
        <p:spPr>
          <a:xfrm>
            <a:off x="4415284" y="745672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RCLK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215" name="直接箭头连接符 214"/>
          <p:cNvCxnSpPr/>
          <p:nvPr/>
        </p:nvCxnSpPr>
        <p:spPr>
          <a:xfrm flipH="1">
            <a:off x="3047132" y="1571049"/>
            <a:ext cx="43204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直接箭头连接符 215"/>
          <p:cNvCxnSpPr/>
          <p:nvPr/>
        </p:nvCxnSpPr>
        <p:spPr>
          <a:xfrm flipH="1">
            <a:off x="3047132" y="1931089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直接箭头连接符 216"/>
          <p:cNvCxnSpPr/>
          <p:nvPr/>
        </p:nvCxnSpPr>
        <p:spPr>
          <a:xfrm flipH="1">
            <a:off x="3047132" y="922977"/>
            <a:ext cx="43204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直接箭头连接符 217"/>
          <p:cNvCxnSpPr/>
          <p:nvPr/>
        </p:nvCxnSpPr>
        <p:spPr>
          <a:xfrm flipH="1">
            <a:off x="3047132" y="1283017"/>
            <a:ext cx="43204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直接箭头连接符 218"/>
          <p:cNvCxnSpPr/>
          <p:nvPr/>
        </p:nvCxnSpPr>
        <p:spPr>
          <a:xfrm flipH="1">
            <a:off x="5194672" y="1599129"/>
            <a:ext cx="43204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直接箭头连接符 219"/>
          <p:cNvCxnSpPr/>
          <p:nvPr/>
        </p:nvCxnSpPr>
        <p:spPr>
          <a:xfrm flipH="1">
            <a:off x="5203770" y="1931089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直接箭头连接符 220"/>
          <p:cNvCxnSpPr/>
          <p:nvPr/>
        </p:nvCxnSpPr>
        <p:spPr>
          <a:xfrm flipH="1">
            <a:off x="5207372" y="922977"/>
            <a:ext cx="43204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直接箭头连接符 221"/>
          <p:cNvCxnSpPr/>
          <p:nvPr/>
        </p:nvCxnSpPr>
        <p:spPr>
          <a:xfrm flipH="1">
            <a:off x="5216470" y="1283017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" name="文本框 226"/>
          <p:cNvSpPr txBox="1"/>
          <p:nvPr/>
        </p:nvSpPr>
        <p:spPr>
          <a:xfrm>
            <a:off x="4559300" y="5747513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GND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233" name="直接箭头连接符 232"/>
          <p:cNvCxnSpPr/>
          <p:nvPr/>
        </p:nvCxnSpPr>
        <p:spPr>
          <a:xfrm flipH="1">
            <a:off x="3047132" y="5603497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直接箭头连接符 233"/>
          <p:cNvCxnSpPr/>
          <p:nvPr/>
        </p:nvCxnSpPr>
        <p:spPr>
          <a:xfrm flipH="1">
            <a:off x="3047132" y="5933364"/>
            <a:ext cx="43204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直接箭头连接符 234"/>
          <p:cNvCxnSpPr/>
          <p:nvPr/>
        </p:nvCxnSpPr>
        <p:spPr>
          <a:xfrm flipH="1">
            <a:off x="5194672" y="5588129"/>
            <a:ext cx="43204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直接箭头连接符 235"/>
          <p:cNvCxnSpPr/>
          <p:nvPr/>
        </p:nvCxnSpPr>
        <p:spPr>
          <a:xfrm flipH="1">
            <a:off x="5212868" y="5257219"/>
            <a:ext cx="43204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直接箭头连接符 236"/>
          <p:cNvCxnSpPr/>
          <p:nvPr/>
        </p:nvCxnSpPr>
        <p:spPr>
          <a:xfrm flipH="1">
            <a:off x="5203770" y="5932179"/>
            <a:ext cx="43204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文本框 238"/>
          <p:cNvSpPr txBox="1"/>
          <p:nvPr/>
        </p:nvSpPr>
        <p:spPr>
          <a:xfrm>
            <a:off x="3457571" y="374120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DISTR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40" name="文本框 239"/>
          <p:cNvSpPr txBox="1"/>
          <p:nvPr/>
        </p:nvSpPr>
        <p:spPr>
          <a:xfrm>
            <a:off x="3457571" y="4074042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DISTR*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41" name="文本框 240"/>
          <p:cNvSpPr txBox="1"/>
          <p:nvPr/>
        </p:nvSpPr>
        <p:spPr>
          <a:xfrm>
            <a:off x="3457571" y="4406879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DOSTR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42" name="文本框 241"/>
          <p:cNvSpPr txBox="1"/>
          <p:nvPr/>
        </p:nvSpPr>
        <p:spPr>
          <a:xfrm>
            <a:off x="3442038" y="4739716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DOSTR*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243" name="直接箭头连接符 242"/>
          <p:cNvCxnSpPr/>
          <p:nvPr/>
        </p:nvCxnSpPr>
        <p:spPr>
          <a:xfrm flipH="1">
            <a:off x="3047132" y="3947313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直接箭头连接符 243"/>
          <p:cNvCxnSpPr/>
          <p:nvPr/>
        </p:nvCxnSpPr>
        <p:spPr>
          <a:xfrm flipH="1">
            <a:off x="3047132" y="3587273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直接箭头连接符 244"/>
          <p:cNvCxnSpPr/>
          <p:nvPr/>
        </p:nvCxnSpPr>
        <p:spPr>
          <a:xfrm flipH="1">
            <a:off x="3047132" y="4307353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文本框 247"/>
          <p:cNvSpPr txBox="1"/>
          <p:nvPr/>
        </p:nvSpPr>
        <p:spPr>
          <a:xfrm>
            <a:off x="3452761" y="5738221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INT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49" name="文本框 248"/>
          <p:cNvSpPr txBox="1"/>
          <p:nvPr/>
        </p:nvSpPr>
        <p:spPr>
          <a:xfrm>
            <a:off x="3452761" y="5405390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MR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50" name="文本框 249"/>
          <p:cNvSpPr txBox="1"/>
          <p:nvPr/>
        </p:nvSpPr>
        <p:spPr>
          <a:xfrm>
            <a:off x="3452761" y="5072553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ADS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251" name="直接箭头连接符 250"/>
          <p:cNvCxnSpPr/>
          <p:nvPr/>
        </p:nvCxnSpPr>
        <p:spPr>
          <a:xfrm flipH="1">
            <a:off x="3047132" y="4920934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直接箭头连接符 251"/>
          <p:cNvCxnSpPr/>
          <p:nvPr/>
        </p:nvCxnSpPr>
        <p:spPr>
          <a:xfrm flipH="1">
            <a:off x="3047132" y="4588072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直接箭头连接符 252"/>
          <p:cNvCxnSpPr/>
          <p:nvPr/>
        </p:nvCxnSpPr>
        <p:spPr>
          <a:xfrm flipH="1">
            <a:off x="3047132" y="5257219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直接箭头连接符 254"/>
          <p:cNvCxnSpPr/>
          <p:nvPr/>
        </p:nvCxnSpPr>
        <p:spPr>
          <a:xfrm flipH="1">
            <a:off x="3047132" y="3227233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直接箭头连接符 255"/>
          <p:cNvCxnSpPr/>
          <p:nvPr/>
        </p:nvCxnSpPr>
        <p:spPr>
          <a:xfrm flipH="1">
            <a:off x="3047132" y="2291129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Rectangle 2"/>
          <p:cNvSpPr>
            <a:spLocks noChangeArrowheads="1"/>
          </p:cNvSpPr>
          <p:nvPr/>
        </p:nvSpPr>
        <p:spPr bwMode="auto">
          <a:xfrm>
            <a:off x="3059832" y="116632"/>
            <a:ext cx="2258160" cy="52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8250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4410347" y="2435145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XTAL2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72" name="椭圆 71"/>
          <p:cNvSpPr/>
          <p:nvPr/>
        </p:nvSpPr>
        <p:spPr>
          <a:xfrm>
            <a:off x="5359519" y="4077072"/>
            <a:ext cx="144016" cy="650560"/>
          </a:xfrm>
          <a:prstGeom prst="ellipse">
            <a:avLst/>
          </a:prstGeom>
          <a:noFill/>
          <a:ln>
            <a:solidFill>
              <a:srgbClr val="FF325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TextBox 17"/>
          <p:cNvSpPr txBox="1"/>
          <p:nvPr/>
        </p:nvSpPr>
        <p:spPr>
          <a:xfrm>
            <a:off x="5888401" y="4002562"/>
            <a:ext cx="1995967" cy="829201"/>
          </a:xfrm>
          <a:prstGeom prst="rect">
            <a:avLst/>
          </a:prstGeom>
          <a:solidFill>
            <a:srgbClr val="1D8DE5"/>
          </a:solidFill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为用户提供输出，可编程控制</a:t>
            </a:r>
            <a:endParaRPr lang="en-US" altLang="zh-CN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03934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 animBg="1"/>
      <p:bldP spid="8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83848" y="2159348"/>
            <a:ext cx="936104" cy="2133748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696016" y="2159348"/>
            <a:ext cx="936104" cy="2133748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3280192" y="2159348"/>
            <a:ext cx="936104" cy="213374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4882525" y="2159348"/>
            <a:ext cx="936104" cy="213374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6448544" y="2159348"/>
            <a:ext cx="936104" cy="2133748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8100392" y="2159348"/>
            <a:ext cx="936104" cy="2133748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20" name="直接箭头连接符 19"/>
          <p:cNvCxnSpPr/>
          <p:nvPr/>
        </p:nvCxnSpPr>
        <p:spPr>
          <a:xfrm>
            <a:off x="7367567" y="2605554"/>
            <a:ext cx="732825" cy="355788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>
            <a:endCxn id="59" idx="1"/>
          </p:cNvCxnSpPr>
          <p:nvPr/>
        </p:nvCxnSpPr>
        <p:spPr>
          <a:xfrm flipV="1">
            <a:off x="7380082" y="2605554"/>
            <a:ext cx="720310" cy="36004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118809" y="3059091"/>
            <a:ext cx="106881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</a:rPr>
              <a:t>8086CPU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837696" y="1651516"/>
            <a:ext cx="6527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solidFill>
                  <a:srgbClr val="FF3255"/>
                </a:solidFill>
              </a:rPr>
              <a:t>8250</a:t>
            </a:r>
            <a:endParaRPr lang="zh-CN" altLang="en-US" dirty="0">
              <a:solidFill>
                <a:srgbClr val="FF3255"/>
              </a:solidFill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3194246" y="4499828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dirty="0">
                <a:solidFill>
                  <a:srgbClr val="FF3255"/>
                </a:solidFill>
              </a:rPr>
              <a:t>电平转换</a:t>
            </a:r>
          </a:p>
        </p:txBody>
      </p:sp>
      <p:sp>
        <p:nvSpPr>
          <p:cNvPr id="28" name="矩形 27"/>
          <p:cNvSpPr/>
          <p:nvPr/>
        </p:nvSpPr>
        <p:spPr>
          <a:xfrm>
            <a:off x="4841342" y="1513017"/>
            <a:ext cx="100680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rgbClr val="FF3255"/>
                </a:solidFill>
              </a:rPr>
              <a:t>9/25</a:t>
            </a:r>
            <a:r>
              <a:rPr lang="zh-CN" altLang="en-US" dirty="0">
                <a:solidFill>
                  <a:srgbClr val="FF3255"/>
                </a:solidFill>
              </a:rPr>
              <a:t>针插口</a:t>
            </a:r>
            <a:r>
              <a:rPr lang="en-US" altLang="zh-CN" dirty="0">
                <a:solidFill>
                  <a:srgbClr val="FF3255"/>
                </a:solidFill>
              </a:rPr>
              <a:t>(</a:t>
            </a:r>
            <a:r>
              <a:rPr lang="zh-CN" altLang="en-US" dirty="0">
                <a:solidFill>
                  <a:srgbClr val="FF3255"/>
                </a:solidFill>
              </a:rPr>
              <a:t>母</a:t>
            </a:r>
            <a:r>
              <a:rPr lang="en-US" altLang="zh-CN" dirty="0">
                <a:solidFill>
                  <a:srgbClr val="FF3255"/>
                </a:solidFill>
              </a:rPr>
              <a:t>)</a:t>
            </a:r>
            <a:endParaRPr lang="zh-CN" altLang="en-US" dirty="0">
              <a:solidFill>
                <a:srgbClr val="FF3255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287447" y="4366845"/>
            <a:ext cx="115189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rgbClr val="FF3255"/>
                </a:solidFill>
              </a:rPr>
              <a:t>9/25</a:t>
            </a:r>
            <a:r>
              <a:rPr lang="zh-CN" altLang="en-US" dirty="0">
                <a:solidFill>
                  <a:srgbClr val="FF3255"/>
                </a:solidFill>
              </a:rPr>
              <a:t>针</a:t>
            </a:r>
            <a:endParaRPr lang="en-US" altLang="zh-CN" dirty="0">
              <a:solidFill>
                <a:srgbClr val="FF3255"/>
              </a:solidFill>
            </a:endParaRPr>
          </a:p>
          <a:p>
            <a:pPr algn="ctr"/>
            <a:r>
              <a:rPr lang="zh-CN" altLang="en-US" dirty="0">
                <a:solidFill>
                  <a:srgbClr val="FF3255"/>
                </a:solidFill>
              </a:rPr>
              <a:t>插口</a:t>
            </a:r>
            <a:r>
              <a:rPr lang="en-US" altLang="zh-CN" dirty="0">
                <a:solidFill>
                  <a:srgbClr val="FF3255"/>
                </a:solidFill>
              </a:rPr>
              <a:t>(</a:t>
            </a:r>
            <a:r>
              <a:rPr lang="zh-CN" altLang="en-US" dirty="0">
                <a:solidFill>
                  <a:srgbClr val="FF3255"/>
                </a:solidFill>
              </a:rPr>
              <a:t>公</a:t>
            </a:r>
            <a:r>
              <a:rPr lang="en-US" altLang="zh-CN" dirty="0">
                <a:solidFill>
                  <a:srgbClr val="FF3255"/>
                </a:solidFill>
              </a:rPr>
              <a:t>)</a:t>
            </a:r>
            <a:endParaRPr lang="zh-CN" altLang="en-US" dirty="0">
              <a:solidFill>
                <a:srgbClr val="FF3255"/>
              </a:solidFill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8030179" y="1484784"/>
            <a:ext cx="100631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rgbClr val="FF3255"/>
                </a:solidFill>
              </a:rPr>
              <a:t>9/25</a:t>
            </a:r>
            <a:r>
              <a:rPr lang="zh-CN" altLang="en-US" dirty="0">
                <a:solidFill>
                  <a:srgbClr val="FF3255"/>
                </a:solidFill>
              </a:rPr>
              <a:t>针插口</a:t>
            </a:r>
            <a:r>
              <a:rPr lang="en-US" altLang="zh-CN" dirty="0">
                <a:solidFill>
                  <a:srgbClr val="FF3255"/>
                </a:solidFill>
              </a:rPr>
              <a:t>(</a:t>
            </a:r>
            <a:r>
              <a:rPr lang="zh-CN" altLang="en-US" dirty="0">
                <a:solidFill>
                  <a:srgbClr val="FF3255"/>
                </a:solidFill>
              </a:rPr>
              <a:t>公</a:t>
            </a:r>
            <a:r>
              <a:rPr lang="en-US" altLang="zh-CN" dirty="0">
                <a:solidFill>
                  <a:srgbClr val="FF3255"/>
                </a:solidFill>
              </a:rPr>
              <a:t>)</a:t>
            </a:r>
            <a:endParaRPr lang="zh-CN" altLang="en-US" dirty="0">
              <a:solidFill>
                <a:srgbClr val="FF3255"/>
              </a:solidFill>
            </a:endParaRPr>
          </a:p>
        </p:txBody>
      </p:sp>
      <p:sp>
        <p:nvSpPr>
          <p:cNvPr id="37" name="左右箭头 36"/>
          <p:cNvSpPr/>
          <p:nvPr/>
        </p:nvSpPr>
        <p:spPr>
          <a:xfrm>
            <a:off x="1119952" y="2636912"/>
            <a:ext cx="576064" cy="220995"/>
          </a:xfrm>
          <a:prstGeom prst="leftRightArrow">
            <a:avLst/>
          </a:prstGeom>
          <a:solidFill>
            <a:srgbClr val="00B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9" name="直接连接符 38"/>
          <p:cNvCxnSpPr/>
          <p:nvPr/>
        </p:nvCxnSpPr>
        <p:spPr>
          <a:xfrm>
            <a:off x="2632120" y="2636912"/>
            <a:ext cx="648072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2632120" y="2996952"/>
            <a:ext cx="648072" cy="0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>
            <a:off x="2616610" y="3933056"/>
            <a:ext cx="648072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矩形 43"/>
          <p:cNvSpPr/>
          <p:nvPr/>
        </p:nvSpPr>
        <p:spPr>
          <a:xfrm>
            <a:off x="1893399" y="2452246"/>
            <a:ext cx="7024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</a:rPr>
              <a:t>SOUT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1995991" y="2811621"/>
            <a:ext cx="4972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</a:rPr>
              <a:t>SIN</a:t>
            </a:r>
            <a:endParaRPr lang="zh-CN" altLang="en-US" dirty="0">
              <a:solidFill>
                <a:schemeClr val="bg1"/>
              </a:solidFill>
            </a:endParaRPr>
          </a:p>
        </p:txBody>
      </p:sp>
      <p:cxnSp>
        <p:nvCxnSpPr>
          <p:cNvPr id="46" name="直接连接符 45"/>
          <p:cNvCxnSpPr/>
          <p:nvPr/>
        </p:nvCxnSpPr>
        <p:spPr>
          <a:xfrm>
            <a:off x="4207218" y="2601967"/>
            <a:ext cx="648072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>
            <a:off x="4207218" y="2962007"/>
            <a:ext cx="648072" cy="0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矩形 47"/>
          <p:cNvSpPr/>
          <p:nvPr/>
        </p:nvSpPr>
        <p:spPr>
          <a:xfrm>
            <a:off x="3468497" y="2417301"/>
            <a:ext cx="7024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</a:rPr>
              <a:t>SOUT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3571089" y="2776676"/>
            <a:ext cx="4972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</a:rPr>
              <a:t>SIN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4973747" y="2424946"/>
            <a:ext cx="5725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</a:rPr>
              <a:t>TXD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4973747" y="2784321"/>
            <a:ext cx="5725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</a:rPr>
              <a:t>RXD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6860648" y="2420888"/>
            <a:ext cx="5597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</a:rPr>
              <a:t>TXD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6866751" y="2780928"/>
            <a:ext cx="5725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</a:rPr>
              <a:t>RXD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8100392" y="2420888"/>
            <a:ext cx="5725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</a:rPr>
              <a:t>TXD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8100392" y="2780263"/>
            <a:ext cx="5725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</a:rPr>
              <a:t>RXD</a:t>
            </a:r>
            <a:endParaRPr lang="zh-CN" altLang="en-US" dirty="0">
              <a:solidFill>
                <a:schemeClr val="bg1"/>
              </a:solidFill>
            </a:endParaRPr>
          </a:p>
        </p:txBody>
      </p:sp>
      <p:cxnSp>
        <p:nvCxnSpPr>
          <p:cNvPr id="64" name="直接连接符 63"/>
          <p:cNvCxnSpPr/>
          <p:nvPr/>
        </p:nvCxnSpPr>
        <p:spPr>
          <a:xfrm>
            <a:off x="5800472" y="2601967"/>
            <a:ext cx="648072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/>
          <p:cNvCxnSpPr/>
          <p:nvPr/>
        </p:nvCxnSpPr>
        <p:spPr>
          <a:xfrm>
            <a:off x="5800472" y="2961342"/>
            <a:ext cx="648072" cy="0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67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8250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构成的串行通信系统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68" name="直接连接符 67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cxnSp>
        <p:nvCxnSpPr>
          <p:cNvPr id="69" name="直接连接符 68"/>
          <p:cNvCxnSpPr/>
          <p:nvPr/>
        </p:nvCxnSpPr>
        <p:spPr>
          <a:xfrm>
            <a:off x="4216296" y="3933056"/>
            <a:ext cx="648072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连接符 69"/>
          <p:cNvCxnSpPr/>
          <p:nvPr/>
        </p:nvCxnSpPr>
        <p:spPr>
          <a:xfrm>
            <a:off x="5800472" y="3933056"/>
            <a:ext cx="648072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连接符 70"/>
          <p:cNvCxnSpPr/>
          <p:nvPr/>
        </p:nvCxnSpPr>
        <p:spPr>
          <a:xfrm>
            <a:off x="7382107" y="3933056"/>
            <a:ext cx="718285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3" name="图片 7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4713" y="4500955"/>
            <a:ext cx="1273731" cy="1273731"/>
          </a:xfrm>
          <a:prstGeom prst="rect">
            <a:avLst/>
          </a:prstGeom>
        </p:spPr>
      </p:pic>
      <p:sp>
        <p:nvSpPr>
          <p:cNvPr id="41" name="矩形 40"/>
          <p:cNvSpPr/>
          <p:nvPr/>
        </p:nvSpPr>
        <p:spPr>
          <a:xfrm>
            <a:off x="1421260" y="5982545"/>
            <a:ext cx="610349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zh-CN" altLang="en-US" dirty="0">
                <a:ln w="17780" cmpd="sng">
                  <a:noFill/>
                  <a:prstDash val="solid"/>
                  <a:miter lim="800000"/>
                </a:ln>
                <a:solidFill>
                  <a:srgbClr val="FD7A2A"/>
                </a:solidFill>
                <a:latin typeface="微软雅黑" pitchFamily="34" charset="-122"/>
                <a:ea typeface="微软雅黑" pitchFamily="34" charset="-122"/>
              </a:rPr>
              <a:t>制作串口线时，两端公口的收发交叉焊接。</a:t>
            </a:r>
            <a:endParaRPr lang="en-US" altLang="zh-CN" dirty="0">
              <a:ln w="17780" cmpd="sng">
                <a:noFill/>
                <a:prstDash val="solid"/>
                <a:miter lim="800000"/>
              </a:ln>
              <a:solidFill>
                <a:srgbClr val="FD7A2A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1400" dirty="0">
                <a:ln w="17780" cmpd="sng">
                  <a:noFill/>
                  <a:prstDash val="solid"/>
                  <a:miter lim="800000"/>
                </a:ln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http://jingyan.baidu.com/article/d5c4b52be5b162da560dc5b7.html</a:t>
            </a:r>
            <a:endParaRPr lang="zh-CN" altLang="en-US" sz="1400" dirty="0">
              <a:ln w="17780" cmpd="sng">
                <a:noFill/>
                <a:prstDash val="solid"/>
                <a:miter lim="800000"/>
              </a:ln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50" name="Picture 2" descr="C:\Documents and Settings\tdz\桌面\未标题-1 拷贝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51900" y="5464129"/>
            <a:ext cx="834828" cy="782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0708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56"/>
          <p:cNvSpPr txBox="1">
            <a:spLocks noChangeArrowheads="1"/>
          </p:cNvSpPr>
          <p:nvPr/>
        </p:nvSpPr>
        <p:spPr bwMode="auto">
          <a:xfrm>
            <a:off x="899592" y="1485145"/>
            <a:ext cx="381000" cy="4801314"/>
          </a:xfrm>
          <a:prstGeom prst="rect">
            <a:avLst/>
          </a:prstGeom>
          <a:solidFill>
            <a:srgbClr val="00B853"/>
          </a:solidFill>
          <a:ln>
            <a:noFill/>
          </a:ln>
          <a:effectLst/>
        </p:spPr>
        <p:txBody>
          <a:bodyPr>
            <a:spAutoFit/>
          </a:bodyPr>
          <a:lstStyle/>
          <a:p>
            <a:pPr algn="ctr" eaLnBrk="0" hangingPunct="0"/>
            <a:endParaRPr lang="en-US" altLang="zh-CN" sz="1800" b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0" hangingPunct="0"/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0" hangingPunct="0"/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0" hangingPunct="0"/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0" hangingPunct="0"/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0" hangingPunct="0"/>
            <a:r>
              <a:rPr lang="zh-CN" altLang="en-US" sz="18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</a:t>
            </a:r>
          </a:p>
          <a:p>
            <a:pPr algn="ctr" eaLnBrk="0" hangingPunct="0"/>
            <a:endParaRPr lang="zh-CN" altLang="en-US" sz="1800" b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0" hangingPunct="0"/>
            <a:r>
              <a:rPr lang="zh-CN" altLang="en-US" sz="18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统</a:t>
            </a:r>
          </a:p>
          <a:p>
            <a:pPr algn="ctr" eaLnBrk="0" hangingPunct="0"/>
            <a:endParaRPr lang="zh-CN" altLang="en-US" sz="1800" b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0" hangingPunct="0"/>
            <a:r>
              <a:rPr lang="zh-CN" altLang="en-US" sz="18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</a:t>
            </a:r>
          </a:p>
          <a:p>
            <a:pPr algn="ctr" eaLnBrk="0" hangingPunct="0"/>
            <a:endParaRPr lang="zh-CN" altLang="en-US" sz="1800" b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0" hangingPunct="0"/>
            <a:r>
              <a:rPr lang="zh-CN" altLang="en-US" sz="18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</a:t>
            </a:r>
            <a:endParaRPr lang="en-US" altLang="zh-CN" sz="1800" b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0" hangingPunct="0"/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0" hangingPunct="0"/>
            <a:endParaRPr lang="en-US" altLang="zh-CN" sz="1800" b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0" hangingPunct="0"/>
            <a:endParaRPr lang="en-US" altLang="zh-CN" sz="1800" b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0" hangingPunct="0"/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0" hangingPunct="0"/>
            <a:endParaRPr lang="zh-CN" altLang="en-US" sz="1800" b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57"/>
          <p:cNvSpPr>
            <a:spLocks noChangeArrowheads="1"/>
          </p:cNvSpPr>
          <p:nvPr/>
        </p:nvSpPr>
        <p:spPr bwMode="auto">
          <a:xfrm>
            <a:off x="3513584" y="1484213"/>
            <a:ext cx="2303463" cy="4968875"/>
          </a:xfrm>
          <a:prstGeom prst="rect">
            <a:avLst/>
          </a:prstGeom>
          <a:solidFill>
            <a:srgbClr val="FD7A2A"/>
          </a:solidFill>
          <a:ln w="254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AutoShape 58"/>
          <p:cNvSpPr>
            <a:spLocks noChangeArrowheads="1"/>
          </p:cNvSpPr>
          <p:nvPr/>
        </p:nvSpPr>
        <p:spPr bwMode="auto">
          <a:xfrm>
            <a:off x="1279972" y="1628676"/>
            <a:ext cx="2160587" cy="215900"/>
          </a:xfrm>
          <a:prstGeom prst="leftRightArrow">
            <a:avLst>
              <a:gd name="adj1" fmla="val 50000"/>
              <a:gd name="adj2" fmla="val 200147"/>
            </a:avLst>
          </a:prstGeom>
          <a:solidFill>
            <a:srgbClr val="00B853"/>
          </a:solidFill>
          <a:ln w="9525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Line 59"/>
          <p:cNvSpPr>
            <a:spLocks noChangeShapeType="1"/>
          </p:cNvSpPr>
          <p:nvPr/>
        </p:nvSpPr>
        <p:spPr bwMode="auto">
          <a:xfrm>
            <a:off x="1279972" y="2133501"/>
            <a:ext cx="2232025" cy="0"/>
          </a:xfrm>
          <a:prstGeom prst="line">
            <a:avLst/>
          </a:prstGeom>
          <a:noFill/>
          <a:ln w="9525" cap="sq">
            <a:solidFill>
              <a:srgbClr val="00B853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Line 60"/>
          <p:cNvSpPr>
            <a:spLocks noChangeShapeType="1"/>
          </p:cNvSpPr>
          <p:nvPr/>
        </p:nvSpPr>
        <p:spPr bwMode="auto">
          <a:xfrm>
            <a:off x="1279972" y="2493863"/>
            <a:ext cx="2232025" cy="0"/>
          </a:xfrm>
          <a:prstGeom prst="line">
            <a:avLst/>
          </a:prstGeom>
          <a:noFill/>
          <a:ln w="9525" cap="sq">
            <a:solidFill>
              <a:srgbClr val="00B853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Line 61"/>
          <p:cNvSpPr>
            <a:spLocks noChangeShapeType="1"/>
          </p:cNvSpPr>
          <p:nvPr/>
        </p:nvSpPr>
        <p:spPr bwMode="auto">
          <a:xfrm flipH="1">
            <a:off x="1279972" y="2852638"/>
            <a:ext cx="2233612" cy="0"/>
          </a:xfrm>
          <a:prstGeom prst="line">
            <a:avLst/>
          </a:prstGeom>
          <a:noFill/>
          <a:ln w="9525" cap="sq">
            <a:solidFill>
              <a:srgbClr val="00B853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Line 63"/>
          <p:cNvSpPr>
            <a:spLocks noChangeShapeType="1"/>
          </p:cNvSpPr>
          <p:nvPr/>
        </p:nvSpPr>
        <p:spPr bwMode="auto">
          <a:xfrm>
            <a:off x="1279972" y="3646388"/>
            <a:ext cx="2232025" cy="0"/>
          </a:xfrm>
          <a:prstGeom prst="line">
            <a:avLst/>
          </a:prstGeom>
          <a:noFill/>
          <a:ln w="9525" cap="sq">
            <a:solidFill>
              <a:srgbClr val="00B853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Line 64"/>
          <p:cNvSpPr>
            <a:spLocks noChangeShapeType="1"/>
          </p:cNvSpPr>
          <p:nvPr/>
        </p:nvSpPr>
        <p:spPr bwMode="auto">
          <a:xfrm>
            <a:off x="1279972" y="4005163"/>
            <a:ext cx="2232025" cy="0"/>
          </a:xfrm>
          <a:prstGeom prst="line">
            <a:avLst/>
          </a:prstGeom>
          <a:noFill/>
          <a:ln w="9525" cap="sq">
            <a:solidFill>
              <a:srgbClr val="00B853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Line 65"/>
          <p:cNvSpPr>
            <a:spLocks noChangeShapeType="1"/>
          </p:cNvSpPr>
          <p:nvPr/>
        </p:nvSpPr>
        <p:spPr bwMode="auto">
          <a:xfrm>
            <a:off x="1279972" y="4365526"/>
            <a:ext cx="2232025" cy="0"/>
          </a:xfrm>
          <a:prstGeom prst="line">
            <a:avLst/>
          </a:prstGeom>
          <a:noFill/>
          <a:ln w="9525" cap="sq">
            <a:solidFill>
              <a:schemeClr val="tx1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Line 66"/>
          <p:cNvSpPr>
            <a:spLocks noChangeShapeType="1"/>
          </p:cNvSpPr>
          <p:nvPr/>
        </p:nvSpPr>
        <p:spPr bwMode="auto">
          <a:xfrm>
            <a:off x="1279972" y="4365526"/>
            <a:ext cx="2232025" cy="0"/>
          </a:xfrm>
          <a:prstGeom prst="line">
            <a:avLst/>
          </a:prstGeom>
          <a:noFill/>
          <a:ln w="9525" cap="sq">
            <a:solidFill>
              <a:srgbClr val="00B853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Line 67"/>
          <p:cNvSpPr>
            <a:spLocks noChangeShapeType="1"/>
          </p:cNvSpPr>
          <p:nvPr/>
        </p:nvSpPr>
        <p:spPr bwMode="auto">
          <a:xfrm>
            <a:off x="2721422" y="4652863"/>
            <a:ext cx="790575" cy="1588"/>
          </a:xfrm>
          <a:prstGeom prst="line">
            <a:avLst/>
          </a:prstGeom>
          <a:noFill/>
          <a:ln w="9525" cap="sq">
            <a:solidFill>
              <a:srgbClr val="00B853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Line 68"/>
          <p:cNvSpPr>
            <a:spLocks noChangeShapeType="1"/>
          </p:cNvSpPr>
          <p:nvPr/>
        </p:nvSpPr>
        <p:spPr bwMode="auto">
          <a:xfrm>
            <a:off x="2721422" y="4943376"/>
            <a:ext cx="790575" cy="0"/>
          </a:xfrm>
          <a:prstGeom prst="line">
            <a:avLst/>
          </a:prstGeom>
          <a:noFill/>
          <a:ln w="9525" cap="sq">
            <a:solidFill>
              <a:srgbClr val="00B853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Line 69"/>
          <p:cNvSpPr>
            <a:spLocks noChangeShapeType="1"/>
          </p:cNvSpPr>
          <p:nvPr/>
        </p:nvSpPr>
        <p:spPr bwMode="auto">
          <a:xfrm>
            <a:off x="2721422" y="5230713"/>
            <a:ext cx="790575" cy="0"/>
          </a:xfrm>
          <a:prstGeom prst="line">
            <a:avLst/>
          </a:prstGeom>
          <a:noFill/>
          <a:ln w="9525" cap="sq">
            <a:solidFill>
              <a:srgbClr val="00B853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Line 70"/>
          <p:cNvSpPr>
            <a:spLocks noChangeShapeType="1"/>
          </p:cNvSpPr>
          <p:nvPr/>
        </p:nvSpPr>
        <p:spPr bwMode="auto">
          <a:xfrm>
            <a:off x="2721422" y="4654451"/>
            <a:ext cx="0" cy="719137"/>
          </a:xfrm>
          <a:prstGeom prst="line">
            <a:avLst/>
          </a:prstGeom>
          <a:noFill/>
          <a:ln w="9525" cap="sq">
            <a:solidFill>
              <a:srgbClr val="00B853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Line 71"/>
          <p:cNvSpPr>
            <a:spLocks noChangeShapeType="1"/>
          </p:cNvSpPr>
          <p:nvPr/>
        </p:nvSpPr>
        <p:spPr bwMode="auto">
          <a:xfrm>
            <a:off x="2432497" y="5589488"/>
            <a:ext cx="1079500" cy="0"/>
          </a:xfrm>
          <a:prstGeom prst="line">
            <a:avLst/>
          </a:prstGeom>
          <a:noFill/>
          <a:ln w="9525" cap="sq">
            <a:solidFill>
              <a:srgbClr val="00B853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Line 72"/>
          <p:cNvSpPr>
            <a:spLocks noChangeShapeType="1"/>
          </p:cNvSpPr>
          <p:nvPr/>
        </p:nvSpPr>
        <p:spPr bwMode="auto">
          <a:xfrm>
            <a:off x="2432497" y="5876826"/>
            <a:ext cx="1079500" cy="0"/>
          </a:xfrm>
          <a:prstGeom prst="line">
            <a:avLst/>
          </a:prstGeom>
          <a:noFill/>
          <a:ln w="9525" cap="sq">
            <a:solidFill>
              <a:srgbClr val="00B853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Line 73"/>
          <p:cNvSpPr>
            <a:spLocks noChangeShapeType="1"/>
          </p:cNvSpPr>
          <p:nvPr/>
        </p:nvSpPr>
        <p:spPr bwMode="auto">
          <a:xfrm>
            <a:off x="2721422" y="6165751"/>
            <a:ext cx="790575" cy="0"/>
          </a:xfrm>
          <a:prstGeom prst="line">
            <a:avLst/>
          </a:prstGeom>
          <a:noFill/>
          <a:ln w="9525" cap="sq">
            <a:solidFill>
              <a:srgbClr val="00B853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Line 74"/>
          <p:cNvSpPr>
            <a:spLocks noChangeShapeType="1"/>
          </p:cNvSpPr>
          <p:nvPr/>
        </p:nvSpPr>
        <p:spPr bwMode="auto">
          <a:xfrm>
            <a:off x="2721422" y="5878413"/>
            <a:ext cx="0" cy="287338"/>
          </a:xfrm>
          <a:prstGeom prst="line">
            <a:avLst/>
          </a:prstGeom>
          <a:noFill/>
          <a:ln w="9525" cap="sq">
            <a:solidFill>
              <a:srgbClr val="00B853"/>
            </a:solidFill>
            <a:round/>
            <a:headEnd type="oval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Text Box 75"/>
          <p:cNvSpPr txBox="1">
            <a:spLocks noChangeArrowheads="1"/>
          </p:cNvSpPr>
          <p:nvPr/>
        </p:nvSpPr>
        <p:spPr bwMode="auto">
          <a:xfrm>
            <a:off x="3585022" y="1630263"/>
            <a:ext cx="790574" cy="4727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FF66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16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D7-D0</a:t>
            </a:r>
          </a:p>
          <a:p>
            <a:pPr eaLnBrk="0" hangingPunct="0">
              <a:spcBef>
                <a:spcPct val="50000"/>
              </a:spcBef>
            </a:pPr>
            <a:r>
              <a:rPr lang="en-US" altLang="zh-CN" sz="16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DISTR</a:t>
            </a:r>
            <a:r>
              <a:rPr lang="zh-CN" altLang="en-US" sz="16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endParaRPr lang="en-US" altLang="zh-CN" sz="1600" b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spcBef>
                <a:spcPct val="50000"/>
              </a:spcBef>
            </a:pPr>
            <a:r>
              <a:rPr lang="en-US" altLang="zh-CN" sz="16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DOSTR</a:t>
            </a:r>
            <a:r>
              <a:rPr lang="zh-CN" altLang="en-US" sz="16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endParaRPr lang="en-US" altLang="zh-CN" sz="1600" b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spcBef>
                <a:spcPct val="50000"/>
              </a:spcBef>
            </a:pPr>
            <a:r>
              <a:rPr lang="en-US" altLang="zh-CN" sz="16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INTR</a:t>
            </a:r>
            <a:r>
              <a:rPr lang="zh-CN" altLang="en-US" sz="16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endParaRPr lang="en-US" altLang="zh-CN" sz="1600" b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spcBef>
                <a:spcPct val="50000"/>
              </a:spcBef>
            </a:pPr>
            <a:r>
              <a:rPr lang="en-US" altLang="zh-CN" sz="16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OUT2</a:t>
            </a:r>
            <a:r>
              <a:rPr lang="zh-CN" altLang="en-US" sz="16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endParaRPr lang="en-US" altLang="zh-CN" sz="1600" b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spcBef>
                <a:spcPct val="50000"/>
              </a:spcBef>
            </a:pPr>
            <a:r>
              <a:rPr lang="en-US" altLang="zh-CN" sz="16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A0</a:t>
            </a:r>
          </a:p>
          <a:p>
            <a:pPr eaLnBrk="0" hangingPunct="0">
              <a:spcBef>
                <a:spcPct val="50000"/>
              </a:spcBef>
            </a:pPr>
            <a:r>
              <a:rPr lang="en-US" altLang="zh-CN" sz="16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A1</a:t>
            </a:r>
          </a:p>
          <a:p>
            <a:pPr eaLnBrk="0" hangingPunct="0">
              <a:spcBef>
                <a:spcPct val="50000"/>
              </a:spcBef>
            </a:pPr>
            <a:r>
              <a:rPr lang="en-US" altLang="zh-CN" sz="16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A2</a:t>
            </a:r>
          </a:p>
          <a:p>
            <a:pPr eaLnBrk="0" hangingPunct="0">
              <a:spcBef>
                <a:spcPct val="40000"/>
              </a:spcBef>
            </a:pPr>
            <a:r>
              <a:rPr lang="en-US" altLang="zh-CN" sz="16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ADS</a:t>
            </a:r>
            <a:r>
              <a:rPr lang="zh-CN" altLang="en-US" sz="16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endParaRPr lang="en-US" altLang="zh-CN" sz="1600" b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spcBef>
                <a:spcPct val="20000"/>
              </a:spcBef>
            </a:pPr>
            <a:r>
              <a:rPr lang="en-US" altLang="zh-CN" sz="16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DISTR</a:t>
            </a:r>
          </a:p>
          <a:p>
            <a:pPr eaLnBrk="0" hangingPunct="0">
              <a:spcBef>
                <a:spcPct val="20000"/>
              </a:spcBef>
            </a:pPr>
            <a:r>
              <a:rPr lang="en-US" altLang="zh-CN" sz="16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DOSTR</a:t>
            </a:r>
          </a:p>
          <a:p>
            <a:pPr eaLnBrk="0" hangingPunct="0">
              <a:spcBef>
                <a:spcPct val="50000"/>
              </a:spcBef>
            </a:pPr>
            <a:r>
              <a:rPr lang="en-US" altLang="zh-CN" sz="16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CS2</a:t>
            </a:r>
            <a:r>
              <a:rPr lang="zh-CN" altLang="en-US" sz="16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endParaRPr lang="en-US" altLang="zh-CN" sz="1600" b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spcBef>
                <a:spcPct val="20000"/>
              </a:spcBef>
            </a:pPr>
            <a:r>
              <a:rPr lang="en-US" altLang="zh-CN" sz="16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CS1</a:t>
            </a:r>
          </a:p>
          <a:p>
            <a:pPr eaLnBrk="0" hangingPunct="0">
              <a:spcBef>
                <a:spcPct val="20000"/>
              </a:spcBef>
            </a:pPr>
            <a:r>
              <a:rPr lang="en-US" altLang="zh-CN" sz="16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CS0</a:t>
            </a:r>
          </a:p>
        </p:txBody>
      </p:sp>
      <p:sp>
        <p:nvSpPr>
          <p:cNvPr id="29" name="Text Box 81"/>
          <p:cNvSpPr txBox="1">
            <a:spLocks noChangeArrowheads="1"/>
          </p:cNvSpPr>
          <p:nvPr/>
        </p:nvSpPr>
        <p:spPr bwMode="auto">
          <a:xfrm>
            <a:off x="1929259" y="5733951"/>
            <a:ext cx="504825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FF66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hangingPunct="0"/>
            <a:r>
              <a:rPr lang="en-US" altLang="zh-CN" sz="1800" b="0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+5V</a:t>
            </a:r>
          </a:p>
        </p:txBody>
      </p:sp>
      <p:sp>
        <p:nvSpPr>
          <p:cNvPr id="30" name="Line 82"/>
          <p:cNvSpPr>
            <a:spLocks noChangeShapeType="1"/>
          </p:cNvSpPr>
          <p:nvPr/>
        </p:nvSpPr>
        <p:spPr bwMode="auto">
          <a:xfrm>
            <a:off x="5817047" y="1700113"/>
            <a:ext cx="792162" cy="0"/>
          </a:xfrm>
          <a:prstGeom prst="line">
            <a:avLst/>
          </a:prstGeom>
          <a:noFill/>
          <a:ln w="9525" cap="sq">
            <a:solidFill>
              <a:srgbClr val="00B853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Line 83"/>
          <p:cNvSpPr>
            <a:spLocks noChangeShapeType="1"/>
          </p:cNvSpPr>
          <p:nvPr/>
        </p:nvSpPr>
        <p:spPr bwMode="auto">
          <a:xfrm>
            <a:off x="2576959" y="5373588"/>
            <a:ext cx="287338" cy="0"/>
          </a:xfrm>
          <a:prstGeom prst="line">
            <a:avLst/>
          </a:prstGeom>
          <a:noFill/>
          <a:ln w="381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Text Box 84"/>
          <p:cNvSpPr txBox="1">
            <a:spLocks noChangeArrowheads="1"/>
          </p:cNvSpPr>
          <p:nvPr/>
        </p:nvSpPr>
        <p:spPr bwMode="auto">
          <a:xfrm>
            <a:off x="1927672" y="5459313"/>
            <a:ext cx="50482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FF66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hangingPunct="0"/>
            <a:r>
              <a:rPr lang="en-US" altLang="zh-CN" sz="1800" b="0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</a:t>
            </a:r>
            <a:r>
              <a:rPr lang="zh-CN" altLang="en-US" sz="1800" b="0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endParaRPr lang="en-US" altLang="zh-CN" sz="1800" b="0" dirty="0">
              <a:solidFill>
                <a:srgbClr val="FF32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Text Box 86"/>
          <p:cNvSpPr txBox="1">
            <a:spLocks noChangeArrowheads="1"/>
          </p:cNvSpPr>
          <p:nvPr/>
        </p:nvSpPr>
        <p:spPr bwMode="auto">
          <a:xfrm>
            <a:off x="1929259" y="1412776"/>
            <a:ext cx="865188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FF66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hangingPunct="0"/>
            <a:r>
              <a:rPr lang="en-US" altLang="zh-CN" sz="1800" b="0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D7-D0</a:t>
            </a:r>
          </a:p>
        </p:txBody>
      </p:sp>
      <p:sp>
        <p:nvSpPr>
          <p:cNvPr id="35" name="Text Box 87"/>
          <p:cNvSpPr txBox="1">
            <a:spLocks noChangeArrowheads="1"/>
          </p:cNvSpPr>
          <p:nvPr/>
        </p:nvSpPr>
        <p:spPr bwMode="auto">
          <a:xfrm>
            <a:off x="1929259" y="1844576"/>
            <a:ext cx="865188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FF66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hangingPunct="0"/>
            <a:r>
              <a:rPr lang="en-US" altLang="zh-CN" sz="1800" b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 IOR</a:t>
            </a:r>
          </a:p>
        </p:txBody>
      </p:sp>
      <p:sp>
        <p:nvSpPr>
          <p:cNvPr id="36" name="Text Box 88"/>
          <p:cNvSpPr txBox="1">
            <a:spLocks noChangeArrowheads="1"/>
          </p:cNvSpPr>
          <p:nvPr/>
        </p:nvSpPr>
        <p:spPr bwMode="auto">
          <a:xfrm>
            <a:off x="1929259" y="2204938"/>
            <a:ext cx="86518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FF66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hangingPunct="0"/>
            <a:r>
              <a:rPr lang="en-US" altLang="zh-CN" sz="1800" b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 IOW</a:t>
            </a:r>
          </a:p>
        </p:txBody>
      </p:sp>
      <p:sp>
        <p:nvSpPr>
          <p:cNvPr id="37" name="Text Box 89"/>
          <p:cNvSpPr txBox="1">
            <a:spLocks noChangeArrowheads="1"/>
          </p:cNvSpPr>
          <p:nvPr/>
        </p:nvSpPr>
        <p:spPr bwMode="auto">
          <a:xfrm>
            <a:off x="1259632" y="2565301"/>
            <a:ext cx="865188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FF66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hangingPunct="0"/>
            <a:r>
              <a:rPr lang="en-US" altLang="zh-CN" sz="1800" b="0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INTR</a:t>
            </a:r>
          </a:p>
        </p:txBody>
      </p:sp>
      <p:sp>
        <p:nvSpPr>
          <p:cNvPr id="39" name="Text Box 91"/>
          <p:cNvSpPr txBox="1">
            <a:spLocks noChangeArrowheads="1"/>
          </p:cNvSpPr>
          <p:nvPr/>
        </p:nvSpPr>
        <p:spPr bwMode="auto">
          <a:xfrm>
            <a:off x="1929259" y="3357463"/>
            <a:ext cx="86518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FF66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hangingPunct="0"/>
            <a:r>
              <a:rPr lang="en-US" altLang="zh-CN" sz="1800" b="0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A0</a:t>
            </a:r>
          </a:p>
        </p:txBody>
      </p:sp>
      <p:sp>
        <p:nvSpPr>
          <p:cNvPr id="40" name="Text Box 92"/>
          <p:cNvSpPr txBox="1">
            <a:spLocks noChangeArrowheads="1"/>
          </p:cNvSpPr>
          <p:nvPr/>
        </p:nvSpPr>
        <p:spPr bwMode="auto">
          <a:xfrm>
            <a:off x="1929259" y="3717826"/>
            <a:ext cx="865188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FF66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hangingPunct="0"/>
            <a:r>
              <a:rPr lang="en-US" altLang="zh-CN" sz="1800" b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A1</a:t>
            </a:r>
          </a:p>
        </p:txBody>
      </p:sp>
      <p:sp>
        <p:nvSpPr>
          <p:cNvPr id="41" name="Text Box 93"/>
          <p:cNvSpPr txBox="1">
            <a:spLocks noChangeArrowheads="1"/>
          </p:cNvSpPr>
          <p:nvPr/>
        </p:nvSpPr>
        <p:spPr bwMode="auto">
          <a:xfrm>
            <a:off x="1929259" y="4076601"/>
            <a:ext cx="865188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FF66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hangingPunct="0"/>
            <a:r>
              <a:rPr lang="en-US" altLang="zh-CN" sz="1800" b="0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A2</a:t>
            </a:r>
          </a:p>
        </p:txBody>
      </p:sp>
      <p:sp>
        <p:nvSpPr>
          <p:cNvPr id="42" name="Rectangle 94"/>
          <p:cNvSpPr>
            <a:spLocks noChangeArrowheads="1"/>
          </p:cNvSpPr>
          <p:nvPr/>
        </p:nvSpPr>
        <p:spPr bwMode="auto">
          <a:xfrm>
            <a:off x="6609209" y="1484213"/>
            <a:ext cx="1152525" cy="2952750"/>
          </a:xfrm>
          <a:prstGeom prst="rect">
            <a:avLst/>
          </a:prstGeom>
          <a:solidFill>
            <a:srgbClr val="1D8DE5"/>
          </a:solidFill>
          <a:ln w="254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eaLnBrk="0" hangingPunct="0"/>
            <a:r>
              <a:rPr lang="zh-CN" altLang="en-US" sz="18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电平转换</a:t>
            </a:r>
          </a:p>
          <a:p>
            <a:pPr algn="ctr" eaLnBrk="0" hangingPunct="0"/>
            <a:r>
              <a:rPr lang="en-US" altLang="zh-CN" sz="18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8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驱动器</a:t>
            </a:r>
          </a:p>
          <a:p>
            <a:pPr algn="ctr" eaLnBrk="0" hangingPunct="0"/>
            <a:endParaRPr lang="zh-CN" altLang="en-US" sz="1800" b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0" hangingPunct="0"/>
            <a:r>
              <a:rPr lang="en-US" altLang="zh-CN" sz="18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1488</a:t>
            </a:r>
          </a:p>
          <a:p>
            <a:pPr algn="ctr" eaLnBrk="0" hangingPunct="0"/>
            <a:r>
              <a:rPr lang="en-US" altLang="zh-CN" sz="18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1489</a:t>
            </a:r>
          </a:p>
        </p:txBody>
      </p:sp>
      <p:sp>
        <p:nvSpPr>
          <p:cNvPr id="43" name="Line 95"/>
          <p:cNvSpPr>
            <a:spLocks noChangeShapeType="1"/>
          </p:cNvSpPr>
          <p:nvPr/>
        </p:nvSpPr>
        <p:spPr bwMode="auto">
          <a:xfrm flipH="1" flipV="1">
            <a:off x="5817047" y="2060476"/>
            <a:ext cx="792162" cy="0"/>
          </a:xfrm>
          <a:prstGeom prst="line">
            <a:avLst/>
          </a:prstGeom>
          <a:noFill/>
          <a:ln w="9525" cap="sq">
            <a:solidFill>
              <a:srgbClr val="00B853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Line 96"/>
          <p:cNvSpPr>
            <a:spLocks noChangeShapeType="1"/>
          </p:cNvSpPr>
          <p:nvPr/>
        </p:nvSpPr>
        <p:spPr bwMode="auto">
          <a:xfrm flipH="1" flipV="1">
            <a:off x="5817047" y="3141563"/>
            <a:ext cx="792162" cy="0"/>
          </a:xfrm>
          <a:prstGeom prst="line">
            <a:avLst/>
          </a:prstGeom>
          <a:noFill/>
          <a:ln w="9525" cap="sq">
            <a:solidFill>
              <a:srgbClr val="00B853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Line 97"/>
          <p:cNvSpPr>
            <a:spLocks noChangeShapeType="1"/>
          </p:cNvSpPr>
          <p:nvPr/>
        </p:nvSpPr>
        <p:spPr bwMode="auto">
          <a:xfrm>
            <a:off x="5817047" y="2420838"/>
            <a:ext cx="792162" cy="0"/>
          </a:xfrm>
          <a:prstGeom prst="line">
            <a:avLst/>
          </a:prstGeom>
          <a:noFill/>
          <a:ln w="9525" cap="sq">
            <a:solidFill>
              <a:srgbClr val="00B853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Line 98"/>
          <p:cNvSpPr>
            <a:spLocks noChangeShapeType="1"/>
          </p:cNvSpPr>
          <p:nvPr/>
        </p:nvSpPr>
        <p:spPr bwMode="auto">
          <a:xfrm flipH="1" flipV="1">
            <a:off x="5817047" y="3500338"/>
            <a:ext cx="792162" cy="0"/>
          </a:xfrm>
          <a:prstGeom prst="line">
            <a:avLst/>
          </a:prstGeom>
          <a:noFill/>
          <a:ln w="9525" cap="sq">
            <a:solidFill>
              <a:srgbClr val="00B853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Line 99"/>
          <p:cNvSpPr>
            <a:spLocks noChangeShapeType="1"/>
          </p:cNvSpPr>
          <p:nvPr/>
        </p:nvSpPr>
        <p:spPr bwMode="auto">
          <a:xfrm>
            <a:off x="5817047" y="2781201"/>
            <a:ext cx="792162" cy="0"/>
          </a:xfrm>
          <a:prstGeom prst="line">
            <a:avLst/>
          </a:prstGeom>
          <a:noFill/>
          <a:ln w="9525" cap="sq">
            <a:solidFill>
              <a:srgbClr val="00B853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Line 100"/>
          <p:cNvSpPr>
            <a:spLocks noChangeShapeType="1"/>
          </p:cNvSpPr>
          <p:nvPr/>
        </p:nvSpPr>
        <p:spPr bwMode="auto">
          <a:xfrm flipH="1" flipV="1">
            <a:off x="5817047" y="3860701"/>
            <a:ext cx="792162" cy="0"/>
          </a:xfrm>
          <a:prstGeom prst="line">
            <a:avLst/>
          </a:prstGeom>
          <a:noFill/>
          <a:ln w="9525" cap="sq">
            <a:solidFill>
              <a:srgbClr val="00B853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Line 101"/>
          <p:cNvSpPr>
            <a:spLocks noChangeShapeType="1"/>
          </p:cNvSpPr>
          <p:nvPr/>
        </p:nvSpPr>
        <p:spPr bwMode="auto">
          <a:xfrm flipH="1" flipV="1">
            <a:off x="5817047" y="4221063"/>
            <a:ext cx="792162" cy="0"/>
          </a:xfrm>
          <a:prstGeom prst="line">
            <a:avLst/>
          </a:prstGeom>
          <a:noFill/>
          <a:ln w="9525" cap="sq">
            <a:solidFill>
              <a:srgbClr val="00B853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Text Box 102"/>
          <p:cNvSpPr txBox="1">
            <a:spLocks noChangeArrowheads="1"/>
          </p:cNvSpPr>
          <p:nvPr/>
        </p:nvSpPr>
        <p:spPr bwMode="auto">
          <a:xfrm>
            <a:off x="7790904" y="2492648"/>
            <a:ext cx="741536" cy="433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FF66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ctr" eaLnBrk="0" hangingPunct="0"/>
            <a:r>
              <a:rPr lang="zh-CN" altLang="en-US" sz="1400" b="0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lang="en-US" altLang="zh-CN" sz="1400" b="0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RS232</a:t>
            </a:r>
            <a:r>
              <a:rPr lang="zh-CN" altLang="en-US" sz="1400" b="0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接口</a:t>
            </a:r>
          </a:p>
        </p:txBody>
      </p:sp>
      <p:sp>
        <p:nvSpPr>
          <p:cNvPr id="51" name="Text Box 103"/>
          <p:cNvSpPr txBox="1">
            <a:spLocks noChangeArrowheads="1"/>
          </p:cNvSpPr>
          <p:nvPr/>
        </p:nvSpPr>
        <p:spPr bwMode="auto">
          <a:xfrm>
            <a:off x="4591498" y="4581426"/>
            <a:ext cx="1154112" cy="1846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FF66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 eaLnBrk="0" hangingPunct="0">
              <a:spcBef>
                <a:spcPct val="50000"/>
              </a:spcBef>
            </a:pPr>
            <a:r>
              <a:rPr lang="en-US" altLang="zh-CN" sz="16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XTAL1</a:t>
            </a:r>
          </a:p>
          <a:p>
            <a:pPr algn="r" eaLnBrk="0" hangingPunct="0">
              <a:spcBef>
                <a:spcPct val="50000"/>
              </a:spcBef>
            </a:pPr>
            <a:endParaRPr lang="en-US" altLang="zh-CN" sz="1600" b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 eaLnBrk="0" hangingPunct="0">
              <a:spcBef>
                <a:spcPct val="50000"/>
              </a:spcBef>
            </a:pPr>
            <a:r>
              <a:rPr lang="en-US" altLang="zh-CN" sz="16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XTAL2</a:t>
            </a:r>
          </a:p>
          <a:p>
            <a:pPr algn="r" eaLnBrk="0" hangingPunct="0"/>
            <a:endParaRPr lang="en-US" altLang="zh-CN" sz="1600" b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 eaLnBrk="0" hangingPunct="0"/>
            <a:r>
              <a:rPr lang="en-US" altLang="zh-CN" sz="16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BAUDOUT*</a:t>
            </a:r>
          </a:p>
          <a:p>
            <a:pPr algn="r" eaLnBrk="0" hangingPunct="0">
              <a:spcBef>
                <a:spcPct val="50000"/>
              </a:spcBef>
            </a:pPr>
            <a:r>
              <a:rPr lang="en-US" altLang="zh-CN" sz="16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RCLK</a:t>
            </a:r>
          </a:p>
        </p:txBody>
      </p:sp>
      <p:sp>
        <p:nvSpPr>
          <p:cNvPr id="53" name="Line 105"/>
          <p:cNvSpPr>
            <a:spLocks noChangeShapeType="1"/>
          </p:cNvSpPr>
          <p:nvPr/>
        </p:nvSpPr>
        <p:spPr bwMode="auto">
          <a:xfrm>
            <a:off x="5817047" y="5876826"/>
            <a:ext cx="576262" cy="0"/>
          </a:xfrm>
          <a:prstGeom prst="line">
            <a:avLst/>
          </a:prstGeom>
          <a:noFill/>
          <a:ln w="9525" cap="sq">
            <a:solidFill>
              <a:srgbClr val="00B853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Line 106"/>
          <p:cNvSpPr>
            <a:spLocks noChangeShapeType="1"/>
          </p:cNvSpPr>
          <p:nvPr/>
        </p:nvSpPr>
        <p:spPr bwMode="auto">
          <a:xfrm>
            <a:off x="6393309" y="5876826"/>
            <a:ext cx="0" cy="431800"/>
          </a:xfrm>
          <a:prstGeom prst="line">
            <a:avLst/>
          </a:prstGeom>
          <a:noFill/>
          <a:ln w="9525" cap="sq">
            <a:solidFill>
              <a:srgbClr val="00B853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Line 107"/>
          <p:cNvSpPr>
            <a:spLocks noChangeShapeType="1"/>
          </p:cNvSpPr>
          <p:nvPr/>
        </p:nvSpPr>
        <p:spPr bwMode="auto">
          <a:xfrm flipH="1" flipV="1">
            <a:off x="5817047" y="6308626"/>
            <a:ext cx="576262" cy="0"/>
          </a:xfrm>
          <a:prstGeom prst="line">
            <a:avLst/>
          </a:prstGeom>
          <a:noFill/>
          <a:ln w="9525" cap="sq">
            <a:solidFill>
              <a:srgbClr val="00B853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Rectangle 108"/>
          <p:cNvSpPr>
            <a:spLocks noChangeArrowheads="1"/>
          </p:cNvSpPr>
          <p:nvPr/>
        </p:nvSpPr>
        <p:spPr bwMode="auto">
          <a:xfrm>
            <a:off x="6321872" y="5373588"/>
            <a:ext cx="431800" cy="144463"/>
          </a:xfrm>
          <a:prstGeom prst="rect">
            <a:avLst/>
          </a:prstGeom>
          <a:noFill/>
          <a:ln w="9525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57" name="Line 109"/>
          <p:cNvSpPr>
            <a:spLocks noChangeShapeType="1"/>
          </p:cNvSpPr>
          <p:nvPr/>
        </p:nvSpPr>
        <p:spPr bwMode="auto">
          <a:xfrm flipH="1">
            <a:off x="5817047" y="5445026"/>
            <a:ext cx="504825" cy="0"/>
          </a:xfrm>
          <a:prstGeom prst="line">
            <a:avLst/>
          </a:prstGeom>
          <a:noFill/>
          <a:ln w="9525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Line 110"/>
          <p:cNvSpPr>
            <a:spLocks noChangeShapeType="1"/>
          </p:cNvSpPr>
          <p:nvPr/>
        </p:nvSpPr>
        <p:spPr bwMode="auto">
          <a:xfrm flipH="1">
            <a:off x="5817047" y="4725888"/>
            <a:ext cx="1871662" cy="0"/>
          </a:xfrm>
          <a:prstGeom prst="line">
            <a:avLst/>
          </a:prstGeom>
          <a:noFill/>
          <a:ln w="9525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Line 111"/>
          <p:cNvSpPr>
            <a:spLocks noChangeShapeType="1"/>
          </p:cNvSpPr>
          <p:nvPr/>
        </p:nvSpPr>
        <p:spPr bwMode="auto">
          <a:xfrm flipH="1">
            <a:off x="6753672" y="5445026"/>
            <a:ext cx="935037" cy="0"/>
          </a:xfrm>
          <a:prstGeom prst="line">
            <a:avLst/>
          </a:prstGeom>
          <a:noFill/>
          <a:ln w="9525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Line 112"/>
          <p:cNvSpPr>
            <a:spLocks noChangeShapeType="1"/>
          </p:cNvSpPr>
          <p:nvPr/>
        </p:nvSpPr>
        <p:spPr bwMode="auto">
          <a:xfrm flipH="1" flipV="1">
            <a:off x="6969572" y="4725888"/>
            <a:ext cx="0" cy="142875"/>
          </a:xfrm>
          <a:prstGeom prst="line">
            <a:avLst/>
          </a:prstGeom>
          <a:noFill/>
          <a:ln w="9525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Rectangle 113"/>
          <p:cNvSpPr>
            <a:spLocks noChangeArrowheads="1"/>
          </p:cNvSpPr>
          <p:nvPr/>
        </p:nvSpPr>
        <p:spPr bwMode="auto">
          <a:xfrm rot="5400000">
            <a:off x="6752878" y="5012432"/>
            <a:ext cx="431800" cy="144462"/>
          </a:xfrm>
          <a:prstGeom prst="rect">
            <a:avLst/>
          </a:prstGeom>
          <a:noFill/>
          <a:ln w="9525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zh-CN" sz="1800" b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62" name="Line 114"/>
          <p:cNvSpPr>
            <a:spLocks noChangeShapeType="1"/>
          </p:cNvSpPr>
          <p:nvPr/>
        </p:nvSpPr>
        <p:spPr bwMode="auto">
          <a:xfrm flipH="1" flipV="1">
            <a:off x="6969572" y="5300563"/>
            <a:ext cx="0" cy="142875"/>
          </a:xfrm>
          <a:prstGeom prst="line">
            <a:avLst/>
          </a:prstGeom>
          <a:noFill/>
          <a:ln w="9525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Rectangle 115"/>
          <p:cNvSpPr>
            <a:spLocks noChangeArrowheads="1"/>
          </p:cNvSpPr>
          <p:nvPr/>
        </p:nvSpPr>
        <p:spPr bwMode="auto">
          <a:xfrm rot="5400000">
            <a:off x="7329140" y="4940995"/>
            <a:ext cx="142875" cy="287338"/>
          </a:xfrm>
          <a:prstGeom prst="rect">
            <a:avLst/>
          </a:prstGeom>
          <a:noFill/>
          <a:ln w="9525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zh-CN" sz="1800" b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64" name="Line 116"/>
          <p:cNvSpPr>
            <a:spLocks noChangeShapeType="1"/>
          </p:cNvSpPr>
          <p:nvPr/>
        </p:nvSpPr>
        <p:spPr bwMode="auto">
          <a:xfrm flipH="1">
            <a:off x="7256909" y="5229126"/>
            <a:ext cx="287338" cy="0"/>
          </a:xfrm>
          <a:prstGeom prst="line">
            <a:avLst/>
          </a:prstGeom>
          <a:noFill/>
          <a:ln w="9525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Line 117"/>
          <p:cNvSpPr>
            <a:spLocks noChangeShapeType="1"/>
          </p:cNvSpPr>
          <p:nvPr/>
        </p:nvSpPr>
        <p:spPr bwMode="auto">
          <a:xfrm flipH="1">
            <a:off x="7256909" y="4941788"/>
            <a:ext cx="287338" cy="0"/>
          </a:xfrm>
          <a:prstGeom prst="line">
            <a:avLst/>
          </a:prstGeom>
          <a:noFill/>
          <a:ln w="9525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Line 118"/>
          <p:cNvSpPr>
            <a:spLocks noChangeShapeType="1"/>
          </p:cNvSpPr>
          <p:nvPr/>
        </p:nvSpPr>
        <p:spPr bwMode="auto">
          <a:xfrm flipH="1" flipV="1">
            <a:off x="7399784" y="5229126"/>
            <a:ext cx="0" cy="215900"/>
          </a:xfrm>
          <a:prstGeom prst="line">
            <a:avLst/>
          </a:prstGeom>
          <a:noFill/>
          <a:ln w="9525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Line 119"/>
          <p:cNvSpPr>
            <a:spLocks noChangeShapeType="1"/>
          </p:cNvSpPr>
          <p:nvPr/>
        </p:nvSpPr>
        <p:spPr bwMode="auto">
          <a:xfrm flipH="1" flipV="1">
            <a:off x="7399784" y="4725888"/>
            <a:ext cx="0" cy="215900"/>
          </a:xfrm>
          <a:prstGeom prst="line">
            <a:avLst/>
          </a:prstGeom>
          <a:noFill/>
          <a:ln w="9525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Line 120"/>
          <p:cNvSpPr>
            <a:spLocks noChangeShapeType="1"/>
          </p:cNvSpPr>
          <p:nvPr/>
        </p:nvSpPr>
        <p:spPr bwMode="auto">
          <a:xfrm flipH="1" flipV="1">
            <a:off x="7688709" y="4581426"/>
            <a:ext cx="0" cy="287337"/>
          </a:xfrm>
          <a:prstGeom prst="line">
            <a:avLst/>
          </a:prstGeom>
          <a:noFill/>
          <a:ln w="9525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Line 121"/>
          <p:cNvSpPr>
            <a:spLocks noChangeShapeType="1"/>
          </p:cNvSpPr>
          <p:nvPr/>
        </p:nvSpPr>
        <p:spPr bwMode="auto">
          <a:xfrm flipH="1" flipV="1">
            <a:off x="7761734" y="4581426"/>
            <a:ext cx="0" cy="287337"/>
          </a:xfrm>
          <a:prstGeom prst="line">
            <a:avLst/>
          </a:prstGeom>
          <a:noFill/>
          <a:ln w="9525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Line 122"/>
          <p:cNvSpPr>
            <a:spLocks noChangeShapeType="1"/>
          </p:cNvSpPr>
          <p:nvPr/>
        </p:nvSpPr>
        <p:spPr bwMode="auto">
          <a:xfrm flipH="1" flipV="1">
            <a:off x="7688709" y="5302151"/>
            <a:ext cx="0" cy="287337"/>
          </a:xfrm>
          <a:prstGeom prst="line">
            <a:avLst/>
          </a:prstGeom>
          <a:noFill/>
          <a:ln w="9525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Line 123"/>
          <p:cNvSpPr>
            <a:spLocks noChangeShapeType="1"/>
          </p:cNvSpPr>
          <p:nvPr/>
        </p:nvSpPr>
        <p:spPr bwMode="auto">
          <a:xfrm flipH="1" flipV="1">
            <a:off x="7761734" y="5302151"/>
            <a:ext cx="0" cy="287337"/>
          </a:xfrm>
          <a:prstGeom prst="line">
            <a:avLst/>
          </a:prstGeom>
          <a:noFill/>
          <a:ln w="9525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Line 124"/>
          <p:cNvSpPr>
            <a:spLocks noChangeShapeType="1"/>
          </p:cNvSpPr>
          <p:nvPr/>
        </p:nvSpPr>
        <p:spPr bwMode="auto">
          <a:xfrm flipH="1">
            <a:off x="7761734" y="4725888"/>
            <a:ext cx="287338" cy="0"/>
          </a:xfrm>
          <a:prstGeom prst="line">
            <a:avLst/>
          </a:prstGeom>
          <a:noFill/>
          <a:ln w="9525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Line 125"/>
          <p:cNvSpPr>
            <a:spLocks noChangeShapeType="1"/>
          </p:cNvSpPr>
          <p:nvPr/>
        </p:nvSpPr>
        <p:spPr bwMode="auto">
          <a:xfrm flipH="1">
            <a:off x="7761734" y="5445026"/>
            <a:ext cx="287338" cy="0"/>
          </a:xfrm>
          <a:prstGeom prst="line">
            <a:avLst/>
          </a:prstGeom>
          <a:noFill/>
          <a:ln w="9525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Line 126"/>
          <p:cNvSpPr>
            <a:spLocks noChangeShapeType="1"/>
          </p:cNvSpPr>
          <p:nvPr/>
        </p:nvSpPr>
        <p:spPr bwMode="auto">
          <a:xfrm flipH="1" flipV="1">
            <a:off x="8049072" y="4725888"/>
            <a:ext cx="0" cy="1008063"/>
          </a:xfrm>
          <a:prstGeom prst="line">
            <a:avLst/>
          </a:prstGeom>
          <a:noFill/>
          <a:ln w="9525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Line 127"/>
          <p:cNvSpPr>
            <a:spLocks noChangeShapeType="1"/>
          </p:cNvSpPr>
          <p:nvPr/>
        </p:nvSpPr>
        <p:spPr bwMode="auto">
          <a:xfrm flipH="1">
            <a:off x="7904609" y="5733951"/>
            <a:ext cx="287338" cy="0"/>
          </a:xfrm>
          <a:prstGeom prst="line">
            <a:avLst/>
          </a:prstGeom>
          <a:noFill/>
          <a:ln w="381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AutoShape 128"/>
          <p:cNvSpPr>
            <a:spLocks noChangeArrowheads="1"/>
          </p:cNvSpPr>
          <p:nvPr/>
        </p:nvSpPr>
        <p:spPr bwMode="auto">
          <a:xfrm>
            <a:off x="7761734" y="2925663"/>
            <a:ext cx="842714" cy="431800"/>
          </a:xfrm>
          <a:prstGeom prst="rightArrow">
            <a:avLst>
              <a:gd name="adj1" fmla="val 50000"/>
              <a:gd name="adj2" fmla="val 75000"/>
            </a:avLst>
          </a:prstGeom>
          <a:solidFill>
            <a:srgbClr val="00B853"/>
          </a:solidFill>
          <a:ln w="9525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Text Box 129"/>
          <p:cNvSpPr txBox="1">
            <a:spLocks noChangeArrowheads="1"/>
          </p:cNvSpPr>
          <p:nvPr/>
        </p:nvSpPr>
        <p:spPr bwMode="auto">
          <a:xfrm>
            <a:off x="5024884" y="1557238"/>
            <a:ext cx="720725" cy="2811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FF66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r" eaLnBrk="0" hangingPunct="0">
              <a:spcBef>
                <a:spcPct val="50000"/>
              </a:spcBef>
            </a:pPr>
            <a:r>
              <a:rPr lang="en-US" altLang="zh-CN" sz="16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SOUT</a:t>
            </a:r>
          </a:p>
          <a:p>
            <a:pPr algn="r" eaLnBrk="0" hangingPunct="0">
              <a:spcBef>
                <a:spcPct val="50000"/>
              </a:spcBef>
            </a:pPr>
            <a:r>
              <a:rPr lang="en-US" altLang="zh-CN" sz="16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SIN</a:t>
            </a:r>
          </a:p>
          <a:p>
            <a:pPr algn="r" eaLnBrk="0" hangingPunct="0">
              <a:spcBef>
                <a:spcPct val="50000"/>
              </a:spcBef>
            </a:pPr>
            <a:r>
              <a:rPr lang="en-US" altLang="zh-CN" sz="16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RTS</a:t>
            </a:r>
            <a:r>
              <a:rPr lang="zh-CN" altLang="en-US" sz="16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endParaRPr lang="en-US" altLang="zh-CN" sz="1600" b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 eaLnBrk="0" hangingPunct="0">
              <a:spcBef>
                <a:spcPct val="50000"/>
              </a:spcBef>
            </a:pPr>
            <a:r>
              <a:rPr lang="en-US" altLang="zh-CN" sz="16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DTR</a:t>
            </a:r>
            <a:r>
              <a:rPr lang="zh-CN" altLang="en-US" sz="16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endParaRPr lang="en-US" altLang="zh-CN" sz="1600" b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 eaLnBrk="0" hangingPunct="0">
              <a:spcBef>
                <a:spcPct val="50000"/>
              </a:spcBef>
            </a:pPr>
            <a:r>
              <a:rPr lang="en-US" altLang="zh-CN" sz="16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DSR*</a:t>
            </a:r>
          </a:p>
          <a:p>
            <a:pPr algn="r" eaLnBrk="0" hangingPunct="0">
              <a:spcBef>
                <a:spcPct val="50000"/>
              </a:spcBef>
            </a:pPr>
            <a:r>
              <a:rPr lang="en-US" altLang="zh-CN" sz="16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DCD*</a:t>
            </a:r>
          </a:p>
          <a:p>
            <a:pPr algn="r" eaLnBrk="0" hangingPunct="0">
              <a:spcBef>
                <a:spcPct val="50000"/>
              </a:spcBef>
            </a:pPr>
            <a:r>
              <a:rPr lang="en-US" altLang="zh-CN" sz="16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CTS*</a:t>
            </a:r>
          </a:p>
          <a:p>
            <a:pPr algn="r" eaLnBrk="0" hangingPunct="0">
              <a:spcBef>
                <a:spcPct val="50000"/>
              </a:spcBef>
            </a:pPr>
            <a:r>
              <a:rPr lang="en-US" altLang="zh-CN" sz="16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RI*</a:t>
            </a:r>
          </a:p>
        </p:txBody>
      </p:sp>
      <p:sp>
        <p:nvSpPr>
          <p:cNvPr id="84" name="Text Box 136"/>
          <p:cNvSpPr txBox="1">
            <a:spLocks noChangeArrowheads="1"/>
          </p:cNvSpPr>
          <p:nvPr/>
        </p:nvSpPr>
        <p:spPr bwMode="auto">
          <a:xfrm>
            <a:off x="4521647" y="2996927"/>
            <a:ext cx="381000" cy="180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FF66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/>
            <a:r>
              <a:rPr lang="en-US" altLang="zh-CN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8250</a:t>
            </a:r>
          </a:p>
        </p:txBody>
      </p:sp>
      <p:sp>
        <p:nvSpPr>
          <p:cNvPr id="85" name="Text Box 137"/>
          <p:cNvSpPr txBox="1">
            <a:spLocks noChangeArrowheads="1"/>
          </p:cNvSpPr>
          <p:nvPr/>
        </p:nvSpPr>
        <p:spPr bwMode="auto">
          <a:xfrm>
            <a:off x="7094984" y="5575201"/>
            <a:ext cx="609600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FF66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hangingPunct="0"/>
            <a:r>
              <a:rPr lang="en-US" altLang="zh-CN" sz="1400" b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XTAL</a:t>
            </a:r>
          </a:p>
        </p:txBody>
      </p:sp>
      <p:cxnSp>
        <p:nvCxnSpPr>
          <p:cNvPr id="86" name="直接连接符 85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87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8250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与</a:t>
            </a: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PC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总线的连接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88" name="直接连接符 87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grpSp>
        <p:nvGrpSpPr>
          <p:cNvPr id="27" name="组合 26"/>
          <p:cNvGrpSpPr/>
          <p:nvPr/>
        </p:nvGrpSpPr>
        <p:grpSpPr>
          <a:xfrm>
            <a:off x="2680892" y="2647652"/>
            <a:ext cx="378940" cy="407026"/>
            <a:chOff x="8163919" y="920450"/>
            <a:chExt cx="378940" cy="407026"/>
          </a:xfrm>
        </p:grpSpPr>
        <p:sp>
          <p:nvSpPr>
            <p:cNvPr id="2" name="等腰三角形 1"/>
            <p:cNvSpPr/>
            <p:nvPr/>
          </p:nvSpPr>
          <p:spPr>
            <a:xfrm rot="16200000">
              <a:off x="8149876" y="934493"/>
              <a:ext cx="407026" cy="378940"/>
            </a:xfrm>
            <a:prstGeom prst="triangle">
              <a:avLst/>
            </a:prstGeom>
            <a:solidFill>
              <a:srgbClr val="00B85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椭圆 2"/>
            <p:cNvSpPr/>
            <p:nvPr/>
          </p:nvSpPr>
          <p:spPr>
            <a:xfrm>
              <a:off x="8320033" y="1236005"/>
              <a:ext cx="66711" cy="6536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00B85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24" name="直接连接符 23"/>
          <p:cNvCxnSpPr>
            <a:stCxn id="3" idx="4"/>
          </p:cNvCxnSpPr>
          <p:nvPr/>
        </p:nvCxnSpPr>
        <p:spPr>
          <a:xfrm flipH="1">
            <a:off x="2870361" y="3028567"/>
            <a:ext cx="1" cy="1828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2864297" y="3211415"/>
            <a:ext cx="6477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/>
          <p:cNvCxnSpPr/>
          <p:nvPr/>
        </p:nvCxnSpPr>
        <p:spPr>
          <a:xfrm>
            <a:off x="2627784" y="3211415"/>
            <a:ext cx="23651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ctangle 108"/>
          <p:cNvSpPr>
            <a:spLocks noChangeArrowheads="1"/>
          </p:cNvSpPr>
          <p:nvPr/>
        </p:nvSpPr>
        <p:spPr bwMode="auto">
          <a:xfrm>
            <a:off x="2371354" y="3133625"/>
            <a:ext cx="256384" cy="144463"/>
          </a:xfrm>
          <a:prstGeom prst="rect">
            <a:avLst/>
          </a:prstGeom>
          <a:noFill/>
          <a:ln w="9525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89" name="Text Box 81"/>
          <p:cNvSpPr txBox="1">
            <a:spLocks noChangeArrowheads="1"/>
          </p:cNvSpPr>
          <p:nvPr/>
        </p:nvSpPr>
        <p:spPr bwMode="auto">
          <a:xfrm>
            <a:off x="1611085" y="3050979"/>
            <a:ext cx="504825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FF66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 eaLnBrk="0" hangingPunct="0"/>
            <a:r>
              <a:rPr lang="en-US" altLang="zh-CN" sz="1800" b="0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+5V</a:t>
            </a:r>
          </a:p>
        </p:txBody>
      </p:sp>
      <p:cxnSp>
        <p:nvCxnSpPr>
          <p:cNvPr id="90" name="直接连接符 89"/>
          <p:cNvCxnSpPr/>
          <p:nvPr/>
        </p:nvCxnSpPr>
        <p:spPr>
          <a:xfrm>
            <a:off x="2134841" y="3212976"/>
            <a:ext cx="23651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46300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/>
          <p:cNvSpPr/>
          <p:nvPr/>
        </p:nvSpPr>
        <p:spPr>
          <a:xfrm>
            <a:off x="8461631" y="6348095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15"/>
          <p:cNvSpPr txBox="1"/>
          <p:nvPr/>
        </p:nvSpPr>
        <p:spPr>
          <a:xfrm>
            <a:off x="8316416" y="6358818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pPr algn="ctr"/>
              <a:t>34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2" name="TextBox 15"/>
          <p:cNvSpPr txBox="1">
            <a:spLocks noChangeArrowheads="1"/>
          </p:cNvSpPr>
          <p:nvPr/>
        </p:nvSpPr>
        <p:spPr bwMode="auto">
          <a:xfrm>
            <a:off x="3552812" y="3741684"/>
            <a:ext cx="2109812" cy="1253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7730" tIns="33865" rIns="67730" bIns="33865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 indent="-342900"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外部结构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indent="-342900"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编程结构</a:t>
            </a:r>
            <a:endParaRPr lang="en-US" altLang="zh-CN" sz="2400" b="1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1404144" y="1772816"/>
            <a:ext cx="6264275" cy="1587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cxnSp>
        <p:nvCxnSpPr>
          <p:cNvPr id="15" name="直接连接符 14"/>
          <p:cNvCxnSpPr/>
          <p:nvPr/>
        </p:nvCxnSpPr>
        <p:spPr>
          <a:xfrm>
            <a:off x="1475582" y="3501603"/>
            <a:ext cx="6264275" cy="1588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sp>
        <p:nvSpPr>
          <p:cNvPr id="16" name="TextBox 10"/>
          <p:cNvSpPr txBox="1">
            <a:spLocks noChangeArrowheads="1"/>
          </p:cNvSpPr>
          <p:nvPr/>
        </p:nvSpPr>
        <p:spPr bwMode="auto">
          <a:xfrm>
            <a:off x="934711" y="2012896"/>
            <a:ext cx="7346015" cy="1250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14000"/>
              </a:lnSpc>
            </a:pPr>
            <a:r>
              <a:rPr lang="en-US" altLang="zh-CN" sz="66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8250</a:t>
            </a:r>
            <a:r>
              <a:rPr lang="zh-CN" altLang="en-US" sz="66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串行通信芯片</a:t>
            </a:r>
            <a:endParaRPr lang="zh-CN" altLang="en-US" sz="80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75526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左右箭头 1"/>
          <p:cNvSpPr/>
          <p:nvPr/>
        </p:nvSpPr>
        <p:spPr>
          <a:xfrm>
            <a:off x="683568" y="1664445"/>
            <a:ext cx="720080" cy="288032"/>
          </a:xfrm>
          <a:prstGeom prst="leftRightArrow">
            <a:avLst/>
          </a:prstGeom>
          <a:solidFill>
            <a:srgbClr val="4F81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403648" y="728341"/>
            <a:ext cx="504056" cy="2016224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数据总线缓冲器</a:t>
            </a:r>
          </a:p>
        </p:txBody>
      </p:sp>
      <p:sp>
        <p:nvSpPr>
          <p:cNvPr id="4" name="矩形 3"/>
          <p:cNvSpPr/>
          <p:nvPr/>
        </p:nvSpPr>
        <p:spPr>
          <a:xfrm>
            <a:off x="1417926" y="3104605"/>
            <a:ext cx="504056" cy="3312368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读写控制逻辑</a:t>
            </a:r>
          </a:p>
        </p:txBody>
      </p:sp>
      <p:sp>
        <p:nvSpPr>
          <p:cNvPr id="5" name="矩形 4"/>
          <p:cNvSpPr/>
          <p:nvPr/>
        </p:nvSpPr>
        <p:spPr>
          <a:xfrm>
            <a:off x="2483768" y="656333"/>
            <a:ext cx="144016" cy="59046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左右箭头 5"/>
          <p:cNvSpPr/>
          <p:nvPr/>
        </p:nvSpPr>
        <p:spPr>
          <a:xfrm>
            <a:off x="1907704" y="1664445"/>
            <a:ext cx="576064" cy="288032"/>
          </a:xfrm>
          <a:prstGeom prst="leftRightArrow">
            <a:avLst/>
          </a:prstGeom>
          <a:solidFill>
            <a:srgbClr val="4F81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" name="直接箭头连接符 6"/>
          <p:cNvCxnSpPr/>
          <p:nvPr/>
        </p:nvCxnSpPr>
        <p:spPr>
          <a:xfrm flipH="1">
            <a:off x="971600" y="3320629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 flipH="1">
            <a:off x="971600" y="3577298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 flipH="1">
            <a:off x="971600" y="3833967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 flipH="1">
            <a:off x="971600" y="4090636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 flipH="1">
            <a:off x="971600" y="4603974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 flipH="1">
            <a:off x="971600" y="4347305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 flipH="1">
            <a:off x="971600" y="5117312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 flipH="1">
            <a:off x="971600" y="4860643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 flipH="1">
            <a:off x="985878" y="5373981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 flipH="1">
            <a:off x="985878" y="5630650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 Box 95"/>
          <p:cNvSpPr txBox="1">
            <a:spLocks noChangeArrowheads="1"/>
          </p:cNvSpPr>
          <p:nvPr/>
        </p:nvSpPr>
        <p:spPr bwMode="auto">
          <a:xfrm>
            <a:off x="164703" y="3128095"/>
            <a:ext cx="95091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CS0</a:t>
            </a:r>
          </a:p>
        </p:txBody>
      </p:sp>
      <p:sp>
        <p:nvSpPr>
          <p:cNvPr id="34" name="Text Box 95"/>
          <p:cNvSpPr txBox="1">
            <a:spLocks noChangeArrowheads="1"/>
          </p:cNvSpPr>
          <p:nvPr/>
        </p:nvSpPr>
        <p:spPr bwMode="auto">
          <a:xfrm>
            <a:off x="164703" y="3392124"/>
            <a:ext cx="95091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CS1</a:t>
            </a:r>
          </a:p>
        </p:txBody>
      </p:sp>
      <p:sp>
        <p:nvSpPr>
          <p:cNvPr id="35" name="Text Box 95"/>
          <p:cNvSpPr txBox="1">
            <a:spLocks noChangeArrowheads="1"/>
          </p:cNvSpPr>
          <p:nvPr/>
        </p:nvSpPr>
        <p:spPr bwMode="auto">
          <a:xfrm>
            <a:off x="164703" y="3656153"/>
            <a:ext cx="95091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CS2*</a:t>
            </a:r>
          </a:p>
        </p:txBody>
      </p:sp>
      <p:sp>
        <p:nvSpPr>
          <p:cNvPr id="36" name="Text Box 95"/>
          <p:cNvSpPr txBox="1">
            <a:spLocks noChangeArrowheads="1"/>
          </p:cNvSpPr>
          <p:nvPr/>
        </p:nvSpPr>
        <p:spPr bwMode="auto">
          <a:xfrm>
            <a:off x="164703" y="3920182"/>
            <a:ext cx="95091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A2</a:t>
            </a:r>
          </a:p>
        </p:txBody>
      </p:sp>
      <p:sp>
        <p:nvSpPr>
          <p:cNvPr id="37" name="Text Box 95"/>
          <p:cNvSpPr txBox="1">
            <a:spLocks noChangeArrowheads="1"/>
          </p:cNvSpPr>
          <p:nvPr/>
        </p:nvSpPr>
        <p:spPr bwMode="auto">
          <a:xfrm>
            <a:off x="164703" y="4184211"/>
            <a:ext cx="95091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A1</a:t>
            </a:r>
          </a:p>
        </p:txBody>
      </p:sp>
      <p:sp>
        <p:nvSpPr>
          <p:cNvPr id="38" name="Text Box 95"/>
          <p:cNvSpPr txBox="1">
            <a:spLocks noChangeArrowheads="1"/>
          </p:cNvSpPr>
          <p:nvPr/>
        </p:nvSpPr>
        <p:spPr bwMode="auto">
          <a:xfrm>
            <a:off x="164703" y="4448240"/>
            <a:ext cx="95091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A0</a:t>
            </a:r>
          </a:p>
        </p:txBody>
      </p:sp>
      <p:sp>
        <p:nvSpPr>
          <p:cNvPr id="39" name="Text Box 95"/>
          <p:cNvSpPr txBox="1">
            <a:spLocks noChangeArrowheads="1"/>
          </p:cNvSpPr>
          <p:nvPr/>
        </p:nvSpPr>
        <p:spPr bwMode="auto">
          <a:xfrm>
            <a:off x="164703" y="4712269"/>
            <a:ext cx="95091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ADS*</a:t>
            </a:r>
          </a:p>
        </p:txBody>
      </p:sp>
      <p:sp>
        <p:nvSpPr>
          <p:cNvPr id="40" name="Text Box 95"/>
          <p:cNvSpPr txBox="1">
            <a:spLocks noChangeArrowheads="1"/>
          </p:cNvSpPr>
          <p:nvPr/>
        </p:nvSpPr>
        <p:spPr bwMode="auto">
          <a:xfrm>
            <a:off x="164703" y="4976298"/>
            <a:ext cx="95091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DISTR</a:t>
            </a:r>
          </a:p>
        </p:txBody>
      </p:sp>
      <p:sp>
        <p:nvSpPr>
          <p:cNvPr id="41" name="Text Box 95"/>
          <p:cNvSpPr txBox="1">
            <a:spLocks noChangeArrowheads="1"/>
          </p:cNvSpPr>
          <p:nvPr/>
        </p:nvSpPr>
        <p:spPr bwMode="auto">
          <a:xfrm>
            <a:off x="164703" y="5240327"/>
            <a:ext cx="95091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DISTR*</a:t>
            </a:r>
          </a:p>
        </p:txBody>
      </p:sp>
      <p:sp>
        <p:nvSpPr>
          <p:cNvPr id="42" name="Text Box 95"/>
          <p:cNvSpPr txBox="1">
            <a:spLocks noChangeArrowheads="1"/>
          </p:cNvSpPr>
          <p:nvPr/>
        </p:nvSpPr>
        <p:spPr bwMode="auto">
          <a:xfrm>
            <a:off x="164703" y="5504359"/>
            <a:ext cx="95091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DOSTR</a:t>
            </a:r>
          </a:p>
        </p:txBody>
      </p:sp>
      <p:cxnSp>
        <p:nvCxnSpPr>
          <p:cNvPr id="43" name="直接箭头连接符 42"/>
          <p:cNvCxnSpPr/>
          <p:nvPr/>
        </p:nvCxnSpPr>
        <p:spPr>
          <a:xfrm flipH="1">
            <a:off x="985878" y="5887318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 Box 95"/>
          <p:cNvSpPr txBox="1">
            <a:spLocks noChangeArrowheads="1"/>
          </p:cNvSpPr>
          <p:nvPr/>
        </p:nvSpPr>
        <p:spPr bwMode="auto">
          <a:xfrm>
            <a:off x="58664" y="5715862"/>
            <a:ext cx="105695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DOSTR*</a:t>
            </a:r>
          </a:p>
        </p:txBody>
      </p:sp>
      <p:cxnSp>
        <p:nvCxnSpPr>
          <p:cNvPr id="45" name="直接箭头连接符 44"/>
          <p:cNvCxnSpPr/>
          <p:nvPr/>
        </p:nvCxnSpPr>
        <p:spPr>
          <a:xfrm flipH="1">
            <a:off x="985878" y="6165225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Box 95"/>
          <p:cNvSpPr txBox="1">
            <a:spLocks noChangeArrowheads="1"/>
          </p:cNvSpPr>
          <p:nvPr/>
        </p:nvSpPr>
        <p:spPr bwMode="auto">
          <a:xfrm>
            <a:off x="164703" y="5994771"/>
            <a:ext cx="95091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DDIS</a:t>
            </a:r>
          </a:p>
        </p:txBody>
      </p:sp>
      <p:sp>
        <p:nvSpPr>
          <p:cNvPr id="47" name="矩形 46"/>
          <p:cNvSpPr/>
          <p:nvPr/>
        </p:nvSpPr>
        <p:spPr>
          <a:xfrm>
            <a:off x="3131840" y="712617"/>
            <a:ext cx="2318534" cy="43204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数据接收寄存器</a:t>
            </a:r>
          </a:p>
        </p:txBody>
      </p:sp>
      <p:sp>
        <p:nvSpPr>
          <p:cNvPr id="48" name="矩形 47"/>
          <p:cNvSpPr/>
          <p:nvPr/>
        </p:nvSpPr>
        <p:spPr>
          <a:xfrm>
            <a:off x="3131840" y="1160389"/>
            <a:ext cx="2318534" cy="43204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数据发送寄存器</a:t>
            </a:r>
          </a:p>
        </p:txBody>
      </p:sp>
      <p:sp>
        <p:nvSpPr>
          <p:cNvPr id="57" name="矩形 56"/>
          <p:cNvSpPr/>
          <p:nvPr/>
        </p:nvSpPr>
        <p:spPr>
          <a:xfrm>
            <a:off x="3149687" y="1850279"/>
            <a:ext cx="2318534" cy="432048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线路控制寄存器</a:t>
            </a:r>
          </a:p>
        </p:txBody>
      </p:sp>
      <p:sp>
        <p:nvSpPr>
          <p:cNvPr id="58" name="矩形 57"/>
          <p:cNvSpPr/>
          <p:nvPr/>
        </p:nvSpPr>
        <p:spPr>
          <a:xfrm>
            <a:off x="3149687" y="2298051"/>
            <a:ext cx="2318534" cy="432048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线路状态寄存器</a:t>
            </a:r>
          </a:p>
        </p:txBody>
      </p:sp>
      <p:sp>
        <p:nvSpPr>
          <p:cNvPr id="59" name="矩形 58"/>
          <p:cNvSpPr/>
          <p:nvPr/>
        </p:nvSpPr>
        <p:spPr>
          <a:xfrm>
            <a:off x="3151692" y="3032597"/>
            <a:ext cx="2318534" cy="432048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除数寄存器高位</a:t>
            </a:r>
          </a:p>
        </p:txBody>
      </p:sp>
      <p:sp>
        <p:nvSpPr>
          <p:cNvPr id="60" name="矩形 59"/>
          <p:cNvSpPr/>
          <p:nvPr/>
        </p:nvSpPr>
        <p:spPr>
          <a:xfrm>
            <a:off x="3151692" y="3480369"/>
            <a:ext cx="2318534" cy="432048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除数寄存器低位</a:t>
            </a:r>
          </a:p>
        </p:txBody>
      </p:sp>
      <p:sp>
        <p:nvSpPr>
          <p:cNvPr id="61" name="矩形 60"/>
          <p:cNvSpPr/>
          <p:nvPr/>
        </p:nvSpPr>
        <p:spPr>
          <a:xfrm>
            <a:off x="3149687" y="4184725"/>
            <a:ext cx="2318534" cy="43204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MODEM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控制寄存器</a:t>
            </a:r>
          </a:p>
        </p:txBody>
      </p:sp>
      <p:sp>
        <p:nvSpPr>
          <p:cNvPr id="62" name="矩形 61"/>
          <p:cNvSpPr/>
          <p:nvPr/>
        </p:nvSpPr>
        <p:spPr>
          <a:xfrm>
            <a:off x="3149687" y="4627209"/>
            <a:ext cx="2318534" cy="43204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MODEM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状态寄存器</a:t>
            </a:r>
          </a:p>
        </p:txBody>
      </p:sp>
      <p:sp>
        <p:nvSpPr>
          <p:cNvPr id="63" name="矩形 62"/>
          <p:cNvSpPr/>
          <p:nvPr/>
        </p:nvSpPr>
        <p:spPr>
          <a:xfrm>
            <a:off x="3131840" y="5336853"/>
            <a:ext cx="2318534" cy="432048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中断允许寄存器</a:t>
            </a:r>
          </a:p>
        </p:txBody>
      </p:sp>
      <p:sp>
        <p:nvSpPr>
          <p:cNvPr id="64" name="矩形 63"/>
          <p:cNvSpPr/>
          <p:nvPr/>
        </p:nvSpPr>
        <p:spPr>
          <a:xfrm>
            <a:off x="3131840" y="5781233"/>
            <a:ext cx="2318534" cy="432048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中断识别寄存器</a:t>
            </a:r>
          </a:p>
        </p:txBody>
      </p:sp>
      <p:sp>
        <p:nvSpPr>
          <p:cNvPr id="65" name="矩形 64"/>
          <p:cNvSpPr/>
          <p:nvPr/>
        </p:nvSpPr>
        <p:spPr>
          <a:xfrm>
            <a:off x="5925874" y="712617"/>
            <a:ext cx="2174518" cy="43204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数据接收寄存器</a:t>
            </a:r>
          </a:p>
        </p:txBody>
      </p:sp>
      <p:sp>
        <p:nvSpPr>
          <p:cNvPr id="66" name="矩形 65"/>
          <p:cNvSpPr/>
          <p:nvPr/>
        </p:nvSpPr>
        <p:spPr>
          <a:xfrm>
            <a:off x="5925874" y="1160389"/>
            <a:ext cx="2174518" cy="43204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数据发送寄存器</a:t>
            </a:r>
          </a:p>
        </p:txBody>
      </p:sp>
      <p:sp>
        <p:nvSpPr>
          <p:cNvPr id="69" name="矩形 68"/>
          <p:cNvSpPr/>
          <p:nvPr/>
        </p:nvSpPr>
        <p:spPr>
          <a:xfrm>
            <a:off x="5925874" y="3224105"/>
            <a:ext cx="2174518" cy="432048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波特率发生器</a:t>
            </a:r>
          </a:p>
        </p:txBody>
      </p:sp>
      <p:sp>
        <p:nvSpPr>
          <p:cNvPr id="70" name="矩形 69"/>
          <p:cNvSpPr/>
          <p:nvPr/>
        </p:nvSpPr>
        <p:spPr>
          <a:xfrm>
            <a:off x="5925874" y="3798615"/>
            <a:ext cx="2174518" cy="1538238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控制逻辑</a:t>
            </a:r>
          </a:p>
        </p:txBody>
      </p:sp>
      <p:sp>
        <p:nvSpPr>
          <p:cNvPr id="71" name="矩形 70"/>
          <p:cNvSpPr/>
          <p:nvPr/>
        </p:nvSpPr>
        <p:spPr>
          <a:xfrm>
            <a:off x="5925874" y="5552877"/>
            <a:ext cx="2174518" cy="432048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控制逻辑</a:t>
            </a:r>
          </a:p>
        </p:txBody>
      </p:sp>
      <p:sp>
        <p:nvSpPr>
          <p:cNvPr id="72" name="Text Box 115"/>
          <p:cNvSpPr txBox="1">
            <a:spLocks noChangeArrowheads="1"/>
          </p:cNvSpPr>
          <p:nvPr/>
        </p:nvSpPr>
        <p:spPr bwMode="auto">
          <a:xfrm>
            <a:off x="8157591" y="1183879"/>
            <a:ext cx="95091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SOUT</a:t>
            </a:r>
          </a:p>
        </p:txBody>
      </p:sp>
      <p:sp>
        <p:nvSpPr>
          <p:cNvPr id="73" name="Text Box 116"/>
          <p:cNvSpPr txBox="1">
            <a:spLocks noChangeArrowheads="1"/>
          </p:cNvSpPr>
          <p:nvPr/>
        </p:nvSpPr>
        <p:spPr bwMode="auto">
          <a:xfrm>
            <a:off x="8157591" y="751831"/>
            <a:ext cx="95091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SIN</a:t>
            </a:r>
          </a:p>
        </p:txBody>
      </p:sp>
      <p:sp>
        <p:nvSpPr>
          <p:cNvPr id="74" name="Text Box 117"/>
          <p:cNvSpPr txBox="1">
            <a:spLocks noChangeArrowheads="1"/>
          </p:cNvSpPr>
          <p:nvPr/>
        </p:nvSpPr>
        <p:spPr bwMode="auto">
          <a:xfrm>
            <a:off x="6844679" y="2624039"/>
            <a:ext cx="125571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XTAL2</a:t>
            </a:r>
          </a:p>
        </p:txBody>
      </p:sp>
      <p:sp>
        <p:nvSpPr>
          <p:cNvPr id="75" name="Text Box 118"/>
          <p:cNvSpPr txBox="1">
            <a:spLocks noChangeArrowheads="1"/>
          </p:cNvSpPr>
          <p:nvPr/>
        </p:nvSpPr>
        <p:spPr bwMode="auto">
          <a:xfrm>
            <a:off x="6254129" y="2624039"/>
            <a:ext cx="95091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XTAL1</a:t>
            </a:r>
          </a:p>
        </p:txBody>
      </p:sp>
      <p:sp>
        <p:nvSpPr>
          <p:cNvPr id="76" name="Text Box 119"/>
          <p:cNvSpPr txBox="1">
            <a:spLocks noChangeArrowheads="1"/>
          </p:cNvSpPr>
          <p:nvPr/>
        </p:nvSpPr>
        <p:spPr bwMode="auto">
          <a:xfrm>
            <a:off x="8157591" y="3171652"/>
            <a:ext cx="950913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BAUD OUT</a:t>
            </a:r>
          </a:p>
        </p:txBody>
      </p:sp>
      <p:sp>
        <p:nvSpPr>
          <p:cNvPr id="77" name="Text Box 120"/>
          <p:cNvSpPr txBox="1">
            <a:spLocks noChangeArrowheads="1"/>
          </p:cNvSpPr>
          <p:nvPr/>
        </p:nvSpPr>
        <p:spPr bwMode="auto">
          <a:xfrm>
            <a:off x="8150984" y="3704159"/>
            <a:ext cx="95091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RTS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Text Box 121"/>
          <p:cNvSpPr txBox="1">
            <a:spLocks noChangeArrowheads="1"/>
          </p:cNvSpPr>
          <p:nvPr/>
        </p:nvSpPr>
        <p:spPr bwMode="auto">
          <a:xfrm>
            <a:off x="8150984" y="3920183"/>
            <a:ext cx="95091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CTS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Text Box 128"/>
          <p:cNvSpPr txBox="1">
            <a:spLocks noChangeArrowheads="1"/>
          </p:cNvSpPr>
          <p:nvPr/>
        </p:nvSpPr>
        <p:spPr bwMode="auto">
          <a:xfrm>
            <a:off x="8193088" y="5600626"/>
            <a:ext cx="950912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INTRPT</a:t>
            </a:r>
          </a:p>
        </p:txBody>
      </p:sp>
      <p:sp>
        <p:nvSpPr>
          <p:cNvPr id="89" name="Text Box 137"/>
          <p:cNvSpPr txBox="1">
            <a:spLocks noChangeArrowheads="1"/>
          </p:cNvSpPr>
          <p:nvPr/>
        </p:nvSpPr>
        <p:spPr bwMode="auto">
          <a:xfrm>
            <a:off x="8157591" y="188640"/>
            <a:ext cx="8651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RCLK</a:t>
            </a:r>
          </a:p>
        </p:txBody>
      </p:sp>
      <p:sp>
        <p:nvSpPr>
          <p:cNvPr id="90" name="Text Box 120"/>
          <p:cNvSpPr txBox="1">
            <a:spLocks noChangeArrowheads="1"/>
          </p:cNvSpPr>
          <p:nvPr/>
        </p:nvSpPr>
        <p:spPr bwMode="auto">
          <a:xfrm>
            <a:off x="8150984" y="4093492"/>
            <a:ext cx="95091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DTR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Text Box 121"/>
          <p:cNvSpPr txBox="1">
            <a:spLocks noChangeArrowheads="1"/>
          </p:cNvSpPr>
          <p:nvPr/>
        </p:nvSpPr>
        <p:spPr bwMode="auto">
          <a:xfrm>
            <a:off x="8150984" y="4322092"/>
            <a:ext cx="95091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DSR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Text Box 120"/>
          <p:cNvSpPr txBox="1">
            <a:spLocks noChangeArrowheads="1"/>
          </p:cNvSpPr>
          <p:nvPr/>
        </p:nvSpPr>
        <p:spPr bwMode="auto">
          <a:xfrm>
            <a:off x="8150984" y="4504836"/>
            <a:ext cx="95091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RLSD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Text Box 121"/>
          <p:cNvSpPr txBox="1">
            <a:spLocks noChangeArrowheads="1"/>
          </p:cNvSpPr>
          <p:nvPr/>
        </p:nvSpPr>
        <p:spPr bwMode="auto">
          <a:xfrm>
            <a:off x="8150984" y="4733436"/>
            <a:ext cx="95091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Text Box 120"/>
          <p:cNvSpPr txBox="1">
            <a:spLocks noChangeArrowheads="1"/>
          </p:cNvSpPr>
          <p:nvPr/>
        </p:nvSpPr>
        <p:spPr bwMode="auto">
          <a:xfrm>
            <a:off x="8150984" y="4904805"/>
            <a:ext cx="95091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OUT1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Text Box 121"/>
          <p:cNvSpPr txBox="1">
            <a:spLocks noChangeArrowheads="1"/>
          </p:cNvSpPr>
          <p:nvPr/>
        </p:nvSpPr>
        <p:spPr bwMode="auto">
          <a:xfrm>
            <a:off x="8150984" y="5072311"/>
            <a:ext cx="95091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OUT2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6" name="直接箭头连接符 95"/>
          <p:cNvCxnSpPr/>
          <p:nvPr/>
        </p:nvCxnSpPr>
        <p:spPr>
          <a:xfrm flipH="1">
            <a:off x="8106920" y="3459257"/>
            <a:ext cx="230833" cy="2908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箭头连接符 102"/>
          <p:cNvCxnSpPr/>
          <p:nvPr/>
        </p:nvCxnSpPr>
        <p:spPr>
          <a:xfrm flipH="1">
            <a:off x="8106920" y="3865946"/>
            <a:ext cx="230833" cy="2908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接箭头连接符 106"/>
          <p:cNvCxnSpPr/>
          <p:nvPr/>
        </p:nvCxnSpPr>
        <p:spPr>
          <a:xfrm flipH="1">
            <a:off x="8106920" y="4093992"/>
            <a:ext cx="230833" cy="2908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接箭头连接符 107"/>
          <p:cNvCxnSpPr/>
          <p:nvPr/>
        </p:nvCxnSpPr>
        <p:spPr>
          <a:xfrm flipH="1">
            <a:off x="8106920" y="4278487"/>
            <a:ext cx="230833" cy="2908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接箭头连接符 108"/>
          <p:cNvCxnSpPr/>
          <p:nvPr/>
        </p:nvCxnSpPr>
        <p:spPr>
          <a:xfrm flipH="1">
            <a:off x="8106920" y="4492138"/>
            <a:ext cx="230833" cy="2908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箭头连接符 109"/>
          <p:cNvCxnSpPr/>
          <p:nvPr/>
        </p:nvCxnSpPr>
        <p:spPr>
          <a:xfrm flipH="1">
            <a:off x="8106920" y="4908685"/>
            <a:ext cx="230833" cy="2908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接箭头连接符 110"/>
          <p:cNvCxnSpPr/>
          <p:nvPr/>
        </p:nvCxnSpPr>
        <p:spPr>
          <a:xfrm flipH="1">
            <a:off x="8106920" y="4680085"/>
            <a:ext cx="230833" cy="2908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箭头连接符 111"/>
          <p:cNvCxnSpPr/>
          <p:nvPr/>
        </p:nvCxnSpPr>
        <p:spPr>
          <a:xfrm flipH="1">
            <a:off x="8106920" y="5065624"/>
            <a:ext cx="230833" cy="2908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接箭头连接符 112"/>
          <p:cNvCxnSpPr/>
          <p:nvPr/>
        </p:nvCxnSpPr>
        <p:spPr>
          <a:xfrm flipH="1">
            <a:off x="8106920" y="5237479"/>
            <a:ext cx="230833" cy="2908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接箭头连接符 113"/>
          <p:cNvCxnSpPr/>
          <p:nvPr/>
        </p:nvCxnSpPr>
        <p:spPr>
          <a:xfrm flipH="1">
            <a:off x="8100392" y="5760748"/>
            <a:ext cx="230833" cy="2908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接箭头连接符 115"/>
          <p:cNvCxnSpPr>
            <a:endCxn id="74" idx="2"/>
          </p:cNvCxnSpPr>
          <p:nvPr/>
        </p:nvCxnSpPr>
        <p:spPr>
          <a:xfrm flipV="1">
            <a:off x="7472535" y="2960589"/>
            <a:ext cx="1" cy="2635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接箭头连接符 117"/>
          <p:cNvCxnSpPr>
            <a:stCxn id="75" idx="2"/>
          </p:cNvCxnSpPr>
          <p:nvPr/>
        </p:nvCxnSpPr>
        <p:spPr>
          <a:xfrm flipH="1">
            <a:off x="6729585" y="2960589"/>
            <a:ext cx="1" cy="2635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接箭头连接符 119"/>
          <p:cNvCxnSpPr/>
          <p:nvPr/>
        </p:nvCxnSpPr>
        <p:spPr>
          <a:xfrm flipV="1">
            <a:off x="6254129" y="2110185"/>
            <a:ext cx="0" cy="11139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接箭头连接符 120"/>
          <p:cNvCxnSpPr/>
          <p:nvPr/>
        </p:nvCxnSpPr>
        <p:spPr>
          <a:xfrm flipH="1">
            <a:off x="8114873" y="1361756"/>
            <a:ext cx="230833" cy="2908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接箭头连接符 121"/>
          <p:cNvCxnSpPr/>
          <p:nvPr/>
        </p:nvCxnSpPr>
        <p:spPr>
          <a:xfrm flipH="1">
            <a:off x="8077671" y="944365"/>
            <a:ext cx="230833" cy="2908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接箭头连接符 124"/>
          <p:cNvCxnSpPr/>
          <p:nvPr/>
        </p:nvCxnSpPr>
        <p:spPr>
          <a:xfrm flipH="1">
            <a:off x="8104275" y="369303"/>
            <a:ext cx="230833" cy="2908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右箭头 125"/>
          <p:cNvSpPr/>
          <p:nvPr/>
        </p:nvSpPr>
        <p:spPr>
          <a:xfrm>
            <a:off x="2627784" y="872357"/>
            <a:ext cx="504056" cy="144016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7" name="左箭头 126"/>
          <p:cNvSpPr/>
          <p:nvPr/>
        </p:nvSpPr>
        <p:spPr>
          <a:xfrm>
            <a:off x="2627784" y="1304406"/>
            <a:ext cx="504056" cy="144016"/>
          </a:xfrm>
          <a:prstGeom prst="lef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8" name="右箭头 127"/>
          <p:cNvSpPr/>
          <p:nvPr/>
        </p:nvSpPr>
        <p:spPr>
          <a:xfrm>
            <a:off x="2645631" y="1995553"/>
            <a:ext cx="504056" cy="144016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9" name="左箭头 128"/>
          <p:cNvSpPr/>
          <p:nvPr/>
        </p:nvSpPr>
        <p:spPr>
          <a:xfrm>
            <a:off x="2627784" y="2470677"/>
            <a:ext cx="504056" cy="144016"/>
          </a:xfrm>
          <a:prstGeom prst="lef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0" name="右箭头 129"/>
          <p:cNvSpPr/>
          <p:nvPr/>
        </p:nvSpPr>
        <p:spPr>
          <a:xfrm>
            <a:off x="2645631" y="3202582"/>
            <a:ext cx="504056" cy="144016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1" name="右箭头 130"/>
          <p:cNvSpPr/>
          <p:nvPr/>
        </p:nvSpPr>
        <p:spPr>
          <a:xfrm>
            <a:off x="2640569" y="3654209"/>
            <a:ext cx="504056" cy="144016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右箭头 131"/>
          <p:cNvSpPr/>
          <p:nvPr/>
        </p:nvSpPr>
        <p:spPr>
          <a:xfrm>
            <a:off x="2639103" y="4347305"/>
            <a:ext cx="504056" cy="144016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3" name="左箭头 132"/>
          <p:cNvSpPr/>
          <p:nvPr/>
        </p:nvSpPr>
        <p:spPr>
          <a:xfrm>
            <a:off x="2634312" y="4808536"/>
            <a:ext cx="504056" cy="144016"/>
          </a:xfrm>
          <a:prstGeom prst="lef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4" name="右箭头 133"/>
          <p:cNvSpPr/>
          <p:nvPr/>
        </p:nvSpPr>
        <p:spPr>
          <a:xfrm>
            <a:off x="2634312" y="5528618"/>
            <a:ext cx="504056" cy="144016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左箭头 134"/>
          <p:cNvSpPr/>
          <p:nvPr/>
        </p:nvSpPr>
        <p:spPr>
          <a:xfrm>
            <a:off x="2620954" y="5951538"/>
            <a:ext cx="504056" cy="144016"/>
          </a:xfrm>
          <a:prstGeom prst="lef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6" name="直接箭头连接符 135"/>
          <p:cNvCxnSpPr/>
          <p:nvPr/>
        </p:nvCxnSpPr>
        <p:spPr>
          <a:xfrm flipH="1">
            <a:off x="5450374" y="5704260"/>
            <a:ext cx="475500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直接箭头连接符 136"/>
          <p:cNvCxnSpPr/>
          <p:nvPr/>
        </p:nvCxnSpPr>
        <p:spPr>
          <a:xfrm flipH="1">
            <a:off x="5446428" y="5917377"/>
            <a:ext cx="457721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直接箭头连接符 139"/>
          <p:cNvCxnSpPr/>
          <p:nvPr/>
        </p:nvCxnSpPr>
        <p:spPr>
          <a:xfrm flipH="1">
            <a:off x="5450374" y="4419313"/>
            <a:ext cx="475500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接箭头连接符 140"/>
          <p:cNvCxnSpPr/>
          <p:nvPr/>
        </p:nvCxnSpPr>
        <p:spPr>
          <a:xfrm flipH="1">
            <a:off x="5468221" y="4847417"/>
            <a:ext cx="457721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右箭头 141"/>
          <p:cNvSpPr/>
          <p:nvPr/>
        </p:nvSpPr>
        <p:spPr>
          <a:xfrm>
            <a:off x="5439732" y="1265745"/>
            <a:ext cx="500420" cy="11948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3" name="左箭头 142"/>
          <p:cNvSpPr/>
          <p:nvPr/>
        </p:nvSpPr>
        <p:spPr>
          <a:xfrm>
            <a:off x="5446428" y="849421"/>
            <a:ext cx="493724" cy="120421"/>
          </a:xfrm>
          <a:prstGeom prst="lef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4" name="Text Box 95"/>
          <p:cNvSpPr txBox="1">
            <a:spLocks noChangeArrowheads="1"/>
          </p:cNvSpPr>
          <p:nvPr/>
        </p:nvSpPr>
        <p:spPr bwMode="auto">
          <a:xfrm>
            <a:off x="378909" y="1289936"/>
            <a:ext cx="95091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alpha val="50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D0~D7</a:t>
            </a:r>
          </a:p>
        </p:txBody>
      </p:sp>
      <p:cxnSp>
        <p:nvCxnSpPr>
          <p:cNvPr id="146" name="直接箭头连接符 145"/>
          <p:cNvCxnSpPr/>
          <p:nvPr/>
        </p:nvCxnSpPr>
        <p:spPr>
          <a:xfrm>
            <a:off x="7013133" y="496593"/>
            <a:ext cx="0" cy="216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接箭头连接符 146"/>
          <p:cNvCxnSpPr/>
          <p:nvPr/>
        </p:nvCxnSpPr>
        <p:spPr>
          <a:xfrm flipV="1">
            <a:off x="6994557" y="1561320"/>
            <a:ext cx="0" cy="2519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矩形 66"/>
          <p:cNvSpPr/>
          <p:nvPr/>
        </p:nvSpPr>
        <p:spPr>
          <a:xfrm>
            <a:off x="5925874" y="224285"/>
            <a:ext cx="2174518" cy="315416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接收控制逻辑</a:t>
            </a:r>
          </a:p>
        </p:txBody>
      </p:sp>
      <p:sp>
        <p:nvSpPr>
          <p:cNvPr id="68" name="矩形 67"/>
          <p:cNvSpPr/>
          <p:nvPr/>
        </p:nvSpPr>
        <p:spPr>
          <a:xfrm>
            <a:off x="5925874" y="1794769"/>
            <a:ext cx="2174518" cy="315416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发送控制逻辑</a:t>
            </a:r>
          </a:p>
        </p:txBody>
      </p:sp>
      <p:cxnSp>
        <p:nvCxnSpPr>
          <p:cNvPr id="150" name="直接连接符 149"/>
          <p:cNvCxnSpPr/>
          <p:nvPr/>
        </p:nvCxnSpPr>
        <p:spPr>
          <a:xfrm flipH="1">
            <a:off x="4308954" y="369303"/>
            <a:ext cx="16169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直接箭头连接符 151"/>
          <p:cNvCxnSpPr/>
          <p:nvPr/>
        </p:nvCxnSpPr>
        <p:spPr>
          <a:xfrm>
            <a:off x="4307462" y="366467"/>
            <a:ext cx="1" cy="3461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直接箭头连接符 153"/>
          <p:cNvCxnSpPr/>
          <p:nvPr/>
        </p:nvCxnSpPr>
        <p:spPr>
          <a:xfrm flipH="1">
            <a:off x="5423488" y="1489698"/>
            <a:ext cx="230833" cy="2908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接连接符 155"/>
          <p:cNvCxnSpPr/>
          <p:nvPr/>
        </p:nvCxnSpPr>
        <p:spPr>
          <a:xfrm>
            <a:off x="5654321" y="1489698"/>
            <a:ext cx="0" cy="4627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直接连接符 157"/>
          <p:cNvCxnSpPr/>
          <p:nvPr/>
        </p:nvCxnSpPr>
        <p:spPr>
          <a:xfrm>
            <a:off x="5654321" y="1952477"/>
            <a:ext cx="27155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直接箭头连接符 163"/>
          <p:cNvCxnSpPr/>
          <p:nvPr/>
        </p:nvCxnSpPr>
        <p:spPr>
          <a:xfrm flipV="1">
            <a:off x="4291106" y="1587509"/>
            <a:ext cx="1" cy="2635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右箭头 103"/>
          <p:cNvSpPr/>
          <p:nvPr/>
        </p:nvSpPr>
        <p:spPr>
          <a:xfrm>
            <a:off x="5439732" y="3421567"/>
            <a:ext cx="500420" cy="11948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2894151" y="179326"/>
            <a:ext cx="6018990" cy="3722402"/>
          </a:xfrm>
          <a:prstGeom prst="rect">
            <a:avLst/>
          </a:prstGeom>
          <a:noFill/>
          <a:ln w="9525">
            <a:solidFill>
              <a:srgbClr val="FF325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" name="矩形 105"/>
          <p:cNvSpPr/>
          <p:nvPr/>
        </p:nvSpPr>
        <p:spPr>
          <a:xfrm>
            <a:off x="2915816" y="3789039"/>
            <a:ext cx="6018990" cy="1572905"/>
          </a:xfrm>
          <a:prstGeom prst="rect">
            <a:avLst/>
          </a:prstGeom>
          <a:noFill/>
          <a:ln w="9525">
            <a:solidFill>
              <a:srgbClr val="FF325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" name="矩形 114"/>
          <p:cNvSpPr/>
          <p:nvPr/>
        </p:nvSpPr>
        <p:spPr>
          <a:xfrm>
            <a:off x="2915816" y="5240472"/>
            <a:ext cx="6018990" cy="1090850"/>
          </a:xfrm>
          <a:prstGeom prst="rect">
            <a:avLst/>
          </a:prstGeom>
          <a:noFill/>
          <a:ln w="9525">
            <a:solidFill>
              <a:srgbClr val="FF325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7081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7" grpId="1" animBg="1"/>
      <p:bldP spid="106" grpId="0" animBg="1"/>
      <p:bldP spid="106" grpId="1" animBg="1"/>
      <p:bldP spid="115" grpId="0" animBg="1"/>
      <p:bldP spid="115" grpId="1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5015941" y="5749126"/>
            <a:ext cx="1727101" cy="575346"/>
          </a:xfrm>
          <a:prstGeom prst="rect">
            <a:avLst/>
          </a:prstGeom>
          <a:solidFill>
            <a:srgbClr val="FD7A2A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</a:rPr>
              <a:t>TSR</a:t>
            </a:r>
          </a:p>
          <a:p>
            <a:pPr algn="ctr"/>
            <a:r>
              <a:rPr lang="zh-CN" altLang="en-US" dirty="0">
                <a:solidFill>
                  <a:schemeClr val="bg1"/>
                </a:solidFill>
              </a:rPr>
              <a:t>发送移位寄存器</a:t>
            </a:r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3" name="Line 6"/>
          <p:cNvSpPr>
            <a:spLocks noChangeShapeType="1"/>
          </p:cNvSpPr>
          <p:nvPr/>
        </p:nvSpPr>
        <p:spPr bwMode="auto">
          <a:xfrm>
            <a:off x="6743641" y="6036799"/>
            <a:ext cx="1056157" cy="0"/>
          </a:xfrm>
          <a:prstGeom prst="line">
            <a:avLst/>
          </a:prstGeom>
          <a:noFill/>
          <a:ln w="9525">
            <a:solidFill>
              <a:srgbClr val="00B853"/>
            </a:solidFill>
            <a:miter lim="800000"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5015941" y="4799865"/>
            <a:ext cx="1727101" cy="575346"/>
          </a:xfrm>
          <a:prstGeom prst="rect">
            <a:avLst/>
          </a:prstGeom>
          <a:solidFill>
            <a:srgbClr val="FD7A2A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</a:rPr>
              <a:t>THR</a:t>
            </a:r>
          </a:p>
          <a:p>
            <a:pPr algn="ctr"/>
            <a:r>
              <a:rPr lang="zh-CN" altLang="en-US" dirty="0">
                <a:solidFill>
                  <a:schemeClr val="bg1"/>
                </a:solidFill>
              </a:rPr>
              <a:t>发送保持寄存器</a:t>
            </a:r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6" name="AutoShape 9"/>
          <p:cNvSpPr>
            <a:spLocks noChangeArrowheads="1"/>
          </p:cNvSpPr>
          <p:nvPr/>
        </p:nvSpPr>
        <p:spPr bwMode="auto">
          <a:xfrm rot="10800000">
            <a:off x="5736656" y="5388368"/>
            <a:ext cx="320066" cy="410121"/>
          </a:xfrm>
          <a:prstGeom prst="upArrow">
            <a:avLst>
              <a:gd name="adj1" fmla="val 50000"/>
              <a:gd name="adj2" fmla="val 39868"/>
            </a:avLst>
          </a:prstGeom>
          <a:solidFill>
            <a:srgbClr val="00B853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2165878" y="4813022"/>
            <a:ext cx="1727101" cy="575346"/>
          </a:xfrm>
          <a:prstGeom prst="rect">
            <a:avLst/>
          </a:prstGeom>
          <a:solidFill>
            <a:srgbClr val="FD7A2A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0" lang="en-US" altLang="zh-CN" sz="1800" dirty="0">
                <a:solidFill>
                  <a:schemeClr val="bg1"/>
                </a:solidFill>
              </a:rPr>
              <a:t>LSR</a:t>
            </a:r>
          </a:p>
          <a:p>
            <a:pPr algn="ctr"/>
            <a:r>
              <a:rPr lang="zh-CN" altLang="en-US" dirty="0">
                <a:solidFill>
                  <a:schemeClr val="bg1"/>
                </a:solidFill>
              </a:rPr>
              <a:t>线路状态寄存器</a:t>
            </a:r>
            <a:endParaRPr kumimoji="0" lang="en-US" altLang="zh-CN" sz="1800" dirty="0">
              <a:solidFill>
                <a:schemeClr val="bg1"/>
              </a:solidFill>
            </a:endParaRPr>
          </a:p>
        </p:txBody>
      </p:sp>
      <p:sp>
        <p:nvSpPr>
          <p:cNvPr id="9" name="Line 12"/>
          <p:cNvSpPr>
            <a:spLocks noChangeShapeType="1"/>
          </p:cNvSpPr>
          <p:nvPr/>
        </p:nvSpPr>
        <p:spPr bwMode="auto">
          <a:xfrm flipH="1">
            <a:off x="3893153" y="5101054"/>
            <a:ext cx="1122787" cy="0"/>
          </a:xfrm>
          <a:prstGeom prst="line">
            <a:avLst/>
          </a:prstGeom>
          <a:noFill/>
          <a:ln w="9525">
            <a:solidFill>
              <a:srgbClr val="00B853"/>
            </a:solidFill>
            <a:miter lim="800000"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" name="Line 13"/>
          <p:cNvSpPr>
            <a:spLocks noChangeShapeType="1"/>
          </p:cNvSpPr>
          <p:nvPr/>
        </p:nvSpPr>
        <p:spPr bwMode="auto">
          <a:xfrm flipH="1">
            <a:off x="1207032" y="5114946"/>
            <a:ext cx="958796" cy="0"/>
          </a:xfrm>
          <a:prstGeom prst="line">
            <a:avLst/>
          </a:prstGeom>
          <a:noFill/>
          <a:ln w="9525">
            <a:solidFill>
              <a:srgbClr val="00B853"/>
            </a:solidFill>
            <a:miter lim="800000"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" name="Text Box 14"/>
          <p:cNvSpPr txBox="1">
            <a:spLocks noChangeArrowheads="1"/>
          </p:cNvSpPr>
          <p:nvPr/>
        </p:nvSpPr>
        <p:spPr bwMode="auto">
          <a:xfrm>
            <a:off x="671006" y="4909403"/>
            <a:ext cx="53585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800" b="0">
                <a:solidFill>
                  <a:srgbClr val="1D8DE5"/>
                </a:solidFill>
              </a:rPr>
              <a:t>INT</a:t>
            </a:r>
          </a:p>
        </p:txBody>
      </p:sp>
      <p:sp>
        <p:nvSpPr>
          <p:cNvPr id="12" name="AutoShape 15"/>
          <p:cNvSpPr>
            <a:spLocks noChangeArrowheads="1"/>
          </p:cNvSpPr>
          <p:nvPr/>
        </p:nvSpPr>
        <p:spPr bwMode="auto">
          <a:xfrm rot="10800000">
            <a:off x="5707871" y="4434770"/>
            <a:ext cx="298293" cy="365092"/>
          </a:xfrm>
          <a:prstGeom prst="upArrow">
            <a:avLst>
              <a:gd name="adj1" fmla="val 50000"/>
              <a:gd name="adj2" fmla="val 29846"/>
            </a:avLst>
          </a:prstGeom>
          <a:solidFill>
            <a:srgbClr val="00B853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AutoShape 16"/>
          <p:cNvSpPr>
            <a:spLocks noChangeArrowheads="1"/>
          </p:cNvSpPr>
          <p:nvPr/>
        </p:nvSpPr>
        <p:spPr bwMode="auto">
          <a:xfrm>
            <a:off x="2903254" y="4448893"/>
            <a:ext cx="290290" cy="371914"/>
          </a:xfrm>
          <a:prstGeom prst="upArrow">
            <a:avLst>
              <a:gd name="adj1" fmla="val 50000"/>
              <a:gd name="adj2" fmla="val 29846"/>
            </a:avLst>
          </a:prstGeom>
          <a:solidFill>
            <a:srgbClr val="00B853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Rectangle 17"/>
          <p:cNvSpPr>
            <a:spLocks noChangeArrowheads="1"/>
          </p:cNvSpPr>
          <p:nvPr/>
        </p:nvSpPr>
        <p:spPr bwMode="auto">
          <a:xfrm>
            <a:off x="2165878" y="5749128"/>
            <a:ext cx="1727101" cy="575344"/>
          </a:xfrm>
          <a:prstGeom prst="rect">
            <a:avLst/>
          </a:prstGeom>
          <a:solidFill>
            <a:srgbClr val="FD7A2A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</a:rPr>
              <a:t>LCR</a:t>
            </a:r>
          </a:p>
          <a:p>
            <a:pPr algn="ctr"/>
            <a:r>
              <a:rPr lang="zh-CN" altLang="en-US" dirty="0">
                <a:solidFill>
                  <a:schemeClr val="bg1"/>
                </a:solidFill>
              </a:rPr>
              <a:t>线路控制寄存器</a:t>
            </a:r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15" name="Line 18"/>
          <p:cNvSpPr>
            <a:spLocks noChangeShapeType="1"/>
          </p:cNvSpPr>
          <p:nvPr/>
        </p:nvSpPr>
        <p:spPr bwMode="auto">
          <a:xfrm>
            <a:off x="3879338" y="6036799"/>
            <a:ext cx="1122870" cy="0"/>
          </a:xfrm>
          <a:prstGeom prst="line">
            <a:avLst/>
          </a:prstGeom>
          <a:noFill/>
          <a:ln w="9525">
            <a:solidFill>
              <a:srgbClr val="00B853"/>
            </a:solidFill>
            <a:miter lim="800000"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7" name="Text Box 20"/>
          <p:cNvSpPr txBox="1">
            <a:spLocks noChangeArrowheads="1"/>
          </p:cNvSpPr>
          <p:nvPr/>
        </p:nvSpPr>
        <p:spPr bwMode="auto">
          <a:xfrm>
            <a:off x="3225290" y="4293096"/>
            <a:ext cx="76830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rIns="0"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800" b="0" dirty="0">
                <a:solidFill>
                  <a:srgbClr val="1D8DE5"/>
                </a:solidFill>
              </a:rPr>
              <a:t>4.</a:t>
            </a:r>
            <a:r>
              <a:rPr kumimoji="0" lang="zh-CN" altLang="en-US" sz="1800" b="0" dirty="0">
                <a:solidFill>
                  <a:srgbClr val="1D8DE5"/>
                </a:solidFill>
              </a:rPr>
              <a:t>状态</a:t>
            </a:r>
          </a:p>
        </p:txBody>
      </p:sp>
      <p:sp>
        <p:nvSpPr>
          <p:cNvPr id="18" name="Text Box 21"/>
          <p:cNvSpPr txBox="1">
            <a:spLocks noChangeArrowheads="1"/>
          </p:cNvSpPr>
          <p:nvPr/>
        </p:nvSpPr>
        <p:spPr bwMode="auto">
          <a:xfrm>
            <a:off x="5702256" y="4313090"/>
            <a:ext cx="1320670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FF66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ctr" eaLnBrk="0" hangingPunct="0"/>
            <a:r>
              <a:rPr lang="en-US" altLang="zh-CN" b="0" dirty="0">
                <a:solidFill>
                  <a:srgbClr val="1D8DE5"/>
                </a:solidFill>
                <a:latin typeface="Times New Roman" panose="02020603050405020304" pitchFamily="18" charset="0"/>
              </a:rPr>
              <a:t>1.</a:t>
            </a:r>
            <a:r>
              <a:rPr lang="zh-CN" altLang="en-US" dirty="0">
                <a:solidFill>
                  <a:srgbClr val="1D8DE5"/>
                </a:solidFill>
              </a:rPr>
              <a:t>数据</a:t>
            </a:r>
            <a:endParaRPr lang="en-US" altLang="zh-CN" b="0" dirty="0">
              <a:solidFill>
                <a:srgbClr val="1D8DE5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" name="Text Box 22"/>
          <p:cNvSpPr txBox="1">
            <a:spLocks noChangeArrowheads="1"/>
          </p:cNvSpPr>
          <p:nvPr/>
        </p:nvSpPr>
        <p:spPr bwMode="auto">
          <a:xfrm>
            <a:off x="5940376" y="5388368"/>
            <a:ext cx="1283010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FF66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ctr" eaLnBrk="0" hangingPunct="0"/>
            <a:r>
              <a:rPr lang="en-US" altLang="zh-CN" b="0" dirty="0">
                <a:solidFill>
                  <a:srgbClr val="1D8DE5"/>
                </a:solidFill>
                <a:latin typeface="Times New Roman" panose="02020603050405020304" pitchFamily="18" charset="0"/>
              </a:rPr>
              <a:t>2.</a:t>
            </a:r>
            <a:r>
              <a:rPr lang="zh-CN" altLang="en-US" dirty="0">
                <a:solidFill>
                  <a:srgbClr val="1D8DE5"/>
                </a:solidFill>
              </a:rPr>
              <a:t>并行数据</a:t>
            </a:r>
          </a:p>
        </p:txBody>
      </p:sp>
      <p:sp>
        <p:nvSpPr>
          <p:cNvPr id="20" name="Text Box 23"/>
          <p:cNvSpPr txBox="1">
            <a:spLocks noChangeArrowheads="1"/>
          </p:cNvSpPr>
          <p:nvPr/>
        </p:nvSpPr>
        <p:spPr bwMode="auto">
          <a:xfrm>
            <a:off x="6904731" y="5723692"/>
            <a:ext cx="1627709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FF66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ctr" eaLnBrk="0" hangingPunct="0"/>
            <a:r>
              <a:rPr lang="en-US" altLang="zh-CN" b="0" dirty="0">
                <a:solidFill>
                  <a:srgbClr val="1D8DE5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dirty="0">
                <a:solidFill>
                  <a:srgbClr val="1D8DE5"/>
                </a:solidFill>
                <a:latin typeface="Times New Roman" panose="02020603050405020304" pitchFamily="18" charset="0"/>
              </a:rPr>
              <a:t>.</a:t>
            </a:r>
            <a:r>
              <a:rPr lang="zh-CN" altLang="en-US" dirty="0">
                <a:solidFill>
                  <a:srgbClr val="1D8DE5"/>
                </a:solidFill>
              </a:rPr>
              <a:t>串行数据输出</a:t>
            </a:r>
          </a:p>
        </p:txBody>
      </p:sp>
      <p:sp>
        <p:nvSpPr>
          <p:cNvPr id="21" name="Text Box 24"/>
          <p:cNvSpPr txBox="1">
            <a:spLocks noChangeArrowheads="1"/>
          </p:cNvSpPr>
          <p:nvPr/>
        </p:nvSpPr>
        <p:spPr bwMode="auto">
          <a:xfrm>
            <a:off x="3989886" y="4758322"/>
            <a:ext cx="1008112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FF66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ctr" eaLnBrk="0" hangingPunct="0"/>
            <a:r>
              <a:rPr lang="en-US" altLang="zh-CN" b="0" dirty="0">
                <a:solidFill>
                  <a:srgbClr val="1D8DE5"/>
                </a:solidFill>
                <a:latin typeface="Times New Roman" panose="02020603050405020304" pitchFamily="18" charset="0"/>
              </a:rPr>
              <a:t>2. </a:t>
            </a:r>
            <a:r>
              <a:rPr lang="zh-CN" altLang="en-US" dirty="0">
                <a:solidFill>
                  <a:srgbClr val="1D8DE5"/>
                </a:solidFill>
                <a:latin typeface="Times New Roman" panose="02020603050405020304" pitchFamily="18" charset="0"/>
              </a:rPr>
              <a:t>置状态</a:t>
            </a:r>
            <a:endParaRPr lang="en-US" altLang="zh-CN" b="0" dirty="0">
              <a:solidFill>
                <a:srgbClr val="1D8DE5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" name="Text Box 20"/>
          <p:cNvSpPr txBox="1">
            <a:spLocks noChangeArrowheads="1"/>
          </p:cNvSpPr>
          <p:nvPr/>
        </p:nvSpPr>
        <p:spPr bwMode="auto">
          <a:xfrm>
            <a:off x="1302277" y="4681876"/>
            <a:ext cx="76830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rIns="0"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800" b="0" dirty="0">
                <a:solidFill>
                  <a:srgbClr val="1D8DE5"/>
                </a:solidFill>
              </a:rPr>
              <a:t>4.</a:t>
            </a:r>
            <a:r>
              <a:rPr kumimoji="0" lang="zh-CN" altLang="en-US" sz="1800" b="0" dirty="0">
                <a:solidFill>
                  <a:srgbClr val="1D8DE5"/>
                </a:solidFill>
              </a:rPr>
              <a:t>中断</a:t>
            </a:r>
          </a:p>
        </p:txBody>
      </p:sp>
      <p:sp>
        <p:nvSpPr>
          <p:cNvPr id="25" name="矩形 24"/>
          <p:cNvSpPr/>
          <p:nvPr/>
        </p:nvSpPr>
        <p:spPr>
          <a:xfrm>
            <a:off x="1495940" y="1340768"/>
            <a:ext cx="6964491" cy="598956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CPU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将数据发送给</a:t>
            </a:r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8250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THR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sp>
        <p:nvSpPr>
          <p:cNvPr id="26" name="矩形 25"/>
          <p:cNvSpPr/>
          <p:nvPr/>
        </p:nvSpPr>
        <p:spPr>
          <a:xfrm>
            <a:off x="1495940" y="2064801"/>
            <a:ext cx="6964491" cy="598956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THR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把数据送至</a:t>
            </a:r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TSR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LSR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中</a:t>
            </a:r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'THR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空</a:t>
            </a:r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'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状态位置位。</a:t>
            </a:r>
          </a:p>
        </p:txBody>
      </p:sp>
      <p:sp>
        <p:nvSpPr>
          <p:cNvPr id="27" name="矩形 26"/>
          <p:cNvSpPr/>
          <p:nvPr/>
        </p:nvSpPr>
        <p:spPr>
          <a:xfrm>
            <a:off x="1494178" y="2754100"/>
            <a:ext cx="6964491" cy="598956"/>
          </a:xfrm>
          <a:prstGeom prst="rect">
            <a:avLst/>
          </a:prstGeom>
          <a:solidFill>
            <a:srgbClr val="00B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TSR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根据</a:t>
            </a:r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LCR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规定的格式从低到高逐位发送数据。</a:t>
            </a:r>
          </a:p>
        </p:txBody>
      </p:sp>
      <p:sp>
        <p:nvSpPr>
          <p:cNvPr id="28" name="矩形 27"/>
          <p:cNvSpPr/>
          <p:nvPr/>
        </p:nvSpPr>
        <p:spPr>
          <a:xfrm>
            <a:off x="899592" y="1340903"/>
            <a:ext cx="569813" cy="59951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Arial Black" pitchFamily="34" charset="0"/>
              </a:rPr>
              <a:t>1</a:t>
            </a:r>
            <a:endParaRPr lang="zh-CN" altLang="en-US" sz="3200" dirty="0">
              <a:latin typeface="Arial Black" pitchFamily="34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899592" y="2064801"/>
            <a:ext cx="569813" cy="59895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Arial Black" pitchFamily="34" charset="0"/>
              </a:rPr>
              <a:t>2</a:t>
            </a:r>
            <a:endParaRPr lang="zh-CN" altLang="en-US" sz="3200" dirty="0">
              <a:latin typeface="Arial Black" pitchFamily="34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899592" y="2755700"/>
            <a:ext cx="569813" cy="59776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Arial Black" pitchFamily="34" charset="0"/>
              </a:rPr>
              <a:t>3</a:t>
            </a:r>
            <a:endParaRPr lang="zh-CN" altLang="en-US" sz="3200" dirty="0">
              <a:latin typeface="Arial Black" pitchFamily="34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1494178" y="3477709"/>
            <a:ext cx="6964491" cy="598956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LSR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中</a:t>
            </a:r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'THR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空</a:t>
            </a:r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'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可产生中断，也可查询以连续发送。</a:t>
            </a:r>
          </a:p>
        </p:txBody>
      </p:sp>
      <p:sp>
        <p:nvSpPr>
          <p:cNvPr id="32" name="矩形 31"/>
          <p:cNvSpPr/>
          <p:nvPr/>
        </p:nvSpPr>
        <p:spPr>
          <a:xfrm>
            <a:off x="899592" y="3479309"/>
            <a:ext cx="569813" cy="59776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Arial Black" pitchFamily="34" charset="0"/>
              </a:rPr>
              <a:t>4</a:t>
            </a:r>
            <a:endParaRPr lang="zh-CN" altLang="en-US" sz="3200" dirty="0">
              <a:latin typeface="Arial Black" pitchFamily="34" charset="0"/>
            </a:endParaRPr>
          </a:p>
        </p:txBody>
      </p:sp>
      <p:cxnSp>
        <p:nvCxnSpPr>
          <p:cNvPr id="33" name="直接连接符 32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4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8250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发送数据的工作过程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35" name="直接连接符 34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</p:spTree>
    <p:extLst>
      <p:ext uri="{BB962C8B-B14F-4D97-AF65-F5344CB8AC3E}">
        <p14:creationId xmlns:p14="http://schemas.microsoft.com/office/powerpoint/2010/main" val="433716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5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35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35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5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35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35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5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35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5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5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35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5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35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5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35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5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2" grpId="0" animBg="1"/>
      <p:bldP spid="13" grpId="0" animBg="1"/>
      <p:bldP spid="17" grpId="0"/>
      <p:bldP spid="18" grpId="0"/>
      <p:bldP spid="19" grpId="0"/>
      <p:bldP spid="20" grpId="0"/>
      <p:bldP spid="21" grpId="0"/>
      <p:bldP spid="24" grpId="0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5015941" y="5805982"/>
            <a:ext cx="1727101" cy="575346"/>
          </a:xfrm>
          <a:prstGeom prst="rect">
            <a:avLst/>
          </a:prstGeom>
          <a:solidFill>
            <a:srgbClr val="FD7A2A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</a:rPr>
              <a:t>RSR</a:t>
            </a:r>
          </a:p>
          <a:p>
            <a:pPr algn="ctr"/>
            <a:r>
              <a:rPr lang="zh-CN" altLang="en-US" dirty="0">
                <a:solidFill>
                  <a:schemeClr val="bg1"/>
                </a:solidFill>
              </a:rPr>
              <a:t>接收移位寄存器</a:t>
            </a:r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3" name="Line 6"/>
          <p:cNvSpPr>
            <a:spLocks noChangeShapeType="1"/>
          </p:cNvSpPr>
          <p:nvPr/>
        </p:nvSpPr>
        <p:spPr bwMode="auto">
          <a:xfrm>
            <a:off x="6743641" y="6093655"/>
            <a:ext cx="1056157" cy="0"/>
          </a:xfrm>
          <a:prstGeom prst="line">
            <a:avLst/>
          </a:prstGeom>
          <a:noFill/>
          <a:ln w="9525">
            <a:solidFill>
              <a:srgbClr val="00B853"/>
            </a:solidFill>
            <a:miter lim="800000"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5015941" y="4788084"/>
            <a:ext cx="1727101" cy="575346"/>
          </a:xfrm>
          <a:prstGeom prst="rect">
            <a:avLst/>
          </a:prstGeom>
          <a:solidFill>
            <a:srgbClr val="FD7A2A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</a:rPr>
              <a:t>RBR</a:t>
            </a:r>
          </a:p>
          <a:p>
            <a:pPr algn="ctr"/>
            <a:r>
              <a:rPr lang="zh-CN" altLang="en-US" dirty="0">
                <a:solidFill>
                  <a:schemeClr val="bg1"/>
                </a:solidFill>
              </a:rPr>
              <a:t>接收缓冲寄存器</a:t>
            </a:r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2165878" y="4801241"/>
            <a:ext cx="1727101" cy="575346"/>
          </a:xfrm>
          <a:prstGeom prst="rect">
            <a:avLst/>
          </a:prstGeom>
          <a:solidFill>
            <a:srgbClr val="FD7A2A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0" lang="en-US" altLang="zh-CN" sz="1800" dirty="0">
                <a:solidFill>
                  <a:schemeClr val="bg1"/>
                </a:solidFill>
              </a:rPr>
              <a:t>LSR</a:t>
            </a:r>
          </a:p>
          <a:p>
            <a:pPr algn="ctr"/>
            <a:r>
              <a:rPr lang="zh-CN" altLang="en-US" dirty="0">
                <a:solidFill>
                  <a:schemeClr val="bg1"/>
                </a:solidFill>
              </a:rPr>
              <a:t>线路状态寄存器</a:t>
            </a:r>
            <a:endParaRPr kumimoji="0" lang="en-US" altLang="zh-CN" sz="1800" dirty="0">
              <a:solidFill>
                <a:schemeClr val="bg1"/>
              </a:solidFill>
            </a:endParaRPr>
          </a:p>
        </p:txBody>
      </p:sp>
      <p:sp>
        <p:nvSpPr>
          <p:cNvPr id="9" name="Line 12"/>
          <p:cNvSpPr>
            <a:spLocks noChangeShapeType="1"/>
          </p:cNvSpPr>
          <p:nvPr/>
        </p:nvSpPr>
        <p:spPr bwMode="auto">
          <a:xfrm flipH="1">
            <a:off x="3893153" y="5089273"/>
            <a:ext cx="1122787" cy="0"/>
          </a:xfrm>
          <a:prstGeom prst="line">
            <a:avLst/>
          </a:prstGeom>
          <a:noFill/>
          <a:ln w="9525">
            <a:solidFill>
              <a:srgbClr val="00B853"/>
            </a:solidFill>
            <a:miter lim="800000"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" name="Line 13"/>
          <p:cNvSpPr>
            <a:spLocks noChangeShapeType="1"/>
          </p:cNvSpPr>
          <p:nvPr/>
        </p:nvSpPr>
        <p:spPr bwMode="auto">
          <a:xfrm flipH="1">
            <a:off x="1207032" y="5103165"/>
            <a:ext cx="958796" cy="0"/>
          </a:xfrm>
          <a:prstGeom prst="line">
            <a:avLst/>
          </a:prstGeom>
          <a:noFill/>
          <a:ln w="9525">
            <a:solidFill>
              <a:srgbClr val="00B853"/>
            </a:solidFill>
            <a:miter lim="800000"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" name="Text Box 14"/>
          <p:cNvSpPr txBox="1">
            <a:spLocks noChangeArrowheads="1"/>
          </p:cNvSpPr>
          <p:nvPr/>
        </p:nvSpPr>
        <p:spPr bwMode="auto">
          <a:xfrm>
            <a:off x="671006" y="4897622"/>
            <a:ext cx="53585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800" b="0">
                <a:solidFill>
                  <a:srgbClr val="1D8DE5"/>
                </a:solidFill>
              </a:rPr>
              <a:t>INT</a:t>
            </a:r>
          </a:p>
        </p:txBody>
      </p:sp>
      <p:sp>
        <p:nvSpPr>
          <p:cNvPr id="14" name="Rectangle 17"/>
          <p:cNvSpPr>
            <a:spLocks noChangeArrowheads="1"/>
          </p:cNvSpPr>
          <p:nvPr/>
        </p:nvSpPr>
        <p:spPr bwMode="auto">
          <a:xfrm>
            <a:off x="2165878" y="5805984"/>
            <a:ext cx="1727101" cy="575344"/>
          </a:xfrm>
          <a:prstGeom prst="rect">
            <a:avLst/>
          </a:prstGeom>
          <a:solidFill>
            <a:srgbClr val="FD7A2A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</a:rPr>
              <a:t>LCR</a:t>
            </a:r>
          </a:p>
          <a:p>
            <a:pPr algn="ctr"/>
            <a:r>
              <a:rPr lang="zh-CN" altLang="en-US" dirty="0">
                <a:solidFill>
                  <a:schemeClr val="bg1"/>
                </a:solidFill>
              </a:rPr>
              <a:t>线路控制寄存器</a:t>
            </a:r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15" name="Line 18"/>
          <p:cNvSpPr>
            <a:spLocks noChangeShapeType="1"/>
          </p:cNvSpPr>
          <p:nvPr/>
        </p:nvSpPr>
        <p:spPr bwMode="auto">
          <a:xfrm>
            <a:off x="3879338" y="6093655"/>
            <a:ext cx="1122870" cy="0"/>
          </a:xfrm>
          <a:prstGeom prst="line">
            <a:avLst/>
          </a:prstGeom>
          <a:noFill/>
          <a:ln w="9525">
            <a:solidFill>
              <a:srgbClr val="00B853"/>
            </a:solidFill>
            <a:miter lim="800000"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7" name="Text Box 20"/>
          <p:cNvSpPr txBox="1">
            <a:spLocks noChangeArrowheads="1"/>
          </p:cNvSpPr>
          <p:nvPr/>
        </p:nvSpPr>
        <p:spPr bwMode="auto">
          <a:xfrm>
            <a:off x="3225290" y="4281315"/>
            <a:ext cx="76830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rIns="0"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800" b="0" dirty="0">
                <a:solidFill>
                  <a:srgbClr val="1D8DE5"/>
                </a:solidFill>
              </a:rPr>
              <a:t>4.</a:t>
            </a:r>
            <a:r>
              <a:rPr kumimoji="0" lang="zh-CN" altLang="en-US" sz="1800" b="0" dirty="0">
                <a:solidFill>
                  <a:srgbClr val="1D8DE5"/>
                </a:solidFill>
              </a:rPr>
              <a:t>状态</a:t>
            </a:r>
          </a:p>
        </p:txBody>
      </p:sp>
      <p:sp>
        <p:nvSpPr>
          <p:cNvPr id="18" name="Text Box 21"/>
          <p:cNvSpPr txBox="1">
            <a:spLocks noChangeArrowheads="1"/>
          </p:cNvSpPr>
          <p:nvPr/>
        </p:nvSpPr>
        <p:spPr bwMode="auto">
          <a:xfrm>
            <a:off x="5702256" y="4301309"/>
            <a:ext cx="1320670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FF66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ctr" eaLnBrk="0" hangingPunct="0"/>
            <a:r>
              <a:rPr lang="en-US" altLang="zh-CN" b="0" dirty="0">
                <a:solidFill>
                  <a:srgbClr val="1D8DE5"/>
                </a:solidFill>
                <a:latin typeface="Times New Roman" panose="02020603050405020304" pitchFamily="18" charset="0"/>
              </a:rPr>
              <a:t>4.</a:t>
            </a:r>
            <a:r>
              <a:rPr lang="zh-CN" altLang="en-US" dirty="0">
                <a:solidFill>
                  <a:srgbClr val="1D8DE5"/>
                </a:solidFill>
              </a:rPr>
              <a:t>数据</a:t>
            </a:r>
            <a:endParaRPr lang="en-US" altLang="zh-CN" b="0" dirty="0">
              <a:solidFill>
                <a:srgbClr val="1D8DE5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" name="Text Box 22"/>
          <p:cNvSpPr txBox="1">
            <a:spLocks noChangeArrowheads="1"/>
          </p:cNvSpPr>
          <p:nvPr/>
        </p:nvSpPr>
        <p:spPr bwMode="auto">
          <a:xfrm>
            <a:off x="5940376" y="5445224"/>
            <a:ext cx="1283010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FF66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ctr" eaLnBrk="0" hangingPunct="0"/>
            <a:r>
              <a:rPr lang="en-US" altLang="zh-CN" b="0" dirty="0">
                <a:solidFill>
                  <a:srgbClr val="1D8DE5"/>
                </a:solidFill>
                <a:latin typeface="Times New Roman" panose="02020603050405020304" pitchFamily="18" charset="0"/>
              </a:rPr>
              <a:t>2.</a:t>
            </a:r>
            <a:r>
              <a:rPr lang="zh-CN" altLang="en-US" dirty="0">
                <a:solidFill>
                  <a:srgbClr val="1D8DE5"/>
                </a:solidFill>
              </a:rPr>
              <a:t>并行数据</a:t>
            </a:r>
          </a:p>
        </p:txBody>
      </p:sp>
      <p:sp>
        <p:nvSpPr>
          <p:cNvPr id="20" name="Text Box 23"/>
          <p:cNvSpPr txBox="1">
            <a:spLocks noChangeArrowheads="1"/>
          </p:cNvSpPr>
          <p:nvPr/>
        </p:nvSpPr>
        <p:spPr bwMode="auto">
          <a:xfrm>
            <a:off x="6904731" y="5780548"/>
            <a:ext cx="1627709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FF66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ctr" eaLnBrk="0" hangingPunct="0"/>
            <a:r>
              <a:rPr lang="en-US" altLang="zh-CN" b="0" dirty="0">
                <a:solidFill>
                  <a:srgbClr val="1D8DE5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1D8DE5"/>
                </a:solidFill>
                <a:latin typeface="Times New Roman" panose="02020603050405020304" pitchFamily="18" charset="0"/>
              </a:rPr>
              <a:t>.</a:t>
            </a:r>
            <a:r>
              <a:rPr lang="zh-CN" altLang="en-US" dirty="0">
                <a:solidFill>
                  <a:srgbClr val="1D8DE5"/>
                </a:solidFill>
              </a:rPr>
              <a:t>串行数据输入</a:t>
            </a:r>
          </a:p>
        </p:txBody>
      </p:sp>
      <p:sp>
        <p:nvSpPr>
          <p:cNvPr id="21" name="Text Box 24"/>
          <p:cNvSpPr txBox="1">
            <a:spLocks noChangeArrowheads="1"/>
          </p:cNvSpPr>
          <p:nvPr/>
        </p:nvSpPr>
        <p:spPr bwMode="auto">
          <a:xfrm>
            <a:off x="3989886" y="4746541"/>
            <a:ext cx="1008112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00"/>
                </a:solidFill>
              </a14:hiddenFill>
            </a:ext>
            <a:ext uri="{91240B29-F687-4F45-9708-019B960494DF}">
              <a14:hiddenLine xmlns:a14="http://schemas.microsoft.com/office/drawing/2010/main" w="25400" cap="sq">
                <a:solidFill>
                  <a:srgbClr val="FF66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ctr" eaLnBrk="0" hangingPunct="0"/>
            <a:r>
              <a:rPr lang="en-US" altLang="zh-CN" b="0" dirty="0">
                <a:solidFill>
                  <a:srgbClr val="1D8DE5"/>
                </a:solidFill>
                <a:latin typeface="Times New Roman" panose="02020603050405020304" pitchFamily="18" charset="0"/>
              </a:rPr>
              <a:t>3. </a:t>
            </a:r>
            <a:r>
              <a:rPr lang="zh-CN" altLang="en-US" dirty="0">
                <a:solidFill>
                  <a:srgbClr val="1D8DE5"/>
                </a:solidFill>
                <a:latin typeface="Times New Roman" panose="02020603050405020304" pitchFamily="18" charset="0"/>
              </a:rPr>
              <a:t>置状态</a:t>
            </a:r>
            <a:endParaRPr lang="en-US" altLang="zh-CN" b="0" dirty="0">
              <a:solidFill>
                <a:srgbClr val="1D8DE5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" name="Text Box 20"/>
          <p:cNvSpPr txBox="1">
            <a:spLocks noChangeArrowheads="1"/>
          </p:cNvSpPr>
          <p:nvPr/>
        </p:nvSpPr>
        <p:spPr bwMode="auto">
          <a:xfrm>
            <a:off x="1302277" y="4670095"/>
            <a:ext cx="76830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rIns="0"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altLang="zh-CN" sz="1800" b="0" dirty="0">
                <a:solidFill>
                  <a:srgbClr val="1D8DE5"/>
                </a:solidFill>
              </a:rPr>
              <a:t>4.</a:t>
            </a:r>
            <a:r>
              <a:rPr kumimoji="0" lang="zh-CN" altLang="en-US" sz="1800" b="0" dirty="0">
                <a:solidFill>
                  <a:srgbClr val="1D8DE5"/>
                </a:solidFill>
              </a:rPr>
              <a:t>中断</a:t>
            </a:r>
          </a:p>
        </p:txBody>
      </p:sp>
      <p:sp>
        <p:nvSpPr>
          <p:cNvPr id="25" name="矩形 24"/>
          <p:cNvSpPr/>
          <p:nvPr/>
        </p:nvSpPr>
        <p:spPr>
          <a:xfrm>
            <a:off x="1495940" y="1412776"/>
            <a:ext cx="6964491" cy="598956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SIN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引脚上的串行数据逐位进入</a:t>
            </a:r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RSR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sp>
        <p:nvSpPr>
          <p:cNvPr id="26" name="矩形 25"/>
          <p:cNvSpPr/>
          <p:nvPr/>
        </p:nvSpPr>
        <p:spPr>
          <a:xfrm>
            <a:off x="1495940" y="2136809"/>
            <a:ext cx="6964491" cy="598956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RSR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根据</a:t>
            </a:r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LCR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中规定接收一个完整数据并送至</a:t>
            </a:r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RBR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sp>
        <p:nvSpPr>
          <p:cNvPr id="27" name="矩形 26"/>
          <p:cNvSpPr/>
          <p:nvPr/>
        </p:nvSpPr>
        <p:spPr>
          <a:xfrm>
            <a:off x="1494178" y="2826108"/>
            <a:ext cx="6964491" cy="598956"/>
          </a:xfrm>
          <a:prstGeom prst="rect">
            <a:avLst/>
          </a:prstGeom>
          <a:solidFill>
            <a:srgbClr val="00B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RBR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收到</a:t>
            </a:r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RSR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的数据，将</a:t>
            </a:r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LSR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中</a:t>
            </a:r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'RBR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满</a:t>
            </a:r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'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状态置位。</a:t>
            </a:r>
          </a:p>
        </p:txBody>
      </p:sp>
      <p:sp>
        <p:nvSpPr>
          <p:cNvPr id="28" name="矩形 27"/>
          <p:cNvSpPr/>
          <p:nvPr/>
        </p:nvSpPr>
        <p:spPr>
          <a:xfrm>
            <a:off x="899592" y="1412911"/>
            <a:ext cx="569813" cy="59951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Arial Black" pitchFamily="34" charset="0"/>
              </a:rPr>
              <a:t>1</a:t>
            </a:r>
            <a:endParaRPr lang="zh-CN" altLang="en-US" sz="3200" dirty="0">
              <a:latin typeface="Arial Black" pitchFamily="34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899592" y="2136809"/>
            <a:ext cx="569813" cy="59895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Arial Black" pitchFamily="34" charset="0"/>
              </a:rPr>
              <a:t>2</a:t>
            </a:r>
            <a:endParaRPr lang="zh-CN" altLang="en-US" sz="3200" dirty="0">
              <a:latin typeface="Arial Black" pitchFamily="34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899592" y="2827708"/>
            <a:ext cx="569813" cy="59776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Arial Black" pitchFamily="34" charset="0"/>
              </a:rPr>
              <a:t>3</a:t>
            </a:r>
            <a:endParaRPr lang="zh-CN" altLang="en-US" sz="3200" dirty="0">
              <a:latin typeface="Arial Black" pitchFamily="34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1494178" y="3549717"/>
            <a:ext cx="6964491" cy="598956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LSR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中</a:t>
            </a:r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'RBR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满</a:t>
            </a:r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'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可产生中断，也可查询以连续接收。</a:t>
            </a:r>
          </a:p>
        </p:txBody>
      </p:sp>
      <p:sp>
        <p:nvSpPr>
          <p:cNvPr id="32" name="矩形 31"/>
          <p:cNvSpPr/>
          <p:nvPr/>
        </p:nvSpPr>
        <p:spPr>
          <a:xfrm>
            <a:off x="899592" y="3551317"/>
            <a:ext cx="569813" cy="59776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Arial Black" pitchFamily="34" charset="0"/>
              </a:rPr>
              <a:t>4</a:t>
            </a:r>
            <a:endParaRPr lang="zh-CN" altLang="en-US" sz="3200" dirty="0">
              <a:latin typeface="Arial Black" pitchFamily="34" charset="0"/>
            </a:endParaRPr>
          </a:p>
        </p:txBody>
      </p:sp>
      <p:cxnSp>
        <p:nvCxnSpPr>
          <p:cNvPr id="33" name="直接连接符 32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4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8250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接收数据的工作过程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35" name="直接连接符 34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16" name="上箭头 15"/>
          <p:cNvSpPr/>
          <p:nvPr/>
        </p:nvSpPr>
        <p:spPr>
          <a:xfrm>
            <a:off x="5736100" y="4355319"/>
            <a:ext cx="288032" cy="422979"/>
          </a:xfrm>
          <a:prstGeom prst="upArrow">
            <a:avLst/>
          </a:prstGeom>
          <a:solidFill>
            <a:srgbClr val="00B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上箭头 35"/>
          <p:cNvSpPr/>
          <p:nvPr/>
        </p:nvSpPr>
        <p:spPr>
          <a:xfrm>
            <a:off x="5734555" y="5365065"/>
            <a:ext cx="288032" cy="422979"/>
          </a:xfrm>
          <a:prstGeom prst="upArrow">
            <a:avLst/>
          </a:prstGeom>
          <a:solidFill>
            <a:srgbClr val="00B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上箭头 36"/>
          <p:cNvSpPr/>
          <p:nvPr/>
        </p:nvSpPr>
        <p:spPr>
          <a:xfrm>
            <a:off x="2886218" y="4379737"/>
            <a:ext cx="288032" cy="422979"/>
          </a:xfrm>
          <a:prstGeom prst="upArrow">
            <a:avLst/>
          </a:prstGeom>
          <a:solidFill>
            <a:srgbClr val="00B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9569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8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9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0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1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2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6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6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5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6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7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1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7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7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7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7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7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8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8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3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8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8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8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8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9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9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9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9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5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9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9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/>
      <p:bldP spid="17" grpId="0"/>
      <p:bldP spid="18" grpId="0"/>
      <p:bldP spid="19" grpId="0"/>
      <p:bldP spid="20" grpId="0"/>
      <p:bldP spid="21" grpId="0"/>
      <p:bldP spid="24" grpId="0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16" grpId="0" animBg="1"/>
      <p:bldP spid="37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/>
          <p:cNvSpPr txBox="1"/>
          <p:nvPr/>
        </p:nvSpPr>
        <p:spPr>
          <a:xfrm>
            <a:off x="4292127" y="1867768"/>
            <a:ext cx="3808265" cy="841375"/>
          </a:xfrm>
          <a:prstGeom prst="roundRect">
            <a:avLst>
              <a:gd name="adj" fmla="val 8176"/>
            </a:avLst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>
            <a:defPPr>
              <a:defRPr lang="en-US"/>
            </a:defPPr>
            <a:lvl1pPr algn="ctr">
              <a:defRPr sz="2800" b="1">
                <a:solidFill>
                  <a:srgbClr val="A6A6A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串行通信概念</a:t>
            </a:r>
          </a:p>
        </p:txBody>
      </p:sp>
      <p:sp>
        <p:nvSpPr>
          <p:cNvPr id="3" name="椭圆 2"/>
          <p:cNvSpPr/>
          <p:nvPr/>
        </p:nvSpPr>
        <p:spPr>
          <a:xfrm>
            <a:off x="3859857" y="1916832"/>
            <a:ext cx="745008" cy="733425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itchFamily="34" charset="-122"/>
              </a:rPr>
              <a:t>1</a:t>
            </a:r>
            <a:endParaRPr lang="zh-CN" altLang="en-US" sz="2800" b="1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itchFamily="34" charset="-122"/>
            </a:endParaRPr>
          </a:p>
        </p:txBody>
      </p:sp>
      <p:sp>
        <p:nvSpPr>
          <p:cNvPr id="4" name="TextBox 9"/>
          <p:cNvSpPr txBox="1"/>
          <p:nvPr/>
        </p:nvSpPr>
        <p:spPr>
          <a:xfrm>
            <a:off x="4292127" y="3020293"/>
            <a:ext cx="3808265" cy="841375"/>
          </a:xfrm>
          <a:prstGeom prst="roundRect">
            <a:avLst>
              <a:gd name="adj" fmla="val 8176"/>
            </a:avLst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>
            <a:defPPr>
              <a:defRPr lang="en-US"/>
            </a:defPPr>
            <a:lvl1pPr algn="ctr">
              <a:defRPr sz="2800" b="1">
                <a:solidFill>
                  <a:srgbClr val="A6A6A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  </a:t>
            </a:r>
            <a:r>
              <a:rPr lang="en-US" altLang="zh-CN" dirty="0"/>
              <a:t>8250</a:t>
            </a:r>
            <a:r>
              <a:rPr lang="zh-CN" altLang="en-US" dirty="0"/>
              <a:t>串行通信芯片</a:t>
            </a:r>
          </a:p>
        </p:txBody>
      </p:sp>
      <p:sp>
        <p:nvSpPr>
          <p:cNvPr id="5" name="椭圆 4"/>
          <p:cNvSpPr/>
          <p:nvPr/>
        </p:nvSpPr>
        <p:spPr>
          <a:xfrm>
            <a:off x="3859857" y="3069357"/>
            <a:ext cx="745008" cy="733425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itchFamily="34" charset="-122"/>
              </a:rPr>
              <a:t>2</a:t>
            </a:r>
            <a:endParaRPr lang="zh-CN" altLang="en-US" sz="2800" b="1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itchFamily="34" charset="-122"/>
            </a:endParaRPr>
          </a:p>
        </p:txBody>
      </p:sp>
      <p:sp>
        <p:nvSpPr>
          <p:cNvPr id="6" name="TextBox 9"/>
          <p:cNvSpPr txBox="1"/>
          <p:nvPr/>
        </p:nvSpPr>
        <p:spPr>
          <a:xfrm>
            <a:off x="4284190" y="4171801"/>
            <a:ext cx="3808265" cy="841375"/>
          </a:xfrm>
          <a:prstGeom prst="roundRect">
            <a:avLst>
              <a:gd name="adj" fmla="val 8176"/>
            </a:avLst>
          </a:prstGeom>
          <a:solidFill>
            <a:srgbClr val="5DCB08"/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>
            <a:defPPr>
              <a:defRPr lang="en-US"/>
            </a:defPPr>
            <a:lvl1pPr algn="ctr">
              <a:defRPr sz="2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8250</a:t>
            </a:r>
            <a:r>
              <a:rPr lang="zh-CN" altLang="en-US" dirty="0"/>
              <a:t>编程和应用</a:t>
            </a:r>
          </a:p>
        </p:txBody>
      </p:sp>
      <p:sp>
        <p:nvSpPr>
          <p:cNvPr id="7" name="椭圆 6"/>
          <p:cNvSpPr/>
          <p:nvPr/>
        </p:nvSpPr>
        <p:spPr>
          <a:xfrm>
            <a:off x="3851920" y="4220865"/>
            <a:ext cx="745008" cy="733425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itchFamily="34" charset="-122"/>
              </a:rPr>
              <a:t>3</a:t>
            </a:r>
            <a:endParaRPr lang="zh-CN" altLang="en-US" sz="2800" b="1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8696328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/>
          <p:cNvSpPr/>
          <p:nvPr/>
        </p:nvSpPr>
        <p:spPr>
          <a:xfrm>
            <a:off x="8461631" y="6348095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15"/>
          <p:cNvSpPr txBox="1"/>
          <p:nvPr/>
        </p:nvSpPr>
        <p:spPr>
          <a:xfrm>
            <a:off x="8316416" y="6358818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pPr algn="ctr"/>
              <a:t>39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2" name="TextBox 15"/>
          <p:cNvSpPr txBox="1">
            <a:spLocks noChangeArrowheads="1"/>
          </p:cNvSpPr>
          <p:nvPr/>
        </p:nvSpPr>
        <p:spPr bwMode="auto">
          <a:xfrm>
            <a:off x="3552812" y="3741684"/>
            <a:ext cx="2747380" cy="18842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7730" tIns="33865" rIns="67730" bIns="33865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 indent="-342900"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内部寄存器</a:t>
            </a:r>
            <a:endParaRPr lang="en-US" altLang="zh-CN" sz="2400" b="1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-342900"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初始化编程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indent="-342900"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应用举例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1404144" y="1772816"/>
            <a:ext cx="6264275" cy="1587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cxnSp>
        <p:nvCxnSpPr>
          <p:cNvPr id="15" name="直接连接符 14"/>
          <p:cNvCxnSpPr/>
          <p:nvPr/>
        </p:nvCxnSpPr>
        <p:spPr>
          <a:xfrm>
            <a:off x="1475582" y="3501603"/>
            <a:ext cx="6264275" cy="1588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sp>
        <p:nvSpPr>
          <p:cNvPr id="16" name="TextBox 10"/>
          <p:cNvSpPr txBox="1">
            <a:spLocks noChangeArrowheads="1"/>
          </p:cNvSpPr>
          <p:nvPr/>
        </p:nvSpPr>
        <p:spPr bwMode="auto">
          <a:xfrm>
            <a:off x="934711" y="2012896"/>
            <a:ext cx="7346015" cy="1250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14000"/>
              </a:lnSpc>
            </a:pPr>
            <a:r>
              <a:rPr lang="en-US" altLang="zh-CN" sz="66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8250</a:t>
            </a:r>
            <a:r>
              <a:rPr lang="zh-CN" altLang="en-US" sz="66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编程和应用</a:t>
            </a:r>
            <a:endParaRPr lang="zh-CN" altLang="en-US" sz="80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56497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5" name="表格 18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8675746"/>
              </p:ext>
            </p:extLst>
          </p:nvPr>
        </p:nvGraphicFramePr>
        <p:xfrm>
          <a:off x="467544" y="1412776"/>
          <a:ext cx="8280920" cy="43586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130317973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3331389818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885467143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693203301"/>
                    </a:ext>
                  </a:extLst>
                </a:gridCol>
                <a:gridCol w="5328592">
                  <a:extLst>
                    <a:ext uri="{9D8B030D-6E8A-4147-A177-3AD203B41FA5}">
                      <a16:colId xmlns:a16="http://schemas.microsoft.com/office/drawing/2014/main" val="35735554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DLAB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A2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A1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A0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被访问寄存器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1404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rgbClr val="FF32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rgbClr val="FF325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rgbClr val="FF32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rgbClr val="FF325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rgbClr val="FF32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rgbClr val="FF325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solidFill>
                            <a:srgbClr val="FF32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接收缓冲器</a:t>
                      </a:r>
                      <a:r>
                        <a:rPr lang="en-US" altLang="zh-CN" sz="2000" dirty="0">
                          <a:solidFill>
                            <a:srgbClr val="FF32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RBR</a:t>
                      </a:r>
                      <a:r>
                        <a:rPr lang="zh-CN" altLang="en-US" sz="2000" dirty="0">
                          <a:solidFill>
                            <a:srgbClr val="FF32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（读）</a:t>
                      </a:r>
                      <a:r>
                        <a:rPr lang="en-US" altLang="zh-CN" sz="2000" dirty="0">
                          <a:solidFill>
                            <a:srgbClr val="FF32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, </a:t>
                      </a:r>
                      <a:r>
                        <a:rPr lang="zh-CN" altLang="en-US" sz="2000" dirty="0">
                          <a:solidFill>
                            <a:srgbClr val="FF32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发送缓冲器</a:t>
                      </a:r>
                      <a:r>
                        <a:rPr lang="en-US" altLang="zh-CN" sz="2000" dirty="0">
                          <a:solidFill>
                            <a:srgbClr val="FF32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THR</a:t>
                      </a:r>
                      <a:r>
                        <a:rPr lang="zh-CN" altLang="en-US" sz="2000" dirty="0">
                          <a:solidFill>
                            <a:srgbClr val="FF32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（写）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04474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rgbClr val="FF32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rgbClr val="FF325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rgbClr val="FF32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rgbClr val="FF325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rgbClr val="FF32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rgbClr val="FF325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中断允许寄存器</a:t>
                      </a:r>
                      <a:r>
                        <a:rPr lang="en-US" altLang="zh-CN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IER</a:t>
                      </a:r>
                      <a:r>
                        <a:rPr lang="zh-CN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（可读写）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4245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中断标识寄存器</a:t>
                      </a:r>
                      <a:r>
                        <a:rPr lang="en-US" altLang="zh-CN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IIR</a:t>
                      </a:r>
                      <a:r>
                        <a:rPr lang="zh-CN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（只读）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91909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×</a:t>
                      </a:r>
                      <a:endParaRPr lang="zh-CN" altLang="en-US" sz="2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solidFill>
                            <a:srgbClr val="FF32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通信线路控制寄存器</a:t>
                      </a:r>
                      <a:r>
                        <a:rPr lang="en-US" altLang="zh-CN" sz="2000" dirty="0">
                          <a:solidFill>
                            <a:srgbClr val="FF32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LCR</a:t>
                      </a:r>
                      <a:r>
                        <a:rPr lang="zh-CN" altLang="en-US" sz="2000" dirty="0">
                          <a:solidFill>
                            <a:srgbClr val="FF32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（可读写）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4917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×</a:t>
                      </a:r>
                      <a:endParaRPr lang="zh-CN" altLang="en-US" sz="2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Modem</a:t>
                      </a:r>
                      <a:r>
                        <a:rPr lang="zh-CN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控制寄存器</a:t>
                      </a:r>
                      <a:r>
                        <a:rPr lang="en-US" altLang="zh-CN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MCR</a:t>
                      </a:r>
                      <a:r>
                        <a:rPr lang="zh-CN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（可读写）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80565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×</a:t>
                      </a:r>
                      <a:endParaRPr lang="zh-CN" altLang="en-US" sz="2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通信线路状态寄存器</a:t>
                      </a:r>
                      <a:r>
                        <a:rPr lang="en-US" altLang="zh-CN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LSR</a:t>
                      </a:r>
                      <a:r>
                        <a:rPr lang="zh-CN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（只读）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8805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×</a:t>
                      </a:r>
                      <a:endParaRPr lang="zh-CN" altLang="en-US" sz="2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Modem</a:t>
                      </a:r>
                      <a:r>
                        <a:rPr lang="zh-CN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状态寄存器</a:t>
                      </a:r>
                      <a:r>
                        <a:rPr lang="en-US" altLang="zh-CN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MSR</a:t>
                      </a:r>
                      <a:r>
                        <a:rPr lang="zh-CN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（只读）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73570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rgbClr val="FF32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rgbClr val="FF325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rgbClr val="FF32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rgbClr val="FF325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rgbClr val="FF32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rgbClr val="FF325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除数寄存器（低字节）</a:t>
                      </a:r>
                      <a:r>
                        <a:rPr lang="en-US" altLang="zh-CN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DLL</a:t>
                      </a:r>
                      <a:r>
                        <a:rPr lang="zh-CN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（可读写）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9712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rgbClr val="FF32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rgbClr val="FF325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rgbClr val="FF32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2000" dirty="0">
                        <a:solidFill>
                          <a:srgbClr val="FF325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rgbClr val="FF325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rgbClr val="FF325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除数寄存器（高字节）</a:t>
                      </a:r>
                      <a:r>
                        <a:rPr lang="en-US" altLang="zh-CN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DLM</a:t>
                      </a:r>
                      <a:r>
                        <a:rPr lang="zh-CN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（可读写）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413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×</a:t>
                      </a:r>
                      <a:endParaRPr lang="zh-CN" altLang="en-US" sz="2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2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7594598"/>
                  </a:ext>
                </a:extLst>
              </a:tr>
            </a:tbl>
          </a:graphicData>
        </a:graphic>
      </p:graphicFrame>
      <p:cxnSp>
        <p:nvCxnSpPr>
          <p:cNvPr id="186" name="直接连接符 185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187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8250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的端口地址一览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88" name="直接连接符 187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6" name="矩形 5"/>
          <p:cNvSpPr/>
          <p:nvPr/>
        </p:nvSpPr>
        <p:spPr>
          <a:xfrm>
            <a:off x="1043608" y="5894829"/>
            <a:ext cx="678532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altLang="zh-CN" sz="2000" dirty="0">
                <a:ln w="17780" cmpd="sng">
                  <a:noFill/>
                  <a:prstDash val="solid"/>
                  <a:miter lim="800000"/>
                </a:ln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DLAB, Divisor Latch Access Bit,</a:t>
            </a:r>
            <a:r>
              <a:rPr lang="zh-CN" altLang="en-US" sz="2000" dirty="0">
                <a:ln w="17780" cmpd="sng">
                  <a:noFill/>
                  <a:prstDash val="solid"/>
                  <a:miter lim="800000"/>
                </a:ln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寻址除数寄存器指示位。后面，把</a:t>
            </a:r>
            <a:r>
              <a:rPr lang="en-US" altLang="zh-CN" sz="2000" dirty="0">
                <a:ln w="17780" cmpd="sng">
                  <a:noFill/>
                  <a:prstDash val="solid"/>
                  <a:miter lim="800000"/>
                </a:ln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A2A1A0=000 </a:t>
            </a:r>
            <a:r>
              <a:rPr lang="zh-CN" altLang="en-US" sz="2000" dirty="0">
                <a:ln w="17780" cmpd="sng">
                  <a:noFill/>
                  <a:prstDash val="solid"/>
                  <a:miter lim="800000"/>
                </a:ln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的地址表示为 </a:t>
            </a:r>
            <a:r>
              <a:rPr lang="en-US" altLang="zh-CN" sz="2000" dirty="0">
                <a:ln w="17780" cmpd="sng">
                  <a:noFill/>
                  <a:prstDash val="solid"/>
                  <a:miter lim="800000"/>
                </a:ln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BASE</a:t>
            </a:r>
            <a:r>
              <a:rPr lang="zh-CN" altLang="en-US" sz="2000" dirty="0">
                <a:ln w="17780" cmpd="sng">
                  <a:noFill/>
                  <a:prstDash val="solid"/>
                  <a:miter lim="800000"/>
                </a:ln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000" dirty="0">
              <a:ln w="17780" cmpd="sng">
                <a:noFill/>
                <a:prstDash val="solid"/>
                <a:miter lim="800000"/>
              </a:ln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7" name="Picture 2" descr="C:\Documents and Settings\tdz\桌面\未标题-1 拷贝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51520" y="5844029"/>
            <a:ext cx="834828" cy="782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2756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/>
          <p:cNvSpPr/>
          <p:nvPr/>
        </p:nvSpPr>
        <p:spPr>
          <a:xfrm>
            <a:off x="1172315" y="1556792"/>
            <a:ext cx="891183" cy="723899"/>
          </a:xfrm>
          <a:prstGeom prst="roundRect">
            <a:avLst>
              <a:gd name="adj" fmla="val 4357"/>
            </a:avLst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D7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2108419" y="1556792"/>
            <a:ext cx="891183" cy="723899"/>
          </a:xfrm>
          <a:prstGeom prst="roundRect">
            <a:avLst>
              <a:gd name="adj" fmla="val 4357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D6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3044523" y="1556792"/>
            <a:ext cx="891183" cy="723899"/>
          </a:xfrm>
          <a:prstGeom prst="roundRect">
            <a:avLst>
              <a:gd name="adj" fmla="val 4357"/>
            </a:avLst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D5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3980627" y="1556792"/>
            <a:ext cx="891183" cy="723899"/>
          </a:xfrm>
          <a:prstGeom prst="roundRect">
            <a:avLst>
              <a:gd name="adj" fmla="val 4357"/>
            </a:avLst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D4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5852835" y="1556792"/>
            <a:ext cx="891183" cy="723899"/>
          </a:xfrm>
          <a:prstGeom prst="roundRect">
            <a:avLst>
              <a:gd name="adj" fmla="val 4357"/>
            </a:avLst>
          </a:prstGeom>
          <a:solidFill>
            <a:srgbClr val="00B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D2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6788939" y="1556792"/>
            <a:ext cx="891183" cy="723899"/>
          </a:xfrm>
          <a:prstGeom prst="roundRect">
            <a:avLst>
              <a:gd name="adj" fmla="val 4357"/>
            </a:avLst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D1</a:t>
            </a:r>
          </a:p>
        </p:txBody>
      </p:sp>
      <p:sp>
        <p:nvSpPr>
          <p:cNvPr id="9" name="圆角矩形 8"/>
          <p:cNvSpPr/>
          <p:nvPr/>
        </p:nvSpPr>
        <p:spPr>
          <a:xfrm>
            <a:off x="7725043" y="1556792"/>
            <a:ext cx="891183" cy="723899"/>
          </a:xfrm>
          <a:prstGeom prst="roundRect">
            <a:avLst>
              <a:gd name="adj" fmla="val 4357"/>
            </a:avLst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D0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4916731" y="1556792"/>
            <a:ext cx="891183" cy="723899"/>
          </a:xfrm>
          <a:prstGeom prst="roundRect">
            <a:avLst>
              <a:gd name="adj" fmla="val 4357"/>
            </a:avLst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D3</a:t>
            </a:r>
            <a:endParaRPr lang="zh-CN" altLang="en-US" sz="1600" b="1" dirty="0">
              <a:ea typeface="微软雅黑" panose="020B0503020204020204" pitchFamily="34" charset="-122"/>
            </a:endParaRPr>
          </a:p>
        </p:txBody>
      </p:sp>
      <p:cxnSp>
        <p:nvCxnSpPr>
          <p:cNvPr id="17" name="直接连接符 16"/>
          <p:cNvCxnSpPr/>
          <p:nvPr/>
        </p:nvCxnSpPr>
        <p:spPr>
          <a:xfrm>
            <a:off x="1619250" y="2280691"/>
            <a:ext cx="0" cy="8168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2555776" y="2264600"/>
            <a:ext cx="0" cy="21285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6318709" y="2249550"/>
            <a:ext cx="0" cy="8194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6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通信线路控制字（</a:t>
            </a: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BASE+3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37" name="直接连接符 36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8" name="圆角矩形 37"/>
          <p:cNvSpPr/>
          <p:nvPr/>
        </p:nvSpPr>
        <p:spPr>
          <a:xfrm>
            <a:off x="107504" y="3146778"/>
            <a:ext cx="2383917" cy="921997"/>
          </a:xfrm>
          <a:prstGeom prst="roundRect">
            <a:avLst>
              <a:gd name="adj" fmla="val 435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ea typeface="微软雅黑" panose="020B0503020204020204" pitchFamily="34" charset="-122"/>
              </a:rPr>
              <a:t>DLAB</a:t>
            </a:r>
            <a:r>
              <a:rPr lang="zh-CN" altLang="en-US" sz="1600" dirty="0">
                <a:ea typeface="微软雅黑" panose="020B0503020204020204" pitchFamily="34" charset="-122"/>
              </a:rPr>
              <a:t>标志位</a:t>
            </a:r>
            <a:endParaRPr lang="en-US" altLang="zh-CN" sz="1600" dirty="0">
              <a:ea typeface="微软雅黑" panose="020B0503020204020204" pitchFamily="34" charset="-122"/>
            </a:endParaRPr>
          </a:p>
          <a:p>
            <a:r>
              <a:rPr lang="en-US" altLang="zh-CN" sz="1600" dirty="0">
                <a:ea typeface="微软雅黑" panose="020B0503020204020204" pitchFamily="34" charset="-122"/>
              </a:rPr>
              <a:t>0</a:t>
            </a:r>
            <a:r>
              <a:rPr lang="zh-CN" altLang="en-US" sz="1600" dirty="0">
                <a:ea typeface="微软雅黑" panose="020B0503020204020204" pitchFamily="34" charset="-122"/>
              </a:rPr>
              <a:t>：正常写控制字</a:t>
            </a:r>
            <a:endParaRPr lang="en-US" altLang="zh-CN" sz="1600" dirty="0">
              <a:ea typeface="微软雅黑" panose="020B0503020204020204" pitchFamily="34" charset="-122"/>
            </a:endParaRPr>
          </a:p>
          <a:p>
            <a:r>
              <a:rPr lang="en-US" altLang="zh-CN" sz="1600" dirty="0"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ea typeface="微软雅黑" panose="020B0503020204020204" pitchFamily="34" charset="-122"/>
              </a:rPr>
              <a:t>：触发使用除数寄存器</a:t>
            </a:r>
          </a:p>
        </p:txBody>
      </p:sp>
      <p:sp>
        <p:nvSpPr>
          <p:cNvPr id="56" name="圆角矩形 55"/>
          <p:cNvSpPr/>
          <p:nvPr/>
        </p:nvSpPr>
        <p:spPr>
          <a:xfrm>
            <a:off x="4564345" y="3097539"/>
            <a:ext cx="2599941" cy="971236"/>
          </a:xfrm>
          <a:prstGeom prst="roundRect">
            <a:avLst>
              <a:gd name="adj" fmla="val 435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ea typeface="微软雅黑" panose="020B0503020204020204" pitchFamily="34" charset="-122"/>
              </a:rPr>
              <a:t>0</a:t>
            </a:r>
            <a:r>
              <a:rPr lang="zh-CN" altLang="en-US" sz="1600" dirty="0">
                <a:ea typeface="微软雅黑" panose="020B0503020204020204" pitchFamily="34" charset="-122"/>
              </a:rPr>
              <a:t>：</a:t>
            </a:r>
            <a:r>
              <a:rPr lang="en-US" altLang="zh-CN" sz="1600" dirty="0"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ea typeface="微软雅黑" panose="020B0503020204020204" pitchFamily="34" charset="-122"/>
              </a:rPr>
              <a:t>个停止位</a:t>
            </a:r>
            <a:endParaRPr lang="en-US" altLang="zh-CN" sz="1600" dirty="0">
              <a:ea typeface="微软雅黑" panose="020B0503020204020204" pitchFamily="34" charset="-122"/>
            </a:endParaRPr>
          </a:p>
          <a:p>
            <a:r>
              <a:rPr lang="en-US" altLang="zh-CN" sz="1600" dirty="0"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ea typeface="微软雅黑" panose="020B0503020204020204" pitchFamily="34" charset="-122"/>
              </a:rPr>
              <a:t>：</a:t>
            </a:r>
            <a:r>
              <a:rPr lang="en-US" altLang="zh-CN" sz="1600" dirty="0">
                <a:ea typeface="微软雅黑" panose="020B0503020204020204" pitchFamily="34" charset="-122"/>
              </a:rPr>
              <a:t>1.5</a:t>
            </a:r>
            <a:r>
              <a:rPr lang="zh-CN" altLang="en-US" sz="1600" dirty="0">
                <a:ea typeface="微软雅黑" panose="020B0503020204020204" pitchFamily="34" charset="-122"/>
              </a:rPr>
              <a:t>个停止位（</a:t>
            </a:r>
            <a:r>
              <a:rPr lang="en-US" altLang="zh-CN" sz="1600" dirty="0">
                <a:ea typeface="微软雅黑" panose="020B0503020204020204" pitchFamily="34" charset="-122"/>
              </a:rPr>
              <a:t>5</a:t>
            </a:r>
            <a:r>
              <a:rPr lang="zh-CN" altLang="en-US" sz="1600" dirty="0">
                <a:ea typeface="微软雅黑" panose="020B0503020204020204" pitchFamily="34" charset="-122"/>
              </a:rPr>
              <a:t>位数据）</a:t>
            </a:r>
            <a:endParaRPr lang="en-US" altLang="zh-CN" sz="1600" dirty="0">
              <a:ea typeface="微软雅黑" panose="020B0503020204020204" pitchFamily="34" charset="-122"/>
            </a:endParaRPr>
          </a:p>
          <a:p>
            <a:r>
              <a:rPr lang="en-US" altLang="zh-CN" sz="1600" dirty="0">
                <a:ea typeface="微软雅黑" panose="020B0503020204020204" pitchFamily="34" charset="-122"/>
              </a:rPr>
              <a:t>       2</a:t>
            </a:r>
            <a:r>
              <a:rPr lang="zh-CN" altLang="en-US" sz="1600" dirty="0">
                <a:ea typeface="微软雅黑" panose="020B0503020204020204" pitchFamily="34" charset="-122"/>
              </a:rPr>
              <a:t>个停止位（</a:t>
            </a:r>
            <a:r>
              <a:rPr lang="en-US" altLang="zh-CN" sz="1600" dirty="0">
                <a:ea typeface="微软雅黑" panose="020B0503020204020204" pitchFamily="34" charset="-122"/>
              </a:rPr>
              <a:t>6~8</a:t>
            </a:r>
            <a:r>
              <a:rPr lang="zh-CN" altLang="en-US" sz="1600" dirty="0">
                <a:ea typeface="微软雅黑" panose="020B0503020204020204" pitchFamily="34" charset="-122"/>
              </a:rPr>
              <a:t>位数据）</a:t>
            </a:r>
          </a:p>
        </p:txBody>
      </p:sp>
      <p:sp>
        <p:nvSpPr>
          <p:cNvPr id="31" name="圆角矩形 30"/>
          <p:cNvSpPr/>
          <p:nvPr/>
        </p:nvSpPr>
        <p:spPr>
          <a:xfrm>
            <a:off x="1081226" y="4393140"/>
            <a:ext cx="1898943" cy="688811"/>
          </a:xfrm>
          <a:prstGeom prst="roundRect">
            <a:avLst>
              <a:gd name="adj" fmla="val 435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ea typeface="微软雅黑" panose="020B0503020204020204" pitchFamily="34" charset="-122"/>
              </a:rPr>
              <a:t>0: </a:t>
            </a:r>
            <a:r>
              <a:rPr lang="zh-CN" altLang="en-US" sz="1600" dirty="0">
                <a:ea typeface="微软雅黑" panose="020B0503020204020204" pitchFamily="34" charset="-122"/>
              </a:rPr>
              <a:t>正常操作</a:t>
            </a:r>
            <a:endParaRPr lang="en-US" altLang="zh-CN" sz="1600" dirty="0">
              <a:ea typeface="微软雅黑" panose="020B0503020204020204" pitchFamily="34" charset="-122"/>
            </a:endParaRPr>
          </a:p>
          <a:p>
            <a:r>
              <a:rPr lang="en-US" altLang="zh-CN" sz="1600" dirty="0">
                <a:ea typeface="微软雅黑" panose="020B0503020204020204" pitchFamily="34" charset="-122"/>
              </a:rPr>
              <a:t>1: SOUT</a:t>
            </a:r>
            <a:r>
              <a:rPr lang="zh-CN" altLang="en-US" sz="1600" dirty="0">
                <a:ea typeface="微软雅黑" panose="020B0503020204020204" pitchFamily="34" charset="-122"/>
              </a:rPr>
              <a:t>输出高电平</a:t>
            </a:r>
          </a:p>
        </p:txBody>
      </p:sp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5621377"/>
              </p:ext>
            </p:extLst>
          </p:nvPr>
        </p:nvGraphicFramePr>
        <p:xfrm>
          <a:off x="3115791" y="4393125"/>
          <a:ext cx="2994196" cy="19161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3584">
                  <a:extLst>
                    <a:ext uri="{9D8B030D-6E8A-4147-A177-3AD203B41FA5}">
                      <a16:colId xmlns:a16="http://schemas.microsoft.com/office/drawing/2014/main" val="2212427716"/>
                    </a:ext>
                  </a:extLst>
                </a:gridCol>
                <a:gridCol w="2180612">
                  <a:extLst>
                    <a:ext uri="{9D8B030D-6E8A-4147-A177-3AD203B41FA5}">
                      <a16:colId xmlns:a16="http://schemas.microsoft.com/office/drawing/2014/main" val="2536073474"/>
                    </a:ext>
                  </a:extLst>
                </a:gridCol>
              </a:tblGrid>
              <a:tr h="383239">
                <a:tc>
                  <a:txBody>
                    <a:bodyPr/>
                    <a:lstStyle/>
                    <a:p>
                      <a:r>
                        <a:rPr lang="en-US" altLang="zh-CN" dirty="0"/>
                        <a:t>X  </a:t>
                      </a:r>
                      <a:r>
                        <a:rPr lang="en-US" altLang="zh-CN" dirty="0" err="1"/>
                        <a:t>X</a:t>
                      </a:r>
                      <a:r>
                        <a:rPr lang="en-US" altLang="zh-CN" dirty="0"/>
                        <a:t>  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无校验位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9283576"/>
                  </a:ext>
                </a:extLst>
              </a:tr>
              <a:tr h="383239">
                <a:tc>
                  <a:txBody>
                    <a:bodyPr/>
                    <a:lstStyle/>
                    <a:p>
                      <a:r>
                        <a:rPr lang="en-US" altLang="zh-CN" dirty="0"/>
                        <a:t>0  0  1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奇校验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0659942"/>
                  </a:ext>
                </a:extLst>
              </a:tr>
              <a:tr h="38323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0  1  1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偶校验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9134154"/>
                  </a:ext>
                </a:extLst>
              </a:tr>
              <a:tr h="383239">
                <a:tc>
                  <a:txBody>
                    <a:bodyPr/>
                    <a:lstStyle/>
                    <a:p>
                      <a:r>
                        <a:rPr lang="en-US" altLang="zh-CN" dirty="0"/>
                        <a:t>1  0  1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奇校验并附加恒为 </a:t>
                      </a:r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2364051"/>
                  </a:ext>
                </a:extLst>
              </a:tr>
              <a:tr h="383239">
                <a:tc>
                  <a:txBody>
                    <a:bodyPr/>
                    <a:lstStyle/>
                    <a:p>
                      <a:r>
                        <a:rPr lang="en-US" altLang="zh-CN" dirty="0"/>
                        <a:t>1  1  1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偶校验并附加恒为 </a:t>
                      </a:r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939779"/>
                  </a:ext>
                </a:extLst>
              </a:tr>
            </a:tbl>
          </a:graphicData>
        </a:graphic>
      </p:graphicFrame>
      <p:sp>
        <p:nvSpPr>
          <p:cNvPr id="19" name="左大括号 18"/>
          <p:cNvSpPr/>
          <p:nvPr/>
        </p:nvSpPr>
        <p:spPr>
          <a:xfrm rot="16200000">
            <a:off x="4250636" y="1315090"/>
            <a:ext cx="328918" cy="231472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4" name="直接连接符 43"/>
          <p:cNvCxnSpPr/>
          <p:nvPr/>
        </p:nvCxnSpPr>
        <p:spPr>
          <a:xfrm flipH="1">
            <a:off x="4418325" y="2701159"/>
            <a:ext cx="1" cy="16919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左大括号 50"/>
          <p:cNvSpPr/>
          <p:nvPr/>
        </p:nvSpPr>
        <p:spPr>
          <a:xfrm rot="16200000">
            <a:off x="7558408" y="1978229"/>
            <a:ext cx="328917" cy="98844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53" name="表格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2898411"/>
              </p:ext>
            </p:extLst>
          </p:nvPr>
        </p:nvGraphicFramePr>
        <p:xfrm>
          <a:off x="7228641" y="3068960"/>
          <a:ext cx="1264967" cy="15329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0158">
                  <a:extLst>
                    <a:ext uri="{9D8B030D-6E8A-4147-A177-3AD203B41FA5}">
                      <a16:colId xmlns:a16="http://schemas.microsoft.com/office/drawing/2014/main" val="2212427716"/>
                    </a:ext>
                  </a:extLst>
                </a:gridCol>
                <a:gridCol w="684809">
                  <a:extLst>
                    <a:ext uri="{9D8B030D-6E8A-4147-A177-3AD203B41FA5}">
                      <a16:colId xmlns:a16="http://schemas.microsoft.com/office/drawing/2014/main" val="2536073474"/>
                    </a:ext>
                  </a:extLst>
                </a:gridCol>
              </a:tblGrid>
              <a:tr h="383239">
                <a:tc>
                  <a:txBody>
                    <a:bodyPr/>
                    <a:lstStyle/>
                    <a:p>
                      <a:r>
                        <a:rPr lang="en-US" altLang="zh-CN" dirty="0"/>
                        <a:t>0  0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5</a:t>
                      </a:r>
                      <a:r>
                        <a:rPr lang="zh-CN" altLang="en-US" dirty="0"/>
                        <a:t>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9283576"/>
                  </a:ext>
                </a:extLst>
              </a:tr>
              <a:tr h="383239">
                <a:tc>
                  <a:txBody>
                    <a:bodyPr/>
                    <a:lstStyle/>
                    <a:p>
                      <a:r>
                        <a:rPr lang="en-US" altLang="zh-CN" dirty="0"/>
                        <a:t>0  1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6</a:t>
                      </a:r>
                      <a:r>
                        <a:rPr lang="zh-CN" altLang="en-US" dirty="0"/>
                        <a:t>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0659942"/>
                  </a:ext>
                </a:extLst>
              </a:tr>
              <a:tr h="38323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1  0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7</a:t>
                      </a:r>
                      <a:r>
                        <a:rPr lang="zh-CN" altLang="en-US" dirty="0"/>
                        <a:t>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9134154"/>
                  </a:ext>
                </a:extLst>
              </a:tr>
              <a:tr h="383239">
                <a:tc>
                  <a:txBody>
                    <a:bodyPr/>
                    <a:lstStyle/>
                    <a:p>
                      <a:r>
                        <a:rPr lang="en-US" altLang="zh-CN" dirty="0"/>
                        <a:t>1  1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8</a:t>
                      </a:r>
                      <a:r>
                        <a:rPr lang="zh-CN" altLang="en-US" dirty="0"/>
                        <a:t>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2364051"/>
                  </a:ext>
                </a:extLst>
              </a:tr>
            </a:tbl>
          </a:graphicData>
        </a:graphic>
      </p:graphicFrame>
      <p:cxnSp>
        <p:nvCxnSpPr>
          <p:cNvPr id="58" name="直接连接符 57"/>
          <p:cNvCxnSpPr/>
          <p:nvPr/>
        </p:nvCxnSpPr>
        <p:spPr>
          <a:xfrm>
            <a:off x="7722866" y="2697622"/>
            <a:ext cx="0" cy="3713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4"/>
          <p:cNvSpPr>
            <a:spLocks noChangeArrowheads="1"/>
          </p:cNvSpPr>
          <p:nvPr/>
        </p:nvSpPr>
        <p:spPr bwMode="auto">
          <a:xfrm>
            <a:off x="6264696" y="4653136"/>
            <a:ext cx="2771800" cy="2154436"/>
          </a:xfrm>
          <a:prstGeom prst="rect">
            <a:avLst/>
          </a:prstGeom>
          <a:solidFill>
            <a:srgbClr val="FF3255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4000"/>
              </a:lnSpc>
              <a:spcBef>
                <a:spcPts val="400"/>
              </a:spcBef>
              <a:spcAft>
                <a:spcPts val="60"/>
              </a:spcAft>
            </a:pPr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附加位的作用是发送端把奇偶校验方式通过发送的信息告诉接收端，接收方将附加位分离出来可知发送方校验方式。</a:t>
            </a:r>
            <a:endParaRPr lang="en-US" altLang="zh-CN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" name="矩形 4"/>
          <p:cNvSpPr>
            <a:spLocks noChangeArrowheads="1"/>
          </p:cNvSpPr>
          <p:nvPr/>
        </p:nvSpPr>
        <p:spPr bwMode="auto">
          <a:xfrm>
            <a:off x="266637" y="5536417"/>
            <a:ext cx="2771800" cy="875111"/>
          </a:xfrm>
          <a:prstGeom prst="rect">
            <a:avLst/>
          </a:prstGeom>
          <a:solidFill>
            <a:srgbClr val="FF3255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4000"/>
              </a:lnSpc>
              <a:spcBef>
                <a:spcPts val="400"/>
              </a:spcBef>
              <a:spcAft>
                <a:spcPts val="60"/>
              </a:spcAft>
            </a:pPr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收发已约定校验方式时，无需附加奇偶校验位。</a:t>
            </a:r>
            <a:endParaRPr lang="en-US" altLang="zh-CN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84364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56" grpId="0" animBg="1"/>
      <p:bldP spid="31" grpId="0" animBg="1"/>
      <p:bldP spid="19" grpId="0" animBg="1"/>
      <p:bldP spid="51" grpId="0" animBg="1"/>
      <p:bldP spid="25" grpId="0" animBg="1"/>
      <p:bldP spid="25" grpId="1" animBg="1"/>
      <p:bldP spid="26" grpId="0" animBg="1"/>
      <p:bldP spid="26" grpId="1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除数锁存器（</a:t>
            </a: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BASE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BASE+1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9" name="矩形 8"/>
          <p:cNvSpPr/>
          <p:nvPr/>
        </p:nvSpPr>
        <p:spPr>
          <a:xfrm>
            <a:off x="755576" y="1651711"/>
            <a:ext cx="7776864" cy="598956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当线路控制寄存器</a:t>
            </a:r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DLAB=1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，表示触发写除数寄存器。</a:t>
            </a:r>
          </a:p>
        </p:txBody>
      </p:sp>
      <p:sp>
        <p:nvSpPr>
          <p:cNvPr id="10" name="矩形 9"/>
          <p:cNvSpPr/>
          <p:nvPr/>
        </p:nvSpPr>
        <p:spPr>
          <a:xfrm>
            <a:off x="755576" y="3955967"/>
            <a:ext cx="7776864" cy="1273233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8250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初始化时，必须将</a:t>
            </a:r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16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位的分频系数分两次写入高低两个除数锁存器，地址为</a:t>
            </a:r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A2A1A0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为</a:t>
            </a:r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000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001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sp>
        <p:nvSpPr>
          <p:cNvPr id="11" name="矩形 10"/>
          <p:cNvSpPr/>
          <p:nvPr/>
        </p:nvSpPr>
        <p:spPr>
          <a:xfrm>
            <a:off x="755576" y="2611487"/>
            <a:ext cx="7776864" cy="1017751"/>
          </a:xfrm>
          <a:prstGeom prst="rect">
            <a:avLst/>
          </a:prstGeom>
          <a:noFill/>
          <a:ln w="9525">
            <a:solidFill>
              <a:srgbClr val="1D8DE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分频系数</a:t>
            </a:r>
            <a:r>
              <a:rPr lang="en-US" altLang="zh-CN" sz="36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= fs / ( 16*</a:t>
            </a:r>
            <a:r>
              <a:rPr lang="zh-CN" altLang="en-US" sz="36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波特率 </a:t>
            </a:r>
            <a:r>
              <a:rPr lang="en-US" altLang="zh-CN" sz="36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endParaRPr lang="zh-CN" altLang="en-US" sz="3600" b="1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61424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/>
          <p:cNvSpPr/>
          <p:nvPr/>
        </p:nvSpPr>
        <p:spPr>
          <a:xfrm>
            <a:off x="852104" y="1700808"/>
            <a:ext cx="891183" cy="723899"/>
          </a:xfrm>
          <a:prstGeom prst="roundRect">
            <a:avLst>
              <a:gd name="adj" fmla="val 4357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0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1788208" y="1700808"/>
            <a:ext cx="891183" cy="723899"/>
          </a:xfrm>
          <a:prstGeom prst="roundRect">
            <a:avLst>
              <a:gd name="adj" fmla="val 4357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D6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2724312" y="1700808"/>
            <a:ext cx="891183" cy="723899"/>
          </a:xfrm>
          <a:prstGeom prst="roundRect">
            <a:avLst>
              <a:gd name="adj" fmla="val 4357"/>
            </a:avLst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D5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3660416" y="1700808"/>
            <a:ext cx="891183" cy="723899"/>
          </a:xfrm>
          <a:prstGeom prst="roundRect">
            <a:avLst>
              <a:gd name="adj" fmla="val 4357"/>
            </a:avLst>
          </a:prstGeom>
          <a:solidFill>
            <a:srgbClr val="00B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D4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5532624" y="1700808"/>
            <a:ext cx="891183" cy="723899"/>
          </a:xfrm>
          <a:prstGeom prst="roundRect">
            <a:avLst>
              <a:gd name="adj" fmla="val 4357"/>
            </a:avLst>
          </a:prstGeom>
          <a:solidFill>
            <a:srgbClr val="00B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D2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6468728" y="1700808"/>
            <a:ext cx="891183" cy="723899"/>
          </a:xfrm>
          <a:prstGeom prst="roundRect">
            <a:avLst>
              <a:gd name="adj" fmla="val 4357"/>
            </a:avLst>
          </a:prstGeom>
          <a:solidFill>
            <a:srgbClr val="00B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D1</a:t>
            </a:r>
          </a:p>
        </p:txBody>
      </p:sp>
      <p:sp>
        <p:nvSpPr>
          <p:cNvPr id="9" name="圆角矩形 8"/>
          <p:cNvSpPr/>
          <p:nvPr/>
        </p:nvSpPr>
        <p:spPr>
          <a:xfrm>
            <a:off x="7404832" y="1700808"/>
            <a:ext cx="891183" cy="723899"/>
          </a:xfrm>
          <a:prstGeom prst="roundRect">
            <a:avLst>
              <a:gd name="adj" fmla="val 4357"/>
            </a:avLst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D0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4596520" y="1700808"/>
            <a:ext cx="891183" cy="723899"/>
          </a:xfrm>
          <a:prstGeom prst="roundRect">
            <a:avLst>
              <a:gd name="adj" fmla="val 4357"/>
            </a:avLst>
          </a:prstGeom>
          <a:solidFill>
            <a:srgbClr val="00B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D3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cxnSp>
        <p:nvCxnSpPr>
          <p:cNvPr id="35" name="直接连接符 34"/>
          <p:cNvCxnSpPr/>
          <p:nvPr/>
        </p:nvCxnSpPr>
        <p:spPr>
          <a:xfrm>
            <a:off x="2235565" y="2408616"/>
            <a:ext cx="0" cy="8427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5043877" y="2408616"/>
            <a:ext cx="0" cy="8194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6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线路状态寄存器（</a:t>
            </a: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BASE+5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37" name="直接连接符 36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56" name="圆角矩形 55"/>
          <p:cNvSpPr/>
          <p:nvPr/>
        </p:nvSpPr>
        <p:spPr>
          <a:xfrm>
            <a:off x="1247285" y="4293096"/>
            <a:ext cx="2359407" cy="720080"/>
          </a:xfrm>
          <a:prstGeom prst="roundRect">
            <a:avLst>
              <a:gd name="adj" fmla="val 4357"/>
            </a:avLst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ea typeface="微软雅黑" panose="020B0503020204020204" pitchFamily="34" charset="-122"/>
              </a:rPr>
              <a:t>0</a:t>
            </a:r>
            <a:r>
              <a:rPr lang="zh-CN" altLang="en-US" sz="1600" dirty="0">
                <a:ea typeface="微软雅黑" panose="020B0503020204020204" pitchFamily="34" charset="-122"/>
              </a:rPr>
              <a:t>：</a:t>
            </a:r>
            <a:r>
              <a:rPr lang="zh-CN" altLang="en-US" sz="1600" dirty="0">
                <a:solidFill>
                  <a:schemeClr val="bg1"/>
                </a:solidFill>
                <a:ea typeface="微软雅黑" panose="020B0503020204020204" pitchFamily="34" charset="-122"/>
              </a:rPr>
              <a:t>发送保持寄存器不空</a:t>
            </a:r>
            <a:endParaRPr lang="en-US" altLang="zh-CN" sz="1600" dirty="0">
              <a:solidFill>
                <a:schemeClr val="bg1"/>
              </a:solidFill>
              <a:ea typeface="微软雅黑" panose="020B0503020204020204" pitchFamily="34" charset="-122"/>
            </a:endParaRPr>
          </a:p>
          <a:p>
            <a:r>
              <a:rPr lang="en-US" altLang="zh-CN" sz="1600" dirty="0">
                <a:solidFill>
                  <a:schemeClr val="bg1"/>
                </a:solidFill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solidFill>
                  <a:schemeClr val="bg1"/>
                </a:solidFill>
                <a:ea typeface="微软雅黑" panose="020B0503020204020204" pitchFamily="34" charset="-122"/>
              </a:rPr>
              <a:t>：发送保持寄存器</a:t>
            </a:r>
            <a:r>
              <a:rPr lang="zh-CN" altLang="en-US" sz="1600" dirty="0">
                <a:ea typeface="微软雅黑" panose="020B0503020204020204" pitchFamily="34" charset="-122"/>
              </a:rPr>
              <a:t>空</a:t>
            </a:r>
          </a:p>
        </p:txBody>
      </p:sp>
      <p:sp>
        <p:nvSpPr>
          <p:cNvPr id="31" name="圆角矩形 30"/>
          <p:cNvSpPr/>
          <p:nvPr/>
        </p:nvSpPr>
        <p:spPr>
          <a:xfrm>
            <a:off x="323528" y="3262510"/>
            <a:ext cx="2304255" cy="688811"/>
          </a:xfrm>
          <a:prstGeom prst="roundRect">
            <a:avLst>
              <a:gd name="adj" fmla="val 435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ea typeface="微软雅黑" panose="020B0503020204020204" pitchFamily="34" charset="-122"/>
              </a:rPr>
              <a:t>0: </a:t>
            </a:r>
            <a:r>
              <a:rPr lang="zh-CN" altLang="en-US" sz="1600" dirty="0">
                <a:ea typeface="微软雅黑" panose="020B0503020204020204" pitchFamily="34" charset="-122"/>
              </a:rPr>
              <a:t>发送</a:t>
            </a:r>
            <a:r>
              <a:rPr lang="zh-CN" altLang="en-US" sz="1600" dirty="0">
                <a:solidFill>
                  <a:srgbClr val="FFFF00"/>
                </a:solidFill>
                <a:ea typeface="微软雅黑" panose="020B0503020204020204" pitchFamily="34" charset="-122"/>
              </a:rPr>
              <a:t>移位</a:t>
            </a:r>
            <a:r>
              <a:rPr lang="zh-CN" altLang="en-US" sz="1600" dirty="0">
                <a:ea typeface="微软雅黑" panose="020B0503020204020204" pitchFamily="34" charset="-122"/>
              </a:rPr>
              <a:t>寄存器不空</a:t>
            </a:r>
            <a:endParaRPr lang="en-US" altLang="zh-CN" sz="1600" dirty="0">
              <a:ea typeface="微软雅黑" panose="020B0503020204020204" pitchFamily="34" charset="-122"/>
            </a:endParaRPr>
          </a:p>
          <a:p>
            <a:r>
              <a:rPr lang="en-US" altLang="zh-CN" sz="1600" dirty="0">
                <a:ea typeface="微软雅黑" panose="020B0503020204020204" pitchFamily="34" charset="-122"/>
              </a:rPr>
              <a:t>1: </a:t>
            </a:r>
            <a:r>
              <a:rPr lang="zh-CN" altLang="en-US" sz="1600" dirty="0">
                <a:ea typeface="微软雅黑" panose="020B0503020204020204" pitchFamily="34" charset="-122"/>
              </a:rPr>
              <a:t>发送</a:t>
            </a:r>
            <a:r>
              <a:rPr lang="zh-CN" altLang="en-US" sz="1600" dirty="0">
                <a:solidFill>
                  <a:srgbClr val="FFFF00"/>
                </a:solidFill>
                <a:ea typeface="微软雅黑" panose="020B0503020204020204" pitchFamily="34" charset="-122"/>
              </a:rPr>
              <a:t>移位</a:t>
            </a:r>
            <a:r>
              <a:rPr lang="zh-CN" altLang="en-US" sz="1600" dirty="0">
                <a:ea typeface="微软雅黑" panose="020B0503020204020204" pitchFamily="34" charset="-122"/>
              </a:rPr>
              <a:t>寄存器空</a:t>
            </a:r>
            <a:endParaRPr lang="en-US" altLang="zh-CN" sz="1600" dirty="0">
              <a:ea typeface="微软雅黑" panose="020B0503020204020204" pitchFamily="34" charset="-122"/>
            </a:endParaRPr>
          </a:p>
        </p:txBody>
      </p:sp>
      <p:cxnSp>
        <p:nvCxnSpPr>
          <p:cNvPr id="44" name="直接连接符 43"/>
          <p:cNvCxnSpPr/>
          <p:nvPr/>
        </p:nvCxnSpPr>
        <p:spPr>
          <a:xfrm>
            <a:off x="3194906" y="2415894"/>
            <a:ext cx="0" cy="18772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4106007" y="2393566"/>
            <a:ext cx="0" cy="18995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圆角矩形 29"/>
          <p:cNvSpPr/>
          <p:nvPr/>
        </p:nvSpPr>
        <p:spPr>
          <a:xfrm>
            <a:off x="3762030" y="4293096"/>
            <a:ext cx="1251360" cy="720080"/>
          </a:xfrm>
          <a:prstGeom prst="roundRect">
            <a:avLst>
              <a:gd name="adj" fmla="val 435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ea typeface="微软雅黑" panose="020B0503020204020204" pitchFamily="34" charset="-122"/>
              </a:rPr>
              <a:t>1: </a:t>
            </a:r>
            <a:r>
              <a:rPr lang="zh-CN" altLang="en-US" sz="1600" dirty="0">
                <a:ea typeface="微软雅黑" panose="020B0503020204020204" pitchFamily="34" charset="-122"/>
              </a:rPr>
              <a:t>停顿指示</a:t>
            </a:r>
            <a:endParaRPr lang="en-US" altLang="zh-CN" sz="1600" dirty="0">
              <a:ea typeface="微软雅黑" panose="020B0503020204020204" pitchFamily="34" charset="-122"/>
            </a:endParaRPr>
          </a:p>
        </p:txBody>
      </p:sp>
      <p:sp>
        <p:nvSpPr>
          <p:cNvPr id="32" name="圆角矩形 31"/>
          <p:cNvSpPr/>
          <p:nvPr/>
        </p:nvSpPr>
        <p:spPr>
          <a:xfrm>
            <a:off x="4419062" y="3212976"/>
            <a:ext cx="1072785" cy="688811"/>
          </a:xfrm>
          <a:prstGeom prst="roundRect">
            <a:avLst>
              <a:gd name="adj" fmla="val 435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ea typeface="微软雅黑" panose="020B0503020204020204" pitchFamily="34" charset="-122"/>
              </a:rPr>
              <a:t>1: </a:t>
            </a:r>
            <a:r>
              <a:rPr lang="zh-CN" altLang="en-US" sz="1600" dirty="0">
                <a:ea typeface="微软雅黑" panose="020B0503020204020204" pitchFamily="34" charset="-122"/>
              </a:rPr>
              <a:t>帧出错</a:t>
            </a:r>
            <a:endParaRPr lang="en-US" altLang="zh-CN" sz="1600" dirty="0">
              <a:ea typeface="微软雅黑" panose="020B0503020204020204" pitchFamily="34" charset="-122"/>
            </a:endParaRPr>
          </a:p>
        </p:txBody>
      </p:sp>
      <p:cxnSp>
        <p:nvCxnSpPr>
          <p:cNvPr id="33" name="直接连接符 32"/>
          <p:cNvCxnSpPr/>
          <p:nvPr/>
        </p:nvCxnSpPr>
        <p:spPr>
          <a:xfrm>
            <a:off x="5979981" y="2431933"/>
            <a:ext cx="0" cy="8194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圆角矩形 38"/>
          <p:cNvSpPr/>
          <p:nvPr/>
        </p:nvSpPr>
        <p:spPr>
          <a:xfrm>
            <a:off x="5635711" y="3212976"/>
            <a:ext cx="1072785" cy="688811"/>
          </a:xfrm>
          <a:prstGeom prst="roundRect">
            <a:avLst>
              <a:gd name="adj" fmla="val 435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ea typeface="微软雅黑" panose="020B0503020204020204" pitchFamily="34" charset="-122"/>
              </a:rPr>
              <a:t>1: </a:t>
            </a:r>
            <a:r>
              <a:rPr lang="zh-CN" altLang="en-US" sz="1600" dirty="0">
                <a:ea typeface="微软雅黑" panose="020B0503020204020204" pitchFamily="34" charset="-122"/>
              </a:rPr>
              <a:t>校验错</a:t>
            </a:r>
            <a:endParaRPr lang="en-US" altLang="zh-CN" sz="1600" dirty="0">
              <a:ea typeface="微软雅黑" panose="020B0503020204020204" pitchFamily="34" charset="-122"/>
            </a:endParaRPr>
          </a:p>
        </p:txBody>
      </p:sp>
      <p:cxnSp>
        <p:nvCxnSpPr>
          <p:cNvPr id="40" name="直接连接符 39"/>
          <p:cNvCxnSpPr/>
          <p:nvPr/>
        </p:nvCxnSpPr>
        <p:spPr>
          <a:xfrm>
            <a:off x="6948264" y="2424707"/>
            <a:ext cx="0" cy="18683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圆角矩形 40"/>
          <p:cNvSpPr/>
          <p:nvPr/>
        </p:nvSpPr>
        <p:spPr>
          <a:xfrm>
            <a:off x="6142405" y="4293096"/>
            <a:ext cx="1611718" cy="720081"/>
          </a:xfrm>
          <a:prstGeom prst="roundRect">
            <a:avLst>
              <a:gd name="adj" fmla="val 435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ea typeface="微软雅黑" panose="020B0503020204020204" pitchFamily="34" charset="-122"/>
              </a:rPr>
              <a:t>1: </a:t>
            </a:r>
            <a:r>
              <a:rPr lang="zh-CN" altLang="en-US" sz="1600" dirty="0">
                <a:ea typeface="微软雅黑" panose="020B0503020204020204" pitchFamily="34" charset="-122"/>
              </a:rPr>
              <a:t>数据重叠错</a:t>
            </a:r>
            <a:endParaRPr lang="en-US" altLang="zh-CN" sz="1600" dirty="0">
              <a:ea typeface="微软雅黑" panose="020B0503020204020204" pitchFamily="34" charset="-122"/>
            </a:endParaRPr>
          </a:p>
        </p:txBody>
      </p:sp>
      <p:cxnSp>
        <p:nvCxnSpPr>
          <p:cNvPr id="42" name="直接连接符 41"/>
          <p:cNvCxnSpPr/>
          <p:nvPr/>
        </p:nvCxnSpPr>
        <p:spPr>
          <a:xfrm>
            <a:off x="7852189" y="2431933"/>
            <a:ext cx="0" cy="7810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圆角矩形 42"/>
          <p:cNvSpPr/>
          <p:nvPr/>
        </p:nvSpPr>
        <p:spPr>
          <a:xfrm>
            <a:off x="7103603" y="3211597"/>
            <a:ext cx="1724859" cy="688811"/>
          </a:xfrm>
          <a:prstGeom prst="roundRect">
            <a:avLst>
              <a:gd name="adj" fmla="val 4357"/>
            </a:avLst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ea typeface="微软雅黑" panose="020B0503020204020204" pitchFamily="34" charset="-122"/>
              </a:rPr>
              <a:t>0: </a:t>
            </a:r>
            <a:r>
              <a:rPr lang="zh-CN" altLang="en-US" sz="1600" dirty="0">
                <a:ea typeface="微软雅黑" panose="020B0503020204020204" pitchFamily="34" charset="-122"/>
              </a:rPr>
              <a:t>接收缓冲器满</a:t>
            </a:r>
            <a:endParaRPr lang="en-US" altLang="zh-CN" sz="1600" dirty="0">
              <a:ea typeface="微软雅黑" panose="020B0503020204020204" pitchFamily="34" charset="-122"/>
            </a:endParaRPr>
          </a:p>
          <a:p>
            <a:r>
              <a:rPr lang="en-US" altLang="zh-CN" sz="1600" dirty="0">
                <a:ea typeface="微软雅黑" panose="020B0503020204020204" pitchFamily="34" charset="-122"/>
              </a:rPr>
              <a:t>1: </a:t>
            </a:r>
            <a:r>
              <a:rPr lang="zh-CN" altLang="en-US" sz="1600" dirty="0">
                <a:ea typeface="微软雅黑" panose="020B0503020204020204" pitchFamily="34" charset="-122"/>
              </a:rPr>
              <a:t>接收缓冲器空</a:t>
            </a:r>
            <a:endParaRPr lang="en-US" altLang="zh-CN" sz="1600" dirty="0">
              <a:ea typeface="微软雅黑" panose="020B0503020204020204" pitchFamily="34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2098974" y="6038954"/>
            <a:ext cx="5108032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zh-CN" altLang="en-US" sz="2400" dirty="0">
                <a:ln w="17780" cmpd="sng">
                  <a:noFill/>
                  <a:prstDash val="solid"/>
                  <a:miter lim="800000"/>
                </a:ln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测试</a:t>
            </a:r>
            <a:r>
              <a:rPr lang="en-US" altLang="zh-CN" sz="2400" dirty="0">
                <a:ln w="17780" cmpd="sng">
                  <a:noFill/>
                  <a:prstDash val="solid"/>
                  <a:miter lim="800000"/>
                </a:ln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D5</a:t>
            </a:r>
            <a:r>
              <a:rPr lang="zh-CN" altLang="en-US" sz="2400" dirty="0">
                <a:ln w="17780" cmpd="sng">
                  <a:noFill/>
                  <a:prstDash val="solid"/>
                  <a:miter lim="800000"/>
                </a:ln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用于发送，测试</a:t>
            </a:r>
            <a:r>
              <a:rPr lang="en-US" altLang="zh-CN" sz="2400" dirty="0">
                <a:ln w="17780" cmpd="sng">
                  <a:noFill/>
                  <a:prstDash val="solid"/>
                  <a:miter lim="800000"/>
                </a:ln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D0</a:t>
            </a:r>
            <a:r>
              <a:rPr lang="zh-CN" altLang="en-US" sz="2400" dirty="0">
                <a:ln w="17780" cmpd="sng">
                  <a:noFill/>
                  <a:prstDash val="solid"/>
                  <a:miter lim="800000"/>
                </a:ln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用于接收。</a:t>
            </a:r>
            <a:endParaRPr lang="en-US" altLang="zh-CN" sz="2400" dirty="0">
              <a:ln w="17780" cmpd="sng">
                <a:noFill/>
                <a:prstDash val="solid"/>
                <a:miter lim="800000"/>
              </a:ln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49" name="Picture 2" descr="C:\Documents and Settings\tdz\桌面\未标题-1 拷贝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259210" y="5787039"/>
            <a:ext cx="834828" cy="782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2729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31" grpId="0" animBg="1"/>
      <p:bldP spid="30" grpId="0" animBg="1"/>
      <p:bldP spid="32" grpId="0" animBg="1"/>
      <p:bldP spid="39" grpId="0" animBg="1"/>
      <p:bldP spid="41" grpId="0" animBg="1"/>
      <p:bldP spid="43" grpId="0" animBg="1"/>
      <p:bldP spid="47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/>
          <p:cNvSpPr/>
          <p:nvPr/>
        </p:nvSpPr>
        <p:spPr>
          <a:xfrm>
            <a:off x="852104" y="1543879"/>
            <a:ext cx="891183" cy="723899"/>
          </a:xfrm>
          <a:prstGeom prst="roundRect">
            <a:avLst>
              <a:gd name="adj" fmla="val 4357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0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1788208" y="1543879"/>
            <a:ext cx="891183" cy="723899"/>
          </a:xfrm>
          <a:prstGeom prst="roundRect">
            <a:avLst>
              <a:gd name="adj" fmla="val 4357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0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2724312" y="1543879"/>
            <a:ext cx="891183" cy="723899"/>
          </a:xfrm>
          <a:prstGeom prst="roundRect">
            <a:avLst>
              <a:gd name="adj" fmla="val 4357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0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3660416" y="1543879"/>
            <a:ext cx="891183" cy="723899"/>
          </a:xfrm>
          <a:prstGeom prst="roundRect">
            <a:avLst>
              <a:gd name="adj" fmla="val 4357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0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5532624" y="1543879"/>
            <a:ext cx="891183" cy="723899"/>
          </a:xfrm>
          <a:prstGeom prst="roundRect">
            <a:avLst>
              <a:gd name="adj" fmla="val 4357"/>
            </a:avLst>
          </a:prstGeom>
          <a:solidFill>
            <a:srgbClr val="00B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D2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6468728" y="1543879"/>
            <a:ext cx="891183" cy="723899"/>
          </a:xfrm>
          <a:prstGeom prst="roundRect">
            <a:avLst>
              <a:gd name="adj" fmla="val 4357"/>
            </a:avLst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D1</a:t>
            </a:r>
          </a:p>
        </p:txBody>
      </p:sp>
      <p:sp>
        <p:nvSpPr>
          <p:cNvPr id="9" name="圆角矩形 8"/>
          <p:cNvSpPr/>
          <p:nvPr/>
        </p:nvSpPr>
        <p:spPr>
          <a:xfrm>
            <a:off x="7404832" y="1543879"/>
            <a:ext cx="891183" cy="723899"/>
          </a:xfrm>
          <a:prstGeom prst="roundRect">
            <a:avLst>
              <a:gd name="adj" fmla="val 4357"/>
            </a:avLst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D0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4596520" y="1543879"/>
            <a:ext cx="891183" cy="723899"/>
          </a:xfrm>
          <a:prstGeom prst="roundRect">
            <a:avLst>
              <a:gd name="adj" fmla="val 4357"/>
            </a:avLst>
          </a:prstGeom>
          <a:solidFill>
            <a:srgbClr val="00B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D3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cxnSp>
        <p:nvCxnSpPr>
          <p:cNvPr id="48" name="直接连接符 47"/>
          <p:cNvCxnSpPr/>
          <p:nvPr/>
        </p:nvCxnSpPr>
        <p:spPr>
          <a:xfrm>
            <a:off x="5043877" y="2251687"/>
            <a:ext cx="0" cy="4443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6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中断允许寄存器（</a:t>
            </a: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BASE+1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37" name="直接连接符 36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2" name="圆角矩形 31"/>
          <p:cNvSpPr/>
          <p:nvPr/>
        </p:nvSpPr>
        <p:spPr>
          <a:xfrm>
            <a:off x="2901947" y="2696007"/>
            <a:ext cx="2408119" cy="688811"/>
          </a:xfrm>
          <a:prstGeom prst="roundRect">
            <a:avLst>
              <a:gd name="adj" fmla="val 435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ea typeface="微软雅黑" panose="020B0503020204020204" pitchFamily="34" charset="-122"/>
              </a:rPr>
              <a:t>：允许</a:t>
            </a:r>
            <a:r>
              <a:rPr lang="en-US" altLang="zh-CN" sz="1600" dirty="0">
                <a:ea typeface="微软雅黑" panose="020B0503020204020204" pitchFamily="34" charset="-122"/>
              </a:rPr>
              <a:t>Modem</a:t>
            </a:r>
            <a:r>
              <a:rPr lang="zh-CN" altLang="en-US" sz="1600" dirty="0">
                <a:ea typeface="微软雅黑" panose="020B0503020204020204" pitchFamily="34" charset="-122"/>
              </a:rPr>
              <a:t>状态中断</a:t>
            </a:r>
            <a:endParaRPr lang="en-US" altLang="zh-CN" sz="1600" dirty="0">
              <a:ea typeface="微软雅黑" panose="020B0503020204020204" pitchFamily="34" charset="-122"/>
            </a:endParaRPr>
          </a:p>
        </p:txBody>
      </p:sp>
      <p:cxnSp>
        <p:nvCxnSpPr>
          <p:cNvPr id="33" name="直接连接符 32"/>
          <p:cNvCxnSpPr/>
          <p:nvPr/>
        </p:nvCxnSpPr>
        <p:spPr>
          <a:xfrm>
            <a:off x="5979981" y="2275004"/>
            <a:ext cx="0" cy="12260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圆角矩形 38"/>
          <p:cNvSpPr/>
          <p:nvPr/>
        </p:nvSpPr>
        <p:spPr>
          <a:xfrm>
            <a:off x="3615495" y="3501008"/>
            <a:ext cx="2768803" cy="688811"/>
          </a:xfrm>
          <a:prstGeom prst="roundRect">
            <a:avLst>
              <a:gd name="adj" fmla="val 435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ea typeface="微软雅黑" panose="020B0503020204020204" pitchFamily="34" charset="-122"/>
              </a:rPr>
              <a:t>：允许线路状态中断（溢出错、奇偶错、格式错、</a:t>
            </a:r>
            <a:r>
              <a:rPr lang="en-US" altLang="zh-CN" sz="1600" dirty="0">
                <a:ea typeface="微软雅黑" panose="020B0503020204020204" pitchFamily="34" charset="-122"/>
              </a:rPr>
              <a:t>Break</a:t>
            </a:r>
            <a:r>
              <a:rPr lang="zh-CN" altLang="en-US" sz="1600" dirty="0">
                <a:ea typeface="微软雅黑" panose="020B0503020204020204" pitchFamily="34" charset="-122"/>
              </a:rPr>
              <a:t>）</a:t>
            </a:r>
            <a:endParaRPr lang="en-US" altLang="zh-CN" sz="1600" dirty="0">
              <a:ea typeface="微软雅黑" panose="020B0503020204020204" pitchFamily="34" charset="-122"/>
            </a:endParaRPr>
          </a:p>
        </p:txBody>
      </p:sp>
      <p:cxnSp>
        <p:nvCxnSpPr>
          <p:cNvPr id="40" name="直接连接符 39"/>
          <p:cNvCxnSpPr/>
          <p:nvPr/>
        </p:nvCxnSpPr>
        <p:spPr>
          <a:xfrm>
            <a:off x="6915245" y="2267778"/>
            <a:ext cx="0" cy="20973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圆角矩形 40"/>
          <p:cNvSpPr/>
          <p:nvPr/>
        </p:nvSpPr>
        <p:spPr>
          <a:xfrm>
            <a:off x="5148064" y="4365104"/>
            <a:ext cx="2165464" cy="720081"/>
          </a:xfrm>
          <a:prstGeom prst="roundRect">
            <a:avLst>
              <a:gd name="adj" fmla="val 4357"/>
            </a:avLst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ea typeface="微软雅黑" panose="020B0503020204020204" pitchFamily="34" charset="-122"/>
              </a:rPr>
              <a:t>：允许发送保持寄存器空中断</a:t>
            </a:r>
            <a:endParaRPr lang="en-US" altLang="zh-CN" sz="1600" dirty="0">
              <a:ea typeface="微软雅黑" panose="020B0503020204020204" pitchFamily="34" charset="-122"/>
            </a:endParaRPr>
          </a:p>
        </p:txBody>
      </p:sp>
      <p:cxnSp>
        <p:nvCxnSpPr>
          <p:cNvPr id="42" name="直接连接符 41"/>
          <p:cNvCxnSpPr/>
          <p:nvPr/>
        </p:nvCxnSpPr>
        <p:spPr>
          <a:xfrm>
            <a:off x="7852189" y="2275004"/>
            <a:ext cx="0" cy="30574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圆角矩形 42"/>
          <p:cNvSpPr/>
          <p:nvPr/>
        </p:nvSpPr>
        <p:spPr>
          <a:xfrm>
            <a:off x="6465644" y="5301208"/>
            <a:ext cx="1932893" cy="688811"/>
          </a:xfrm>
          <a:prstGeom prst="roundRect">
            <a:avLst>
              <a:gd name="adj" fmla="val 4357"/>
            </a:avLst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ea typeface="微软雅黑" panose="020B0503020204020204" pitchFamily="34" charset="-122"/>
              </a:rPr>
              <a:t>：允许接收缓冲器满中断</a:t>
            </a:r>
            <a:endParaRPr lang="en-US" altLang="zh-CN" sz="1600" dirty="0">
              <a:ea typeface="微软雅黑" panose="020B0503020204020204" pitchFamily="34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852104" y="5301208"/>
            <a:ext cx="4007928" cy="688811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dirty="0">
                <a:solidFill>
                  <a:schemeClr val="lt1"/>
                </a:solidFill>
                <a:ea typeface="微软雅黑" panose="020B0503020204020204" pitchFamily="34" charset="-122"/>
              </a:rPr>
              <a:t>允许中断（也可禁止中断）</a:t>
            </a:r>
            <a:endParaRPr lang="en-US" altLang="zh-CN" sz="2400" dirty="0">
              <a:solidFill>
                <a:schemeClr val="lt1"/>
              </a:solidFill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50821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9" grpId="0" animBg="1"/>
      <p:bldP spid="41" grpId="0" animBg="1"/>
      <p:bldP spid="43" grpId="0" animBg="1"/>
      <p:bldP spid="38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/>
          <p:cNvSpPr/>
          <p:nvPr/>
        </p:nvSpPr>
        <p:spPr>
          <a:xfrm>
            <a:off x="852104" y="1543879"/>
            <a:ext cx="891183" cy="723899"/>
          </a:xfrm>
          <a:prstGeom prst="roundRect">
            <a:avLst>
              <a:gd name="adj" fmla="val 4357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0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1788208" y="1543879"/>
            <a:ext cx="891183" cy="723899"/>
          </a:xfrm>
          <a:prstGeom prst="roundRect">
            <a:avLst>
              <a:gd name="adj" fmla="val 4357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0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2724312" y="1543879"/>
            <a:ext cx="891183" cy="723899"/>
          </a:xfrm>
          <a:prstGeom prst="roundRect">
            <a:avLst>
              <a:gd name="adj" fmla="val 4357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0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3660416" y="1543879"/>
            <a:ext cx="891183" cy="723899"/>
          </a:xfrm>
          <a:prstGeom prst="roundRect">
            <a:avLst>
              <a:gd name="adj" fmla="val 4357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0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5532624" y="1543879"/>
            <a:ext cx="891183" cy="723899"/>
          </a:xfrm>
          <a:prstGeom prst="roundRect">
            <a:avLst>
              <a:gd name="adj" fmla="val 4357"/>
            </a:avLst>
          </a:prstGeom>
          <a:solidFill>
            <a:srgbClr val="00B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D2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6468728" y="1543879"/>
            <a:ext cx="891183" cy="723899"/>
          </a:xfrm>
          <a:prstGeom prst="roundRect">
            <a:avLst>
              <a:gd name="adj" fmla="val 4357"/>
            </a:avLst>
          </a:prstGeom>
          <a:solidFill>
            <a:srgbClr val="00B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D1</a:t>
            </a:r>
          </a:p>
        </p:txBody>
      </p:sp>
      <p:sp>
        <p:nvSpPr>
          <p:cNvPr id="9" name="圆角矩形 8"/>
          <p:cNvSpPr/>
          <p:nvPr/>
        </p:nvSpPr>
        <p:spPr>
          <a:xfrm>
            <a:off x="7404832" y="1543879"/>
            <a:ext cx="891183" cy="723899"/>
          </a:xfrm>
          <a:prstGeom prst="roundRect">
            <a:avLst>
              <a:gd name="adj" fmla="val 4357"/>
            </a:avLst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D0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4596520" y="1543879"/>
            <a:ext cx="891183" cy="723899"/>
          </a:xfrm>
          <a:prstGeom prst="roundRect">
            <a:avLst>
              <a:gd name="adj" fmla="val 4357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0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cxnSp>
        <p:nvCxnSpPr>
          <p:cNvPr id="34" name="直接连接符 3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6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中断识别寄存器（</a:t>
            </a: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BASE+2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37" name="直接连接符 36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cxnSp>
        <p:nvCxnSpPr>
          <p:cNvPr id="42" name="直接连接符 41"/>
          <p:cNvCxnSpPr>
            <a:endCxn id="43" idx="0"/>
          </p:cNvCxnSpPr>
          <p:nvPr/>
        </p:nvCxnSpPr>
        <p:spPr>
          <a:xfrm flipH="1">
            <a:off x="7850423" y="2275004"/>
            <a:ext cx="1766" cy="26265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圆角矩形 42"/>
          <p:cNvSpPr/>
          <p:nvPr/>
        </p:nvSpPr>
        <p:spPr>
          <a:xfrm>
            <a:off x="7249073" y="4901515"/>
            <a:ext cx="1202700" cy="688811"/>
          </a:xfrm>
          <a:prstGeom prst="roundRect">
            <a:avLst>
              <a:gd name="adj" fmla="val 4357"/>
            </a:avLst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ea typeface="微软雅黑" panose="020B0503020204020204" pitchFamily="34" charset="-122"/>
              </a:rPr>
              <a:t>0</a:t>
            </a:r>
            <a:r>
              <a:rPr lang="zh-CN" altLang="en-US" sz="1600" dirty="0">
                <a:ea typeface="微软雅黑" panose="020B0503020204020204" pitchFamily="34" charset="-122"/>
              </a:rPr>
              <a:t>：无中断</a:t>
            </a:r>
          </a:p>
          <a:p>
            <a:r>
              <a:rPr lang="en-US" altLang="zh-CN" sz="1600" dirty="0"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ea typeface="微软雅黑" panose="020B0503020204020204" pitchFamily="34" charset="-122"/>
              </a:rPr>
              <a:t>：有中断</a:t>
            </a:r>
            <a:endParaRPr lang="en-US" altLang="zh-CN" sz="1600" dirty="0">
              <a:ea typeface="微软雅黑" panose="020B0503020204020204" pitchFamily="34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852104" y="4901514"/>
            <a:ext cx="3071824" cy="688811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dirty="0">
                <a:ea typeface="微软雅黑" panose="020B0503020204020204" pitchFamily="34" charset="-122"/>
              </a:rPr>
              <a:t>识别产生中断的原因</a:t>
            </a:r>
            <a:endParaRPr lang="en-US" altLang="zh-CN" sz="2400" dirty="0">
              <a:solidFill>
                <a:schemeClr val="lt1"/>
              </a:solidFill>
              <a:ea typeface="微软雅黑" panose="020B0503020204020204" pitchFamily="34" charset="-122"/>
            </a:endParaRPr>
          </a:p>
        </p:txBody>
      </p:sp>
      <p:sp>
        <p:nvSpPr>
          <p:cNvPr id="22" name="左大括号 21"/>
          <p:cNvSpPr/>
          <p:nvPr/>
        </p:nvSpPr>
        <p:spPr>
          <a:xfrm rot="16200000">
            <a:off x="6320430" y="1793053"/>
            <a:ext cx="301793" cy="124190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3" name="表格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0620943"/>
              </p:ext>
            </p:extLst>
          </p:nvPr>
        </p:nvGraphicFramePr>
        <p:xfrm>
          <a:off x="4060077" y="3018777"/>
          <a:ext cx="3312368" cy="15329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3901">
                  <a:extLst>
                    <a:ext uri="{9D8B030D-6E8A-4147-A177-3AD203B41FA5}">
                      <a16:colId xmlns:a16="http://schemas.microsoft.com/office/drawing/2014/main" val="2212427716"/>
                    </a:ext>
                  </a:extLst>
                </a:gridCol>
                <a:gridCol w="2738467">
                  <a:extLst>
                    <a:ext uri="{9D8B030D-6E8A-4147-A177-3AD203B41FA5}">
                      <a16:colId xmlns:a16="http://schemas.microsoft.com/office/drawing/2014/main" val="2536073474"/>
                    </a:ext>
                  </a:extLst>
                </a:gridCol>
              </a:tblGrid>
              <a:tr h="383239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0  0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Modem</a:t>
                      </a:r>
                      <a:r>
                        <a:rPr lang="zh-CN" altLang="en-US" dirty="0"/>
                        <a:t>状态中断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9283576"/>
                  </a:ext>
                </a:extLst>
              </a:tr>
              <a:tr h="383239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0  1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发送保持寄存器空中断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0659942"/>
                  </a:ext>
                </a:extLst>
              </a:tr>
              <a:tr h="38323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1  0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接收缓冲寄存器满中断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9134154"/>
                  </a:ext>
                </a:extLst>
              </a:tr>
              <a:tr h="383239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1  1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线路状态中断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2364051"/>
                  </a:ext>
                </a:extLst>
              </a:tr>
            </a:tbl>
          </a:graphicData>
        </a:graphic>
      </p:graphicFrame>
      <p:cxnSp>
        <p:nvCxnSpPr>
          <p:cNvPr id="24" name="直接连接符 23"/>
          <p:cNvCxnSpPr/>
          <p:nvPr/>
        </p:nvCxnSpPr>
        <p:spPr>
          <a:xfrm>
            <a:off x="6477194" y="2606171"/>
            <a:ext cx="0" cy="3713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下箭头 9"/>
          <p:cNvSpPr/>
          <p:nvPr/>
        </p:nvSpPr>
        <p:spPr>
          <a:xfrm>
            <a:off x="3660416" y="3068960"/>
            <a:ext cx="234235" cy="1482773"/>
          </a:xfrm>
          <a:prstGeom prst="downArrow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圆角矩形 26"/>
          <p:cNvSpPr/>
          <p:nvPr/>
        </p:nvSpPr>
        <p:spPr>
          <a:xfrm>
            <a:off x="3030171" y="3001841"/>
            <a:ext cx="391256" cy="1616395"/>
          </a:xfrm>
          <a:prstGeom prst="roundRect">
            <a:avLst>
              <a:gd name="adj" fmla="val 4357"/>
            </a:avLst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dirty="0">
                <a:ea typeface="微软雅黑" panose="020B0503020204020204" pitchFamily="34" charset="-122"/>
              </a:rPr>
              <a:t>优</a:t>
            </a:r>
            <a:endParaRPr lang="en-US" altLang="zh-CN" sz="1400" dirty="0">
              <a:ea typeface="微软雅黑" panose="020B0503020204020204" pitchFamily="34" charset="-122"/>
            </a:endParaRPr>
          </a:p>
          <a:p>
            <a:r>
              <a:rPr lang="zh-CN" altLang="en-US" sz="1400" dirty="0">
                <a:ea typeface="微软雅黑" panose="020B0503020204020204" pitchFamily="34" charset="-122"/>
              </a:rPr>
              <a:t>先</a:t>
            </a:r>
            <a:endParaRPr lang="en-US" altLang="zh-CN" sz="1400" dirty="0">
              <a:ea typeface="微软雅黑" panose="020B0503020204020204" pitchFamily="34" charset="-122"/>
            </a:endParaRPr>
          </a:p>
          <a:p>
            <a:r>
              <a:rPr lang="zh-CN" altLang="en-US" sz="1400" dirty="0">
                <a:ea typeface="微软雅黑" panose="020B0503020204020204" pitchFamily="34" charset="-122"/>
              </a:rPr>
              <a:t>权</a:t>
            </a:r>
            <a:endParaRPr lang="en-US" altLang="zh-CN" sz="1400" dirty="0">
              <a:ea typeface="微软雅黑" panose="020B0503020204020204" pitchFamily="34" charset="-122"/>
            </a:endParaRPr>
          </a:p>
          <a:p>
            <a:r>
              <a:rPr lang="zh-CN" altLang="en-US" sz="1400" dirty="0">
                <a:ea typeface="微软雅黑" panose="020B0503020204020204" pitchFamily="34" charset="-122"/>
              </a:rPr>
              <a:t>从</a:t>
            </a:r>
            <a:endParaRPr lang="en-US" altLang="zh-CN" sz="1400" dirty="0">
              <a:ea typeface="微软雅黑" panose="020B0503020204020204" pitchFamily="34" charset="-122"/>
            </a:endParaRPr>
          </a:p>
          <a:p>
            <a:r>
              <a:rPr lang="zh-CN" altLang="en-US" sz="1400" dirty="0">
                <a:ea typeface="微软雅黑" panose="020B0503020204020204" pitchFamily="34" charset="-122"/>
              </a:rPr>
              <a:t>低</a:t>
            </a:r>
            <a:endParaRPr lang="en-US" altLang="zh-CN" sz="1400" dirty="0">
              <a:ea typeface="微软雅黑" panose="020B0503020204020204" pitchFamily="34" charset="-122"/>
            </a:endParaRPr>
          </a:p>
          <a:p>
            <a:r>
              <a:rPr lang="zh-CN" altLang="en-US" sz="1400" dirty="0">
                <a:ea typeface="微软雅黑" panose="020B0503020204020204" pitchFamily="34" charset="-122"/>
              </a:rPr>
              <a:t>到</a:t>
            </a:r>
            <a:endParaRPr lang="en-US" altLang="zh-CN" sz="1400" dirty="0">
              <a:ea typeface="微软雅黑" panose="020B0503020204020204" pitchFamily="34" charset="-122"/>
            </a:endParaRPr>
          </a:p>
          <a:p>
            <a:r>
              <a:rPr lang="zh-CN" altLang="en-US" sz="1400" dirty="0">
                <a:ea typeface="微软雅黑" panose="020B0503020204020204" pitchFamily="34" charset="-122"/>
              </a:rPr>
              <a:t>高</a:t>
            </a:r>
            <a:endParaRPr lang="en-US" altLang="zh-CN" sz="1400" dirty="0"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83686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38" grpId="0" animBg="1"/>
      <p:bldP spid="22" grpId="0" animBg="1"/>
      <p:bldP spid="10" grpId="0" animBg="1"/>
      <p:bldP spid="27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/>
          <p:cNvSpPr/>
          <p:nvPr/>
        </p:nvSpPr>
        <p:spPr>
          <a:xfrm>
            <a:off x="852104" y="1556792"/>
            <a:ext cx="891183" cy="723899"/>
          </a:xfrm>
          <a:prstGeom prst="roundRect">
            <a:avLst>
              <a:gd name="adj" fmla="val 4357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0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1788208" y="1556792"/>
            <a:ext cx="891183" cy="723899"/>
          </a:xfrm>
          <a:prstGeom prst="roundRect">
            <a:avLst>
              <a:gd name="adj" fmla="val 4357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0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2724312" y="1556792"/>
            <a:ext cx="891183" cy="723899"/>
          </a:xfrm>
          <a:prstGeom prst="roundRect">
            <a:avLst>
              <a:gd name="adj" fmla="val 4357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0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3660416" y="1556792"/>
            <a:ext cx="891183" cy="723899"/>
          </a:xfrm>
          <a:prstGeom prst="roundRect">
            <a:avLst>
              <a:gd name="adj" fmla="val 4357"/>
            </a:avLst>
          </a:prstGeom>
          <a:solidFill>
            <a:srgbClr val="00B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D4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5532624" y="1556792"/>
            <a:ext cx="891183" cy="723899"/>
          </a:xfrm>
          <a:prstGeom prst="roundRect">
            <a:avLst>
              <a:gd name="adj" fmla="val 4357"/>
            </a:avLst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D2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6468728" y="1556792"/>
            <a:ext cx="891183" cy="723899"/>
          </a:xfrm>
          <a:prstGeom prst="roundRect">
            <a:avLst>
              <a:gd name="adj" fmla="val 4357"/>
            </a:avLst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D1</a:t>
            </a:r>
          </a:p>
        </p:txBody>
      </p:sp>
      <p:sp>
        <p:nvSpPr>
          <p:cNvPr id="9" name="圆角矩形 8"/>
          <p:cNvSpPr/>
          <p:nvPr/>
        </p:nvSpPr>
        <p:spPr>
          <a:xfrm>
            <a:off x="7404832" y="1556792"/>
            <a:ext cx="891183" cy="723899"/>
          </a:xfrm>
          <a:prstGeom prst="roundRect">
            <a:avLst>
              <a:gd name="adj" fmla="val 4357"/>
            </a:avLst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D0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4596520" y="1556792"/>
            <a:ext cx="891183" cy="723899"/>
          </a:xfrm>
          <a:prstGeom prst="roundRect">
            <a:avLst>
              <a:gd name="adj" fmla="val 4357"/>
            </a:avLst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D3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cxnSp>
        <p:nvCxnSpPr>
          <p:cNvPr id="48" name="直接连接符 47"/>
          <p:cNvCxnSpPr/>
          <p:nvPr/>
        </p:nvCxnSpPr>
        <p:spPr>
          <a:xfrm>
            <a:off x="5043877" y="2264600"/>
            <a:ext cx="0" cy="20769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6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Modem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控制寄存器（</a:t>
            </a: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BASE+4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37" name="直接连接符 36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cxnSp>
        <p:nvCxnSpPr>
          <p:cNvPr id="29" name="直接连接符 28"/>
          <p:cNvCxnSpPr/>
          <p:nvPr/>
        </p:nvCxnSpPr>
        <p:spPr>
          <a:xfrm>
            <a:off x="4109985" y="2254896"/>
            <a:ext cx="0" cy="8180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圆角矩形 29"/>
          <p:cNvSpPr/>
          <p:nvPr/>
        </p:nvSpPr>
        <p:spPr>
          <a:xfrm>
            <a:off x="2173972" y="3053549"/>
            <a:ext cx="2377627" cy="720080"/>
          </a:xfrm>
          <a:prstGeom prst="roundRect">
            <a:avLst>
              <a:gd name="adj" fmla="val 435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ea typeface="微软雅黑" panose="020B0503020204020204" pitchFamily="34" charset="-122"/>
              </a:rPr>
              <a:t>：使</a:t>
            </a:r>
            <a:r>
              <a:rPr lang="en-US" altLang="zh-CN" sz="1600" dirty="0">
                <a:ea typeface="微软雅黑" panose="020B0503020204020204" pitchFamily="34" charset="-122"/>
              </a:rPr>
              <a:t>8250</a:t>
            </a:r>
            <a:r>
              <a:rPr lang="zh-CN" altLang="en-US" sz="1600" dirty="0">
                <a:ea typeface="微软雅黑" panose="020B0503020204020204" pitchFamily="34" charset="-122"/>
              </a:rPr>
              <a:t>形成数据环路，提供自测功能</a:t>
            </a:r>
            <a:endParaRPr lang="en-US" altLang="zh-CN" sz="1600" dirty="0">
              <a:ea typeface="微软雅黑" panose="020B0503020204020204" pitchFamily="34" charset="-122"/>
            </a:endParaRPr>
          </a:p>
        </p:txBody>
      </p:sp>
      <p:sp>
        <p:nvSpPr>
          <p:cNvPr id="32" name="圆角矩形 31"/>
          <p:cNvSpPr/>
          <p:nvPr/>
        </p:nvSpPr>
        <p:spPr>
          <a:xfrm>
            <a:off x="4173172" y="4341525"/>
            <a:ext cx="1213366" cy="738269"/>
          </a:xfrm>
          <a:prstGeom prst="roundRect">
            <a:avLst>
              <a:gd name="adj" fmla="val 435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ea typeface="微软雅黑" panose="020B0503020204020204" pitchFamily="34" charset="-122"/>
              </a:rPr>
              <a:t>：使</a:t>
            </a:r>
            <a:r>
              <a:rPr lang="en-US" altLang="zh-CN" sz="1600" dirty="0">
                <a:ea typeface="微软雅黑" panose="020B0503020204020204" pitchFamily="34" charset="-122"/>
              </a:rPr>
              <a:t>OUT1</a:t>
            </a:r>
            <a:r>
              <a:rPr lang="zh-CN" altLang="en-US" sz="1600" dirty="0">
                <a:ea typeface="微软雅黑" panose="020B0503020204020204" pitchFamily="34" charset="-122"/>
              </a:rPr>
              <a:t>输出</a:t>
            </a:r>
            <a:r>
              <a:rPr lang="en-US" altLang="zh-CN" sz="1600" dirty="0">
                <a:ea typeface="微软雅黑" panose="020B0503020204020204" pitchFamily="34" charset="-122"/>
              </a:rPr>
              <a:t>0</a:t>
            </a:r>
          </a:p>
        </p:txBody>
      </p:sp>
      <p:cxnSp>
        <p:nvCxnSpPr>
          <p:cNvPr id="33" name="直接连接符 32"/>
          <p:cNvCxnSpPr/>
          <p:nvPr/>
        </p:nvCxnSpPr>
        <p:spPr>
          <a:xfrm>
            <a:off x="5979981" y="2287917"/>
            <a:ext cx="0" cy="20536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圆角矩形 38"/>
          <p:cNvSpPr/>
          <p:nvPr/>
        </p:nvSpPr>
        <p:spPr>
          <a:xfrm>
            <a:off x="5458491" y="4342595"/>
            <a:ext cx="1201742" cy="742589"/>
          </a:xfrm>
          <a:prstGeom prst="roundRect">
            <a:avLst>
              <a:gd name="adj" fmla="val 435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ea typeface="微软雅黑" panose="020B0503020204020204" pitchFamily="34" charset="-122"/>
              </a:rPr>
              <a:t>：使</a:t>
            </a:r>
            <a:r>
              <a:rPr lang="en-US" altLang="zh-CN" sz="1600" dirty="0">
                <a:ea typeface="微软雅黑" panose="020B0503020204020204" pitchFamily="34" charset="-122"/>
              </a:rPr>
              <a:t>OUT2</a:t>
            </a:r>
            <a:r>
              <a:rPr lang="zh-CN" altLang="en-US" sz="1600" dirty="0">
                <a:ea typeface="微软雅黑" panose="020B0503020204020204" pitchFamily="34" charset="-122"/>
              </a:rPr>
              <a:t>输出</a:t>
            </a:r>
            <a:r>
              <a:rPr lang="en-US" altLang="zh-CN" sz="1600" dirty="0">
                <a:ea typeface="微软雅黑" panose="020B0503020204020204" pitchFamily="34" charset="-122"/>
              </a:rPr>
              <a:t>0</a:t>
            </a:r>
          </a:p>
        </p:txBody>
      </p:sp>
      <p:sp>
        <p:nvSpPr>
          <p:cNvPr id="41" name="圆角矩形 40"/>
          <p:cNvSpPr/>
          <p:nvPr/>
        </p:nvSpPr>
        <p:spPr>
          <a:xfrm>
            <a:off x="6166145" y="3053548"/>
            <a:ext cx="1611718" cy="720081"/>
          </a:xfrm>
          <a:prstGeom prst="roundRect">
            <a:avLst>
              <a:gd name="adj" fmla="val 435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ea typeface="微软雅黑" panose="020B0503020204020204" pitchFamily="34" charset="-122"/>
              </a:rPr>
              <a:t>：使</a:t>
            </a:r>
            <a:r>
              <a:rPr lang="en-US" altLang="zh-CN" sz="1600" dirty="0">
                <a:ea typeface="微软雅黑" panose="020B0503020204020204" pitchFamily="34" charset="-122"/>
              </a:rPr>
              <a:t>RTS*</a:t>
            </a:r>
            <a:r>
              <a:rPr lang="zh-CN" altLang="en-US" sz="1600" dirty="0">
                <a:ea typeface="微软雅黑" panose="020B0503020204020204" pitchFamily="34" charset="-122"/>
              </a:rPr>
              <a:t>输出</a:t>
            </a:r>
            <a:r>
              <a:rPr lang="en-US" altLang="zh-CN" sz="1600" dirty="0">
                <a:ea typeface="微软雅黑" panose="020B0503020204020204" pitchFamily="34" charset="-122"/>
              </a:rPr>
              <a:t>0</a:t>
            </a:r>
            <a:r>
              <a:rPr lang="zh-CN" altLang="en-US" sz="1600" dirty="0">
                <a:ea typeface="微软雅黑" panose="020B0503020204020204" pitchFamily="34" charset="-122"/>
              </a:rPr>
              <a:t>，请求发送</a:t>
            </a:r>
            <a:endParaRPr lang="en-US" altLang="zh-CN" sz="1600" dirty="0">
              <a:ea typeface="微软雅黑" panose="020B0503020204020204" pitchFamily="34" charset="-122"/>
            </a:endParaRPr>
          </a:p>
        </p:txBody>
      </p:sp>
      <p:cxnSp>
        <p:nvCxnSpPr>
          <p:cNvPr id="42" name="直接连接符 41"/>
          <p:cNvCxnSpPr/>
          <p:nvPr/>
        </p:nvCxnSpPr>
        <p:spPr>
          <a:xfrm>
            <a:off x="6925791" y="2291884"/>
            <a:ext cx="0" cy="7810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圆角矩形 42"/>
          <p:cNvSpPr/>
          <p:nvPr/>
        </p:nvSpPr>
        <p:spPr>
          <a:xfrm>
            <a:off x="6873123" y="4341525"/>
            <a:ext cx="1422725" cy="738269"/>
          </a:xfrm>
          <a:prstGeom prst="roundRect">
            <a:avLst>
              <a:gd name="adj" fmla="val 435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ea typeface="微软雅黑" panose="020B0503020204020204" pitchFamily="34" charset="-122"/>
              </a:rPr>
              <a:t>：使</a:t>
            </a:r>
            <a:r>
              <a:rPr lang="en-US" altLang="zh-CN" sz="1600" dirty="0">
                <a:ea typeface="微软雅黑" panose="020B0503020204020204" pitchFamily="34" charset="-122"/>
              </a:rPr>
              <a:t>DTR*</a:t>
            </a:r>
            <a:r>
              <a:rPr lang="zh-CN" altLang="en-US" sz="1600" dirty="0">
                <a:ea typeface="微软雅黑" panose="020B0503020204020204" pitchFamily="34" charset="-122"/>
              </a:rPr>
              <a:t>引脚输出</a:t>
            </a:r>
            <a:r>
              <a:rPr lang="en-US" altLang="zh-CN" sz="1600" dirty="0">
                <a:ea typeface="微软雅黑" panose="020B0503020204020204" pitchFamily="34" charset="-122"/>
              </a:rPr>
              <a:t>0</a:t>
            </a:r>
            <a:r>
              <a:rPr lang="zh-CN" altLang="en-US" sz="1600" dirty="0">
                <a:ea typeface="微软雅黑" panose="020B0503020204020204" pitchFamily="34" charset="-122"/>
              </a:rPr>
              <a:t>，数据终端准备好</a:t>
            </a:r>
            <a:endParaRPr lang="en-US" altLang="zh-CN" sz="1600" dirty="0">
              <a:ea typeface="微软雅黑" panose="020B0503020204020204" pitchFamily="34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852104" y="5373216"/>
            <a:ext cx="7443911" cy="648072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ea typeface="微软雅黑" panose="020B0503020204020204" pitchFamily="34" charset="-122"/>
              </a:rPr>
              <a:t>产生</a:t>
            </a:r>
            <a:r>
              <a:rPr lang="en-US" altLang="zh-CN" sz="2400" dirty="0">
                <a:ea typeface="微软雅黑" panose="020B0503020204020204" pitchFamily="34" charset="-122"/>
              </a:rPr>
              <a:t>RTS*</a:t>
            </a:r>
            <a:r>
              <a:rPr lang="zh-CN" altLang="en-US" sz="2400" dirty="0">
                <a:ea typeface="微软雅黑" panose="020B0503020204020204" pitchFamily="34" charset="-122"/>
              </a:rPr>
              <a:t> 、</a:t>
            </a:r>
            <a:r>
              <a:rPr lang="en-US" altLang="zh-CN" sz="2400" dirty="0">
                <a:ea typeface="微软雅黑" panose="020B0503020204020204" pitchFamily="34" charset="-122"/>
              </a:rPr>
              <a:t>DTR*</a:t>
            </a:r>
            <a:r>
              <a:rPr lang="zh-CN" altLang="en-US" sz="2400" dirty="0">
                <a:ea typeface="微软雅黑" panose="020B0503020204020204" pitchFamily="34" charset="-122"/>
              </a:rPr>
              <a:t> 、</a:t>
            </a:r>
            <a:r>
              <a:rPr lang="en-US" altLang="zh-CN" sz="2400" dirty="0">
                <a:ea typeface="微软雅黑" panose="020B0503020204020204" pitchFamily="34" charset="-122"/>
              </a:rPr>
              <a:t>OUT1*</a:t>
            </a:r>
            <a:r>
              <a:rPr lang="zh-CN" altLang="en-US" sz="2400" dirty="0"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ea typeface="微软雅黑" panose="020B0503020204020204" pitchFamily="34" charset="-122"/>
              </a:rPr>
              <a:t>OUT2*</a:t>
            </a:r>
            <a:r>
              <a:rPr lang="zh-CN" altLang="en-US" sz="2400" dirty="0">
                <a:ea typeface="微软雅黑" panose="020B0503020204020204" pitchFamily="34" charset="-122"/>
              </a:rPr>
              <a:t>、设置循环自检</a:t>
            </a:r>
            <a:endParaRPr lang="en-US" altLang="zh-CN" sz="2400" dirty="0">
              <a:solidFill>
                <a:schemeClr val="lt1"/>
              </a:solidFill>
              <a:ea typeface="微软雅黑" panose="020B0503020204020204" pitchFamily="34" charset="-122"/>
            </a:endParaRPr>
          </a:p>
        </p:txBody>
      </p:sp>
      <p:cxnSp>
        <p:nvCxnSpPr>
          <p:cNvPr id="45" name="直接连接符 44"/>
          <p:cNvCxnSpPr/>
          <p:nvPr/>
        </p:nvCxnSpPr>
        <p:spPr>
          <a:xfrm>
            <a:off x="7866935" y="2280691"/>
            <a:ext cx="0" cy="20608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7778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2" grpId="0" animBg="1"/>
      <p:bldP spid="39" grpId="0" animBg="1"/>
      <p:bldP spid="41" grpId="0" animBg="1"/>
      <p:bldP spid="43" grpId="0" animBg="1"/>
      <p:bldP spid="38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/>
          <p:cNvSpPr/>
          <p:nvPr/>
        </p:nvSpPr>
        <p:spPr>
          <a:xfrm>
            <a:off x="852104" y="1700808"/>
            <a:ext cx="891183" cy="723899"/>
          </a:xfrm>
          <a:prstGeom prst="roundRect">
            <a:avLst>
              <a:gd name="adj" fmla="val 4357"/>
            </a:avLst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D7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1788208" y="1700808"/>
            <a:ext cx="891183" cy="723899"/>
          </a:xfrm>
          <a:prstGeom prst="roundRect">
            <a:avLst>
              <a:gd name="adj" fmla="val 4357"/>
            </a:avLst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D6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2724312" y="1700808"/>
            <a:ext cx="891183" cy="723899"/>
          </a:xfrm>
          <a:prstGeom prst="roundRect">
            <a:avLst>
              <a:gd name="adj" fmla="val 4357"/>
            </a:avLst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D5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3660416" y="1700808"/>
            <a:ext cx="891183" cy="723899"/>
          </a:xfrm>
          <a:prstGeom prst="roundRect">
            <a:avLst>
              <a:gd name="adj" fmla="val 4357"/>
            </a:avLst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D4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5532624" y="1700808"/>
            <a:ext cx="891183" cy="723899"/>
          </a:xfrm>
          <a:prstGeom prst="roundRect">
            <a:avLst>
              <a:gd name="adj" fmla="val 4357"/>
            </a:avLst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D2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6468728" y="1700808"/>
            <a:ext cx="891183" cy="723899"/>
          </a:xfrm>
          <a:prstGeom prst="roundRect">
            <a:avLst>
              <a:gd name="adj" fmla="val 4357"/>
            </a:avLst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D1</a:t>
            </a:r>
          </a:p>
        </p:txBody>
      </p:sp>
      <p:sp>
        <p:nvSpPr>
          <p:cNvPr id="9" name="圆角矩形 8"/>
          <p:cNvSpPr/>
          <p:nvPr/>
        </p:nvSpPr>
        <p:spPr>
          <a:xfrm>
            <a:off x="7404832" y="1700808"/>
            <a:ext cx="891183" cy="723899"/>
          </a:xfrm>
          <a:prstGeom prst="roundRect">
            <a:avLst>
              <a:gd name="adj" fmla="val 4357"/>
            </a:avLst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D0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4596520" y="1700808"/>
            <a:ext cx="891183" cy="723899"/>
          </a:xfrm>
          <a:prstGeom prst="roundRect">
            <a:avLst>
              <a:gd name="adj" fmla="val 4357"/>
            </a:avLst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D3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cxnSp>
        <p:nvCxnSpPr>
          <p:cNvPr id="34" name="直接连接符 3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6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Modem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状态寄存器（</a:t>
            </a:r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BASE+6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endParaRPr lang="zh-CN" altLang="en-US" sz="32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37" name="直接连接符 36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cxnSp>
        <p:nvCxnSpPr>
          <p:cNvPr id="29" name="直接连接符 28"/>
          <p:cNvCxnSpPr>
            <a:endCxn id="35" idx="0"/>
          </p:cNvCxnSpPr>
          <p:nvPr/>
        </p:nvCxnSpPr>
        <p:spPr>
          <a:xfrm>
            <a:off x="4106007" y="2393566"/>
            <a:ext cx="1" cy="11794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圆角矩形 26"/>
          <p:cNvSpPr/>
          <p:nvPr/>
        </p:nvSpPr>
        <p:spPr>
          <a:xfrm>
            <a:off x="852104" y="3573016"/>
            <a:ext cx="891183" cy="723899"/>
          </a:xfrm>
          <a:prstGeom prst="roundRect">
            <a:avLst>
              <a:gd name="adj" fmla="val 4357"/>
            </a:avLst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RLSD*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1788208" y="3573016"/>
            <a:ext cx="891183" cy="723899"/>
          </a:xfrm>
          <a:prstGeom prst="roundRect">
            <a:avLst>
              <a:gd name="adj" fmla="val 4357"/>
            </a:avLst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RI*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2724312" y="3573016"/>
            <a:ext cx="891183" cy="723899"/>
          </a:xfrm>
          <a:prstGeom prst="roundRect">
            <a:avLst>
              <a:gd name="adj" fmla="val 4357"/>
            </a:avLst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DSR*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3660416" y="3573016"/>
            <a:ext cx="891183" cy="723899"/>
          </a:xfrm>
          <a:prstGeom prst="roundRect">
            <a:avLst>
              <a:gd name="adj" fmla="val 4357"/>
            </a:avLst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CTS*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cxnSp>
        <p:nvCxnSpPr>
          <p:cNvPr id="38" name="直接连接符 37"/>
          <p:cNvCxnSpPr/>
          <p:nvPr/>
        </p:nvCxnSpPr>
        <p:spPr>
          <a:xfrm>
            <a:off x="3169903" y="2393566"/>
            <a:ext cx="1" cy="11794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>
            <a:off x="2238648" y="2393566"/>
            <a:ext cx="1" cy="11794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>
            <a:off x="1296198" y="2393566"/>
            <a:ext cx="1" cy="11794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左大括号 45"/>
          <p:cNvSpPr/>
          <p:nvPr/>
        </p:nvSpPr>
        <p:spPr>
          <a:xfrm rot="16200000">
            <a:off x="2551737" y="3054068"/>
            <a:ext cx="298732" cy="280980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矩形 49"/>
          <p:cNvSpPr/>
          <p:nvPr/>
        </p:nvSpPr>
        <p:spPr>
          <a:xfrm>
            <a:off x="1849267" y="4721325"/>
            <a:ext cx="1703672" cy="1011931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dirty="0">
                <a:ea typeface="微软雅黑" panose="020B0503020204020204" pitchFamily="34" charset="-122"/>
              </a:rPr>
              <a:t>反映</a:t>
            </a:r>
            <a:r>
              <a:rPr lang="en-US" altLang="zh-CN" sz="2000" dirty="0">
                <a:ea typeface="微软雅黑" panose="020B0503020204020204" pitchFamily="34" charset="-122"/>
              </a:rPr>
              <a:t>4</a:t>
            </a:r>
            <a:r>
              <a:rPr lang="zh-CN" altLang="en-US" sz="2000" dirty="0">
                <a:ea typeface="微软雅黑" panose="020B0503020204020204" pitchFamily="34" charset="-122"/>
              </a:rPr>
              <a:t>个引脚当前状态（反相值）</a:t>
            </a:r>
            <a:endParaRPr lang="en-US" altLang="zh-CN" sz="2000" dirty="0">
              <a:solidFill>
                <a:schemeClr val="lt1"/>
              </a:solidFill>
              <a:ea typeface="微软雅黑" panose="020B0503020204020204" pitchFamily="34" charset="-122"/>
            </a:endParaRPr>
          </a:p>
        </p:txBody>
      </p:sp>
      <p:cxnSp>
        <p:nvCxnSpPr>
          <p:cNvPr id="51" name="直接连接符 50"/>
          <p:cNvCxnSpPr>
            <a:endCxn id="55" idx="0"/>
          </p:cNvCxnSpPr>
          <p:nvPr/>
        </p:nvCxnSpPr>
        <p:spPr>
          <a:xfrm>
            <a:off x="7856769" y="2393566"/>
            <a:ext cx="1" cy="11794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圆角矩形 51"/>
          <p:cNvSpPr/>
          <p:nvPr/>
        </p:nvSpPr>
        <p:spPr>
          <a:xfrm>
            <a:off x="4602866" y="3573016"/>
            <a:ext cx="891183" cy="723899"/>
          </a:xfrm>
          <a:prstGeom prst="roundRect">
            <a:avLst>
              <a:gd name="adj" fmla="val 4357"/>
            </a:avLst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altLang="zh-CN" sz="2000" dirty="0">
                <a:ea typeface="微软雅黑" panose="020B0503020204020204" pitchFamily="34" charset="-122"/>
              </a:rPr>
              <a:t>Δ</a:t>
            </a:r>
            <a:r>
              <a:rPr lang="en-US" altLang="zh-CN" sz="2000" b="1" dirty="0">
                <a:ea typeface="微软雅黑" panose="020B0503020204020204" pitchFamily="34" charset="-122"/>
              </a:rPr>
              <a:t>RLSD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sp>
        <p:nvSpPr>
          <p:cNvPr id="53" name="圆角矩形 52"/>
          <p:cNvSpPr/>
          <p:nvPr/>
        </p:nvSpPr>
        <p:spPr>
          <a:xfrm>
            <a:off x="5538970" y="3573016"/>
            <a:ext cx="891183" cy="723899"/>
          </a:xfrm>
          <a:prstGeom prst="roundRect">
            <a:avLst>
              <a:gd name="adj" fmla="val 4357"/>
            </a:avLst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altLang="zh-CN" sz="2000" dirty="0">
                <a:ea typeface="微软雅黑" panose="020B0503020204020204" pitchFamily="34" charset="-122"/>
              </a:rPr>
              <a:t>Δ </a:t>
            </a:r>
            <a:r>
              <a:rPr lang="en-US" altLang="zh-CN" sz="2000" b="1" dirty="0">
                <a:ea typeface="微软雅黑" panose="020B0503020204020204" pitchFamily="34" charset="-122"/>
              </a:rPr>
              <a:t>RI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sp>
        <p:nvSpPr>
          <p:cNvPr id="54" name="圆角矩形 53"/>
          <p:cNvSpPr/>
          <p:nvPr/>
        </p:nvSpPr>
        <p:spPr>
          <a:xfrm>
            <a:off x="6475074" y="3573016"/>
            <a:ext cx="891183" cy="723899"/>
          </a:xfrm>
          <a:prstGeom prst="roundRect">
            <a:avLst>
              <a:gd name="adj" fmla="val 4357"/>
            </a:avLst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altLang="zh-CN" sz="2000" dirty="0">
                <a:ea typeface="微软雅黑" panose="020B0503020204020204" pitchFamily="34" charset="-122"/>
              </a:rPr>
              <a:t>Δ </a:t>
            </a:r>
            <a:r>
              <a:rPr lang="en-US" altLang="zh-CN" sz="2000" b="1" dirty="0">
                <a:ea typeface="微软雅黑" panose="020B0503020204020204" pitchFamily="34" charset="-122"/>
              </a:rPr>
              <a:t>DSR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sp>
        <p:nvSpPr>
          <p:cNvPr id="55" name="圆角矩形 54"/>
          <p:cNvSpPr/>
          <p:nvPr/>
        </p:nvSpPr>
        <p:spPr>
          <a:xfrm>
            <a:off x="7411178" y="3573016"/>
            <a:ext cx="891183" cy="723899"/>
          </a:xfrm>
          <a:prstGeom prst="roundRect">
            <a:avLst>
              <a:gd name="adj" fmla="val 4357"/>
            </a:avLst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altLang="zh-CN" sz="2000" dirty="0">
                <a:ea typeface="微软雅黑" panose="020B0503020204020204" pitchFamily="34" charset="-122"/>
              </a:rPr>
              <a:t>Δ </a:t>
            </a:r>
            <a:r>
              <a:rPr lang="en-US" altLang="zh-CN" sz="2000" b="1" dirty="0">
                <a:ea typeface="微软雅黑" panose="020B0503020204020204" pitchFamily="34" charset="-122"/>
              </a:rPr>
              <a:t>CTS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cxnSp>
        <p:nvCxnSpPr>
          <p:cNvPr id="56" name="直接连接符 55"/>
          <p:cNvCxnSpPr/>
          <p:nvPr/>
        </p:nvCxnSpPr>
        <p:spPr>
          <a:xfrm>
            <a:off x="6920665" y="2393566"/>
            <a:ext cx="1" cy="11794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>
          <a:xfrm>
            <a:off x="5989410" y="2393566"/>
            <a:ext cx="1" cy="11794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/>
        </p:nvCxnSpPr>
        <p:spPr>
          <a:xfrm>
            <a:off x="5046960" y="2393566"/>
            <a:ext cx="1" cy="11794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左大括号 58"/>
          <p:cNvSpPr/>
          <p:nvPr/>
        </p:nvSpPr>
        <p:spPr>
          <a:xfrm rot="16200000">
            <a:off x="6302499" y="3054068"/>
            <a:ext cx="298732" cy="280980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矩形 59"/>
          <p:cNvSpPr/>
          <p:nvPr/>
        </p:nvSpPr>
        <p:spPr>
          <a:xfrm>
            <a:off x="4602867" y="4721325"/>
            <a:ext cx="3693148" cy="1011931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dirty="0">
                <a:ea typeface="微软雅黑" panose="020B0503020204020204" pitchFamily="34" charset="-122"/>
              </a:rPr>
              <a:t>反映了自上次读</a:t>
            </a:r>
            <a:r>
              <a:rPr lang="en-US" altLang="zh-CN" sz="2000" dirty="0">
                <a:ea typeface="微软雅黑" panose="020B0503020204020204" pitchFamily="34" charset="-122"/>
              </a:rPr>
              <a:t>MSR</a:t>
            </a:r>
            <a:r>
              <a:rPr lang="zh-CN" altLang="en-US" sz="2000" dirty="0">
                <a:ea typeface="微软雅黑" panose="020B0503020204020204" pitchFamily="34" charset="-122"/>
              </a:rPr>
              <a:t>后这</a:t>
            </a:r>
            <a:r>
              <a:rPr lang="en-US" altLang="zh-CN" sz="2000" dirty="0">
                <a:ea typeface="微软雅黑" panose="020B0503020204020204" pitchFamily="34" charset="-122"/>
              </a:rPr>
              <a:t>4</a:t>
            </a:r>
            <a:r>
              <a:rPr lang="zh-CN" altLang="en-US" sz="2000" dirty="0">
                <a:ea typeface="微软雅黑" panose="020B0503020204020204" pitchFamily="34" charset="-122"/>
              </a:rPr>
              <a:t>个引脚是否发生变化</a:t>
            </a:r>
            <a:r>
              <a:rPr lang="en-US" altLang="zh-CN" sz="2000" dirty="0">
                <a:ea typeface="微软雅黑" panose="020B0503020204020204" pitchFamily="34" charset="-122"/>
              </a:rPr>
              <a:t>(1: </a:t>
            </a:r>
            <a:r>
              <a:rPr lang="zh-CN" altLang="en-US" sz="2000" dirty="0">
                <a:ea typeface="微软雅黑" panose="020B0503020204020204" pitchFamily="34" charset="-122"/>
              </a:rPr>
              <a:t>发生了变化</a:t>
            </a:r>
            <a:r>
              <a:rPr lang="en-US" altLang="zh-CN" sz="2000" dirty="0">
                <a:ea typeface="微软雅黑" panose="020B0503020204020204" pitchFamily="34" charset="-122"/>
              </a:rPr>
              <a:t>)</a:t>
            </a:r>
            <a:endParaRPr lang="en-US" altLang="zh-CN" sz="2000" dirty="0">
              <a:solidFill>
                <a:schemeClr val="lt1"/>
              </a:solidFill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69291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31" grpId="0" animBg="1"/>
      <p:bldP spid="35" grpId="0" animBg="1"/>
      <p:bldP spid="46" grpId="0" animBg="1"/>
      <p:bldP spid="50" grpId="0" animBg="1"/>
      <p:bldP spid="52" grpId="0" animBg="1"/>
      <p:bldP spid="53" grpId="0" animBg="1"/>
      <p:bldP spid="54" grpId="0" animBg="1"/>
      <p:bldP spid="55" grpId="0" animBg="1"/>
      <p:bldP spid="59" grpId="0" animBg="1"/>
      <p:bldP spid="60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619671" y="2710594"/>
            <a:ext cx="6840971" cy="873661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b="1" dirty="0">
                <a:ea typeface="微软雅黑" panose="020B0503020204020204" pitchFamily="34" charset="-122"/>
              </a:rPr>
              <a:t>工作过程中，读</a:t>
            </a:r>
            <a:r>
              <a:rPr lang="en-US" altLang="zh-CN" sz="2000" b="1" dirty="0">
                <a:ea typeface="微软雅黑" panose="020B0503020204020204" pitchFamily="34" charset="-122"/>
              </a:rPr>
              <a:t>BASE</a:t>
            </a:r>
            <a:r>
              <a:rPr lang="zh-CN" altLang="en-US" sz="2000" b="1" dirty="0">
                <a:ea typeface="微软雅黑" panose="020B0503020204020204" pitchFamily="34" charset="-122"/>
              </a:rPr>
              <a:t>端口，表示接收数据，写</a:t>
            </a:r>
            <a:r>
              <a:rPr lang="en-US" altLang="zh-CN" sz="2000" b="1" dirty="0">
                <a:ea typeface="微软雅黑" panose="020B0503020204020204" pitchFamily="34" charset="-122"/>
              </a:rPr>
              <a:t>BASE</a:t>
            </a:r>
            <a:r>
              <a:rPr lang="zh-CN" altLang="en-US" sz="2000" b="1" dirty="0">
                <a:ea typeface="微软雅黑" panose="020B0503020204020204" pitchFamily="34" charset="-122"/>
              </a:rPr>
              <a:t>端口，表示发送数据。</a:t>
            </a:r>
          </a:p>
        </p:txBody>
      </p:sp>
      <p:sp>
        <p:nvSpPr>
          <p:cNvPr id="3" name="矩形 2"/>
          <p:cNvSpPr/>
          <p:nvPr/>
        </p:nvSpPr>
        <p:spPr>
          <a:xfrm>
            <a:off x="1619672" y="3769910"/>
            <a:ext cx="6840972" cy="873661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b="1" dirty="0">
                <a:ea typeface="微软雅黑" panose="020B0503020204020204" pitchFamily="34" charset="-122"/>
              </a:rPr>
              <a:t>工作在查询收发时，可以查询</a:t>
            </a:r>
            <a:r>
              <a:rPr lang="en-US" altLang="zh-CN" sz="2000" b="1" dirty="0">
                <a:ea typeface="微软雅黑" panose="020B0503020204020204" pitchFamily="34" charset="-122"/>
              </a:rPr>
              <a:t>BASE+5</a:t>
            </a:r>
            <a:r>
              <a:rPr lang="zh-CN" altLang="en-US" sz="2000" b="1" dirty="0">
                <a:ea typeface="微软雅黑" panose="020B0503020204020204" pitchFamily="34" charset="-122"/>
              </a:rPr>
              <a:t>线路状态寄存器。</a:t>
            </a:r>
            <a:endParaRPr lang="zh-CN" altLang="en-US" sz="2000" b="1" u="sng" dirty="0">
              <a:solidFill>
                <a:schemeClr val="bg1"/>
              </a:solidFill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619460" y="1619235"/>
            <a:ext cx="6840972" cy="873661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b="1" dirty="0">
                <a:ea typeface="微软雅黑" panose="020B0503020204020204" pitchFamily="34" charset="-122"/>
              </a:rPr>
              <a:t>写入</a:t>
            </a:r>
            <a:r>
              <a:rPr lang="en-US" altLang="zh-CN" sz="2000" b="1" dirty="0">
                <a:ea typeface="微软雅黑" panose="020B0503020204020204" pitchFamily="34" charset="-122"/>
              </a:rPr>
              <a:t>BASE+3</a:t>
            </a:r>
            <a:r>
              <a:rPr lang="zh-CN" altLang="en-US" sz="2000" b="1" dirty="0">
                <a:ea typeface="微软雅黑" panose="020B0503020204020204" pitchFamily="34" charset="-122"/>
              </a:rPr>
              <a:t>端口线路控制寄存器的</a:t>
            </a:r>
            <a:r>
              <a:rPr lang="en-US" altLang="zh-CN" sz="2000" b="1" dirty="0">
                <a:ea typeface="微软雅黑" panose="020B0503020204020204" pitchFamily="34" charset="-122"/>
              </a:rPr>
              <a:t>DLAB</a:t>
            </a:r>
            <a:r>
              <a:rPr lang="zh-CN" altLang="en-US" sz="2000" b="1" dirty="0">
                <a:ea typeface="微软雅黑" panose="020B0503020204020204" pitchFamily="34" charset="-122"/>
              </a:rPr>
              <a:t>位为</a:t>
            </a:r>
            <a:r>
              <a:rPr lang="en-US" altLang="zh-CN" sz="2000" b="1" dirty="0">
                <a:ea typeface="微软雅黑" panose="020B0503020204020204" pitchFamily="34" charset="-122"/>
              </a:rPr>
              <a:t>1</a:t>
            </a:r>
            <a:r>
              <a:rPr lang="zh-CN" altLang="en-US" sz="2000" b="1" dirty="0">
                <a:ea typeface="微软雅黑" panose="020B0503020204020204" pitchFamily="34" charset="-122"/>
              </a:rPr>
              <a:t>时，决定了写入</a:t>
            </a:r>
            <a:r>
              <a:rPr lang="en-US" altLang="zh-CN" sz="2000" b="1" dirty="0">
                <a:ea typeface="微软雅黑" panose="020B0503020204020204" pitchFamily="34" charset="-122"/>
              </a:rPr>
              <a:t>BASE</a:t>
            </a:r>
            <a:r>
              <a:rPr lang="zh-CN" altLang="en-US" sz="2000" b="1" dirty="0">
                <a:ea typeface="微软雅黑" panose="020B0503020204020204" pitchFamily="34" charset="-122"/>
              </a:rPr>
              <a:t>和</a:t>
            </a:r>
            <a:r>
              <a:rPr lang="en-US" altLang="zh-CN" sz="2000" b="1" dirty="0">
                <a:ea typeface="微软雅黑" panose="020B0503020204020204" pitchFamily="34" charset="-122"/>
              </a:rPr>
              <a:t>BASE+1</a:t>
            </a:r>
            <a:r>
              <a:rPr lang="zh-CN" altLang="en-US" sz="2000" b="1" dirty="0">
                <a:ea typeface="微软雅黑" panose="020B0503020204020204" pitchFamily="34" charset="-122"/>
              </a:rPr>
              <a:t>两个端口的值为除数锁存器的低位、高位。</a:t>
            </a:r>
            <a:endParaRPr lang="zh-CN" altLang="en-US" sz="2000" b="1" u="sng" dirty="0">
              <a:solidFill>
                <a:schemeClr val="bg1"/>
              </a:solidFill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43608" y="1619235"/>
            <a:ext cx="575852" cy="8736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Arial Black" pitchFamily="34" charset="0"/>
              </a:rPr>
              <a:t>1</a:t>
            </a:r>
            <a:endParaRPr lang="zh-CN" altLang="en-US" sz="3200" dirty="0">
              <a:latin typeface="Arial Black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043608" y="2710593"/>
            <a:ext cx="575852" cy="8736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Arial Black" pitchFamily="34" charset="0"/>
              </a:rPr>
              <a:t>2</a:t>
            </a:r>
            <a:endParaRPr lang="zh-CN" altLang="en-US" sz="3200" dirty="0">
              <a:latin typeface="Arial Black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043608" y="3769909"/>
            <a:ext cx="575852" cy="8736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Arial Black" pitchFamily="34" charset="0"/>
              </a:rPr>
              <a:t>3</a:t>
            </a:r>
            <a:endParaRPr lang="zh-CN" altLang="en-US" sz="3200" dirty="0">
              <a:latin typeface="Arial Black" pitchFamily="3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619460" y="4931603"/>
            <a:ext cx="6840972" cy="873661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b="1" dirty="0">
                <a:ea typeface="微软雅黑" panose="020B0503020204020204" pitchFamily="34" charset="-122"/>
              </a:rPr>
              <a:t>工作过程中，</a:t>
            </a:r>
            <a:r>
              <a:rPr lang="en-US" altLang="zh-CN" sz="2000" b="1" dirty="0">
                <a:ea typeface="微软雅黑" panose="020B0503020204020204" pitchFamily="34" charset="-122"/>
              </a:rPr>
              <a:t>BASE+1</a:t>
            </a:r>
            <a:r>
              <a:rPr lang="zh-CN" altLang="en-US" sz="2000" b="1" dirty="0">
                <a:ea typeface="微软雅黑" panose="020B0503020204020204" pitchFamily="34" charset="-122"/>
              </a:rPr>
              <a:t>可设置中断使能，在中断服务子程序中可查询</a:t>
            </a:r>
            <a:r>
              <a:rPr lang="en-US" altLang="zh-CN" sz="2000" b="1" dirty="0">
                <a:ea typeface="微软雅黑" panose="020B0503020204020204" pitchFamily="34" charset="-122"/>
              </a:rPr>
              <a:t>BASE+2</a:t>
            </a:r>
            <a:r>
              <a:rPr lang="zh-CN" altLang="en-US" sz="2000" b="1" dirty="0">
                <a:ea typeface="微软雅黑" panose="020B0503020204020204" pitchFamily="34" charset="-122"/>
              </a:rPr>
              <a:t>，从而完成收发。</a:t>
            </a:r>
            <a:endParaRPr lang="zh-CN" altLang="en-US" sz="2000" b="1" u="sng" dirty="0">
              <a:solidFill>
                <a:schemeClr val="bg1"/>
              </a:solidFill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043608" y="4931603"/>
            <a:ext cx="575852" cy="8736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Arial Black" pitchFamily="34" charset="0"/>
              </a:rPr>
              <a:t>4</a:t>
            </a:r>
            <a:endParaRPr lang="zh-CN" altLang="en-US" sz="3200" dirty="0">
              <a:latin typeface="Arial Black" pitchFamily="34" charset="0"/>
            </a:endParaRPr>
          </a:p>
        </p:txBody>
      </p:sp>
      <p:cxnSp>
        <p:nvCxnSpPr>
          <p:cNvPr id="10" name="直接连接符 9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8250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寄存器小结</a:t>
            </a:r>
            <a:endParaRPr lang="en-US" altLang="zh-CN" sz="32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2" name="直接连接符 1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</p:spTree>
    <p:extLst>
      <p:ext uri="{BB962C8B-B14F-4D97-AF65-F5344CB8AC3E}">
        <p14:creationId xmlns:p14="http://schemas.microsoft.com/office/powerpoint/2010/main" val="296808658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/>
          <p:cNvSpPr/>
          <p:nvPr/>
        </p:nvSpPr>
        <p:spPr>
          <a:xfrm>
            <a:off x="8461631" y="6348095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15"/>
          <p:cNvSpPr txBox="1"/>
          <p:nvPr/>
        </p:nvSpPr>
        <p:spPr>
          <a:xfrm>
            <a:off x="8316416" y="6358818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pPr algn="ctr"/>
              <a:t>49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2" name="TextBox 15"/>
          <p:cNvSpPr txBox="1">
            <a:spLocks noChangeArrowheads="1"/>
          </p:cNvSpPr>
          <p:nvPr/>
        </p:nvSpPr>
        <p:spPr bwMode="auto">
          <a:xfrm>
            <a:off x="3552812" y="3741684"/>
            <a:ext cx="2747380" cy="18842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7730" tIns="33865" rIns="67730" bIns="33865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 indent="-342900"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内部寄存器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indent="-342900"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初始化编程</a:t>
            </a:r>
            <a:endParaRPr lang="en-US" altLang="zh-CN" sz="2400" b="1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-342900"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应用举例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1404144" y="1772816"/>
            <a:ext cx="6264275" cy="1587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cxnSp>
        <p:nvCxnSpPr>
          <p:cNvPr id="15" name="直接连接符 14"/>
          <p:cNvCxnSpPr/>
          <p:nvPr/>
        </p:nvCxnSpPr>
        <p:spPr>
          <a:xfrm>
            <a:off x="1475582" y="3501603"/>
            <a:ext cx="6264275" cy="1588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sp>
        <p:nvSpPr>
          <p:cNvPr id="16" name="TextBox 10"/>
          <p:cNvSpPr txBox="1">
            <a:spLocks noChangeArrowheads="1"/>
          </p:cNvSpPr>
          <p:nvPr/>
        </p:nvSpPr>
        <p:spPr bwMode="auto">
          <a:xfrm>
            <a:off x="934711" y="2012896"/>
            <a:ext cx="7346015" cy="1250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14000"/>
              </a:lnSpc>
            </a:pPr>
            <a:r>
              <a:rPr lang="en-US" altLang="zh-CN" sz="66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8250</a:t>
            </a:r>
            <a:r>
              <a:rPr lang="zh-CN" altLang="en-US" sz="66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编程和应用</a:t>
            </a:r>
            <a:endParaRPr lang="zh-CN" altLang="en-US" sz="80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96124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6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en-US" altLang="zh-CN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8250</a:t>
            </a:r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初始化</a:t>
            </a:r>
            <a:endParaRPr lang="en-US" altLang="zh-CN" sz="32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6" name="流程图: 过程 5"/>
          <p:cNvSpPr/>
          <p:nvPr/>
        </p:nvSpPr>
        <p:spPr>
          <a:xfrm>
            <a:off x="2843384" y="1484784"/>
            <a:ext cx="3024758" cy="488906"/>
          </a:xfrm>
          <a:prstGeom prst="flowChartProcess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写线路控制寄存器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DLAB=1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流程图: 过程 7"/>
          <p:cNvSpPr/>
          <p:nvPr/>
        </p:nvSpPr>
        <p:spPr>
          <a:xfrm>
            <a:off x="2843384" y="2301644"/>
            <a:ext cx="3024760" cy="488906"/>
          </a:xfrm>
          <a:prstGeom prst="flowChartProcess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写除数寄存器低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</a:p>
        </p:txBody>
      </p:sp>
      <p:sp>
        <p:nvSpPr>
          <p:cNvPr id="16" name="流程图: 过程 15"/>
          <p:cNvSpPr/>
          <p:nvPr/>
        </p:nvSpPr>
        <p:spPr>
          <a:xfrm>
            <a:off x="2843382" y="3100829"/>
            <a:ext cx="3024760" cy="488906"/>
          </a:xfrm>
          <a:prstGeom prst="flowChartProcess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写除数寄存器高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</a:p>
        </p:txBody>
      </p:sp>
      <p:cxnSp>
        <p:nvCxnSpPr>
          <p:cNvPr id="20" name="直接箭头连接符 19"/>
          <p:cNvCxnSpPr/>
          <p:nvPr/>
        </p:nvCxnSpPr>
        <p:spPr>
          <a:xfrm>
            <a:off x="4375875" y="1981923"/>
            <a:ext cx="0" cy="3371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流程图: 过程 32"/>
          <p:cNvSpPr/>
          <p:nvPr/>
        </p:nvSpPr>
        <p:spPr>
          <a:xfrm>
            <a:off x="2843382" y="3911664"/>
            <a:ext cx="3024760" cy="495088"/>
          </a:xfrm>
          <a:prstGeom prst="flowChartProcess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写通信格式控制字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DLAB=0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9" name="直接箭头连接符 38"/>
          <p:cNvCxnSpPr/>
          <p:nvPr/>
        </p:nvCxnSpPr>
        <p:spPr>
          <a:xfrm>
            <a:off x="4355976" y="2790550"/>
            <a:ext cx="0" cy="3371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/>
          <p:nvPr/>
        </p:nvCxnSpPr>
        <p:spPr>
          <a:xfrm>
            <a:off x="4375875" y="3567488"/>
            <a:ext cx="0" cy="3371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/>
          <p:nvPr/>
        </p:nvCxnSpPr>
        <p:spPr>
          <a:xfrm>
            <a:off x="4375875" y="4403155"/>
            <a:ext cx="0" cy="3371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流程图: 过程 41"/>
          <p:cNvSpPr/>
          <p:nvPr/>
        </p:nvSpPr>
        <p:spPr>
          <a:xfrm>
            <a:off x="2843382" y="5526854"/>
            <a:ext cx="3024760" cy="488906"/>
          </a:xfrm>
          <a:prstGeom prst="flowChartProcess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设置中断允许字</a:t>
            </a:r>
          </a:p>
        </p:txBody>
      </p:sp>
      <p:cxnSp>
        <p:nvCxnSpPr>
          <p:cNvPr id="43" name="直接箭头连接符 42"/>
          <p:cNvCxnSpPr/>
          <p:nvPr/>
        </p:nvCxnSpPr>
        <p:spPr>
          <a:xfrm>
            <a:off x="4375875" y="5196158"/>
            <a:ext cx="0" cy="3371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/>
          <p:cNvCxnSpPr/>
          <p:nvPr/>
        </p:nvCxnSpPr>
        <p:spPr>
          <a:xfrm>
            <a:off x="4375875" y="6015760"/>
            <a:ext cx="0" cy="3371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流程图: 过程 54"/>
          <p:cNvSpPr/>
          <p:nvPr/>
        </p:nvSpPr>
        <p:spPr>
          <a:xfrm>
            <a:off x="1259632" y="1484784"/>
            <a:ext cx="1296988" cy="488906"/>
          </a:xfrm>
          <a:prstGeom prst="flowChartProcess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BASE+3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流程图: 过程 56"/>
          <p:cNvSpPr/>
          <p:nvPr/>
        </p:nvSpPr>
        <p:spPr>
          <a:xfrm>
            <a:off x="1259632" y="2301644"/>
            <a:ext cx="1296988" cy="488906"/>
          </a:xfrm>
          <a:prstGeom prst="flowChartProcess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BASE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流程图: 过程 57"/>
          <p:cNvSpPr/>
          <p:nvPr/>
        </p:nvSpPr>
        <p:spPr>
          <a:xfrm>
            <a:off x="1259632" y="3100829"/>
            <a:ext cx="1296988" cy="488906"/>
          </a:xfrm>
          <a:prstGeom prst="flowChartProcess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BASE+1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流程图: 过程 58"/>
          <p:cNvSpPr/>
          <p:nvPr/>
        </p:nvSpPr>
        <p:spPr>
          <a:xfrm>
            <a:off x="1259632" y="3914249"/>
            <a:ext cx="1296988" cy="488906"/>
          </a:xfrm>
          <a:prstGeom prst="flowChartProcess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BASE+3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流程图: 过程 59"/>
          <p:cNvSpPr/>
          <p:nvPr/>
        </p:nvSpPr>
        <p:spPr>
          <a:xfrm>
            <a:off x="1259632" y="4740280"/>
            <a:ext cx="1296988" cy="488906"/>
          </a:xfrm>
          <a:prstGeom prst="flowChartProcess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BASE+4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流程图: 过程 60"/>
          <p:cNvSpPr/>
          <p:nvPr/>
        </p:nvSpPr>
        <p:spPr>
          <a:xfrm>
            <a:off x="1259632" y="5522171"/>
            <a:ext cx="1296988" cy="488906"/>
          </a:xfrm>
          <a:prstGeom prst="flowChartProcess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BASE+1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流程图: 过程 34"/>
          <p:cNvSpPr/>
          <p:nvPr/>
        </p:nvSpPr>
        <p:spPr>
          <a:xfrm>
            <a:off x="2843382" y="4745329"/>
            <a:ext cx="3024760" cy="495088"/>
          </a:xfrm>
          <a:prstGeom prst="flowChartProcess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写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MODEM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控制字</a:t>
            </a:r>
          </a:p>
        </p:txBody>
      </p:sp>
      <p:sp>
        <p:nvSpPr>
          <p:cNvPr id="62" name="矩形 4"/>
          <p:cNvSpPr>
            <a:spLocks noChangeArrowheads="1"/>
          </p:cNvSpPr>
          <p:nvPr/>
        </p:nvSpPr>
        <p:spPr bwMode="auto">
          <a:xfrm>
            <a:off x="6014735" y="3904613"/>
            <a:ext cx="2771800" cy="1329595"/>
          </a:xfrm>
          <a:prstGeom prst="rect">
            <a:avLst/>
          </a:prstGeom>
          <a:solidFill>
            <a:srgbClr val="00B853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4000"/>
              </a:lnSpc>
              <a:spcBef>
                <a:spcPts val="400"/>
              </a:spcBef>
              <a:spcAft>
                <a:spcPts val="60"/>
              </a:spcAft>
            </a:pPr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后写</a:t>
            </a:r>
            <a:r>
              <a:rPr lang="en-US" altLang="zh-CN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DLAB=0</a:t>
            </a:r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，以访问</a:t>
            </a:r>
            <a:r>
              <a:rPr lang="en-US" altLang="zh-CN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BASE</a:t>
            </a:r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进行收发，访问</a:t>
            </a:r>
            <a:r>
              <a:rPr lang="en-US" altLang="zh-CN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BASE+1</a:t>
            </a:r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完成中断使能。</a:t>
            </a:r>
            <a:endParaRPr lang="en-US" altLang="zh-CN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3" name="矩形 4"/>
          <p:cNvSpPr>
            <a:spLocks noChangeArrowheads="1"/>
          </p:cNvSpPr>
          <p:nvPr/>
        </p:nvSpPr>
        <p:spPr bwMode="auto">
          <a:xfrm>
            <a:off x="6014735" y="1484784"/>
            <a:ext cx="2771800" cy="917174"/>
          </a:xfrm>
          <a:prstGeom prst="rect">
            <a:avLst/>
          </a:prstGeom>
          <a:solidFill>
            <a:srgbClr val="00B853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4000"/>
              </a:lnSpc>
              <a:spcBef>
                <a:spcPts val="400"/>
              </a:spcBef>
              <a:spcAft>
                <a:spcPts val="60"/>
              </a:spcAft>
            </a:pPr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先写</a:t>
            </a:r>
            <a:r>
              <a:rPr lang="en-US" altLang="zh-CN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DLAB=1</a:t>
            </a:r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，设置波特率因子。</a:t>
            </a:r>
            <a:endParaRPr lang="en-US" altLang="zh-CN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62870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6" grpId="0" animBg="1"/>
      <p:bldP spid="33" grpId="0" animBg="1"/>
      <p:bldP spid="42" grpId="0" animBg="1"/>
      <p:bldP spid="55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35" grpId="0" animBg="1"/>
      <p:bldP spid="62" grpId="0" animBg="1"/>
      <p:bldP spid="63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611560" y="1124744"/>
            <a:ext cx="7992888" cy="0"/>
          </a:xfrm>
          <a:prstGeom prst="line">
            <a:avLst/>
          </a:prstGeom>
          <a:ln w="28575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611560" y="631563"/>
            <a:ext cx="500110" cy="490346"/>
          </a:xfrm>
          <a:prstGeom prst="rect">
            <a:avLst/>
          </a:prstGeom>
          <a:solidFill>
            <a:srgbClr val="1D8DE5"/>
          </a:solidFill>
          <a:ln w="9525" cap="rnd">
            <a:solidFill>
              <a:srgbClr val="1D8DE5"/>
            </a:solidFill>
            <a:prstDash val="solid"/>
            <a:round/>
            <a:headEnd/>
            <a:tailEnd/>
          </a:ln>
        </p:spPr>
        <p:txBody>
          <a:bodyPr anchor="ctr"/>
          <a:lstStyle/>
          <a:p>
            <a:pPr algn="ctr"/>
            <a:r>
              <a:rPr lang="en-US" altLang="zh-CN" sz="2800" b="1" kern="0" dirty="0">
                <a:solidFill>
                  <a:sysClr val="window" lastClr="FFFFFF">
                    <a:lumMod val="9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800" b="1" kern="0" dirty="0">
              <a:solidFill>
                <a:sysClr val="window" lastClr="FFFFFF">
                  <a:lumMod val="9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11"/>
          <p:cNvSpPr txBox="1"/>
          <p:nvPr/>
        </p:nvSpPr>
        <p:spPr>
          <a:xfrm>
            <a:off x="1119384" y="620688"/>
            <a:ext cx="7261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例子</a:t>
            </a:r>
          </a:p>
        </p:txBody>
      </p:sp>
      <p:sp>
        <p:nvSpPr>
          <p:cNvPr id="5" name="矩形 4"/>
          <p:cNvSpPr/>
          <p:nvPr/>
        </p:nvSpPr>
        <p:spPr>
          <a:xfrm>
            <a:off x="8380710" y="620688"/>
            <a:ext cx="223738" cy="490346"/>
          </a:xfrm>
          <a:prstGeom prst="rect">
            <a:avLst/>
          </a:prstGeom>
          <a:solidFill>
            <a:srgbClr val="1D8DE5"/>
          </a:solidFill>
          <a:ln w="9525" cap="rnd">
            <a:solidFill>
              <a:srgbClr val="1D8DE5"/>
            </a:solidFill>
            <a:prstDash val="solid"/>
            <a:round/>
            <a:headEnd/>
            <a:tailEnd/>
          </a:ln>
        </p:spPr>
        <p:txBody>
          <a:bodyPr/>
          <a:lstStyle/>
          <a:p>
            <a:pPr algn="ctr">
              <a:lnSpc>
                <a:spcPct val="120000"/>
              </a:lnSpc>
            </a:pPr>
            <a:endParaRPr lang="zh-CN" altLang="en-US" b="1" kern="0" dirty="0">
              <a:solidFill>
                <a:sysClr val="window" lastClr="FFFFFF">
                  <a:lumMod val="9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11560" y="631563"/>
            <a:ext cx="7992888" cy="0"/>
          </a:xfrm>
          <a:prstGeom prst="line">
            <a:avLst/>
          </a:prstGeom>
          <a:ln w="28575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4719784" y="1325054"/>
            <a:ext cx="0" cy="3976154"/>
          </a:xfrm>
          <a:prstGeom prst="line">
            <a:avLst/>
          </a:prstGeom>
          <a:ln w="12700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10"/>
          <p:cNvSpPr txBox="1">
            <a:spLocks noChangeArrowheads="1"/>
          </p:cNvSpPr>
          <p:nvPr/>
        </p:nvSpPr>
        <p:spPr bwMode="auto">
          <a:xfrm>
            <a:off x="611560" y="1714518"/>
            <a:ext cx="3960440" cy="3460434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r>
              <a:rPr lang="en-US" altLang="zh-CN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8250</a:t>
            </a:r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的端口为：</a:t>
            </a:r>
            <a:r>
              <a:rPr lang="en-US" altLang="zh-CN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3F8H~3FEH</a:t>
            </a:r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4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假设通信格式为：</a:t>
            </a:r>
            <a:r>
              <a:rPr lang="en-US" altLang="zh-CN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7</a:t>
            </a:r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个数据位，奇校验，</a:t>
            </a:r>
            <a:r>
              <a:rPr lang="en-US" altLang="zh-CN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位停止位。写控制字。</a:t>
            </a:r>
            <a:endParaRPr lang="en-US" altLang="zh-CN" sz="24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基准时钟频率</a:t>
            </a:r>
            <a:r>
              <a:rPr lang="en-US" altLang="zh-CN" sz="24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f</a:t>
            </a:r>
            <a:r>
              <a:rPr lang="en-US" altLang="zh-CN" sz="2400" b="1" baseline="-25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CLK</a:t>
            </a:r>
            <a:r>
              <a:rPr lang="en-US" altLang="zh-CN" sz="2400" b="1" baseline="-250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为</a:t>
            </a:r>
            <a:r>
              <a:rPr lang="en-US" altLang="zh-CN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1.8432MHz</a:t>
            </a:r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，通信速率为</a:t>
            </a:r>
            <a:r>
              <a:rPr lang="en-US" altLang="zh-CN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9600</a:t>
            </a:r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波特。</a:t>
            </a:r>
            <a:endParaRPr lang="en-US" altLang="zh-CN" sz="24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矩形 3"/>
          <p:cNvSpPr>
            <a:spLocks noChangeArrowheads="1"/>
          </p:cNvSpPr>
          <p:nvPr/>
        </p:nvSpPr>
        <p:spPr bwMode="auto">
          <a:xfrm>
            <a:off x="5538648" y="2436895"/>
            <a:ext cx="2345720" cy="522900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D7A2A"/>
                </a:solidFill>
                <a:latin typeface="微软雅黑" pitchFamily="34" charset="-122"/>
                <a:ea typeface="微软雅黑" pitchFamily="34" charset="-122"/>
              </a:rPr>
              <a:t>0 0 0 01 0 10B</a:t>
            </a:r>
          </a:p>
        </p:txBody>
      </p:sp>
      <p:sp>
        <p:nvSpPr>
          <p:cNvPr id="13" name="矩形 3"/>
          <p:cNvSpPr>
            <a:spLocks noChangeArrowheads="1"/>
          </p:cNvSpPr>
          <p:nvPr/>
        </p:nvSpPr>
        <p:spPr bwMode="auto">
          <a:xfrm>
            <a:off x="4916220" y="4533095"/>
            <a:ext cx="3878340" cy="522900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D7A2A"/>
                </a:solidFill>
                <a:latin typeface="微软雅黑" pitchFamily="34" charset="-122"/>
                <a:ea typeface="微软雅黑" pitchFamily="34" charset="-122"/>
              </a:rPr>
              <a:t>1843200/(16*9600)=12</a:t>
            </a:r>
          </a:p>
        </p:txBody>
      </p:sp>
      <p:sp>
        <p:nvSpPr>
          <p:cNvPr id="14" name="流程图: 过程 13"/>
          <p:cNvSpPr/>
          <p:nvPr/>
        </p:nvSpPr>
        <p:spPr>
          <a:xfrm>
            <a:off x="6083324" y="1988840"/>
            <a:ext cx="1296988" cy="488906"/>
          </a:xfrm>
          <a:prstGeom prst="flowChartProcess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控制字</a:t>
            </a:r>
          </a:p>
        </p:txBody>
      </p:sp>
      <p:sp>
        <p:nvSpPr>
          <p:cNvPr id="19" name="流程图: 过程 18"/>
          <p:cNvSpPr/>
          <p:nvPr/>
        </p:nvSpPr>
        <p:spPr>
          <a:xfrm>
            <a:off x="5370411" y="3998292"/>
            <a:ext cx="2729981" cy="492411"/>
          </a:xfrm>
          <a:prstGeom prst="flowChartProcess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分频系数，除数寄存器</a:t>
            </a:r>
          </a:p>
        </p:txBody>
      </p:sp>
    </p:spTree>
    <p:extLst>
      <p:ext uri="{BB962C8B-B14F-4D97-AF65-F5344CB8AC3E}">
        <p14:creationId xmlns:p14="http://schemas.microsoft.com/office/powerpoint/2010/main" val="2960740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3" grpId="0"/>
      <p:bldP spid="14" grpId="0" animBg="1"/>
      <p:bldP spid="19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611560" y="1124744"/>
            <a:ext cx="7992888" cy="0"/>
          </a:xfrm>
          <a:prstGeom prst="line">
            <a:avLst/>
          </a:prstGeom>
          <a:ln w="28575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611560" y="631563"/>
            <a:ext cx="500110" cy="490346"/>
          </a:xfrm>
          <a:prstGeom prst="rect">
            <a:avLst/>
          </a:prstGeom>
          <a:solidFill>
            <a:srgbClr val="1D8DE5"/>
          </a:solidFill>
          <a:ln w="9525" cap="rnd">
            <a:solidFill>
              <a:srgbClr val="1D8DE5"/>
            </a:solidFill>
            <a:prstDash val="solid"/>
            <a:round/>
            <a:headEnd/>
            <a:tailEnd/>
          </a:ln>
        </p:spPr>
        <p:txBody>
          <a:bodyPr anchor="ctr"/>
          <a:lstStyle/>
          <a:p>
            <a:pPr algn="ctr"/>
            <a:r>
              <a:rPr lang="en-US" altLang="zh-CN" sz="2800" b="1" kern="0" dirty="0">
                <a:solidFill>
                  <a:sysClr val="window" lastClr="FFFFFF">
                    <a:lumMod val="9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800" b="1" kern="0" dirty="0">
              <a:solidFill>
                <a:sysClr val="window" lastClr="FFFFFF">
                  <a:lumMod val="9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11"/>
          <p:cNvSpPr txBox="1"/>
          <p:nvPr/>
        </p:nvSpPr>
        <p:spPr>
          <a:xfrm>
            <a:off x="1119384" y="620688"/>
            <a:ext cx="7261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例子</a:t>
            </a:r>
          </a:p>
        </p:txBody>
      </p:sp>
      <p:sp>
        <p:nvSpPr>
          <p:cNvPr id="5" name="矩形 4"/>
          <p:cNvSpPr/>
          <p:nvPr/>
        </p:nvSpPr>
        <p:spPr>
          <a:xfrm>
            <a:off x="8380710" y="620688"/>
            <a:ext cx="223738" cy="490346"/>
          </a:xfrm>
          <a:prstGeom prst="rect">
            <a:avLst/>
          </a:prstGeom>
          <a:solidFill>
            <a:srgbClr val="1D8DE5"/>
          </a:solidFill>
          <a:ln w="9525" cap="rnd">
            <a:solidFill>
              <a:srgbClr val="1D8DE5"/>
            </a:solidFill>
            <a:prstDash val="solid"/>
            <a:round/>
            <a:headEnd/>
            <a:tailEnd/>
          </a:ln>
        </p:spPr>
        <p:txBody>
          <a:bodyPr/>
          <a:lstStyle/>
          <a:p>
            <a:pPr algn="ctr">
              <a:lnSpc>
                <a:spcPct val="120000"/>
              </a:lnSpc>
            </a:pPr>
            <a:endParaRPr lang="zh-CN" altLang="en-US" b="1" kern="0" dirty="0">
              <a:solidFill>
                <a:sysClr val="window" lastClr="FFFFFF">
                  <a:lumMod val="9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11560" y="631563"/>
            <a:ext cx="7992888" cy="0"/>
          </a:xfrm>
          <a:prstGeom prst="line">
            <a:avLst/>
          </a:prstGeom>
          <a:ln w="28575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4719784" y="1181038"/>
            <a:ext cx="0" cy="3976154"/>
          </a:xfrm>
          <a:prstGeom prst="line">
            <a:avLst/>
          </a:prstGeom>
          <a:ln w="12700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3"/>
          <p:cNvSpPr>
            <a:spLocks noChangeArrowheads="1"/>
          </p:cNvSpPr>
          <p:nvPr/>
        </p:nvSpPr>
        <p:spPr bwMode="auto">
          <a:xfrm>
            <a:off x="1187624" y="1881443"/>
            <a:ext cx="3528392" cy="522900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MOV  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AL,</a:t>
            </a: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10000000B</a:t>
            </a:r>
          </a:p>
        </p:txBody>
      </p:sp>
      <p:sp>
        <p:nvSpPr>
          <p:cNvPr id="18" name="矩形 3"/>
          <p:cNvSpPr>
            <a:spLocks noChangeArrowheads="1"/>
          </p:cNvSpPr>
          <p:nvPr/>
        </p:nvSpPr>
        <p:spPr bwMode="auto">
          <a:xfrm>
            <a:off x="1187624" y="2376273"/>
            <a:ext cx="2952328" cy="522900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OUT   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DX,  AL</a:t>
            </a:r>
            <a:endParaRPr lang="en-US" altLang="zh-CN" sz="2400" b="1" dirty="0">
              <a:solidFill>
                <a:srgbClr val="5DCB0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矩形 3"/>
          <p:cNvSpPr>
            <a:spLocks noChangeArrowheads="1"/>
          </p:cNvSpPr>
          <p:nvPr/>
        </p:nvSpPr>
        <p:spPr bwMode="auto">
          <a:xfrm>
            <a:off x="1187624" y="1340768"/>
            <a:ext cx="3528392" cy="56874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MOV  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DX,</a:t>
            </a: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3FBH</a:t>
            </a:r>
          </a:p>
        </p:txBody>
      </p:sp>
      <p:sp>
        <p:nvSpPr>
          <p:cNvPr id="13" name="矩形 3"/>
          <p:cNvSpPr>
            <a:spLocks noChangeArrowheads="1"/>
          </p:cNvSpPr>
          <p:nvPr/>
        </p:nvSpPr>
        <p:spPr bwMode="auto">
          <a:xfrm>
            <a:off x="1187624" y="2871103"/>
            <a:ext cx="3528392" cy="56874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MOV  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DX,</a:t>
            </a: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3F8H</a:t>
            </a:r>
          </a:p>
        </p:txBody>
      </p:sp>
      <p:sp>
        <p:nvSpPr>
          <p:cNvPr id="14" name="矩形 3"/>
          <p:cNvSpPr>
            <a:spLocks noChangeArrowheads="1"/>
          </p:cNvSpPr>
          <p:nvPr/>
        </p:nvSpPr>
        <p:spPr bwMode="auto">
          <a:xfrm>
            <a:off x="1187624" y="3411778"/>
            <a:ext cx="3528392" cy="56874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MOV  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AL,</a:t>
            </a: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12</a:t>
            </a:r>
          </a:p>
        </p:txBody>
      </p:sp>
      <p:sp>
        <p:nvSpPr>
          <p:cNvPr id="19" name="矩形 3"/>
          <p:cNvSpPr>
            <a:spLocks noChangeArrowheads="1"/>
          </p:cNvSpPr>
          <p:nvPr/>
        </p:nvSpPr>
        <p:spPr bwMode="auto">
          <a:xfrm>
            <a:off x="1187624" y="3952453"/>
            <a:ext cx="2952328" cy="522900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OUT   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DX,  AL</a:t>
            </a:r>
            <a:endParaRPr lang="en-US" altLang="zh-CN" sz="2400" b="1" dirty="0">
              <a:solidFill>
                <a:srgbClr val="5DCB0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矩形 3"/>
          <p:cNvSpPr>
            <a:spLocks noChangeArrowheads="1"/>
          </p:cNvSpPr>
          <p:nvPr/>
        </p:nvSpPr>
        <p:spPr bwMode="auto">
          <a:xfrm>
            <a:off x="1187624" y="4447283"/>
            <a:ext cx="3528392" cy="56874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MOV  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DX,</a:t>
            </a: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3F9H</a:t>
            </a:r>
          </a:p>
        </p:txBody>
      </p:sp>
      <p:sp>
        <p:nvSpPr>
          <p:cNvPr id="21" name="矩形 3"/>
          <p:cNvSpPr>
            <a:spLocks noChangeArrowheads="1"/>
          </p:cNvSpPr>
          <p:nvPr/>
        </p:nvSpPr>
        <p:spPr bwMode="auto">
          <a:xfrm>
            <a:off x="1187624" y="4987958"/>
            <a:ext cx="3528392" cy="56874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MOV  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AL,</a:t>
            </a: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0</a:t>
            </a:r>
          </a:p>
        </p:txBody>
      </p:sp>
      <p:sp>
        <p:nvSpPr>
          <p:cNvPr id="23" name="矩形 3"/>
          <p:cNvSpPr>
            <a:spLocks noChangeArrowheads="1"/>
          </p:cNvSpPr>
          <p:nvPr/>
        </p:nvSpPr>
        <p:spPr bwMode="auto">
          <a:xfrm>
            <a:off x="1187624" y="5528635"/>
            <a:ext cx="2952328" cy="522900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OUT   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DX,  AL</a:t>
            </a:r>
            <a:endParaRPr lang="en-US" altLang="zh-CN" sz="2400" b="1" dirty="0">
              <a:solidFill>
                <a:srgbClr val="5DCB0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" name="矩形 3"/>
          <p:cNvSpPr>
            <a:spLocks noChangeArrowheads="1"/>
          </p:cNvSpPr>
          <p:nvPr/>
        </p:nvSpPr>
        <p:spPr bwMode="auto">
          <a:xfrm>
            <a:off x="5148064" y="1823794"/>
            <a:ext cx="3528392" cy="56874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MOV  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AL,</a:t>
            </a: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00001010B</a:t>
            </a:r>
          </a:p>
        </p:txBody>
      </p:sp>
      <p:sp>
        <p:nvSpPr>
          <p:cNvPr id="25" name="矩形 3"/>
          <p:cNvSpPr>
            <a:spLocks noChangeArrowheads="1"/>
          </p:cNvSpPr>
          <p:nvPr/>
        </p:nvSpPr>
        <p:spPr bwMode="auto">
          <a:xfrm>
            <a:off x="5148064" y="2353527"/>
            <a:ext cx="2952328" cy="522900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OUT   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DX,  AL</a:t>
            </a:r>
            <a:endParaRPr lang="en-US" altLang="zh-CN" sz="2400" b="1" dirty="0">
              <a:solidFill>
                <a:srgbClr val="5DCB0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" name="矩形 3"/>
          <p:cNvSpPr>
            <a:spLocks noChangeArrowheads="1"/>
          </p:cNvSpPr>
          <p:nvPr/>
        </p:nvSpPr>
        <p:spPr bwMode="auto">
          <a:xfrm>
            <a:off x="5148064" y="1268760"/>
            <a:ext cx="3528392" cy="56874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MOV  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DX,</a:t>
            </a: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b="1" dirty="0">
                <a:solidFill>
                  <a:srgbClr val="5DCB08"/>
                </a:solidFill>
                <a:latin typeface="微软雅黑" pitchFamily="34" charset="-122"/>
                <a:ea typeface="微软雅黑" pitchFamily="34" charset="-122"/>
              </a:rPr>
              <a:t>3FBH</a:t>
            </a:r>
          </a:p>
        </p:txBody>
      </p:sp>
      <p:sp>
        <p:nvSpPr>
          <p:cNvPr id="27" name="矩形 26"/>
          <p:cNvSpPr/>
          <p:nvPr/>
        </p:nvSpPr>
        <p:spPr>
          <a:xfrm>
            <a:off x="54194" y="1879982"/>
            <a:ext cx="1107195" cy="583361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DLAB=1</a:t>
            </a:r>
            <a:endParaRPr lang="zh-CN" altLang="en-US" sz="2000" b="1" u="sng" dirty="0">
              <a:solidFill>
                <a:schemeClr val="bg1"/>
              </a:solidFill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54194" y="3443875"/>
            <a:ext cx="1107195" cy="583361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ea typeface="微软雅黑" panose="020B0503020204020204" pitchFamily="34" charset="-122"/>
              </a:rPr>
              <a:t>低位</a:t>
            </a:r>
            <a:endParaRPr lang="zh-CN" altLang="en-US" sz="2000" b="1" u="sng" dirty="0">
              <a:solidFill>
                <a:schemeClr val="bg1"/>
              </a:solidFill>
              <a:ea typeface="微软雅黑" panose="020B0503020204020204" pitchFamily="3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12189" y="4973342"/>
            <a:ext cx="1107195" cy="583361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ea typeface="微软雅黑" panose="020B0503020204020204" pitchFamily="34" charset="-122"/>
              </a:rPr>
              <a:t>高位</a:t>
            </a:r>
            <a:endParaRPr lang="zh-CN" altLang="en-US" sz="2000" b="1" u="sng" dirty="0">
              <a:solidFill>
                <a:schemeClr val="bg1"/>
              </a:solidFill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5546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  <p:bldP spid="12" grpId="0"/>
      <p:bldP spid="13" grpId="0"/>
      <p:bldP spid="14" grpId="0"/>
      <p:bldP spid="19" grpId="0"/>
      <p:bldP spid="20" grpId="0"/>
      <p:bldP spid="21" grpId="0"/>
      <p:bldP spid="23" grpId="0"/>
      <p:bldP spid="24" grpId="0"/>
      <p:bldP spid="25" grpId="0"/>
      <p:bldP spid="26" grpId="0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直接连接符 16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18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初始化：设置工作方式</a:t>
            </a:r>
            <a:endParaRPr lang="en-US" altLang="zh-CN" sz="32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9" name="直接连接符 18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21" name="矩形 20"/>
          <p:cNvSpPr/>
          <p:nvPr/>
        </p:nvSpPr>
        <p:spPr>
          <a:xfrm>
            <a:off x="755576" y="1916832"/>
            <a:ext cx="2361969" cy="2612436"/>
          </a:xfrm>
          <a:prstGeom prst="rect">
            <a:avLst/>
          </a:prstGeom>
          <a:solidFill>
            <a:schemeClr val="accent1">
              <a:lumMod val="60000"/>
              <a:lumOff val="4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任意多边形 21"/>
          <p:cNvSpPr/>
          <p:nvPr/>
        </p:nvSpPr>
        <p:spPr>
          <a:xfrm>
            <a:off x="755577" y="2549595"/>
            <a:ext cx="2361969" cy="1979673"/>
          </a:xfrm>
          <a:custGeom>
            <a:avLst/>
            <a:gdLst>
              <a:gd name="connsiteX0" fmla="*/ 1175287 w 2356338"/>
              <a:gd name="connsiteY0" fmla="*/ 0 h 2856024"/>
              <a:gd name="connsiteX1" fmla="*/ 1474827 w 2356338"/>
              <a:gd name="connsiteY1" fmla="*/ 140960 h 2856024"/>
              <a:gd name="connsiteX2" fmla="*/ 2356338 w 2356338"/>
              <a:gd name="connsiteY2" fmla="*/ 140960 h 2856024"/>
              <a:gd name="connsiteX3" fmla="*/ 2356338 w 2356338"/>
              <a:gd name="connsiteY3" fmla="*/ 2856024 h 2856024"/>
              <a:gd name="connsiteX4" fmla="*/ 0 w 2356338"/>
              <a:gd name="connsiteY4" fmla="*/ 2856024 h 2856024"/>
              <a:gd name="connsiteX5" fmla="*/ 0 w 2356338"/>
              <a:gd name="connsiteY5" fmla="*/ 140960 h 2856024"/>
              <a:gd name="connsiteX6" fmla="*/ 875747 w 2356338"/>
              <a:gd name="connsiteY6" fmla="*/ 140960 h 285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56338" h="2856024">
                <a:moveTo>
                  <a:pt x="1175287" y="0"/>
                </a:moveTo>
                <a:lnTo>
                  <a:pt x="1474827" y="140960"/>
                </a:lnTo>
                <a:lnTo>
                  <a:pt x="2356338" y="140960"/>
                </a:lnTo>
                <a:lnTo>
                  <a:pt x="2356338" y="2856024"/>
                </a:lnTo>
                <a:lnTo>
                  <a:pt x="0" y="2856024"/>
                </a:lnTo>
                <a:lnTo>
                  <a:pt x="0" y="140960"/>
                </a:lnTo>
                <a:lnTo>
                  <a:pt x="875747" y="140960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Ins="144000" rtlCol="0" anchor="ctr"/>
          <a:lstStyle/>
          <a:p>
            <a:pPr>
              <a:lnSpc>
                <a:spcPct val="12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AL, </a:t>
            </a: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03H</a:t>
            </a:r>
          </a:p>
          <a:p>
            <a:pPr>
              <a:lnSpc>
                <a:spcPct val="12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DX,</a:t>
            </a: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3FCH</a:t>
            </a:r>
          </a:p>
          <a:p>
            <a:pPr>
              <a:lnSpc>
                <a:spcPct val="12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OUT   DX, AL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755576" y="2063287"/>
            <a:ext cx="23619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3E3D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无中断方式</a:t>
            </a:r>
          </a:p>
        </p:txBody>
      </p:sp>
      <p:sp>
        <p:nvSpPr>
          <p:cNvPr id="24" name="矩形 23"/>
          <p:cNvSpPr/>
          <p:nvPr/>
        </p:nvSpPr>
        <p:spPr>
          <a:xfrm>
            <a:off x="3476718" y="1916832"/>
            <a:ext cx="2361969" cy="2612436"/>
          </a:xfrm>
          <a:prstGeom prst="rect">
            <a:avLst/>
          </a:prstGeom>
          <a:solidFill>
            <a:schemeClr val="accent1">
              <a:lumMod val="60000"/>
              <a:lumOff val="4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任意多边形 24"/>
          <p:cNvSpPr/>
          <p:nvPr/>
        </p:nvSpPr>
        <p:spPr>
          <a:xfrm>
            <a:off x="3476719" y="2549595"/>
            <a:ext cx="2361969" cy="1979673"/>
          </a:xfrm>
          <a:custGeom>
            <a:avLst/>
            <a:gdLst>
              <a:gd name="connsiteX0" fmla="*/ 1175287 w 2356338"/>
              <a:gd name="connsiteY0" fmla="*/ 0 h 2856024"/>
              <a:gd name="connsiteX1" fmla="*/ 1474827 w 2356338"/>
              <a:gd name="connsiteY1" fmla="*/ 140960 h 2856024"/>
              <a:gd name="connsiteX2" fmla="*/ 2356338 w 2356338"/>
              <a:gd name="connsiteY2" fmla="*/ 140960 h 2856024"/>
              <a:gd name="connsiteX3" fmla="*/ 2356338 w 2356338"/>
              <a:gd name="connsiteY3" fmla="*/ 2856024 h 2856024"/>
              <a:gd name="connsiteX4" fmla="*/ 0 w 2356338"/>
              <a:gd name="connsiteY4" fmla="*/ 2856024 h 2856024"/>
              <a:gd name="connsiteX5" fmla="*/ 0 w 2356338"/>
              <a:gd name="connsiteY5" fmla="*/ 140960 h 2856024"/>
              <a:gd name="connsiteX6" fmla="*/ 875747 w 2356338"/>
              <a:gd name="connsiteY6" fmla="*/ 140960 h 285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56338" h="2856024">
                <a:moveTo>
                  <a:pt x="1175287" y="0"/>
                </a:moveTo>
                <a:lnTo>
                  <a:pt x="1474827" y="140960"/>
                </a:lnTo>
                <a:lnTo>
                  <a:pt x="2356338" y="140960"/>
                </a:lnTo>
                <a:lnTo>
                  <a:pt x="2356338" y="2856024"/>
                </a:lnTo>
                <a:lnTo>
                  <a:pt x="0" y="2856024"/>
                </a:lnTo>
                <a:lnTo>
                  <a:pt x="0" y="140960"/>
                </a:lnTo>
                <a:lnTo>
                  <a:pt x="875747" y="140960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Ins="144000" rtlCol="0" anchor="ctr"/>
          <a:lstStyle/>
          <a:p>
            <a:pPr>
              <a:lnSpc>
                <a:spcPct val="12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AL, </a:t>
            </a: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0BH</a:t>
            </a:r>
          </a:p>
          <a:p>
            <a:pPr>
              <a:lnSpc>
                <a:spcPct val="12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DX,</a:t>
            </a: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3FCH</a:t>
            </a:r>
          </a:p>
          <a:p>
            <a:pPr>
              <a:lnSpc>
                <a:spcPct val="12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OUT   DX, AL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3476718" y="2063287"/>
            <a:ext cx="23619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3E3D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中断方式</a:t>
            </a:r>
          </a:p>
        </p:txBody>
      </p:sp>
      <p:sp>
        <p:nvSpPr>
          <p:cNvPr id="27" name="矩形 26"/>
          <p:cNvSpPr/>
          <p:nvPr/>
        </p:nvSpPr>
        <p:spPr>
          <a:xfrm>
            <a:off x="6202795" y="1916832"/>
            <a:ext cx="2361969" cy="2612436"/>
          </a:xfrm>
          <a:prstGeom prst="rect">
            <a:avLst/>
          </a:prstGeom>
          <a:solidFill>
            <a:schemeClr val="accent1">
              <a:lumMod val="60000"/>
              <a:lumOff val="4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任意多边形 27"/>
          <p:cNvSpPr/>
          <p:nvPr/>
        </p:nvSpPr>
        <p:spPr>
          <a:xfrm>
            <a:off x="6202796" y="2549595"/>
            <a:ext cx="2361969" cy="1979673"/>
          </a:xfrm>
          <a:custGeom>
            <a:avLst/>
            <a:gdLst>
              <a:gd name="connsiteX0" fmla="*/ 1175287 w 2356338"/>
              <a:gd name="connsiteY0" fmla="*/ 0 h 2856024"/>
              <a:gd name="connsiteX1" fmla="*/ 1474827 w 2356338"/>
              <a:gd name="connsiteY1" fmla="*/ 140960 h 2856024"/>
              <a:gd name="connsiteX2" fmla="*/ 2356338 w 2356338"/>
              <a:gd name="connsiteY2" fmla="*/ 140960 h 2856024"/>
              <a:gd name="connsiteX3" fmla="*/ 2356338 w 2356338"/>
              <a:gd name="connsiteY3" fmla="*/ 2856024 h 2856024"/>
              <a:gd name="connsiteX4" fmla="*/ 0 w 2356338"/>
              <a:gd name="connsiteY4" fmla="*/ 2856024 h 2856024"/>
              <a:gd name="connsiteX5" fmla="*/ 0 w 2356338"/>
              <a:gd name="connsiteY5" fmla="*/ 140960 h 2856024"/>
              <a:gd name="connsiteX6" fmla="*/ 875747 w 2356338"/>
              <a:gd name="connsiteY6" fmla="*/ 140960 h 285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56338" h="2856024">
                <a:moveTo>
                  <a:pt x="1175287" y="0"/>
                </a:moveTo>
                <a:lnTo>
                  <a:pt x="1474827" y="140960"/>
                </a:lnTo>
                <a:lnTo>
                  <a:pt x="2356338" y="140960"/>
                </a:lnTo>
                <a:lnTo>
                  <a:pt x="2356338" y="2856024"/>
                </a:lnTo>
                <a:lnTo>
                  <a:pt x="0" y="2856024"/>
                </a:lnTo>
                <a:lnTo>
                  <a:pt x="0" y="140960"/>
                </a:lnTo>
                <a:lnTo>
                  <a:pt x="875747" y="140960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Ins="144000" rtlCol="0" anchor="ctr"/>
          <a:lstStyle/>
          <a:p>
            <a:pPr>
              <a:lnSpc>
                <a:spcPct val="12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AL, </a:t>
            </a: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13H</a:t>
            </a:r>
          </a:p>
          <a:p>
            <a:pPr>
              <a:lnSpc>
                <a:spcPct val="12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DX,</a:t>
            </a: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3FCH</a:t>
            </a:r>
          </a:p>
          <a:p>
            <a:pPr>
              <a:lnSpc>
                <a:spcPct val="12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OUT   DX, AL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6202795" y="2063287"/>
            <a:ext cx="23619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3E3D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循环自测</a:t>
            </a:r>
          </a:p>
        </p:txBody>
      </p:sp>
      <p:sp>
        <p:nvSpPr>
          <p:cNvPr id="30" name="矩形 29"/>
          <p:cNvSpPr/>
          <p:nvPr/>
        </p:nvSpPr>
        <p:spPr>
          <a:xfrm>
            <a:off x="755576" y="4816170"/>
            <a:ext cx="7809188" cy="652421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dirty="0">
                <a:ea typeface="微软雅黑" panose="020B0503020204020204" pitchFamily="34" charset="-122"/>
              </a:rPr>
              <a:t>参考</a:t>
            </a:r>
            <a:r>
              <a:rPr lang="en-US" altLang="zh-CN" sz="2000" dirty="0">
                <a:ea typeface="微软雅黑" panose="020B0503020204020204" pitchFamily="34" charset="-122"/>
              </a:rPr>
              <a:t>33</a:t>
            </a:r>
            <a:r>
              <a:rPr lang="zh-CN" altLang="en-US" sz="2000" dirty="0">
                <a:ea typeface="微软雅黑" panose="020B0503020204020204" pitchFamily="34" charset="-122"/>
              </a:rPr>
              <a:t>页</a:t>
            </a:r>
            <a:r>
              <a:rPr lang="en-US" altLang="zh-CN" sz="2000" dirty="0">
                <a:ea typeface="微软雅黑" panose="020B0503020204020204" pitchFamily="34" charset="-122"/>
              </a:rPr>
              <a:t>PPT</a:t>
            </a:r>
            <a:r>
              <a:rPr lang="zh-CN" altLang="en-US" sz="2000" dirty="0">
                <a:ea typeface="微软雅黑" panose="020B0503020204020204" pitchFamily="34" charset="-122"/>
              </a:rPr>
              <a:t>，设定</a:t>
            </a:r>
            <a:r>
              <a:rPr lang="en-US" altLang="zh-CN" sz="2000" dirty="0">
                <a:ea typeface="微软雅黑" panose="020B0503020204020204" pitchFamily="34" charset="-122"/>
              </a:rPr>
              <a:t>OUT2</a:t>
            </a:r>
            <a:r>
              <a:rPr lang="zh-CN" altLang="en-US" sz="2000" dirty="0">
                <a:ea typeface="微软雅黑" panose="020B0503020204020204" pitchFamily="34" charset="-122"/>
              </a:rPr>
              <a:t>*有效，它通过三态门控制向</a:t>
            </a:r>
            <a:r>
              <a:rPr lang="en-US" altLang="zh-CN" sz="2000" dirty="0">
                <a:ea typeface="微软雅黑" panose="020B0503020204020204" pitchFamily="34" charset="-122"/>
              </a:rPr>
              <a:t>PC</a:t>
            </a:r>
            <a:r>
              <a:rPr lang="zh-CN" altLang="en-US" sz="2000" dirty="0">
                <a:ea typeface="微软雅黑" panose="020B0503020204020204" pitchFamily="34" charset="-122"/>
              </a:rPr>
              <a:t>申请中断。</a:t>
            </a:r>
            <a:endParaRPr lang="en-US" altLang="zh-CN" sz="2000" dirty="0">
              <a:solidFill>
                <a:schemeClr val="lt1"/>
              </a:solidFill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40863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直接连接符 16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18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初始化：设置中断使能位</a:t>
            </a:r>
            <a:endParaRPr lang="en-US" altLang="zh-CN" sz="3200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9" name="直接连接符 18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21" name="矩形 20"/>
          <p:cNvSpPr/>
          <p:nvPr/>
        </p:nvSpPr>
        <p:spPr>
          <a:xfrm>
            <a:off x="755576" y="1916832"/>
            <a:ext cx="2361969" cy="2612436"/>
          </a:xfrm>
          <a:prstGeom prst="rect">
            <a:avLst/>
          </a:prstGeom>
          <a:solidFill>
            <a:schemeClr val="accent1">
              <a:lumMod val="60000"/>
              <a:lumOff val="4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任意多边形 21"/>
          <p:cNvSpPr/>
          <p:nvPr/>
        </p:nvSpPr>
        <p:spPr>
          <a:xfrm>
            <a:off x="755577" y="2549595"/>
            <a:ext cx="2361969" cy="1979673"/>
          </a:xfrm>
          <a:custGeom>
            <a:avLst/>
            <a:gdLst>
              <a:gd name="connsiteX0" fmla="*/ 1175287 w 2356338"/>
              <a:gd name="connsiteY0" fmla="*/ 0 h 2856024"/>
              <a:gd name="connsiteX1" fmla="*/ 1474827 w 2356338"/>
              <a:gd name="connsiteY1" fmla="*/ 140960 h 2856024"/>
              <a:gd name="connsiteX2" fmla="*/ 2356338 w 2356338"/>
              <a:gd name="connsiteY2" fmla="*/ 140960 h 2856024"/>
              <a:gd name="connsiteX3" fmla="*/ 2356338 w 2356338"/>
              <a:gd name="connsiteY3" fmla="*/ 2856024 h 2856024"/>
              <a:gd name="connsiteX4" fmla="*/ 0 w 2356338"/>
              <a:gd name="connsiteY4" fmla="*/ 2856024 h 2856024"/>
              <a:gd name="connsiteX5" fmla="*/ 0 w 2356338"/>
              <a:gd name="connsiteY5" fmla="*/ 140960 h 2856024"/>
              <a:gd name="connsiteX6" fmla="*/ 875747 w 2356338"/>
              <a:gd name="connsiteY6" fmla="*/ 140960 h 285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56338" h="2856024">
                <a:moveTo>
                  <a:pt x="1175287" y="0"/>
                </a:moveTo>
                <a:lnTo>
                  <a:pt x="1474827" y="140960"/>
                </a:lnTo>
                <a:lnTo>
                  <a:pt x="2356338" y="140960"/>
                </a:lnTo>
                <a:lnTo>
                  <a:pt x="2356338" y="2856024"/>
                </a:lnTo>
                <a:lnTo>
                  <a:pt x="0" y="2856024"/>
                </a:lnTo>
                <a:lnTo>
                  <a:pt x="0" y="140960"/>
                </a:lnTo>
                <a:lnTo>
                  <a:pt x="875747" y="140960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Ins="144000" rtlCol="0" anchor="ctr"/>
          <a:lstStyle/>
          <a:p>
            <a:pPr>
              <a:lnSpc>
                <a:spcPct val="12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AL, </a:t>
            </a: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0H</a:t>
            </a:r>
          </a:p>
          <a:p>
            <a:pPr>
              <a:lnSpc>
                <a:spcPct val="12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DX,</a:t>
            </a: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3F9H</a:t>
            </a:r>
          </a:p>
          <a:p>
            <a:pPr>
              <a:lnSpc>
                <a:spcPct val="12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OUT   DX, AL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755576" y="2063287"/>
            <a:ext cx="23619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3E3D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禁止所有中断</a:t>
            </a:r>
          </a:p>
        </p:txBody>
      </p:sp>
      <p:sp>
        <p:nvSpPr>
          <p:cNvPr id="24" name="矩形 23"/>
          <p:cNvSpPr/>
          <p:nvPr/>
        </p:nvSpPr>
        <p:spPr>
          <a:xfrm>
            <a:off x="3476718" y="1916832"/>
            <a:ext cx="2361969" cy="2612436"/>
          </a:xfrm>
          <a:prstGeom prst="rect">
            <a:avLst/>
          </a:prstGeom>
          <a:solidFill>
            <a:schemeClr val="accent1">
              <a:lumMod val="60000"/>
              <a:lumOff val="4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任意多边形 24"/>
          <p:cNvSpPr/>
          <p:nvPr/>
        </p:nvSpPr>
        <p:spPr>
          <a:xfrm>
            <a:off x="3476719" y="2549595"/>
            <a:ext cx="2361969" cy="1979673"/>
          </a:xfrm>
          <a:custGeom>
            <a:avLst/>
            <a:gdLst>
              <a:gd name="connsiteX0" fmla="*/ 1175287 w 2356338"/>
              <a:gd name="connsiteY0" fmla="*/ 0 h 2856024"/>
              <a:gd name="connsiteX1" fmla="*/ 1474827 w 2356338"/>
              <a:gd name="connsiteY1" fmla="*/ 140960 h 2856024"/>
              <a:gd name="connsiteX2" fmla="*/ 2356338 w 2356338"/>
              <a:gd name="connsiteY2" fmla="*/ 140960 h 2856024"/>
              <a:gd name="connsiteX3" fmla="*/ 2356338 w 2356338"/>
              <a:gd name="connsiteY3" fmla="*/ 2856024 h 2856024"/>
              <a:gd name="connsiteX4" fmla="*/ 0 w 2356338"/>
              <a:gd name="connsiteY4" fmla="*/ 2856024 h 2856024"/>
              <a:gd name="connsiteX5" fmla="*/ 0 w 2356338"/>
              <a:gd name="connsiteY5" fmla="*/ 140960 h 2856024"/>
              <a:gd name="connsiteX6" fmla="*/ 875747 w 2356338"/>
              <a:gd name="connsiteY6" fmla="*/ 140960 h 285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56338" h="2856024">
                <a:moveTo>
                  <a:pt x="1175287" y="0"/>
                </a:moveTo>
                <a:lnTo>
                  <a:pt x="1474827" y="140960"/>
                </a:lnTo>
                <a:lnTo>
                  <a:pt x="2356338" y="140960"/>
                </a:lnTo>
                <a:lnTo>
                  <a:pt x="2356338" y="2856024"/>
                </a:lnTo>
                <a:lnTo>
                  <a:pt x="0" y="2856024"/>
                </a:lnTo>
                <a:lnTo>
                  <a:pt x="0" y="140960"/>
                </a:lnTo>
                <a:lnTo>
                  <a:pt x="875747" y="140960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Ins="144000" rtlCol="0" anchor="ctr"/>
          <a:lstStyle/>
          <a:p>
            <a:pPr>
              <a:lnSpc>
                <a:spcPct val="12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AL, </a:t>
            </a: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0FH</a:t>
            </a:r>
          </a:p>
          <a:p>
            <a:pPr>
              <a:lnSpc>
                <a:spcPct val="12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DX,</a:t>
            </a: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3F9H</a:t>
            </a:r>
          </a:p>
          <a:p>
            <a:pPr>
              <a:lnSpc>
                <a:spcPct val="12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OUT   DX, AL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3476718" y="2063287"/>
            <a:ext cx="23619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3E3D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允许所有中断</a:t>
            </a:r>
          </a:p>
        </p:txBody>
      </p:sp>
      <p:sp>
        <p:nvSpPr>
          <p:cNvPr id="27" name="矩形 26"/>
          <p:cNvSpPr/>
          <p:nvPr/>
        </p:nvSpPr>
        <p:spPr>
          <a:xfrm>
            <a:off x="6202795" y="1916832"/>
            <a:ext cx="2361969" cy="2612436"/>
          </a:xfrm>
          <a:prstGeom prst="rect">
            <a:avLst/>
          </a:prstGeom>
          <a:solidFill>
            <a:schemeClr val="accent1">
              <a:lumMod val="60000"/>
              <a:lumOff val="4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任意多边形 27"/>
          <p:cNvSpPr/>
          <p:nvPr/>
        </p:nvSpPr>
        <p:spPr>
          <a:xfrm>
            <a:off x="6202796" y="2549595"/>
            <a:ext cx="2361969" cy="1979673"/>
          </a:xfrm>
          <a:custGeom>
            <a:avLst/>
            <a:gdLst>
              <a:gd name="connsiteX0" fmla="*/ 1175287 w 2356338"/>
              <a:gd name="connsiteY0" fmla="*/ 0 h 2856024"/>
              <a:gd name="connsiteX1" fmla="*/ 1474827 w 2356338"/>
              <a:gd name="connsiteY1" fmla="*/ 140960 h 2856024"/>
              <a:gd name="connsiteX2" fmla="*/ 2356338 w 2356338"/>
              <a:gd name="connsiteY2" fmla="*/ 140960 h 2856024"/>
              <a:gd name="connsiteX3" fmla="*/ 2356338 w 2356338"/>
              <a:gd name="connsiteY3" fmla="*/ 2856024 h 2856024"/>
              <a:gd name="connsiteX4" fmla="*/ 0 w 2356338"/>
              <a:gd name="connsiteY4" fmla="*/ 2856024 h 2856024"/>
              <a:gd name="connsiteX5" fmla="*/ 0 w 2356338"/>
              <a:gd name="connsiteY5" fmla="*/ 140960 h 2856024"/>
              <a:gd name="connsiteX6" fmla="*/ 875747 w 2356338"/>
              <a:gd name="connsiteY6" fmla="*/ 140960 h 2856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56338" h="2856024">
                <a:moveTo>
                  <a:pt x="1175287" y="0"/>
                </a:moveTo>
                <a:lnTo>
                  <a:pt x="1474827" y="140960"/>
                </a:lnTo>
                <a:lnTo>
                  <a:pt x="2356338" y="140960"/>
                </a:lnTo>
                <a:lnTo>
                  <a:pt x="2356338" y="2856024"/>
                </a:lnTo>
                <a:lnTo>
                  <a:pt x="0" y="2856024"/>
                </a:lnTo>
                <a:lnTo>
                  <a:pt x="0" y="140960"/>
                </a:lnTo>
                <a:lnTo>
                  <a:pt x="875747" y="140960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Ins="144000" rtlCol="0" anchor="ctr"/>
          <a:lstStyle/>
          <a:p>
            <a:pPr>
              <a:lnSpc>
                <a:spcPct val="12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AL, </a:t>
            </a: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03H</a:t>
            </a:r>
          </a:p>
          <a:p>
            <a:pPr>
              <a:lnSpc>
                <a:spcPct val="12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DX,</a:t>
            </a:r>
            <a:r>
              <a:rPr lang="en-US" altLang="zh-CN" sz="2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3F9H</a:t>
            </a:r>
          </a:p>
          <a:p>
            <a:pPr>
              <a:lnSpc>
                <a:spcPct val="12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OUT   DX, AL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6202795" y="2063287"/>
            <a:ext cx="23619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3E3D4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允许收发中断</a:t>
            </a:r>
          </a:p>
        </p:txBody>
      </p:sp>
    </p:spTree>
    <p:extLst>
      <p:ext uri="{BB962C8B-B14F-4D97-AF65-F5344CB8AC3E}">
        <p14:creationId xmlns:p14="http://schemas.microsoft.com/office/powerpoint/2010/main" val="57839758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/>
          <p:cNvSpPr/>
          <p:nvPr/>
        </p:nvSpPr>
        <p:spPr>
          <a:xfrm>
            <a:off x="8461631" y="6348095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15"/>
          <p:cNvSpPr txBox="1"/>
          <p:nvPr/>
        </p:nvSpPr>
        <p:spPr>
          <a:xfrm>
            <a:off x="8316416" y="6358818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pPr algn="ctr"/>
              <a:t>55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2" name="TextBox 15"/>
          <p:cNvSpPr txBox="1">
            <a:spLocks noChangeArrowheads="1"/>
          </p:cNvSpPr>
          <p:nvPr/>
        </p:nvSpPr>
        <p:spPr bwMode="auto">
          <a:xfrm>
            <a:off x="3552812" y="3741684"/>
            <a:ext cx="2747380" cy="18842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7730" tIns="33865" rIns="67730" bIns="33865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 indent="-342900"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内部寄存器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indent="-342900"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初始化编程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indent="-342900" defTabSz="762000">
              <a:lnSpc>
                <a:spcPct val="150000"/>
              </a:lnSpc>
              <a:spcAft>
                <a:spcPts val="600"/>
              </a:spcAft>
              <a:buFont typeface="Wingdings" pitchFamily="2" charset="2"/>
              <a:buChar char="u"/>
            </a:pPr>
            <a:r>
              <a:rPr lang="zh-CN" altLang="en-US" sz="2400" b="1" dirty="0">
                <a:solidFill>
                  <a:srgbClr val="FF3255"/>
                </a:solidFill>
                <a:latin typeface="微软雅黑" pitchFamily="34" charset="-122"/>
                <a:ea typeface="微软雅黑" pitchFamily="34" charset="-122"/>
              </a:rPr>
              <a:t>应用举例</a:t>
            </a:r>
            <a:endParaRPr lang="en-US" altLang="zh-CN" sz="2400" b="1" dirty="0">
              <a:solidFill>
                <a:srgbClr val="FF325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1404144" y="1772816"/>
            <a:ext cx="6264275" cy="1587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cxnSp>
        <p:nvCxnSpPr>
          <p:cNvPr id="15" name="直接连接符 14"/>
          <p:cNvCxnSpPr/>
          <p:nvPr/>
        </p:nvCxnSpPr>
        <p:spPr>
          <a:xfrm>
            <a:off x="1475582" y="3501603"/>
            <a:ext cx="6264275" cy="1588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sp>
        <p:nvSpPr>
          <p:cNvPr id="16" name="TextBox 10"/>
          <p:cNvSpPr txBox="1">
            <a:spLocks noChangeArrowheads="1"/>
          </p:cNvSpPr>
          <p:nvPr/>
        </p:nvSpPr>
        <p:spPr bwMode="auto">
          <a:xfrm>
            <a:off x="934711" y="2012896"/>
            <a:ext cx="7346015" cy="1250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14000"/>
              </a:lnSpc>
            </a:pPr>
            <a:r>
              <a:rPr lang="en-US" altLang="zh-CN" sz="66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8250</a:t>
            </a:r>
            <a:r>
              <a:rPr lang="zh-CN" altLang="en-US" sz="66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编程和应用</a:t>
            </a:r>
            <a:endParaRPr lang="zh-CN" altLang="en-US" sz="8000" b="1" dirty="0">
              <a:solidFill>
                <a:srgbClr val="00C4F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00663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6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611560" y="1124744"/>
            <a:ext cx="7992888" cy="0"/>
          </a:xfrm>
          <a:prstGeom prst="line">
            <a:avLst/>
          </a:prstGeom>
          <a:ln w="28575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611560" y="631563"/>
            <a:ext cx="500110" cy="490346"/>
          </a:xfrm>
          <a:prstGeom prst="rect">
            <a:avLst/>
          </a:prstGeom>
          <a:solidFill>
            <a:srgbClr val="1D8DE5"/>
          </a:solidFill>
          <a:ln w="9525" cap="rnd">
            <a:solidFill>
              <a:srgbClr val="1D8DE5"/>
            </a:solidFill>
            <a:prstDash val="solid"/>
            <a:round/>
            <a:headEnd/>
            <a:tailEnd/>
          </a:ln>
        </p:spPr>
        <p:txBody>
          <a:bodyPr anchor="ctr"/>
          <a:lstStyle/>
          <a:p>
            <a:pPr algn="ctr"/>
            <a:r>
              <a:rPr lang="en-US" altLang="zh-CN" sz="2800" b="1" kern="0" dirty="0">
                <a:solidFill>
                  <a:sysClr val="window" lastClr="FFFFFF">
                    <a:lumMod val="9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800" b="1" kern="0" dirty="0">
              <a:solidFill>
                <a:sysClr val="window" lastClr="FFFFFF">
                  <a:lumMod val="9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11"/>
          <p:cNvSpPr txBox="1"/>
          <p:nvPr/>
        </p:nvSpPr>
        <p:spPr>
          <a:xfrm>
            <a:off x="1119384" y="620688"/>
            <a:ext cx="7261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例子</a:t>
            </a:r>
          </a:p>
        </p:txBody>
      </p:sp>
      <p:sp>
        <p:nvSpPr>
          <p:cNvPr id="5" name="矩形 4"/>
          <p:cNvSpPr/>
          <p:nvPr/>
        </p:nvSpPr>
        <p:spPr>
          <a:xfrm>
            <a:off x="8380710" y="620688"/>
            <a:ext cx="223738" cy="490346"/>
          </a:xfrm>
          <a:prstGeom prst="rect">
            <a:avLst/>
          </a:prstGeom>
          <a:solidFill>
            <a:srgbClr val="1D8DE5"/>
          </a:solidFill>
          <a:ln w="9525" cap="rnd">
            <a:solidFill>
              <a:srgbClr val="1D8DE5"/>
            </a:solidFill>
            <a:prstDash val="solid"/>
            <a:round/>
            <a:headEnd/>
            <a:tailEnd/>
          </a:ln>
        </p:spPr>
        <p:txBody>
          <a:bodyPr/>
          <a:lstStyle/>
          <a:p>
            <a:pPr algn="ctr">
              <a:lnSpc>
                <a:spcPct val="120000"/>
              </a:lnSpc>
            </a:pPr>
            <a:endParaRPr lang="zh-CN" altLang="en-US" b="1" kern="0" dirty="0">
              <a:solidFill>
                <a:sysClr val="window" lastClr="FFFFFF">
                  <a:lumMod val="9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11560" y="631563"/>
            <a:ext cx="7992888" cy="0"/>
          </a:xfrm>
          <a:prstGeom prst="line">
            <a:avLst/>
          </a:prstGeom>
          <a:ln w="28575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10"/>
          <p:cNvSpPr txBox="1">
            <a:spLocks noChangeArrowheads="1"/>
          </p:cNvSpPr>
          <p:nvPr/>
        </p:nvSpPr>
        <p:spPr bwMode="auto">
          <a:xfrm>
            <a:off x="718295" y="1988840"/>
            <a:ext cx="7769150" cy="1776384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r>
              <a:rPr lang="en-US" altLang="zh-CN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8250</a:t>
            </a:r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的端口为：</a:t>
            </a:r>
            <a:r>
              <a:rPr lang="en-US" altLang="zh-CN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3F8H~3FEH</a:t>
            </a:r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4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假定要发送的字节数放在</a:t>
            </a:r>
            <a:r>
              <a:rPr lang="en-US" altLang="zh-CN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BX</a:t>
            </a:r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中，要发送的数据顺序存放在以</a:t>
            </a:r>
            <a:r>
              <a:rPr lang="en-US" altLang="zh-CN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DATA</a:t>
            </a:r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为首地址的内存区中。</a:t>
            </a:r>
            <a:endParaRPr lang="en-US" altLang="zh-CN" sz="24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以查询式发送和接收。</a:t>
            </a:r>
            <a:endParaRPr lang="en-US" altLang="zh-CN" sz="24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8811389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596400" y="614873"/>
            <a:ext cx="3312368" cy="54784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b="1" dirty="0">
                <a:solidFill>
                  <a:srgbClr val="00B85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SENDPRG:</a:t>
            </a:r>
          </a:p>
          <a:p>
            <a:pPr>
              <a:lnSpc>
                <a:spcPct val="1250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2000" b="1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20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DX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3FDH</a:t>
            </a:r>
          </a:p>
          <a:p>
            <a:pPr>
              <a:lnSpc>
                <a:spcPct val="1250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2000" b="1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LEA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en-US" sz="20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DATA</a:t>
            </a:r>
          </a:p>
          <a:p>
            <a:pPr>
              <a:lnSpc>
                <a:spcPct val="125000"/>
              </a:lnSpc>
            </a:pPr>
            <a:r>
              <a:rPr lang="zh-CN" altLang="en-US" sz="2000" b="1" dirty="0">
                <a:solidFill>
                  <a:srgbClr val="00B85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WAITTHR: </a:t>
            </a:r>
          </a:p>
          <a:p>
            <a:pPr>
              <a:lnSpc>
                <a:spcPct val="1250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2000" b="1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0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AL,DX</a:t>
            </a:r>
          </a:p>
          <a:p>
            <a:pPr>
              <a:lnSpc>
                <a:spcPct val="1250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2000" b="1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TEST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20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,20H</a:t>
            </a:r>
          </a:p>
          <a:p>
            <a:pPr>
              <a:lnSpc>
                <a:spcPct val="1250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2000" b="1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JZ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000" b="1" dirty="0">
                <a:solidFill>
                  <a:srgbClr val="00B85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WAITTHR</a:t>
            </a:r>
          </a:p>
          <a:p>
            <a:pPr>
              <a:lnSpc>
                <a:spcPct val="1250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2000" b="1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PUSH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DX</a:t>
            </a:r>
          </a:p>
          <a:p>
            <a:pPr>
              <a:lnSpc>
                <a:spcPct val="1250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2000" b="1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0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DX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,3F8H</a:t>
            </a:r>
          </a:p>
          <a:p>
            <a:pPr>
              <a:lnSpc>
                <a:spcPct val="1250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2000" b="1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LODSB</a:t>
            </a:r>
          </a:p>
          <a:p>
            <a:pPr>
              <a:lnSpc>
                <a:spcPct val="1250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2000" b="1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OUT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20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DX,AL</a:t>
            </a:r>
          </a:p>
          <a:p>
            <a:pPr>
              <a:lnSpc>
                <a:spcPct val="1250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2000" b="1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POP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20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DX</a:t>
            </a:r>
          </a:p>
          <a:p>
            <a:pPr>
              <a:lnSpc>
                <a:spcPct val="125000"/>
              </a:lnSpc>
            </a:pPr>
            <a:r>
              <a:rPr lang="zh-CN" altLang="en-US" sz="2000" b="1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DEC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20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BX</a:t>
            </a:r>
          </a:p>
          <a:p>
            <a:pPr>
              <a:lnSpc>
                <a:spcPct val="1250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2000" b="1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JNZ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2000" b="1" dirty="0">
                <a:solidFill>
                  <a:srgbClr val="00B85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WAITTHR</a:t>
            </a:r>
          </a:p>
        </p:txBody>
      </p:sp>
      <p:sp>
        <p:nvSpPr>
          <p:cNvPr id="3" name="矩形 2"/>
          <p:cNvSpPr/>
          <p:nvPr/>
        </p:nvSpPr>
        <p:spPr>
          <a:xfrm>
            <a:off x="5268808" y="623957"/>
            <a:ext cx="2327528" cy="1148860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ea typeface="微软雅黑" panose="020B0503020204020204" pitchFamily="34" charset="-122"/>
              </a:rPr>
              <a:t>线路状态寄存器</a:t>
            </a:r>
            <a:endParaRPr lang="en-US" altLang="zh-CN" sz="2400" b="1" dirty="0"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b="1" dirty="0">
                <a:ea typeface="微软雅黑" panose="020B0503020204020204" pitchFamily="34" charset="-122"/>
              </a:rPr>
              <a:t>设置数据首地址</a:t>
            </a:r>
          </a:p>
        </p:txBody>
      </p:sp>
      <p:sp>
        <p:nvSpPr>
          <p:cNvPr id="5" name="矩形 4"/>
          <p:cNvSpPr/>
          <p:nvPr/>
        </p:nvSpPr>
        <p:spPr>
          <a:xfrm>
            <a:off x="1524392" y="1848091"/>
            <a:ext cx="3240360" cy="1508901"/>
          </a:xfrm>
          <a:prstGeom prst="rect">
            <a:avLst/>
          </a:prstGeom>
          <a:noFill/>
          <a:ln w="952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5268808" y="1848092"/>
            <a:ext cx="2327528" cy="1475282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ea typeface="微软雅黑" panose="020B0503020204020204" pitchFamily="34" charset="-122"/>
              </a:rPr>
              <a:t>测试线路寄存器中</a:t>
            </a:r>
            <a:r>
              <a:rPr lang="en-US" altLang="zh-CN" sz="2400" b="1" dirty="0">
                <a:ea typeface="微软雅黑" panose="020B0503020204020204" pitchFamily="34" charset="-122"/>
              </a:rPr>
              <a:t>THR</a:t>
            </a:r>
            <a:r>
              <a:rPr lang="zh-CN" altLang="en-US" sz="2400" b="1" dirty="0">
                <a:ea typeface="微软雅黑" panose="020B0503020204020204" pitchFamily="34" charset="-122"/>
              </a:rPr>
              <a:t>空状态</a:t>
            </a:r>
          </a:p>
        </p:txBody>
      </p:sp>
      <p:sp>
        <p:nvSpPr>
          <p:cNvPr id="7" name="矩形 6"/>
          <p:cNvSpPr/>
          <p:nvPr/>
        </p:nvSpPr>
        <p:spPr>
          <a:xfrm>
            <a:off x="1524392" y="3717032"/>
            <a:ext cx="3240360" cy="1152128"/>
          </a:xfrm>
          <a:prstGeom prst="rect">
            <a:avLst/>
          </a:prstGeom>
          <a:noFill/>
          <a:ln w="952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5268808" y="3715429"/>
            <a:ext cx="2327528" cy="1126458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ea typeface="微软雅黑" panose="020B0503020204020204" pitchFamily="34" charset="-122"/>
              </a:rPr>
              <a:t>发送数据</a:t>
            </a:r>
          </a:p>
        </p:txBody>
      </p:sp>
      <p:sp>
        <p:nvSpPr>
          <p:cNvPr id="9" name="矩形 8"/>
          <p:cNvSpPr/>
          <p:nvPr/>
        </p:nvSpPr>
        <p:spPr>
          <a:xfrm>
            <a:off x="1524392" y="5229199"/>
            <a:ext cx="3240360" cy="793691"/>
          </a:xfrm>
          <a:prstGeom prst="rect">
            <a:avLst/>
          </a:prstGeom>
          <a:noFill/>
          <a:ln w="952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5268808" y="5229198"/>
            <a:ext cx="2327528" cy="766419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ea typeface="微软雅黑" panose="020B0503020204020204" pitchFamily="34" charset="-122"/>
              </a:rPr>
              <a:t>下一个数据</a:t>
            </a:r>
          </a:p>
        </p:txBody>
      </p:sp>
    </p:spTree>
    <p:extLst>
      <p:ext uri="{BB962C8B-B14F-4D97-AF65-F5344CB8AC3E}">
        <p14:creationId xmlns:p14="http://schemas.microsoft.com/office/powerpoint/2010/main" val="4161293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5" grpId="0" animBg="1"/>
      <p:bldP spid="5" grpId="1" animBg="1"/>
      <p:bldP spid="6" grpId="0" animBg="1"/>
      <p:bldP spid="6" grpId="1" animBg="1"/>
      <p:bldP spid="7" grpId="1" animBg="1"/>
      <p:bldP spid="7" grpId="2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547664" y="836712"/>
            <a:ext cx="3312368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000" b="1" dirty="0">
                <a:solidFill>
                  <a:srgbClr val="00B85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RECVPRG </a:t>
            </a:r>
            <a:r>
              <a:rPr lang="zh-CN" altLang="en-US" sz="2000" b="1" dirty="0">
                <a:solidFill>
                  <a:srgbClr val="00B85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>
              <a:lnSpc>
                <a:spcPct val="1250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2000" b="1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20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DX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3FDH</a:t>
            </a:r>
          </a:p>
          <a:p>
            <a:pPr>
              <a:lnSpc>
                <a:spcPct val="125000"/>
              </a:lnSpc>
            </a:pPr>
            <a:r>
              <a:rPr lang="zh-CN" altLang="en-US" sz="2000" b="1" dirty="0">
                <a:solidFill>
                  <a:srgbClr val="00B85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WAITTHR: </a:t>
            </a:r>
          </a:p>
          <a:p>
            <a:pPr>
              <a:lnSpc>
                <a:spcPct val="1250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2000" b="1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0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AL,DX</a:t>
            </a:r>
          </a:p>
          <a:p>
            <a:pPr>
              <a:lnSpc>
                <a:spcPct val="1250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2000" b="1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TEST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20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</a:p>
          <a:p>
            <a:pPr>
              <a:lnSpc>
                <a:spcPct val="125000"/>
              </a:lnSpc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2000" b="1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JZ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000" b="1" dirty="0">
                <a:solidFill>
                  <a:srgbClr val="00B85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WAITTHR</a:t>
            </a:r>
          </a:p>
          <a:p>
            <a:pPr>
              <a:lnSpc>
                <a:spcPct val="125000"/>
              </a:lnSpc>
            </a:pPr>
            <a:r>
              <a:rPr lang="zh-CN" altLang="en-US" sz="2000" b="1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MOV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0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DX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,3F8H</a:t>
            </a:r>
          </a:p>
          <a:p>
            <a:pPr>
              <a:lnSpc>
                <a:spcPct val="125000"/>
              </a:lnSpc>
            </a:pPr>
            <a:r>
              <a:rPr lang="zh-CN" altLang="en-US" sz="2000" b="1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2000" b="1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  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20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AL,DX</a:t>
            </a:r>
          </a:p>
        </p:txBody>
      </p:sp>
      <p:sp>
        <p:nvSpPr>
          <p:cNvPr id="3" name="矩形 2"/>
          <p:cNvSpPr/>
          <p:nvPr/>
        </p:nvSpPr>
        <p:spPr>
          <a:xfrm>
            <a:off x="5220072" y="836712"/>
            <a:ext cx="2327528" cy="797904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ea typeface="微软雅黑" panose="020B0503020204020204" pitchFamily="34" charset="-122"/>
              </a:rPr>
              <a:t>线路状态寄存器</a:t>
            </a:r>
            <a:endParaRPr lang="en-US" altLang="zh-CN" sz="2400" b="1" dirty="0"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475656" y="1634616"/>
            <a:ext cx="3240360" cy="1512167"/>
          </a:xfrm>
          <a:prstGeom prst="rect">
            <a:avLst/>
          </a:prstGeom>
          <a:noFill/>
          <a:ln w="952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5220072" y="1684120"/>
            <a:ext cx="2327528" cy="1475282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ea typeface="微软雅黑" panose="020B0503020204020204" pitchFamily="34" charset="-122"/>
              </a:rPr>
              <a:t>测试线路寄存器中</a:t>
            </a:r>
            <a:r>
              <a:rPr lang="en-US" altLang="zh-CN" sz="2400" b="1" dirty="0">
                <a:ea typeface="微软雅黑" panose="020B0503020204020204" pitchFamily="34" charset="-122"/>
              </a:rPr>
              <a:t>RBR</a:t>
            </a:r>
            <a:r>
              <a:rPr lang="zh-CN" altLang="en-US" sz="2400" b="1" dirty="0">
                <a:ea typeface="微软雅黑" panose="020B0503020204020204" pitchFamily="34" charset="-122"/>
              </a:rPr>
              <a:t>满状态</a:t>
            </a:r>
          </a:p>
        </p:txBody>
      </p:sp>
      <p:sp>
        <p:nvSpPr>
          <p:cNvPr id="11" name="矩形 10"/>
          <p:cNvSpPr/>
          <p:nvPr/>
        </p:nvSpPr>
        <p:spPr>
          <a:xfrm>
            <a:off x="1524392" y="3140969"/>
            <a:ext cx="3240360" cy="793691"/>
          </a:xfrm>
          <a:prstGeom prst="rect">
            <a:avLst/>
          </a:prstGeom>
          <a:noFill/>
          <a:ln w="952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5220072" y="3171992"/>
            <a:ext cx="2327528" cy="766419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ea typeface="微软雅黑" panose="020B0503020204020204" pitchFamily="34" charset="-122"/>
              </a:rPr>
              <a:t>接收一个数据</a:t>
            </a:r>
          </a:p>
        </p:txBody>
      </p:sp>
    </p:spTree>
    <p:extLst>
      <p:ext uri="{BB962C8B-B14F-4D97-AF65-F5344CB8AC3E}">
        <p14:creationId xmlns:p14="http://schemas.microsoft.com/office/powerpoint/2010/main" val="3669818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5" grpId="0" animBg="1"/>
      <p:bldP spid="5" grpId="1" animBg="1"/>
      <p:bldP spid="6" grpId="0" animBg="1"/>
      <p:bldP spid="6" grpId="1" animBg="1"/>
      <p:bldP spid="11" grpId="0" animBg="1"/>
      <p:bldP spid="11" grpId="1" animBg="1"/>
      <p:bldP spid="12" grpId="0" animBg="1"/>
      <p:bldP spid="12" grpId="1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611560" y="1124744"/>
            <a:ext cx="7992888" cy="0"/>
          </a:xfrm>
          <a:prstGeom prst="line">
            <a:avLst/>
          </a:prstGeom>
          <a:ln w="28575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611560" y="631563"/>
            <a:ext cx="500110" cy="490346"/>
          </a:xfrm>
          <a:prstGeom prst="rect">
            <a:avLst/>
          </a:prstGeom>
          <a:solidFill>
            <a:srgbClr val="1D8DE5"/>
          </a:solidFill>
          <a:ln w="9525" cap="rnd">
            <a:solidFill>
              <a:srgbClr val="1D8DE5"/>
            </a:solidFill>
            <a:prstDash val="solid"/>
            <a:round/>
            <a:headEnd/>
            <a:tailEnd/>
          </a:ln>
        </p:spPr>
        <p:txBody>
          <a:bodyPr anchor="ctr"/>
          <a:lstStyle/>
          <a:p>
            <a:pPr algn="ctr"/>
            <a:r>
              <a:rPr lang="en-US" altLang="zh-CN" sz="2800" b="1" kern="0" dirty="0">
                <a:solidFill>
                  <a:sysClr val="window" lastClr="FFFFFF">
                    <a:lumMod val="9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2800" b="1" kern="0" dirty="0">
              <a:solidFill>
                <a:sysClr val="window" lastClr="FFFFFF">
                  <a:lumMod val="9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11"/>
          <p:cNvSpPr txBox="1"/>
          <p:nvPr/>
        </p:nvSpPr>
        <p:spPr>
          <a:xfrm>
            <a:off x="1119384" y="620688"/>
            <a:ext cx="7261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例子：中断式收发</a:t>
            </a:r>
          </a:p>
        </p:txBody>
      </p:sp>
      <p:sp>
        <p:nvSpPr>
          <p:cNvPr id="5" name="矩形 4"/>
          <p:cNvSpPr/>
          <p:nvPr/>
        </p:nvSpPr>
        <p:spPr>
          <a:xfrm>
            <a:off x="8388424" y="620688"/>
            <a:ext cx="223738" cy="490346"/>
          </a:xfrm>
          <a:prstGeom prst="rect">
            <a:avLst/>
          </a:prstGeom>
          <a:solidFill>
            <a:srgbClr val="1D8DE5"/>
          </a:solidFill>
          <a:ln w="9525" cap="rnd">
            <a:solidFill>
              <a:srgbClr val="1D8DE5"/>
            </a:solidFill>
            <a:prstDash val="solid"/>
            <a:round/>
            <a:headEnd/>
            <a:tailEnd/>
          </a:ln>
        </p:spPr>
        <p:txBody>
          <a:bodyPr/>
          <a:lstStyle/>
          <a:p>
            <a:pPr algn="ctr">
              <a:lnSpc>
                <a:spcPct val="120000"/>
              </a:lnSpc>
            </a:pPr>
            <a:endParaRPr lang="zh-CN" altLang="en-US" b="1" kern="0" dirty="0">
              <a:solidFill>
                <a:sysClr val="window" lastClr="FFFFFF">
                  <a:lumMod val="9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11560" y="631563"/>
            <a:ext cx="7992888" cy="0"/>
          </a:xfrm>
          <a:prstGeom prst="line">
            <a:avLst/>
          </a:prstGeom>
          <a:ln w="28575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3"/>
          <p:cNvSpPr>
            <a:spLocks noChangeArrowheads="1"/>
          </p:cNvSpPr>
          <p:nvPr/>
        </p:nvSpPr>
        <p:spPr bwMode="auto">
          <a:xfrm>
            <a:off x="3819728" y="2061578"/>
            <a:ext cx="3528392" cy="56874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IN       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AL, DX</a:t>
            </a:r>
          </a:p>
        </p:txBody>
      </p:sp>
      <p:sp>
        <p:nvSpPr>
          <p:cNvPr id="10" name="矩形 3"/>
          <p:cNvSpPr>
            <a:spLocks noChangeArrowheads="1"/>
          </p:cNvSpPr>
          <p:nvPr/>
        </p:nvSpPr>
        <p:spPr bwMode="auto">
          <a:xfrm>
            <a:off x="3819728" y="2529190"/>
            <a:ext cx="2952328" cy="522900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TEST   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AL,</a:t>
            </a: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02H</a:t>
            </a:r>
          </a:p>
        </p:txBody>
      </p:sp>
      <p:sp>
        <p:nvSpPr>
          <p:cNvPr id="11" name="矩形 3"/>
          <p:cNvSpPr>
            <a:spLocks noChangeArrowheads="1"/>
          </p:cNvSpPr>
          <p:nvPr/>
        </p:nvSpPr>
        <p:spPr bwMode="auto">
          <a:xfrm>
            <a:off x="3819728" y="1639811"/>
            <a:ext cx="3528392" cy="522900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MOV   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DX,</a:t>
            </a: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3F2H</a:t>
            </a:r>
          </a:p>
        </p:txBody>
      </p:sp>
      <p:sp>
        <p:nvSpPr>
          <p:cNvPr id="12" name="矩形 3"/>
          <p:cNvSpPr>
            <a:spLocks noChangeArrowheads="1"/>
          </p:cNvSpPr>
          <p:nvPr/>
        </p:nvSpPr>
        <p:spPr bwMode="auto">
          <a:xfrm>
            <a:off x="3819728" y="2950957"/>
            <a:ext cx="3528392" cy="522900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JZ       </a:t>
            </a:r>
            <a:r>
              <a:rPr lang="en-US" altLang="zh-CN" sz="2400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RCVE</a:t>
            </a:r>
          </a:p>
        </p:txBody>
      </p:sp>
      <p:sp>
        <p:nvSpPr>
          <p:cNvPr id="13" name="矩形 3"/>
          <p:cNvSpPr>
            <a:spLocks noChangeArrowheads="1"/>
          </p:cNvSpPr>
          <p:nvPr/>
        </p:nvSpPr>
        <p:spPr bwMode="auto">
          <a:xfrm>
            <a:off x="3819728" y="3372724"/>
            <a:ext cx="3528392" cy="522900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MOV   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AL, 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DATA</a:t>
            </a:r>
          </a:p>
        </p:txBody>
      </p:sp>
      <p:sp>
        <p:nvSpPr>
          <p:cNvPr id="14" name="矩形 3"/>
          <p:cNvSpPr>
            <a:spLocks noChangeArrowheads="1"/>
          </p:cNvSpPr>
          <p:nvPr/>
        </p:nvSpPr>
        <p:spPr bwMode="auto">
          <a:xfrm>
            <a:off x="3819728" y="3794491"/>
            <a:ext cx="2952328" cy="56874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MOV   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DX, 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3F0H</a:t>
            </a:r>
          </a:p>
        </p:txBody>
      </p:sp>
      <p:sp>
        <p:nvSpPr>
          <p:cNvPr id="15" name="矩形 3"/>
          <p:cNvSpPr>
            <a:spLocks noChangeArrowheads="1"/>
          </p:cNvSpPr>
          <p:nvPr/>
        </p:nvSpPr>
        <p:spPr bwMode="auto">
          <a:xfrm>
            <a:off x="3819728" y="4262103"/>
            <a:ext cx="3528392" cy="56874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OUT    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DX, AL</a:t>
            </a:r>
          </a:p>
        </p:txBody>
      </p:sp>
      <p:sp>
        <p:nvSpPr>
          <p:cNvPr id="16" name="矩形 3"/>
          <p:cNvSpPr>
            <a:spLocks noChangeArrowheads="1"/>
          </p:cNvSpPr>
          <p:nvPr/>
        </p:nvSpPr>
        <p:spPr bwMode="auto">
          <a:xfrm>
            <a:off x="3819728" y="4729715"/>
            <a:ext cx="3528392" cy="522900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JMP    </a:t>
            </a:r>
            <a:r>
              <a:rPr lang="en-US" altLang="zh-CN" sz="2400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CONT</a:t>
            </a:r>
          </a:p>
        </p:txBody>
      </p:sp>
      <p:sp>
        <p:nvSpPr>
          <p:cNvPr id="17" name="矩形 3"/>
          <p:cNvSpPr>
            <a:spLocks noChangeArrowheads="1"/>
          </p:cNvSpPr>
          <p:nvPr/>
        </p:nvSpPr>
        <p:spPr bwMode="auto">
          <a:xfrm>
            <a:off x="3819728" y="5151482"/>
            <a:ext cx="2952328" cy="56874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MOV   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DX,</a:t>
            </a: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3F0H</a:t>
            </a:r>
          </a:p>
        </p:txBody>
      </p:sp>
      <p:sp>
        <p:nvSpPr>
          <p:cNvPr id="21" name="矩形 3"/>
          <p:cNvSpPr>
            <a:spLocks noChangeArrowheads="1"/>
          </p:cNvSpPr>
          <p:nvPr/>
        </p:nvSpPr>
        <p:spPr bwMode="auto">
          <a:xfrm>
            <a:off x="3819728" y="5619095"/>
            <a:ext cx="2952328" cy="568745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IN        </a:t>
            </a:r>
            <a:r>
              <a:rPr lang="en-US" altLang="zh-CN" sz="2400" b="1" dirty="0">
                <a:solidFill>
                  <a:srgbClr val="1D8DE5"/>
                </a:solidFill>
                <a:latin typeface="微软雅黑" pitchFamily="34" charset="-122"/>
                <a:ea typeface="微软雅黑" pitchFamily="34" charset="-122"/>
              </a:rPr>
              <a:t>AL, DX</a:t>
            </a:r>
          </a:p>
        </p:txBody>
      </p:sp>
      <p:sp>
        <p:nvSpPr>
          <p:cNvPr id="7" name="矩形 6"/>
          <p:cNvSpPr/>
          <p:nvPr/>
        </p:nvSpPr>
        <p:spPr>
          <a:xfrm>
            <a:off x="2555776" y="5229438"/>
            <a:ext cx="130638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RCVE</a:t>
            </a:r>
            <a:r>
              <a:rPr lang="zh-CN" altLang="en-US" sz="2400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endParaRPr lang="zh-CN" altLang="en-US" sz="2400" dirty="0"/>
          </a:p>
        </p:txBody>
      </p:sp>
      <p:sp>
        <p:nvSpPr>
          <p:cNvPr id="23" name="矩形 22"/>
          <p:cNvSpPr/>
          <p:nvPr/>
        </p:nvSpPr>
        <p:spPr>
          <a:xfrm>
            <a:off x="2555776" y="5979135"/>
            <a:ext cx="140051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CONT</a:t>
            </a:r>
            <a:r>
              <a:rPr lang="zh-CN" altLang="en-US" sz="2400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endParaRPr lang="zh-CN" altLang="en-US" sz="2400" dirty="0"/>
          </a:p>
        </p:txBody>
      </p:sp>
      <p:sp>
        <p:nvSpPr>
          <p:cNvPr id="24" name="矩形 23"/>
          <p:cNvSpPr/>
          <p:nvPr/>
        </p:nvSpPr>
        <p:spPr>
          <a:xfrm>
            <a:off x="2602840" y="1212290"/>
            <a:ext cx="145584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TRINT</a:t>
            </a:r>
            <a:r>
              <a:rPr lang="zh-CN" altLang="en-US" sz="2400" b="1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endParaRPr lang="zh-CN" altLang="en-US" sz="2400" dirty="0"/>
          </a:p>
        </p:txBody>
      </p:sp>
      <p:sp>
        <p:nvSpPr>
          <p:cNvPr id="25" name="矩形 3"/>
          <p:cNvSpPr>
            <a:spLocks noChangeArrowheads="1"/>
          </p:cNvSpPr>
          <p:nvPr/>
        </p:nvSpPr>
        <p:spPr bwMode="auto">
          <a:xfrm>
            <a:off x="3819728" y="1124744"/>
            <a:ext cx="3528392" cy="522900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……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" name="矩形 3"/>
          <p:cNvSpPr>
            <a:spLocks noChangeArrowheads="1"/>
          </p:cNvSpPr>
          <p:nvPr/>
        </p:nvSpPr>
        <p:spPr bwMode="auto">
          <a:xfrm>
            <a:off x="3819728" y="6114578"/>
            <a:ext cx="2952328" cy="522900"/>
          </a:xfrm>
          <a:prstGeom prst="rect">
            <a:avLst/>
          </a:prstGeom>
          <a:noFill/>
          <a:ln w="9525">
            <a:noFill/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……</a:t>
            </a:r>
            <a:endParaRPr lang="en-US" altLang="zh-CN" sz="2400" b="1" dirty="0">
              <a:solidFill>
                <a:srgbClr val="1D8DE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6660232" y="2630323"/>
            <a:ext cx="2327528" cy="797904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ea typeface="微软雅黑" panose="020B0503020204020204" pitchFamily="34" charset="-122"/>
              </a:rPr>
              <a:t>假设只允许收发中断</a:t>
            </a:r>
            <a:endParaRPr lang="en-US" altLang="zh-CN" sz="2400" b="1" dirty="0"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69345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7" grpId="0"/>
      <p:bldP spid="23" grpId="0"/>
      <p:bldP spid="24" grpId="0"/>
      <p:bldP spid="27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问号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5043" y="157306"/>
            <a:ext cx="1614899" cy="1255470"/>
          </a:xfrm>
          <a:prstGeom prst="rect">
            <a:avLst/>
          </a:prstGeom>
        </p:spPr>
      </p:pic>
      <p:cxnSp>
        <p:nvCxnSpPr>
          <p:cNvPr id="3" name="直接连接符 2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3702006" y="419266"/>
            <a:ext cx="1739987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eaLnBrk="0" hangingPunct="0">
              <a:buFont typeface="Wingdings" pitchFamily="2" charset="2"/>
              <a:buNone/>
            </a:pPr>
            <a:r>
              <a:rPr lang="zh-CN" altLang="en-US" sz="3800" b="1" dirty="0">
                <a:solidFill>
                  <a:srgbClr val="00C4F0"/>
                </a:solidFill>
                <a:latin typeface="微软雅黑" pitchFamily="34" charset="-122"/>
                <a:ea typeface="微软雅黑" pitchFamily="34" charset="-122"/>
              </a:rPr>
              <a:t>检测点</a:t>
            </a:r>
            <a:endParaRPr lang="zh-CN" altLang="en-US" sz="3200" b="1" dirty="0">
              <a:solidFill>
                <a:prstClr val="white">
                  <a:lumMod val="65000"/>
                </a:prstClr>
              </a:solidFill>
              <a:latin typeface="Arial"/>
              <a:ea typeface="微软雅黑" pitchFamily="34" charset="-122"/>
              <a:cs typeface="Arial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259631" y="2771363"/>
            <a:ext cx="7345027" cy="738431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b="1" dirty="0">
                <a:ea typeface="微软雅黑" panose="020B0503020204020204" pitchFamily="34" charset="-122"/>
              </a:rPr>
              <a:t>假设发送符号</a:t>
            </a:r>
            <a:r>
              <a:rPr lang="en-US" altLang="zh-CN" sz="2000" b="1" dirty="0">
                <a:ea typeface="微软雅黑" panose="020B0503020204020204" pitchFamily="34" charset="-122"/>
              </a:rPr>
              <a:t>65H</a:t>
            </a:r>
            <a:r>
              <a:rPr lang="zh-CN" altLang="en-US" sz="2000" b="1" dirty="0">
                <a:ea typeface="微软雅黑" panose="020B0503020204020204" pitchFamily="34" charset="-122"/>
              </a:rPr>
              <a:t>，画出</a:t>
            </a:r>
            <a:r>
              <a:rPr lang="en-US" altLang="zh-CN" sz="2000" b="1" dirty="0">
                <a:ea typeface="微软雅黑" panose="020B0503020204020204" pitchFamily="34" charset="-122"/>
              </a:rPr>
              <a:t>SOUT</a:t>
            </a:r>
            <a:r>
              <a:rPr lang="zh-CN" altLang="en-US" sz="2000" b="1" dirty="0">
                <a:ea typeface="微软雅黑" panose="020B0503020204020204" pitchFamily="34" charset="-122"/>
              </a:rPr>
              <a:t>输出波形和</a:t>
            </a:r>
            <a:r>
              <a:rPr lang="en-US" altLang="zh-CN" sz="2000" b="1" dirty="0">
                <a:ea typeface="微软雅黑" panose="020B0503020204020204" pitchFamily="34" charset="-122"/>
              </a:rPr>
              <a:t>RS232</a:t>
            </a:r>
            <a:r>
              <a:rPr lang="zh-CN" altLang="en-US" sz="2000" b="1" dirty="0">
                <a:ea typeface="微软雅黑" panose="020B0503020204020204" pitchFamily="34" charset="-122"/>
              </a:rPr>
              <a:t>线路</a:t>
            </a:r>
            <a:r>
              <a:rPr lang="en-US" altLang="zh-CN" sz="2000" b="1" dirty="0">
                <a:ea typeface="微软雅黑" panose="020B0503020204020204" pitchFamily="34" charset="-122"/>
              </a:rPr>
              <a:t>TXD</a:t>
            </a:r>
            <a:r>
              <a:rPr lang="zh-CN" altLang="en-US" sz="2000" b="1" dirty="0">
                <a:ea typeface="微软雅黑" panose="020B0503020204020204" pitchFamily="34" charset="-122"/>
              </a:rPr>
              <a:t>上波形。</a:t>
            </a:r>
          </a:p>
        </p:txBody>
      </p:sp>
      <p:sp>
        <p:nvSpPr>
          <p:cNvPr id="7" name="矩形 6"/>
          <p:cNvSpPr/>
          <p:nvPr/>
        </p:nvSpPr>
        <p:spPr>
          <a:xfrm>
            <a:off x="1259632" y="3635459"/>
            <a:ext cx="7345028" cy="94566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 dirty="0" err="1">
                <a:ea typeface="微软雅黑" panose="020B0503020204020204" pitchFamily="34" charset="-122"/>
              </a:rPr>
              <a:t>fCLK</a:t>
            </a:r>
            <a:r>
              <a:rPr lang="en-US" altLang="zh-CN" sz="2000" b="1" dirty="0">
                <a:ea typeface="微软雅黑" panose="020B0503020204020204" pitchFamily="34" charset="-122"/>
              </a:rPr>
              <a:t>=1.8432MHz</a:t>
            </a:r>
            <a:r>
              <a:rPr lang="zh-CN" altLang="en-US" sz="2000" b="1" dirty="0">
                <a:ea typeface="微软雅黑" panose="020B0503020204020204" pitchFamily="34" charset="-122"/>
              </a:rPr>
              <a:t>，波特率是</a:t>
            </a:r>
            <a:r>
              <a:rPr lang="en-US" altLang="zh-CN" sz="2000" b="1" dirty="0">
                <a:ea typeface="微软雅黑" panose="020B0503020204020204" pitchFamily="34" charset="-122"/>
              </a:rPr>
              <a:t>1200</a:t>
            </a:r>
            <a:r>
              <a:rPr lang="zh-CN" altLang="en-US" sz="2000" b="1" dirty="0">
                <a:ea typeface="微软雅黑" panose="020B0503020204020204" pitchFamily="34" charset="-122"/>
              </a:rPr>
              <a:t>波特，分频系数（除数寄存器的值）为</a:t>
            </a:r>
            <a:r>
              <a:rPr lang="zh-CN" altLang="en-US" sz="2000" b="1" u="sng" dirty="0">
                <a:ea typeface="微软雅黑" panose="020B0503020204020204" pitchFamily="34" charset="-122"/>
              </a:rPr>
              <a:t>           </a:t>
            </a:r>
            <a:r>
              <a:rPr lang="zh-CN" altLang="en-US" sz="2000" b="1" dirty="0">
                <a:ea typeface="微软雅黑" panose="020B0503020204020204" pitchFamily="34" charset="-122"/>
              </a:rPr>
              <a:t>。</a:t>
            </a:r>
            <a:endParaRPr lang="zh-CN" altLang="en-US" sz="2000" b="1" u="sng" dirty="0">
              <a:solidFill>
                <a:schemeClr val="bg1"/>
              </a:solidFill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259420" y="1744898"/>
            <a:ext cx="7345028" cy="882448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b="1" dirty="0">
                <a:ea typeface="微软雅黑" panose="020B0503020204020204" pitchFamily="34" charset="-122"/>
              </a:rPr>
              <a:t>数据格式，</a:t>
            </a:r>
            <a:r>
              <a:rPr lang="en-US" altLang="zh-CN" sz="2000" b="1" dirty="0">
                <a:ea typeface="微软雅黑" panose="020B0503020204020204" pitchFamily="34" charset="-122"/>
              </a:rPr>
              <a:t>7</a:t>
            </a:r>
            <a:r>
              <a:rPr lang="zh-CN" altLang="en-US" sz="2000" b="1" dirty="0">
                <a:ea typeface="微软雅黑" panose="020B0503020204020204" pitchFamily="34" charset="-122"/>
              </a:rPr>
              <a:t>位数据，</a:t>
            </a:r>
            <a:r>
              <a:rPr lang="en-US" altLang="zh-CN" sz="2000" b="1" dirty="0">
                <a:ea typeface="微软雅黑" panose="020B0503020204020204" pitchFamily="34" charset="-122"/>
              </a:rPr>
              <a:t>1</a:t>
            </a:r>
            <a:r>
              <a:rPr lang="zh-CN" altLang="en-US" sz="2000" b="1" dirty="0">
                <a:ea typeface="微软雅黑" panose="020B0503020204020204" pitchFamily="34" charset="-122"/>
              </a:rPr>
              <a:t>个停止位，偶校验，线路控制寄存器应写入</a:t>
            </a:r>
            <a:r>
              <a:rPr lang="zh-CN" altLang="en-US" sz="2000" b="1" u="sng" dirty="0">
                <a:ea typeface="微软雅黑" panose="020B0503020204020204" pitchFamily="34" charset="-122"/>
              </a:rPr>
              <a:t>           </a:t>
            </a:r>
            <a:r>
              <a:rPr lang="zh-CN" altLang="en-US" sz="2000" b="1" dirty="0">
                <a:ea typeface="微软雅黑" panose="020B0503020204020204" pitchFamily="34" charset="-122"/>
              </a:rPr>
              <a:t>。</a:t>
            </a:r>
            <a:endParaRPr lang="zh-CN" altLang="en-US" sz="2000" b="1" u="sng" dirty="0">
              <a:solidFill>
                <a:schemeClr val="bg1"/>
              </a:solidFill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83568" y="1744898"/>
            <a:ext cx="538872" cy="88244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Arial Black" pitchFamily="34" charset="0"/>
              </a:rPr>
              <a:t>1</a:t>
            </a:r>
            <a:endParaRPr lang="zh-CN" altLang="en-US" sz="3200" dirty="0">
              <a:latin typeface="Arial Black" pitchFamily="3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83568" y="2771362"/>
            <a:ext cx="538872" cy="7384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Arial Black" pitchFamily="34" charset="0"/>
              </a:rPr>
              <a:t>2</a:t>
            </a:r>
            <a:endParaRPr lang="zh-CN" altLang="en-US" sz="3200" dirty="0">
              <a:latin typeface="Arial Black" pitchFamily="34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83568" y="3635458"/>
            <a:ext cx="538872" cy="94566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Arial Black" pitchFamily="34" charset="0"/>
              </a:rPr>
              <a:t>3</a:t>
            </a:r>
            <a:endParaRPr lang="zh-CN" altLang="en-US" sz="3200" dirty="0"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7254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 animBg="1"/>
      <p:bldP spid="7" grpId="1" animBg="1"/>
      <p:bldP spid="9" grpId="0" animBg="1"/>
      <p:bldP spid="9" grpId="1" animBg="1"/>
      <p:bldP spid="10" grpId="0" animBg="1"/>
      <p:bldP spid="10" grpId="1" animBg="1"/>
      <p:bldP spid="12" grpId="0" animBg="1"/>
      <p:bldP spid="12" grpId="1" animBg="1"/>
      <p:bldP spid="13" grpId="0" animBg="1"/>
      <p:bldP spid="13" grpId="1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>
            <a:spLocks/>
          </p:cNvSpPr>
          <p:nvPr/>
        </p:nvSpPr>
        <p:spPr>
          <a:xfrm>
            <a:off x="3851274" y="1000116"/>
            <a:ext cx="5007006" cy="1143000"/>
          </a:xfrm>
          <a:prstGeom prst="rect">
            <a:avLst/>
          </a:prstGeom>
        </p:spPr>
        <p:txBody>
          <a:bodyPr rtlCol="0"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5300" dirty="0">
                <a:solidFill>
                  <a:srgbClr val="00C4F0"/>
                </a:solidFill>
                <a:ea typeface="微软雅黑" panose="020B0503020204020204" pitchFamily="34" charset="-122"/>
                <a:cs typeface="+mn-cs"/>
              </a:rPr>
              <a:t>作业</a:t>
            </a:r>
            <a:r>
              <a:rPr lang="en-US" altLang="zh-CN" dirty="0">
                <a:latin typeface="Arial"/>
                <a:ea typeface="微软雅黑" panose="020B0503020204020204" pitchFamily="34" charset="-122"/>
                <a:cs typeface="Arial"/>
              </a:rPr>
              <a:t>• </a:t>
            </a:r>
            <a:r>
              <a:rPr lang="en-US" altLang="zh-CN" sz="2800" dirty="0">
                <a:solidFill>
                  <a:srgbClr val="FFC000"/>
                </a:solidFill>
                <a:latin typeface="Tahoma" pitchFamily="34" charset="0"/>
                <a:ea typeface="微软简综艺" pitchFamily="49" charset="-122"/>
                <a:cs typeface="Tahoma" pitchFamily="34" charset="0"/>
              </a:rPr>
              <a:t>HOMEWORK</a:t>
            </a:r>
            <a:endParaRPr lang="zh-CN" altLang="en-US" sz="1800" dirty="0">
              <a:solidFill>
                <a:srgbClr val="FFC000"/>
              </a:solidFill>
              <a:latin typeface="Tahoma" pitchFamily="34" charset="0"/>
              <a:ea typeface="微软简综艺" pitchFamily="49" charset="-122"/>
              <a:cs typeface="Tahoma" pitchFamily="34" charset="0"/>
            </a:endParaRPr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3744942" y="2615982"/>
            <a:ext cx="5113338" cy="907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34000"/>
              </a:lnSpc>
              <a:spcBef>
                <a:spcPts val="400"/>
              </a:spcBef>
              <a:spcAft>
                <a:spcPts val="60"/>
              </a:spcAft>
            </a:pPr>
            <a:r>
              <a:rPr lang="zh-CN" altLang="en-US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习题：</a:t>
            </a:r>
            <a:r>
              <a:rPr lang="en-US" altLang="zh-CN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7.25</a:t>
            </a:r>
            <a:r>
              <a:rPr lang="zh-CN" altLang="en-US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4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7.27</a:t>
            </a:r>
            <a:endParaRPr lang="en-US" altLang="zh-CN" sz="4400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4" name="Picture 2" descr="D:\Teliss_Tong\Copy\定期备份\工作备份\！PPT图片及版面资源\06-PPT精选插图\02-商务\GF0IEK51.jpg"/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45499" y="1901808"/>
            <a:ext cx="2158349" cy="339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9803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4250017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18313</TotalTime>
  <Words>3246</Words>
  <Application>Microsoft Office PowerPoint</Application>
  <PresentationFormat>全屏显示(4:3)</PresentationFormat>
  <Paragraphs>1079</Paragraphs>
  <Slides>62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62</vt:i4>
      </vt:variant>
    </vt:vector>
  </HeadingPairs>
  <TitlesOfParts>
    <vt:vector size="76" baseType="lpstr">
      <vt:lpstr>Arial Unicode MS</vt:lpstr>
      <vt:lpstr>经典繁仿黑</vt:lpstr>
      <vt:lpstr>宋体</vt:lpstr>
      <vt:lpstr>微软简综艺</vt:lpstr>
      <vt:lpstr>微软雅黑</vt:lpstr>
      <vt:lpstr>Arial</vt:lpstr>
      <vt:lpstr>Arial Black</vt:lpstr>
      <vt:lpstr>Arial Narrow</vt:lpstr>
      <vt:lpstr>Broadway</vt:lpstr>
      <vt:lpstr>Calibri</vt:lpstr>
      <vt:lpstr>Tahoma</vt:lpstr>
      <vt:lpstr>Times New Roman</vt:lpstr>
      <vt:lpstr>Wingdings</vt:lpstr>
      <vt:lpstr>2_Office 主题​​</vt:lpstr>
      <vt:lpstr>PowerPoint 演示文稿</vt:lpstr>
      <vt:lpstr>本节目标• OBJECTIVE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houxy</cp:lastModifiedBy>
  <cp:revision>4769</cp:revision>
  <dcterms:created xsi:type="dcterms:W3CDTF">2012-06-23T00:51:09Z</dcterms:created>
  <dcterms:modified xsi:type="dcterms:W3CDTF">2016-05-02T08:36:41Z</dcterms:modified>
</cp:coreProperties>
</file>