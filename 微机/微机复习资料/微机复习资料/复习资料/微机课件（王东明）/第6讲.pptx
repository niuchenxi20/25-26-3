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64"/>
  </p:notesMasterIdLst>
  <p:sldIdLst>
    <p:sldId id="303" r:id="rId2"/>
    <p:sldId id="261" r:id="rId3"/>
    <p:sldId id="528" r:id="rId4"/>
    <p:sldId id="440" r:id="rId5"/>
    <p:sldId id="507" r:id="rId6"/>
    <p:sldId id="529" r:id="rId7"/>
    <p:sldId id="530" r:id="rId8"/>
    <p:sldId id="531" r:id="rId9"/>
    <p:sldId id="532" r:id="rId10"/>
    <p:sldId id="534" r:id="rId11"/>
    <p:sldId id="535" r:id="rId12"/>
    <p:sldId id="538" r:id="rId13"/>
    <p:sldId id="592" r:id="rId14"/>
    <p:sldId id="537" r:id="rId15"/>
    <p:sldId id="540" r:id="rId16"/>
    <p:sldId id="545" r:id="rId17"/>
    <p:sldId id="542" r:id="rId18"/>
    <p:sldId id="543" r:id="rId19"/>
    <p:sldId id="544" r:id="rId20"/>
    <p:sldId id="550" r:id="rId21"/>
    <p:sldId id="551" r:id="rId22"/>
    <p:sldId id="549" r:id="rId23"/>
    <p:sldId id="552" r:id="rId24"/>
    <p:sldId id="553" r:id="rId25"/>
    <p:sldId id="548" r:id="rId26"/>
    <p:sldId id="554" r:id="rId27"/>
    <p:sldId id="547" r:id="rId28"/>
    <p:sldId id="555" r:id="rId29"/>
    <p:sldId id="556" r:id="rId30"/>
    <p:sldId id="558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67" r:id="rId39"/>
    <p:sldId id="568" r:id="rId40"/>
    <p:sldId id="569" r:id="rId41"/>
    <p:sldId id="570" r:id="rId42"/>
    <p:sldId id="571" r:id="rId43"/>
    <p:sldId id="573" r:id="rId44"/>
    <p:sldId id="582" r:id="rId45"/>
    <p:sldId id="584" r:id="rId46"/>
    <p:sldId id="583" r:id="rId47"/>
    <p:sldId id="585" r:id="rId48"/>
    <p:sldId id="586" r:id="rId49"/>
    <p:sldId id="587" r:id="rId50"/>
    <p:sldId id="588" r:id="rId51"/>
    <p:sldId id="589" r:id="rId52"/>
    <p:sldId id="590" r:id="rId53"/>
    <p:sldId id="591" r:id="rId54"/>
    <p:sldId id="572" r:id="rId55"/>
    <p:sldId id="574" r:id="rId56"/>
    <p:sldId id="576" r:id="rId57"/>
    <p:sldId id="580" r:id="rId58"/>
    <p:sldId id="577" r:id="rId59"/>
    <p:sldId id="575" r:id="rId60"/>
    <p:sldId id="581" r:id="rId61"/>
    <p:sldId id="579" r:id="rId62"/>
    <p:sldId id="300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8DE5"/>
    <a:srgbClr val="FF3255"/>
    <a:srgbClr val="5DCB08"/>
    <a:srgbClr val="FD7A2A"/>
    <a:srgbClr val="608F60"/>
    <a:srgbClr val="2ABDF2"/>
    <a:srgbClr val="00B050"/>
    <a:srgbClr val="FF9300"/>
    <a:srgbClr val="FBFBFB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67" autoAdjust="0"/>
    <p:restoredTop sz="72926" autoAdjust="0"/>
  </p:normalViewPr>
  <p:slideViewPr>
    <p:cSldViewPr>
      <p:cViewPr varScale="1">
        <p:scale>
          <a:sx n="49" d="100"/>
          <a:sy n="49" d="100"/>
        </p:scale>
        <p:origin x="1604" y="4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091478787794334E-2"/>
          <c:y val="4.9448108493043583E-2"/>
          <c:w val="0.94438035555564404"/>
          <c:h val="0.891214161315304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608F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E899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726-4ACF-8175-40573E71D586}"/>
              </c:ext>
            </c:extLst>
          </c:dPt>
          <c:dPt>
            <c:idx val="1"/>
            <c:invertIfNegative val="0"/>
            <c:bubble3D val="0"/>
            <c:spPr>
              <a:solidFill>
                <a:srgbClr val="E26A6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726-4ACF-8175-40573E71D586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726-4ACF-8175-40573E71D58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726-4ACF-8175-40573E71D58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600" b="1" dirty="0"/>
                      <a:t>1</a:t>
                    </a:r>
                    <a:r>
                      <a:rPr lang="zh-CN" altLang="en-US" sz="1600" b="1" dirty="0"/>
                      <a:t>字节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26-4ACF-8175-40573E71D58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600" b="1" dirty="0"/>
                      <a:t>2</a:t>
                    </a:r>
                    <a:r>
                      <a:rPr lang="zh-CN" altLang="en-US" sz="1600" b="1" dirty="0"/>
                      <a:t>字节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726-4ACF-8175-40573E71D58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600" b="1" dirty="0"/>
                      <a:t>4</a:t>
                    </a:r>
                    <a:r>
                      <a:rPr lang="zh-CN" altLang="en-US" sz="1600" b="1" dirty="0"/>
                      <a:t>字节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726-4ACF-8175-40573E71D58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600" b="1" dirty="0"/>
                      <a:t>8</a:t>
                    </a:r>
                    <a:r>
                      <a:rPr lang="zh-CN" altLang="en-US" sz="1600" b="1" dirty="0"/>
                      <a:t>字节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726-4ACF-8175-40573E71D58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600" b="1" dirty="0"/>
                      <a:t>10</a:t>
                    </a:r>
                    <a:r>
                      <a:rPr lang="zh-CN" altLang="en-US" sz="1600" b="1" dirty="0"/>
                      <a:t>字节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726-4ACF-8175-40573E71D586}"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  <c:pt idx="4">
                  <c:v>类别 5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</c:v>
                </c:pt>
                <c:pt idx="1">
                  <c:v>0.2</c:v>
                </c:pt>
                <c:pt idx="2">
                  <c:v>0.4</c:v>
                </c:pt>
                <c:pt idx="3">
                  <c:v>0.8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726-4ACF-8175-40573E71D5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126517248"/>
        <c:axId val="126537728"/>
      </c:barChart>
      <c:catAx>
        <c:axId val="126517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6537728"/>
        <c:crosses val="autoZero"/>
        <c:auto val="1"/>
        <c:lblAlgn val="ctr"/>
        <c:lblOffset val="100"/>
        <c:noMultiLvlLbl val="0"/>
      </c:catAx>
      <c:valAx>
        <c:axId val="12653772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265172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6AB6C4-F7B1-43FD-93FE-D64B5BC28B81}" type="doc">
      <dgm:prSet loTypeId="urn:microsoft.com/office/officeart/2005/8/layout/b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888BB7AD-0EA0-4A12-835B-49C6259B1E17}">
      <dgm:prSet phldrT="[文本]" custT="1"/>
      <dgm:spPr/>
      <dgm:t>
        <a:bodyPr/>
        <a:lstStyle/>
        <a:p>
          <a:r>
            <a:rPr lang="en-US" altLang="zh-CN" sz="2400" dirty="0" err="1"/>
            <a:t>masm</a:t>
          </a:r>
          <a:r>
            <a:rPr lang="en-US" altLang="zh-CN" sz="2400" dirty="0"/>
            <a:t> data01.asm</a:t>
          </a:r>
          <a:endParaRPr lang="zh-CN" altLang="en-US" sz="2400" dirty="0"/>
        </a:p>
      </dgm:t>
    </dgm:pt>
    <dgm:pt modelId="{432D31D3-CF0B-4B04-88DE-021FF4A7D707}" type="parTrans" cxnId="{579BF5C3-6B5E-4461-90CD-9EC4F633E510}">
      <dgm:prSet/>
      <dgm:spPr/>
      <dgm:t>
        <a:bodyPr/>
        <a:lstStyle/>
        <a:p>
          <a:endParaRPr lang="zh-CN" altLang="en-US"/>
        </a:p>
      </dgm:t>
    </dgm:pt>
    <dgm:pt modelId="{E65A3245-284C-46FF-BA0D-3F12181AF44F}" type="sibTrans" cxnId="{579BF5C3-6B5E-4461-90CD-9EC4F633E510}">
      <dgm:prSet/>
      <dgm:spPr/>
      <dgm:t>
        <a:bodyPr/>
        <a:lstStyle/>
        <a:p>
          <a:endParaRPr lang="zh-CN" altLang="en-US"/>
        </a:p>
      </dgm:t>
    </dgm:pt>
    <dgm:pt modelId="{3325BC8E-0789-41F0-A0C6-57120E87A324}">
      <dgm:prSet phldrT="[文本]" custT="1"/>
      <dgm:spPr/>
      <dgm:t>
        <a:bodyPr/>
        <a:lstStyle/>
        <a:p>
          <a:r>
            <a:rPr lang="en-US" altLang="zh-CN" sz="2400" dirty="0"/>
            <a:t>link data01</a:t>
          </a:r>
          <a:endParaRPr lang="zh-CN" altLang="en-US" sz="2400" dirty="0"/>
        </a:p>
      </dgm:t>
    </dgm:pt>
    <dgm:pt modelId="{A08FD42E-E5CE-4255-9FAF-81C8FC97A25B}" type="parTrans" cxnId="{70B6A852-010D-4FF4-A456-282385A41212}">
      <dgm:prSet/>
      <dgm:spPr/>
      <dgm:t>
        <a:bodyPr/>
        <a:lstStyle/>
        <a:p>
          <a:endParaRPr lang="zh-CN" altLang="en-US"/>
        </a:p>
      </dgm:t>
    </dgm:pt>
    <dgm:pt modelId="{DC60B0E2-FB3A-44D4-86F9-CF896865FB91}" type="sibTrans" cxnId="{70B6A852-010D-4FF4-A456-282385A41212}">
      <dgm:prSet/>
      <dgm:spPr/>
      <dgm:t>
        <a:bodyPr/>
        <a:lstStyle/>
        <a:p>
          <a:endParaRPr lang="zh-CN" altLang="en-US"/>
        </a:p>
      </dgm:t>
    </dgm:pt>
    <dgm:pt modelId="{4E04AED6-383D-46AE-9A0C-C2FF7DEBA644}">
      <dgm:prSet phldrT="[文本]" custT="1"/>
      <dgm:spPr/>
      <dgm:t>
        <a:bodyPr/>
        <a:lstStyle/>
        <a:p>
          <a:r>
            <a:rPr lang="en-US" altLang="zh-CN" sz="2400" dirty="0"/>
            <a:t>debug data01.exe</a:t>
          </a:r>
          <a:endParaRPr lang="zh-CN" altLang="en-US" sz="2400" dirty="0"/>
        </a:p>
      </dgm:t>
    </dgm:pt>
    <dgm:pt modelId="{3D2BA665-DCCF-434A-BCE1-DEC6341F0C60}" type="parTrans" cxnId="{D3B12C6D-084F-4592-869D-520598EB9A74}">
      <dgm:prSet/>
      <dgm:spPr/>
      <dgm:t>
        <a:bodyPr/>
        <a:lstStyle/>
        <a:p>
          <a:endParaRPr lang="zh-CN" altLang="en-US"/>
        </a:p>
      </dgm:t>
    </dgm:pt>
    <dgm:pt modelId="{534EF4DE-778C-4FBA-BCA6-80319A036F43}" type="sibTrans" cxnId="{D3B12C6D-084F-4592-869D-520598EB9A74}">
      <dgm:prSet/>
      <dgm:spPr/>
      <dgm:t>
        <a:bodyPr/>
        <a:lstStyle/>
        <a:p>
          <a:endParaRPr lang="zh-CN" altLang="en-US"/>
        </a:p>
      </dgm:t>
    </dgm:pt>
    <dgm:pt modelId="{D7D121C2-401D-4AFE-888E-DF4D82AD7D6B}">
      <dgm:prSet phldrT="[文本]" custT="1"/>
      <dgm:spPr/>
      <dgm:t>
        <a:bodyPr/>
        <a:lstStyle/>
        <a:p>
          <a:r>
            <a:rPr lang="zh-CN" altLang="en-US" sz="2400" dirty="0"/>
            <a:t>命令 </a:t>
          </a:r>
          <a:r>
            <a:rPr lang="en-US" altLang="zh-CN" sz="2400" dirty="0"/>
            <a:t>t </a:t>
          </a:r>
          <a:r>
            <a:rPr lang="zh-CN" altLang="en-US" sz="2400" dirty="0"/>
            <a:t>观察寄存器</a:t>
          </a:r>
        </a:p>
      </dgm:t>
    </dgm:pt>
    <dgm:pt modelId="{DE0FC81E-DB58-4DA5-9998-96585A083F70}" type="parTrans" cxnId="{F28FB866-19A7-4028-92FE-AE5281CADAD7}">
      <dgm:prSet/>
      <dgm:spPr/>
      <dgm:t>
        <a:bodyPr/>
        <a:lstStyle/>
        <a:p>
          <a:endParaRPr lang="zh-CN" altLang="en-US"/>
        </a:p>
      </dgm:t>
    </dgm:pt>
    <dgm:pt modelId="{0A17462C-FEE0-4DB3-8346-4B5E415103FA}" type="sibTrans" cxnId="{F28FB866-19A7-4028-92FE-AE5281CADAD7}">
      <dgm:prSet/>
      <dgm:spPr/>
      <dgm:t>
        <a:bodyPr/>
        <a:lstStyle/>
        <a:p>
          <a:endParaRPr lang="zh-CN" altLang="en-US"/>
        </a:p>
      </dgm:t>
    </dgm:pt>
    <dgm:pt modelId="{0FA462DB-46EA-43C5-B2C3-5299501AAC92}">
      <dgm:prSet phldrT="[文本]" custT="1"/>
      <dgm:spPr/>
      <dgm:t>
        <a:bodyPr/>
        <a:lstStyle/>
        <a:p>
          <a:r>
            <a:rPr lang="zh-CN" altLang="en-US" sz="2400" dirty="0"/>
            <a:t>命令 </a:t>
          </a:r>
          <a:r>
            <a:rPr lang="en-US" altLang="zh-CN" sz="2400" dirty="0"/>
            <a:t>d </a:t>
          </a:r>
          <a:r>
            <a:rPr lang="zh-CN" altLang="en-US" sz="2400" dirty="0"/>
            <a:t>观察</a:t>
          </a:r>
          <a:r>
            <a:rPr lang="en-US" altLang="zh-CN" sz="2400" dirty="0"/>
            <a:t>DS</a:t>
          </a:r>
          <a:r>
            <a:rPr lang="zh-CN" altLang="en-US" sz="2400" dirty="0"/>
            <a:t>的内容</a:t>
          </a:r>
        </a:p>
      </dgm:t>
    </dgm:pt>
    <dgm:pt modelId="{CA2837B2-B40E-410A-B0D8-CFBED6ED7074}" type="parTrans" cxnId="{9EDEAAC3-781D-40D9-AF68-C0CE31C5D0E6}">
      <dgm:prSet/>
      <dgm:spPr/>
      <dgm:t>
        <a:bodyPr/>
        <a:lstStyle/>
        <a:p>
          <a:endParaRPr lang="zh-CN" altLang="en-US"/>
        </a:p>
      </dgm:t>
    </dgm:pt>
    <dgm:pt modelId="{1C7B4456-61E7-42C1-857C-CEA362C58E8A}" type="sibTrans" cxnId="{9EDEAAC3-781D-40D9-AF68-C0CE31C5D0E6}">
      <dgm:prSet/>
      <dgm:spPr/>
      <dgm:t>
        <a:bodyPr/>
        <a:lstStyle/>
        <a:p>
          <a:endParaRPr lang="zh-CN" altLang="en-US"/>
        </a:p>
      </dgm:t>
    </dgm:pt>
    <dgm:pt modelId="{26EAB520-7310-4890-ADB6-2BAA2CB9F922}" type="pres">
      <dgm:prSet presAssocID="{006AB6C4-F7B1-43FD-93FE-D64B5BC28B81}" presName="Name0" presStyleCnt="0">
        <dgm:presLayoutVars>
          <dgm:dir/>
          <dgm:resizeHandles val="exact"/>
        </dgm:presLayoutVars>
      </dgm:prSet>
      <dgm:spPr/>
    </dgm:pt>
    <dgm:pt modelId="{26C56097-4B59-4AFD-BC6C-1057A0178956}" type="pres">
      <dgm:prSet presAssocID="{888BB7AD-0EA0-4A12-835B-49C6259B1E17}" presName="node" presStyleLbl="node1" presStyleIdx="0" presStyleCnt="5" custScaleX="140082">
        <dgm:presLayoutVars>
          <dgm:bulletEnabled val="1"/>
        </dgm:presLayoutVars>
      </dgm:prSet>
      <dgm:spPr/>
    </dgm:pt>
    <dgm:pt modelId="{5E4DF9FA-574B-43AD-AF54-A07129643D21}" type="pres">
      <dgm:prSet presAssocID="{E65A3245-284C-46FF-BA0D-3F12181AF44F}" presName="sibTrans" presStyleLbl="sibTrans1D1" presStyleIdx="0" presStyleCnt="4"/>
      <dgm:spPr/>
    </dgm:pt>
    <dgm:pt modelId="{71949AB5-20F0-422D-8ACF-91B27EC42A57}" type="pres">
      <dgm:prSet presAssocID="{E65A3245-284C-46FF-BA0D-3F12181AF44F}" presName="connectorText" presStyleLbl="sibTrans1D1" presStyleIdx="0" presStyleCnt="4"/>
      <dgm:spPr/>
    </dgm:pt>
    <dgm:pt modelId="{6D8D22F5-B355-4583-99A3-53A4AA76DDBC}" type="pres">
      <dgm:prSet presAssocID="{3325BC8E-0789-41F0-A0C6-57120E87A324}" presName="node" presStyleLbl="node1" presStyleIdx="1" presStyleCnt="5" custScaleX="102491">
        <dgm:presLayoutVars>
          <dgm:bulletEnabled val="1"/>
        </dgm:presLayoutVars>
      </dgm:prSet>
      <dgm:spPr/>
    </dgm:pt>
    <dgm:pt modelId="{BA53613D-E65B-4421-8635-C62AE08B8265}" type="pres">
      <dgm:prSet presAssocID="{DC60B0E2-FB3A-44D4-86F9-CF896865FB91}" presName="sibTrans" presStyleLbl="sibTrans1D1" presStyleIdx="1" presStyleCnt="4"/>
      <dgm:spPr/>
    </dgm:pt>
    <dgm:pt modelId="{68381504-FF56-453D-A0A6-40D9190C2F84}" type="pres">
      <dgm:prSet presAssocID="{DC60B0E2-FB3A-44D4-86F9-CF896865FB91}" presName="connectorText" presStyleLbl="sibTrans1D1" presStyleIdx="1" presStyleCnt="4"/>
      <dgm:spPr/>
    </dgm:pt>
    <dgm:pt modelId="{CE215CB9-ACC9-4608-AC41-61490EF3F08A}" type="pres">
      <dgm:prSet presAssocID="{4E04AED6-383D-46AE-9A0C-C2FF7DEBA644}" presName="node" presStyleLbl="node1" presStyleIdx="2" presStyleCnt="5" custScaleX="137650">
        <dgm:presLayoutVars>
          <dgm:bulletEnabled val="1"/>
        </dgm:presLayoutVars>
      </dgm:prSet>
      <dgm:spPr/>
    </dgm:pt>
    <dgm:pt modelId="{ADB31D27-E79D-4434-9B14-99A90FD52654}" type="pres">
      <dgm:prSet presAssocID="{534EF4DE-778C-4FBA-BCA6-80319A036F43}" presName="sibTrans" presStyleLbl="sibTrans1D1" presStyleIdx="2" presStyleCnt="4"/>
      <dgm:spPr/>
    </dgm:pt>
    <dgm:pt modelId="{394819DC-03FD-459D-84A5-A60B7EB55046}" type="pres">
      <dgm:prSet presAssocID="{534EF4DE-778C-4FBA-BCA6-80319A036F43}" presName="connectorText" presStyleLbl="sibTrans1D1" presStyleIdx="2" presStyleCnt="4"/>
      <dgm:spPr/>
    </dgm:pt>
    <dgm:pt modelId="{6C72ECC3-722F-4C16-8F85-57EC098A1F1E}" type="pres">
      <dgm:prSet presAssocID="{D7D121C2-401D-4AFE-888E-DF4D82AD7D6B}" presName="node" presStyleLbl="node1" presStyleIdx="3" presStyleCnt="5" custLinFactNeighborX="98667" custLinFactNeighborY="6334">
        <dgm:presLayoutVars>
          <dgm:bulletEnabled val="1"/>
        </dgm:presLayoutVars>
      </dgm:prSet>
      <dgm:spPr/>
    </dgm:pt>
    <dgm:pt modelId="{BAB2A877-51AB-43F5-AD14-3B6A029AC8AF}" type="pres">
      <dgm:prSet presAssocID="{0A17462C-FEE0-4DB3-8346-4B5E415103FA}" presName="sibTrans" presStyleLbl="sibTrans1D1" presStyleIdx="3" presStyleCnt="4"/>
      <dgm:spPr/>
    </dgm:pt>
    <dgm:pt modelId="{0DAA484C-FDD4-4E29-81AD-7CC71C0F1E85}" type="pres">
      <dgm:prSet presAssocID="{0A17462C-FEE0-4DB3-8346-4B5E415103FA}" presName="connectorText" presStyleLbl="sibTrans1D1" presStyleIdx="3" presStyleCnt="4"/>
      <dgm:spPr/>
    </dgm:pt>
    <dgm:pt modelId="{788725A2-8EB4-4EC7-9F09-C1496DDE66EF}" type="pres">
      <dgm:prSet presAssocID="{0FA462DB-46EA-43C5-B2C3-5299501AAC92}" presName="node" presStyleLbl="node1" presStyleIdx="4" presStyleCnt="5" custLinFactNeighborX="98667" custLinFactNeighborY="6334">
        <dgm:presLayoutVars>
          <dgm:bulletEnabled val="1"/>
        </dgm:presLayoutVars>
      </dgm:prSet>
      <dgm:spPr/>
    </dgm:pt>
  </dgm:ptLst>
  <dgm:cxnLst>
    <dgm:cxn modelId="{A3FBEF85-F3E9-48AC-AAEE-E7234F5015FC}" type="presOf" srcId="{534EF4DE-778C-4FBA-BCA6-80319A036F43}" destId="{394819DC-03FD-459D-84A5-A60B7EB55046}" srcOrd="1" destOrd="0" presId="urn:microsoft.com/office/officeart/2005/8/layout/bProcess3"/>
    <dgm:cxn modelId="{F28FB866-19A7-4028-92FE-AE5281CADAD7}" srcId="{006AB6C4-F7B1-43FD-93FE-D64B5BC28B81}" destId="{D7D121C2-401D-4AFE-888E-DF4D82AD7D6B}" srcOrd="3" destOrd="0" parTransId="{DE0FC81E-DB58-4DA5-9998-96585A083F70}" sibTransId="{0A17462C-FEE0-4DB3-8346-4B5E415103FA}"/>
    <dgm:cxn modelId="{DEB34EE8-C01A-4C25-B608-90656E5757F1}" type="presOf" srcId="{DC60B0E2-FB3A-44D4-86F9-CF896865FB91}" destId="{BA53613D-E65B-4421-8635-C62AE08B8265}" srcOrd="0" destOrd="0" presId="urn:microsoft.com/office/officeart/2005/8/layout/bProcess3"/>
    <dgm:cxn modelId="{0D251607-B6F9-4CFA-AD37-9168052EAB85}" type="presOf" srcId="{E65A3245-284C-46FF-BA0D-3F12181AF44F}" destId="{71949AB5-20F0-422D-8ACF-91B27EC42A57}" srcOrd="1" destOrd="0" presId="urn:microsoft.com/office/officeart/2005/8/layout/bProcess3"/>
    <dgm:cxn modelId="{BCDD4BB0-98A3-45CD-B005-8C0AAFE9937B}" type="presOf" srcId="{4E04AED6-383D-46AE-9A0C-C2FF7DEBA644}" destId="{CE215CB9-ACC9-4608-AC41-61490EF3F08A}" srcOrd="0" destOrd="0" presId="urn:microsoft.com/office/officeart/2005/8/layout/bProcess3"/>
    <dgm:cxn modelId="{70B6A852-010D-4FF4-A456-282385A41212}" srcId="{006AB6C4-F7B1-43FD-93FE-D64B5BC28B81}" destId="{3325BC8E-0789-41F0-A0C6-57120E87A324}" srcOrd="1" destOrd="0" parTransId="{A08FD42E-E5CE-4255-9FAF-81C8FC97A25B}" sibTransId="{DC60B0E2-FB3A-44D4-86F9-CF896865FB91}"/>
    <dgm:cxn modelId="{3BC00D58-B948-4E07-BAA9-85404A2D5AA7}" type="presOf" srcId="{E65A3245-284C-46FF-BA0D-3F12181AF44F}" destId="{5E4DF9FA-574B-43AD-AF54-A07129643D21}" srcOrd="0" destOrd="0" presId="urn:microsoft.com/office/officeart/2005/8/layout/bProcess3"/>
    <dgm:cxn modelId="{D8802107-5496-43AD-8F42-0FFA22E08C12}" type="presOf" srcId="{0A17462C-FEE0-4DB3-8346-4B5E415103FA}" destId="{0DAA484C-FDD4-4E29-81AD-7CC71C0F1E85}" srcOrd="1" destOrd="0" presId="urn:microsoft.com/office/officeart/2005/8/layout/bProcess3"/>
    <dgm:cxn modelId="{579BF5C3-6B5E-4461-90CD-9EC4F633E510}" srcId="{006AB6C4-F7B1-43FD-93FE-D64B5BC28B81}" destId="{888BB7AD-0EA0-4A12-835B-49C6259B1E17}" srcOrd="0" destOrd="0" parTransId="{432D31D3-CF0B-4B04-88DE-021FF4A7D707}" sibTransId="{E65A3245-284C-46FF-BA0D-3F12181AF44F}"/>
    <dgm:cxn modelId="{0D31AD0C-5DD6-4F17-978F-7F1ABEE6F9AB}" type="presOf" srcId="{3325BC8E-0789-41F0-A0C6-57120E87A324}" destId="{6D8D22F5-B355-4583-99A3-53A4AA76DDBC}" srcOrd="0" destOrd="0" presId="urn:microsoft.com/office/officeart/2005/8/layout/bProcess3"/>
    <dgm:cxn modelId="{EB7B9A79-64DE-47B3-9FD8-8A77CC127A5D}" type="presOf" srcId="{0FA462DB-46EA-43C5-B2C3-5299501AAC92}" destId="{788725A2-8EB4-4EC7-9F09-C1496DDE66EF}" srcOrd="0" destOrd="0" presId="urn:microsoft.com/office/officeart/2005/8/layout/bProcess3"/>
    <dgm:cxn modelId="{4A98D703-E554-4D82-8292-34B69DBEEA9A}" type="presOf" srcId="{006AB6C4-F7B1-43FD-93FE-D64B5BC28B81}" destId="{26EAB520-7310-4890-ADB6-2BAA2CB9F922}" srcOrd="0" destOrd="0" presId="urn:microsoft.com/office/officeart/2005/8/layout/bProcess3"/>
    <dgm:cxn modelId="{F3C62DE9-2559-4D69-A18E-FABD806A74A5}" type="presOf" srcId="{DC60B0E2-FB3A-44D4-86F9-CF896865FB91}" destId="{68381504-FF56-453D-A0A6-40D9190C2F84}" srcOrd="1" destOrd="0" presId="urn:microsoft.com/office/officeart/2005/8/layout/bProcess3"/>
    <dgm:cxn modelId="{1DEAB03D-2C53-4546-A671-F530DD5D8479}" type="presOf" srcId="{0A17462C-FEE0-4DB3-8346-4B5E415103FA}" destId="{BAB2A877-51AB-43F5-AD14-3B6A029AC8AF}" srcOrd="0" destOrd="0" presId="urn:microsoft.com/office/officeart/2005/8/layout/bProcess3"/>
    <dgm:cxn modelId="{A44E09B9-328A-4D9C-876F-C07330BAE313}" type="presOf" srcId="{D7D121C2-401D-4AFE-888E-DF4D82AD7D6B}" destId="{6C72ECC3-722F-4C16-8F85-57EC098A1F1E}" srcOrd="0" destOrd="0" presId="urn:microsoft.com/office/officeart/2005/8/layout/bProcess3"/>
    <dgm:cxn modelId="{D3B12C6D-084F-4592-869D-520598EB9A74}" srcId="{006AB6C4-F7B1-43FD-93FE-D64B5BC28B81}" destId="{4E04AED6-383D-46AE-9A0C-C2FF7DEBA644}" srcOrd="2" destOrd="0" parTransId="{3D2BA665-DCCF-434A-BCE1-DEC6341F0C60}" sibTransId="{534EF4DE-778C-4FBA-BCA6-80319A036F43}"/>
    <dgm:cxn modelId="{712F4FD9-FA22-45DD-869A-13392063528A}" type="presOf" srcId="{534EF4DE-778C-4FBA-BCA6-80319A036F43}" destId="{ADB31D27-E79D-4434-9B14-99A90FD52654}" srcOrd="0" destOrd="0" presId="urn:microsoft.com/office/officeart/2005/8/layout/bProcess3"/>
    <dgm:cxn modelId="{FD5ECE1B-0030-4895-86BA-653113267D09}" type="presOf" srcId="{888BB7AD-0EA0-4A12-835B-49C6259B1E17}" destId="{26C56097-4B59-4AFD-BC6C-1057A0178956}" srcOrd="0" destOrd="0" presId="urn:microsoft.com/office/officeart/2005/8/layout/bProcess3"/>
    <dgm:cxn modelId="{9EDEAAC3-781D-40D9-AF68-C0CE31C5D0E6}" srcId="{006AB6C4-F7B1-43FD-93FE-D64B5BC28B81}" destId="{0FA462DB-46EA-43C5-B2C3-5299501AAC92}" srcOrd="4" destOrd="0" parTransId="{CA2837B2-B40E-410A-B0D8-CFBED6ED7074}" sibTransId="{1C7B4456-61E7-42C1-857C-CEA362C58E8A}"/>
    <dgm:cxn modelId="{75006CDE-9951-4E45-83B7-7A99D50029E7}" type="presParOf" srcId="{26EAB520-7310-4890-ADB6-2BAA2CB9F922}" destId="{26C56097-4B59-4AFD-BC6C-1057A0178956}" srcOrd="0" destOrd="0" presId="urn:microsoft.com/office/officeart/2005/8/layout/bProcess3"/>
    <dgm:cxn modelId="{1128A117-954B-4578-91B1-6DAA25AC3513}" type="presParOf" srcId="{26EAB520-7310-4890-ADB6-2BAA2CB9F922}" destId="{5E4DF9FA-574B-43AD-AF54-A07129643D21}" srcOrd="1" destOrd="0" presId="urn:microsoft.com/office/officeart/2005/8/layout/bProcess3"/>
    <dgm:cxn modelId="{08E90F79-B4CD-4C72-9B72-6DD7E8A3F528}" type="presParOf" srcId="{5E4DF9FA-574B-43AD-AF54-A07129643D21}" destId="{71949AB5-20F0-422D-8ACF-91B27EC42A57}" srcOrd="0" destOrd="0" presId="urn:microsoft.com/office/officeart/2005/8/layout/bProcess3"/>
    <dgm:cxn modelId="{BEBEA402-DD83-4AB8-929F-0FAB68A5321D}" type="presParOf" srcId="{26EAB520-7310-4890-ADB6-2BAA2CB9F922}" destId="{6D8D22F5-B355-4583-99A3-53A4AA76DDBC}" srcOrd="2" destOrd="0" presId="urn:microsoft.com/office/officeart/2005/8/layout/bProcess3"/>
    <dgm:cxn modelId="{2CD4D5EB-2CE5-4315-9108-98F287545537}" type="presParOf" srcId="{26EAB520-7310-4890-ADB6-2BAA2CB9F922}" destId="{BA53613D-E65B-4421-8635-C62AE08B8265}" srcOrd="3" destOrd="0" presId="urn:microsoft.com/office/officeart/2005/8/layout/bProcess3"/>
    <dgm:cxn modelId="{E424BA30-678F-4A6A-A00E-2915926F53FB}" type="presParOf" srcId="{BA53613D-E65B-4421-8635-C62AE08B8265}" destId="{68381504-FF56-453D-A0A6-40D9190C2F84}" srcOrd="0" destOrd="0" presId="urn:microsoft.com/office/officeart/2005/8/layout/bProcess3"/>
    <dgm:cxn modelId="{46A4B043-2E53-419F-B07F-4C368F0DC554}" type="presParOf" srcId="{26EAB520-7310-4890-ADB6-2BAA2CB9F922}" destId="{CE215CB9-ACC9-4608-AC41-61490EF3F08A}" srcOrd="4" destOrd="0" presId="urn:microsoft.com/office/officeart/2005/8/layout/bProcess3"/>
    <dgm:cxn modelId="{D600CA8B-8E2A-4389-993F-3D6A3F0B9D0F}" type="presParOf" srcId="{26EAB520-7310-4890-ADB6-2BAA2CB9F922}" destId="{ADB31D27-E79D-4434-9B14-99A90FD52654}" srcOrd="5" destOrd="0" presId="urn:microsoft.com/office/officeart/2005/8/layout/bProcess3"/>
    <dgm:cxn modelId="{A7D6AF04-9CAB-46E3-825E-3A377F0734BD}" type="presParOf" srcId="{ADB31D27-E79D-4434-9B14-99A90FD52654}" destId="{394819DC-03FD-459D-84A5-A60B7EB55046}" srcOrd="0" destOrd="0" presId="urn:microsoft.com/office/officeart/2005/8/layout/bProcess3"/>
    <dgm:cxn modelId="{572C07D4-4381-403A-A0BE-87104CCC1F90}" type="presParOf" srcId="{26EAB520-7310-4890-ADB6-2BAA2CB9F922}" destId="{6C72ECC3-722F-4C16-8F85-57EC098A1F1E}" srcOrd="6" destOrd="0" presId="urn:microsoft.com/office/officeart/2005/8/layout/bProcess3"/>
    <dgm:cxn modelId="{A757307F-8D0F-4DAA-9FE3-E0C5755BA588}" type="presParOf" srcId="{26EAB520-7310-4890-ADB6-2BAA2CB9F922}" destId="{BAB2A877-51AB-43F5-AD14-3B6A029AC8AF}" srcOrd="7" destOrd="0" presId="urn:microsoft.com/office/officeart/2005/8/layout/bProcess3"/>
    <dgm:cxn modelId="{D1ED55CE-EC9E-40B5-9497-600B982DEBB2}" type="presParOf" srcId="{BAB2A877-51AB-43F5-AD14-3B6A029AC8AF}" destId="{0DAA484C-FDD4-4E29-81AD-7CC71C0F1E85}" srcOrd="0" destOrd="0" presId="urn:microsoft.com/office/officeart/2005/8/layout/bProcess3"/>
    <dgm:cxn modelId="{D6C6D8F2-08AD-4B2E-9A80-496B553F80AC}" type="presParOf" srcId="{26EAB520-7310-4890-ADB6-2BAA2CB9F922}" destId="{788725A2-8EB4-4EC7-9F09-C1496DDE66EF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4DF9FA-574B-43AD-AF54-A07129643D21}">
      <dsp:nvSpPr>
        <dsp:cNvPr id="0" name=""/>
        <dsp:cNvSpPr/>
      </dsp:nvSpPr>
      <dsp:spPr>
        <a:xfrm>
          <a:off x="3037384" y="528721"/>
          <a:ext cx="409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928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3231031" y="572242"/>
        <a:ext cx="21994" cy="4398"/>
      </dsp:txXfrm>
    </dsp:sp>
    <dsp:sp modelId="{26C56097-4B59-4AFD-BC6C-1057A0178956}">
      <dsp:nvSpPr>
        <dsp:cNvPr id="0" name=""/>
        <dsp:cNvSpPr/>
      </dsp:nvSpPr>
      <dsp:spPr>
        <a:xfrm>
          <a:off x="360039" y="675"/>
          <a:ext cx="2679144" cy="1147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 err="1"/>
            <a:t>masm</a:t>
          </a:r>
          <a:r>
            <a:rPr lang="en-US" altLang="zh-CN" sz="2400" kern="1200" dirty="0"/>
            <a:t> data01.asm</a:t>
          </a:r>
          <a:endParaRPr lang="zh-CN" altLang="en-US" sz="2400" kern="1200" dirty="0"/>
        </a:p>
      </dsp:txBody>
      <dsp:txXfrm>
        <a:off x="360039" y="675"/>
        <a:ext cx="2679144" cy="1147532"/>
      </dsp:txXfrm>
    </dsp:sp>
    <dsp:sp modelId="{BA53613D-E65B-4421-8635-C62AE08B8265}">
      <dsp:nvSpPr>
        <dsp:cNvPr id="0" name=""/>
        <dsp:cNvSpPr/>
      </dsp:nvSpPr>
      <dsp:spPr>
        <a:xfrm>
          <a:off x="5437468" y="528721"/>
          <a:ext cx="409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9287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631115" y="572242"/>
        <a:ext cx="21994" cy="4398"/>
      </dsp:txXfrm>
    </dsp:sp>
    <dsp:sp modelId="{6D8D22F5-B355-4583-99A3-53A4AA76DDBC}">
      <dsp:nvSpPr>
        <dsp:cNvPr id="0" name=""/>
        <dsp:cNvSpPr/>
      </dsp:nvSpPr>
      <dsp:spPr>
        <a:xfrm>
          <a:off x="3479072" y="675"/>
          <a:ext cx="1960196" cy="114753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link data01</a:t>
          </a:r>
          <a:endParaRPr lang="zh-CN" altLang="en-US" sz="2400" kern="1200" dirty="0"/>
        </a:p>
      </dsp:txBody>
      <dsp:txXfrm>
        <a:off x="3479072" y="675"/>
        <a:ext cx="1960196" cy="1147532"/>
      </dsp:txXfrm>
    </dsp:sp>
    <dsp:sp modelId="{ADB31D27-E79D-4434-9B14-99A90FD52654}">
      <dsp:nvSpPr>
        <dsp:cNvPr id="0" name=""/>
        <dsp:cNvSpPr/>
      </dsp:nvSpPr>
      <dsp:spPr>
        <a:xfrm>
          <a:off x="3203377" y="1146408"/>
          <a:ext cx="3992094" cy="409962"/>
        </a:xfrm>
        <a:custGeom>
          <a:avLst/>
          <a:gdLst/>
          <a:ahLst/>
          <a:cxnLst/>
          <a:rect l="0" t="0" r="0" b="0"/>
          <a:pathLst>
            <a:path>
              <a:moveTo>
                <a:pt x="3992094" y="0"/>
              </a:moveTo>
              <a:lnTo>
                <a:pt x="3992094" y="222081"/>
              </a:lnTo>
              <a:lnTo>
                <a:pt x="0" y="222081"/>
              </a:lnTo>
              <a:lnTo>
                <a:pt x="0" y="409962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099016" y="1349190"/>
        <a:ext cx="200816" cy="4398"/>
      </dsp:txXfrm>
    </dsp:sp>
    <dsp:sp modelId="{CE215CB9-ACC9-4608-AC41-61490EF3F08A}">
      <dsp:nvSpPr>
        <dsp:cNvPr id="0" name=""/>
        <dsp:cNvSpPr/>
      </dsp:nvSpPr>
      <dsp:spPr>
        <a:xfrm>
          <a:off x="5879156" y="675"/>
          <a:ext cx="2632631" cy="114753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debug data01.exe</a:t>
          </a:r>
          <a:endParaRPr lang="zh-CN" altLang="en-US" sz="2400" kern="1200" dirty="0"/>
        </a:p>
      </dsp:txBody>
      <dsp:txXfrm>
        <a:off x="5879156" y="675"/>
        <a:ext cx="2632631" cy="1147532"/>
      </dsp:txXfrm>
    </dsp:sp>
    <dsp:sp modelId="{BAB2A877-51AB-43F5-AD14-3B6A029AC8AF}">
      <dsp:nvSpPr>
        <dsp:cNvPr id="0" name=""/>
        <dsp:cNvSpPr/>
      </dsp:nvSpPr>
      <dsp:spPr>
        <a:xfrm>
          <a:off x="4157855" y="2116817"/>
          <a:ext cx="4092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9287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351501" y="2160338"/>
        <a:ext cx="21994" cy="4398"/>
      </dsp:txXfrm>
    </dsp:sp>
    <dsp:sp modelId="{6C72ECC3-722F-4C16-8F85-57EC098A1F1E}">
      <dsp:nvSpPr>
        <dsp:cNvPr id="0" name=""/>
        <dsp:cNvSpPr/>
      </dsp:nvSpPr>
      <dsp:spPr>
        <a:xfrm>
          <a:off x="2247100" y="1588771"/>
          <a:ext cx="1912554" cy="114753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命令 </a:t>
          </a:r>
          <a:r>
            <a:rPr lang="en-US" altLang="zh-CN" sz="2400" kern="1200" dirty="0"/>
            <a:t>t </a:t>
          </a:r>
          <a:r>
            <a:rPr lang="zh-CN" altLang="en-US" sz="2400" kern="1200" dirty="0"/>
            <a:t>观察寄存器</a:t>
          </a:r>
        </a:p>
      </dsp:txBody>
      <dsp:txXfrm>
        <a:off x="2247100" y="1588771"/>
        <a:ext cx="1912554" cy="1147532"/>
      </dsp:txXfrm>
    </dsp:sp>
    <dsp:sp modelId="{788725A2-8EB4-4EC7-9F09-C1496DDE66EF}">
      <dsp:nvSpPr>
        <dsp:cNvPr id="0" name=""/>
        <dsp:cNvSpPr/>
      </dsp:nvSpPr>
      <dsp:spPr>
        <a:xfrm>
          <a:off x="4599542" y="1588771"/>
          <a:ext cx="1912554" cy="114753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命令 </a:t>
          </a:r>
          <a:r>
            <a:rPr lang="en-US" altLang="zh-CN" sz="2400" kern="1200" dirty="0"/>
            <a:t>d </a:t>
          </a:r>
          <a:r>
            <a:rPr lang="zh-CN" altLang="en-US" sz="2400" kern="1200" dirty="0"/>
            <a:t>观察</a:t>
          </a:r>
          <a:r>
            <a:rPr lang="en-US" altLang="zh-CN" sz="2400" kern="1200" dirty="0"/>
            <a:t>DS</a:t>
          </a:r>
          <a:r>
            <a:rPr lang="zh-CN" altLang="en-US" sz="2400" kern="1200" dirty="0"/>
            <a:t>的内容</a:t>
          </a:r>
        </a:p>
      </dsp:txBody>
      <dsp:txXfrm>
        <a:off x="4599542" y="1588771"/>
        <a:ext cx="1912554" cy="1147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7/31/2016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82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程序设计语言是专门为计算机编程所配置的语言。它们按照形式与功能的不同可分为</a:t>
            </a:r>
            <a:r>
              <a:rPr lang="en-US" altLang="zh-CN" dirty="0"/>
              <a:t>3 </a:t>
            </a:r>
            <a:r>
              <a:rPr lang="zh-CN" altLang="en-US" dirty="0"/>
              <a:t>种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94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9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95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蓝色表示伪指令，红色表示指令。注意</a:t>
            </a:r>
            <a:r>
              <a:rPr lang="en-US" altLang="zh-CN" dirty="0"/>
              <a:t>ENDS</a:t>
            </a:r>
            <a:r>
              <a:rPr lang="zh-CN" altLang="en-US" dirty="0"/>
              <a:t>和</a:t>
            </a:r>
            <a:r>
              <a:rPr lang="en-US" altLang="zh-CN" dirty="0"/>
              <a:t>END</a:t>
            </a:r>
            <a:r>
              <a:rPr lang="zh-CN" altLang="en-US" dirty="0"/>
              <a:t>的区别。注意</a:t>
            </a:r>
            <a:r>
              <a:rPr lang="en-US" altLang="zh-CN" dirty="0"/>
              <a:t>START</a:t>
            </a:r>
            <a:r>
              <a:rPr lang="zh-CN" altLang="en-US" dirty="0"/>
              <a:t>不是伪指令，但是通常需要这个标号告诉汇编，这里是程序的开始。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21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蓝色表示伪指令，红色表示指令。注意</a:t>
            </a:r>
            <a:r>
              <a:rPr lang="en-US" altLang="zh-CN" dirty="0"/>
              <a:t>ENDS</a:t>
            </a:r>
            <a:r>
              <a:rPr lang="zh-CN" altLang="en-US" dirty="0"/>
              <a:t>和</a:t>
            </a:r>
            <a:r>
              <a:rPr lang="en-US" altLang="zh-CN" dirty="0"/>
              <a:t>END</a:t>
            </a:r>
            <a:r>
              <a:rPr lang="zh-CN" altLang="en-US" dirty="0"/>
              <a:t>的区别。注意</a:t>
            </a:r>
            <a:r>
              <a:rPr lang="en-US" altLang="zh-CN" dirty="0"/>
              <a:t>START</a:t>
            </a:r>
            <a:r>
              <a:rPr lang="zh-CN" altLang="en-US" dirty="0"/>
              <a:t>不是伪指令，但是通常需要这个标号告诉汇编，这里是程序的开始。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42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92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39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08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53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54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34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35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0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80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28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56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5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7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752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93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26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656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这一小节我们仅介绍标号、操作数的表达式。其它前面课程已经介绍过了。不再多介绍。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852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79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806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832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314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746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3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187777"/>
            <a:ext cx="748883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第四章  </a:t>
            </a:r>
            <a:r>
              <a:rPr lang="en-US" altLang="zh-CN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汇编语言程序设计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微软雅黑" panose="020B0503020204020204" pitchFamily="34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969273" y="1916832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10" grpId="0" animBg="1"/>
      <p:bldP spid="12" grpId="0" animBg="1"/>
      <p:bldP spid="23" grpId="0"/>
      <p:bldP spid="24" grpId="0"/>
      <p:bldP spid="31" grpId="0"/>
      <p:bldP spid="32" grpId="0"/>
      <p:bldP spid="33" grpId="0"/>
      <p:bldP spid="34" grpId="0"/>
      <p:bldP spid="35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1" r:id="rId3"/>
    <p:sldLayoutId id="2147483676" r:id="rId4"/>
    <p:sldLayoutId id="2147483677" r:id="rId5"/>
    <p:sldLayoutId id="2147483681" r:id="rId6"/>
    <p:sldLayoutId id="2147483678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jpe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2011784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汇编语言概述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2060848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164309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汇编基本语法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2133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4284189" y="4243809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8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中断调用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928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005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概述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Hello World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汇编语言概述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535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860172" y="1124744"/>
            <a:ext cx="6096204" cy="48965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6"/>
          <p:cNvSpPr>
            <a:spLocks/>
          </p:cNvSpPr>
          <p:nvPr/>
        </p:nvSpPr>
        <p:spPr bwMode="auto">
          <a:xfrm>
            <a:off x="5006436" y="4029302"/>
            <a:ext cx="875972" cy="916580"/>
          </a:xfrm>
          <a:custGeom>
            <a:avLst/>
            <a:gdLst>
              <a:gd name="T0" fmla="*/ 453 w 453"/>
              <a:gd name="T1" fmla="*/ 0 h 474"/>
              <a:gd name="T2" fmla="*/ 0 w 453"/>
              <a:gd name="T3" fmla="*/ 197 h 474"/>
              <a:gd name="T4" fmla="*/ 0 w 453"/>
              <a:gd name="T5" fmla="*/ 474 h 474"/>
              <a:gd name="T6" fmla="*/ 453 w 453"/>
              <a:gd name="T7" fmla="*/ 277 h 474"/>
              <a:gd name="T8" fmla="*/ 453 w 453"/>
              <a:gd name="T9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4">
                <a:moveTo>
                  <a:pt x="453" y="0"/>
                </a:moveTo>
                <a:lnTo>
                  <a:pt x="0" y="197"/>
                </a:lnTo>
                <a:lnTo>
                  <a:pt x="0" y="474"/>
                </a:lnTo>
                <a:lnTo>
                  <a:pt x="453" y="277"/>
                </a:lnTo>
                <a:lnTo>
                  <a:pt x="453" y="0"/>
                </a:lnTo>
                <a:close/>
              </a:path>
            </a:pathLst>
          </a:custGeom>
          <a:solidFill>
            <a:srgbClr val="2AA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7"/>
          <p:cNvSpPr>
            <a:spLocks/>
          </p:cNvSpPr>
          <p:nvPr/>
        </p:nvSpPr>
        <p:spPr bwMode="auto">
          <a:xfrm>
            <a:off x="4130465" y="4029302"/>
            <a:ext cx="875972" cy="916580"/>
          </a:xfrm>
          <a:custGeom>
            <a:avLst/>
            <a:gdLst>
              <a:gd name="T0" fmla="*/ 0 w 453"/>
              <a:gd name="T1" fmla="*/ 0 h 474"/>
              <a:gd name="T2" fmla="*/ 453 w 453"/>
              <a:gd name="T3" fmla="*/ 197 h 474"/>
              <a:gd name="T4" fmla="*/ 453 w 453"/>
              <a:gd name="T5" fmla="*/ 474 h 474"/>
              <a:gd name="T6" fmla="*/ 0 w 453"/>
              <a:gd name="T7" fmla="*/ 277 h 474"/>
              <a:gd name="T8" fmla="*/ 0 w 453"/>
              <a:gd name="T9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4">
                <a:moveTo>
                  <a:pt x="0" y="0"/>
                </a:moveTo>
                <a:lnTo>
                  <a:pt x="453" y="197"/>
                </a:lnTo>
                <a:lnTo>
                  <a:pt x="453" y="474"/>
                </a:lnTo>
                <a:lnTo>
                  <a:pt x="0" y="277"/>
                </a:lnTo>
                <a:lnTo>
                  <a:pt x="0" y="0"/>
                </a:lnTo>
                <a:close/>
              </a:path>
            </a:pathLst>
          </a:custGeom>
          <a:solidFill>
            <a:srgbClr val="4BAE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8"/>
          <p:cNvSpPr>
            <a:spLocks/>
          </p:cNvSpPr>
          <p:nvPr/>
        </p:nvSpPr>
        <p:spPr bwMode="auto">
          <a:xfrm>
            <a:off x="4130465" y="4029302"/>
            <a:ext cx="875972" cy="916580"/>
          </a:xfrm>
          <a:custGeom>
            <a:avLst/>
            <a:gdLst>
              <a:gd name="T0" fmla="*/ 0 w 453"/>
              <a:gd name="T1" fmla="*/ 0 h 474"/>
              <a:gd name="T2" fmla="*/ 453 w 453"/>
              <a:gd name="T3" fmla="*/ 197 h 474"/>
              <a:gd name="T4" fmla="*/ 453 w 453"/>
              <a:gd name="T5" fmla="*/ 474 h 474"/>
              <a:gd name="T6" fmla="*/ 0 w 453"/>
              <a:gd name="T7" fmla="*/ 277 h 474"/>
              <a:gd name="T8" fmla="*/ 0 w 453"/>
              <a:gd name="T9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4">
                <a:moveTo>
                  <a:pt x="0" y="0"/>
                </a:moveTo>
                <a:lnTo>
                  <a:pt x="453" y="197"/>
                </a:lnTo>
                <a:lnTo>
                  <a:pt x="453" y="474"/>
                </a:lnTo>
                <a:lnTo>
                  <a:pt x="0" y="27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9"/>
          <p:cNvSpPr>
            <a:spLocks/>
          </p:cNvSpPr>
          <p:nvPr/>
        </p:nvSpPr>
        <p:spPr bwMode="auto">
          <a:xfrm>
            <a:off x="4130465" y="3654161"/>
            <a:ext cx="1751943" cy="756081"/>
          </a:xfrm>
          <a:custGeom>
            <a:avLst/>
            <a:gdLst>
              <a:gd name="T0" fmla="*/ 453 w 906"/>
              <a:gd name="T1" fmla="*/ 0 h 391"/>
              <a:gd name="T2" fmla="*/ 0 w 906"/>
              <a:gd name="T3" fmla="*/ 194 h 391"/>
              <a:gd name="T4" fmla="*/ 453 w 906"/>
              <a:gd name="T5" fmla="*/ 391 h 391"/>
              <a:gd name="T6" fmla="*/ 906 w 906"/>
              <a:gd name="T7" fmla="*/ 194 h 391"/>
              <a:gd name="T8" fmla="*/ 453 w 906"/>
              <a:gd name="T9" fmla="*/ 0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6" h="391">
                <a:moveTo>
                  <a:pt x="453" y="0"/>
                </a:moveTo>
                <a:lnTo>
                  <a:pt x="0" y="194"/>
                </a:lnTo>
                <a:lnTo>
                  <a:pt x="453" y="391"/>
                </a:lnTo>
                <a:lnTo>
                  <a:pt x="906" y="194"/>
                </a:lnTo>
                <a:lnTo>
                  <a:pt x="45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10"/>
          <p:cNvSpPr>
            <a:spLocks/>
          </p:cNvSpPr>
          <p:nvPr/>
        </p:nvSpPr>
        <p:spPr bwMode="auto">
          <a:xfrm>
            <a:off x="5006436" y="2967694"/>
            <a:ext cx="875972" cy="914646"/>
          </a:xfrm>
          <a:custGeom>
            <a:avLst/>
            <a:gdLst>
              <a:gd name="T0" fmla="*/ 453 w 453"/>
              <a:gd name="T1" fmla="*/ 0 h 473"/>
              <a:gd name="T2" fmla="*/ 0 w 453"/>
              <a:gd name="T3" fmla="*/ 194 h 473"/>
              <a:gd name="T4" fmla="*/ 0 w 453"/>
              <a:gd name="T5" fmla="*/ 473 h 473"/>
              <a:gd name="T6" fmla="*/ 453 w 453"/>
              <a:gd name="T7" fmla="*/ 277 h 473"/>
              <a:gd name="T8" fmla="*/ 453 w 453"/>
              <a:gd name="T9" fmla="*/ 0 h 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3">
                <a:moveTo>
                  <a:pt x="453" y="0"/>
                </a:moveTo>
                <a:lnTo>
                  <a:pt x="0" y="194"/>
                </a:lnTo>
                <a:lnTo>
                  <a:pt x="0" y="473"/>
                </a:lnTo>
                <a:lnTo>
                  <a:pt x="453" y="277"/>
                </a:lnTo>
                <a:lnTo>
                  <a:pt x="453" y="0"/>
                </a:lnTo>
                <a:close/>
              </a:path>
            </a:pathLst>
          </a:custGeom>
          <a:solidFill>
            <a:srgbClr val="4544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11"/>
          <p:cNvSpPr>
            <a:spLocks/>
          </p:cNvSpPr>
          <p:nvPr/>
        </p:nvSpPr>
        <p:spPr bwMode="auto">
          <a:xfrm>
            <a:off x="4130465" y="2967694"/>
            <a:ext cx="875972" cy="914646"/>
          </a:xfrm>
          <a:custGeom>
            <a:avLst/>
            <a:gdLst>
              <a:gd name="T0" fmla="*/ 0 w 453"/>
              <a:gd name="T1" fmla="*/ 0 h 473"/>
              <a:gd name="T2" fmla="*/ 453 w 453"/>
              <a:gd name="T3" fmla="*/ 194 h 473"/>
              <a:gd name="T4" fmla="*/ 453 w 453"/>
              <a:gd name="T5" fmla="*/ 473 h 473"/>
              <a:gd name="T6" fmla="*/ 0 w 453"/>
              <a:gd name="T7" fmla="*/ 277 h 473"/>
              <a:gd name="T8" fmla="*/ 0 w 453"/>
              <a:gd name="T9" fmla="*/ 0 h 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3">
                <a:moveTo>
                  <a:pt x="0" y="0"/>
                </a:moveTo>
                <a:lnTo>
                  <a:pt x="453" y="194"/>
                </a:lnTo>
                <a:lnTo>
                  <a:pt x="453" y="473"/>
                </a:lnTo>
                <a:lnTo>
                  <a:pt x="0" y="277"/>
                </a:lnTo>
                <a:lnTo>
                  <a:pt x="0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12"/>
          <p:cNvSpPr>
            <a:spLocks/>
          </p:cNvSpPr>
          <p:nvPr/>
        </p:nvSpPr>
        <p:spPr bwMode="auto">
          <a:xfrm>
            <a:off x="4130465" y="2592554"/>
            <a:ext cx="1751943" cy="750280"/>
          </a:xfrm>
          <a:custGeom>
            <a:avLst/>
            <a:gdLst>
              <a:gd name="T0" fmla="*/ 453 w 906"/>
              <a:gd name="T1" fmla="*/ 0 h 388"/>
              <a:gd name="T2" fmla="*/ 0 w 906"/>
              <a:gd name="T3" fmla="*/ 194 h 388"/>
              <a:gd name="T4" fmla="*/ 453 w 906"/>
              <a:gd name="T5" fmla="*/ 388 h 388"/>
              <a:gd name="T6" fmla="*/ 906 w 906"/>
              <a:gd name="T7" fmla="*/ 194 h 388"/>
              <a:gd name="T8" fmla="*/ 453 w 906"/>
              <a:gd name="T9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6" h="388">
                <a:moveTo>
                  <a:pt x="453" y="0"/>
                </a:moveTo>
                <a:lnTo>
                  <a:pt x="0" y="194"/>
                </a:lnTo>
                <a:lnTo>
                  <a:pt x="453" y="388"/>
                </a:lnTo>
                <a:lnTo>
                  <a:pt x="906" y="194"/>
                </a:lnTo>
                <a:lnTo>
                  <a:pt x="45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13"/>
          <p:cNvSpPr>
            <a:spLocks/>
          </p:cNvSpPr>
          <p:nvPr/>
        </p:nvSpPr>
        <p:spPr bwMode="auto">
          <a:xfrm>
            <a:off x="5006436" y="1904152"/>
            <a:ext cx="875972" cy="916580"/>
          </a:xfrm>
          <a:custGeom>
            <a:avLst/>
            <a:gdLst>
              <a:gd name="T0" fmla="*/ 453 w 453"/>
              <a:gd name="T1" fmla="*/ 0 h 474"/>
              <a:gd name="T2" fmla="*/ 0 w 453"/>
              <a:gd name="T3" fmla="*/ 194 h 474"/>
              <a:gd name="T4" fmla="*/ 0 w 453"/>
              <a:gd name="T5" fmla="*/ 474 h 474"/>
              <a:gd name="T6" fmla="*/ 453 w 453"/>
              <a:gd name="T7" fmla="*/ 277 h 474"/>
              <a:gd name="T8" fmla="*/ 453 w 453"/>
              <a:gd name="T9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4">
                <a:moveTo>
                  <a:pt x="453" y="0"/>
                </a:moveTo>
                <a:lnTo>
                  <a:pt x="0" y="194"/>
                </a:lnTo>
                <a:lnTo>
                  <a:pt x="0" y="474"/>
                </a:lnTo>
                <a:lnTo>
                  <a:pt x="453" y="277"/>
                </a:lnTo>
                <a:lnTo>
                  <a:pt x="453" y="0"/>
                </a:lnTo>
                <a:close/>
              </a:path>
            </a:pathLst>
          </a:custGeom>
          <a:solidFill>
            <a:srgbClr val="F046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14"/>
          <p:cNvSpPr>
            <a:spLocks/>
          </p:cNvSpPr>
          <p:nvPr/>
        </p:nvSpPr>
        <p:spPr bwMode="auto">
          <a:xfrm>
            <a:off x="4130465" y="1904152"/>
            <a:ext cx="875972" cy="916580"/>
          </a:xfrm>
          <a:custGeom>
            <a:avLst/>
            <a:gdLst>
              <a:gd name="T0" fmla="*/ 0 w 453"/>
              <a:gd name="T1" fmla="*/ 0 h 474"/>
              <a:gd name="T2" fmla="*/ 453 w 453"/>
              <a:gd name="T3" fmla="*/ 194 h 474"/>
              <a:gd name="T4" fmla="*/ 453 w 453"/>
              <a:gd name="T5" fmla="*/ 474 h 474"/>
              <a:gd name="T6" fmla="*/ 0 w 453"/>
              <a:gd name="T7" fmla="*/ 277 h 474"/>
              <a:gd name="T8" fmla="*/ 0 w 453"/>
              <a:gd name="T9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4">
                <a:moveTo>
                  <a:pt x="0" y="0"/>
                </a:moveTo>
                <a:lnTo>
                  <a:pt x="453" y="194"/>
                </a:lnTo>
                <a:lnTo>
                  <a:pt x="453" y="474"/>
                </a:lnTo>
                <a:lnTo>
                  <a:pt x="0" y="277"/>
                </a:lnTo>
                <a:lnTo>
                  <a:pt x="0" y="0"/>
                </a:lnTo>
                <a:close/>
              </a:path>
            </a:pathLst>
          </a:custGeom>
          <a:solidFill>
            <a:srgbClr val="F369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Freeform 15"/>
          <p:cNvSpPr>
            <a:spLocks/>
          </p:cNvSpPr>
          <p:nvPr/>
        </p:nvSpPr>
        <p:spPr bwMode="auto">
          <a:xfrm>
            <a:off x="4130465" y="1904152"/>
            <a:ext cx="875972" cy="916580"/>
          </a:xfrm>
          <a:custGeom>
            <a:avLst/>
            <a:gdLst>
              <a:gd name="T0" fmla="*/ 0 w 453"/>
              <a:gd name="T1" fmla="*/ 0 h 474"/>
              <a:gd name="T2" fmla="*/ 453 w 453"/>
              <a:gd name="T3" fmla="*/ 194 h 474"/>
              <a:gd name="T4" fmla="*/ 453 w 453"/>
              <a:gd name="T5" fmla="*/ 474 h 474"/>
              <a:gd name="T6" fmla="*/ 0 w 453"/>
              <a:gd name="T7" fmla="*/ 277 h 474"/>
              <a:gd name="T8" fmla="*/ 0 w 453"/>
              <a:gd name="T9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4">
                <a:moveTo>
                  <a:pt x="0" y="0"/>
                </a:moveTo>
                <a:lnTo>
                  <a:pt x="453" y="194"/>
                </a:lnTo>
                <a:lnTo>
                  <a:pt x="453" y="474"/>
                </a:lnTo>
                <a:lnTo>
                  <a:pt x="0" y="27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16"/>
          <p:cNvSpPr>
            <a:spLocks/>
          </p:cNvSpPr>
          <p:nvPr/>
        </p:nvSpPr>
        <p:spPr bwMode="auto">
          <a:xfrm>
            <a:off x="4130465" y="1529012"/>
            <a:ext cx="1751943" cy="750280"/>
          </a:xfrm>
          <a:custGeom>
            <a:avLst/>
            <a:gdLst>
              <a:gd name="T0" fmla="*/ 453 w 906"/>
              <a:gd name="T1" fmla="*/ 0 h 388"/>
              <a:gd name="T2" fmla="*/ 0 w 906"/>
              <a:gd name="T3" fmla="*/ 194 h 388"/>
              <a:gd name="T4" fmla="*/ 453 w 906"/>
              <a:gd name="T5" fmla="*/ 388 h 388"/>
              <a:gd name="T6" fmla="*/ 906 w 906"/>
              <a:gd name="T7" fmla="*/ 194 h 388"/>
              <a:gd name="T8" fmla="*/ 453 w 906"/>
              <a:gd name="T9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6" h="388">
                <a:moveTo>
                  <a:pt x="453" y="0"/>
                </a:moveTo>
                <a:lnTo>
                  <a:pt x="0" y="194"/>
                </a:lnTo>
                <a:lnTo>
                  <a:pt x="453" y="388"/>
                </a:lnTo>
                <a:lnTo>
                  <a:pt x="906" y="194"/>
                </a:lnTo>
                <a:lnTo>
                  <a:pt x="45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19"/>
          <p:cNvSpPr>
            <a:spLocks/>
          </p:cNvSpPr>
          <p:nvPr/>
        </p:nvSpPr>
        <p:spPr bwMode="auto">
          <a:xfrm>
            <a:off x="4130465" y="764704"/>
            <a:ext cx="875972" cy="916580"/>
          </a:xfrm>
          <a:custGeom>
            <a:avLst/>
            <a:gdLst>
              <a:gd name="T0" fmla="*/ 0 w 453"/>
              <a:gd name="T1" fmla="*/ 0 h 474"/>
              <a:gd name="T2" fmla="*/ 453 w 453"/>
              <a:gd name="T3" fmla="*/ 194 h 474"/>
              <a:gd name="T4" fmla="*/ 453 w 453"/>
              <a:gd name="T5" fmla="*/ 474 h 474"/>
              <a:gd name="T6" fmla="*/ 0 w 453"/>
              <a:gd name="T7" fmla="*/ 277 h 474"/>
              <a:gd name="T8" fmla="*/ 0 w 453"/>
              <a:gd name="T9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3" h="474">
                <a:moveTo>
                  <a:pt x="0" y="0"/>
                </a:moveTo>
                <a:lnTo>
                  <a:pt x="453" y="194"/>
                </a:lnTo>
                <a:lnTo>
                  <a:pt x="453" y="474"/>
                </a:lnTo>
                <a:lnTo>
                  <a:pt x="0" y="277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Oval 21"/>
          <p:cNvSpPr>
            <a:spLocks noChangeArrowheads="1"/>
          </p:cNvSpPr>
          <p:nvPr/>
        </p:nvSpPr>
        <p:spPr bwMode="auto">
          <a:xfrm>
            <a:off x="3852010" y="2091722"/>
            <a:ext cx="187570" cy="187570"/>
          </a:xfrm>
          <a:prstGeom prst="ellipse">
            <a:avLst/>
          </a:prstGeom>
          <a:solidFill>
            <a:srgbClr val="D1677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Freeform 22"/>
          <p:cNvSpPr>
            <a:spLocks/>
          </p:cNvSpPr>
          <p:nvPr/>
        </p:nvSpPr>
        <p:spPr bwMode="auto">
          <a:xfrm>
            <a:off x="3498141" y="2157468"/>
            <a:ext cx="357737" cy="58011"/>
          </a:xfrm>
          <a:custGeom>
            <a:avLst/>
            <a:gdLst>
              <a:gd name="T0" fmla="*/ 78 w 78"/>
              <a:gd name="T1" fmla="*/ 0 h 13"/>
              <a:gd name="T2" fmla="*/ 0 w 78"/>
              <a:gd name="T3" fmla="*/ 0 h 13"/>
              <a:gd name="T4" fmla="*/ 0 w 78"/>
              <a:gd name="T5" fmla="*/ 13 h 13"/>
              <a:gd name="T6" fmla="*/ 78 w 78"/>
              <a:gd name="T7" fmla="*/ 13 h 13"/>
              <a:gd name="T8" fmla="*/ 77 w 78"/>
              <a:gd name="T9" fmla="*/ 6 h 13"/>
              <a:gd name="T10" fmla="*/ 78 w 78"/>
              <a:gd name="T11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8" h="13">
                <a:moveTo>
                  <a:pt x="7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78" y="13"/>
                  <a:pt x="78" y="13"/>
                  <a:pt x="78" y="13"/>
                </a:cubicBezTo>
                <a:cubicBezTo>
                  <a:pt x="78" y="11"/>
                  <a:pt x="77" y="9"/>
                  <a:pt x="77" y="6"/>
                </a:cubicBezTo>
                <a:cubicBezTo>
                  <a:pt x="77" y="4"/>
                  <a:pt x="78" y="2"/>
                  <a:pt x="78" y="0"/>
                </a:cubicBezTo>
              </a:path>
            </a:pathLst>
          </a:custGeom>
          <a:solidFill>
            <a:srgbClr val="C5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23"/>
          <p:cNvSpPr>
            <a:spLocks/>
          </p:cNvSpPr>
          <p:nvPr/>
        </p:nvSpPr>
        <p:spPr bwMode="auto">
          <a:xfrm>
            <a:off x="3852010" y="2157468"/>
            <a:ext cx="90884" cy="58011"/>
          </a:xfrm>
          <a:custGeom>
            <a:avLst/>
            <a:gdLst>
              <a:gd name="T0" fmla="*/ 20 w 20"/>
              <a:gd name="T1" fmla="*/ 0 h 13"/>
              <a:gd name="T2" fmla="*/ 1 w 20"/>
              <a:gd name="T3" fmla="*/ 0 h 13"/>
              <a:gd name="T4" fmla="*/ 0 w 20"/>
              <a:gd name="T5" fmla="*/ 6 h 13"/>
              <a:gd name="T6" fmla="*/ 1 w 20"/>
              <a:gd name="T7" fmla="*/ 13 h 13"/>
              <a:gd name="T8" fmla="*/ 20 w 20"/>
              <a:gd name="T9" fmla="*/ 13 h 13"/>
              <a:gd name="T10" fmla="*/ 20 w 20"/>
              <a:gd name="T11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" h="13">
                <a:moveTo>
                  <a:pt x="20" y="0"/>
                </a:moveTo>
                <a:cubicBezTo>
                  <a:pt x="1" y="0"/>
                  <a:pt x="1" y="0"/>
                  <a:pt x="1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9"/>
                  <a:pt x="1" y="11"/>
                  <a:pt x="1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0"/>
                  <a:pt x="20" y="0"/>
                  <a:pt x="20" y="0"/>
                </a:cubicBezTo>
              </a:path>
            </a:pathLst>
          </a:custGeom>
          <a:solidFill>
            <a:srgbClr val="A9586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Oval 24"/>
          <p:cNvSpPr>
            <a:spLocks noChangeArrowheads="1"/>
          </p:cNvSpPr>
          <p:nvPr/>
        </p:nvSpPr>
        <p:spPr bwMode="auto">
          <a:xfrm>
            <a:off x="3902287" y="2141999"/>
            <a:ext cx="87017" cy="83150"/>
          </a:xfrm>
          <a:prstGeom prst="ellipse">
            <a:avLst/>
          </a:prstGeom>
          <a:solidFill>
            <a:srgbClr val="E6EA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25"/>
          <p:cNvSpPr>
            <a:spLocks noChangeArrowheads="1"/>
          </p:cNvSpPr>
          <p:nvPr/>
        </p:nvSpPr>
        <p:spPr bwMode="auto">
          <a:xfrm>
            <a:off x="3457533" y="2147800"/>
            <a:ext cx="81216" cy="77348"/>
          </a:xfrm>
          <a:prstGeom prst="ellipse">
            <a:avLst/>
          </a:prstGeom>
          <a:solidFill>
            <a:srgbClr val="4544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Oval 26"/>
          <p:cNvSpPr>
            <a:spLocks noChangeArrowheads="1"/>
          </p:cNvSpPr>
          <p:nvPr/>
        </p:nvSpPr>
        <p:spPr bwMode="auto">
          <a:xfrm>
            <a:off x="3852010" y="4172396"/>
            <a:ext cx="187570" cy="187570"/>
          </a:xfrm>
          <a:prstGeom prst="ellipse">
            <a:avLst/>
          </a:prstGeom>
          <a:solidFill>
            <a:srgbClr val="4F9D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27"/>
          <p:cNvSpPr>
            <a:spLocks/>
          </p:cNvSpPr>
          <p:nvPr/>
        </p:nvSpPr>
        <p:spPr bwMode="auto">
          <a:xfrm>
            <a:off x="3498141" y="4236209"/>
            <a:ext cx="357737" cy="59945"/>
          </a:xfrm>
          <a:custGeom>
            <a:avLst/>
            <a:gdLst>
              <a:gd name="T0" fmla="*/ 78 w 78"/>
              <a:gd name="T1" fmla="*/ 0 h 13"/>
              <a:gd name="T2" fmla="*/ 0 w 78"/>
              <a:gd name="T3" fmla="*/ 0 h 13"/>
              <a:gd name="T4" fmla="*/ 0 w 78"/>
              <a:gd name="T5" fmla="*/ 13 h 13"/>
              <a:gd name="T6" fmla="*/ 78 w 78"/>
              <a:gd name="T7" fmla="*/ 13 h 13"/>
              <a:gd name="T8" fmla="*/ 77 w 78"/>
              <a:gd name="T9" fmla="*/ 7 h 13"/>
              <a:gd name="T10" fmla="*/ 78 w 78"/>
              <a:gd name="T11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8" h="13">
                <a:moveTo>
                  <a:pt x="7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78" y="13"/>
                  <a:pt x="78" y="13"/>
                  <a:pt x="78" y="13"/>
                </a:cubicBezTo>
                <a:cubicBezTo>
                  <a:pt x="78" y="11"/>
                  <a:pt x="77" y="9"/>
                  <a:pt x="77" y="7"/>
                </a:cubicBezTo>
                <a:cubicBezTo>
                  <a:pt x="77" y="4"/>
                  <a:pt x="78" y="2"/>
                  <a:pt x="78" y="0"/>
                </a:cubicBezTo>
              </a:path>
            </a:pathLst>
          </a:custGeom>
          <a:solidFill>
            <a:srgbClr val="C5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28"/>
          <p:cNvSpPr>
            <a:spLocks/>
          </p:cNvSpPr>
          <p:nvPr/>
        </p:nvSpPr>
        <p:spPr bwMode="auto">
          <a:xfrm>
            <a:off x="3852010" y="4236209"/>
            <a:ext cx="90884" cy="59945"/>
          </a:xfrm>
          <a:custGeom>
            <a:avLst/>
            <a:gdLst>
              <a:gd name="T0" fmla="*/ 20 w 20"/>
              <a:gd name="T1" fmla="*/ 0 h 13"/>
              <a:gd name="T2" fmla="*/ 1 w 20"/>
              <a:gd name="T3" fmla="*/ 0 h 13"/>
              <a:gd name="T4" fmla="*/ 0 w 20"/>
              <a:gd name="T5" fmla="*/ 7 h 13"/>
              <a:gd name="T6" fmla="*/ 1 w 20"/>
              <a:gd name="T7" fmla="*/ 13 h 13"/>
              <a:gd name="T8" fmla="*/ 20 w 20"/>
              <a:gd name="T9" fmla="*/ 13 h 13"/>
              <a:gd name="T10" fmla="*/ 20 w 20"/>
              <a:gd name="T11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" h="13">
                <a:moveTo>
                  <a:pt x="20" y="0"/>
                </a:moveTo>
                <a:cubicBezTo>
                  <a:pt x="1" y="0"/>
                  <a:pt x="1" y="0"/>
                  <a:pt x="1" y="0"/>
                </a:cubicBezTo>
                <a:cubicBezTo>
                  <a:pt x="1" y="2"/>
                  <a:pt x="0" y="4"/>
                  <a:pt x="0" y="7"/>
                </a:cubicBezTo>
                <a:cubicBezTo>
                  <a:pt x="0" y="9"/>
                  <a:pt x="1" y="11"/>
                  <a:pt x="1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0"/>
                  <a:pt x="20" y="0"/>
                  <a:pt x="20" y="0"/>
                </a:cubicBezTo>
              </a:path>
            </a:pathLst>
          </a:custGeom>
          <a:solidFill>
            <a:srgbClr val="37869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29"/>
          <p:cNvSpPr>
            <a:spLocks noChangeArrowheads="1"/>
          </p:cNvSpPr>
          <p:nvPr/>
        </p:nvSpPr>
        <p:spPr bwMode="auto">
          <a:xfrm>
            <a:off x="3902287" y="4226540"/>
            <a:ext cx="87017" cy="83150"/>
          </a:xfrm>
          <a:prstGeom prst="ellipse">
            <a:avLst/>
          </a:prstGeom>
          <a:solidFill>
            <a:srgbClr val="E6EA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30"/>
          <p:cNvSpPr>
            <a:spLocks noChangeArrowheads="1"/>
          </p:cNvSpPr>
          <p:nvPr/>
        </p:nvSpPr>
        <p:spPr bwMode="auto">
          <a:xfrm>
            <a:off x="3457533" y="4226540"/>
            <a:ext cx="81216" cy="77348"/>
          </a:xfrm>
          <a:prstGeom prst="ellipse">
            <a:avLst/>
          </a:prstGeom>
          <a:solidFill>
            <a:srgbClr val="4544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Oval 36"/>
          <p:cNvSpPr>
            <a:spLocks noChangeArrowheads="1"/>
          </p:cNvSpPr>
          <p:nvPr/>
        </p:nvSpPr>
        <p:spPr bwMode="auto">
          <a:xfrm>
            <a:off x="6011967" y="3118523"/>
            <a:ext cx="187570" cy="187570"/>
          </a:xfrm>
          <a:prstGeom prst="ellipse">
            <a:avLst/>
          </a:prstGeom>
          <a:solidFill>
            <a:srgbClr val="4544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37"/>
          <p:cNvSpPr>
            <a:spLocks/>
          </p:cNvSpPr>
          <p:nvPr/>
        </p:nvSpPr>
        <p:spPr bwMode="auto">
          <a:xfrm>
            <a:off x="6193736" y="3182336"/>
            <a:ext cx="357737" cy="59945"/>
          </a:xfrm>
          <a:custGeom>
            <a:avLst/>
            <a:gdLst>
              <a:gd name="T0" fmla="*/ 78 w 78"/>
              <a:gd name="T1" fmla="*/ 0 h 13"/>
              <a:gd name="T2" fmla="*/ 0 w 78"/>
              <a:gd name="T3" fmla="*/ 0 h 13"/>
              <a:gd name="T4" fmla="*/ 1 w 78"/>
              <a:gd name="T5" fmla="*/ 6 h 13"/>
              <a:gd name="T6" fmla="*/ 0 w 78"/>
              <a:gd name="T7" fmla="*/ 13 h 13"/>
              <a:gd name="T8" fmla="*/ 78 w 78"/>
              <a:gd name="T9" fmla="*/ 13 h 13"/>
              <a:gd name="T10" fmla="*/ 78 w 78"/>
              <a:gd name="T11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8" h="13">
                <a:moveTo>
                  <a:pt x="7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"/>
                  <a:pt x="1" y="4"/>
                  <a:pt x="1" y="6"/>
                </a:cubicBezTo>
                <a:cubicBezTo>
                  <a:pt x="1" y="9"/>
                  <a:pt x="0" y="11"/>
                  <a:pt x="0" y="13"/>
                </a:cubicBezTo>
                <a:cubicBezTo>
                  <a:pt x="78" y="13"/>
                  <a:pt x="78" y="13"/>
                  <a:pt x="78" y="13"/>
                </a:cubicBezTo>
                <a:cubicBezTo>
                  <a:pt x="78" y="0"/>
                  <a:pt x="78" y="0"/>
                  <a:pt x="78" y="0"/>
                </a:cubicBezTo>
              </a:path>
            </a:pathLst>
          </a:custGeom>
          <a:solidFill>
            <a:srgbClr val="C5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Freeform 38"/>
          <p:cNvSpPr>
            <a:spLocks/>
          </p:cNvSpPr>
          <p:nvPr/>
        </p:nvSpPr>
        <p:spPr bwMode="auto">
          <a:xfrm>
            <a:off x="6102851" y="3182336"/>
            <a:ext cx="96686" cy="59945"/>
          </a:xfrm>
          <a:custGeom>
            <a:avLst/>
            <a:gdLst>
              <a:gd name="T0" fmla="*/ 20 w 21"/>
              <a:gd name="T1" fmla="*/ 0 h 13"/>
              <a:gd name="T2" fmla="*/ 0 w 21"/>
              <a:gd name="T3" fmla="*/ 0 h 13"/>
              <a:gd name="T4" fmla="*/ 0 w 21"/>
              <a:gd name="T5" fmla="*/ 13 h 13"/>
              <a:gd name="T6" fmla="*/ 20 w 21"/>
              <a:gd name="T7" fmla="*/ 13 h 13"/>
              <a:gd name="T8" fmla="*/ 21 w 21"/>
              <a:gd name="T9" fmla="*/ 6 h 13"/>
              <a:gd name="T10" fmla="*/ 20 w 21"/>
              <a:gd name="T11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" h="13">
                <a:moveTo>
                  <a:pt x="2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1"/>
                  <a:pt x="21" y="9"/>
                  <a:pt x="21" y="6"/>
                </a:cubicBezTo>
                <a:cubicBezTo>
                  <a:pt x="21" y="4"/>
                  <a:pt x="20" y="2"/>
                  <a:pt x="20" y="0"/>
                </a:cubicBezTo>
              </a:path>
            </a:pathLst>
          </a:custGeom>
          <a:solidFill>
            <a:srgbClr val="373E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Oval 39"/>
          <p:cNvSpPr>
            <a:spLocks noChangeArrowheads="1"/>
          </p:cNvSpPr>
          <p:nvPr/>
        </p:nvSpPr>
        <p:spPr bwMode="auto">
          <a:xfrm>
            <a:off x="6062243" y="3168800"/>
            <a:ext cx="81216" cy="83150"/>
          </a:xfrm>
          <a:prstGeom prst="ellipse">
            <a:avLst/>
          </a:prstGeom>
          <a:solidFill>
            <a:srgbClr val="E6EA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Oval 40"/>
          <p:cNvSpPr>
            <a:spLocks noChangeArrowheads="1"/>
          </p:cNvSpPr>
          <p:nvPr/>
        </p:nvSpPr>
        <p:spPr bwMode="auto">
          <a:xfrm>
            <a:off x="6510864" y="3172667"/>
            <a:ext cx="83150" cy="79282"/>
          </a:xfrm>
          <a:prstGeom prst="ellipse">
            <a:avLst/>
          </a:prstGeom>
          <a:solidFill>
            <a:srgbClr val="45444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1"/>
          <p:cNvSpPr>
            <a:spLocks noEditPoints="1"/>
          </p:cNvSpPr>
          <p:nvPr/>
        </p:nvSpPr>
        <p:spPr bwMode="auto">
          <a:xfrm>
            <a:off x="4350908" y="4263281"/>
            <a:ext cx="353869" cy="444754"/>
          </a:xfrm>
          <a:custGeom>
            <a:avLst/>
            <a:gdLst>
              <a:gd name="T0" fmla="*/ 25 w 77"/>
              <a:gd name="T1" fmla="*/ 80 h 97"/>
              <a:gd name="T2" fmla="*/ 9 w 77"/>
              <a:gd name="T3" fmla="*/ 46 h 97"/>
              <a:gd name="T4" fmla="*/ 25 w 77"/>
              <a:gd name="T5" fmla="*/ 26 h 97"/>
              <a:gd name="T6" fmla="*/ 41 w 77"/>
              <a:gd name="T7" fmla="*/ 60 h 97"/>
              <a:gd name="T8" fmla="*/ 22 w 77"/>
              <a:gd name="T9" fmla="*/ 9 h 97"/>
              <a:gd name="T10" fmla="*/ 20 w 77"/>
              <a:gd name="T11" fmla="*/ 17 h 97"/>
              <a:gd name="T12" fmla="*/ 11 w 77"/>
              <a:gd name="T13" fmla="*/ 12 h 97"/>
              <a:gd name="T14" fmla="*/ 8 w 77"/>
              <a:gd name="T15" fmla="*/ 26 h 97"/>
              <a:gd name="T16" fmla="*/ 0 w 77"/>
              <a:gd name="T17" fmla="*/ 36 h 97"/>
              <a:gd name="T18" fmla="*/ 5 w 77"/>
              <a:gd name="T19" fmla="*/ 51 h 97"/>
              <a:gd name="T20" fmla="*/ 5 w 77"/>
              <a:gd name="T21" fmla="*/ 70 h 97"/>
              <a:gd name="T22" fmla="*/ 13 w 77"/>
              <a:gd name="T23" fmla="*/ 77 h 97"/>
              <a:gd name="T24" fmla="*/ 21 w 77"/>
              <a:gd name="T25" fmla="*/ 94 h 97"/>
              <a:gd name="T26" fmla="*/ 29 w 77"/>
              <a:gd name="T27" fmla="*/ 89 h 97"/>
              <a:gd name="T28" fmla="*/ 36 w 77"/>
              <a:gd name="T29" fmla="*/ 87 h 97"/>
              <a:gd name="T30" fmla="*/ 45 w 77"/>
              <a:gd name="T31" fmla="*/ 88 h 97"/>
              <a:gd name="T32" fmla="*/ 45 w 77"/>
              <a:gd name="T33" fmla="*/ 69 h 97"/>
              <a:gd name="T34" fmla="*/ 50 w 77"/>
              <a:gd name="T35" fmla="*/ 58 h 97"/>
              <a:gd name="T36" fmla="*/ 42 w 77"/>
              <a:gd name="T37" fmla="*/ 41 h 97"/>
              <a:gd name="T38" fmla="*/ 40 w 77"/>
              <a:gd name="T39" fmla="*/ 25 h 97"/>
              <a:gd name="T40" fmla="*/ 30 w 77"/>
              <a:gd name="T41" fmla="*/ 21 h 97"/>
              <a:gd name="T42" fmla="*/ 22 w 77"/>
              <a:gd name="T43" fmla="*/ 9 h 97"/>
              <a:gd name="T44" fmla="*/ 60 w 77"/>
              <a:gd name="T45" fmla="*/ 48 h 97"/>
              <a:gd name="T46" fmla="*/ 49 w 77"/>
              <a:gd name="T47" fmla="*/ 25 h 97"/>
              <a:gd name="T48" fmla="*/ 60 w 77"/>
              <a:gd name="T49" fmla="*/ 12 h 97"/>
              <a:gd name="T50" fmla="*/ 70 w 77"/>
              <a:gd name="T51" fmla="*/ 35 h 97"/>
              <a:gd name="T52" fmla="*/ 58 w 77"/>
              <a:gd name="T53" fmla="*/ 0 h 97"/>
              <a:gd name="T54" fmla="*/ 57 w 77"/>
              <a:gd name="T55" fmla="*/ 5 h 97"/>
              <a:gd name="T56" fmla="*/ 50 w 77"/>
              <a:gd name="T57" fmla="*/ 2 h 97"/>
              <a:gd name="T58" fmla="*/ 48 w 77"/>
              <a:gd name="T59" fmla="*/ 11 h 97"/>
              <a:gd name="T60" fmla="*/ 43 w 77"/>
              <a:gd name="T61" fmla="*/ 18 h 97"/>
              <a:gd name="T62" fmla="*/ 46 w 77"/>
              <a:gd name="T63" fmla="*/ 28 h 97"/>
              <a:gd name="T64" fmla="*/ 46 w 77"/>
              <a:gd name="T65" fmla="*/ 41 h 97"/>
              <a:gd name="T66" fmla="*/ 52 w 77"/>
              <a:gd name="T67" fmla="*/ 46 h 97"/>
              <a:gd name="T68" fmla="*/ 57 w 77"/>
              <a:gd name="T69" fmla="*/ 57 h 97"/>
              <a:gd name="T70" fmla="*/ 62 w 77"/>
              <a:gd name="T71" fmla="*/ 55 h 97"/>
              <a:gd name="T72" fmla="*/ 67 w 77"/>
              <a:gd name="T73" fmla="*/ 53 h 97"/>
              <a:gd name="T74" fmla="*/ 73 w 77"/>
              <a:gd name="T75" fmla="*/ 53 h 97"/>
              <a:gd name="T76" fmla="*/ 73 w 77"/>
              <a:gd name="T77" fmla="*/ 41 h 97"/>
              <a:gd name="T78" fmla="*/ 77 w 77"/>
              <a:gd name="T79" fmla="*/ 33 h 97"/>
              <a:gd name="T80" fmla="*/ 72 w 77"/>
              <a:gd name="T81" fmla="*/ 22 h 97"/>
              <a:gd name="T82" fmla="*/ 70 w 77"/>
              <a:gd name="T83" fmla="*/ 11 h 97"/>
              <a:gd name="T84" fmla="*/ 63 w 77"/>
              <a:gd name="T85" fmla="*/ 8 h 97"/>
              <a:gd name="T86" fmla="*/ 58 w 77"/>
              <a:gd name="T87" fmla="*/ 0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7" h="97">
                <a:moveTo>
                  <a:pt x="29" y="81"/>
                </a:moveTo>
                <a:cubicBezTo>
                  <a:pt x="28" y="81"/>
                  <a:pt x="26" y="81"/>
                  <a:pt x="25" y="80"/>
                </a:cubicBezTo>
                <a:cubicBezTo>
                  <a:pt x="25" y="80"/>
                  <a:pt x="25" y="80"/>
                  <a:pt x="25" y="80"/>
                </a:cubicBezTo>
                <a:cubicBezTo>
                  <a:pt x="16" y="76"/>
                  <a:pt x="9" y="61"/>
                  <a:pt x="9" y="46"/>
                </a:cubicBezTo>
                <a:cubicBezTo>
                  <a:pt x="10" y="34"/>
                  <a:pt x="15" y="26"/>
                  <a:pt x="22" y="26"/>
                </a:cubicBezTo>
                <a:cubicBezTo>
                  <a:pt x="23" y="26"/>
                  <a:pt x="24" y="26"/>
                  <a:pt x="25" y="26"/>
                </a:cubicBezTo>
                <a:cubicBezTo>
                  <a:pt x="26" y="27"/>
                  <a:pt x="26" y="27"/>
                  <a:pt x="26" y="27"/>
                </a:cubicBezTo>
                <a:cubicBezTo>
                  <a:pt x="34" y="30"/>
                  <a:pt x="41" y="46"/>
                  <a:pt x="41" y="60"/>
                </a:cubicBezTo>
                <a:cubicBezTo>
                  <a:pt x="41" y="73"/>
                  <a:pt x="36" y="81"/>
                  <a:pt x="29" y="81"/>
                </a:cubicBezTo>
                <a:moveTo>
                  <a:pt x="22" y="9"/>
                </a:moveTo>
                <a:cubicBezTo>
                  <a:pt x="22" y="17"/>
                  <a:pt x="22" y="17"/>
                  <a:pt x="22" y="17"/>
                </a:cubicBezTo>
                <a:cubicBezTo>
                  <a:pt x="21" y="17"/>
                  <a:pt x="21" y="17"/>
                  <a:pt x="20" y="17"/>
                </a:cubicBezTo>
                <a:cubicBezTo>
                  <a:pt x="18" y="17"/>
                  <a:pt x="16" y="18"/>
                  <a:pt x="14" y="19"/>
                </a:cubicBezTo>
                <a:cubicBezTo>
                  <a:pt x="11" y="12"/>
                  <a:pt x="11" y="12"/>
                  <a:pt x="11" y="12"/>
                </a:cubicBezTo>
                <a:cubicBezTo>
                  <a:pt x="5" y="19"/>
                  <a:pt x="5" y="19"/>
                  <a:pt x="5" y="19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9"/>
                  <a:pt x="6" y="33"/>
                  <a:pt x="5" y="38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49"/>
                  <a:pt x="0" y="49"/>
                  <a:pt x="0" y="49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56"/>
                  <a:pt x="6" y="61"/>
                  <a:pt x="8" y="65"/>
                </a:cubicBezTo>
                <a:cubicBezTo>
                  <a:pt x="5" y="70"/>
                  <a:pt x="5" y="70"/>
                  <a:pt x="5" y="70"/>
                </a:cubicBezTo>
                <a:cubicBezTo>
                  <a:pt x="10" y="81"/>
                  <a:pt x="10" y="81"/>
                  <a:pt x="10" y="81"/>
                </a:cubicBezTo>
                <a:cubicBezTo>
                  <a:pt x="13" y="77"/>
                  <a:pt x="13" y="77"/>
                  <a:pt x="13" y="77"/>
                </a:cubicBezTo>
                <a:cubicBezTo>
                  <a:pt x="16" y="81"/>
                  <a:pt x="18" y="84"/>
                  <a:pt x="21" y="86"/>
                </a:cubicBezTo>
                <a:cubicBezTo>
                  <a:pt x="21" y="94"/>
                  <a:pt x="21" y="94"/>
                  <a:pt x="21" y="94"/>
                </a:cubicBezTo>
                <a:cubicBezTo>
                  <a:pt x="29" y="97"/>
                  <a:pt x="29" y="97"/>
                  <a:pt x="29" y="97"/>
                </a:cubicBezTo>
                <a:cubicBezTo>
                  <a:pt x="29" y="89"/>
                  <a:pt x="29" y="89"/>
                  <a:pt x="29" y="89"/>
                </a:cubicBezTo>
                <a:cubicBezTo>
                  <a:pt x="29" y="90"/>
                  <a:pt x="30" y="90"/>
                  <a:pt x="30" y="90"/>
                </a:cubicBezTo>
                <a:cubicBezTo>
                  <a:pt x="32" y="90"/>
                  <a:pt x="34" y="89"/>
                  <a:pt x="36" y="87"/>
                </a:cubicBezTo>
                <a:cubicBezTo>
                  <a:pt x="40" y="94"/>
                  <a:pt x="40" y="94"/>
                  <a:pt x="40" y="94"/>
                </a:cubicBezTo>
                <a:cubicBezTo>
                  <a:pt x="45" y="88"/>
                  <a:pt x="45" y="88"/>
                  <a:pt x="45" y="88"/>
                </a:cubicBezTo>
                <a:cubicBezTo>
                  <a:pt x="42" y="81"/>
                  <a:pt x="42" y="81"/>
                  <a:pt x="42" y="81"/>
                </a:cubicBezTo>
                <a:cubicBezTo>
                  <a:pt x="44" y="77"/>
                  <a:pt x="45" y="73"/>
                  <a:pt x="45" y="69"/>
                </a:cubicBezTo>
                <a:cubicBezTo>
                  <a:pt x="50" y="71"/>
                  <a:pt x="50" y="71"/>
                  <a:pt x="50" y="71"/>
                </a:cubicBezTo>
                <a:cubicBezTo>
                  <a:pt x="50" y="58"/>
                  <a:pt x="50" y="58"/>
                  <a:pt x="50" y="58"/>
                </a:cubicBezTo>
                <a:cubicBezTo>
                  <a:pt x="45" y="56"/>
                  <a:pt x="45" y="56"/>
                  <a:pt x="45" y="56"/>
                </a:cubicBezTo>
                <a:cubicBezTo>
                  <a:pt x="45" y="51"/>
                  <a:pt x="44" y="46"/>
                  <a:pt x="42" y="41"/>
                </a:cubicBezTo>
                <a:cubicBezTo>
                  <a:pt x="46" y="37"/>
                  <a:pt x="46" y="37"/>
                  <a:pt x="46" y="37"/>
                </a:cubicBezTo>
                <a:cubicBezTo>
                  <a:pt x="40" y="25"/>
                  <a:pt x="40" y="25"/>
                  <a:pt x="40" y="25"/>
                </a:cubicBezTo>
                <a:cubicBezTo>
                  <a:pt x="37" y="29"/>
                  <a:pt x="37" y="29"/>
                  <a:pt x="37" y="29"/>
                </a:cubicBezTo>
                <a:cubicBezTo>
                  <a:pt x="35" y="26"/>
                  <a:pt x="32" y="23"/>
                  <a:pt x="30" y="21"/>
                </a:cubicBezTo>
                <a:cubicBezTo>
                  <a:pt x="30" y="13"/>
                  <a:pt x="30" y="13"/>
                  <a:pt x="30" y="13"/>
                </a:cubicBezTo>
                <a:cubicBezTo>
                  <a:pt x="22" y="9"/>
                  <a:pt x="22" y="9"/>
                  <a:pt x="22" y="9"/>
                </a:cubicBezTo>
                <a:moveTo>
                  <a:pt x="62" y="49"/>
                </a:moveTo>
                <a:cubicBezTo>
                  <a:pt x="61" y="49"/>
                  <a:pt x="61" y="49"/>
                  <a:pt x="60" y="48"/>
                </a:cubicBezTo>
                <a:cubicBezTo>
                  <a:pt x="60" y="48"/>
                  <a:pt x="60" y="48"/>
                  <a:pt x="60" y="48"/>
                </a:cubicBezTo>
                <a:cubicBezTo>
                  <a:pt x="54" y="46"/>
                  <a:pt x="49" y="35"/>
                  <a:pt x="49" y="25"/>
                </a:cubicBezTo>
                <a:cubicBezTo>
                  <a:pt x="49" y="17"/>
                  <a:pt x="53" y="11"/>
                  <a:pt x="57" y="11"/>
                </a:cubicBezTo>
                <a:cubicBezTo>
                  <a:pt x="58" y="11"/>
                  <a:pt x="59" y="11"/>
                  <a:pt x="60" y="12"/>
                </a:cubicBezTo>
                <a:cubicBezTo>
                  <a:pt x="60" y="12"/>
                  <a:pt x="60" y="12"/>
                  <a:pt x="60" y="12"/>
                </a:cubicBezTo>
                <a:cubicBezTo>
                  <a:pt x="66" y="14"/>
                  <a:pt x="71" y="25"/>
                  <a:pt x="70" y="35"/>
                </a:cubicBezTo>
                <a:cubicBezTo>
                  <a:pt x="70" y="43"/>
                  <a:pt x="67" y="49"/>
                  <a:pt x="62" y="49"/>
                </a:cubicBezTo>
                <a:moveTo>
                  <a:pt x="58" y="0"/>
                </a:moveTo>
                <a:cubicBezTo>
                  <a:pt x="57" y="5"/>
                  <a:pt x="57" y="5"/>
                  <a:pt x="57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5" y="5"/>
                  <a:pt x="54" y="6"/>
                  <a:pt x="52" y="7"/>
                </a:cubicBezTo>
                <a:cubicBezTo>
                  <a:pt x="50" y="2"/>
                  <a:pt x="50" y="2"/>
                  <a:pt x="50" y="2"/>
                </a:cubicBezTo>
                <a:cubicBezTo>
                  <a:pt x="46" y="7"/>
                  <a:pt x="46" y="7"/>
                  <a:pt x="46" y="7"/>
                </a:cubicBezTo>
                <a:cubicBezTo>
                  <a:pt x="48" y="11"/>
                  <a:pt x="48" y="11"/>
                  <a:pt x="48" y="11"/>
                </a:cubicBezTo>
                <a:cubicBezTo>
                  <a:pt x="47" y="14"/>
                  <a:pt x="47" y="16"/>
                  <a:pt x="46" y="19"/>
                </a:cubicBezTo>
                <a:cubicBezTo>
                  <a:pt x="43" y="18"/>
                  <a:pt x="43" y="18"/>
                  <a:pt x="43" y="18"/>
                </a:cubicBezTo>
                <a:cubicBezTo>
                  <a:pt x="43" y="27"/>
                  <a:pt x="43" y="27"/>
                  <a:pt x="43" y="27"/>
                </a:cubicBezTo>
                <a:cubicBezTo>
                  <a:pt x="46" y="28"/>
                  <a:pt x="46" y="28"/>
                  <a:pt x="46" y="28"/>
                </a:cubicBezTo>
                <a:cubicBezTo>
                  <a:pt x="46" y="32"/>
                  <a:pt x="47" y="35"/>
                  <a:pt x="48" y="38"/>
                </a:cubicBezTo>
                <a:cubicBezTo>
                  <a:pt x="46" y="41"/>
                  <a:pt x="46" y="41"/>
                  <a:pt x="46" y="41"/>
                </a:cubicBezTo>
                <a:cubicBezTo>
                  <a:pt x="49" y="49"/>
                  <a:pt x="49" y="49"/>
                  <a:pt x="49" y="49"/>
                </a:cubicBezTo>
                <a:cubicBezTo>
                  <a:pt x="52" y="46"/>
                  <a:pt x="52" y="46"/>
                  <a:pt x="52" y="46"/>
                </a:cubicBezTo>
                <a:cubicBezTo>
                  <a:pt x="53" y="49"/>
                  <a:pt x="55" y="51"/>
                  <a:pt x="57" y="52"/>
                </a:cubicBezTo>
                <a:cubicBezTo>
                  <a:pt x="57" y="57"/>
                  <a:pt x="57" y="57"/>
                  <a:pt x="57" y="57"/>
                </a:cubicBezTo>
                <a:cubicBezTo>
                  <a:pt x="62" y="60"/>
                  <a:pt x="62" y="60"/>
                  <a:pt x="62" y="60"/>
                </a:cubicBezTo>
                <a:cubicBezTo>
                  <a:pt x="62" y="55"/>
                  <a:pt x="62" y="55"/>
                  <a:pt x="62" y="55"/>
                </a:cubicBezTo>
                <a:cubicBezTo>
                  <a:pt x="62" y="55"/>
                  <a:pt x="63" y="55"/>
                  <a:pt x="63" y="55"/>
                </a:cubicBezTo>
                <a:cubicBezTo>
                  <a:pt x="65" y="55"/>
                  <a:pt x="66" y="54"/>
                  <a:pt x="67" y="53"/>
                </a:cubicBezTo>
                <a:cubicBezTo>
                  <a:pt x="70" y="58"/>
                  <a:pt x="70" y="58"/>
                  <a:pt x="70" y="58"/>
                </a:cubicBezTo>
                <a:cubicBezTo>
                  <a:pt x="73" y="53"/>
                  <a:pt x="73" y="53"/>
                  <a:pt x="73" y="53"/>
                </a:cubicBezTo>
                <a:cubicBezTo>
                  <a:pt x="71" y="48"/>
                  <a:pt x="71" y="48"/>
                  <a:pt x="71" y="48"/>
                </a:cubicBezTo>
                <a:cubicBezTo>
                  <a:pt x="72" y="46"/>
                  <a:pt x="73" y="44"/>
                  <a:pt x="73" y="41"/>
                </a:cubicBezTo>
                <a:cubicBezTo>
                  <a:pt x="77" y="42"/>
                  <a:pt x="77" y="42"/>
                  <a:pt x="77" y="42"/>
                </a:cubicBezTo>
                <a:cubicBezTo>
                  <a:pt x="77" y="33"/>
                  <a:pt x="77" y="33"/>
                  <a:pt x="77" y="33"/>
                </a:cubicBezTo>
                <a:cubicBezTo>
                  <a:pt x="74" y="32"/>
                  <a:pt x="74" y="32"/>
                  <a:pt x="74" y="32"/>
                </a:cubicBezTo>
                <a:cubicBezTo>
                  <a:pt x="73" y="28"/>
                  <a:pt x="73" y="25"/>
                  <a:pt x="72" y="22"/>
                </a:cubicBezTo>
                <a:cubicBezTo>
                  <a:pt x="74" y="19"/>
                  <a:pt x="74" y="19"/>
                  <a:pt x="74" y="19"/>
                </a:cubicBezTo>
                <a:cubicBezTo>
                  <a:pt x="70" y="11"/>
                  <a:pt x="70" y="11"/>
                  <a:pt x="70" y="11"/>
                </a:cubicBezTo>
                <a:cubicBezTo>
                  <a:pt x="68" y="14"/>
                  <a:pt x="68" y="14"/>
                  <a:pt x="68" y="14"/>
                </a:cubicBezTo>
                <a:cubicBezTo>
                  <a:pt x="66" y="11"/>
                  <a:pt x="65" y="9"/>
                  <a:pt x="63" y="8"/>
                </a:cubicBezTo>
                <a:cubicBezTo>
                  <a:pt x="63" y="2"/>
                  <a:pt x="63" y="2"/>
                  <a:pt x="63" y="2"/>
                </a:cubicBezTo>
                <a:cubicBezTo>
                  <a:pt x="58" y="0"/>
                  <a:pt x="58" y="0"/>
                  <a:pt x="58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Freeform 42"/>
          <p:cNvSpPr>
            <a:spLocks noEditPoints="1"/>
          </p:cNvSpPr>
          <p:nvPr/>
        </p:nvSpPr>
        <p:spPr bwMode="auto">
          <a:xfrm>
            <a:off x="4434058" y="2087855"/>
            <a:ext cx="261051" cy="535638"/>
          </a:xfrm>
          <a:custGeom>
            <a:avLst/>
            <a:gdLst>
              <a:gd name="T0" fmla="*/ 42 w 57"/>
              <a:gd name="T1" fmla="*/ 64 h 117"/>
              <a:gd name="T2" fmla="*/ 43 w 57"/>
              <a:gd name="T3" fmla="*/ 68 h 117"/>
              <a:gd name="T4" fmla="*/ 42 w 57"/>
              <a:gd name="T5" fmla="*/ 71 h 117"/>
              <a:gd name="T6" fmla="*/ 33 w 57"/>
              <a:gd name="T7" fmla="*/ 83 h 117"/>
              <a:gd name="T8" fmla="*/ 32 w 57"/>
              <a:gd name="T9" fmla="*/ 85 h 117"/>
              <a:gd name="T10" fmla="*/ 30 w 57"/>
              <a:gd name="T11" fmla="*/ 83 h 117"/>
              <a:gd name="T12" fmla="*/ 28 w 57"/>
              <a:gd name="T13" fmla="*/ 81 h 117"/>
              <a:gd name="T14" fmla="*/ 29 w 57"/>
              <a:gd name="T15" fmla="*/ 92 h 117"/>
              <a:gd name="T16" fmla="*/ 30 w 57"/>
              <a:gd name="T17" fmla="*/ 92 h 117"/>
              <a:gd name="T18" fmla="*/ 32 w 57"/>
              <a:gd name="T19" fmla="*/ 91 h 117"/>
              <a:gd name="T20" fmla="*/ 33 w 57"/>
              <a:gd name="T21" fmla="*/ 94 h 117"/>
              <a:gd name="T22" fmla="*/ 51 w 57"/>
              <a:gd name="T23" fmla="*/ 117 h 117"/>
              <a:gd name="T24" fmla="*/ 57 w 57"/>
              <a:gd name="T25" fmla="*/ 109 h 117"/>
              <a:gd name="T26" fmla="*/ 48 w 57"/>
              <a:gd name="T27" fmla="*/ 74 h 117"/>
              <a:gd name="T28" fmla="*/ 48 w 57"/>
              <a:gd name="T29" fmla="*/ 70 h 117"/>
              <a:gd name="T30" fmla="*/ 45 w 57"/>
              <a:gd name="T31" fmla="*/ 60 h 117"/>
              <a:gd name="T32" fmla="*/ 11 w 57"/>
              <a:gd name="T33" fmla="*/ 46 h 117"/>
              <a:gd name="T34" fmla="*/ 9 w 57"/>
              <a:gd name="T35" fmla="*/ 54 h 117"/>
              <a:gd name="T36" fmla="*/ 9 w 57"/>
              <a:gd name="T37" fmla="*/ 58 h 117"/>
              <a:gd name="T38" fmla="*/ 0 w 57"/>
              <a:gd name="T39" fmla="*/ 54 h 117"/>
              <a:gd name="T40" fmla="*/ 0 w 57"/>
              <a:gd name="T41" fmla="*/ 70 h 117"/>
              <a:gd name="T42" fmla="*/ 1 w 57"/>
              <a:gd name="T43" fmla="*/ 70 h 117"/>
              <a:gd name="T44" fmla="*/ 3 w 57"/>
              <a:gd name="T45" fmla="*/ 69 h 117"/>
              <a:gd name="T46" fmla="*/ 8 w 57"/>
              <a:gd name="T47" fmla="*/ 78 h 117"/>
              <a:gd name="T48" fmla="*/ 4 w 57"/>
              <a:gd name="T49" fmla="*/ 84 h 117"/>
              <a:gd name="T50" fmla="*/ 1 w 57"/>
              <a:gd name="T51" fmla="*/ 80 h 117"/>
              <a:gd name="T52" fmla="*/ 0 w 57"/>
              <a:gd name="T53" fmla="*/ 80 h 117"/>
              <a:gd name="T54" fmla="*/ 0 w 57"/>
              <a:gd name="T55" fmla="*/ 85 h 117"/>
              <a:gd name="T56" fmla="*/ 24 w 57"/>
              <a:gd name="T57" fmla="*/ 106 h 117"/>
              <a:gd name="T58" fmla="*/ 24 w 57"/>
              <a:gd name="T59" fmla="*/ 89 h 117"/>
              <a:gd name="T60" fmla="*/ 23 w 57"/>
              <a:gd name="T61" fmla="*/ 89 h 117"/>
              <a:gd name="T62" fmla="*/ 21 w 57"/>
              <a:gd name="T63" fmla="*/ 90 h 117"/>
              <a:gd name="T64" fmla="*/ 16 w 57"/>
              <a:gd name="T65" fmla="*/ 81 h 117"/>
              <a:gd name="T66" fmla="*/ 20 w 57"/>
              <a:gd name="T67" fmla="*/ 76 h 117"/>
              <a:gd name="T68" fmla="*/ 23 w 57"/>
              <a:gd name="T69" fmla="*/ 79 h 117"/>
              <a:gd name="T70" fmla="*/ 24 w 57"/>
              <a:gd name="T71" fmla="*/ 80 h 117"/>
              <a:gd name="T72" fmla="*/ 24 w 57"/>
              <a:gd name="T73" fmla="*/ 64 h 117"/>
              <a:gd name="T74" fmla="*/ 14 w 57"/>
              <a:gd name="T75" fmla="*/ 57 h 117"/>
              <a:gd name="T76" fmla="*/ 15 w 57"/>
              <a:gd name="T77" fmla="*/ 53 h 117"/>
              <a:gd name="T78" fmla="*/ 11 w 57"/>
              <a:gd name="T79" fmla="*/ 46 h 117"/>
              <a:gd name="T80" fmla="*/ 0 w 57"/>
              <a:gd name="T81" fmla="*/ 8 h 117"/>
              <a:gd name="T82" fmla="*/ 9 w 57"/>
              <a:gd name="T83" fmla="*/ 43 h 117"/>
              <a:gd name="T84" fmla="*/ 9 w 57"/>
              <a:gd name="T85" fmla="*/ 41 h 117"/>
              <a:gd name="T86" fmla="*/ 8 w 57"/>
              <a:gd name="T87" fmla="*/ 35 h 117"/>
              <a:gd name="T88" fmla="*/ 12 w 57"/>
              <a:gd name="T89" fmla="*/ 30 h 117"/>
              <a:gd name="T90" fmla="*/ 15 w 57"/>
              <a:gd name="T91" fmla="*/ 42 h 117"/>
              <a:gd name="T92" fmla="*/ 15 w 57"/>
              <a:gd name="T93" fmla="*/ 45 h 117"/>
              <a:gd name="T94" fmla="*/ 24 w 57"/>
              <a:gd name="T95" fmla="*/ 49 h 117"/>
              <a:gd name="T96" fmla="*/ 24 w 57"/>
              <a:gd name="T97" fmla="*/ 33 h 117"/>
              <a:gd name="T98" fmla="*/ 23 w 57"/>
              <a:gd name="T99" fmla="*/ 33 h 117"/>
              <a:gd name="T100" fmla="*/ 21 w 57"/>
              <a:gd name="T101" fmla="*/ 34 h 117"/>
              <a:gd name="T102" fmla="*/ 16 w 57"/>
              <a:gd name="T103" fmla="*/ 25 h 117"/>
              <a:gd name="T104" fmla="*/ 20 w 57"/>
              <a:gd name="T105" fmla="*/ 20 h 117"/>
              <a:gd name="T106" fmla="*/ 23 w 57"/>
              <a:gd name="T107" fmla="*/ 23 h 117"/>
              <a:gd name="T108" fmla="*/ 24 w 57"/>
              <a:gd name="T109" fmla="*/ 24 h 117"/>
              <a:gd name="T110" fmla="*/ 24 w 57"/>
              <a:gd name="T111" fmla="*/ 7 h 117"/>
              <a:gd name="T112" fmla="*/ 4 w 57"/>
              <a:gd name="T113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" h="117">
                <a:moveTo>
                  <a:pt x="44" y="59"/>
                </a:moveTo>
                <a:cubicBezTo>
                  <a:pt x="43" y="59"/>
                  <a:pt x="42" y="61"/>
                  <a:pt x="42" y="64"/>
                </a:cubicBezTo>
                <a:cubicBezTo>
                  <a:pt x="42" y="65"/>
                  <a:pt x="42" y="66"/>
                  <a:pt x="42" y="68"/>
                </a:cubicBezTo>
                <a:cubicBezTo>
                  <a:pt x="43" y="68"/>
                  <a:pt x="43" y="68"/>
                  <a:pt x="43" y="68"/>
                </a:cubicBezTo>
                <a:cubicBezTo>
                  <a:pt x="43" y="71"/>
                  <a:pt x="43" y="71"/>
                  <a:pt x="42" y="71"/>
                </a:cubicBezTo>
                <a:cubicBezTo>
                  <a:pt x="42" y="71"/>
                  <a:pt x="42" y="71"/>
                  <a:pt x="42" y="71"/>
                </a:cubicBezTo>
                <a:cubicBezTo>
                  <a:pt x="33" y="68"/>
                  <a:pt x="33" y="68"/>
                  <a:pt x="33" y="68"/>
                </a:cubicBezTo>
                <a:cubicBezTo>
                  <a:pt x="33" y="83"/>
                  <a:pt x="33" y="83"/>
                  <a:pt x="33" y="83"/>
                </a:cubicBezTo>
                <a:cubicBezTo>
                  <a:pt x="33" y="84"/>
                  <a:pt x="33" y="85"/>
                  <a:pt x="32" y="85"/>
                </a:cubicBezTo>
                <a:cubicBezTo>
                  <a:pt x="32" y="85"/>
                  <a:pt x="32" y="85"/>
                  <a:pt x="32" y="85"/>
                </a:cubicBezTo>
                <a:cubicBezTo>
                  <a:pt x="32" y="85"/>
                  <a:pt x="31" y="84"/>
                  <a:pt x="31" y="84"/>
                </a:cubicBezTo>
                <a:cubicBezTo>
                  <a:pt x="30" y="83"/>
                  <a:pt x="30" y="83"/>
                  <a:pt x="30" y="83"/>
                </a:cubicBezTo>
                <a:cubicBezTo>
                  <a:pt x="30" y="82"/>
                  <a:pt x="29" y="81"/>
                  <a:pt x="29" y="81"/>
                </a:cubicBezTo>
                <a:cubicBezTo>
                  <a:pt x="28" y="81"/>
                  <a:pt x="28" y="81"/>
                  <a:pt x="28" y="81"/>
                </a:cubicBezTo>
                <a:cubicBezTo>
                  <a:pt x="26" y="81"/>
                  <a:pt x="25" y="83"/>
                  <a:pt x="25" y="85"/>
                </a:cubicBezTo>
                <a:cubicBezTo>
                  <a:pt x="25" y="88"/>
                  <a:pt x="27" y="92"/>
                  <a:pt x="29" y="92"/>
                </a:cubicBezTo>
                <a:cubicBezTo>
                  <a:pt x="29" y="93"/>
                  <a:pt x="29" y="93"/>
                  <a:pt x="29" y="93"/>
                </a:cubicBezTo>
                <a:cubicBezTo>
                  <a:pt x="30" y="93"/>
                  <a:pt x="30" y="92"/>
                  <a:pt x="30" y="92"/>
                </a:cubicBezTo>
                <a:cubicBezTo>
                  <a:pt x="31" y="92"/>
                  <a:pt x="31" y="92"/>
                  <a:pt x="31" y="92"/>
                </a:cubicBezTo>
                <a:cubicBezTo>
                  <a:pt x="31" y="91"/>
                  <a:pt x="31" y="91"/>
                  <a:pt x="32" y="91"/>
                </a:cubicBezTo>
                <a:cubicBezTo>
                  <a:pt x="32" y="91"/>
                  <a:pt x="32" y="91"/>
                  <a:pt x="32" y="91"/>
                </a:cubicBezTo>
                <a:cubicBezTo>
                  <a:pt x="33" y="92"/>
                  <a:pt x="33" y="93"/>
                  <a:pt x="33" y="94"/>
                </a:cubicBezTo>
                <a:cubicBezTo>
                  <a:pt x="33" y="109"/>
                  <a:pt x="33" y="109"/>
                  <a:pt x="33" y="109"/>
                </a:cubicBezTo>
                <a:cubicBezTo>
                  <a:pt x="51" y="117"/>
                  <a:pt x="51" y="117"/>
                  <a:pt x="51" y="117"/>
                </a:cubicBezTo>
                <a:cubicBezTo>
                  <a:pt x="52" y="117"/>
                  <a:pt x="52" y="117"/>
                  <a:pt x="53" y="117"/>
                </a:cubicBezTo>
                <a:cubicBezTo>
                  <a:pt x="55" y="117"/>
                  <a:pt x="57" y="114"/>
                  <a:pt x="57" y="109"/>
                </a:cubicBezTo>
                <a:cubicBezTo>
                  <a:pt x="57" y="78"/>
                  <a:pt x="57" y="78"/>
                  <a:pt x="57" y="78"/>
                </a:cubicBezTo>
                <a:cubicBezTo>
                  <a:pt x="48" y="74"/>
                  <a:pt x="48" y="74"/>
                  <a:pt x="48" y="74"/>
                </a:cubicBezTo>
                <a:cubicBezTo>
                  <a:pt x="47" y="73"/>
                  <a:pt x="46" y="72"/>
                  <a:pt x="47" y="70"/>
                </a:cubicBezTo>
                <a:cubicBezTo>
                  <a:pt x="48" y="70"/>
                  <a:pt x="48" y="70"/>
                  <a:pt x="48" y="70"/>
                </a:cubicBezTo>
                <a:cubicBezTo>
                  <a:pt x="48" y="69"/>
                  <a:pt x="48" y="68"/>
                  <a:pt x="48" y="67"/>
                </a:cubicBezTo>
                <a:cubicBezTo>
                  <a:pt x="48" y="64"/>
                  <a:pt x="47" y="60"/>
                  <a:pt x="45" y="60"/>
                </a:cubicBezTo>
                <a:cubicBezTo>
                  <a:pt x="45" y="60"/>
                  <a:pt x="45" y="59"/>
                  <a:pt x="44" y="59"/>
                </a:cubicBezTo>
                <a:moveTo>
                  <a:pt x="11" y="46"/>
                </a:moveTo>
                <a:cubicBezTo>
                  <a:pt x="10" y="46"/>
                  <a:pt x="9" y="48"/>
                  <a:pt x="9" y="50"/>
                </a:cubicBezTo>
                <a:cubicBezTo>
                  <a:pt x="9" y="52"/>
                  <a:pt x="9" y="53"/>
                  <a:pt x="9" y="54"/>
                </a:cubicBezTo>
                <a:cubicBezTo>
                  <a:pt x="9" y="55"/>
                  <a:pt x="9" y="55"/>
                  <a:pt x="9" y="55"/>
                </a:cubicBezTo>
                <a:cubicBezTo>
                  <a:pt x="10" y="57"/>
                  <a:pt x="10" y="58"/>
                  <a:pt x="9" y="58"/>
                </a:cubicBezTo>
                <a:cubicBezTo>
                  <a:pt x="9" y="58"/>
                  <a:pt x="9" y="58"/>
                  <a:pt x="9" y="58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71"/>
                  <a:pt x="0" y="71"/>
                  <a:pt x="0" y="71"/>
                </a:cubicBezTo>
                <a:cubicBezTo>
                  <a:pt x="1" y="70"/>
                  <a:pt x="1" y="70"/>
                  <a:pt x="1" y="70"/>
                </a:cubicBezTo>
                <a:cubicBezTo>
                  <a:pt x="1" y="70"/>
                  <a:pt x="1" y="70"/>
                  <a:pt x="1" y="70"/>
                </a:cubicBezTo>
                <a:cubicBezTo>
                  <a:pt x="2" y="70"/>
                  <a:pt x="2" y="69"/>
                  <a:pt x="3" y="69"/>
                </a:cubicBezTo>
                <a:cubicBezTo>
                  <a:pt x="3" y="69"/>
                  <a:pt x="4" y="69"/>
                  <a:pt x="4" y="70"/>
                </a:cubicBezTo>
                <a:cubicBezTo>
                  <a:pt x="6" y="70"/>
                  <a:pt x="8" y="74"/>
                  <a:pt x="8" y="78"/>
                </a:cubicBezTo>
                <a:cubicBezTo>
                  <a:pt x="8" y="82"/>
                  <a:pt x="7" y="84"/>
                  <a:pt x="5" y="84"/>
                </a:cubicBezTo>
                <a:cubicBezTo>
                  <a:pt x="4" y="84"/>
                  <a:pt x="4" y="84"/>
                  <a:pt x="4" y="84"/>
                </a:cubicBezTo>
                <a:cubicBezTo>
                  <a:pt x="3" y="83"/>
                  <a:pt x="2" y="82"/>
                  <a:pt x="1" y="81"/>
                </a:cubicBezTo>
                <a:cubicBezTo>
                  <a:pt x="1" y="80"/>
                  <a:pt x="1" y="80"/>
                  <a:pt x="1" y="80"/>
                </a:cubicBezTo>
                <a:cubicBezTo>
                  <a:pt x="1" y="80"/>
                  <a:pt x="0" y="80"/>
                  <a:pt x="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91"/>
                  <a:pt x="2" y="97"/>
                  <a:pt x="6" y="98"/>
                </a:cubicBezTo>
                <a:cubicBezTo>
                  <a:pt x="24" y="106"/>
                  <a:pt x="24" y="106"/>
                  <a:pt x="24" y="106"/>
                </a:cubicBezTo>
                <a:cubicBezTo>
                  <a:pt x="24" y="90"/>
                  <a:pt x="24" y="90"/>
                  <a:pt x="24" y="90"/>
                </a:cubicBezTo>
                <a:cubicBezTo>
                  <a:pt x="24" y="89"/>
                  <a:pt x="24" y="89"/>
                  <a:pt x="24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2" y="90"/>
                  <a:pt x="22" y="90"/>
                  <a:pt x="22" y="90"/>
                </a:cubicBezTo>
                <a:cubicBezTo>
                  <a:pt x="22" y="90"/>
                  <a:pt x="21" y="90"/>
                  <a:pt x="21" y="90"/>
                </a:cubicBezTo>
                <a:cubicBezTo>
                  <a:pt x="20" y="90"/>
                  <a:pt x="20" y="90"/>
                  <a:pt x="20" y="90"/>
                </a:cubicBezTo>
                <a:cubicBezTo>
                  <a:pt x="18" y="89"/>
                  <a:pt x="16" y="85"/>
                  <a:pt x="16" y="81"/>
                </a:cubicBezTo>
                <a:cubicBezTo>
                  <a:pt x="16" y="78"/>
                  <a:pt x="17" y="76"/>
                  <a:pt x="19" y="76"/>
                </a:cubicBezTo>
                <a:cubicBezTo>
                  <a:pt x="19" y="76"/>
                  <a:pt x="20" y="76"/>
                  <a:pt x="20" y="76"/>
                </a:cubicBezTo>
                <a:cubicBezTo>
                  <a:pt x="21" y="76"/>
                  <a:pt x="22" y="77"/>
                  <a:pt x="22" y="78"/>
                </a:cubicBezTo>
                <a:cubicBezTo>
                  <a:pt x="23" y="79"/>
                  <a:pt x="23" y="79"/>
                  <a:pt x="23" y="79"/>
                </a:cubicBezTo>
                <a:cubicBezTo>
                  <a:pt x="23" y="80"/>
                  <a:pt x="23" y="80"/>
                  <a:pt x="23" y="80"/>
                </a:cubicBezTo>
                <a:cubicBezTo>
                  <a:pt x="24" y="80"/>
                  <a:pt x="24" y="80"/>
                  <a:pt x="24" y="80"/>
                </a:cubicBezTo>
                <a:cubicBezTo>
                  <a:pt x="24" y="80"/>
                  <a:pt x="24" y="80"/>
                  <a:pt x="24" y="80"/>
                </a:cubicBezTo>
                <a:cubicBezTo>
                  <a:pt x="24" y="64"/>
                  <a:pt x="24" y="64"/>
                  <a:pt x="24" y="64"/>
                </a:cubicBezTo>
                <a:cubicBezTo>
                  <a:pt x="15" y="60"/>
                  <a:pt x="15" y="60"/>
                  <a:pt x="15" y="60"/>
                </a:cubicBezTo>
                <a:cubicBezTo>
                  <a:pt x="14" y="60"/>
                  <a:pt x="13" y="59"/>
                  <a:pt x="14" y="57"/>
                </a:cubicBezTo>
                <a:cubicBezTo>
                  <a:pt x="15" y="56"/>
                  <a:pt x="15" y="56"/>
                  <a:pt x="15" y="56"/>
                </a:cubicBezTo>
                <a:cubicBezTo>
                  <a:pt x="15" y="55"/>
                  <a:pt x="15" y="54"/>
                  <a:pt x="15" y="53"/>
                </a:cubicBezTo>
                <a:cubicBezTo>
                  <a:pt x="15" y="50"/>
                  <a:pt x="14" y="47"/>
                  <a:pt x="12" y="46"/>
                </a:cubicBezTo>
                <a:cubicBezTo>
                  <a:pt x="12" y="46"/>
                  <a:pt x="11" y="46"/>
                  <a:pt x="11" y="46"/>
                </a:cubicBezTo>
                <a:moveTo>
                  <a:pt x="4" y="0"/>
                </a:moveTo>
                <a:cubicBezTo>
                  <a:pt x="2" y="0"/>
                  <a:pt x="0" y="3"/>
                  <a:pt x="0" y="8"/>
                </a:cubicBezTo>
                <a:cubicBezTo>
                  <a:pt x="0" y="39"/>
                  <a:pt x="0" y="39"/>
                  <a:pt x="0" y="39"/>
                </a:cubicBezTo>
                <a:cubicBezTo>
                  <a:pt x="9" y="43"/>
                  <a:pt x="9" y="43"/>
                  <a:pt x="9" y="43"/>
                </a:cubicBezTo>
                <a:cubicBezTo>
                  <a:pt x="9" y="43"/>
                  <a:pt x="9" y="43"/>
                  <a:pt x="9" y="43"/>
                </a:cubicBezTo>
                <a:cubicBezTo>
                  <a:pt x="9" y="42"/>
                  <a:pt x="9" y="41"/>
                  <a:pt x="9" y="41"/>
                </a:cubicBezTo>
                <a:cubicBezTo>
                  <a:pt x="9" y="40"/>
                  <a:pt x="9" y="40"/>
                  <a:pt x="9" y="40"/>
                </a:cubicBezTo>
                <a:cubicBezTo>
                  <a:pt x="8" y="38"/>
                  <a:pt x="8" y="37"/>
                  <a:pt x="8" y="35"/>
                </a:cubicBezTo>
                <a:cubicBezTo>
                  <a:pt x="8" y="32"/>
                  <a:pt x="9" y="30"/>
                  <a:pt x="11" y="30"/>
                </a:cubicBezTo>
                <a:cubicBezTo>
                  <a:pt x="11" y="30"/>
                  <a:pt x="12" y="30"/>
                  <a:pt x="12" y="30"/>
                </a:cubicBezTo>
                <a:cubicBezTo>
                  <a:pt x="14" y="31"/>
                  <a:pt x="16" y="35"/>
                  <a:pt x="16" y="39"/>
                </a:cubicBezTo>
                <a:cubicBezTo>
                  <a:pt x="16" y="40"/>
                  <a:pt x="16" y="41"/>
                  <a:pt x="15" y="42"/>
                </a:cubicBezTo>
                <a:cubicBezTo>
                  <a:pt x="15" y="43"/>
                  <a:pt x="15" y="43"/>
                  <a:pt x="15" y="43"/>
                </a:cubicBezTo>
                <a:cubicBezTo>
                  <a:pt x="15" y="44"/>
                  <a:pt x="14" y="44"/>
                  <a:pt x="15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4" y="49"/>
                  <a:pt x="24" y="49"/>
                  <a:pt x="24" y="49"/>
                </a:cubicBezTo>
                <a:cubicBezTo>
                  <a:pt x="24" y="33"/>
                  <a:pt x="24" y="33"/>
                  <a:pt x="24" y="33"/>
                </a:cubicBezTo>
                <a:cubicBezTo>
                  <a:pt x="24" y="33"/>
                  <a:pt x="24" y="33"/>
                  <a:pt x="24" y="33"/>
                </a:cubicBezTo>
                <a:cubicBezTo>
                  <a:pt x="24" y="33"/>
                  <a:pt x="24" y="33"/>
                  <a:pt x="24" y="33"/>
                </a:cubicBezTo>
                <a:cubicBezTo>
                  <a:pt x="23" y="33"/>
                  <a:pt x="23" y="33"/>
                  <a:pt x="23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34"/>
                  <a:pt x="21" y="34"/>
                  <a:pt x="21" y="34"/>
                </a:cubicBezTo>
                <a:cubicBezTo>
                  <a:pt x="21" y="34"/>
                  <a:pt x="20" y="34"/>
                  <a:pt x="20" y="34"/>
                </a:cubicBezTo>
                <a:cubicBezTo>
                  <a:pt x="18" y="33"/>
                  <a:pt x="16" y="29"/>
                  <a:pt x="16" y="25"/>
                </a:cubicBezTo>
                <a:cubicBezTo>
                  <a:pt x="16" y="22"/>
                  <a:pt x="17" y="19"/>
                  <a:pt x="19" y="19"/>
                </a:cubicBezTo>
                <a:cubicBezTo>
                  <a:pt x="19" y="19"/>
                  <a:pt x="20" y="19"/>
                  <a:pt x="20" y="20"/>
                </a:cubicBezTo>
                <a:cubicBezTo>
                  <a:pt x="21" y="20"/>
                  <a:pt x="22" y="21"/>
                  <a:pt x="22" y="22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3"/>
                  <a:pt x="24" y="23"/>
                  <a:pt x="24" y="23"/>
                </a:cubicBezTo>
                <a:cubicBezTo>
                  <a:pt x="24" y="7"/>
                  <a:pt x="24" y="7"/>
                  <a:pt x="24" y="7"/>
                </a:cubicBezTo>
                <a:cubicBezTo>
                  <a:pt x="6" y="0"/>
                  <a:pt x="6" y="0"/>
                  <a:pt x="6" y="0"/>
                </a:cubicBezTo>
                <a:cubicBezTo>
                  <a:pt x="5" y="0"/>
                  <a:pt x="5" y="0"/>
                  <a:pt x="4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Freeform 43"/>
          <p:cNvSpPr>
            <a:spLocks noEditPoints="1"/>
          </p:cNvSpPr>
          <p:nvPr/>
        </p:nvSpPr>
        <p:spPr bwMode="auto">
          <a:xfrm>
            <a:off x="4410853" y="3172667"/>
            <a:ext cx="320996" cy="485362"/>
          </a:xfrm>
          <a:custGeom>
            <a:avLst/>
            <a:gdLst>
              <a:gd name="T0" fmla="*/ 63 w 70"/>
              <a:gd name="T1" fmla="*/ 23 h 106"/>
              <a:gd name="T2" fmla="*/ 51 w 70"/>
              <a:gd name="T3" fmla="*/ 38 h 106"/>
              <a:gd name="T4" fmla="*/ 42 w 70"/>
              <a:gd name="T5" fmla="*/ 25 h 106"/>
              <a:gd name="T6" fmla="*/ 42 w 70"/>
              <a:gd name="T7" fmla="*/ 24 h 106"/>
              <a:gd name="T8" fmla="*/ 41 w 70"/>
              <a:gd name="T9" fmla="*/ 25 h 106"/>
              <a:gd name="T10" fmla="*/ 33 w 70"/>
              <a:gd name="T11" fmla="*/ 35 h 106"/>
              <a:gd name="T12" fmla="*/ 34 w 70"/>
              <a:gd name="T13" fmla="*/ 37 h 106"/>
              <a:gd name="T14" fmla="*/ 42 w 70"/>
              <a:gd name="T15" fmla="*/ 28 h 106"/>
              <a:gd name="T16" fmla="*/ 51 w 70"/>
              <a:gd name="T17" fmla="*/ 40 h 106"/>
              <a:gd name="T18" fmla="*/ 51 w 70"/>
              <a:gd name="T19" fmla="*/ 41 h 106"/>
              <a:gd name="T20" fmla="*/ 52 w 70"/>
              <a:gd name="T21" fmla="*/ 41 h 106"/>
              <a:gd name="T22" fmla="*/ 64 w 70"/>
              <a:gd name="T23" fmla="*/ 26 h 106"/>
              <a:gd name="T24" fmla="*/ 63 w 70"/>
              <a:gd name="T25" fmla="*/ 23 h 106"/>
              <a:gd name="T26" fmla="*/ 18 w 70"/>
              <a:gd name="T27" fmla="*/ 13 h 106"/>
              <a:gd name="T28" fmla="*/ 8 w 70"/>
              <a:gd name="T29" fmla="*/ 26 h 106"/>
              <a:gd name="T30" fmla="*/ 13 w 70"/>
              <a:gd name="T31" fmla="*/ 43 h 106"/>
              <a:gd name="T32" fmla="*/ 5 w 70"/>
              <a:gd name="T33" fmla="*/ 52 h 106"/>
              <a:gd name="T34" fmla="*/ 29 w 70"/>
              <a:gd name="T35" fmla="*/ 62 h 106"/>
              <a:gd name="T36" fmla="*/ 29 w 70"/>
              <a:gd name="T37" fmla="*/ 98 h 106"/>
              <a:gd name="T38" fmla="*/ 47 w 70"/>
              <a:gd name="T39" fmla="*/ 78 h 106"/>
              <a:gd name="T40" fmla="*/ 47 w 70"/>
              <a:gd name="T41" fmla="*/ 68 h 106"/>
              <a:gd name="T42" fmla="*/ 44 w 70"/>
              <a:gd name="T43" fmla="*/ 66 h 106"/>
              <a:gd name="T44" fmla="*/ 41 w 70"/>
              <a:gd name="T45" fmla="*/ 67 h 106"/>
              <a:gd name="T46" fmla="*/ 33 w 70"/>
              <a:gd name="T47" fmla="*/ 73 h 106"/>
              <a:gd name="T48" fmla="*/ 24 w 70"/>
              <a:gd name="T49" fmla="*/ 48 h 106"/>
              <a:gd name="T50" fmla="*/ 29 w 70"/>
              <a:gd name="T51" fmla="*/ 35 h 106"/>
              <a:gd name="T52" fmla="*/ 18 w 70"/>
              <a:gd name="T53" fmla="*/ 13 h 106"/>
              <a:gd name="T54" fmla="*/ 28 w 70"/>
              <a:gd name="T55" fmla="*/ 64 h 106"/>
              <a:gd name="T56" fmla="*/ 0 w 70"/>
              <a:gd name="T57" fmla="*/ 52 h 106"/>
              <a:gd name="T58" fmla="*/ 0 w 70"/>
              <a:gd name="T59" fmla="*/ 94 h 106"/>
              <a:gd name="T60" fmla="*/ 3 w 70"/>
              <a:gd name="T61" fmla="*/ 96 h 106"/>
              <a:gd name="T62" fmla="*/ 3 w 70"/>
              <a:gd name="T63" fmla="*/ 59 h 106"/>
              <a:gd name="T64" fmla="*/ 25 w 70"/>
              <a:gd name="T65" fmla="*/ 68 h 106"/>
              <a:gd name="T66" fmla="*/ 25 w 70"/>
              <a:gd name="T67" fmla="*/ 105 h 106"/>
              <a:gd name="T68" fmla="*/ 28 w 70"/>
              <a:gd name="T69" fmla="*/ 106 h 106"/>
              <a:gd name="T70" fmla="*/ 28 w 70"/>
              <a:gd name="T71" fmla="*/ 64 h 106"/>
              <a:gd name="T72" fmla="*/ 70 w 70"/>
              <a:gd name="T73" fmla="*/ 17 h 106"/>
              <a:gd name="T74" fmla="*/ 27 w 70"/>
              <a:gd name="T75" fmla="*/ 0 h 106"/>
              <a:gd name="T76" fmla="*/ 27 w 70"/>
              <a:gd name="T77" fmla="*/ 16 h 106"/>
              <a:gd name="T78" fmla="*/ 30 w 70"/>
              <a:gd name="T79" fmla="*/ 23 h 106"/>
              <a:gd name="T80" fmla="*/ 30 w 70"/>
              <a:gd name="T81" fmla="*/ 6 h 106"/>
              <a:gd name="T82" fmla="*/ 67 w 70"/>
              <a:gd name="T83" fmla="*/ 21 h 106"/>
              <a:gd name="T84" fmla="*/ 67 w 70"/>
              <a:gd name="T85" fmla="*/ 53 h 106"/>
              <a:gd name="T86" fmla="*/ 32 w 70"/>
              <a:gd name="T87" fmla="*/ 39 h 106"/>
              <a:gd name="T88" fmla="*/ 31 w 70"/>
              <a:gd name="T89" fmla="*/ 44 h 106"/>
              <a:gd name="T90" fmla="*/ 47 w 70"/>
              <a:gd name="T91" fmla="*/ 50 h 106"/>
              <a:gd name="T92" fmla="*/ 47 w 70"/>
              <a:gd name="T93" fmla="*/ 54 h 106"/>
              <a:gd name="T94" fmla="*/ 43 w 70"/>
              <a:gd name="T95" fmla="*/ 52 h 106"/>
              <a:gd name="T96" fmla="*/ 43 w 70"/>
              <a:gd name="T97" fmla="*/ 57 h 106"/>
              <a:gd name="T98" fmla="*/ 55 w 70"/>
              <a:gd name="T99" fmla="*/ 63 h 106"/>
              <a:gd name="T100" fmla="*/ 55 w 70"/>
              <a:gd name="T101" fmla="*/ 57 h 106"/>
              <a:gd name="T102" fmla="*/ 50 w 70"/>
              <a:gd name="T103" fmla="*/ 55 h 106"/>
              <a:gd name="T104" fmla="*/ 50 w 70"/>
              <a:gd name="T105" fmla="*/ 52 h 106"/>
              <a:gd name="T106" fmla="*/ 70 w 70"/>
              <a:gd name="T107" fmla="*/ 60 h 106"/>
              <a:gd name="T108" fmla="*/ 70 w 70"/>
              <a:gd name="T109" fmla="*/ 17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70" h="106">
                <a:moveTo>
                  <a:pt x="63" y="23"/>
                </a:moveTo>
                <a:cubicBezTo>
                  <a:pt x="51" y="38"/>
                  <a:pt x="51" y="38"/>
                  <a:pt x="51" y="38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2" y="24"/>
                  <a:pt x="42" y="24"/>
                </a:cubicBezTo>
                <a:cubicBezTo>
                  <a:pt x="41" y="25"/>
                  <a:pt x="41" y="25"/>
                  <a:pt x="41" y="25"/>
                </a:cubicBezTo>
                <a:cubicBezTo>
                  <a:pt x="33" y="35"/>
                  <a:pt x="33" y="35"/>
                  <a:pt x="33" y="35"/>
                </a:cubicBezTo>
                <a:cubicBezTo>
                  <a:pt x="34" y="37"/>
                  <a:pt x="34" y="37"/>
                  <a:pt x="34" y="37"/>
                </a:cubicBezTo>
                <a:cubicBezTo>
                  <a:pt x="42" y="28"/>
                  <a:pt x="42" y="28"/>
                  <a:pt x="42" y="28"/>
                </a:cubicBezTo>
                <a:cubicBezTo>
                  <a:pt x="51" y="40"/>
                  <a:pt x="51" y="40"/>
                  <a:pt x="51" y="40"/>
                </a:cubicBezTo>
                <a:cubicBezTo>
                  <a:pt x="51" y="41"/>
                  <a:pt x="51" y="41"/>
                  <a:pt x="51" y="41"/>
                </a:cubicBezTo>
                <a:cubicBezTo>
                  <a:pt x="52" y="41"/>
                  <a:pt x="52" y="41"/>
                  <a:pt x="52" y="41"/>
                </a:cubicBezTo>
                <a:cubicBezTo>
                  <a:pt x="64" y="26"/>
                  <a:pt x="64" y="26"/>
                  <a:pt x="64" y="26"/>
                </a:cubicBezTo>
                <a:lnTo>
                  <a:pt x="63" y="23"/>
                </a:lnTo>
                <a:close/>
                <a:moveTo>
                  <a:pt x="18" y="13"/>
                </a:moveTo>
                <a:cubicBezTo>
                  <a:pt x="13" y="10"/>
                  <a:pt x="8" y="16"/>
                  <a:pt x="8" y="26"/>
                </a:cubicBezTo>
                <a:cubicBezTo>
                  <a:pt x="8" y="33"/>
                  <a:pt x="10" y="39"/>
                  <a:pt x="13" y="43"/>
                </a:cubicBezTo>
                <a:cubicBezTo>
                  <a:pt x="10" y="45"/>
                  <a:pt x="7" y="48"/>
                  <a:pt x="5" y="52"/>
                </a:cubicBezTo>
                <a:cubicBezTo>
                  <a:pt x="29" y="62"/>
                  <a:pt x="29" y="62"/>
                  <a:pt x="29" y="62"/>
                </a:cubicBezTo>
                <a:cubicBezTo>
                  <a:pt x="29" y="98"/>
                  <a:pt x="29" y="98"/>
                  <a:pt x="29" y="98"/>
                </a:cubicBezTo>
                <a:cubicBezTo>
                  <a:pt x="47" y="78"/>
                  <a:pt x="47" y="78"/>
                  <a:pt x="47" y="78"/>
                </a:cubicBezTo>
                <a:cubicBezTo>
                  <a:pt x="49" y="76"/>
                  <a:pt x="48" y="72"/>
                  <a:pt x="47" y="68"/>
                </a:cubicBezTo>
                <a:cubicBezTo>
                  <a:pt x="46" y="67"/>
                  <a:pt x="45" y="66"/>
                  <a:pt x="44" y="66"/>
                </a:cubicBezTo>
                <a:cubicBezTo>
                  <a:pt x="43" y="65"/>
                  <a:pt x="42" y="65"/>
                  <a:pt x="41" y="67"/>
                </a:cubicBezTo>
                <a:cubicBezTo>
                  <a:pt x="33" y="73"/>
                  <a:pt x="33" y="73"/>
                  <a:pt x="33" y="73"/>
                </a:cubicBezTo>
                <a:cubicBezTo>
                  <a:pt x="32" y="65"/>
                  <a:pt x="29" y="56"/>
                  <a:pt x="24" y="48"/>
                </a:cubicBezTo>
                <a:cubicBezTo>
                  <a:pt x="27" y="46"/>
                  <a:pt x="29" y="41"/>
                  <a:pt x="29" y="35"/>
                </a:cubicBezTo>
                <a:cubicBezTo>
                  <a:pt x="29" y="25"/>
                  <a:pt x="24" y="15"/>
                  <a:pt x="18" y="13"/>
                </a:cubicBezTo>
                <a:close/>
                <a:moveTo>
                  <a:pt x="28" y="64"/>
                </a:moveTo>
                <a:cubicBezTo>
                  <a:pt x="0" y="52"/>
                  <a:pt x="0" y="52"/>
                  <a:pt x="0" y="52"/>
                </a:cubicBezTo>
                <a:cubicBezTo>
                  <a:pt x="0" y="94"/>
                  <a:pt x="0" y="94"/>
                  <a:pt x="0" y="94"/>
                </a:cubicBezTo>
                <a:cubicBezTo>
                  <a:pt x="3" y="96"/>
                  <a:pt x="3" y="96"/>
                  <a:pt x="3" y="96"/>
                </a:cubicBezTo>
                <a:cubicBezTo>
                  <a:pt x="3" y="59"/>
                  <a:pt x="3" y="59"/>
                  <a:pt x="3" y="59"/>
                </a:cubicBezTo>
                <a:cubicBezTo>
                  <a:pt x="25" y="68"/>
                  <a:pt x="25" y="68"/>
                  <a:pt x="25" y="68"/>
                </a:cubicBezTo>
                <a:cubicBezTo>
                  <a:pt x="25" y="105"/>
                  <a:pt x="25" y="105"/>
                  <a:pt x="25" y="105"/>
                </a:cubicBezTo>
                <a:cubicBezTo>
                  <a:pt x="28" y="106"/>
                  <a:pt x="28" y="106"/>
                  <a:pt x="28" y="106"/>
                </a:cubicBezTo>
                <a:lnTo>
                  <a:pt x="28" y="64"/>
                </a:lnTo>
                <a:close/>
                <a:moveTo>
                  <a:pt x="70" y="17"/>
                </a:moveTo>
                <a:cubicBezTo>
                  <a:pt x="27" y="0"/>
                  <a:pt x="27" y="0"/>
                  <a:pt x="27" y="0"/>
                </a:cubicBezTo>
                <a:cubicBezTo>
                  <a:pt x="27" y="16"/>
                  <a:pt x="27" y="16"/>
                  <a:pt x="27" y="16"/>
                </a:cubicBezTo>
                <a:cubicBezTo>
                  <a:pt x="28" y="18"/>
                  <a:pt x="29" y="21"/>
                  <a:pt x="30" y="23"/>
                </a:cubicBezTo>
                <a:cubicBezTo>
                  <a:pt x="30" y="6"/>
                  <a:pt x="30" y="6"/>
                  <a:pt x="30" y="6"/>
                </a:cubicBezTo>
                <a:cubicBezTo>
                  <a:pt x="67" y="21"/>
                  <a:pt x="67" y="21"/>
                  <a:pt x="67" y="21"/>
                </a:cubicBezTo>
                <a:cubicBezTo>
                  <a:pt x="67" y="53"/>
                  <a:pt x="67" y="53"/>
                  <a:pt x="67" y="53"/>
                </a:cubicBezTo>
                <a:cubicBezTo>
                  <a:pt x="32" y="39"/>
                  <a:pt x="32" y="39"/>
                  <a:pt x="32" y="39"/>
                </a:cubicBezTo>
                <a:cubicBezTo>
                  <a:pt x="32" y="40"/>
                  <a:pt x="31" y="42"/>
                  <a:pt x="31" y="44"/>
                </a:cubicBezTo>
                <a:cubicBezTo>
                  <a:pt x="47" y="50"/>
                  <a:pt x="47" y="50"/>
                  <a:pt x="47" y="50"/>
                </a:cubicBezTo>
                <a:cubicBezTo>
                  <a:pt x="47" y="54"/>
                  <a:pt x="47" y="54"/>
                  <a:pt x="47" y="54"/>
                </a:cubicBezTo>
                <a:cubicBezTo>
                  <a:pt x="43" y="52"/>
                  <a:pt x="43" y="52"/>
                  <a:pt x="43" y="52"/>
                </a:cubicBezTo>
                <a:cubicBezTo>
                  <a:pt x="43" y="57"/>
                  <a:pt x="43" y="57"/>
                  <a:pt x="43" y="57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57"/>
                  <a:pt x="55" y="57"/>
                  <a:pt x="55" y="57"/>
                </a:cubicBezTo>
                <a:cubicBezTo>
                  <a:pt x="50" y="55"/>
                  <a:pt x="50" y="55"/>
                  <a:pt x="50" y="55"/>
                </a:cubicBezTo>
                <a:cubicBezTo>
                  <a:pt x="50" y="52"/>
                  <a:pt x="50" y="52"/>
                  <a:pt x="50" y="52"/>
                </a:cubicBezTo>
                <a:cubicBezTo>
                  <a:pt x="70" y="60"/>
                  <a:pt x="70" y="60"/>
                  <a:pt x="70" y="60"/>
                </a:cubicBezTo>
                <a:lnTo>
                  <a:pt x="70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椭圆 55"/>
          <p:cNvSpPr>
            <a:spLocks noChangeAspect="1"/>
          </p:cNvSpPr>
          <p:nvPr/>
        </p:nvSpPr>
        <p:spPr>
          <a:xfrm>
            <a:off x="3989304" y="4942015"/>
            <a:ext cx="2126778" cy="93951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279005" y="1489848"/>
            <a:ext cx="7328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605E5E"/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03</a:t>
            </a:r>
            <a:endParaRPr lang="zh-CN" altLang="en-US" sz="4000" dirty="0">
              <a:solidFill>
                <a:srgbClr val="605E5E"/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516116" y="22514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605E5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高级语言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264364" y="3583089"/>
            <a:ext cx="655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605E5E"/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01</a:t>
            </a:r>
            <a:endParaRPr lang="zh-CN" altLang="en-US" sz="4000" dirty="0">
              <a:solidFill>
                <a:srgbClr val="605E5E"/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501475" y="43446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605E5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机器语言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6126056" y="2487516"/>
            <a:ext cx="7184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605E5E"/>
                </a:solidFill>
                <a:latin typeface="Impact" panose="020B0806030902050204" pitchFamily="34" charset="0"/>
                <a:cs typeface="Aharoni" panose="02010803020104030203" pitchFamily="2" charset="-79"/>
              </a:rPr>
              <a:t>02</a:t>
            </a:r>
            <a:endParaRPr lang="zh-CN" altLang="en-US" sz="4000" dirty="0">
              <a:solidFill>
                <a:srgbClr val="605E5E"/>
              </a:solidFill>
              <a:latin typeface="Impact" panose="020B0806030902050204" pitchFamily="34" charset="0"/>
              <a:cs typeface="Aharoni" panose="02010803020104030203" pitchFamily="2" charset="-79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147079" y="32660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605E5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汇编语言</a:t>
            </a:r>
            <a:endParaRPr lang="zh-CN" altLang="en-US" b="1" dirty="0">
              <a:solidFill>
                <a:srgbClr val="605E5E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Rectangle 2"/>
          <p:cNvSpPr>
            <a:spLocks noChangeArrowheads="1"/>
          </p:cNvSpPr>
          <p:nvPr/>
        </p:nvSpPr>
        <p:spPr bwMode="auto">
          <a:xfrm>
            <a:off x="1547242" y="404664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程序设计语言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054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94902" y="1752012"/>
            <a:ext cx="5909546" cy="1080120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汇编语言是用指令的助记符、符号地址、标号等书写程序的语言</a:t>
            </a:r>
            <a:r>
              <a:rPr lang="en-US" altLang="zh-CN" sz="2400" b="1" dirty="0">
                <a:ea typeface="微软雅黑" panose="020B0503020204020204" pitchFamily="34" charset="-122"/>
              </a:rPr>
              <a:t>,</a:t>
            </a:r>
            <a:r>
              <a:rPr lang="zh-CN" altLang="en-US" sz="2400" b="1" dirty="0">
                <a:ea typeface="微软雅黑" panose="020B0503020204020204" pitchFamily="34" charset="-122"/>
              </a:rPr>
              <a:t>简称符号语言。</a:t>
            </a:r>
          </a:p>
        </p:txBody>
      </p:sp>
      <p:sp>
        <p:nvSpPr>
          <p:cNvPr id="5" name="矩形 4"/>
          <p:cNvSpPr/>
          <p:nvPr/>
        </p:nvSpPr>
        <p:spPr>
          <a:xfrm>
            <a:off x="720080" y="1752012"/>
            <a:ext cx="1974822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汇编语言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汇编语言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9" name="矩形 18"/>
          <p:cNvSpPr>
            <a:spLocks noChangeAspect="1"/>
          </p:cNvSpPr>
          <p:nvPr/>
        </p:nvSpPr>
        <p:spPr>
          <a:xfrm>
            <a:off x="720080" y="3363843"/>
            <a:ext cx="7884368" cy="1649333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7"/>
          <p:cNvSpPr txBox="1"/>
          <p:nvPr/>
        </p:nvSpPr>
        <p:spPr>
          <a:xfrm>
            <a:off x="1043608" y="3476791"/>
            <a:ext cx="7056784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优点：易读、易写、易记。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缺点：不能像机器语言那样为计算机所直接识别，也不如高级语言那样具有很好的通用性和可移植性。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72901" y="3264180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5"/>
          <p:cNvSpPr txBox="1"/>
          <p:nvPr/>
        </p:nvSpPr>
        <p:spPr>
          <a:xfrm rot="2771384">
            <a:off x="7941837" y="3470717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</p:txBody>
      </p:sp>
    </p:spTree>
    <p:extLst>
      <p:ext uri="{BB962C8B-B14F-4D97-AF65-F5344CB8AC3E}">
        <p14:creationId xmlns:p14="http://schemas.microsoft.com/office/powerpoint/2010/main" val="345821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从汇编语言源程序到执行的过程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7" name="Freeform 40"/>
          <p:cNvSpPr>
            <a:spLocks/>
          </p:cNvSpPr>
          <p:nvPr/>
        </p:nvSpPr>
        <p:spPr bwMode="auto">
          <a:xfrm>
            <a:off x="5234252" y="2420888"/>
            <a:ext cx="2722124" cy="2444498"/>
          </a:xfrm>
          <a:custGeom>
            <a:avLst/>
            <a:gdLst>
              <a:gd name="T0" fmla="*/ 1149 w 1149"/>
              <a:gd name="T1" fmla="*/ 515 h 1030"/>
              <a:gd name="T2" fmla="*/ 1020 w 1149"/>
              <a:gd name="T3" fmla="*/ 412 h 1030"/>
              <a:gd name="T4" fmla="*/ 515 w 1149"/>
              <a:gd name="T5" fmla="*/ 0 h 1030"/>
              <a:gd name="T6" fmla="*/ 0 w 1149"/>
              <a:gd name="T7" fmla="*/ 515 h 1030"/>
              <a:gd name="T8" fmla="*/ 515 w 1149"/>
              <a:gd name="T9" fmla="*/ 1030 h 1030"/>
              <a:gd name="T10" fmla="*/ 1020 w 1149"/>
              <a:gd name="T11" fmla="*/ 618 h 1030"/>
              <a:gd name="T12" fmla="*/ 1149 w 1149"/>
              <a:gd name="T13" fmla="*/ 515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9" h="1030">
                <a:moveTo>
                  <a:pt x="1149" y="515"/>
                </a:moveTo>
                <a:cubicBezTo>
                  <a:pt x="1020" y="412"/>
                  <a:pt x="1020" y="412"/>
                  <a:pt x="1020" y="412"/>
                </a:cubicBezTo>
                <a:cubicBezTo>
                  <a:pt x="972" y="177"/>
                  <a:pt x="764" y="0"/>
                  <a:pt x="515" y="0"/>
                </a:cubicBezTo>
                <a:cubicBezTo>
                  <a:pt x="231" y="0"/>
                  <a:pt x="0" y="231"/>
                  <a:pt x="0" y="515"/>
                </a:cubicBezTo>
                <a:cubicBezTo>
                  <a:pt x="0" y="799"/>
                  <a:pt x="231" y="1030"/>
                  <a:pt x="515" y="1030"/>
                </a:cubicBezTo>
                <a:cubicBezTo>
                  <a:pt x="764" y="1030"/>
                  <a:pt x="972" y="853"/>
                  <a:pt x="1020" y="618"/>
                </a:cubicBezTo>
                <a:lnTo>
                  <a:pt x="1149" y="515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lumMod val="100000"/>
                </a:srgbClr>
              </a:gs>
              <a:gs pos="0">
                <a:srgbClr val="D9D9DA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FFFFFF"/>
                </a:gs>
                <a:gs pos="0">
                  <a:srgbClr val="D9D9DA"/>
                </a:gs>
              </a:gsLst>
              <a:lin ang="135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8" name="Freeform 41"/>
          <p:cNvSpPr>
            <a:spLocks noEditPoints="1"/>
          </p:cNvSpPr>
          <p:nvPr/>
        </p:nvSpPr>
        <p:spPr bwMode="auto">
          <a:xfrm>
            <a:off x="5234252" y="2420888"/>
            <a:ext cx="2722124" cy="2444498"/>
          </a:xfrm>
          <a:custGeom>
            <a:avLst/>
            <a:gdLst>
              <a:gd name="T0" fmla="*/ 1020 w 1149"/>
              <a:gd name="T1" fmla="*/ 412 h 1030"/>
              <a:gd name="T2" fmla="*/ 515 w 1149"/>
              <a:gd name="T3" fmla="*/ 0 h 1030"/>
              <a:gd name="T4" fmla="*/ 0 w 1149"/>
              <a:gd name="T5" fmla="*/ 515 h 1030"/>
              <a:gd name="T6" fmla="*/ 515 w 1149"/>
              <a:gd name="T7" fmla="*/ 1030 h 1030"/>
              <a:gd name="T8" fmla="*/ 1020 w 1149"/>
              <a:gd name="T9" fmla="*/ 618 h 1030"/>
              <a:gd name="T10" fmla="*/ 1149 w 1149"/>
              <a:gd name="T11" fmla="*/ 515 h 1030"/>
              <a:gd name="T12" fmla="*/ 1020 w 1149"/>
              <a:gd name="T13" fmla="*/ 412 h 1030"/>
              <a:gd name="T14" fmla="*/ 515 w 1149"/>
              <a:gd name="T15" fmla="*/ 979 h 1030"/>
              <a:gd name="T16" fmla="*/ 51 w 1149"/>
              <a:gd name="T17" fmla="*/ 515 h 1030"/>
              <a:gd name="T18" fmla="*/ 515 w 1149"/>
              <a:gd name="T19" fmla="*/ 51 h 1030"/>
              <a:gd name="T20" fmla="*/ 979 w 1149"/>
              <a:gd name="T21" fmla="*/ 515 h 1030"/>
              <a:gd name="T22" fmla="*/ 515 w 1149"/>
              <a:gd name="T23" fmla="*/ 979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9" h="1030">
                <a:moveTo>
                  <a:pt x="1020" y="412"/>
                </a:moveTo>
                <a:cubicBezTo>
                  <a:pt x="972" y="177"/>
                  <a:pt x="764" y="0"/>
                  <a:pt x="515" y="0"/>
                </a:cubicBezTo>
                <a:cubicBezTo>
                  <a:pt x="231" y="0"/>
                  <a:pt x="0" y="231"/>
                  <a:pt x="0" y="515"/>
                </a:cubicBezTo>
                <a:cubicBezTo>
                  <a:pt x="0" y="799"/>
                  <a:pt x="231" y="1030"/>
                  <a:pt x="515" y="1030"/>
                </a:cubicBezTo>
                <a:cubicBezTo>
                  <a:pt x="764" y="1030"/>
                  <a:pt x="972" y="853"/>
                  <a:pt x="1020" y="618"/>
                </a:cubicBezTo>
                <a:cubicBezTo>
                  <a:pt x="1149" y="515"/>
                  <a:pt x="1149" y="515"/>
                  <a:pt x="1149" y="515"/>
                </a:cubicBezTo>
                <a:lnTo>
                  <a:pt x="1020" y="412"/>
                </a:lnTo>
                <a:close/>
                <a:moveTo>
                  <a:pt x="515" y="979"/>
                </a:moveTo>
                <a:cubicBezTo>
                  <a:pt x="259" y="979"/>
                  <a:pt x="51" y="771"/>
                  <a:pt x="51" y="515"/>
                </a:cubicBezTo>
                <a:cubicBezTo>
                  <a:pt x="51" y="259"/>
                  <a:pt x="259" y="51"/>
                  <a:pt x="515" y="51"/>
                </a:cubicBezTo>
                <a:cubicBezTo>
                  <a:pt x="771" y="51"/>
                  <a:pt x="979" y="259"/>
                  <a:pt x="979" y="515"/>
                </a:cubicBezTo>
                <a:cubicBezTo>
                  <a:pt x="979" y="771"/>
                  <a:pt x="771" y="979"/>
                  <a:pt x="515" y="979"/>
                </a:cubicBezTo>
                <a:close/>
              </a:path>
            </a:pathLst>
          </a:custGeom>
          <a:solidFill>
            <a:srgbClr val="4BAEE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44"/>
          <p:cNvSpPr>
            <a:spLocks/>
          </p:cNvSpPr>
          <p:nvPr/>
        </p:nvSpPr>
        <p:spPr bwMode="auto">
          <a:xfrm>
            <a:off x="3173405" y="2420888"/>
            <a:ext cx="2719821" cy="2444498"/>
          </a:xfrm>
          <a:custGeom>
            <a:avLst/>
            <a:gdLst>
              <a:gd name="T0" fmla="*/ 1148 w 1148"/>
              <a:gd name="T1" fmla="*/ 515 h 1030"/>
              <a:gd name="T2" fmla="*/ 1019 w 1148"/>
              <a:gd name="T3" fmla="*/ 412 h 1030"/>
              <a:gd name="T4" fmla="*/ 515 w 1148"/>
              <a:gd name="T5" fmla="*/ 0 h 1030"/>
              <a:gd name="T6" fmla="*/ 0 w 1148"/>
              <a:gd name="T7" fmla="*/ 515 h 1030"/>
              <a:gd name="T8" fmla="*/ 515 w 1148"/>
              <a:gd name="T9" fmla="*/ 1030 h 1030"/>
              <a:gd name="T10" fmla="*/ 1019 w 1148"/>
              <a:gd name="T11" fmla="*/ 618 h 1030"/>
              <a:gd name="T12" fmla="*/ 1148 w 1148"/>
              <a:gd name="T13" fmla="*/ 515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8" h="1030">
                <a:moveTo>
                  <a:pt x="1148" y="515"/>
                </a:moveTo>
                <a:cubicBezTo>
                  <a:pt x="1019" y="412"/>
                  <a:pt x="1019" y="412"/>
                  <a:pt x="1019" y="412"/>
                </a:cubicBezTo>
                <a:cubicBezTo>
                  <a:pt x="971" y="177"/>
                  <a:pt x="763" y="0"/>
                  <a:pt x="515" y="0"/>
                </a:cubicBezTo>
                <a:cubicBezTo>
                  <a:pt x="230" y="0"/>
                  <a:pt x="0" y="231"/>
                  <a:pt x="0" y="515"/>
                </a:cubicBezTo>
                <a:cubicBezTo>
                  <a:pt x="0" y="799"/>
                  <a:pt x="230" y="1030"/>
                  <a:pt x="515" y="1030"/>
                </a:cubicBezTo>
                <a:cubicBezTo>
                  <a:pt x="763" y="1030"/>
                  <a:pt x="971" y="853"/>
                  <a:pt x="1019" y="618"/>
                </a:cubicBezTo>
                <a:lnTo>
                  <a:pt x="1148" y="515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lumMod val="100000"/>
                </a:srgbClr>
              </a:gs>
              <a:gs pos="0">
                <a:srgbClr val="D9D9DA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FFFFFF"/>
                </a:gs>
                <a:gs pos="0">
                  <a:srgbClr val="D9D9DA"/>
                </a:gs>
              </a:gsLst>
              <a:lin ang="135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reeform 45"/>
          <p:cNvSpPr>
            <a:spLocks noEditPoints="1"/>
          </p:cNvSpPr>
          <p:nvPr/>
        </p:nvSpPr>
        <p:spPr bwMode="auto">
          <a:xfrm>
            <a:off x="3173405" y="2420888"/>
            <a:ext cx="2719821" cy="2444498"/>
          </a:xfrm>
          <a:custGeom>
            <a:avLst/>
            <a:gdLst>
              <a:gd name="T0" fmla="*/ 1019 w 1148"/>
              <a:gd name="T1" fmla="*/ 412 h 1030"/>
              <a:gd name="T2" fmla="*/ 515 w 1148"/>
              <a:gd name="T3" fmla="*/ 0 h 1030"/>
              <a:gd name="T4" fmla="*/ 0 w 1148"/>
              <a:gd name="T5" fmla="*/ 515 h 1030"/>
              <a:gd name="T6" fmla="*/ 515 w 1148"/>
              <a:gd name="T7" fmla="*/ 1030 h 1030"/>
              <a:gd name="T8" fmla="*/ 1019 w 1148"/>
              <a:gd name="T9" fmla="*/ 618 h 1030"/>
              <a:gd name="T10" fmla="*/ 1148 w 1148"/>
              <a:gd name="T11" fmla="*/ 515 h 1030"/>
              <a:gd name="T12" fmla="*/ 1019 w 1148"/>
              <a:gd name="T13" fmla="*/ 412 h 1030"/>
              <a:gd name="T14" fmla="*/ 515 w 1148"/>
              <a:gd name="T15" fmla="*/ 979 h 1030"/>
              <a:gd name="T16" fmla="*/ 51 w 1148"/>
              <a:gd name="T17" fmla="*/ 515 h 1030"/>
              <a:gd name="T18" fmla="*/ 515 w 1148"/>
              <a:gd name="T19" fmla="*/ 51 h 1030"/>
              <a:gd name="T20" fmla="*/ 979 w 1148"/>
              <a:gd name="T21" fmla="*/ 515 h 1030"/>
              <a:gd name="T22" fmla="*/ 515 w 1148"/>
              <a:gd name="T23" fmla="*/ 979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8" h="1030">
                <a:moveTo>
                  <a:pt x="1019" y="412"/>
                </a:moveTo>
                <a:cubicBezTo>
                  <a:pt x="971" y="177"/>
                  <a:pt x="763" y="0"/>
                  <a:pt x="515" y="0"/>
                </a:cubicBezTo>
                <a:cubicBezTo>
                  <a:pt x="230" y="0"/>
                  <a:pt x="0" y="231"/>
                  <a:pt x="0" y="515"/>
                </a:cubicBezTo>
                <a:cubicBezTo>
                  <a:pt x="0" y="799"/>
                  <a:pt x="230" y="1030"/>
                  <a:pt x="515" y="1030"/>
                </a:cubicBezTo>
                <a:cubicBezTo>
                  <a:pt x="763" y="1030"/>
                  <a:pt x="971" y="853"/>
                  <a:pt x="1019" y="618"/>
                </a:cubicBezTo>
                <a:cubicBezTo>
                  <a:pt x="1148" y="515"/>
                  <a:pt x="1148" y="515"/>
                  <a:pt x="1148" y="515"/>
                </a:cubicBezTo>
                <a:lnTo>
                  <a:pt x="1019" y="412"/>
                </a:lnTo>
                <a:close/>
                <a:moveTo>
                  <a:pt x="515" y="979"/>
                </a:moveTo>
                <a:cubicBezTo>
                  <a:pt x="258" y="979"/>
                  <a:pt x="51" y="771"/>
                  <a:pt x="51" y="515"/>
                </a:cubicBezTo>
                <a:cubicBezTo>
                  <a:pt x="51" y="259"/>
                  <a:pt x="258" y="51"/>
                  <a:pt x="515" y="51"/>
                </a:cubicBezTo>
                <a:cubicBezTo>
                  <a:pt x="771" y="51"/>
                  <a:pt x="979" y="259"/>
                  <a:pt x="979" y="515"/>
                </a:cubicBezTo>
                <a:cubicBezTo>
                  <a:pt x="979" y="771"/>
                  <a:pt x="771" y="979"/>
                  <a:pt x="515" y="979"/>
                </a:cubicBezTo>
                <a:close/>
              </a:path>
            </a:pathLst>
          </a:custGeom>
          <a:solidFill>
            <a:srgbClr val="F3698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46"/>
          <p:cNvSpPr>
            <a:spLocks/>
          </p:cNvSpPr>
          <p:nvPr/>
        </p:nvSpPr>
        <p:spPr bwMode="auto">
          <a:xfrm>
            <a:off x="1129796" y="2420888"/>
            <a:ext cx="2722124" cy="2444498"/>
          </a:xfrm>
          <a:custGeom>
            <a:avLst/>
            <a:gdLst>
              <a:gd name="T0" fmla="*/ 1149 w 1149"/>
              <a:gd name="T1" fmla="*/ 515 h 1030"/>
              <a:gd name="T2" fmla="*/ 1020 w 1149"/>
              <a:gd name="T3" fmla="*/ 412 h 1030"/>
              <a:gd name="T4" fmla="*/ 515 w 1149"/>
              <a:gd name="T5" fmla="*/ 0 h 1030"/>
              <a:gd name="T6" fmla="*/ 0 w 1149"/>
              <a:gd name="T7" fmla="*/ 515 h 1030"/>
              <a:gd name="T8" fmla="*/ 515 w 1149"/>
              <a:gd name="T9" fmla="*/ 1030 h 1030"/>
              <a:gd name="T10" fmla="*/ 1020 w 1149"/>
              <a:gd name="T11" fmla="*/ 618 h 1030"/>
              <a:gd name="T12" fmla="*/ 1149 w 1149"/>
              <a:gd name="T13" fmla="*/ 515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49" h="1030">
                <a:moveTo>
                  <a:pt x="1149" y="515"/>
                </a:moveTo>
                <a:cubicBezTo>
                  <a:pt x="1020" y="412"/>
                  <a:pt x="1020" y="412"/>
                  <a:pt x="1020" y="412"/>
                </a:cubicBezTo>
                <a:cubicBezTo>
                  <a:pt x="972" y="177"/>
                  <a:pt x="764" y="0"/>
                  <a:pt x="515" y="0"/>
                </a:cubicBezTo>
                <a:cubicBezTo>
                  <a:pt x="231" y="0"/>
                  <a:pt x="0" y="231"/>
                  <a:pt x="0" y="515"/>
                </a:cubicBezTo>
                <a:cubicBezTo>
                  <a:pt x="0" y="799"/>
                  <a:pt x="231" y="1030"/>
                  <a:pt x="515" y="1030"/>
                </a:cubicBezTo>
                <a:cubicBezTo>
                  <a:pt x="764" y="1030"/>
                  <a:pt x="972" y="853"/>
                  <a:pt x="1020" y="618"/>
                </a:cubicBezTo>
                <a:lnTo>
                  <a:pt x="1149" y="515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lumMod val="100000"/>
                </a:srgbClr>
              </a:gs>
              <a:gs pos="0">
                <a:srgbClr val="D9D9DA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FFFFFF"/>
                </a:gs>
                <a:gs pos="0">
                  <a:srgbClr val="D9D9DA"/>
                </a:gs>
              </a:gsLst>
              <a:lin ang="135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Freeform 47"/>
          <p:cNvSpPr>
            <a:spLocks noEditPoints="1"/>
          </p:cNvSpPr>
          <p:nvPr/>
        </p:nvSpPr>
        <p:spPr bwMode="auto">
          <a:xfrm>
            <a:off x="1129796" y="2420888"/>
            <a:ext cx="2722124" cy="2444498"/>
          </a:xfrm>
          <a:custGeom>
            <a:avLst/>
            <a:gdLst>
              <a:gd name="T0" fmla="*/ 1020 w 1149"/>
              <a:gd name="T1" fmla="*/ 412 h 1030"/>
              <a:gd name="T2" fmla="*/ 515 w 1149"/>
              <a:gd name="T3" fmla="*/ 0 h 1030"/>
              <a:gd name="T4" fmla="*/ 0 w 1149"/>
              <a:gd name="T5" fmla="*/ 515 h 1030"/>
              <a:gd name="T6" fmla="*/ 515 w 1149"/>
              <a:gd name="T7" fmla="*/ 1030 h 1030"/>
              <a:gd name="T8" fmla="*/ 1020 w 1149"/>
              <a:gd name="T9" fmla="*/ 618 h 1030"/>
              <a:gd name="T10" fmla="*/ 1149 w 1149"/>
              <a:gd name="T11" fmla="*/ 515 h 1030"/>
              <a:gd name="T12" fmla="*/ 1020 w 1149"/>
              <a:gd name="T13" fmla="*/ 412 h 1030"/>
              <a:gd name="T14" fmla="*/ 515 w 1149"/>
              <a:gd name="T15" fmla="*/ 979 h 1030"/>
              <a:gd name="T16" fmla="*/ 51 w 1149"/>
              <a:gd name="T17" fmla="*/ 515 h 1030"/>
              <a:gd name="T18" fmla="*/ 515 w 1149"/>
              <a:gd name="T19" fmla="*/ 51 h 1030"/>
              <a:gd name="T20" fmla="*/ 979 w 1149"/>
              <a:gd name="T21" fmla="*/ 515 h 1030"/>
              <a:gd name="T22" fmla="*/ 515 w 1149"/>
              <a:gd name="T23" fmla="*/ 979 h 1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9" h="1030">
                <a:moveTo>
                  <a:pt x="1020" y="412"/>
                </a:moveTo>
                <a:cubicBezTo>
                  <a:pt x="972" y="177"/>
                  <a:pt x="764" y="0"/>
                  <a:pt x="515" y="0"/>
                </a:cubicBezTo>
                <a:cubicBezTo>
                  <a:pt x="231" y="0"/>
                  <a:pt x="0" y="231"/>
                  <a:pt x="0" y="515"/>
                </a:cubicBezTo>
                <a:cubicBezTo>
                  <a:pt x="0" y="799"/>
                  <a:pt x="231" y="1030"/>
                  <a:pt x="515" y="1030"/>
                </a:cubicBezTo>
                <a:cubicBezTo>
                  <a:pt x="764" y="1030"/>
                  <a:pt x="972" y="853"/>
                  <a:pt x="1020" y="618"/>
                </a:cubicBezTo>
                <a:cubicBezTo>
                  <a:pt x="1149" y="515"/>
                  <a:pt x="1149" y="515"/>
                  <a:pt x="1149" y="515"/>
                </a:cubicBezTo>
                <a:lnTo>
                  <a:pt x="1020" y="412"/>
                </a:lnTo>
                <a:close/>
                <a:moveTo>
                  <a:pt x="515" y="979"/>
                </a:moveTo>
                <a:cubicBezTo>
                  <a:pt x="259" y="979"/>
                  <a:pt x="51" y="771"/>
                  <a:pt x="51" y="515"/>
                </a:cubicBezTo>
                <a:cubicBezTo>
                  <a:pt x="51" y="259"/>
                  <a:pt x="259" y="51"/>
                  <a:pt x="515" y="51"/>
                </a:cubicBezTo>
                <a:cubicBezTo>
                  <a:pt x="771" y="51"/>
                  <a:pt x="979" y="259"/>
                  <a:pt x="979" y="515"/>
                </a:cubicBezTo>
                <a:cubicBezTo>
                  <a:pt x="979" y="771"/>
                  <a:pt x="771" y="979"/>
                  <a:pt x="515" y="979"/>
                </a:cubicBezTo>
                <a:close/>
              </a:path>
            </a:pathLst>
          </a:custGeom>
          <a:solidFill>
            <a:srgbClr val="F6AC4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424587" y="360874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605E5E"/>
                </a:solidFill>
                <a:latin typeface="Impact" panose="020B0806030902050204" pitchFamily="34" charset="0"/>
                <a:cs typeface="Aharoni" panose="02010803020104030203" pitchFamily="2" charset="-79"/>
              </a:defRPr>
            </a:lvl1pPr>
          </a:lstStyle>
          <a:p>
            <a:r>
              <a:rPr lang="zh-CN" altLang="en-US" sz="2800" dirty="0"/>
              <a:t>编写源程序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3699407" y="361352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605E5E"/>
                </a:solidFill>
                <a:latin typeface="Impact" panose="020B0806030902050204" pitchFamily="34" charset="0"/>
                <a:cs typeface="Aharoni" panose="02010803020104030203" pitchFamily="2" charset="-79"/>
              </a:defRPr>
            </a:lvl1pPr>
          </a:lstStyle>
          <a:p>
            <a:r>
              <a:rPr lang="zh-CN" altLang="en-US" sz="2800" dirty="0"/>
              <a:t>编译链接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6029286" y="361352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000">
                <a:solidFill>
                  <a:srgbClr val="605E5E"/>
                </a:solidFill>
                <a:latin typeface="Impact" panose="020B0806030902050204" pitchFamily="34" charset="0"/>
                <a:cs typeface="Aharoni" panose="02010803020104030203" pitchFamily="2" charset="-79"/>
              </a:defRPr>
            </a:lvl1pPr>
          </a:lstStyle>
          <a:p>
            <a:r>
              <a:rPr lang="zh-CN" altLang="en-US" sz="2800" dirty="0"/>
              <a:t>执行</a:t>
            </a:r>
            <a:endParaRPr lang="zh-CN" altLang="en-US" dirty="0"/>
          </a:p>
        </p:txBody>
      </p:sp>
      <p:sp>
        <p:nvSpPr>
          <p:cNvPr id="36" name="Freeform 59"/>
          <p:cNvSpPr>
            <a:spLocks noEditPoints="1"/>
          </p:cNvSpPr>
          <p:nvPr/>
        </p:nvSpPr>
        <p:spPr bwMode="auto">
          <a:xfrm>
            <a:off x="2005026" y="2784937"/>
            <a:ext cx="819150" cy="725488"/>
          </a:xfrm>
          <a:custGeom>
            <a:avLst/>
            <a:gdLst>
              <a:gd name="T0" fmla="*/ 94 w 237"/>
              <a:gd name="T1" fmla="*/ 127 h 210"/>
              <a:gd name="T2" fmla="*/ 0 w 237"/>
              <a:gd name="T3" fmla="*/ 127 h 210"/>
              <a:gd name="T4" fmla="*/ 0 w 237"/>
              <a:gd name="T5" fmla="*/ 210 h 210"/>
              <a:gd name="T6" fmla="*/ 10 w 237"/>
              <a:gd name="T7" fmla="*/ 210 h 210"/>
              <a:gd name="T8" fmla="*/ 10 w 237"/>
              <a:gd name="T9" fmla="*/ 137 h 210"/>
              <a:gd name="T10" fmla="*/ 83 w 237"/>
              <a:gd name="T11" fmla="*/ 137 h 210"/>
              <a:gd name="T12" fmla="*/ 83 w 237"/>
              <a:gd name="T13" fmla="*/ 210 h 210"/>
              <a:gd name="T14" fmla="*/ 94 w 237"/>
              <a:gd name="T15" fmla="*/ 210 h 210"/>
              <a:gd name="T16" fmla="*/ 94 w 237"/>
              <a:gd name="T17" fmla="*/ 127 h 210"/>
              <a:gd name="T18" fmla="*/ 61 w 237"/>
              <a:gd name="T19" fmla="*/ 33 h 210"/>
              <a:gd name="T20" fmla="*/ 26 w 237"/>
              <a:gd name="T21" fmla="*/ 68 h 210"/>
              <a:gd name="T22" fmla="*/ 43 w 237"/>
              <a:gd name="T23" fmla="*/ 98 h 210"/>
              <a:gd name="T24" fmla="*/ 17 w 237"/>
              <a:gd name="T25" fmla="*/ 121 h 210"/>
              <a:gd name="T26" fmla="*/ 99 w 237"/>
              <a:gd name="T27" fmla="*/ 121 h 210"/>
              <a:gd name="T28" fmla="*/ 99 w 237"/>
              <a:gd name="T29" fmla="*/ 193 h 210"/>
              <a:gd name="T30" fmla="*/ 159 w 237"/>
              <a:gd name="T31" fmla="*/ 139 h 210"/>
              <a:gd name="T32" fmla="*/ 158 w 237"/>
              <a:gd name="T33" fmla="*/ 120 h 210"/>
              <a:gd name="T34" fmla="*/ 149 w 237"/>
              <a:gd name="T35" fmla="*/ 117 h 210"/>
              <a:gd name="T36" fmla="*/ 140 w 237"/>
              <a:gd name="T37" fmla="*/ 121 h 210"/>
              <a:gd name="T38" fmla="*/ 111 w 237"/>
              <a:gd name="T39" fmla="*/ 141 h 210"/>
              <a:gd name="T40" fmla="*/ 80 w 237"/>
              <a:gd name="T41" fmla="*/ 98 h 210"/>
              <a:gd name="T42" fmla="*/ 97 w 237"/>
              <a:gd name="T43" fmla="*/ 68 h 210"/>
              <a:gd name="T44" fmla="*/ 61 w 237"/>
              <a:gd name="T45" fmla="*/ 33 h 210"/>
              <a:gd name="T46" fmla="*/ 211 w 237"/>
              <a:gd name="T47" fmla="*/ 18 h 210"/>
              <a:gd name="T48" fmla="*/ 172 w 237"/>
              <a:gd name="T49" fmla="*/ 56 h 210"/>
              <a:gd name="T50" fmla="*/ 143 w 237"/>
              <a:gd name="T51" fmla="*/ 38 h 210"/>
              <a:gd name="T52" fmla="*/ 141 w 237"/>
              <a:gd name="T53" fmla="*/ 37 h 210"/>
              <a:gd name="T54" fmla="*/ 140 w 237"/>
              <a:gd name="T55" fmla="*/ 38 h 210"/>
              <a:gd name="T56" fmla="*/ 112 w 237"/>
              <a:gd name="T57" fmla="*/ 65 h 210"/>
              <a:gd name="T58" fmla="*/ 116 w 237"/>
              <a:gd name="T59" fmla="*/ 69 h 210"/>
              <a:gd name="T60" fmla="*/ 142 w 237"/>
              <a:gd name="T61" fmla="*/ 43 h 210"/>
              <a:gd name="T62" fmla="*/ 170 w 237"/>
              <a:gd name="T63" fmla="*/ 62 h 210"/>
              <a:gd name="T64" fmla="*/ 172 w 237"/>
              <a:gd name="T65" fmla="*/ 63 h 210"/>
              <a:gd name="T66" fmla="*/ 174 w 237"/>
              <a:gd name="T67" fmla="*/ 62 h 210"/>
              <a:gd name="T68" fmla="*/ 215 w 237"/>
              <a:gd name="T69" fmla="*/ 22 h 210"/>
              <a:gd name="T70" fmla="*/ 211 w 237"/>
              <a:gd name="T71" fmla="*/ 18 h 210"/>
              <a:gd name="T72" fmla="*/ 237 w 237"/>
              <a:gd name="T73" fmla="*/ 0 h 210"/>
              <a:gd name="T74" fmla="*/ 90 w 237"/>
              <a:gd name="T75" fmla="*/ 0 h 210"/>
              <a:gd name="T76" fmla="*/ 90 w 237"/>
              <a:gd name="T77" fmla="*/ 32 h 210"/>
              <a:gd name="T78" fmla="*/ 101 w 237"/>
              <a:gd name="T79" fmla="*/ 45 h 210"/>
              <a:gd name="T80" fmla="*/ 101 w 237"/>
              <a:gd name="T81" fmla="*/ 11 h 210"/>
              <a:gd name="T82" fmla="*/ 226 w 237"/>
              <a:gd name="T83" fmla="*/ 11 h 210"/>
              <a:gd name="T84" fmla="*/ 226 w 237"/>
              <a:gd name="T85" fmla="*/ 74 h 210"/>
              <a:gd name="T86" fmla="*/ 107 w 237"/>
              <a:gd name="T87" fmla="*/ 74 h 210"/>
              <a:gd name="T88" fmla="*/ 104 w 237"/>
              <a:gd name="T89" fmla="*/ 84 h 210"/>
              <a:gd name="T90" fmla="*/ 160 w 237"/>
              <a:gd name="T91" fmla="*/ 84 h 210"/>
              <a:gd name="T92" fmla="*/ 160 w 237"/>
              <a:gd name="T93" fmla="*/ 91 h 210"/>
              <a:gd name="T94" fmla="*/ 144 w 237"/>
              <a:gd name="T95" fmla="*/ 91 h 210"/>
              <a:gd name="T96" fmla="*/ 144 w 237"/>
              <a:gd name="T97" fmla="*/ 102 h 210"/>
              <a:gd name="T98" fmla="*/ 186 w 237"/>
              <a:gd name="T99" fmla="*/ 102 h 210"/>
              <a:gd name="T100" fmla="*/ 186 w 237"/>
              <a:gd name="T101" fmla="*/ 91 h 210"/>
              <a:gd name="T102" fmla="*/ 170 w 237"/>
              <a:gd name="T103" fmla="*/ 91 h 210"/>
              <a:gd name="T104" fmla="*/ 170 w 237"/>
              <a:gd name="T105" fmla="*/ 84 h 210"/>
              <a:gd name="T106" fmla="*/ 237 w 237"/>
              <a:gd name="T107" fmla="*/ 84 h 210"/>
              <a:gd name="T108" fmla="*/ 237 w 237"/>
              <a:gd name="T109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37" h="210">
                <a:moveTo>
                  <a:pt x="94" y="127"/>
                </a:moveTo>
                <a:cubicBezTo>
                  <a:pt x="0" y="127"/>
                  <a:pt x="0" y="127"/>
                  <a:pt x="0" y="127"/>
                </a:cubicBezTo>
                <a:cubicBezTo>
                  <a:pt x="0" y="210"/>
                  <a:pt x="0" y="210"/>
                  <a:pt x="0" y="210"/>
                </a:cubicBezTo>
                <a:cubicBezTo>
                  <a:pt x="10" y="210"/>
                  <a:pt x="10" y="210"/>
                  <a:pt x="10" y="210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83" y="137"/>
                  <a:pt x="83" y="137"/>
                  <a:pt x="83" y="137"/>
                </a:cubicBezTo>
                <a:cubicBezTo>
                  <a:pt x="83" y="210"/>
                  <a:pt x="83" y="210"/>
                  <a:pt x="83" y="210"/>
                </a:cubicBezTo>
                <a:cubicBezTo>
                  <a:pt x="94" y="210"/>
                  <a:pt x="94" y="210"/>
                  <a:pt x="94" y="210"/>
                </a:cubicBezTo>
                <a:cubicBezTo>
                  <a:pt x="94" y="127"/>
                  <a:pt x="94" y="127"/>
                  <a:pt x="94" y="127"/>
                </a:cubicBezTo>
                <a:moveTo>
                  <a:pt x="61" y="33"/>
                </a:moveTo>
                <a:cubicBezTo>
                  <a:pt x="42" y="33"/>
                  <a:pt x="26" y="49"/>
                  <a:pt x="26" y="68"/>
                </a:cubicBezTo>
                <a:cubicBezTo>
                  <a:pt x="26" y="81"/>
                  <a:pt x="33" y="92"/>
                  <a:pt x="43" y="98"/>
                </a:cubicBezTo>
                <a:cubicBezTo>
                  <a:pt x="33" y="103"/>
                  <a:pt x="24" y="112"/>
                  <a:pt x="17" y="121"/>
                </a:cubicBezTo>
                <a:cubicBezTo>
                  <a:pt x="99" y="121"/>
                  <a:pt x="99" y="121"/>
                  <a:pt x="99" y="121"/>
                </a:cubicBezTo>
                <a:cubicBezTo>
                  <a:pt x="99" y="193"/>
                  <a:pt x="99" y="193"/>
                  <a:pt x="99" y="193"/>
                </a:cubicBezTo>
                <a:cubicBezTo>
                  <a:pt x="159" y="139"/>
                  <a:pt x="159" y="139"/>
                  <a:pt x="159" y="139"/>
                </a:cubicBezTo>
                <a:cubicBezTo>
                  <a:pt x="164" y="134"/>
                  <a:pt x="164" y="125"/>
                  <a:pt x="158" y="120"/>
                </a:cubicBezTo>
                <a:cubicBezTo>
                  <a:pt x="156" y="118"/>
                  <a:pt x="153" y="117"/>
                  <a:pt x="149" y="117"/>
                </a:cubicBezTo>
                <a:cubicBezTo>
                  <a:pt x="146" y="117"/>
                  <a:pt x="142" y="118"/>
                  <a:pt x="140" y="121"/>
                </a:cubicBezTo>
                <a:cubicBezTo>
                  <a:pt x="111" y="141"/>
                  <a:pt x="111" y="141"/>
                  <a:pt x="111" y="141"/>
                </a:cubicBezTo>
                <a:cubicBezTo>
                  <a:pt x="108" y="125"/>
                  <a:pt x="99" y="109"/>
                  <a:pt x="80" y="98"/>
                </a:cubicBezTo>
                <a:cubicBezTo>
                  <a:pt x="90" y="92"/>
                  <a:pt x="97" y="81"/>
                  <a:pt x="97" y="68"/>
                </a:cubicBezTo>
                <a:cubicBezTo>
                  <a:pt x="97" y="49"/>
                  <a:pt x="81" y="33"/>
                  <a:pt x="61" y="33"/>
                </a:cubicBezTo>
                <a:moveTo>
                  <a:pt x="211" y="18"/>
                </a:moveTo>
                <a:cubicBezTo>
                  <a:pt x="172" y="56"/>
                  <a:pt x="172" y="56"/>
                  <a:pt x="172" y="56"/>
                </a:cubicBezTo>
                <a:cubicBezTo>
                  <a:pt x="143" y="38"/>
                  <a:pt x="143" y="38"/>
                  <a:pt x="143" y="38"/>
                </a:cubicBezTo>
                <a:cubicBezTo>
                  <a:pt x="141" y="37"/>
                  <a:pt x="141" y="37"/>
                  <a:pt x="141" y="37"/>
                </a:cubicBezTo>
                <a:cubicBezTo>
                  <a:pt x="140" y="38"/>
                  <a:pt x="140" y="38"/>
                  <a:pt x="140" y="38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9"/>
                  <a:pt x="116" y="69"/>
                  <a:pt x="116" y="69"/>
                </a:cubicBezTo>
                <a:cubicBezTo>
                  <a:pt x="142" y="43"/>
                  <a:pt x="142" y="43"/>
                  <a:pt x="142" y="43"/>
                </a:cubicBezTo>
                <a:cubicBezTo>
                  <a:pt x="170" y="62"/>
                  <a:pt x="170" y="62"/>
                  <a:pt x="170" y="62"/>
                </a:cubicBezTo>
                <a:cubicBezTo>
                  <a:pt x="172" y="63"/>
                  <a:pt x="172" y="63"/>
                  <a:pt x="172" y="63"/>
                </a:cubicBezTo>
                <a:cubicBezTo>
                  <a:pt x="174" y="62"/>
                  <a:pt x="174" y="62"/>
                  <a:pt x="174" y="62"/>
                </a:cubicBezTo>
                <a:cubicBezTo>
                  <a:pt x="215" y="22"/>
                  <a:pt x="215" y="22"/>
                  <a:pt x="215" y="22"/>
                </a:cubicBezTo>
                <a:cubicBezTo>
                  <a:pt x="211" y="18"/>
                  <a:pt x="211" y="18"/>
                  <a:pt x="211" y="18"/>
                </a:cubicBezTo>
                <a:moveTo>
                  <a:pt x="237" y="0"/>
                </a:moveTo>
                <a:cubicBezTo>
                  <a:pt x="90" y="0"/>
                  <a:pt x="90" y="0"/>
                  <a:pt x="90" y="0"/>
                </a:cubicBezTo>
                <a:cubicBezTo>
                  <a:pt x="90" y="32"/>
                  <a:pt x="90" y="32"/>
                  <a:pt x="90" y="32"/>
                </a:cubicBezTo>
                <a:cubicBezTo>
                  <a:pt x="94" y="36"/>
                  <a:pt x="98" y="40"/>
                  <a:pt x="101" y="45"/>
                </a:cubicBezTo>
                <a:cubicBezTo>
                  <a:pt x="101" y="11"/>
                  <a:pt x="101" y="11"/>
                  <a:pt x="101" y="11"/>
                </a:cubicBezTo>
                <a:cubicBezTo>
                  <a:pt x="226" y="11"/>
                  <a:pt x="226" y="11"/>
                  <a:pt x="226" y="11"/>
                </a:cubicBezTo>
                <a:cubicBezTo>
                  <a:pt x="226" y="74"/>
                  <a:pt x="226" y="74"/>
                  <a:pt x="226" y="74"/>
                </a:cubicBezTo>
                <a:cubicBezTo>
                  <a:pt x="107" y="74"/>
                  <a:pt x="107" y="74"/>
                  <a:pt x="107" y="74"/>
                </a:cubicBezTo>
                <a:cubicBezTo>
                  <a:pt x="106" y="77"/>
                  <a:pt x="106" y="81"/>
                  <a:pt x="104" y="84"/>
                </a:cubicBezTo>
                <a:cubicBezTo>
                  <a:pt x="160" y="84"/>
                  <a:pt x="160" y="84"/>
                  <a:pt x="160" y="84"/>
                </a:cubicBezTo>
                <a:cubicBezTo>
                  <a:pt x="160" y="91"/>
                  <a:pt x="160" y="91"/>
                  <a:pt x="160" y="91"/>
                </a:cubicBezTo>
                <a:cubicBezTo>
                  <a:pt x="144" y="91"/>
                  <a:pt x="144" y="91"/>
                  <a:pt x="144" y="91"/>
                </a:cubicBezTo>
                <a:cubicBezTo>
                  <a:pt x="144" y="102"/>
                  <a:pt x="144" y="102"/>
                  <a:pt x="144" y="102"/>
                </a:cubicBezTo>
                <a:cubicBezTo>
                  <a:pt x="186" y="102"/>
                  <a:pt x="186" y="102"/>
                  <a:pt x="186" y="102"/>
                </a:cubicBezTo>
                <a:cubicBezTo>
                  <a:pt x="186" y="91"/>
                  <a:pt x="186" y="91"/>
                  <a:pt x="186" y="91"/>
                </a:cubicBezTo>
                <a:cubicBezTo>
                  <a:pt x="170" y="91"/>
                  <a:pt x="170" y="91"/>
                  <a:pt x="170" y="91"/>
                </a:cubicBezTo>
                <a:cubicBezTo>
                  <a:pt x="170" y="84"/>
                  <a:pt x="170" y="84"/>
                  <a:pt x="170" y="84"/>
                </a:cubicBezTo>
                <a:cubicBezTo>
                  <a:pt x="237" y="84"/>
                  <a:pt x="237" y="84"/>
                  <a:pt x="237" y="84"/>
                </a:cubicBezTo>
                <a:cubicBezTo>
                  <a:pt x="237" y="0"/>
                  <a:pt x="237" y="0"/>
                  <a:pt x="237" y="0"/>
                </a:cubicBezTo>
              </a:path>
            </a:pathLst>
          </a:custGeom>
          <a:solidFill>
            <a:srgbClr val="8592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Freeform 61"/>
          <p:cNvSpPr>
            <a:spLocks noEditPoints="1"/>
          </p:cNvSpPr>
          <p:nvPr/>
        </p:nvSpPr>
        <p:spPr bwMode="auto">
          <a:xfrm>
            <a:off x="6029286" y="2781762"/>
            <a:ext cx="877888" cy="731838"/>
          </a:xfrm>
          <a:custGeom>
            <a:avLst/>
            <a:gdLst>
              <a:gd name="T0" fmla="*/ 82 w 254"/>
              <a:gd name="T1" fmla="*/ 182 h 212"/>
              <a:gd name="T2" fmla="*/ 83 w 254"/>
              <a:gd name="T3" fmla="*/ 77 h 212"/>
              <a:gd name="T4" fmla="*/ 135 w 254"/>
              <a:gd name="T5" fmla="*/ 131 h 212"/>
              <a:gd name="T6" fmla="*/ 72 w 254"/>
              <a:gd name="T7" fmla="*/ 47 h 212"/>
              <a:gd name="T8" fmla="*/ 46 w 254"/>
              <a:gd name="T9" fmla="*/ 72 h 212"/>
              <a:gd name="T10" fmla="*/ 16 w 254"/>
              <a:gd name="T11" fmla="*/ 79 h 212"/>
              <a:gd name="T12" fmla="*/ 16 w 254"/>
              <a:gd name="T13" fmla="*/ 115 h 212"/>
              <a:gd name="T14" fmla="*/ 0 w 254"/>
              <a:gd name="T15" fmla="*/ 141 h 212"/>
              <a:gd name="T16" fmla="*/ 26 w 254"/>
              <a:gd name="T17" fmla="*/ 167 h 212"/>
              <a:gd name="T18" fmla="*/ 32 w 254"/>
              <a:gd name="T19" fmla="*/ 196 h 212"/>
              <a:gd name="T20" fmla="*/ 69 w 254"/>
              <a:gd name="T21" fmla="*/ 197 h 212"/>
              <a:gd name="T22" fmla="*/ 94 w 254"/>
              <a:gd name="T23" fmla="*/ 212 h 212"/>
              <a:gd name="T24" fmla="*/ 120 w 254"/>
              <a:gd name="T25" fmla="*/ 187 h 212"/>
              <a:gd name="T26" fmla="*/ 150 w 254"/>
              <a:gd name="T27" fmla="*/ 180 h 212"/>
              <a:gd name="T28" fmla="*/ 150 w 254"/>
              <a:gd name="T29" fmla="*/ 144 h 212"/>
              <a:gd name="T30" fmla="*/ 166 w 254"/>
              <a:gd name="T31" fmla="*/ 118 h 212"/>
              <a:gd name="T32" fmla="*/ 140 w 254"/>
              <a:gd name="T33" fmla="*/ 92 h 212"/>
              <a:gd name="T34" fmla="*/ 134 w 254"/>
              <a:gd name="T35" fmla="*/ 63 h 212"/>
              <a:gd name="T36" fmla="*/ 97 w 254"/>
              <a:gd name="T37" fmla="*/ 63 h 212"/>
              <a:gd name="T38" fmla="*/ 72 w 254"/>
              <a:gd name="T39" fmla="*/ 47 h 212"/>
              <a:gd name="T40" fmla="*/ 197 w 254"/>
              <a:gd name="T41" fmla="*/ 92 h 212"/>
              <a:gd name="T42" fmla="*/ 198 w 254"/>
              <a:gd name="T43" fmla="*/ 21 h 212"/>
              <a:gd name="T44" fmla="*/ 233 w 254"/>
              <a:gd name="T45" fmla="*/ 57 h 212"/>
              <a:gd name="T46" fmla="*/ 190 w 254"/>
              <a:gd name="T47" fmla="*/ 0 h 212"/>
              <a:gd name="T48" fmla="*/ 173 w 254"/>
              <a:gd name="T49" fmla="*/ 18 h 212"/>
              <a:gd name="T50" fmla="*/ 153 w 254"/>
              <a:gd name="T51" fmla="*/ 22 h 212"/>
              <a:gd name="T52" fmla="*/ 152 w 254"/>
              <a:gd name="T53" fmla="*/ 47 h 212"/>
              <a:gd name="T54" fmla="*/ 142 w 254"/>
              <a:gd name="T55" fmla="*/ 64 h 212"/>
              <a:gd name="T56" fmla="*/ 159 w 254"/>
              <a:gd name="T57" fmla="*/ 82 h 212"/>
              <a:gd name="T58" fmla="*/ 164 w 254"/>
              <a:gd name="T59" fmla="*/ 102 h 212"/>
              <a:gd name="T60" fmla="*/ 188 w 254"/>
              <a:gd name="T61" fmla="*/ 102 h 212"/>
              <a:gd name="T62" fmla="*/ 206 w 254"/>
              <a:gd name="T63" fmla="*/ 113 h 212"/>
              <a:gd name="T64" fmla="*/ 223 w 254"/>
              <a:gd name="T65" fmla="*/ 96 h 212"/>
              <a:gd name="T66" fmla="*/ 243 w 254"/>
              <a:gd name="T67" fmla="*/ 91 h 212"/>
              <a:gd name="T68" fmla="*/ 243 w 254"/>
              <a:gd name="T69" fmla="*/ 66 h 212"/>
              <a:gd name="T70" fmla="*/ 254 w 254"/>
              <a:gd name="T71" fmla="*/ 49 h 212"/>
              <a:gd name="T72" fmla="*/ 237 w 254"/>
              <a:gd name="T73" fmla="*/ 31 h 212"/>
              <a:gd name="T74" fmla="*/ 232 w 254"/>
              <a:gd name="T75" fmla="*/ 11 h 212"/>
              <a:gd name="T76" fmla="*/ 208 w 254"/>
              <a:gd name="T77" fmla="*/ 11 h 212"/>
              <a:gd name="T78" fmla="*/ 190 w 254"/>
              <a:gd name="T79" fmla="*/ 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4" h="212">
                <a:moveTo>
                  <a:pt x="83" y="182"/>
                </a:moveTo>
                <a:cubicBezTo>
                  <a:pt x="83" y="182"/>
                  <a:pt x="82" y="182"/>
                  <a:pt x="82" y="182"/>
                </a:cubicBezTo>
                <a:cubicBezTo>
                  <a:pt x="53" y="181"/>
                  <a:pt x="30" y="157"/>
                  <a:pt x="31" y="129"/>
                </a:cubicBezTo>
                <a:cubicBezTo>
                  <a:pt x="31" y="100"/>
                  <a:pt x="55" y="77"/>
                  <a:pt x="83" y="77"/>
                </a:cubicBezTo>
                <a:cubicBezTo>
                  <a:pt x="83" y="77"/>
                  <a:pt x="84" y="77"/>
                  <a:pt x="84" y="77"/>
                </a:cubicBezTo>
                <a:cubicBezTo>
                  <a:pt x="113" y="78"/>
                  <a:pt x="136" y="102"/>
                  <a:pt x="135" y="131"/>
                </a:cubicBezTo>
                <a:cubicBezTo>
                  <a:pt x="135" y="159"/>
                  <a:pt x="111" y="182"/>
                  <a:pt x="83" y="182"/>
                </a:cubicBezTo>
                <a:moveTo>
                  <a:pt x="72" y="47"/>
                </a:moveTo>
                <a:cubicBezTo>
                  <a:pt x="71" y="62"/>
                  <a:pt x="71" y="62"/>
                  <a:pt x="71" y="62"/>
                </a:cubicBezTo>
                <a:cubicBezTo>
                  <a:pt x="62" y="64"/>
                  <a:pt x="53" y="67"/>
                  <a:pt x="46" y="72"/>
                </a:cubicBezTo>
                <a:cubicBezTo>
                  <a:pt x="35" y="61"/>
                  <a:pt x="35" y="61"/>
                  <a:pt x="35" y="61"/>
                </a:cubicBezTo>
                <a:cubicBezTo>
                  <a:pt x="16" y="79"/>
                  <a:pt x="16" y="79"/>
                  <a:pt x="16" y="79"/>
                </a:cubicBezTo>
                <a:cubicBezTo>
                  <a:pt x="27" y="90"/>
                  <a:pt x="27" y="90"/>
                  <a:pt x="27" y="90"/>
                </a:cubicBezTo>
                <a:cubicBezTo>
                  <a:pt x="22" y="98"/>
                  <a:pt x="18" y="106"/>
                  <a:pt x="16" y="115"/>
                </a:cubicBezTo>
                <a:cubicBezTo>
                  <a:pt x="1" y="115"/>
                  <a:pt x="1" y="115"/>
                  <a:pt x="1" y="115"/>
                </a:cubicBezTo>
                <a:cubicBezTo>
                  <a:pt x="0" y="141"/>
                  <a:pt x="0" y="141"/>
                  <a:pt x="0" y="141"/>
                </a:cubicBezTo>
                <a:cubicBezTo>
                  <a:pt x="15" y="141"/>
                  <a:pt x="15" y="141"/>
                  <a:pt x="15" y="141"/>
                </a:cubicBezTo>
                <a:cubicBezTo>
                  <a:pt x="17" y="151"/>
                  <a:pt x="21" y="159"/>
                  <a:pt x="26" y="167"/>
                </a:cubicBezTo>
                <a:cubicBezTo>
                  <a:pt x="15" y="178"/>
                  <a:pt x="15" y="178"/>
                  <a:pt x="15" y="178"/>
                </a:cubicBezTo>
                <a:cubicBezTo>
                  <a:pt x="32" y="196"/>
                  <a:pt x="32" y="196"/>
                  <a:pt x="32" y="196"/>
                </a:cubicBezTo>
                <a:cubicBezTo>
                  <a:pt x="43" y="186"/>
                  <a:pt x="43" y="186"/>
                  <a:pt x="43" y="186"/>
                </a:cubicBezTo>
                <a:cubicBezTo>
                  <a:pt x="51" y="191"/>
                  <a:pt x="60" y="195"/>
                  <a:pt x="69" y="197"/>
                </a:cubicBezTo>
                <a:cubicBezTo>
                  <a:pt x="69" y="212"/>
                  <a:pt x="69" y="212"/>
                  <a:pt x="69" y="212"/>
                </a:cubicBezTo>
                <a:cubicBezTo>
                  <a:pt x="94" y="212"/>
                  <a:pt x="94" y="212"/>
                  <a:pt x="94" y="212"/>
                </a:cubicBezTo>
                <a:cubicBezTo>
                  <a:pt x="95" y="197"/>
                  <a:pt x="95" y="197"/>
                  <a:pt x="95" y="197"/>
                </a:cubicBezTo>
                <a:cubicBezTo>
                  <a:pt x="104" y="196"/>
                  <a:pt x="113" y="192"/>
                  <a:pt x="120" y="187"/>
                </a:cubicBezTo>
                <a:cubicBezTo>
                  <a:pt x="131" y="198"/>
                  <a:pt x="131" y="198"/>
                  <a:pt x="131" y="198"/>
                </a:cubicBezTo>
                <a:cubicBezTo>
                  <a:pt x="150" y="180"/>
                  <a:pt x="150" y="180"/>
                  <a:pt x="150" y="180"/>
                </a:cubicBezTo>
                <a:cubicBezTo>
                  <a:pt x="139" y="169"/>
                  <a:pt x="139" y="169"/>
                  <a:pt x="139" y="169"/>
                </a:cubicBezTo>
                <a:cubicBezTo>
                  <a:pt x="144" y="162"/>
                  <a:pt x="148" y="153"/>
                  <a:pt x="150" y="144"/>
                </a:cubicBezTo>
                <a:cubicBezTo>
                  <a:pt x="165" y="144"/>
                  <a:pt x="165" y="144"/>
                  <a:pt x="165" y="144"/>
                </a:cubicBezTo>
                <a:cubicBezTo>
                  <a:pt x="166" y="118"/>
                  <a:pt x="166" y="118"/>
                  <a:pt x="166" y="118"/>
                </a:cubicBezTo>
                <a:cubicBezTo>
                  <a:pt x="151" y="118"/>
                  <a:pt x="151" y="118"/>
                  <a:pt x="151" y="118"/>
                </a:cubicBezTo>
                <a:cubicBezTo>
                  <a:pt x="149" y="109"/>
                  <a:pt x="145" y="100"/>
                  <a:pt x="140" y="92"/>
                </a:cubicBezTo>
                <a:cubicBezTo>
                  <a:pt x="151" y="82"/>
                  <a:pt x="151" y="82"/>
                  <a:pt x="151" y="82"/>
                </a:cubicBezTo>
                <a:cubicBezTo>
                  <a:pt x="134" y="63"/>
                  <a:pt x="134" y="63"/>
                  <a:pt x="134" y="63"/>
                </a:cubicBezTo>
                <a:cubicBezTo>
                  <a:pt x="123" y="74"/>
                  <a:pt x="123" y="74"/>
                  <a:pt x="123" y="74"/>
                </a:cubicBezTo>
                <a:cubicBezTo>
                  <a:pt x="115" y="68"/>
                  <a:pt x="106" y="65"/>
                  <a:pt x="97" y="63"/>
                </a:cubicBezTo>
                <a:cubicBezTo>
                  <a:pt x="97" y="47"/>
                  <a:pt x="97" y="47"/>
                  <a:pt x="97" y="47"/>
                </a:cubicBezTo>
                <a:cubicBezTo>
                  <a:pt x="72" y="47"/>
                  <a:pt x="72" y="47"/>
                  <a:pt x="72" y="47"/>
                </a:cubicBezTo>
                <a:moveTo>
                  <a:pt x="198" y="92"/>
                </a:moveTo>
                <a:cubicBezTo>
                  <a:pt x="198" y="92"/>
                  <a:pt x="197" y="92"/>
                  <a:pt x="197" y="92"/>
                </a:cubicBezTo>
                <a:cubicBezTo>
                  <a:pt x="178" y="92"/>
                  <a:pt x="162" y="75"/>
                  <a:pt x="162" y="56"/>
                </a:cubicBezTo>
                <a:cubicBezTo>
                  <a:pt x="163" y="37"/>
                  <a:pt x="179" y="21"/>
                  <a:pt x="198" y="21"/>
                </a:cubicBezTo>
                <a:cubicBezTo>
                  <a:pt x="198" y="21"/>
                  <a:pt x="198" y="21"/>
                  <a:pt x="199" y="21"/>
                </a:cubicBezTo>
                <a:cubicBezTo>
                  <a:pt x="218" y="21"/>
                  <a:pt x="234" y="38"/>
                  <a:pt x="233" y="57"/>
                </a:cubicBezTo>
                <a:cubicBezTo>
                  <a:pt x="233" y="77"/>
                  <a:pt x="217" y="92"/>
                  <a:pt x="198" y="92"/>
                </a:cubicBezTo>
                <a:moveTo>
                  <a:pt x="190" y="0"/>
                </a:moveTo>
                <a:cubicBezTo>
                  <a:pt x="190" y="11"/>
                  <a:pt x="190" y="11"/>
                  <a:pt x="190" y="11"/>
                </a:cubicBezTo>
                <a:cubicBezTo>
                  <a:pt x="184" y="12"/>
                  <a:pt x="178" y="14"/>
                  <a:pt x="173" y="18"/>
                </a:cubicBezTo>
                <a:cubicBezTo>
                  <a:pt x="165" y="10"/>
                  <a:pt x="165" y="10"/>
                  <a:pt x="165" y="10"/>
                </a:cubicBezTo>
                <a:cubicBezTo>
                  <a:pt x="153" y="22"/>
                  <a:pt x="153" y="22"/>
                  <a:pt x="153" y="22"/>
                </a:cubicBezTo>
                <a:cubicBezTo>
                  <a:pt x="160" y="30"/>
                  <a:pt x="160" y="30"/>
                  <a:pt x="160" y="30"/>
                </a:cubicBezTo>
                <a:cubicBezTo>
                  <a:pt x="156" y="35"/>
                  <a:pt x="154" y="41"/>
                  <a:pt x="152" y="47"/>
                </a:cubicBezTo>
                <a:cubicBezTo>
                  <a:pt x="142" y="47"/>
                  <a:pt x="142" y="47"/>
                  <a:pt x="142" y="47"/>
                </a:cubicBezTo>
                <a:cubicBezTo>
                  <a:pt x="142" y="64"/>
                  <a:pt x="142" y="64"/>
                  <a:pt x="142" y="64"/>
                </a:cubicBezTo>
                <a:cubicBezTo>
                  <a:pt x="152" y="64"/>
                  <a:pt x="152" y="64"/>
                  <a:pt x="152" y="64"/>
                </a:cubicBezTo>
                <a:cubicBezTo>
                  <a:pt x="153" y="71"/>
                  <a:pt x="156" y="77"/>
                  <a:pt x="159" y="82"/>
                </a:cubicBezTo>
                <a:cubicBezTo>
                  <a:pt x="151" y="89"/>
                  <a:pt x="151" y="89"/>
                  <a:pt x="151" y="89"/>
                </a:cubicBezTo>
                <a:cubicBezTo>
                  <a:pt x="164" y="102"/>
                  <a:pt x="164" y="102"/>
                  <a:pt x="164" y="102"/>
                </a:cubicBezTo>
                <a:cubicBezTo>
                  <a:pt x="171" y="95"/>
                  <a:pt x="171" y="95"/>
                  <a:pt x="171" y="95"/>
                </a:cubicBezTo>
                <a:cubicBezTo>
                  <a:pt x="176" y="98"/>
                  <a:pt x="182" y="101"/>
                  <a:pt x="188" y="102"/>
                </a:cubicBezTo>
                <a:cubicBezTo>
                  <a:pt x="188" y="112"/>
                  <a:pt x="188" y="112"/>
                  <a:pt x="188" y="112"/>
                </a:cubicBezTo>
                <a:cubicBezTo>
                  <a:pt x="206" y="113"/>
                  <a:pt x="206" y="113"/>
                  <a:pt x="206" y="113"/>
                </a:cubicBezTo>
                <a:cubicBezTo>
                  <a:pt x="206" y="102"/>
                  <a:pt x="206" y="102"/>
                  <a:pt x="206" y="102"/>
                </a:cubicBezTo>
                <a:cubicBezTo>
                  <a:pt x="212" y="101"/>
                  <a:pt x="218" y="99"/>
                  <a:pt x="223" y="96"/>
                </a:cubicBezTo>
                <a:cubicBezTo>
                  <a:pt x="231" y="103"/>
                  <a:pt x="231" y="103"/>
                  <a:pt x="231" y="103"/>
                </a:cubicBezTo>
                <a:cubicBezTo>
                  <a:pt x="243" y="91"/>
                  <a:pt x="243" y="91"/>
                  <a:pt x="243" y="91"/>
                </a:cubicBezTo>
                <a:cubicBezTo>
                  <a:pt x="236" y="83"/>
                  <a:pt x="236" y="83"/>
                  <a:pt x="236" y="83"/>
                </a:cubicBezTo>
                <a:cubicBezTo>
                  <a:pt x="240" y="78"/>
                  <a:pt x="242" y="72"/>
                  <a:pt x="243" y="66"/>
                </a:cubicBezTo>
                <a:cubicBezTo>
                  <a:pt x="254" y="66"/>
                  <a:pt x="254" y="66"/>
                  <a:pt x="254" y="66"/>
                </a:cubicBezTo>
                <a:cubicBezTo>
                  <a:pt x="254" y="49"/>
                  <a:pt x="254" y="49"/>
                  <a:pt x="254" y="49"/>
                </a:cubicBezTo>
                <a:cubicBezTo>
                  <a:pt x="244" y="49"/>
                  <a:pt x="244" y="49"/>
                  <a:pt x="244" y="49"/>
                </a:cubicBezTo>
                <a:cubicBezTo>
                  <a:pt x="243" y="42"/>
                  <a:pt x="240" y="36"/>
                  <a:pt x="237" y="31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32" y="11"/>
                  <a:pt x="232" y="11"/>
                  <a:pt x="232" y="11"/>
                </a:cubicBezTo>
                <a:cubicBezTo>
                  <a:pt x="225" y="19"/>
                  <a:pt x="225" y="19"/>
                  <a:pt x="225" y="19"/>
                </a:cubicBezTo>
                <a:cubicBezTo>
                  <a:pt x="220" y="15"/>
                  <a:pt x="214" y="12"/>
                  <a:pt x="208" y="11"/>
                </a:cubicBezTo>
                <a:cubicBezTo>
                  <a:pt x="208" y="1"/>
                  <a:pt x="208" y="1"/>
                  <a:pt x="208" y="1"/>
                </a:cubicBezTo>
                <a:cubicBezTo>
                  <a:pt x="190" y="0"/>
                  <a:pt x="190" y="0"/>
                  <a:pt x="190" y="0"/>
                </a:cubicBezTo>
              </a:path>
            </a:pathLst>
          </a:custGeom>
          <a:solidFill>
            <a:srgbClr val="8592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72"/>
          <p:cNvSpPr>
            <a:spLocks noEditPoints="1"/>
          </p:cNvSpPr>
          <p:nvPr/>
        </p:nvSpPr>
        <p:spPr bwMode="auto">
          <a:xfrm>
            <a:off x="4127714" y="2781762"/>
            <a:ext cx="599436" cy="636518"/>
          </a:xfrm>
          <a:custGeom>
            <a:avLst/>
            <a:gdLst>
              <a:gd name="T0" fmla="*/ 88 w 110"/>
              <a:gd name="T1" fmla="*/ 17 h 123"/>
              <a:gd name="T2" fmla="*/ 77 w 110"/>
              <a:gd name="T3" fmla="*/ 31 h 123"/>
              <a:gd name="T4" fmla="*/ 93 w 110"/>
              <a:gd name="T5" fmla="*/ 62 h 123"/>
              <a:gd name="T6" fmla="*/ 57 w 110"/>
              <a:gd name="T7" fmla="*/ 100 h 123"/>
              <a:gd name="T8" fmla="*/ 57 w 110"/>
              <a:gd name="T9" fmla="*/ 94 h 123"/>
              <a:gd name="T10" fmla="*/ 32 w 110"/>
              <a:gd name="T11" fmla="*/ 108 h 123"/>
              <a:gd name="T12" fmla="*/ 57 w 110"/>
              <a:gd name="T13" fmla="*/ 123 h 123"/>
              <a:gd name="T14" fmla="*/ 57 w 110"/>
              <a:gd name="T15" fmla="*/ 117 h 123"/>
              <a:gd name="T16" fmla="*/ 110 w 110"/>
              <a:gd name="T17" fmla="*/ 62 h 123"/>
              <a:gd name="T18" fmla="*/ 88 w 110"/>
              <a:gd name="T19" fmla="*/ 17 h 123"/>
              <a:gd name="T20" fmla="*/ 50 w 110"/>
              <a:gd name="T21" fmla="*/ 0 h 123"/>
              <a:gd name="T22" fmla="*/ 50 w 110"/>
              <a:gd name="T23" fmla="*/ 7 h 123"/>
              <a:gd name="T24" fmla="*/ 0 w 110"/>
              <a:gd name="T25" fmla="*/ 62 h 123"/>
              <a:gd name="T26" fmla="*/ 19 w 110"/>
              <a:gd name="T27" fmla="*/ 103 h 123"/>
              <a:gd name="T28" fmla="*/ 30 w 110"/>
              <a:gd name="T29" fmla="*/ 90 h 123"/>
              <a:gd name="T30" fmla="*/ 17 w 110"/>
              <a:gd name="T31" fmla="*/ 62 h 123"/>
              <a:gd name="T32" fmla="*/ 50 w 110"/>
              <a:gd name="T33" fmla="*/ 24 h 123"/>
              <a:gd name="T34" fmla="*/ 50 w 110"/>
              <a:gd name="T35" fmla="*/ 30 h 123"/>
              <a:gd name="T36" fmla="*/ 75 w 110"/>
              <a:gd name="T37" fmla="*/ 15 h 123"/>
              <a:gd name="T38" fmla="*/ 50 w 110"/>
              <a:gd name="T39" fmla="*/ 0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0" h="123">
                <a:moveTo>
                  <a:pt x="88" y="17"/>
                </a:moveTo>
                <a:cubicBezTo>
                  <a:pt x="77" y="31"/>
                  <a:pt x="77" y="31"/>
                  <a:pt x="77" y="31"/>
                </a:cubicBezTo>
                <a:cubicBezTo>
                  <a:pt x="87" y="38"/>
                  <a:pt x="93" y="49"/>
                  <a:pt x="93" y="62"/>
                </a:cubicBezTo>
                <a:cubicBezTo>
                  <a:pt x="93" y="82"/>
                  <a:pt x="77" y="98"/>
                  <a:pt x="57" y="100"/>
                </a:cubicBezTo>
                <a:cubicBezTo>
                  <a:pt x="57" y="94"/>
                  <a:pt x="57" y="94"/>
                  <a:pt x="57" y="94"/>
                </a:cubicBezTo>
                <a:cubicBezTo>
                  <a:pt x="32" y="108"/>
                  <a:pt x="32" y="108"/>
                  <a:pt x="32" y="108"/>
                </a:cubicBezTo>
                <a:cubicBezTo>
                  <a:pt x="57" y="123"/>
                  <a:pt x="57" y="123"/>
                  <a:pt x="57" y="123"/>
                </a:cubicBezTo>
                <a:cubicBezTo>
                  <a:pt x="57" y="117"/>
                  <a:pt x="57" y="117"/>
                  <a:pt x="57" y="117"/>
                </a:cubicBezTo>
                <a:cubicBezTo>
                  <a:pt x="86" y="116"/>
                  <a:pt x="110" y="91"/>
                  <a:pt x="110" y="62"/>
                </a:cubicBezTo>
                <a:cubicBezTo>
                  <a:pt x="110" y="44"/>
                  <a:pt x="102" y="28"/>
                  <a:pt x="88" y="17"/>
                </a:cubicBezTo>
                <a:moveTo>
                  <a:pt x="50" y="0"/>
                </a:moveTo>
                <a:cubicBezTo>
                  <a:pt x="50" y="7"/>
                  <a:pt x="50" y="7"/>
                  <a:pt x="50" y="7"/>
                </a:cubicBezTo>
                <a:cubicBezTo>
                  <a:pt x="22" y="9"/>
                  <a:pt x="0" y="33"/>
                  <a:pt x="0" y="62"/>
                </a:cubicBezTo>
                <a:cubicBezTo>
                  <a:pt x="0" y="78"/>
                  <a:pt x="7" y="93"/>
                  <a:pt x="19" y="103"/>
                </a:cubicBezTo>
                <a:cubicBezTo>
                  <a:pt x="30" y="90"/>
                  <a:pt x="30" y="90"/>
                  <a:pt x="30" y="90"/>
                </a:cubicBezTo>
                <a:cubicBezTo>
                  <a:pt x="22" y="83"/>
                  <a:pt x="17" y="73"/>
                  <a:pt x="17" y="62"/>
                </a:cubicBezTo>
                <a:cubicBezTo>
                  <a:pt x="17" y="42"/>
                  <a:pt x="31" y="26"/>
                  <a:pt x="50" y="24"/>
                </a:cubicBezTo>
                <a:cubicBezTo>
                  <a:pt x="50" y="30"/>
                  <a:pt x="50" y="30"/>
                  <a:pt x="50" y="30"/>
                </a:cubicBezTo>
                <a:cubicBezTo>
                  <a:pt x="75" y="15"/>
                  <a:pt x="75" y="15"/>
                  <a:pt x="75" y="15"/>
                </a:cubicBezTo>
                <a:cubicBezTo>
                  <a:pt x="50" y="0"/>
                  <a:pt x="50" y="0"/>
                  <a:pt x="50" y="0"/>
                </a:cubicBezTo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31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/>
      <p:bldP spid="36" grpId="0" animBg="1"/>
      <p:bldP spid="37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7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概述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Hello World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汇编语言概述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983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52384" y="116632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  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'Hello world!', 0DH, 0AH, '$'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endParaRPr lang="en-US" altLang="zh-CN" b="1" dirty="0">
              <a:solidFill>
                <a:srgbClr val="1D8DE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solidFill>
                <a:srgbClr val="1D8DE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SSEG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'STACK'</a:t>
            </a:r>
          </a:p>
          <a:p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SSEG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CS: CODE, DS: DATA, SS: SSEG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AX, DATA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DS, AX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AX, SSEG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SS, AX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DX,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AH, 9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AH, 4CH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</a:p>
          <a:p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</a:p>
        </p:txBody>
      </p:sp>
      <p:sp>
        <p:nvSpPr>
          <p:cNvPr id="3" name="矩形 2"/>
          <p:cNvSpPr/>
          <p:nvPr/>
        </p:nvSpPr>
        <p:spPr>
          <a:xfrm>
            <a:off x="1452384" y="116632"/>
            <a:ext cx="4572000" cy="93610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7"/>
          <p:cNvSpPr txBox="1"/>
          <p:nvPr/>
        </p:nvSpPr>
        <p:spPr>
          <a:xfrm>
            <a:off x="6276920" y="332656"/>
            <a:ext cx="1584176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定义数据段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52384" y="1196752"/>
            <a:ext cx="4572000" cy="93610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17"/>
          <p:cNvSpPr txBox="1"/>
          <p:nvPr/>
        </p:nvSpPr>
        <p:spPr>
          <a:xfrm>
            <a:off x="6276920" y="1412776"/>
            <a:ext cx="1584176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定义栈段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452384" y="2348880"/>
            <a:ext cx="4572000" cy="3576052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17"/>
          <p:cNvSpPr txBox="1"/>
          <p:nvPr/>
        </p:nvSpPr>
        <p:spPr>
          <a:xfrm>
            <a:off x="6276920" y="3886068"/>
            <a:ext cx="1584176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定义代码段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52384" y="5949280"/>
            <a:ext cx="4572000" cy="353661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17"/>
          <p:cNvSpPr txBox="1"/>
          <p:nvPr/>
        </p:nvSpPr>
        <p:spPr>
          <a:xfrm>
            <a:off x="6060896" y="5805264"/>
            <a:ext cx="1895480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定义代码结束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7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9" grpId="0"/>
      <p:bldP spid="19" grpId="1"/>
      <p:bldP spid="20" grpId="0" animBg="1"/>
      <p:bldP spid="20" grpId="1" animBg="1"/>
      <p:bldP spid="21" grpId="0"/>
      <p:bldP spid="21" grpId="1"/>
      <p:bldP spid="22" grpId="0" animBg="1"/>
      <p:bldP spid="22" grpId="1" animBg="1"/>
      <p:bldP spid="23" grpId="0"/>
      <p:bldP spid="23" grpId="1"/>
      <p:bldP spid="26" grpId="0" animBg="1"/>
      <p:bldP spid="26" grpId="1" animBg="1"/>
      <p:bldP spid="39" grpId="0"/>
      <p:bldP spid="3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/>
          <p:cNvGrpSpPr/>
          <p:nvPr/>
        </p:nvGrpSpPr>
        <p:grpSpPr>
          <a:xfrm>
            <a:off x="1544193" y="1308712"/>
            <a:ext cx="5620095" cy="4280528"/>
            <a:chOff x="6161088" y="1605675"/>
            <a:chExt cx="6000750" cy="4570453"/>
          </a:xfrm>
        </p:grpSpPr>
        <p:grpSp>
          <p:nvGrpSpPr>
            <p:cNvPr id="84" name="组合 83"/>
            <p:cNvGrpSpPr/>
            <p:nvPr/>
          </p:nvGrpSpPr>
          <p:grpSpPr>
            <a:xfrm>
              <a:off x="8307388" y="1605675"/>
              <a:ext cx="3854450" cy="579438"/>
              <a:chOff x="8307388" y="915988"/>
              <a:chExt cx="3854450" cy="579438"/>
            </a:xfrm>
          </p:grpSpPr>
          <p:sp>
            <p:nvSpPr>
              <p:cNvPr id="97" name="Freeform 5"/>
              <p:cNvSpPr>
                <a:spLocks/>
              </p:cNvSpPr>
              <p:nvPr/>
            </p:nvSpPr>
            <p:spPr bwMode="auto">
              <a:xfrm>
                <a:off x="8307388" y="915988"/>
                <a:ext cx="865188" cy="579438"/>
              </a:xfrm>
              <a:custGeom>
                <a:avLst/>
                <a:gdLst>
                  <a:gd name="T0" fmla="*/ 302 w 904"/>
                  <a:gd name="T1" fmla="*/ 0 h 605"/>
                  <a:gd name="T2" fmla="*/ 0 w 904"/>
                  <a:gd name="T3" fmla="*/ 303 h 605"/>
                  <a:gd name="T4" fmla="*/ 302 w 904"/>
                  <a:gd name="T5" fmla="*/ 605 h 605"/>
                  <a:gd name="T6" fmla="*/ 904 w 904"/>
                  <a:gd name="T7" fmla="*/ 605 h 605"/>
                  <a:gd name="T8" fmla="*/ 904 w 904"/>
                  <a:gd name="T9" fmla="*/ 0 h 605"/>
                  <a:gd name="T10" fmla="*/ 302 w 904"/>
                  <a:gd name="T11" fmla="*/ 0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4" h="605">
                    <a:moveTo>
                      <a:pt x="302" y="0"/>
                    </a:moveTo>
                    <a:cubicBezTo>
                      <a:pt x="135" y="0"/>
                      <a:pt x="0" y="136"/>
                      <a:pt x="0" y="303"/>
                    </a:cubicBezTo>
                    <a:cubicBezTo>
                      <a:pt x="0" y="470"/>
                      <a:pt x="135" y="605"/>
                      <a:pt x="302" y="605"/>
                    </a:cubicBezTo>
                    <a:cubicBezTo>
                      <a:pt x="904" y="605"/>
                      <a:pt x="904" y="605"/>
                      <a:pt x="904" y="605"/>
                    </a:cubicBezTo>
                    <a:cubicBezTo>
                      <a:pt x="904" y="0"/>
                      <a:pt x="904" y="0"/>
                      <a:pt x="904" y="0"/>
                    </a:cubicBezTo>
                    <a:lnTo>
                      <a:pt x="302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/>
              </a:p>
            </p:txBody>
          </p:sp>
          <p:sp>
            <p:nvSpPr>
              <p:cNvPr id="98" name="Freeform 6"/>
              <p:cNvSpPr>
                <a:spLocks/>
              </p:cNvSpPr>
              <p:nvPr/>
            </p:nvSpPr>
            <p:spPr bwMode="auto">
              <a:xfrm>
                <a:off x="9172575" y="915988"/>
                <a:ext cx="2989263" cy="579438"/>
              </a:xfrm>
              <a:custGeom>
                <a:avLst/>
                <a:gdLst>
                  <a:gd name="T0" fmla="*/ 2826 w 3128"/>
                  <a:gd name="T1" fmla="*/ 0 h 605"/>
                  <a:gd name="T2" fmla="*/ 0 w 3128"/>
                  <a:gd name="T3" fmla="*/ 0 h 605"/>
                  <a:gd name="T4" fmla="*/ 0 w 3128"/>
                  <a:gd name="T5" fmla="*/ 605 h 605"/>
                  <a:gd name="T6" fmla="*/ 2826 w 3128"/>
                  <a:gd name="T7" fmla="*/ 605 h 605"/>
                  <a:gd name="T8" fmla="*/ 3128 w 3128"/>
                  <a:gd name="T9" fmla="*/ 303 h 605"/>
                  <a:gd name="T10" fmla="*/ 2826 w 3128"/>
                  <a:gd name="T11" fmla="*/ 0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28" h="605">
                    <a:moveTo>
                      <a:pt x="282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05"/>
                      <a:pt x="0" y="605"/>
                      <a:pt x="0" y="605"/>
                    </a:cubicBezTo>
                    <a:cubicBezTo>
                      <a:pt x="2826" y="605"/>
                      <a:pt x="2826" y="605"/>
                      <a:pt x="2826" y="605"/>
                    </a:cubicBezTo>
                    <a:cubicBezTo>
                      <a:pt x="2993" y="605"/>
                      <a:pt x="3128" y="470"/>
                      <a:pt x="3128" y="303"/>
                    </a:cubicBezTo>
                    <a:cubicBezTo>
                      <a:pt x="3128" y="136"/>
                      <a:pt x="2993" y="0"/>
                      <a:pt x="2826" y="0"/>
                    </a:cubicBezTo>
                    <a:close/>
                  </a:path>
                </a:pathLst>
              </a:custGeom>
              <a:solidFill>
                <a:srgbClr val="FE2C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>
                  <a:solidFill>
                    <a:srgbClr val="FF2A00"/>
                  </a:solidFill>
                </a:endParaRPr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>
              <a:off x="6161088" y="2601841"/>
              <a:ext cx="3876675" cy="582613"/>
              <a:chOff x="6161088" y="2684463"/>
              <a:chExt cx="3876675" cy="582613"/>
            </a:xfrm>
          </p:grpSpPr>
          <p:sp>
            <p:nvSpPr>
              <p:cNvPr id="95" name="Freeform 10"/>
              <p:cNvSpPr>
                <a:spLocks/>
              </p:cNvSpPr>
              <p:nvPr/>
            </p:nvSpPr>
            <p:spPr bwMode="auto">
              <a:xfrm>
                <a:off x="9169400" y="2684463"/>
                <a:ext cx="868363" cy="582613"/>
              </a:xfrm>
              <a:custGeom>
                <a:avLst/>
                <a:gdLst>
                  <a:gd name="T0" fmla="*/ 602 w 904"/>
                  <a:gd name="T1" fmla="*/ 0 h 604"/>
                  <a:gd name="T2" fmla="*/ 904 w 904"/>
                  <a:gd name="T3" fmla="*/ 302 h 604"/>
                  <a:gd name="T4" fmla="*/ 602 w 904"/>
                  <a:gd name="T5" fmla="*/ 604 h 604"/>
                  <a:gd name="T6" fmla="*/ 0 w 904"/>
                  <a:gd name="T7" fmla="*/ 604 h 604"/>
                  <a:gd name="T8" fmla="*/ 0 w 904"/>
                  <a:gd name="T9" fmla="*/ 0 h 604"/>
                  <a:gd name="T10" fmla="*/ 602 w 904"/>
                  <a:gd name="T11" fmla="*/ 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4" h="604">
                    <a:moveTo>
                      <a:pt x="602" y="0"/>
                    </a:moveTo>
                    <a:cubicBezTo>
                      <a:pt x="769" y="0"/>
                      <a:pt x="904" y="135"/>
                      <a:pt x="904" y="302"/>
                    </a:cubicBezTo>
                    <a:cubicBezTo>
                      <a:pt x="904" y="469"/>
                      <a:pt x="769" y="604"/>
                      <a:pt x="602" y="604"/>
                    </a:cubicBezTo>
                    <a:cubicBezTo>
                      <a:pt x="0" y="604"/>
                      <a:pt x="0" y="604"/>
                      <a:pt x="0" y="604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602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/>
              </a:p>
            </p:txBody>
          </p:sp>
          <p:sp>
            <p:nvSpPr>
              <p:cNvPr id="96" name="Freeform 11"/>
              <p:cNvSpPr>
                <a:spLocks/>
              </p:cNvSpPr>
              <p:nvPr/>
            </p:nvSpPr>
            <p:spPr bwMode="auto">
              <a:xfrm>
                <a:off x="6161088" y="2684463"/>
                <a:ext cx="3008313" cy="582613"/>
              </a:xfrm>
              <a:custGeom>
                <a:avLst/>
                <a:gdLst>
                  <a:gd name="T0" fmla="*/ 302 w 3128"/>
                  <a:gd name="T1" fmla="*/ 0 h 604"/>
                  <a:gd name="T2" fmla="*/ 3128 w 3128"/>
                  <a:gd name="T3" fmla="*/ 0 h 604"/>
                  <a:gd name="T4" fmla="*/ 3128 w 3128"/>
                  <a:gd name="T5" fmla="*/ 604 h 604"/>
                  <a:gd name="T6" fmla="*/ 302 w 3128"/>
                  <a:gd name="T7" fmla="*/ 604 h 604"/>
                  <a:gd name="T8" fmla="*/ 0 w 3128"/>
                  <a:gd name="T9" fmla="*/ 302 h 604"/>
                  <a:gd name="T10" fmla="*/ 302 w 3128"/>
                  <a:gd name="T11" fmla="*/ 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28" h="604">
                    <a:moveTo>
                      <a:pt x="302" y="0"/>
                    </a:moveTo>
                    <a:cubicBezTo>
                      <a:pt x="3128" y="0"/>
                      <a:pt x="3128" y="0"/>
                      <a:pt x="3128" y="0"/>
                    </a:cubicBezTo>
                    <a:cubicBezTo>
                      <a:pt x="3128" y="604"/>
                      <a:pt x="3128" y="604"/>
                      <a:pt x="3128" y="604"/>
                    </a:cubicBezTo>
                    <a:cubicBezTo>
                      <a:pt x="302" y="604"/>
                      <a:pt x="302" y="604"/>
                      <a:pt x="302" y="604"/>
                    </a:cubicBezTo>
                    <a:cubicBezTo>
                      <a:pt x="135" y="604"/>
                      <a:pt x="0" y="469"/>
                      <a:pt x="0" y="302"/>
                    </a:cubicBezTo>
                    <a:cubicBezTo>
                      <a:pt x="0" y="135"/>
                      <a:pt x="135" y="0"/>
                      <a:pt x="302" y="0"/>
                    </a:cubicBezTo>
                    <a:close/>
                  </a:path>
                </a:pathLst>
              </a:custGeom>
              <a:solidFill>
                <a:srgbClr val="1D8D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/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8307388" y="3601182"/>
              <a:ext cx="3854450" cy="579438"/>
              <a:chOff x="8307388" y="915988"/>
              <a:chExt cx="3854450" cy="579438"/>
            </a:xfrm>
          </p:grpSpPr>
          <p:sp>
            <p:nvSpPr>
              <p:cNvPr id="93" name="Freeform 5"/>
              <p:cNvSpPr>
                <a:spLocks/>
              </p:cNvSpPr>
              <p:nvPr/>
            </p:nvSpPr>
            <p:spPr bwMode="auto">
              <a:xfrm>
                <a:off x="8307388" y="915988"/>
                <a:ext cx="865188" cy="579438"/>
              </a:xfrm>
              <a:custGeom>
                <a:avLst/>
                <a:gdLst>
                  <a:gd name="T0" fmla="*/ 302 w 904"/>
                  <a:gd name="T1" fmla="*/ 0 h 605"/>
                  <a:gd name="T2" fmla="*/ 0 w 904"/>
                  <a:gd name="T3" fmla="*/ 303 h 605"/>
                  <a:gd name="T4" fmla="*/ 302 w 904"/>
                  <a:gd name="T5" fmla="*/ 605 h 605"/>
                  <a:gd name="T6" fmla="*/ 904 w 904"/>
                  <a:gd name="T7" fmla="*/ 605 h 605"/>
                  <a:gd name="T8" fmla="*/ 904 w 904"/>
                  <a:gd name="T9" fmla="*/ 0 h 605"/>
                  <a:gd name="T10" fmla="*/ 302 w 904"/>
                  <a:gd name="T11" fmla="*/ 0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4" h="605">
                    <a:moveTo>
                      <a:pt x="302" y="0"/>
                    </a:moveTo>
                    <a:cubicBezTo>
                      <a:pt x="135" y="0"/>
                      <a:pt x="0" y="136"/>
                      <a:pt x="0" y="303"/>
                    </a:cubicBezTo>
                    <a:cubicBezTo>
                      <a:pt x="0" y="470"/>
                      <a:pt x="135" y="605"/>
                      <a:pt x="302" y="605"/>
                    </a:cubicBezTo>
                    <a:cubicBezTo>
                      <a:pt x="904" y="605"/>
                      <a:pt x="904" y="605"/>
                      <a:pt x="904" y="605"/>
                    </a:cubicBezTo>
                    <a:cubicBezTo>
                      <a:pt x="904" y="0"/>
                      <a:pt x="904" y="0"/>
                      <a:pt x="904" y="0"/>
                    </a:cubicBezTo>
                    <a:lnTo>
                      <a:pt x="302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/>
              </a:p>
            </p:txBody>
          </p:sp>
          <p:sp>
            <p:nvSpPr>
              <p:cNvPr id="94" name="Freeform 6"/>
              <p:cNvSpPr>
                <a:spLocks/>
              </p:cNvSpPr>
              <p:nvPr/>
            </p:nvSpPr>
            <p:spPr bwMode="auto">
              <a:xfrm>
                <a:off x="9172575" y="915988"/>
                <a:ext cx="2989263" cy="579438"/>
              </a:xfrm>
              <a:custGeom>
                <a:avLst/>
                <a:gdLst>
                  <a:gd name="T0" fmla="*/ 2826 w 3128"/>
                  <a:gd name="T1" fmla="*/ 0 h 605"/>
                  <a:gd name="T2" fmla="*/ 0 w 3128"/>
                  <a:gd name="T3" fmla="*/ 0 h 605"/>
                  <a:gd name="T4" fmla="*/ 0 w 3128"/>
                  <a:gd name="T5" fmla="*/ 605 h 605"/>
                  <a:gd name="T6" fmla="*/ 2826 w 3128"/>
                  <a:gd name="T7" fmla="*/ 605 h 605"/>
                  <a:gd name="T8" fmla="*/ 3128 w 3128"/>
                  <a:gd name="T9" fmla="*/ 303 h 605"/>
                  <a:gd name="T10" fmla="*/ 2826 w 3128"/>
                  <a:gd name="T11" fmla="*/ 0 h 6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28" h="605">
                    <a:moveTo>
                      <a:pt x="282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05"/>
                      <a:pt x="0" y="605"/>
                      <a:pt x="0" y="605"/>
                    </a:cubicBezTo>
                    <a:cubicBezTo>
                      <a:pt x="2826" y="605"/>
                      <a:pt x="2826" y="605"/>
                      <a:pt x="2826" y="605"/>
                    </a:cubicBezTo>
                    <a:cubicBezTo>
                      <a:pt x="2993" y="605"/>
                      <a:pt x="3128" y="470"/>
                      <a:pt x="3128" y="303"/>
                    </a:cubicBezTo>
                    <a:cubicBezTo>
                      <a:pt x="3128" y="136"/>
                      <a:pt x="2993" y="0"/>
                      <a:pt x="2826" y="0"/>
                    </a:cubicBezTo>
                    <a:close/>
                  </a:path>
                </a:pathLst>
              </a:custGeom>
              <a:solidFill>
                <a:srgbClr val="5DCB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/>
              </a:p>
            </p:txBody>
          </p:sp>
        </p:grpSp>
        <p:sp>
          <p:nvSpPr>
            <p:cNvPr id="91" name="Freeform 5"/>
            <p:cNvSpPr>
              <a:spLocks/>
            </p:cNvSpPr>
            <p:nvPr/>
          </p:nvSpPr>
          <p:spPr bwMode="auto">
            <a:xfrm>
              <a:off x="8307388" y="5596690"/>
              <a:ext cx="865188" cy="579438"/>
            </a:xfrm>
            <a:custGeom>
              <a:avLst/>
              <a:gdLst>
                <a:gd name="T0" fmla="*/ 302 w 904"/>
                <a:gd name="T1" fmla="*/ 0 h 605"/>
                <a:gd name="T2" fmla="*/ 0 w 904"/>
                <a:gd name="T3" fmla="*/ 303 h 605"/>
                <a:gd name="T4" fmla="*/ 302 w 904"/>
                <a:gd name="T5" fmla="*/ 605 h 605"/>
                <a:gd name="T6" fmla="*/ 904 w 904"/>
                <a:gd name="T7" fmla="*/ 605 h 605"/>
                <a:gd name="T8" fmla="*/ 904 w 904"/>
                <a:gd name="T9" fmla="*/ 0 h 605"/>
                <a:gd name="T10" fmla="*/ 302 w 904"/>
                <a:gd name="T11" fmla="*/ 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4" h="605">
                  <a:moveTo>
                    <a:pt x="302" y="0"/>
                  </a:moveTo>
                  <a:cubicBezTo>
                    <a:pt x="135" y="0"/>
                    <a:pt x="0" y="136"/>
                    <a:pt x="0" y="303"/>
                  </a:cubicBezTo>
                  <a:cubicBezTo>
                    <a:pt x="0" y="470"/>
                    <a:pt x="135" y="605"/>
                    <a:pt x="302" y="605"/>
                  </a:cubicBezTo>
                  <a:cubicBezTo>
                    <a:pt x="904" y="605"/>
                    <a:pt x="904" y="605"/>
                    <a:pt x="904" y="605"/>
                  </a:cubicBezTo>
                  <a:cubicBezTo>
                    <a:pt x="904" y="0"/>
                    <a:pt x="904" y="0"/>
                    <a:pt x="904" y="0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b="1"/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6161088" y="4597348"/>
              <a:ext cx="3876675" cy="582613"/>
              <a:chOff x="6161088" y="2684463"/>
              <a:chExt cx="3876675" cy="582613"/>
            </a:xfrm>
          </p:grpSpPr>
          <p:sp>
            <p:nvSpPr>
              <p:cNvPr id="89" name="Freeform 10"/>
              <p:cNvSpPr>
                <a:spLocks/>
              </p:cNvSpPr>
              <p:nvPr/>
            </p:nvSpPr>
            <p:spPr bwMode="auto">
              <a:xfrm>
                <a:off x="9169400" y="2684463"/>
                <a:ext cx="868363" cy="582613"/>
              </a:xfrm>
              <a:custGeom>
                <a:avLst/>
                <a:gdLst>
                  <a:gd name="T0" fmla="*/ 602 w 904"/>
                  <a:gd name="T1" fmla="*/ 0 h 604"/>
                  <a:gd name="T2" fmla="*/ 904 w 904"/>
                  <a:gd name="T3" fmla="*/ 302 h 604"/>
                  <a:gd name="T4" fmla="*/ 602 w 904"/>
                  <a:gd name="T5" fmla="*/ 604 h 604"/>
                  <a:gd name="T6" fmla="*/ 0 w 904"/>
                  <a:gd name="T7" fmla="*/ 604 h 604"/>
                  <a:gd name="T8" fmla="*/ 0 w 904"/>
                  <a:gd name="T9" fmla="*/ 0 h 604"/>
                  <a:gd name="T10" fmla="*/ 602 w 904"/>
                  <a:gd name="T11" fmla="*/ 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04" h="604">
                    <a:moveTo>
                      <a:pt x="602" y="0"/>
                    </a:moveTo>
                    <a:cubicBezTo>
                      <a:pt x="769" y="0"/>
                      <a:pt x="904" y="135"/>
                      <a:pt x="904" y="302"/>
                    </a:cubicBezTo>
                    <a:cubicBezTo>
                      <a:pt x="904" y="469"/>
                      <a:pt x="769" y="604"/>
                      <a:pt x="602" y="604"/>
                    </a:cubicBezTo>
                    <a:cubicBezTo>
                      <a:pt x="0" y="604"/>
                      <a:pt x="0" y="604"/>
                      <a:pt x="0" y="604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602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/>
              </a:p>
            </p:txBody>
          </p:sp>
          <p:sp>
            <p:nvSpPr>
              <p:cNvPr id="90" name="Freeform 11"/>
              <p:cNvSpPr>
                <a:spLocks/>
              </p:cNvSpPr>
              <p:nvPr/>
            </p:nvSpPr>
            <p:spPr bwMode="auto">
              <a:xfrm>
                <a:off x="6161088" y="2684463"/>
                <a:ext cx="3008313" cy="582613"/>
              </a:xfrm>
              <a:custGeom>
                <a:avLst/>
                <a:gdLst>
                  <a:gd name="T0" fmla="*/ 302 w 3128"/>
                  <a:gd name="T1" fmla="*/ 0 h 604"/>
                  <a:gd name="T2" fmla="*/ 3128 w 3128"/>
                  <a:gd name="T3" fmla="*/ 0 h 604"/>
                  <a:gd name="T4" fmla="*/ 3128 w 3128"/>
                  <a:gd name="T5" fmla="*/ 604 h 604"/>
                  <a:gd name="T6" fmla="*/ 302 w 3128"/>
                  <a:gd name="T7" fmla="*/ 604 h 604"/>
                  <a:gd name="T8" fmla="*/ 0 w 3128"/>
                  <a:gd name="T9" fmla="*/ 302 h 604"/>
                  <a:gd name="T10" fmla="*/ 302 w 3128"/>
                  <a:gd name="T11" fmla="*/ 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28" h="604">
                    <a:moveTo>
                      <a:pt x="302" y="0"/>
                    </a:moveTo>
                    <a:cubicBezTo>
                      <a:pt x="3128" y="0"/>
                      <a:pt x="3128" y="0"/>
                      <a:pt x="3128" y="0"/>
                    </a:cubicBezTo>
                    <a:cubicBezTo>
                      <a:pt x="3128" y="604"/>
                      <a:pt x="3128" y="604"/>
                      <a:pt x="3128" y="604"/>
                    </a:cubicBezTo>
                    <a:cubicBezTo>
                      <a:pt x="302" y="604"/>
                      <a:pt x="302" y="604"/>
                      <a:pt x="302" y="604"/>
                    </a:cubicBezTo>
                    <a:cubicBezTo>
                      <a:pt x="135" y="604"/>
                      <a:pt x="0" y="469"/>
                      <a:pt x="0" y="302"/>
                    </a:cubicBezTo>
                    <a:cubicBezTo>
                      <a:pt x="0" y="135"/>
                      <a:pt x="135" y="0"/>
                      <a:pt x="302" y="0"/>
                    </a:cubicBezTo>
                    <a:close/>
                  </a:path>
                </a:pathLst>
              </a:custGeom>
              <a:solidFill>
                <a:srgbClr val="99AB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b="1"/>
              </a:p>
            </p:txBody>
          </p:sp>
        </p:grpSp>
      </p:grpSp>
      <p:sp>
        <p:nvSpPr>
          <p:cNvPr id="99" name="文本框 98"/>
          <p:cNvSpPr txBox="1"/>
          <p:nvPr/>
        </p:nvSpPr>
        <p:spPr>
          <a:xfrm>
            <a:off x="4768313" y="1374791"/>
            <a:ext cx="1737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编辑</a:t>
            </a:r>
            <a:r>
              <a:rPr lang="en-US" altLang="zh-CN" sz="2000" b="1" dirty="0">
                <a:solidFill>
                  <a:schemeClr val="bg1"/>
                </a:solidFill>
              </a:rPr>
              <a:t>hello.asm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983772" y="2314459"/>
            <a:ext cx="19255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>
                <a:solidFill>
                  <a:schemeClr val="bg1"/>
                </a:solidFill>
              </a:rPr>
              <a:t>masm</a:t>
            </a:r>
            <a:r>
              <a:rPr lang="en-US" altLang="zh-CN" sz="2000" b="1" dirty="0">
                <a:solidFill>
                  <a:schemeClr val="bg1"/>
                </a:solidFill>
              </a:rPr>
              <a:t> hello.asm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3560417" y="1390180"/>
            <a:ext cx="77457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E2C0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步骤</a:t>
            </a:r>
            <a:r>
              <a:rPr lang="en-US" altLang="zh-CN" b="1" dirty="0">
                <a:solidFill>
                  <a:srgbClr val="FE2C0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b="1" dirty="0">
              <a:solidFill>
                <a:srgbClr val="FE2C0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4404914" y="2329848"/>
            <a:ext cx="77457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1D8DE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步骤</a:t>
            </a:r>
            <a:r>
              <a:rPr lang="en-US" altLang="zh-CN" b="1" dirty="0">
                <a:solidFill>
                  <a:srgbClr val="1D8DE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b="1" dirty="0">
              <a:solidFill>
                <a:srgbClr val="1D8DE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983772" y="4181374"/>
            <a:ext cx="1726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执行 </a:t>
            </a:r>
            <a:r>
              <a:rPr lang="en-US" altLang="zh-CN" sz="2000" b="1" dirty="0">
                <a:solidFill>
                  <a:schemeClr val="bg1"/>
                </a:solidFill>
              </a:rPr>
              <a:t>hello.exe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4404914" y="4196763"/>
            <a:ext cx="77457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步骤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4768313" y="3248921"/>
            <a:ext cx="1159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link hello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560417" y="3264310"/>
            <a:ext cx="77457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5DCB08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步骤</a:t>
            </a:r>
            <a:r>
              <a:rPr lang="en-US" altLang="zh-CN" b="1" dirty="0">
                <a:solidFill>
                  <a:srgbClr val="5DCB08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b="1" dirty="0">
              <a:solidFill>
                <a:srgbClr val="5DCB08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4363577" y="876664"/>
            <a:ext cx="41337" cy="4392488"/>
          </a:xfrm>
          <a:prstGeom prst="line">
            <a:avLst/>
          </a:prstGeom>
          <a:ln w="12700">
            <a:solidFill>
              <a:srgbClr val="AAAAAA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629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7624" y="188640"/>
            <a:ext cx="4572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  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'Hello world!', 0DH, 0AH, '$'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endParaRPr lang="en-US" altLang="zh-CN" b="1" dirty="0">
              <a:solidFill>
                <a:srgbClr val="1D8DE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solidFill>
                <a:srgbClr val="1D8DE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SSEG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'STACK'</a:t>
            </a:r>
          </a:p>
          <a:p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SSEG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CS: CODE, DS: DATA, SS: SSEG</a:t>
            </a:r>
          </a:p>
          <a:p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AX, DATA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DS, AX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AX, SSEG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DX,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AH, 9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AH, 4CH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</a:p>
          <a:p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3" name="矩形 2"/>
          <p:cNvSpPr/>
          <p:nvPr/>
        </p:nvSpPr>
        <p:spPr>
          <a:xfrm>
            <a:off x="1187624" y="188640"/>
            <a:ext cx="4572000" cy="93610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7"/>
          <p:cNvSpPr txBox="1"/>
          <p:nvPr/>
        </p:nvSpPr>
        <p:spPr>
          <a:xfrm>
            <a:off x="4860032" y="711610"/>
            <a:ext cx="1152128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数据段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87624" y="1268760"/>
            <a:ext cx="4572000" cy="936104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17"/>
          <p:cNvSpPr txBox="1"/>
          <p:nvPr/>
        </p:nvSpPr>
        <p:spPr>
          <a:xfrm>
            <a:off x="4950511" y="1758662"/>
            <a:ext cx="792088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栈段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87624" y="2420888"/>
            <a:ext cx="4572000" cy="3576052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17"/>
          <p:cNvSpPr txBox="1"/>
          <p:nvPr/>
        </p:nvSpPr>
        <p:spPr>
          <a:xfrm>
            <a:off x="4774331" y="3958076"/>
            <a:ext cx="1008112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代码段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87624" y="6021288"/>
            <a:ext cx="4572000" cy="353661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17"/>
          <p:cNvSpPr txBox="1"/>
          <p:nvPr/>
        </p:nvSpPr>
        <p:spPr>
          <a:xfrm>
            <a:off x="4547186" y="5953548"/>
            <a:ext cx="1251621" cy="50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代码结束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221124" y="3264406"/>
            <a:ext cx="4540840" cy="1444428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b="1" dirty="0">
                <a:ea typeface="微软雅黑" panose="020B0503020204020204" pitchFamily="34" charset="-122"/>
              </a:rPr>
              <a:t>每个段都有一个名字叫段名，以</a:t>
            </a:r>
            <a:r>
              <a:rPr lang="en-US" altLang="zh-CN" sz="2000" b="1" dirty="0">
                <a:ea typeface="微软雅黑" panose="020B0503020204020204" pitchFamily="34" charset="-122"/>
              </a:rPr>
              <a:t>SEGMENT</a:t>
            </a:r>
            <a:r>
              <a:rPr lang="zh-CN" altLang="en-US" sz="2000" b="1" dirty="0">
                <a:ea typeface="微软雅黑" panose="020B0503020204020204" pitchFamily="34" charset="-122"/>
              </a:rPr>
              <a:t>作为段的开始，以</a:t>
            </a:r>
            <a:r>
              <a:rPr lang="en-US" altLang="zh-CN" sz="2000" b="1" dirty="0">
                <a:ea typeface="微软雅黑" panose="020B0503020204020204" pitchFamily="34" charset="-122"/>
              </a:rPr>
              <a:t>ENDS</a:t>
            </a:r>
            <a:r>
              <a:rPr lang="zh-CN" altLang="en-US" sz="2000" b="1" dirty="0">
                <a:ea typeface="微软雅黑" panose="020B0503020204020204" pitchFamily="34" charset="-122"/>
              </a:rPr>
              <a:t>作为段的结束。这两者伪指令前面都要冠以相同的名字。</a:t>
            </a:r>
            <a:endParaRPr lang="en-US" altLang="zh-CN" sz="2000" b="1" dirty="0"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71800" y="5286154"/>
            <a:ext cx="4545182" cy="1249345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b="1" dirty="0">
                <a:ea typeface="微软雅黑" panose="020B0503020204020204" pitchFamily="34" charset="-122"/>
              </a:rPr>
              <a:t>整个源程序必须以</a:t>
            </a:r>
            <a:r>
              <a:rPr lang="en-US" altLang="zh-CN" sz="2000" b="1" dirty="0">
                <a:ea typeface="微软雅黑" panose="020B0503020204020204" pitchFamily="34" charset="-122"/>
              </a:rPr>
              <a:t>END</a:t>
            </a:r>
            <a:r>
              <a:rPr lang="zh-CN" altLang="en-US" sz="2000" b="1" dirty="0">
                <a:ea typeface="微软雅黑" panose="020B0503020204020204" pitchFamily="34" charset="-122"/>
              </a:rPr>
              <a:t>语句来结束，通知汇编程序停止汇编。</a:t>
            </a:r>
            <a:r>
              <a:rPr lang="en-US" altLang="zh-CN" sz="2000" b="1" dirty="0">
                <a:ea typeface="微软雅黑" panose="020B0503020204020204" pitchFamily="34" charset="-122"/>
              </a:rPr>
              <a:t>END</a:t>
            </a:r>
            <a:r>
              <a:rPr lang="zh-CN" altLang="en-US" sz="2000" b="1" dirty="0">
                <a:ea typeface="微软雅黑" panose="020B0503020204020204" pitchFamily="34" charset="-122"/>
              </a:rPr>
              <a:t>后面的标号表示该程序执行时起始地址。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766642" y="3264406"/>
            <a:ext cx="2909814" cy="144442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b="1" dirty="0">
                <a:ea typeface="微软雅黑" panose="020B0503020204020204" pitchFamily="34" charset="-122"/>
              </a:rPr>
              <a:t>注意</a:t>
            </a:r>
            <a:r>
              <a:rPr lang="en-US" altLang="zh-CN" sz="2000" b="1" dirty="0">
                <a:ea typeface="微软雅黑" panose="020B0503020204020204" pitchFamily="34" charset="-122"/>
              </a:rPr>
              <a:t>ENDS</a:t>
            </a:r>
            <a:r>
              <a:rPr lang="zh-CN" altLang="en-US" sz="2000" b="1" dirty="0"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ea typeface="微软雅黑" panose="020B0503020204020204" pitchFamily="34" charset="-122"/>
              </a:rPr>
              <a:t>END</a:t>
            </a:r>
            <a:r>
              <a:rPr lang="zh-CN" altLang="en-US" sz="2000" b="1" dirty="0">
                <a:ea typeface="微软雅黑" panose="020B0503020204020204" pitchFamily="34" charset="-122"/>
              </a:rPr>
              <a:t>的作用区别。</a:t>
            </a:r>
            <a:endParaRPr lang="en-US" altLang="zh-CN" sz="2000" b="1" dirty="0">
              <a:ea typeface="微软雅黑" panose="020B0503020204020204" pitchFamily="34" charset="-122"/>
            </a:endParaRPr>
          </a:p>
          <a:p>
            <a:pPr algn="just"/>
            <a:endParaRPr lang="en-US" altLang="zh-CN" sz="2000" b="1" dirty="0">
              <a:ea typeface="微软雅黑" panose="020B0503020204020204" pitchFamily="34" charset="-122"/>
            </a:endParaRPr>
          </a:p>
          <a:p>
            <a:pPr algn="just"/>
            <a:r>
              <a:rPr lang="en-US" altLang="zh-CN" sz="2000" b="1" dirty="0">
                <a:ea typeface="微软雅黑" panose="020B0503020204020204" pitchFamily="34" charset="-122"/>
              </a:rPr>
              <a:t>START</a:t>
            </a:r>
            <a:r>
              <a:rPr lang="zh-CN" altLang="en-US" sz="2000" b="1" dirty="0">
                <a:ea typeface="微软雅黑" panose="020B0503020204020204" pitchFamily="34" charset="-122"/>
              </a:rPr>
              <a:t>标号要有。</a:t>
            </a:r>
            <a:endParaRPr lang="en-US" altLang="zh-CN" sz="2000" b="1" dirty="0"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27117" y="188640"/>
            <a:ext cx="2849339" cy="295232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b="1" dirty="0">
                <a:ea typeface="微软雅黑" panose="020B0503020204020204" pitchFamily="34" charset="-122"/>
              </a:rPr>
              <a:t>汇编语言程序是按段来组织程序和数据。</a:t>
            </a:r>
            <a:endParaRPr lang="en-US" altLang="zh-CN" sz="2000" b="1" dirty="0">
              <a:ea typeface="微软雅黑" panose="020B0503020204020204" pitchFamily="34" charset="-122"/>
            </a:endParaRPr>
          </a:p>
          <a:p>
            <a:pPr algn="just"/>
            <a:endParaRPr lang="en-US" altLang="zh-CN" sz="2000" b="1" dirty="0"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b="1" dirty="0">
                <a:ea typeface="微软雅黑" panose="020B0503020204020204" pitchFamily="34" charset="-122"/>
              </a:rPr>
              <a:t>程序中的段称为逻辑段，汇编连接后被映射到物理段中。</a:t>
            </a:r>
          </a:p>
        </p:txBody>
      </p:sp>
    </p:spTree>
    <p:extLst>
      <p:ext uri="{BB962C8B-B14F-4D97-AF65-F5344CB8AC3E}">
        <p14:creationId xmlns:p14="http://schemas.microsoft.com/office/powerpoint/2010/main" val="166438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" dur="2000" fill="hold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36304" y="188640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  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'Hello world!', 0DH, 0AH, '$'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endParaRPr lang="en-US" altLang="zh-CN" b="1" dirty="0">
              <a:solidFill>
                <a:srgbClr val="1D8DE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solidFill>
                <a:srgbClr val="1D8DE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SSEG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'STACK'</a:t>
            </a:r>
          </a:p>
          <a:p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SSEG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  <a:p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CS: CODE, DS: DATA, SS: SSEG</a:t>
            </a:r>
          </a:p>
          <a:p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START: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AX, DATA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DS, AX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AX, SSEG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SS, AX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DX,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AH, 9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AH, 4CH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21H</a:t>
            </a: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</a:p>
          <a:p>
            <a:r>
              <a:rPr lang="zh-CN" altLang="en-US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3" name="矩形 2"/>
          <p:cNvSpPr/>
          <p:nvPr/>
        </p:nvSpPr>
        <p:spPr>
          <a:xfrm>
            <a:off x="2736304" y="188640"/>
            <a:ext cx="4572000" cy="3024336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736304" y="3284984"/>
            <a:ext cx="4572000" cy="2448272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736304" y="5733256"/>
            <a:ext cx="4572000" cy="641693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7"/>
          <p:cNvSpPr txBox="1"/>
          <p:nvPr/>
        </p:nvSpPr>
        <p:spPr>
          <a:xfrm>
            <a:off x="1205880" y="1470617"/>
            <a:ext cx="1584176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伪指令语句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7"/>
          <p:cNvSpPr txBox="1"/>
          <p:nvPr/>
        </p:nvSpPr>
        <p:spPr>
          <a:xfrm>
            <a:off x="1403648" y="4316700"/>
            <a:ext cx="1584176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指令语句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7"/>
          <p:cNvSpPr txBox="1"/>
          <p:nvPr/>
        </p:nvSpPr>
        <p:spPr>
          <a:xfrm>
            <a:off x="1259632" y="5823911"/>
            <a:ext cx="1584176" cy="460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伪指令语句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000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26" grpId="0" animBg="1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2011784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汇编语言概述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2060848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164309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汇编基本语法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2133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4284189" y="4243809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8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中断调用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928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80370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汇编语句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2303240" y="1484784"/>
            <a:ext cx="6449098" cy="1080120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指令语句是一种执行性语句</a:t>
            </a:r>
            <a:r>
              <a:rPr lang="en-US" altLang="zh-CN" sz="2400" b="1" dirty="0">
                <a:ea typeface="微软雅黑" panose="020B0503020204020204" pitchFamily="34" charset="-122"/>
              </a:rPr>
              <a:t>,</a:t>
            </a:r>
            <a:r>
              <a:rPr lang="zh-CN" altLang="en-US" sz="2400" b="1" dirty="0">
                <a:ea typeface="微软雅黑" panose="020B0503020204020204" pitchFamily="34" charset="-122"/>
              </a:rPr>
              <a:t> 汇编程序将为之产生一一对应的机器目标代码。</a:t>
            </a:r>
          </a:p>
        </p:txBody>
      </p:sp>
      <p:sp>
        <p:nvSpPr>
          <p:cNvPr id="7" name="矩形 6"/>
          <p:cNvSpPr/>
          <p:nvPr/>
        </p:nvSpPr>
        <p:spPr>
          <a:xfrm>
            <a:off x="539552" y="1484784"/>
            <a:ext cx="1763688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指令语句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539552" y="4104727"/>
            <a:ext cx="8212786" cy="1649333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7"/>
          <p:cNvSpPr txBox="1"/>
          <p:nvPr/>
        </p:nvSpPr>
        <p:spPr>
          <a:xfrm>
            <a:off x="1043608" y="4217675"/>
            <a:ext cx="7056784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每一条指令都对应一种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 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伪指令可完成如处理器选择、定义程序模式、定义数据、分配存储区、指示程序结束等功能，本身不生成目标代码。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6917" y="4005064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5"/>
          <p:cNvSpPr txBox="1"/>
          <p:nvPr/>
        </p:nvSpPr>
        <p:spPr>
          <a:xfrm rot="2771384">
            <a:off x="8085853" y="4211601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2" name="矩形 11"/>
          <p:cNvSpPr/>
          <p:nvPr/>
        </p:nvSpPr>
        <p:spPr>
          <a:xfrm>
            <a:off x="2303240" y="2677852"/>
            <a:ext cx="6449098" cy="111118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伪指令又称为伪操作，是一种说明性语句，它是在对源程序汇编期间由汇编程序处理的操作。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39552" y="2677852"/>
            <a:ext cx="1763688" cy="11111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伪指令语句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0849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伪指令语句格式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755576" y="1916832"/>
            <a:ext cx="1140470" cy="792088"/>
          </a:xfrm>
          <a:prstGeom prst="rect">
            <a:avLst/>
          </a:prstGeom>
          <a:noFill/>
          <a:ln w="9525">
            <a:solidFill>
              <a:srgbClr val="FD7A2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名字</a:t>
            </a:r>
          </a:p>
        </p:txBody>
      </p:sp>
      <p:sp>
        <p:nvSpPr>
          <p:cNvPr id="7" name="矩形 6"/>
          <p:cNvSpPr/>
          <p:nvPr/>
        </p:nvSpPr>
        <p:spPr>
          <a:xfrm>
            <a:off x="2411760" y="1916832"/>
            <a:ext cx="2713833" cy="79208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伪指令助记符</a:t>
            </a:r>
          </a:p>
        </p:txBody>
      </p:sp>
      <p:sp>
        <p:nvSpPr>
          <p:cNvPr id="13" name="矩形 12"/>
          <p:cNvSpPr/>
          <p:nvPr/>
        </p:nvSpPr>
        <p:spPr>
          <a:xfrm>
            <a:off x="5644418" y="1916945"/>
            <a:ext cx="1140470" cy="792088"/>
          </a:xfrm>
          <a:prstGeom prst="rect">
            <a:avLst/>
          </a:prstGeom>
          <a:noFill/>
          <a:ln w="9525">
            <a:solidFill>
              <a:srgbClr val="5DCB0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参数表</a:t>
            </a:r>
          </a:p>
        </p:txBody>
      </p:sp>
      <p:sp>
        <p:nvSpPr>
          <p:cNvPr id="14" name="矩形 13"/>
          <p:cNvSpPr/>
          <p:nvPr/>
        </p:nvSpPr>
        <p:spPr>
          <a:xfrm>
            <a:off x="7307277" y="1916832"/>
            <a:ext cx="1140470" cy="79208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</a:t>
            </a:r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755576" y="3528663"/>
            <a:ext cx="7692171" cy="1628529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1043608" y="3641611"/>
            <a:ext cx="7056784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伪指令助记符，必须有，其它视情况可有可无。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名字：变量名、符号常量名字、段名、过程名等。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参数表：伪指令的参数。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52320" y="3429000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5"/>
          <p:cNvSpPr txBox="1"/>
          <p:nvPr/>
        </p:nvSpPr>
        <p:spPr>
          <a:xfrm rot="2771384">
            <a:off x="7821256" y="3635537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340929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4" grpId="0" animBg="1"/>
      <p:bldP spid="15" grpId="0" animBg="1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26054" y="2256724"/>
            <a:ext cx="2001929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65814" y="2256724"/>
            <a:ext cx="2001929" cy="3116492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658302" y="2256724"/>
            <a:ext cx="2001929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90551" y="2256724"/>
            <a:ext cx="2001929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5813" y="1159444"/>
            <a:ext cx="8626665" cy="78779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伪指令分类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265815" y="2889487"/>
            <a:ext cx="2001929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  DW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DUP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$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426054" y="2889487"/>
            <a:ext cx="2001929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EQU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4658302" y="2889486"/>
            <a:ext cx="2001929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SEGMENT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ASSUME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 AT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890550" y="2889486"/>
            <a:ext cx="2001929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ENDP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NEAR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FAR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65814" y="2403179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数据定义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26053" y="2403179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符号定义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58301" y="2403179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段定义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90549" y="2403179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过程定义</a:t>
            </a:r>
          </a:p>
        </p:txBody>
      </p:sp>
    </p:spTree>
    <p:extLst>
      <p:ext uri="{BB962C8B-B14F-4D97-AF65-F5344CB8AC3E}">
        <p14:creationId xmlns:p14="http://schemas.microsoft.com/office/powerpoint/2010/main" val="1210240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16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数据定义*****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符号定义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段定义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过程定义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伪指令语句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757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数据定义伪指令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755576" y="2492896"/>
            <a:ext cx="1140470" cy="792088"/>
          </a:xfrm>
          <a:prstGeom prst="rect">
            <a:avLst/>
          </a:prstGeom>
          <a:noFill/>
          <a:ln w="9525">
            <a:solidFill>
              <a:srgbClr val="FD7A2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变量名</a:t>
            </a:r>
          </a:p>
        </p:txBody>
      </p:sp>
      <p:sp>
        <p:nvSpPr>
          <p:cNvPr id="7" name="矩形 6"/>
          <p:cNvSpPr/>
          <p:nvPr/>
        </p:nvSpPr>
        <p:spPr>
          <a:xfrm>
            <a:off x="2411760" y="2492896"/>
            <a:ext cx="2713833" cy="79208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助记符</a:t>
            </a:r>
          </a:p>
        </p:txBody>
      </p:sp>
      <p:sp>
        <p:nvSpPr>
          <p:cNvPr id="13" name="矩形 12"/>
          <p:cNvSpPr/>
          <p:nvPr/>
        </p:nvSpPr>
        <p:spPr>
          <a:xfrm>
            <a:off x="5644418" y="2493009"/>
            <a:ext cx="3104046" cy="792088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…,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755576" y="3789040"/>
            <a:ext cx="7992888" cy="2160240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899592" y="3901987"/>
            <a:ext cx="7848872" cy="181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伪指令：字节</a:t>
            </a:r>
            <a:r>
              <a:rPr lang="en-US" altLang="zh-CN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、字</a:t>
            </a:r>
            <a:r>
              <a:rPr lang="en-US" altLang="zh-CN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、双字</a:t>
            </a:r>
            <a:r>
              <a:rPr lang="en-US" altLang="zh-CN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、四字</a:t>
            </a:r>
            <a:r>
              <a:rPr lang="en-US" altLang="zh-CN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DQ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、五字</a:t>
            </a:r>
            <a:r>
              <a:rPr lang="en-US" altLang="zh-CN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DT</a:t>
            </a:r>
            <a:r>
              <a:rPr lang="zh-CN" altLang="en-US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rgbClr val="FD7A2A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变量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是操作数地址的符号化表示。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汇编程序将操作数第一个字节的偏移地址赋于该变量。后面操作数地址依次按变量类型得到。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操作数的形式可以是常量，数值表式，地址表达式，？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DUP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55577" y="1437474"/>
            <a:ext cx="8064896" cy="62337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汇编时，数据定义伪指令完成数据类型定义及存储器分配等功能。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093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数据定义伪指令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aphicFrame>
        <p:nvGraphicFramePr>
          <p:cNvPr id="12" name="图表 11"/>
          <p:cNvGraphicFramePr/>
          <p:nvPr>
            <p:extLst>
              <p:ext uri="{D42A27DB-BD31-4B8C-83A1-F6EECF244321}">
                <p14:modId xmlns:p14="http://schemas.microsoft.com/office/powerpoint/2010/main" val="615031968"/>
              </p:ext>
            </p:extLst>
          </p:nvPr>
        </p:nvGraphicFramePr>
        <p:xfrm>
          <a:off x="1976972" y="2732493"/>
          <a:ext cx="6915508" cy="2969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339552" y="1340768"/>
            <a:ext cx="1576264" cy="4613730"/>
            <a:chOff x="5772707" y="1149297"/>
            <a:chExt cx="1792288" cy="5138958"/>
          </a:xfrm>
        </p:grpSpPr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6448597" y="1879767"/>
              <a:ext cx="393700" cy="4408488"/>
            </a:xfrm>
            <a:prstGeom prst="rect">
              <a:avLst/>
            </a:prstGeom>
            <a:solidFill>
              <a:srgbClr val="F5B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Oval 9"/>
            <p:cNvSpPr>
              <a:spLocks noChangeArrowheads="1"/>
            </p:cNvSpPr>
            <p:nvPr/>
          </p:nvSpPr>
          <p:spPr bwMode="auto">
            <a:xfrm>
              <a:off x="5772707" y="1149297"/>
              <a:ext cx="1792288" cy="1717895"/>
            </a:xfrm>
            <a:prstGeom prst="ellipse">
              <a:avLst/>
            </a:prstGeom>
            <a:solidFill>
              <a:srgbClr val="F5B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Oval 10"/>
            <p:cNvSpPr>
              <a:spLocks noChangeArrowheads="1"/>
            </p:cNvSpPr>
            <p:nvPr/>
          </p:nvSpPr>
          <p:spPr bwMode="auto">
            <a:xfrm>
              <a:off x="6418723" y="1837198"/>
              <a:ext cx="434975" cy="434975"/>
            </a:xfrm>
            <a:prstGeom prst="ellipse">
              <a:avLst/>
            </a:prstGeom>
            <a:solidFill>
              <a:srgbClr val="6750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4788024" y="2933025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130862" y="3982247"/>
            <a:ext cx="556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836036" y="485649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solution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39952" y="3433095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DQ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27784" y="4514338"/>
            <a:ext cx="556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319305" y="5060785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301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：数据定义伪指令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899592" y="1484784"/>
            <a:ext cx="7344816" cy="1045158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    DATA1  DW  12H, 2+3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，？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    DATA2  DB   12H, -1, 0F5H, 12 ,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1043608" y="3542169"/>
            <a:ext cx="366469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BX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DATA1+2</a:t>
            </a:r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1043608" y="4136372"/>
            <a:ext cx="330465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CH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DATA1</a:t>
            </a: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1043608" y="2892516"/>
            <a:ext cx="3600400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AX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DATA1</a:t>
            </a:r>
          </a:p>
        </p:txBody>
      </p:sp>
      <p:sp>
        <p:nvSpPr>
          <p:cNvPr id="16" name="矩形 15"/>
          <p:cNvSpPr/>
          <p:nvPr/>
        </p:nvSpPr>
        <p:spPr>
          <a:xfrm>
            <a:off x="899592" y="2820508"/>
            <a:ext cx="3448669" cy="2088232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7904" y="4181495"/>
            <a:ext cx="373680" cy="478498"/>
          </a:xfrm>
          <a:prstGeom prst="rect">
            <a:avLst/>
          </a:prstGeom>
          <a:noFill/>
        </p:spPr>
      </p:pic>
      <p:sp>
        <p:nvSpPr>
          <p:cNvPr id="22" name="矩形 3"/>
          <p:cNvSpPr>
            <a:spLocks noChangeArrowheads="1"/>
          </p:cNvSpPr>
          <p:nvPr/>
        </p:nvSpPr>
        <p:spPr bwMode="auto">
          <a:xfrm>
            <a:off x="4939755" y="3531432"/>
            <a:ext cx="330465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CL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[DATA2+3]</a:t>
            </a: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4939755" y="4125635"/>
            <a:ext cx="330465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SI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 DATA2</a:t>
            </a:r>
          </a:p>
        </p:txBody>
      </p: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4939755" y="2881779"/>
            <a:ext cx="3600400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DL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DATA2+1</a:t>
            </a:r>
          </a:p>
        </p:txBody>
      </p:sp>
      <p:sp>
        <p:nvSpPr>
          <p:cNvPr id="25" name="矩形 24"/>
          <p:cNvSpPr/>
          <p:nvPr/>
        </p:nvSpPr>
        <p:spPr>
          <a:xfrm>
            <a:off x="4795739" y="2809771"/>
            <a:ext cx="3448669" cy="2088232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04051" y="4170758"/>
            <a:ext cx="373680" cy="478498"/>
          </a:xfrm>
          <a:prstGeom prst="rect">
            <a:avLst/>
          </a:prstGeom>
          <a:noFill/>
        </p:spPr>
      </p:pic>
      <p:sp>
        <p:nvSpPr>
          <p:cNvPr id="27" name="矩形 3"/>
          <p:cNvSpPr>
            <a:spLocks noChangeArrowheads="1"/>
          </p:cNvSpPr>
          <p:nvPr/>
        </p:nvSpPr>
        <p:spPr bwMode="auto">
          <a:xfrm>
            <a:off x="2341469" y="5013176"/>
            <a:ext cx="4461061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CH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BYTE PTR DATA1</a:t>
            </a:r>
          </a:p>
        </p:txBody>
      </p:sp>
      <p:sp>
        <p:nvSpPr>
          <p:cNvPr id="28" name="矩形 3"/>
          <p:cNvSpPr>
            <a:spLocks noChangeArrowheads="1"/>
          </p:cNvSpPr>
          <p:nvPr/>
        </p:nvSpPr>
        <p:spPr bwMode="auto">
          <a:xfrm>
            <a:off x="2267744" y="5532513"/>
            <a:ext cx="467880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 SI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 WORD PTR DATA2</a:t>
            </a:r>
          </a:p>
        </p:txBody>
      </p:sp>
      <p:sp>
        <p:nvSpPr>
          <p:cNvPr id="30" name="矩形 29"/>
          <p:cNvSpPr/>
          <p:nvPr/>
        </p:nvSpPr>
        <p:spPr>
          <a:xfrm>
            <a:off x="1979712" y="6096385"/>
            <a:ext cx="5472608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？表示此项数据无确定初值，数据类型仍由定义命令给出。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58206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爆炸形 1 34"/>
          <p:cNvSpPr/>
          <p:nvPr/>
        </p:nvSpPr>
        <p:spPr>
          <a:xfrm>
            <a:off x="1302456" y="4469400"/>
            <a:ext cx="2592288" cy="1236844"/>
          </a:xfrm>
          <a:prstGeom prst="irregularSeal1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类型不一致</a:t>
            </a:r>
          </a:p>
        </p:txBody>
      </p:sp>
      <p:sp>
        <p:nvSpPr>
          <p:cNvPr id="36" name="爆炸形 1 35"/>
          <p:cNvSpPr/>
          <p:nvPr/>
        </p:nvSpPr>
        <p:spPr>
          <a:xfrm>
            <a:off x="5393272" y="4384898"/>
            <a:ext cx="2592288" cy="1236844"/>
          </a:xfrm>
          <a:prstGeom prst="irregularSeal1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类型不一致</a:t>
            </a:r>
          </a:p>
        </p:txBody>
      </p:sp>
    </p:spTree>
    <p:extLst>
      <p:ext uri="{BB962C8B-B14F-4D97-AF65-F5344CB8AC3E}">
        <p14:creationId xmlns:p14="http://schemas.microsoft.com/office/powerpoint/2010/main" val="273340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6" grpId="0" animBg="1"/>
      <p:bldP spid="24" grpId="0"/>
      <p:bldP spid="25" grpId="0" animBg="1"/>
      <p:bldP spid="27" grpId="0"/>
      <p:bldP spid="28" grpId="0"/>
      <p:bldP spid="30" grpId="0"/>
      <p:bldP spid="35" grpId="0" animBg="1"/>
      <p:bldP spid="35" grpId="1" animBg="1"/>
      <p:bldP spid="36" grpId="0" animBg="1"/>
      <p:bldP spid="3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：字符串定义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1187625" y="3198886"/>
            <a:ext cx="309634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DATA3  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'SEU'</a:t>
            </a:r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1187625" y="3998293"/>
            <a:ext cx="309634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DATA4  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'AB'</a:t>
            </a: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1187625" y="4855070"/>
            <a:ext cx="3096343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DATA5  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'AB'</a:t>
            </a:r>
          </a:p>
        </p:txBody>
      </p:sp>
      <p:sp>
        <p:nvSpPr>
          <p:cNvPr id="8" name="矩形 7"/>
          <p:cNvSpPr/>
          <p:nvPr/>
        </p:nvSpPr>
        <p:spPr>
          <a:xfrm>
            <a:off x="1131087" y="1556753"/>
            <a:ext cx="7193340" cy="83099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DB是唯一能定义长度大于2的字符串的伪指令，字符串用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  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括起来，串中的每字符用相应ASCII码表示。</a:t>
            </a:r>
          </a:p>
        </p:txBody>
      </p:sp>
      <p:sp>
        <p:nvSpPr>
          <p:cNvPr id="12" name="矩形 11"/>
          <p:cNvSpPr/>
          <p:nvPr/>
        </p:nvSpPr>
        <p:spPr>
          <a:xfrm>
            <a:off x="5940152" y="4561858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40152" y="4155008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40152" y="3758733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940152" y="3356561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40152" y="2921874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940152" y="4968708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940152" y="5348208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0" name="矩形 4"/>
          <p:cNvSpPr>
            <a:spLocks noChangeArrowheads="1"/>
          </p:cNvSpPr>
          <p:nvPr/>
        </p:nvSpPr>
        <p:spPr bwMode="auto">
          <a:xfrm>
            <a:off x="6159923" y="3356557"/>
            <a:ext cx="1083834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45H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4"/>
          <p:cNvSpPr>
            <a:spLocks noChangeArrowheads="1"/>
          </p:cNvSpPr>
          <p:nvPr/>
        </p:nvSpPr>
        <p:spPr bwMode="auto">
          <a:xfrm>
            <a:off x="6159923" y="3765167"/>
            <a:ext cx="1011193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6159923" y="4177038"/>
            <a:ext cx="945980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41H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4"/>
          <p:cNvSpPr>
            <a:spLocks noChangeArrowheads="1"/>
          </p:cNvSpPr>
          <p:nvPr/>
        </p:nvSpPr>
        <p:spPr bwMode="auto">
          <a:xfrm>
            <a:off x="6159923" y="4588909"/>
            <a:ext cx="867388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42H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6159923" y="5351807"/>
            <a:ext cx="936104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41H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4"/>
          <p:cNvSpPr>
            <a:spLocks noChangeArrowheads="1"/>
          </p:cNvSpPr>
          <p:nvPr/>
        </p:nvSpPr>
        <p:spPr bwMode="auto">
          <a:xfrm>
            <a:off x="6159923" y="4970358"/>
            <a:ext cx="932812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42H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4"/>
          <p:cNvSpPr>
            <a:spLocks noChangeArrowheads="1"/>
          </p:cNvSpPr>
          <p:nvPr/>
        </p:nvSpPr>
        <p:spPr bwMode="auto">
          <a:xfrm>
            <a:off x="6159923" y="2942050"/>
            <a:ext cx="86717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53H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4"/>
          <p:cNvSpPr>
            <a:spLocks noChangeArrowheads="1"/>
          </p:cNvSpPr>
          <p:nvPr/>
        </p:nvSpPr>
        <p:spPr bwMode="auto">
          <a:xfrm>
            <a:off x="7105903" y="5348208"/>
            <a:ext cx="1008112" cy="41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高地址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4"/>
          <p:cNvSpPr>
            <a:spLocks noChangeArrowheads="1"/>
          </p:cNvSpPr>
          <p:nvPr/>
        </p:nvSpPr>
        <p:spPr bwMode="auto">
          <a:xfrm>
            <a:off x="7084820" y="2937934"/>
            <a:ext cx="1008112" cy="41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低地址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0347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的操作步骤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403861815"/>
              </p:ext>
            </p:extLst>
          </p:nvPr>
        </p:nvGraphicFramePr>
        <p:xfrm>
          <a:off x="164668" y="1988840"/>
          <a:ext cx="8871828" cy="2736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 5"/>
          <p:cNvSpPr/>
          <p:nvPr/>
        </p:nvSpPr>
        <p:spPr>
          <a:xfrm>
            <a:off x="2146072" y="5975305"/>
            <a:ext cx="5050487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DATA2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中前</a:t>
            </a:r>
            <a:r>
              <a:rPr lang="en-US" altLang="zh-CN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个数，如果是有符号数，大小顺序是什么？如果是无符号数呢？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58206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06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DUP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伪指令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1035906" y="1772816"/>
            <a:ext cx="1140470" cy="792088"/>
          </a:xfrm>
          <a:prstGeom prst="rect">
            <a:avLst/>
          </a:prstGeom>
          <a:noFill/>
          <a:ln w="317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2000" b="1" dirty="0">
              <a:solidFill>
                <a:srgbClr val="FD7A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92091" y="1772816"/>
            <a:ext cx="1872207" cy="79208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DUP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68354" y="1772929"/>
            <a:ext cx="3392078" cy="792088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…,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1043609" y="3003491"/>
            <a:ext cx="5472607" cy="568745"/>
          </a:xfrm>
          <a:prstGeom prst="rect">
            <a:avLst/>
          </a:prstGeom>
          <a:noFill/>
          <a:ln w="9525">
            <a:solidFill>
              <a:srgbClr val="FD7A2A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DUP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(?)</a:t>
            </a: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1043609" y="3881664"/>
            <a:ext cx="5472607" cy="568745"/>
          </a:xfrm>
          <a:prstGeom prst="rect">
            <a:avLst/>
          </a:prstGeom>
          <a:noFill/>
          <a:ln w="9525">
            <a:solidFill>
              <a:srgbClr val="FD7A2A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DD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DUP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( ?, 12, 3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DUP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(12,5) )</a:t>
            </a: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1043608" y="4732463"/>
            <a:ext cx="5472607" cy="568745"/>
          </a:xfrm>
          <a:prstGeom prst="rect">
            <a:avLst/>
          </a:prstGeom>
          <a:noFill/>
          <a:ln w="9525">
            <a:solidFill>
              <a:srgbClr val="FD7A2A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DB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DUP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('SEU', 'NJU', 3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DUP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(?))</a:t>
            </a:r>
          </a:p>
        </p:txBody>
      </p:sp>
      <p:sp>
        <p:nvSpPr>
          <p:cNvPr id="23" name="矩形 22"/>
          <p:cNvSpPr/>
          <p:nvPr/>
        </p:nvSpPr>
        <p:spPr>
          <a:xfrm>
            <a:off x="6621968" y="2987755"/>
            <a:ext cx="1838464" cy="584481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占用</a:t>
            </a:r>
            <a:r>
              <a:rPr lang="zh-CN" altLang="en-US" sz="20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200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sp>
        <p:nvSpPr>
          <p:cNvPr id="24" name="矩形 23"/>
          <p:cNvSpPr/>
          <p:nvPr/>
        </p:nvSpPr>
        <p:spPr>
          <a:xfrm>
            <a:off x="6621968" y="3873795"/>
            <a:ext cx="1838464" cy="584481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占用</a:t>
            </a:r>
            <a:r>
              <a:rPr lang="en-US" altLang="zh-CN" sz="20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160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  <p:sp>
        <p:nvSpPr>
          <p:cNvPr id="25" name="矩形 24"/>
          <p:cNvSpPr/>
          <p:nvPr/>
        </p:nvSpPr>
        <p:spPr>
          <a:xfrm>
            <a:off x="6621968" y="4747711"/>
            <a:ext cx="1838464" cy="584481"/>
          </a:xfrm>
          <a:prstGeom prst="rect">
            <a:avLst/>
          </a:prstGeom>
          <a:noFill/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占用</a:t>
            </a:r>
            <a:r>
              <a:rPr lang="zh-CN" altLang="en-US" sz="20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27</a:t>
            </a:r>
            <a:r>
              <a:rPr lang="zh-CN" altLang="en-US" sz="20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</a:t>
            </a:r>
          </a:p>
        </p:txBody>
      </p:sp>
    </p:spTree>
    <p:extLst>
      <p:ext uri="{BB962C8B-B14F-4D97-AF65-F5344CB8AC3E}">
        <p14:creationId xmlns:p14="http://schemas.microsoft.com/office/powerpoint/2010/main" val="319725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3" grpId="0" animBg="1"/>
      <p:bldP spid="14" grpId="0" animBg="1"/>
      <p:bldP spid="15" grpId="0" animBg="1"/>
      <p:bldP spid="23" grpId="0"/>
      <p:bldP spid="24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变量的属性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847452" y="2060848"/>
            <a:ext cx="1534513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段属性</a:t>
            </a:r>
          </a:p>
        </p:txBody>
      </p:sp>
      <p:sp>
        <p:nvSpPr>
          <p:cNvPr id="7" name="矩形 6"/>
          <p:cNvSpPr/>
          <p:nvPr/>
        </p:nvSpPr>
        <p:spPr>
          <a:xfrm>
            <a:off x="2615380" y="2132856"/>
            <a:ext cx="586492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表示于该变量相对应的数据区所在段的段地址。 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615380" y="2724192"/>
            <a:ext cx="550488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47452" y="3033768"/>
            <a:ext cx="1534513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偏移值属性</a:t>
            </a:r>
          </a:p>
        </p:txBody>
      </p:sp>
      <p:sp>
        <p:nvSpPr>
          <p:cNvPr id="10" name="矩形 9"/>
          <p:cNvSpPr/>
          <p:nvPr/>
        </p:nvSpPr>
        <p:spPr>
          <a:xfrm>
            <a:off x="827584" y="3988874"/>
            <a:ext cx="1534513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类型属性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2615380" y="3697112"/>
            <a:ext cx="550488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615380" y="4624224"/>
            <a:ext cx="5504880" cy="2067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615380" y="3138216"/>
            <a:ext cx="550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表示该变量与段起始地址相距的字节数。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15380" y="3861048"/>
            <a:ext cx="5720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表示地址所指数据区中数据项的存取单位是字节、字、双字、四字还是十字。</a:t>
            </a:r>
            <a:endParaRPr lang="zh-CN" altLang="en-US" sz="20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857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 animBg="1"/>
      <p:bldP spid="10" grpId="0" animBg="1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855703" y="1842180"/>
            <a:ext cx="7316697" cy="3191643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数据定义时，出现在地址表达式中的变量表示该变量的偏移地址，用根据偏移地址计算出的地址表达式的值初始化相应的存储单元。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格式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DW  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地址表达式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。利用该地址表达式的计算值初始化相应的存储字。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格式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DD   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地址表达式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。地址表达式计算结果对应的段地址（高位字）和偏移地址（低位字）来初始化相应的两个存储字。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3568" y="1628800"/>
            <a:ext cx="7776442" cy="3600400"/>
          </a:xfrm>
          <a:prstGeom prst="rect">
            <a:avLst/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数据定义伪指令：地址表达式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6"/>
          <p:cNvSpPr/>
          <p:nvPr/>
        </p:nvSpPr>
        <p:spPr>
          <a:xfrm>
            <a:off x="1547664" y="5951021"/>
            <a:ext cx="590465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 b="1" dirty="0">
                <a:ln w="17780" cmpd="sng">
                  <a:noFill/>
                  <a:prstDash val="solid"/>
                  <a:miter lim="800000"/>
                </a:ln>
                <a:solidFill>
                  <a:srgbClr val="E81A30"/>
                </a:solidFill>
                <a:latin typeface="微软雅黑" pitchFamily="34" charset="-122"/>
                <a:ea typeface="微软雅黑" pitchFamily="34" charset="-122"/>
              </a:rPr>
              <a:t>回顾</a:t>
            </a:r>
            <a:r>
              <a:rPr lang="en-US" altLang="zh-CN" sz="2000" b="1" dirty="0">
                <a:ln w="17780" cmpd="sng">
                  <a:noFill/>
                  <a:prstDash val="solid"/>
                  <a:miter lim="800000"/>
                </a:ln>
                <a:solidFill>
                  <a:srgbClr val="E81A3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ln w="17780" cmpd="sng">
                  <a:noFill/>
                  <a:prstDash val="solid"/>
                  <a:miter lim="800000"/>
                </a:ln>
                <a:solidFill>
                  <a:srgbClr val="E81A30"/>
                </a:solidFill>
                <a:latin typeface="微软雅黑" pitchFamily="34" charset="-122"/>
                <a:ea typeface="微软雅黑" pitchFamily="34" charset="-122"/>
              </a:rPr>
              <a:t>语言，这是不是定义了一个指针变量？</a:t>
            </a:r>
            <a:endParaRPr lang="zh-CN" altLang="en-US" sz="1600" b="1" dirty="0">
              <a:ln w="17780" cmpd="sng">
                <a:noFill/>
                <a:prstDash val="solid"/>
                <a:miter lim="800000"/>
              </a:ln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65" y="5524698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88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数据定义伪指令：地址表达式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1043608" y="1484784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FOO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SEGMENT AT 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55H</a:t>
            </a:r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1691680" y="2067362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ZERO</a:t>
            </a: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1691680" y="2499410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ONE</a:t>
            </a: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1691680" y="2924944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TWO</a:t>
            </a: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1691680" y="3355757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THREE</a:t>
            </a: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1691680" y="3807708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FOUR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1691680" y="4235779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FIVE</a:t>
            </a: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1043608" y="5282107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FOO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ENDS</a:t>
            </a: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2692077" y="2060848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2AH</a:t>
            </a: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2692077" y="2492896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ONE</a:t>
            </a: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2692077" y="2918430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TWO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2692077" y="3349243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THREE+2</a:t>
            </a: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2692077" y="3801194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FOUR+2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2692077" y="4229265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FIVE-ONE</a:t>
            </a:r>
          </a:p>
        </p:txBody>
      </p:sp>
      <p:sp>
        <p:nvSpPr>
          <p:cNvPr id="22" name="矩形 21"/>
          <p:cNvSpPr/>
          <p:nvPr/>
        </p:nvSpPr>
        <p:spPr>
          <a:xfrm>
            <a:off x="899592" y="1340768"/>
            <a:ext cx="3895260" cy="44955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514932" y="4614296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514932" y="4207446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514932" y="3811171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514932" y="3408999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514932" y="2974312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514932" y="5021146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514932" y="5400646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43" name="矩形 4"/>
          <p:cNvSpPr>
            <a:spLocks noChangeArrowheads="1"/>
          </p:cNvSpPr>
          <p:nvPr/>
        </p:nvSpPr>
        <p:spPr bwMode="auto">
          <a:xfrm>
            <a:off x="5734703" y="3408995"/>
            <a:ext cx="1083834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"/>
          <p:cNvSpPr>
            <a:spLocks noChangeArrowheads="1"/>
          </p:cNvSpPr>
          <p:nvPr/>
        </p:nvSpPr>
        <p:spPr bwMode="auto">
          <a:xfrm>
            <a:off x="5734703" y="3817605"/>
            <a:ext cx="1011193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矩形 4"/>
          <p:cNvSpPr>
            <a:spLocks noChangeArrowheads="1"/>
          </p:cNvSpPr>
          <p:nvPr/>
        </p:nvSpPr>
        <p:spPr bwMode="auto">
          <a:xfrm>
            <a:off x="5734703" y="4229476"/>
            <a:ext cx="94598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09H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5734703" y="4641347"/>
            <a:ext cx="867388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"/>
          <p:cNvSpPr>
            <a:spLocks noChangeArrowheads="1"/>
          </p:cNvSpPr>
          <p:nvPr/>
        </p:nvSpPr>
        <p:spPr bwMode="auto">
          <a:xfrm>
            <a:off x="5734703" y="5404245"/>
            <a:ext cx="936104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"/>
          <p:cNvSpPr>
            <a:spLocks noChangeArrowheads="1"/>
          </p:cNvSpPr>
          <p:nvPr/>
        </p:nvSpPr>
        <p:spPr bwMode="auto">
          <a:xfrm>
            <a:off x="5734703" y="5022796"/>
            <a:ext cx="932812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矩形 4"/>
          <p:cNvSpPr>
            <a:spLocks noChangeArrowheads="1"/>
          </p:cNvSpPr>
          <p:nvPr/>
        </p:nvSpPr>
        <p:spPr bwMode="auto">
          <a:xfrm>
            <a:off x="5734703" y="2994488"/>
            <a:ext cx="86717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514932" y="2573903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514932" y="2177628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514932" y="1775456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514932" y="1340769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6" name="矩形 4"/>
          <p:cNvSpPr>
            <a:spLocks noChangeArrowheads="1"/>
          </p:cNvSpPr>
          <p:nvPr/>
        </p:nvSpPr>
        <p:spPr bwMode="auto">
          <a:xfrm>
            <a:off x="5734703" y="1775452"/>
            <a:ext cx="1083834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01H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矩形 4"/>
          <p:cNvSpPr>
            <a:spLocks noChangeArrowheads="1"/>
          </p:cNvSpPr>
          <p:nvPr/>
        </p:nvSpPr>
        <p:spPr bwMode="auto">
          <a:xfrm>
            <a:off x="5734703" y="2184062"/>
            <a:ext cx="1011193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矩形 4"/>
          <p:cNvSpPr>
            <a:spLocks noChangeArrowheads="1"/>
          </p:cNvSpPr>
          <p:nvPr/>
        </p:nvSpPr>
        <p:spPr bwMode="auto">
          <a:xfrm>
            <a:off x="5734703" y="2595933"/>
            <a:ext cx="94598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03H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4"/>
          <p:cNvSpPr>
            <a:spLocks noChangeArrowheads="1"/>
          </p:cNvSpPr>
          <p:nvPr/>
        </p:nvSpPr>
        <p:spPr bwMode="auto">
          <a:xfrm>
            <a:off x="5734703" y="1360945"/>
            <a:ext cx="86717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2AH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4"/>
          <p:cNvSpPr>
            <a:spLocks noChangeArrowheads="1"/>
          </p:cNvSpPr>
          <p:nvPr/>
        </p:nvSpPr>
        <p:spPr bwMode="auto">
          <a:xfrm>
            <a:off x="6671385" y="1372725"/>
            <a:ext cx="1008112" cy="41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 : 0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矩形 4"/>
          <p:cNvSpPr>
            <a:spLocks noChangeArrowheads="1"/>
          </p:cNvSpPr>
          <p:nvPr/>
        </p:nvSpPr>
        <p:spPr bwMode="auto">
          <a:xfrm>
            <a:off x="6671385" y="1807041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 : 1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矩形 4"/>
          <p:cNvSpPr>
            <a:spLocks noChangeArrowheads="1"/>
          </p:cNvSpPr>
          <p:nvPr/>
        </p:nvSpPr>
        <p:spPr bwMode="auto">
          <a:xfrm>
            <a:off x="6671385" y="2598639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 : 3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矩形 4"/>
          <p:cNvSpPr>
            <a:spLocks noChangeArrowheads="1"/>
          </p:cNvSpPr>
          <p:nvPr/>
        </p:nvSpPr>
        <p:spPr bwMode="auto">
          <a:xfrm>
            <a:off x="6671385" y="4240039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 : 7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4"/>
          <p:cNvSpPr>
            <a:spLocks noChangeArrowheads="1"/>
          </p:cNvSpPr>
          <p:nvPr/>
        </p:nvSpPr>
        <p:spPr bwMode="auto">
          <a:xfrm>
            <a:off x="6671385" y="5424250"/>
            <a:ext cx="1420040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 :0AH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矩形 4"/>
          <p:cNvSpPr>
            <a:spLocks noChangeArrowheads="1"/>
          </p:cNvSpPr>
          <p:nvPr/>
        </p:nvSpPr>
        <p:spPr bwMode="auto">
          <a:xfrm>
            <a:off x="7675172" y="1355188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ZERO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4"/>
          <p:cNvSpPr>
            <a:spLocks noChangeArrowheads="1"/>
          </p:cNvSpPr>
          <p:nvPr/>
        </p:nvSpPr>
        <p:spPr bwMode="auto">
          <a:xfrm>
            <a:off x="7675172" y="1807041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ONE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矩形 4"/>
          <p:cNvSpPr>
            <a:spLocks noChangeArrowheads="1"/>
          </p:cNvSpPr>
          <p:nvPr/>
        </p:nvSpPr>
        <p:spPr bwMode="auto">
          <a:xfrm>
            <a:off x="7675172" y="2598639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TWO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矩形 4"/>
          <p:cNvSpPr>
            <a:spLocks noChangeArrowheads="1"/>
          </p:cNvSpPr>
          <p:nvPr/>
        </p:nvSpPr>
        <p:spPr bwMode="auto">
          <a:xfrm>
            <a:off x="7675172" y="4235917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THREE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3"/>
          <p:cNvSpPr>
            <a:spLocks noChangeArrowheads="1"/>
          </p:cNvSpPr>
          <p:nvPr/>
        </p:nvSpPr>
        <p:spPr bwMode="auto">
          <a:xfrm>
            <a:off x="1691680" y="4667827"/>
            <a:ext cx="114441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SIX</a:t>
            </a:r>
          </a:p>
        </p:txBody>
      </p:sp>
      <p:sp>
        <p:nvSpPr>
          <p:cNvPr id="60" name="矩形 3"/>
          <p:cNvSpPr>
            <a:spLocks noChangeArrowheads="1"/>
          </p:cNvSpPr>
          <p:nvPr/>
        </p:nvSpPr>
        <p:spPr bwMode="auto">
          <a:xfrm>
            <a:off x="2692077" y="4661313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$-ZERO</a:t>
            </a:r>
          </a:p>
        </p:txBody>
      </p:sp>
    </p:spTree>
    <p:extLst>
      <p:ext uri="{BB962C8B-B14F-4D97-AF65-F5344CB8AC3E}">
        <p14:creationId xmlns:p14="http://schemas.microsoft.com/office/powerpoint/2010/main" val="12751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/>
      <p:bldP spid="48" grpId="0"/>
      <p:bldP spid="49" grpId="0"/>
      <p:bldP spid="52" grpId="0" animBg="1"/>
      <p:bldP spid="53" grpId="0" animBg="1"/>
      <p:bldP spid="54" grpId="0" animBg="1"/>
      <p:bldP spid="55" grpId="0" animBg="1"/>
      <p:bldP spid="56" grpId="0"/>
      <p:bldP spid="57" grpId="0"/>
      <p:bldP spid="58" grpId="0"/>
      <p:bldP spid="59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51" grpId="0"/>
      <p:bldP spid="6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数据定义伪指令：地址表达式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2" name="矩形 51"/>
          <p:cNvSpPr/>
          <p:nvPr/>
        </p:nvSpPr>
        <p:spPr>
          <a:xfrm>
            <a:off x="5220072" y="2645910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220072" y="2249635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220072" y="1847463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220072" y="1412776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6" name="矩形 4"/>
          <p:cNvSpPr>
            <a:spLocks noChangeArrowheads="1"/>
          </p:cNvSpPr>
          <p:nvPr/>
        </p:nvSpPr>
        <p:spPr bwMode="auto">
          <a:xfrm>
            <a:off x="5439843" y="1847459"/>
            <a:ext cx="1083834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矩形 4"/>
          <p:cNvSpPr>
            <a:spLocks noChangeArrowheads="1"/>
          </p:cNvSpPr>
          <p:nvPr/>
        </p:nvSpPr>
        <p:spPr bwMode="auto">
          <a:xfrm>
            <a:off x="5439843" y="2256069"/>
            <a:ext cx="1011193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0CH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矩形 4"/>
          <p:cNvSpPr>
            <a:spLocks noChangeArrowheads="1"/>
          </p:cNvSpPr>
          <p:nvPr/>
        </p:nvSpPr>
        <p:spPr bwMode="auto">
          <a:xfrm>
            <a:off x="5439843" y="2667940"/>
            <a:ext cx="945980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矩形 4"/>
          <p:cNvSpPr>
            <a:spLocks noChangeArrowheads="1"/>
          </p:cNvSpPr>
          <p:nvPr/>
        </p:nvSpPr>
        <p:spPr bwMode="auto">
          <a:xfrm>
            <a:off x="5439843" y="1432952"/>
            <a:ext cx="86717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0DH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矩形 4"/>
          <p:cNvSpPr>
            <a:spLocks noChangeArrowheads="1"/>
          </p:cNvSpPr>
          <p:nvPr/>
        </p:nvSpPr>
        <p:spPr bwMode="auto">
          <a:xfrm>
            <a:off x="6376524" y="1444732"/>
            <a:ext cx="1436469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 : 0BH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矩形 4"/>
          <p:cNvSpPr>
            <a:spLocks noChangeArrowheads="1"/>
          </p:cNvSpPr>
          <p:nvPr/>
        </p:nvSpPr>
        <p:spPr bwMode="auto">
          <a:xfrm>
            <a:off x="6376525" y="2276871"/>
            <a:ext cx="1436468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 : 0DH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矩形 4"/>
          <p:cNvSpPr>
            <a:spLocks noChangeArrowheads="1"/>
          </p:cNvSpPr>
          <p:nvPr/>
        </p:nvSpPr>
        <p:spPr bwMode="auto">
          <a:xfrm>
            <a:off x="7661516" y="1451280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FOUR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矩形 4"/>
          <p:cNvSpPr>
            <a:spLocks noChangeArrowheads="1"/>
          </p:cNvSpPr>
          <p:nvPr/>
        </p:nvSpPr>
        <p:spPr bwMode="auto">
          <a:xfrm>
            <a:off x="7661516" y="2276871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FIVE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5220072" y="3748448"/>
            <a:ext cx="3672408" cy="2022092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操作数为地址表达式时伪操作命令只能是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地址表达式中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两个变量只能相减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$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是当前存储单元地址。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"/>
          <p:cNvSpPr>
            <a:spLocks noChangeArrowheads="1"/>
          </p:cNvSpPr>
          <p:nvPr/>
        </p:nvSpPr>
        <p:spPr bwMode="auto">
          <a:xfrm>
            <a:off x="1043608" y="1556792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FOO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SEGMENT AT 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55H</a:t>
            </a:r>
          </a:p>
        </p:txBody>
      </p:sp>
      <p:sp>
        <p:nvSpPr>
          <p:cNvPr id="34" name="矩形 3"/>
          <p:cNvSpPr>
            <a:spLocks noChangeArrowheads="1"/>
          </p:cNvSpPr>
          <p:nvPr/>
        </p:nvSpPr>
        <p:spPr bwMode="auto">
          <a:xfrm>
            <a:off x="1691680" y="2139370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ZERO</a:t>
            </a:r>
          </a:p>
        </p:txBody>
      </p:sp>
      <p:sp>
        <p:nvSpPr>
          <p:cNvPr id="35" name="矩形 3"/>
          <p:cNvSpPr>
            <a:spLocks noChangeArrowheads="1"/>
          </p:cNvSpPr>
          <p:nvPr/>
        </p:nvSpPr>
        <p:spPr bwMode="auto">
          <a:xfrm>
            <a:off x="1691680" y="2571418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ONE</a:t>
            </a:r>
          </a:p>
        </p:txBody>
      </p:sp>
      <p:sp>
        <p:nvSpPr>
          <p:cNvPr id="36" name="矩形 3"/>
          <p:cNvSpPr>
            <a:spLocks noChangeArrowheads="1"/>
          </p:cNvSpPr>
          <p:nvPr/>
        </p:nvSpPr>
        <p:spPr bwMode="auto">
          <a:xfrm>
            <a:off x="1691680" y="2996952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TWO</a:t>
            </a:r>
          </a:p>
        </p:txBody>
      </p:sp>
      <p:sp>
        <p:nvSpPr>
          <p:cNvPr id="37" name="矩形 3"/>
          <p:cNvSpPr>
            <a:spLocks noChangeArrowheads="1"/>
          </p:cNvSpPr>
          <p:nvPr/>
        </p:nvSpPr>
        <p:spPr bwMode="auto">
          <a:xfrm>
            <a:off x="1691680" y="3427765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THREE</a:t>
            </a:r>
          </a:p>
        </p:txBody>
      </p:sp>
      <p:sp>
        <p:nvSpPr>
          <p:cNvPr id="38" name="矩形 3"/>
          <p:cNvSpPr>
            <a:spLocks noChangeArrowheads="1"/>
          </p:cNvSpPr>
          <p:nvPr/>
        </p:nvSpPr>
        <p:spPr bwMode="auto">
          <a:xfrm>
            <a:off x="1691680" y="3879716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FOUR</a:t>
            </a:r>
          </a:p>
        </p:txBody>
      </p:sp>
      <p:sp>
        <p:nvSpPr>
          <p:cNvPr id="39" name="矩形 3"/>
          <p:cNvSpPr>
            <a:spLocks noChangeArrowheads="1"/>
          </p:cNvSpPr>
          <p:nvPr/>
        </p:nvSpPr>
        <p:spPr bwMode="auto">
          <a:xfrm>
            <a:off x="1691680" y="4307787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FIVE</a:t>
            </a:r>
          </a:p>
        </p:txBody>
      </p:sp>
      <p:sp>
        <p:nvSpPr>
          <p:cNvPr id="40" name="矩形 3"/>
          <p:cNvSpPr>
            <a:spLocks noChangeArrowheads="1"/>
          </p:cNvSpPr>
          <p:nvPr/>
        </p:nvSpPr>
        <p:spPr bwMode="auto">
          <a:xfrm>
            <a:off x="1043608" y="5354115"/>
            <a:ext cx="330465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FOO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ENDS</a:t>
            </a:r>
          </a:p>
        </p:txBody>
      </p:sp>
      <p:sp>
        <p:nvSpPr>
          <p:cNvPr id="41" name="矩形 3"/>
          <p:cNvSpPr>
            <a:spLocks noChangeArrowheads="1"/>
          </p:cNvSpPr>
          <p:nvPr/>
        </p:nvSpPr>
        <p:spPr bwMode="auto">
          <a:xfrm>
            <a:off x="2692077" y="2132856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0</a:t>
            </a:r>
          </a:p>
        </p:txBody>
      </p:sp>
      <p:sp>
        <p:nvSpPr>
          <p:cNvPr id="42" name="矩形 3"/>
          <p:cNvSpPr>
            <a:spLocks noChangeArrowheads="1"/>
          </p:cNvSpPr>
          <p:nvPr/>
        </p:nvSpPr>
        <p:spPr bwMode="auto">
          <a:xfrm>
            <a:off x="2692077" y="2564904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ONE</a:t>
            </a:r>
          </a:p>
        </p:txBody>
      </p:sp>
      <p:sp>
        <p:nvSpPr>
          <p:cNvPr id="43" name="矩形 3"/>
          <p:cNvSpPr>
            <a:spLocks noChangeArrowheads="1"/>
          </p:cNvSpPr>
          <p:nvPr/>
        </p:nvSpPr>
        <p:spPr bwMode="auto">
          <a:xfrm>
            <a:off x="2692077" y="2990438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TWO</a:t>
            </a:r>
          </a:p>
        </p:txBody>
      </p:sp>
      <p:sp>
        <p:nvSpPr>
          <p:cNvPr id="44" name="矩形 3"/>
          <p:cNvSpPr>
            <a:spLocks noChangeArrowheads="1"/>
          </p:cNvSpPr>
          <p:nvPr/>
        </p:nvSpPr>
        <p:spPr bwMode="auto">
          <a:xfrm>
            <a:off x="2692077" y="3421251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DD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THREE+2</a:t>
            </a:r>
          </a:p>
        </p:txBody>
      </p:sp>
      <p:sp>
        <p:nvSpPr>
          <p:cNvPr id="45" name="矩形 3"/>
          <p:cNvSpPr>
            <a:spLocks noChangeArrowheads="1"/>
          </p:cNvSpPr>
          <p:nvPr/>
        </p:nvSpPr>
        <p:spPr bwMode="auto">
          <a:xfrm>
            <a:off x="2692077" y="3873202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FOUR+2</a:t>
            </a:r>
          </a:p>
        </p:txBody>
      </p:sp>
      <p:sp>
        <p:nvSpPr>
          <p:cNvPr id="46" name="矩形 3"/>
          <p:cNvSpPr>
            <a:spLocks noChangeArrowheads="1"/>
          </p:cNvSpPr>
          <p:nvPr/>
        </p:nvSpPr>
        <p:spPr bwMode="auto">
          <a:xfrm>
            <a:off x="2692077" y="4301273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FIVE-ONE</a:t>
            </a:r>
          </a:p>
        </p:txBody>
      </p:sp>
      <p:sp>
        <p:nvSpPr>
          <p:cNvPr id="47" name="矩形 46"/>
          <p:cNvSpPr/>
          <p:nvPr/>
        </p:nvSpPr>
        <p:spPr>
          <a:xfrm>
            <a:off x="899592" y="1412776"/>
            <a:ext cx="3895260" cy="44955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3"/>
          <p:cNvSpPr>
            <a:spLocks noChangeArrowheads="1"/>
          </p:cNvSpPr>
          <p:nvPr/>
        </p:nvSpPr>
        <p:spPr bwMode="auto">
          <a:xfrm>
            <a:off x="1691680" y="4739835"/>
            <a:ext cx="1144413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SIX</a:t>
            </a:r>
          </a:p>
        </p:txBody>
      </p:sp>
      <p:sp>
        <p:nvSpPr>
          <p:cNvPr id="49" name="矩形 3"/>
          <p:cNvSpPr>
            <a:spLocks noChangeArrowheads="1"/>
          </p:cNvSpPr>
          <p:nvPr/>
        </p:nvSpPr>
        <p:spPr bwMode="auto">
          <a:xfrm>
            <a:off x="2692077" y="4733321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$-ZERO</a:t>
            </a:r>
          </a:p>
        </p:txBody>
      </p:sp>
      <p:sp>
        <p:nvSpPr>
          <p:cNvPr id="50" name="矩形 49"/>
          <p:cNvSpPr/>
          <p:nvPr/>
        </p:nvSpPr>
        <p:spPr>
          <a:xfrm>
            <a:off x="5220072" y="3025521"/>
            <a:ext cx="1152128" cy="4356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0" name="矩形 4"/>
          <p:cNvSpPr>
            <a:spLocks noChangeArrowheads="1"/>
          </p:cNvSpPr>
          <p:nvPr/>
        </p:nvSpPr>
        <p:spPr bwMode="auto">
          <a:xfrm>
            <a:off x="5439843" y="3047551"/>
            <a:ext cx="945980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0FH</a:t>
            </a:r>
            <a:endParaRPr lang="zh-CN" altLang="en-US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矩形 4"/>
          <p:cNvSpPr>
            <a:spLocks noChangeArrowheads="1"/>
          </p:cNvSpPr>
          <p:nvPr/>
        </p:nvSpPr>
        <p:spPr bwMode="auto">
          <a:xfrm>
            <a:off x="6385823" y="3025521"/>
            <a:ext cx="1436468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55H : 0FH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矩形 4"/>
          <p:cNvSpPr>
            <a:spLocks noChangeArrowheads="1"/>
          </p:cNvSpPr>
          <p:nvPr/>
        </p:nvSpPr>
        <p:spPr bwMode="auto">
          <a:xfrm>
            <a:off x="7670814" y="3025521"/>
            <a:ext cx="100811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SIX</a:t>
            </a:r>
            <a:endParaRPr lang="zh-CN" altLang="en-US" sz="1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253416" y="6149085"/>
            <a:ext cx="3478824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地址相减以及</a:t>
            </a:r>
            <a:r>
              <a:rPr lang="en-US" altLang="zh-CN" sz="1600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$</a:t>
            </a:r>
            <a:r>
              <a:rPr lang="zh-CN" altLang="en-US" sz="1600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的用法一定要掌握。</a:t>
            </a:r>
            <a:endParaRPr lang="zh-CN" altLang="en-US" sz="1600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7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3886" y="5936693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75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/>
      <p:bldP spid="57" grpId="0"/>
      <p:bldP spid="58" grpId="0"/>
      <p:bldP spid="59" grpId="0"/>
      <p:bldP spid="61" grpId="0"/>
      <p:bldP spid="63" grpId="0"/>
      <p:bldP spid="66" grpId="0"/>
      <p:bldP spid="68" grpId="0"/>
      <p:bldP spid="38" grpId="0"/>
      <p:bldP spid="39" grpId="0"/>
      <p:bldP spid="45" grpId="0"/>
      <p:bldP spid="46" grpId="0"/>
      <p:bldP spid="48" grpId="0"/>
      <p:bldP spid="49" grpId="0"/>
      <p:bldP spid="50" grpId="0" animBg="1"/>
      <p:bldP spid="60" grpId="0"/>
      <p:bldP spid="62" grpId="0"/>
      <p:bldP spid="64" grpId="0"/>
      <p:bldP spid="6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地址表达式：指令和伪指令中的区别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1260054" y="1702425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FOUR</a:t>
            </a:r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2260452" y="1702425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FOUR+2</a:t>
            </a: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5083771" y="1702425"/>
            <a:ext cx="2872605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FOUR+2</a:t>
            </a: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1260054" y="2232209"/>
            <a:ext cx="11444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FIVE</a:t>
            </a: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2260452" y="2232209"/>
            <a:ext cx="208823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FIVE-ONE</a:t>
            </a: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5083771" y="2232209"/>
            <a:ext cx="2872605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FIVE-ONE</a:t>
            </a:r>
          </a:p>
        </p:txBody>
      </p:sp>
      <p:sp>
        <p:nvSpPr>
          <p:cNvPr id="12" name="矩形 11"/>
          <p:cNvSpPr/>
          <p:nvPr/>
        </p:nvSpPr>
        <p:spPr>
          <a:xfrm>
            <a:off x="1115616" y="1579458"/>
            <a:ext cx="3233068" cy="120829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860032" y="1556792"/>
            <a:ext cx="3233068" cy="120829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116038" y="3099381"/>
            <a:ext cx="3232646" cy="2561017"/>
            <a:chOff x="1484733" y="2332367"/>
            <a:chExt cx="4900886" cy="1559310"/>
          </a:xfrm>
        </p:grpSpPr>
        <p:sp>
          <p:nvSpPr>
            <p:cNvPr id="18" name="矩形 17"/>
            <p:cNvSpPr/>
            <p:nvPr/>
          </p:nvSpPr>
          <p:spPr>
            <a:xfrm>
              <a:off x="1484733" y="2332367"/>
              <a:ext cx="4900886" cy="1559310"/>
            </a:xfrm>
            <a:prstGeom prst="rect">
              <a:avLst/>
            </a:prstGeom>
            <a:noFill/>
            <a:ln w="9525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Box 6"/>
            <p:cNvSpPr txBox="1">
              <a:spLocks noChangeArrowheads="1"/>
            </p:cNvSpPr>
            <p:nvPr/>
          </p:nvSpPr>
          <p:spPr bwMode="auto">
            <a:xfrm>
              <a:off x="1484733" y="2453778"/>
              <a:ext cx="2947549" cy="20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① 变量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+</a:t>
              </a: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常数</a:t>
              </a:r>
            </a:p>
          </p:txBody>
        </p:sp>
        <p:cxnSp>
          <p:nvCxnSpPr>
            <p:cNvPr id="20" name="直接连接符 19"/>
            <p:cNvCxnSpPr/>
            <p:nvPr/>
          </p:nvCxnSpPr>
          <p:spPr>
            <a:xfrm flipH="1">
              <a:off x="1484733" y="2737072"/>
              <a:ext cx="3244702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矩形 3"/>
            <p:cNvSpPr>
              <a:spLocks noChangeArrowheads="1"/>
            </p:cNvSpPr>
            <p:nvPr/>
          </p:nvSpPr>
          <p:spPr bwMode="auto">
            <a:xfrm>
              <a:off x="1705098" y="2821580"/>
              <a:ext cx="4680521" cy="1070097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9000"/>
                </a:lnSpc>
                <a:spcAft>
                  <a:spcPts val="600"/>
                </a:spcAft>
                <a:buFont typeface="Wingdings" panose="05000000000000000000" pitchFamily="2" charset="2"/>
                <a:buChar char="n"/>
                <a:defRPr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对数据定义伪指令，变量以地址的属性参与初始化。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lnSpc>
                  <a:spcPct val="129000"/>
                </a:lnSpc>
                <a:spcAft>
                  <a:spcPts val="600"/>
                </a:spcAft>
                <a:buFont typeface="Wingdings" panose="05000000000000000000" pitchFamily="2" charset="2"/>
                <a:buChar char="n"/>
                <a:defRPr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在指令中表示存储器寻址，取其值，</a:t>
              </a:r>
              <a:r>
                <a:rPr lang="zh-CN" altLang="en-US" sz="1600" dirty="0">
                  <a:solidFill>
                    <a:srgbClr val="FD7A2A"/>
                  </a:solidFill>
                  <a:latin typeface="微软雅黑" pitchFamily="34" charset="-122"/>
                  <a:ea typeface="微软雅黑" pitchFamily="34" charset="-122"/>
                </a:rPr>
                <a:t>取偏移地址用专门指令</a:t>
              </a:r>
              <a:r>
                <a:rPr lang="en-US" altLang="zh-CN" sz="1600" dirty="0">
                  <a:solidFill>
                    <a:srgbClr val="FD7A2A"/>
                  </a:solidFill>
                  <a:latin typeface="微软雅黑" pitchFamily="34" charset="-122"/>
                  <a:ea typeface="微软雅黑" pitchFamily="34" charset="-122"/>
                </a:rPr>
                <a:t>LEA</a:t>
              </a:r>
              <a:r>
                <a:rPr lang="zh-CN" altLang="en-US" sz="1600" dirty="0">
                  <a:solidFill>
                    <a:srgbClr val="1D8DE5"/>
                  </a:solidFill>
                  <a:latin typeface="微软雅黑" pitchFamily="34" charset="-122"/>
                  <a:ea typeface="微软雅黑" pitchFamily="34" charset="-122"/>
                </a:rPr>
                <a:t>或</a:t>
              </a:r>
              <a:r>
                <a:rPr lang="en-US" altLang="zh-CN" sz="1600" dirty="0">
                  <a:solidFill>
                    <a:srgbClr val="1D8DE5"/>
                  </a:solidFill>
                  <a:latin typeface="微软雅黑" pitchFamily="34" charset="-122"/>
                  <a:ea typeface="微软雅黑" pitchFamily="34" charset="-122"/>
                </a:rPr>
                <a:t>OFFSET</a:t>
              </a:r>
              <a:r>
                <a:rPr lang="zh-CN" altLang="en-US" sz="1600" dirty="0">
                  <a:solidFill>
                    <a:srgbClr val="1D8DE5"/>
                  </a:solidFill>
                  <a:latin typeface="微软雅黑" pitchFamily="34" charset="-122"/>
                  <a:ea typeface="微软雅黑" pitchFamily="34" charset="-122"/>
                </a:rPr>
                <a:t>伪指令</a:t>
              </a:r>
              <a:r>
                <a:rPr lang="zh-CN" altLang="en-US" sz="1600" dirty="0">
                  <a:solidFill>
                    <a:srgbClr val="FD7A2A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en-US" altLang="zh-CN" sz="1600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860243" y="3100230"/>
            <a:ext cx="3232646" cy="2561018"/>
            <a:chOff x="1484733" y="2332366"/>
            <a:chExt cx="4900886" cy="1559311"/>
          </a:xfrm>
        </p:grpSpPr>
        <p:sp>
          <p:nvSpPr>
            <p:cNvPr id="28" name="矩形 27"/>
            <p:cNvSpPr/>
            <p:nvPr/>
          </p:nvSpPr>
          <p:spPr>
            <a:xfrm>
              <a:off x="1484733" y="2332366"/>
              <a:ext cx="4900886" cy="1558794"/>
            </a:xfrm>
            <a:prstGeom prst="rect">
              <a:avLst/>
            </a:prstGeom>
            <a:noFill/>
            <a:ln w="9525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Box 6"/>
            <p:cNvSpPr txBox="1">
              <a:spLocks noChangeArrowheads="1"/>
            </p:cNvSpPr>
            <p:nvPr/>
          </p:nvSpPr>
          <p:spPr bwMode="auto">
            <a:xfrm>
              <a:off x="1484733" y="2453778"/>
              <a:ext cx="2947549" cy="224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② 变量相减</a:t>
              </a: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484733" y="2737072"/>
              <a:ext cx="3244702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1" name="矩形 3"/>
            <p:cNvSpPr>
              <a:spLocks noChangeArrowheads="1"/>
            </p:cNvSpPr>
            <p:nvPr/>
          </p:nvSpPr>
          <p:spPr bwMode="auto">
            <a:xfrm>
              <a:off x="1705098" y="2821580"/>
              <a:ext cx="4428492" cy="1070097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9000"/>
                </a:lnSpc>
                <a:spcAft>
                  <a:spcPts val="600"/>
                </a:spcAft>
                <a:buFont typeface="Wingdings" panose="05000000000000000000" pitchFamily="2" charset="2"/>
                <a:buChar char="n"/>
                <a:defRPr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指令和伪指令结果相同，结果没有地址属性，是一个数值，它表示两变量间相距的字节数 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285750" indent="-285750">
                <a:lnSpc>
                  <a:spcPct val="129000"/>
                </a:lnSpc>
                <a:spcAft>
                  <a:spcPts val="600"/>
                </a:spcAft>
                <a:buFont typeface="Wingdings" panose="05000000000000000000" pitchFamily="2" charset="2"/>
                <a:buChar char="n"/>
                <a:defRPr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它在汇编时计算。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1619672" y="6149085"/>
            <a:ext cx="4699313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AX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FIVE-ONE 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中源操作数的寻址方式？</a:t>
            </a:r>
          </a:p>
        </p:txBody>
      </p:sp>
      <p:pic>
        <p:nvPicPr>
          <p:cNvPr id="33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84" y="5936693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矩形 33"/>
          <p:cNvSpPr/>
          <p:nvPr/>
        </p:nvSpPr>
        <p:spPr>
          <a:xfrm>
            <a:off x="6084169" y="6140035"/>
            <a:ext cx="1440582" cy="362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立即数寻址</a:t>
            </a:r>
          </a:p>
        </p:txBody>
      </p:sp>
    </p:spTree>
    <p:extLst>
      <p:ext uri="{BB962C8B-B14F-4D97-AF65-F5344CB8AC3E}">
        <p14:creationId xmlns:p14="http://schemas.microsoft.com/office/powerpoint/2010/main" val="194977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32" grpId="0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28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数据定义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符号定义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段定义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过程定义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伪指令语句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732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符号定义伪指令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585374" y="3311244"/>
            <a:ext cx="1140470" cy="688939"/>
          </a:xfrm>
          <a:prstGeom prst="rect">
            <a:avLst/>
          </a:prstGeom>
          <a:noFill/>
          <a:ln w="952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名字</a:t>
            </a:r>
          </a:p>
        </p:txBody>
      </p:sp>
      <p:sp>
        <p:nvSpPr>
          <p:cNvPr id="7" name="矩形 6"/>
          <p:cNvSpPr/>
          <p:nvPr/>
        </p:nvSpPr>
        <p:spPr>
          <a:xfrm>
            <a:off x="3559301" y="3311244"/>
            <a:ext cx="1517673" cy="688939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EQU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83847" y="3311357"/>
            <a:ext cx="1452449" cy="688939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表达式</a:t>
            </a:r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899592" y="1484784"/>
            <a:ext cx="7332925" cy="1512168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1043608" y="1597731"/>
            <a:ext cx="7200800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汇编中所有变量名、标号名、过程名、指令助记符，寄存器名统称为</a:t>
            </a:r>
            <a:r>
              <a:rPr lang="zh-CN" altLang="en-US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符号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符号定义伪指令对符号重新命名或定义新的类型属性。</a:t>
            </a:r>
          </a:p>
        </p:txBody>
      </p:sp>
      <p:sp>
        <p:nvSpPr>
          <p:cNvPr id="17" name="矩形 16"/>
          <p:cNvSpPr/>
          <p:nvPr/>
        </p:nvSpPr>
        <p:spPr>
          <a:xfrm>
            <a:off x="1585375" y="4350497"/>
            <a:ext cx="1140470" cy="688939"/>
          </a:xfrm>
          <a:prstGeom prst="rect">
            <a:avLst/>
          </a:prstGeom>
          <a:noFill/>
          <a:ln w="952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变量名</a:t>
            </a:r>
            <a:r>
              <a:rPr lang="en-US" altLang="zh-CN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标号名</a:t>
            </a:r>
          </a:p>
        </p:txBody>
      </p:sp>
      <p:sp>
        <p:nvSpPr>
          <p:cNvPr id="18" name="矩形 17"/>
          <p:cNvSpPr/>
          <p:nvPr/>
        </p:nvSpPr>
        <p:spPr>
          <a:xfrm>
            <a:off x="3578260" y="4350497"/>
            <a:ext cx="1517673" cy="688939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802806" y="4350610"/>
            <a:ext cx="1452449" cy="688939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</a:t>
            </a:r>
          </a:p>
        </p:txBody>
      </p:sp>
      <p:sp>
        <p:nvSpPr>
          <p:cNvPr id="21" name="矩形 20"/>
          <p:cNvSpPr/>
          <p:nvPr/>
        </p:nvSpPr>
        <p:spPr>
          <a:xfrm>
            <a:off x="899592" y="5339591"/>
            <a:ext cx="7332925" cy="62337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不分配存储空间，仅是给符号赋值或为变量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标号指定其类型。</a:t>
            </a:r>
          </a:p>
        </p:txBody>
      </p:sp>
    </p:spTree>
    <p:extLst>
      <p:ext uri="{BB962C8B-B14F-4D97-AF65-F5344CB8AC3E}">
        <p14:creationId xmlns:p14="http://schemas.microsoft.com/office/powerpoint/2010/main" val="3411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899592" y="2932264"/>
            <a:ext cx="324036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SUM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ONE+2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899592" y="2282611"/>
            <a:ext cx="324036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ONE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1</a:t>
            </a:r>
          </a:p>
        </p:txBody>
      </p:sp>
      <p:sp>
        <p:nvSpPr>
          <p:cNvPr id="5" name="矩形 4"/>
          <p:cNvSpPr/>
          <p:nvPr/>
        </p:nvSpPr>
        <p:spPr>
          <a:xfrm>
            <a:off x="755578" y="1495522"/>
            <a:ext cx="2952328" cy="2226698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4355976" y="2921527"/>
            <a:ext cx="403244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LABEL2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FAR PTR LABEL1</a:t>
            </a: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4355976" y="2271874"/>
            <a:ext cx="408596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FIRSTW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WORD PTR STR1</a:t>
            </a:r>
          </a:p>
        </p:txBody>
      </p:sp>
      <p:sp>
        <p:nvSpPr>
          <p:cNvPr id="10" name="矩形 9"/>
          <p:cNvSpPr/>
          <p:nvPr/>
        </p:nvSpPr>
        <p:spPr>
          <a:xfrm>
            <a:off x="4211961" y="1484784"/>
            <a:ext cx="4464495" cy="2237435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899592" y="4174559"/>
            <a:ext cx="272858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AL, SUM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899592" y="4725144"/>
            <a:ext cx="272858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AX, FIRSTW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899592" y="5236519"/>
            <a:ext cx="272858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JMP LABEL2</a:t>
            </a:r>
          </a:p>
        </p:txBody>
      </p:sp>
      <p:sp>
        <p:nvSpPr>
          <p:cNvPr id="23" name="矩形 22"/>
          <p:cNvSpPr/>
          <p:nvPr/>
        </p:nvSpPr>
        <p:spPr>
          <a:xfrm>
            <a:off x="899300" y="1556793"/>
            <a:ext cx="1800493" cy="436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为常量定义符号</a:t>
            </a: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775597" y="2060849"/>
            <a:ext cx="1924196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矩形 25"/>
          <p:cNvSpPr/>
          <p:nvPr/>
        </p:nvSpPr>
        <p:spPr>
          <a:xfrm>
            <a:off x="4353649" y="1556793"/>
            <a:ext cx="2954655" cy="436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定义新的类型属性并重命名</a:t>
            </a:r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4231980" y="2060849"/>
            <a:ext cx="3220340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32" name="直接连接符 3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4355976" y="4174559"/>
            <a:ext cx="344866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AL, 3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4355976" y="4725144"/>
            <a:ext cx="4320480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AX, WORD PTR STR1</a:t>
            </a: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4355976" y="5236519"/>
            <a:ext cx="344866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JMP FAR PTR LABEL1</a:t>
            </a:r>
          </a:p>
        </p:txBody>
      </p:sp>
      <p:sp>
        <p:nvSpPr>
          <p:cNvPr id="38" name="矩形 37"/>
          <p:cNvSpPr/>
          <p:nvPr/>
        </p:nvSpPr>
        <p:spPr>
          <a:xfrm>
            <a:off x="755576" y="4077072"/>
            <a:ext cx="2952328" cy="1872208"/>
          </a:xfrm>
          <a:prstGeom prst="rect">
            <a:avLst/>
          </a:prstGeom>
          <a:noFill/>
          <a:ln w="635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9" name="矩形 38"/>
          <p:cNvSpPr/>
          <p:nvPr/>
        </p:nvSpPr>
        <p:spPr>
          <a:xfrm>
            <a:off x="4211960" y="4077073"/>
            <a:ext cx="4464495" cy="1872208"/>
          </a:xfrm>
          <a:prstGeom prst="rect">
            <a:avLst/>
          </a:prstGeom>
          <a:noFill/>
          <a:ln w="635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>
            <a:off x="3772196" y="4869160"/>
            <a:ext cx="439764" cy="345349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3"/>
          <p:cNvSpPr>
            <a:spLocks noChangeArrowheads="1"/>
          </p:cNvSpPr>
          <p:nvPr/>
        </p:nvSpPr>
        <p:spPr bwMode="auto">
          <a:xfrm>
            <a:off x="1761361" y="6102291"/>
            <a:ext cx="3240360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ONE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ONE+2</a:t>
            </a:r>
          </a:p>
        </p:txBody>
      </p:sp>
      <p:pic>
        <p:nvPicPr>
          <p:cNvPr id="43" name="Picture 8" descr="D:\hd-white-132\handdrawn-white131.png"/>
          <p:cNvPicPr>
            <a:picLocks noChangeAspect="1" noChangeArrowheads="1"/>
          </p:cNvPicPr>
          <p:nvPr/>
        </p:nvPicPr>
        <p:blipFill>
          <a:blip r:embed="rId2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69136" y="6119264"/>
            <a:ext cx="373680" cy="478498"/>
          </a:xfrm>
          <a:prstGeom prst="rect">
            <a:avLst/>
          </a:prstGeom>
          <a:noFill/>
        </p:spPr>
      </p:pic>
      <p:sp>
        <p:nvSpPr>
          <p:cNvPr id="44" name="矩形 3"/>
          <p:cNvSpPr>
            <a:spLocks noChangeArrowheads="1"/>
          </p:cNvSpPr>
          <p:nvPr/>
        </p:nvSpPr>
        <p:spPr bwMode="auto">
          <a:xfrm>
            <a:off x="4542998" y="6113830"/>
            <a:ext cx="2045226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不允许重复定义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814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7" grpId="0"/>
      <p:bldP spid="9" grpId="0"/>
      <p:bldP spid="10" grpId="0" animBg="1"/>
      <p:bldP spid="20" grpId="0"/>
      <p:bldP spid="21" grpId="0"/>
      <p:bldP spid="22" grpId="0"/>
      <p:bldP spid="23" grpId="0"/>
      <p:bldP spid="26" grpId="0"/>
      <p:bldP spid="35" grpId="0"/>
      <p:bldP spid="36" grpId="0"/>
      <p:bldP spid="37" grpId="0"/>
      <p:bldP spid="38" grpId="0" animBg="1"/>
      <p:bldP spid="39" grpId="0" animBg="1"/>
      <p:bldP spid="40" grpId="0" animBg="1"/>
      <p:bldP spid="42" grpId="0"/>
      <p:bldP spid="4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331640" y="2932264"/>
            <a:ext cx="272858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 EQU ARR[BX][SI]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331640" y="2282611"/>
            <a:ext cx="3240360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XYZ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[BP+3]</a:t>
            </a:r>
          </a:p>
        </p:txBody>
      </p:sp>
      <p:sp>
        <p:nvSpPr>
          <p:cNvPr id="5" name="矩形 4"/>
          <p:cNvSpPr/>
          <p:nvPr/>
        </p:nvSpPr>
        <p:spPr>
          <a:xfrm>
            <a:off x="1187626" y="1495522"/>
            <a:ext cx="2952328" cy="2226698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4788024" y="2921527"/>
            <a:ext cx="280831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LD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MOV</a:t>
            </a: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4788025" y="2271874"/>
            <a:ext cx="2664296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COUNT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CX</a:t>
            </a:r>
          </a:p>
        </p:txBody>
      </p:sp>
      <p:sp>
        <p:nvSpPr>
          <p:cNvPr id="10" name="矩形 9"/>
          <p:cNvSpPr/>
          <p:nvPr/>
        </p:nvSpPr>
        <p:spPr>
          <a:xfrm>
            <a:off x="4644009" y="1484784"/>
            <a:ext cx="3384375" cy="2237435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331640" y="4174559"/>
            <a:ext cx="272858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XYZ, AL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331640" y="4725144"/>
            <a:ext cx="272858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AL, A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331640" y="5236519"/>
            <a:ext cx="272858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LD COUNT, AX</a:t>
            </a:r>
          </a:p>
        </p:txBody>
      </p:sp>
      <p:sp>
        <p:nvSpPr>
          <p:cNvPr id="23" name="矩形 22"/>
          <p:cNvSpPr/>
          <p:nvPr/>
        </p:nvSpPr>
        <p:spPr>
          <a:xfrm>
            <a:off x="1331348" y="1556793"/>
            <a:ext cx="1800493" cy="436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为存储单元命名</a:t>
            </a: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1207645" y="2060849"/>
            <a:ext cx="1924196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矩形 25"/>
          <p:cNvSpPr/>
          <p:nvPr/>
        </p:nvSpPr>
        <p:spPr>
          <a:xfrm>
            <a:off x="4788024" y="1556793"/>
            <a:ext cx="2031325" cy="436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为符号定义新名字</a:t>
            </a:r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4664028" y="2060849"/>
            <a:ext cx="2428252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EQU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32" name="直接连接符 3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4788024" y="4174559"/>
            <a:ext cx="309634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[BP+3], AL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4788024" y="4725144"/>
            <a:ext cx="3240360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AL, ARR[BX][SI]</a:t>
            </a: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4788024" y="5236519"/>
            <a:ext cx="309634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CX, AX</a:t>
            </a:r>
          </a:p>
        </p:txBody>
      </p:sp>
      <p:sp>
        <p:nvSpPr>
          <p:cNvPr id="38" name="矩形 37"/>
          <p:cNvSpPr/>
          <p:nvPr/>
        </p:nvSpPr>
        <p:spPr>
          <a:xfrm>
            <a:off x="1187624" y="4077072"/>
            <a:ext cx="2952328" cy="1872208"/>
          </a:xfrm>
          <a:prstGeom prst="rect">
            <a:avLst/>
          </a:prstGeom>
          <a:noFill/>
          <a:ln w="635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9" name="矩形 38"/>
          <p:cNvSpPr/>
          <p:nvPr/>
        </p:nvSpPr>
        <p:spPr>
          <a:xfrm>
            <a:off x="4644009" y="4077073"/>
            <a:ext cx="3384376" cy="1872208"/>
          </a:xfrm>
          <a:prstGeom prst="rect">
            <a:avLst/>
          </a:prstGeom>
          <a:noFill/>
          <a:ln w="635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>
            <a:off x="4204244" y="4869160"/>
            <a:ext cx="439764" cy="345349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93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7" grpId="0"/>
      <p:bldP spid="9" grpId="0"/>
      <p:bldP spid="10" grpId="0" animBg="1"/>
      <p:bldP spid="20" grpId="0"/>
      <p:bldP spid="21" grpId="0"/>
      <p:bldP spid="22" grpId="0"/>
      <p:bldP spid="23" grpId="0"/>
      <p:bldP spid="26" grpId="0"/>
      <p:bldP spid="35" grpId="0"/>
      <p:bldP spid="36" grpId="0"/>
      <p:bldP spid="37" grpId="0"/>
      <p:bldP spid="38" grpId="0" animBg="1"/>
      <p:bldP spid="39" grpId="0" animBg="1"/>
      <p:bldP spid="4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LABEL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伪指令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7" name="矩形 26"/>
          <p:cNvSpPr>
            <a:spLocks noChangeAspect="1"/>
          </p:cNvSpPr>
          <p:nvPr/>
        </p:nvSpPr>
        <p:spPr>
          <a:xfrm>
            <a:off x="899592" y="1412776"/>
            <a:ext cx="7704856" cy="1656184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17"/>
          <p:cNvSpPr txBox="1"/>
          <p:nvPr/>
        </p:nvSpPr>
        <p:spPr>
          <a:xfrm>
            <a:off x="1043608" y="1525723"/>
            <a:ext cx="7632848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与 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EQU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作用基本相同，区别在于：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‘ = ’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伪操作允许重复定义。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‘ = ’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一般习惯用于定义符号常量。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LABEL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可使指向同位置的不同变量或标号具有不同类型属性。</a:t>
            </a:r>
          </a:p>
        </p:txBody>
      </p:sp>
      <p:sp>
        <p:nvSpPr>
          <p:cNvPr id="34" name="矩形 3"/>
          <p:cNvSpPr>
            <a:spLocks noChangeArrowheads="1"/>
          </p:cNvSpPr>
          <p:nvPr/>
        </p:nvSpPr>
        <p:spPr bwMode="auto">
          <a:xfrm>
            <a:off x="1043608" y="4726913"/>
            <a:ext cx="2592288" cy="460382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TMP = TMP+ 1</a:t>
            </a:r>
          </a:p>
        </p:txBody>
      </p:sp>
      <p:sp>
        <p:nvSpPr>
          <p:cNvPr id="35" name="矩形 3"/>
          <p:cNvSpPr>
            <a:spLocks noChangeArrowheads="1"/>
          </p:cNvSpPr>
          <p:nvPr/>
        </p:nvSpPr>
        <p:spPr bwMode="auto">
          <a:xfrm>
            <a:off x="1043609" y="4077260"/>
            <a:ext cx="1512168" cy="460382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TMP = 5</a:t>
            </a:r>
          </a:p>
        </p:txBody>
      </p:sp>
      <p:sp>
        <p:nvSpPr>
          <p:cNvPr id="36" name="矩形 35"/>
          <p:cNvSpPr/>
          <p:nvPr/>
        </p:nvSpPr>
        <p:spPr>
          <a:xfrm>
            <a:off x="899593" y="3290170"/>
            <a:ext cx="3096343" cy="2496039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09144" y="3362179"/>
            <a:ext cx="1814920" cy="477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定义符号常量</a:t>
            </a: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919613" y="3866235"/>
            <a:ext cx="2212227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矩形 3"/>
          <p:cNvSpPr>
            <a:spLocks noChangeArrowheads="1"/>
          </p:cNvSpPr>
          <p:nvPr/>
        </p:nvSpPr>
        <p:spPr bwMode="auto">
          <a:xfrm>
            <a:off x="4355976" y="4365104"/>
            <a:ext cx="403244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ARRAY_WORD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DW 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9</a:t>
            </a:r>
          </a:p>
        </p:txBody>
      </p:sp>
      <p:sp>
        <p:nvSpPr>
          <p:cNvPr id="46" name="矩形 3"/>
          <p:cNvSpPr>
            <a:spLocks noChangeArrowheads="1"/>
          </p:cNvSpPr>
          <p:nvPr/>
        </p:nvSpPr>
        <p:spPr bwMode="auto">
          <a:xfrm>
            <a:off x="4355976" y="3933056"/>
            <a:ext cx="408596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ARRAY_BYTE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LABEL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BYTE</a:t>
            </a:r>
          </a:p>
        </p:txBody>
      </p:sp>
      <p:sp>
        <p:nvSpPr>
          <p:cNvPr id="47" name="矩形 46"/>
          <p:cNvSpPr/>
          <p:nvPr/>
        </p:nvSpPr>
        <p:spPr>
          <a:xfrm>
            <a:off x="4211961" y="3284984"/>
            <a:ext cx="4464495" cy="2501225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4353649" y="3356993"/>
            <a:ext cx="2954655" cy="436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定义新的类型属性并重命名</a:t>
            </a:r>
          </a:p>
        </p:txBody>
      </p:sp>
      <p:cxnSp>
        <p:nvCxnSpPr>
          <p:cNvPr id="49" name="直接连接符 48"/>
          <p:cNvCxnSpPr/>
          <p:nvPr/>
        </p:nvCxnSpPr>
        <p:spPr>
          <a:xfrm flipH="1">
            <a:off x="4231980" y="3861049"/>
            <a:ext cx="3220340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矩形 3"/>
          <p:cNvSpPr>
            <a:spLocks noChangeArrowheads="1"/>
          </p:cNvSpPr>
          <p:nvPr/>
        </p:nvSpPr>
        <p:spPr bwMode="auto">
          <a:xfrm>
            <a:off x="4335888" y="5296844"/>
            <a:ext cx="403244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SUBN: SUB AX,[BX]</a:t>
            </a:r>
          </a:p>
        </p:txBody>
      </p:sp>
      <p:sp>
        <p:nvSpPr>
          <p:cNvPr id="51" name="矩形 3"/>
          <p:cNvSpPr>
            <a:spLocks noChangeArrowheads="1"/>
          </p:cNvSpPr>
          <p:nvPr/>
        </p:nvSpPr>
        <p:spPr bwMode="auto">
          <a:xfrm>
            <a:off x="4335888" y="4864796"/>
            <a:ext cx="408596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SUBF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LABEL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FAR</a:t>
            </a:r>
          </a:p>
        </p:txBody>
      </p:sp>
      <p:cxnSp>
        <p:nvCxnSpPr>
          <p:cNvPr id="52" name="直接连接符 51"/>
          <p:cNvCxnSpPr/>
          <p:nvPr/>
        </p:nvCxnSpPr>
        <p:spPr>
          <a:xfrm flipH="1">
            <a:off x="4211961" y="4869160"/>
            <a:ext cx="3220340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矩形 3"/>
          <p:cNvSpPr>
            <a:spLocks noChangeArrowheads="1"/>
          </p:cNvSpPr>
          <p:nvPr/>
        </p:nvSpPr>
        <p:spPr bwMode="auto">
          <a:xfrm>
            <a:off x="827584" y="6102291"/>
            <a:ext cx="3240360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AL, ARRAY_BYTE</a:t>
            </a:r>
          </a:p>
        </p:txBody>
      </p:sp>
      <p:sp>
        <p:nvSpPr>
          <p:cNvPr id="56" name="矩形 3"/>
          <p:cNvSpPr>
            <a:spLocks noChangeArrowheads="1"/>
          </p:cNvSpPr>
          <p:nvPr/>
        </p:nvSpPr>
        <p:spPr bwMode="auto">
          <a:xfrm>
            <a:off x="3977680" y="6102291"/>
            <a:ext cx="4266727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AL, ARRAY_BYTE+1</a:t>
            </a:r>
          </a:p>
        </p:txBody>
      </p:sp>
      <p:pic>
        <p:nvPicPr>
          <p:cNvPr id="57" name="Picture 113" descr="D:\hd-white-132\handdrawn-white71.png"/>
          <p:cNvPicPr>
            <a:picLocks noChangeAspect="1" noChangeArrowheads="1"/>
          </p:cNvPicPr>
          <p:nvPr/>
        </p:nvPicPr>
        <p:blipFill>
          <a:blip r:embed="rId2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51619" y="4726913"/>
            <a:ext cx="320873" cy="403352"/>
          </a:xfrm>
          <a:prstGeom prst="rect">
            <a:avLst/>
          </a:prstGeom>
          <a:noFill/>
        </p:spPr>
      </p:pic>
      <p:pic>
        <p:nvPicPr>
          <p:cNvPr id="58" name="图片 57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5876515"/>
            <a:ext cx="905617" cy="704053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827583" y="3290171"/>
            <a:ext cx="3183361" cy="2496038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ARRAY_BYTE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ARRAY_WORD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、标号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SUBF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SUBN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，具有相同的段值属性和偏移值属性，只是类型属性不同。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381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/>
      <p:bldP spid="35" grpId="0"/>
      <p:bldP spid="36" grpId="0" animBg="1"/>
      <p:bldP spid="37" grpId="0"/>
      <p:bldP spid="45" grpId="0"/>
      <p:bldP spid="46" grpId="0"/>
      <p:bldP spid="47" grpId="0" animBg="1"/>
      <p:bldP spid="48" grpId="0"/>
      <p:bldP spid="50" grpId="0"/>
      <p:bldP spid="51" grpId="0"/>
      <p:bldP spid="53" grpId="0"/>
      <p:bldP spid="56" grpId="0"/>
      <p:bldP spid="59" grpId="0" animBg="1"/>
      <p:bldP spid="59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33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数据定义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符号定义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段定义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过程定义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伪指令语句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113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31323" y="1640907"/>
            <a:ext cx="863674" cy="563844"/>
          </a:xfrm>
          <a:prstGeom prst="rect">
            <a:avLst/>
          </a:prstGeom>
          <a:noFill/>
          <a:ln w="952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段名</a:t>
            </a:r>
          </a:p>
        </p:txBody>
      </p:sp>
      <p:sp>
        <p:nvSpPr>
          <p:cNvPr id="4" name="矩形 3"/>
          <p:cNvSpPr/>
          <p:nvPr/>
        </p:nvSpPr>
        <p:spPr>
          <a:xfrm>
            <a:off x="2155459" y="1640907"/>
            <a:ext cx="1512168" cy="56384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SEGMENT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47957" y="1641020"/>
            <a:ext cx="1231838" cy="563844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定位类型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段定义伪指令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2" name="矩形 11"/>
          <p:cNvSpPr/>
          <p:nvPr/>
        </p:nvSpPr>
        <p:spPr>
          <a:xfrm>
            <a:off x="5460125" y="1640907"/>
            <a:ext cx="1231838" cy="563844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组合类型</a:t>
            </a:r>
          </a:p>
        </p:txBody>
      </p:sp>
      <p:sp>
        <p:nvSpPr>
          <p:cNvPr id="13" name="矩形 12"/>
          <p:cNvSpPr/>
          <p:nvPr/>
        </p:nvSpPr>
        <p:spPr>
          <a:xfrm>
            <a:off x="7084578" y="1631706"/>
            <a:ext cx="1231838" cy="563844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类别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'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/>
        </p:nvSpPr>
        <p:spPr>
          <a:xfrm>
            <a:off x="683568" y="1484784"/>
            <a:ext cx="7920880" cy="3600400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31323" y="4233308"/>
            <a:ext cx="863674" cy="563844"/>
          </a:xfrm>
          <a:prstGeom prst="rect">
            <a:avLst/>
          </a:prstGeom>
          <a:noFill/>
          <a:ln w="952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段名</a:t>
            </a:r>
          </a:p>
        </p:txBody>
      </p:sp>
      <p:sp>
        <p:nvSpPr>
          <p:cNvPr id="21" name="矩形 20"/>
          <p:cNvSpPr/>
          <p:nvPr/>
        </p:nvSpPr>
        <p:spPr>
          <a:xfrm>
            <a:off x="2155459" y="4233308"/>
            <a:ext cx="1512168" cy="56384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ENDS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75597" y="2671351"/>
            <a:ext cx="4936821" cy="102927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对数据段和堆栈段，段中语句一般是变量定义，对代码段是指令语句。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120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2" grpId="0" animBg="1"/>
      <p:bldP spid="13" grpId="0" animBg="1"/>
      <p:bldP spid="16" grpId="0" animBg="1"/>
      <p:bldP spid="20" grpId="0" animBg="1"/>
      <p:bldP spid="21" grpId="0" animBg="1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定位类型：确定逻辑段的边界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6"/>
          <p:cNvSpPr/>
          <p:nvPr/>
        </p:nvSpPr>
        <p:spPr>
          <a:xfrm>
            <a:off x="775444" y="1739717"/>
            <a:ext cx="1534513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43372" y="1628800"/>
            <a:ext cx="62050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逻辑段从一个节</a:t>
            </a:r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(16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个字节</a:t>
            </a:r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的边界开始，即段起始地址应能被</a:t>
            </a:r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整除。物理地址</a:t>
            </a:r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XXXX0H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000" b="1" kern="1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默认。</a:t>
            </a:r>
            <a:endParaRPr lang="zh-CN" altLang="en-US" sz="2000" b="1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43372" y="2403061"/>
            <a:ext cx="5773044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75444" y="2712637"/>
            <a:ext cx="1534513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5576" y="3667743"/>
            <a:ext cx="1534513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543372" y="3375981"/>
            <a:ext cx="5773044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543372" y="4303093"/>
            <a:ext cx="5773044" cy="2067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543372" y="2790220"/>
            <a:ext cx="6205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逻辑段从字节边界开始，即段可从任何地址开始。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43372" y="3726324"/>
            <a:ext cx="6349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逻辑段从字边界开始。即段起始地址必须是偶数 。</a:t>
            </a:r>
            <a:endParaRPr lang="zh-CN" altLang="en-US" sz="20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55576" y="4648535"/>
            <a:ext cx="1534513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543372" y="5283885"/>
            <a:ext cx="5773044" cy="2067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543372" y="4548029"/>
            <a:ext cx="5989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逻辑段从页边界开始。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字节称为一页，故段的起始物理地址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XXX00H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573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11" grpId="0" animBg="1"/>
      <p:bldP spid="14" grpId="0"/>
      <p:bldP spid="15" grpId="0"/>
      <p:bldP spid="16" grpId="0" animBg="1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组合类型：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不同模块中同名段的组合方式</a:t>
            </a:r>
            <a:endParaRPr lang="zh-CN" altLang="en-US" sz="24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6"/>
          <p:cNvSpPr/>
          <p:nvPr/>
        </p:nvSpPr>
        <p:spPr>
          <a:xfrm>
            <a:off x="775444" y="1739717"/>
            <a:ext cx="1534513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43372" y="1628800"/>
            <a:ext cx="5989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所有此类型的同名段组合成一个逻辑段，公用一个段地址，运行时装入同一个物理段中。</a:t>
            </a:r>
            <a:endParaRPr lang="zh-CN" altLang="en-US" sz="2000" b="1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43372" y="2403061"/>
            <a:ext cx="5773044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75444" y="2712637"/>
            <a:ext cx="1534513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COMMON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5576" y="3667743"/>
            <a:ext cx="1534513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543372" y="3375981"/>
            <a:ext cx="5773044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543372" y="4303093"/>
            <a:ext cx="5773044" cy="2067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543372" y="2636912"/>
            <a:ext cx="586492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所有此类型的同名段具有相同的起始地址</a:t>
            </a:r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覆盖</a:t>
            </a:r>
            <a:r>
              <a:rPr lang="en-US" altLang="zh-CN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，共享相同的存储区域。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43372" y="3534107"/>
            <a:ext cx="5989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数值表达式：按绝对地址定位，段地址就是表达式的值。</a:t>
            </a:r>
            <a:endParaRPr lang="zh-CN" altLang="en-US" sz="20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55576" y="4648535"/>
            <a:ext cx="1534513" cy="6560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STACK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543372" y="5283885"/>
            <a:ext cx="5773044" cy="2067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543372" y="4767535"/>
            <a:ext cx="5989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专用于说明堆栈段，组合方式同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808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11" grpId="0" animBg="1"/>
      <p:bldP spid="14" grpId="0"/>
      <p:bldP spid="15" grpId="0"/>
      <p:bldP spid="16" grpId="0" animBg="1"/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举例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>
            <a:spLocks noChangeAspect="1"/>
          </p:cNvSpPr>
          <p:nvPr/>
        </p:nvSpPr>
        <p:spPr>
          <a:xfrm>
            <a:off x="755576" y="4250645"/>
            <a:ext cx="7332925" cy="184265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7"/>
          <p:cNvSpPr txBox="1"/>
          <p:nvPr/>
        </p:nvSpPr>
        <p:spPr>
          <a:xfrm>
            <a:off x="899592" y="4322653"/>
            <a:ext cx="720080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PARA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表示段的起始地址位于可用的第一节，每节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个字节。组合类型为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STACK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这里有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'STACK'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，链接程序会自动设置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exe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可执行文件里初始栈指针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，程序里不用自己设置，否则汇编会提示警告。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5578" y="1351513"/>
            <a:ext cx="7340620" cy="92535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类别：类别名必须放入单引号内，连接程序只使同类别的段发生关联，所有同类别的段被安排在连续的存储区域中。</a:t>
            </a:r>
          </a:p>
        </p:txBody>
      </p:sp>
      <p:sp>
        <p:nvSpPr>
          <p:cNvPr id="12" name="矩形 11"/>
          <p:cNvSpPr/>
          <p:nvPr/>
        </p:nvSpPr>
        <p:spPr>
          <a:xfrm>
            <a:off x="1259210" y="2505542"/>
            <a:ext cx="66971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SSEG </a:t>
            </a:r>
            <a:r>
              <a:rPr lang="zh-CN" altLang="en-US" sz="24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'STACK'</a:t>
            </a:r>
          </a:p>
        </p:txBody>
      </p:sp>
      <p:sp>
        <p:nvSpPr>
          <p:cNvPr id="13" name="矩形 12"/>
          <p:cNvSpPr/>
          <p:nvPr/>
        </p:nvSpPr>
        <p:spPr>
          <a:xfrm>
            <a:off x="1259210" y="3486926"/>
            <a:ext cx="66971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SSEG </a:t>
            </a:r>
            <a:r>
              <a:rPr lang="en-US" altLang="zh-CN" sz="2400" b="1" dirty="0">
                <a:solidFill>
                  <a:srgbClr val="1D8D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755686" y="2420888"/>
            <a:ext cx="7340516" cy="1584176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23306" y="3025261"/>
            <a:ext cx="251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50 DUP(0)</a:t>
            </a:r>
          </a:p>
        </p:txBody>
      </p:sp>
    </p:spTree>
    <p:extLst>
      <p:ext uri="{BB962C8B-B14F-4D97-AF65-F5344CB8AC3E}">
        <p14:creationId xmlns:p14="http://schemas.microsoft.com/office/powerpoint/2010/main" val="203629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ASSUME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伪指令：</a:t>
            </a:r>
            <a:r>
              <a:rPr lang="zh-CN" altLang="en-US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建立段和段寄存器关系</a:t>
            </a:r>
            <a:endParaRPr lang="zh-CN" altLang="en-US" sz="28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2839974" y="1844824"/>
            <a:ext cx="5332426" cy="688939"/>
          </a:xfrm>
          <a:prstGeom prst="rect">
            <a:avLst/>
          </a:prstGeom>
          <a:noFill/>
          <a:ln w="952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段寄存器名</a:t>
            </a:r>
            <a:r>
              <a:rPr lang="en-US" altLang="zh-CN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段名，段寄存器名</a:t>
            </a:r>
            <a:r>
              <a:rPr lang="en-US" altLang="zh-CN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段名 </a:t>
            </a:r>
            <a:r>
              <a:rPr lang="en-US" altLang="zh-CN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…</a:t>
            </a:r>
            <a:endParaRPr lang="zh-CN" altLang="en-US" sz="2000" b="1" dirty="0">
              <a:solidFill>
                <a:srgbClr val="FD7A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7584" y="1844824"/>
            <a:ext cx="1504466" cy="688939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ASSUME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/>
        </p:nvSpPr>
        <p:spPr>
          <a:xfrm>
            <a:off x="827584" y="3284984"/>
            <a:ext cx="7334248" cy="2376264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970302" y="3356992"/>
            <a:ext cx="7202098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由于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ASSUME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伪指令只是指定某个段分配给哪一个段寄存器，它并不能把段地址装入段寄存器中。所以在代码段中，还必须把段地址装入相应的段寄存器中。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在程序中不需要用指令装入代码段的段地址，因为在程序初始化时，装入程序已将代码段的段地址装入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寄存器了。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241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ORG</a:t>
            </a:r>
            <a:endParaRPr lang="zh-CN" altLang="en-US" sz="28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4716016" y="3427739"/>
            <a:ext cx="2452106" cy="688939"/>
          </a:xfrm>
          <a:prstGeom prst="rect">
            <a:avLst/>
          </a:prstGeom>
          <a:noFill/>
          <a:ln w="952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sp>
        <p:nvSpPr>
          <p:cNvPr id="7" name="矩形 6"/>
          <p:cNvSpPr/>
          <p:nvPr/>
        </p:nvSpPr>
        <p:spPr>
          <a:xfrm>
            <a:off x="2203438" y="3427739"/>
            <a:ext cx="1504466" cy="688939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/>
        </p:nvSpPr>
        <p:spPr>
          <a:xfrm>
            <a:off x="647418" y="1484784"/>
            <a:ext cx="7957030" cy="1512649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790136" y="1556792"/>
            <a:ext cx="7813658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ORG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规定了段内的指令或数据存放的开始地址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偏移地址的初值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表达式的值即为开始地址，从此地址起连续存放程序或数据。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899592" y="4822630"/>
            <a:ext cx="2728588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ORG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0010H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899592" y="5373215"/>
            <a:ext cx="3020502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NUM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DB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　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'2591'</a:t>
            </a:r>
          </a:p>
        </p:txBody>
      </p:sp>
      <p:sp>
        <p:nvSpPr>
          <p:cNvPr id="16" name="矩形 15"/>
          <p:cNvSpPr/>
          <p:nvPr/>
        </p:nvSpPr>
        <p:spPr>
          <a:xfrm>
            <a:off x="755576" y="4725143"/>
            <a:ext cx="3240360" cy="1224137"/>
          </a:xfrm>
          <a:prstGeom prst="rect">
            <a:avLst/>
          </a:prstGeom>
          <a:noFill/>
          <a:ln w="6350">
            <a:solidFill>
              <a:srgbClr val="1D8DE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0" name="矩形 19"/>
          <p:cNvSpPr/>
          <p:nvPr/>
        </p:nvSpPr>
        <p:spPr>
          <a:xfrm>
            <a:off x="683568" y="3284984"/>
            <a:ext cx="7920226" cy="1006851"/>
          </a:xfrm>
          <a:prstGeom prst="rect">
            <a:avLst/>
          </a:prstGeom>
          <a:noFill/>
          <a:ln w="635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5" name="矩形 4"/>
          <p:cNvSpPr/>
          <p:nvPr/>
        </p:nvSpPr>
        <p:spPr>
          <a:xfrm>
            <a:off x="4625933" y="5089113"/>
            <a:ext cx="2887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NUM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的偏移地址为：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10H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151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 animBg="1"/>
      <p:bldP spid="19" grpId="0"/>
      <p:bldP spid="9" grpId="0"/>
      <p:bldP spid="10" grpId="0"/>
      <p:bldP spid="16" grpId="0" animBg="1"/>
      <p:bldP spid="20" grpId="0" animBg="1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40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数据定义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符号定义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段定义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过程定义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伪指令语句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096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31322" y="1568899"/>
            <a:ext cx="1104149" cy="491836"/>
          </a:xfrm>
          <a:prstGeom prst="rect">
            <a:avLst/>
          </a:prstGeom>
          <a:noFill/>
          <a:ln w="952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过程名</a:t>
            </a:r>
          </a:p>
        </p:txBody>
      </p:sp>
      <p:sp>
        <p:nvSpPr>
          <p:cNvPr id="4" name="矩形 3"/>
          <p:cNvSpPr/>
          <p:nvPr/>
        </p:nvSpPr>
        <p:spPr>
          <a:xfrm>
            <a:off x="2627784" y="1568899"/>
            <a:ext cx="1512168" cy="49183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PROC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08314" y="1569012"/>
            <a:ext cx="1231838" cy="491836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段定义伪指令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6" name="矩形 15"/>
          <p:cNvSpPr>
            <a:spLocks noChangeAspect="1"/>
          </p:cNvSpPr>
          <p:nvPr/>
        </p:nvSpPr>
        <p:spPr>
          <a:xfrm>
            <a:off x="683568" y="1412776"/>
            <a:ext cx="7920880" cy="2808312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31322" y="3573016"/>
            <a:ext cx="1104149" cy="491836"/>
          </a:xfrm>
          <a:prstGeom prst="rect">
            <a:avLst/>
          </a:prstGeom>
          <a:noFill/>
          <a:ln w="952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过程名</a:t>
            </a:r>
          </a:p>
        </p:txBody>
      </p:sp>
      <p:sp>
        <p:nvSpPr>
          <p:cNvPr id="21" name="矩形 20"/>
          <p:cNvSpPr/>
          <p:nvPr/>
        </p:nvSpPr>
        <p:spPr>
          <a:xfrm>
            <a:off x="2627784" y="3573016"/>
            <a:ext cx="1512168" cy="49183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ENDP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627785" y="2204864"/>
            <a:ext cx="2080529" cy="45875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代码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27784" y="2898233"/>
            <a:ext cx="2080529" cy="45875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RET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RETF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061062" y="2204864"/>
            <a:ext cx="3240360" cy="1230052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如果子程序中不能正确使用堆栈而造成执行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RET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前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并未指向进入子程序时的返回地址，则必然会导致运行出错。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>
            <a:spLocks noChangeAspect="1"/>
          </p:cNvSpPr>
          <p:nvPr/>
        </p:nvSpPr>
        <p:spPr>
          <a:xfrm>
            <a:off x="683568" y="4437112"/>
            <a:ext cx="7919559" cy="1392369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7584" y="4509120"/>
            <a:ext cx="7776864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类型默认是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NEAR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，表示段内调用，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表示段间调用。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过程名是子程序入口地址的符号化表示。它的属性有段地址、偏移地址、类型（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NEAR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78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6" grpId="0" animBg="1"/>
      <p:bldP spid="20" grpId="0" animBg="1"/>
      <p:bldP spid="21" grpId="0" animBg="1"/>
      <p:bldP spid="22" grpId="0" animBg="1"/>
      <p:bldP spid="14" grpId="0" animBg="1"/>
      <p:bldP spid="15" grpId="0" animBg="1"/>
      <p:bldP spid="15" grpId="1" animBg="1"/>
      <p:bldP spid="1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08011" y="3585236"/>
            <a:ext cx="1104149" cy="491836"/>
          </a:xfrm>
          <a:prstGeom prst="rect">
            <a:avLst/>
          </a:prstGeom>
          <a:noFill/>
          <a:ln w="9525">
            <a:solidFill>
              <a:srgbClr val="FD7A2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</a:t>
            </a:r>
          </a:p>
        </p:txBody>
      </p:sp>
      <p:sp>
        <p:nvSpPr>
          <p:cNvPr id="4" name="矩形 3"/>
          <p:cNvSpPr/>
          <p:nvPr/>
        </p:nvSpPr>
        <p:spPr>
          <a:xfrm>
            <a:off x="2907292" y="3585236"/>
            <a:ext cx="1512168" cy="49183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END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7" name="矩形 16"/>
          <p:cNvSpPr>
            <a:spLocks noChangeAspect="1"/>
          </p:cNvSpPr>
          <p:nvPr/>
        </p:nvSpPr>
        <p:spPr>
          <a:xfrm>
            <a:off x="683568" y="1916832"/>
            <a:ext cx="7919559" cy="122413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7584" y="1988839"/>
            <a:ext cx="7776864" cy="911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END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后跟的表达式通常就是</a:t>
            </a:r>
            <a:r>
              <a:rPr lang="zh-CN" altLang="en-US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程序第一条指令的标号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，指示程序的启动地址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要执行的第一条指令的地址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178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43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91893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标号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操作数的表达式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指令语句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712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指令语句格式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2351410" y="1916719"/>
            <a:ext cx="1140470" cy="792088"/>
          </a:xfrm>
          <a:prstGeom prst="rect">
            <a:avLst/>
          </a:prstGeom>
          <a:noFill/>
          <a:ln w="9525">
            <a:solidFill>
              <a:srgbClr val="FD7A2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</a:t>
            </a:r>
          </a:p>
        </p:txBody>
      </p:sp>
      <p:sp>
        <p:nvSpPr>
          <p:cNvPr id="7" name="矩形 6"/>
          <p:cNvSpPr/>
          <p:nvPr/>
        </p:nvSpPr>
        <p:spPr>
          <a:xfrm>
            <a:off x="3779912" y="1916719"/>
            <a:ext cx="1728192" cy="79208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指令助记符</a:t>
            </a:r>
          </a:p>
        </p:txBody>
      </p:sp>
      <p:sp>
        <p:nvSpPr>
          <p:cNvPr id="13" name="矩形 12"/>
          <p:cNvSpPr/>
          <p:nvPr/>
        </p:nvSpPr>
        <p:spPr>
          <a:xfrm>
            <a:off x="5860442" y="1916832"/>
            <a:ext cx="1231838" cy="792088"/>
          </a:xfrm>
          <a:prstGeom prst="rect">
            <a:avLst/>
          </a:prstGeom>
          <a:noFill/>
          <a:ln w="9525">
            <a:solidFill>
              <a:srgbClr val="5DCB0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操作数表</a:t>
            </a:r>
          </a:p>
        </p:txBody>
      </p:sp>
      <p:sp>
        <p:nvSpPr>
          <p:cNvPr id="14" name="矩形 13"/>
          <p:cNvSpPr/>
          <p:nvPr/>
        </p:nvSpPr>
        <p:spPr>
          <a:xfrm>
            <a:off x="7523301" y="1916719"/>
            <a:ext cx="1009139" cy="79208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</a:t>
            </a:r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911250" y="3528664"/>
            <a:ext cx="7536497" cy="1269156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1187624" y="3641611"/>
            <a:ext cx="6624736" cy="911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标号：表示冒号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后面的指令所在的逻辑地址 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操作数的表达式：操作数中涉及一些汇编伪指令。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0312" y="3429000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5"/>
          <p:cNvSpPr txBox="1"/>
          <p:nvPr/>
        </p:nvSpPr>
        <p:spPr>
          <a:xfrm rot="2771384">
            <a:off x="7749248" y="3635537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9" name="矩形 18"/>
          <p:cNvSpPr/>
          <p:nvPr/>
        </p:nvSpPr>
        <p:spPr>
          <a:xfrm>
            <a:off x="911250" y="1916719"/>
            <a:ext cx="1140470" cy="792088"/>
          </a:xfrm>
          <a:prstGeom prst="rect">
            <a:avLst/>
          </a:prstGeom>
          <a:noFill/>
          <a:ln w="9525">
            <a:solidFill>
              <a:srgbClr val="FD7A2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标号：</a:t>
            </a:r>
          </a:p>
        </p:txBody>
      </p:sp>
    </p:spTree>
    <p:extLst>
      <p:ext uri="{BB962C8B-B14F-4D97-AF65-F5344CB8AC3E}">
        <p14:creationId xmlns:p14="http://schemas.microsoft.com/office/powerpoint/2010/main" val="205972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4" grpId="0" animBg="1"/>
      <p:bldP spid="15" grpId="0" animBg="1"/>
      <p:bldP spid="18" grpId="0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标号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187624" y="3714993"/>
            <a:ext cx="1534513" cy="59210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段属性</a:t>
            </a:r>
          </a:p>
        </p:txBody>
      </p:sp>
      <p:sp>
        <p:nvSpPr>
          <p:cNvPr id="7" name="矩形 6"/>
          <p:cNvSpPr/>
          <p:nvPr/>
        </p:nvSpPr>
        <p:spPr>
          <a:xfrm>
            <a:off x="2955552" y="3781206"/>
            <a:ext cx="586492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表示于该标号所在代码区的段地址。 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955552" y="4307102"/>
            <a:ext cx="5000824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187624" y="4499612"/>
            <a:ext cx="1534513" cy="59210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偏移值属性</a:t>
            </a:r>
          </a:p>
        </p:txBody>
      </p:sp>
      <p:sp>
        <p:nvSpPr>
          <p:cNvPr id="10" name="矩形 9"/>
          <p:cNvSpPr/>
          <p:nvPr/>
        </p:nvSpPr>
        <p:spPr>
          <a:xfrm>
            <a:off x="1167756" y="5291700"/>
            <a:ext cx="1534513" cy="585572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类型属性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2955552" y="5091722"/>
            <a:ext cx="5000824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955552" y="4569727"/>
            <a:ext cx="550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表示该标号指向的指令的偏移地址。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55552" y="5309450"/>
            <a:ext cx="572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远标号或是近标号。</a:t>
            </a:r>
            <a:endParaRPr lang="zh-CN" altLang="en-US" sz="2000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911250" y="1368424"/>
            <a:ext cx="7536497" cy="1777056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1187624" y="1412776"/>
            <a:ext cx="6624736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A-Z(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不分大小写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), 0-9, 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.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,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_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$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，不能以数字开头，句号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(.)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只能作为首字符。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长度小于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个字符，不能与保留字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指令助记符、伪指令、预定义符号等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重名，不能重复定义。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80312" y="1268760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5"/>
          <p:cNvSpPr txBox="1"/>
          <p:nvPr/>
        </p:nvSpPr>
        <p:spPr>
          <a:xfrm rot="2771384">
            <a:off x="7749288" y="14753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</a:t>
            </a:r>
          </a:p>
        </p:txBody>
      </p:sp>
      <p:sp>
        <p:nvSpPr>
          <p:cNvPr id="21" name="矩形 20"/>
          <p:cNvSpPr>
            <a:spLocks noChangeAspect="1"/>
          </p:cNvSpPr>
          <p:nvPr/>
        </p:nvSpPr>
        <p:spPr>
          <a:xfrm>
            <a:off x="923935" y="3465146"/>
            <a:ext cx="7536497" cy="2628150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955552" y="5857732"/>
            <a:ext cx="5000824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9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100899" y="3940495"/>
            <a:ext cx="1655004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19"/>
          <p:cNvSpPr txBox="1"/>
          <p:nvPr/>
        </p:nvSpPr>
        <p:spPr>
          <a:xfrm>
            <a:off x="7685085" y="3548696"/>
            <a:ext cx="461665" cy="17430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标号的属性</a:t>
            </a:r>
          </a:p>
        </p:txBody>
      </p:sp>
    </p:spTree>
    <p:extLst>
      <p:ext uri="{BB962C8B-B14F-4D97-AF65-F5344CB8AC3E}">
        <p14:creationId xmlns:p14="http://schemas.microsoft.com/office/powerpoint/2010/main" val="421149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 animBg="1"/>
      <p:bldP spid="10" grpId="0" animBg="1"/>
      <p:bldP spid="13" grpId="0"/>
      <p:bldP spid="14" grpId="0"/>
      <p:bldP spid="15" grpId="0" animBg="1"/>
      <p:bldP spid="16" grpId="0"/>
      <p:bldP spid="18" grpId="0"/>
      <p:bldP spid="21" grpId="0" animBg="1"/>
      <p:bldP spid="3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7"/>
          <p:cNvSpPr txBox="1"/>
          <p:nvPr/>
        </p:nvSpPr>
        <p:spPr>
          <a:xfrm>
            <a:off x="827584" y="1505977"/>
            <a:ext cx="7518233" cy="213904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默认是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NEAR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类型。在循环或条件转移指令中，所用标号类型必须为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NEAR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，并且目标标号与本转移指令之间的距离不能超过＋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127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-128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字节范围。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无条件转移和调用指令在段间转移时采用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类型，在段内可以采用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或者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NEAR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类型。过程名也是一个标号。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标号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6"/>
          <p:cNvSpPr>
            <a:spLocks noChangeAspect="1"/>
          </p:cNvSpPr>
          <p:nvPr/>
        </p:nvSpPr>
        <p:spPr>
          <a:xfrm>
            <a:off x="827584" y="3960712"/>
            <a:ext cx="7536497" cy="1988568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1103958" y="4073659"/>
            <a:ext cx="678041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变量和标号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的共同点是，都是地址的符号化表示。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变量作为存储器操作数被引用，它指向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的数据项，标号指向的是代码段某条指令。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变量类型是存取单位大小，标号类型是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NEAR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FAR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96646" y="3861048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5"/>
          <p:cNvSpPr txBox="1"/>
          <p:nvPr/>
        </p:nvSpPr>
        <p:spPr>
          <a:xfrm rot="2771384">
            <a:off x="7665582" y="4067585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</a:p>
        </p:txBody>
      </p:sp>
    </p:spTree>
    <p:extLst>
      <p:ext uri="{BB962C8B-B14F-4D97-AF65-F5344CB8AC3E}">
        <p14:creationId xmlns:p14="http://schemas.microsoft.com/office/powerpoint/2010/main" val="355508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47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91893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标号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操作数的表达式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指令语句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190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0"/>
          <p:cNvSpPr/>
          <p:nvPr/>
        </p:nvSpPr>
        <p:spPr bwMode="auto">
          <a:xfrm>
            <a:off x="1187624" y="1673143"/>
            <a:ext cx="1890005" cy="972000"/>
          </a:xfrm>
          <a:prstGeom prst="rect">
            <a:avLst/>
          </a:prstGeom>
          <a:solidFill>
            <a:srgbClr val="7FBA00"/>
          </a:solidFill>
          <a:ln w="9525">
            <a:noFill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prstMaterial="flat">
            <a:contourClr>
              <a:schemeClr val="accent2">
                <a:satMod val="30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21883" tIns="487532" rIns="121883" bIns="13716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defTabSz="1218106" fontAlgn="base">
              <a:lnSpc>
                <a:spcPct val="90000"/>
              </a:lnSpc>
              <a:spcBef>
                <a:spcPts val="840"/>
              </a:spcBef>
              <a:spcAft>
                <a:spcPct val="0"/>
              </a:spcAft>
              <a:buClr>
                <a:srgbClr val="FFFF99"/>
              </a:buClr>
              <a:buSzPct val="120000"/>
            </a:pPr>
            <a:endParaRPr lang="en-US" dirty="0">
              <a:ln>
                <a:solidFill>
                  <a:srgbClr val="FFFFFF">
                    <a:alpha val="0"/>
                  </a:srgbClr>
                </a:solidFill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14" name="Rectangle 60"/>
          <p:cNvSpPr/>
          <p:nvPr/>
        </p:nvSpPr>
        <p:spPr bwMode="auto">
          <a:xfrm>
            <a:off x="1187624" y="2727098"/>
            <a:ext cx="1890005" cy="972000"/>
          </a:xfrm>
          <a:prstGeom prst="rect">
            <a:avLst/>
          </a:prstGeom>
          <a:solidFill>
            <a:srgbClr val="7FBA00"/>
          </a:solidFill>
          <a:ln w="9525">
            <a:noFill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prstMaterial="flat">
            <a:contourClr>
              <a:schemeClr val="accent2">
                <a:satMod val="30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21883" tIns="487532" rIns="121883" bIns="13716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defTabSz="1218106" fontAlgn="base">
              <a:lnSpc>
                <a:spcPct val="90000"/>
              </a:lnSpc>
              <a:spcBef>
                <a:spcPts val="840"/>
              </a:spcBef>
              <a:spcAft>
                <a:spcPct val="0"/>
              </a:spcAft>
              <a:buClr>
                <a:srgbClr val="FFFF99"/>
              </a:buClr>
              <a:buSzPct val="120000"/>
            </a:pPr>
            <a:endParaRPr lang="en-US" dirty="0">
              <a:ln>
                <a:solidFill>
                  <a:srgbClr val="FFFFFF">
                    <a:alpha val="0"/>
                  </a:srgbClr>
                </a:solidFill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16" name="Rectangle 60"/>
          <p:cNvSpPr/>
          <p:nvPr/>
        </p:nvSpPr>
        <p:spPr bwMode="auto">
          <a:xfrm>
            <a:off x="1187624" y="3781053"/>
            <a:ext cx="1890005" cy="972000"/>
          </a:xfrm>
          <a:prstGeom prst="rect">
            <a:avLst/>
          </a:prstGeom>
          <a:solidFill>
            <a:srgbClr val="7FBA00"/>
          </a:solidFill>
          <a:ln w="9525">
            <a:noFill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prstMaterial="flat">
            <a:contourClr>
              <a:schemeClr val="accent2">
                <a:satMod val="30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21883" tIns="487532" rIns="121883" bIns="13716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defTabSz="1218106" fontAlgn="base">
              <a:lnSpc>
                <a:spcPct val="90000"/>
              </a:lnSpc>
              <a:spcBef>
                <a:spcPts val="840"/>
              </a:spcBef>
              <a:spcAft>
                <a:spcPct val="0"/>
              </a:spcAft>
              <a:buClr>
                <a:srgbClr val="FFFF99"/>
              </a:buClr>
              <a:buSzPct val="120000"/>
            </a:pPr>
            <a:endParaRPr lang="en-US" dirty="0">
              <a:ln>
                <a:solidFill>
                  <a:srgbClr val="FFFFFF">
                    <a:alpha val="0"/>
                  </a:srgbClr>
                </a:solidFill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19" name="Rectangle 60"/>
          <p:cNvSpPr/>
          <p:nvPr/>
        </p:nvSpPr>
        <p:spPr bwMode="auto">
          <a:xfrm>
            <a:off x="1187624" y="4835009"/>
            <a:ext cx="1890005" cy="972000"/>
          </a:xfrm>
          <a:prstGeom prst="rect">
            <a:avLst/>
          </a:prstGeom>
          <a:solidFill>
            <a:srgbClr val="7FBA00"/>
          </a:solidFill>
          <a:ln w="9525">
            <a:noFill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prstMaterial="flat">
            <a:contourClr>
              <a:schemeClr val="accent2">
                <a:satMod val="30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21883" tIns="487532" rIns="121883" bIns="13716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defTabSz="1218106" fontAlgn="base">
              <a:lnSpc>
                <a:spcPct val="90000"/>
              </a:lnSpc>
              <a:spcBef>
                <a:spcPts val="840"/>
              </a:spcBef>
              <a:spcAft>
                <a:spcPct val="0"/>
              </a:spcAft>
              <a:buClr>
                <a:srgbClr val="FFFF99"/>
              </a:buClr>
              <a:buSzPct val="120000"/>
            </a:pPr>
            <a:endParaRPr lang="en-US" dirty="0">
              <a:ln>
                <a:solidFill>
                  <a:srgbClr val="FFFFFF">
                    <a:alpha val="0"/>
                  </a:srgbClr>
                </a:solidFill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20" name="Rectangle 60"/>
          <p:cNvSpPr/>
          <p:nvPr/>
        </p:nvSpPr>
        <p:spPr bwMode="auto">
          <a:xfrm>
            <a:off x="3285192" y="1650364"/>
            <a:ext cx="4661846" cy="972000"/>
          </a:xfrm>
          <a:prstGeom prst="rect">
            <a:avLst/>
          </a:prstGeom>
          <a:solidFill>
            <a:srgbClr val="7FBA00"/>
          </a:solidFill>
          <a:ln w="9525">
            <a:noFill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prstMaterial="flat">
            <a:contourClr>
              <a:schemeClr val="accent2">
                <a:satMod val="30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21883" tIns="487532" rIns="121883" bIns="13716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defTabSz="1218106" fontAlgn="base">
              <a:lnSpc>
                <a:spcPct val="90000"/>
              </a:lnSpc>
              <a:spcBef>
                <a:spcPts val="840"/>
              </a:spcBef>
              <a:spcAft>
                <a:spcPct val="0"/>
              </a:spcAft>
              <a:buClr>
                <a:srgbClr val="FFFF99"/>
              </a:buClr>
              <a:buSzPct val="120000"/>
            </a:pPr>
            <a:endParaRPr lang="en-US" dirty="0">
              <a:ln>
                <a:solidFill>
                  <a:srgbClr val="FFFFFF">
                    <a:alpha val="0"/>
                  </a:srgbClr>
                </a:solidFill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23" name="Rectangle 60"/>
          <p:cNvSpPr/>
          <p:nvPr/>
        </p:nvSpPr>
        <p:spPr bwMode="auto">
          <a:xfrm>
            <a:off x="3285192" y="2710778"/>
            <a:ext cx="4661846" cy="972000"/>
          </a:xfrm>
          <a:prstGeom prst="rect">
            <a:avLst/>
          </a:prstGeom>
          <a:solidFill>
            <a:srgbClr val="7FBA00"/>
          </a:solidFill>
          <a:ln w="9525">
            <a:noFill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prstMaterial="flat">
            <a:contourClr>
              <a:schemeClr val="accent2">
                <a:satMod val="30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21883" tIns="487532" rIns="121883" bIns="13716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defTabSz="1218106" fontAlgn="base">
              <a:lnSpc>
                <a:spcPct val="90000"/>
              </a:lnSpc>
              <a:spcBef>
                <a:spcPts val="840"/>
              </a:spcBef>
              <a:spcAft>
                <a:spcPct val="0"/>
              </a:spcAft>
              <a:buClr>
                <a:srgbClr val="FFFF99"/>
              </a:buClr>
              <a:buSzPct val="120000"/>
            </a:pPr>
            <a:endParaRPr lang="en-US" dirty="0">
              <a:ln>
                <a:solidFill>
                  <a:srgbClr val="FFFFFF">
                    <a:alpha val="0"/>
                  </a:srgbClr>
                </a:solidFill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30" name="Rectangle 60"/>
          <p:cNvSpPr/>
          <p:nvPr/>
        </p:nvSpPr>
        <p:spPr bwMode="auto">
          <a:xfrm>
            <a:off x="3285192" y="3771192"/>
            <a:ext cx="4661846" cy="972000"/>
          </a:xfrm>
          <a:prstGeom prst="rect">
            <a:avLst/>
          </a:prstGeom>
          <a:solidFill>
            <a:srgbClr val="7FBA00"/>
          </a:solidFill>
          <a:ln w="9525">
            <a:noFill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prstMaterial="flat">
            <a:contourClr>
              <a:schemeClr val="accent2">
                <a:satMod val="30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21883" tIns="487532" rIns="121883" bIns="13716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defTabSz="1218106" fontAlgn="base">
              <a:lnSpc>
                <a:spcPct val="90000"/>
              </a:lnSpc>
              <a:spcBef>
                <a:spcPts val="840"/>
              </a:spcBef>
              <a:spcAft>
                <a:spcPct val="0"/>
              </a:spcAft>
              <a:buClr>
                <a:srgbClr val="FFFF99"/>
              </a:buClr>
              <a:buSzPct val="120000"/>
            </a:pPr>
            <a:endParaRPr lang="en-US" dirty="0">
              <a:ln>
                <a:solidFill>
                  <a:srgbClr val="FFFFFF">
                    <a:alpha val="0"/>
                  </a:srgbClr>
                </a:solidFill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31" name="Rectangle 60"/>
          <p:cNvSpPr/>
          <p:nvPr/>
        </p:nvSpPr>
        <p:spPr bwMode="auto">
          <a:xfrm>
            <a:off x="3285192" y="4831607"/>
            <a:ext cx="4661846" cy="972000"/>
          </a:xfrm>
          <a:prstGeom prst="rect">
            <a:avLst/>
          </a:prstGeom>
          <a:solidFill>
            <a:srgbClr val="7FBA00"/>
          </a:solidFill>
          <a:ln w="9525">
            <a:noFill/>
            <a:headEnd type="none" w="med" len="med"/>
            <a:tailEnd type="none" w="med" len="med"/>
          </a:ln>
          <a:effectLst/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prstMaterial="flat">
            <a:contourClr>
              <a:schemeClr val="accent2">
                <a:satMod val="30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121883" tIns="487532" rIns="121883" bIns="13716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defTabSz="1218106" fontAlgn="base">
              <a:lnSpc>
                <a:spcPct val="90000"/>
              </a:lnSpc>
              <a:spcBef>
                <a:spcPts val="840"/>
              </a:spcBef>
              <a:spcAft>
                <a:spcPct val="0"/>
              </a:spcAft>
              <a:buClr>
                <a:srgbClr val="FFFF99"/>
              </a:buClr>
              <a:buSzPct val="120000"/>
            </a:pPr>
            <a:endParaRPr lang="en-US" dirty="0">
              <a:ln>
                <a:solidFill>
                  <a:srgbClr val="FFFFFF">
                    <a:alpha val="0"/>
                  </a:srgbClr>
                </a:solidFill>
              </a:ln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747986" y="1916832"/>
            <a:ext cx="3478972" cy="503590"/>
          </a:xfrm>
          <a:prstGeom prst="rect">
            <a:avLst/>
          </a:prstGeom>
        </p:spPr>
        <p:txBody>
          <a:bodyPr wrap="square" tIns="36000" bIns="3600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endParaRPr lang="en-US" altLang="zh-CN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342061" y="1984293"/>
            <a:ext cx="7088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①</a:t>
            </a:r>
            <a:endParaRPr lang="zh-CN" altLang="en-US" sz="32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342061" y="3094239"/>
            <a:ext cx="7088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②</a:t>
            </a:r>
            <a:endParaRPr lang="zh-CN" altLang="en-US" sz="32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342061" y="4158418"/>
            <a:ext cx="7088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③</a:t>
            </a:r>
            <a:endParaRPr lang="zh-CN" altLang="en-US" sz="32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342061" y="5218833"/>
            <a:ext cx="7088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④</a:t>
            </a:r>
            <a:endParaRPr lang="zh-CN" altLang="en-US" sz="32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747986" y="2955775"/>
            <a:ext cx="3478972" cy="503590"/>
          </a:xfrm>
          <a:prstGeom prst="rect">
            <a:avLst/>
          </a:prstGeom>
        </p:spPr>
        <p:txBody>
          <a:bodyPr wrap="square" tIns="36000" bIns="3600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数值表达式</a:t>
            </a:r>
            <a:endParaRPr lang="en-US" altLang="zh-CN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747986" y="3994718"/>
            <a:ext cx="3478972" cy="503590"/>
          </a:xfrm>
          <a:prstGeom prst="rect">
            <a:avLst/>
          </a:prstGeom>
        </p:spPr>
        <p:txBody>
          <a:bodyPr wrap="square" tIns="36000" bIns="3600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变量</a:t>
            </a:r>
            <a:endParaRPr lang="en-US" altLang="zh-CN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747986" y="5033661"/>
            <a:ext cx="3478972" cy="503590"/>
          </a:xfrm>
          <a:prstGeom prst="rect">
            <a:avLst/>
          </a:prstGeom>
        </p:spPr>
        <p:txBody>
          <a:bodyPr wrap="square" tIns="36000" bIns="3600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地址表达式</a:t>
            </a:r>
            <a:endParaRPr lang="en-US" altLang="zh-CN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6508" y="4905056"/>
            <a:ext cx="828000" cy="828000"/>
          </a:xfrm>
          <a:prstGeom prst="rect">
            <a:avLst/>
          </a:prstGeom>
        </p:spPr>
      </p:pic>
      <p:pic>
        <p:nvPicPr>
          <p:cNvPr id="41" name="Picture 7" descr="\\MAGNUM\Projects\Microsoft\Cloud Power FY12\Design\ICONS_PNG\Within_Your_Reach.png"/>
          <p:cNvPicPr>
            <a:picLocks noChangeAspect="1" noChangeArrowheads="1"/>
          </p:cNvPicPr>
          <p:nvPr/>
        </p:nvPicPr>
        <p:blipFill>
          <a:blip r:embed="rId4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327985" y="1639667"/>
            <a:ext cx="910847" cy="993395"/>
          </a:xfrm>
          <a:prstGeom prst="rect">
            <a:avLst/>
          </a:prstGeom>
          <a:noFill/>
        </p:spPr>
      </p:pic>
      <p:cxnSp>
        <p:nvCxnSpPr>
          <p:cNvPr id="44" name="直接连接符 4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操作数的表达式：四种类型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6" name="直接连接符 4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1464939" y="2907334"/>
            <a:ext cx="636938" cy="663605"/>
            <a:chOff x="5464175" y="2763838"/>
            <a:chExt cx="1317626" cy="1312863"/>
          </a:xfrm>
          <a:solidFill>
            <a:schemeClr val="bg1"/>
          </a:solidFill>
        </p:grpSpPr>
        <p:sp>
          <p:nvSpPr>
            <p:cNvPr id="48" name="Freeform 38"/>
            <p:cNvSpPr>
              <a:spLocks noEditPoints="1"/>
            </p:cNvSpPr>
            <p:nvPr/>
          </p:nvSpPr>
          <p:spPr bwMode="auto">
            <a:xfrm>
              <a:off x="6173788" y="2763838"/>
              <a:ext cx="608013" cy="611188"/>
            </a:xfrm>
            <a:custGeom>
              <a:avLst/>
              <a:gdLst>
                <a:gd name="T0" fmla="*/ 188 w 209"/>
                <a:gd name="T1" fmla="*/ 0 h 210"/>
                <a:gd name="T2" fmla="*/ 21 w 209"/>
                <a:gd name="T3" fmla="*/ 0 h 210"/>
                <a:gd name="T4" fmla="*/ 0 w 209"/>
                <a:gd name="T5" fmla="*/ 21 h 210"/>
                <a:gd name="T6" fmla="*/ 0 w 209"/>
                <a:gd name="T7" fmla="*/ 189 h 210"/>
                <a:gd name="T8" fmla="*/ 21 w 209"/>
                <a:gd name="T9" fmla="*/ 210 h 210"/>
                <a:gd name="T10" fmla="*/ 188 w 209"/>
                <a:gd name="T11" fmla="*/ 210 h 210"/>
                <a:gd name="T12" fmla="*/ 209 w 209"/>
                <a:gd name="T13" fmla="*/ 189 h 210"/>
                <a:gd name="T14" fmla="*/ 209 w 209"/>
                <a:gd name="T15" fmla="*/ 21 h 210"/>
                <a:gd name="T16" fmla="*/ 188 w 209"/>
                <a:gd name="T17" fmla="*/ 0 h 210"/>
                <a:gd name="T18" fmla="*/ 147 w 209"/>
                <a:gd name="T19" fmla="*/ 119 h 210"/>
                <a:gd name="T20" fmla="*/ 62 w 209"/>
                <a:gd name="T21" fmla="*/ 119 h 210"/>
                <a:gd name="T22" fmla="*/ 46 w 209"/>
                <a:gd name="T23" fmla="*/ 105 h 210"/>
                <a:gd name="T24" fmla="*/ 62 w 209"/>
                <a:gd name="T25" fmla="*/ 91 h 210"/>
                <a:gd name="T26" fmla="*/ 147 w 209"/>
                <a:gd name="T27" fmla="*/ 91 h 210"/>
                <a:gd name="T28" fmla="*/ 163 w 209"/>
                <a:gd name="T29" fmla="*/ 105 h 210"/>
                <a:gd name="T30" fmla="*/ 147 w 209"/>
                <a:gd name="T31" fmla="*/ 11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9" h="210">
                  <a:moveTo>
                    <a:pt x="188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200"/>
                    <a:pt x="9" y="210"/>
                    <a:pt x="21" y="210"/>
                  </a:cubicBezTo>
                  <a:cubicBezTo>
                    <a:pt x="188" y="210"/>
                    <a:pt x="188" y="210"/>
                    <a:pt x="188" y="210"/>
                  </a:cubicBezTo>
                  <a:cubicBezTo>
                    <a:pt x="200" y="210"/>
                    <a:pt x="209" y="200"/>
                    <a:pt x="209" y="189"/>
                  </a:cubicBezTo>
                  <a:cubicBezTo>
                    <a:pt x="209" y="21"/>
                    <a:pt x="209" y="21"/>
                    <a:pt x="209" y="21"/>
                  </a:cubicBezTo>
                  <a:cubicBezTo>
                    <a:pt x="209" y="10"/>
                    <a:pt x="200" y="0"/>
                    <a:pt x="188" y="0"/>
                  </a:cubicBezTo>
                  <a:close/>
                  <a:moveTo>
                    <a:pt x="147" y="119"/>
                  </a:moveTo>
                  <a:cubicBezTo>
                    <a:pt x="62" y="119"/>
                    <a:pt x="62" y="119"/>
                    <a:pt x="62" y="119"/>
                  </a:cubicBezTo>
                  <a:cubicBezTo>
                    <a:pt x="53" y="119"/>
                    <a:pt x="46" y="113"/>
                    <a:pt x="46" y="105"/>
                  </a:cubicBezTo>
                  <a:cubicBezTo>
                    <a:pt x="46" y="97"/>
                    <a:pt x="53" y="91"/>
                    <a:pt x="62" y="91"/>
                  </a:cubicBezTo>
                  <a:cubicBezTo>
                    <a:pt x="147" y="91"/>
                    <a:pt x="147" y="91"/>
                    <a:pt x="147" y="91"/>
                  </a:cubicBezTo>
                  <a:cubicBezTo>
                    <a:pt x="155" y="91"/>
                    <a:pt x="163" y="97"/>
                    <a:pt x="163" y="105"/>
                  </a:cubicBezTo>
                  <a:cubicBezTo>
                    <a:pt x="163" y="113"/>
                    <a:pt x="155" y="119"/>
                    <a:pt x="147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39"/>
            <p:cNvSpPr>
              <a:spLocks noEditPoints="1"/>
            </p:cNvSpPr>
            <p:nvPr/>
          </p:nvSpPr>
          <p:spPr bwMode="auto">
            <a:xfrm>
              <a:off x="5464175" y="2763838"/>
              <a:ext cx="608013" cy="611188"/>
            </a:xfrm>
            <a:custGeom>
              <a:avLst/>
              <a:gdLst>
                <a:gd name="T0" fmla="*/ 188 w 209"/>
                <a:gd name="T1" fmla="*/ 0 h 210"/>
                <a:gd name="T2" fmla="*/ 21 w 209"/>
                <a:gd name="T3" fmla="*/ 0 h 210"/>
                <a:gd name="T4" fmla="*/ 0 w 209"/>
                <a:gd name="T5" fmla="*/ 21 h 210"/>
                <a:gd name="T6" fmla="*/ 0 w 209"/>
                <a:gd name="T7" fmla="*/ 189 h 210"/>
                <a:gd name="T8" fmla="*/ 21 w 209"/>
                <a:gd name="T9" fmla="*/ 210 h 210"/>
                <a:gd name="T10" fmla="*/ 188 w 209"/>
                <a:gd name="T11" fmla="*/ 210 h 210"/>
                <a:gd name="T12" fmla="*/ 209 w 209"/>
                <a:gd name="T13" fmla="*/ 189 h 210"/>
                <a:gd name="T14" fmla="*/ 209 w 209"/>
                <a:gd name="T15" fmla="*/ 21 h 210"/>
                <a:gd name="T16" fmla="*/ 188 w 209"/>
                <a:gd name="T17" fmla="*/ 0 h 210"/>
                <a:gd name="T18" fmla="*/ 147 w 209"/>
                <a:gd name="T19" fmla="*/ 119 h 210"/>
                <a:gd name="T20" fmla="*/ 118 w 209"/>
                <a:gd name="T21" fmla="*/ 119 h 210"/>
                <a:gd name="T22" fmla="*/ 118 w 209"/>
                <a:gd name="T23" fmla="*/ 147 h 210"/>
                <a:gd name="T24" fmla="*/ 104 w 209"/>
                <a:gd name="T25" fmla="*/ 163 h 210"/>
                <a:gd name="T26" fmla="*/ 90 w 209"/>
                <a:gd name="T27" fmla="*/ 147 h 210"/>
                <a:gd name="T28" fmla="*/ 90 w 209"/>
                <a:gd name="T29" fmla="*/ 119 h 210"/>
                <a:gd name="T30" fmla="*/ 62 w 209"/>
                <a:gd name="T31" fmla="*/ 119 h 210"/>
                <a:gd name="T32" fmla="*/ 46 w 209"/>
                <a:gd name="T33" fmla="*/ 105 h 210"/>
                <a:gd name="T34" fmla="*/ 62 w 209"/>
                <a:gd name="T35" fmla="*/ 91 h 210"/>
                <a:gd name="T36" fmla="*/ 90 w 209"/>
                <a:gd name="T37" fmla="*/ 91 h 210"/>
                <a:gd name="T38" fmla="*/ 90 w 209"/>
                <a:gd name="T39" fmla="*/ 63 h 210"/>
                <a:gd name="T40" fmla="*/ 104 w 209"/>
                <a:gd name="T41" fmla="*/ 47 h 210"/>
                <a:gd name="T42" fmla="*/ 118 w 209"/>
                <a:gd name="T43" fmla="*/ 63 h 210"/>
                <a:gd name="T44" fmla="*/ 118 w 209"/>
                <a:gd name="T45" fmla="*/ 91 h 210"/>
                <a:gd name="T46" fmla="*/ 147 w 209"/>
                <a:gd name="T47" fmla="*/ 91 h 210"/>
                <a:gd name="T48" fmla="*/ 163 w 209"/>
                <a:gd name="T49" fmla="*/ 105 h 210"/>
                <a:gd name="T50" fmla="*/ 147 w 209"/>
                <a:gd name="T51" fmla="*/ 11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9" h="210">
                  <a:moveTo>
                    <a:pt x="188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200"/>
                    <a:pt x="9" y="210"/>
                    <a:pt x="21" y="210"/>
                  </a:cubicBezTo>
                  <a:cubicBezTo>
                    <a:pt x="188" y="210"/>
                    <a:pt x="188" y="210"/>
                    <a:pt x="188" y="210"/>
                  </a:cubicBezTo>
                  <a:cubicBezTo>
                    <a:pt x="200" y="210"/>
                    <a:pt x="209" y="200"/>
                    <a:pt x="209" y="189"/>
                  </a:cubicBezTo>
                  <a:cubicBezTo>
                    <a:pt x="209" y="21"/>
                    <a:pt x="209" y="21"/>
                    <a:pt x="209" y="21"/>
                  </a:cubicBezTo>
                  <a:cubicBezTo>
                    <a:pt x="209" y="10"/>
                    <a:pt x="200" y="0"/>
                    <a:pt x="188" y="0"/>
                  </a:cubicBezTo>
                  <a:close/>
                  <a:moveTo>
                    <a:pt x="147" y="119"/>
                  </a:moveTo>
                  <a:cubicBezTo>
                    <a:pt x="118" y="119"/>
                    <a:pt x="118" y="119"/>
                    <a:pt x="118" y="119"/>
                  </a:cubicBezTo>
                  <a:cubicBezTo>
                    <a:pt x="118" y="147"/>
                    <a:pt x="118" y="147"/>
                    <a:pt x="118" y="147"/>
                  </a:cubicBezTo>
                  <a:cubicBezTo>
                    <a:pt x="118" y="156"/>
                    <a:pt x="112" y="163"/>
                    <a:pt x="104" y="163"/>
                  </a:cubicBezTo>
                  <a:cubicBezTo>
                    <a:pt x="97" y="163"/>
                    <a:pt x="90" y="156"/>
                    <a:pt x="90" y="147"/>
                  </a:cubicBezTo>
                  <a:cubicBezTo>
                    <a:pt x="90" y="119"/>
                    <a:pt x="90" y="119"/>
                    <a:pt x="90" y="119"/>
                  </a:cubicBezTo>
                  <a:cubicBezTo>
                    <a:pt x="62" y="119"/>
                    <a:pt x="62" y="119"/>
                    <a:pt x="62" y="119"/>
                  </a:cubicBezTo>
                  <a:cubicBezTo>
                    <a:pt x="53" y="119"/>
                    <a:pt x="46" y="113"/>
                    <a:pt x="46" y="105"/>
                  </a:cubicBezTo>
                  <a:cubicBezTo>
                    <a:pt x="46" y="97"/>
                    <a:pt x="53" y="91"/>
                    <a:pt x="62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63"/>
                    <a:pt x="90" y="63"/>
                    <a:pt x="90" y="63"/>
                  </a:cubicBezTo>
                  <a:cubicBezTo>
                    <a:pt x="90" y="54"/>
                    <a:pt x="97" y="47"/>
                    <a:pt x="104" y="47"/>
                  </a:cubicBezTo>
                  <a:cubicBezTo>
                    <a:pt x="112" y="47"/>
                    <a:pt x="118" y="54"/>
                    <a:pt x="118" y="63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47" y="91"/>
                    <a:pt x="147" y="91"/>
                    <a:pt x="147" y="91"/>
                  </a:cubicBezTo>
                  <a:cubicBezTo>
                    <a:pt x="156" y="91"/>
                    <a:pt x="163" y="97"/>
                    <a:pt x="163" y="105"/>
                  </a:cubicBezTo>
                  <a:cubicBezTo>
                    <a:pt x="163" y="113"/>
                    <a:pt x="156" y="119"/>
                    <a:pt x="147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0"/>
            <p:cNvSpPr>
              <a:spLocks noEditPoints="1"/>
            </p:cNvSpPr>
            <p:nvPr/>
          </p:nvSpPr>
          <p:spPr bwMode="auto">
            <a:xfrm>
              <a:off x="5464175" y="3465513"/>
              <a:ext cx="608013" cy="611188"/>
            </a:xfrm>
            <a:custGeom>
              <a:avLst/>
              <a:gdLst>
                <a:gd name="T0" fmla="*/ 188 w 209"/>
                <a:gd name="T1" fmla="*/ 0 h 210"/>
                <a:gd name="T2" fmla="*/ 21 w 209"/>
                <a:gd name="T3" fmla="*/ 0 h 210"/>
                <a:gd name="T4" fmla="*/ 0 w 209"/>
                <a:gd name="T5" fmla="*/ 21 h 210"/>
                <a:gd name="T6" fmla="*/ 0 w 209"/>
                <a:gd name="T7" fmla="*/ 189 h 210"/>
                <a:gd name="T8" fmla="*/ 21 w 209"/>
                <a:gd name="T9" fmla="*/ 210 h 210"/>
                <a:gd name="T10" fmla="*/ 188 w 209"/>
                <a:gd name="T11" fmla="*/ 210 h 210"/>
                <a:gd name="T12" fmla="*/ 209 w 209"/>
                <a:gd name="T13" fmla="*/ 189 h 210"/>
                <a:gd name="T14" fmla="*/ 209 w 209"/>
                <a:gd name="T15" fmla="*/ 21 h 210"/>
                <a:gd name="T16" fmla="*/ 188 w 209"/>
                <a:gd name="T17" fmla="*/ 0 h 210"/>
                <a:gd name="T18" fmla="*/ 104 w 209"/>
                <a:gd name="T19" fmla="*/ 46 h 210"/>
                <a:gd name="T20" fmla="*/ 121 w 209"/>
                <a:gd name="T21" fmla="*/ 62 h 210"/>
                <a:gd name="T22" fmla="*/ 104 w 209"/>
                <a:gd name="T23" fmla="*/ 78 h 210"/>
                <a:gd name="T24" fmla="*/ 88 w 209"/>
                <a:gd name="T25" fmla="*/ 62 h 210"/>
                <a:gd name="T26" fmla="*/ 104 w 209"/>
                <a:gd name="T27" fmla="*/ 46 h 210"/>
                <a:gd name="T28" fmla="*/ 104 w 209"/>
                <a:gd name="T29" fmla="*/ 164 h 210"/>
                <a:gd name="T30" fmla="*/ 88 w 209"/>
                <a:gd name="T31" fmla="*/ 148 h 210"/>
                <a:gd name="T32" fmla="*/ 104 w 209"/>
                <a:gd name="T33" fmla="*/ 131 h 210"/>
                <a:gd name="T34" fmla="*/ 121 w 209"/>
                <a:gd name="T35" fmla="*/ 148 h 210"/>
                <a:gd name="T36" fmla="*/ 104 w 209"/>
                <a:gd name="T37" fmla="*/ 164 h 210"/>
                <a:gd name="T38" fmla="*/ 147 w 209"/>
                <a:gd name="T39" fmla="*/ 119 h 210"/>
                <a:gd name="T40" fmla="*/ 62 w 209"/>
                <a:gd name="T41" fmla="*/ 119 h 210"/>
                <a:gd name="T42" fmla="*/ 46 w 209"/>
                <a:gd name="T43" fmla="*/ 105 h 210"/>
                <a:gd name="T44" fmla="*/ 62 w 209"/>
                <a:gd name="T45" fmla="*/ 91 h 210"/>
                <a:gd name="T46" fmla="*/ 147 w 209"/>
                <a:gd name="T47" fmla="*/ 91 h 210"/>
                <a:gd name="T48" fmla="*/ 163 w 209"/>
                <a:gd name="T49" fmla="*/ 105 h 210"/>
                <a:gd name="T50" fmla="*/ 147 w 209"/>
                <a:gd name="T51" fmla="*/ 11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9" h="210">
                  <a:moveTo>
                    <a:pt x="188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200"/>
                    <a:pt x="9" y="210"/>
                    <a:pt x="21" y="210"/>
                  </a:cubicBezTo>
                  <a:cubicBezTo>
                    <a:pt x="188" y="210"/>
                    <a:pt x="188" y="210"/>
                    <a:pt x="188" y="210"/>
                  </a:cubicBezTo>
                  <a:cubicBezTo>
                    <a:pt x="200" y="210"/>
                    <a:pt x="209" y="200"/>
                    <a:pt x="209" y="189"/>
                  </a:cubicBezTo>
                  <a:cubicBezTo>
                    <a:pt x="209" y="21"/>
                    <a:pt x="209" y="21"/>
                    <a:pt x="209" y="21"/>
                  </a:cubicBezTo>
                  <a:cubicBezTo>
                    <a:pt x="209" y="10"/>
                    <a:pt x="200" y="0"/>
                    <a:pt x="188" y="0"/>
                  </a:cubicBezTo>
                  <a:close/>
                  <a:moveTo>
                    <a:pt x="104" y="46"/>
                  </a:moveTo>
                  <a:cubicBezTo>
                    <a:pt x="113" y="46"/>
                    <a:pt x="121" y="53"/>
                    <a:pt x="121" y="62"/>
                  </a:cubicBezTo>
                  <a:cubicBezTo>
                    <a:pt x="121" y="71"/>
                    <a:pt x="113" y="78"/>
                    <a:pt x="104" y="78"/>
                  </a:cubicBezTo>
                  <a:cubicBezTo>
                    <a:pt x="95" y="78"/>
                    <a:pt x="88" y="71"/>
                    <a:pt x="88" y="62"/>
                  </a:cubicBezTo>
                  <a:cubicBezTo>
                    <a:pt x="88" y="53"/>
                    <a:pt x="95" y="46"/>
                    <a:pt x="104" y="46"/>
                  </a:cubicBezTo>
                  <a:close/>
                  <a:moveTo>
                    <a:pt x="104" y="164"/>
                  </a:moveTo>
                  <a:cubicBezTo>
                    <a:pt x="95" y="164"/>
                    <a:pt x="88" y="157"/>
                    <a:pt x="88" y="148"/>
                  </a:cubicBezTo>
                  <a:cubicBezTo>
                    <a:pt x="88" y="139"/>
                    <a:pt x="95" y="131"/>
                    <a:pt x="104" y="131"/>
                  </a:cubicBezTo>
                  <a:cubicBezTo>
                    <a:pt x="113" y="131"/>
                    <a:pt x="121" y="139"/>
                    <a:pt x="121" y="148"/>
                  </a:cubicBezTo>
                  <a:cubicBezTo>
                    <a:pt x="121" y="157"/>
                    <a:pt x="113" y="164"/>
                    <a:pt x="104" y="164"/>
                  </a:cubicBezTo>
                  <a:close/>
                  <a:moveTo>
                    <a:pt x="147" y="119"/>
                  </a:moveTo>
                  <a:cubicBezTo>
                    <a:pt x="62" y="119"/>
                    <a:pt x="62" y="119"/>
                    <a:pt x="62" y="119"/>
                  </a:cubicBezTo>
                  <a:cubicBezTo>
                    <a:pt x="53" y="119"/>
                    <a:pt x="46" y="113"/>
                    <a:pt x="46" y="105"/>
                  </a:cubicBezTo>
                  <a:cubicBezTo>
                    <a:pt x="46" y="97"/>
                    <a:pt x="53" y="91"/>
                    <a:pt x="62" y="91"/>
                  </a:cubicBezTo>
                  <a:cubicBezTo>
                    <a:pt x="147" y="91"/>
                    <a:pt x="147" y="91"/>
                    <a:pt x="147" y="91"/>
                  </a:cubicBezTo>
                  <a:cubicBezTo>
                    <a:pt x="156" y="91"/>
                    <a:pt x="163" y="97"/>
                    <a:pt x="163" y="105"/>
                  </a:cubicBezTo>
                  <a:cubicBezTo>
                    <a:pt x="163" y="113"/>
                    <a:pt x="156" y="119"/>
                    <a:pt x="147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1"/>
            <p:cNvSpPr>
              <a:spLocks noEditPoints="1"/>
            </p:cNvSpPr>
            <p:nvPr/>
          </p:nvSpPr>
          <p:spPr bwMode="auto">
            <a:xfrm>
              <a:off x="6173788" y="3465513"/>
              <a:ext cx="608013" cy="611188"/>
            </a:xfrm>
            <a:custGeom>
              <a:avLst/>
              <a:gdLst>
                <a:gd name="T0" fmla="*/ 188 w 209"/>
                <a:gd name="T1" fmla="*/ 0 h 210"/>
                <a:gd name="T2" fmla="*/ 21 w 209"/>
                <a:gd name="T3" fmla="*/ 0 h 210"/>
                <a:gd name="T4" fmla="*/ 0 w 209"/>
                <a:gd name="T5" fmla="*/ 21 h 210"/>
                <a:gd name="T6" fmla="*/ 0 w 209"/>
                <a:gd name="T7" fmla="*/ 189 h 210"/>
                <a:gd name="T8" fmla="*/ 21 w 209"/>
                <a:gd name="T9" fmla="*/ 210 h 210"/>
                <a:gd name="T10" fmla="*/ 188 w 209"/>
                <a:gd name="T11" fmla="*/ 210 h 210"/>
                <a:gd name="T12" fmla="*/ 209 w 209"/>
                <a:gd name="T13" fmla="*/ 189 h 210"/>
                <a:gd name="T14" fmla="*/ 209 w 209"/>
                <a:gd name="T15" fmla="*/ 21 h 210"/>
                <a:gd name="T16" fmla="*/ 188 w 209"/>
                <a:gd name="T17" fmla="*/ 0 h 210"/>
                <a:gd name="T18" fmla="*/ 147 w 209"/>
                <a:gd name="T19" fmla="*/ 146 h 210"/>
                <a:gd name="T20" fmla="*/ 62 w 209"/>
                <a:gd name="T21" fmla="*/ 146 h 210"/>
                <a:gd name="T22" fmla="*/ 46 w 209"/>
                <a:gd name="T23" fmla="*/ 132 h 210"/>
                <a:gd name="T24" fmla="*/ 62 w 209"/>
                <a:gd name="T25" fmla="*/ 118 h 210"/>
                <a:gd name="T26" fmla="*/ 147 w 209"/>
                <a:gd name="T27" fmla="*/ 118 h 210"/>
                <a:gd name="T28" fmla="*/ 163 w 209"/>
                <a:gd name="T29" fmla="*/ 132 h 210"/>
                <a:gd name="T30" fmla="*/ 147 w 209"/>
                <a:gd name="T31" fmla="*/ 146 h 210"/>
                <a:gd name="T32" fmla="*/ 147 w 209"/>
                <a:gd name="T33" fmla="*/ 92 h 210"/>
                <a:gd name="T34" fmla="*/ 62 w 209"/>
                <a:gd name="T35" fmla="*/ 92 h 210"/>
                <a:gd name="T36" fmla="*/ 46 w 209"/>
                <a:gd name="T37" fmla="*/ 78 h 210"/>
                <a:gd name="T38" fmla="*/ 62 w 209"/>
                <a:gd name="T39" fmla="*/ 64 h 210"/>
                <a:gd name="T40" fmla="*/ 147 w 209"/>
                <a:gd name="T41" fmla="*/ 64 h 210"/>
                <a:gd name="T42" fmla="*/ 163 w 209"/>
                <a:gd name="T43" fmla="*/ 78 h 210"/>
                <a:gd name="T44" fmla="*/ 147 w 209"/>
                <a:gd name="T45" fmla="*/ 92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9" h="210">
                  <a:moveTo>
                    <a:pt x="188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10"/>
                    <a:pt x="0" y="21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200"/>
                    <a:pt x="9" y="210"/>
                    <a:pt x="21" y="210"/>
                  </a:cubicBezTo>
                  <a:cubicBezTo>
                    <a:pt x="188" y="210"/>
                    <a:pt x="188" y="210"/>
                    <a:pt x="188" y="210"/>
                  </a:cubicBezTo>
                  <a:cubicBezTo>
                    <a:pt x="200" y="210"/>
                    <a:pt x="209" y="200"/>
                    <a:pt x="209" y="189"/>
                  </a:cubicBezTo>
                  <a:cubicBezTo>
                    <a:pt x="209" y="21"/>
                    <a:pt x="209" y="21"/>
                    <a:pt x="209" y="21"/>
                  </a:cubicBezTo>
                  <a:cubicBezTo>
                    <a:pt x="209" y="10"/>
                    <a:pt x="200" y="0"/>
                    <a:pt x="188" y="0"/>
                  </a:cubicBezTo>
                  <a:close/>
                  <a:moveTo>
                    <a:pt x="147" y="146"/>
                  </a:moveTo>
                  <a:cubicBezTo>
                    <a:pt x="62" y="146"/>
                    <a:pt x="62" y="146"/>
                    <a:pt x="62" y="146"/>
                  </a:cubicBezTo>
                  <a:cubicBezTo>
                    <a:pt x="53" y="146"/>
                    <a:pt x="46" y="140"/>
                    <a:pt x="46" y="132"/>
                  </a:cubicBezTo>
                  <a:cubicBezTo>
                    <a:pt x="46" y="124"/>
                    <a:pt x="53" y="118"/>
                    <a:pt x="62" y="118"/>
                  </a:cubicBezTo>
                  <a:cubicBezTo>
                    <a:pt x="147" y="118"/>
                    <a:pt x="147" y="118"/>
                    <a:pt x="147" y="118"/>
                  </a:cubicBezTo>
                  <a:cubicBezTo>
                    <a:pt x="155" y="118"/>
                    <a:pt x="163" y="124"/>
                    <a:pt x="163" y="132"/>
                  </a:cubicBezTo>
                  <a:cubicBezTo>
                    <a:pt x="163" y="140"/>
                    <a:pt x="155" y="146"/>
                    <a:pt x="147" y="146"/>
                  </a:cubicBezTo>
                  <a:close/>
                  <a:moveTo>
                    <a:pt x="147" y="92"/>
                  </a:moveTo>
                  <a:cubicBezTo>
                    <a:pt x="62" y="92"/>
                    <a:pt x="62" y="92"/>
                    <a:pt x="62" y="92"/>
                  </a:cubicBezTo>
                  <a:cubicBezTo>
                    <a:pt x="53" y="92"/>
                    <a:pt x="46" y="86"/>
                    <a:pt x="46" y="78"/>
                  </a:cubicBezTo>
                  <a:cubicBezTo>
                    <a:pt x="46" y="70"/>
                    <a:pt x="53" y="64"/>
                    <a:pt x="62" y="64"/>
                  </a:cubicBezTo>
                  <a:cubicBezTo>
                    <a:pt x="147" y="64"/>
                    <a:pt x="147" y="64"/>
                    <a:pt x="147" y="64"/>
                  </a:cubicBezTo>
                  <a:cubicBezTo>
                    <a:pt x="155" y="64"/>
                    <a:pt x="163" y="70"/>
                    <a:pt x="163" y="78"/>
                  </a:cubicBezTo>
                  <a:cubicBezTo>
                    <a:pt x="163" y="86"/>
                    <a:pt x="155" y="92"/>
                    <a:pt x="147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2" name="Freeform 285"/>
          <p:cNvSpPr>
            <a:spLocks noEditPoints="1"/>
          </p:cNvSpPr>
          <p:nvPr/>
        </p:nvSpPr>
        <p:spPr bwMode="auto">
          <a:xfrm>
            <a:off x="1475840" y="3933056"/>
            <a:ext cx="658658" cy="648072"/>
          </a:xfrm>
          <a:custGeom>
            <a:avLst/>
            <a:gdLst>
              <a:gd name="T0" fmla="*/ 101 w 201"/>
              <a:gd name="T1" fmla="*/ 60 h 203"/>
              <a:gd name="T2" fmla="*/ 58 w 201"/>
              <a:gd name="T3" fmla="*/ 103 h 203"/>
              <a:gd name="T4" fmla="*/ 101 w 201"/>
              <a:gd name="T5" fmla="*/ 147 h 203"/>
              <a:gd name="T6" fmla="*/ 144 w 201"/>
              <a:gd name="T7" fmla="*/ 103 h 203"/>
              <a:gd name="T8" fmla="*/ 101 w 201"/>
              <a:gd name="T9" fmla="*/ 60 h 203"/>
              <a:gd name="T10" fmla="*/ 180 w 201"/>
              <a:gd name="T11" fmla="*/ 101 h 203"/>
              <a:gd name="T12" fmla="*/ 180 w 201"/>
              <a:gd name="T13" fmla="*/ 95 h 203"/>
              <a:gd name="T14" fmla="*/ 201 w 201"/>
              <a:gd name="T15" fmla="*/ 90 h 203"/>
              <a:gd name="T16" fmla="*/ 193 w 201"/>
              <a:gd name="T17" fmla="*/ 61 h 203"/>
              <a:gd name="T18" fmla="*/ 172 w 201"/>
              <a:gd name="T19" fmla="*/ 67 h 203"/>
              <a:gd name="T20" fmla="*/ 162 w 201"/>
              <a:gd name="T21" fmla="*/ 51 h 203"/>
              <a:gd name="T22" fmla="*/ 176 w 201"/>
              <a:gd name="T23" fmla="*/ 34 h 203"/>
              <a:gd name="T24" fmla="*/ 153 w 201"/>
              <a:gd name="T25" fmla="*/ 15 h 203"/>
              <a:gd name="T26" fmla="*/ 139 w 201"/>
              <a:gd name="T27" fmla="*/ 32 h 203"/>
              <a:gd name="T28" fmla="*/ 115 w 201"/>
              <a:gd name="T29" fmla="*/ 23 h 203"/>
              <a:gd name="T30" fmla="*/ 115 w 201"/>
              <a:gd name="T31" fmla="*/ 1 h 203"/>
              <a:gd name="T32" fmla="*/ 101 w 201"/>
              <a:gd name="T33" fmla="*/ 0 h 203"/>
              <a:gd name="T34" fmla="*/ 86 w 201"/>
              <a:gd name="T35" fmla="*/ 1 h 203"/>
              <a:gd name="T36" fmla="*/ 86 w 201"/>
              <a:gd name="T37" fmla="*/ 23 h 203"/>
              <a:gd name="T38" fmla="*/ 68 w 201"/>
              <a:gd name="T39" fmla="*/ 29 h 203"/>
              <a:gd name="T40" fmla="*/ 55 w 201"/>
              <a:gd name="T41" fmla="*/ 11 h 203"/>
              <a:gd name="T42" fmla="*/ 31 w 201"/>
              <a:gd name="T43" fmla="*/ 28 h 203"/>
              <a:gd name="T44" fmla="*/ 43 w 201"/>
              <a:gd name="T45" fmla="*/ 46 h 203"/>
              <a:gd name="T46" fmla="*/ 32 w 201"/>
              <a:gd name="T47" fmla="*/ 60 h 203"/>
              <a:gd name="T48" fmla="*/ 12 w 201"/>
              <a:gd name="T49" fmla="*/ 53 h 203"/>
              <a:gd name="T50" fmla="*/ 1 w 201"/>
              <a:gd name="T51" fmla="*/ 81 h 203"/>
              <a:gd name="T52" fmla="*/ 22 w 201"/>
              <a:gd name="T53" fmla="*/ 88 h 203"/>
              <a:gd name="T54" fmla="*/ 21 w 201"/>
              <a:gd name="T55" fmla="*/ 101 h 203"/>
              <a:gd name="T56" fmla="*/ 21 w 201"/>
              <a:gd name="T57" fmla="*/ 107 h 203"/>
              <a:gd name="T58" fmla="*/ 0 w 201"/>
              <a:gd name="T59" fmla="*/ 113 h 203"/>
              <a:gd name="T60" fmla="*/ 7 w 201"/>
              <a:gd name="T61" fmla="*/ 142 h 203"/>
              <a:gd name="T62" fmla="*/ 28 w 201"/>
              <a:gd name="T63" fmla="*/ 136 h 203"/>
              <a:gd name="T64" fmla="*/ 39 w 201"/>
              <a:gd name="T65" fmla="*/ 152 h 203"/>
              <a:gd name="T66" fmla="*/ 25 w 201"/>
              <a:gd name="T67" fmla="*/ 169 h 203"/>
              <a:gd name="T68" fmla="*/ 47 w 201"/>
              <a:gd name="T69" fmla="*/ 188 h 203"/>
              <a:gd name="T70" fmla="*/ 61 w 201"/>
              <a:gd name="T71" fmla="*/ 171 h 203"/>
              <a:gd name="T72" fmla="*/ 86 w 201"/>
              <a:gd name="T73" fmla="*/ 180 h 203"/>
              <a:gd name="T74" fmla="*/ 86 w 201"/>
              <a:gd name="T75" fmla="*/ 202 h 203"/>
              <a:gd name="T76" fmla="*/ 101 w 201"/>
              <a:gd name="T77" fmla="*/ 203 h 203"/>
              <a:gd name="T78" fmla="*/ 115 w 201"/>
              <a:gd name="T79" fmla="*/ 202 h 203"/>
              <a:gd name="T80" fmla="*/ 115 w 201"/>
              <a:gd name="T81" fmla="*/ 180 h 203"/>
              <a:gd name="T82" fmla="*/ 134 w 201"/>
              <a:gd name="T83" fmla="*/ 174 h 203"/>
              <a:gd name="T84" fmla="*/ 146 w 201"/>
              <a:gd name="T85" fmla="*/ 192 h 203"/>
              <a:gd name="T86" fmla="*/ 170 w 201"/>
              <a:gd name="T87" fmla="*/ 175 h 203"/>
              <a:gd name="T88" fmla="*/ 158 w 201"/>
              <a:gd name="T89" fmla="*/ 157 h 203"/>
              <a:gd name="T90" fmla="*/ 169 w 201"/>
              <a:gd name="T91" fmla="*/ 142 h 203"/>
              <a:gd name="T92" fmla="*/ 190 w 201"/>
              <a:gd name="T93" fmla="*/ 150 h 203"/>
              <a:gd name="T94" fmla="*/ 200 w 201"/>
              <a:gd name="T95" fmla="*/ 121 h 203"/>
              <a:gd name="T96" fmla="*/ 179 w 201"/>
              <a:gd name="T97" fmla="*/ 114 h 203"/>
              <a:gd name="T98" fmla="*/ 180 w 201"/>
              <a:gd name="T99" fmla="*/ 101 h 203"/>
              <a:gd name="T100" fmla="*/ 101 w 201"/>
              <a:gd name="T101" fmla="*/ 158 h 203"/>
              <a:gd name="T102" fmla="*/ 47 w 201"/>
              <a:gd name="T103" fmla="*/ 103 h 203"/>
              <a:gd name="T104" fmla="*/ 101 w 201"/>
              <a:gd name="T105" fmla="*/ 49 h 203"/>
              <a:gd name="T106" fmla="*/ 155 w 201"/>
              <a:gd name="T107" fmla="*/ 103 h 203"/>
              <a:gd name="T108" fmla="*/ 101 w 201"/>
              <a:gd name="T109" fmla="*/ 158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01" h="203">
                <a:moveTo>
                  <a:pt x="101" y="60"/>
                </a:moveTo>
                <a:cubicBezTo>
                  <a:pt x="77" y="60"/>
                  <a:pt x="58" y="80"/>
                  <a:pt x="58" y="103"/>
                </a:cubicBezTo>
                <a:cubicBezTo>
                  <a:pt x="58" y="127"/>
                  <a:pt x="77" y="147"/>
                  <a:pt x="101" y="147"/>
                </a:cubicBezTo>
                <a:cubicBezTo>
                  <a:pt x="125" y="147"/>
                  <a:pt x="144" y="127"/>
                  <a:pt x="144" y="103"/>
                </a:cubicBezTo>
                <a:cubicBezTo>
                  <a:pt x="144" y="80"/>
                  <a:pt x="125" y="60"/>
                  <a:pt x="101" y="60"/>
                </a:cubicBezTo>
                <a:close/>
                <a:moveTo>
                  <a:pt x="180" y="101"/>
                </a:moveTo>
                <a:cubicBezTo>
                  <a:pt x="180" y="99"/>
                  <a:pt x="180" y="97"/>
                  <a:pt x="180" y="95"/>
                </a:cubicBezTo>
                <a:cubicBezTo>
                  <a:pt x="201" y="90"/>
                  <a:pt x="201" y="90"/>
                  <a:pt x="201" y="90"/>
                </a:cubicBezTo>
                <a:cubicBezTo>
                  <a:pt x="200" y="80"/>
                  <a:pt x="197" y="70"/>
                  <a:pt x="193" y="61"/>
                </a:cubicBezTo>
                <a:cubicBezTo>
                  <a:pt x="172" y="67"/>
                  <a:pt x="172" y="67"/>
                  <a:pt x="172" y="67"/>
                </a:cubicBezTo>
                <a:cubicBezTo>
                  <a:pt x="170" y="61"/>
                  <a:pt x="166" y="56"/>
                  <a:pt x="162" y="51"/>
                </a:cubicBezTo>
                <a:cubicBezTo>
                  <a:pt x="176" y="34"/>
                  <a:pt x="176" y="34"/>
                  <a:pt x="176" y="34"/>
                </a:cubicBezTo>
                <a:cubicBezTo>
                  <a:pt x="170" y="27"/>
                  <a:pt x="162" y="20"/>
                  <a:pt x="153" y="15"/>
                </a:cubicBezTo>
                <a:cubicBezTo>
                  <a:pt x="139" y="32"/>
                  <a:pt x="139" y="32"/>
                  <a:pt x="139" y="32"/>
                </a:cubicBezTo>
                <a:cubicBezTo>
                  <a:pt x="132" y="28"/>
                  <a:pt x="124" y="25"/>
                  <a:pt x="115" y="23"/>
                </a:cubicBezTo>
                <a:cubicBezTo>
                  <a:pt x="115" y="1"/>
                  <a:pt x="115" y="1"/>
                  <a:pt x="115" y="1"/>
                </a:cubicBezTo>
                <a:cubicBezTo>
                  <a:pt x="111" y="1"/>
                  <a:pt x="106" y="0"/>
                  <a:pt x="101" y="0"/>
                </a:cubicBezTo>
                <a:cubicBezTo>
                  <a:pt x="95" y="0"/>
                  <a:pt x="91" y="1"/>
                  <a:pt x="86" y="1"/>
                </a:cubicBezTo>
                <a:cubicBezTo>
                  <a:pt x="86" y="23"/>
                  <a:pt x="86" y="23"/>
                  <a:pt x="86" y="23"/>
                </a:cubicBezTo>
                <a:cubicBezTo>
                  <a:pt x="79" y="24"/>
                  <a:pt x="73" y="26"/>
                  <a:pt x="68" y="29"/>
                </a:cubicBezTo>
                <a:cubicBezTo>
                  <a:pt x="55" y="11"/>
                  <a:pt x="55" y="11"/>
                  <a:pt x="55" y="11"/>
                </a:cubicBezTo>
                <a:cubicBezTo>
                  <a:pt x="46" y="15"/>
                  <a:pt x="38" y="21"/>
                  <a:pt x="31" y="28"/>
                </a:cubicBezTo>
                <a:cubicBezTo>
                  <a:pt x="43" y="46"/>
                  <a:pt x="43" y="46"/>
                  <a:pt x="43" y="46"/>
                </a:cubicBezTo>
                <a:cubicBezTo>
                  <a:pt x="39" y="50"/>
                  <a:pt x="35" y="55"/>
                  <a:pt x="32" y="60"/>
                </a:cubicBezTo>
                <a:cubicBezTo>
                  <a:pt x="12" y="53"/>
                  <a:pt x="12" y="53"/>
                  <a:pt x="12" y="53"/>
                </a:cubicBezTo>
                <a:cubicBezTo>
                  <a:pt x="7" y="62"/>
                  <a:pt x="3" y="71"/>
                  <a:pt x="1" y="81"/>
                </a:cubicBezTo>
                <a:cubicBezTo>
                  <a:pt x="22" y="88"/>
                  <a:pt x="22" y="88"/>
                  <a:pt x="22" y="88"/>
                </a:cubicBezTo>
                <a:cubicBezTo>
                  <a:pt x="21" y="93"/>
                  <a:pt x="21" y="97"/>
                  <a:pt x="21" y="101"/>
                </a:cubicBezTo>
                <a:cubicBezTo>
                  <a:pt x="21" y="103"/>
                  <a:pt x="21" y="105"/>
                  <a:pt x="21" y="107"/>
                </a:cubicBezTo>
                <a:cubicBezTo>
                  <a:pt x="0" y="113"/>
                  <a:pt x="0" y="113"/>
                  <a:pt x="0" y="113"/>
                </a:cubicBezTo>
                <a:cubicBezTo>
                  <a:pt x="1" y="123"/>
                  <a:pt x="4" y="133"/>
                  <a:pt x="7" y="142"/>
                </a:cubicBezTo>
                <a:cubicBezTo>
                  <a:pt x="28" y="136"/>
                  <a:pt x="28" y="136"/>
                  <a:pt x="28" y="136"/>
                </a:cubicBezTo>
                <a:cubicBezTo>
                  <a:pt x="31" y="142"/>
                  <a:pt x="35" y="147"/>
                  <a:pt x="39" y="152"/>
                </a:cubicBezTo>
                <a:cubicBezTo>
                  <a:pt x="25" y="169"/>
                  <a:pt x="25" y="169"/>
                  <a:pt x="25" y="169"/>
                </a:cubicBezTo>
                <a:cubicBezTo>
                  <a:pt x="31" y="176"/>
                  <a:pt x="39" y="182"/>
                  <a:pt x="47" y="188"/>
                </a:cubicBezTo>
                <a:cubicBezTo>
                  <a:pt x="61" y="171"/>
                  <a:pt x="61" y="171"/>
                  <a:pt x="61" y="171"/>
                </a:cubicBezTo>
                <a:cubicBezTo>
                  <a:pt x="69" y="175"/>
                  <a:pt x="77" y="178"/>
                  <a:pt x="86" y="180"/>
                </a:cubicBezTo>
                <a:cubicBezTo>
                  <a:pt x="86" y="202"/>
                  <a:pt x="86" y="202"/>
                  <a:pt x="86" y="202"/>
                </a:cubicBezTo>
                <a:cubicBezTo>
                  <a:pt x="91" y="202"/>
                  <a:pt x="95" y="203"/>
                  <a:pt x="101" y="203"/>
                </a:cubicBezTo>
                <a:cubicBezTo>
                  <a:pt x="106" y="203"/>
                  <a:pt x="111" y="202"/>
                  <a:pt x="115" y="202"/>
                </a:cubicBezTo>
                <a:cubicBezTo>
                  <a:pt x="115" y="180"/>
                  <a:pt x="115" y="180"/>
                  <a:pt x="115" y="180"/>
                </a:cubicBezTo>
                <a:cubicBezTo>
                  <a:pt x="122" y="179"/>
                  <a:pt x="128" y="177"/>
                  <a:pt x="134" y="174"/>
                </a:cubicBezTo>
                <a:cubicBezTo>
                  <a:pt x="146" y="192"/>
                  <a:pt x="146" y="192"/>
                  <a:pt x="146" y="192"/>
                </a:cubicBezTo>
                <a:cubicBezTo>
                  <a:pt x="155" y="188"/>
                  <a:pt x="163" y="182"/>
                  <a:pt x="170" y="175"/>
                </a:cubicBezTo>
                <a:cubicBezTo>
                  <a:pt x="158" y="157"/>
                  <a:pt x="158" y="157"/>
                  <a:pt x="158" y="157"/>
                </a:cubicBezTo>
                <a:cubicBezTo>
                  <a:pt x="162" y="153"/>
                  <a:pt x="166" y="148"/>
                  <a:pt x="169" y="142"/>
                </a:cubicBezTo>
                <a:cubicBezTo>
                  <a:pt x="190" y="150"/>
                  <a:pt x="190" y="150"/>
                  <a:pt x="190" y="150"/>
                </a:cubicBezTo>
                <a:cubicBezTo>
                  <a:pt x="194" y="141"/>
                  <a:pt x="198" y="131"/>
                  <a:pt x="200" y="121"/>
                </a:cubicBezTo>
                <a:cubicBezTo>
                  <a:pt x="179" y="114"/>
                  <a:pt x="179" y="114"/>
                  <a:pt x="179" y="114"/>
                </a:cubicBezTo>
                <a:cubicBezTo>
                  <a:pt x="180" y="110"/>
                  <a:pt x="180" y="106"/>
                  <a:pt x="180" y="101"/>
                </a:cubicBezTo>
                <a:close/>
                <a:moveTo>
                  <a:pt x="101" y="158"/>
                </a:moveTo>
                <a:cubicBezTo>
                  <a:pt x="71" y="158"/>
                  <a:pt x="47" y="133"/>
                  <a:pt x="47" y="103"/>
                </a:cubicBezTo>
                <a:cubicBezTo>
                  <a:pt x="47" y="73"/>
                  <a:pt x="71" y="49"/>
                  <a:pt x="101" y="49"/>
                </a:cubicBezTo>
                <a:cubicBezTo>
                  <a:pt x="131" y="49"/>
                  <a:pt x="155" y="73"/>
                  <a:pt x="155" y="103"/>
                </a:cubicBezTo>
                <a:cubicBezTo>
                  <a:pt x="155" y="133"/>
                  <a:pt x="131" y="158"/>
                  <a:pt x="101" y="1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6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7" grpId="0"/>
      <p:bldP spid="38" grpId="0"/>
      <p:bldP spid="3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常量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圆角矩形 6"/>
          <p:cNvSpPr/>
          <p:nvPr/>
        </p:nvSpPr>
        <p:spPr>
          <a:xfrm>
            <a:off x="683568" y="3295411"/>
            <a:ext cx="3458429" cy="1717765"/>
          </a:xfrm>
          <a:prstGeom prst="roundRect">
            <a:avLst>
              <a:gd name="adj" fmla="val 584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83568" y="2691627"/>
            <a:ext cx="3458429" cy="589495"/>
          </a:xfrm>
          <a:prstGeom prst="roundRect">
            <a:avLst>
              <a:gd name="adj" fmla="val 8731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数值常量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004048" y="2691627"/>
            <a:ext cx="3528392" cy="589495"/>
          </a:xfrm>
          <a:prstGeom prst="roundRect">
            <a:avLst>
              <a:gd name="adj" fmla="val 8731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符号常量</a:t>
            </a:r>
          </a:p>
        </p:txBody>
      </p:sp>
      <p:sp>
        <p:nvSpPr>
          <p:cNvPr id="10" name="矩形 9"/>
          <p:cNvSpPr/>
          <p:nvPr/>
        </p:nvSpPr>
        <p:spPr>
          <a:xfrm>
            <a:off x="683568" y="3418244"/>
            <a:ext cx="3458429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用各种进位制形式表示，如</a:t>
            </a:r>
            <a:r>
              <a:rPr lang="en-US" altLang="zh-CN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0AH</a:t>
            </a:r>
            <a:r>
              <a:rPr lang="zh-CN" altLang="en-US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0CH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5004048" y="3295411"/>
            <a:ext cx="3528392" cy="1717765"/>
          </a:xfrm>
          <a:prstGeom prst="roundRect">
            <a:avLst>
              <a:gd name="adj" fmla="val 584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04048" y="3418244"/>
            <a:ext cx="3528392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``=''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``EQU''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给常量定义一个名字，用名字在汇编语句中表示对应的常量。</a:t>
            </a:r>
          </a:p>
        </p:txBody>
      </p:sp>
      <p:sp>
        <p:nvSpPr>
          <p:cNvPr id="13" name="Dark Gray"/>
          <p:cNvSpPr/>
          <p:nvPr/>
        </p:nvSpPr>
        <p:spPr bwMode="auto">
          <a:xfrm>
            <a:off x="702908" y="1696946"/>
            <a:ext cx="7829532" cy="633861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216000" tIns="34292" rIns="216000" bIns="34292" numCol="1" rtlCol="0" anchor="ctr" anchorCtr="0" compatLnSpc="1">
            <a:prstTxWarp prst="textNoShape">
              <a:avLst/>
            </a:prstTxWarp>
          </a:bodyPr>
          <a:lstStyle/>
          <a:p>
            <a:pPr indent="457200" defTabSz="685637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600" b="1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827584" y="1783645"/>
            <a:ext cx="758539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spcAft>
                <a:spcPts val="600"/>
              </a:spcAft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常量：在汇编过程中已确定数值的量，包括数值常量和符号常量。</a:t>
            </a:r>
          </a:p>
        </p:txBody>
      </p:sp>
    </p:spTree>
    <p:extLst>
      <p:ext uri="{BB962C8B-B14F-4D97-AF65-F5344CB8AC3E}">
        <p14:creationId xmlns:p14="http://schemas.microsoft.com/office/powerpoint/2010/main" val="405375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 animBg="1"/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数值表达式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圆角矩形 4"/>
          <p:cNvSpPr/>
          <p:nvPr/>
        </p:nvSpPr>
        <p:spPr>
          <a:xfrm>
            <a:off x="611561" y="3511436"/>
            <a:ext cx="2329146" cy="2005796"/>
          </a:xfrm>
          <a:prstGeom prst="roundRect">
            <a:avLst>
              <a:gd name="adj" fmla="val 584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11561" y="2907651"/>
            <a:ext cx="2329146" cy="589495"/>
          </a:xfrm>
          <a:prstGeom prst="roundRect">
            <a:avLst>
              <a:gd name="adj" fmla="val 8731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算术运算符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347864" y="2907651"/>
            <a:ext cx="2376264" cy="589495"/>
          </a:xfrm>
          <a:prstGeom prst="roundRect">
            <a:avLst>
              <a:gd name="adj" fmla="val 8731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逻辑运算符</a:t>
            </a:r>
          </a:p>
        </p:txBody>
      </p:sp>
      <p:sp>
        <p:nvSpPr>
          <p:cNvPr id="8" name="矩形 7"/>
          <p:cNvSpPr/>
          <p:nvPr/>
        </p:nvSpPr>
        <p:spPr>
          <a:xfrm>
            <a:off x="611561" y="3634268"/>
            <a:ext cx="2329146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＋、－、*、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MOD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SHR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SHL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3347864" y="3511436"/>
            <a:ext cx="2376264" cy="2005796"/>
          </a:xfrm>
          <a:prstGeom prst="roundRect">
            <a:avLst>
              <a:gd name="adj" fmla="val 584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47864" y="3634268"/>
            <a:ext cx="237626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OR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XOR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NOT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1" name="Dark Gray"/>
          <p:cNvSpPr/>
          <p:nvPr/>
        </p:nvSpPr>
        <p:spPr bwMode="auto">
          <a:xfrm>
            <a:off x="611560" y="1512339"/>
            <a:ext cx="7920880" cy="1052565"/>
          </a:xfrm>
          <a:prstGeom prst="roundRect">
            <a:avLst>
              <a:gd name="adj" fmla="val 0"/>
            </a:avLst>
          </a:prstGeom>
          <a:solidFill>
            <a:srgbClr val="ED7D3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216000" tIns="34292" rIns="216000" bIns="34292" numCol="1" rtlCol="0" anchor="ctr" anchorCtr="0" compatLnSpc="1">
            <a:prstTxWarp prst="textNoShape">
              <a:avLst/>
            </a:prstTxWarp>
          </a:bodyPr>
          <a:lstStyle/>
          <a:p>
            <a:pPr indent="457200" defTabSz="685637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600" b="1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736236" y="1590780"/>
            <a:ext cx="7673893" cy="88639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spcAft>
                <a:spcPts val="600"/>
              </a:spcAft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数值表达式指在汇编时能被计算出并产生数值的表达式。该表达式由常量以算术、逻辑和关系运算符连接而成。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6156176" y="2907651"/>
            <a:ext cx="2376264" cy="589495"/>
          </a:xfrm>
          <a:prstGeom prst="roundRect">
            <a:avLst>
              <a:gd name="adj" fmla="val 8731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关系运算符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6156176" y="3511436"/>
            <a:ext cx="2376264" cy="2005796"/>
          </a:xfrm>
          <a:prstGeom prst="roundRect">
            <a:avLst>
              <a:gd name="adj" fmla="val 584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56176" y="3634268"/>
            <a:ext cx="2376264" cy="149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fr-FR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EQ, NE, LT, GT, LE, GE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关系成立时结果为</a:t>
            </a:r>
            <a:r>
              <a:rPr lang="en-US" altLang="zh-CN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FFFFH</a:t>
            </a:r>
            <a:r>
              <a:rPr lang="zh-CN" altLang="en-US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，否则为</a:t>
            </a:r>
            <a:r>
              <a:rPr lang="en-US" altLang="zh-CN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4001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 animBg="1"/>
      <p:bldP spid="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数值表达式：举例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925715" y="2308810"/>
            <a:ext cx="76787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((NUMB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LT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5)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30)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((NMB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5)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20)</a:t>
            </a:r>
          </a:p>
        </p:txBody>
      </p:sp>
      <p:sp>
        <p:nvSpPr>
          <p:cNvPr id="6" name="TextBox 17"/>
          <p:cNvSpPr txBox="1"/>
          <p:nvPr/>
        </p:nvSpPr>
        <p:spPr>
          <a:xfrm>
            <a:off x="827584" y="3332775"/>
            <a:ext cx="7776864" cy="1320361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NUMB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为一个符号常量</a:t>
            </a:r>
            <a:endParaRPr lang="zh-CN" altLang="en-US" sz="2000" dirty="0"/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NUMB &lt;5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   指令为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AND AX,30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NUMB &gt;=5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，指令为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AND AX,20</a:t>
            </a:r>
          </a:p>
        </p:txBody>
      </p:sp>
      <p:sp>
        <p:nvSpPr>
          <p:cNvPr id="8" name="矩形 7"/>
          <p:cNvSpPr/>
          <p:nvPr/>
        </p:nvSpPr>
        <p:spPr>
          <a:xfrm>
            <a:off x="827584" y="1988840"/>
            <a:ext cx="7776864" cy="914400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72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变量：分析运算符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圆角矩形 4"/>
          <p:cNvSpPr/>
          <p:nvPr/>
        </p:nvSpPr>
        <p:spPr>
          <a:xfrm>
            <a:off x="827581" y="2118033"/>
            <a:ext cx="3312369" cy="2005796"/>
          </a:xfrm>
          <a:prstGeom prst="roundRect">
            <a:avLst>
              <a:gd name="adj" fmla="val 584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27581" y="1514248"/>
            <a:ext cx="3312369" cy="589495"/>
          </a:xfrm>
          <a:prstGeom prst="roundRect">
            <a:avLst>
              <a:gd name="adj" fmla="val 8731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取地址运算符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499990" y="1514248"/>
            <a:ext cx="3888434" cy="589495"/>
          </a:xfrm>
          <a:prstGeom prst="roundRect">
            <a:avLst>
              <a:gd name="adj" fmla="val 8731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取值运算符</a:t>
            </a:r>
          </a:p>
        </p:txBody>
      </p:sp>
      <p:sp>
        <p:nvSpPr>
          <p:cNvPr id="8" name="矩形 7"/>
          <p:cNvSpPr/>
          <p:nvPr/>
        </p:nvSpPr>
        <p:spPr>
          <a:xfrm>
            <a:off x="827581" y="2240865"/>
            <a:ext cx="3312369" cy="1166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SEG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：取变量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标号的段地址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OFFSET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：取变量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标号的偏移地址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4499990" y="2118033"/>
            <a:ext cx="3888434" cy="2005796"/>
          </a:xfrm>
          <a:prstGeom prst="roundRect">
            <a:avLst>
              <a:gd name="adj" fmla="val 584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99990" y="2240865"/>
            <a:ext cx="3960442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TYPE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：取变量的类型（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LENGTH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：取所定义变量的长度（即变量中元素的个数）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SIZE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：取所定义存储区的字节数（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=TYPE*LENGTH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16" name="矩形 15"/>
          <p:cNvSpPr/>
          <p:nvPr/>
        </p:nvSpPr>
        <p:spPr>
          <a:xfrm>
            <a:off x="900923" y="4580474"/>
            <a:ext cx="32390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   DW   1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7581" y="4481645"/>
            <a:ext cx="3312369" cy="597768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827581" y="5157204"/>
            <a:ext cx="3312369" cy="79207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 BX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OFFSET    VAR</a:t>
            </a: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MOV  AX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SEG VAR</a:t>
            </a:r>
          </a:p>
        </p:txBody>
      </p:sp>
      <p:sp>
        <p:nvSpPr>
          <p:cNvPr id="19" name="TextBox 17"/>
          <p:cNvSpPr txBox="1"/>
          <p:nvPr/>
        </p:nvSpPr>
        <p:spPr>
          <a:xfrm>
            <a:off x="5245658" y="4607640"/>
            <a:ext cx="2278670" cy="11976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TYPE VAR</a:t>
            </a: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LENGTH VAR</a:t>
            </a: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SIZE VAR</a:t>
            </a:r>
          </a:p>
        </p:txBody>
      </p:sp>
      <p:sp>
        <p:nvSpPr>
          <p:cNvPr id="22" name="矩形 21"/>
          <p:cNvSpPr/>
          <p:nvPr/>
        </p:nvSpPr>
        <p:spPr>
          <a:xfrm>
            <a:off x="4499992" y="4481644"/>
            <a:ext cx="3888432" cy="1467635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64288" y="4630883"/>
            <a:ext cx="1224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值为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164288" y="5000215"/>
            <a:ext cx="1224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值为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64289" y="5369547"/>
            <a:ext cx="1224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值为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806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 animBg="1"/>
      <p:bldP spid="10" grpId="0"/>
      <p:bldP spid="16" grpId="0"/>
      <p:bldP spid="17" grpId="0" animBg="1"/>
      <p:bldP spid="18" grpId="0" animBg="1"/>
      <p:bldP spid="19" grpId="0"/>
      <p:bldP spid="22" grpId="0" animBg="1"/>
      <p:bldP spid="20" grpId="0"/>
      <p:bldP spid="21" grpId="0"/>
      <p:bldP spid="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7"/>
          <p:cNvSpPr txBox="1"/>
          <p:nvPr/>
        </p:nvSpPr>
        <p:spPr>
          <a:xfrm>
            <a:off x="827584" y="1706434"/>
            <a:ext cx="7272809" cy="172970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变量或者标号加上或者减去某个结果为整数的数值表达式，其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结果仍为变量或者标号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同一段内的变量或者标号可以相减，其结果不是地址，而是一个数值， 该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数值表示两者间相距的字节数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地址表达式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900923" y="4232341"/>
            <a:ext cx="32390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DATA1  DW  1, 2, 3, 4, 5, 6</a:t>
            </a:r>
          </a:p>
          <a:p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DATA2  DW  6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7581" y="3917488"/>
            <a:ext cx="3312369" cy="1959783"/>
          </a:xfrm>
          <a:prstGeom prst="rect">
            <a:avLst/>
          </a:prstGeom>
          <a:noFill/>
          <a:ln w="952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7"/>
          <p:cNvSpPr txBox="1"/>
          <p:nvPr/>
        </p:nvSpPr>
        <p:spPr>
          <a:xfrm>
            <a:off x="4716016" y="3942768"/>
            <a:ext cx="3384377" cy="1934504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BX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DATA1+5</a:t>
            </a: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AX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DATA1[SI]</a:t>
            </a: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 AX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DATA1[5]</a:t>
            </a: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AX,  [DATA1+5]</a:t>
            </a: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CX,  DATA2-DATA1</a:t>
            </a:r>
          </a:p>
        </p:txBody>
      </p:sp>
      <p:sp>
        <p:nvSpPr>
          <p:cNvPr id="16" name="矩形 15"/>
          <p:cNvSpPr/>
          <p:nvPr/>
        </p:nvSpPr>
        <p:spPr>
          <a:xfrm>
            <a:off x="827584" y="1613233"/>
            <a:ext cx="7272809" cy="1959783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22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2011784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汇编语言概述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2060848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164309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汇编基本语法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2133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4284189" y="4243809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DOS</a:t>
            </a:r>
            <a:r>
              <a:rPr lang="zh-CN" altLang="en-US" dirty="0"/>
              <a:t>中断调用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928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591749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886205" y="764704"/>
            <a:ext cx="7430211" cy="2952328"/>
            <a:chOff x="1846734" y="1456184"/>
            <a:chExt cx="9937104" cy="3904659"/>
          </a:xfrm>
        </p:grpSpPr>
        <p:sp>
          <p:nvSpPr>
            <p:cNvPr id="17" name="矩形 16"/>
            <p:cNvSpPr/>
            <p:nvPr/>
          </p:nvSpPr>
          <p:spPr>
            <a:xfrm>
              <a:off x="1846734" y="1512424"/>
              <a:ext cx="9937104" cy="3848419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18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5100" y="4367129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30"/>
            <p:cNvSpPr txBox="1"/>
            <p:nvPr/>
          </p:nvSpPr>
          <p:spPr>
            <a:xfrm>
              <a:off x="10702950" y="1550372"/>
              <a:ext cx="658589" cy="10486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问题</a:t>
              </a:r>
            </a:p>
          </p:txBody>
        </p:sp>
      </p:grpSp>
      <p:sp>
        <p:nvSpPr>
          <p:cNvPr id="24" name="矩形 23"/>
          <p:cNvSpPr>
            <a:spLocks noChangeAspect="1"/>
          </p:cNvSpPr>
          <p:nvPr/>
        </p:nvSpPr>
        <p:spPr>
          <a:xfrm>
            <a:off x="886205" y="4077071"/>
            <a:ext cx="7430211" cy="180020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97280" y="4495671"/>
            <a:ext cx="1656184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19"/>
          <p:cNvSpPr txBox="1"/>
          <p:nvPr/>
        </p:nvSpPr>
        <p:spPr>
          <a:xfrm>
            <a:off x="1191259" y="4124761"/>
            <a:ext cx="461665" cy="135663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中断调用</a:t>
            </a:r>
          </a:p>
        </p:txBody>
      </p:sp>
      <p:sp>
        <p:nvSpPr>
          <p:cNvPr id="27" name="TextBox 17"/>
          <p:cNvSpPr txBox="1"/>
          <p:nvPr/>
        </p:nvSpPr>
        <p:spPr>
          <a:xfrm>
            <a:off x="1969421" y="4149080"/>
            <a:ext cx="615750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为节省系统程序员编程量与优化程序结构，预先设计好了一系列的系统调用包括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BIOS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调用。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用户程序在调用这些系统服务程序时，不是用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CALL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命令，而是采用软中断指令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 n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来实现。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8" name="Picture 3" descr="E:\仝德志文件，勿删！\03-参考文档\！PPT图片及版面资源\06-PPT精选插图\06-问号\锐普论坛实用商务PPT图片-疑问感慨 (18)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570"/>
          <a:stretch/>
        </p:blipFill>
        <p:spPr bwMode="auto">
          <a:xfrm>
            <a:off x="3851920" y="908720"/>
            <a:ext cx="3144516" cy="2664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32"/>
          <p:cNvSpPr txBox="1"/>
          <p:nvPr/>
        </p:nvSpPr>
        <p:spPr>
          <a:xfrm>
            <a:off x="1187624" y="2636912"/>
            <a:ext cx="2304256" cy="829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怎么用汇编完成用户与</a:t>
            </a:r>
            <a:r>
              <a:rPr lang="en-US" altLang="zh-CN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PC</a:t>
            </a:r>
            <a:r>
              <a:rPr lang="zh-CN" altLang="en-US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硬件的交互？</a:t>
            </a:r>
            <a:endParaRPr lang="en-US" altLang="zh-CN" dirty="0">
              <a:solidFill>
                <a:srgbClr val="FF3255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92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BIOS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调用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>
            <a:spLocks noChangeAspect="1"/>
          </p:cNvSpPr>
          <p:nvPr/>
        </p:nvSpPr>
        <p:spPr>
          <a:xfrm>
            <a:off x="539552" y="1401406"/>
            <a:ext cx="8139547" cy="2243780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7"/>
          <p:cNvSpPr txBox="1"/>
          <p:nvPr/>
        </p:nvSpPr>
        <p:spPr>
          <a:xfrm>
            <a:off x="683568" y="1473413"/>
            <a:ext cx="7992888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BIOS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是系统提供的基本输入输出例行程序，固化在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ROM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中，利用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BIOS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功能编写的程序简洁，可读性好，且易于移植。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上重要的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，它和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BIOS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一样包括有近百个设备管理、目录管理和文件管理程序，是一个功能齐全的中断程序集合。使用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操作比使用相应功能的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BIOS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更简易， 且对硬件依赖性更少。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3528" y="4072250"/>
            <a:ext cx="8496944" cy="1985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/>
          </a:p>
        </p:txBody>
      </p:sp>
      <p:sp>
        <p:nvSpPr>
          <p:cNvPr id="17" name="五边形 16"/>
          <p:cNvSpPr/>
          <p:nvPr/>
        </p:nvSpPr>
        <p:spPr>
          <a:xfrm>
            <a:off x="2313923" y="3861048"/>
            <a:ext cx="1319652" cy="564854"/>
          </a:xfrm>
          <a:prstGeom prst="homePlate">
            <a:avLst/>
          </a:prstGeom>
          <a:gradFill flip="none" rotWithShape="1">
            <a:gsLst>
              <a:gs pos="7000">
                <a:srgbClr val="8F155B"/>
              </a:gs>
              <a:gs pos="19000">
                <a:srgbClr val="AA3C6E"/>
              </a:gs>
              <a:gs pos="91000">
                <a:srgbClr val="FD8BD4"/>
              </a:gs>
              <a:gs pos="61000">
                <a:srgbClr val="FB25AF"/>
              </a:gs>
            </a:gsLst>
            <a:lin ang="16200000" scaled="1"/>
            <a:tileRect/>
          </a:gradFill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" name="圆角矩形 17"/>
          <p:cNvSpPr/>
          <p:nvPr/>
        </p:nvSpPr>
        <p:spPr>
          <a:xfrm>
            <a:off x="2232869" y="4857951"/>
            <a:ext cx="1377323" cy="108011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2685532" y="4440111"/>
            <a:ext cx="409163" cy="738055"/>
            <a:chOff x="1596797" y="2291080"/>
            <a:chExt cx="409163" cy="738055"/>
          </a:xfrm>
        </p:grpSpPr>
        <p:sp>
          <p:nvSpPr>
            <p:cNvPr id="20" name="矩形 19"/>
            <p:cNvSpPr/>
            <p:nvPr/>
          </p:nvSpPr>
          <p:spPr>
            <a:xfrm>
              <a:off x="1756373" y="2291080"/>
              <a:ext cx="90010" cy="417839"/>
            </a:xfrm>
            <a:prstGeom prst="rect">
              <a:avLst/>
            </a:prstGeom>
            <a:gradFill flip="none" rotWithShape="1">
              <a:gsLst>
                <a:gs pos="49000">
                  <a:schemeClr val="bg1">
                    <a:lumMod val="85000"/>
                  </a:schemeClr>
                </a:gs>
                <a:gs pos="9000">
                  <a:schemeClr val="bg1">
                    <a:lumMod val="50000"/>
                  </a:schemeClr>
                </a:gs>
                <a:gs pos="98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596797" y="2619972"/>
              <a:ext cx="409163" cy="409163"/>
              <a:chOff x="1596797" y="2619972"/>
              <a:chExt cx="409163" cy="409163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1596797" y="2619972"/>
                <a:ext cx="409163" cy="409163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3" name="组合 22"/>
              <p:cNvGrpSpPr/>
              <p:nvPr/>
            </p:nvGrpSpPr>
            <p:grpSpPr>
              <a:xfrm rot="1267204">
                <a:off x="1650858" y="2671937"/>
                <a:ext cx="301040" cy="301040"/>
                <a:chOff x="3518404" y="1580443"/>
                <a:chExt cx="1276350" cy="1276350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>
                  <a:off x="3518404" y="1580443"/>
                  <a:ext cx="1276350" cy="12763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08CE2"/>
                    </a:gs>
                    <a:gs pos="47000">
                      <a:srgbClr val="E85ECE"/>
                    </a:gs>
                    <a:gs pos="82000">
                      <a:srgbClr val="A21673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6350">
                  <a:solidFill>
                    <a:schemeClr val="accent3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25" name="椭圆 24"/>
                <p:cNvSpPr/>
                <p:nvPr/>
              </p:nvSpPr>
              <p:spPr bwMode="auto">
                <a:xfrm rot="20122633">
                  <a:off x="3974016" y="2569456"/>
                  <a:ext cx="774700" cy="2667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55000"/>
                      </a:schemeClr>
                    </a:gs>
                    <a:gs pos="50000">
                      <a:schemeClr val="bg1">
                        <a:shade val="67500"/>
                        <a:satMod val="115000"/>
                        <a:alpha val="12000"/>
                      </a:schemeClr>
                    </a:gs>
                    <a:gs pos="100000">
                      <a:schemeClr val="bg1">
                        <a:shade val="100000"/>
                        <a:satMod val="115000"/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26" name="椭圆 25"/>
                <p:cNvSpPr/>
                <p:nvPr/>
              </p:nvSpPr>
              <p:spPr bwMode="auto">
                <a:xfrm rot="912585">
                  <a:off x="3692475" y="1631589"/>
                  <a:ext cx="838059" cy="83805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6000">
                      <a:schemeClr val="bg1">
                        <a:alpha val="51000"/>
                      </a:schemeClr>
                    </a:gs>
                    <a:gs pos="30000">
                      <a:schemeClr val="bg1">
                        <a:alpha val="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</p:grpSp>
      </p:grpSp>
      <p:sp>
        <p:nvSpPr>
          <p:cNvPr id="27" name="Text Box 39"/>
          <p:cNvSpPr txBox="1">
            <a:spLocks noChangeArrowheads="1"/>
          </p:cNvSpPr>
          <p:nvPr/>
        </p:nvSpPr>
        <p:spPr bwMode="auto">
          <a:xfrm>
            <a:off x="2358779" y="5242246"/>
            <a:ext cx="1078639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A21673"/>
                </a:solidFill>
                <a:latin typeface="微软雅黑" pitchFamily="34" charset="-122"/>
                <a:ea typeface="微软雅黑" pitchFamily="34" charset="-122"/>
              </a:rPr>
              <a:t>ROM</a:t>
            </a:r>
            <a:endParaRPr lang="zh-CN" altLang="en-US" sz="1600" b="1" dirty="0">
              <a:solidFill>
                <a:srgbClr val="A21673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15"/>
          <p:cNvSpPr txBox="1"/>
          <p:nvPr/>
        </p:nvSpPr>
        <p:spPr>
          <a:xfrm>
            <a:off x="2555776" y="3968593"/>
            <a:ext cx="9115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BIOS</a:t>
            </a:r>
            <a:endParaRPr lang="zh-CN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五边形 28"/>
          <p:cNvSpPr/>
          <p:nvPr/>
        </p:nvSpPr>
        <p:spPr>
          <a:xfrm>
            <a:off x="3877484" y="3861048"/>
            <a:ext cx="1319652" cy="564854"/>
          </a:xfrm>
          <a:prstGeom prst="homePlate">
            <a:avLst/>
          </a:prstGeom>
          <a:gradFill flip="none" rotWithShape="1">
            <a:gsLst>
              <a:gs pos="17000">
                <a:schemeClr val="accent6">
                  <a:lumMod val="75000"/>
                </a:schemeClr>
              </a:gs>
              <a:gs pos="45000">
                <a:srgbClr val="D59109"/>
              </a:gs>
              <a:gs pos="97917">
                <a:srgbClr val="FFFF5B"/>
              </a:gs>
              <a:gs pos="71000">
                <a:srgbClr val="F5B32F"/>
              </a:gs>
            </a:gsLst>
            <a:lin ang="16200000" scaled="1"/>
            <a:tileRect/>
          </a:gradFill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0" name="圆角矩形 29"/>
          <p:cNvSpPr/>
          <p:nvPr/>
        </p:nvSpPr>
        <p:spPr>
          <a:xfrm>
            <a:off x="3874841" y="4857951"/>
            <a:ext cx="1322295" cy="108011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4343986" y="4440111"/>
            <a:ext cx="409163" cy="738055"/>
            <a:chOff x="4252755" y="2291080"/>
            <a:chExt cx="409163" cy="738055"/>
          </a:xfrm>
        </p:grpSpPr>
        <p:grpSp>
          <p:nvGrpSpPr>
            <p:cNvPr id="32" name="组合 31"/>
            <p:cNvGrpSpPr/>
            <p:nvPr/>
          </p:nvGrpSpPr>
          <p:grpSpPr>
            <a:xfrm>
              <a:off x="4252755" y="2291080"/>
              <a:ext cx="409163" cy="738055"/>
              <a:chOff x="4252755" y="2291080"/>
              <a:chExt cx="409163" cy="738055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4409982" y="2291080"/>
                <a:ext cx="90010" cy="417839"/>
              </a:xfrm>
              <a:prstGeom prst="rect">
                <a:avLst/>
              </a:prstGeom>
              <a:gradFill flip="none" rotWithShape="1">
                <a:gsLst>
                  <a:gs pos="49000">
                    <a:schemeClr val="bg1">
                      <a:lumMod val="85000"/>
                    </a:schemeClr>
                  </a:gs>
                  <a:gs pos="9000">
                    <a:schemeClr val="bg1">
                      <a:lumMod val="50000"/>
                    </a:schemeClr>
                  </a:gs>
                  <a:gs pos="98000">
                    <a:schemeClr val="tx1">
                      <a:lumMod val="85000"/>
                      <a:lumOff val="1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4252755" y="2619972"/>
                <a:ext cx="409163" cy="409163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 rot="1267204">
              <a:off x="4309455" y="2671937"/>
              <a:ext cx="301040" cy="301040"/>
              <a:chOff x="3518404" y="1580443"/>
              <a:chExt cx="1276350" cy="1276350"/>
            </a:xfrm>
          </p:grpSpPr>
          <p:sp>
            <p:nvSpPr>
              <p:cNvPr id="34" name="椭圆 33"/>
              <p:cNvSpPr/>
              <p:nvPr/>
            </p:nvSpPr>
            <p:spPr bwMode="auto">
              <a:xfrm>
                <a:off x="3518404" y="1580443"/>
                <a:ext cx="1276350" cy="1276350"/>
              </a:xfrm>
              <a:prstGeom prst="ellipse">
                <a:avLst/>
              </a:prstGeom>
              <a:gradFill flip="none" rotWithShape="1">
                <a:gsLst>
                  <a:gs pos="0">
                    <a:srgbClr val="FFC000"/>
                  </a:gs>
                  <a:gs pos="47000">
                    <a:schemeClr val="accent6"/>
                  </a:gs>
                  <a:gs pos="82000">
                    <a:schemeClr val="accent6">
                      <a:lumMod val="75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6350">
                <a:solidFill>
                  <a:schemeClr val="accent3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 bwMode="auto">
              <a:xfrm rot="20122633">
                <a:off x="3974016" y="2569456"/>
                <a:ext cx="774700" cy="2667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55000"/>
                    </a:schemeClr>
                  </a:gs>
                  <a:gs pos="50000">
                    <a:schemeClr val="bg1">
                      <a:shade val="67500"/>
                      <a:satMod val="115000"/>
                      <a:alpha val="12000"/>
                    </a:schemeClr>
                  </a:gs>
                  <a:gs pos="100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 bwMode="auto">
              <a:xfrm rot="912585">
                <a:off x="3692475" y="1631589"/>
                <a:ext cx="838059" cy="838059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6000">
                    <a:schemeClr val="bg1">
                      <a:alpha val="51000"/>
                    </a:schemeClr>
                  </a:gs>
                  <a:gs pos="30000">
                    <a:schemeClr val="bg1">
                      <a:alpha val="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3782219" y="5242246"/>
            <a:ext cx="1342908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低级</a:t>
            </a:r>
          </a:p>
        </p:txBody>
      </p:sp>
      <p:sp>
        <p:nvSpPr>
          <p:cNvPr id="40" name="TextBox 26"/>
          <p:cNvSpPr txBox="1"/>
          <p:nvPr/>
        </p:nvSpPr>
        <p:spPr>
          <a:xfrm>
            <a:off x="3961061" y="3968593"/>
            <a:ext cx="1009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IBMBIO</a:t>
            </a:r>
            <a:endParaRPr lang="zh-CN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五边形 40"/>
          <p:cNvSpPr/>
          <p:nvPr/>
        </p:nvSpPr>
        <p:spPr>
          <a:xfrm>
            <a:off x="5496486" y="3861048"/>
            <a:ext cx="1319652" cy="564854"/>
          </a:xfrm>
          <a:prstGeom prst="homePlate">
            <a:avLst/>
          </a:prstGeom>
          <a:gradFill flip="none" rotWithShape="1">
            <a:gsLst>
              <a:gs pos="8000">
                <a:srgbClr val="5F9127"/>
              </a:gs>
              <a:gs pos="28000">
                <a:srgbClr val="70AC2E"/>
              </a:gs>
              <a:gs pos="96000">
                <a:srgbClr val="A4DD47"/>
              </a:gs>
              <a:gs pos="67000">
                <a:srgbClr val="92D050"/>
              </a:gs>
            </a:gsLst>
            <a:lin ang="16200000" scaled="1"/>
            <a:tileRect/>
          </a:gradFill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2" name="圆角矩形 41"/>
          <p:cNvSpPr/>
          <p:nvPr/>
        </p:nvSpPr>
        <p:spPr>
          <a:xfrm>
            <a:off x="5401221" y="4857951"/>
            <a:ext cx="1342908" cy="108011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5868095" y="4440111"/>
            <a:ext cx="409163" cy="738055"/>
            <a:chOff x="6899049" y="2291080"/>
            <a:chExt cx="409163" cy="738055"/>
          </a:xfrm>
        </p:grpSpPr>
        <p:sp>
          <p:nvSpPr>
            <p:cNvPr id="44" name="椭圆 43"/>
            <p:cNvSpPr/>
            <p:nvPr/>
          </p:nvSpPr>
          <p:spPr>
            <a:xfrm>
              <a:off x="6899049" y="2619972"/>
              <a:ext cx="409163" cy="4091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6953110" y="2291080"/>
              <a:ext cx="301040" cy="681897"/>
              <a:chOff x="6955749" y="2291080"/>
              <a:chExt cx="301040" cy="681897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7056276" y="2291080"/>
                <a:ext cx="90010" cy="417839"/>
              </a:xfrm>
              <a:prstGeom prst="rect">
                <a:avLst/>
              </a:prstGeom>
              <a:gradFill flip="none" rotWithShape="1">
                <a:gsLst>
                  <a:gs pos="49000">
                    <a:schemeClr val="bg1">
                      <a:lumMod val="85000"/>
                    </a:schemeClr>
                  </a:gs>
                  <a:gs pos="9000">
                    <a:schemeClr val="bg1">
                      <a:lumMod val="50000"/>
                    </a:schemeClr>
                  </a:gs>
                  <a:gs pos="98000">
                    <a:schemeClr val="tx1">
                      <a:lumMod val="85000"/>
                      <a:lumOff val="1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 rot="1267204">
                <a:off x="6955749" y="2671937"/>
                <a:ext cx="301040" cy="301040"/>
                <a:chOff x="3518404" y="1580443"/>
                <a:chExt cx="1276350" cy="1276350"/>
              </a:xfrm>
            </p:grpSpPr>
            <p:sp>
              <p:nvSpPr>
                <p:cNvPr id="48" name="椭圆 47"/>
                <p:cNvSpPr/>
                <p:nvPr/>
              </p:nvSpPr>
              <p:spPr bwMode="auto">
                <a:xfrm>
                  <a:off x="3518404" y="1580443"/>
                  <a:ext cx="1276350" cy="12763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4DD47"/>
                    </a:gs>
                    <a:gs pos="47000">
                      <a:srgbClr val="729B15"/>
                    </a:gs>
                    <a:gs pos="82000">
                      <a:srgbClr val="4C680E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6350">
                  <a:solidFill>
                    <a:schemeClr val="accent3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49" name="椭圆 48"/>
                <p:cNvSpPr/>
                <p:nvPr/>
              </p:nvSpPr>
              <p:spPr bwMode="auto">
                <a:xfrm rot="20122633">
                  <a:off x="3974016" y="2569456"/>
                  <a:ext cx="774700" cy="2667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55000"/>
                      </a:schemeClr>
                    </a:gs>
                    <a:gs pos="50000">
                      <a:schemeClr val="bg1">
                        <a:shade val="67500"/>
                        <a:satMod val="115000"/>
                        <a:alpha val="12000"/>
                      </a:schemeClr>
                    </a:gs>
                    <a:gs pos="100000">
                      <a:schemeClr val="bg1">
                        <a:shade val="100000"/>
                        <a:satMod val="115000"/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50" name="椭圆 49"/>
                <p:cNvSpPr/>
                <p:nvPr/>
              </p:nvSpPr>
              <p:spPr bwMode="auto">
                <a:xfrm rot="912585">
                  <a:off x="3692475" y="1631589"/>
                  <a:ext cx="838059" cy="83805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6000">
                      <a:schemeClr val="bg1">
                        <a:alpha val="51000"/>
                      </a:schemeClr>
                    </a:gs>
                    <a:gs pos="30000">
                      <a:schemeClr val="bg1">
                        <a:alpha val="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</p:grpSp>
      </p:grpSp>
      <p:sp>
        <p:nvSpPr>
          <p:cNvPr id="51" name="Text Box 39"/>
          <p:cNvSpPr txBox="1">
            <a:spLocks noChangeArrowheads="1"/>
          </p:cNvSpPr>
          <p:nvPr/>
        </p:nvSpPr>
        <p:spPr bwMode="auto">
          <a:xfrm>
            <a:off x="5761261" y="5242246"/>
            <a:ext cx="711472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高级</a:t>
            </a:r>
          </a:p>
        </p:txBody>
      </p:sp>
      <p:sp>
        <p:nvSpPr>
          <p:cNvPr id="52" name="TextBox 37"/>
          <p:cNvSpPr txBox="1"/>
          <p:nvPr/>
        </p:nvSpPr>
        <p:spPr>
          <a:xfrm>
            <a:off x="5496487" y="3968593"/>
            <a:ext cx="1157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IBMDOS</a:t>
            </a:r>
            <a:endParaRPr lang="zh-CN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五边形 52"/>
          <p:cNvSpPr/>
          <p:nvPr/>
        </p:nvSpPr>
        <p:spPr>
          <a:xfrm>
            <a:off x="648693" y="3861048"/>
            <a:ext cx="1386712" cy="564854"/>
          </a:xfrm>
          <a:prstGeom prst="homePlate">
            <a:avLst/>
          </a:prstGeom>
          <a:gradFill flip="none" rotWithShape="1">
            <a:gsLst>
              <a:gs pos="8000">
                <a:srgbClr val="5F9127"/>
              </a:gs>
              <a:gs pos="28000">
                <a:srgbClr val="70AC2E"/>
              </a:gs>
              <a:gs pos="96000">
                <a:srgbClr val="A4DD47"/>
              </a:gs>
              <a:gs pos="67000">
                <a:srgbClr val="92D050"/>
              </a:gs>
            </a:gsLst>
            <a:lin ang="16200000" scaled="1"/>
            <a:tileRect/>
          </a:gradFill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圆角矩形 53"/>
          <p:cNvSpPr/>
          <p:nvPr/>
        </p:nvSpPr>
        <p:spPr>
          <a:xfrm>
            <a:off x="648693" y="4857951"/>
            <a:ext cx="1350046" cy="1080119"/>
          </a:xfrm>
          <a:prstGeom prst="roundRect">
            <a:avLst>
              <a:gd name="adj" fmla="val 9697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1103626" y="4440111"/>
            <a:ext cx="409163" cy="738055"/>
            <a:chOff x="6899049" y="2291080"/>
            <a:chExt cx="409163" cy="738055"/>
          </a:xfrm>
        </p:grpSpPr>
        <p:sp>
          <p:nvSpPr>
            <p:cNvPr id="56" name="椭圆 55"/>
            <p:cNvSpPr/>
            <p:nvPr/>
          </p:nvSpPr>
          <p:spPr>
            <a:xfrm>
              <a:off x="6899049" y="2619972"/>
              <a:ext cx="409163" cy="4091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6953110" y="2291080"/>
              <a:ext cx="301040" cy="681897"/>
              <a:chOff x="6955749" y="2291080"/>
              <a:chExt cx="301040" cy="681897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7056276" y="2291080"/>
                <a:ext cx="90010" cy="417839"/>
              </a:xfrm>
              <a:prstGeom prst="rect">
                <a:avLst/>
              </a:prstGeom>
              <a:gradFill flip="none" rotWithShape="1">
                <a:gsLst>
                  <a:gs pos="49000">
                    <a:schemeClr val="bg1">
                      <a:lumMod val="85000"/>
                    </a:schemeClr>
                  </a:gs>
                  <a:gs pos="9000">
                    <a:schemeClr val="bg1">
                      <a:lumMod val="50000"/>
                    </a:schemeClr>
                  </a:gs>
                  <a:gs pos="98000">
                    <a:schemeClr val="tx1">
                      <a:lumMod val="85000"/>
                      <a:lumOff val="1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 rot="1267204">
                <a:off x="6955749" y="2671937"/>
                <a:ext cx="301040" cy="301040"/>
                <a:chOff x="3518404" y="1580443"/>
                <a:chExt cx="1276350" cy="1276350"/>
              </a:xfrm>
            </p:grpSpPr>
            <p:sp>
              <p:nvSpPr>
                <p:cNvPr id="60" name="椭圆 59"/>
                <p:cNvSpPr/>
                <p:nvPr/>
              </p:nvSpPr>
              <p:spPr bwMode="auto">
                <a:xfrm>
                  <a:off x="3518404" y="1580443"/>
                  <a:ext cx="1276350" cy="12763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4DD47"/>
                    </a:gs>
                    <a:gs pos="47000">
                      <a:srgbClr val="729B15"/>
                    </a:gs>
                    <a:gs pos="82000">
                      <a:srgbClr val="4C680E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6350">
                  <a:solidFill>
                    <a:schemeClr val="accent3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61" name="椭圆 60"/>
                <p:cNvSpPr/>
                <p:nvPr/>
              </p:nvSpPr>
              <p:spPr bwMode="auto">
                <a:xfrm rot="20122633">
                  <a:off x="3974016" y="2569456"/>
                  <a:ext cx="774700" cy="2667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55000"/>
                      </a:schemeClr>
                    </a:gs>
                    <a:gs pos="50000">
                      <a:schemeClr val="bg1">
                        <a:shade val="67500"/>
                        <a:satMod val="115000"/>
                        <a:alpha val="12000"/>
                      </a:schemeClr>
                    </a:gs>
                    <a:gs pos="100000">
                      <a:schemeClr val="bg1">
                        <a:shade val="100000"/>
                        <a:satMod val="115000"/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62" name="椭圆 61"/>
                <p:cNvSpPr/>
                <p:nvPr/>
              </p:nvSpPr>
              <p:spPr bwMode="auto">
                <a:xfrm rot="912585">
                  <a:off x="3692475" y="1631589"/>
                  <a:ext cx="838059" cy="83805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6000">
                      <a:schemeClr val="bg1">
                        <a:alpha val="51000"/>
                      </a:schemeClr>
                    </a:gs>
                    <a:gs pos="30000">
                      <a:schemeClr val="bg1">
                        <a:alpha val="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</p:grpSp>
      </p:grpSp>
      <p:sp>
        <p:nvSpPr>
          <p:cNvPr id="63" name="Text Box 39"/>
          <p:cNvSpPr txBox="1">
            <a:spLocks noChangeArrowheads="1"/>
          </p:cNvSpPr>
          <p:nvPr/>
        </p:nvSpPr>
        <p:spPr bwMode="auto">
          <a:xfrm>
            <a:off x="904977" y="5242246"/>
            <a:ext cx="796483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外设</a:t>
            </a:r>
          </a:p>
        </p:txBody>
      </p:sp>
      <p:sp>
        <p:nvSpPr>
          <p:cNvPr id="64" name="TextBox 37"/>
          <p:cNvSpPr txBox="1"/>
          <p:nvPr/>
        </p:nvSpPr>
        <p:spPr>
          <a:xfrm>
            <a:off x="864717" y="3956474"/>
            <a:ext cx="803223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外设</a:t>
            </a:r>
          </a:p>
        </p:txBody>
      </p:sp>
      <p:sp>
        <p:nvSpPr>
          <p:cNvPr id="65" name="五边形 64"/>
          <p:cNvSpPr/>
          <p:nvPr/>
        </p:nvSpPr>
        <p:spPr>
          <a:xfrm>
            <a:off x="7057406" y="3861048"/>
            <a:ext cx="1319652" cy="564854"/>
          </a:xfrm>
          <a:prstGeom prst="homePlate">
            <a:avLst/>
          </a:prstGeom>
          <a:gradFill flip="none" rotWithShape="1">
            <a:gsLst>
              <a:gs pos="7000">
                <a:srgbClr val="8F155B"/>
              </a:gs>
              <a:gs pos="19000">
                <a:srgbClr val="AA3C6E"/>
              </a:gs>
              <a:gs pos="91000">
                <a:srgbClr val="FD8BD4"/>
              </a:gs>
              <a:gs pos="61000">
                <a:srgbClr val="FB25AF"/>
              </a:gs>
            </a:gsLst>
            <a:lin ang="16200000" scaled="1"/>
            <a:tileRect/>
          </a:gradFill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6" name="圆角矩形 65"/>
          <p:cNvSpPr/>
          <p:nvPr/>
        </p:nvSpPr>
        <p:spPr>
          <a:xfrm>
            <a:off x="7057405" y="4846741"/>
            <a:ext cx="1319653" cy="108011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7" name="组合 66"/>
          <p:cNvGrpSpPr/>
          <p:nvPr/>
        </p:nvGrpSpPr>
        <p:grpSpPr>
          <a:xfrm>
            <a:off x="7429015" y="4428901"/>
            <a:ext cx="409163" cy="738055"/>
            <a:chOff x="1596797" y="2291080"/>
            <a:chExt cx="409163" cy="738055"/>
          </a:xfrm>
        </p:grpSpPr>
        <p:sp>
          <p:nvSpPr>
            <p:cNvPr id="68" name="矩形 67"/>
            <p:cNvSpPr/>
            <p:nvPr/>
          </p:nvSpPr>
          <p:spPr>
            <a:xfrm>
              <a:off x="1756373" y="2291080"/>
              <a:ext cx="90010" cy="417839"/>
            </a:xfrm>
            <a:prstGeom prst="rect">
              <a:avLst/>
            </a:prstGeom>
            <a:gradFill flip="none" rotWithShape="1">
              <a:gsLst>
                <a:gs pos="49000">
                  <a:schemeClr val="bg1">
                    <a:lumMod val="85000"/>
                  </a:schemeClr>
                </a:gs>
                <a:gs pos="9000">
                  <a:schemeClr val="bg1">
                    <a:lumMod val="50000"/>
                  </a:schemeClr>
                </a:gs>
                <a:gs pos="98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1596797" y="2619972"/>
              <a:ext cx="409163" cy="409163"/>
              <a:chOff x="1596797" y="2619972"/>
              <a:chExt cx="409163" cy="40916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1596797" y="2619972"/>
                <a:ext cx="409163" cy="409163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 rot="1267204">
                <a:off x="1650858" y="2671937"/>
                <a:ext cx="301040" cy="301040"/>
                <a:chOff x="3518404" y="1580443"/>
                <a:chExt cx="1276350" cy="1276350"/>
              </a:xfrm>
            </p:grpSpPr>
            <p:sp>
              <p:nvSpPr>
                <p:cNvPr id="72" name="椭圆 71"/>
                <p:cNvSpPr/>
                <p:nvPr/>
              </p:nvSpPr>
              <p:spPr bwMode="auto">
                <a:xfrm>
                  <a:off x="3518404" y="1580443"/>
                  <a:ext cx="1276350" cy="12763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08CE2"/>
                    </a:gs>
                    <a:gs pos="47000">
                      <a:srgbClr val="E85ECE"/>
                    </a:gs>
                    <a:gs pos="82000">
                      <a:srgbClr val="A21673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6350">
                  <a:solidFill>
                    <a:schemeClr val="accent3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73" name="椭圆 72"/>
                <p:cNvSpPr/>
                <p:nvPr/>
              </p:nvSpPr>
              <p:spPr bwMode="auto">
                <a:xfrm rot="20122633">
                  <a:off x="3974016" y="2569456"/>
                  <a:ext cx="774700" cy="2667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55000"/>
                      </a:schemeClr>
                    </a:gs>
                    <a:gs pos="50000">
                      <a:schemeClr val="bg1">
                        <a:shade val="67500"/>
                        <a:satMod val="115000"/>
                        <a:alpha val="12000"/>
                      </a:schemeClr>
                    </a:gs>
                    <a:gs pos="100000">
                      <a:schemeClr val="bg1">
                        <a:shade val="100000"/>
                        <a:satMod val="115000"/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 bwMode="auto">
                <a:xfrm rot="912585">
                  <a:off x="3692475" y="1631589"/>
                  <a:ext cx="838059" cy="83805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6000">
                      <a:schemeClr val="bg1">
                        <a:alpha val="51000"/>
                      </a:schemeClr>
                    </a:gs>
                    <a:gs pos="30000">
                      <a:schemeClr val="bg1">
                        <a:alpha val="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</p:grpSp>
        </p:grpSp>
      </p:grpSp>
      <p:sp>
        <p:nvSpPr>
          <p:cNvPr id="75" name="Text Box 39"/>
          <p:cNvSpPr txBox="1">
            <a:spLocks noChangeArrowheads="1"/>
          </p:cNvSpPr>
          <p:nvPr/>
        </p:nvSpPr>
        <p:spPr bwMode="auto">
          <a:xfrm>
            <a:off x="7088533" y="5242246"/>
            <a:ext cx="1078639" cy="39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A21673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  <a:endParaRPr lang="zh-CN" altLang="en-US" sz="1600" b="1" dirty="0">
              <a:solidFill>
                <a:srgbClr val="A21673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TextBox 15"/>
          <p:cNvSpPr txBox="1"/>
          <p:nvPr/>
        </p:nvSpPr>
        <p:spPr>
          <a:xfrm>
            <a:off x="7345437" y="3968593"/>
            <a:ext cx="76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</a:p>
        </p:txBody>
      </p:sp>
    </p:spTree>
    <p:extLst>
      <p:ext uri="{BB962C8B-B14F-4D97-AF65-F5344CB8AC3E}">
        <p14:creationId xmlns:p14="http://schemas.microsoft.com/office/powerpoint/2010/main" val="137133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7" grpId="0" animBg="1"/>
      <p:bldP spid="18" grpId="0" animBg="1"/>
      <p:bldP spid="27" grpId="0"/>
      <p:bldP spid="28" grpId="0"/>
      <p:bldP spid="29" grpId="0" animBg="1"/>
      <p:bldP spid="30" grpId="0" animBg="1"/>
      <p:bldP spid="39" grpId="0"/>
      <p:bldP spid="40" grpId="0"/>
      <p:bldP spid="41" grpId="0" animBg="1"/>
      <p:bldP spid="42" grpId="0" animBg="1"/>
      <p:bldP spid="51" grpId="0"/>
      <p:bldP spid="52" grpId="0"/>
      <p:bldP spid="53" grpId="0" animBg="1"/>
      <p:bldP spid="54" grpId="0" animBg="1"/>
      <p:bldP spid="63" grpId="0"/>
      <p:bldP spid="64" grpId="0"/>
      <p:bldP spid="65" grpId="0" animBg="1"/>
      <p:bldP spid="66" grpId="0" animBg="1"/>
      <p:bldP spid="75" grpId="0"/>
      <p:bldP spid="7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复习：</a:t>
            </a:r>
            <a:r>
              <a:rPr lang="en-US" altLang="zh-CN" sz="2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INT n</a:t>
            </a:r>
            <a:r>
              <a:rPr lang="zh-CN" altLang="en-US" sz="2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的功能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4" name="Dark Gray"/>
          <p:cNvSpPr/>
          <p:nvPr/>
        </p:nvSpPr>
        <p:spPr bwMode="auto">
          <a:xfrm>
            <a:off x="1763688" y="1628800"/>
            <a:ext cx="5832648" cy="504055"/>
          </a:xfrm>
          <a:prstGeom prst="roundRect">
            <a:avLst>
              <a:gd name="adj" fmla="val 0"/>
            </a:avLst>
          </a:prstGeom>
          <a:solidFill>
            <a:srgbClr val="FF325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68583" tIns="34292" rIns="68583" bIns="34292" numCol="1" rtlCol="0" anchor="ctr" anchorCtr="0" compatLnSpc="1">
            <a:prstTxWarp prst="textNoShape">
              <a:avLst/>
            </a:prstTxWarp>
          </a:bodyPr>
          <a:lstStyle/>
          <a:p>
            <a:pPr defTabSz="68563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标志寄存器压栈</a:t>
            </a:r>
            <a:endParaRPr lang="en-US" sz="2000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87624" y="1628800"/>
            <a:ext cx="504000" cy="5040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26" name="Dark Gray"/>
          <p:cNvSpPr/>
          <p:nvPr/>
        </p:nvSpPr>
        <p:spPr bwMode="auto">
          <a:xfrm>
            <a:off x="1763688" y="2420888"/>
            <a:ext cx="5832648" cy="504055"/>
          </a:xfrm>
          <a:prstGeom prst="roundRect">
            <a:avLst>
              <a:gd name="adj" fmla="val 0"/>
            </a:avLst>
          </a:prstGeom>
          <a:solidFill>
            <a:srgbClr val="5DCB08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68583" tIns="34292" rIns="68583" bIns="34292" numCol="1" rtlCol="0" anchor="ctr" anchorCtr="0" compatLnSpc="1">
            <a:prstTxWarp prst="textNoShape">
              <a:avLst/>
            </a:prstTxWarp>
          </a:bodyPr>
          <a:lstStyle/>
          <a:p>
            <a:pPr defTabSz="68563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断点处的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CS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压栈、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IP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压栈</a:t>
            </a:r>
            <a:endParaRPr lang="en-US" sz="2000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87624" y="2420888"/>
            <a:ext cx="504000" cy="5040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28" name="Dark Gray"/>
          <p:cNvSpPr/>
          <p:nvPr/>
        </p:nvSpPr>
        <p:spPr bwMode="auto">
          <a:xfrm>
            <a:off x="1763688" y="3212976"/>
            <a:ext cx="5832648" cy="504055"/>
          </a:xfrm>
          <a:prstGeom prst="roundRect">
            <a:avLst>
              <a:gd name="adj" fmla="val 0"/>
            </a:avLst>
          </a:prstGeom>
          <a:solidFill>
            <a:srgbClr val="1D8DE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68583" tIns="34292" rIns="68583" bIns="34292" numCol="1" rtlCol="0" anchor="ctr" anchorCtr="0" compatLnSpc="1">
            <a:prstTxWarp prst="textNoShape">
              <a:avLst/>
            </a:prstTxWarp>
          </a:bodyPr>
          <a:lstStyle/>
          <a:p>
            <a:pPr defTabSz="68563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类型</a:t>
            </a:r>
            <a:r>
              <a:rPr lang="en-US" altLang="zh-CN" sz="2000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n</a:t>
            </a:r>
            <a:r>
              <a:rPr lang="zh-CN" altLang="en-US" sz="2000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对应的中断向量中</a:t>
            </a:r>
            <a:r>
              <a:rPr lang="en-US" altLang="zh-CN" sz="2000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4</a:t>
            </a:r>
            <a:r>
              <a:rPr lang="zh-CN" altLang="en-US" sz="2000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个字节传送给</a:t>
            </a:r>
            <a:r>
              <a:rPr lang="en-US" altLang="zh-CN" sz="2000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IP</a:t>
            </a:r>
            <a:r>
              <a:rPr lang="zh-CN" altLang="en-US" sz="2000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和</a:t>
            </a:r>
            <a:r>
              <a:rPr lang="en-US" altLang="zh-CN" sz="2000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CS</a:t>
            </a:r>
            <a:endParaRPr lang="en-US" sz="2000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187624" y="3212976"/>
            <a:ext cx="504000" cy="5040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3" name="Dark Gray"/>
          <p:cNvSpPr/>
          <p:nvPr/>
        </p:nvSpPr>
        <p:spPr bwMode="auto">
          <a:xfrm>
            <a:off x="1763688" y="4501552"/>
            <a:ext cx="5832648" cy="504055"/>
          </a:xfrm>
          <a:prstGeom prst="roundRect">
            <a:avLst>
              <a:gd name="adj" fmla="val 0"/>
            </a:avLst>
          </a:prstGeom>
          <a:solidFill>
            <a:srgbClr val="FF325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68583" tIns="34292" rIns="68583" bIns="34292" numCol="1" rtlCol="0" anchor="ctr" anchorCtr="0" compatLnSpc="1">
            <a:prstTxWarp prst="textNoShape">
              <a:avLst/>
            </a:prstTxWarp>
          </a:bodyPr>
          <a:lstStyle/>
          <a:p>
            <a:pPr defTabSz="68563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弹出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IP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CS</a:t>
            </a:r>
            <a:endParaRPr lang="en-US" altLang="zh-CN" sz="2000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87624" y="4501552"/>
            <a:ext cx="504000" cy="5040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5" name="Dark Gray"/>
          <p:cNvSpPr/>
          <p:nvPr/>
        </p:nvSpPr>
        <p:spPr bwMode="auto">
          <a:xfrm>
            <a:off x="1763688" y="5293640"/>
            <a:ext cx="5832648" cy="504055"/>
          </a:xfrm>
          <a:prstGeom prst="roundRect">
            <a:avLst>
              <a:gd name="adj" fmla="val 0"/>
            </a:avLst>
          </a:prstGeom>
          <a:solidFill>
            <a:srgbClr val="5DCB08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68583" tIns="34292" rIns="68583" bIns="34292" numCol="1" rtlCol="0" anchor="ctr" anchorCtr="0" compatLnSpc="1">
            <a:prstTxWarp prst="textNoShape">
              <a:avLst/>
            </a:prstTxWarp>
          </a:bodyPr>
          <a:lstStyle/>
          <a:p>
            <a:pPr defTabSz="68563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弹出标志寄存器</a:t>
            </a:r>
            <a:endParaRPr lang="en-US" sz="2000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87624" y="5293640"/>
            <a:ext cx="504000" cy="5040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1600" y="1444607"/>
            <a:ext cx="7560840" cy="2416441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71600" y="4373450"/>
            <a:ext cx="7560840" cy="1647838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0893" y="1340768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15"/>
          <p:cNvSpPr txBox="1"/>
          <p:nvPr/>
        </p:nvSpPr>
        <p:spPr>
          <a:xfrm rot="2771384">
            <a:off x="7783310" y="1547329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n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4328" y="4274700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15"/>
          <p:cNvSpPr txBox="1"/>
          <p:nvPr/>
        </p:nvSpPr>
        <p:spPr>
          <a:xfrm rot="2771384">
            <a:off x="7865959" y="4481261"/>
            <a:ext cx="701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IRET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291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中断调用基本步骤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4" name="Dark Gray"/>
          <p:cNvSpPr/>
          <p:nvPr/>
        </p:nvSpPr>
        <p:spPr bwMode="auto">
          <a:xfrm>
            <a:off x="1907704" y="2050088"/>
            <a:ext cx="5832648" cy="504055"/>
          </a:xfrm>
          <a:prstGeom prst="roundRect">
            <a:avLst>
              <a:gd name="adj" fmla="val 0"/>
            </a:avLst>
          </a:prstGeom>
          <a:solidFill>
            <a:srgbClr val="FF325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68583" tIns="34292" rIns="68583" bIns="34292" numCol="1" rtlCol="0" anchor="ctr" anchorCtr="0" compatLnSpc="1">
            <a:prstTxWarp prst="textNoShape">
              <a:avLst/>
            </a:prstTxWarp>
          </a:bodyPr>
          <a:lstStyle/>
          <a:p>
            <a:pPr defTabSz="68563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将调用参数装入指定的寄存器中</a:t>
            </a:r>
            <a:endParaRPr lang="en-US" sz="2000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31640" y="2050088"/>
            <a:ext cx="504000" cy="5040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26" name="Dark Gray"/>
          <p:cNvSpPr/>
          <p:nvPr/>
        </p:nvSpPr>
        <p:spPr bwMode="auto">
          <a:xfrm>
            <a:off x="1907704" y="2842176"/>
            <a:ext cx="5832648" cy="504055"/>
          </a:xfrm>
          <a:prstGeom prst="roundRect">
            <a:avLst>
              <a:gd name="adj" fmla="val 0"/>
            </a:avLst>
          </a:prstGeom>
          <a:solidFill>
            <a:srgbClr val="5DCB08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68583" tIns="34292" rIns="68583" bIns="34292" numCol="1" rtlCol="0" anchor="ctr" anchorCtr="0" compatLnSpc="1">
            <a:prstTxWarp prst="textNoShape">
              <a:avLst/>
            </a:prstTxWarp>
          </a:bodyPr>
          <a:lstStyle/>
          <a:p>
            <a:pPr defTabSz="68563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如需功能号，把它装入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AH</a:t>
            </a:r>
            <a:endParaRPr lang="en-US" sz="2000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31640" y="2842176"/>
            <a:ext cx="504000" cy="5040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28" name="Dark Gray"/>
          <p:cNvSpPr/>
          <p:nvPr/>
        </p:nvSpPr>
        <p:spPr bwMode="auto">
          <a:xfrm>
            <a:off x="1907704" y="3634264"/>
            <a:ext cx="5832648" cy="504055"/>
          </a:xfrm>
          <a:prstGeom prst="roundRect">
            <a:avLst>
              <a:gd name="adj" fmla="val 0"/>
            </a:avLst>
          </a:prstGeom>
          <a:solidFill>
            <a:srgbClr val="1D8DE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68583" tIns="34292" rIns="68583" bIns="34292" numCol="1" rtlCol="0" anchor="ctr" anchorCtr="0" compatLnSpc="1">
            <a:prstTxWarp prst="textNoShape">
              <a:avLst/>
            </a:prstTxWarp>
          </a:bodyPr>
          <a:lstStyle/>
          <a:p>
            <a:pPr defTabSz="68563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按中断类型号调用中断</a:t>
            </a:r>
            <a:endParaRPr lang="en-US" sz="2000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31640" y="3634264"/>
            <a:ext cx="504000" cy="5040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30" name="Dark Gray"/>
          <p:cNvSpPr/>
          <p:nvPr/>
        </p:nvSpPr>
        <p:spPr bwMode="auto">
          <a:xfrm>
            <a:off x="1907704" y="4437113"/>
            <a:ext cx="5832648" cy="504055"/>
          </a:xfrm>
          <a:prstGeom prst="roundRect">
            <a:avLst>
              <a:gd name="adj" fmla="val 0"/>
            </a:avLst>
          </a:prstGeom>
          <a:solidFill>
            <a:srgbClr val="FF325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68583" tIns="34292" rIns="68583" bIns="34292" numCol="1" rtlCol="0" anchor="ctr" anchorCtr="0" compatLnSpc="1">
            <a:prstTxWarp prst="textNoShape">
              <a:avLst/>
            </a:prstTxWarp>
          </a:bodyPr>
          <a:lstStyle/>
          <a:p>
            <a:pPr defTabSz="68563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检查返回参数是否正确</a:t>
            </a:r>
            <a:endParaRPr lang="en-US" sz="2000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331640" y="4437113"/>
            <a:ext cx="504000" cy="5040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4</a:t>
            </a:r>
            <a:endParaRPr lang="zh-CN" altLang="en-US" sz="32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2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常用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中断调用</a:t>
            </a:r>
            <a:endParaRPr lang="zh-CN" altLang="en-US" sz="28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2195735" y="2692443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2195735" y="2194126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21H</a:t>
            </a:r>
          </a:p>
        </p:txBody>
      </p:sp>
      <p:sp>
        <p:nvSpPr>
          <p:cNvPr id="18" name="矩形 17"/>
          <p:cNvSpPr/>
          <p:nvPr/>
        </p:nvSpPr>
        <p:spPr>
          <a:xfrm>
            <a:off x="2051720" y="1484784"/>
            <a:ext cx="5040560" cy="2226698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195735" y="1546055"/>
            <a:ext cx="2492990" cy="436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键盘输入一字符并显示</a:t>
            </a: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2071740" y="2050111"/>
            <a:ext cx="3076323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矩形 3"/>
          <p:cNvSpPr>
            <a:spLocks noChangeArrowheads="1"/>
          </p:cNvSpPr>
          <p:nvPr/>
        </p:nvSpPr>
        <p:spPr bwMode="auto">
          <a:xfrm>
            <a:off x="2195735" y="3155471"/>
            <a:ext cx="439248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入口参数号：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AL=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输入字符的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</a:p>
        </p:txBody>
      </p:sp>
      <p:sp>
        <p:nvSpPr>
          <p:cNvPr id="28" name="矩形 3"/>
          <p:cNvSpPr>
            <a:spLocks noChangeArrowheads="1"/>
          </p:cNvSpPr>
          <p:nvPr/>
        </p:nvSpPr>
        <p:spPr bwMode="auto">
          <a:xfrm>
            <a:off x="2200853" y="5213315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2200853" y="4714998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21H</a:t>
            </a:r>
          </a:p>
        </p:txBody>
      </p:sp>
      <p:sp>
        <p:nvSpPr>
          <p:cNvPr id="30" name="矩形 29"/>
          <p:cNvSpPr/>
          <p:nvPr/>
        </p:nvSpPr>
        <p:spPr>
          <a:xfrm>
            <a:off x="2056838" y="4005656"/>
            <a:ext cx="5035442" cy="2226698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195735" y="4066927"/>
            <a:ext cx="1338828" cy="436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显示一字符</a:t>
            </a:r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2076858" y="4570983"/>
            <a:ext cx="3076323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矩形 3"/>
          <p:cNvSpPr>
            <a:spLocks noChangeArrowheads="1"/>
          </p:cNvSpPr>
          <p:nvPr/>
        </p:nvSpPr>
        <p:spPr bwMode="auto">
          <a:xfrm>
            <a:off x="2200853" y="5676343"/>
            <a:ext cx="4747410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入口参数号：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DL=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待显示字符的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码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634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22" grpId="0"/>
      <p:bldP spid="26" grpId="0"/>
      <p:bldP spid="28" grpId="0"/>
      <p:bldP spid="29" grpId="0"/>
      <p:bldP spid="30" grpId="0" animBg="1"/>
      <p:bldP spid="31" grpId="0"/>
      <p:bldP spid="3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常用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中断调用</a:t>
            </a:r>
            <a:endParaRPr lang="zh-CN" altLang="en-US" sz="28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1476079" y="2620435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0AH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476079" y="2122118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21H</a:t>
            </a:r>
          </a:p>
        </p:txBody>
      </p:sp>
      <p:sp>
        <p:nvSpPr>
          <p:cNvPr id="7" name="矩形 6"/>
          <p:cNvSpPr/>
          <p:nvPr/>
        </p:nvSpPr>
        <p:spPr>
          <a:xfrm>
            <a:off x="1259632" y="1412776"/>
            <a:ext cx="6553151" cy="2232248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476079" y="1474047"/>
            <a:ext cx="3877985" cy="477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字符串输入（回车做为输入结束符）</a:t>
            </a: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1476079" y="1978103"/>
            <a:ext cx="3580379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1476079" y="3083463"/>
            <a:ext cx="4752528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入口参数号：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指向输入缓冲区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009916" y="4140852"/>
            <a:ext cx="3744708" cy="56384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长度（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N1-1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）的缓冲区</a:t>
            </a:r>
          </a:p>
        </p:txBody>
      </p:sp>
      <p:sp>
        <p:nvSpPr>
          <p:cNvPr id="13" name="矩形 12"/>
          <p:cNvSpPr/>
          <p:nvPr/>
        </p:nvSpPr>
        <p:spPr>
          <a:xfrm>
            <a:off x="1425740" y="4140965"/>
            <a:ext cx="792088" cy="563844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N1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17828" y="4140852"/>
            <a:ext cx="792088" cy="563844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N2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732664" y="4140852"/>
            <a:ext cx="792088" cy="563844"/>
          </a:xfrm>
          <a:prstGeom prst="rect">
            <a:avLst/>
          </a:prstGeom>
          <a:solidFill>
            <a:srgbClr val="5DCB08"/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0DH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1404071" y="5364988"/>
            <a:ext cx="64087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：实际键入的字符数，不包括回车，系统自动写入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1404071" y="4860932"/>
            <a:ext cx="640871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N1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：程序员设定的最大键入的字符串长度，包括回车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3707904" y="5920604"/>
            <a:ext cx="2098256" cy="451149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缓冲区格式要求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59632" y="3933056"/>
            <a:ext cx="6553151" cy="1921298"/>
          </a:xfrm>
          <a:prstGeom prst="rect">
            <a:avLst/>
          </a:prstGeom>
          <a:noFill/>
          <a:ln w="635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1425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常用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中断调用</a:t>
            </a:r>
            <a:endParaRPr lang="zh-CN" altLang="en-US" sz="28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8" name="矩形 3"/>
          <p:cNvSpPr>
            <a:spLocks noChangeArrowheads="1"/>
          </p:cNvSpPr>
          <p:nvPr/>
        </p:nvSpPr>
        <p:spPr bwMode="auto">
          <a:xfrm>
            <a:off x="1912822" y="2620435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功能号：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1912822" y="2122118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21H</a:t>
            </a:r>
          </a:p>
        </p:txBody>
      </p:sp>
      <p:sp>
        <p:nvSpPr>
          <p:cNvPr id="30" name="矩形 29"/>
          <p:cNvSpPr/>
          <p:nvPr/>
        </p:nvSpPr>
        <p:spPr>
          <a:xfrm>
            <a:off x="1768806" y="1412776"/>
            <a:ext cx="5323474" cy="2226698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907704" y="1474047"/>
            <a:ext cx="2866490" cy="436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显示以“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$”</a:t>
            </a: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结尾的字符串</a:t>
            </a:r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1788827" y="1978103"/>
            <a:ext cx="3076323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矩形 3"/>
          <p:cNvSpPr>
            <a:spLocks noChangeArrowheads="1"/>
          </p:cNvSpPr>
          <p:nvPr/>
        </p:nvSpPr>
        <p:spPr bwMode="auto">
          <a:xfrm>
            <a:off x="1912821" y="3083463"/>
            <a:ext cx="5035443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入口参数号：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指向字符串的首地址</a:t>
            </a:r>
            <a:endParaRPr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1907703" y="5290281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功能号：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4CH</a:t>
            </a: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907703" y="4791964"/>
            <a:ext cx="2016224" cy="48936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类型号：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21H</a:t>
            </a:r>
          </a:p>
        </p:txBody>
      </p:sp>
      <p:sp>
        <p:nvSpPr>
          <p:cNvPr id="21" name="矩形 20"/>
          <p:cNvSpPr/>
          <p:nvPr/>
        </p:nvSpPr>
        <p:spPr>
          <a:xfrm>
            <a:off x="1763688" y="4082622"/>
            <a:ext cx="5328592" cy="1866658"/>
          </a:xfrm>
          <a:prstGeom prst="rect">
            <a:avLst/>
          </a:prstGeom>
          <a:noFill/>
          <a:ln w="6350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902143" y="4143893"/>
            <a:ext cx="1157689" cy="477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返回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DOS</a:t>
            </a:r>
            <a:endParaRPr lang="zh-CN" altLang="en-US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1783708" y="4647949"/>
            <a:ext cx="3076323" cy="0"/>
          </a:xfrm>
          <a:prstGeom prst="line">
            <a:avLst/>
          </a:prstGeom>
          <a:noFill/>
          <a:ln w="9525">
            <a:solidFill>
              <a:srgbClr val="FF32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62251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/>
      <p:bldP spid="33" grpId="0"/>
      <p:bldP spid="19" grpId="0"/>
      <p:bldP spid="20" grpId="0"/>
      <p:bldP spid="21" grpId="0" animBg="1"/>
      <p:bldP spid="2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12963</TotalTime>
  <Words>3560</Words>
  <Application>Microsoft Office PowerPoint</Application>
  <PresentationFormat>全屏显示(4:3)</PresentationFormat>
  <Paragraphs>679</Paragraphs>
  <Slides>62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7" baseType="lpstr">
      <vt:lpstr>Aharoni</vt:lpstr>
      <vt:lpstr>Arial Unicode MS</vt:lpstr>
      <vt:lpstr>经典繁仿黑</vt:lpstr>
      <vt:lpstr>宋体</vt:lpstr>
      <vt:lpstr>微软雅黑</vt:lpstr>
      <vt:lpstr>Arial</vt:lpstr>
      <vt:lpstr>Arial Black</vt:lpstr>
      <vt:lpstr>Broadway</vt:lpstr>
      <vt:lpstr>Calibri</vt:lpstr>
      <vt:lpstr>Impact</vt:lpstr>
      <vt:lpstr>Segoe UI</vt:lpstr>
      <vt:lpstr>Tahoma</vt:lpstr>
      <vt:lpstr>Times New Roman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houxy</cp:lastModifiedBy>
  <cp:revision>2243</cp:revision>
  <dcterms:created xsi:type="dcterms:W3CDTF">2012-06-23T00:51:09Z</dcterms:created>
  <dcterms:modified xsi:type="dcterms:W3CDTF">2016-07-31T02:59:29Z</dcterms:modified>
</cp:coreProperties>
</file>