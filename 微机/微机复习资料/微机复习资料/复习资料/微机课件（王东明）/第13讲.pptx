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88"/>
  </p:notesMasterIdLst>
  <p:sldIdLst>
    <p:sldId id="303" r:id="rId2"/>
    <p:sldId id="594" r:id="rId3"/>
    <p:sldId id="776" r:id="rId4"/>
    <p:sldId id="773" r:id="rId5"/>
    <p:sldId id="774" r:id="rId6"/>
    <p:sldId id="597" r:id="rId7"/>
    <p:sldId id="261" r:id="rId8"/>
    <p:sldId id="717" r:id="rId9"/>
    <p:sldId id="718" r:id="rId10"/>
    <p:sldId id="775" r:id="rId11"/>
    <p:sldId id="791" r:id="rId12"/>
    <p:sldId id="750" r:id="rId13"/>
    <p:sldId id="748" r:id="rId14"/>
    <p:sldId id="751" r:id="rId15"/>
    <p:sldId id="722" r:id="rId16"/>
    <p:sldId id="749" r:id="rId17"/>
    <p:sldId id="778" r:id="rId18"/>
    <p:sldId id="783" r:id="rId19"/>
    <p:sldId id="784" r:id="rId20"/>
    <p:sldId id="798" r:id="rId21"/>
    <p:sldId id="785" r:id="rId22"/>
    <p:sldId id="787" r:id="rId23"/>
    <p:sldId id="790" r:id="rId24"/>
    <p:sldId id="788" r:id="rId25"/>
    <p:sldId id="789" r:id="rId26"/>
    <p:sldId id="792" r:id="rId27"/>
    <p:sldId id="799" r:id="rId28"/>
    <p:sldId id="793" r:id="rId29"/>
    <p:sldId id="794" r:id="rId30"/>
    <p:sldId id="796" r:id="rId31"/>
    <p:sldId id="797" r:id="rId32"/>
    <p:sldId id="800" r:id="rId33"/>
    <p:sldId id="801" r:id="rId34"/>
    <p:sldId id="802" r:id="rId35"/>
    <p:sldId id="804" r:id="rId36"/>
    <p:sldId id="811" r:id="rId37"/>
    <p:sldId id="813" r:id="rId38"/>
    <p:sldId id="815" r:id="rId39"/>
    <p:sldId id="812" r:id="rId40"/>
    <p:sldId id="810" r:id="rId41"/>
    <p:sldId id="779" r:id="rId42"/>
    <p:sldId id="755" r:id="rId43"/>
    <p:sldId id="756" r:id="rId44"/>
    <p:sldId id="757" r:id="rId45"/>
    <p:sldId id="770" r:id="rId46"/>
    <p:sldId id="807" r:id="rId47"/>
    <p:sldId id="816" r:id="rId48"/>
    <p:sldId id="758" r:id="rId49"/>
    <p:sldId id="818" r:id="rId50"/>
    <p:sldId id="817" r:id="rId51"/>
    <p:sldId id="847" r:id="rId52"/>
    <p:sldId id="820" r:id="rId53"/>
    <p:sldId id="819" r:id="rId54"/>
    <p:sldId id="833" r:id="rId55"/>
    <p:sldId id="825" r:id="rId56"/>
    <p:sldId id="823" r:id="rId57"/>
    <p:sldId id="822" r:id="rId58"/>
    <p:sldId id="826" r:id="rId59"/>
    <p:sldId id="760" r:id="rId60"/>
    <p:sldId id="768" r:id="rId61"/>
    <p:sldId id="848" r:id="rId62"/>
    <p:sldId id="849" r:id="rId63"/>
    <p:sldId id="762" r:id="rId64"/>
    <p:sldId id="837" r:id="rId65"/>
    <p:sldId id="840" r:id="rId66"/>
    <p:sldId id="828" r:id="rId67"/>
    <p:sldId id="764" r:id="rId68"/>
    <p:sldId id="829" r:id="rId69"/>
    <p:sldId id="830" r:id="rId70"/>
    <p:sldId id="853" r:id="rId71"/>
    <p:sldId id="824" r:id="rId72"/>
    <p:sldId id="842" r:id="rId73"/>
    <p:sldId id="844" r:id="rId74"/>
    <p:sldId id="846" r:id="rId75"/>
    <p:sldId id="834" r:id="rId76"/>
    <p:sldId id="851" r:id="rId77"/>
    <p:sldId id="765" r:id="rId78"/>
    <p:sldId id="854" r:id="rId79"/>
    <p:sldId id="856" r:id="rId80"/>
    <p:sldId id="859" r:id="rId81"/>
    <p:sldId id="860" r:id="rId82"/>
    <p:sldId id="855" r:id="rId83"/>
    <p:sldId id="857" r:id="rId84"/>
    <p:sldId id="858" r:id="rId85"/>
    <p:sldId id="852" r:id="rId86"/>
    <p:sldId id="300" r:id="rId8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1D8DE5"/>
    <a:srgbClr val="FD7A2A"/>
    <a:srgbClr val="00B853"/>
    <a:srgbClr val="FB9F4B"/>
    <a:srgbClr val="FF3255"/>
    <a:srgbClr val="48A5EA"/>
    <a:srgbClr val="71B9EF"/>
    <a:srgbClr val="8EC6F2"/>
    <a:srgbClr val="FCAE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31" autoAdjust="0"/>
    <p:restoredTop sz="88431" autoAdjust="0"/>
  </p:normalViewPr>
  <p:slideViewPr>
    <p:cSldViewPr>
      <p:cViewPr varScale="1">
        <p:scale>
          <a:sx n="62" d="100"/>
          <a:sy n="62" d="100"/>
        </p:scale>
        <p:origin x="-606" y="-90"/>
      </p:cViewPr>
      <p:guideLst>
        <p:guide orient="horz" pos="2160"/>
        <p:guide pos="288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28B982-35FB-4A07-96D8-2F636521A5DB}"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zh-CN" altLang="en-US"/>
        </a:p>
      </dgm:t>
    </dgm:pt>
    <dgm:pt modelId="{702FA971-7895-4615-9AB1-AD9567235209}">
      <dgm:prSet phldrT="[文本]" custT="1"/>
      <dgm:spPr>
        <a:solidFill>
          <a:srgbClr val="1D8DE5"/>
        </a:solidFill>
      </dgm:spPr>
      <dgm:t>
        <a:bodyPr/>
        <a:lstStyle/>
        <a:p>
          <a:r>
            <a:rPr lang="zh-CN" altLang="en-US" sz="1600" dirty="0">
              <a:latin typeface="微软雅黑" panose="020B0503020204020204" pitchFamily="34" charset="-122"/>
              <a:ea typeface="微软雅黑" panose="020B0503020204020204" pitchFamily="34" charset="-122"/>
            </a:rPr>
            <a:t>存储段描述符</a:t>
          </a:r>
        </a:p>
      </dgm:t>
    </dgm:pt>
    <dgm:pt modelId="{48FC668C-D221-4F26-ADC8-8BDFA2A8F8BB}" type="parTrans" cxnId="{31798610-9332-43D1-8B59-E9FF59DD0C3C}">
      <dgm:prSet/>
      <dgm:spPr/>
      <dgm:t>
        <a:bodyPr/>
        <a:lstStyle/>
        <a:p>
          <a:endParaRPr lang="zh-CN" altLang="en-US">
            <a:latin typeface="微软雅黑" panose="020B0503020204020204" pitchFamily="34" charset="-122"/>
            <a:ea typeface="微软雅黑" panose="020B0503020204020204" pitchFamily="34" charset="-122"/>
          </a:endParaRPr>
        </a:p>
      </dgm:t>
    </dgm:pt>
    <dgm:pt modelId="{E5E65FA6-43B4-4113-A02B-750C16491681}" type="sibTrans" cxnId="{31798610-9332-43D1-8B59-E9FF59DD0C3C}">
      <dgm:prSet/>
      <dgm:spPr/>
      <dgm:t>
        <a:bodyPr/>
        <a:lstStyle/>
        <a:p>
          <a:endParaRPr lang="zh-CN" altLang="en-US">
            <a:latin typeface="微软雅黑" panose="020B0503020204020204" pitchFamily="34" charset="-122"/>
            <a:ea typeface="微软雅黑" panose="020B0503020204020204" pitchFamily="34" charset="-122"/>
          </a:endParaRPr>
        </a:p>
      </dgm:t>
    </dgm:pt>
    <dgm:pt modelId="{C55DC4BB-D71B-4538-B25A-466BEF7DE8AB}">
      <dgm:prSet phldrT="[文本]" custT="1"/>
      <dgm:spPr>
        <a:solidFill>
          <a:srgbClr val="00B853"/>
        </a:solidFill>
      </dgm:spPr>
      <dgm:t>
        <a:bodyPr/>
        <a:lstStyle/>
        <a:p>
          <a:r>
            <a:rPr lang="zh-CN" altLang="en-US" sz="1600" dirty="0">
              <a:latin typeface="微软雅黑" panose="020B0503020204020204" pitchFamily="34" charset="-122"/>
              <a:ea typeface="微软雅黑" panose="020B0503020204020204" pitchFamily="34" charset="-122"/>
            </a:rPr>
            <a:t>数据段描述符</a:t>
          </a:r>
        </a:p>
      </dgm:t>
    </dgm:pt>
    <dgm:pt modelId="{02A22872-9779-4AEE-8895-234B660FCA22}" type="parTrans" cxnId="{26D00930-BF4D-4DFF-8EAD-95082F6894D9}">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4016D63E-AE6F-4B7C-A44C-0DA16AD1E18E}" type="sibTrans" cxnId="{26D00930-BF4D-4DFF-8EAD-95082F6894D9}">
      <dgm:prSet/>
      <dgm:spPr/>
      <dgm:t>
        <a:bodyPr/>
        <a:lstStyle/>
        <a:p>
          <a:endParaRPr lang="zh-CN" altLang="en-US">
            <a:latin typeface="微软雅黑" panose="020B0503020204020204" pitchFamily="34" charset="-122"/>
            <a:ea typeface="微软雅黑" panose="020B0503020204020204" pitchFamily="34" charset="-122"/>
          </a:endParaRPr>
        </a:p>
      </dgm:t>
    </dgm:pt>
    <dgm:pt modelId="{5318F964-1559-4B5F-88DA-997E608AA25A}">
      <dgm:prSet phldrT="[文本]" custT="1"/>
      <dgm:spPr>
        <a:solidFill>
          <a:srgbClr val="FD7A2A"/>
        </a:solidFill>
      </dgm:spPr>
      <dgm:t>
        <a:bodyPr/>
        <a:lstStyle/>
        <a:p>
          <a:r>
            <a:rPr lang="zh-CN" altLang="en-US" sz="1600" dirty="0">
              <a:latin typeface="微软雅黑" panose="020B0503020204020204" pitchFamily="34" charset="-122"/>
              <a:ea typeface="微软雅黑" panose="020B0503020204020204" pitchFamily="34" charset="-122"/>
            </a:rPr>
            <a:t>栈段描述符</a:t>
          </a:r>
        </a:p>
      </dgm:t>
    </dgm:pt>
    <dgm:pt modelId="{D99E1D3F-C446-4836-860F-D32979C136DD}" type="parTrans" cxnId="{8A891A13-08AF-4E1B-B535-199BE6287721}">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5E7EDAD6-F898-4110-BB9D-D38DCB5F2D51}" type="sibTrans" cxnId="{8A891A13-08AF-4E1B-B535-199BE6287721}">
      <dgm:prSet/>
      <dgm:spPr/>
      <dgm:t>
        <a:bodyPr/>
        <a:lstStyle/>
        <a:p>
          <a:endParaRPr lang="zh-CN" altLang="en-US">
            <a:latin typeface="微软雅黑" panose="020B0503020204020204" pitchFamily="34" charset="-122"/>
            <a:ea typeface="微软雅黑" panose="020B0503020204020204" pitchFamily="34" charset="-122"/>
          </a:endParaRPr>
        </a:p>
      </dgm:t>
    </dgm:pt>
    <dgm:pt modelId="{1907FDEC-6257-4FF6-AF83-65EA9068361B}">
      <dgm:prSet phldrT="[文本]" custT="1"/>
      <dgm:spPr>
        <a:solidFill>
          <a:srgbClr val="FD7A2A"/>
        </a:solidFill>
      </dgm:spPr>
      <dgm:t>
        <a:bodyPr/>
        <a:lstStyle/>
        <a:p>
          <a:r>
            <a:rPr lang="zh-CN" altLang="en-US" sz="1600" dirty="0">
              <a:latin typeface="微软雅黑" panose="020B0503020204020204" pitchFamily="34" charset="-122"/>
              <a:ea typeface="微软雅黑" panose="020B0503020204020204" pitchFamily="34" charset="-122"/>
            </a:rPr>
            <a:t>非栈段描述符</a:t>
          </a:r>
        </a:p>
      </dgm:t>
    </dgm:pt>
    <dgm:pt modelId="{BE3F8F12-6881-448E-8CEC-EB1344E25C92}" type="parTrans" cxnId="{521479DE-7E33-455C-B7F2-F2E0B3D23B7A}">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B515EB63-42B9-4BA8-827A-8D0397E85528}" type="sibTrans" cxnId="{521479DE-7E33-455C-B7F2-F2E0B3D23B7A}">
      <dgm:prSet/>
      <dgm:spPr/>
      <dgm:t>
        <a:bodyPr/>
        <a:lstStyle/>
        <a:p>
          <a:endParaRPr lang="zh-CN" altLang="en-US">
            <a:latin typeface="微软雅黑" panose="020B0503020204020204" pitchFamily="34" charset="-122"/>
            <a:ea typeface="微软雅黑" panose="020B0503020204020204" pitchFamily="34" charset="-122"/>
          </a:endParaRPr>
        </a:p>
      </dgm:t>
    </dgm:pt>
    <dgm:pt modelId="{9406CDA0-B030-4895-9E3E-2CFC74B84B64}">
      <dgm:prSet phldrT="[文本]" custT="1"/>
      <dgm:spPr>
        <a:solidFill>
          <a:srgbClr val="00B853"/>
        </a:solidFill>
      </dgm:spPr>
      <dgm:t>
        <a:bodyPr/>
        <a:lstStyle/>
        <a:p>
          <a:r>
            <a:rPr lang="zh-CN" altLang="en-US" sz="1600" dirty="0">
              <a:latin typeface="微软雅黑" panose="020B0503020204020204" pitchFamily="34" charset="-122"/>
              <a:ea typeface="微软雅黑" panose="020B0503020204020204" pitchFamily="34" charset="-122"/>
            </a:rPr>
            <a:t>代码段描述符</a:t>
          </a:r>
        </a:p>
      </dgm:t>
    </dgm:pt>
    <dgm:pt modelId="{B3E14F20-49AF-4A0B-B5C8-B33D73DAC777}" type="parTrans" cxnId="{7F538F38-D650-4D7B-83A9-7379211D6C6D}">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B6074551-7CB6-465B-8338-3EA799EEF53B}" type="sibTrans" cxnId="{7F538F38-D650-4D7B-83A9-7379211D6C6D}">
      <dgm:prSet/>
      <dgm:spPr/>
      <dgm:t>
        <a:bodyPr/>
        <a:lstStyle/>
        <a:p>
          <a:endParaRPr lang="zh-CN" altLang="en-US">
            <a:latin typeface="微软雅黑" panose="020B0503020204020204" pitchFamily="34" charset="-122"/>
            <a:ea typeface="微软雅黑" panose="020B0503020204020204" pitchFamily="34" charset="-122"/>
          </a:endParaRPr>
        </a:p>
      </dgm:t>
    </dgm:pt>
    <dgm:pt modelId="{A7A774F2-E7EA-4A0C-B5DA-A78C85F7DACD}" type="pres">
      <dgm:prSet presAssocID="{9528B982-35FB-4A07-96D8-2F636521A5DB}" presName="mainComposite" presStyleCnt="0">
        <dgm:presLayoutVars>
          <dgm:chPref val="1"/>
          <dgm:dir/>
          <dgm:animOne val="branch"/>
          <dgm:animLvl val="lvl"/>
          <dgm:resizeHandles val="exact"/>
        </dgm:presLayoutVars>
      </dgm:prSet>
      <dgm:spPr/>
      <dgm:t>
        <a:bodyPr/>
        <a:lstStyle/>
        <a:p>
          <a:endParaRPr lang="zh-CN" altLang="en-US"/>
        </a:p>
      </dgm:t>
    </dgm:pt>
    <dgm:pt modelId="{2742A120-F68A-4753-88A7-49D4EE5A24E0}" type="pres">
      <dgm:prSet presAssocID="{9528B982-35FB-4A07-96D8-2F636521A5DB}" presName="hierFlow" presStyleCnt="0"/>
      <dgm:spPr/>
    </dgm:pt>
    <dgm:pt modelId="{89D7868C-7B4E-4E32-9388-410AE93B8F66}" type="pres">
      <dgm:prSet presAssocID="{9528B982-35FB-4A07-96D8-2F636521A5DB}" presName="hierChild1" presStyleCnt="0">
        <dgm:presLayoutVars>
          <dgm:chPref val="1"/>
          <dgm:animOne val="branch"/>
          <dgm:animLvl val="lvl"/>
        </dgm:presLayoutVars>
      </dgm:prSet>
      <dgm:spPr/>
    </dgm:pt>
    <dgm:pt modelId="{25D60299-987A-41F6-B241-D49E35C0FE5F}" type="pres">
      <dgm:prSet presAssocID="{702FA971-7895-4615-9AB1-AD9567235209}" presName="Name14" presStyleCnt="0"/>
      <dgm:spPr/>
    </dgm:pt>
    <dgm:pt modelId="{FDFD7C3C-6204-4F7E-91AC-6F3546CD780D}" type="pres">
      <dgm:prSet presAssocID="{702FA971-7895-4615-9AB1-AD9567235209}" presName="level1Shape" presStyleLbl="node0" presStyleIdx="0" presStyleCnt="1" custScaleX="154817">
        <dgm:presLayoutVars>
          <dgm:chPref val="3"/>
        </dgm:presLayoutVars>
      </dgm:prSet>
      <dgm:spPr/>
      <dgm:t>
        <a:bodyPr/>
        <a:lstStyle/>
        <a:p>
          <a:endParaRPr lang="zh-CN" altLang="en-US"/>
        </a:p>
      </dgm:t>
    </dgm:pt>
    <dgm:pt modelId="{0BC8C237-578F-4B81-BEBB-899181B5F85B}" type="pres">
      <dgm:prSet presAssocID="{702FA971-7895-4615-9AB1-AD9567235209}" presName="hierChild2" presStyleCnt="0"/>
      <dgm:spPr/>
    </dgm:pt>
    <dgm:pt modelId="{30D67FDD-E952-441F-B76D-AFC7E402AC4A}" type="pres">
      <dgm:prSet presAssocID="{B3E14F20-49AF-4A0B-B5C8-B33D73DAC777}" presName="Name19" presStyleLbl="parChTrans1D2" presStyleIdx="0" presStyleCnt="2"/>
      <dgm:spPr/>
      <dgm:t>
        <a:bodyPr/>
        <a:lstStyle/>
        <a:p>
          <a:endParaRPr lang="zh-CN" altLang="en-US"/>
        </a:p>
      </dgm:t>
    </dgm:pt>
    <dgm:pt modelId="{25604BF0-3634-4C22-B58A-F20042767D30}" type="pres">
      <dgm:prSet presAssocID="{9406CDA0-B030-4895-9E3E-2CFC74B84B64}" presName="Name21" presStyleCnt="0"/>
      <dgm:spPr/>
    </dgm:pt>
    <dgm:pt modelId="{6182C128-EFB6-401D-ABBD-50EAB2A27DCE}" type="pres">
      <dgm:prSet presAssocID="{9406CDA0-B030-4895-9E3E-2CFC74B84B64}" presName="level2Shape" presStyleLbl="node2" presStyleIdx="0" presStyleCnt="2" custScaleX="165931"/>
      <dgm:spPr/>
      <dgm:t>
        <a:bodyPr/>
        <a:lstStyle/>
        <a:p>
          <a:endParaRPr lang="zh-CN" altLang="en-US"/>
        </a:p>
      </dgm:t>
    </dgm:pt>
    <dgm:pt modelId="{EDE33DC1-470F-4E77-8ABC-BE0516033071}" type="pres">
      <dgm:prSet presAssocID="{9406CDA0-B030-4895-9E3E-2CFC74B84B64}" presName="hierChild3" presStyleCnt="0"/>
      <dgm:spPr/>
    </dgm:pt>
    <dgm:pt modelId="{292C3123-BDE6-48E9-88E7-A7470950AEBD}" type="pres">
      <dgm:prSet presAssocID="{02A22872-9779-4AEE-8895-234B660FCA22}" presName="Name19" presStyleLbl="parChTrans1D2" presStyleIdx="1" presStyleCnt="2"/>
      <dgm:spPr/>
      <dgm:t>
        <a:bodyPr/>
        <a:lstStyle/>
        <a:p>
          <a:endParaRPr lang="zh-CN" altLang="en-US"/>
        </a:p>
      </dgm:t>
    </dgm:pt>
    <dgm:pt modelId="{B8122DE9-408D-464D-A4AC-3619F5FEA2FB}" type="pres">
      <dgm:prSet presAssocID="{C55DC4BB-D71B-4538-B25A-466BEF7DE8AB}" presName="Name21" presStyleCnt="0"/>
      <dgm:spPr/>
    </dgm:pt>
    <dgm:pt modelId="{FA70A3AF-2E55-453B-B2B4-3AD47E13690E}" type="pres">
      <dgm:prSet presAssocID="{C55DC4BB-D71B-4538-B25A-466BEF7DE8AB}" presName="level2Shape" presStyleLbl="node2" presStyleIdx="1" presStyleCnt="2" custScaleX="168524"/>
      <dgm:spPr/>
      <dgm:t>
        <a:bodyPr/>
        <a:lstStyle/>
        <a:p>
          <a:endParaRPr lang="zh-CN" altLang="en-US"/>
        </a:p>
      </dgm:t>
    </dgm:pt>
    <dgm:pt modelId="{72C2FACD-2BC1-4E19-AFAC-BE14F61414B2}" type="pres">
      <dgm:prSet presAssocID="{C55DC4BB-D71B-4538-B25A-466BEF7DE8AB}" presName="hierChild3" presStyleCnt="0"/>
      <dgm:spPr/>
    </dgm:pt>
    <dgm:pt modelId="{F1AB8FDE-EA51-420C-866B-54DDF03393DC}" type="pres">
      <dgm:prSet presAssocID="{D99E1D3F-C446-4836-860F-D32979C136DD}" presName="Name19" presStyleLbl="parChTrans1D3" presStyleIdx="0" presStyleCnt="2"/>
      <dgm:spPr/>
      <dgm:t>
        <a:bodyPr/>
        <a:lstStyle/>
        <a:p>
          <a:endParaRPr lang="zh-CN" altLang="en-US"/>
        </a:p>
      </dgm:t>
    </dgm:pt>
    <dgm:pt modelId="{B35B0641-B95D-4A46-B44F-ECA2237313E6}" type="pres">
      <dgm:prSet presAssocID="{5318F964-1559-4B5F-88DA-997E608AA25A}" presName="Name21" presStyleCnt="0"/>
      <dgm:spPr/>
    </dgm:pt>
    <dgm:pt modelId="{8CFE2F2F-AFC8-48A7-A6EF-4DD4D4E83E14}" type="pres">
      <dgm:prSet presAssocID="{5318F964-1559-4B5F-88DA-997E608AA25A}" presName="level2Shape" presStyleLbl="node3" presStyleIdx="0" presStyleCnt="2" custScaleX="178900"/>
      <dgm:spPr/>
      <dgm:t>
        <a:bodyPr/>
        <a:lstStyle/>
        <a:p>
          <a:endParaRPr lang="zh-CN" altLang="en-US"/>
        </a:p>
      </dgm:t>
    </dgm:pt>
    <dgm:pt modelId="{D4EDBD21-6230-49D3-84BA-DE48732B0D6B}" type="pres">
      <dgm:prSet presAssocID="{5318F964-1559-4B5F-88DA-997E608AA25A}" presName="hierChild3" presStyleCnt="0"/>
      <dgm:spPr/>
    </dgm:pt>
    <dgm:pt modelId="{48FCF591-C56C-473E-9720-4428C9C5B42B}" type="pres">
      <dgm:prSet presAssocID="{BE3F8F12-6881-448E-8CEC-EB1344E25C92}" presName="Name19" presStyleLbl="parChTrans1D3" presStyleIdx="1" presStyleCnt="2"/>
      <dgm:spPr/>
      <dgm:t>
        <a:bodyPr/>
        <a:lstStyle/>
        <a:p>
          <a:endParaRPr lang="zh-CN" altLang="en-US"/>
        </a:p>
      </dgm:t>
    </dgm:pt>
    <dgm:pt modelId="{FBCAC5CB-AB26-4D8D-AA99-94E9063CE5F4}" type="pres">
      <dgm:prSet presAssocID="{1907FDEC-6257-4FF6-AF83-65EA9068361B}" presName="Name21" presStyleCnt="0"/>
      <dgm:spPr/>
    </dgm:pt>
    <dgm:pt modelId="{0034BEB8-0C92-442F-B01E-A1689A6868EC}" type="pres">
      <dgm:prSet presAssocID="{1907FDEC-6257-4FF6-AF83-65EA9068361B}" presName="level2Shape" presStyleLbl="node3" presStyleIdx="1" presStyleCnt="2" custScaleX="187434" custLinFactNeighborX="1674" custLinFactNeighborY="-1494"/>
      <dgm:spPr/>
      <dgm:t>
        <a:bodyPr/>
        <a:lstStyle/>
        <a:p>
          <a:endParaRPr lang="zh-CN" altLang="en-US"/>
        </a:p>
      </dgm:t>
    </dgm:pt>
    <dgm:pt modelId="{049654F2-CF4C-4143-A472-3396DFF52D77}" type="pres">
      <dgm:prSet presAssocID="{1907FDEC-6257-4FF6-AF83-65EA9068361B}" presName="hierChild3" presStyleCnt="0"/>
      <dgm:spPr/>
    </dgm:pt>
    <dgm:pt modelId="{ADE6A1A0-A1E9-4736-A6B9-1FB548D1F906}" type="pres">
      <dgm:prSet presAssocID="{9528B982-35FB-4A07-96D8-2F636521A5DB}" presName="bgShapesFlow" presStyleCnt="0"/>
      <dgm:spPr/>
    </dgm:pt>
  </dgm:ptLst>
  <dgm:cxnLst>
    <dgm:cxn modelId="{521479DE-7E33-455C-B7F2-F2E0B3D23B7A}" srcId="{C55DC4BB-D71B-4538-B25A-466BEF7DE8AB}" destId="{1907FDEC-6257-4FF6-AF83-65EA9068361B}" srcOrd="1" destOrd="0" parTransId="{BE3F8F12-6881-448E-8CEC-EB1344E25C92}" sibTransId="{B515EB63-42B9-4BA8-827A-8D0397E85528}"/>
    <dgm:cxn modelId="{31798610-9332-43D1-8B59-E9FF59DD0C3C}" srcId="{9528B982-35FB-4A07-96D8-2F636521A5DB}" destId="{702FA971-7895-4615-9AB1-AD9567235209}" srcOrd="0" destOrd="0" parTransId="{48FC668C-D221-4F26-ADC8-8BDFA2A8F8BB}" sibTransId="{E5E65FA6-43B4-4113-A02B-750C16491681}"/>
    <dgm:cxn modelId="{8A891A13-08AF-4E1B-B535-199BE6287721}" srcId="{C55DC4BB-D71B-4538-B25A-466BEF7DE8AB}" destId="{5318F964-1559-4B5F-88DA-997E608AA25A}" srcOrd="0" destOrd="0" parTransId="{D99E1D3F-C446-4836-860F-D32979C136DD}" sibTransId="{5E7EDAD6-F898-4110-BB9D-D38DCB5F2D51}"/>
    <dgm:cxn modelId="{D9DB14B8-BB42-401F-B0E3-30A2D1DBFC3D}" type="presOf" srcId="{02A22872-9779-4AEE-8895-234B660FCA22}" destId="{292C3123-BDE6-48E9-88E7-A7470950AEBD}" srcOrd="0" destOrd="0" presId="urn:microsoft.com/office/officeart/2005/8/layout/hierarchy6"/>
    <dgm:cxn modelId="{EDCDDA98-ECEA-4229-9C24-2E48F06E9968}" type="presOf" srcId="{702FA971-7895-4615-9AB1-AD9567235209}" destId="{FDFD7C3C-6204-4F7E-91AC-6F3546CD780D}" srcOrd="0" destOrd="0" presId="urn:microsoft.com/office/officeart/2005/8/layout/hierarchy6"/>
    <dgm:cxn modelId="{17A7AD5E-2F57-4D06-A60D-8C9FD89B05A7}" type="presOf" srcId="{9406CDA0-B030-4895-9E3E-2CFC74B84B64}" destId="{6182C128-EFB6-401D-ABBD-50EAB2A27DCE}" srcOrd="0" destOrd="0" presId="urn:microsoft.com/office/officeart/2005/8/layout/hierarchy6"/>
    <dgm:cxn modelId="{D5C8D8EC-8A82-497F-B3C8-6A23C75BD0BC}" type="presOf" srcId="{C55DC4BB-D71B-4538-B25A-466BEF7DE8AB}" destId="{FA70A3AF-2E55-453B-B2B4-3AD47E13690E}" srcOrd="0" destOrd="0" presId="urn:microsoft.com/office/officeart/2005/8/layout/hierarchy6"/>
    <dgm:cxn modelId="{36A6FE7C-D20F-4A6A-8436-86C155FF1800}" type="presOf" srcId="{1907FDEC-6257-4FF6-AF83-65EA9068361B}" destId="{0034BEB8-0C92-442F-B01E-A1689A6868EC}" srcOrd="0" destOrd="0" presId="urn:microsoft.com/office/officeart/2005/8/layout/hierarchy6"/>
    <dgm:cxn modelId="{2F260759-9501-4C6D-88D3-AA16752A3747}" type="presOf" srcId="{B3E14F20-49AF-4A0B-B5C8-B33D73DAC777}" destId="{30D67FDD-E952-441F-B76D-AFC7E402AC4A}" srcOrd="0" destOrd="0" presId="urn:microsoft.com/office/officeart/2005/8/layout/hierarchy6"/>
    <dgm:cxn modelId="{76CBCB5B-3260-44CD-9153-256A7EC8A350}" type="presOf" srcId="{D99E1D3F-C446-4836-860F-D32979C136DD}" destId="{F1AB8FDE-EA51-420C-866B-54DDF03393DC}" srcOrd="0" destOrd="0" presId="urn:microsoft.com/office/officeart/2005/8/layout/hierarchy6"/>
    <dgm:cxn modelId="{74C346E5-480E-4D94-8417-03044B153346}" type="presOf" srcId="{9528B982-35FB-4A07-96D8-2F636521A5DB}" destId="{A7A774F2-E7EA-4A0C-B5DA-A78C85F7DACD}" srcOrd="0" destOrd="0" presId="urn:microsoft.com/office/officeart/2005/8/layout/hierarchy6"/>
    <dgm:cxn modelId="{230560B4-2DE3-405C-82CA-CC73EE087E94}" type="presOf" srcId="{5318F964-1559-4B5F-88DA-997E608AA25A}" destId="{8CFE2F2F-AFC8-48A7-A6EF-4DD4D4E83E14}" srcOrd="0" destOrd="0" presId="urn:microsoft.com/office/officeart/2005/8/layout/hierarchy6"/>
    <dgm:cxn modelId="{7F538F38-D650-4D7B-83A9-7379211D6C6D}" srcId="{702FA971-7895-4615-9AB1-AD9567235209}" destId="{9406CDA0-B030-4895-9E3E-2CFC74B84B64}" srcOrd="0" destOrd="0" parTransId="{B3E14F20-49AF-4A0B-B5C8-B33D73DAC777}" sibTransId="{B6074551-7CB6-465B-8338-3EA799EEF53B}"/>
    <dgm:cxn modelId="{C335E148-5287-425E-B621-C7F9E0C1C670}" type="presOf" srcId="{BE3F8F12-6881-448E-8CEC-EB1344E25C92}" destId="{48FCF591-C56C-473E-9720-4428C9C5B42B}" srcOrd="0" destOrd="0" presId="urn:microsoft.com/office/officeart/2005/8/layout/hierarchy6"/>
    <dgm:cxn modelId="{26D00930-BF4D-4DFF-8EAD-95082F6894D9}" srcId="{702FA971-7895-4615-9AB1-AD9567235209}" destId="{C55DC4BB-D71B-4538-B25A-466BEF7DE8AB}" srcOrd="1" destOrd="0" parTransId="{02A22872-9779-4AEE-8895-234B660FCA22}" sibTransId="{4016D63E-AE6F-4B7C-A44C-0DA16AD1E18E}"/>
    <dgm:cxn modelId="{A02512FC-FA27-42C5-B6E7-22E1716A0F8C}" type="presParOf" srcId="{A7A774F2-E7EA-4A0C-B5DA-A78C85F7DACD}" destId="{2742A120-F68A-4753-88A7-49D4EE5A24E0}" srcOrd="0" destOrd="0" presId="urn:microsoft.com/office/officeart/2005/8/layout/hierarchy6"/>
    <dgm:cxn modelId="{3539CBF0-A4AE-4330-A249-88AB02A9EF1D}" type="presParOf" srcId="{2742A120-F68A-4753-88A7-49D4EE5A24E0}" destId="{89D7868C-7B4E-4E32-9388-410AE93B8F66}" srcOrd="0" destOrd="0" presId="urn:microsoft.com/office/officeart/2005/8/layout/hierarchy6"/>
    <dgm:cxn modelId="{9991FF3F-989D-4280-AB18-5787D3401EAC}" type="presParOf" srcId="{89D7868C-7B4E-4E32-9388-410AE93B8F66}" destId="{25D60299-987A-41F6-B241-D49E35C0FE5F}" srcOrd="0" destOrd="0" presId="urn:microsoft.com/office/officeart/2005/8/layout/hierarchy6"/>
    <dgm:cxn modelId="{762E7293-E9ED-4073-A3F4-2DD77C322A1E}" type="presParOf" srcId="{25D60299-987A-41F6-B241-D49E35C0FE5F}" destId="{FDFD7C3C-6204-4F7E-91AC-6F3546CD780D}" srcOrd="0" destOrd="0" presId="urn:microsoft.com/office/officeart/2005/8/layout/hierarchy6"/>
    <dgm:cxn modelId="{3848F412-9B0A-4C55-9C80-BD6629A87E6A}" type="presParOf" srcId="{25D60299-987A-41F6-B241-D49E35C0FE5F}" destId="{0BC8C237-578F-4B81-BEBB-899181B5F85B}" srcOrd="1" destOrd="0" presId="urn:microsoft.com/office/officeart/2005/8/layout/hierarchy6"/>
    <dgm:cxn modelId="{7990ECB1-6770-409E-8031-018DDE8D4EBA}" type="presParOf" srcId="{0BC8C237-578F-4B81-BEBB-899181B5F85B}" destId="{30D67FDD-E952-441F-B76D-AFC7E402AC4A}" srcOrd="0" destOrd="0" presId="urn:microsoft.com/office/officeart/2005/8/layout/hierarchy6"/>
    <dgm:cxn modelId="{96B1CC3E-0BBD-4C25-B667-E72D62F6E64B}" type="presParOf" srcId="{0BC8C237-578F-4B81-BEBB-899181B5F85B}" destId="{25604BF0-3634-4C22-B58A-F20042767D30}" srcOrd="1" destOrd="0" presId="urn:microsoft.com/office/officeart/2005/8/layout/hierarchy6"/>
    <dgm:cxn modelId="{854EF2F3-2B00-46BA-9AC8-B87084BAFEF8}" type="presParOf" srcId="{25604BF0-3634-4C22-B58A-F20042767D30}" destId="{6182C128-EFB6-401D-ABBD-50EAB2A27DCE}" srcOrd="0" destOrd="0" presId="urn:microsoft.com/office/officeart/2005/8/layout/hierarchy6"/>
    <dgm:cxn modelId="{8747EA32-1027-4FD8-A3C5-A125BA620524}" type="presParOf" srcId="{25604BF0-3634-4C22-B58A-F20042767D30}" destId="{EDE33DC1-470F-4E77-8ABC-BE0516033071}" srcOrd="1" destOrd="0" presId="urn:microsoft.com/office/officeart/2005/8/layout/hierarchy6"/>
    <dgm:cxn modelId="{AC74BAAB-A8B0-4495-85A8-4B859C48F378}" type="presParOf" srcId="{0BC8C237-578F-4B81-BEBB-899181B5F85B}" destId="{292C3123-BDE6-48E9-88E7-A7470950AEBD}" srcOrd="2" destOrd="0" presId="urn:microsoft.com/office/officeart/2005/8/layout/hierarchy6"/>
    <dgm:cxn modelId="{E147686D-B655-4A4D-8917-A4598FFDBCC6}" type="presParOf" srcId="{0BC8C237-578F-4B81-BEBB-899181B5F85B}" destId="{B8122DE9-408D-464D-A4AC-3619F5FEA2FB}" srcOrd="3" destOrd="0" presId="urn:microsoft.com/office/officeart/2005/8/layout/hierarchy6"/>
    <dgm:cxn modelId="{DC4BF59A-273F-473E-ACE1-A3958EF87FAC}" type="presParOf" srcId="{B8122DE9-408D-464D-A4AC-3619F5FEA2FB}" destId="{FA70A3AF-2E55-453B-B2B4-3AD47E13690E}" srcOrd="0" destOrd="0" presId="urn:microsoft.com/office/officeart/2005/8/layout/hierarchy6"/>
    <dgm:cxn modelId="{C15540C1-4E9C-4B84-9AA3-19769396DAF1}" type="presParOf" srcId="{B8122DE9-408D-464D-A4AC-3619F5FEA2FB}" destId="{72C2FACD-2BC1-4E19-AFAC-BE14F61414B2}" srcOrd="1" destOrd="0" presId="urn:microsoft.com/office/officeart/2005/8/layout/hierarchy6"/>
    <dgm:cxn modelId="{FA9B09EE-FE35-49B4-B9E4-B26B0D0A863C}" type="presParOf" srcId="{72C2FACD-2BC1-4E19-AFAC-BE14F61414B2}" destId="{F1AB8FDE-EA51-420C-866B-54DDF03393DC}" srcOrd="0" destOrd="0" presId="urn:microsoft.com/office/officeart/2005/8/layout/hierarchy6"/>
    <dgm:cxn modelId="{9ADE4A2B-C664-4527-B21E-CE505B692902}" type="presParOf" srcId="{72C2FACD-2BC1-4E19-AFAC-BE14F61414B2}" destId="{B35B0641-B95D-4A46-B44F-ECA2237313E6}" srcOrd="1" destOrd="0" presId="urn:microsoft.com/office/officeart/2005/8/layout/hierarchy6"/>
    <dgm:cxn modelId="{446373A8-C733-4748-8DA2-D1A30372DD0D}" type="presParOf" srcId="{B35B0641-B95D-4A46-B44F-ECA2237313E6}" destId="{8CFE2F2F-AFC8-48A7-A6EF-4DD4D4E83E14}" srcOrd="0" destOrd="0" presId="urn:microsoft.com/office/officeart/2005/8/layout/hierarchy6"/>
    <dgm:cxn modelId="{EE1FFB95-C358-42EB-8055-0EC5E0ECAD24}" type="presParOf" srcId="{B35B0641-B95D-4A46-B44F-ECA2237313E6}" destId="{D4EDBD21-6230-49D3-84BA-DE48732B0D6B}" srcOrd="1" destOrd="0" presId="urn:microsoft.com/office/officeart/2005/8/layout/hierarchy6"/>
    <dgm:cxn modelId="{E768B8DD-B314-4D48-B017-EC69C120EDE7}" type="presParOf" srcId="{72C2FACD-2BC1-4E19-AFAC-BE14F61414B2}" destId="{48FCF591-C56C-473E-9720-4428C9C5B42B}" srcOrd="2" destOrd="0" presId="urn:microsoft.com/office/officeart/2005/8/layout/hierarchy6"/>
    <dgm:cxn modelId="{168C8D5B-664C-47D5-868C-9E777C8BDB99}" type="presParOf" srcId="{72C2FACD-2BC1-4E19-AFAC-BE14F61414B2}" destId="{FBCAC5CB-AB26-4D8D-AA99-94E9063CE5F4}" srcOrd="3" destOrd="0" presId="urn:microsoft.com/office/officeart/2005/8/layout/hierarchy6"/>
    <dgm:cxn modelId="{DA4688C3-380B-4292-91B2-0C66A808ADB1}" type="presParOf" srcId="{FBCAC5CB-AB26-4D8D-AA99-94E9063CE5F4}" destId="{0034BEB8-0C92-442F-B01E-A1689A6868EC}" srcOrd="0" destOrd="0" presId="urn:microsoft.com/office/officeart/2005/8/layout/hierarchy6"/>
    <dgm:cxn modelId="{072755F9-2408-49CB-A626-7FB9CE09C681}" type="presParOf" srcId="{FBCAC5CB-AB26-4D8D-AA99-94E9063CE5F4}" destId="{049654F2-CF4C-4143-A472-3396DFF52D77}" srcOrd="1" destOrd="0" presId="urn:microsoft.com/office/officeart/2005/8/layout/hierarchy6"/>
    <dgm:cxn modelId="{B82E35D9-AAEE-444E-AF1B-12455B4359DF}" type="presParOf" srcId="{A7A774F2-E7EA-4A0C-B5DA-A78C85F7DACD}" destId="{ADE6A1A0-A1E9-4736-A6B9-1FB548D1F906}" srcOrd="1" destOrd="0" presId="urn:microsoft.com/office/officeart/2005/8/layout/hierarchy6"/>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28B982-35FB-4A07-96D8-2F636521A5DB}"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zh-CN" altLang="en-US"/>
        </a:p>
      </dgm:t>
    </dgm:pt>
    <dgm:pt modelId="{702FA971-7895-4615-9AB1-AD9567235209}">
      <dgm:prSet phldrT="[文本]"/>
      <dgm:spPr>
        <a:solidFill>
          <a:srgbClr val="1D8DE5"/>
        </a:solidFill>
      </dgm:spPr>
      <dgm:t>
        <a:bodyPr/>
        <a:lstStyle/>
        <a:p>
          <a:r>
            <a:rPr lang="zh-CN" altLang="en-US" dirty="0">
              <a:latin typeface="微软雅黑" panose="020B0503020204020204" pitchFamily="34" charset="-122"/>
              <a:ea typeface="微软雅黑" panose="020B0503020204020204" pitchFamily="34" charset="-122"/>
            </a:rPr>
            <a:t>系统段描述符</a:t>
          </a:r>
        </a:p>
      </dgm:t>
    </dgm:pt>
    <dgm:pt modelId="{48FC668C-D221-4F26-ADC8-8BDFA2A8F8BB}" type="parTrans" cxnId="{31798610-9332-43D1-8B59-E9FF59DD0C3C}">
      <dgm:prSet/>
      <dgm:spPr/>
      <dgm:t>
        <a:bodyPr/>
        <a:lstStyle/>
        <a:p>
          <a:endParaRPr lang="zh-CN" altLang="en-US"/>
        </a:p>
      </dgm:t>
    </dgm:pt>
    <dgm:pt modelId="{E5E65FA6-43B4-4113-A02B-750C16491681}" type="sibTrans" cxnId="{31798610-9332-43D1-8B59-E9FF59DD0C3C}">
      <dgm:prSet/>
      <dgm:spPr/>
      <dgm:t>
        <a:bodyPr/>
        <a:lstStyle/>
        <a:p>
          <a:endParaRPr lang="zh-CN" altLang="en-US"/>
        </a:p>
      </dgm:t>
    </dgm:pt>
    <dgm:pt modelId="{C55DC4BB-D71B-4538-B25A-466BEF7DE8AB}">
      <dgm:prSet phldrT="[文本]"/>
      <dgm:spPr>
        <a:solidFill>
          <a:srgbClr val="00B853"/>
        </a:solidFill>
      </dgm:spPr>
      <dgm:t>
        <a:bodyPr/>
        <a:lstStyle/>
        <a:p>
          <a:r>
            <a:rPr lang="zh-CN" altLang="en-US" dirty="0">
              <a:latin typeface="微软雅黑" panose="020B0503020204020204" pitchFamily="34" charset="-122"/>
              <a:ea typeface="微软雅黑" panose="020B0503020204020204" pitchFamily="34" charset="-122"/>
            </a:rPr>
            <a:t>门描述符</a:t>
          </a:r>
        </a:p>
      </dgm:t>
    </dgm:pt>
    <dgm:pt modelId="{02A22872-9779-4AEE-8895-234B660FCA22}" type="parTrans" cxnId="{26D00930-BF4D-4DFF-8EAD-95082F6894D9}">
      <dgm:prSet/>
      <dgm:spPr/>
      <dgm:t>
        <a:bodyPr/>
        <a:lstStyle/>
        <a:p>
          <a:endParaRPr lang="zh-CN" altLang="en-US">
            <a:latin typeface="微软雅黑" panose="020B0503020204020204" pitchFamily="34" charset="-122"/>
            <a:ea typeface="微软雅黑" panose="020B0503020204020204" pitchFamily="34" charset="-122"/>
          </a:endParaRPr>
        </a:p>
      </dgm:t>
    </dgm:pt>
    <dgm:pt modelId="{4016D63E-AE6F-4B7C-A44C-0DA16AD1E18E}" type="sibTrans" cxnId="{26D00930-BF4D-4DFF-8EAD-95082F6894D9}">
      <dgm:prSet/>
      <dgm:spPr/>
      <dgm:t>
        <a:bodyPr/>
        <a:lstStyle/>
        <a:p>
          <a:endParaRPr lang="zh-CN" altLang="en-US"/>
        </a:p>
      </dgm:t>
    </dgm:pt>
    <dgm:pt modelId="{5318F964-1559-4B5F-88DA-997E608AA25A}">
      <dgm:prSet phldrT="[文本]"/>
      <dgm:spPr>
        <a:solidFill>
          <a:srgbClr val="FD7A2A"/>
        </a:solidFill>
      </dgm:spPr>
      <dgm:t>
        <a:bodyPr/>
        <a:lstStyle/>
        <a:p>
          <a:r>
            <a:rPr lang="zh-CN" altLang="en-US" dirty="0">
              <a:latin typeface="微软雅黑" panose="020B0503020204020204" pitchFamily="34" charset="-122"/>
              <a:ea typeface="微软雅黑" panose="020B0503020204020204" pitchFamily="34" charset="-122"/>
            </a:rPr>
            <a:t>任务门</a:t>
          </a:r>
        </a:p>
      </dgm:t>
    </dgm:pt>
    <dgm:pt modelId="{D99E1D3F-C446-4836-860F-D32979C136DD}" type="parTrans" cxnId="{8A891A13-08AF-4E1B-B535-199BE6287721}">
      <dgm:prSet/>
      <dgm:spPr/>
      <dgm:t>
        <a:bodyPr/>
        <a:lstStyle/>
        <a:p>
          <a:endParaRPr lang="zh-CN" altLang="en-US">
            <a:latin typeface="微软雅黑" panose="020B0503020204020204" pitchFamily="34" charset="-122"/>
            <a:ea typeface="微软雅黑" panose="020B0503020204020204" pitchFamily="34" charset="-122"/>
          </a:endParaRPr>
        </a:p>
      </dgm:t>
    </dgm:pt>
    <dgm:pt modelId="{5E7EDAD6-F898-4110-BB9D-D38DCB5F2D51}" type="sibTrans" cxnId="{8A891A13-08AF-4E1B-B535-199BE6287721}">
      <dgm:prSet/>
      <dgm:spPr/>
      <dgm:t>
        <a:bodyPr/>
        <a:lstStyle/>
        <a:p>
          <a:endParaRPr lang="zh-CN" altLang="en-US"/>
        </a:p>
      </dgm:t>
    </dgm:pt>
    <dgm:pt modelId="{1907FDEC-6257-4FF6-AF83-65EA9068361B}">
      <dgm:prSet phldrT="[文本]"/>
      <dgm:spPr>
        <a:solidFill>
          <a:srgbClr val="FD7A2A"/>
        </a:solidFill>
      </dgm:spPr>
      <dgm:t>
        <a:bodyPr/>
        <a:lstStyle/>
        <a:p>
          <a:r>
            <a:rPr lang="zh-CN" altLang="en-US" dirty="0">
              <a:latin typeface="微软雅黑" panose="020B0503020204020204" pitchFamily="34" charset="-122"/>
              <a:ea typeface="微软雅黑" panose="020B0503020204020204" pitchFamily="34" charset="-122"/>
            </a:rPr>
            <a:t>调用门</a:t>
          </a:r>
        </a:p>
      </dgm:t>
    </dgm:pt>
    <dgm:pt modelId="{BE3F8F12-6881-448E-8CEC-EB1344E25C92}" type="parTrans" cxnId="{521479DE-7E33-455C-B7F2-F2E0B3D23B7A}">
      <dgm:prSet/>
      <dgm:spPr/>
      <dgm:t>
        <a:bodyPr/>
        <a:lstStyle/>
        <a:p>
          <a:endParaRPr lang="zh-CN" altLang="en-US">
            <a:latin typeface="微软雅黑" panose="020B0503020204020204" pitchFamily="34" charset="-122"/>
            <a:ea typeface="微软雅黑" panose="020B0503020204020204" pitchFamily="34" charset="-122"/>
          </a:endParaRPr>
        </a:p>
      </dgm:t>
    </dgm:pt>
    <dgm:pt modelId="{B515EB63-42B9-4BA8-827A-8D0397E85528}" type="sibTrans" cxnId="{521479DE-7E33-455C-B7F2-F2E0B3D23B7A}">
      <dgm:prSet/>
      <dgm:spPr/>
      <dgm:t>
        <a:bodyPr/>
        <a:lstStyle/>
        <a:p>
          <a:endParaRPr lang="zh-CN" altLang="en-US"/>
        </a:p>
      </dgm:t>
    </dgm:pt>
    <dgm:pt modelId="{9406CDA0-B030-4895-9E3E-2CFC74B84B64}">
      <dgm:prSet phldrT="[文本]"/>
      <dgm:spPr>
        <a:solidFill>
          <a:srgbClr val="00B853"/>
        </a:solidFill>
      </dgm:spPr>
      <dgm:t>
        <a:bodyPr/>
        <a:lstStyle/>
        <a:p>
          <a:r>
            <a:rPr lang="en-US" altLang="zh-CN" dirty="0">
              <a:latin typeface="微软雅黑" panose="020B0503020204020204" pitchFamily="34" charset="-122"/>
              <a:ea typeface="微软雅黑" panose="020B0503020204020204" pitchFamily="34" charset="-122"/>
            </a:rPr>
            <a:t>LDT</a:t>
          </a:r>
          <a:r>
            <a:rPr lang="zh-CN" altLang="en-US" dirty="0">
              <a:latin typeface="微软雅黑" panose="020B0503020204020204" pitchFamily="34" charset="-122"/>
              <a:ea typeface="微软雅黑" panose="020B0503020204020204" pitchFamily="34" charset="-122"/>
            </a:rPr>
            <a:t>描述符</a:t>
          </a:r>
        </a:p>
      </dgm:t>
    </dgm:pt>
    <dgm:pt modelId="{B3E14F20-49AF-4A0B-B5C8-B33D73DAC777}" type="parTrans" cxnId="{7F538F38-D650-4D7B-83A9-7379211D6C6D}">
      <dgm:prSet/>
      <dgm:spPr/>
      <dgm:t>
        <a:bodyPr/>
        <a:lstStyle/>
        <a:p>
          <a:endParaRPr lang="zh-CN" altLang="en-US">
            <a:latin typeface="微软雅黑" panose="020B0503020204020204" pitchFamily="34" charset="-122"/>
            <a:ea typeface="微软雅黑" panose="020B0503020204020204" pitchFamily="34" charset="-122"/>
          </a:endParaRPr>
        </a:p>
      </dgm:t>
    </dgm:pt>
    <dgm:pt modelId="{B6074551-7CB6-465B-8338-3EA799EEF53B}" type="sibTrans" cxnId="{7F538F38-D650-4D7B-83A9-7379211D6C6D}">
      <dgm:prSet/>
      <dgm:spPr/>
      <dgm:t>
        <a:bodyPr/>
        <a:lstStyle/>
        <a:p>
          <a:endParaRPr lang="zh-CN" altLang="en-US"/>
        </a:p>
      </dgm:t>
    </dgm:pt>
    <dgm:pt modelId="{FACF62B2-E8C5-4924-A639-84476F4DD5B4}">
      <dgm:prSet phldrT="[文本]"/>
      <dgm:spPr>
        <a:solidFill>
          <a:srgbClr val="00B853"/>
        </a:solidFill>
      </dgm:spPr>
      <dgm:t>
        <a:bodyPr/>
        <a:lstStyle/>
        <a:p>
          <a:r>
            <a:rPr lang="zh-CN" altLang="en-US" dirty="0">
              <a:latin typeface="微软雅黑" panose="020B0503020204020204" pitchFamily="34" charset="-122"/>
              <a:ea typeface="微软雅黑" panose="020B0503020204020204" pitchFamily="34" charset="-122"/>
            </a:rPr>
            <a:t>任务段描述符</a:t>
          </a:r>
        </a:p>
      </dgm:t>
    </dgm:pt>
    <dgm:pt modelId="{1BF274CF-8AB1-47BC-A489-8C64F875132C}" type="parTrans" cxnId="{0E918CF5-A6AC-4E94-8890-D147F7C326A4}">
      <dgm:prSet/>
      <dgm:spPr/>
      <dgm:t>
        <a:bodyPr/>
        <a:lstStyle/>
        <a:p>
          <a:endParaRPr lang="zh-CN" altLang="en-US">
            <a:latin typeface="微软雅黑" panose="020B0503020204020204" pitchFamily="34" charset="-122"/>
            <a:ea typeface="微软雅黑" panose="020B0503020204020204" pitchFamily="34" charset="-122"/>
          </a:endParaRPr>
        </a:p>
      </dgm:t>
    </dgm:pt>
    <dgm:pt modelId="{DD159FDA-D62B-412A-B47D-EA04BC43E33A}" type="sibTrans" cxnId="{0E918CF5-A6AC-4E94-8890-D147F7C326A4}">
      <dgm:prSet/>
      <dgm:spPr/>
      <dgm:t>
        <a:bodyPr/>
        <a:lstStyle/>
        <a:p>
          <a:endParaRPr lang="zh-CN" altLang="en-US"/>
        </a:p>
      </dgm:t>
    </dgm:pt>
    <dgm:pt modelId="{34A285F3-4F37-403E-A1B9-977AC988A2F0}">
      <dgm:prSet phldrT="[文本]"/>
      <dgm:spPr>
        <a:solidFill>
          <a:srgbClr val="FD7A2A"/>
        </a:solidFill>
      </dgm:spPr>
      <dgm:t>
        <a:bodyPr/>
        <a:lstStyle/>
        <a:p>
          <a:r>
            <a:rPr lang="zh-CN" altLang="en-US" dirty="0">
              <a:latin typeface="微软雅黑" panose="020B0503020204020204" pitchFamily="34" charset="-122"/>
              <a:ea typeface="微软雅黑" panose="020B0503020204020204" pitchFamily="34" charset="-122"/>
            </a:rPr>
            <a:t>中断门</a:t>
          </a:r>
        </a:p>
      </dgm:t>
    </dgm:pt>
    <dgm:pt modelId="{CD2C53BE-E4EF-4134-95F8-9F7BF1896D0A}" type="parTrans" cxnId="{D4086B08-8226-40D2-8D89-176634A85364}">
      <dgm:prSet/>
      <dgm:spPr/>
      <dgm:t>
        <a:bodyPr/>
        <a:lstStyle/>
        <a:p>
          <a:endParaRPr lang="zh-CN" altLang="en-US">
            <a:latin typeface="微软雅黑" panose="020B0503020204020204" pitchFamily="34" charset="-122"/>
            <a:ea typeface="微软雅黑" panose="020B0503020204020204" pitchFamily="34" charset="-122"/>
          </a:endParaRPr>
        </a:p>
      </dgm:t>
    </dgm:pt>
    <dgm:pt modelId="{8904A9BA-C047-4338-A700-498DF7E3BA6B}" type="sibTrans" cxnId="{D4086B08-8226-40D2-8D89-176634A85364}">
      <dgm:prSet/>
      <dgm:spPr/>
      <dgm:t>
        <a:bodyPr/>
        <a:lstStyle/>
        <a:p>
          <a:endParaRPr lang="zh-CN" altLang="en-US"/>
        </a:p>
      </dgm:t>
    </dgm:pt>
    <dgm:pt modelId="{6E6CC4F2-ED39-4D03-AD11-0FF74DB5BFFC}">
      <dgm:prSet phldrT="[文本]"/>
      <dgm:spPr>
        <a:solidFill>
          <a:srgbClr val="FD7A2A"/>
        </a:solidFill>
      </dgm:spPr>
      <dgm:t>
        <a:bodyPr/>
        <a:lstStyle/>
        <a:p>
          <a:r>
            <a:rPr lang="zh-CN" altLang="en-US" dirty="0">
              <a:latin typeface="微软雅黑" panose="020B0503020204020204" pitchFamily="34" charset="-122"/>
              <a:ea typeface="微软雅黑" panose="020B0503020204020204" pitchFamily="34" charset="-122"/>
            </a:rPr>
            <a:t>陷阱门</a:t>
          </a:r>
        </a:p>
      </dgm:t>
    </dgm:pt>
    <dgm:pt modelId="{E1F89254-93F2-47FA-BE14-62718D09E98B}" type="parTrans" cxnId="{0CDF3417-D1C4-46A0-8DB3-52CE8F928BAA}">
      <dgm:prSet/>
      <dgm:spPr/>
      <dgm:t>
        <a:bodyPr/>
        <a:lstStyle/>
        <a:p>
          <a:endParaRPr lang="zh-CN" altLang="en-US">
            <a:latin typeface="微软雅黑" panose="020B0503020204020204" pitchFamily="34" charset="-122"/>
            <a:ea typeface="微软雅黑" panose="020B0503020204020204" pitchFamily="34" charset="-122"/>
          </a:endParaRPr>
        </a:p>
      </dgm:t>
    </dgm:pt>
    <dgm:pt modelId="{9FF04317-1C35-4FD2-A74F-A2E791A25A9D}" type="sibTrans" cxnId="{0CDF3417-D1C4-46A0-8DB3-52CE8F928BAA}">
      <dgm:prSet/>
      <dgm:spPr/>
      <dgm:t>
        <a:bodyPr/>
        <a:lstStyle/>
        <a:p>
          <a:endParaRPr lang="zh-CN" altLang="en-US"/>
        </a:p>
      </dgm:t>
    </dgm:pt>
    <dgm:pt modelId="{A7A774F2-E7EA-4A0C-B5DA-A78C85F7DACD}" type="pres">
      <dgm:prSet presAssocID="{9528B982-35FB-4A07-96D8-2F636521A5DB}" presName="mainComposite" presStyleCnt="0">
        <dgm:presLayoutVars>
          <dgm:chPref val="1"/>
          <dgm:dir/>
          <dgm:animOne val="branch"/>
          <dgm:animLvl val="lvl"/>
          <dgm:resizeHandles val="exact"/>
        </dgm:presLayoutVars>
      </dgm:prSet>
      <dgm:spPr/>
      <dgm:t>
        <a:bodyPr/>
        <a:lstStyle/>
        <a:p>
          <a:endParaRPr lang="zh-CN" altLang="en-US"/>
        </a:p>
      </dgm:t>
    </dgm:pt>
    <dgm:pt modelId="{2742A120-F68A-4753-88A7-49D4EE5A24E0}" type="pres">
      <dgm:prSet presAssocID="{9528B982-35FB-4A07-96D8-2F636521A5DB}" presName="hierFlow" presStyleCnt="0"/>
      <dgm:spPr/>
    </dgm:pt>
    <dgm:pt modelId="{89D7868C-7B4E-4E32-9388-410AE93B8F66}" type="pres">
      <dgm:prSet presAssocID="{9528B982-35FB-4A07-96D8-2F636521A5DB}" presName="hierChild1" presStyleCnt="0">
        <dgm:presLayoutVars>
          <dgm:chPref val="1"/>
          <dgm:animOne val="branch"/>
          <dgm:animLvl val="lvl"/>
        </dgm:presLayoutVars>
      </dgm:prSet>
      <dgm:spPr/>
    </dgm:pt>
    <dgm:pt modelId="{25D60299-987A-41F6-B241-D49E35C0FE5F}" type="pres">
      <dgm:prSet presAssocID="{702FA971-7895-4615-9AB1-AD9567235209}" presName="Name14" presStyleCnt="0"/>
      <dgm:spPr/>
    </dgm:pt>
    <dgm:pt modelId="{FDFD7C3C-6204-4F7E-91AC-6F3546CD780D}" type="pres">
      <dgm:prSet presAssocID="{702FA971-7895-4615-9AB1-AD9567235209}" presName="level1Shape" presStyleLbl="node0" presStyleIdx="0" presStyleCnt="1" custScaleX="178109" custScaleY="116067">
        <dgm:presLayoutVars>
          <dgm:chPref val="3"/>
        </dgm:presLayoutVars>
      </dgm:prSet>
      <dgm:spPr/>
      <dgm:t>
        <a:bodyPr/>
        <a:lstStyle/>
        <a:p>
          <a:endParaRPr lang="zh-CN" altLang="en-US"/>
        </a:p>
      </dgm:t>
    </dgm:pt>
    <dgm:pt modelId="{0BC8C237-578F-4B81-BEBB-899181B5F85B}" type="pres">
      <dgm:prSet presAssocID="{702FA971-7895-4615-9AB1-AD9567235209}" presName="hierChild2" presStyleCnt="0"/>
      <dgm:spPr/>
    </dgm:pt>
    <dgm:pt modelId="{30D67FDD-E952-441F-B76D-AFC7E402AC4A}" type="pres">
      <dgm:prSet presAssocID="{B3E14F20-49AF-4A0B-B5C8-B33D73DAC777}" presName="Name19" presStyleLbl="parChTrans1D2" presStyleIdx="0" presStyleCnt="3"/>
      <dgm:spPr/>
      <dgm:t>
        <a:bodyPr/>
        <a:lstStyle/>
        <a:p>
          <a:endParaRPr lang="zh-CN" altLang="en-US"/>
        </a:p>
      </dgm:t>
    </dgm:pt>
    <dgm:pt modelId="{25604BF0-3634-4C22-B58A-F20042767D30}" type="pres">
      <dgm:prSet presAssocID="{9406CDA0-B030-4895-9E3E-2CFC74B84B64}" presName="Name21" presStyleCnt="0"/>
      <dgm:spPr/>
    </dgm:pt>
    <dgm:pt modelId="{6182C128-EFB6-401D-ABBD-50EAB2A27DCE}" type="pres">
      <dgm:prSet presAssocID="{9406CDA0-B030-4895-9E3E-2CFC74B84B64}" presName="level2Shape" presStyleLbl="node2" presStyleIdx="0" presStyleCnt="3" custScaleX="158591"/>
      <dgm:spPr/>
      <dgm:t>
        <a:bodyPr/>
        <a:lstStyle/>
        <a:p>
          <a:endParaRPr lang="zh-CN" altLang="en-US"/>
        </a:p>
      </dgm:t>
    </dgm:pt>
    <dgm:pt modelId="{EDE33DC1-470F-4E77-8ABC-BE0516033071}" type="pres">
      <dgm:prSet presAssocID="{9406CDA0-B030-4895-9E3E-2CFC74B84B64}" presName="hierChild3" presStyleCnt="0"/>
      <dgm:spPr/>
    </dgm:pt>
    <dgm:pt modelId="{CEDA2B25-5B10-4A21-8594-5339482B973E}" type="pres">
      <dgm:prSet presAssocID="{1BF274CF-8AB1-47BC-A489-8C64F875132C}" presName="Name19" presStyleLbl="parChTrans1D2" presStyleIdx="1" presStyleCnt="3"/>
      <dgm:spPr/>
      <dgm:t>
        <a:bodyPr/>
        <a:lstStyle/>
        <a:p>
          <a:endParaRPr lang="zh-CN" altLang="en-US"/>
        </a:p>
      </dgm:t>
    </dgm:pt>
    <dgm:pt modelId="{217FE6DF-6759-4C6D-951B-3FE60FDF3DF0}" type="pres">
      <dgm:prSet presAssocID="{FACF62B2-E8C5-4924-A639-84476F4DD5B4}" presName="Name21" presStyleCnt="0"/>
      <dgm:spPr/>
    </dgm:pt>
    <dgm:pt modelId="{00C74216-127F-443B-ABF5-56C7B23E09B5}" type="pres">
      <dgm:prSet presAssocID="{FACF62B2-E8C5-4924-A639-84476F4DD5B4}" presName="level2Shape" presStyleLbl="node2" presStyleIdx="1" presStyleCnt="3" custScaleX="166786"/>
      <dgm:spPr/>
      <dgm:t>
        <a:bodyPr/>
        <a:lstStyle/>
        <a:p>
          <a:endParaRPr lang="zh-CN" altLang="en-US"/>
        </a:p>
      </dgm:t>
    </dgm:pt>
    <dgm:pt modelId="{4371A549-94A0-4227-BA74-503EB54B84A7}" type="pres">
      <dgm:prSet presAssocID="{FACF62B2-E8C5-4924-A639-84476F4DD5B4}" presName="hierChild3" presStyleCnt="0"/>
      <dgm:spPr/>
    </dgm:pt>
    <dgm:pt modelId="{292C3123-BDE6-48E9-88E7-A7470950AEBD}" type="pres">
      <dgm:prSet presAssocID="{02A22872-9779-4AEE-8895-234B660FCA22}" presName="Name19" presStyleLbl="parChTrans1D2" presStyleIdx="2" presStyleCnt="3"/>
      <dgm:spPr/>
      <dgm:t>
        <a:bodyPr/>
        <a:lstStyle/>
        <a:p>
          <a:endParaRPr lang="zh-CN" altLang="en-US"/>
        </a:p>
      </dgm:t>
    </dgm:pt>
    <dgm:pt modelId="{B8122DE9-408D-464D-A4AC-3619F5FEA2FB}" type="pres">
      <dgm:prSet presAssocID="{C55DC4BB-D71B-4538-B25A-466BEF7DE8AB}" presName="Name21" presStyleCnt="0"/>
      <dgm:spPr/>
    </dgm:pt>
    <dgm:pt modelId="{FA70A3AF-2E55-453B-B2B4-3AD47E13690E}" type="pres">
      <dgm:prSet presAssocID="{C55DC4BB-D71B-4538-B25A-466BEF7DE8AB}" presName="level2Shape" presStyleLbl="node2" presStyleIdx="2" presStyleCnt="3" custScaleX="156263"/>
      <dgm:spPr/>
      <dgm:t>
        <a:bodyPr/>
        <a:lstStyle/>
        <a:p>
          <a:endParaRPr lang="zh-CN" altLang="en-US"/>
        </a:p>
      </dgm:t>
    </dgm:pt>
    <dgm:pt modelId="{72C2FACD-2BC1-4E19-AFAC-BE14F61414B2}" type="pres">
      <dgm:prSet presAssocID="{C55DC4BB-D71B-4538-B25A-466BEF7DE8AB}" presName="hierChild3" presStyleCnt="0"/>
      <dgm:spPr/>
    </dgm:pt>
    <dgm:pt modelId="{F1AB8FDE-EA51-420C-866B-54DDF03393DC}" type="pres">
      <dgm:prSet presAssocID="{D99E1D3F-C446-4836-860F-D32979C136DD}" presName="Name19" presStyleLbl="parChTrans1D3" presStyleIdx="0" presStyleCnt="4"/>
      <dgm:spPr/>
      <dgm:t>
        <a:bodyPr/>
        <a:lstStyle/>
        <a:p>
          <a:endParaRPr lang="zh-CN" altLang="en-US"/>
        </a:p>
      </dgm:t>
    </dgm:pt>
    <dgm:pt modelId="{B35B0641-B95D-4A46-B44F-ECA2237313E6}" type="pres">
      <dgm:prSet presAssocID="{5318F964-1559-4B5F-88DA-997E608AA25A}" presName="Name21" presStyleCnt="0"/>
      <dgm:spPr/>
    </dgm:pt>
    <dgm:pt modelId="{8CFE2F2F-AFC8-48A7-A6EF-4DD4D4E83E14}" type="pres">
      <dgm:prSet presAssocID="{5318F964-1559-4B5F-88DA-997E608AA25A}" presName="level2Shape" presStyleLbl="node3" presStyleIdx="0" presStyleCnt="4"/>
      <dgm:spPr/>
      <dgm:t>
        <a:bodyPr/>
        <a:lstStyle/>
        <a:p>
          <a:endParaRPr lang="zh-CN" altLang="en-US"/>
        </a:p>
      </dgm:t>
    </dgm:pt>
    <dgm:pt modelId="{D4EDBD21-6230-49D3-84BA-DE48732B0D6B}" type="pres">
      <dgm:prSet presAssocID="{5318F964-1559-4B5F-88DA-997E608AA25A}" presName="hierChild3" presStyleCnt="0"/>
      <dgm:spPr/>
    </dgm:pt>
    <dgm:pt modelId="{48FCF591-C56C-473E-9720-4428C9C5B42B}" type="pres">
      <dgm:prSet presAssocID="{BE3F8F12-6881-448E-8CEC-EB1344E25C92}" presName="Name19" presStyleLbl="parChTrans1D3" presStyleIdx="1" presStyleCnt="4"/>
      <dgm:spPr/>
      <dgm:t>
        <a:bodyPr/>
        <a:lstStyle/>
        <a:p>
          <a:endParaRPr lang="zh-CN" altLang="en-US"/>
        </a:p>
      </dgm:t>
    </dgm:pt>
    <dgm:pt modelId="{FBCAC5CB-AB26-4D8D-AA99-94E9063CE5F4}" type="pres">
      <dgm:prSet presAssocID="{1907FDEC-6257-4FF6-AF83-65EA9068361B}" presName="Name21" presStyleCnt="0"/>
      <dgm:spPr/>
    </dgm:pt>
    <dgm:pt modelId="{0034BEB8-0C92-442F-B01E-A1689A6868EC}" type="pres">
      <dgm:prSet presAssocID="{1907FDEC-6257-4FF6-AF83-65EA9068361B}" presName="level2Shape" presStyleLbl="node3" presStyleIdx="1" presStyleCnt="4" custLinFactNeighborX="1674" custLinFactNeighborY="-1494"/>
      <dgm:spPr/>
      <dgm:t>
        <a:bodyPr/>
        <a:lstStyle/>
        <a:p>
          <a:endParaRPr lang="zh-CN" altLang="en-US"/>
        </a:p>
      </dgm:t>
    </dgm:pt>
    <dgm:pt modelId="{049654F2-CF4C-4143-A472-3396DFF52D77}" type="pres">
      <dgm:prSet presAssocID="{1907FDEC-6257-4FF6-AF83-65EA9068361B}" presName="hierChild3" presStyleCnt="0"/>
      <dgm:spPr/>
    </dgm:pt>
    <dgm:pt modelId="{B589CA1B-D596-41DE-832E-441D62992ECF}" type="pres">
      <dgm:prSet presAssocID="{CD2C53BE-E4EF-4134-95F8-9F7BF1896D0A}" presName="Name19" presStyleLbl="parChTrans1D3" presStyleIdx="2" presStyleCnt="4"/>
      <dgm:spPr/>
      <dgm:t>
        <a:bodyPr/>
        <a:lstStyle/>
        <a:p>
          <a:endParaRPr lang="zh-CN" altLang="en-US"/>
        </a:p>
      </dgm:t>
    </dgm:pt>
    <dgm:pt modelId="{543B38C1-D526-45E7-87B0-5B33AB7F9D56}" type="pres">
      <dgm:prSet presAssocID="{34A285F3-4F37-403E-A1B9-977AC988A2F0}" presName="Name21" presStyleCnt="0"/>
      <dgm:spPr/>
    </dgm:pt>
    <dgm:pt modelId="{39C05E88-88A5-44DB-984D-4D2D38F404E9}" type="pres">
      <dgm:prSet presAssocID="{34A285F3-4F37-403E-A1B9-977AC988A2F0}" presName="level2Shape" presStyleLbl="node3" presStyleIdx="2" presStyleCnt="4"/>
      <dgm:spPr/>
      <dgm:t>
        <a:bodyPr/>
        <a:lstStyle/>
        <a:p>
          <a:endParaRPr lang="zh-CN" altLang="en-US"/>
        </a:p>
      </dgm:t>
    </dgm:pt>
    <dgm:pt modelId="{1930F123-BD22-4FC1-9C87-F0EC7D49875B}" type="pres">
      <dgm:prSet presAssocID="{34A285F3-4F37-403E-A1B9-977AC988A2F0}" presName="hierChild3" presStyleCnt="0"/>
      <dgm:spPr/>
    </dgm:pt>
    <dgm:pt modelId="{B97F4599-D46F-46DE-A35E-AA9369ED8AEE}" type="pres">
      <dgm:prSet presAssocID="{E1F89254-93F2-47FA-BE14-62718D09E98B}" presName="Name19" presStyleLbl="parChTrans1D3" presStyleIdx="3" presStyleCnt="4"/>
      <dgm:spPr/>
      <dgm:t>
        <a:bodyPr/>
        <a:lstStyle/>
        <a:p>
          <a:endParaRPr lang="zh-CN" altLang="en-US"/>
        </a:p>
      </dgm:t>
    </dgm:pt>
    <dgm:pt modelId="{3162C150-3B4E-4EF3-A8BD-5FA04DEDFAF6}" type="pres">
      <dgm:prSet presAssocID="{6E6CC4F2-ED39-4D03-AD11-0FF74DB5BFFC}" presName="Name21" presStyleCnt="0"/>
      <dgm:spPr/>
    </dgm:pt>
    <dgm:pt modelId="{AB4A9C79-43D9-4022-8F43-A239A894B7A5}" type="pres">
      <dgm:prSet presAssocID="{6E6CC4F2-ED39-4D03-AD11-0FF74DB5BFFC}" presName="level2Shape" presStyleLbl="node3" presStyleIdx="3" presStyleCnt="4"/>
      <dgm:spPr/>
      <dgm:t>
        <a:bodyPr/>
        <a:lstStyle/>
        <a:p>
          <a:endParaRPr lang="zh-CN" altLang="en-US"/>
        </a:p>
      </dgm:t>
    </dgm:pt>
    <dgm:pt modelId="{80C2F8E3-E481-418D-91ED-D159E7951DE4}" type="pres">
      <dgm:prSet presAssocID="{6E6CC4F2-ED39-4D03-AD11-0FF74DB5BFFC}" presName="hierChild3" presStyleCnt="0"/>
      <dgm:spPr/>
    </dgm:pt>
    <dgm:pt modelId="{ADE6A1A0-A1E9-4736-A6B9-1FB548D1F906}" type="pres">
      <dgm:prSet presAssocID="{9528B982-35FB-4A07-96D8-2F636521A5DB}" presName="bgShapesFlow" presStyleCnt="0"/>
      <dgm:spPr/>
    </dgm:pt>
  </dgm:ptLst>
  <dgm:cxnLst>
    <dgm:cxn modelId="{0CDF3417-D1C4-46A0-8DB3-52CE8F928BAA}" srcId="{C55DC4BB-D71B-4538-B25A-466BEF7DE8AB}" destId="{6E6CC4F2-ED39-4D03-AD11-0FF74DB5BFFC}" srcOrd="3" destOrd="0" parTransId="{E1F89254-93F2-47FA-BE14-62718D09E98B}" sibTransId="{9FF04317-1C35-4FD2-A74F-A2E791A25A9D}"/>
    <dgm:cxn modelId="{F1FC5DA5-CBD0-45E5-903A-0ECA5ED83B04}" type="presOf" srcId="{E1F89254-93F2-47FA-BE14-62718D09E98B}" destId="{B97F4599-D46F-46DE-A35E-AA9369ED8AEE}" srcOrd="0" destOrd="0" presId="urn:microsoft.com/office/officeart/2005/8/layout/hierarchy6"/>
    <dgm:cxn modelId="{76CBCB5B-3260-44CD-9153-256A7EC8A350}" type="presOf" srcId="{D99E1D3F-C446-4836-860F-D32979C136DD}" destId="{F1AB8FDE-EA51-420C-866B-54DDF03393DC}" srcOrd="0" destOrd="0" presId="urn:microsoft.com/office/officeart/2005/8/layout/hierarchy6"/>
    <dgm:cxn modelId="{D9DB14B8-BB42-401F-B0E3-30A2D1DBFC3D}" type="presOf" srcId="{02A22872-9779-4AEE-8895-234B660FCA22}" destId="{292C3123-BDE6-48E9-88E7-A7470950AEBD}" srcOrd="0" destOrd="0" presId="urn:microsoft.com/office/officeart/2005/8/layout/hierarchy6"/>
    <dgm:cxn modelId="{74F1F233-8DB7-4E5A-A034-D3A2DAA25606}" type="presOf" srcId="{6E6CC4F2-ED39-4D03-AD11-0FF74DB5BFFC}" destId="{AB4A9C79-43D9-4022-8F43-A239A894B7A5}" srcOrd="0" destOrd="0" presId="urn:microsoft.com/office/officeart/2005/8/layout/hierarchy6"/>
    <dgm:cxn modelId="{521479DE-7E33-455C-B7F2-F2E0B3D23B7A}" srcId="{C55DC4BB-D71B-4538-B25A-466BEF7DE8AB}" destId="{1907FDEC-6257-4FF6-AF83-65EA9068361B}" srcOrd="1" destOrd="0" parTransId="{BE3F8F12-6881-448E-8CEC-EB1344E25C92}" sibTransId="{B515EB63-42B9-4BA8-827A-8D0397E85528}"/>
    <dgm:cxn modelId="{D4086B08-8226-40D2-8D89-176634A85364}" srcId="{C55DC4BB-D71B-4538-B25A-466BEF7DE8AB}" destId="{34A285F3-4F37-403E-A1B9-977AC988A2F0}" srcOrd="2" destOrd="0" parTransId="{CD2C53BE-E4EF-4134-95F8-9F7BF1896D0A}" sibTransId="{8904A9BA-C047-4338-A700-498DF7E3BA6B}"/>
    <dgm:cxn modelId="{EDCDDA98-ECEA-4229-9C24-2E48F06E9968}" type="presOf" srcId="{702FA971-7895-4615-9AB1-AD9567235209}" destId="{FDFD7C3C-6204-4F7E-91AC-6F3546CD780D}" srcOrd="0" destOrd="0" presId="urn:microsoft.com/office/officeart/2005/8/layout/hierarchy6"/>
    <dgm:cxn modelId="{230560B4-2DE3-405C-82CA-CC73EE087E94}" type="presOf" srcId="{5318F964-1559-4B5F-88DA-997E608AA25A}" destId="{8CFE2F2F-AFC8-48A7-A6EF-4DD4D4E83E14}" srcOrd="0" destOrd="0" presId="urn:microsoft.com/office/officeart/2005/8/layout/hierarchy6"/>
    <dgm:cxn modelId="{2F260759-9501-4C6D-88D3-AA16752A3747}" type="presOf" srcId="{B3E14F20-49AF-4A0B-B5C8-B33D73DAC777}" destId="{30D67FDD-E952-441F-B76D-AFC7E402AC4A}" srcOrd="0" destOrd="0" presId="urn:microsoft.com/office/officeart/2005/8/layout/hierarchy6"/>
    <dgm:cxn modelId="{BE42EB9B-5153-4EBD-AF36-A0404C011D06}" type="presOf" srcId="{FACF62B2-E8C5-4924-A639-84476F4DD5B4}" destId="{00C74216-127F-443B-ABF5-56C7B23E09B5}" srcOrd="0" destOrd="0" presId="urn:microsoft.com/office/officeart/2005/8/layout/hierarchy6"/>
    <dgm:cxn modelId="{31798610-9332-43D1-8B59-E9FF59DD0C3C}" srcId="{9528B982-35FB-4A07-96D8-2F636521A5DB}" destId="{702FA971-7895-4615-9AB1-AD9567235209}" srcOrd="0" destOrd="0" parTransId="{48FC668C-D221-4F26-ADC8-8BDFA2A8F8BB}" sibTransId="{E5E65FA6-43B4-4113-A02B-750C16491681}"/>
    <dgm:cxn modelId="{8A891A13-08AF-4E1B-B535-199BE6287721}" srcId="{C55DC4BB-D71B-4538-B25A-466BEF7DE8AB}" destId="{5318F964-1559-4B5F-88DA-997E608AA25A}" srcOrd="0" destOrd="0" parTransId="{D99E1D3F-C446-4836-860F-D32979C136DD}" sibTransId="{5E7EDAD6-F898-4110-BB9D-D38DCB5F2D51}"/>
    <dgm:cxn modelId="{D5C8D8EC-8A82-497F-B3C8-6A23C75BD0BC}" type="presOf" srcId="{C55DC4BB-D71B-4538-B25A-466BEF7DE8AB}" destId="{FA70A3AF-2E55-453B-B2B4-3AD47E13690E}" srcOrd="0" destOrd="0" presId="urn:microsoft.com/office/officeart/2005/8/layout/hierarchy6"/>
    <dgm:cxn modelId="{74C346E5-480E-4D94-8417-03044B153346}" type="presOf" srcId="{9528B982-35FB-4A07-96D8-2F636521A5DB}" destId="{A7A774F2-E7EA-4A0C-B5DA-A78C85F7DACD}" srcOrd="0" destOrd="0" presId="urn:microsoft.com/office/officeart/2005/8/layout/hierarchy6"/>
    <dgm:cxn modelId="{7F538F38-D650-4D7B-83A9-7379211D6C6D}" srcId="{702FA971-7895-4615-9AB1-AD9567235209}" destId="{9406CDA0-B030-4895-9E3E-2CFC74B84B64}" srcOrd="0" destOrd="0" parTransId="{B3E14F20-49AF-4A0B-B5C8-B33D73DAC777}" sibTransId="{B6074551-7CB6-465B-8338-3EA799EEF53B}"/>
    <dgm:cxn modelId="{36A6FE7C-D20F-4A6A-8436-86C155FF1800}" type="presOf" srcId="{1907FDEC-6257-4FF6-AF83-65EA9068361B}" destId="{0034BEB8-0C92-442F-B01E-A1689A6868EC}" srcOrd="0" destOrd="0" presId="urn:microsoft.com/office/officeart/2005/8/layout/hierarchy6"/>
    <dgm:cxn modelId="{C067BF87-F116-4800-8D5C-5BDC8B207FA0}" type="presOf" srcId="{CD2C53BE-E4EF-4134-95F8-9F7BF1896D0A}" destId="{B589CA1B-D596-41DE-832E-441D62992ECF}" srcOrd="0" destOrd="0" presId="urn:microsoft.com/office/officeart/2005/8/layout/hierarchy6"/>
    <dgm:cxn modelId="{4E678744-86B3-4F9A-B4CD-4752BFC12ACC}" type="presOf" srcId="{34A285F3-4F37-403E-A1B9-977AC988A2F0}" destId="{39C05E88-88A5-44DB-984D-4D2D38F404E9}" srcOrd="0" destOrd="0" presId="urn:microsoft.com/office/officeart/2005/8/layout/hierarchy6"/>
    <dgm:cxn modelId="{0E918CF5-A6AC-4E94-8890-D147F7C326A4}" srcId="{702FA971-7895-4615-9AB1-AD9567235209}" destId="{FACF62B2-E8C5-4924-A639-84476F4DD5B4}" srcOrd="1" destOrd="0" parTransId="{1BF274CF-8AB1-47BC-A489-8C64F875132C}" sibTransId="{DD159FDA-D62B-412A-B47D-EA04BC43E33A}"/>
    <dgm:cxn modelId="{C335E148-5287-425E-B621-C7F9E0C1C670}" type="presOf" srcId="{BE3F8F12-6881-448E-8CEC-EB1344E25C92}" destId="{48FCF591-C56C-473E-9720-4428C9C5B42B}" srcOrd="0" destOrd="0" presId="urn:microsoft.com/office/officeart/2005/8/layout/hierarchy6"/>
    <dgm:cxn modelId="{89C4925A-4A51-4DD9-9480-EE92D00271A9}" type="presOf" srcId="{1BF274CF-8AB1-47BC-A489-8C64F875132C}" destId="{CEDA2B25-5B10-4A21-8594-5339482B973E}" srcOrd="0" destOrd="0" presId="urn:microsoft.com/office/officeart/2005/8/layout/hierarchy6"/>
    <dgm:cxn modelId="{17A7AD5E-2F57-4D06-A60D-8C9FD89B05A7}" type="presOf" srcId="{9406CDA0-B030-4895-9E3E-2CFC74B84B64}" destId="{6182C128-EFB6-401D-ABBD-50EAB2A27DCE}" srcOrd="0" destOrd="0" presId="urn:microsoft.com/office/officeart/2005/8/layout/hierarchy6"/>
    <dgm:cxn modelId="{26D00930-BF4D-4DFF-8EAD-95082F6894D9}" srcId="{702FA971-7895-4615-9AB1-AD9567235209}" destId="{C55DC4BB-D71B-4538-B25A-466BEF7DE8AB}" srcOrd="2" destOrd="0" parTransId="{02A22872-9779-4AEE-8895-234B660FCA22}" sibTransId="{4016D63E-AE6F-4B7C-A44C-0DA16AD1E18E}"/>
    <dgm:cxn modelId="{A02512FC-FA27-42C5-B6E7-22E1716A0F8C}" type="presParOf" srcId="{A7A774F2-E7EA-4A0C-B5DA-A78C85F7DACD}" destId="{2742A120-F68A-4753-88A7-49D4EE5A24E0}" srcOrd="0" destOrd="0" presId="urn:microsoft.com/office/officeart/2005/8/layout/hierarchy6"/>
    <dgm:cxn modelId="{3539CBF0-A4AE-4330-A249-88AB02A9EF1D}" type="presParOf" srcId="{2742A120-F68A-4753-88A7-49D4EE5A24E0}" destId="{89D7868C-7B4E-4E32-9388-410AE93B8F66}" srcOrd="0" destOrd="0" presId="urn:microsoft.com/office/officeart/2005/8/layout/hierarchy6"/>
    <dgm:cxn modelId="{9991FF3F-989D-4280-AB18-5787D3401EAC}" type="presParOf" srcId="{89D7868C-7B4E-4E32-9388-410AE93B8F66}" destId="{25D60299-987A-41F6-B241-D49E35C0FE5F}" srcOrd="0" destOrd="0" presId="urn:microsoft.com/office/officeart/2005/8/layout/hierarchy6"/>
    <dgm:cxn modelId="{762E7293-E9ED-4073-A3F4-2DD77C322A1E}" type="presParOf" srcId="{25D60299-987A-41F6-B241-D49E35C0FE5F}" destId="{FDFD7C3C-6204-4F7E-91AC-6F3546CD780D}" srcOrd="0" destOrd="0" presId="urn:microsoft.com/office/officeart/2005/8/layout/hierarchy6"/>
    <dgm:cxn modelId="{3848F412-9B0A-4C55-9C80-BD6629A87E6A}" type="presParOf" srcId="{25D60299-987A-41F6-B241-D49E35C0FE5F}" destId="{0BC8C237-578F-4B81-BEBB-899181B5F85B}" srcOrd="1" destOrd="0" presId="urn:microsoft.com/office/officeart/2005/8/layout/hierarchy6"/>
    <dgm:cxn modelId="{7990ECB1-6770-409E-8031-018DDE8D4EBA}" type="presParOf" srcId="{0BC8C237-578F-4B81-BEBB-899181B5F85B}" destId="{30D67FDD-E952-441F-B76D-AFC7E402AC4A}" srcOrd="0" destOrd="0" presId="urn:microsoft.com/office/officeart/2005/8/layout/hierarchy6"/>
    <dgm:cxn modelId="{96B1CC3E-0BBD-4C25-B667-E72D62F6E64B}" type="presParOf" srcId="{0BC8C237-578F-4B81-BEBB-899181B5F85B}" destId="{25604BF0-3634-4C22-B58A-F20042767D30}" srcOrd="1" destOrd="0" presId="urn:microsoft.com/office/officeart/2005/8/layout/hierarchy6"/>
    <dgm:cxn modelId="{854EF2F3-2B00-46BA-9AC8-B87084BAFEF8}" type="presParOf" srcId="{25604BF0-3634-4C22-B58A-F20042767D30}" destId="{6182C128-EFB6-401D-ABBD-50EAB2A27DCE}" srcOrd="0" destOrd="0" presId="urn:microsoft.com/office/officeart/2005/8/layout/hierarchy6"/>
    <dgm:cxn modelId="{8747EA32-1027-4FD8-A3C5-A125BA620524}" type="presParOf" srcId="{25604BF0-3634-4C22-B58A-F20042767D30}" destId="{EDE33DC1-470F-4E77-8ABC-BE0516033071}" srcOrd="1" destOrd="0" presId="urn:microsoft.com/office/officeart/2005/8/layout/hierarchy6"/>
    <dgm:cxn modelId="{E26B8223-8738-495D-AA0E-13DDE98F3457}" type="presParOf" srcId="{0BC8C237-578F-4B81-BEBB-899181B5F85B}" destId="{CEDA2B25-5B10-4A21-8594-5339482B973E}" srcOrd="2" destOrd="0" presId="urn:microsoft.com/office/officeart/2005/8/layout/hierarchy6"/>
    <dgm:cxn modelId="{7E963368-9DB1-4277-BAE8-D91006833EC7}" type="presParOf" srcId="{0BC8C237-578F-4B81-BEBB-899181B5F85B}" destId="{217FE6DF-6759-4C6D-951B-3FE60FDF3DF0}" srcOrd="3" destOrd="0" presId="urn:microsoft.com/office/officeart/2005/8/layout/hierarchy6"/>
    <dgm:cxn modelId="{DD7EF771-5AC8-48B4-8110-BA579A3F16D4}" type="presParOf" srcId="{217FE6DF-6759-4C6D-951B-3FE60FDF3DF0}" destId="{00C74216-127F-443B-ABF5-56C7B23E09B5}" srcOrd="0" destOrd="0" presId="urn:microsoft.com/office/officeart/2005/8/layout/hierarchy6"/>
    <dgm:cxn modelId="{1BD94D6E-C676-4B7D-991B-126B283BF57A}" type="presParOf" srcId="{217FE6DF-6759-4C6D-951B-3FE60FDF3DF0}" destId="{4371A549-94A0-4227-BA74-503EB54B84A7}" srcOrd="1" destOrd="0" presId="urn:microsoft.com/office/officeart/2005/8/layout/hierarchy6"/>
    <dgm:cxn modelId="{AC74BAAB-A8B0-4495-85A8-4B859C48F378}" type="presParOf" srcId="{0BC8C237-578F-4B81-BEBB-899181B5F85B}" destId="{292C3123-BDE6-48E9-88E7-A7470950AEBD}" srcOrd="4" destOrd="0" presId="urn:microsoft.com/office/officeart/2005/8/layout/hierarchy6"/>
    <dgm:cxn modelId="{E147686D-B655-4A4D-8917-A4598FFDBCC6}" type="presParOf" srcId="{0BC8C237-578F-4B81-BEBB-899181B5F85B}" destId="{B8122DE9-408D-464D-A4AC-3619F5FEA2FB}" srcOrd="5" destOrd="0" presId="urn:microsoft.com/office/officeart/2005/8/layout/hierarchy6"/>
    <dgm:cxn modelId="{DC4BF59A-273F-473E-ACE1-A3958EF87FAC}" type="presParOf" srcId="{B8122DE9-408D-464D-A4AC-3619F5FEA2FB}" destId="{FA70A3AF-2E55-453B-B2B4-3AD47E13690E}" srcOrd="0" destOrd="0" presId="urn:microsoft.com/office/officeart/2005/8/layout/hierarchy6"/>
    <dgm:cxn modelId="{C15540C1-4E9C-4B84-9AA3-19769396DAF1}" type="presParOf" srcId="{B8122DE9-408D-464D-A4AC-3619F5FEA2FB}" destId="{72C2FACD-2BC1-4E19-AFAC-BE14F61414B2}" srcOrd="1" destOrd="0" presId="urn:microsoft.com/office/officeart/2005/8/layout/hierarchy6"/>
    <dgm:cxn modelId="{FA9B09EE-FE35-49B4-B9E4-B26B0D0A863C}" type="presParOf" srcId="{72C2FACD-2BC1-4E19-AFAC-BE14F61414B2}" destId="{F1AB8FDE-EA51-420C-866B-54DDF03393DC}" srcOrd="0" destOrd="0" presId="urn:microsoft.com/office/officeart/2005/8/layout/hierarchy6"/>
    <dgm:cxn modelId="{9ADE4A2B-C664-4527-B21E-CE505B692902}" type="presParOf" srcId="{72C2FACD-2BC1-4E19-AFAC-BE14F61414B2}" destId="{B35B0641-B95D-4A46-B44F-ECA2237313E6}" srcOrd="1" destOrd="0" presId="urn:microsoft.com/office/officeart/2005/8/layout/hierarchy6"/>
    <dgm:cxn modelId="{446373A8-C733-4748-8DA2-D1A30372DD0D}" type="presParOf" srcId="{B35B0641-B95D-4A46-B44F-ECA2237313E6}" destId="{8CFE2F2F-AFC8-48A7-A6EF-4DD4D4E83E14}" srcOrd="0" destOrd="0" presId="urn:microsoft.com/office/officeart/2005/8/layout/hierarchy6"/>
    <dgm:cxn modelId="{EE1FFB95-C358-42EB-8055-0EC5E0ECAD24}" type="presParOf" srcId="{B35B0641-B95D-4A46-B44F-ECA2237313E6}" destId="{D4EDBD21-6230-49D3-84BA-DE48732B0D6B}" srcOrd="1" destOrd="0" presId="urn:microsoft.com/office/officeart/2005/8/layout/hierarchy6"/>
    <dgm:cxn modelId="{E768B8DD-B314-4D48-B017-EC69C120EDE7}" type="presParOf" srcId="{72C2FACD-2BC1-4E19-AFAC-BE14F61414B2}" destId="{48FCF591-C56C-473E-9720-4428C9C5B42B}" srcOrd="2" destOrd="0" presId="urn:microsoft.com/office/officeart/2005/8/layout/hierarchy6"/>
    <dgm:cxn modelId="{168C8D5B-664C-47D5-868C-9E777C8BDB99}" type="presParOf" srcId="{72C2FACD-2BC1-4E19-AFAC-BE14F61414B2}" destId="{FBCAC5CB-AB26-4D8D-AA99-94E9063CE5F4}" srcOrd="3" destOrd="0" presId="urn:microsoft.com/office/officeart/2005/8/layout/hierarchy6"/>
    <dgm:cxn modelId="{DA4688C3-380B-4292-91B2-0C66A808ADB1}" type="presParOf" srcId="{FBCAC5CB-AB26-4D8D-AA99-94E9063CE5F4}" destId="{0034BEB8-0C92-442F-B01E-A1689A6868EC}" srcOrd="0" destOrd="0" presId="urn:microsoft.com/office/officeart/2005/8/layout/hierarchy6"/>
    <dgm:cxn modelId="{072755F9-2408-49CB-A626-7FB9CE09C681}" type="presParOf" srcId="{FBCAC5CB-AB26-4D8D-AA99-94E9063CE5F4}" destId="{049654F2-CF4C-4143-A472-3396DFF52D77}" srcOrd="1" destOrd="0" presId="urn:microsoft.com/office/officeart/2005/8/layout/hierarchy6"/>
    <dgm:cxn modelId="{D9EA9AD0-0408-431B-9FE3-86F24743C8E6}" type="presParOf" srcId="{72C2FACD-2BC1-4E19-AFAC-BE14F61414B2}" destId="{B589CA1B-D596-41DE-832E-441D62992ECF}" srcOrd="4" destOrd="0" presId="urn:microsoft.com/office/officeart/2005/8/layout/hierarchy6"/>
    <dgm:cxn modelId="{1D3A50E6-7DDB-4DFB-B25A-0782A2D35365}" type="presParOf" srcId="{72C2FACD-2BC1-4E19-AFAC-BE14F61414B2}" destId="{543B38C1-D526-45E7-87B0-5B33AB7F9D56}" srcOrd="5" destOrd="0" presId="urn:microsoft.com/office/officeart/2005/8/layout/hierarchy6"/>
    <dgm:cxn modelId="{EFE7194B-8FF0-49EC-90BC-7A9E816A5867}" type="presParOf" srcId="{543B38C1-D526-45E7-87B0-5B33AB7F9D56}" destId="{39C05E88-88A5-44DB-984D-4D2D38F404E9}" srcOrd="0" destOrd="0" presId="urn:microsoft.com/office/officeart/2005/8/layout/hierarchy6"/>
    <dgm:cxn modelId="{E106C6C6-66AE-44F4-86F4-51AEC9F4701A}" type="presParOf" srcId="{543B38C1-D526-45E7-87B0-5B33AB7F9D56}" destId="{1930F123-BD22-4FC1-9C87-F0EC7D49875B}" srcOrd="1" destOrd="0" presId="urn:microsoft.com/office/officeart/2005/8/layout/hierarchy6"/>
    <dgm:cxn modelId="{33DDF98D-0854-41AA-85E1-9B3CEDD865C9}" type="presParOf" srcId="{72C2FACD-2BC1-4E19-AFAC-BE14F61414B2}" destId="{B97F4599-D46F-46DE-A35E-AA9369ED8AEE}" srcOrd="6" destOrd="0" presId="urn:microsoft.com/office/officeart/2005/8/layout/hierarchy6"/>
    <dgm:cxn modelId="{C871E43D-DF01-4D55-A4F0-CB370BFF1430}" type="presParOf" srcId="{72C2FACD-2BC1-4E19-AFAC-BE14F61414B2}" destId="{3162C150-3B4E-4EF3-A8BD-5FA04DEDFAF6}" srcOrd="7" destOrd="0" presId="urn:microsoft.com/office/officeart/2005/8/layout/hierarchy6"/>
    <dgm:cxn modelId="{9456DA83-69FD-4E3C-BAFB-5B1906A0AD71}" type="presParOf" srcId="{3162C150-3B4E-4EF3-A8BD-5FA04DEDFAF6}" destId="{AB4A9C79-43D9-4022-8F43-A239A894B7A5}" srcOrd="0" destOrd="0" presId="urn:microsoft.com/office/officeart/2005/8/layout/hierarchy6"/>
    <dgm:cxn modelId="{0FBA5A10-0D2E-402B-B0A4-A2A5573FA35E}" type="presParOf" srcId="{3162C150-3B4E-4EF3-A8BD-5FA04DEDFAF6}" destId="{80C2F8E3-E481-418D-91ED-D159E7951DE4}" srcOrd="1" destOrd="0" presId="urn:microsoft.com/office/officeart/2005/8/layout/hierarchy6"/>
    <dgm:cxn modelId="{B82E35D9-AAEE-444E-AF1B-12455B4359DF}" type="presParOf" srcId="{A7A774F2-E7EA-4A0C-B5DA-A78C85F7DACD}" destId="{ADE6A1A0-A1E9-4736-A6B9-1FB548D1F906}"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FD7C3C-6204-4F7E-91AC-6F3546CD780D}">
      <dsp:nvSpPr>
        <dsp:cNvPr id="0" name=""/>
        <dsp:cNvSpPr/>
      </dsp:nvSpPr>
      <dsp:spPr>
        <a:xfrm>
          <a:off x="1960693" y="1646"/>
          <a:ext cx="1557462" cy="670668"/>
        </a:xfrm>
        <a:prstGeom prst="roundRect">
          <a:avLst>
            <a:gd name="adj" fmla="val 10000"/>
          </a:avLst>
        </a:prstGeom>
        <a:solidFill>
          <a:srgbClr val="1D8DE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存储段描述符</a:t>
          </a:r>
        </a:p>
      </dsp:txBody>
      <dsp:txXfrm>
        <a:off x="1980336" y="21289"/>
        <a:ext cx="1518176" cy="631382"/>
      </dsp:txXfrm>
    </dsp:sp>
    <dsp:sp modelId="{30D67FDD-E952-441F-B76D-AFC7E402AC4A}">
      <dsp:nvSpPr>
        <dsp:cNvPr id="0" name=""/>
        <dsp:cNvSpPr/>
      </dsp:nvSpPr>
      <dsp:spPr>
        <a:xfrm>
          <a:off x="1740846" y="672314"/>
          <a:ext cx="998578" cy="268267"/>
        </a:xfrm>
        <a:custGeom>
          <a:avLst/>
          <a:gdLst/>
          <a:ahLst/>
          <a:cxnLst/>
          <a:rect l="0" t="0" r="0" b="0"/>
          <a:pathLst>
            <a:path>
              <a:moveTo>
                <a:pt x="998578" y="0"/>
              </a:moveTo>
              <a:lnTo>
                <a:pt x="998578" y="134133"/>
              </a:lnTo>
              <a:lnTo>
                <a:pt x="0" y="134133"/>
              </a:lnTo>
              <a:lnTo>
                <a:pt x="0" y="26826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182C128-EFB6-401D-ABBD-50EAB2A27DCE}">
      <dsp:nvSpPr>
        <dsp:cNvPr id="0" name=""/>
        <dsp:cNvSpPr/>
      </dsp:nvSpPr>
      <dsp:spPr>
        <a:xfrm>
          <a:off x="906211" y="940581"/>
          <a:ext cx="1669269" cy="670668"/>
        </a:xfrm>
        <a:prstGeom prst="roundRect">
          <a:avLst>
            <a:gd name="adj" fmla="val 10000"/>
          </a:avLst>
        </a:prstGeom>
        <a:solidFill>
          <a:srgbClr val="00B85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代码段描述符</a:t>
          </a:r>
        </a:p>
      </dsp:txBody>
      <dsp:txXfrm>
        <a:off x="925854" y="960224"/>
        <a:ext cx="1629983" cy="631382"/>
      </dsp:txXfrm>
    </dsp:sp>
    <dsp:sp modelId="{292C3123-BDE6-48E9-88E7-A7470950AEBD}">
      <dsp:nvSpPr>
        <dsp:cNvPr id="0" name=""/>
        <dsp:cNvSpPr/>
      </dsp:nvSpPr>
      <dsp:spPr>
        <a:xfrm>
          <a:off x="2739424" y="672314"/>
          <a:ext cx="985535" cy="268267"/>
        </a:xfrm>
        <a:custGeom>
          <a:avLst/>
          <a:gdLst/>
          <a:ahLst/>
          <a:cxnLst/>
          <a:rect l="0" t="0" r="0" b="0"/>
          <a:pathLst>
            <a:path>
              <a:moveTo>
                <a:pt x="0" y="0"/>
              </a:moveTo>
              <a:lnTo>
                <a:pt x="0" y="134133"/>
              </a:lnTo>
              <a:lnTo>
                <a:pt x="985535" y="134133"/>
              </a:lnTo>
              <a:lnTo>
                <a:pt x="985535" y="26826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A70A3AF-2E55-453B-B2B4-3AD47E13690E}">
      <dsp:nvSpPr>
        <dsp:cNvPr id="0" name=""/>
        <dsp:cNvSpPr/>
      </dsp:nvSpPr>
      <dsp:spPr>
        <a:xfrm>
          <a:off x="2877282" y="940581"/>
          <a:ext cx="1695355" cy="670668"/>
        </a:xfrm>
        <a:prstGeom prst="roundRect">
          <a:avLst>
            <a:gd name="adj" fmla="val 10000"/>
          </a:avLst>
        </a:prstGeom>
        <a:solidFill>
          <a:srgbClr val="00B85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数据段描述符</a:t>
          </a:r>
        </a:p>
      </dsp:txBody>
      <dsp:txXfrm>
        <a:off x="2896925" y="960224"/>
        <a:ext cx="1656069" cy="631382"/>
      </dsp:txXfrm>
    </dsp:sp>
    <dsp:sp modelId="{F1AB8FDE-EA51-420C-866B-54DDF03393DC}">
      <dsp:nvSpPr>
        <dsp:cNvPr id="0" name=""/>
        <dsp:cNvSpPr/>
      </dsp:nvSpPr>
      <dsp:spPr>
        <a:xfrm>
          <a:off x="2631264" y="1611250"/>
          <a:ext cx="1093695" cy="268267"/>
        </a:xfrm>
        <a:custGeom>
          <a:avLst/>
          <a:gdLst/>
          <a:ahLst/>
          <a:cxnLst/>
          <a:rect l="0" t="0" r="0" b="0"/>
          <a:pathLst>
            <a:path>
              <a:moveTo>
                <a:pt x="1093695" y="0"/>
              </a:moveTo>
              <a:lnTo>
                <a:pt x="1093695" y="134133"/>
              </a:lnTo>
              <a:lnTo>
                <a:pt x="0" y="134133"/>
              </a:lnTo>
              <a:lnTo>
                <a:pt x="0" y="26826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FE2F2F-AFC8-48A7-A6EF-4DD4D4E83E14}">
      <dsp:nvSpPr>
        <dsp:cNvPr id="0" name=""/>
        <dsp:cNvSpPr/>
      </dsp:nvSpPr>
      <dsp:spPr>
        <a:xfrm>
          <a:off x="1731395" y="1879517"/>
          <a:ext cx="1799738" cy="670668"/>
        </a:xfrm>
        <a:prstGeom prst="roundRect">
          <a:avLst>
            <a:gd name="adj" fmla="val 10000"/>
          </a:avLst>
        </a:prstGeom>
        <a:solidFill>
          <a:srgbClr val="FD7A2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栈段描述符</a:t>
          </a:r>
        </a:p>
      </dsp:txBody>
      <dsp:txXfrm>
        <a:off x="1751038" y="1899160"/>
        <a:ext cx="1760452" cy="631382"/>
      </dsp:txXfrm>
    </dsp:sp>
    <dsp:sp modelId="{48FCF591-C56C-473E-9720-4428C9C5B42B}">
      <dsp:nvSpPr>
        <dsp:cNvPr id="0" name=""/>
        <dsp:cNvSpPr/>
      </dsp:nvSpPr>
      <dsp:spPr>
        <a:xfrm>
          <a:off x="3724959" y="1611250"/>
          <a:ext cx="1067609" cy="258247"/>
        </a:xfrm>
        <a:custGeom>
          <a:avLst/>
          <a:gdLst/>
          <a:ahLst/>
          <a:cxnLst/>
          <a:rect l="0" t="0" r="0" b="0"/>
          <a:pathLst>
            <a:path>
              <a:moveTo>
                <a:pt x="0" y="0"/>
              </a:moveTo>
              <a:lnTo>
                <a:pt x="0" y="129123"/>
              </a:lnTo>
              <a:lnTo>
                <a:pt x="1067609" y="129123"/>
              </a:lnTo>
              <a:lnTo>
                <a:pt x="1067609" y="25824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34BEB8-0C92-442F-B01E-A1689A6868EC}">
      <dsp:nvSpPr>
        <dsp:cNvPr id="0" name=""/>
        <dsp:cNvSpPr/>
      </dsp:nvSpPr>
      <dsp:spPr>
        <a:xfrm>
          <a:off x="3849774" y="1869497"/>
          <a:ext cx="1885590" cy="670668"/>
        </a:xfrm>
        <a:prstGeom prst="roundRect">
          <a:avLst>
            <a:gd name="adj" fmla="val 10000"/>
          </a:avLst>
        </a:prstGeom>
        <a:solidFill>
          <a:srgbClr val="FD7A2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非栈段描述符</a:t>
          </a:r>
        </a:p>
      </dsp:txBody>
      <dsp:txXfrm>
        <a:off x="3869417" y="1889140"/>
        <a:ext cx="1846304" cy="6313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FD7C3C-6204-4F7E-91AC-6F3546CD780D}">
      <dsp:nvSpPr>
        <dsp:cNvPr id="0" name=""/>
        <dsp:cNvSpPr/>
      </dsp:nvSpPr>
      <dsp:spPr>
        <a:xfrm>
          <a:off x="1564205" y="1112332"/>
          <a:ext cx="1532140" cy="665626"/>
        </a:xfrm>
        <a:prstGeom prst="roundRect">
          <a:avLst>
            <a:gd name="adj" fmla="val 10000"/>
          </a:avLst>
        </a:prstGeom>
        <a:solidFill>
          <a:srgbClr val="1D8DE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系统段描述符</a:t>
          </a:r>
        </a:p>
      </dsp:txBody>
      <dsp:txXfrm>
        <a:off x="1583701" y="1131828"/>
        <a:ext cx="1493148" cy="626634"/>
      </dsp:txXfrm>
    </dsp:sp>
    <dsp:sp modelId="{30D67FDD-E952-441F-B76D-AFC7E402AC4A}">
      <dsp:nvSpPr>
        <dsp:cNvPr id="0" name=""/>
        <dsp:cNvSpPr/>
      </dsp:nvSpPr>
      <dsp:spPr>
        <a:xfrm>
          <a:off x="682731" y="1777958"/>
          <a:ext cx="1647544" cy="229393"/>
        </a:xfrm>
        <a:custGeom>
          <a:avLst/>
          <a:gdLst/>
          <a:ahLst/>
          <a:cxnLst/>
          <a:rect l="0" t="0" r="0" b="0"/>
          <a:pathLst>
            <a:path>
              <a:moveTo>
                <a:pt x="1647544" y="0"/>
              </a:moveTo>
              <a:lnTo>
                <a:pt x="1647544" y="114696"/>
              </a:lnTo>
              <a:lnTo>
                <a:pt x="0" y="114696"/>
              </a:lnTo>
              <a:lnTo>
                <a:pt x="0" y="22939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182C128-EFB6-401D-ABBD-50EAB2A27DCE}">
      <dsp:nvSpPr>
        <dsp:cNvPr id="0" name=""/>
        <dsp:cNvSpPr/>
      </dsp:nvSpPr>
      <dsp:spPr>
        <a:xfrm>
          <a:off x="610" y="2007352"/>
          <a:ext cx="1364241" cy="573484"/>
        </a:xfrm>
        <a:prstGeom prst="roundRect">
          <a:avLst>
            <a:gd name="adj" fmla="val 10000"/>
          </a:avLst>
        </a:prstGeom>
        <a:solidFill>
          <a:srgbClr val="00B85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altLang="zh-CN" sz="1600" kern="1200" dirty="0">
              <a:latin typeface="微软雅黑" panose="020B0503020204020204" pitchFamily="34" charset="-122"/>
              <a:ea typeface="微软雅黑" panose="020B0503020204020204" pitchFamily="34" charset="-122"/>
            </a:rPr>
            <a:t>LDT</a:t>
          </a:r>
          <a:r>
            <a:rPr lang="zh-CN" altLang="en-US" sz="1600" kern="1200" dirty="0">
              <a:latin typeface="微软雅黑" panose="020B0503020204020204" pitchFamily="34" charset="-122"/>
              <a:ea typeface="微软雅黑" panose="020B0503020204020204" pitchFamily="34" charset="-122"/>
            </a:rPr>
            <a:t>描述符</a:t>
          </a:r>
        </a:p>
      </dsp:txBody>
      <dsp:txXfrm>
        <a:off x="17407" y="2024149"/>
        <a:ext cx="1330647" cy="539890"/>
      </dsp:txXfrm>
    </dsp:sp>
    <dsp:sp modelId="{CEDA2B25-5B10-4A21-8594-5339482B973E}">
      <dsp:nvSpPr>
        <dsp:cNvPr id="0" name=""/>
        <dsp:cNvSpPr/>
      </dsp:nvSpPr>
      <dsp:spPr>
        <a:xfrm>
          <a:off x="2284556" y="1777958"/>
          <a:ext cx="91440" cy="229393"/>
        </a:xfrm>
        <a:custGeom>
          <a:avLst/>
          <a:gdLst/>
          <a:ahLst/>
          <a:cxnLst/>
          <a:rect l="0" t="0" r="0" b="0"/>
          <a:pathLst>
            <a:path>
              <a:moveTo>
                <a:pt x="45720" y="0"/>
              </a:moveTo>
              <a:lnTo>
                <a:pt x="45720" y="114696"/>
              </a:lnTo>
              <a:lnTo>
                <a:pt x="55733" y="114696"/>
              </a:lnTo>
              <a:lnTo>
                <a:pt x="55733" y="22939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C74216-127F-443B-ABF5-56C7B23E09B5}">
      <dsp:nvSpPr>
        <dsp:cNvPr id="0" name=""/>
        <dsp:cNvSpPr/>
      </dsp:nvSpPr>
      <dsp:spPr>
        <a:xfrm>
          <a:off x="1622920" y="2007352"/>
          <a:ext cx="1434737" cy="573484"/>
        </a:xfrm>
        <a:prstGeom prst="roundRect">
          <a:avLst>
            <a:gd name="adj" fmla="val 10000"/>
          </a:avLst>
        </a:prstGeom>
        <a:solidFill>
          <a:srgbClr val="00B85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任务段描述符</a:t>
          </a:r>
        </a:p>
      </dsp:txBody>
      <dsp:txXfrm>
        <a:off x="1639717" y="2024149"/>
        <a:ext cx="1401143" cy="539890"/>
      </dsp:txXfrm>
    </dsp:sp>
    <dsp:sp modelId="{292C3123-BDE6-48E9-88E7-A7470950AEBD}">
      <dsp:nvSpPr>
        <dsp:cNvPr id="0" name=""/>
        <dsp:cNvSpPr/>
      </dsp:nvSpPr>
      <dsp:spPr>
        <a:xfrm>
          <a:off x="2330276" y="1777958"/>
          <a:ext cx="1657557" cy="229393"/>
        </a:xfrm>
        <a:custGeom>
          <a:avLst/>
          <a:gdLst/>
          <a:ahLst/>
          <a:cxnLst/>
          <a:rect l="0" t="0" r="0" b="0"/>
          <a:pathLst>
            <a:path>
              <a:moveTo>
                <a:pt x="0" y="0"/>
              </a:moveTo>
              <a:lnTo>
                <a:pt x="0" y="114696"/>
              </a:lnTo>
              <a:lnTo>
                <a:pt x="1657557" y="114696"/>
              </a:lnTo>
              <a:lnTo>
                <a:pt x="1657557" y="22939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A70A3AF-2E55-453B-B2B4-3AD47E13690E}">
      <dsp:nvSpPr>
        <dsp:cNvPr id="0" name=""/>
        <dsp:cNvSpPr/>
      </dsp:nvSpPr>
      <dsp:spPr>
        <a:xfrm>
          <a:off x="3315726" y="2007352"/>
          <a:ext cx="1344215" cy="573484"/>
        </a:xfrm>
        <a:prstGeom prst="roundRect">
          <a:avLst>
            <a:gd name="adj" fmla="val 10000"/>
          </a:avLst>
        </a:prstGeom>
        <a:solidFill>
          <a:srgbClr val="00B85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门描述符</a:t>
          </a:r>
        </a:p>
      </dsp:txBody>
      <dsp:txXfrm>
        <a:off x="3332523" y="2024149"/>
        <a:ext cx="1310621" cy="539890"/>
      </dsp:txXfrm>
    </dsp:sp>
    <dsp:sp modelId="{F1AB8FDE-EA51-420C-866B-54DDF03393DC}">
      <dsp:nvSpPr>
        <dsp:cNvPr id="0" name=""/>
        <dsp:cNvSpPr/>
      </dsp:nvSpPr>
      <dsp:spPr>
        <a:xfrm>
          <a:off x="2310392" y="2580837"/>
          <a:ext cx="1677441" cy="229393"/>
        </a:xfrm>
        <a:custGeom>
          <a:avLst/>
          <a:gdLst/>
          <a:ahLst/>
          <a:cxnLst/>
          <a:rect l="0" t="0" r="0" b="0"/>
          <a:pathLst>
            <a:path>
              <a:moveTo>
                <a:pt x="1677441" y="0"/>
              </a:moveTo>
              <a:lnTo>
                <a:pt x="1677441" y="114696"/>
              </a:lnTo>
              <a:lnTo>
                <a:pt x="0" y="114696"/>
              </a:lnTo>
              <a:lnTo>
                <a:pt x="0" y="22939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FE2F2F-AFC8-48A7-A6EF-4DD4D4E83E14}">
      <dsp:nvSpPr>
        <dsp:cNvPr id="0" name=""/>
        <dsp:cNvSpPr/>
      </dsp:nvSpPr>
      <dsp:spPr>
        <a:xfrm>
          <a:off x="1880279" y="2810230"/>
          <a:ext cx="860226" cy="573484"/>
        </a:xfrm>
        <a:prstGeom prst="roundRect">
          <a:avLst>
            <a:gd name="adj" fmla="val 10000"/>
          </a:avLst>
        </a:prstGeom>
        <a:solidFill>
          <a:srgbClr val="FD7A2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任务门</a:t>
          </a:r>
        </a:p>
      </dsp:txBody>
      <dsp:txXfrm>
        <a:off x="1897076" y="2827027"/>
        <a:ext cx="826632" cy="539890"/>
      </dsp:txXfrm>
    </dsp:sp>
    <dsp:sp modelId="{48FCF591-C56C-473E-9720-4428C9C5B42B}">
      <dsp:nvSpPr>
        <dsp:cNvPr id="0" name=""/>
        <dsp:cNvSpPr/>
      </dsp:nvSpPr>
      <dsp:spPr>
        <a:xfrm>
          <a:off x="3443087" y="2580837"/>
          <a:ext cx="544747" cy="220825"/>
        </a:xfrm>
        <a:custGeom>
          <a:avLst/>
          <a:gdLst/>
          <a:ahLst/>
          <a:cxnLst/>
          <a:rect l="0" t="0" r="0" b="0"/>
          <a:pathLst>
            <a:path>
              <a:moveTo>
                <a:pt x="544747" y="0"/>
              </a:moveTo>
              <a:lnTo>
                <a:pt x="544747" y="110412"/>
              </a:lnTo>
              <a:lnTo>
                <a:pt x="0" y="110412"/>
              </a:lnTo>
              <a:lnTo>
                <a:pt x="0" y="22082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34BEB8-0C92-442F-B01E-A1689A6868EC}">
      <dsp:nvSpPr>
        <dsp:cNvPr id="0" name=""/>
        <dsp:cNvSpPr/>
      </dsp:nvSpPr>
      <dsp:spPr>
        <a:xfrm>
          <a:off x="3012973" y="2801662"/>
          <a:ext cx="860226" cy="573484"/>
        </a:xfrm>
        <a:prstGeom prst="roundRect">
          <a:avLst>
            <a:gd name="adj" fmla="val 10000"/>
          </a:avLst>
        </a:prstGeom>
        <a:solidFill>
          <a:srgbClr val="FD7A2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调用门</a:t>
          </a:r>
        </a:p>
      </dsp:txBody>
      <dsp:txXfrm>
        <a:off x="3029770" y="2818459"/>
        <a:ext cx="826632" cy="539890"/>
      </dsp:txXfrm>
    </dsp:sp>
    <dsp:sp modelId="{B589CA1B-D596-41DE-832E-441D62992ECF}">
      <dsp:nvSpPr>
        <dsp:cNvPr id="0" name=""/>
        <dsp:cNvSpPr/>
      </dsp:nvSpPr>
      <dsp:spPr>
        <a:xfrm>
          <a:off x="3987834" y="2580837"/>
          <a:ext cx="559147" cy="229393"/>
        </a:xfrm>
        <a:custGeom>
          <a:avLst/>
          <a:gdLst/>
          <a:ahLst/>
          <a:cxnLst/>
          <a:rect l="0" t="0" r="0" b="0"/>
          <a:pathLst>
            <a:path>
              <a:moveTo>
                <a:pt x="0" y="0"/>
              </a:moveTo>
              <a:lnTo>
                <a:pt x="0" y="114696"/>
              </a:lnTo>
              <a:lnTo>
                <a:pt x="559147" y="114696"/>
              </a:lnTo>
              <a:lnTo>
                <a:pt x="559147" y="22939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C05E88-88A5-44DB-984D-4D2D38F404E9}">
      <dsp:nvSpPr>
        <dsp:cNvPr id="0" name=""/>
        <dsp:cNvSpPr/>
      </dsp:nvSpPr>
      <dsp:spPr>
        <a:xfrm>
          <a:off x="4116868" y="2810230"/>
          <a:ext cx="860226" cy="573484"/>
        </a:xfrm>
        <a:prstGeom prst="roundRect">
          <a:avLst>
            <a:gd name="adj" fmla="val 10000"/>
          </a:avLst>
        </a:prstGeom>
        <a:solidFill>
          <a:srgbClr val="FD7A2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中断门</a:t>
          </a:r>
        </a:p>
      </dsp:txBody>
      <dsp:txXfrm>
        <a:off x="4133665" y="2827027"/>
        <a:ext cx="826632" cy="539890"/>
      </dsp:txXfrm>
    </dsp:sp>
    <dsp:sp modelId="{B97F4599-D46F-46DE-A35E-AA9369ED8AEE}">
      <dsp:nvSpPr>
        <dsp:cNvPr id="0" name=""/>
        <dsp:cNvSpPr/>
      </dsp:nvSpPr>
      <dsp:spPr>
        <a:xfrm>
          <a:off x="3987834" y="2580837"/>
          <a:ext cx="1677441" cy="229393"/>
        </a:xfrm>
        <a:custGeom>
          <a:avLst/>
          <a:gdLst/>
          <a:ahLst/>
          <a:cxnLst/>
          <a:rect l="0" t="0" r="0" b="0"/>
          <a:pathLst>
            <a:path>
              <a:moveTo>
                <a:pt x="0" y="0"/>
              </a:moveTo>
              <a:lnTo>
                <a:pt x="0" y="114696"/>
              </a:lnTo>
              <a:lnTo>
                <a:pt x="1677441" y="114696"/>
              </a:lnTo>
              <a:lnTo>
                <a:pt x="1677441" y="22939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B4A9C79-43D9-4022-8F43-A239A894B7A5}">
      <dsp:nvSpPr>
        <dsp:cNvPr id="0" name=""/>
        <dsp:cNvSpPr/>
      </dsp:nvSpPr>
      <dsp:spPr>
        <a:xfrm>
          <a:off x="5235162" y="2810230"/>
          <a:ext cx="860226" cy="573484"/>
        </a:xfrm>
        <a:prstGeom prst="roundRect">
          <a:avLst>
            <a:gd name="adj" fmla="val 10000"/>
          </a:avLst>
        </a:prstGeom>
        <a:solidFill>
          <a:srgbClr val="FD7A2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陷阱门</a:t>
          </a:r>
        </a:p>
      </dsp:txBody>
      <dsp:txXfrm>
        <a:off x="5251959" y="2827027"/>
        <a:ext cx="826632" cy="53989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84524F-5C8C-4CF8-964C-68B44E826FEE}" type="datetimeFigureOut">
              <a:rPr lang="en-US" smtClean="0"/>
              <a:t>6/7/2016</a:t>
            </a:fld>
            <a:endParaRPr 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BE00F3E-42E3-47B8-AD52-3484E0D8A9EB}" type="slidenum">
              <a:rPr lang="en-US" smtClean="0"/>
              <a:t>‹#›</a:t>
            </a:fld>
            <a:endParaRPr lang="en-US"/>
          </a:p>
        </p:txBody>
      </p:sp>
    </p:spTree>
    <p:extLst>
      <p:ext uri="{BB962C8B-B14F-4D97-AF65-F5344CB8AC3E}">
        <p14:creationId xmlns:p14="http://schemas.microsoft.com/office/powerpoint/2010/main" val="910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anose="020B0503020204020204" pitchFamily="34" charset="-122"/>
        <a:cs typeface="+mn-cs"/>
      </a:defRPr>
    </a:lvl1pPr>
    <a:lvl2pPr marL="457200" algn="l" defTabSz="914400" rtl="0" eaLnBrk="1" latinLnBrk="0" hangingPunct="1">
      <a:defRPr sz="1200" kern="1200">
        <a:solidFill>
          <a:schemeClr val="tx1"/>
        </a:solidFill>
        <a:latin typeface="+mn-lt"/>
        <a:ea typeface="微软雅黑" panose="020B0503020204020204" pitchFamily="34" charset="-122"/>
        <a:cs typeface="+mn-cs"/>
      </a:defRPr>
    </a:lvl2pPr>
    <a:lvl3pPr marL="914400" algn="l" defTabSz="914400" rtl="0" eaLnBrk="1" latinLnBrk="0" hangingPunct="1">
      <a:defRPr sz="1200" kern="1200">
        <a:solidFill>
          <a:schemeClr val="tx1"/>
        </a:solidFill>
        <a:latin typeface="+mn-lt"/>
        <a:ea typeface="微软雅黑" panose="020B0503020204020204" pitchFamily="34" charset="-122"/>
        <a:cs typeface="+mn-cs"/>
      </a:defRPr>
    </a:lvl3pPr>
    <a:lvl4pPr marL="1371600" algn="l" defTabSz="914400" rtl="0" eaLnBrk="1" latinLnBrk="0" hangingPunct="1">
      <a:defRPr sz="1200" kern="1200">
        <a:solidFill>
          <a:schemeClr val="tx1"/>
        </a:solidFill>
        <a:latin typeface="+mn-lt"/>
        <a:ea typeface="微软雅黑" panose="020B0503020204020204" pitchFamily="34" charset="-122"/>
        <a:cs typeface="+mn-cs"/>
      </a:defRPr>
    </a:lvl4pPr>
    <a:lvl5pPr marL="1828800" algn="l" defTabSz="914400" rtl="0" eaLnBrk="1" latinLnBrk="0" hangingPunct="1">
      <a:defRPr sz="1200" kern="1200">
        <a:solidFill>
          <a:schemeClr val="tx1"/>
        </a:solidFill>
        <a:latin typeface="+mn-lt"/>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2</a:t>
            </a:fld>
            <a:endParaRPr lang="en-US"/>
          </a:p>
        </p:txBody>
      </p:sp>
    </p:spTree>
    <p:extLst>
      <p:ext uri="{BB962C8B-B14F-4D97-AF65-F5344CB8AC3E}">
        <p14:creationId xmlns:p14="http://schemas.microsoft.com/office/powerpoint/2010/main" val="1860411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3</a:t>
            </a:fld>
            <a:endParaRPr lang="en-US"/>
          </a:p>
        </p:txBody>
      </p:sp>
    </p:spTree>
    <p:extLst>
      <p:ext uri="{BB962C8B-B14F-4D97-AF65-F5344CB8AC3E}">
        <p14:creationId xmlns:p14="http://schemas.microsoft.com/office/powerpoint/2010/main" val="3762801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本章需要回答这几个非常重要的问题。</a:t>
            </a:r>
            <a:endParaRPr lang="en-US" altLang="zh-CN" dirty="0"/>
          </a:p>
        </p:txBody>
      </p:sp>
      <p:sp>
        <p:nvSpPr>
          <p:cNvPr id="4" name="灯片编号占位符 3"/>
          <p:cNvSpPr>
            <a:spLocks noGrp="1"/>
          </p:cNvSpPr>
          <p:nvPr>
            <p:ph type="sldNum" sz="quarter" idx="10"/>
          </p:nvPr>
        </p:nvSpPr>
        <p:spPr/>
        <p:txBody>
          <a:bodyPr/>
          <a:lstStyle/>
          <a:p>
            <a:fld id="{3BE00F3E-42E3-47B8-AD52-3484E0D8A9EB}" type="slidenum">
              <a:rPr lang="en-US" smtClean="0"/>
              <a:t>6</a:t>
            </a:fld>
            <a:endParaRPr lang="en-US"/>
          </a:p>
        </p:txBody>
      </p:sp>
    </p:spTree>
    <p:extLst>
      <p:ext uri="{BB962C8B-B14F-4D97-AF65-F5344CB8AC3E}">
        <p14:creationId xmlns:p14="http://schemas.microsoft.com/office/powerpoint/2010/main" val="4131581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7</a:t>
            </a:fld>
            <a:endParaRPr lang="en-US"/>
          </a:p>
        </p:txBody>
      </p:sp>
    </p:spTree>
    <p:extLst>
      <p:ext uri="{BB962C8B-B14F-4D97-AF65-F5344CB8AC3E}">
        <p14:creationId xmlns:p14="http://schemas.microsoft.com/office/powerpoint/2010/main" val="944165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8</a:t>
            </a:fld>
            <a:endParaRPr lang="en-US"/>
          </a:p>
        </p:txBody>
      </p:sp>
    </p:spTree>
    <p:extLst>
      <p:ext uri="{BB962C8B-B14F-4D97-AF65-F5344CB8AC3E}">
        <p14:creationId xmlns:p14="http://schemas.microsoft.com/office/powerpoint/2010/main" val="3812319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9</a:t>
            </a:fld>
            <a:endParaRPr lang="en-US"/>
          </a:p>
        </p:txBody>
      </p:sp>
    </p:spTree>
    <p:extLst>
      <p:ext uri="{BB962C8B-B14F-4D97-AF65-F5344CB8AC3E}">
        <p14:creationId xmlns:p14="http://schemas.microsoft.com/office/powerpoint/2010/main" val="2726589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10</a:t>
            </a:fld>
            <a:endParaRPr lang="en-US"/>
          </a:p>
        </p:txBody>
      </p:sp>
    </p:spTree>
    <p:extLst>
      <p:ext uri="{BB962C8B-B14F-4D97-AF65-F5344CB8AC3E}">
        <p14:creationId xmlns:p14="http://schemas.microsoft.com/office/powerpoint/2010/main" val="10797027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12</a:t>
            </a:fld>
            <a:endParaRPr lang="en-US"/>
          </a:p>
        </p:txBody>
      </p:sp>
    </p:spTree>
    <p:extLst>
      <p:ext uri="{BB962C8B-B14F-4D97-AF65-F5344CB8AC3E}">
        <p14:creationId xmlns:p14="http://schemas.microsoft.com/office/powerpoint/2010/main" val="452184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14</a:t>
            </a:fld>
            <a:endParaRPr lang="en-US"/>
          </a:p>
        </p:txBody>
      </p:sp>
    </p:spTree>
    <p:extLst>
      <p:ext uri="{BB962C8B-B14F-4D97-AF65-F5344CB8AC3E}">
        <p14:creationId xmlns:p14="http://schemas.microsoft.com/office/powerpoint/2010/main" val="3230119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15</a:t>
            </a:fld>
            <a:endParaRPr lang="en-US"/>
          </a:p>
        </p:txBody>
      </p:sp>
    </p:spTree>
    <p:extLst>
      <p:ext uri="{BB962C8B-B14F-4D97-AF65-F5344CB8AC3E}">
        <p14:creationId xmlns:p14="http://schemas.microsoft.com/office/powerpoint/2010/main" val="3204944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16</a:t>
            </a:fld>
            <a:endParaRPr lang="en-US"/>
          </a:p>
        </p:txBody>
      </p:sp>
    </p:spTree>
    <p:extLst>
      <p:ext uri="{BB962C8B-B14F-4D97-AF65-F5344CB8AC3E}">
        <p14:creationId xmlns:p14="http://schemas.microsoft.com/office/powerpoint/2010/main" val="37047336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17</a:t>
            </a:fld>
            <a:endParaRPr lang="en-US"/>
          </a:p>
        </p:txBody>
      </p:sp>
    </p:spTree>
    <p:extLst>
      <p:ext uri="{BB962C8B-B14F-4D97-AF65-F5344CB8AC3E}">
        <p14:creationId xmlns:p14="http://schemas.microsoft.com/office/powerpoint/2010/main" val="23303864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20</a:t>
            </a:fld>
            <a:endParaRPr lang="en-US"/>
          </a:p>
        </p:txBody>
      </p:sp>
    </p:spTree>
    <p:extLst>
      <p:ext uri="{BB962C8B-B14F-4D97-AF65-F5344CB8AC3E}">
        <p14:creationId xmlns:p14="http://schemas.microsoft.com/office/powerpoint/2010/main" val="1886441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24</a:t>
            </a:fld>
            <a:endParaRPr lang="en-US"/>
          </a:p>
        </p:txBody>
      </p:sp>
    </p:spTree>
    <p:extLst>
      <p:ext uri="{BB962C8B-B14F-4D97-AF65-F5344CB8AC3E}">
        <p14:creationId xmlns:p14="http://schemas.microsoft.com/office/powerpoint/2010/main" val="28472641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25</a:t>
            </a:fld>
            <a:endParaRPr lang="en-US"/>
          </a:p>
        </p:txBody>
      </p:sp>
    </p:spTree>
    <p:extLst>
      <p:ext uri="{BB962C8B-B14F-4D97-AF65-F5344CB8AC3E}">
        <p14:creationId xmlns:p14="http://schemas.microsoft.com/office/powerpoint/2010/main" val="16731330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27</a:t>
            </a:fld>
            <a:endParaRPr lang="en-US"/>
          </a:p>
        </p:txBody>
      </p:sp>
    </p:spTree>
    <p:extLst>
      <p:ext uri="{BB962C8B-B14F-4D97-AF65-F5344CB8AC3E}">
        <p14:creationId xmlns:p14="http://schemas.microsoft.com/office/powerpoint/2010/main" val="23885016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36</a:t>
            </a:fld>
            <a:endParaRPr lang="en-US"/>
          </a:p>
        </p:txBody>
      </p:sp>
    </p:spTree>
    <p:extLst>
      <p:ext uri="{BB962C8B-B14F-4D97-AF65-F5344CB8AC3E}">
        <p14:creationId xmlns:p14="http://schemas.microsoft.com/office/powerpoint/2010/main" val="2852489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41</a:t>
            </a:fld>
            <a:endParaRPr lang="en-US"/>
          </a:p>
        </p:txBody>
      </p:sp>
    </p:spTree>
    <p:extLst>
      <p:ext uri="{BB962C8B-B14F-4D97-AF65-F5344CB8AC3E}">
        <p14:creationId xmlns:p14="http://schemas.microsoft.com/office/powerpoint/2010/main" val="20611648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42</a:t>
            </a:fld>
            <a:endParaRPr lang="en-US"/>
          </a:p>
        </p:txBody>
      </p:sp>
    </p:spTree>
    <p:extLst>
      <p:ext uri="{BB962C8B-B14F-4D97-AF65-F5344CB8AC3E}">
        <p14:creationId xmlns:p14="http://schemas.microsoft.com/office/powerpoint/2010/main" val="10346698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43</a:t>
            </a:fld>
            <a:endParaRPr lang="en-US"/>
          </a:p>
        </p:txBody>
      </p:sp>
    </p:spTree>
    <p:extLst>
      <p:ext uri="{BB962C8B-B14F-4D97-AF65-F5344CB8AC3E}">
        <p14:creationId xmlns:p14="http://schemas.microsoft.com/office/powerpoint/2010/main" val="21990366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47</a:t>
            </a:fld>
            <a:endParaRPr lang="en-US"/>
          </a:p>
        </p:txBody>
      </p:sp>
    </p:spTree>
    <p:extLst>
      <p:ext uri="{BB962C8B-B14F-4D97-AF65-F5344CB8AC3E}">
        <p14:creationId xmlns:p14="http://schemas.microsoft.com/office/powerpoint/2010/main" val="29234234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49</a:t>
            </a:fld>
            <a:endParaRPr lang="en-US"/>
          </a:p>
        </p:txBody>
      </p:sp>
    </p:spTree>
    <p:extLst>
      <p:ext uri="{BB962C8B-B14F-4D97-AF65-F5344CB8AC3E}">
        <p14:creationId xmlns:p14="http://schemas.microsoft.com/office/powerpoint/2010/main" val="1476414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51</a:t>
            </a:fld>
            <a:endParaRPr lang="en-US"/>
          </a:p>
        </p:txBody>
      </p:sp>
    </p:spTree>
    <p:extLst>
      <p:ext uri="{BB962C8B-B14F-4D97-AF65-F5344CB8AC3E}">
        <p14:creationId xmlns:p14="http://schemas.microsoft.com/office/powerpoint/2010/main" val="7479045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71</a:t>
            </a:fld>
            <a:endParaRPr lang="en-US"/>
          </a:p>
        </p:txBody>
      </p:sp>
    </p:spTree>
    <p:extLst>
      <p:ext uri="{BB962C8B-B14F-4D97-AF65-F5344CB8AC3E}">
        <p14:creationId xmlns:p14="http://schemas.microsoft.com/office/powerpoint/2010/main" val="26456518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72</a:t>
            </a:fld>
            <a:endParaRPr lang="en-US"/>
          </a:p>
        </p:txBody>
      </p:sp>
    </p:spTree>
    <p:extLst>
      <p:ext uri="{BB962C8B-B14F-4D97-AF65-F5344CB8AC3E}">
        <p14:creationId xmlns:p14="http://schemas.microsoft.com/office/powerpoint/2010/main" val="14831054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74</a:t>
            </a:fld>
            <a:endParaRPr lang="en-US"/>
          </a:p>
        </p:txBody>
      </p:sp>
    </p:spTree>
    <p:extLst>
      <p:ext uri="{BB962C8B-B14F-4D97-AF65-F5344CB8AC3E}">
        <p14:creationId xmlns:p14="http://schemas.microsoft.com/office/powerpoint/2010/main" val="17249981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82</a:t>
            </a:fld>
            <a:endParaRPr lang="en-US"/>
          </a:p>
        </p:txBody>
      </p:sp>
    </p:spTree>
    <p:extLst>
      <p:ext uri="{BB962C8B-B14F-4D97-AF65-F5344CB8AC3E}">
        <p14:creationId xmlns:p14="http://schemas.microsoft.com/office/powerpoint/2010/main" val="26607219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www.eyefulpresentations.co.uk/" TargetMode="External"/><Relationship Id="rId7" Type="http://schemas.openxmlformats.org/officeDocument/2006/relationships/image" Target="../media/image7.png"/><Relationship Id="rId2" Type="http://schemas.openxmlformats.org/officeDocument/2006/relationships/hyperlink" Target="mailto:info@eyefulpresentations.co.uk" TargetMode="External"/><Relationship Id="rId1" Type="http://schemas.openxmlformats.org/officeDocument/2006/relationships/slideMaster" Target="../slideMasters/slideMaster1.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 Id="rId9"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spTree>
      <p:nvGrpSpPr>
        <p:cNvPr id="1" name=""/>
        <p:cNvGrpSpPr/>
        <p:nvPr/>
      </p:nvGrpSpPr>
      <p:grpSpPr>
        <a:xfrm>
          <a:off x="0" y="0"/>
          <a:ext cx="0" cy="0"/>
          <a:chOff x="0" y="0"/>
          <a:chExt cx="0" cy="0"/>
        </a:xfrm>
      </p:grpSpPr>
      <p:sp>
        <p:nvSpPr>
          <p:cNvPr id="7" name="Text Box 1032"/>
          <p:cNvSpPr txBox="1">
            <a:spLocks noChangeArrowheads="1"/>
          </p:cNvSpPr>
          <p:nvPr userDrawn="1"/>
        </p:nvSpPr>
        <p:spPr bwMode="auto">
          <a:xfrm>
            <a:off x="539552" y="1265747"/>
            <a:ext cx="7488832" cy="814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b" anchorCtr="1">
            <a:spAutoFit/>
          </a:bodyPr>
          <a:lstStyle>
            <a:lvl1pPr eaLnBrk="0" hangingPunct="0">
              <a:defRPr sz="2400" b="1">
                <a:solidFill>
                  <a:schemeClr val="tx1"/>
                </a:solidFill>
                <a:latin typeface="宋体" pitchFamily="2" charset="-122"/>
                <a:ea typeface="宋体" pitchFamily="2" charset="-122"/>
              </a:defRPr>
            </a:lvl1pPr>
            <a:lvl2pPr marL="742950" indent="-285750" eaLnBrk="0" hangingPunct="0">
              <a:defRPr sz="2400" b="1">
                <a:solidFill>
                  <a:schemeClr val="tx1"/>
                </a:solidFill>
                <a:latin typeface="宋体" pitchFamily="2" charset="-122"/>
                <a:ea typeface="宋体" pitchFamily="2" charset="-122"/>
              </a:defRPr>
            </a:lvl2pPr>
            <a:lvl3pPr marL="1143000" indent="-228600" eaLnBrk="0" hangingPunct="0">
              <a:defRPr sz="2400" b="1">
                <a:solidFill>
                  <a:schemeClr val="tx1"/>
                </a:solidFill>
                <a:latin typeface="宋体" pitchFamily="2" charset="-122"/>
                <a:ea typeface="宋体" pitchFamily="2" charset="-122"/>
              </a:defRPr>
            </a:lvl3pPr>
            <a:lvl4pPr marL="1600200" indent="-228600" eaLnBrk="0" hangingPunct="0">
              <a:defRPr sz="2400" b="1">
                <a:solidFill>
                  <a:schemeClr val="tx1"/>
                </a:solidFill>
                <a:latin typeface="宋体" pitchFamily="2" charset="-122"/>
                <a:ea typeface="宋体" pitchFamily="2" charset="-122"/>
              </a:defRPr>
            </a:lvl4pPr>
            <a:lvl5pPr marL="2057400" indent="-228600" eaLnBrk="0" hangingPunct="0">
              <a:defRPr sz="24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sz="24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sz="24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sz="24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sz="2400" b="1">
                <a:solidFill>
                  <a:schemeClr val="tx1"/>
                </a:solidFill>
                <a:latin typeface="宋体" pitchFamily="2" charset="-122"/>
                <a:ea typeface="宋体" pitchFamily="2" charset="-122"/>
              </a:defRPr>
            </a:lvl9pPr>
          </a:lstStyle>
          <a:p>
            <a:pPr algn="l" eaLnBrk="1" hangingPunct="1">
              <a:lnSpc>
                <a:spcPct val="130000"/>
              </a:lnSpc>
              <a:defRPr/>
            </a:pPr>
            <a:r>
              <a:rPr lang="zh-CN" altLang="en-US" sz="4000" dirty="0">
                <a:solidFill>
                  <a:srgbClr val="FFC000"/>
                </a:solidFill>
                <a:effectLst>
                  <a:outerShdw blurRad="38100" dist="38100" dir="2700000" algn="tl">
                    <a:srgbClr val="000000">
                      <a:alpha val="43137"/>
                    </a:srgbClr>
                  </a:outerShdw>
                </a:effectLst>
                <a:latin typeface="微软雅黑" pitchFamily="34" charset="-122"/>
                <a:ea typeface="微软雅黑" pitchFamily="34" charset="-122"/>
              </a:rPr>
              <a:t>第八章 </a:t>
            </a:r>
            <a:r>
              <a:rPr lang="en-US" altLang="zh-CN" sz="4000" dirty="0">
                <a:solidFill>
                  <a:srgbClr val="FFC000"/>
                </a:solidFill>
                <a:effectLst>
                  <a:outerShdw blurRad="38100" dist="38100" dir="2700000" algn="tl">
                    <a:srgbClr val="000000">
                      <a:alpha val="43137"/>
                    </a:srgbClr>
                  </a:outerShdw>
                </a:effectLst>
                <a:latin typeface="微软雅黑" pitchFamily="34" charset="-122"/>
                <a:ea typeface="微软雅黑" pitchFamily="34" charset="-122"/>
              </a:rPr>
              <a:t>80386</a:t>
            </a:r>
            <a:r>
              <a:rPr lang="zh-CN" altLang="en-US" sz="4000" dirty="0">
                <a:solidFill>
                  <a:srgbClr val="FFC000"/>
                </a:solidFill>
                <a:effectLst>
                  <a:outerShdw blurRad="38100" dist="38100" dir="2700000" algn="tl">
                    <a:srgbClr val="000000">
                      <a:alpha val="43137"/>
                    </a:srgbClr>
                  </a:outerShdw>
                </a:effectLst>
                <a:latin typeface="微软雅黑" pitchFamily="34" charset="-122"/>
                <a:ea typeface="微软雅黑" pitchFamily="34" charset="-122"/>
              </a:rPr>
              <a:t>微处理器</a:t>
            </a:r>
          </a:p>
        </p:txBody>
      </p:sp>
      <p:cxnSp>
        <p:nvCxnSpPr>
          <p:cNvPr id="8" name="直接连接符 7"/>
          <p:cNvCxnSpPr/>
          <p:nvPr userDrawn="1"/>
        </p:nvCxnSpPr>
        <p:spPr bwMode="auto">
          <a:xfrm>
            <a:off x="755576" y="2349500"/>
            <a:ext cx="7129288" cy="0"/>
          </a:xfrm>
          <a:prstGeom prst="line">
            <a:avLst/>
          </a:prstGeom>
          <a:solidFill>
            <a:schemeClr val="accent1"/>
          </a:solidFill>
          <a:ln w="9525" cap="flat" cmpd="sng" algn="ctr">
            <a:solidFill>
              <a:srgbClr val="00B0F0"/>
            </a:solidFill>
            <a:prstDash val="solid"/>
            <a:round/>
            <a:headEnd type="none" w="med" len="med"/>
            <a:tailEnd type="none" w="med" len="med"/>
          </a:ln>
          <a:effectLst>
            <a:outerShdw blurRad="38100" algn="ctr" rotWithShape="0">
              <a:prstClr val="black">
                <a:alpha val="64000"/>
              </a:prstClr>
            </a:outerShdw>
          </a:effectLst>
        </p:spPr>
      </p:cxnSp>
      <p:sp>
        <p:nvSpPr>
          <p:cNvPr id="9" name="矩形 8"/>
          <p:cNvSpPr>
            <a:spLocks noChangeArrowheads="1"/>
          </p:cNvSpPr>
          <p:nvPr userDrawn="1"/>
        </p:nvSpPr>
        <p:spPr bwMode="auto">
          <a:xfrm>
            <a:off x="755576" y="549275"/>
            <a:ext cx="3959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dirty="0">
                <a:solidFill>
                  <a:schemeClr val="tx1">
                    <a:lumMod val="65000"/>
                    <a:lumOff val="35000"/>
                  </a:schemeClr>
                </a:solidFill>
                <a:latin typeface="微软雅黑" pitchFamily="34" charset="-122"/>
                <a:ea typeface="微软雅黑" pitchFamily="34" charset="-122"/>
              </a:rPr>
              <a:t>微机系统与接口</a:t>
            </a:r>
            <a:r>
              <a:rPr lang="en-US" altLang="zh-CN" b="1" dirty="0">
                <a:solidFill>
                  <a:schemeClr val="tx1">
                    <a:lumMod val="65000"/>
                    <a:lumOff val="35000"/>
                  </a:schemeClr>
                </a:solidFill>
                <a:latin typeface="微软雅黑" pitchFamily="34" charset="-122"/>
                <a:ea typeface="微软雅黑" pitchFamily="34" charset="-122"/>
              </a:rPr>
              <a:t>——</a:t>
            </a:r>
            <a:endParaRPr lang="zh-CN" altLang="en-US" b="1" dirty="0">
              <a:solidFill>
                <a:schemeClr val="tx1">
                  <a:lumMod val="65000"/>
                  <a:lumOff val="35000"/>
                </a:schemeClr>
              </a:solidFill>
              <a:ea typeface="微软雅黑" panose="020B0503020204020204" pitchFamily="34" charset="-122"/>
            </a:endParaRPr>
          </a:p>
        </p:txBody>
      </p:sp>
      <p:sp>
        <p:nvSpPr>
          <p:cNvPr id="10" name="TextBox 9"/>
          <p:cNvSpPr txBox="1">
            <a:spLocks noChangeArrowheads="1"/>
          </p:cNvSpPr>
          <p:nvPr userDrawn="1"/>
        </p:nvSpPr>
        <p:spPr bwMode="auto">
          <a:xfrm>
            <a:off x="827089" y="2508250"/>
            <a:ext cx="309684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1700" b="1" dirty="0">
                <a:solidFill>
                  <a:srgbClr val="FC6204"/>
                </a:solidFill>
                <a:latin typeface="微软雅黑" pitchFamily="34" charset="-122"/>
                <a:ea typeface="微软雅黑" pitchFamily="34" charset="-122"/>
                <a:cs typeface="Tahoma" pitchFamily="34" charset="0"/>
              </a:rPr>
              <a:t>东南大学信息科学与工程学院</a:t>
            </a:r>
            <a:endParaRPr lang="en-US" altLang="zh-CN" sz="1700" b="1" dirty="0">
              <a:solidFill>
                <a:srgbClr val="FC6204"/>
              </a:solidFill>
              <a:latin typeface="微软雅黑" pitchFamily="34" charset="-122"/>
              <a:ea typeface="微软雅黑" pitchFamily="34" charset="-122"/>
              <a:cs typeface="Tahoma" pitchFamily="34" charset="0"/>
            </a:endParaRPr>
          </a:p>
        </p:txBody>
      </p:sp>
      <p:sp>
        <p:nvSpPr>
          <p:cNvPr id="17" name="TextBox 18"/>
          <p:cNvSpPr txBox="1"/>
          <p:nvPr userDrawn="1"/>
        </p:nvSpPr>
        <p:spPr>
          <a:xfrm>
            <a:off x="7235825" y="5733256"/>
            <a:ext cx="1152599" cy="461665"/>
          </a:xfrm>
          <a:prstGeom prst="rect">
            <a:avLst/>
          </a:prstGeom>
          <a:noFill/>
          <a:effectLst>
            <a:reflection blurRad="6350" stA="50000" endA="300" endPos="38500" dist="50800" dir="5400000" sy="-100000" algn="bl" rotWithShape="0"/>
          </a:effectLst>
        </p:spPr>
        <p:txBody>
          <a:bodyPr wrap="square" rtlCol="0">
            <a:spAutoFit/>
          </a:bodyPr>
          <a:lstStyle/>
          <a:p>
            <a:r>
              <a:rPr lang="zh-CN" altLang="en-US" sz="2400" b="1" dirty="0">
                <a:solidFill>
                  <a:schemeClr val="tx1">
                    <a:lumMod val="65000"/>
                    <a:lumOff val="35000"/>
                  </a:schemeClr>
                </a:solidFill>
                <a:effectLst>
                  <a:reflection blurRad="6350" stA="55000" endA="300" endPos="45500" dir="5400000" sy="-100000" algn="bl" rotWithShape="0"/>
                </a:effectLst>
                <a:latin typeface="Broadway" pitchFamily="82" charset="0"/>
                <a:ea typeface="微软雅黑" panose="020B0503020204020204" pitchFamily="34" charset="-122"/>
                <a:cs typeface="经典繁仿黑" pitchFamily="49" charset="-122"/>
              </a:rPr>
              <a:t>王东明</a:t>
            </a:r>
          </a:p>
        </p:txBody>
      </p:sp>
      <p:pic>
        <p:nvPicPr>
          <p:cNvPr id="18" name="Picture 2" descr="D:\Teliss_Tong\Copy\定期备份\工作备份\！PPT图片及版面资源\06-PPT精选插图\04-图标\59E394F1F59BE1688CBD1D9A59D1E886.png"/>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555776" y="2986582"/>
            <a:ext cx="2885504" cy="3138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1214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decel="70000" fill="hold" grpId="0" nodeType="withEffect">
                                  <p:stCondLst>
                                    <p:cond delay="2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12" presetClass="entr" presetSubtype="4" fill="hold" nodeType="withEffect">
                                  <p:stCondLst>
                                    <p:cond delay="300"/>
                                  </p:stCondLst>
                                  <p:childTnLst>
                                    <p:set>
                                      <p:cBhvr>
                                        <p:cTn id="14" dur="1" fill="hold">
                                          <p:stCondLst>
                                            <p:cond delay="0"/>
                                          </p:stCondLst>
                                        </p:cTn>
                                        <p:tgtEl>
                                          <p:spTgt spid="8"/>
                                        </p:tgtEl>
                                        <p:attrNameLst>
                                          <p:attrName>style.visibility</p:attrName>
                                        </p:attrNameLst>
                                      </p:cBhvr>
                                      <p:to>
                                        <p:strVal val="visible"/>
                                      </p:to>
                                    </p:set>
                                    <p:animEffect transition="in" filter="slide(fromBottom)">
                                      <p:cBhvr>
                                        <p:cTn id="15" dur="500"/>
                                        <p:tgtEl>
                                          <p:spTgt spid="8"/>
                                        </p:tgtEl>
                                      </p:cBhvr>
                                    </p:animEffect>
                                  </p:childTnLst>
                                </p:cTn>
                              </p:par>
                              <p:par>
                                <p:cTn id="16" presetID="12" presetClass="entr" presetSubtype="4" fill="hold" grpId="0" nodeType="withEffect">
                                  <p:stCondLst>
                                    <p:cond delay="500"/>
                                  </p:stCondLst>
                                  <p:childTnLst>
                                    <p:set>
                                      <p:cBhvr>
                                        <p:cTn id="17" dur="1" fill="hold">
                                          <p:stCondLst>
                                            <p:cond delay="0"/>
                                          </p:stCondLst>
                                        </p:cTn>
                                        <p:tgtEl>
                                          <p:spTgt spid="10"/>
                                        </p:tgtEl>
                                        <p:attrNameLst>
                                          <p:attrName>style.visibility</p:attrName>
                                        </p:attrNameLst>
                                      </p:cBhvr>
                                      <p:to>
                                        <p:strVal val="visible"/>
                                      </p:to>
                                    </p:set>
                                    <p:animEffect transition="in" filter="slide(fromBottom)">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sp>
        <p:nvSpPr>
          <p:cNvPr id="2" name="矩形 1"/>
          <p:cNvSpPr/>
          <p:nvPr userDrawn="1"/>
        </p:nvSpPr>
        <p:spPr>
          <a:xfrm>
            <a:off x="1043608" y="0"/>
            <a:ext cx="1080120" cy="1052736"/>
          </a:xfrm>
          <a:prstGeom prst="rect">
            <a:avLst/>
          </a:prstGeom>
          <a:solidFill>
            <a:srgbClr val="FF91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3" name="TextBox 2"/>
          <p:cNvSpPr txBox="1"/>
          <p:nvPr userDrawn="1"/>
        </p:nvSpPr>
        <p:spPr>
          <a:xfrm>
            <a:off x="1043608" y="548680"/>
            <a:ext cx="1080120" cy="40011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前言</a:t>
            </a:r>
          </a:p>
        </p:txBody>
      </p:sp>
      <p:sp>
        <p:nvSpPr>
          <p:cNvPr id="4" name="椭圆 3"/>
          <p:cNvSpPr/>
          <p:nvPr userDrawn="1"/>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5" name="TextBox 15"/>
          <p:cNvSpPr txBox="1"/>
          <p:nvPr userDrawn="1"/>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2237416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矩形 1"/>
          <p:cNvSpPr/>
          <p:nvPr userDrawn="1"/>
        </p:nvSpPr>
        <p:spPr>
          <a:xfrm>
            <a:off x="1043608" y="0"/>
            <a:ext cx="1080120" cy="1052736"/>
          </a:xfrm>
          <a:prstGeom prst="rect">
            <a:avLst/>
          </a:prstGeom>
          <a:solidFill>
            <a:srgbClr val="FF91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3" name="TextBox 2"/>
          <p:cNvSpPr txBox="1"/>
          <p:nvPr userDrawn="1"/>
        </p:nvSpPr>
        <p:spPr>
          <a:xfrm>
            <a:off x="1043608" y="526368"/>
            <a:ext cx="1080120" cy="40011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目录页</a:t>
            </a:r>
          </a:p>
        </p:txBody>
      </p:sp>
      <p:sp>
        <p:nvSpPr>
          <p:cNvPr id="6" name="椭圆 5"/>
          <p:cNvSpPr/>
          <p:nvPr userDrawn="1"/>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7" name="TextBox 15"/>
          <p:cNvSpPr txBox="1"/>
          <p:nvPr userDrawn="1"/>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pic>
        <p:nvPicPr>
          <p:cNvPr id="18" name="Picture 3" descr="D:\Teliss_Tong\Copy\定期备份\工作备份\！PPT图片及版面资源\06-PPT精选插图\04-图标\西装小人.pn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1043608" y="1852068"/>
            <a:ext cx="2210937" cy="3098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0766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sp>
        <p:nvSpPr>
          <p:cNvPr id="2" name="矩形 1"/>
          <p:cNvSpPr/>
          <p:nvPr userDrawn="1"/>
        </p:nvSpPr>
        <p:spPr>
          <a:xfrm>
            <a:off x="1043608" y="0"/>
            <a:ext cx="1080120" cy="1052736"/>
          </a:xfrm>
          <a:prstGeom prst="rect">
            <a:avLst/>
          </a:prstGeom>
          <a:solidFill>
            <a:srgbClr val="FF91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3" name="TextBox 2"/>
          <p:cNvSpPr txBox="1"/>
          <p:nvPr userDrawn="1"/>
        </p:nvSpPr>
        <p:spPr>
          <a:xfrm>
            <a:off x="1043608" y="526368"/>
            <a:ext cx="1080120" cy="40011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过渡页</a:t>
            </a:r>
          </a:p>
        </p:txBody>
      </p:sp>
      <p:sp>
        <p:nvSpPr>
          <p:cNvPr id="6" name="椭圆 5"/>
          <p:cNvSpPr/>
          <p:nvPr userDrawn="1"/>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7" name="TextBox 15"/>
          <p:cNvSpPr txBox="1"/>
          <p:nvPr userDrawn="1"/>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4246169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4354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cxnSp>
        <p:nvCxnSpPr>
          <p:cNvPr id="2" name="直接连接符 1"/>
          <p:cNvCxnSpPr/>
          <p:nvPr userDrawn="1"/>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userDrawn="1"/>
        </p:nvSpPr>
        <p:spPr bwMode="auto">
          <a:xfrm>
            <a:off x="1619251" y="548680"/>
            <a:ext cx="5905499"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endParaRPr lang="zh-CN" altLang="en-US" sz="3200" b="1" dirty="0">
              <a:solidFill>
                <a:prstClr val="white">
                  <a:lumMod val="65000"/>
                </a:prstClr>
              </a:solidFill>
              <a:latin typeface="Times New Roman" panose="02020603050405020304" pitchFamily="18" charset="0"/>
              <a:ea typeface="微软雅黑" pitchFamily="34" charset="-122"/>
              <a:cs typeface="Times New Roman" panose="02020603050405020304" pitchFamily="18" charset="0"/>
            </a:endParaRPr>
          </a:p>
        </p:txBody>
      </p:sp>
    </p:spTree>
    <p:extLst>
      <p:ext uri="{BB962C8B-B14F-4D97-AF65-F5344CB8AC3E}">
        <p14:creationId xmlns:p14="http://schemas.microsoft.com/office/powerpoint/2010/main" val="3132349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1000"/>
                                        <p:tgtEl>
                                          <p:spTgt spid="3"/>
                                        </p:tgtEl>
                                      </p:cBhvr>
                                    </p:animEffect>
                                  </p:childTnLst>
                                </p:cTn>
                              </p:par>
                              <p:par>
                                <p:cTn id="8" presetID="42"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2_标题和内容">
    <p:spTree>
      <p:nvGrpSpPr>
        <p:cNvPr id="1" name=""/>
        <p:cNvGrpSpPr/>
        <p:nvPr/>
      </p:nvGrpSpPr>
      <p:grpSpPr>
        <a:xfrm>
          <a:off x="0" y="0"/>
          <a:ext cx="0" cy="0"/>
          <a:chOff x="0" y="0"/>
          <a:chExt cx="0" cy="0"/>
        </a:xfrm>
      </p:grpSpPr>
      <p:sp>
        <p:nvSpPr>
          <p:cNvPr id="2" name="Oval 60">
            <a:hlinkClick r:id="rId2"/>
          </p:cNvPr>
          <p:cNvSpPr>
            <a:spLocks noChangeArrowheads="1"/>
          </p:cNvSpPr>
          <p:nvPr userDrawn="1"/>
        </p:nvSpPr>
        <p:spPr bwMode="auto">
          <a:xfrm>
            <a:off x="5004049" y="2757241"/>
            <a:ext cx="444010" cy="523875"/>
          </a:xfrm>
          <a:prstGeom prst="ellipse">
            <a:avLst/>
          </a:prstGeom>
          <a:solidFill>
            <a:srgbClr val="0079C5">
              <a:alpha val="0"/>
            </a:srgbClr>
          </a:solidFill>
          <a:ln w="33338">
            <a:noFill/>
            <a:miter lim="800000"/>
            <a:headEnd/>
            <a:tailEnd/>
          </a:ln>
        </p:spPr>
        <p:txBody>
          <a:bodyPr/>
          <a:lstStyle/>
          <a:p>
            <a:pPr fontAlgn="base">
              <a:spcBef>
                <a:spcPct val="0"/>
              </a:spcBef>
              <a:spcAft>
                <a:spcPct val="0"/>
              </a:spcAft>
            </a:pPr>
            <a:endParaRPr lang="zh-CN" altLang="en-US" dirty="0">
              <a:solidFill>
                <a:srgbClr val="000000"/>
              </a:solidFill>
              <a:latin typeface="Times New Roman" panose="02020603050405020304" pitchFamily="18" charset="0"/>
              <a:ea typeface="微软雅黑" panose="020B0503020204020204" pitchFamily="34" charset="-122"/>
            </a:endParaRPr>
          </a:p>
        </p:txBody>
      </p:sp>
      <p:sp>
        <p:nvSpPr>
          <p:cNvPr id="3" name="Oval 61">
            <a:hlinkClick r:id="rId3"/>
          </p:cNvPr>
          <p:cNvSpPr>
            <a:spLocks noChangeArrowheads="1"/>
          </p:cNvSpPr>
          <p:nvPr userDrawn="1"/>
        </p:nvSpPr>
        <p:spPr bwMode="auto">
          <a:xfrm>
            <a:off x="5016011" y="3565675"/>
            <a:ext cx="420086" cy="521494"/>
          </a:xfrm>
          <a:prstGeom prst="ellipse">
            <a:avLst/>
          </a:prstGeom>
          <a:solidFill>
            <a:srgbClr val="0079C5">
              <a:alpha val="0"/>
            </a:srgbClr>
          </a:solidFill>
          <a:ln w="33338">
            <a:noFill/>
            <a:miter lim="800000"/>
            <a:headEnd/>
            <a:tailEnd/>
          </a:ln>
        </p:spPr>
        <p:txBody>
          <a:bodyPr/>
          <a:lstStyle/>
          <a:p>
            <a:pPr fontAlgn="base">
              <a:spcBef>
                <a:spcPct val="0"/>
              </a:spcBef>
              <a:spcAft>
                <a:spcPct val="0"/>
              </a:spcAft>
            </a:pPr>
            <a:endParaRPr lang="zh-CN" altLang="en-US" dirty="0">
              <a:solidFill>
                <a:srgbClr val="000000"/>
              </a:solidFill>
              <a:latin typeface="Times New Roman" panose="02020603050405020304" pitchFamily="18" charset="0"/>
              <a:ea typeface="微软雅黑" panose="020B0503020204020204" pitchFamily="34" charset="-122"/>
            </a:endParaRPr>
          </a:p>
        </p:txBody>
      </p:sp>
      <p:sp>
        <p:nvSpPr>
          <p:cNvPr id="4" name="矩形​​ 5"/>
          <p:cNvSpPr>
            <a:spLocks noChangeArrowheads="1"/>
          </p:cNvSpPr>
          <p:nvPr userDrawn="1"/>
        </p:nvSpPr>
        <p:spPr bwMode="auto">
          <a:xfrm>
            <a:off x="98301" y="538162"/>
            <a:ext cx="8964613" cy="3946525"/>
          </a:xfrm>
          <a:prstGeom prst="rect">
            <a:avLst/>
          </a:prstGeom>
          <a:solidFill>
            <a:srgbClr val="00ADDC"/>
          </a:solidFill>
          <a:ln w="9525" cmpd="sng">
            <a:noFill/>
            <a:miter lim="800000"/>
            <a:headEnd/>
            <a:tailEnd/>
          </a:ln>
        </p:spPr>
        <p:txBody>
          <a:bodyPr lIns="288000" anchor="b"/>
          <a:lstStyle/>
          <a:p>
            <a:pPr fontAlgn="base">
              <a:spcBef>
                <a:spcPct val="0"/>
              </a:spcBef>
              <a:spcAft>
                <a:spcPct val="0"/>
              </a:spcAft>
            </a:pPr>
            <a:endParaRPr lang="zh-CN" altLang="zh-CN" sz="2800" dirty="0">
              <a:solidFill>
                <a:prstClr val="white"/>
              </a:solidFill>
              <a:ea typeface="微软雅黑" panose="020B0503020204020204" pitchFamily="34" charset="-122"/>
              <a:sym typeface="Arial" pitchFamily="34" charset="0"/>
            </a:endParaRPr>
          </a:p>
        </p:txBody>
      </p:sp>
      <p:sp>
        <p:nvSpPr>
          <p:cNvPr id="6" name="Line 33"/>
          <p:cNvSpPr>
            <a:spLocks noChangeShapeType="1"/>
          </p:cNvSpPr>
          <p:nvPr userDrawn="1"/>
        </p:nvSpPr>
        <p:spPr bwMode="auto">
          <a:xfrm flipV="1">
            <a:off x="5224465" y="1671390"/>
            <a:ext cx="1587" cy="2700338"/>
          </a:xfrm>
          <a:prstGeom prst="line">
            <a:avLst/>
          </a:prstGeom>
          <a:noFill/>
          <a:ln w="33338">
            <a:solidFill>
              <a:srgbClr val="FFFFFF"/>
            </a:solidFill>
            <a:miter lim="800000"/>
            <a:headEnd/>
            <a:tailEnd/>
          </a:ln>
        </p:spPr>
        <p:txBody>
          <a:bodyPr/>
          <a:lstStyle/>
          <a:p>
            <a:pPr fontAlgn="base">
              <a:spcBef>
                <a:spcPct val="0"/>
              </a:spcBef>
              <a:spcAft>
                <a:spcPct val="0"/>
              </a:spcAft>
            </a:pPr>
            <a:endParaRPr lang="zh-CN" altLang="en-US" dirty="0">
              <a:solidFill>
                <a:srgbClr val="FFFFFF"/>
              </a:solidFill>
              <a:latin typeface="Times New Roman" panose="02020603050405020304" pitchFamily="18" charset="0"/>
              <a:ea typeface="微软雅黑" panose="020B0503020204020204" pitchFamily="34" charset="-122"/>
            </a:endParaRPr>
          </a:p>
        </p:txBody>
      </p:sp>
      <p:sp>
        <p:nvSpPr>
          <p:cNvPr id="8" name="Freeform 18"/>
          <p:cNvSpPr>
            <a:spLocks/>
          </p:cNvSpPr>
          <p:nvPr userDrawn="1"/>
        </p:nvSpPr>
        <p:spPr bwMode="auto">
          <a:xfrm>
            <a:off x="1366838" y="2767956"/>
            <a:ext cx="201612" cy="1279922"/>
          </a:xfrm>
          <a:custGeom>
            <a:avLst/>
            <a:gdLst>
              <a:gd name="T0" fmla="*/ 127 w 127"/>
              <a:gd name="T1" fmla="*/ 0 h 1075"/>
              <a:gd name="T2" fmla="*/ 0 w 127"/>
              <a:gd name="T3" fmla="*/ 1075 h 1075"/>
              <a:gd name="T4" fmla="*/ 127 w 127"/>
              <a:gd name="T5" fmla="*/ 0 h 1075"/>
              <a:gd name="T6" fmla="*/ 0 60000 65536"/>
              <a:gd name="T7" fmla="*/ 0 60000 65536"/>
              <a:gd name="T8" fmla="*/ 0 60000 65536"/>
              <a:gd name="T9" fmla="*/ 0 w 127"/>
              <a:gd name="T10" fmla="*/ 0 h 1075"/>
              <a:gd name="T11" fmla="*/ 127 w 127"/>
              <a:gd name="T12" fmla="*/ 1075 h 1075"/>
            </a:gdLst>
            <a:ahLst/>
            <a:cxnLst>
              <a:cxn ang="T6">
                <a:pos x="T0" y="T1"/>
              </a:cxn>
              <a:cxn ang="T7">
                <a:pos x="T2" y="T3"/>
              </a:cxn>
              <a:cxn ang="T8">
                <a:pos x="T4" y="T5"/>
              </a:cxn>
            </a:cxnLst>
            <a:rect l="T9" t="T10" r="T11" b="T12"/>
            <a:pathLst>
              <a:path w="127" h="1075">
                <a:moveTo>
                  <a:pt x="127" y="0"/>
                </a:moveTo>
                <a:lnTo>
                  <a:pt x="0" y="1075"/>
                </a:lnTo>
                <a:lnTo>
                  <a:pt x="127" y="0"/>
                </a:lnTo>
                <a:close/>
              </a:path>
            </a:pathLst>
          </a:custGeom>
          <a:solidFill>
            <a:srgbClr val="FFFFFF"/>
          </a:solidFill>
          <a:ln w="9525">
            <a:noFill/>
            <a:round/>
            <a:headEnd/>
            <a:tailEnd/>
          </a:ln>
        </p:spPr>
        <p:txBody>
          <a:bodyPr/>
          <a:lstStyle/>
          <a:p>
            <a:pPr fontAlgn="base">
              <a:spcBef>
                <a:spcPct val="0"/>
              </a:spcBef>
              <a:spcAft>
                <a:spcPct val="0"/>
              </a:spcAft>
            </a:pPr>
            <a:endParaRPr lang="zh-CN" altLang="en-US" dirty="0">
              <a:solidFill>
                <a:srgbClr val="FFFFFF"/>
              </a:solidFill>
              <a:latin typeface="Times New Roman" panose="02020603050405020304" pitchFamily="18" charset="0"/>
              <a:ea typeface="微软雅黑" panose="020B0503020204020204" pitchFamily="34" charset="-122"/>
            </a:endParaRPr>
          </a:p>
        </p:txBody>
      </p:sp>
      <p:sp>
        <p:nvSpPr>
          <p:cNvPr id="10" name="Freeform 20"/>
          <p:cNvSpPr>
            <a:spLocks/>
          </p:cNvSpPr>
          <p:nvPr userDrawn="1"/>
        </p:nvSpPr>
        <p:spPr bwMode="auto">
          <a:xfrm>
            <a:off x="2717800" y="2561978"/>
            <a:ext cx="7938" cy="1806178"/>
          </a:xfrm>
          <a:custGeom>
            <a:avLst/>
            <a:gdLst>
              <a:gd name="T0" fmla="*/ 0 w 5"/>
              <a:gd name="T1" fmla="*/ 0 h 1517"/>
              <a:gd name="T2" fmla="*/ 5 w 5"/>
              <a:gd name="T3" fmla="*/ 1517 h 1517"/>
              <a:gd name="T4" fmla="*/ 0 w 5"/>
              <a:gd name="T5" fmla="*/ 0 h 1517"/>
              <a:gd name="T6" fmla="*/ 0 60000 65536"/>
              <a:gd name="T7" fmla="*/ 0 60000 65536"/>
              <a:gd name="T8" fmla="*/ 0 60000 65536"/>
              <a:gd name="T9" fmla="*/ 0 w 5"/>
              <a:gd name="T10" fmla="*/ 0 h 1517"/>
              <a:gd name="T11" fmla="*/ 5 w 5"/>
              <a:gd name="T12" fmla="*/ 1517 h 1517"/>
            </a:gdLst>
            <a:ahLst/>
            <a:cxnLst>
              <a:cxn ang="T6">
                <a:pos x="T0" y="T1"/>
              </a:cxn>
              <a:cxn ang="T7">
                <a:pos x="T2" y="T3"/>
              </a:cxn>
              <a:cxn ang="T8">
                <a:pos x="T4" y="T5"/>
              </a:cxn>
            </a:cxnLst>
            <a:rect l="T9" t="T10" r="T11" b="T12"/>
            <a:pathLst>
              <a:path w="5" h="1517">
                <a:moveTo>
                  <a:pt x="0" y="0"/>
                </a:moveTo>
                <a:lnTo>
                  <a:pt x="5" y="1517"/>
                </a:lnTo>
                <a:lnTo>
                  <a:pt x="0" y="0"/>
                </a:lnTo>
                <a:close/>
              </a:path>
            </a:pathLst>
          </a:custGeom>
          <a:solidFill>
            <a:srgbClr val="FFFFFF"/>
          </a:solidFill>
          <a:ln w="9525">
            <a:noFill/>
            <a:round/>
            <a:headEnd/>
            <a:tailEnd/>
          </a:ln>
        </p:spPr>
        <p:txBody>
          <a:bodyPr/>
          <a:lstStyle/>
          <a:p>
            <a:pPr fontAlgn="base">
              <a:spcBef>
                <a:spcPct val="0"/>
              </a:spcBef>
              <a:spcAft>
                <a:spcPct val="0"/>
              </a:spcAft>
            </a:pPr>
            <a:endParaRPr lang="zh-CN" altLang="en-US" dirty="0">
              <a:solidFill>
                <a:srgbClr val="FFFFFF"/>
              </a:solidFill>
              <a:latin typeface="Times New Roman" panose="02020603050405020304" pitchFamily="18" charset="0"/>
              <a:ea typeface="微软雅黑" panose="020B0503020204020204" pitchFamily="34" charset="-122"/>
            </a:endParaRPr>
          </a:p>
        </p:txBody>
      </p:sp>
      <p:sp>
        <p:nvSpPr>
          <p:cNvPr id="12" name="Oval 22"/>
          <p:cNvSpPr>
            <a:spLocks noChangeArrowheads="1"/>
          </p:cNvSpPr>
          <p:nvPr userDrawn="1"/>
        </p:nvSpPr>
        <p:spPr bwMode="auto">
          <a:xfrm>
            <a:off x="4716019" y="692696"/>
            <a:ext cx="1008109" cy="978694"/>
          </a:xfrm>
          <a:prstGeom prst="ellipse">
            <a:avLst/>
          </a:prstGeom>
          <a:noFill/>
          <a:ln w="33338">
            <a:solidFill>
              <a:srgbClr val="FFFFFF"/>
            </a:solidFill>
            <a:miter lim="800000"/>
            <a:headEnd/>
            <a:tailEnd/>
          </a:ln>
        </p:spPr>
        <p:txBody>
          <a:bodyPr/>
          <a:lstStyle/>
          <a:p>
            <a:pPr fontAlgn="base">
              <a:spcBef>
                <a:spcPct val="0"/>
              </a:spcBef>
              <a:spcAft>
                <a:spcPct val="0"/>
              </a:spcAft>
            </a:pPr>
            <a:r>
              <a:rPr lang="zh-CN" altLang="en-US" sz="2000" b="1" dirty="0">
                <a:solidFill>
                  <a:prstClr val="white"/>
                </a:solidFill>
                <a:ea typeface="微软雅黑" panose="020B0503020204020204" pitchFamily="34" charset="-122"/>
              </a:rPr>
              <a:t>授课教师</a:t>
            </a:r>
          </a:p>
        </p:txBody>
      </p:sp>
      <p:sp>
        <p:nvSpPr>
          <p:cNvPr id="14" name="Oval 25"/>
          <p:cNvSpPr>
            <a:spLocks noChangeArrowheads="1"/>
          </p:cNvSpPr>
          <p:nvPr userDrawn="1"/>
        </p:nvSpPr>
        <p:spPr bwMode="auto">
          <a:xfrm>
            <a:off x="4944003" y="1965479"/>
            <a:ext cx="564102" cy="523876"/>
          </a:xfrm>
          <a:prstGeom prst="ellipse">
            <a:avLst/>
          </a:prstGeom>
          <a:solidFill>
            <a:schemeClr val="accent1"/>
          </a:solidFill>
          <a:ln w="33338">
            <a:solidFill>
              <a:srgbClr val="FFFFFF"/>
            </a:solidFill>
            <a:miter lim="800000"/>
            <a:headEnd/>
            <a:tailEnd/>
          </a:ln>
        </p:spPr>
        <p:txBody>
          <a:bodyPr/>
          <a:lstStyle/>
          <a:p>
            <a:pPr fontAlgn="base">
              <a:spcBef>
                <a:spcPct val="0"/>
              </a:spcBef>
              <a:spcAft>
                <a:spcPct val="0"/>
              </a:spcAft>
            </a:pPr>
            <a:endParaRPr lang="zh-CN" altLang="en-US" dirty="0">
              <a:solidFill>
                <a:srgbClr val="000000"/>
              </a:solidFill>
              <a:latin typeface="Times New Roman" panose="02020603050405020304" pitchFamily="18" charset="0"/>
              <a:ea typeface="微软雅黑" panose="020B0503020204020204" pitchFamily="34" charset="-122"/>
            </a:endParaRPr>
          </a:p>
        </p:txBody>
      </p:sp>
      <p:grpSp>
        <p:nvGrpSpPr>
          <p:cNvPr id="16" name="Group 63"/>
          <p:cNvGrpSpPr>
            <a:grpSpLocks/>
          </p:cNvGrpSpPr>
          <p:nvPr userDrawn="1"/>
        </p:nvGrpSpPr>
        <p:grpSpPr bwMode="auto">
          <a:xfrm>
            <a:off x="4944004" y="2757241"/>
            <a:ext cx="564100" cy="523875"/>
            <a:chOff x="3073" y="2610"/>
            <a:chExt cx="438" cy="440"/>
          </a:xfrm>
        </p:grpSpPr>
        <p:sp>
          <p:nvSpPr>
            <p:cNvPr id="17" name="Rectangle 28"/>
            <p:cNvSpPr>
              <a:spLocks noChangeArrowheads="1"/>
            </p:cNvSpPr>
            <p:nvPr/>
          </p:nvSpPr>
          <p:spPr bwMode="auto">
            <a:xfrm>
              <a:off x="3181" y="2748"/>
              <a:ext cx="222" cy="164"/>
            </a:xfrm>
            <a:prstGeom prst="rect">
              <a:avLst/>
            </a:prstGeom>
            <a:solidFill>
              <a:srgbClr val="FFFFFF"/>
            </a:solidFill>
            <a:ln w="11113">
              <a:noFill/>
              <a:miter lim="800000"/>
              <a:headEnd/>
              <a:tailEnd/>
            </a:ln>
          </p:spPr>
          <p:txBody>
            <a:bodyPr/>
            <a:lstStyle/>
            <a:p>
              <a:pPr fontAlgn="base">
                <a:spcBef>
                  <a:spcPct val="0"/>
                </a:spcBef>
                <a:spcAft>
                  <a:spcPct val="0"/>
                </a:spcAft>
              </a:pPr>
              <a:endParaRPr lang="zh-CN" altLang="en-US" dirty="0">
                <a:solidFill>
                  <a:srgbClr val="000000"/>
                </a:solidFill>
                <a:latin typeface="Times New Roman" panose="02020603050405020304" pitchFamily="18" charset="0"/>
                <a:ea typeface="微软雅黑" panose="020B0503020204020204" pitchFamily="34" charset="-122"/>
              </a:endParaRPr>
            </a:p>
          </p:txBody>
        </p:sp>
        <p:sp>
          <p:nvSpPr>
            <p:cNvPr id="18" name="Freeform 29"/>
            <p:cNvSpPr>
              <a:spLocks/>
            </p:cNvSpPr>
            <p:nvPr/>
          </p:nvSpPr>
          <p:spPr bwMode="auto">
            <a:xfrm>
              <a:off x="3182" y="2748"/>
              <a:ext cx="220" cy="110"/>
            </a:xfrm>
            <a:custGeom>
              <a:avLst/>
              <a:gdLst>
                <a:gd name="T0" fmla="*/ 0 w 278"/>
                <a:gd name="T1" fmla="*/ 0 h 140"/>
                <a:gd name="T2" fmla="*/ 138 w 278"/>
                <a:gd name="T3" fmla="*/ 140 h 140"/>
                <a:gd name="T4" fmla="*/ 278 w 278"/>
                <a:gd name="T5" fmla="*/ 0 h 140"/>
                <a:gd name="T6" fmla="*/ 0 w 278"/>
                <a:gd name="T7" fmla="*/ 0 h 140"/>
                <a:gd name="T8" fmla="*/ 0 60000 65536"/>
                <a:gd name="T9" fmla="*/ 0 60000 65536"/>
                <a:gd name="T10" fmla="*/ 0 60000 65536"/>
                <a:gd name="T11" fmla="*/ 0 60000 65536"/>
                <a:gd name="T12" fmla="*/ 0 w 278"/>
                <a:gd name="T13" fmla="*/ 0 h 140"/>
                <a:gd name="T14" fmla="*/ 278 w 278"/>
                <a:gd name="T15" fmla="*/ 140 h 140"/>
              </a:gdLst>
              <a:ahLst/>
              <a:cxnLst>
                <a:cxn ang="T8">
                  <a:pos x="T0" y="T1"/>
                </a:cxn>
                <a:cxn ang="T9">
                  <a:pos x="T2" y="T3"/>
                </a:cxn>
                <a:cxn ang="T10">
                  <a:pos x="T4" y="T5"/>
                </a:cxn>
                <a:cxn ang="T11">
                  <a:pos x="T6" y="T7"/>
                </a:cxn>
              </a:cxnLst>
              <a:rect l="T12" t="T13" r="T14" b="T15"/>
              <a:pathLst>
                <a:path w="278" h="140">
                  <a:moveTo>
                    <a:pt x="0" y="0"/>
                  </a:moveTo>
                  <a:lnTo>
                    <a:pt x="138" y="140"/>
                  </a:lnTo>
                  <a:lnTo>
                    <a:pt x="278" y="0"/>
                  </a:lnTo>
                  <a:lnTo>
                    <a:pt x="0" y="0"/>
                  </a:lnTo>
                  <a:close/>
                </a:path>
              </a:pathLst>
            </a:custGeom>
            <a:solidFill>
              <a:srgbClr val="FFFFFF"/>
            </a:solidFill>
            <a:ln w="19050" cap="flat" cmpd="sng">
              <a:solidFill>
                <a:schemeClr val="accent1"/>
              </a:solidFill>
              <a:prstDash val="solid"/>
              <a:miter lim="800000"/>
              <a:headEnd/>
              <a:tailEnd/>
            </a:ln>
          </p:spPr>
          <p:txBody>
            <a:bodyPr/>
            <a:lstStyle/>
            <a:p>
              <a:pPr fontAlgn="base">
                <a:spcBef>
                  <a:spcPct val="0"/>
                </a:spcBef>
                <a:spcAft>
                  <a:spcPct val="0"/>
                </a:spcAft>
              </a:pPr>
              <a:endParaRPr lang="zh-CN" altLang="en-US" dirty="0">
                <a:solidFill>
                  <a:srgbClr val="FFFFFF"/>
                </a:solidFill>
                <a:latin typeface="Times New Roman" panose="02020603050405020304" pitchFamily="18" charset="0"/>
                <a:ea typeface="微软雅黑" panose="020B0503020204020204" pitchFamily="34" charset="-122"/>
              </a:endParaRPr>
            </a:p>
          </p:txBody>
        </p:sp>
        <p:sp>
          <p:nvSpPr>
            <p:cNvPr id="19" name="Oval 27"/>
            <p:cNvSpPr>
              <a:spLocks noChangeArrowheads="1"/>
            </p:cNvSpPr>
            <p:nvPr/>
          </p:nvSpPr>
          <p:spPr bwMode="auto">
            <a:xfrm>
              <a:off x="3073" y="2610"/>
              <a:ext cx="438" cy="440"/>
            </a:xfrm>
            <a:prstGeom prst="ellipse">
              <a:avLst/>
            </a:prstGeom>
            <a:solidFill>
              <a:schemeClr val="accent1"/>
            </a:solidFill>
            <a:ln w="33338">
              <a:solidFill>
                <a:srgbClr val="FFFFFF"/>
              </a:solidFill>
              <a:miter lim="800000"/>
              <a:headEnd/>
              <a:tailEnd/>
            </a:ln>
          </p:spPr>
          <p:txBody>
            <a:bodyPr/>
            <a:lstStyle/>
            <a:p>
              <a:pPr fontAlgn="base">
                <a:spcBef>
                  <a:spcPct val="0"/>
                </a:spcBef>
                <a:spcAft>
                  <a:spcPct val="0"/>
                </a:spcAft>
              </a:pPr>
              <a:endParaRPr lang="zh-CN" altLang="en-US" dirty="0">
                <a:solidFill>
                  <a:srgbClr val="000000"/>
                </a:solidFill>
                <a:latin typeface="Times New Roman" panose="02020603050405020304" pitchFamily="18" charset="0"/>
                <a:ea typeface="微软雅黑" panose="020B0503020204020204" pitchFamily="34" charset="-122"/>
              </a:endParaRPr>
            </a:p>
          </p:txBody>
        </p:sp>
      </p:grpSp>
      <p:grpSp>
        <p:nvGrpSpPr>
          <p:cNvPr id="20" name="Group 64"/>
          <p:cNvGrpSpPr>
            <a:grpSpLocks/>
          </p:cNvGrpSpPr>
          <p:nvPr userDrawn="1"/>
        </p:nvGrpSpPr>
        <p:grpSpPr bwMode="auto">
          <a:xfrm>
            <a:off x="4944004" y="3565675"/>
            <a:ext cx="564100" cy="521494"/>
            <a:chOff x="3073" y="3289"/>
            <a:chExt cx="438" cy="438"/>
          </a:xfrm>
        </p:grpSpPr>
        <p:sp>
          <p:nvSpPr>
            <p:cNvPr id="21" name="Freeform 32"/>
            <p:cNvSpPr>
              <a:spLocks/>
            </p:cNvSpPr>
            <p:nvPr/>
          </p:nvSpPr>
          <p:spPr bwMode="auto">
            <a:xfrm>
              <a:off x="3173" y="3389"/>
              <a:ext cx="240" cy="241"/>
            </a:xfrm>
            <a:custGeom>
              <a:avLst/>
              <a:gdLst>
                <a:gd name="T0" fmla="*/ 303 w 303"/>
                <a:gd name="T1" fmla="*/ 263 h 305"/>
                <a:gd name="T2" fmla="*/ 171 w 303"/>
                <a:gd name="T3" fmla="*/ 131 h 305"/>
                <a:gd name="T4" fmla="*/ 223 w 303"/>
                <a:gd name="T5" fmla="*/ 77 h 305"/>
                <a:gd name="T6" fmla="*/ 0 w 303"/>
                <a:gd name="T7" fmla="*/ 0 h 305"/>
                <a:gd name="T8" fmla="*/ 76 w 303"/>
                <a:gd name="T9" fmla="*/ 224 h 305"/>
                <a:gd name="T10" fmla="*/ 129 w 303"/>
                <a:gd name="T11" fmla="*/ 170 h 305"/>
                <a:gd name="T12" fmla="*/ 262 w 303"/>
                <a:gd name="T13" fmla="*/ 305 h 305"/>
                <a:gd name="T14" fmla="*/ 303 w 303"/>
                <a:gd name="T15" fmla="*/ 263 h 305"/>
                <a:gd name="T16" fmla="*/ 0 60000 65536"/>
                <a:gd name="T17" fmla="*/ 0 60000 65536"/>
                <a:gd name="T18" fmla="*/ 0 60000 65536"/>
                <a:gd name="T19" fmla="*/ 0 60000 65536"/>
                <a:gd name="T20" fmla="*/ 0 60000 65536"/>
                <a:gd name="T21" fmla="*/ 0 60000 65536"/>
                <a:gd name="T22" fmla="*/ 0 60000 65536"/>
                <a:gd name="T23" fmla="*/ 0 60000 65536"/>
                <a:gd name="T24" fmla="*/ 0 w 303"/>
                <a:gd name="T25" fmla="*/ 0 h 305"/>
                <a:gd name="T26" fmla="*/ 303 w 303"/>
                <a:gd name="T27" fmla="*/ 305 h 30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3" h="305">
                  <a:moveTo>
                    <a:pt x="303" y="263"/>
                  </a:moveTo>
                  <a:lnTo>
                    <a:pt x="171" y="131"/>
                  </a:lnTo>
                  <a:lnTo>
                    <a:pt x="223" y="77"/>
                  </a:lnTo>
                  <a:lnTo>
                    <a:pt x="0" y="0"/>
                  </a:lnTo>
                  <a:lnTo>
                    <a:pt x="76" y="224"/>
                  </a:lnTo>
                  <a:lnTo>
                    <a:pt x="129" y="170"/>
                  </a:lnTo>
                  <a:lnTo>
                    <a:pt x="262" y="305"/>
                  </a:lnTo>
                  <a:lnTo>
                    <a:pt x="303" y="263"/>
                  </a:lnTo>
                  <a:close/>
                </a:path>
              </a:pathLst>
            </a:custGeom>
            <a:solidFill>
              <a:schemeClr val="bg1"/>
            </a:solidFill>
            <a:ln w="11113" cap="flat">
              <a:noFill/>
              <a:prstDash val="solid"/>
              <a:miter lim="800000"/>
              <a:headEnd/>
              <a:tailEnd/>
            </a:ln>
          </p:spPr>
          <p:txBody>
            <a:bodyPr/>
            <a:lstStyle/>
            <a:p>
              <a:pPr fontAlgn="base">
                <a:spcBef>
                  <a:spcPct val="0"/>
                </a:spcBef>
                <a:spcAft>
                  <a:spcPct val="0"/>
                </a:spcAft>
              </a:pPr>
              <a:endParaRPr lang="zh-CN" altLang="en-US" dirty="0">
                <a:solidFill>
                  <a:srgbClr val="FFFFFF"/>
                </a:solidFill>
                <a:latin typeface="Times New Roman" panose="02020603050405020304" pitchFamily="18" charset="0"/>
                <a:ea typeface="微软雅黑" panose="020B0503020204020204" pitchFamily="34" charset="-122"/>
              </a:endParaRPr>
            </a:p>
          </p:txBody>
        </p:sp>
        <p:sp>
          <p:nvSpPr>
            <p:cNvPr id="22" name="Oval 30"/>
            <p:cNvSpPr>
              <a:spLocks noChangeArrowheads="1"/>
            </p:cNvSpPr>
            <p:nvPr/>
          </p:nvSpPr>
          <p:spPr bwMode="auto">
            <a:xfrm>
              <a:off x="3073" y="3289"/>
              <a:ext cx="438" cy="438"/>
            </a:xfrm>
            <a:prstGeom prst="ellipse">
              <a:avLst/>
            </a:prstGeom>
            <a:solidFill>
              <a:schemeClr val="accent1"/>
            </a:solidFill>
            <a:ln w="33338">
              <a:solidFill>
                <a:srgbClr val="FFFFFF"/>
              </a:solidFill>
              <a:miter lim="800000"/>
              <a:headEnd/>
              <a:tailEnd/>
            </a:ln>
          </p:spPr>
          <p:txBody>
            <a:bodyPr/>
            <a:lstStyle/>
            <a:p>
              <a:pPr fontAlgn="base">
                <a:spcBef>
                  <a:spcPct val="0"/>
                </a:spcBef>
                <a:spcAft>
                  <a:spcPct val="0"/>
                </a:spcAft>
              </a:pPr>
              <a:endParaRPr lang="zh-CN" altLang="en-US" dirty="0">
                <a:solidFill>
                  <a:srgbClr val="000000"/>
                </a:solidFill>
                <a:latin typeface="Times New Roman" panose="02020603050405020304" pitchFamily="18" charset="0"/>
                <a:ea typeface="微软雅黑" panose="020B0503020204020204" pitchFamily="34" charset="-122"/>
              </a:endParaRPr>
            </a:p>
          </p:txBody>
        </p:sp>
      </p:grpSp>
      <p:sp>
        <p:nvSpPr>
          <p:cNvPr id="23" name="Line 43"/>
          <p:cNvSpPr>
            <a:spLocks noChangeShapeType="1"/>
          </p:cNvSpPr>
          <p:nvPr userDrawn="1"/>
        </p:nvSpPr>
        <p:spPr bwMode="auto">
          <a:xfrm>
            <a:off x="774700" y="2878685"/>
            <a:ext cx="1588" cy="1190"/>
          </a:xfrm>
          <a:prstGeom prst="line">
            <a:avLst/>
          </a:prstGeom>
          <a:noFill/>
          <a:ln w="9525">
            <a:noFill/>
            <a:round/>
            <a:headEnd/>
            <a:tailEnd/>
          </a:ln>
        </p:spPr>
        <p:txBody>
          <a:bodyPr/>
          <a:lstStyle/>
          <a:p>
            <a:pPr fontAlgn="base">
              <a:spcBef>
                <a:spcPct val="0"/>
              </a:spcBef>
              <a:spcAft>
                <a:spcPct val="0"/>
              </a:spcAft>
            </a:pPr>
            <a:endParaRPr lang="zh-CN" altLang="en-US" dirty="0">
              <a:solidFill>
                <a:srgbClr val="FFFFFF"/>
              </a:solidFill>
              <a:latin typeface="Times New Roman" panose="02020603050405020304" pitchFamily="18" charset="0"/>
              <a:ea typeface="微软雅黑" panose="020B0503020204020204" pitchFamily="34" charset="-122"/>
            </a:endParaRPr>
          </a:p>
        </p:txBody>
      </p:sp>
      <p:sp>
        <p:nvSpPr>
          <p:cNvPr id="24" name="Line 45"/>
          <p:cNvSpPr>
            <a:spLocks noChangeShapeType="1"/>
          </p:cNvSpPr>
          <p:nvPr userDrawn="1"/>
        </p:nvSpPr>
        <p:spPr bwMode="auto">
          <a:xfrm>
            <a:off x="3741739" y="910581"/>
            <a:ext cx="1587" cy="1191"/>
          </a:xfrm>
          <a:prstGeom prst="line">
            <a:avLst/>
          </a:prstGeom>
          <a:noFill/>
          <a:ln w="9525">
            <a:noFill/>
            <a:round/>
            <a:headEnd/>
            <a:tailEnd/>
          </a:ln>
        </p:spPr>
        <p:txBody>
          <a:bodyPr/>
          <a:lstStyle/>
          <a:p>
            <a:pPr fontAlgn="base">
              <a:spcBef>
                <a:spcPct val="0"/>
              </a:spcBef>
              <a:spcAft>
                <a:spcPct val="0"/>
              </a:spcAft>
            </a:pPr>
            <a:endParaRPr lang="zh-CN" altLang="en-US" dirty="0">
              <a:solidFill>
                <a:srgbClr val="FFFFFF"/>
              </a:solidFill>
              <a:latin typeface="Times New Roman" panose="02020603050405020304" pitchFamily="18" charset="0"/>
              <a:ea typeface="微软雅黑" panose="020B0503020204020204" pitchFamily="34" charset="-122"/>
            </a:endParaRPr>
          </a:p>
        </p:txBody>
      </p:sp>
      <p:sp>
        <p:nvSpPr>
          <p:cNvPr id="31" name="Text Box 52"/>
          <p:cNvSpPr txBox="1">
            <a:spLocks noChangeArrowheads="1"/>
          </p:cNvSpPr>
          <p:nvPr userDrawn="1"/>
        </p:nvSpPr>
        <p:spPr bwMode="auto">
          <a:xfrm>
            <a:off x="5802759" y="2051200"/>
            <a:ext cx="3233737" cy="351235"/>
          </a:xfrm>
          <a:prstGeom prst="rect">
            <a:avLst/>
          </a:prstGeom>
          <a:noFill/>
          <a:ln w="9525">
            <a:noFill/>
            <a:miter lim="800000"/>
            <a:headEnd/>
            <a:tailEnd/>
          </a:ln>
        </p:spPr>
        <p:txBody>
          <a:bodyPr anchor="ctr"/>
          <a:lstStyle/>
          <a:p>
            <a:pPr fontAlgn="base">
              <a:spcBef>
                <a:spcPct val="50000"/>
              </a:spcBef>
              <a:spcAft>
                <a:spcPct val="0"/>
              </a:spcAft>
            </a:pPr>
            <a:r>
              <a:rPr lang="en-US" altLang="zh-CN" dirty="0">
                <a:solidFill>
                  <a:srgbClr val="FFFFFF"/>
                </a:solidFill>
                <a:latin typeface="Times New Roman" panose="02020603050405020304" pitchFamily="18" charset="0"/>
                <a:ea typeface="微软雅黑" panose="020B0503020204020204" pitchFamily="34" charset="-122"/>
              </a:rPr>
              <a:t>Tel</a:t>
            </a:r>
            <a:r>
              <a:rPr lang="zh-CN" altLang="en-US" dirty="0">
                <a:solidFill>
                  <a:srgbClr val="FFFFFF"/>
                </a:solidFill>
                <a:latin typeface="Times New Roman" panose="02020603050405020304" pitchFamily="18" charset="0"/>
                <a:ea typeface="微软雅黑" panose="020B0503020204020204" pitchFamily="34" charset="-122"/>
              </a:rPr>
              <a:t>：</a:t>
            </a:r>
            <a:r>
              <a:rPr lang="en-US" altLang="zh-CN" dirty="0">
                <a:solidFill>
                  <a:srgbClr val="FFFFFF"/>
                </a:solidFill>
                <a:latin typeface="Times New Roman" panose="02020603050405020304" pitchFamily="18" charset="0"/>
                <a:ea typeface="微软雅黑" panose="020B0503020204020204" pitchFamily="34" charset="-122"/>
              </a:rPr>
              <a:t>13915982595</a:t>
            </a:r>
            <a:endParaRPr lang="en-GB" altLang="zh-CN" dirty="0">
              <a:solidFill>
                <a:srgbClr val="FFFFFF"/>
              </a:solidFill>
              <a:latin typeface="Times New Roman" panose="02020603050405020304" pitchFamily="18" charset="0"/>
              <a:ea typeface="微软雅黑" panose="020B0503020204020204" pitchFamily="34" charset="-122"/>
            </a:endParaRPr>
          </a:p>
        </p:txBody>
      </p:sp>
      <p:sp>
        <p:nvSpPr>
          <p:cNvPr id="32" name="Text Box 54"/>
          <p:cNvSpPr txBox="1">
            <a:spLocks noChangeArrowheads="1"/>
          </p:cNvSpPr>
          <p:nvPr userDrawn="1"/>
        </p:nvSpPr>
        <p:spPr bwMode="auto">
          <a:xfrm>
            <a:off x="5796136" y="2842965"/>
            <a:ext cx="2952328" cy="351234"/>
          </a:xfrm>
          <a:prstGeom prst="rect">
            <a:avLst/>
          </a:prstGeom>
          <a:noFill/>
          <a:ln w="9525">
            <a:noFill/>
            <a:miter lim="800000"/>
            <a:headEnd/>
            <a:tailEnd/>
          </a:ln>
        </p:spPr>
        <p:txBody>
          <a:bodyPr anchor="ctr"/>
          <a:lstStyle/>
          <a:p>
            <a:pPr fontAlgn="base">
              <a:spcBef>
                <a:spcPct val="50000"/>
              </a:spcBef>
              <a:spcAft>
                <a:spcPct val="0"/>
              </a:spcAft>
            </a:pPr>
            <a:r>
              <a:rPr lang="en-US" altLang="zh-CN" dirty="0">
                <a:solidFill>
                  <a:srgbClr val="FFFFFF"/>
                </a:solidFill>
                <a:latin typeface="Times New Roman" panose="02020603050405020304" pitchFamily="18" charset="0"/>
                <a:ea typeface="微软雅黑" panose="020B0503020204020204" pitchFamily="34" charset="-122"/>
              </a:rPr>
              <a:t>wangdm@seu.edu.cn</a:t>
            </a:r>
          </a:p>
        </p:txBody>
      </p:sp>
      <p:sp>
        <p:nvSpPr>
          <p:cNvPr id="33" name="Text Box 59"/>
          <p:cNvSpPr txBox="1">
            <a:spLocks noChangeArrowheads="1"/>
          </p:cNvSpPr>
          <p:nvPr userDrawn="1"/>
        </p:nvSpPr>
        <p:spPr bwMode="auto">
          <a:xfrm>
            <a:off x="5796136" y="3668617"/>
            <a:ext cx="1728192" cy="351235"/>
          </a:xfrm>
          <a:prstGeom prst="rect">
            <a:avLst/>
          </a:prstGeom>
          <a:noFill/>
          <a:ln w="9525">
            <a:noFill/>
            <a:miter lim="800000"/>
            <a:headEnd/>
            <a:tailEnd/>
          </a:ln>
        </p:spPr>
        <p:txBody>
          <a:bodyPr anchor="ctr"/>
          <a:lstStyle/>
          <a:p>
            <a:pPr fontAlgn="base">
              <a:spcBef>
                <a:spcPct val="50000"/>
              </a:spcBef>
              <a:spcAft>
                <a:spcPct val="0"/>
              </a:spcAft>
            </a:pPr>
            <a:r>
              <a:rPr lang="zh-CN" altLang="en-US" sz="1600" b="1" dirty="0">
                <a:solidFill>
                  <a:srgbClr val="FFFFFF"/>
                </a:solidFill>
                <a:ea typeface="微软雅黑" panose="020B0503020204020204" pitchFamily="34" charset="-122"/>
              </a:rPr>
              <a:t>无线谷</a:t>
            </a:r>
            <a:r>
              <a:rPr lang="en-US" altLang="zh-CN" sz="1600" b="1" dirty="0">
                <a:solidFill>
                  <a:srgbClr val="FFFFFF"/>
                </a:solidFill>
                <a:ea typeface="微软雅黑" panose="020B0503020204020204" pitchFamily="34" charset="-122"/>
              </a:rPr>
              <a:t>1-205</a:t>
            </a:r>
            <a:endParaRPr lang="en-US" altLang="zh-CN" sz="1600" b="1" dirty="0">
              <a:solidFill>
                <a:srgbClr val="FFFFFF"/>
              </a:solidFill>
              <a:latin typeface="Times New Roman" panose="02020603050405020304" pitchFamily="18" charset="0"/>
              <a:ea typeface="微软雅黑" panose="020B0503020204020204" pitchFamily="34" charset="-122"/>
            </a:endParaRPr>
          </a:p>
        </p:txBody>
      </p:sp>
      <p:sp>
        <p:nvSpPr>
          <p:cNvPr id="34" name="Text Box 62"/>
          <p:cNvSpPr txBox="1">
            <a:spLocks noChangeArrowheads="1"/>
          </p:cNvSpPr>
          <p:nvPr userDrawn="1"/>
        </p:nvSpPr>
        <p:spPr bwMode="auto">
          <a:xfrm>
            <a:off x="5796136" y="764704"/>
            <a:ext cx="3252000" cy="919163"/>
          </a:xfrm>
          <a:prstGeom prst="rect">
            <a:avLst/>
          </a:prstGeom>
          <a:noFill/>
          <a:ln w="9525">
            <a:noFill/>
            <a:miter lim="800000"/>
            <a:headEnd/>
            <a:tailEnd/>
          </a:ln>
        </p:spPr>
        <p:txBody>
          <a:bodyPr anchor="ctr"/>
          <a:lstStyle/>
          <a:p>
            <a:pPr fontAlgn="base">
              <a:spcBef>
                <a:spcPct val="50000"/>
              </a:spcBef>
              <a:spcAft>
                <a:spcPct val="0"/>
              </a:spcAft>
            </a:pPr>
            <a:r>
              <a:rPr lang="zh-CN" altLang="en-US" sz="1600" b="1" dirty="0">
                <a:solidFill>
                  <a:srgbClr val="FFFFFF"/>
                </a:solidFill>
                <a:ea typeface="微软雅黑" panose="020B0503020204020204" pitchFamily="34" charset="-122"/>
              </a:rPr>
              <a:t>王东明</a:t>
            </a:r>
            <a:endParaRPr lang="en-US" altLang="zh-CN" sz="1600" b="1" dirty="0">
              <a:solidFill>
                <a:srgbClr val="FFFFFF"/>
              </a:solidFill>
              <a:ea typeface="微软雅黑" panose="020B0503020204020204" pitchFamily="34" charset="-122"/>
            </a:endParaRPr>
          </a:p>
          <a:p>
            <a:pPr fontAlgn="base">
              <a:spcBef>
                <a:spcPct val="50000"/>
              </a:spcBef>
              <a:spcAft>
                <a:spcPct val="0"/>
              </a:spcAft>
            </a:pPr>
            <a:r>
              <a:rPr lang="zh-CN" altLang="en-US" sz="1400" b="1" dirty="0">
                <a:solidFill>
                  <a:srgbClr val="FFFFFF"/>
                </a:solidFill>
                <a:ea typeface="微软雅黑" panose="020B0503020204020204" pitchFamily="34" charset="-122"/>
              </a:rPr>
              <a:t>移动通信国家重点实验室</a:t>
            </a:r>
            <a:endParaRPr lang="en-GB" altLang="zh-CN" sz="1100" b="1" dirty="0">
              <a:solidFill>
                <a:srgbClr val="FFFFFF"/>
              </a:solidFill>
              <a:ea typeface="微软雅黑" panose="020B0503020204020204" pitchFamily="34" charset="-122"/>
            </a:endParaRPr>
          </a:p>
        </p:txBody>
      </p:sp>
      <p:sp>
        <p:nvSpPr>
          <p:cNvPr id="35" name="TextBox 34"/>
          <p:cNvSpPr txBox="1"/>
          <p:nvPr userDrawn="1"/>
        </p:nvSpPr>
        <p:spPr>
          <a:xfrm>
            <a:off x="1700926" y="1766786"/>
            <a:ext cx="1569660" cy="923330"/>
          </a:xfrm>
          <a:prstGeom prst="rect">
            <a:avLst/>
          </a:prstGeom>
          <a:noFill/>
        </p:spPr>
        <p:txBody>
          <a:bodyPr wrap="none">
            <a:spAutoFit/>
          </a:bodyPr>
          <a:lstStyle/>
          <a:p>
            <a:pPr algn="ctr" fontAlgn="base">
              <a:spcBef>
                <a:spcPct val="0"/>
              </a:spcBef>
              <a:spcAft>
                <a:spcPct val="0"/>
              </a:spcAft>
              <a:defRPr/>
            </a:pPr>
            <a:r>
              <a:rPr lang="zh-CN" altLang="en-US" sz="5400" b="1" dirty="0">
                <a:solidFill>
                  <a:srgbClr val="FFFFFF"/>
                </a:solidFill>
                <a:ea typeface="微软雅黑" panose="020B0503020204020204" pitchFamily="34" charset="-122"/>
              </a:rPr>
              <a:t>剧终</a:t>
            </a:r>
            <a:endParaRPr lang="en-US" altLang="zh-CN" sz="5400" b="1" dirty="0">
              <a:solidFill>
                <a:srgbClr val="FFFFFF"/>
              </a:solidFill>
              <a:ea typeface="微软雅黑" panose="020B0503020204020204" pitchFamily="34" charset="-122"/>
            </a:endParaRPr>
          </a:p>
        </p:txBody>
      </p:sp>
      <p:pic>
        <p:nvPicPr>
          <p:cNvPr id="37" name="图片 3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061699" y="4609838"/>
            <a:ext cx="2889201" cy="1909115"/>
          </a:xfrm>
          <a:prstGeom prst="rect">
            <a:avLst/>
          </a:prstGeom>
        </p:spPr>
      </p:pic>
      <p:pic>
        <p:nvPicPr>
          <p:cNvPr id="38" name="图片 3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959579" y="4609838"/>
            <a:ext cx="3024336" cy="1921895"/>
          </a:xfrm>
          <a:prstGeom prst="rect">
            <a:avLst/>
          </a:prstGeom>
        </p:spPr>
      </p:pic>
      <p:pic>
        <p:nvPicPr>
          <p:cNvPr id="46" name="图片 4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79512" y="4603449"/>
            <a:ext cx="2863673" cy="1909115"/>
          </a:xfrm>
          <a:prstGeom prst="rect">
            <a:avLst/>
          </a:prstGeom>
        </p:spPr>
      </p:pic>
      <p:pic>
        <p:nvPicPr>
          <p:cNvPr id="40" name="图片 39"/>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5040742" y="2823944"/>
            <a:ext cx="402490" cy="402490"/>
          </a:xfrm>
          <a:prstGeom prst="rect">
            <a:avLst/>
          </a:prstGeom>
        </p:spPr>
      </p:pic>
      <p:pic>
        <p:nvPicPr>
          <p:cNvPr id="41" name="Picture 4" descr="E:\仝德志文件，勿删！\03-参考文档\！PPT图片及版面资源\06-PPT精选插图\04-图标\home256.png"/>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5063037" y="3651103"/>
            <a:ext cx="357899" cy="35789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5" descr="E:\仝德志文件，勿删！\03-参考文档\！PPT图片及版面资源\06-PPT精选插图\04-图标\png-0030.png"/>
          <p:cNvPicPr>
            <a:picLocks noChangeAspect="1" noChangeArrowheads="1"/>
          </p:cNvPicPr>
          <p:nvPr userDrawn="1"/>
        </p:nvPicPr>
        <p:blipFill>
          <a:blip r:embed="rId9">
            <a:extLst>
              <a:ext uri="{28A0092B-C50C-407E-A947-70E740481C1C}">
                <a14:useLocalDpi xmlns:a14="http://schemas.microsoft.com/office/drawing/2010/main"/>
              </a:ext>
            </a:extLst>
          </a:blip>
          <a:srcRect/>
          <a:stretch>
            <a:fillRect/>
          </a:stretch>
        </p:blipFill>
        <p:spPr bwMode="auto">
          <a:xfrm>
            <a:off x="5055260" y="2054293"/>
            <a:ext cx="348142" cy="348142"/>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34"/>
          <p:cNvSpPr txBox="1"/>
          <p:nvPr userDrawn="1"/>
        </p:nvSpPr>
        <p:spPr>
          <a:xfrm>
            <a:off x="742542" y="3267526"/>
            <a:ext cx="3775393" cy="523220"/>
          </a:xfrm>
          <a:prstGeom prst="rect">
            <a:avLst/>
          </a:prstGeom>
          <a:noFill/>
        </p:spPr>
        <p:txBody>
          <a:bodyPr wrap="none">
            <a:spAutoFit/>
          </a:bodyPr>
          <a:lstStyle/>
          <a:p>
            <a:pPr algn="ctr" fontAlgn="base">
              <a:spcBef>
                <a:spcPct val="0"/>
              </a:spcBef>
              <a:spcAft>
                <a:spcPct val="0"/>
              </a:spcAft>
              <a:defRPr/>
            </a:pPr>
            <a:r>
              <a:rPr lang="zh-CN" altLang="en-US" sz="2800" b="1" dirty="0">
                <a:solidFill>
                  <a:srgbClr val="FFFFFF"/>
                </a:solidFill>
                <a:ea typeface="微软雅黑" panose="020B0503020204020204" pitchFamily="34" charset="-122"/>
              </a:rPr>
              <a:t>预祝大家取得好成绩！</a:t>
            </a:r>
          </a:p>
        </p:txBody>
      </p:sp>
    </p:spTree>
    <p:extLst>
      <p:ext uri="{BB962C8B-B14F-4D97-AF65-F5344CB8AC3E}">
        <p14:creationId xmlns:p14="http://schemas.microsoft.com/office/powerpoint/2010/main" val="4246169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arn(inVertical)">
                                      <p:cBhvr>
                                        <p:cTn id="7" dur="500"/>
                                        <p:tgtEl>
                                          <p:spTgt spid="3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arn(inVertical)">
                                      <p:cBhvr>
                                        <p:cTn id="10" dur="500"/>
                                        <p:tgtEl>
                                          <p:spTgt spid="12"/>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barn(inVertical)">
                                      <p:cBhvr>
                                        <p:cTn id="13" dur="500"/>
                                        <p:tgtEl>
                                          <p:spTgt spid="34"/>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barn(inVertical)">
                                      <p:cBhvr>
                                        <p:cTn id="16" dur="500"/>
                                        <p:tgtEl>
                                          <p:spTgt spid="31"/>
                                        </p:tgtEl>
                                      </p:cBhvr>
                                    </p:animEffect>
                                  </p:childTnLst>
                                </p:cTn>
                              </p:par>
                              <p:par>
                                <p:cTn id="17" presetID="16" presetClass="entr" presetSubtype="21"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barn(inVertical)">
                                      <p:cBhvr>
                                        <p:cTn id="19" dur="500"/>
                                        <p:tgtEl>
                                          <p:spTgt spid="16"/>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barn(inVertical)">
                                      <p:cBhvr>
                                        <p:cTn id="22" dur="500"/>
                                        <p:tgtEl>
                                          <p:spTgt spid="32"/>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barn(inVertical)">
                                      <p:cBhvr>
                                        <p:cTn id="25" dur="500"/>
                                        <p:tgtEl>
                                          <p:spTgt spid="33"/>
                                        </p:tgtEl>
                                      </p:cBhvr>
                                    </p:animEffect>
                                  </p:childTnLst>
                                </p:cTn>
                              </p:par>
                              <p:par>
                                <p:cTn id="26" presetID="16" presetClass="entr" presetSubtype="21"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barn(inVertical)">
                                      <p:cBhvr>
                                        <p:cTn id="28" dur="500"/>
                                        <p:tgtEl>
                                          <p:spTgt spid="20"/>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arn(inVertical)">
                                      <p:cBhvr>
                                        <p:cTn id="31" dur="500"/>
                                        <p:tgtEl>
                                          <p:spTgt spid="2"/>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barn(inVertical)">
                                      <p:cBhvr>
                                        <p:cTn id="34" dur="500"/>
                                        <p:tgtEl>
                                          <p:spTgt spid="3"/>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arn(inVertical)">
                                      <p:cBhvr>
                                        <p:cTn id="37" dur="500"/>
                                        <p:tgtEl>
                                          <p:spTgt spid="6"/>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barn(inVertical)">
                                      <p:cBhvr>
                                        <p:cTn id="40" dur="500"/>
                                        <p:tgtEl>
                                          <p:spTgt spid="8"/>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barn(inVertical)">
                                      <p:cBhvr>
                                        <p:cTn id="43" dur="500"/>
                                        <p:tgtEl>
                                          <p:spTgt spid="10"/>
                                        </p:tgtEl>
                                      </p:cBhvr>
                                    </p:animEffect>
                                  </p:childTnLst>
                                </p:cTn>
                              </p:par>
                              <p:par>
                                <p:cTn id="44" presetID="16" presetClass="entr" presetSubtype="21" fill="hold" grpId="0" nodeType="withEffect" nodePh="1">
                                  <p:stCondLst>
                                    <p:cond delay="0"/>
                                  </p:stCondLst>
                                  <p:endCondLst>
                                    <p:cond evt="begin" delay="0">
                                      <p:tn val="44"/>
                                    </p:cond>
                                  </p:endCondLst>
                                  <p:childTnLst>
                                    <p:set>
                                      <p:cBhvr>
                                        <p:cTn id="45" dur="1" fill="hold">
                                          <p:stCondLst>
                                            <p:cond delay="0"/>
                                          </p:stCondLst>
                                        </p:cTn>
                                        <p:tgtEl>
                                          <p:spTgt spid="23"/>
                                        </p:tgtEl>
                                        <p:attrNameLst>
                                          <p:attrName>style.visibility</p:attrName>
                                        </p:attrNameLst>
                                      </p:cBhvr>
                                      <p:to>
                                        <p:strVal val="visible"/>
                                      </p:to>
                                    </p:set>
                                    <p:animEffect transition="in" filter="barn(inVertical)">
                                      <p:cBhvr>
                                        <p:cTn id="46" dur="500"/>
                                        <p:tgtEl>
                                          <p:spTgt spid="23"/>
                                        </p:tgtEl>
                                      </p:cBhvr>
                                    </p:animEffect>
                                  </p:childTnLst>
                                </p:cTn>
                              </p:par>
                              <p:par>
                                <p:cTn id="47" presetID="16" presetClass="entr" presetSubtype="21" fill="hold" grpId="0" nodeType="withEffect" nodePh="1">
                                  <p:stCondLst>
                                    <p:cond delay="0"/>
                                  </p:stCondLst>
                                  <p:endCondLst>
                                    <p:cond evt="begin" delay="0">
                                      <p:tn val="47"/>
                                    </p:cond>
                                  </p:endCondLst>
                                  <p:childTnLst>
                                    <p:set>
                                      <p:cBhvr>
                                        <p:cTn id="48" dur="1" fill="hold">
                                          <p:stCondLst>
                                            <p:cond delay="0"/>
                                          </p:stCondLst>
                                        </p:cTn>
                                        <p:tgtEl>
                                          <p:spTgt spid="24"/>
                                        </p:tgtEl>
                                        <p:attrNameLst>
                                          <p:attrName>style.visibility</p:attrName>
                                        </p:attrNameLst>
                                      </p:cBhvr>
                                      <p:to>
                                        <p:strVal val="visible"/>
                                      </p:to>
                                    </p:set>
                                    <p:animEffect transition="in" filter="barn(inVertical)">
                                      <p:cBhvr>
                                        <p:cTn id="49" dur="500"/>
                                        <p:tgtEl>
                                          <p:spTgt spid="24"/>
                                        </p:tgtEl>
                                      </p:cBhvr>
                                    </p:animEffect>
                                  </p:childTnLst>
                                </p:cTn>
                              </p:par>
                              <p:par>
                                <p:cTn id="50" presetID="53" presetClass="entr" presetSubtype="16" fill="hold" nodeType="withEffect">
                                  <p:stCondLst>
                                    <p:cond delay="0"/>
                                  </p:stCondLst>
                                  <p:childTnLst>
                                    <p:set>
                                      <p:cBhvr>
                                        <p:cTn id="51" dur="1" fill="hold">
                                          <p:stCondLst>
                                            <p:cond delay="0"/>
                                          </p:stCondLst>
                                        </p:cTn>
                                        <p:tgtEl>
                                          <p:spTgt spid="46"/>
                                        </p:tgtEl>
                                        <p:attrNameLst>
                                          <p:attrName>style.visibility</p:attrName>
                                        </p:attrNameLst>
                                      </p:cBhvr>
                                      <p:to>
                                        <p:strVal val="visible"/>
                                      </p:to>
                                    </p:set>
                                    <p:anim calcmode="lin" valueType="num">
                                      <p:cBhvr>
                                        <p:cTn id="52" dur="500" fill="hold"/>
                                        <p:tgtEl>
                                          <p:spTgt spid="46"/>
                                        </p:tgtEl>
                                        <p:attrNameLst>
                                          <p:attrName>ppt_w</p:attrName>
                                        </p:attrNameLst>
                                      </p:cBhvr>
                                      <p:tavLst>
                                        <p:tav tm="0">
                                          <p:val>
                                            <p:fltVal val="0"/>
                                          </p:val>
                                        </p:tav>
                                        <p:tav tm="100000">
                                          <p:val>
                                            <p:strVal val="#ppt_w"/>
                                          </p:val>
                                        </p:tav>
                                      </p:tavLst>
                                    </p:anim>
                                    <p:anim calcmode="lin" valueType="num">
                                      <p:cBhvr>
                                        <p:cTn id="53" dur="500" fill="hold"/>
                                        <p:tgtEl>
                                          <p:spTgt spid="46"/>
                                        </p:tgtEl>
                                        <p:attrNameLst>
                                          <p:attrName>ppt_h</p:attrName>
                                        </p:attrNameLst>
                                      </p:cBhvr>
                                      <p:tavLst>
                                        <p:tav tm="0">
                                          <p:val>
                                            <p:fltVal val="0"/>
                                          </p:val>
                                        </p:tav>
                                        <p:tav tm="100000">
                                          <p:val>
                                            <p:strVal val="#ppt_h"/>
                                          </p:val>
                                        </p:tav>
                                      </p:tavLst>
                                    </p:anim>
                                    <p:animEffect transition="in" filter="fade">
                                      <p:cBhvr>
                                        <p:cTn id="54" dur="500"/>
                                        <p:tgtEl>
                                          <p:spTgt spid="46"/>
                                        </p:tgtEl>
                                      </p:cBhvr>
                                    </p:animEffect>
                                  </p:childTnLst>
                                </p:cTn>
                              </p:par>
                              <p:par>
                                <p:cTn id="55" presetID="53" presetClass="entr" presetSubtype="16" fill="hold" nodeType="withEffect">
                                  <p:stCondLst>
                                    <p:cond delay="0"/>
                                  </p:stCondLst>
                                  <p:childTnLst>
                                    <p:set>
                                      <p:cBhvr>
                                        <p:cTn id="56" dur="1" fill="hold">
                                          <p:stCondLst>
                                            <p:cond delay="0"/>
                                          </p:stCondLst>
                                        </p:cTn>
                                        <p:tgtEl>
                                          <p:spTgt spid="37"/>
                                        </p:tgtEl>
                                        <p:attrNameLst>
                                          <p:attrName>style.visibility</p:attrName>
                                        </p:attrNameLst>
                                      </p:cBhvr>
                                      <p:to>
                                        <p:strVal val="visible"/>
                                      </p:to>
                                    </p:set>
                                    <p:anim calcmode="lin" valueType="num">
                                      <p:cBhvr>
                                        <p:cTn id="57" dur="500" fill="hold"/>
                                        <p:tgtEl>
                                          <p:spTgt spid="37"/>
                                        </p:tgtEl>
                                        <p:attrNameLst>
                                          <p:attrName>ppt_w</p:attrName>
                                        </p:attrNameLst>
                                      </p:cBhvr>
                                      <p:tavLst>
                                        <p:tav tm="0">
                                          <p:val>
                                            <p:fltVal val="0"/>
                                          </p:val>
                                        </p:tav>
                                        <p:tav tm="100000">
                                          <p:val>
                                            <p:strVal val="#ppt_w"/>
                                          </p:val>
                                        </p:tav>
                                      </p:tavLst>
                                    </p:anim>
                                    <p:anim calcmode="lin" valueType="num">
                                      <p:cBhvr>
                                        <p:cTn id="58" dur="500" fill="hold"/>
                                        <p:tgtEl>
                                          <p:spTgt spid="37"/>
                                        </p:tgtEl>
                                        <p:attrNameLst>
                                          <p:attrName>ppt_h</p:attrName>
                                        </p:attrNameLst>
                                      </p:cBhvr>
                                      <p:tavLst>
                                        <p:tav tm="0">
                                          <p:val>
                                            <p:fltVal val="0"/>
                                          </p:val>
                                        </p:tav>
                                        <p:tav tm="100000">
                                          <p:val>
                                            <p:strVal val="#ppt_h"/>
                                          </p:val>
                                        </p:tav>
                                      </p:tavLst>
                                    </p:anim>
                                    <p:animEffect transition="in" filter="fade">
                                      <p:cBhvr>
                                        <p:cTn id="59" dur="500"/>
                                        <p:tgtEl>
                                          <p:spTgt spid="37"/>
                                        </p:tgtEl>
                                      </p:cBhvr>
                                    </p:animEffect>
                                  </p:childTnLst>
                                </p:cTn>
                              </p:par>
                              <p:par>
                                <p:cTn id="60" presetID="53" presetClass="entr" presetSubtype="16" fill="hold" nodeType="withEffect">
                                  <p:stCondLst>
                                    <p:cond delay="0"/>
                                  </p:stCondLst>
                                  <p:childTnLst>
                                    <p:set>
                                      <p:cBhvr>
                                        <p:cTn id="61" dur="1" fill="hold">
                                          <p:stCondLst>
                                            <p:cond delay="0"/>
                                          </p:stCondLst>
                                        </p:cTn>
                                        <p:tgtEl>
                                          <p:spTgt spid="38"/>
                                        </p:tgtEl>
                                        <p:attrNameLst>
                                          <p:attrName>style.visibility</p:attrName>
                                        </p:attrNameLst>
                                      </p:cBhvr>
                                      <p:to>
                                        <p:strVal val="visible"/>
                                      </p:to>
                                    </p:set>
                                    <p:anim calcmode="lin" valueType="num">
                                      <p:cBhvr>
                                        <p:cTn id="62" dur="500" fill="hold"/>
                                        <p:tgtEl>
                                          <p:spTgt spid="38"/>
                                        </p:tgtEl>
                                        <p:attrNameLst>
                                          <p:attrName>ppt_w</p:attrName>
                                        </p:attrNameLst>
                                      </p:cBhvr>
                                      <p:tavLst>
                                        <p:tav tm="0">
                                          <p:val>
                                            <p:fltVal val="0"/>
                                          </p:val>
                                        </p:tav>
                                        <p:tav tm="100000">
                                          <p:val>
                                            <p:strVal val="#ppt_w"/>
                                          </p:val>
                                        </p:tav>
                                      </p:tavLst>
                                    </p:anim>
                                    <p:anim calcmode="lin" valueType="num">
                                      <p:cBhvr>
                                        <p:cTn id="63" dur="500" fill="hold"/>
                                        <p:tgtEl>
                                          <p:spTgt spid="38"/>
                                        </p:tgtEl>
                                        <p:attrNameLst>
                                          <p:attrName>ppt_h</p:attrName>
                                        </p:attrNameLst>
                                      </p:cBhvr>
                                      <p:tavLst>
                                        <p:tav tm="0">
                                          <p:val>
                                            <p:fltVal val="0"/>
                                          </p:val>
                                        </p:tav>
                                        <p:tav tm="100000">
                                          <p:val>
                                            <p:strVal val="#ppt_h"/>
                                          </p:val>
                                        </p:tav>
                                      </p:tavLst>
                                    </p:anim>
                                    <p:animEffect transition="in" filter="fade">
                                      <p:cBhvr>
                                        <p:cTn id="64" dur="500"/>
                                        <p:tgtEl>
                                          <p:spTgt spid="38"/>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barn(inVertical)">
                                      <p:cBhvr>
                                        <p:cTn id="6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8" grpId="0" animBg="1"/>
      <p:bldP spid="10" grpId="0" animBg="1"/>
      <p:bldP spid="12" grpId="0" animBg="1"/>
      <p:bldP spid="23" grpId="0"/>
      <p:bldP spid="24" grpId="0"/>
      <p:bldP spid="31" grpId="0"/>
      <p:bldP spid="32" grpId="0"/>
      <p:bldP spid="33" grpId="0"/>
      <p:bldP spid="34" grpId="0"/>
      <p:bldP spid="35" grpId="0"/>
      <p:bldP spid="30"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7" name="直接连接符 6"/>
          <p:cNvCxnSpPr/>
          <p:nvPr/>
        </p:nvCxnSpPr>
        <p:spPr>
          <a:xfrm>
            <a:off x="-32" y="6599238"/>
            <a:ext cx="730726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7367588" y="6165850"/>
            <a:ext cx="0" cy="43180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7451725" y="6308725"/>
            <a:ext cx="0" cy="288925"/>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611188" y="-26988"/>
            <a:ext cx="0" cy="431801"/>
          </a:xfrm>
          <a:prstGeom prst="line">
            <a:avLst/>
          </a:prstGeom>
          <a:ln w="762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768350" y="0"/>
            <a:ext cx="0" cy="287338"/>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椭圆 8"/>
          <p:cNvSpPr/>
          <p:nvPr userDrawn="1"/>
        </p:nvSpPr>
        <p:spPr>
          <a:xfrm>
            <a:off x="431188" y="6201750"/>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14" name="TextBox 15"/>
          <p:cNvSpPr txBox="1"/>
          <p:nvPr userDrawn="1"/>
        </p:nvSpPr>
        <p:spPr>
          <a:xfrm>
            <a:off x="285973" y="6212473"/>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pic>
        <p:nvPicPr>
          <p:cNvPr id="2" name="图片 1"/>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7610569" y="6043193"/>
            <a:ext cx="705847" cy="698175"/>
          </a:xfrm>
          <a:prstGeom prst="rect">
            <a:avLst/>
          </a:prstGeom>
        </p:spPr>
      </p:pic>
    </p:spTree>
    <p:extLst>
      <p:ext uri="{BB962C8B-B14F-4D97-AF65-F5344CB8AC3E}">
        <p14:creationId xmlns:p14="http://schemas.microsoft.com/office/powerpoint/2010/main" val="1710669755"/>
      </p:ext>
    </p:extLst>
  </p:cSld>
  <p:clrMap bg1="lt1" tx1="dk1" bg2="lt2" tx2="dk2" accent1="accent1" accent2="accent2" accent3="accent3" accent4="accent4" accent5="accent5" accent6="accent6" hlink="hlink" folHlink="folHlink"/>
  <p:sldLayoutIdLst>
    <p:sldLayoutId id="2147483680" r:id="rId1"/>
    <p:sldLayoutId id="2147483666" r:id="rId2"/>
    <p:sldLayoutId id="2147483671" r:id="rId3"/>
    <p:sldLayoutId id="2147483676" r:id="rId4"/>
    <p:sldLayoutId id="2147483677" r:id="rId5"/>
    <p:sldLayoutId id="2147483681" r:id="rId6"/>
    <p:sldLayoutId id="2147483678" r:id="rId7"/>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 Id="rId5" Type="http://schemas.openxmlformats.org/officeDocument/2006/relationships/image" Target="../media/image27.png"/><Relationship Id="rId4" Type="http://schemas.openxmlformats.org/officeDocument/2006/relationships/image" Target="../media/image17.jpeg"/></Relationships>
</file>

<file path=ppt/slides/_rels/slide7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4" Type="http://schemas.openxmlformats.org/officeDocument/2006/relationships/image" Target="../media/image28.e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4" Type="http://schemas.openxmlformats.org/officeDocument/2006/relationships/image" Target="../media/image29.e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3.vml"/><Relationship Id="rId4" Type="http://schemas.openxmlformats.org/officeDocument/2006/relationships/image" Target="../media/image31.emf"/></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878047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851274" y="1000116"/>
            <a:ext cx="5007006" cy="1143000"/>
          </a:xfrm>
          <a:prstGeom prst="rect">
            <a:avLst/>
          </a:prstGeom>
        </p:spPr>
        <p:txBody>
          <a:bodyPr rtlCol="0">
            <a:normAutofit/>
          </a:bodyPr>
          <a:lstStyle/>
          <a:p>
            <a:pPr eaLnBrk="1" fontAlgn="auto" hangingPunct="1">
              <a:spcAft>
                <a:spcPts val="0"/>
              </a:spcAft>
              <a:defRPr/>
            </a:pPr>
            <a:r>
              <a:rPr lang="zh-CN" altLang="en-US" sz="4400" dirty="0">
                <a:solidFill>
                  <a:schemeClr val="tx1">
                    <a:lumMod val="65000"/>
                    <a:lumOff val="35000"/>
                  </a:schemeClr>
                </a:solidFill>
                <a:latin typeface="Arial"/>
                <a:ea typeface="微软雅黑" panose="020B0503020204020204" pitchFamily="34" charset="-122"/>
                <a:cs typeface="Arial"/>
              </a:rPr>
              <a:t>本章</a:t>
            </a:r>
            <a:r>
              <a:rPr lang="zh-CN" altLang="en-US" sz="5300" dirty="0">
                <a:solidFill>
                  <a:srgbClr val="00C4F0"/>
                </a:solidFill>
                <a:ea typeface="微软雅黑" panose="020B0503020204020204" pitchFamily="34" charset="-122"/>
                <a:cs typeface="+mn-cs"/>
              </a:rPr>
              <a:t>目标</a:t>
            </a:r>
            <a:r>
              <a:rPr lang="en-US" altLang="zh-CN" dirty="0">
                <a:latin typeface="Arial"/>
                <a:ea typeface="微软雅黑" panose="020B0503020204020204" pitchFamily="34" charset="-122"/>
                <a:cs typeface="Arial"/>
              </a:rPr>
              <a:t>• </a:t>
            </a:r>
            <a:r>
              <a:rPr lang="en-US" altLang="zh-CN" sz="2800" b="0" dirty="0">
                <a:solidFill>
                  <a:srgbClr val="FFC000"/>
                </a:solidFill>
                <a:latin typeface="Tahoma" pitchFamily="34" charset="0"/>
                <a:ea typeface="微软简综艺" pitchFamily="49" charset="-122"/>
                <a:cs typeface="Tahoma" pitchFamily="34" charset="0"/>
              </a:rPr>
              <a:t>OBJECTIVE</a:t>
            </a:r>
            <a:endParaRPr lang="zh-CN" altLang="en-US" sz="1800" b="0" dirty="0">
              <a:solidFill>
                <a:srgbClr val="FFC000"/>
              </a:solidFill>
              <a:latin typeface="Tahoma" pitchFamily="34" charset="0"/>
              <a:ea typeface="微软简综艺" pitchFamily="49" charset="-122"/>
              <a:cs typeface="Tahoma" pitchFamily="34" charset="0"/>
            </a:endParaRPr>
          </a:p>
        </p:txBody>
      </p:sp>
      <p:sp>
        <p:nvSpPr>
          <p:cNvPr id="4099" name="矩形 4"/>
          <p:cNvSpPr>
            <a:spLocks noChangeArrowheads="1"/>
          </p:cNvSpPr>
          <p:nvPr/>
        </p:nvSpPr>
        <p:spPr bwMode="auto">
          <a:xfrm>
            <a:off x="3851275" y="2276872"/>
            <a:ext cx="5113338" cy="1934376"/>
          </a:xfrm>
          <a:prstGeom prst="rect">
            <a:avLst/>
          </a:prstGeom>
          <a:noFill/>
          <a:ln w="9525">
            <a:noFill/>
            <a:miter lim="800000"/>
            <a:headEnd/>
            <a:tailEnd/>
          </a:ln>
        </p:spPr>
        <p:txBody>
          <a:bodyPr>
            <a:spAutoFit/>
          </a:bodyPr>
          <a:lstStyle/>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熟悉</a:t>
            </a:r>
            <a:r>
              <a:rPr lang="en-US" altLang="zh-CN" sz="2000" dirty="0">
                <a:solidFill>
                  <a:srgbClr val="FF3255"/>
                </a:solidFill>
                <a:latin typeface="微软雅黑" pitchFamily="34" charset="-122"/>
                <a:ea typeface="微软雅黑" pitchFamily="34" charset="-122"/>
              </a:rPr>
              <a:t>386</a:t>
            </a:r>
            <a:r>
              <a:rPr lang="zh-CN" altLang="en-US" sz="2000" dirty="0">
                <a:solidFill>
                  <a:srgbClr val="FF3255"/>
                </a:solidFill>
                <a:latin typeface="微软雅黑" pitchFamily="34" charset="-122"/>
                <a:ea typeface="微软雅黑" pitchFamily="34" charset="-122"/>
              </a:rPr>
              <a:t>内部结构</a:t>
            </a:r>
            <a:endParaRPr lang="en-US" altLang="zh-CN" sz="2000" dirty="0">
              <a:solidFill>
                <a:srgbClr val="FF3255"/>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掌握</a:t>
            </a:r>
            <a:r>
              <a:rPr lang="en-US" altLang="zh-CN" sz="2000" dirty="0">
                <a:solidFill>
                  <a:schemeClr val="tx1">
                    <a:lumMod val="65000"/>
                    <a:lumOff val="35000"/>
                  </a:schemeClr>
                </a:solidFill>
                <a:latin typeface="微软雅黑" pitchFamily="34" charset="-122"/>
                <a:ea typeface="微软雅黑" pitchFamily="34" charset="-122"/>
              </a:rPr>
              <a:t>80386</a:t>
            </a:r>
            <a:r>
              <a:rPr lang="zh-CN" altLang="en-US" sz="2000" dirty="0">
                <a:solidFill>
                  <a:schemeClr val="tx1">
                    <a:lumMod val="65000"/>
                    <a:lumOff val="35000"/>
                  </a:schemeClr>
                </a:solidFill>
                <a:latin typeface="微软雅黑" pitchFamily="34" charset="-122"/>
                <a:ea typeface="微软雅黑" pitchFamily="34" charset="-122"/>
              </a:rPr>
              <a:t>的</a:t>
            </a:r>
            <a:r>
              <a:rPr lang="zh-CN" altLang="en-US" sz="2000" dirty="0">
                <a:solidFill>
                  <a:srgbClr val="FF3255"/>
                </a:solidFill>
                <a:latin typeface="微软雅黑" pitchFamily="34" charset="-122"/>
                <a:ea typeface="微软雅黑" pitchFamily="34" charset="-122"/>
              </a:rPr>
              <a:t>保护模式（重点）</a:t>
            </a:r>
            <a:endParaRPr lang="en-US" altLang="zh-CN" sz="2000" dirty="0">
              <a:solidFill>
                <a:schemeClr val="tx1">
                  <a:lumMod val="65000"/>
                  <a:lumOff val="35000"/>
                </a:schemeClr>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掌握</a:t>
            </a:r>
            <a:r>
              <a:rPr lang="en-US" altLang="zh-CN" sz="2000" dirty="0">
                <a:solidFill>
                  <a:schemeClr val="tx1">
                    <a:lumMod val="65000"/>
                    <a:lumOff val="35000"/>
                  </a:schemeClr>
                </a:solidFill>
                <a:latin typeface="微软雅黑" pitchFamily="34" charset="-122"/>
                <a:ea typeface="微软雅黑" pitchFamily="34" charset="-122"/>
              </a:rPr>
              <a:t>80386</a:t>
            </a:r>
            <a:r>
              <a:rPr lang="zh-CN" altLang="en-US" sz="2000" dirty="0">
                <a:solidFill>
                  <a:schemeClr val="tx1">
                    <a:lumMod val="65000"/>
                    <a:lumOff val="35000"/>
                  </a:schemeClr>
                </a:solidFill>
                <a:latin typeface="微软雅黑" pitchFamily="34" charset="-122"/>
                <a:ea typeface="微软雅黑" pitchFamily="34" charset="-122"/>
              </a:rPr>
              <a:t>的</a:t>
            </a:r>
            <a:r>
              <a:rPr lang="zh-CN" altLang="en-US" sz="2000" dirty="0">
                <a:solidFill>
                  <a:srgbClr val="FF3255"/>
                </a:solidFill>
                <a:latin typeface="微软雅黑" pitchFamily="34" charset="-122"/>
                <a:ea typeface="微软雅黑" pitchFamily="34" charset="-122"/>
              </a:rPr>
              <a:t>存储器管理（重点）</a:t>
            </a:r>
            <a:endParaRPr lang="en-US" altLang="zh-CN" sz="2000" dirty="0">
              <a:solidFill>
                <a:srgbClr val="FF3255"/>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掌握</a:t>
            </a:r>
            <a:r>
              <a:rPr lang="en-US" altLang="zh-CN" sz="2000" dirty="0">
                <a:solidFill>
                  <a:schemeClr val="tx1">
                    <a:lumMod val="65000"/>
                    <a:lumOff val="35000"/>
                  </a:schemeClr>
                </a:solidFill>
                <a:latin typeface="微软雅黑" pitchFamily="34" charset="-122"/>
                <a:ea typeface="微软雅黑" pitchFamily="34" charset="-122"/>
              </a:rPr>
              <a:t>80386</a:t>
            </a:r>
            <a:r>
              <a:rPr lang="zh-CN" altLang="en-US" sz="2000" dirty="0">
                <a:solidFill>
                  <a:schemeClr val="tx1">
                    <a:lumMod val="65000"/>
                    <a:lumOff val="35000"/>
                  </a:schemeClr>
                </a:solidFill>
                <a:latin typeface="微软雅黑" pitchFamily="34" charset="-122"/>
                <a:ea typeface="微软雅黑" pitchFamily="34" charset="-122"/>
              </a:rPr>
              <a:t>的</a:t>
            </a:r>
            <a:r>
              <a:rPr lang="zh-CN" altLang="en-US" sz="2000" dirty="0">
                <a:solidFill>
                  <a:srgbClr val="FF3255"/>
                </a:solidFill>
                <a:latin typeface="微软雅黑" pitchFamily="34" charset="-122"/>
                <a:ea typeface="微软雅黑" pitchFamily="34" charset="-122"/>
              </a:rPr>
              <a:t>段页式寻址（重点）</a:t>
            </a:r>
            <a:endParaRPr lang="en-US" altLang="zh-CN" sz="2000" dirty="0">
              <a:solidFill>
                <a:schemeClr val="tx1">
                  <a:lumMod val="65000"/>
                  <a:lumOff val="35000"/>
                </a:schemeClr>
              </a:solidFill>
              <a:latin typeface="微软雅黑" pitchFamily="34" charset="-122"/>
              <a:ea typeface="微软雅黑" pitchFamily="34" charset="-122"/>
            </a:endParaRPr>
          </a:p>
        </p:txBody>
      </p:sp>
      <p:pic>
        <p:nvPicPr>
          <p:cNvPr id="8" name="Picture 4" descr="http://lusongsong.com/upload/173_1.jp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55576" y="2060848"/>
            <a:ext cx="2808312" cy="2808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248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par>
                          <p:cTn id="10" fill="hold">
                            <p:stCondLst>
                              <p:cond delay="2000"/>
                            </p:stCondLst>
                            <p:childTnLst>
                              <p:par>
                                <p:cTn id="11" presetID="47" presetClass="entr" presetSubtype="0" fill="hold" grpId="0" nodeType="afterEffect">
                                  <p:stCondLst>
                                    <p:cond delay="0"/>
                                  </p:stCondLst>
                                  <p:childTnLst>
                                    <p:set>
                                      <p:cBhvr>
                                        <p:cTn id="12" dur="1" fill="hold">
                                          <p:stCondLst>
                                            <p:cond delay="0"/>
                                          </p:stCondLst>
                                        </p:cTn>
                                        <p:tgtEl>
                                          <p:spTgt spid="4099"/>
                                        </p:tgtEl>
                                        <p:attrNameLst>
                                          <p:attrName>style.visibility</p:attrName>
                                        </p:attrNameLst>
                                      </p:cBhvr>
                                      <p:to>
                                        <p:strVal val="visible"/>
                                      </p:to>
                                    </p:set>
                                    <p:animEffect transition="in" filter="fade">
                                      <p:cBhvr>
                                        <p:cTn id="13" dur="1000"/>
                                        <p:tgtEl>
                                          <p:spTgt spid="4099"/>
                                        </p:tgtEl>
                                      </p:cBhvr>
                                    </p:animEffect>
                                    <p:anim calcmode="lin" valueType="num">
                                      <p:cBhvr>
                                        <p:cTn id="14" dur="1000" fill="hold"/>
                                        <p:tgtEl>
                                          <p:spTgt spid="4099"/>
                                        </p:tgtEl>
                                        <p:attrNameLst>
                                          <p:attrName>ppt_x</p:attrName>
                                        </p:attrNameLst>
                                      </p:cBhvr>
                                      <p:tavLst>
                                        <p:tav tm="0">
                                          <p:val>
                                            <p:strVal val="#ppt_x"/>
                                          </p:val>
                                        </p:tav>
                                        <p:tav tm="100000">
                                          <p:val>
                                            <p:strVal val="#ppt_x"/>
                                          </p:val>
                                        </p:tav>
                                      </p:tavLst>
                                    </p:anim>
                                    <p:anim calcmode="lin" valueType="num">
                                      <p:cBhvr>
                                        <p:cTn id="15" dur="1000" fill="hold"/>
                                        <p:tgtEl>
                                          <p:spTgt spid="4099"/>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09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851274" y="1000116"/>
            <a:ext cx="5007006" cy="1143000"/>
          </a:xfrm>
          <a:prstGeom prst="rect">
            <a:avLst/>
          </a:prstGeom>
        </p:spPr>
        <p:txBody>
          <a:bodyPr rtlCol="0">
            <a:normAutofit/>
          </a:bodyPr>
          <a:lstStyle/>
          <a:p>
            <a:pPr eaLnBrk="1" fontAlgn="auto" hangingPunct="1">
              <a:spcAft>
                <a:spcPts val="0"/>
              </a:spcAft>
              <a:defRPr/>
            </a:pPr>
            <a:r>
              <a:rPr lang="zh-CN" altLang="en-US" sz="4400" dirty="0">
                <a:solidFill>
                  <a:schemeClr val="tx1">
                    <a:lumMod val="65000"/>
                    <a:lumOff val="35000"/>
                  </a:schemeClr>
                </a:solidFill>
                <a:latin typeface="Arial"/>
                <a:ea typeface="微软雅黑" panose="020B0503020204020204" pitchFamily="34" charset="-122"/>
                <a:cs typeface="Arial"/>
              </a:rPr>
              <a:t>学习</a:t>
            </a:r>
            <a:r>
              <a:rPr lang="zh-CN" altLang="en-US" sz="5300" dirty="0">
                <a:solidFill>
                  <a:srgbClr val="00C4F0"/>
                </a:solidFill>
                <a:ea typeface="微软雅黑" panose="020B0503020204020204" pitchFamily="34" charset="-122"/>
                <a:cs typeface="+mn-cs"/>
              </a:rPr>
              <a:t>收获</a:t>
            </a:r>
            <a:r>
              <a:rPr lang="en-US" altLang="zh-CN" dirty="0">
                <a:latin typeface="Arial"/>
                <a:ea typeface="微软雅黑" panose="020B0503020204020204" pitchFamily="34" charset="-122"/>
                <a:cs typeface="Arial"/>
              </a:rPr>
              <a:t>• </a:t>
            </a:r>
            <a:r>
              <a:rPr lang="en-US" altLang="zh-CN" sz="2800" b="0" dirty="0">
                <a:solidFill>
                  <a:srgbClr val="FFC000"/>
                </a:solidFill>
                <a:latin typeface="Tahoma" pitchFamily="34" charset="0"/>
                <a:ea typeface="微软简综艺" pitchFamily="49" charset="-122"/>
                <a:cs typeface="Tahoma" pitchFamily="34" charset="0"/>
              </a:rPr>
              <a:t>GAINS</a:t>
            </a:r>
            <a:endParaRPr lang="zh-CN" altLang="en-US" sz="1800" b="0" dirty="0">
              <a:solidFill>
                <a:srgbClr val="FFC000"/>
              </a:solidFill>
              <a:latin typeface="Tahoma" pitchFamily="34" charset="0"/>
              <a:ea typeface="微软简综艺" pitchFamily="49" charset="-122"/>
              <a:cs typeface="Tahoma" pitchFamily="34" charset="0"/>
            </a:endParaRPr>
          </a:p>
        </p:txBody>
      </p:sp>
      <p:sp>
        <p:nvSpPr>
          <p:cNvPr id="4099" name="矩形 4"/>
          <p:cNvSpPr>
            <a:spLocks noChangeArrowheads="1"/>
          </p:cNvSpPr>
          <p:nvPr/>
        </p:nvSpPr>
        <p:spPr bwMode="auto">
          <a:xfrm>
            <a:off x="3851274" y="2459192"/>
            <a:ext cx="5113338" cy="1146211"/>
          </a:xfrm>
          <a:prstGeom prst="rect">
            <a:avLst/>
          </a:prstGeom>
          <a:noFill/>
          <a:ln w="9525">
            <a:noFill/>
            <a:miter lim="800000"/>
            <a:headEnd/>
            <a:tailEnd/>
          </a:ln>
        </p:spPr>
        <p:txBody>
          <a:bodyPr>
            <a:spAutoFit/>
          </a:bodyPr>
          <a:lstStyle/>
          <a:p>
            <a:pPr marL="285750" indent="-285750">
              <a:lnSpc>
                <a:spcPct val="134000"/>
              </a:lnSpc>
              <a:spcBef>
                <a:spcPts val="400"/>
              </a:spcBef>
              <a:spcAft>
                <a:spcPts val="60"/>
              </a:spcAft>
              <a:buFont typeface="Arial" panose="020B0604020202020204" pitchFamily="34" charset="0"/>
              <a:buChar char="•"/>
            </a:pPr>
            <a:r>
              <a:rPr lang="zh-CN" altLang="en-US" sz="2400" dirty="0">
                <a:solidFill>
                  <a:schemeClr val="tx1">
                    <a:lumMod val="65000"/>
                    <a:lumOff val="35000"/>
                  </a:schemeClr>
                </a:solidFill>
                <a:latin typeface="微软雅黑" pitchFamily="34" charset="-122"/>
                <a:ea typeface="微软雅黑" pitchFamily="34" charset="-122"/>
              </a:rPr>
              <a:t>学习</a:t>
            </a:r>
            <a:r>
              <a:rPr lang="zh-CN" altLang="en-US" sz="2400" dirty="0">
                <a:solidFill>
                  <a:srgbClr val="FF3255"/>
                </a:solidFill>
                <a:latin typeface="微软雅黑" pitchFamily="34" charset="-122"/>
                <a:ea typeface="微软雅黑" pitchFamily="34" charset="-122"/>
              </a:rPr>
              <a:t>操作系统、编译原理</a:t>
            </a:r>
            <a:r>
              <a:rPr lang="zh-CN" altLang="en-US" sz="2400" dirty="0">
                <a:solidFill>
                  <a:schemeClr val="tx1">
                    <a:lumMod val="65000"/>
                    <a:lumOff val="35000"/>
                  </a:schemeClr>
                </a:solidFill>
                <a:latin typeface="微软雅黑" pitchFamily="34" charset="-122"/>
                <a:ea typeface="微软雅黑" pitchFamily="34" charset="-122"/>
              </a:rPr>
              <a:t>的基础；</a:t>
            </a:r>
            <a:endParaRPr lang="en-US" altLang="zh-CN" sz="2400" dirty="0">
              <a:solidFill>
                <a:schemeClr val="tx1">
                  <a:lumMod val="65000"/>
                  <a:lumOff val="35000"/>
                </a:schemeClr>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400" dirty="0">
                <a:solidFill>
                  <a:schemeClr val="tx1">
                    <a:lumMod val="65000"/>
                    <a:lumOff val="35000"/>
                  </a:schemeClr>
                </a:solidFill>
                <a:latin typeface="微软雅黑" pitchFamily="34" charset="-122"/>
                <a:ea typeface="微软雅黑" pitchFamily="34" charset="-122"/>
              </a:rPr>
              <a:t>学习</a:t>
            </a:r>
            <a:r>
              <a:rPr lang="en-US" altLang="zh-CN" sz="2400" dirty="0">
                <a:solidFill>
                  <a:srgbClr val="FF3255"/>
                </a:solidFill>
                <a:latin typeface="微软雅黑" pitchFamily="34" charset="-122"/>
                <a:ea typeface="微软雅黑" pitchFamily="34" charset="-122"/>
              </a:rPr>
              <a:t>32</a:t>
            </a:r>
            <a:r>
              <a:rPr lang="zh-CN" altLang="en-US" sz="2400" dirty="0">
                <a:solidFill>
                  <a:srgbClr val="FF3255"/>
                </a:solidFill>
                <a:latin typeface="微软雅黑" pitchFamily="34" charset="-122"/>
                <a:ea typeface="微软雅黑" pitchFamily="34" charset="-122"/>
              </a:rPr>
              <a:t>位汇编</a:t>
            </a:r>
            <a:r>
              <a:rPr lang="zh-CN" altLang="en-US" sz="2400" dirty="0">
                <a:solidFill>
                  <a:schemeClr val="tx1">
                    <a:lumMod val="65000"/>
                    <a:lumOff val="35000"/>
                  </a:schemeClr>
                </a:solidFill>
                <a:latin typeface="微软雅黑" pitchFamily="34" charset="-122"/>
                <a:ea typeface="微软雅黑" pitchFamily="34" charset="-122"/>
              </a:rPr>
              <a:t>的基础。</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2" y="3861048"/>
            <a:ext cx="2935962" cy="2160240"/>
          </a:xfrm>
          <a:prstGeom prst="rect">
            <a:avLst/>
          </a:prstGeom>
        </p:spPr>
      </p:pic>
    </p:spTree>
    <p:extLst>
      <p:ext uri="{BB962C8B-B14F-4D97-AF65-F5344CB8AC3E}">
        <p14:creationId xmlns:p14="http://schemas.microsoft.com/office/powerpoint/2010/main" val="1073683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par>
                          <p:cTn id="10" fill="hold">
                            <p:stCondLst>
                              <p:cond delay="2000"/>
                            </p:stCondLst>
                            <p:childTnLst>
                              <p:par>
                                <p:cTn id="11" presetID="47" presetClass="entr" presetSubtype="0" fill="hold" grpId="0" nodeType="afterEffect">
                                  <p:stCondLst>
                                    <p:cond delay="0"/>
                                  </p:stCondLst>
                                  <p:childTnLst>
                                    <p:set>
                                      <p:cBhvr>
                                        <p:cTn id="12" dur="1" fill="hold">
                                          <p:stCondLst>
                                            <p:cond delay="0"/>
                                          </p:stCondLst>
                                        </p:cTn>
                                        <p:tgtEl>
                                          <p:spTgt spid="4099"/>
                                        </p:tgtEl>
                                        <p:attrNameLst>
                                          <p:attrName>style.visibility</p:attrName>
                                        </p:attrNameLst>
                                      </p:cBhvr>
                                      <p:to>
                                        <p:strVal val="visible"/>
                                      </p:to>
                                    </p:set>
                                    <p:animEffect transition="in" filter="fade">
                                      <p:cBhvr>
                                        <p:cTn id="13" dur="1000"/>
                                        <p:tgtEl>
                                          <p:spTgt spid="4099"/>
                                        </p:tgtEl>
                                      </p:cBhvr>
                                    </p:animEffect>
                                    <p:anim calcmode="lin" valueType="num">
                                      <p:cBhvr>
                                        <p:cTn id="14" dur="1000" fill="hold"/>
                                        <p:tgtEl>
                                          <p:spTgt spid="4099"/>
                                        </p:tgtEl>
                                        <p:attrNameLst>
                                          <p:attrName>ppt_x</p:attrName>
                                        </p:attrNameLst>
                                      </p:cBhvr>
                                      <p:tavLst>
                                        <p:tav tm="0">
                                          <p:val>
                                            <p:strVal val="#ppt_x"/>
                                          </p:val>
                                        </p:tav>
                                        <p:tav tm="100000">
                                          <p:val>
                                            <p:strVal val="#ppt_x"/>
                                          </p:val>
                                        </p:tav>
                                      </p:tavLst>
                                    </p:anim>
                                    <p:anim calcmode="lin" valueType="num">
                                      <p:cBhvr>
                                        <p:cTn id="15" dur="1000" fill="hold"/>
                                        <p:tgtEl>
                                          <p:spTgt spid="4099"/>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09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a:xfrm>
            <a:off x="3851274" y="908720"/>
            <a:ext cx="5007006" cy="1143000"/>
          </a:xfrm>
          <a:prstGeom prst="rect">
            <a:avLst/>
          </a:prstGeom>
        </p:spPr>
        <p:txBody>
          <a:bodyPr rtlCol="0">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pPr eaLnBrk="1" fontAlgn="auto" hangingPunct="1">
              <a:spcAft>
                <a:spcPts val="0"/>
              </a:spcAft>
              <a:defRPr/>
            </a:pPr>
            <a:r>
              <a:rPr lang="zh-CN" altLang="en-US" dirty="0">
                <a:solidFill>
                  <a:schemeClr val="tx1">
                    <a:lumMod val="65000"/>
                    <a:lumOff val="35000"/>
                  </a:schemeClr>
                </a:solidFill>
                <a:latin typeface="Arial"/>
                <a:ea typeface="微软雅黑" panose="020B0503020204020204" pitchFamily="34" charset="-122"/>
                <a:cs typeface="Arial"/>
              </a:rPr>
              <a:t>学习</a:t>
            </a:r>
            <a:r>
              <a:rPr lang="zh-CN" altLang="en-US" sz="5300" dirty="0">
                <a:solidFill>
                  <a:srgbClr val="00C4F0"/>
                </a:solidFill>
                <a:ea typeface="微软雅黑" panose="020B0503020204020204" pitchFamily="34" charset="-122"/>
                <a:cs typeface="+mn-cs"/>
              </a:rPr>
              <a:t>难点</a:t>
            </a:r>
            <a:r>
              <a:rPr lang="en-US" altLang="zh-CN" dirty="0">
                <a:latin typeface="Arial"/>
                <a:ea typeface="微软雅黑" panose="020B0503020204020204" pitchFamily="34" charset="-122"/>
                <a:cs typeface="Arial"/>
              </a:rPr>
              <a:t>• </a:t>
            </a:r>
            <a:r>
              <a:rPr lang="en-US" altLang="zh-CN" sz="2800" dirty="0">
                <a:solidFill>
                  <a:srgbClr val="FFC000"/>
                </a:solidFill>
                <a:latin typeface="Tahoma" pitchFamily="34" charset="0"/>
                <a:ea typeface="微软简综艺" pitchFamily="49" charset="-122"/>
                <a:cs typeface="Tahoma" pitchFamily="34" charset="0"/>
              </a:rPr>
              <a:t>Difficulties</a:t>
            </a:r>
            <a:endParaRPr lang="zh-CN" altLang="en-US" sz="1800" dirty="0">
              <a:solidFill>
                <a:srgbClr val="FFC000"/>
              </a:solidFill>
              <a:latin typeface="Tahoma" pitchFamily="34" charset="0"/>
              <a:ea typeface="微软简综艺" pitchFamily="49" charset="-122"/>
              <a:cs typeface="Tahoma" pitchFamily="34" charset="0"/>
            </a:endParaRPr>
          </a:p>
        </p:txBody>
      </p:sp>
      <p:sp>
        <p:nvSpPr>
          <p:cNvPr id="7" name="矩形 4"/>
          <p:cNvSpPr>
            <a:spLocks noChangeArrowheads="1"/>
          </p:cNvSpPr>
          <p:nvPr/>
        </p:nvSpPr>
        <p:spPr bwMode="auto">
          <a:xfrm>
            <a:off x="4283968" y="2051720"/>
            <a:ext cx="4464496" cy="2200089"/>
          </a:xfrm>
          <a:prstGeom prst="rect">
            <a:avLst/>
          </a:prstGeom>
          <a:noFill/>
          <a:ln w="9525">
            <a:solidFill>
              <a:srgbClr val="FD7A2A"/>
            </a:solidFill>
            <a:miter lim="800000"/>
            <a:headEnd/>
            <a:tailEnd/>
          </a:ln>
        </p:spPr>
        <p:txBody>
          <a:bodyPr wrap="square">
            <a:spAutoFit/>
          </a:bodyPr>
          <a:lstStyle/>
          <a:p>
            <a:pPr marL="285750" indent="-285750">
              <a:lnSpc>
                <a:spcPct val="134000"/>
              </a:lnSpc>
              <a:spcBef>
                <a:spcPts val="400"/>
              </a:spcBef>
              <a:spcAft>
                <a:spcPts val="60"/>
              </a:spcAft>
              <a:buFont typeface="Arial" panose="020B0604020202020204" pitchFamily="34" charset="0"/>
              <a:buChar char="•"/>
            </a:pPr>
            <a:r>
              <a:rPr lang="zh-CN" altLang="en-US" sz="2400" dirty="0">
                <a:solidFill>
                  <a:schemeClr val="tx1">
                    <a:lumMod val="65000"/>
                    <a:lumOff val="35000"/>
                  </a:schemeClr>
                </a:solidFill>
                <a:latin typeface="微软雅黑" pitchFamily="34" charset="-122"/>
                <a:ea typeface="微软雅黑" pitchFamily="34" charset="-122"/>
              </a:rPr>
              <a:t>保护模式中虚拟存储器的概念。</a:t>
            </a:r>
            <a:endParaRPr lang="en-US" altLang="zh-CN" sz="2400" dirty="0">
              <a:solidFill>
                <a:schemeClr val="tx1">
                  <a:lumMod val="65000"/>
                  <a:lumOff val="35000"/>
                </a:schemeClr>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存储器的段页式寻址：逻辑地址转换为物理地址的过程。</a:t>
            </a:r>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a:p>
            <a:pPr marL="285750" indent="-285750">
              <a:lnSpc>
                <a:spcPct val="134000"/>
              </a:lnSpc>
              <a:spcBef>
                <a:spcPts val="400"/>
              </a:spcBef>
              <a:spcAft>
                <a:spcPts val="60"/>
              </a:spcAft>
              <a:buFont typeface="Arial" panose="020B0604020202020204" pitchFamily="34" charset="0"/>
              <a:buChar char="•"/>
            </a:pPr>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rPr>
              <a:t>386</a:t>
            </a: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的安全机制。</a:t>
            </a:r>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9" name="Picture 4" descr="C:\Documents and Settings\huxiya\桌面\xpic4445.jpg"/>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755576" y="4293096"/>
            <a:ext cx="3240360" cy="214313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185459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000" fill="hold"/>
                                        <p:tgtEl>
                                          <p:spTgt spid="6"/>
                                        </p:tgtEl>
                                        <p:attrNameLst>
                                          <p:attrName>ppt_w</p:attrName>
                                        </p:attrNameLst>
                                      </p:cBhvr>
                                      <p:tavLst>
                                        <p:tav tm="0">
                                          <p:val>
                                            <p:fltVal val="0"/>
                                          </p:val>
                                        </p:tav>
                                        <p:tav tm="100000">
                                          <p:val>
                                            <p:strVal val="#ppt_w"/>
                                          </p:val>
                                        </p:tav>
                                      </p:tavLst>
                                    </p:anim>
                                    <p:anim calcmode="lin" valueType="num">
                                      <p:cBhvr>
                                        <p:cTn id="8" dur="2000" fill="hold"/>
                                        <p:tgtEl>
                                          <p:spTgt spid="6"/>
                                        </p:tgtEl>
                                        <p:attrNameLst>
                                          <p:attrName>ppt_h</p:attrName>
                                        </p:attrNameLst>
                                      </p:cBhvr>
                                      <p:tavLst>
                                        <p:tav tm="0">
                                          <p:val>
                                            <p:fltVal val="0"/>
                                          </p:val>
                                        </p:tav>
                                        <p:tav tm="100000">
                                          <p:val>
                                            <p:strVal val="#ppt_h"/>
                                          </p:val>
                                        </p:tav>
                                      </p:tavLst>
                                    </p:anim>
                                    <p:animEffect transition="in" filter="fade">
                                      <p:cBhvr>
                                        <p:cTn id="9" dur="2000"/>
                                        <p:tgtEl>
                                          <p:spTgt spid="6"/>
                                        </p:tgtEl>
                                      </p:cBhvr>
                                    </p:animEffect>
                                  </p:childTnLst>
                                </p:cTn>
                              </p:par>
                            </p:childTnLst>
                          </p:cTn>
                        </p:par>
                        <p:par>
                          <p:cTn id="10" fill="hold">
                            <p:stCondLst>
                              <p:cond delay="2000"/>
                            </p:stCondLst>
                            <p:childTnLst>
                              <p:par>
                                <p:cTn id="11" presetID="47"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a:xfrm>
            <a:off x="3851274" y="1000116"/>
            <a:ext cx="5007006" cy="1143000"/>
          </a:xfrm>
          <a:prstGeom prst="rect">
            <a:avLst/>
          </a:prstGeom>
        </p:spPr>
        <p:txBody>
          <a:bodyPr rtlCol="0">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pPr eaLnBrk="1" fontAlgn="auto" hangingPunct="1">
              <a:spcAft>
                <a:spcPts val="0"/>
              </a:spcAft>
              <a:defRPr/>
            </a:pPr>
            <a:r>
              <a:rPr lang="zh-CN" altLang="en-US" dirty="0">
                <a:solidFill>
                  <a:schemeClr val="tx1">
                    <a:lumMod val="65000"/>
                    <a:lumOff val="35000"/>
                  </a:schemeClr>
                </a:solidFill>
                <a:latin typeface="Arial"/>
                <a:ea typeface="微软雅黑" panose="020B0503020204020204" pitchFamily="34" charset="-122"/>
                <a:cs typeface="Arial"/>
              </a:rPr>
              <a:t>学习</a:t>
            </a:r>
            <a:r>
              <a:rPr lang="zh-CN" altLang="en-US" sz="5300" dirty="0">
                <a:solidFill>
                  <a:srgbClr val="00C4F0"/>
                </a:solidFill>
                <a:ea typeface="微软雅黑" panose="020B0503020204020204" pitchFamily="34" charset="-122"/>
                <a:cs typeface="+mn-cs"/>
              </a:rPr>
              <a:t>方法</a:t>
            </a:r>
            <a:r>
              <a:rPr lang="en-US" altLang="zh-CN" dirty="0">
                <a:latin typeface="Arial"/>
                <a:ea typeface="微软雅黑" panose="020B0503020204020204" pitchFamily="34" charset="-122"/>
                <a:cs typeface="Arial"/>
              </a:rPr>
              <a:t>• </a:t>
            </a:r>
            <a:r>
              <a:rPr lang="en-US" altLang="zh-CN" sz="2800" dirty="0">
                <a:solidFill>
                  <a:srgbClr val="FFC000"/>
                </a:solidFill>
                <a:latin typeface="Tahoma" pitchFamily="34" charset="0"/>
                <a:ea typeface="微软简综艺" pitchFamily="49" charset="-122"/>
                <a:cs typeface="Tahoma" pitchFamily="34" charset="0"/>
              </a:rPr>
              <a:t>METHOD</a:t>
            </a:r>
            <a:endParaRPr lang="zh-CN" altLang="en-US" sz="1800" dirty="0">
              <a:solidFill>
                <a:srgbClr val="FFC000"/>
              </a:solidFill>
              <a:latin typeface="Tahoma" pitchFamily="34" charset="0"/>
              <a:ea typeface="微软简综艺" pitchFamily="49" charset="-122"/>
              <a:cs typeface="Tahoma" pitchFamily="34" charset="0"/>
            </a:endParaRPr>
          </a:p>
        </p:txBody>
      </p:sp>
      <p:sp>
        <p:nvSpPr>
          <p:cNvPr id="7" name="矩形 4"/>
          <p:cNvSpPr>
            <a:spLocks noChangeArrowheads="1"/>
          </p:cNvSpPr>
          <p:nvPr/>
        </p:nvSpPr>
        <p:spPr bwMode="auto">
          <a:xfrm>
            <a:off x="4067944" y="2060848"/>
            <a:ext cx="4608886" cy="2218556"/>
          </a:xfrm>
          <a:prstGeom prst="rect">
            <a:avLst/>
          </a:prstGeom>
          <a:noFill/>
          <a:ln w="9525">
            <a:solidFill>
              <a:srgbClr val="FD7A2A"/>
            </a:solidFill>
            <a:miter lim="800000"/>
            <a:headEnd/>
            <a:tailEnd/>
          </a:ln>
        </p:spPr>
        <p:txBody>
          <a:bodyPr wrap="square">
            <a:spAutoFit/>
          </a:bodyPr>
          <a:lstStyle/>
          <a:p>
            <a:pPr marL="285750" indent="-285750">
              <a:lnSpc>
                <a:spcPct val="134000"/>
              </a:lnSpc>
              <a:spcBef>
                <a:spcPts val="400"/>
              </a:spcBef>
              <a:spcAft>
                <a:spcPts val="60"/>
              </a:spcAft>
              <a:buFont typeface="Arial" panose="020B0604020202020204" pitchFamily="34" charset="0"/>
              <a:buChar char="•"/>
            </a:pPr>
            <a:r>
              <a:rPr lang="zh-CN" altLang="en-US" sz="2000" dirty="0">
                <a:solidFill>
                  <a:srgbClr val="FF3255"/>
                </a:solidFill>
                <a:latin typeface="微软雅黑" pitchFamily="34" charset="-122"/>
                <a:ea typeface="微软雅黑" pitchFamily="34" charset="-122"/>
              </a:rPr>
              <a:t>深刻理解虚拟存储器的概念</a:t>
            </a:r>
            <a:r>
              <a:rPr lang="zh-CN" altLang="en-US" sz="2000" dirty="0">
                <a:solidFill>
                  <a:schemeClr val="tx1">
                    <a:lumMod val="65000"/>
                    <a:lumOff val="35000"/>
                  </a:schemeClr>
                </a:solidFill>
                <a:latin typeface="微软雅黑" pitchFamily="34" charset="-122"/>
                <a:ea typeface="微软雅黑" pitchFamily="34" charset="-122"/>
              </a:rPr>
              <a:t>，理解</a:t>
            </a:r>
            <a:r>
              <a:rPr lang="en-US" altLang="zh-CN" sz="2000" dirty="0">
                <a:solidFill>
                  <a:schemeClr val="tx1">
                    <a:lumMod val="65000"/>
                    <a:lumOff val="35000"/>
                  </a:schemeClr>
                </a:solidFill>
                <a:latin typeface="微软雅黑" pitchFamily="34" charset="-122"/>
                <a:ea typeface="微软雅黑" pitchFamily="34" charset="-122"/>
              </a:rPr>
              <a:t>386</a:t>
            </a:r>
            <a:r>
              <a:rPr lang="zh-CN" altLang="en-US" sz="2000" dirty="0">
                <a:solidFill>
                  <a:schemeClr val="tx1">
                    <a:lumMod val="65000"/>
                    <a:lumOff val="35000"/>
                  </a:schemeClr>
                </a:solidFill>
                <a:latin typeface="微软雅黑" pitchFamily="34" charset="-122"/>
                <a:ea typeface="微软雅黑" pitchFamily="34" charset="-122"/>
              </a:rPr>
              <a:t>的解决</a:t>
            </a:r>
            <a:r>
              <a:rPr lang="en-US" altLang="zh-CN" sz="2000" dirty="0">
                <a:solidFill>
                  <a:schemeClr val="tx1">
                    <a:lumMod val="65000"/>
                    <a:lumOff val="35000"/>
                  </a:schemeClr>
                </a:solidFill>
                <a:latin typeface="微软雅黑" pitchFamily="34" charset="-122"/>
                <a:ea typeface="微软雅黑" pitchFamily="34" charset="-122"/>
              </a:rPr>
              <a:t>8086</a:t>
            </a:r>
            <a:r>
              <a:rPr lang="zh-CN" altLang="en-US" sz="2000" dirty="0">
                <a:solidFill>
                  <a:schemeClr val="tx1">
                    <a:lumMod val="65000"/>
                    <a:lumOff val="35000"/>
                  </a:schemeClr>
                </a:solidFill>
                <a:latin typeface="微软雅黑" pitchFamily="34" charset="-122"/>
                <a:ea typeface="微软雅黑" pitchFamily="34" charset="-122"/>
              </a:rPr>
              <a:t>存在问题的思路。</a:t>
            </a:r>
            <a:endParaRPr lang="en-US" altLang="zh-CN" sz="2000" dirty="0">
              <a:solidFill>
                <a:schemeClr val="tx1">
                  <a:lumMod val="65000"/>
                  <a:lumOff val="35000"/>
                </a:schemeClr>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rgbClr val="FF3255"/>
                </a:solidFill>
                <a:latin typeface="微软雅黑" pitchFamily="34" charset="-122"/>
                <a:ea typeface="微软雅黑" pitchFamily="34" charset="-122"/>
              </a:rPr>
              <a:t>掌握多级链表查询</a:t>
            </a:r>
            <a:r>
              <a:rPr lang="zh-CN" altLang="en-US" sz="2000" dirty="0">
                <a:solidFill>
                  <a:schemeClr val="tx1">
                    <a:lumMod val="65000"/>
                    <a:lumOff val="35000"/>
                  </a:schemeClr>
                </a:solidFill>
                <a:latin typeface="微软雅黑" pitchFamily="34" charset="-122"/>
                <a:ea typeface="微软雅黑" pitchFamily="34" charset="-122"/>
              </a:rPr>
              <a:t>：根据序号找到表项，根据表项的格式，分析其属性和其对应的表的基地址。</a:t>
            </a:r>
            <a:endParaRPr lang="en-US" altLang="zh-CN" sz="2000" dirty="0">
              <a:solidFill>
                <a:schemeClr val="tx1">
                  <a:lumMod val="65000"/>
                  <a:lumOff val="35000"/>
                </a:schemeClr>
              </a:solidFill>
              <a:latin typeface="微软雅黑" pitchFamily="34" charset="-122"/>
              <a:ea typeface="微软雅黑" pitchFamily="34" charset="-122"/>
            </a:endParaRPr>
          </a:p>
        </p:txBody>
      </p:sp>
      <p:pic>
        <p:nvPicPr>
          <p:cNvPr id="8" name="图片 7" descr="http://d.hiphotos.baidu.com/exp/w=480/sign=49d3857e0fd162d985ee631421dea950/eaf81a4c510fd9f99cf19ed3202dd42a2934a4a2.jpg"/>
          <p:cNvPicPr/>
          <p:nvPr/>
        </p:nvPicPr>
        <p:blipFill>
          <a:blip r:embed="rId2">
            <a:extLst>
              <a:ext uri="{28A0092B-C50C-407E-A947-70E740481C1C}">
                <a14:useLocalDpi xmlns:a14="http://schemas.microsoft.com/office/drawing/2010/main" val="0"/>
              </a:ext>
            </a:extLst>
          </a:blip>
          <a:srcRect/>
          <a:stretch>
            <a:fillRect/>
          </a:stretch>
        </p:blipFill>
        <p:spPr bwMode="auto">
          <a:xfrm>
            <a:off x="943098" y="4437112"/>
            <a:ext cx="2908176" cy="1879476"/>
          </a:xfrm>
          <a:prstGeom prst="rect">
            <a:avLst/>
          </a:prstGeom>
          <a:noFill/>
          <a:ln>
            <a:noFill/>
          </a:ln>
        </p:spPr>
      </p:pic>
    </p:spTree>
    <p:extLst>
      <p:ext uri="{BB962C8B-B14F-4D97-AF65-F5344CB8AC3E}">
        <p14:creationId xmlns:p14="http://schemas.microsoft.com/office/powerpoint/2010/main" val="70520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000" fill="hold"/>
                                        <p:tgtEl>
                                          <p:spTgt spid="6"/>
                                        </p:tgtEl>
                                        <p:attrNameLst>
                                          <p:attrName>ppt_w</p:attrName>
                                        </p:attrNameLst>
                                      </p:cBhvr>
                                      <p:tavLst>
                                        <p:tav tm="0">
                                          <p:val>
                                            <p:fltVal val="0"/>
                                          </p:val>
                                        </p:tav>
                                        <p:tav tm="100000">
                                          <p:val>
                                            <p:strVal val="#ppt_w"/>
                                          </p:val>
                                        </p:tav>
                                      </p:tavLst>
                                    </p:anim>
                                    <p:anim calcmode="lin" valueType="num">
                                      <p:cBhvr>
                                        <p:cTn id="8" dur="2000" fill="hold"/>
                                        <p:tgtEl>
                                          <p:spTgt spid="6"/>
                                        </p:tgtEl>
                                        <p:attrNameLst>
                                          <p:attrName>ppt_h</p:attrName>
                                        </p:attrNameLst>
                                      </p:cBhvr>
                                      <p:tavLst>
                                        <p:tav tm="0">
                                          <p:val>
                                            <p:fltVal val="0"/>
                                          </p:val>
                                        </p:tav>
                                        <p:tav tm="100000">
                                          <p:val>
                                            <p:strVal val="#ppt_h"/>
                                          </p:val>
                                        </p:tav>
                                      </p:tavLst>
                                    </p:anim>
                                    <p:animEffect transition="in" filter="fade">
                                      <p:cBhvr>
                                        <p:cTn id="9" dur="2000"/>
                                        <p:tgtEl>
                                          <p:spTgt spid="6"/>
                                        </p:tgtEl>
                                      </p:cBhvr>
                                    </p:animEffect>
                                  </p:childTnLst>
                                </p:cTn>
                              </p:par>
                            </p:childTnLst>
                          </p:cTn>
                        </p:par>
                        <p:par>
                          <p:cTn id="10" fill="hold">
                            <p:stCondLst>
                              <p:cond delay="2000"/>
                            </p:stCondLst>
                            <p:childTnLst>
                              <p:par>
                                <p:cTn id="11" presetID="47"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问号01.png"/>
          <p:cNvPicPr>
            <a:picLocks noChangeAspect="1"/>
          </p:cNvPicPr>
          <p:nvPr/>
        </p:nvPicPr>
        <p:blipFill>
          <a:blip r:embed="rId3"/>
          <a:stretch>
            <a:fillRect/>
          </a:stretch>
        </p:blipFill>
        <p:spPr>
          <a:xfrm>
            <a:off x="1115616" y="5253127"/>
            <a:ext cx="1728439" cy="1343740"/>
          </a:xfrm>
          <a:prstGeom prst="rect">
            <a:avLst/>
          </a:prstGeom>
        </p:spPr>
      </p:pic>
      <p:sp>
        <p:nvSpPr>
          <p:cNvPr id="5" name="流程图: 可选过程 4"/>
          <p:cNvSpPr/>
          <p:nvPr/>
        </p:nvSpPr>
        <p:spPr>
          <a:xfrm>
            <a:off x="2278872" y="1628800"/>
            <a:ext cx="6397584" cy="902445"/>
          </a:xfrm>
          <a:prstGeom prst="flowChartAlternateProcess">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bg1"/>
                </a:solidFill>
                <a:latin typeface="微软雅黑" panose="020B0503020204020204" pitchFamily="34" charset="-122"/>
                <a:ea typeface="微软雅黑" panose="020B0503020204020204" pitchFamily="34" charset="-122"/>
              </a:rPr>
              <a:t>80386</a:t>
            </a:r>
            <a:r>
              <a:rPr lang="zh-CN" altLang="en-US" sz="2000" dirty="0">
                <a:solidFill>
                  <a:schemeClr val="bg1"/>
                </a:solidFill>
                <a:latin typeface="微软雅黑" panose="020B0503020204020204" pitchFamily="34" charset="-122"/>
                <a:ea typeface="微软雅黑" panose="020B0503020204020204" pitchFamily="34" charset="-122"/>
              </a:rPr>
              <a:t>的存储器管理与</a:t>
            </a:r>
            <a:r>
              <a:rPr lang="en-US" altLang="zh-CN" sz="2000" dirty="0">
                <a:solidFill>
                  <a:schemeClr val="bg1"/>
                </a:solidFill>
                <a:latin typeface="微软雅黑" panose="020B0503020204020204" pitchFamily="34" charset="-122"/>
                <a:ea typeface="微软雅黑" panose="020B0503020204020204" pitchFamily="34" charset="-122"/>
              </a:rPr>
              <a:t>8086</a:t>
            </a:r>
            <a:r>
              <a:rPr lang="zh-CN" altLang="en-US" sz="2000" dirty="0">
                <a:solidFill>
                  <a:schemeClr val="bg1"/>
                </a:solidFill>
                <a:latin typeface="微软雅黑" panose="020B0503020204020204" pitchFamily="34" charset="-122"/>
                <a:ea typeface="微软雅黑" panose="020B0503020204020204" pitchFamily="34" charset="-122"/>
              </a:rPr>
              <a:t>有什么不同？</a:t>
            </a:r>
          </a:p>
        </p:txBody>
      </p:sp>
      <p:sp>
        <p:nvSpPr>
          <p:cNvPr id="19" name="流程图: 可选过程 18"/>
          <p:cNvSpPr/>
          <p:nvPr/>
        </p:nvSpPr>
        <p:spPr>
          <a:xfrm>
            <a:off x="2267744" y="2780928"/>
            <a:ext cx="6397584" cy="902445"/>
          </a:xfrm>
          <a:prstGeom prst="flowChartAlternateProcess">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bg1"/>
                </a:solidFill>
                <a:latin typeface="微软雅黑" panose="020B0503020204020204" pitchFamily="34" charset="-122"/>
                <a:ea typeface="微软雅黑" panose="020B0503020204020204" pitchFamily="34" charset="-122"/>
              </a:rPr>
              <a:t>80386</a:t>
            </a:r>
            <a:r>
              <a:rPr lang="zh-CN" altLang="en-US" sz="2000" dirty="0">
                <a:solidFill>
                  <a:schemeClr val="bg1"/>
                </a:solidFill>
                <a:latin typeface="微软雅黑" panose="020B0503020204020204" pitchFamily="34" charset="-122"/>
                <a:ea typeface="微软雅黑" panose="020B0503020204020204" pitchFamily="34" charset="-122"/>
              </a:rPr>
              <a:t>的内部寄存器与</a:t>
            </a:r>
            <a:r>
              <a:rPr lang="en-US" altLang="zh-CN" sz="2000" dirty="0">
                <a:solidFill>
                  <a:schemeClr val="bg1"/>
                </a:solidFill>
                <a:latin typeface="微软雅黑" panose="020B0503020204020204" pitchFamily="34" charset="-122"/>
                <a:ea typeface="微软雅黑" panose="020B0503020204020204" pitchFamily="34" charset="-122"/>
              </a:rPr>
              <a:t>8086</a:t>
            </a:r>
            <a:r>
              <a:rPr lang="zh-CN" altLang="en-US" sz="2000" dirty="0">
                <a:solidFill>
                  <a:schemeClr val="bg1"/>
                </a:solidFill>
                <a:latin typeface="微软雅黑" panose="020B0503020204020204" pitchFamily="34" charset="-122"/>
                <a:ea typeface="微软雅黑" panose="020B0503020204020204" pitchFamily="34" charset="-122"/>
              </a:rPr>
              <a:t>有哪些不同？</a:t>
            </a:r>
          </a:p>
        </p:txBody>
      </p:sp>
      <p:sp>
        <p:nvSpPr>
          <p:cNvPr id="21" name="流程图: 可选过程 20"/>
          <p:cNvSpPr/>
          <p:nvPr/>
        </p:nvSpPr>
        <p:spPr>
          <a:xfrm>
            <a:off x="2267744" y="3894707"/>
            <a:ext cx="6397584" cy="902445"/>
          </a:xfrm>
          <a:prstGeom prst="flowChartAlternateProcess">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bg1"/>
                </a:solidFill>
                <a:latin typeface="微软雅黑" panose="020B0503020204020204" pitchFamily="34" charset="-122"/>
                <a:ea typeface="微软雅黑" panose="020B0503020204020204" pitchFamily="34" charset="-122"/>
              </a:rPr>
              <a:t>详细说明</a:t>
            </a:r>
            <a:r>
              <a:rPr lang="en-US" altLang="zh-CN" sz="2000" dirty="0">
                <a:solidFill>
                  <a:schemeClr val="bg1"/>
                </a:solidFill>
                <a:latin typeface="微软雅黑" panose="020B0503020204020204" pitchFamily="34" charset="-122"/>
                <a:ea typeface="微软雅黑" panose="020B0503020204020204" pitchFamily="34" charset="-122"/>
              </a:rPr>
              <a:t>80386</a:t>
            </a:r>
            <a:r>
              <a:rPr lang="zh-CN" altLang="en-US" sz="2000" dirty="0">
                <a:solidFill>
                  <a:schemeClr val="bg1"/>
                </a:solidFill>
                <a:latin typeface="微软雅黑" panose="020B0503020204020204" pitchFamily="34" charset="-122"/>
                <a:ea typeface="微软雅黑" panose="020B0503020204020204" pitchFamily="34" charset="-122"/>
              </a:rPr>
              <a:t>的逻辑地址转换成物理地址的过程。</a:t>
            </a:r>
          </a:p>
        </p:txBody>
      </p:sp>
      <p:sp>
        <p:nvSpPr>
          <p:cNvPr id="33" name="椭圆 32"/>
          <p:cNvSpPr/>
          <p:nvPr/>
        </p:nvSpPr>
        <p:spPr>
          <a:xfrm>
            <a:off x="1259632" y="1767902"/>
            <a:ext cx="624239" cy="624239"/>
          </a:xfrm>
          <a:prstGeom prst="ellipse">
            <a:avLst/>
          </a:prstGeom>
          <a:solidFill>
            <a:srgbClr val="69696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latin typeface="Arial Unicode MS" panose="020B0604020202020204" pitchFamily="34" charset="-122"/>
                <a:ea typeface="Arial Unicode MS" panose="020B0604020202020204" pitchFamily="34" charset="-122"/>
                <a:cs typeface="Arial Unicode MS" panose="020B0604020202020204" pitchFamily="34" charset="-122"/>
              </a:rPr>
              <a:t>1</a:t>
            </a:r>
            <a:endParaRPr lang="zh-CN" altLang="en-US" sz="20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34" name="椭圆 33"/>
          <p:cNvSpPr/>
          <p:nvPr/>
        </p:nvSpPr>
        <p:spPr>
          <a:xfrm>
            <a:off x="1259632" y="2948777"/>
            <a:ext cx="624239" cy="624239"/>
          </a:xfrm>
          <a:prstGeom prst="ellipse">
            <a:avLst/>
          </a:prstGeom>
          <a:solidFill>
            <a:srgbClr val="69696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latin typeface="Arial Unicode MS" panose="020B0604020202020204" pitchFamily="34" charset="-122"/>
                <a:ea typeface="Arial Unicode MS" panose="020B0604020202020204" pitchFamily="34" charset="-122"/>
                <a:cs typeface="Arial Unicode MS" panose="020B0604020202020204" pitchFamily="34" charset="-122"/>
              </a:rPr>
              <a:t>2</a:t>
            </a:r>
            <a:endParaRPr lang="zh-CN" altLang="en-US" sz="20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35" name="椭圆 34"/>
          <p:cNvSpPr/>
          <p:nvPr/>
        </p:nvSpPr>
        <p:spPr>
          <a:xfrm>
            <a:off x="1259632" y="4028897"/>
            <a:ext cx="624239" cy="624239"/>
          </a:xfrm>
          <a:prstGeom prst="ellipse">
            <a:avLst/>
          </a:prstGeom>
          <a:solidFill>
            <a:srgbClr val="69696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latin typeface="Arial Unicode MS" panose="020B0604020202020204" pitchFamily="34" charset="-122"/>
                <a:ea typeface="Arial Unicode MS" panose="020B0604020202020204" pitchFamily="34" charset="-122"/>
                <a:cs typeface="Arial Unicode MS" panose="020B0604020202020204" pitchFamily="34" charset="-122"/>
              </a:rPr>
              <a:t>3</a:t>
            </a:r>
            <a:endParaRPr lang="zh-CN" altLang="en-US" sz="20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499786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
          <p:cNvSpPr txBox="1"/>
          <p:nvPr/>
        </p:nvSpPr>
        <p:spPr>
          <a:xfrm>
            <a:off x="4292127" y="1364332"/>
            <a:ext cx="3664249" cy="841375"/>
          </a:xfrm>
          <a:prstGeom prst="roundRect">
            <a:avLst>
              <a:gd name="adj" fmla="val 8176"/>
            </a:avLst>
          </a:prstGeom>
          <a:solidFill>
            <a:srgbClr val="5DCB08"/>
          </a:solidFill>
          <a:ln w="19050">
            <a:solidFill>
              <a:schemeClr val="bg1">
                <a:lumMod val="65000"/>
              </a:schemeClr>
            </a:solidFill>
          </a:ln>
        </p:spPr>
        <p:txBody>
          <a:bodyPr wrap="none" anchor="ctr"/>
          <a:lstStyle/>
          <a:p>
            <a:pPr algn="ctr">
              <a:defRPr/>
            </a:pPr>
            <a:r>
              <a:rPr lang="en-US" altLang="zh-CN" sz="2800" b="1" dirty="0">
                <a:latin typeface="微软雅黑" panose="020B0503020204020204" pitchFamily="34" charset="-122"/>
                <a:ea typeface="微软雅黑" panose="020B0503020204020204" pitchFamily="34" charset="-122"/>
              </a:rPr>
              <a:t>80386</a:t>
            </a:r>
            <a:r>
              <a:rPr lang="zh-CN" altLang="en-US" sz="2800" b="1" dirty="0">
                <a:latin typeface="微软雅黑" panose="020B0503020204020204" pitchFamily="34" charset="-122"/>
                <a:ea typeface="微软雅黑" panose="020B0503020204020204" pitchFamily="34" charset="-122"/>
              </a:rPr>
              <a:t>及其特点</a:t>
            </a:r>
          </a:p>
        </p:txBody>
      </p:sp>
      <p:sp>
        <p:nvSpPr>
          <p:cNvPr id="3" name="椭圆 2"/>
          <p:cNvSpPr/>
          <p:nvPr/>
        </p:nvSpPr>
        <p:spPr>
          <a:xfrm>
            <a:off x="3859857" y="1413396"/>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1</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
        <p:nvSpPr>
          <p:cNvPr id="4" name="TextBox 9"/>
          <p:cNvSpPr txBox="1"/>
          <p:nvPr/>
        </p:nvSpPr>
        <p:spPr>
          <a:xfrm>
            <a:off x="4292127" y="2516857"/>
            <a:ext cx="3664249" cy="841375"/>
          </a:xfrm>
          <a:prstGeom prst="roundRect">
            <a:avLst>
              <a:gd name="adj" fmla="val 8176"/>
            </a:avLst>
          </a:prstGeom>
          <a:noFill/>
          <a:ln w="19050">
            <a:solidFill>
              <a:schemeClr val="bg1">
                <a:lumMod val="65000"/>
              </a:schemeClr>
            </a:solidFill>
          </a:ln>
        </p:spPr>
        <p:txBody>
          <a:bodyPr wrap="none" anchor="ctr"/>
          <a:lstStyle>
            <a:defPPr>
              <a:defRPr lang="en-US"/>
            </a:defPPr>
            <a:lvl1pPr algn="ctr">
              <a:defRPr sz="2800" b="1">
                <a:solidFill>
                  <a:srgbClr val="A6A6A6"/>
                </a:solidFill>
                <a:latin typeface="微软雅黑" panose="020B0503020204020204" pitchFamily="34" charset="-122"/>
                <a:ea typeface="微软雅黑" panose="020B0503020204020204" pitchFamily="34" charset="-122"/>
              </a:defRPr>
            </a:lvl1pPr>
          </a:lstStyle>
          <a:p>
            <a:r>
              <a:rPr lang="en-US" altLang="zh-CN" dirty="0"/>
              <a:t>80386</a:t>
            </a:r>
            <a:r>
              <a:rPr lang="zh-CN" altLang="en-US" dirty="0"/>
              <a:t>工作模式</a:t>
            </a:r>
          </a:p>
        </p:txBody>
      </p:sp>
      <p:sp>
        <p:nvSpPr>
          <p:cNvPr id="5" name="椭圆 4"/>
          <p:cNvSpPr/>
          <p:nvPr/>
        </p:nvSpPr>
        <p:spPr>
          <a:xfrm>
            <a:off x="3859857" y="2565921"/>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2</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
        <p:nvSpPr>
          <p:cNvPr id="6" name="TextBox 9"/>
          <p:cNvSpPr txBox="1"/>
          <p:nvPr/>
        </p:nvSpPr>
        <p:spPr>
          <a:xfrm>
            <a:off x="4284190" y="3668365"/>
            <a:ext cx="3664249" cy="841375"/>
          </a:xfrm>
          <a:prstGeom prst="roundRect">
            <a:avLst>
              <a:gd name="adj" fmla="val 8176"/>
            </a:avLst>
          </a:prstGeom>
          <a:noFill/>
          <a:ln w="19050">
            <a:solidFill>
              <a:schemeClr val="bg1">
                <a:lumMod val="65000"/>
              </a:schemeClr>
            </a:solidFill>
          </a:ln>
        </p:spPr>
        <p:txBody>
          <a:bodyPr wrap="none" anchor="ctr"/>
          <a:lstStyle>
            <a:defPPr>
              <a:defRPr lang="en-US"/>
            </a:defPPr>
            <a:lvl1pPr algn="ctr">
              <a:defRPr sz="2800" b="1">
                <a:solidFill>
                  <a:srgbClr val="A6A6A6"/>
                </a:solidFill>
                <a:latin typeface="微软雅黑" panose="020B0503020204020204" pitchFamily="34" charset="-122"/>
                <a:ea typeface="微软雅黑" panose="020B0503020204020204" pitchFamily="34" charset="-122"/>
              </a:defRPr>
            </a:lvl1pPr>
          </a:lstStyle>
          <a:p>
            <a:r>
              <a:rPr lang="en-US" altLang="zh-CN" dirty="0"/>
              <a:t>80386</a:t>
            </a:r>
            <a:r>
              <a:rPr lang="zh-CN" altLang="en-US" dirty="0"/>
              <a:t>内部寄存器</a:t>
            </a:r>
          </a:p>
        </p:txBody>
      </p:sp>
      <p:sp>
        <p:nvSpPr>
          <p:cNvPr id="7" name="椭圆 6"/>
          <p:cNvSpPr/>
          <p:nvPr/>
        </p:nvSpPr>
        <p:spPr>
          <a:xfrm>
            <a:off x="3851920" y="3717429"/>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3</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
        <p:nvSpPr>
          <p:cNvPr id="8" name="TextBox 9"/>
          <p:cNvSpPr txBox="1"/>
          <p:nvPr/>
        </p:nvSpPr>
        <p:spPr>
          <a:xfrm>
            <a:off x="4292127" y="4819873"/>
            <a:ext cx="3664249" cy="841375"/>
          </a:xfrm>
          <a:prstGeom prst="roundRect">
            <a:avLst>
              <a:gd name="adj" fmla="val 8176"/>
            </a:avLst>
          </a:prstGeom>
          <a:noFill/>
          <a:ln w="19050">
            <a:solidFill>
              <a:schemeClr val="bg1">
                <a:lumMod val="65000"/>
              </a:schemeClr>
            </a:solidFill>
          </a:ln>
        </p:spPr>
        <p:txBody>
          <a:bodyPr wrap="none" anchor="ctr"/>
          <a:lstStyle>
            <a:defPPr>
              <a:defRPr lang="en-US"/>
            </a:defPPr>
            <a:lvl1pPr algn="ctr">
              <a:defRPr sz="2800" b="1">
                <a:solidFill>
                  <a:srgbClr val="A6A6A6"/>
                </a:solidFill>
                <a:latin typeface="微软雅黑" panose="020B0503020204020204" pitchFamily="34" charset="-122"/>
                <a:ea typeface="微软雅黑" panose="020B0503020204020204" pitchFamily="34" charset="-122"/>
              </a:defRPr>
            </a:lvl1pPr>
          </a:lstStyle>
          <a:p>
            <a:r>
              <a:rPr lang="en-US" altLang="zh-CN" dirty="0"/>
              <a:t>80386</a:t>
            </a:r>
            <a:r>
              <a:rPr lang="zh-CN" altLang="en-US" dirty="0"/>
              <a:t>存储器管理</a:t>
            </a:r>
          </a:p>
        </p:txBody>
      </p:sp>
      <p:sp>
        <p:nvSpPr>
          <p:cNvPr id="9" name="椭圆 8"/>
          <p:cNvSpPr/>
          <p:nvPr/>
        </p:nvSpPr>
        <p:spPr>
          <a:xfrm>
            <a:off x="3859857" y="4868937"/>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4</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Tree>
    <p:extLst>
      <p:ext uri="{BB962C8B-B14F-4D97-AF65-F5344CB8AC3E}">
        <p14:creationId xmlns:p14="http://schemas.microsoft.com/office/powerpoint/2010/main" val="52400581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fltVal val="0"/>
                                          </p:val>
                                        </p:tav>
                                        <p:tav tm="100000">
                                          <p:val>
                                            <p:strVal val="#ppt_h"/>
                                          </p:val>
                                        </p:tav>
                                      </p:tavLst>
                                    </p:anim>
                                    <p:animEffect transition="in" filter="fade">
                                      <p:cBhvr>
                                        <p:cTn id="34" dur="500"/>
                                        <p:tgtEl>
                                          <p:spTgt spid="6"/>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Effect transition="in" filter="fade">
                                      <p:cBhvr>
                                        <p:cTn id="39" dur="500"/>
                                        <p:tgtEl>
                                          <p:spTgt spid="9"/>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p:cTn id="42" dur="500" fill="hold"/>
                                        <p:tgtEl>
                                          <p:spTgt spid="8"/>
                                        </p:tgtEl>
                                        <p:attrNameLst>
                                          <p:attrName>ppt_w</p:attrName>
                                        </p:attrNameLst>
                                      </p:cBhvr>
                                      <p:tavLst>
                                        <p:tav tm="0">
                                          <p:val>
                                            <p:fltVal val="0"/>
                                          </p:val>
                                        </p:tav>
                                        <p:tav tm="100000">
                                          <p:val>
                                            <p:strVal val="#ppt_w"/>
                                          </p:val>
                                        </p:tav>
                                      </p:tavLst>
                                    </p:anim>
                                    <p:anim calcmode="lin" valueType="num">
                                      <p:cBhvr>
                                        <p:cTn id="43" dur="500" fill="hold"/>
                                        <p:tgtEl>
                                          <p:spTgt spid="8"/>
                                        </p:tgtEl>
                                        <p:attrNameLst>
                                          <p:attrName>ppt_h</p:attrName>
                                        </p:attrNameLst>
                                      </p:cBhvr>
                                      <p:tavLst>
                                        <p:tav tm="0">
                                          <p:val>
                                            <p:fltVal val="0"/>
                                          </p:val>
                                        </p:tav>
                                        <p:tav tm="100000">
                                          <p:val>
                                            <p:strVal val="#ppt_h"/>
                                          </p:val>
                                        </p:tav>
                                      </p:tavLst>
                                    </p:anim>
                                    <p:animEffect transition="in" filter="fade">
                                      <p:cBhvr>
                                        <p:cTn id="4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anose="020B0503020204020204" pitchFamily="34" charset="-122"/>
              <a:ea typeface="微软雅黑" panose="020B0503020204020204" pitchFamily="34" charset="-122"/>
            </a:endParaRPr>
          </a:p>
        </p:txBody>
      </p:sp>
      <p:sp>
        <p:nvSpPr>
          <p:cNvPr id="10" name="TextBox 15"/>
          <p:cNvSpPr txBox="1"/>
          <p:nvPr/>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pPr algn="ctr"/>
              <a:t>8</a:t>
            </a:fld>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t> </a:t>
            </a:r>
            <a:endParaRPr lang="zh-CN" altLang="en-US" sz="1600" b="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2" name="TextBox 15"/>
          <p:cNvSpPr txBox="1">
            <a:spLocks noChangeArrowheads="1"/>
          </p:cNvSpPr>
          <p:nvPr/>
        </p:nvSpPr>
        <p:spPr bwMode="auto">
          <a:xfrm>
            <a:off x="2966244" y="4119885"/>
            <a:ext cx="3405956" cy="1884273"/>
          </a:xfrm>
          <a:prstGeom prst="rect">
            <a:avLst/>
          </a:prstGeom>
          <a:noFill/>
          <a:ln w="9525">
            <a:noFill/>
            <a:miter lim="800000"/>
            <a:headEnd/>
            <a:tailEnd/>
          </a:ln>
        </p:spPr>
        <p:txBody>
          <a:bodyPr wrap="square" lIns="67730" tIns="33865" rIns="67730" bIns="33865">
            <a:spAutoFit/>
          </a:bodyP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indent="-342900" defTabSz="762000">
              <a:lnSpc>
                <a:spcPct val="150000"/>
              </a:lnSpc>
              <a:spcAft>
                <a:spcPts val="600"/>
              </a:spcAft>
              <a:buFont typeface="Wingdings" pitchFamily="2" charset="2"/>
              <a:buChar char="u"/>
            </a:pPr>
            <a:r>
              <a:rPr lang="en-US" altLang="zh-CN" sz="2400" b="1" dirty="0">
                <a:solidFill>
                  <a:srgbClr val="FF3255"/>
                </a:solidFill>
                <a:latin typeface="微软雅黑" pitchFamily="34" charset="-122"/>
                <a:ea typeface="微软雅黑" pitchFamily="34" charset="-122"/>
              </a:rPr>
              <a:t>80386</a:t>
            </a:r>
            <a:r>
              <a:rPr lang="zh-CN" altLang="en-US" sz="2400" b="1" dirty="0">
                <a:solidFill>
                  <a:srgbClr val="FF3255"/>
                </a:solidFill>
                <a:latin typeface="微软雅黑" pitchFamily="34" charset="-122"/>
                <a:ea typeface="微软雅黑" pitchFamily="34" charset="-122"/>
              </a:rPr>
              <a:t>的概述</a:t>
            </a:r>
            <a:endParaRPr lang="en-US" altLang="zh-CN" sz="2400" b="1" dirty="0">
              <a:solidFill>
                <a:srgbClr val="FF3255"/>
              </a:solidFill>
              <a:latin typeface="微软雅黑" pitchFamily="34" charset="-122"/>
              <a:ea typeface="微软雅黑" pitchFamily="34" charset="-122"/>
            </a:endParaRPr>
          </a:p>
          <a:p>
            <a:pPr indent="-342900" defTabSz="762000">
              <a:lnSpc>
                <a:spcPct val="150000"/>
              </a:lnSpc>
              <a:spcAft>
                <a:spcPts val="600"/>
              </a:spcAft>
              <a:buFont typeface="Wingdings" pitchFamily="2" charset="2"/>
              <a:buChar char="u"/>
            </a:pPr>
            <a:r>
              <a:rPr lang="en-US" altLang="zh-CN" sz="2400" b="1" dirty="0">
                <a:solidFill>
                  <a:schemeClr val="tx1">
                    <a:lumMod val="65000"/>
                    <a:lumOff val="35000"/>
                  </a:schemeClr>
                </a:solidFill>
                <a:latin typeface="微软雅黑" pitchFamily="34" charset="-122"/>
                <a:ea typeface="微软雅黑" pitchFamily="34" charset="-122"/>
              </a:rPr>
              <a:t>80386</a:t>
            </a:r>
            <a:r>
              <a:rPr lang="zh-CN" altLang="en-US" sz="2400" b="1" dirty="0">
                <a:solidFill>
                  <a:schemeClr val="tx1">
                    <a:lumMod val="65000"/>
                    <a:lumOff val="35000"/>
                  </a:schemeClr>
                </a:solidFill>
                <a:latin typeface="微软雅黑" pitchFamily="34" charset="-122"/>
                <a:ea typeface="微软雅黑" pitchFamily="34" charset="-122"/>
              </a:rPr>
              <a:t>内部结构</a:t>
            </a:r>
            <a:endParaRPr lang="en-US" altLang="zh-CN" sz="2400" b="1" dirty="0">
              <a:solidFill>
                <a:schemeClr val="tx1">
                  <a:lumMod val="65000"/>
                  <a:lumOff val="35000"/>
                </a:schemeClr>
              </a:solidFill>
              <a:latin typeface="微软雅黑" pitchFamily="34" charset="-122"/>
              <a:ea typeface="微软雅黑" pitchFamily="34" charset="-122"/>
            </a:endParaRPr>
          </a:p>
          <a:p>
            <a:pPr indent="-342900" defTabSz="762000">
              <a:lnSpc>
                <a:spcPct val="150000"/>
              </a:lnSpc>
              <a:spcAft>
                <a:spcPts val="600"/>
              </a:spcAft>
              <a:buFont typeface="Wingdings" pitchFamily="2" charset="2"/>
              <a:buChar char="u"/>
            </a:pPr>
            <a:r>
              <a:rPr lang="en-US" altLang="zh-CN" sz="2400" b="1" dirty="0">
                <a:solidFill>
                  <a:schemeClr val="tx1">
                    <a:lumMod val="65000"/>
                    <a:lumOff val="35000"/>
                  </a:schemeClr>
                </a:solidFill>
                <a:latin typeface="微软雅黑" pitchFamily="34" charset="-122"/>
                <a:ea typeface="微软雅黑" pitchFamily="34" charset="-122"/>
              </a:rPr>
              <a:t>80386</a:t>
            </a:r>
            <a:r>
              <a:rPr lang="zh-CN" altLang="en-US" sz="2400" b="1" dirty="0">
                <a:solidFill>
                  <a:schemeClr val="tx1">
                    <a:lumMod val="65000"/>
                    <a:lumOff val="35000"/>
                  </a:schemeClr>
                </a:solidFill>
                <a:latin typeface="微软雅黑" pitchFamily="34" charset="-122"/>
                <a:ea typeface="微软雅黑" pitchFamily="34" charset="-122"/>
              </a:rPr>
              <a:t>的特点</a:t>
            </a:r>
            <a:endParaRPr lang="en-US" altLang="zh-CN" sz="2400" b="1" dirty="0">
              <a:solidFill>
                <a:schemeClr val="tx1">
                  <a:lumMod val="65000"/>
                  <a:lumOff val="35000"/>
                </a:schemeClr>
              </a:solidFill>
              <a:latin typeface="微软雅黑" pitchFamily="34" charset="-122"/>
              <a:ea typeface="微软雅黑" pitchFamily="34" charset="-122"/>
            </a:endParaRPr>
          </a:p>
        </p:txBody>
      </p:sp>
      <p:cxnSp>
        <p:nvCxnSpPr>
          <p:cNvPr id="14" name="直接连接符 13"/>
          <p:cNvCxnSpPr/>
          <p:nvPr/>
        </p:nvCxnSpPr>
        <p:spPr>
          <a:xfrm>
            <a:off x="1404144" y="2207419"/>
            <a:ext cx="6264275" cy="1587"/>
          </a:xfrm>
          <a:prstGeom prst="line">
            <a:avLst/>
          </a:prstGeom>
          <a:noFill/>
          <a:ln w="9525" cap="flat" cmpd="sng" algn="ctr">
            <a:solidFill>
              <a:sysClr val="window" lastClr="FFFFFF">
                <a:lumMod val="85000"/>
              </a:sysClr>
            </a:solidFill>
            <a:prstDash val="solid"/>
          </a:ln>
          <a:effectLst/>
        </p:spPr>
      </p:cxnSp>
      <p:cxnSp>
        <p:nvCxnSpPr>
          <p:cNvPr id="15" name="直接连接符 14"/>
          <p:cNvCxnSpPr/>
          <p:nvPr/>
        </p:nvCxnSpPr>
        <p:spPr>
          <a:xfrm>
            <a:off x="1475582" y="3936206"/>
            <a:ext cx="6264275" cy="1588"/>
          </a:xfrm>
          <a:prstGeom prst="line">
            <a:avLst/>
          </a:prstGeom>
          <a:noFill/>
          <a:ln w="9525" cap="flat" cmpd="sng" algn="ctr">
            <a:solidFill>
              <a:sysClr val="window" lastClr="FFFFFF">
                <a:lumMod val="85000"/>
              </a:sysClr>
            </a:solidFill>
            <a:prstDash val="solid"/>
          </a:ln>
          <a:effectLst/>
        </p:spPr>
      </p:cxnSp>
      <p:sp>
        <p:nvSpPr>
          <p:cNvPr id="16" name="TextBox 10"/>
          <p:cNvSpPr txBox="1">
            <a:spLocks noChangeArrowheads="1"/>
          </p:cNvSpPr>
          <p:nvPr/>
        </p:nvSpPr>
        <p:spPr bwMode="auto">
          <a:xfrm>
            <a:off x="1475697" y="2447499"/>
            <a:ext cx="6985934" cy="1250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algn="ctr">
              <a:lnSpc>
                <a:spcPct val="114000"/>
              </a:lnSpc>
            </a:pPr>
            <a:r>
              <a:rPr lang="en-US" altLang="zh-CN" sz="6600" b="1" dirty="0">
                <a:solidFill>
                  <a:srgbClr val="00C4F0"/>
                </a:solidFill>
                <a:latin typeface="微软雅黑" pitchFamily="34" charset="-122"/>
                <a:ea typeface="微软雅黑" pitchFamily="34" charset="-122"/>
              </a:rPr>
              <a:t>80386</a:t>
            </a:r>
            <a:r>
              <a:rPr lang="zh-CN" altLang="en-US" sz="6600" b="1" dirty="0">
                <a:solidFill>
                  <a:srgbClr val="00C4F0"/>
                </a:solidFill>
                <a:latin typeface="微软雅黑" pitchFamily="34" charset="-122"/>
                <a:ea typeface="微软雅黑" pitchFamily="34" charset="-122"/>
              </a:rPr>
              <a:t>及其特点</a:t>
            </a:r>
            <a:endParaRPr lang="zh-CN" altLang="en-US" sz="8000" b="1" dirty="0">
              <a:solidFill>
                <a:srgbClr val="00C4F0"/>
              </a:solidFill>
              <a:latin typeface="微软雅黑" pitchFamily="34" charset="-122"/>
              <a:ea typeface="微软雅黑" pitchFamily="34" charset="-122"/>
            </a:endParaRPr>
          </a:p>
        </p:txBody>
      </p:sp>
    </p:spTree>
    <p:extLst>
      <p:ext uri="{BB962C8B-B14F-4D97-AF65-F5344CB8AC3E}">
        <p14:creationId xmlns:p14="http://schemas.microsoft.com/office/powerpoint/2010/main" val="22240537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500"/>
                                        <p:tgtEl>
                                          <p:spTgt spid="14"/>
                                        </p:tgtEl>
                                      </p:cBhvr>
                                    </p:animEffect>
                                  </p:childTnLst>
                                </p:cTn>
                              </p:par>
                              <p:par>
                                <p:cTn id="8" presetID="1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slide(fromBottom)">
                                      <p:cBhvr>
                                        <p:cTn id="10" dur="500"/>
                                        <p:tgtEl>
                                          <p:spTgt spid="15"/>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1000"/>
                                        <p:tgtEl>
                                          <p:spTgt spid="12"/>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1000" fill="hold"/>
                                        <p:tgtEl>
                                          <p:spTgt spid="16"/>
                                        </p:tgtEl>
                                        <p:attrNameLst>
                                          <p:attrName>ppt_w</p:attrName>
                                        </p:attrNameLst>
                                      </p:cBhvr>
                                      <p:tavLst>
                                        <p:tav tm="0">
                                          <p:val>
                                            <p:fltVal val="0"/>
                                          </p:val>
                                        </p:tav>
                                        <p:tav tm="100000">
                                          <p:val>
                                            <p:strVal val="#ppt_w"/>
                                          </p:val>
                                        </p:tav>
                                      </p:tavLst>
                                    </p:anim>
                                    <p:anim calcmode="lin" valueType="num">
                                      <p:cBhvr>
                                        <p:cTn id="18" dur="1000" fill="hold"/>
                                        <p:tgtEl>
                                          <p:spTgt spid="16"/>
                                        </p:tgtEl>
                                        <p:attrNameLst>
                                          <p:attrName>ppt_h</p:attrName>
                                        </p:attrNameLst>
                                      </p:cBhvr>
                                      <p:tavLst>
                                        <p:tav tm="0">
                                          <p:val>
                                            <p:fltVal val="0"/>
                                          </p:val>
                                        </p:tav>
                                        <p:tav tm="100000">
                                          <p:val>
                                            <p:strVal val="#ppt_h"/>
                                          </p:val>
                                        </p:tav>
                                      </p:tavLst>
                                    </p:anim>
                                    <p:animEffect transition="in" filter="fade">
                                      <p:cBhvr>
                                        <p:cTn id="19"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en-US" altLang="zh-CN" sz="3200" b="1" dirty="0">
                <a:solidFill>
                  <a:srgbClr val="00B0F0"/>
                </a:solidFill>
                <a:latin typeface="微软雅黑" pitchFamily="34" charset="-122"/>
                <a:ea typeface="微软雅黑" pitchFamily="34" charset="-122"/>
              </a:rPr>
              <a:t>80386</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8" name="TextBox 17"/>
          <p:cNvSpPr txBox="1"/>
          <p:nvPr/>
        </p:nvSpPr>
        <p:spPr>
          <a:xfrm>
            <a:off x="4788024" y="1988840"/>
            <a:ext cx="3888432" cy="2139047"/>
          </a:xfrm>
          <a:prstGeom prst="rect">
            <a:avLst/>
          </a:prstGeom>
          <a:noFill/>
          <a:ln w="6350">
            <a:solidFill>
              <a:srgbClr val="48A5EA"/>
            </a:solidFill>
            <a:prstDash val="dash"/>
          </a:ln>
        </p:spPr>
        <p:txBody>
          <a:bodyPr wrap="square">
            <a:spAutoFit/>
          </a:bodyPr>
          <a:lstStyle/>
          <a:p>
            <a:pPr marL="342900" indent="-342900">
              <a:lnSpc>
                <a:spcPct val="133000"/>
              </a:lnSpc>
              <a:buFont typeface="Wingdings" panose="05000000000000000000" pitchFamily="2" charset="2"/>
              <a:buChar char="n"/>
              <a:defRPr/>
            </a:pPr>
            <a:r>
              <a:rPr lang="en-US" altLang="zh-CN" sz="2000" b="1" dirty="0">
                <a:solidFill>
                  <a:schemeClr val="tx1">
                    <a:lumMod val="50000"/>
                    <a:lumOff val="50000"/>
                  </a:schemeClr>
                </a:solidFill>
                <a:latin typeface="微软雅黑" pitchFamily="34" charset="-122"/>
                <a:ea typeface="微软雅黑" pitchFamily="34" charset="-122"/>
              </a:rPr>
              <a:t>1985</a:t>
            </a:r>
            <a:r>
              <a:rPr lang="zh-CN" altLang="en-US" sz="2000" b="1" dirty="0">
                <a:solidFill>
                  <a:schemeClr val="tx1">
                    <a:lumMod val="50000"/>
                    <a:lumOff val="50000"/>
                  </a:schemeClr>
                </a:solidFill>
                <a:latin typeface="微软雅黑" pitchFamily="34" charset="-122"/>
                <a:ea typeface="微软雅黑" pitchFamily="34" charset="-122"/>
              </a:rPr>
              <a:t>年</a:t>
            </a:r>
            <a:r>
              <a:rPr lang="en-US" altLang="zh-CN" sz="2000" b="1" dirty="0">
                <a:solidFill>
                  <a:schemeClr val="tx1">
                    <a:lumMod val="50000"/>
                    <a:lumOff val="50000"/>
                  </a:schemeClr>
                </a:solidFill>
                <a:latin typeface="微软雅黑" pitchFamily="34" charset="-122"/>
                <a:ea typeface="微软雅黑" pitchFamily="34" charset="-122"/>
              </a:rPr>
              <a:t>10</a:t>
            </a:r>
            <a:r>
              <a:rPr lang="zh-CN" altLang="en-US" sz="2000" b="1" dirty="0">
                <a:solidFill>
                  <a:schemeClr val="tx1">
                    <a:lumMod val="50000"/>
                    <a:lumOff val="50000"/>
                  </a:schemeClr>
                </a:solidFill>
                <a:latin typeface="微软雅黑" pitchFamily="34" charset="-122"/>
                <a:ea typeface="微软雅黑" pitchFamily="34" charset="-122"/>
              </a:rPr>
              <a:t>月，</a:t>
            </a:r>
            <a:r>
              <a:rPr lang="en-US" altLang="zh-CN" sz="2000" b="1" dirty="0">
                <a:solidFill>
                  <a:schemeClr val="tx1">
                    <a:lumMod val="50000"/>
                    <a:lumOff val="50000"/>
                  </a:schemeClr>
                </a:solidFill>
                <a:latin typeface="微软雅黑" pitchFamily="34" charset="-122"/>
                <a:ea typeface="微软雅黑" pitchFamily="34" charset="-122"/>
              </a:rPr>
              <a:t>Intel</a:t>
            </a:r>
            <a:r>
              <a:rPr lang="zh-CN" altLang="en-US" sz="2000" b="1" dirty="0">
                <a:solidFill>
                  <a:schemeClr val="tx1">
                    <a:lumMod val="50000"/>
                    <a:lumOff val="50000"/>
                  </a:schemeClr>
                </a:solidFill>
                <a:latin typeface="微软雅黑" pitchFamily="34" charset="-122"/>
                <a:ea typeface="微软雅黑" pitchFamily="34" charset="-122"/>
              </a:rPr>
              <a:t>推出了</a:t>
            </a:r>
            <a:r>
              <a:rPr lang="zh-CN" altLang="en-US" sz="2000" b="1" dirty="0">
                <a:solidFill>
                  <a:srgbClr val="FF3255"/>
                </a:solidFill>
                <a:latin typeface="微软雅黑" pitchFamily="34" charset="-122"/>
                <a:ea typeface="微软雅黑" pitchFamily="34" charset="-122"/>
              </a:rPr>
              <a:t>第一个高性能全</a:t>
            </a:r>
            <a:r>
              <a:rPr lang="en-US" altLang="zh-CN" sz="2000" b="1" dirty="0">
                <a:solidFill>
                  <a:srgbClr val="FF3255"/>
                </a:solidFill>
                <a:latin typeface="微软雅黑" pitchFamily="34" charset="-122"/>
                <a:ea typeface="微软雅黑" pitchFamily="34" charset="-122"/>
              </a:rPr>
              <a:t>32</a:t>
            </a:r>
            <a:r>
              <a:rPr lang="zh-CN" altLang="en-US" sz="2000" b="1" dirty="0">
                <a:solidFill>
                  <a:srgbClr val="FF3255"/>
                </a:solidFill>
                <a:latin typeface="微软雅黑" pitchFamily="34" charset="-122"/>
                <a:ea typeface="微软雅黑" pitchFamily="34" charset="-122"/>
              </a:rPr>
              <a:t>位的</a:t>
            </a:r>
            <a:r>
              <a:rPr lang="en-US" altLang="zh-CN" sz="2000" b="1" dirty="0">
                <a:solidFill>
                  <a:srgbClr val="FF3255"/>
                </a:solidFill>
                <a:latin typeface="微软雅黑" pitchFamily="34" charset="-122"/>
                <a:ea typeface="微软雅黑" pitchFamily="34" charset="-122"/>
              </a:rPr>
              <a:t>CPU</a:t>
            </a:r>
            <a:r>
              <a:rPr lang="en-US" altLang="zh-CN" sz="2000" b="1" dirty="0">
                <a:solidFill>
                  <a:schemeClr val="tx1">
                    <a:lumMod val="50000"/>
                    <a:lumOff val="50000"/>
                  </a:schemeClr>
                </a:solidFill>
                <a:latin typeface="微软雅黑" pitchFamily="34" charset="-122"/>
                <a:ea typeface="微软雅黑" pitchFamily="34" charset="-122"/>
              </a:rPr>
              <a:t>── 80386 </a:t>
            </a:r>
            <a:r>
              <a:rPr lang="zh-CN" altLang="en-US" sz="2000" b="1" dirty="0">
                <a:solidFill>
                  <a:schemeClr val="tx1">
                    <a:lumMod val="50000"/>
                    <a:lumOff val="50000"/>
                  </a:schemeClr>
                </a:solidFill>
                <a:latin typeface="微软雅黑" pitchFamily="34" charset="-122"/>
                <a:ea typeface="微软雅黑" pitchFamily="34" charset="-122"/>
              </a:rPr>
              <a:t>。</a:t>
            </a:r>
            <a:endParaRPr lang="en-US" altLang="zh-CN" sz="2000" b="1" dirty="0">
              <a:solidFill>
                <a:schemeClr val="tx1">
                  <a:lumMod val="50000"/>
                  <a:lumOff val="50000"/>
                </a:schemeClr>
              </a:solidFill>
              <a:latin typeface="微软雅黑" pitchFamily="34" charset="-122"/>
              <a:ea typeface="微软雅黑" pitchFamily="34" charset="-122"/>
            </a:endParaRPr>
          </a:p>
          <a:p>
            <a:pPr marL="342900" indent="-342900">
              <a:lnSpc>
                <a:spcPct val="133000"/>
              </a:lnSpc>
              <a:buFont typeface="Wingdings" panose="05000000000000000000" pitchFamily="2" charset="2"/>
              <a:buChar char="n"/>
              <a:defRPr/>
            </a:pPr>
            <a:r>
              <a:rPr lang="zh-CN" altLang="en-US" sz="2000" b="1" dirty="0">
                <a:solidFill>
                  <a:schemeClr val="tx1">
                    <a:lumMod val="50000"/>
                    <a:lumOff val="50000"/>
                  </a:schemeClr>
                </a:solidFill>
                <a:latin typeface="微软雅黑" pitchFamily="34" charset="-122"/>
                <a:ea typeface="微软雅黑" pitchFamily="34" charset="-122"/>
              </a:rPr>
              <a:t>体系结构的突破：从</a:t>
            </a:r>
            <a:r>
              <a:rPr lang="en-US" altLang="zh-CN" sz="2000" b="1" dirty="0">
                <a:solidFill>
                  <a:srgbClr val="FF3255"/>
                </a:solidFill>
                <a:latin typeface="微软雅黑" pitchFamily="34" charset="-122"/>
                <a:ea typeface="微软雅黑" pitchFamily="34" charset="-122"/>
              </a:rPr>
              <a:t>16</a:t>
            </a:r>
            <a:r>
              <a:rPr lang="zh-CN" altLang="en-US" sz="2000" b="1" dirty="0">
                <a:solidFill>
                  <a:srgbClr val="FF3255"/>
                </a:solidFill>
                <a:latin typeface="微软雅黑" pitchFamily="34" charset="-122"/>
                <a:ea typeface="微软雅黑" pitchFamily="34" charset="-122"/>
              </a:rPr>
              <a:t>位体系结构过渡到</a:t>
            </a:r>
            <a:r>
              <a:rPr lang="en-US" altLang="zh-CN" sz="2000" b="1" dirty="0">
                <a:solidFill>
                  <a:srgbClr val="FF3255"/>
                </a:solidFill>
                <a:latin typeface="微软雅黑" pitchFamily="34" charset="-122"/>
                <a:ea typeface="微软雅黑" pitchFamily="34" charset="-122"/>
              </a:rPr>
              <a:t>32</a:t>
            </a:r>
            <a:r>
              <a:rPr lang="zh-CN" altLang="en-US" sz="2000" b="1" dirty="0">
                <a:solidFill>
                  <a:srgbClr val="FF3255"/>
                </a:solidFill>
                <a:latin typeface="微软雅黑" pitchFamily="34" charset="-122"/>
                <a:ea typeface="微软雅黑" pitchFamily="34" charset="-122"/>
              </a:rPr>
              <a:t>位</a:t>
            </a:r>
            <a:r>
              <a:rPr lang="zh-CN" altLang="en-US" sz="2000" b="1" dirty="0">
                <a:solidFill>
                  <a:schemeClr val="tx1">
                    <a:lumMod val="50000"/>
                    <a:lumOff val="50000"/>
                  </a:schemeClr>
                </a:solidFill>
                <a:latin typeface="微软雅黑" pitchFamily="34" charset="-122"/>
                <a:ea typeface="微软雅黑" pitchFamily="34" charset="-122"/>
              </a:rPr>
              <a:t>体系结构。</a:t>
            </a:r>
            <a:endParaRPr lang="en-US" altLang="zh-CN" sz="2000" b="1" dirty="0">
              <a:solidFill>
                <a:schemeClr val="tx1">
                  <a:lumMod val="50000"/>
                  <a:lumOff val="50000"/>
                </a:schemeClr>
              </a:solidFill>
              <a:latin typeface="微软雅黑" pitchFamily="34" charset="-122"/>
              <a:ea typeface="微软雅黑" pitchFamily="34" charset="-122"/>
            </a:endParaRPr>
          </a:p>
        </p:txBody>
      </p:sp>
      <p:pic>
        <p:nvPicPr>
          <p:cNvPr id="10" name="Picture 5"/>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55576" y="1988841"/>
            <a:ext cx="3816424" cy="2139047"/>
          </a:xfrm>
          <a:prstGeom prst="rect">
            <a:avLst/>
          </a:prstGeom>
          <a:noFill/>
          <a:ln w="3175">
            <a:solidFill>
              <a:srgbClr val="1D8DE5"/>
            </a:solidFill>
            <a:prstDash val="dash"/>
            <a:miter lim="800000"/>
            <a:headEnd/>
            <a:tailEnd/>
          </a:ln>
          <a:extLst>
            <a:ext uri="{909E8E84-426E-40DD-AFC4-6F175D3DCCD1}">
              <a14:hiddenFill xmlns:a14="http://schemas.microsoft.com/office/drawing/2010/main">
                <a:solidFill>
                  <a:srgbClr val="FFFFFF"/>
                </a:solidFill>
              </a14:hiddenFill>
            </a:ext>
          </a:extLst>
        </p:spPr>
      </p:pic>
      <p:sp>
        <p:nvSpPr>
          <p:cNvPr id="11" name="矩形 10"/>
          <p:cNvSpPr/>
          <p:nvPr/>
        </p:nvSpPr>
        <p:spPr>
          <a:xfrm>
            <a:off x="747952" y="4437113"/>
            <a:ext cx="7902062" cy="771673"/>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ea typeface="微软雅黑" panose="020B0503020204020204" pitchFamily="34" charset="-122"/>
              </a:rPr>
              <a:t>至今，</a:t>
            </a:r>
            <a:r>
              <a:rPr lang="en-US" altLang="zh-CN" sz="2800" b="1" dirty="0">
                <a:ea typeface="微软雅黑" panose="020B0503020204020204" pitchFamily="34" charset="-122"/>
              </a:rPr>
              <a:t>CPU</a:t>
            </a:r>
            <a:r>
              <a:rPr lang="zh-CN" altLang="en-US" sz="2800" b="1" dirty="0">
                <a:ea typeface="微软雅黑" panose="020B0503020204020204" pitchFamily="34" charset="-122"/>
              </a:rPr>
              <a:t>的体系结构仍没有革命性突破。</a:t>
            </a:r>
          </a:p>
        </p:txBody>
      </p:sp>
    </p:spTree>
    <p:extLst>
      <p:ext uri="{BB962C8B-B14F-4D97-AF65-F5344CB8AC3E}">
        <p14:creationId xmlns:p14="http://schemas.microsoft.com/office/powerpoint/2010/main" val="2206565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en-US" altLang="zh-CN" sz="3200" b="1" dirty="0">
                <a:solidFill>
                  <a:srgbClr val="00B0F0"/>
                </a:solidFill>
                <a:latin typeface="微软雅黑" pitchFamily="34" charset="-122"/>
                <a:ea typeface="微软雅黑" pitchFamily="34" charset="-122"/>
              </a:rPr>
              <a:t>16</a:t>
            </a:r>
            <a:r>
              <a:rPr lang="zh-CN" altLang="en-US" sz="3200" b="1" dirty="0">
                <a:solidFill>
                  <a:srgbClr val="00B0F0"/>
                </a:solidFill>
                <a:latin typeface="微软雅黑" pitchFamily="34" charset="-122"/>
                <a:ea typeface="微软雅黑" pitchFamily="34" charset="-122"/>
              </a:rPr>
              <a:t>位系统架构的缺点</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8" name="TextBox 17"/>
          <p:cNvSpPr txBox="1"/>
          <p:nvPr/>
        </p:nvSpPr>
        <p:spPr>
          <a:xfrm>
            <a:off x="467545" y="1988840"/>
            <a:ext cx="4392487" cy="2957733"/>
          </a:xfrm>
          <a:prstGeom prst="rect">
            <a:avLst/>
          </a:prstGeom>
          <a:solidFill>
            <a:srgbClr val="1D8DE5"/>
          </a:solidFill>
          <a:ln>
            <a:noFill/>
          </a:ln>
        </p:spPr>
        <p:txBody>
          <a:bodyPr wrap="square">
            <a:spAutoFit/>
          </a:bodyPr>
          <a:lstStyle/>
          <a:p>
            <a:pPr marL="342900" indent="-342900">
              <a:lnSpc>
                <a:spcPct val="133000"/>
              </a:lnSpc>
              <a:buFont typeface="Wingdings" panose="05000000000000000000" pitchFamily="2" charset="2"/>
              <a:buChar char="n"/>
              <a:defRPr/>
            </a:pPr>
            <a:r>
              <a:rPr lang="zh-CN" altLang="en-US" sz="2000" b="1" dirty="0">
                <a:solidFill>
                  <a:srgbClr val="FFFF00"/>
                </a:solidFill>
                <a:latin typeface="微软雅黑" pitchFamily="34" charset="-122"/>
                <a:ea typeface="微软雅黑" pitchFamily="34" charset="-122"/>
              </a:rPr>
              <a:t>单任务： </a:t>
            </a:r>
            <a:r>
              <a:rPr lang="en-US" altLang="zh-CN" sz="2000" b="1" dirty="0">
                <a:solidFill>
                  <a:schemeClr val="bg1"/>
                </a:solidFill>
                <a:latin typeface="微软雅黑" pitchFamily="34" charset="-122"/>
                <a:ea typeface="微软雅黑" pitchFamily="34" charset="-122"/>
              </a:rPr>
              <a:t>16</a:t>
            </a:r>
            <a:r>
              <a:rPr lang="zh-CN" altLang="en-US" sz="2000" b="1" dirty="0">
                <a:solidFill>
                  <a:schemeClr val="bg1"/>
                </a:solidFill>
                <a:latin typeface="微软雅黑" pitchFamily="34" charset="-122"/>
                <a:ea typeface="微软雅黑" pitchFamily="34" charset="-122"/>
              </a:rPr>
              <a:t>位</a:t>
            </a:r>
            <a:r>
              <a:rPr lang="en-US" altLang="zh-CN" sz="2000" b="1" dirty="0">
                <a:solidFill>
                  <a:schemeClr val="bg1"/>
                </a:solidFill>
                <a:latin typeface="微软雅黑" pitchFamily="34" charset="-122"/>
                <a:ea typeface="微软雅黑" pitchFamily="34" charset="-122"/>
              </a:rPr>
              <a:t>CPU</a:t>
            </a:r>
            <a:r>
              <a:rPr lang="zh-CN" altLang="en-US" sz="2000" b="1" dirty="0">
                <a:solidFill>
                  <a:schemeClr val="bg1"/>
                </a:solidFill>
                <a:latin typeface="微软雅黑" pitchFamily="34" charset="-122"/>
                <a:ea typeface="微软雅黑" pitchFamily="34" charset="-122"/>
              </a:rPr>
              <a:t>只支持单任务。</a:t>
            </a:r>
            <a:endParaRPr lang="en-US" altLang="zh-CN" sz="2000" b="1" dirty="0">
              <a:solidFill>
                <a:schemeClr val="bg1"/>
              </a:solidFill>
              <a:latin typeface="微软雅黑" pitchFamily="34" charset="-122"/>
              <a:ea typeface="微软雅黑" pitchFamily="34" charset="-122"/>
            </a:endParaRPr>
          </a:p>
          <a:p>
            <a:pPr marL="342900" indent="-342900">
              <a:lnSpc>
                <a:spcPct val="133000"/>
              </a:lnSpc>
              <a:buFont typeface="Wingdings" panose="05000000000000000000" pitchFamily="2" charset="2"/>
              <a:buChar char="n"/>
              <a:defRPr/>
            </a:pPr>
            <a:r>
              <a:rPr lang="zh-CN" altLang="en-US" sz="2000" b="1" dirty="0">
                <a:solidFill>
                  <a:srgbClr val="FFFF00"/>
                </a:solidFill>
                <a:latin typeface="微软雅黑" pitchFamily="34" charset="-122"/>
                <a:ea typeface="微软雅黑" pitchFamily="34" charset="-122"/>
              </a:rPr>
              <a:t>内存小：</a:t>
            </a:r>
            <a:r>
              <a:rPr lang="zh-CN" altLang="en-US" sz="2000" b="1" dirty="0">
                <a:solidFill>
                  <a:schemeClr val="bg1"/>
                </a:solidFill>
                <a:latin typeface="微软雅黑" pitchFamily="34" charset="-122"/>
                <a:ea typeface="微软雅黑" pitchFamily="34" charset="-122"/>
              </a:rPr>
              <a:t> 运行时程序全部加载到内存，当程序大于内存时无法运行。</a:t>
            </a:r>
            <a:endParaRPr lang="en-US" altLang="zh-CN" sz="2000" b="1" dirty="0">
              <a:solidFill>
                <a:schemeClr val="bg1"/>
              </a:solidFill>
              <a:latin typeface="微软雅黑" pitchFamily="34" charset="-122"/>
              <a:ea typeface="微软雅黑" pitchFamily="34" charset="-122"/>
            </a:endParaRPr>
          </a:p>
          <a:p>
            <a:pPr marL="342900" indent="-342900">
              <a:lnSpc>
                <a:spcPct val="133000"/>
              </a:lnSpc>
              <a:buFont typeface="Wingdings" panose="05000000000000000000" pitchFamily="2" charset="2"/>
              <a:buChar char="n"/>
              <a:defRPr/>
            </a:pPr>
            <a:r>
              <a:rPr lang="zh-CN" altLang="en-US" sz="2000" b="1" dirty="0">
                <a:solidFill>
                  <a:srgbClr val="FFFF00"/>
                </a:solidFill>
                <a:latin typeface="微软雅黑" pitchFamily="34" charset="-122"/>
                <a:ea typeface="微软雅黑" pitchFamily="34" charset="-122"/>
              </a:rPr>
              <a:t>安全差：</a:t>
            </a:r>
            <a:r>
              <a:rPr lang="zh-CN" altLang="en-US" sz="2000" b="1" dirty="0">
                <a:solidFill>
                  <a:schemeClr val="bg1"/>
                </a:solidFill>
                <a:latin typeface="微软雅黑" pitchFamily="34" charset="-122"/>
                <a:ea typeface="微软雅黑" pitchFamily="34" charset="-122"/>
              </a:rPr>
              <a:t> 对内存访问没有太多的限制，应用程序容易修改操作系统等内存空间，导致系统崩溃。</a:t>
            </a:r>
            <a:endParaRPr lang="en-US" altLang="zh-CN" sz="2000" b="1" dirty="0">
              <a:solidFill>
                <a:schemeClr val="bg1"/>
              </a:solidFill>
              <a:latin typeface="微软雅黑" pitchFamily="34" charset="-122"/>
              <a:ea typeface="微软雅黑" pitchFamily="34" charset="-122"/>
            </a:endParaRPr>
          </a:p>
          <a:p>
            <a:pPr marL="342900" indent="-342900">
              <a:lnSpc>
                <a:spcPct val="133000"/>
              </a:lnSpc>
              <a:buFont typeface="Wingdings" panose="05000000000000000000" pitchFamily="2" charset="2"/>
              <a:buChar char="n"/>
              <a:defRPr/>
            </a:pPr>
            <a:r>
              <a:rPr lang="zh-CN" altLang="en-US" sz="2000" b="1" dirty="0">
                <a:solidFill>
                  <a:srgbClr val="FFFF00"/>
                </a:solidFill>
                <a:latin typeface="微软雅黑" pitchFamily="34" charset="-122"/>
                <a:ea typeface="微软雅黑" pitchFamily="34" charset="-122"/>
              </a:rPr>
              <a:t>效率低：</a:t>
            </a:r>
            <a:r>
              <a:rPr lang="zh-CN" altLang="en-US" sz="2000" b="1" dirty="0">
                <a:solidFill>
                  <a:schemeClr val="bg1"/>
                </a:solidFill>
                <a:latin typeface="微软雅黑" pitchFamily="34" charset="-122"/>
                <a:ea typeface="微软雅黑" pitchFamily="34" charset="-122"/>
              </a:rPr>
              <a:t>碎片化问题严重。</a:t>
            </a:r>
            <a:endParaRPr lang="en-US" altLang="zh-CN" sz="2000" b="1" dirty="0">
              <a:solidFill>
                <a:schemeClr val="bg1"/>
              </a:solidFill>
              <a:latin typeface="微软雅黑" pitchFamily="34" charset="-122"/>
              <a:ea typeface="微软雅黑" pitchFamily="34" charset="-122"/>
            </a:endParaRPr>
          </a:p>
        </p:txBody>
      </p:sp>
      <p:sp>
        <p:nvSpPr>
          <p:cNvPr id="9" name="矩形 8"/>
          <p:cNvSpPr/>
          <p:nvPr/>
        </p:nvSpPr>
        <p:spPr>
          <a:xfrm>
            <a:off x="5396884" y="2158032"/>
            <a:ext cx="885125" cy="795745"/>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代码</a:t>
            </a:r>
            <a:endParaRPr lang="en-US" altLang="zh-CN" dirty="0">
              <a:latin typeface="微软雅黑" panose="020B0503020204020204" pitchFamily="34" charset="-122"/>
              <a:ea typeface="微软雅黑" panose="020B0503020204020204" pitchFamily="34" charset="-122"/>
            </a:endParaRPr>
          </a:p>
          <a:p>
            <a:pPr algn="ctr"/>
            <a:r>
              <a:rPr lang="zh-CN" altLang="en-US" dirty="0">
                <a:latin typeface="微软雅黑" panose="020B0503020204020204" pitchFamily="34" charset="-122"/>
                <a:ea typeface="微软雅黑" panose="020B0503020204020204" pitchFamily="34" charset="-122"/>
              </a:rPr>
              <a:t>数据</a:t>
            </a:r>
          </a:p>
        </p:txBody>
      </p:sp>
      <p:sp>
        <p:nvSpPr>
          <p:cNvPr id="10" name="矩形 9"/>
          <p:cNvSpPr/>
          <p:nvPr/>
        </p:nvSpPr>
        <p:spPr>
          <a:xfrm>
            <a:off x="7763369" y="2068933"/>
            <a:ext cx="885125" cy="143207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cxnSp>
        <p:nvCxnSpPr>
          <p:cNvPr id="12" name="直接箭头连接符 11"/>
          <p:cNvCxnSpPr/>
          <p:nvPr/>
        </p:nvCxnSpPr>
        <p:spPr>
          <a:xfrm>
            <a:off x="6271255" y="2176821"/>
            <a:ext cx="1512168" cy="2708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271255" y="2889997"/>
            <a:ext cx="1484206" cy="2658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7755461" y="2401980"/>
            <a:ext cx="885125" cy="753831"/>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代码</a:t>
            </a:r>
            <a:endParaRPr lang="en-US" altLang="zh-CN" dirty="0">
              <a:latin typeface="微软雅黑" panose="020B0503020204020204" pitchFamily="34" charset="-122"/>
              <a:ea typeface="微软雅黑" panose="020B0503020204020204" pitchFamily="34" charset="-122"/>
            </a:endParaRPr>
          </a:p>
          <a:p>
            <a:pPr algn="ctr"/>
            <a:r>
              <a:rPr lang="zh-CN" altLang="en-US" dirty="0">
                <a:latin typeface="微软雅黑" panose="020B0503020204020204" pitchFamily="34" charset="-122"/>
                <a:ea typeface="微软雅黑" panose="020B0503020204020204" pitchFamily="34" charset="-122"/>
              </a:rPr>
              <a:t>数据</a:t>
            </a:r>
          </a:p>
        </p:txBody>
      </p:sp>
      <p:sp>
        <p:nvSpPr>
          <p:cNvPr id="35" name="矩形 34"/>
          <p:cNvSpPr/>
          <p:nvPr/>
        </p:nvSpPr>
        <p:spPr>
          <a:xfrm>
            <a:off x="5171081" y="1988839"/>
            <a:ext cx="3744416" cy="2957733"/>
          </a:xfrm>
          <a:prstGeom prst="rect">
            <a:avLst/>
          </a:prstGeom>
          <a:noFill/>
          <a:ln w="9525">
            <a:solidFill>
              <a:srgbClr val="1D8DE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755460" y="3608896"/>
            <a:ext cx="885125" cy="126026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6" name="矩形 15"/>
          <p:cNvSpPr/>
          <p:nvPr/>
        </p:nvSpPr>
        <p:spPr>
          <a:xfrm>
            <a:off x="7758392" y="4163297"/>
            <a:ext cx="885125" cy="120985"/>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cxnSp>
        <p:nvCxnSpPr>
          <p:cNvPr id="17" name="直接箭头连接符 16"/>
          <p:cNvCxnSpPr/>
          <p:nvPr/>
        </p:nvCxnSpPr>
        <p:spPr>
          <a:xfrm>
            <a:off x="6268322" y="3976446"/>
            <a:ext cx="1484206" cy="2658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5428658" y="3715615"/>
            <a:ext cx="885125" cy="4236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D7A2A"/>
                </a:solidFill>
                <a:latin typeface="微软雅黑" panose="020B0503020204020204" pitchFamily="34" charset="-122"/>
                <a:ea typeface="微软雅黑" panose="020B0503020204020204" pitchFamily="34" charset="-122"/>
              </a:rPr>
              <a:t>碎片导致内存不连续</a:t>
            </a:r>
          </a:p>
        </p:txBody>
      </p:sp>
    </p:spTree>
    <p:extLst>
      <p:ext uri="{BB962C8B-B14F-4D97-AF65-F5344CB8AC3E}">
        <p14:creationId xmlns:p14="http://schemas.microsoft.com/office/powerpoint/2010/main" val="3244480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left)">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left)">
                                      <p:cBhvr>
                                        <p:cTn id="2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60"/>
          <p:cNvSpPr/>
          <p:nvPr/>
        </p:nvSpPr>
        <p:spPr>
          <a:xfrm>
            <a:off x="617793" y="4348865"/>
            <a:ext cx="1224136" cy="50405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en-US" altLang="zh-CN" sz="3200" b="1" dirty="0">
                <a:solidFill>
                  <a:srgbClr val="00B0F0"/>
                </a:solidFill>
                <a:latin typeface="微软雅黑" pitchFamily="34" charset="-122"/>
                <a:ea typeface="微软雅黑" pitchFamily="34" charset="-122"/>
              </a:rPr>
              <a:t>80386</a:t>
            </a:r>
            <a:r>
              <a:rPr lang="zh-CN" altLang="en-US" sz="3200" b="1" dirty="0">
                <a:solidFill>
                  <a:srgbClr val="00B0F0"/>
                </a:solidFill>
                <a:latin typeface="微软雅黑" pitchFamily="34" charset="-122"/>
                <a:ea typeface="微软雅黑" pitchFamily="34" charset="-122"/>
              </a:rPr>
              <a:t>的突破</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8" name="TextBox 17"/>
          <p:cNvSpPr txBox="1"/>
          <p:nvPr/>
        </p:nvSpPr>
        <p:spPr>
          <a:xfrm>
            <a:off x="547893" y="1268760"/>
            <a:ext cx="8324240" cy="1320361"/>
          </a:xfrm>
          <a:prstGeom prst="rect">
            <a:avLst/>
          </a:prstGeom>
          <a:noFill/>
        </p:spPr>
        <p:txBody>
          <a:bodyPr wrap="square">
            <a:spAutoFit/>
          </a:bodyPr>
          <a:lstStyle/>
          <a:p>
            <a:pPr marL="342900" indent="-342900">
              <a:lnSpc>
                <a:spcPct val="133000"/>
              </a:lnSpc>
              <a:buFont typeface="Wingdings" panose="05000000000000000000" pitchFamily="2" charset="2"/>
              <a:buChar char="n"/>
              <a:defRPr/>
            </a:pPr>
            <a:r>
              <a:rPr lang="zh-CN" altLang="en-US" sz="2000" b="1" dirty="0">
                <a:solidFill>
                  <a:srgbClr val="FF3255"/>
                </a:solidFill>
                <a:latin typeface="微软雅黑" pitchFamily="34" charset="-122"/>
                <a:ea typeface="微软雅黑" pitchFamily="34" charset="-122"/>
              </a:rPr>
              <a:t>虚拟存储器：</a:t>
            </a:r>
            <a:r>
              <a:rPr lang="zh-CN" altLang="en-US" sz="2000" b="1" dirty="0">
                <a:solidFill>
                  <a:schemeClr val="tx1">
                    <a:lumMod val="50000"/>
                    <a:lumOff val="50000"/>
                  </a:schemeClr>
                </a:solidFill>
                <a:latin typeface="微软雅黑" pitchFamily="34" charset="-122"/>
                <a:ea typeface="微软雅黑" pitchFamily="34" charset="-122"/>
              </a:rPr>
              <a:t>逻辑内存与物理内存分离，虚拟存储器远大于物理内存。</a:t>
            </a:r>
            <a:endParaRPr lang="en-US" altLang="zh-CN" sz="2000" b="1" dirty="0">
              <a:solidFill>
                <a:schemeClr val="tx1">
                  <a:lumMod val="50000"/>
                  <a:lumOff val="50000"/>
                </a:schemeClr>
              </a:solidFill>
              <a:latin typeface="微软雅黑" pitchFamily="34" charset="-122"/>
              <a:ea typeface="微软雅黑" pitchFamily="34" charset="-122"/>
            </a:endParaRPr>
          </a:p>
          <a:p>
            <a:pPr marL="342900" indent="-342900">
              <a:lnSpc>
                <a:spcPct val="133000"/>
              </a:lnSpc>
              <a:buFont typeface="Wingdings" panose="05000000000000000000" pitchFamily="2" charset="2"/>
              <a:buChar char="n"/>
              <a:defRPr/>
            </a:pPr>
            <a:r>
              <a:rPr lang="zh-CN" altLang="en-US" sz="2000" b="1" dirty="0">
                <a:solidFill>
                  <a:srgbClr val="FF3255"/>
                </a:solidFill>
                <a:latin typeface="微软雅黑" pitchFamily="34" charset="-122"/>
                <a:ea typeface="微软雅黑" pitchFamily="34" charset="-122"/>
              </a:rPr>
              <a:t>安全：</a:t>
            </a:r>
            <a:r>
              <a:rPr lang="zh-CN" altLang="en-US" sz="2000" b="1" dirty="0">
                <a:solidFill>
                  <a:schemeClr val="tx1">
                    <a:lumMod val="50000"/>
                    <a:lumOff val="50000"/>
                  </a:schemeClr>
                </a:solidFill>
                <a:latin typeface="微软雅黑" pitchFamily="34" charset="-122"/>
                <a:ea typeface="微软雅黑" pitchFamily="34" charset="-122"/>
              </a:rPr>
              <a:t>地址空间隔离，也允许共享内存。</a:t>
            </a:r>
            <a:endParaRPr lang="en-US" altLang="zh-CN" sz="2000" b="1" dirty="0">
              <a:solidFill>
                <a:schemeClr val="tx1">
                  <a:lumMod val="50000"/>
                  <a:lumOff val="50000"/>
                </a:schemeClr>
              </a:solidFill>
              <a:latin typeface="微软雅黑" pitchFamily="34" charset="-122"/>
              <a:ea typeface="微软雅黑" pitchFamily="34" charset="-122"/>
            </a:endParaRPr>
          </a:p>
          <a:p>
            <a:pPr marL="342900" indent="-342900">
              <a:lnSpc>
                <a:spcPct val="133000"/>
              </a:lnSpc>
              <a:buFont typeface="Wingdings" panose="05000000000000000000" pitchFamily="2" charset="2"/>
              <a:buChar char="n"/>
              <a:defRPr/>
            </a:pPr>
            <a:r>
              <a:rPr lang="zh-CN" altLang="en-US" sz="2000" b="1" dirty="0">
                <a:solidFill>
                  <a:srgbClr val="FF3255"/>
                </a:solidFill>
                <a:latin typeface="微软雅黑" pitchFamily="34" charset="-122"/>
                <a:ea typeface="微软雅黑" pitchFamily="34" charset="-122"/>
              </a:rPr>
              <a:t>多任务</a:t>
            </a:r>
            <a:r>
              <a:rPr lang="zh-CN" altLang="en-US" sz="2000" b="1" dirty="0">
                <a:solidFill>
                  <a:schemeClr val="tx1">
                    <a:lumMod val="50000"/>
                    <a:lumOff val="50000"/>
                  </a:schemeClr>
                </a:solidFill>
                <a:latin typeface="微软雅黑" pitchFamily="34" charset="-122"/>
                <a:ea typeface="微软雅黑" pitchFamily="34" charset="-122"/>
              </a:rPr>
              <a:t>：允许更高效的进程创建，程序执行时只需部分在内存。</a:t>
            </a:r>
            <a:endParaRPr lang="en-US" altLang="zh-CN" sz="2000" b="1" dirty="0">
              <a:solidFill>
                <a:schemeClr val="tx1">
                  <a:lumMod val="50000"/>
                  <a:lumOff val="50000"/>
                </a:schemeClr>
              </a:solidFill>
              <a:latin typeface="微软雅黑" pitchFamily="34" charset="-122"/>
              <a:ea typeface="微软雅黑" pitchFamily="34" charset="-122"/>
            </a:endParaRPr>
          </a:p>
        </p:txBody>
      </p:sp>
      <p:sp>
        <p:nvSpPr>
          <p:cNvPr id="5" name="矩形 4"/>
          <p:cNvSpPr/>
          <p:nvPr/>
        </p:nvSpPr>
        <p:spPr>
          <a:xfrm>
            <a:off x="619843" y="3261785"/>
            <a:ext cx="1224136" cy="50405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7" name="矩形 6"/>
          <p:cNvSpPr/>
          <p:nvPr/>
        </p:nvSpPr>
        <p:spPr>
          <a:xfrm>
            <a:off x="617793" y="3765841"/>
            <a:ext cx="1224136" cy="669265"/>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可执行文件</a:t>
            </a:r>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10" name="矩形 9"/>
          <p:cNvSpPr/>
          <p:nvPr/>
        </p:nvSpPr>
        <p:spPr>
          <a:xfrm>
            <a:off x="611425" y="4685691"/>
            <a:ext cx="1224136" cy="6692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可执行文件</a:t>
            </a:r>
            <a:r>
              <a:rPr lang="en-US" altLang="zh-CN"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11" name="矩形 10"/>
          <p:cNvSpPr/>
          <p:nvPr/>
        </p:nvSpPr>
        <p:spPr>
          <a:xfrm>
            <a:off x="617793" y="5337122"/>
            <a:ext cx="1224136" cy="50405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6" name="矩形 5"/>
          <p:cNvSpPr/>
          <p:nvPr/>
        </p:nvSpPr>
        <p:spPr>
          <a:xfrm>
            <a:off x="2956538" y="3342659"/>
            <a:ext cx="1224136" cy="117331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cxnSp>
        <p:nvCxnSpPr>
          <p:cNvPr id="14" name="直接箭头连接符 13"/>
          <p:cNvCxnSpPr/>
          <p:nvPr/>
        </p:nvCxnSpPr>
        <p:spPr>
          <a:xfrm flipV="1">
            <a:off x="1841929" y="3342659"/>
            <a:ext cx="1108497" cy="467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2956538" y="3573016"/>
            <a:ext cx="1224136" cy="364998"/>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代码段</a:t>
            </a:r>
          </a:p>
        </p:txBody>
      </p:sp>
      <p:sp>
        <p:nvSpPr>
          <p:cNvPr id="17" name="矩形 16"/>
          <p:cNvSpPr/>
          <p:nvPr/>
        </p:nvSpPr>
        <p:spPr>
          <a:xfrm>
            <a:off x="2956538" y="3952041"/>
            <a:ext cx="1224136" cy="364998"/>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数据段</a:t>
            </a:r>
          </a:p>
        </p:txBody>
      </p:sp>
      <p:sp>
        <p:nvSpPr>
          <p:cNvPr id="18" name="矩形 17"/>
          <p:cNvSpPr/>
          <p:nvPr/>
        </p:nvSpPr>
        <p:spPr>
          <a:xfrm>
            <a:off x="5188786" y="3284984"/>
            <a:ext cx="1224136" cy="194421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9" name="矩形 18"/>
          <p:cNvSpPr/>
          <p:nvPr/>
        </p:nvSpPr>
        <p:spPr>
          <a:xfrm>
            <a:off x="5188786" y="3645024"/>
            <a:ext cx="1224136" cy="129204"/>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0" name="矩形 19"/>
          <p:cNvSpPr/>
          <p:nvPr/>
        </p:nvSpPr>
        <p:spPr>
          <a:xfrm>
            <a:off x="5188786" y="3784009"/>
            <a:ext cx="1224136" cy="129204"/>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3" name="矩形 22"/>
          <p:cNvSpPr/>
          <p:nvPr/>
        </p:nvSpPr>
        <p:spPr>
          <a:xfrm>
            <a:off x="5188786" y="4645546"/>
            <a:ext cx="1224136" cy="151606"/>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cxnSp>
        <p:nvCxnSpPr>
          <p:cNvPr id="28" name="直接箭头连接符 27"/>
          <p:cNvCxnSpPr>
            <a:endCxn id="19" idx="1"/>
          </p:cNvCxnSpPr>
          <p:nvPr/>
        </p:nvCxnSpPr>
        <p:spPr>
          <a:xfrm>
            <a:off x="4194185" y="3674927"/>
            <a:ext cx="994601" cy="346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5188786" y="4052185"/>
            <a:ext cx="1224136" cy="129204"/>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3" name="矩形 32"/>
          <p:cNvSpPr/>
          <p:nvPr/>
        </p:nvSpPr>
        <p:spPr>
          <a:xfrm>
            <a:off x="5188786" y="4449549"/>
            <a:ext cx="1224136" cy="129204"/>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4" name="矩形 33"/>
          <p:cNvSpPr/>
          <p:nvPr/>
        </p:nvSpPr>
        <p:spPr>
          <a:xfrm>
            <a:off x="7236296" y="3261785"/>
            <a:ext cx="1224136" cy="1972367"/>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5" name="矩形 34"/>
          <p:cNvSpPr/>
          <p:nvPr/>
        </p:nvSpPr>
        <p:spPr>
          <a:xfrm>
            <a:off x="7236296" y="3947868"/>
            <a:ext cx="1224136" cy="129204"/>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0" name="矩形 39"/>
          <p:cNvSpPr/>
          <p:nvPr/>
        </p:nvSpPr>
        <p:spPr>
          <a:xfrm>
            <a:off x="621389" y="2852936"/>
            <a:ext cx="1224136" cy="364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磁盘</a:t>
            </a:r>
          </a:p>
        </p:txBody>
      </p:sp>
      <p:sp>
        <p:nvSpPr>
          <p:cNvPr id="42" name="矩形 41"/>
          <p:cNvSpPr/>
          <p:nvPr/>
        </p:nvSpPr>
        <p:spPr>
          <a:xfrm>
            <a:off x="5188786" y="2852936"/>
            <a:ext cx="1224136" cy="364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物理内存</a:t>
            </a:r>
          </a:p>
        </p:txBody>
      </p:sp>
      <p:sp>
        <p:nvSpPr>
          <p:cNvPr id="43" name="矩形 42"/>
          <p:cNvSpPr/>
          <p:nvPr/>
        </p:nvSpPr>
        <p:spPr>
          <a:xfrm>
            <a:off x="5151181" y="4864202"/>
            <a:ext cx="1224136" cy="364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3255"/>
                </a:solidFill>
                <a:latin typeface="微软雅黑" panose="020B0503020204020204" pitchFamily="34" charset="-122"/>
                <a:ea typeface="微软雅黑" panose="020B0503020204020204" pitchFamily="34" charset="-122"/>
              </a:rPr>
              <a:t>页面</a:t>
            </a:r>
          </a:p>
        </p:txBody>
      </p:sp>
      <p:sp>
        <p:nvSpPr>
          <p:cNvPr id="44" name="矩形 43"/>
          <p:cNvSpPr/>
          <p:nvPr/>
        </p:nvSpPr>
        <p:spPr>
          <a:xfrm>
            <a:off x="7236296" y="2852936"/>
            <a:ext cx="1224136" cy="364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交换空间</a:t>
            </a:r>
          </a:p>
        </p:txBody>
      </p:sp>
      <p:sp>
        <p:nvSpPr>
          <p:cNvPr id="45" name="矩形 44"/>
          <p:cNvSpPr/>
          <p:nvPr/>
        </p:nvSpPr>
        <p:spPr>
          <a:xfrm>
            <a:off x="7236296" y="4864202"/>
            <a:ext cx="1224136" cy="364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3255"/>
                </a:solidFill>
                <a:latin typeface="微软雅黑" panose="020B0503020204020204" pitchFamily="34" charset="-122"/>
                <a:ea typeface="微软雅黑" panose="020B0503020204020204" pitchFamily="34" charset="-122"/>
              </a:rPr>
              <a:t>页面</a:t>
            </a:r>
          </a:p>
        </p:txBody>
      </p:sp>
      <p:sp>
        <p:nvSpPr>
          <p:cNvPr id="46" name="矩形 45"/>
          <p:cNvSpPr/>
          <p:nvPr/>
        </p:nvSpPr>
        <p:spPr>
          <a:xfrm>
            <a:off x="2843808" y="2852936"/>
            <a:ext cx="1408874" cy="30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虚拟存储器</a:t>
            </a:r>
          </a:p>
        </p:txBody>
      </p:sp>
      <p:sp>
        <p:nvSpPr>
          <p:cNvPr id="47" name="矩形 46"/>
          <p:cNvSpPr/>
          <p:nvPr/>
        </p:nvSpPr>
        <p:spPr>
          <a:xfrm>
            <a:off x="467544" y="2774862"/>
            <a:ext cx="3897868" cy="3246426"/>
          </a:xfrm>
          <a:prstGeom prst="rect">
            <a:avLst/>
          </a:prstGeom>
          <a:noFill/>
          <a:ln w="952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1671481" y="6051971"/>
            <a:ext cx="1408874" cy="30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3255"/>
                </a:solidFill>
                <a:latin typeface="微软雅黑" panose="020B0503020204020204" pitchFamily="34" charset="-122"/>
                <a:ea typeface="微软雅黑" panose="020B0503020204020204" pitchFamily="34" charset="-122"/>
              </a:rPr>
              <a:t>分段</a:t>
            </a:r>
          </a:p>
        </p:txBody>
      </p:sp>
      <p:sp>
        <p:nvSpPr>
          <p:cNvPr id="49" name="矩形 48"/>
          <p:cNvSpPr/>
          <p:nvPr/>
        </p:nvSpPr>
        <p:spPr>
          <a:xfrm>
            <a:off x="4974265" y="2768556"/>
            <a:ext cx="3774199" cy="3252732"/>
          </a:xfrm>
          <a:prstGeom prst="rect">
            <a:avLst/>
          </a:prstGeom>
          <a:noFill/>
          <a:ln w="952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6156927" y="6021288"/>
            <a:ext cx="1408874" cy="30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3255"/>
                </a:solidFill>
                <a:latin typeface="微软雅黑" panose="020B0503020204020204" pitchFamily="34" charset="-122"/>
                <a:ea typeface="微软雅黑" panose="020B0503020204020204" pitchFamily="34" charset="-122"/>
              </a:rPr>
              <a:t>分页</a:t>
            </a:r>
          </a:p>
        </p:txBody>
      </p:sp>
      <p:cxnSp>
        <p:nvCxnSpPr>
          <p:cNvPr id="53" name="直接箭头连接符 52"/>
          <p:cNvCxnSpPr/>
          <p:nvPr/>
        </p:nvCxnSpPr>
        <p:spPr>
          <a:xfrm>
            <a:off x="1848041" y="4395333"/>
            <a:ext cx="1128399" cy="141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2956538" y="4725144"/>
            <a:ext cx="1224136" cy="108715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5" name="矩形 54"/>
          <p:cNvSpPr/>
          <p:nvPr/>
        </p:nvSpPr>
        <p:spPr>
          <a:xfrm>
            <a:off x="2956538" y="4932248"/>
            <a:ext cx="1224136" cy="364998"/>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代码段</a:t>
            </a:r>
          </a:p>
        </p:txBody>
      </p:sp>
      <p:sp>
        <p:nvSpPr>
          <p:cNvPr id="56" name="矩形 55"/>
          <p:cNvSpPr/>
          <p:nvPr/>
        </p:nvSpPr>
        <p:spPr>
          <a:xfrm>
            <a:off x="2956538" y="5311273"/>
            <a:ext cx="1224136" cy="364998"/>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数据段</a:t>
            </a:r>
          </a:p>
        </p:txBody>
      </p:sp>
      <p:cxnSp>
        <p:nvCxnSpPr>
          <p:cNvPr id="58" name="直接箭头连接符 57"/>
          <p:cNvCxnSpPr/>
          <p:nvPr/>
        </p:nvCxnSpPr>
        <p:spPr>
          <a:xfrm>
            <a:off x="1801411" y="4721349"/>
            <a:ext cx="1149015" cy="4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1835561" y="5354956"/>
            <a:ext cx="1114865" cy="457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4194185" y="4106487"/>
            <a:ext cx="994601" cy="346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a:endCxn id="33" idx="1"/>
          </p:cNvCxnSpPr>
          <p:nvPr/>
        </p:nvCxnSpPr>
        <p:spPr>
          <a:xfrm flipV="1">
            <a:off x="4152636" y="4514151"/>
            <a:ext cx="1036150" cy="532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a:stCxn id="56" idx="3"/>
            <a:endCxn id="23" idx="1"/>
          </p:cNvCxnSpPr>
          <p:nvPr/>
        </p:nvCxnSpPr>
        <p:spPr>
          <a:xfrm flipV="1">
            <a:off x="4180674" y="4721349"/>
            <a:ext cx="1008112" cy="7724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endCxn id="35" idx="1"/>
          </p:cNvCxnSpPr>
          <p:nvPr/>
        </p:nvCxnSpPr>
        <p:spPr>
          <a:xfrm>
            <a:off x="6368925" y="3841742"/>
            <a:ext cx="867371" cy="1707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394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left)">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wipe(up)">
                                      <p:cBhvr>
                                        <p:cTn id="22" dur="500"/>
                                        <p:tgtEl>
                                          <p:spTgt spid="61"/>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up)">
                                      <p:cBhvr>
                                        <p:cTn id="25" dur="500"/>
                                        <p:tgtEl>
                                          <p:spTgt spid="5"/>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up)">
                                      <p:cBhvr>
                                        <p:cTn id="28" dur="500"/>
                                        <p:tgtEl>
                                          <p:spTgt spid="7"/>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up)">
                                      <p:cBhvr>
                                        <p:cTn id="31" dur="500"/>
                                        <p:tgtEl>
                                          <p:spTgt spid="10"/>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up)">
                                      <p:cBhvr>
                                        <p:cTn id="34" dur="500"/>
                                        <p:tgtEl>
                                          <p:spTgt spid="11"/>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wipe(up)">
                                      <p:cBhvr>
                                        <p:cTn id="37" dur="5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up)">
                                      <p:cBhvr>
                                        <p:cTn id="42" dur="500"/>
                                        <p:tgtEl>
                                          <p:spTgt spid="6"/>
                                        </p:tgtEl>
                                      </p:cBhvr>
                                    </p:animEffect>
                                  </p:childTnLst>
                                </p:cTn>
                              </p:par>
                              <p:par>
                                <p:cTn id="43" presetID="22" presetClass="entr" presetSubtype="1"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up)">
                                      <p:cBhvr>
                                        <p:cTn id="45" dur="500"/>
                                        <p:tgtEl>
                                          <p:spTgt spid="14"/>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wipe(up)">
                                      <p:cBhvr>
                                        <p:cTn id="48" dur="500"/>
                                        <p:tgtEl>
                                          <p:spTgt spid="16"/>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up)">
                                      <p:cBhvr>
                                        <p:cTn id="51" dur="500"/>
                                        <p:tgtEl>
                                          <p:spTgt spid="17"/>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46"/>
                                        </p:tgtEl>
                                        <p:attrNameLst>
                                          <p:attrName>style.visibility</p:attrName>
                                        </p:attrNameLst>
                                      </p:cBhvr>
                                      <p:to>
                                        <p:strVal val="visible"/>
                                      </p:to>
                                    </p:set>
                                    <p:animEffect transition="in" filter="wipe(up)">
                                      <p:cBhvr>
                                        <p:cTn id="54" dur="500"/>
                                        <p:tgtEl>
                                          <p:spTgt spid="46"/>
                                        </p:tgtEl>
                                      </p:cBhvr>
                                    </p:animEffect>
                                  </p:childTnLst>
                                </p:cTn>
                              </p:par>
                              <p:par>
                                <p:cTn id="55" presetID="22" presetClass="entr" presetSubtype="1" fill="hold" nodeType="with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wipe(up)">
                                      <p:cBhvr>
                                        <p:cTn id="57" dur="500"/>
                                        <p:tgtEl>
                                          <p:spTgt spid="53"/>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54"/>
                                        </p:tgtEl>
                                        <p:attrNameLst>
                                          <p:attrName>style.visibility</p:attrName>
                                        </p:attrNameLst>
                                      </p:cBhvr>
                                      <p:to>
                                        <p:strVal val="visible"/>
                                      </p:to>
                                    </p:set>
                                    <p:animEffect transition="in" filter="wipe(up)">
                                      <p:cBhvr>
                                        <p:cTn id="60" dur="500"/>
                                        <p:tgtEl>
                                          <p:spTgt spid="54"/>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55"/>
                                        </p:tgtEl>
                                        <p:attrNameLst>
                                          <p:attrName>style.visibility</p:attrName>
                                        </p:attrNameLst>
                                      </p:cBhvr>
                                      <p:to>
                                        <p:strVal val="visible"/>
                                      </p:to>
                                    </p:set>
                                    <p:animEffect transition="in" filter="wipe(up)">
                                      <p:cBhvr>
                                        <p:cTn id="63" dur="500"/>
                                        <p:tgtEl>
                                          <p:spTgt spid="55"/>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56"/>
                                        </p:tgtEl>
                                        <p:attrNameLst>
                                          <p:attrName>style.visibility</p:attrName>
                                        </p:attrNameLst>
                                      </p:cBhvr>
                                      <p:to>
                                        <p:strVal val="visible"/>
                                      </p:to>
                                    </p:set>
                                    <p:animEffect transition="in" filter="wipe(up)">
                                      <p:cBhvr>
                                        <p:cTn id="66" dur="500"/>
                                        <p:tgtEl>
                                          <p:spTgt spid="56"/>
                                        </p:tgtEl>
                                      </p:cBhvr>
                                    </p:animEffect>
                                  </p:childTnLst>
                                </p:cTn>
                              </p:par>
                              <p:par>
                                <p:cTn id="67" presetID="22" presetClass="entr" presetSubtype="1" fill="hold" nodeType="withEffect">
                                  <p:stCondLst>
                                    <p:cond delay="0"/>
                                  </p:stCondLst>
                                  <p:childTnLst>
                                    <p:set>
                                      <p:cBhvr>
                                        <p:cTn id="68" dur="1" fill="hold">
                                          <p:stCondLst>
                                            <p:cond delay="0"/>
                                          </p:stCondLst>
                                        </p:cTn>
                                        <p:tgtEl>
                                          <p:spTgt spid="58"/>
                                        </p:tgtEl>
                                        <p:attrNameLst>
                                          <p:attrName>style.visibility</p:attrName>
                                        </p:attrNameLst>
                                      </p:cBhvr>
                                      <p:to>
                                        <p:strVal val="visible"/>
                                      </p:to>
                                    </p:set>
                                    <p:animEffect transition="in" filter="wipe(up)">
                                      <p:cBhvr>
                                        <p:cTn id="69" dur="500"/>
                                        <p:tgtEl>
                                          <p:spTgt spid="58"/>
                                        </p:tgtEl>
                                      </p:cBhvr>
                                    </p:animEffect>
                                  </p:childTnLst>
                                </p:cTn>
                              </p:par>
                              <p:par>
                                <p:cTn id="70" presetID="22" presetClass="entr" presetSubtype="1" fill="hold" nodeType="withEffect">
                                  <p:stCondLst>
                                    <p:cond delay="0"/>
                                  </p:stCondLst>
                                  <p:childTnLst>
                                    <p:set>
                                      <p:cBhvr>
                                        <p:cTn id="71" dur="1" fill="hold">
                                          <p:stCondLst>
                                            <p:cond delay="0"/>
                                          </p:stCondLst>
                                        </p:cTn>
                                        <p:tgtEl>
                                          <p:spTgt spid="59"/>
                                        </p:tgtEl>
                                        <p:attrNameLst>
                                          <p:attrName>style.visibility</p:attrName>
                                        </p:attrNameLst>
                                      </p:cBhvr>
                                      <p:to>
                                        <p:strVal val="visible"/>
                                      </p:to>
                                    </p:set>
                                    <p:animEffect transition="in" filter="wipe(up)">
                                      <p:cBhvr>
                                        <p:cTn id="72" dur="500"/>
                                        <p:tgtEl>
                                          <p:spTgt spid="5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wipe(up)">
                                      <p:cBhvr>
                                        <p:cTn id="77" dur="500"/>
                                        <p:tgtEl>
                                          <p:spTgt spid="28"/>
                                        </p:tgtEl>
                                      </p:cBhvr>
                                    </p:animEffect>
                                  </p:childTnLst>
                                </p:cTn>
                              </p:par>
                              <p:par>
                                <p:cTn id="78" presetID="22" presetClass="entr" presetSubtype="1" fill="hold" nodeType="withEffect">
                                  <p:stCondLst>
                                    <p:cond delay="0"/>
                                  </p:stCondLst>
                                  <p:childTnLst>
                                    <p:set>
                                      <p:cBhvr>
                                        <p:cTn id="79" dur="1" fill="hold">
                                          <p:stCondLst>
                                            <p:cond delay="0"/>
                                          </p:stCondLst>
                                        </p:cTn>
                                        <p:tgtEl>
                                          <p:spTgt spid="60"/>
                                        </p:tgtEl>
                                        <p:attrNameLst>
                                          <p:attrName>style.visibility</p:attrName>
                                        </p:attrNameLst>
                                      </p:cBhvr>
                                      <p:to>
                                        <p:strVal val="visible"/>
                                      </p:to>
                                    </p:set>
                                    <p:animEffect transition="in" filter="wipe(up)">
                                      <p:cBhvr>
                                        <p:cTn id="80" dur="500"/>
                                        <p:tgtEl>
                                          <p:spTgt spid="60"/>
                                        </p:tgtEl>
                                      </p:cBhvr>
                                    </p:animEffect>
                                  </p:childTnLst>
                                </p:cTn>
                              </p:par>
                              <p:par>
                                <p:cTn id="81" presetID="22" presetClass="entr" presetSubtype="1" fill="hold" nodeType="withEffect">
                                  <p:stCondLst>
                                    <p:cond delay="0"/>
                                  </p:stCondLst>
                                  <p:childTnLst>
                                    <p:set>
                                      <p:cBhvr>
                                        <p:cTn id="82" dur="1" fill="hold">
                                          <p:stCondLst>
                                            <p:cond delay="0"/>
                                          </p:stCondLst>
                                        </p:cTn>
                                        <p:tgtEl>
                                          <p:spTgt spid="68"/>
                                        </p:tgtEl>
                                        <p:attrNameLst>
                                          <p:attrName>style.visibility</p:attrName>
                                        </p:attrNameLst>
                                      </p:cBhvr>
                                      <p:to>
                                        <p:strVal val="visible"/>
                                      </p:to>
                                    </p:set>
                                    <p:animEffect transition="in" filter="wipe(up)">
                                      <p:cBhvr>
                                        <p:cTn id="83" dur="500"/>
                                        <p:tgtEl>
                                          <p:spTgt spid="68"/>
                                        </p:tgtEl>
                                      </p:cBhvr>
                                    </p:animEffect>
                                  </p:childTnLst>
                                </p:cTn>
                              </p:par>
                              <p:par>
                                <p:cTn id="84" presetID="22" presetClass="entr" presetSubtype="1" fill="hold" nodeType="withEffect">
                                  <p:stCondLst>
                                    <p:cond delay="0"/>
                                  </p:stCondLst>
                                  <p:childTnLst>
                                    <p:set>
                                      <p:cBhvr>
                                        <p:cTn id="85" dur="1" fill="hold">
                                          <p:stCondLst>
                                            <p:cond delay="0"/>
                                          </p:stCondLst>
                                        </p:cTn>
                                        <p:tgtEl>
                                          <p:spTgt spid="70"/>
                                        </p:tgtEl>
                                        <p:attrNameLst>
                                          <p:attrName>style.visibility</p:attrName>
                                        </p:attrNameLst>
                                      </p:cBhvr>
                                      <p:to>
                                        <p:strVal val="visible"/>
                                      </p:to>
                                    </p:set>
                                    <p:animEffect transition="in" filter="wipe(up)">
                                      <p:cBhvr>
                                        <p:cTn id="86" dur="500"/>
                                        <p:tgtEl>
                                          <p:spTgt spid="70"/>
                                        </p:tgtEl>
                                      </p:cBhvr>
                                    </p:animEffect>
                                  </p:childTnLst>
                                </p:cTn>
                              </p:par>
                              <p:par>
                                <p:cTn id="87" presetID="22" presetClass="entr" presetSubtype="1" fill="hold" grpId="0" nodeType="with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wipe(up)">
                                      <p:cBhvr>
                                        <p:cTn id="89" dur="500"/>
                                        <p:tgtEl>
                                          <p:spTgt spid="18"/>
                                        </p:tgtEl>
                                      </p:cBhvr>
                                    </p:animEffect>
                                  </p:childTnLst>
                                </p:cTn>
                              </p:par>
                              <p:par>
                                <p:cTn id="90" presetID="22" presetClass="entr" presetSubtype="1" fill="hold" grpId="0"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wipe(up)">
                                      <p:cBhvr>
                                        <p:cTn id="92" dur="500"/>
                                        <p:tgtEl>
                                          <p:spTgt spid="19"/>
                                        </p:tgtEl>
                                      </p:cBhvr>
                                    </p:animEffect>
                                  </p:childTnLst>
                                </p:cTn>
                              </p:par>
                              <p:par>
                                <p:cTn id="93" presetID="22" presetClass="entr" presetSubtype="1" fill="hold" grpId="0" nodeType="withEffect">
                                  <p:stCondLst>
                                    <p:cond delay="0"/>
                                  </p:stCondLst>
                                  <p:childTnLst>
                                    <p:set>
                                      <p:cBhvr>
                                        <p:cTn id="94" dur="1" fill="hold">
                                          <p:stCondLst>
                                            <p:cond delay="0"/>
                                          </p:stCondLst>
                                        </p:cTn>
                                        <p:tgtEl>
                                          <p:spTgt spid="20"/>
                                        </p:tgtEl>
                                        <p:attrNameLst>
                                          <p:attrName>style.visibility</p:attrName>
                                        </p:attrNameLst>
                                      </p:cBhvr>
                                      <p:to>
                                        <p:strVal val="visible"/>
                                      </p:to>
                                    </p:set>
                                    <p:animEffect transition="in" filter="wipe(up)">
                                      <p:cBhvr>
                                        <p:cTn id="95" dur="500"/>
                                        <p:tgtEl>
                                          <p:spTgt spid="20"/>
                                        </p:tgtEl>
                                      </p:cBhvr>
                                    </p:animEffect>
                                  </p:childTnLst>
                                </p:cTn>
                              </p:par>
                              <p:par>
                                <p:cTn id="96" presetID="22" presetClass="entr" presetSubtype="1" fill="hold" grpId="0" nodeType="withEffect">
                                  <p:stCondLst>
                                    <p:cond delay="0"/>
                                  </p:stCondLst>
                                  <p:childTnLst>
                                    <p:set>
                                      <p:cBhvr>
                                        <p:cTn id="97" dur="1" fill="hold">
                                          <p:stCondLst>
                                            <p:cond delay="0"/>
                                          </p:stCondLst>
                                        </p:cTn>
                                        <p:tgtEl>
                                          <p:spTgt spid="23"/>
                                        </p:tgtEl>
                                        <p:attrNameLst>
                                          <p:attrName>style.visibility</p:attrName>
                                        </p:attrNameLst>
                                      </p:cBhvr>
                                      <p:to>
                                        <p:strVal val="visible"/>
                                      </p:to>
                                    </p:set>
                                    <p:animEffect transition="in" filter="wipe(up)">
                                      <p:cBhvr>
                                        <p:cTn id="98" dur="500"/>
                                        <p:tgtEl>
                                          <p:spTgt spid="23"/>
                                        </p:tgtEl>
                                      </p:cBhvr>
                                    </p:animEffect>
                                  </p:childTnLst>
                                </p:cTn>
                              </p:par>
                              <p:par>
                                <p:cTn id="99" presetID="22" presetClass="entr" presetSubtype="1" fill="hold" grpId="0" nodeType="withEffect">
                                  <p:stCondLst>
                                    <p:cond delay="0"/>
                                  </p:stCondLst>
                                  <p:childTnLst>
                                    <p:set>
                                      <p:cBhvr>
                                        <p:cTn id="100" dur="1" fill="hold">
                                          <p:stCondLst>
                                            <p:cond delay="0"/>
                                          </p:stCondLst>
                                        </p:cTn>
                                        <p:tgtEl>
                                          <p:spTgt spid="32"/>
                                        </p:tgtEl>
                                        <p:attrNameLst>
                                          <p:attrName>style.visibility</p:attrName>
                                        </p:attrNameLst>
                                      </p:cBhvr>
                                      <p:to>
                                        <p:strVal val="visible"/>
                                      </p:to>
                                    </p:set>
                                    <p:animEffect transition="in" filter="wipe(up)">
                                      <p:cBhvr>
                                        <p:cTn id="101" dur="500"/>
                                        <p:tgtEl>
                                          <p:spTgt spid="32"/>
                                        </p:tgtEl>
                                      </p:cBhvr>
                                    </p:animEffect>
                                  </p:childTnLst>
                                </p:cTn>
                              </p:par>
                              <p:par>
                                <p:cTn id="102" presetID="22" presetClass="entr" presetSubtype="1" fill="hold" grpId="0" nodeType="withEffect">
                                  <p:stCondLst>
                                    <p:cond delay="0"/>
                                  </p:stCondLst>
                                  <p:childTnLst>
                                    <p:set>
                                      <p:cBhvr>
                                        <p:cTn id="103" dur="1" fill="hold">
                                          <p:stCondLst>
                                            <p:cond delay="0"/>
                                          </p:stCondLst>
                                        </p:cTn>
                                        <p:tgtEl>
                                          <p:spTgt spid="33"/>
                                        </p:tgtEl>
                                        <p:attrNameLst>
                                          <p:attrName>style.visibility</p:attrName>
                                        </p:attrNameLst>
                                      </p:cBhvr>
                                      <p:to>
                                        <p:strVal val="visible"/>
                                      </p:to>
                                    </p:set>
                                    <p:animEffect transition="in" filter="wipe(up)">
                                      <p:cBhvr>
                                        <p:cTn id="104" dur="500"/>
                                        <p:tgtEl>
                                          <p:spTgt spid="33"/>
                                        </p:tgtEl>
                                      </p:cBhvr>
                                    </p:animEffect>
                                  </p:childTnLst>
                                </p:cTn>
                              </p:par>
                              <p:par>
                                <p:cTn id="105" presetID="22" presetClass="entr" presetSubtype="1" fill="hold" grpId="0" nodeType="withEffect">
                                  <p:stCondLst>
                                    <p:cond delay="0"/>
                                  </p:stCondLst>
                                  <p:childTnLst>
                                    <p:set>
                                      <p:cBhvr>
                                        <p:cTn id="106" dur="1" fill="hold">
                                          <p:stCondLst>
                                            <p:cond delay="0"/>
                                          </p:stCondLst>
                                        </p:cTn>
                                        <p:tgtEl>
                                          <p:spTgt spid="42"/>
                                        </p:tgtEl>
                                        <p:attrNameLst>
                                          <p:attrName>style.visibility</p:attrName>
                                        </p:attrNameLst>
                                      </p:cBhvr>
                                      <p:to>
                                        <p:strVal val="visible"/>
                                      </p:to>
                                    </p:set>
                                    <p:animEffect transition="in" filter="wipe(up)">
                                      <p:cBhvr>
                                        <p:cTn id="107" dur="500"/>
                                        <p:tgtEl>
                                          <p:spTgt spid="42"/>
                                        </p:tgtEl>
                                      </p:cBhvr>
                                    </p:animEffect>
                                  </p:childTnLst>
                                </p:cTn>
                              </p:par>
                              <p:par>
                                <p:cTn id="108" presetID="22" presetClass="entr" presetSubtype="1" fill="hold" grpId="0" nodeType="withEffect">
                                  <p:stCondLst>
                                    <p:cond delay="0"/>
                                  </p:stCondLst>
                                  <p:childTnLst>
                                    <p:set>
                                      <p:cBhvr>
                                        <p:cTn id="109" dur="1" fill="hold">
                                          <p:stCondLst>
                                            <p:cond delay="0"/>
                                          </p:stCondLst>
                                        </p:cTn>
                                        <p:tgtEl>
                                          <p:spTgt spid="43"/>
                                        </p:tgtEl>
                                        <p:attrNameLst>
                                          <p:attrName>style.visibility</p:attrName>
                                        </p:attrNameLst>
                                      </p:cBhvr>
                                      <p:to>
                                        <p:strVal val="visible"/>
                                      </p:to>
                                    </p:set>
                                    <p:animEffect transition="in" filter="wipe(up)">
                                      <p:cBhvr>
                                        <p:cTn id="110" dur="500"/>
                                        <p:tgtEl>
                                          <p:spTgt spid="43"/>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1" fill="hold" grpId="0" nodeType="clickEffect">
                                  <p:stCondLst>
                                    <p:cond delay="0"/>
                                  </p:stCondLst>
                                  <p:childTnLst>
                                    <p:set>
                                      <p:cBhvr>
                                        <p:cTn id="114" dur="1" fill="hold">
                                          <p:stCondLst>
                                            <p:cond delay="0"/>
                                          </p:stCondLst>
                                        </p:cTn>
                                        <p:tgtEl>
                                          <p:spTgt spid="34"/>
                                        </p:tgtEl>
                                        <p:attrNameLst>
                                          <p:attrName>style.visibility</p:attrName>
                                        </p:attrNameLst>
                                      </p:cBhvr>
                                      <p:to>
                                        <p:strVal val="visible"/>
                                      </p:to>
                                    </p:set>
                                    <p:animEffect transition="in" filter="wipe(up)">
                                      <p:cBhvr>
                                        <p:cTn id="115" dur="500"/>
                                        <p:tgtEl>
                                          <p:spTgt spid="34"/>
                                        </p:tgtEl>
                                      </p:cBhvr>
                                    </p:animEffect>
                                  </p:childTnLst>
                                </p:cTn>
                              </p:par>
                              <p:par>
                                <p:cTn id="116" presetID="22" presetClass="entr" presetSubtype="1" fill="hold" grpId="0" nodeType="withEffect">
                                  <p:stCondLst>
                                    <p:cond delay="0"/>
                                  </p:stCondLst>
                                  <p:childTnLst>
                                    <p:set>
                                      <p:cBhvr>
                                        <p:cTn id="117" dur="1" fill="hold">
                                          <p:stCondLst>
                                            <p:cond delay="0"/>
                                          </p:stCondLst>
                                        </p:cTn>
                                        <p:tgtEl>
                                          <p:spTgt spid="35"/>
                                        </p:tgtEl>
                                        <p:attrNameLst>
                                          <p:attrName>style.visibility</p:attrName>
                                        </p:attrNameLst>
                                      </p:cBhvr>
                                      <p:to>
                                        <p:strVal val="visible"/>
                                      </p:to>
                                    </p:set>
                                    <p:animEffect transition="in" filter="wipe(up)">
                                      <p:cBhvr>
                                        <p:cTn id="118" dur="500"/>
                                        <p:tgtEl>
                                          <p:spTgt spid="35"/>
                                        </p:tgtEl>
                                      </p:cBhvr>
                                    </p:animEffect>
                                  </p:childTnLst>
                                </p:cTn>
                              </p:par>
                              <p:par>
                                <p:cTn id="119" presetID="22" presetClass="entr" presetSubtype="1" fill="hold" grpId="0"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wipe(up)">
                                      <p:cBhvr>
                                        <p:cTn id="121" dur="500"/>
                                        <p:tgtEl>
                                          <p:spTgt spid="44"/>
                                        </p:tgtEl>
                                      </p:cBhvr>
                                    </p:animEffect>
                                  </p:childTnLst>
                                </p:cTn>
                              </p:par>
                              <p:par>
                                <p:cTn id="122" presetID="22" presetClass="entr" presetSubtype="1"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wipe(up)">
                                      <p:cBhvr>
                                        <p:cTn id="124" dur="500"/>
                                        <p:tgtEl>
                                          <p:spTgt spid="45"/>
                                        </p:tgtEl>
                                      </p:cBhvr>
                                    </p:animEffect>
                                  </p:childTnLst>
                                </p:cTn>
                              </p:par>
                              <p:par>
                                <p:cTn id="125" presetID="22" presetClass="entr" presetSubtype="1" fill="hold" nodeType="withEffect">
                                  <p:stCondLst>
                                    <p:cond delay="0"/>
                                  </p:stCondLst>
                                  <p:childTnLst>
                                    <p:set>
                                      <p:cBhvr>
                                        <p:cTn id="126" dur="1" fill="hold">
                                          <p:stCondLst>
                                            <p:cond delay="0"/>
                                          </p:stCondLst>
                                        </p:cTn>
                                        <p:tgtEl>
                                          <p:spTgt spid="73"/>
                                        </p:tgtEl>
                                        <p:attrNameLst>
                                          <p:attrName>style.visibility</p:attrName>
                                        </p:attrNameLst>
                                      </p:cBhvr>
                                      <p:to>
                                        <p:strVal val="visible"/>
                                      </p:to>
                                    </p:set>
                                    <p:animEffect transition="in" filter="wipe(up)">
                                      <p:cBhvr>
                                        <p:cTn id="127" dur="500"/>
                                        <p:tgtEl>
                                          <p:spTgt spid="73"/>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wipe(down)">
                                      <p:cBhvr>
                                        <p:cTn id="132" dur="500"/>
                                        <p:tgtEl>
                                          <p:spTgt spid="47"/>
                                        </p:tgtEl>
                                      </p:cBhvr>
                                    </p:animEffect>
                                  </p:childTnLst>
                                </p:cTn>
                              </p:par>
                              <p:par>
                                <p:cTn id="133" presetID="22" presetClass="entr" presetSubtype="4"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wipe(down)">
                                      <p:cBhvr>
                                        <p:cTn id="135" dur="500"/>
                                        <p:tgtEl>
                                          <p:spTgt spid="48"/>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grpId="0" nodeType="clickEffect">
                                  <p:stCondLst>
                                    <p:cond delay="0"/>
                                  </p:stCondLst>
                                  <p:childTnLst>
                                    <p:set>
                                      <p:cBhvr>
                                        <p:cTn id="139" dur="1" fill="hold">
                                          <p:stCondLst>
                                            <p:cond delay="0"/>
                                          </p:stCondLst>
                                        </p:cTn>
                                        <p:tgtEl>
                                          <p:spTgt spid="49"/>
                                        </p:tgtEl>
                                        <p:attrNameLst>
                                          <p:attrName>style.visibility</p:attrName>
                                        </p:attrNameLst>
                                      </p:cBhvr>
                                      <p:to>
                                        <p:strVal val="visible"/>
                                      </p:to>
                                    </p:set>
                                    <p:animEffect transition="in" filter="wipe(down)">
                                      <p:cBhvr>
                                        <p:cTn id="140" dur="500"/>
                                        <p:tgtEl>
                                          <p:spTgt spid="49"/>
                                        </p:tgtEl>
                                      </p:cBhvr>
                                    </p:animEffect>
                                  </p:childTnLst>
                                </p:cTn>
                              </p:par>
                              <p:par>
                                <p:cTn id="141" presetID="22" presetClass="entr" presetSubtype="4" fill="hold" grpId="0" nodeType="withEffect">
                                  <p:stCondLst>
                                    <p:cond delay="0"/>
                                  </p:stCondLst>
                                  <p:childTnLst>
                                    <p:set>
                                      <p:cBhvr>
                                        <p:cTn id="142" dur="1" fill="hold">
                                          <p:stCondLst>
                                            <p:cond delay="0"/>
                                          </p:stCondLst>
                                        </p:cTn>
                                        <p:tgtEl>
                                          <p:spTgt spid="50"/>
                                        </p:tgtEl>
                                        <p:attrNameLst>
                                          <p:attrName>style.visibility</p:attrName>
                                        </p:attrNameLst>
                                      </p:cBhvr>
                                      <p:to>
                                        <p:strVal val="visible"/>
                                      </p:to>
                                    </p:set>
                                    <p:animEffect transition="in" filter="wipe(down)">
                                      <p:cBhvr>
                                        <p:cTn id="143"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5" grpId="0" animBg="1"/>
      <p:bldP spid="7" grpId="0" animBg="1"/>
      <p:bldP spid="10" grpId="0" animBg="1"/>
      <p:bldP spid="11" grpId="0" animBg="1"/>
      <p:bldP spid="6" grpId="0" animBg="1"/>
      <p:bldP spid="16" grpId="0" animBg="1"/>
      <p:bldP spid="17" grpId="0" animBg="1"/>
      <p:bldP spid="18" grpId="0" animBg="1"/>
      <p:bldP spid="19" grpId="0" animBg="1"/>
      <p:bldP spid="20" grpId="0" animBg="1"/>
      <p:bldP spid="23" grpId="0" animBg="1"/>
      <p:bldP spid="32" grpId="0" animBg="1"/>
      <p:bldP spid="33" grpId="0" animBg="1"/>
      <p:bldP spid="34" grpId="0" animBg="1"/>
      <p:bldP spid="35" grpId="0" animBg="1"/>
      <p:bldP spid="40" grpId="0"/>
      <p:bldP spid="42" grpId="0"/>
      <p:bldP spid="43" grpId="0"/>
      <p:bldP spid="44" grpId="0"/>
      <p:bldP spid="45" grpId="0"/>
      <p:bldP spid="46" grpId="0"/>
      <p:bldP spid="47" grpId="0" animBg="1"/>
      <p:bldP spid="48" grpId="0"/>
      <p:bldP spid="49" grpId="0" animBg="1"/>
      <p:bldP spid="50" grpId="0"/>
      <p:bldP spid="54" grpId="0" animBg="1"/>
      <p:bldP spid="55" grpId="0" animBg="1"/>
      <p:bldP spid="5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anose="020B0503020204020204" pitchFamily="34" charset="-122"/>
              <a:ea typeface="微软雅黑" panose="020B0503020204020204" pitchFamily="34" charset="-122"/>
            </a:endParaRPr>
          </a:p>
        </p:txBody>
      </p:sp>
      <p:sp>
        <p:nvSpPr>
          <p:cNvPr id="10" name="TextBox 15"/>
          <p:cNvSpPr txBox="1"/>
          <p:nvPr/>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pPr algn="ctr"/>
              <a:t>12</a:t>
            </a:fld>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t> </a:t>
            </a:r>
            <a:endParaRPr lang="zh-CN" altLang="en-US" sz="1600" b="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2" name="TextBox 15"/>
          <p:cNvSpPr txBox="1">
            <a:spLocks noChangeArrowheads="1"/>
          </p:cNvSpPr>
          <p:nvPr/>
        </p:nvSpPr>
        <p:spPr bwMode="auto">
          <a:xfrm>
            <a:off x="2966244" y="4119885"/>
            <a:ext cx="3405956" cy="1884273"/>
          </a:xfrm>
          <a:prstGeom prst="rect">
            <a:avLst/>
          </a:prstGeom>
          <a:noFill/>
          <a:ln w="9525">
            <a:noFill/>
            <a:miter lim="800000"/>
            <a:headEnd/>
            <a:tailEnd/>
          </a:ln>
        </p:spPr>
        <p:txBody>
          <a:bodyPr wrap="square" lIns="67730" tIns="33865" rIns="67730" bIns="33865">
            <a:spAutoFit/>
          </a:bodyP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indent="-342900" defTabSz="762000">
              <a:lnSpc>
                <a:spcPct val="150000"/>
              </a:lnSpc>
              <a:spcAft>
                <a:spcPts val="600"/>
              </a:spcAft>
              <a:buFont typeface="Wingdings" pitchFamily="2" charset="2"/>
              <a:buChar char="u"/>
            </a:pPr>
            <a:r>
              <a:rPr lang="en-US" altLang="zh-CN" sz="2400" b="1" dirty="0">
                <a:solidFill>
                  <a:schemeClr val="tx1">
                    <a:lumMod val="65000"/>
                    <a:lumOff val="35000"/>
                  </a:schemeClr>
                </a:solidFill>
                <a:latin typeface="微软雅黑" pitchFamily="34" charset="-122"/>
                <a:ea typeface="微软雅黑" pitchFamily="34" charset="-122"/>
              </a:rPr>
              <a:t>80386</a:t>
            </a:r>
            <a:r>
              <a:rPr lang="zh-CN" altLang="en-US" sz="2400" b="1" dirty="0">
                <a:solidFill>
                  <a:schemeClr val="tx1">
                    <a:lumMod val="65000"/>
                    <a:lumOff val="35000"/>
                  </a:schemeClr>
                </a:solidFill>
                <a:latin typeface="微软雅黑" pitchFamily="34" charset="-122"/>
                <a:ea typeface="微软雅黑" pitchFamily="34" charset="-122"/>
              </a:rPr>
              <a:t>的概述</a:t>
            </a:r>
            <a:endParaRPr lang="en-US" altLang="zh-CN" sz="2400" b="1" dirty="0">
              <a:solidFill>
                <a:schemeClr val="tx1">
                  <a:lumMod val="65000"/>
                  <a:lumOff val="35000"/>
                </a:schemeClr>
              </a:solidFill>
              <a:latin typeface="微软雅黑" pitchFamily="34" charset="-122"/>
              <a:ea typeface="微软雅黑" pitchFamily="34" charset="-122"/>
            </a:endParaRPr>
          </a:p>
          <a:p>
            <a:pPr indent="-342900" defTabSz="762000">
              <a:lnSpc>
                <a:spcPct val="150000"/>
              </a:lnSpc>
              <a:spcAft>
                <a:spcPts val="600"/>
              </a:spcAft>
              <a:buFont typeface="Wingdings" pitchFamily="2" charset="2"/>
              <a:buChar char="u"/>
            </a:pPr>
            <a:r>
              <a:rPr lang="en-US" altLang="zh-CN" sz="2400" b="1" dirty="0">
                <a:solidFill>
                  <a:srgbClr val="FF3255"/>
                </a:solidFill>
                <a:latin typeface="微软雅黑" pitchFamily="34" charset="-122"/>
                <a:ea typeface="微软雅黑" pitchFamily="34" charset="-122"/>
              </a:rPr>
              <a:t>80386</a:t>
            </a:r>
            <a:r>
              <a:rPr lang="zh-CN" altLang="en-US" sz="2400" b="1" dirty="0">
                <a:solidFill>
                  <a:srgbClr val="FF3255"/>
                </a:solidFill>
                <a:latin typeface="微软雅黑" pitchFamily="34" charset="-122"/>
                <a:ea typeface="微软雅黑" pitchFamily="34" charset="-122"/>
              </a:rPr>
              <a:t>内部结构</a:t>
            </a:r>
          </a:p>
          <a:p>
            <a:pPr indent="-342900" defTabSz="762000">
              <a:lnSpc>
                <a:spcPct val="150000"/>
              </a:lnSpc>
              <a:spcAft>
                <a:spcPts val="600"/>
              </a:spcAft>
              <a:buFont typeface="Wingdings" pitchFamily="2" charset="2"/>
              <a:buChar char="u"/>
            </a:pPr>
            <a:r>
              <a:rPr lang="en-US" altLang="zh-CN" sz="2400" b="1" dirty="0">
                <a:solidFill>
                  <a:schemeClr val="tx1">
                    <a:lumMod val="65000"/>
                    <a:lumOff val="35000"/>
                  </a:schemeClr>
                </a:solidFill>
                <a:latin typeface="微软雅黑" pitchFamily="34" charset="-122"/>
                <a:ea typeface="微软雅黑" pitchFamily="34" charset="-122"/>
              </a:rPr>
              <a:t>80386</a:t>
            </a:r>
            <a:r>
              <a:rPr lang="zh-CN" altLang="en-US" sz="2400" b="1" dirty="0">
                <a:solidFill>
                  <a:schemeClr val="tx1">
                    <a:lumMod val="65000"/>
                    <a:lumOff val="35000"/>
                  </a:schemeClr>
                </a:solidFill>
                <a:latin typeface="微软雅黑" pitchFamily="34" charset="-122"/>
                <a:ea typeface="微软雅黑" pitchFamily="34" charset="-122"/>
              </a:rPr>
              <a:t>的特点</a:t>
            </a:r>
            <a:endParaRPr lang="en-US" altLang="zh-CN" sz="2400" b="1" dirty="0">
              <a:solidFill>
                <a:schemeClr val="tx1">
                  <a:lumMod val="65000"/>
                  <a:lumOff val="35000"/>
                </a:schemeClr>
              </a:solidFill>
              <a:latin typeface="微软雅黑" pitchFamily="34" charset="-122"/>
              <a:ea typeface="微软雅黑" pitchFamily="34" charset="-122"/>
            </a:endParaRPr>
          </a:p>
        </p:txBody>
      </p:sp>
      <p:cxnSp>
        <p:nvCxnSpPr>
          <p:cNvPr id="14" name="直接连接符 13"/>
          <p:cNvCxnSpPr/>
          <p:nvPr/>
        </p:nvCxnSpPr>
        <p:spPr>
          <a:xfrm>
            <a:off x="1404144" y="2207419"/>
            <a:ext cx="6264275" cy="1587"/>
          </a:xfrm>
          <a:prstGeom prst="line">
            <a:avLst/>
          </a:prstGeom>
          <a:noFill/>
          <a:ln w="9525" cap="flat" cmpd="sng" algn="ctr">
            <a:solidFill>
              <a:sysClr val="window" lastClr="FFFFFF">
                <a:lumMod val="85000"/>
              </a:sysClr>
            </a:solidFill>
            <a:prstDash val="solid"/>
          </a:ln>
          <a:effectLst/>
        </p:spPr>
      </p:cxnSp>
      <p:cxnSp>
        <p:nvCxnSpPr>
          <p:cNvPr id="15" name="直接连接符 14"/>
          <p:cNvCxnSpPr/>
          <p:nvPr/>
        </p:nvCxnSpPr>
        <p:spPr>
          <a:xfrm>
            <a:off x="1475582" y="3936206"/>
            <a:ext cx="6264275" cy="1588"/>
          </a:xfrm>
          <a:prstGeom prst="line">
            <a:avLst/>
          </a:prstGeom>
          <a:noFill/>
          <a:ln w="9525" cap="flat" cmpd="sng" algn="ctr">
            <a:solidFill>
              <a:sysClr val="window" lastClr="FFFFFF">
                <a:lumMod val="85000"/>
              </a:sysClr>
            </a:solidFill>
            <a:prstDash val="solid"/>
          </a:ln>
          <a:effectLst/>
        </p:spPr>
      </p:cxnSp>
      <p:sp>
        <p:nvSpPr>
          <p:cNvPr id="16" name="TextBox 10"/>
          <p:cNvSpPr txBox="1">
            <a:spLocks noChangeArrowheads="1"/>
          </p:cNvSpPr>
          <p:nvPr/>
        </p:nvSpPr>
        <p:spPr bwMode="auto">
          <a:xfrm>
            <a:off x="1475697" y="2447499"/>
            <a:ext cx="6985934" cy="1250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algn="ctr">
              <a:lnSpc>
                <a:spcPct val="114000"/>
              </a:lnSpc>
            </a:pPr>
            <a:r>
              <a:rPr lang="en-US" altLang="zh-CN" sz="6600" b="1" dirty="0">
                <a:solidFill>
                  <a:srgbClr val="00C4F0"/>
                </a:solidFill>
                <a:latin typeface="微软雅黑" pitchFamily="34" charset="-122"/>
                <a:ea typeface="微软雅黑" pitchFamily="34" charset="-122"/>
              </a:rPr>
              <a:t>80386</a:t>
            </a:r>
            <a:r>
              <a:rPr lang="zh-CN" altLang="en-US" sz="6600" b="1" dirty="0">
                <a:solidFill>
                  <a:srgbClr val="00C4F0"/>
                </a:solidFill>
                <a:latin typeface="微软雅黑" pitchFamily="34" charset="-122"/>
                <a:ea typeface="微软雅黑" pitchFamily="34" charset="-122"/>
              </a:rPr>
              <a:t>及其特点</a:t>
            </a:r>
            <a:endParaRPr lang="zh-CN" altLang="en-US" sz="8000" b="1" dirty="0">
              <a:solidFill>
                <a:srgbClr val="00C4F0"/>
              </a:solidFill>
              <a:latin typeface="微软雅黑" pitchFamily="34" charset="-122"/>
              <a:ea typeface="微软雅黑" pitchFamily="34" charset="-122"/>
            </a:endParaRPr>
          </a:p>
        </p:txBody>
      </p:sp>
    </p:spTree>
    <p:extLst>
      <p:ext uri="{BB962C8B-B14F-4D97-AF65-F5344CB8AC3E}">
        <p14:creationId xmlns:p14="http://schemas.microsoft.com/office/powerpoint/2010/main" val="230687391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500"/>
                                        <p:tgtEl>
                                          <p:spTgt spid="14"/>
                                        </p:tgtEl>
                                      </p:cBhvr>
                                    </p:animEffect>
                                  </p:childTnLst>
                                </p:cTn>
                              </p:par>
                              <p:par>
                                <p:cTn id="8" presetID="1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slide(fromBottom)">
                                      <p:cBhvr>
                                        <p:cTn id="10" dur="500"/>
                                        <p:tgtEl>
                                          <p:spTgt spid="15"/>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1000"/>
                                        <p:tgtEl>
                                          <p:spTgt spid="12"/>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1000" fill="hold"/>
                                        <p:tgtEl>
                                          <p:spTgt spid="16"/>
                                        </p:tgtEl>
                                        <p:attrNameLst>
                                          <p:attrName>ppt_w</p:attrName>
                                        </p:attrNameLst>
                                      </p:cBhvr>
                                      <p:tavLst>
                                        <p:tav tm="0">
                                          <p:val>
                                            <p:fltVal val="0"/>
                                          </p:val>
                                        </p:tav>
                                        <p:tav tm="100000">
                                          <p:val>
                                            <p:strVal val="#ppt_w"/>
                                          </p:val>
                                        </p:tav>
                                      </p:tavLst>
                                    </p:anim>
                                    <p:anim calcmode="lin" valueType="num">
                                      <p:cBhvr>
                                        <p:cTn id="18" dur="1000" fill="hold"/>
                                        <p:tgtEl>
                                          <p:spTgt spid="16"/>
                                        </p:tgtEl>
                                        <p:attrNameLst>
                                          <p:attrName>ppt_h</p:attrName>
                                        </p:attrNameLst>
                                      </p:cBhvr>
                                      <p:tavLst>
                                        <p:tav tm="0">
                                          <p:val>
                                            <p:fltVal val="0"/>
                                          </p:val>
                                        </p:tav>
                                        <p:tav tm="100000">
                                          <p:val>
                                            <p:strVal val="#ppt_h"/>
                                          </p:val>
                                        </p:tav>
                                      </p:tavLst>
                                    </p:anim>
                                    <p:animEffect transition="in" filter="fade">
                                      <p:cBhvr>
                                        <p:cTn id="19"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67544" y="4067776"/>
            <a:ext cx="936104" cy="360040"/>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微软雅黑" panose="020B0503020204020204" pitchFamily="34" charset="-122"/>
                <a:ea typeface="微软雅黑" panose="020B0503020204020204" pitchFamily="34" charset="-122"/>
              </a:rPr>
              <a:t>ALU</a:t>
            </a:r>
            <a:endParaRPr lang="zh-CN" altLang="en-US" dirty="0">
              <a:latin typeface="微软雅黑" panose="020B0503020204020204" pitchFamily="34" charset="-122"/>
              <a:ea typeface="微软雅黑" panose="020B0503020204020204" pitchFamily="34" charset="-122"/>
            </a:endParaRPr>
          </a:p>
        </p:txBody>
      </p:sp>
      <p:sp>
        <p:nvSpPr>
          <p:cNvPr id="4" name="矩形 3"/>
          <p:cNvSpPr/>
          <p:nvPr/>
        </p:nvSpPr>
        <p:spPr>
          <a:xfrm>
            <a:off x="467544" y="4445739"/>
            <a:ext cx="936104" cy="414125"/>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桶形移位器加法器</a:t>
            </a:r>
          </a:p>
        </p:txBody>
      </p:sp>
      <p:sp>
        <p:nvSpPr>
          <p:cNvPr id="5" name="矩形 4"/>
          <p:cNvSpPr/>
          <p:nvPr/>
        </p:nvSpPr>
        <p:spPr>
          <a:xfrm>
            <a:off x="467544" y="4881845"/>
            <a:ext cx="936104" cy="360040"/>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乘除</a:t>
            </a:r>
          </a:p>
        </p:txBody>
      </p:sp>
      <p:sp>
        <p:nvSpPr>
          <p:cNvPr id="6" name="矩形 5"/>
          <p:cNvSpPr/>
          <p:nvPr/>
        </p:nvSpPr>
        <p:spPr>
          <a:xfrm>
            <a:off x="467544" y="5245942"/>
            <a:ext cx="936104" cy="360040"/>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寄存器堆</a:t>
            </a:r>
          </a:p>
        </p:txBody>
      </p:sp>
      <p:sp>
        <p:nvSpPr>
          <p:cNvPr id="7" name="矩形 6"/>
          <p:cNvSpPr/>
          <p:nvPr/>
        </p:nvSpPr>
        <p:spPr>
          <a:xfrm>
            <a:off x="2123728" y="4499824"/>
            <a:ext cx="936104" cy="36004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译码时序</a:t>
            </a:r>
            <a:endParaRPr lang="zh-CN" altLang="en-US" sz="1600" dirty="0">
              <a:latin typeface="微软雅黑" panose="020B0503020204020204" pitchFamily="34" charset="-122"/>
              <a:ea typeface="微软雅黑" panose="020B0503020204020204" pitchFamily="34" charset="-122"/>
            </a:endParaRPr>
          </a:p>
        </p:txBody>
      </p:sp>
      <p:sp>
        <p:nvSpPr>
          <p:cNvPr id="8" name="矩形 7"/>
          <p:cNvSpPr/>
          <p:nvPr/>
        </p:nvSpPr>
        <p:spPr>
          <a:xfrm>
            <a:off x="2123728" y="5090136"/>
            <a:ext cx="936104" cy="515846"/>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控制</a:t>
            </a:r>
            <a:r>
              <a:rPr lang="en-US" altLang="zh-CN" sz="1400" dirty="0">
                <a:latin typeface="微软雅黑" panose="020B0503020204020204" pitchFamily="34" charset="-122"/>
                <a:ea typeface="微软雅黑" panose="020B0503020204020204" pitchFamily="34" charset="-122"/>
              </a:rPr>
              <a:t>ROM</a:t>
            </a:r>
            <a:endParaRPr lang="zh-CN" altLang="en-US" sz="1600" dirty="0">
              <a:latin typeface="微软雅黑" panose="020B0503020204020204" pitchFamily="34" charset="-122"/>
              <a:ea typeface="微软雅黑" panose="020B0503020204020204" pitchFamily="34" charset="-122"/>
            </a:endParaRPr>
          </a:p>
        </p:txBody>
      </p:sp>
      <p:sp>
        <p:nvSpPr>
          <p:cNvPr id="10" name="左箭头 9"/>
          <p:cNvSpPr/>
          <p:nvPr/>
        </p:nvSpPr>
        <p:spPr>
          <a:xfrm>
            <a:off x="1403648" y="5263865"/>
            <a:ext cx="720080" cy="206040"/>
          </a:xfrm>
          <a:prstGeom prst="lef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 name="上箭头 10"/>
          <p:cNvSpPr/>
          <p:nvPr/>
        </p:nvSpPr>
        <p:spPr>
          <a:xfrm>
            <a:off x="1691680" y="3921442"/>
            <a:ext cx="180020" cy="1436664"/>
          </a:xfrm>
          <a:prstGeom prst="up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右箭头 11"/>
          <p:cNvSpPr/>
          <p:nvPr/>
        </p:nvSpPr>
        <p:spPr>
          <a:xfrm>
            <a:off x="1367644" y="4540590"/>
            <a:ext cx="756084" cy="198192"/>
          </a:xfrm>
          <a:prstGeom prst="righ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下箭头 13"/>
          <p:cNvSpPr/>
          <p:nvPr/>
        </p:nvSpPr>
        <p:spPr>
          <a:xfrm>
            <a:off x="1493658" y="3866214"/>
            <a:ext cx="162018" cy="705618"/>
          </a:xfrm>
          <a:prstGeom prst="down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5" name="矩形 14"/>
          <p:cNvSpPr/>
          <p:nvPr/>
        </p:nvSpPr>
        <p:spPr>
          <a:xfrm>
            <a:off x="3579801" y="4355808"/>
            <a:ext cx="1112514" cy="373226"/>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指令译码器</a:t>
            </a:r>
            <a:endParaRPr lang="zh-CN" altLang="en-US" sz="1600" dirty="0">
              <a:latin typeface="微软雅黑" panose="020B0503020204020204" pitchFamily="34" charset="-122"/>
              <a:ea typeface="微软雅黑" panose="020B0503020204020204" pitchFamily="34" charset="-122"/>
            </a:endParaRPr>
          </a:p>
        </p:txBody>
      </p:sp>
      <p:sp>
        <p:nvSpPr>
          <p:cNvPr id="16" name="矩形 15"/>
          <p:cNvSpPr/>
          <p:nvPr/>
        </p:nvSpPr>
        <p:spPr>
          <a:xfrm>
            <a:off x="3579801" y="4926888"/>
            <a:ext cx="1112514" cy="679093"/>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已译码指令队列</a:t>
            </a:r>
            <a:endParaRPr lang="zh-CN" altLang="en-US" sz="1600" dirty="0">
              <a:latin typeface="微软雅黑" panose="020B0503020204020204" pitchFamily="34" charset="-122"/>
              <a:ea typeface="微软雅黑" panose="020B0503020204020204" pitchFamily="34" charset="-122"/>
            </a:endParaRPr>
          </a:p>
        </p:txBody>
      </p:sp>
      <p:sp>
        <p:nvSpPr>
          <p:cNvPr id="17" name="左箭头 16"/>
          <p:cNvSpPr/>
          <p:nvPr/>
        </p:nvSpPr>
        <p:spPr>
          <a:xfrm>
            <a:off x="3059832" y="5255575"/>
            <a:ext cx="519970" cy="214330"/>
          </a:xfrm>
          <a:prstGeom prst="lef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8" name="右箭头 17"/>
          <p:cNvSpPr/>
          <p:nvPr/>
        </p:nvSpPr>
        <p:spPr>
          <a:xfrm>
            <a:off x="2429762" y="3583069"/>
            <a:ext cx="5450502" cy="287371"/>
          </a:xfrm>
          <a:prstGeom prst="righ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9" name="矩形 18"/>
          <p:cNvSpPr/>
          <p:nvPr/>
        </p:nvSpPr>
        <p:spPr>
          <a:xfrm>
            <a:off x="3203848" y="4540590"/>
            <a:ext cx="375953" cy="105046"/>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0" name="圆角右箭头 19"/>
          <p:cNvSpPr/>
          <p:nvPr/>
        </p:nvSpPr>
        <p:spPr>
          <a:xfrm>
            <a:off x="3181350" y="3015720"/>
            <a:ext cx="387904" cy="1623566"/>
          </a:xfrm>
          <a:prstGeom prst="ben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21" name="矩形 20"/>
          <p:cNvSpPr/>
          <p:nvPr/>
        </p:nvSpPr>
        <p:spPr>
          <a:xfrm>
            <a:off x="3579801" y="2791161"/>
            <a:ext cx="1112514" cy="569561"/>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界限和属性</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2" name="矩形 21"/>
          <p:cNvSpPr/>
          <p:nvPr/>
        </p:nvSpPr>
        <p:spPr>
          <a:xfrm>
            <a:off x="3579801" y="2294921"/>
            <a:ext cx="1112514" cy="476231"/>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描述符寄存器</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矩形 22"/>
          <p:cNvSpPr/>
          <p:nvPr/>
        </p:nvSpPr>
        <p:spPr>
          <a:xfrm>
            <a:off x="3579801" y="1748520"/>
            <a:ext cx="1112514" cy="527319"/>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加法器</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5" name="矩形 24"/>
          <p:cNvSpPr/>
          <p:nvPr/>
        </p:nvSpPr>
        <p:spPr>
          <a:xfrm>
            <a:off x="1115615" y="2569186"/>
            <a:ext cx="122635" cy="149859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6" name="矩形 25"/>
          <p:cNvSpPr/>
          <p:nvPr/>
        </p:nvSpPr>
        <p:spPr>
          <a:xfrm>
            <a:off x="641865" y="1959586"/>
            <a:ext cx="120135" cy="210819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7" name="右箭头 26"/>
          <p:cNvSpPr/>
          <p:nvPr/>
        </p:nvSpPr>
        <p:spPr>
          <a:xfrm>
            <a:off x="1115615" y="2440065"/>
            <a:ext cx="2464186" cy="243417"/>
          </a:xfrm>
          <a:prstGeom prst="righ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8" name="右箭头 27"/>
          <p:cNvSpPr/>
          <p:nvPr/>
        </p:nvSpPr>
        <p:spPr>
          <a:xfrm>
            <a:off x="658876" y="1895945"/>
            <a:ext cx="2903914" cy="241043"/>
          </a:xfrm>
          <a:prstGeom prst="righ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9" name="矩形 28"/>
          <p:cNvSpPr/>
          <p:nvPr/>
        </p:nvSpPr>
        <p:spPr>
          <a:xfrm>
            <a:off x="3579801" y="1436100"/>
            <a:ext cx="1112514" cy="3367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FF3255"/>
                </a:solidFill>
                <a:latin typeface="微软雅黑" panose="020B0503020204020204" pitchFamily="34" charset="-122"/>
                <a:ea typeface="微软雅黑" panose="020B0503020204020204" pitchFamily="34" charset="-122"/>
              </a:rPr>
              <a:t>分段部件</a:t>
            </a:r>
            <a:endParaRPr lang="zh-CN" altLang="en-US" sz="1600" dirty="0">
              <a:solidFill>
                <a:srgbClr val="FF3255"/>
              </a:solidFill>
              <a:latin typeface="微软雅黑" panose="020B0503020204020204" pitchFamily="34" charset="-122"/>
              <a:ea typeface="微软雅黑" panose="020B0503020204020204" pitchFamily="34" charset="-122"/>
            </a:endParaRPr>
          </a:p>
        </p:txBody>
      </p:sp>
      <p:sp>
        <p:nvSpPr>
          <p:cNvPr id="30" name="左右箭头 29"/>
          <p:cNvSpPr/>
          <p:nvPr/>
        </p:nvSpPr>
        <p:spPr>
          <a:xfrm>
            <a:off x="4692315" y="1906669"/>
            <a:ext cx="667457" cy="206622"/>
          </a:xfrm>
          <a:prstGeom prst="leftRigh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5010149" y="2051553"/>
            <a:ext cx="112183" cy="2677482"/>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右箭头 31"/>
          <p:cNvSpPr/>
          <p:nvPr/>
        </p:nvSpPr>
        <p:spPr>
          <a:xfrm>
            <a:off x="5048778" y="2948069"/>
            <a:ext cx="336022" cy="211667"/>
          </a:xfrm>
          <a:prstGeom prst="righ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右箭头 32"/>
          <p:cNvSpPr/>
          <p:nvPr/>
        </p:nvSpPr>
        <p:spPr>
          <a:xfrm>
            <a:off x="5008955" y="4565757"/>
            <a:ext cx="355724" cy="217865"/>
          </a:xfrm>
          <a:prstGeom prst="righ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5359772" y="2771152"/>
            <a:ext cx="1112514" cy="502067"/>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控制和属性</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5" name="矩形 34"/>
          <p:cNvSpPr/>
          <p:nvPr/>
        </p:nvSpPr>
        <p:spPr>
          <a:xfrm>
            <a:off x="5359772" y="2269949"/>
            <a:ext cx="1112514" cy="476231"/>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页高速缓冲器</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6" name="矩形 35"/>
          <p:cNvSpPr/>
          <p:nvPr/>
        </p:nvSpPr>
        <p:spPr>
          <a:xfrm>
            <a:off x="5359772" y="1748520"/>
            <a:ext cx="1112514" cy="501816"/>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加法器</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7" name="矩形 36"/>
          <p:cNvSpPr/>
          <p:nvPr/>
        </p:nvSpPr>
        <p:spPr>
          <a:xfrm>
            <a:off x="5359772" y="1436100"/>
            <a:ext cx="1112514" cy="3367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FF3255"/>
                </a:solidFill>
                <a:latin typeface="微软雅黑" panose="020B0503020204020204" pitchFamily="34" charset="-122"/>
                <a:ea typeface="微软雅黑" panose="020B0503020204020204" pitchFamily="34" charset="-122"/>
              </a:rPr>
              <a:t>分页部件</a:t>
            </a:r>
            <a:endParaRPr lang="zh-CN" altLang="en-US" sz="1600" dirty="0">
              <a:solidFill>
                <a:srgbClr val="FF3255"/>
              </a:solidFill>
              <a:latin typeface="微软雅黑" panose="020B0503020204020204" pitchFamily="34" charset="-122"/>
              <a:ea typeface="微软雅黑" panose="020B0503020204020204" pitchFamily="34" charset="-122"/>
            </a:endParaRPr>
          </a:p>
        </p:txBody>
      </p:sp>
      <p:sp>
        <p:nvSpPr>
          <p:cNvPr id="38" name="矩形 37"/>
          <p:cNvSpPr/>
          <p:nvPr/>
        </p:nvSpPr>
        <p:spPr>
          <a:xfrm>
            <a:off x="5359772" y="4980681"/>
            <a:ext cx="1112514" cy="61969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16</a:t>
            </a:r>
            <a:r>
              <a:rPr lang="zh-CN" altLang="en-US" sz="1400" dirty="0">
                <a:latin typeface="微软雅黑" panose="020B0503020204020204" pitchFamily="34" charset="-122"/>
                <a:ea typeface="微软雅黑" panose="020B0503020204020204" pitchFamily="34" charset="-122"/>
              </a:rPr>
              <a:t>字节指令队列</a:t>
            </a:r>
            <a:endParaRPr lang="zh-CN" altLang="en-US" sz="1600" dirty="0">
              <a:latin typeface="微软雅黑" panose="020B0503020204020204" pitchFamily="34" charset="-122"/>
              <a:ea typeface="微软雅黑" panose="020B0503020204020204" pitchFamily="34" charset="-122"/>
            </a:endParaRPr>
          </a:p>
        </p:txBody>
      </p:sp>
      <p:sp>
        <p:nvSpPr>
          <p:cNvPr id="39" name="矩形 38"/>
          <p:cNvSpPr/>
          <p:nvPr/>
        </p:nvSpPr>
        <p:spPr>
          <a:xfrm>
            <a:off x="5359772" y="4383871"/>
            <a:ext cx="1112514" cy="582893"/>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预取器</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界限检验器</a:t>
            </a:r>
            <a:endParaRPr lang="zh-CN" altLang="en-US" sz="1600" dirty="0">
              <a:latin typeface="微软雅黑" panose="020B0503020204020204" pitchFamily="34" charset="-122"/>
              <a:ea typeface="微软雅黑" panose="020B0503020204020204" pitchFamily="34" charset="-122"/>
            </a:endParaRPr>
          </a:p>
        </p:txBody>
      </p:sp>
      <p:sp>
        <p:nvSpPr>
          <p:cNvPr id="40" name="左箭头 39"/>
          <p:cNvSpPr/>
          <p:nvPr/>
        </p:nvSpPr>
        <p:spPr>
          <a:xfrm>
            <a:off x="4687614" y="5063132"/>
            <a:ext cx="672158" cy="217066"/>
          </a:xfrm>
          <a:prstGeom prst="lef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1" name="矩形 40"/>
          <p:cNvSpPr/>
          <p:nvPr/>
        </p:nvSpPr>
        <p:spPr>
          <a:xfrm>
            <a:off x="6831730" y="3020036"/>
            <a:ext cx="140570" cy="1763586"/>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左箭头 41"/>
          <p:cNvSpPr/>
          <p:nvPr/>
        </p:nvSpPr>
        <p:spPr>
          <a:xfrm>
            <a:off x="6452330" y="2928456"/>
            <a:ext cx="519970" cy="278581"/>
          </a:xfrm>
          <a:prstGeom prst="lef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3" name="左箭头 42"/>
          <p:cNvSpPr/>
          <p:nvPr/>
        </p:nvSpPr>
        <p:spPr>
          <a:xfrm>
            <a:off x="6449741" y="4644331"/>
            <a:ext cx="519970" cy="278581"/>
          </a:xfrm>
          <a:prstGeom prst="lef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3" name="矩形 12"/>
          <p:cNvSpPr/>
          <p:nvPr/>
        </p:nvSpPr>
        <p:spPr>
          <a:xfrm>
            <a:off x="1313638" y="3447459"/>
            <a:ext cx="936104" cy="476301"/>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保护测试部件</a:t>
            </a:r>
            <a:endParaRPr lang="zh-CN" altLang="en-US" sz="1600" dirty="0">
              <a:latin typeface="微软雅黑" panose="020B0503020204020204" pitchFamily="34" charset="-122"/>
              <a:ea typeface="微软雅黑" panose="020B0503020204020204" pitchFamily="34" charset="-122"/>
            </a:endParaRPr>
          </a:p>
        </p:txBody>
      </p:sp>
      <p:sp>
        <p:nvSpPr>
          <p:cNvPr id="44" name="右箭头 43"/>
          <p:cNvSpPr/>
          <p:nvPr/>
        </p:nvSpPr>
        <p:spPr>
          <a:xfrm>
            <a:off x="6939368" y="4128566"/>
            <a:ext cx="940895" cy="255306"/>
          </a:xfrm>
          <a:prstGeom prst="righ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5" name="右箭头 44"/>
          <p:cNvSpPr/>
          <p:nvPr/>
        </p:nvSpPr>
        <p:spPr>
          <a:xfrm>
            <a:off x="7352649" y="3020036"/>
            <a:ext cx="506838" cy="302986"/>
          </a:xfrm>
          <a:prstGeom prst="righ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6" name="左箭头 45"/>
          <p:cNvSpPr/>
          <p:nvPr/>
        </p:nvSpPr>
        <p:spPr>
          <a:xfrm>
            <a:off x="6472285" y="1866173"/>
            <a:ext cx="862403" cy="313849"/>
          </a:xfrm>
          <a:prstGeom prst="lef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7" name="矩形 46"/>
          <p:cNvSpPr/>
          <p:nvPr/>
        </p:nvSpPr>
        <p:spPr>
          <a:xfrm flipH="1">
            <a:off x="7197014" y="1952329"/>
            <a:ext cx="166312" cy="129540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7835280" y="3921442"/>
            <a:ext cx="1112514" cy="569561"/>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MUX/</a:t>
            </a:r>
            <a:r>
              <a:rPr lang="zh-CN" altLang="en-US" sz="1400" dirty="0">
                <a:solidFill>
                  <a:schemeClr val="bg1"/>
                </a:solidFill>
                <a:latin typeface="微软雅黑" panose="020B0503020204020204" pitchFamily="34" charset="-122"/>
                <a:ea typeface="微软雅黑" panose="020B0503020204020204" pitchFamily="34" charset="-122"/>
              </a:rPr>
              <a:t>收发器</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49" name="矩形 48"/>
          <p:cNvSpPr/>
          <p:nvPr/>
        </p:nvSpPr>
        <p:spPr>
          <a:xfrm>
            <a:off x="7835280" y="3425202"/>
            <a:ext cx="1112514" cy="476231"/>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流水线</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总线宽度控制</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50" name="矩形 49"/>
          <p:cNvSpPr/>
          <p:nvPr/>
        </p:nvSpPr>
        <p:spPr>
          <a:xfrm>
            <a:off x="7835280" y="2878801"/>
            <a:ext cx="1112514" cy="537507"/>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地址驱动器</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51" name="矩形 50"/>
          <p:cNvSpPr/>
          <p:nvPr/>
        </p:nvSpPr>
        <p:spPr>
          <a:xfrm>
            <a:off x="7781717" y="1748970"/>
            <a:ext cx="1112514" cy="476231"/>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请求判优控制器</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52" name="上下箭头 51"/>
          <p:cNvSpPr/>
          <p:nvPr/>
        </p:nvSpPr>
        <p:spPr>
          <a:xfrm>
            <a:off x="8242264" y="2182827"/>
            <a:ext cx="221950" cy="720010"/>
          </a:xfrm>
          <a:prstGeom prst="upDown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7781717" y="1436100"/>
            <a:ext cx="1112514" cy="3367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FF3255"/>
                </a:solidFill>
                <a:latin typeface="微软雅黑" panose="020B0503020204020204" pitchFamily="34" charset="-122"/>
                <a:ea typeface="微软雅黑" panose="020B0503020204020204" pitchFamily="34" charset="-122"/>
              </a:rPr>
              <a:t>总线控制</a:t>
            </a:r>
            <a:endParaRPr lang="zh-CN" altLang="en-US" sz="1600" dirty="0">
              <a:solidFill>
                <a:srgbClr val="FF3255"/>
              </a:solidFill>
              <a:latin typeface="微软雅黑" panose="020B0503020204020204" pitchFamily="34" charset="-122"/>
              <a:ea typeface="微软雅黑" panose="020B0503020204020204" pitchFamily="34" charset="-122"/>
            </a:endParaRPr>
          </a:p>
        </p:txBody>
      </p:sp>
      <p:sp>
        <p:nvSpPr>
          <p:cNvPr id="54" name="矩形 53"/>
          <p:cNvSpPr/>
          <p:nvPr/>
        </p:nvSpPr>
        <p:spPr>
          <a:xfrm>
            <a:off x="7859487" y="2273278"/>
            <a:ext cx="519970" cy="557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FF3255"/>
                </a:solidFill>
                <a:latin typeface="微软雅黑" panose="020B0503020204020204" pitchFamily="34" charset="-122"/>
                <a:ea typeface="微软雅黑" panose="020B0503020204020204" pitchFamily="34" charset="-122"/>
              </a:rPr>
              <a:t>控</a:t>
            </a:r>
            <a:endParaRPr lang="en-US" altLang="zh-CN" sz="1400" dirty="0">
              <a:solidFill>
                <a:srgbClr val="FF3255"/>
              </a:solidFill>
              <a:latin typeface="微软雅黑" panose="020B0503020204020204" pitchFamily="34" charset="-122"/>
              <a:ea typeface="微软雅黑" panose="020B0503020204020204" pitchFamily="34" charset="-122"/>
            </a:endParaRPr>
          </a:p>
          <a:p>
            <a:pPr algn="ctr"/>
            <a:r>
              <a:rPr lang="zh-CN" altLang="en-US" sz="1400" dirty="0">
                <a:solidFill>
                  <a:srgbClr val="FF3255"/>
                </a:solidFill>
                <a:latin typeface="微软雅黑" panose="020B0503020204020204" pitchFamily="34" charset="-122"/>
                <a:ea typeface="微软雅黑" panose="020B0503020204020204" pitchFamily="34" charset="-122"/>
              </a:rPr>
              <a:t>制</a:t>
            </a:r>
            <a:endParaRPr lang="zh-CN" altLang="en-US" sz="1600" dirty="0">
              <a:solidFill>
                <a:srgbClr val="FF3255"/>
              </a:solidFill>
              <a:latin typeface="微软雅黑" panose="020B0503020204020204" pitchFamily="34" charset="-122"/>
              <a:ea typeface="微软雅黑" panose="020B0503020204020204" pitchFamily="34" charset="-122"/>
            </a:endParaRPr>
          </a:p>
        </p:txBody>
      </p:sp>
      <p:sp>
        <p:nvSpPr>
          <p:cNvPr id="55" name="矩形 54"/>
          <p:cNvSpPr/>
          <p:nvPr/>
        </p:nvSpPr>
        <p:spPr>
          <a:xfrm>
            <a:off x="6821183" y="2479425"/>
            <a:ext cx="519970" cy="557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FF3255"/>
                </a:solidFill>
                <a:latin typeface="微软雅黑" panose="020B0503020204020204" pitchFamily="34" charset="-122"/>
                <a:ea typeface="微软雅黑" panose="020B0503020204020204" pitchFamily="34" charset="-122"/>
              </a:rPr>
              <a:t>物理地址总线</a:t>
            </a:r>
            <a:endParaRPr lang="zh-CN" altLang="en-US" sz="1600" dirty="0">
              <a:solidFill>
                <a:srgbClr val="FF3255"/>
              </a:solidFill>
              <a:latin typeface="微软雅黑" panose="020B0503020204020204" pitchFamily="34" charset="-122"/>
              <a:ea typeface="微软雅黑" panose="020B0503020204020204" pitchFamily="34" charset="-122"/>
            </a:endParaRPr>
          </a:p>
        </p:txBody>
      </p:sp>
      <p:sp>
        <p:nvSpPr>
          <p:cNvPr id="56" name="矩形 55"/>
          <p:cNvSpPr/>
          <p:nvPr/>
        </p:nvSpPr>
        <p:spPr>
          <a:xfrm>
            <a:off x="6411814" y="1605807"/>
            <a:ext cx="1112514" cy="3367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rgbClr val="FF3255"/>
                </a:solidFill>
                <a:latin typeface="微软雅黑" panose="020B0503020204020204" pitchFamily="34" charset="-122"/>
                <a:ea typeface="微软雅黑" panose="020B0503020204020204" pitchFamily="34" charset="-122"/>
              </a:rPr>
              <a:t>32</a:t>
            </a:r>
            <a:r>
              <a:rPr lang="zh-CN" altLang="en-US" sz="1400" dirty="0">
                <a:solidFill>
                  <a:srgbClr val="FF3255"/>
                </a:solidFill>
                <a:latin typeface="微软雅黑" panose="020B0503020204020204" pitchFamily="34" charset="-122"/>
                <a:ea typeface="微软雅黑" panose="020B0503020204020204" pitchFamily="34" charset="-122"/>
              </a:rPr>
              <a:t>位</a:t>
            </a:r>
            <a:endParaRPr lang="zh-CN" altLang="en-US" sz="1600" dirty="0">
              <a:solidFill>
                <a:srgbClr val="FF3255"/>
              </a:solidFill>
              <a:latin typeface="微软雅黑" panose="020B0503020204020204" pitchFamily="34" charset="-122"/>
              <a:ea typeface="微软雅黑" panose="020B0503020204020204" pitchFamily="34" charset="-122"/>
            </a:endParaRPr>
          </a:p>
        </p:txBody>
      </p:sp>
      <p:sp>
        <p:nvSpPr>
          <p:cNvPr id="57" name="矩形 56"/>
          <p:cNvSpPr/>
          <p:nvPr/>
        </p:nvSpPr>
        <p:spPr>
          <a:xfrm>
            <a:off x="2207303" y="1568420"/>
            <a:ext cx="1112514" cy="3367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rgbClr val="FF3255"/>
                </a:solidFill>
                <a:latin typeface="微软雅黑" panose="020B0503020204020204" pitchFamily="34" charset="-122"/>
                <a:ea typeface="微软雅黑" panose="020B0503020204020204" pitchFamily="34" charset="-122"/>
              </a:rPr>
              <a:t>32</a:t>
            </a:r>
            <a:r>
              <a:rPr lang="zh-CN" altLang="en-US" sz="1400" dirty="0">
                <a:solidFill>
                  <a:srgbClr val="FF3255"/>
                </a:solidFill>
                <a:latin typeface="微软雅黑" panose="020B0503020204020204" pitchFamily="34" charset="-122"/>
                <a:ea typeface="微软雅黑" panose="020B0503020204020204" pitchFamily="34" charset="-122"/>
              </a:rPr>
              <a:t>位</a:t>
            </a:r>
            <a:endParaRPr lang="zh-CN" altLang="en-US" sz="1600" dirty="0">
              <a:solidFill>
                <a:srgbClr val="FF3255"/>
              </a:solidFill>
              <a:latin typeface="微软雅黑" panose="020B0503020204020204" pitchFamily="34" charset="-122"/>
              <a:ea typeface="微软雅黑" panose="020B0503020204020204" pitchFamily="34" charset="-122"/>
            </a:endParaRPr>
          </a:p>
        </p:txBody>
      </p:sp>
      <p:sp>
        <p:nvSpPr>
          <p:cNvPr id="58" name="矩形 57"/>
          <p:cNvSpPr/>
          <p:nvPr/>
        </p:nvSpPr>
        <p:spPr>
          <a:xfrm>
            <a:off x="2207303" y="2178359"/>
            <a:ext cx="1112514" cy="3367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rgbClr val="FF3255"/>
                </a:solidFill>
                <a:latin typeface="微软雅黑" panose="020B0503020204020204" pitchFamily="34" charset="-122"/>
                <a:ea typeface="微软雅黑" panose="020B0503020204020204" pitchFamily="34" charset="-122"/>
              </a:rPr>
              <a:t>32</a:t>
            </a:r>
            <a:r>
              <a:rPr lang="zh-CN" altLang="en-US" sz="1400" dirty="0">
                <a:solidFill>
                  <a:srgbClr val="FF3255"/>
                </a:solidFill>
                <a:latin typeface="微软雅黑" panose="020B0503020204020204" pitchFamily="34" charset="-122"/>
                <a:ea typeface="微软雅黑" panose="020B0503020204020204" pitchFamily="34" charset="-122"/>
              </a:rPr>
              <a:t>位</a:t>
            </a:r>
            <a:endParaRPr lang="zh-CN" altLang="en-US" sz="1600" dirty="0">
              <a:solidFill>
                <a:srgbClr val="FF3255"/>
              </a:solidFill>
              <a:latin typeface="微软雅黑" panose="020B0503020204020204" pitchFamily="34" charset="-122"/>
              <a:ea typeface="微软雅黑" panose="020B0503020204020204" pitchFamily="34" charset="-122"/>
            </a:endParaRPr>
          </a:p>
        </p:txBody>
      </p:sp>
      <p:sp>
        <p:nvSpPr>
          <p:cNvPr id="59" name="矩形 58"/>
          <p:cNvSpPr/>
          <p:nvPr/>
        </p:nvSpPr>
        <p:spPr>
          <a:xfrm>
            <a:off x="1089643" y="2163837"/>
            <a:ext cx="1279222" cy="315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FF3255"/>
                </a:solidFill>
                <a:latin typeface="微软雅黑" panose="020B0503020204020204" pitchFamily="34" charset="-122"/>
                <a:ea typeface="微软雅黑" panose="020B0503020204020204" pitchFamily="34" charset="-122"/>
              </a:rPr>
              <a:t>有效地址总线</a:t>
            </a:r>
            <a:endParaRPr lang="zh-CN" altLang="en-US" sz="1600" dirty="0">
              <a:solidFill>
                <a:srgbClr val="FF3255"/>
              </a:solidFill>
              <a:latin typeface="微软雅黑" panose="020B0503020204020204" pitchFamily="34" charset="-122"/>
              <a:ea typeface="微软雅黑" panose="020B0503020204020204" pitchFamily="34" charset="-122"/>
            </a:endParaRPr>
          </a:p>
        </p:txBody>
      </p:sp>
      <p:sp>
        <p:nvSpPr>
          <p:cNvPr id="60" name="矩形 59"/>
          <p:cNvSpPr/>
          <p:nvPr/>
        </p:nvSpPr>
        <p:spPr>
          <a:xfrm>
            <a:off x="1104711" y="1617217"/>
            <a:ext cx="1279222" cy="315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FF3255"/>
                </a:solidFill>
                <a:latin typeface="微软雅黑" panose="020B0503020204020204" pitchFamily="34" charset="-122"/>
                <a:ea typeface="微软雅黑" panose="020B0503020204020204" pitchFamily="34" charset="-122"/>
              </a:rPr>
              <a:t>有效地址总线</a:t>
            </a:r>
            <a:endParaRPr lang="zh-CN" altLang="en-US" sz="1600" dirty="0">
              <a:solidFill>
                <a:srgbClr val="FF3255"/>
              </a:solidFill>
              <a:latin typeface="微软雅黑" panose="020B0503020204020204" pitchFamily="34" charset="-122"/>
              <a:ea typeface="微软雅黑" panose="020B0503020204020204" pitchFamily="34" charset="-122"/>
            </a:endParaRPr>
          </a:p>
        </p:txBody>
      </p:sp>
      <p:sp>
        <p:nvSpPr>
          <p:cNvPr id="61" name="矩形 60"/>
          <p:cNvSpPr/>
          <p:nvPr/>
        </p:nvSpPr>
        <p:spPr>
          <a:xfrm>
            <a:off x="3261820" y="3827503"/>
            <a:ext cx="903163" cy="3133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FF3255"/>
                </a:solidFill>
                <a:latin typeface="微软雅黑" panose="020B0503020204020204" pitchFamily="34" charset="-122"/>
                <a:ea typeface="微软雅黑" panose="020B0503020204020204" pitchFamily="34" charset="-122"/>
              </a:rPr>
              <a:t>内部总线控制</a:t>
            </a:r>
            <a:endParaRPr lang="zh-CN" altLang="en-US" sz="1600" dirty="0">
              <a:solidFill>
                <a:srgbClr val="FF3255"/>
              </a:solidFill>
              <a:latin typeface="微软雅黑" panose="020B0503020204020204" pitchFamily="34" charset="-122"/>
              <a:ea typeface="微软雅黑" panose="020B0503020204020204" pitchFamily="34" charset="-122"/>
            </a:endParaRPr>
          </a:p>
        </p:txBody>
      </p:sp>
      <p:sp>
        <p:nvSpPr>
          <p:cNvPr id="63" name="矩形 62"/>
          <p:cNvSpPr/>
          <p:nvPr/>
        </p:nvSpPr>
        <p:spPr>
          <a:xfrm>
            <a:off x="4610593" y="2666993"/>
            <a:ext cx="519970" cy="557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FF3255"/>
                </a:solidFill>
                <a:latin typeface="微软雅黑" panose="020B0503020204020204" pitchFamily="34" charset="-122"/>
                <a:ea typeface="微软雅黑" panose="020B0503020204020204" pitchFamily="34" charset="-122"/>
              </a:rPr>
              <a:t>线性地址总线</a:t>
            </a:r>
            <a:endParaRPr lang="zh-CN" altLang="en-US" sz="1600" dirty="0">
              <a:solidFill>
                <a:srgbClr val="FF3255"/>
              </a:solidFill>
              <a:latin typeface="微软雅黑" panose="020B0503020204020204" pitchFamily="34" charset="-122"/>
              <a:ea typeface="微软雅黑" panose="020B0503020204020204" pitchFamily="34" charset="-122"/>
            </a:endParaRPr>
          </a:p>
        </p:txBody>
      </p:sp>
      <p:sp>
        <p:nvSpPr>
          <p:cNvPr id="69" name="矩形 68"/>
          <p:cNvSpPr/>
          <p:nvPr/>
        </p:nvSpPr>
        <p:spPr>
          <a:xfrm>
            <a:off x="2561736" y="2918785"/>
            <a:ext cx="764347" cy="544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FF3255"/>
                </a:solidFill>
                <a:latin typeface="微软雅黑" panose="020B0503020204020204" pitchFamily="34" charset="-122"/>
                <a:ea typeface="微软雅黑" panose="020B0503020204020204" pitchFamily="34" charset="-122"/>
              </a:rPr>
              <a:t>位移量总线</a:t>
            </a:r>
            <a:endParaRPr lang="zh-CN" altLang="en-US" sz="1600" dirty="0">
              <a:solidFill>
                <a:srgbClr val="FF3255"/>
              </a:solidFill>
              <a:latin typeface="微软雅黑" panose="020B0503020204020204" pitchFamily="34" charset="-122"/>
              <a:ea typeface="微软雅黑" panose="020B0503020204020204" pitchFamily="34" charset="-122"/>
            </a:endParaRPr>
          </a:p>
        </p:txBody>
      </p:sp>
      <p:cxnSp>
        <p:nvCxnSpPr>
          <p:cNvPr id="71" name="直接连接符 70"/>
          <p:cNvCxnSpPr/>
          <p:nvPr/>
        </p:nvCxnSpPr>
        <p:spPr>
          <a:xfrm>
            <a:off x="4164983" y="3318481"/>
            <a:ext cx="0" cy="360040"/>
          </a:xfrm>
          <a:prstGeom prst="line">
            <a:avLst/>
          </a:prstGeom>
          <a:ln>
            <a:solidFill>
              <a:srgbClr val="00B853"/>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4164983" y="3827503"/>
            <a:ext cx="0" cy="527390"/>
          </a:xfrm>
          <a:prstGeom prst="line">
            <a:avLst/>
          </a:prstGeom>
          <a:ln>
            <a:solidFill>
              <a:srgbClr val="00B853"/>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916029" y="3247729"/>
            <a:ext cx="2367" cy="415588"/>
          </a:xfrm>
          <a:prstGeom prst="line">
            <a:avLst/>
          </a:prstGeom>
          <a:ln>
            <a:solidFill>
              <a:srgbClr val="00B853"/>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5916029" y="3807808"/>
            <a:ext cx="0" cy="570314"/>
          </a:xfrm>
          <a:prstGeom prst="line">
            <a:avLst/>
          </a:prstGeom>
          <a:ln>
            <a:solidFill>
              <a:srgbClr val="00B853"/>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2576498" y="3807808"/>
            <a:ext cx="0" cy="692016"/>
          </a:xfrm>
          <a:prstGeom prst="line">
            <a:avLst/>
          </a:prstGeom>
          <a:ln>
            <a:solidFill>
              <a:srgbClr val="00B853"/>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6" name="矩形 85"/>
          <p:cNvSpPr/>
          <p:nvPr/>
        </p:nvSpPr>
        <p:spPr>
          <a:xfrm>
            <a:off x="3319817" y="1143512"/>
            <a:ext cx="3412423" cy="2319491"/>
          </a:xfrm>
          <a:prstGeom prst="rect">
            <a:avLst/>
          </a:prstGeom>
          <a:noFill/>
          <a:ln w="12700">
            <a:solidFill>
              <a:srgbClr val="FF325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p:cNvSpPr/>
          <p:nvPr/>
        </p:nvSpPr>
        <p:spPr>
          <a:xfrm>
            <a:off x="895350" y="5829222"/>
            <a:ext cx="7594133" cy="99114"/>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上箭头 88"/>
          <p:cNvSpPr/>
          <p:nvPr/>
        </p:nvSpPr>
        <p:spPr>
          <a:xfrm>
            <a:off x="8325853" y="4495240"/>
            <a:ext cx="231006" cy="1414915"/>
          </a:xfrm>
          <a:prstGeom prst="up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0" name="上箭头 89"/>
          <p:cNvSpPr/>
          <p:nvPr/>
        </p:nvSpPr>
        <p:spPr>
          <a:xfrm>
            <a:off x="841268" y="5582896"/>
            <a:ext cx="179812" cy="345440"/>
          </a:xfrm>
          <a:prstGeom prst="up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cxnSp>
        <p:nvCxnSpPr>
          <p:cNvPr id="92" name="直接连接符 91"/>
          <p:cNvCxnSpPr/>
          <p:nvPr/>
        </p:nvCxnSpPr>
        <p:spPr>
          <a:xfrm>
            <a:off x="7524328" y="1145688"/>
            <a:ext cx="0" cy="4947608"/>
          </a:xfrm>
          <a:prstGeom prst="line">
            <a:avLst/>
          </a:prstGeom>
          <a:ln>
            <a:solidFill>
              <a:srgbClr val="FF3255"/>
            </a:solidFill>
            <a:prstDash val="dash"/>
          </a:ln>
        </p:spPr>
        <p:style>
          <a:lnRef idx="1">
            <a:schemeClr val="accent1"/>
          </a:lnRef>
          <a:fillRef idx="0">
            <a:schemeClr val="accent1"/>
          </a:fillRef>
          <a:effectRef idx="0">
            <a:schemeClr val="accent1"/>
          </a:effectRef>
          <a:fontRef idx="minor">
            <a:schemeClr val="tx1"/>
          </a:fontRef>
        </p:style>
      </p:cxnSp>
      <p:sp>
        <p:nvSpPr>
          <p:cNvPr id="95" name="矩形 94"/>
          <p:cNvSpPr/>
          <p:nvPr/>
        </p:nvSpPr>
        <p:spPr>
          <a:xfrm>
            <a:off x="5182888" y="4156205"/>
            <a:ext cx="1496766" cy="1599411"/>
          </a:xfrm>
          <a:prstGeom prst="rect">
            <a:avLst/>
          </a:prstGeom>
          <a:noFill/>
          <a:ln w="12700">
            <a:solidFill>
              <a:srgbClr val="FF325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95"/>
          <p:cNvSpPr/>
          <p:nvPr/>
        </p:nvSpPr>
        <p:spPr>
          <a:xfrm>
            <a:off x="3435274" y="4246472"/>
            <a:ext cx="1496766" cy="1502019"/>
          </a:xfrm>
          <a:prstGeom prst="rect">
            <a:avLst/>
          </a:prstGeom>
          <a:noFill/>
          <a:ln w="12700">
            <a:solidFill>
              <a:srgbClr val="FF325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96"/>
          <p:cNvSpPr/>
          <p:nvPr/>
        </p:nvSpPr>
        <p:spPr>
          <a:xfrm>
            <a:off x="343152" y="4005064"/>
            <a:ext cx="2777642" cy="1750552"/>
          </a:xfrm>
          <a:prstGeom prst="rect">
            <a:avLst/>
          </a:prstGeom>
          <a:noFill/>
          <a:ln w="12700">
            <a:solidFill>
              <a:srgbClr val="FF325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Rectangle 2"/>
          <p:cNvSpPr>
            <a:spLocks noChangeArrowheads="1"/>
          </p:cNvSpPr>
          <p:nvPr/>
        </p:nvSpPr>
        <p:spPr bwMode="auto">
          <a:xfrm>
            <a:off x="2591780" y="65999"/>
            <a:ext cx="4403004" cy="626515"/>
          </a:xfrm>
          <a:prstGeom prst="rect">
            <a:avLst/>
          </a:prstGeom>
          <a:solidFill>
            <a:schemeClr val="accent6">
              <a:lumMod val="20000"/>
              <a:lumOff val="80000"/>
            </a:schemeClr>
          </a:solidFill>
          <a:ln>
            <a:noFill/>
          </a:ln>
          <a:effectLst/>
          <a:extLst/>
        </p:spPr>
        <p:txBody>
          <a:bodyPr wrap="none" lIns="91426" tIns="45713" rIns="91426" bIns="45713" anchor="ctr"/>
          <a:lstStyle/>
          <a:p>
            <a:pPr algn="ctr" eaLnBrk="0" hangingPunct="0"/>
            <a:r>
              <a:rPr lang="en-US" altLang="zh-CN" sz="3200" b="1" dirty="0">
                <a:solidFill>
                  <a:srgbClr val="00B0F0"/>
                </a:solidFill>
                <a:latin typeface="微软雅黑" pitchFamily="34" charset="-122"/>
                <a:ea typeface="微软雅黑" pitchFamily="34" charset="-122"/>
              </a:rPr>
              <a:t>80386</a:t>
            </a:r>
            <a:r>
              <a:rPr lang="zh-CN" altLang="en-US" sz="3200" b="1" dirty="0">
                <a:solidFill>
                  <a:srgbClr val="00B0F0"/>
                </a:solidFill>
                <a:latin typeface="微软雅黑" pitchFamily="34" charset="-122"/>
                <a:ea typeface="微软雅黑" pitchFamily="34" charset="-122"/>
              </a:rPr>
              <a:t>内部结构</a:t>
            </a:r>
            <a:endParaRPr lang="zh-CN" altLang="en-US" sz="3200" b="1" dirty="0">
              <a:solidFill>
                <a:srgbClr val="00C4F0"/>
              </a:solidFill>
              <a:latin typeface="微软雅黑" pitchFamily="34" charset="-122"/>
              <a:ea typeface="微软雅黑" pitchFamily="34" charset="-122"/>
            </a:endParaRPr>
          </a:p>
        </p:txBody>
      </p:sp>
      <p:sp>
        <p:nvSpPr>
          <p:cNvPr id="100" name="矩形 99"/>
          <p:cNvSpPr/>
          <p:nvPr/>
        </p:nvSpPr>
        <p:spPr>
          <a:xfrm>
            <a:off x="7162296" y="4804950"/>
            <a:ext cx="1068074" cy="901365"/>
          </a:xfrm>
          <a:prstGeom prst="rect">
            <a:avLst/>
          </a:prstGeom>
          <a:solidFill>
            <a:srgbClr val="2AB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dirty="0">
                <a:ea typeface="微软雅黑" panose="020B0503020204020204" pitchFamily="34" charset="-122"/>
              </a:rPr>
              <a:t>总线接口部件</a:t>
            </a:r>
          </a:p>
        </p:txBody>
      </p:sp>
      <p:sp>
        <p:nvSpPr>
          <p:cNvPr id="101" name="矩形 100"/>
          <p:cNvSpPr/>
          <p:nvPr/>
        </p:nvSpPr>
        <p:spPr>
          <a:xfrm>
            <a:off x="5008955" y="6000080"/>
            <a:ext cx="1890853" cy="568229"/>
          </a:xfrm>
          <a:prstGeom prst="rect">
            <a:avLst/>
          </a:prstGeom>
          <a:solidFill>
            <a:srgbClr val="2AB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dirty="0">
                <a:ea typeface="微软雅黑" panose="020B0503020204020204" pitchFamily="34" charset="-122"/>
              </a:rPr>
              <a:t>指令预取部件</a:t>
            </a:r>
          </a:p>
        </p:txBody>
      </p:sp>
      <p:sp>
        <p:nvSpPr>
          <p:cNvPr id="102" name="矩形 101"/>
          <p:cNvSpPr/>
          <p:nvPr/>
        </p:nvSpPr>
        <p:spPr>
          <a:xfrm>
            <a:off x="2987824" y="6000080"/>
            <a:ext cx="1890853" cy="568229"/>
          </a:xfrm>
          <a:prstGeom prst="rect">
            <a:avLst/>
          </a:prstGeom>
          <a:solidFill>
            <a:srgbClr val="2AB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dirty="0">
                <a:ea typeface="微软雅黑" panose="020B0503020204020204" pitchFamily="34" charset="-122"/>
              </a:rPr>
              <a:t>指令译码部件</a:t>
            </a:r>
          </a:p>
        </p:txBody>
      </p:sp>
      <p:sp>
        <p:nvSpPr>
          <p:cNvPr id="103" name="矩形 102"/>
          <p:cNvSpPr/>
          <p:nvPr/>
        </p:nvSpPr>
        <p:spPr>
          <a:xfrm>
            <a:off x="1092064" y="6000080"/>
            <a:ext cx="1391704" cy="568229"/>
          </a:xfrm>
          <a:prstGeom prst="rect">
            <a:avLst/>
          </a:prstGeom>
          <a:solidFill>
            <a:srgbClr val="2AB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dirty="0">
                <a:ea typeface="微软雅黑" panose="020B0503020204020204" pitchFamily="34" charset="-122"/>
              </a:rPr>
              <a:t>执行部件</a:t>
            </a:r>
          </a:p>
        </p:txBody>
      </p:sp>
      <p:sp>
        <p:nvSpPr>
          <p:cNvPr id="104" name="矩形 103"/>
          <p:cNvSpPr/>
          <p:nvPr/>
        </p:nvSpPr>
        <p:spPr>
          <a:xfrm>
            <a:off x="3951589" y="888646"/>
            <a:ext cx="2148910" cy="568229"/>
          </a:xfrm>
          <a:prstGeom prst="rect">
            <a:avLst/>
          </a:prstGeom>
          <a:solidFill>
            <a:srgbClr val="2AB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dirty="0">
                <a:ea typeface="微软雅黑" panose="020B0503020204020204" pitchFamily="34" charset="-122"/>
              </a:rPr>
              <a:t>存储器管理部件</a:t>
            </a:r>
          </a:p>
        </p:txBody>
      </p:sp>
    </p:spTree>
    <p:extLst>
      <p:ext uri="{BB962C8B-B14F-4D97-AF65-F5344CB8AC3E}">
        <p14:creationId xmlns:p14="http://schemas.microsoft.com/office/powerpoint/2010/main" val="4270571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wipe(up)">
                                      <p:cBhvr>
                                        <p:cTn id="7" dur="500"/>
                                        <p:tgtEl>
                                          <p:spTgt spid="9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00"/>
                                        </p:tgtEl>
                                        <p:attrNameLst>
                                          <p:attrName>style.visibility</p:attrName>
                                        </p:attrNameLst>
                                      </p:cBhvr>
                                      <p:to>
                                        <p:strVal val="visible"/>
                                      </p:to>
                                    </p:set>
                                    <p:animEffect transition="in" filter="wipe(up)">
                                      <p:cBhvr>
                                        <p:cTn id="10" dur="500"/>
                                        <p:tgtEl>
                                          <p:spTgt spid="10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100"/>
                                        </p:tgtEl>
                                      </p:cBhvr>
                                    </p:animEffect>
                                    <p:set>
                                      <p:cBhvr>
                                        <p:cTn id="15" dur="1" fill="hold">
                                          <p:stCondLst>
                                            <p:cond delay="499"/>
                                          </p:stCondLst>
                                        </p:cTn>
                                        <p:tgtEl>
                                          <p:spTgt spid="100"/>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01"/>
                                        </p:tgtEl>
                                        <p:attrNameLst>
                                          <p:attrName>style.visibility</p:attrName>
                                        </p:attrNameLst>
                                      </p:cBhvr>
                                      <p:to>
                                        <p:strVal val="visible"/>
                                      </p:to>
                                    </p:set>
                                    <p:animEffect transition="in" filter="wipe(up)">
                                      <p:cBhvr>
                                        <p:cTn id="20" dur="500"/>
                                        <p:tgtEl>
                                          <p:spTgt spid="101"/>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95"/>
                                        </p:tgtEl>
                                        <p:attrNameLst>
                                          <p:attrName>style.visibility</p:attrName>
                                        </p:attrNameLst>
                                      </p:cBhvr>
                                      <p:to>
                                        <p:strVal val="visible"/>
                                      </p:to>
                                    </p:set>
                                    <p:animEffect transition="in" filter="wipe(up)">
                                      <p:cBhvr>
                                        <p:cTn id="23" dur="500"/>
                                        <p:tgtEl>
                                          <p:spTgt spid="9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500"/>
                                        <p:tgtEl>
                                          <p:spTgt spid="101"/>
                                        </p:tgtEl>
                                      </p:cBhvr>
                                    </p:animEffect>
                                    <p:set>
                                      <p:cBhvr>
                                        <p:cTn id="28" dur="1" fill="hold">
                                          <p:stCondLst>
                                            <p:cond delay="499"/>
                                          </p:stCondLst>
                                        </p:cTn>
                                        <p:tgtEl>
                                          <p:spTgt spid="101"/>
                                        </p:tgtEl>
                                        <p:attrNameLst>
                                          <p:attrName>style.visibility</p:attrName>
                                        </p:attrNameLst>
                                      </p:cBhvr>
                                      <p:to>
                                        <p:strVal val="hidden"/>
                                      </p:to>
                                    </p:set>
                                  </p:childTnLst>
                                </p:cTn>
                              </p:par>
                              <p:par>
                                <p:cTn id="29" presetID="10" presetClass="exit" presetSubtype="0" fill="hold" grpId="1" nodeType="withEffect">
                                  <p:stCondLst>
                                    <p:cond delay="0"/>
                                  </p:stCondLst>
                                  <p:childTnLst>
                                    <p:animEffect transition="out" filter="fade">
                                      <p:cBhvr>
                                        <p:cTn id="30" dur="500"/>
                                        <p:tgtEl>
                                          <p:spTgt spid="95"/>
                                        </p:tgtEl>
                                      </p:cBhvr>
                                    </p:animEffect>
                                    <p:set>
                                      <p:cBhvr>
                                        <p:cTn id="31" dur="1" fill="hold">
                                          <p:stCondLst>
                                            <p:cond delay="499"/>
                                          </p:stCondLst>
                                        </p:cTn>
                                        <p:tgtEl>
                                          <p:spTgt spid="95"/>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102"/>
                                        </p:tgtEl>
                                        <p:attrNameLst>
                                          <p:attrName>style.visibility</p:attrName>
                                        </p:attrNameLst>
                                      </p:cBhvr>
                                      <p:to>
                                        <p:strVal val="visible"/>
                                      </p:to>
                                    </p:set>
                                    <p:animEffect transition="in" filter="wipe(up)">
                                      <p:cBhvr>
                                        <p:cTn id="36" dur="500"/>
                                        <p:tgtEl>
                                          <p:spTgt spid="102"/>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96"/>
                                        </p:tgtEl>
                                        <p:attrNameLst>
                                          <p:attrName>style.visibility</p:attrName>
                                        </p:attrNameLst>
                                      </p:cBhvr>
                                      <p:to>
                                        <p:strVal val="visible"/>
                                      </p:to>
                                    </p:set>
                                    <p:animEffect transition="in" filter="wipe(up)">
                                      <p:cBhvr>
                                        <p:cTn id="39" dur="500"/>
                                        <p:tgtEl>
                                          <p:spTgt spid="9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grpId="1" nodeType="clickEffect">
                                  <p:stCondLst>
                                    <p:cond delay="0"/>
                                  </p:stCondLst>
                                  <p:childTnLst>
                                    <p:animEffect transition="out" filter="fade">
                                      <p:cBhvr>
                                        <p:cTn id="43" dur="500"/>
                                        <p:tgtEl>
                                          <p:spTgt spid="102"/>
                                        </p:tgtEl>
                                      </p:cBhvr>
                                    </p:animEffect>
                                    <p:set>
                                      <p:cBhvr>
                                        <p:cTn id="44" dur="1" fill="hold">
                                          <p:stCondLst>
                                            <p:cond delay="499"/>
                                          </p:stCondLst>
                                        </p:cTn>
                                        <p:tgtEl>
                                          <p:spTgt spid="102"/>
                                        </p:tgtEl>
                                        <p:attrNameLst>
                                          <p:attrName>style.visibility</p:attrName>
                                        </p:attrNameLst>
                                      </p:cBhvr>
                                      <p:to>
                                        <p:strVal val="hidden"/>
                                      </p:to>
                                    </p:set>
                                  </p:childTnLst>
                                </p:cTn>
                              </p:par>
                              <p:par>
                                <p:cTn id="45" presetID="10" presetClass="exit" presetSubtype="0" fill="hold" grpId="1" nodeType="withEffect">
                                  <p:stCondLst>
                                    <p:cond delay="0"/>
                                  </p:stCondLst>
                                  <p:childTnLst>
                                    <p:animEffect transition="out" filter="fade">
                                      <p:cBhvr>
                                        <p:cTn id="46" dur="500"/>
                                        <p:tgtEl>
                                          <p:spTgt spid="96"/>
                                        </p:tgtEl>
                                      </p:cBhvr>
                                    </p:animEffect>
                                    <p:set>
                                      <p:cBhvr>
                                        <p:cTn id="47" dur="1" fill="hold">
                                          <p:stCondLst>
                                            <p:cond delay="499"/>
                                          </p:stCondLst>
                                        </p:cTn>
                                        <p:tgtEl>
                                          <p:spTgt spid="9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03"/>
                                        </p:tgtEl>
                                        <p:attrNameLst>
                                          <p:attrName>style.visibility</p:attrName>
                                        </p:attrNameLst>
                                      </p:cBhvr>
                                      <p:to>
                                        <p:strVal val="visible"/>
                                      </p:to>
                                    </p:set>
                                    <p:animEffect transition="in" filter="wipe(up)">
                                      <p:cBhvr>
                                        <p:cTn id="52" dur="500"/>
                                        <p:tgtEl>
                                          <p:spTgt spid="103"/>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97"/>
                                        </p:tgtEl>
                                        <p:attrNameLst>
                                          <p:attrName>style.visibility</p:attrName>
                                        </p:attrNameLst>
                                      </p:cBhvr>
                                      <p:to>
                                        <p:strVal val="visible"/>
                                      </p:to>
                                    </p:set>
                                    <p:animEffect transition="in" filter="wipe(up)">
                                      <p:cBhvr>
                                        <p:cTn id="55" dur="500"/>
                                        <p:tgtEl>
                                          <p:spTgt spid="9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grpId="1" nodeType="clickEffect">
                                  <p:stCondLst>
                                    <p:cond delay="0"/>
                                  </p:stCondLst>
                                  <p:childTnLst>
                                    <p:animEffect transition="out" filter="fade">
                                      <p:cBhvr>
                                        <p:cTn id="59" dur="500"/>
                                        <p:tgtEl>
                                          <p:spTgt spid="103"/>
                                        </p:tgtEl>
                                      </p:cBhvr>
                                    </p:animEffect>
                                    <p:set>
                                      <p:cBhvr>
                                        <p:cTn id="60" dur="1" fill="hold">
                                          <p:stCondLst>
                                            <p:cond delay="499"/>
                                          </p:stCondLst>
                                        </p:cTn>
                                        <p:tgtEl>
                                          <p:spTgt spid="103"/>
                                        </p:tgtEl>
                                        <p:attrNameLst>
                                          <p:attrName>style.visibility</p:attrName>
                                        </p:attrNameLst>
                                      </p:cBhvr>
                                      <p:to>
                                        <p:strVal val="hidden"/>
                                      </p:to>
                                    </p:set>
                                  </p:childTnLst>
                                </p:cTn>
                              </p:par>
                              <p:par>
                                <p:cTn id="61" presetID="10" presetClass="exit" presetSubtype="0" fill="hold" grpId="1" nodeType="withEffect">
                                  <p:stCondLst>
                                    <p:cond delay="0"/>
                                  </p:stCondLst>
                                  <p:childTnLst>
                                    <p:animEffect transition="out" filter="fade">
                                      <p:cBhvr>
                                        <p:cTn id="62" dur="500"/>
                                        <p:tgtEl>
                                          <p:spTgt spid="97"/>
                                        </p:tgtEl>
                                      </p:cBhvr>
                                    </p:animEffect>
                                    <p:set>
                                      <p:cBhvr>
                                        <p:cTn id="63" dur="1" fill="hold">
                                          <p:stCondLst>
                                            <p:cond delay="499"/>
                                          </p:stCondLst>
                                        </p:cTn>
                                        <p:tgtEl>
                                          <p:spTgt spid="97"/>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86"/>
                                        </p:tgtEl>
                                        <p:attrNameLst>
                                          <p:attrName>style.visibility</p:attrName>
                                        </p:attrNameLst>
                                      </p:cBhvr>
                                      <p:to>
                                        <p:strVal val="visible"/>
                                      </p:to>
                                    </p:set>
                                    <p:animEffect transition="in" filter="wipe(up)">
                                      <p:cBhvr>
                                        <p:cTn id="68" dur="500"/>
                                        <p:tgtEl>
                                          <p:spTgt spid="86"/>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104"/>
                                        </p:tgtEl>
                                        <p:attrNameLst>
                                          <p:attrName>style.visibility</p:attrName>
                                        </p:attrNameLst>
                                      </p:cBhvr>
                                      <p:to>
                                        <p:strVal val="visible"/>
                                      </p:to>
                                    </p:set>
                                    <p:animEffect transition="in" filter="wipe(up)">
                                      <p:cBhvr>
                                        <p:cTn id="71" dur="500"/>
                                        <p:tgtEl>
                                          <p:spTgt spid="104"/>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xit" presetSubtype="0" fill="hold" grpId="1" nodeType="clickEffect">
                                  <p:stCondLst>
                                    <p:cond delay="0"/>
                                  </p:stCondLst>
                                  <p:childTnLst>
                                    <p:animEffect transition="out" filter="fade">
                                      <p:cBhvr>
                                        <p:cTn id="75" dur="500"/>
                                        <p:tgtEl>
                                          <p:spTgt spid="86"/>
                                        </p:tgtEl>
                                      </p:cBhvr>
                                    </p:animEffect>
                                    <p:set>
                                      <p:cBhvr>
                                        <p:cTn id="76" dur="1" fill="hold">
                                          <p:stCondLst>
                                            <p:cond delay="499"/>
                                          </p:stCondLst>
                                        </p:cTn>
                                        <p:tgtEl>
                                          <p:spTgt spid="86"/>
                                        </p:tgtEl>
                                        <p:attrNameLst>
                                          <p:attrName>style.visibility</p:attrName>
                                        </p:attrNameLst>
                                      </p:cBhvr>
                                      <p:to>
                                        <p:strVal val="hidden"/>
                                      </p:to>
                                    </p:set>
                                  </p:childTnLst>
                                </p:cTn>
                              </p:par>
                              <p:par>
                                <p:cTn id="77" presetID="10" presetClass="exit" presetSubtype="0" fill="hold" grpId="1" nodeType="withEffect">
                                  <p:stCondLst>
                                    <p:cond delay="0"/>
                                  </p:stCondLst>
                                  <p:childTnLst>
                                    <p:animEffect transition="out" filter="fade">
                                      <p:cBhvr>
                                        <p:cTn id="78" dur="500"/>
                                        <p:tgtEl>
                                          <p:spTgt spid="104"/>
                                        </p:tgtEl>
                                      </p:cBhvr>
                                    </p:animEffect>
                                    <p:set>
                                      <p:cBhvr>
                                        <p:cTn id="79" dur="1" fill="hold">
                                          <p:stCondLst>
                                            <p:cond delay="499"/>
                                          </p:stCondLst>
                                        </p:cTn>
                                        <p:tgtEl>
                                          <p:spTgt spid="1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86" grpId="1" animBg="1"/>
      <p:bldP spid="95" grpId="0" animBg="1"/>
      <p:bldP spid="95" grpId="1" animBg="1"/>
      <p:bldP spid="96" grpId="0" animBg="1"/>
      <p:bldP spid="96" grpId="1" animBg="1"/>
      <p:bldP spid="97" grpId="0" animBg="1"/>
      <p:bldP spid="97" grpId="1" animBg="1"/>
      <p:bldP spid="100" grpId="0" animBg="1"/>
      <p:bldP spid="100" grpId="1" animBg="1"/>
      <p:bldP spid="101" grpId="0" animBg="1"/>
      <p:bldP spid="101" grpId="1" animBg="1"/>
      <p:bldP spid="102" grpId="0" animBg="1"/>
      <p:bldP spid="102" grpId="1" animBg="1"/>
      <p:bldP spid="103" grpId="0" animBg="1"/>
      <p:bldP spid="103" grpId="1" animBg="1"/>
      <p:bldP spid="104" grpId="0" animBg="1"/>
      <p:bldP spid="104"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anose="020B0503020204020204" pitchFamily="34" charset="-122"/>
              <a:ea typeface="微软雅黑" panose="020B0503020204020204" pitchFamily="34" charset="-122"/>
            </a:endParaRPr>
          </a:p>
        </p:txBody>
      </p:sp>
      <p:sp>
        <p:nvSpPr>
          <p:cNvPr id="10" name="TextBox 15"/>
          <p:cNvSpPr txBox="1"/>
          <p:nvPr/>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pPr algn="ctr"/>
              <a:t>14</a:t>
            </a:fld>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t> </a:t>
            </a:r>
            <a:endParaRPr lang="zh-CN" altLang="en-US" sz="1600" b="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2" name="TextBox 15"/>
          <p:cNvSpPr txBox="1">
            <a:spLocks noChangeArrowheads="1"/>
          </p:cNvSpPr>
          <p:nvPr/>
        </p:nvSpPr>
        <p:spPr bwMode="auto">
          <a:xfrm>
            <a:off x="2966244" y="4119885"/>
            <a:ext cx="3405956" cy="1884273"/>
          </a:xfrm>
          <a:prstGeom prst="rect">
            <a:avLst/>
          </a:prstGeom>
          <a:noFill/>
          <a:ln w="9525">
            <a:noFill/>
            <a:miter lim="800000"/>
            <a:headEnd/>
            <a:tailEnd/>
          </a:ln>
        </p:spPr>
        <p:txBody>
          <a:bodyPr wrap="square" lIns="67730" tIns="33865" rIns="67730" bIns="33865">
            <a:spAutoFit/>
          </a:bodyP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indent="-342900" defTabSz="762000">
              <a:lnSpc>
                <a:spcPct val="150000"/>
              </a:lnSpc>
              <a:spcAft>
                <a:spcPts val="600"/>
              </a:spcAft>
              <a:buFont typeface="Wingdings" pitchFamily="2" charset="2"/>
              <a:buChar char="u"/>
            </a:pPr>
            <a:r>
              <a:rPr lang="en-US" altLang="zh-CN" sz="2400" b="1" dirty="0">
                <a:solidFill>
                  <a:schemeClr val="tx1">
                    <a:lumMod val="65000"/>
                    <a:lumOff val="35000"/>
                  </a:schemeClr>
                </a:solidFill>
                <a:latin typeface="微软雅黑" pitchFamily="34" charset="-122"/>
                <a:ea typeface="微软雅黑" pitchFamily="34" charset="-122"/>
              </a:rPr>
              <a:t>80386</a:t>
            </a:r>
            <a:r>
              <a:rPr lang="zh-CN" altLang="en-US" sz="2400" b="1" dirty="0">
                <a:solidFill>
                  <a:schemeClr val="tx1">
                    <a:lumMod val="65000"/>
                    <a:lumOff val="35000"/>
                  </a:schemeClr>
                </a:solidFill>
                <a:latin typeface="微软雅黑" pitchFamily="34" charset="-122"/>
                <a:ea typeface="微软雅黑" pitchFamily="34" charset="-122"/>
              </a:rPr>
              <a:t>的概述</a:t>
            </a:r>
            <a:endParaRPr lang="en-US" altLang="zh-CN" sz="2400" b="1" dirty="0">
              <a:solidFill>
                <a:schemeClr val="tx1">
                  <a:lumMod val="65000"/>
                  <a:lumOff val="35000"/>
                </a:schemeClr>
              </a:solidFill>
              <a:latin typeface="微软雅黑" pitchFamily="34" charset="-122"/>
              <a:ea typeface="微软雅黑" pitchFamily="34" charset="-122"/>
            </a:endParaRPr>
          </a:p>
          <a:p>
            <a:pPr indent="-342900" defTabSz="762000">
              <a:lnSpc>
                <a:spcPct val="150000"/>
              </a:lnSpc>
              <a:spcAft>
                <a:spcPts val="600"/>
              </a:spcAft>
              <a:buFont typeface="Wingdings" pitchFamily="2" charset="2"/>
              <a:buChar char="u"/>
            </a:pPr>
            <a:r>
              <a:rPr lang="en-US" altLang="zh-CN" sz="2400" b="1" dirty="0">
                <a:solidFill>
                  <a:schemeClr val="tx1">
                    <a:lumMod val="65000"/>
                    <a:lumOff val="35000"/>
                  </a:schemeClr>
                </a:solidFill>
                <a:latin typeface="微软雅黑" pitchFamily="34" charset="-122"/>
                <a:ea typeface="微软雅黑" pitchFamily="34" charset="-122"/>
              </a:rPr>
              <a:t>80386</a:t>
            </a:r>
            <a:r>
              <a:rPr lang="zh-CN" altLang="en-US" sz="2400" b="1" dirty="0">
                <a:solidFill>
                  <a:schemeClr val="tx1">
                    <a:lumMod val="65000"/>
                    <a:lumOff val="35000"/>
                  </a:schemeClr>
                </a:solidFill>
                <a:latin typeface="微软雅黑" pitchFamily="34" charset="-122"/>
                <a:ea typeface="微软雅黑" pitchFamily="34" charset="-122"/>
              </a:rPr>
              <a:t>内部结构</a:t>
            </a:r>
          </a:p>
          <a:p>
            <a:pPr indent="-342900" defTabSz="762000">
              <a:lnSpc>
                <a:spcPct val="150000"/>
              </a:lnSpc>
              <a:spcAft>
                <a:spcPts val="600"/>
              </a:spcAft>
              <a:buFont typeface="Wingdings" pitchFamily="2" charset="2"/>
              <a:buChar char="u"/>
            </a:pPr>
            <a:r>
              <a:rPr lang="en-US" altLang="zh-CN" sz="2400" b="1" dirty="0">
                <a:solidFill>
                  <a:srgbClr val="FF3255"/>
                </a:solidFill>
                <a:latin typeface="微软雅黑" pitchFamily="34" charset="-122"/>
                <a:ea typeface="微软雅黑" pitchFamily="34" charset="-122"/>
              </a:rPr>
              <a:t>80386</a:t>
            </a:r>
            <a:r>
              <a:rPr lang="zh-CN" altLang="en-US" sz="2400" b="1" dirty="0">
                <a:solidFill>
                  <a:srgbClr val="FF3255"/>
                </a:solidFill>
                <a:latin typeface="微软雅黑" pitchFamily="34" charset="-122"/>
                <a:ea typeface="微软雅黑" pitchFamily="34" charset="-122"/>
              </a:rPr>
              <a:t>的特点</a:t>
            </a:r>
            <a:endParaRPr lang="en-US" altLang="zh-CN" sz="2400" b="1" dirty="0">
              <a:solidFill>
                <a:srgbClr val="FF3255"/>
              </a:solidFill>
              <a:latin typeface="微软雅黑" pitchFamily="34" charset="-122"/>
              <a:ea typeface="微软雅黑" pitchFamily="34" charset="-122"/>
            </a:endParaRPr>
          </a:p>
        </p:txBody>
      </p:sp>
      <p:cxnSp>
        <p:nvCxnSpPr>
          <p:cNvPr id="14" name="直接连接符 13"/>
          <p:cNvCxnSpPr/>
          <p:nvPr/>
        </p:nvCxnSpPr>
        <p:spPr>
          <a:xfrm>
            <a:off x="1404144" y="2207419"/>
            <a:ext cx="6264275" cy="1587"/>
          </a:xfrm>
          <a:prstGeom prst="line">
            <a:avLst/>
          </a:prstGeom>
          <a:noFill/>
          <a:ln w="9525" cap="flat" cmpd="sng" algn="ctr">
            <a:solidFill>
              <a:sysClr val="window" lastClr="FFFFFF">
                <a:lumMod val="85000"/>
              </a:sysClr>
            </a:solidFill>
            <a:prstDash val="solid"/>
          </a:ln>
          <a:effectLst/>
        </p:spPr>
      </p:cxnSp>
      <p:cxnSp>
        <p:nvCxnSpPr>
          <p:cNvPr id="15" name="直接连接符 14"/>
          <p:cNvCxnSpPr/>
          <p:nvPr/>
        </p:nvCxnSpPr>
        <p:spPr>
          <a:xfrm>
            <a:off x="1475582" y="3936206"/>
            <a:ext cx="6264275" cy="1588"/>
          </a:xfrm>
          <a:prstGeom prst="line">
            <a:avLst/>
          </a:prstGeom>
          <a:noFill/>
          <a:ln w="9525" cap="flat" cmpd="sng" algn="ctr">
            <a:solidFill>
              <a:sysClr val="window" lastClr="FFFFFF">
                <a:lumMod val="85000"/>
              </a:sysClr>
            </a:solidFill>
            <a:prstDash val="solid"/>
          </a:ln>
          <a:effectLst/>
        </p:spPr>
      </p:cxnSp>
      <p:sp>
        <p:nvSpPr>
          <p:cNvPr id="16" name="TextBox 10"/>
          <p:cNvSpPr txBox="1">
            <a:spLocks noChangeArrowheads="1"/>
          </p:cNvSpPr>
          <p:nvPr/>
        </p:nvSpPr>
        <p:spPr bwMode="auto">
          <a:xfrm>
            <a:off x="1475697" y="2447499"/>
            <a:ext cx="6985934" cy="1250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algn="ctr">
              <a:lnSpc>
                <a:spcPct val="114000"/>
              </a:lnSpc>
            </a:pPr>
            <a:r>
              <a:rPr lang="en-US" altLang="zh-CN" sz="6600" b="1" dirty="0">
                <a:solidFill>
                  <a:srgbClr val="00C4F0"/>
                </a:solidFill>
                <a:latin typeface="微软雅黑" pitchFamily="34" charset="-122"/>
                <a:ea typeface="微软雅黑" pitchFamily="34" charset="-122"/>
              </a:rPr>
              <a:t>80386</a:t>
            </a:r>
            <a:r>
              <a:rPr lang="zh-CN" altLang="en-US" sz="6600" b="1" dirty="0">
                <a:solidFill>
                  <a:srgbClr val="00C4F0"/>
                </a:solidFill>
                <a:latin typeface="微软雅黑" pitchFamily="34" charset="-122"/>
                <a:ea typeface="微软雅黑" pitchFamily="34" charset="-122"/>
              </a:rPr>
              <a:t>及其特点</a:t>
            </a:r>
            <a:endParaRPr lang="zh-CN" altLang="en-US" sz="8000" b="1" dirty="0">
              <a:solidFill>
                <a:srgbClr val="00C4F0"/>
              </a:solidFill>
              <a:latin typeface="微软雅黑" pitchFamily="34" charset="-122"/>
              <a:ea typeface="微软雅黑" pitchFamily="34" charset="-122"/>
            </a:endParaRPr>
          </a:p>
        </p:txBody>
      </p:sp>
    </p:spTree>
    <p:extLst>
      <p:ext uri="{BB962C8B-B14F-4D97-AF65-F5344CB8AC3E}">
        <p14:creationId xmlns:p14="http://schemas.microsoft.com/office/powerpoint/2010/main" val="30980299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500"/>
                                        <p:tgtEl>
                                          <p:spTgt spid="14"/>
                                        </p:tgtEl>
                                      </p:cBhvr>
                                    </p:animEffect>
                                  </p:childTnLst>
                                </p:cTn>
                              </p:par>
                              <p:par>
                                <p:cTn id="8" presetID="1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slide(fromBottom)">
                                      <p:cBhvr>
                                        <p:cTn id="10" dur="500"/>
                                        <p:tgtEl>
                                          <p:spTgt spid="15"/>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1000"/>
                                        <p:tgtEl>
                                          <p:spTgt spid="12"/>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1000" fill="hold"/>
                                        <p:tgtEl>
                                          <p:spTgt spid="16"/>
                                        </p:tgtEl>
                                        <p:attrNameLst>
                                          <p:attrName>ppt_w</p:attrName>
                                        </p:attrNameLst>
                                      </p:cBhvr>
                                      <p:tavLst>
                                        <p:tav tm="0">
                                          <p:val>
                                            <p:fltVal val="0"/>
                                          </p:val>
                                        </p:tav>
                                        <p:tav tm="100000">
                                          <p:val>
                                            <p:strVal val="#ppt_w"/>
                                          </p:val>
                                        </p:tav>
                                      </p:tavLst>
                                    </p:anim>
                                    <p:anim calcmode="lin" valueType="num">
                                      <p:cBhvr>
                                        <p:cTn id="18" dur="1000" fill="hold"/>
                                        <p:tgtEl>
                                          <p:spTgt spid="16"/>
                                        </p:tgtEl>
                                        <p:attrNameLst>
                                          <p:attrName>ppt_h</p:attrName>
                                        </p:attrNameLst>
                                      </p:cBhvr>
                                      <p:tavLst>
                                        <p:tav tm="0">
                                          <p:val>
                                            <p:fltVal val="0"/>
                                          </p:val>
                                        </p:tav>
                                        <p:tav tm="100000">
                                          <p:val>
                                            <p:strVal val="#ppt_h"/>
                                          </p:val>
                                        </p:tav>
                                      </p:tavLst>
                                    </p:anim>
                                    <p:animEffect transition="in" filter="fade">
                                      <p:cBhvr>
                                        <p:cTn id="19"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en-US" altLang="zh-CN" sz="3200" b="1" dirty="0">
                <a:solidFill>
                  <a:srgbClr val="00B0F0"/>
                </a:solidFill>
                <a:latin typeface="微软雅黑" pitchFamily="34" charset="-122"/>
                <a:ea typeface="微软雅黑" pitchFamily="34" charset="-122"/>
              </a:rPr>
              <a:t>80386</a:t>
            </a:r>
            <a:r>
              <a:rPr lang="zh-CN" altLang="en-US" sz="3200" b="1" dirty="0">
                <a:solidFill>
                  <a:srgbClr val="00B0F0"/>
                </a:solidFill>
                <a:latin typeface="微软雅黑" pitchFamily="34" charset="-122"/>
                <a:ea typeface="微软雅黑" pitchFamily="34" charset="-122"/>
              </a:rPr>
              <a:t>的特点</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5" name="矩形 4"/>
          <p:cNvSpPr>
            <a:spLocks noChangeAspect="1"/>
          </p:cNvSpPr>
          <p:nvPr/>
        </p:nvSpPr>
        <p:spPr>
          <a:xfrm>
            <a:off x="1115616" y="1682318"/>
            <a:ext cx="7200800" cy="2382170"/>
          </a:xfrm>
          <a:prstGeom prst="rect">
            <a:avLst/>
          </a:prstGeom>
          <a:ln>
            <a:solidFill>
              <a:srgbClr val="0883C8"/>
            </a:solidFill>
            <a:prstDash val="solid"/>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pic>
        <p:nvPicPr>
          <p:cNvPr id="6" name="Picture 2" descr="E:\仝德志文件，勿删！\03-参考文档\！PPT图片及版面资源\06-PPT精选插图\12-标签\蓝色燕尾01.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rot="16200000">
            <a:off x="806623" y="2097869"/>
            <a:ext cx="1512167" cy="57402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19"/>
          <p:cNvSpPr txBox="1"/>
          <p:nvPr/>
        </p:nvSpPr>
        <p:spPr>
          <a:xfrm>
            <a:off x="1348382" y="1748496"/>
            <a:ext cx="461665" cy="1592571"/>
          </a:xfrm>
          <a:prstGeom prst="rect">
            <a:avLst/>
          </a:prstGeom>
          <a:noFill/>
        </p:spPr>
        <p:txBody>
          <a:bodyPr vert="eaVert" wrap="square" rtlCol="0">
            <a:spAutoFit/>
          </a:bodyPr>
          <a:lstStyle/>
          <a:p>
            <a:r>
              <a:rPr lang="zh-CN" altLang="en-US" b="1" dirty="0">
                <a:solidFill>
                  <a:schemeClr val="bg1"/>
                </a:solidFill>
                <a:latin typeface="微软雅黑" pitchFamily="34" charset="-122"/>
                <a:ea typeface="微软雅黑" pitchFamily="34" charset="-122"/>
              </a:rPr>
              <a:t>工作方式</a:t>
            </a:r>
          </a:p>
        </p:txBody>
      </p:sp>
      <p:sp>
        <p:nvSpPr>
          <p:cNvPr id="8" name="TextBox 17"/>
          <p:cNvSpPr txBox="1"/>
          <p:nvPr/>
        </p:nvSpPr>
        <p:spPr>
          <a:xfrm>
            <a:off x="2052604" y="1688224"/>
            <a:ext cx="6142991" cy="2139047"/>
          </a:xfrm>
          <a:prstGeom prst="rect">
            <a:avLst/>
          </a:prstGeom>
          <a:noFill/>
        </p:spPr>
        <p:txBody>
          <a:bodyPr wrap="square">
            <a:spAutoFit/>
          </a:bodyPr>
          <a:lstStyle/>
          <a:p>
            <a:pPr marL="342900" indent="-342900">
              <a:lnSpc>
                <a:spcPct val="133000"/>
              </a:lnSpc>
              <a:buFont typeface="Wingdings" panose="05000000000000000000" pitchFamily="2" charset="2"/>
              <a:buChar char="n"/>
              <a:defRPr/>
            </a:pPr>
            <a:r>
              <a:rPr lang="en-US" altLang="zh-CN" sz="2000" b="1" dirty="0">
                <a:solidFill>
                  <a:schemeClr val="tx1">
                    <a:lumMod val="50000"/>
                    <a:lumOff val="50000"/>
                  </a:schemeClr>
                </a:solidFill>
                <a:latin typeface="微软雅黑" pitchFamily="34" charset="-122"/>
                <a:ea typeface="微软雅黑" pitchFamily="34" charset="-122"/>
              </a:rPr>
              <a:t>80386</a:t>
            </a:r>
            <a:r>
              <a:rPr lang="zh-CN" altLang="en-US" sz="2000" b="1" dirty="0">
                <a:solidFill>
                  <a:schemeClr val="tx1">
                    <a:lumMod val="50000"/>
                    <a:lumOff val="50000"/>
                  </a:schemeClr>
                </a:solidFill>
                <a:latin typeface="微软雅黑" pitchFamily="34" charset="-122"/>
                <a:ea typeface="微软雅黑" pitchFamily="34" charset="-122"/>
              </a:rPr>
              <a:t>可以工作在三种方式：</a:t>
            </a:r>
            <a:r>
              <a:rPr lang="zh-CN" altLang="en-US" sz="2000" b="1" dirty="0">
                <a:solidFill>
                  <a:srgbClr val="FF3255"/>
                </a:solidFill>
                <a:latin typeface="微软雅黑" pitchFamily="34" charset="-122"/>
                <a:ea typeface="微软雅黑" pitchFamily="34" charset="-122"/>
              </a:rPr>
              <a:t>实地址方式、保护方式，虚拟</a:t>
            </a:r>
            <a:r>
              <a:rPr lang="en-US" altLang="zh-CN" sz="2000" b="1" dirty="0">
                <a:solidFill>
                  <a:srgbClr val="FF3255"/>
                </a:solidFill>
                <a:latin typeface="微软雅黑" pitchFamily="34" charset="-122"/>
                <a:ea typeface="微软雅黑" pitchFamily="34" charset="-122"/>
              </a:rPr>
              <a:t>8086</a:t>
            </a:r>
            <a:r>
              <a:rPr lang="zh-CN" altLang="en-US" sz="2000" b="1" dirty="0">
                <a:solidFill>
                  <a:srgbClr val="FF3255"/>
                </a:solidFill>
                <a:latin typeface="微软雅黑" pitchFamily="34" charset="-122"/>
                <a:ea typeface="微软雅黑" pitchFamily="34" charset="-122"/>
              </a:rPr>
              <a:t>方式。</a:t>
            </a:r>
            <a:endParaRPr lang="en-US" altLang="zh-CN" sz="2000" b="1" dirty="0">
              <a:solidFill>
                <a:srgbClr val="FF3255"/>
              </a:solidFill>
              <a:latin typeface="微软雅黑" pitchFamily="34" charset="-122"/>
              <a:ea typeface="微软雅黑" pitchFamily="34" charset="-122"/>
            </a:endParaRPr>
          </a:p>
          <a:p>
            <a:pPr marL="342900" indent="-342900">
              <a:lnSpc>
                <a:spcPct val="133000"/>
              </a:lnSpc>
              <a:buFont typeface="Wingdings" panose="05000000000000000000" pitchFamily="2" charset="2"/>
              <a:buChar char="n"/>
              <a:defRPr/>
            </a:pPr>
            <a:r>
              <a:rPr lang="zh-CN" altLang="en-US" sz="2000" b="1" dirty="0">
                <a:solidFill>
                  <a:schemeClr val="tx1">
                    <a:lumMod val="50000"/>
                    <a:lumOff val="50000"/>
                  </a:schemeClr>
                </a:solidFill>
                <a:latin typeface="微软雅黑" pitchFamily="34" charset="-122"/>
                <a:ea typeface="微软雅黑" pitchFamily="34" charset="-122"/>
              </a:rPr>
              <a:t>硬件支持</a:t>
            </a:r>
            <a:r>
              <a:rPr lang="zh-CN" altLang="en-US" sz="2000" b="1" dirty="0">
                <a:solidFill>
                  <a:srgbClr val="FF3255"/>
                </a:solidFill>
                <a:latin typeface="微软雅黑" pitchFamily="34" charset="-122"/>
                <a:ea typeface="微软雅黑" pitchFamily="34" charset="-122"/>
              </a:rPr>
              <a:t>段式管理和页式管理</a:t>
            </a:r>
            <a:r>
              <a:rPr lang="zh-CN" altLang="en-US" sz="2000" b="1" dirty="0">
                <a:solidFill>
                  <a:schemeClr val="tx1">
                    <a:lumMod val="50000"/>
                    <a:lumOff val="50000"/>
                  </a:schemeClr>
                </a:solidFill>
                <a:latin typeface="微软雅黑" pitchFamily="34" charset="-122"/>
                <a:ea typeface="微软雅黑" pitchFamily="34" charset="-122"/>
              </a:rPr>
              <a:t>，易于实现虚拟存储系统。每个任务可运行多达</a:t>
            </a:r>
            <a:r>
              <a:rPr lang="en-US" altLang="zh-CN" sz="2000" b="1" dirty="0">
                <a:solidFill>
                  <a:schemeClr val="tx1">
                    <a:lumMod val="50000"/>
                    <a:lumOff val="50000"/>
                  </a:schemeClr>
                </a:solidFill>
                <a:latin typeface="微软雅黑" pitchFamily="34" charset="-122"/>
                <a:ea typeface="微软雅黑" pitchFamily="34" charset="-122"/>
              </a:rPr>
              <a:t>16K</a:t>
            </a:r>
            <a:r>
              <a:rPr lang="zh-CN" altLang="en-US" sz="2000" b="1" dirty="0">
                <a:solidFill>
                  <a:schemeClr val="tx1">
                    <a:lumMod val="50000"/>
                    <a:lumOff val="50000"/>
                  </a:schemeClr>
                </a:solidFill>
                <a:latin typeface="微软雅黑" pitchFamily="34" charset="-122"/>
                <a:ea typeface="微软雅黑" pitchFamily="34" charset="-122"/>
              </a:rPr>
              <a:t>个段，每个段最大可为</a:t>
            </a:r>
            <a:r>
              <a:rPr lang="en-US" altLang="zh-CN" sz="2000" b="1" dirty="0">
                <a:solidFill>
                  <a:schemeClr val="tx1">
                    <a:lumMod val="50000"/>
                    <a:lumOff val="50000"/>
                  </a:schemeClr>
                </a:solidFill>
                <a:latin typeface="微软雅黑" pitchFamily="34" charset="-122"/>
                <a:ea typeface="微软雅黑" pitchFamily="34" charset="-122"/>
              </a:rPr>
              <a:t>4G</a:t>
            </a:r>
            <a:r>
              <a:rPr lang="zh-CN" altLang="en-US" sz="2000" b="1" dirty="0">
                <a:solidFill>
                  <a:schemeClr val="tx1">
                    <a:lumMod val="50000"/>
                    <a:lumOff val="50000"/>
                  </a:schemeClr>
                </a:solidFill>
                <a:latin typeface="微软雅黑" pitchFamily="34" charset="-122"/>
                <a:ea typeface="微软雅黑" pitchFamily="34" charset="-122"/>
              </a:rPr>
              <a:t>字节，故每个任务最大可达</a:t>
            </a:r>
            <a:r>
              <a:rPr lang="en-US" altLang="zh-CN" sz="2000" b="1" dirty="0">
                <a:solidFill>
                  <a:srgbClr val="FF3255"/>
                </a:solidFill>
                <a:latin typeface="微软雅黑" pitchFamily="34" charset="-122"/>
                <a:ea typeface="微软雅黑" pitchFamily="34" charset="-122"/>
              </a:rPr>
              <a:t>64MM</a:t>
            </a:r>
            <a:r>
              <a:rPr lang="zh-CN" altLang="en-US" sz="2000" b="1" dirty="0">
                <a:solidFill>
                  <a:srgbClr val="FF3255"/>
                </a:solidFill>
                <a:latin typeface="微软雅黑" pitchFamily="34" charset="-122"/>
                <a:ea typeface="微软雅黑" pitchFamily="34" charset="-122"/>
              </a:rPr>
              <a:t>字节</a:t>
            </a:r>
            <a:r>
              <a:rPr lang="zh-CN" altLang="en-US" sz="2000" b="1" dirty="0">
                <a:solidFill>
                  <a:schemeClr val="tx1">
                    <a:lumMod val="50000"/>
                    <a:lumOff val="50000"/>
                  </a:schemeClr>
                </a:solidFill>
                <a:latin typeface="微软雅黑" pitchFamily="34" charset="-122"/>
                <a:ea typeface="微软雅黑" pitchFamily="34" charset="-122"/>
              </a:rPr>
              <a:t>。</a:t>
            </a:r>
            <a:endParaRPr lang="en-US" altLang="zh-CN"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06142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wipe(left)">
                                      <p:cBhvr>
                                        <p:cTn id="18" dur="500"/>
                                        <p:tgtEl>
                                          <p:spTgt spid="8">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animEffect transition="in" filter="wipe(left)">
                                      <p:cBhvr>
                                        <p:cTn id="23"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en-US" altLang="zh-CN" sz="3200" b="1" dirty="0">
                <a:solidFill>
                  <a:srgbClr val="00B0F0"/>
                </a:solidFill>
                <a:latin typeface="微软雅黑" pitchFamily="34" charset="-122"/>
                <a:ea typeface="微软雅黑" pitchFamily="34" charset="-122"/>
              </a:rPr>
              <a:t>80386</a:t>
            </a:r>
            <a:r>
              <a:rPr lang="zh-CN" altLang="en-US" sz="3200" b="1" dirty="0">
                <a:solidFill>
                  <a:srgbClr val="00B0F0"/>
                </a:solidFill>
                <a:latin typeface="微软雅黑" pitchFamily="34" charset="-122"/>
                <a:ea typeface="微软雅黑" pitchFamily="34" charset="-122"/>
              </a:rPr>
              <a:t>的特点</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5" name="矩形 4"/>
          <p:cNvSpPr>
            <a:spLocks noChangeAspect="1"/>
          </p:cNvSpPr>
          <p:nvPr/>
        </p:nvSpPr>
        <p:spPr>
          <a:xfrm>
            <a:off x="1115616" y="1766910"/>
            <a:ext cx="7344816" cy="2886226"/>
          </a:xfrm>
          <a:prstGeom prst="rect">
            <a:avLst/>
          </a:prstGeom>
          <a:ln>
            <a:solidFill>
              <a:srgbClr val="0883C8"/>
            </a:solidFill>
            <a:prstDash val="solid"/>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pic>
        <p:nvPicPr>
          <p:cNvPr id="6" name="Picture 2" descr="E:\仝德志文件，勿删！\03-参考文档\！PPT图片及版面资源\06-PPT精选插图\12-标签\蓝色燕尾01.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rot="16200000">
            <a:off x="806623" y="2182461"/>
            <a:ext cx="1512167" cy="57402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19"/>
          <p:cNvSpPr txBox="1"/>
          <p:nvPr/>
        </p:nvSpPr>
        <p:spPr>
          <a:xfrm>
            <a:off x="1348382" y="1833088"/>
            <a:ext cx="461665" cy="1592571"/>
          </a:xfrm>
          <a:prstGeom prst="rect">
            <a:avLst/>
          </a:prstGeom>
          <a:noFill/>
        </p:spPr>
        <p:txBody>
          <a:bodyPr vert="eaVert" wrap="square" rtlCol="0">
            <a:spAutoFit/>
          </a:bodyPr>
          <a:lstStyle/>
          <a:p>
            <a:r>
              <a:rPr lang="zh-CN" altLang="en-US" b="1" dirty="0">
                <a:solidFill>
                  <a:schemeClr val="bg1"/>
                </a:solidFill>
                <a:latin typeface="微软雅黑" pitchFamily="34" charset="-122"/>
                <a:ea typeface="微软雅黑" pitchFamily="34" charset="-122"/>
              </a:rPr>
              <a:t>特权级</a:t>
            </a:r>
          </a:p>
        </p:txBody>
      </p:sp>
      <p:sp>
        <p:nvSpPr>
          <p:cNvPr id="8" name="TextBox 17"/>
          <p:cNvSpPr txBox="1"/>
          <p:nvPr/>
        </p:nvSpPr>
        <p:spPr>
          <a:xfrm>
            <a:off x="1951163" y="1833088"/>
            <a:ext cx="6407828" cy="2548390"/>
          </a:xfrm>
          <a:prstGeom prst="rect">
            <a:avLst/>
          </a:prstGeom>
          <a:noFill/>
        </p:spPr>
        <p:txBody>
          <a:bodyPr wrap="square">
            <a:spAutoFit/>
          </a:bodyPr>
          <a:lstStyle/>
          <a:p>
            <a:pPr marL="342900" indent="-342900">
              <a:lnSpc>
                <a:spcPct val="133000"/>
              </a:lnSpc>
              <a:buFont typeface="Wingdings" panose="05000000000000000000" pitchFamily="2" charset="2"/>
              <a:buChar char="n"/>
              <a:defRPr/>
            </a:pPr>
            <a:r>
              <a:rPr lang="en-US" altLang="zh-CN" sz="2000" b="1" dirty="0">
                <a:solidFill>
                  <a:schemeClr val="tx1">
                    <a:lumMod val="50000"/>
                    <a:lumOff val="50000"/>
                  </a:schemeClr>
                </a:solidFill>
                <a:latin typeface="微软雅黑" pitchFamily="34" charset="-122"/>
                <a:ea typeface="微软雅黑" pitchFamily="34" charset="-122"/>
              </a:rPr>
              <a:t>4</a:t>
            </a:r>
            <a:r>
              <a:rPr lang="zh-CN" altLang="en-US" sz="2000" b="1" dirty="0">
                <a:solidFill>
                  <a:schemeClr val="tx1">
                    <a:lumMod val="50000"/>
                    <a:lumOff val="50000"/>
                  </a:schemeClr>
                </a:solidFill>
                <a:latin typeface="微软雅黑" pitchFamily="34" charset="-122"/>
                <a:ea typeface="微软雅黑" pitchFamily="34" charset="-122"/>
              </a:rPr>
              <a:t>级特权级：０级最优先，其次为１，２和３级。０、１和２级用于操作系统程序，３级用于用户程序。</a:t>
            </a:r>
            <a:endParaRPr lang="en-US" altLang="zh-CN" sz="2000" b="1" dirty="0">
              <a:solidFill>
                <a:schemeClr val="tx1">
                  <a:lumMod val="50000"/>
                  <a:lumOff val="50000"/>
                </a:schemeClr>
              </a:solidFill>
              <a:latin typeface="微软雅黑" pitchFamily="34" charset="-122"/>
              <a:ea typeface="微软雅黑" pitchFamily="34" charset="-122"/>
            </a:endParaRPr>
          </a:p>
          <a:p>
            <a:pPr marL="342900" indent="-342900">
              <a:lnSpc>
                <a:spcPct val="133000"/>
              </a:lnSpc>
              <a:buFont typeface="Wingdings" panose="05000000000000000000" pitchFamily="2" charset="2"/>
              <a:buChar char="n"/>
              <a:defRPr/>
            </a:pPr>
            <a:r>
              <a:rPr lang="zh-CN" altLang="en-US" sz="2000" b="1" dirty="0">
                <a:solidFill>
                  <a:schemeClr val="tx1">
                    <a:lumMod val="50000"/>
                    <a:lumOff val="50000"/>
                  </a:schemeClr>
                </a:solidFill>
                <a:latin typeface="微软雅黑" pitchFamily="34" charset="-122"/>
                <a:ea typeface="微软雅黑" pitchFamily="34" charset="-122"/>
              </a:rPr>
              <a:t>完善的特权检查机制，既能实现资源共享又能保障程序和数据的安全和保密以及任务间的隔离。</a:t>
            </a:r>
            <a:endParaRPr lang="en-US" altLang="zh-CN" sz="2000" b="1" dirty="0">
              <a:solidFill>
                <a:schemeClr val="tx1">
                  <a:lumMod val="50000"/>
                  <a:lumOff val="50000"/>
                </a:schemeClr>
              </a:solidFill>
              <a:latin typeface="微软雅黑" pitchFamily="34" charset="-122"/>
              <a:ea typeface="微软雅黑" pitchFamily="34" charset="-122"/>
            </a:endParaRPr>
          </a:p>
          <a:p>
            <a:pPr marL="342900" indent="-342900">
              <a:lnSpc>
                <a:spcPct val="133000"/>
              </a:lnSpc>
              <a:buFont typeface="Wingdings" panose="05000000000000000000" pitchFamily="2" charset="2"/>
              <a:buChar char="n"/>
              <a:defRPr/>
            </a:pPr>
            <a:r>
              <a:rPr lang="zh-CN" altLang="en-US" sz="2000" b="1" dirty="0">
                <a:solidFill>
                  <a:schemeClr val="tx1">
                    <a:lumMod val="50000"/>
                    <a:lumOff val="50000"/>
                  </a:schemeClr>
                </a:solidFill>
                <a:latin typeface="微软雅黑" pitchFamily="34" charset="-122"/>
                <a:ea typeface="微软雅黑" pitchFamily="34" charset="-122"/>
              </a:rPr>
              <a:t>硬件支持多任务，一条指令可以完成任务转换，转换时间 在</a:t>
            </a:r>
            <a:r>
              <a:rPr lang="en-US" altLang="zh-CN" sz="2000" b="1" dirty="0">
                <a:solidFill>
                  <a:schemeClr val="tx1">
                    <a:lumMod val="50000"/>
                    <a:lumOff val="50000"/>
                  </a:schemeClr>
                </a:solidFill>
                <a:latin typeface="微软雅黑" pitchFamily="34" charset="-122"/>
                <a:ea typeface="微软雅黑" pitchFamily="34" charset="-122"/>
              </a:rPr>
              <a:t>17μs</a:t>
            </a:r>
            <a:r>
              <a:rPr lang="zh-CN" altLang="en-US" sz="2000" b="1" dirty="0">
                <a:solidFill>
                  <a:schemeClr val="tx1">
                    <a:lumMod val="50000"/>
                    <a:lumOff val="50000"/>
                  </a:schemeClr>
                </a:solidFill>
                <a:latin typeface="微软雅黑" pitchFamily="34" charset="-122"/>
                <a:ea typeface="微软雅黑" pitchFamily="34" charset="-122"/>
              </a:rPr>
              <a:t>以内。</a:t>
            </a:r>
            <a:endParaRPr lang="en-US" altLang="zh-CN"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922169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wipe(left)">
                                      <p:cBhvr>
                                        <p:cTn id="18" dur="500"/>
                                        <p:tgtEl>
                                          <p:spTgt spid="8">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animEffect transition="in" filter="wipe(left)">
                                      <p:cBhvr>
                                        <p:cTn id="23" dur="500"/>
                                        <p:tgtEl>
                                          <p:spTgt spid="8">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8">
                                            <p:txEl>
                                              <p:pRg st="2" end="2"/>
                                            </p:txEl>
                                          </p:spTgt>
                                        </p:tgtEl>
                                        <p:attrNameLst>
                                          <p:attrName>style.visibility</p:attrName>
                                        </p:attrNameLst>
                                      </p:cBhvr>
                                      <p:to>
                                        <p:strVal val="visible"/>
                                      </p:to>
                                    </p:set>
                                    <p:animEffect transition="in" filter="wipe(left)">
                                      <p:cBhvr>
                                        <p:cTn id="28"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
          <p:cNvSpPr txBox="1"/>
          <p:nvPr/>
        </p:nvSpPr>
        <p:spPr>
          <a:xfrm>
            <a:off x="4292127" y="1364332"/>
            <a:ext cx="3664249" cy="841375"/>
          </a:xfrm>
          <a:prstGeom prst="roundRect">
            <a:avLst>
              <a:gd name="adj" fmla="val 8176"/>
            </a:avLst>
          </a:prstGeom>
          <a:noFill/>
          <a:ln w="19050">
            <a:solidFill>
              <a:schemeClr val="bg1">
                <a:lumMod val="65000"/>
              </a:schemeClr>
            </a:solidFill>
          </a:ln>
        </p:spPr>
        <p:txBody>
          <a:bodyPr wrap="none" anchor="ctr"/>
          <a:lstStyle>
            <a:defPPr>
              <a:defRPr lang="en-US"/>
            </a:defPPr>
            <a:lvl1pPr algn="ctr">
              <a:defRPr sz="2800" b="1">
                <a:solidFill>
                  <a:srgbClr val="A6A6A6"/>
                </a:solidFill>
                <a:latin typeface="微软雅黑" panose="020B0503020204020204" pitchFamily="34" charset="-122"/>
                <a:ea typeface="微软雅黑" panose="020B0503020204020204" pitchFamily="34" charset="-122"/>
              </a:defRPr>
            </a:lvl1pPr>
          </a:lstStyle>
          <a:p>
            <a:r>
              <a:rPr lang="en-US" altLang="zh-CN" dirty="0"/>
              <a:t>80386</a:t>
            </a:r>
            <a:r>
              <a:rPr lang="zh-CN" altLang="en-US" dirty="0"/>
              <a:t>及其特点</a:t>
            </a:r>
          </a:p>
        </p:txBody>
      </p:sp>
      <p:sp>
        <p:nvSpPr>
          <p:cNvPr id="3" name="椭圆 2"/>
          <p:cNvSpPr/>
          <p:nvPr/>
        </p:nvSpPr>
        <p:spPr>
          <a:xfrm>
            <a:off x="3859857" y="1413396"/>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1</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
        <p:nvSpPr>
          <p:cNvPr id="4" name="TextBox 9"/>
          <p:cNvSpPr txBox="1"/>
          <p:nvPr/>
        </p:nvSpPr>
        <p:spPr>
          <a:xfrm>
            <a:off x="4292127" y="2516857"/>
            <a:ext cx="3664249" cy="841375"/>
          </a:xfrm>
          <a:prstGeom prst="roundRect">
            <a:avLst>
              <a:gd name="adj" fmla="val 8176"/>
            </a:avLst>
          </a:prstGeom>
          <a:solidFill>
            <a:srgbClr val="5DCB08"/>
          </a:solidFill>
          <a:ln w="19050">
            <a:solidFill>
              <a:schemeClr val="bg1">
                <a:lumMod val="65000"/>
              </a:schemeClr>
            </a:solidFill>
          </a:ln>
        </p:spPr>
        <p:txBody>
          <a:bodyPr wrap="none" anchor="ctr"/>
          <a:lstStyle>
            <a:defPPr>
              <a:defRPr lang="en-US"/>
            </a:defPPr>
            <a:lvl1pPr algn="ctr">
              <a:defRPr sz="2800" b="1">
                <a:latin typeface="微软雅黑" panose="020B0503020204020204" pitchFamily="34" charset="-122"/>
                <a:ea typeface="微软雅黑" panose="020B0503020204020204" pitchFamily="34" charset="-122"/>
              </a:defRPr>
            </a:lvl1pPr>
          </a:lstStyle>
          <a:p>
            <a:r>
              <a:rPr lang="en-US" altLang="zh-CN" dirty="0"/>
              <a:t>80386</a:t>
            </a:r>
            <a:r>
              <a:rPr lang="zh-CN" altLang="en-US" dirty="0"/>
              <a:t>工作模式</a:t>
            </a:r>
          </a:p>
        </p:txBody>
      </p:sp>
      <p:sp>
        <p:nvSpPr>
          <p:cNvPr id="5" name="椭圆 4"/>
          <p:cNvSpPr/>
          <p:nvPr/>
        </p:nvSpPr>
        <p:spPr>
          <a:xfrm>
            <a:off x="3859857" y="2565921"/>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2</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
        <p:nvSpPr>
          <p:cNvPr id="6" name="TextBox 9"/>
          <p:cNvSpPr txBox="1"/>
          <p:nvPr/>
        </p:nvSpPr>
        <p:spPr>
          <a:xfrm>
            <a:off x="4284190" y="3668365"/>
            <a:ext cx="3664249" cy="841375"/>
          </a:xfrm>
          <a:prstGeom prst="roundRect">
            <a:avLst>
              <a:gd name="adj" fmla="val 8176"/>
            </a:avLst>
          </a:prstGeom>
          <a:noFill/>
          <a:ln w="19050">
            <a:solidFill>
              <a:schemeClr val="bg1">
                <a:lumMod val="65000"/>
              </a:schemeClr>
            </a:solidFill>
          </a:ln>
        </p:spPr>
        <p:txBody>
          <a:bodyPr wrap="none" anchor="ctr"/>
          <a:lstStyle>
            <a:defPPr>
              <a:defRPr lang="en-US"/>
            </a:defPPr>
            <a:lvl1pPr algn="ctr">
              <a:defRPr sz="2800" b="1">
                <a:solidFill>
                  <a:srgbClr val="A6A6A6"/>
                </a:solidFill>
                <a:latin typeface="微软雅黑" panose="020B0503020204020204" pitchFamily="34" charset="-122"/>
                <a:ea typeface="微软雅黑" panose="020B0503020204020204" pitchFamily="34" charset="-122"/>
              </a:defRPr>
            </a:lvl1pPr>
          </a:lstStyle>
          <a:p>
            <a:r>
              <a:rPr lang="en-US" altLang="zh-CN" dirty="0"/>
              <a:t>80386</a:t>
            </a:r>
            <a:r>
              <a:rPr lang="zh-CN" altLang="en-US" dirty="0"/>
              <a:t>内部寄存器</a:t>
            </a:r>
          </a:p>
        </p:txBody>
      </p:sp>
      <p:sp>
        <p:nvSpPr>
          <p:cNvPr id="7" name="椭圆 6"/>
          <p:cNvSpPr/>
          <p:nvPr/>
        </p:nvSpPr>
        <p:spPr>
          <a:xfrm>
            <a:off x="3851920" y="3717429"/>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3</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
        <p:nvSpPr>
          <p:cNvPr id="8" name="TextBox 9"/>
          <p:cNvSpPr txBox="1"/>
          <p:nvPr/>
        </p:nvSpPr>
        <p:spPr>
          <a:xfrm>
            <a:off x="4292127" y="4819873"/>
            <a:ext cx="3664249" cy="841375"/>
          </a:xfrm>
          <a:prstGeom prst="roundRect">
            <a:avLst>
              <a:gd name="adj" fmla="val 8176"/>
            </a:avLst>
          </a:prstGeom>
          <a:noFill/>
          <a:ln w="19050">
            <a:solidFill>
              <a:schemeClr val="bg1">
                <a:lumMod val="65000"/>
              </a:schemeClr>
            </a:solidFill>
          </a:ln>
        </p:spPr>
        <p:txBody>
          <a:bodyPr wrap="none" anchor="ctr"/>
          <a:lstStyle>
            <a:defPPr>
              <a:defRPr lang="en-US"/>
            </a:defPPr>
            <a:lvl1pPr algn="ctr">
              <a:defRPr sz="2800" b="1">
                <a:solidFill>
                  <a:srgbClr val="A6A6A6"/>
                </a:solidFill>
                <a:latin typeface="微软雅黑" panose="020B0503020204020204" pitchFamily="34" charset="-122"/>
                <a:ea typeface="微软雅黑" panose="020B0503020204020204" pitchFamily="34" charset="-122"/>
              </a:defRPr>
            </a:lvl1pPr>
          </a:lstStyle>
          <a:p>
            <a:r>
              <a:rPr lang="en-US" altLang="zh-CN" dirty="0"/>
              <a:t>80386</a:t>
            </a:r>
            <a:r>
              <a:rPr lang="zh-CN" altLang="en-US" dirty="0"/>
              <a:t>存储器管理</a:t>
            </a:r>
          </a:p>
        </p:txBody>
      </p:sp>
      <p:sp>
        <p:nvSpPr>
          <p:cNvPr id="9" name="椭圆 8"/>
          <p:cNvSpPr/>
          <p:nvPr/>
        </p:nvSpPr>
        <p:spPr>
          <a:xfrm>
            <a:off x="3859857" y="4868937"/>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4</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Tree>
    <p:extLst>
      <p:ext uri="{BB962C8B-B14F-4D97-AF65-F5344CB8AC3E}">
        <p14:creationId xmlns:p14="http://schemas.microsoft.com/office/powerpoint/2010/main" val="24156240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fltVal val="0"/>
                                          </p:val>
                                        </p:tav>
                                        <p:tav tm="100000">
                                          <p:val>
                                            <p:strVal val="#ppt_h"/>
                                          </p:val>
                                        </p:tav>
                                      </p:tavLst>
                                    </p:anim>
                                    <p:animEffect transition="in" filter="fade">
                                      <p:cBhvr>
                                        <p:cTn id="34" dur="500"/>
                                        <p:tgtEl>
                                          <p:spTgt spid="6"/>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Effect transition="in" filter="fade">
                                      <p:cBhvr>
                                        <p:cTn id="39" dur="500"/>
                                        <p:tgtEl>
                                          <p:spTgt spid="9"/>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p:cTn id="42" dur="500" fill="hold"/>
                                        <p:tgtEl>
                                          <p:spTgt spid="8"/>
                                        </p:tgtEl>
                                        <p:attrNameLst>
                                          <p:attrName>ppt_w</p:attrName>
                                        </p:attrNameLst>
                                      </p:cBhvr>
                                      <p:tavLst>
                                        <p:tav tm="0">
                                          <p:val>
                                            <p:fltVal val="0"/>
                                          </p:val>
                                        </p:tav>
                                        <p:tav tm="100000">
                                          <p:val>
                                            <p:strVal val="#ppt_w"/>
                                          </p:val>
                                        </p:tav>
                                      </p:tavLst>
                                    </p:anim>
                                    <p:anim calcmode="lin" valueType="num">
                                      <p:cBhvr>
                                        <p:cTn id="43" dur="500" fill="hold"/>
                                        <p:tgtEl>
                                          <p:spTgt spid="8"/>
                                        </p:tgtEl>
                                        <p:attrNameLst>
                                          <p:attrName>ppt_h</p:attrName>
                                        </p:attrNameLst>
                                      </p:cBhvr>
                                      <p:tavLst>
                                        <p:tav tm="0">
                                          <p:val>
                                            <p:fltVal val="0"/>
                                          </p:val>
                                        </p:tav>
                                        <p:tav tm="100000">
                                          <p:val>
                                            <p:strVal val="#ppt_h"/>
                                          </p:val>
                                        </p:tav>
                                      </p:tavLst>
                                    </p:anim>
                                    <p:animEffect transition="in" filter="fade">
                                      <p:cBhvr>
                                        <p:cTn id="4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8"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en-US" altLang="zh-CN" sz="3200" b="1" dirty="0">
                <a:solidFill>
                  <a:srgbClr val="00B0F0"/>
                </a:solidFill>
                <a:latin typeface="微软雅黑" pitchFamily="34" charset="-122"/>
                <a:ea typeface="微软雅黑" pitchFamily="34" charset="-122"/>
              </a:rPr>
              <a:t>80386</a:t>
            </a:r>
            <a:r>
              <a:rPr lang="zh-CN" altLang="en-US" sz="3200" b="1" dirty="0">
                <a:solidFill>
                  <a:srgbClr val="00B0F0"/>
                </a:solidFill>
                <a:latin typeface="微软雅黑" pitchFamily="34" charset="-122"/>
                <a:ea typeface="微软雅黑" pitchFamily="34" charset="-122"/>
              </a:rPr>
              <a:t>工作模式</a:t>
            </a:r>
            <a:endParaRPr lang="en-US" altLang="zh-CN" sz="3200" b="1" dirty="0">
              <a:solidFill>
                <a:srgbClr val="00B0F0"/>
              </a:solidFill>
              <a:latin typeface="微软雅黑" pitchFamily="34" charset="-122"/>
              <a:ea typeface="微软雅黑" pitchFamily="34" charset="-122"/>
            </a:endParaRPr>
          </a:p>
        </p:txBody>
      </p:sp>
      <p:cxnSp>
        <p:nvCxnSpPr>
          <p:cNvPr id="19" name="直接连接符 18"/>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21" name="矩形 20"/>
          <p:cNvSpPr/>
          <p:nvPr/>
        </p:nvSpPr>
        <p:spPr>
          <a:xfrm>
            <a:off x="755576" y="1916832"/>
            <a:ext cx="2361969" cy="2612436"/>
          </a:xfrm>
          <a:prstGeom prst="rect">
            <a:avLst/>
          </a:prstGeom>
          <a:solidFill>
            <a:schemeClr val="accent1">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21"/>
          <p:cNvSpPr/>
          <p:nvPr/>
        </p:nvSpPr>
        <p:spPr>
          <a:xfrm>
            <a:off x="755577" y="2549595"/>
            <a:ext cx="2361969" cy="1979673"/>
          </a:xfrm>
          <a:custGeom>
            <a:avLst/>
            <a:gdLst>
              <a:gd name="connsiteX0" fmla="*/ 1175287 w 2356338"/>
              <a:gd name="connsiteY0" fmla="*/ 0 h 2856024"/>
              <a:gd name="connsiteX1" fmla="*/ 1474827 w 2356338"/>
              <a:gd name="connsiteY1" fmla="*/ 140960 h 2856024"/>
              <a:gd name="connsiteX2" fmla="*/ 2356338 w 2356338"/>
              <a:gd name="connsiteY2" fmla="*/ 140960 h 2856024"/>
              <a:gd name="connsiteX3" fmla="*/ 2356338 w 2356338"/>
              <a:gd name="connsiteY3" fmla="*/ 2856024 h 2856024"/>
              <a:gd name="connsiteX4" fmla="*/ 0 w 2356338"/>
              <a:gd name="connsiteY4" fmla="*/ 2856024 h 2856024"/>
              <a:gd name="connsiteX5" fmla="*/ 0 w 2356338"/>
              <a:gd name="connsiteY5" fmla="*/ 140960 h 2856024"/>
              <a:gd name="connsiteX6" fmla="*/ 875747 w 2356338"/>
              <a:gd name="connsiteY6" fmla="*/ 140960 h 285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6338" h="2856024">
                <a:moveTo>
                  <a:pt x="1175287" y="0"/>
                </a:moveTo>
                <a:lnTo>
                  <a:pt x="1474827" y="140960"/>
                </a:lnTo>
                <a:lnTo>
                  <a:pt x="2356338" y="140960"/>
                </a:lnTo>
                <a:lnTo>
                  <a:pt x="2356338" y="2856024"/>
                </a:lnTo>
                <a:lnTo>
                  <a:pt x="0" y="2856024"/>
                </a:lnTo>
                <a:lnTo>
                  <a:pt x="0" y="140960"/>
                </a:lnTo>
                <a:lnTo>
                  <a:pt x="875747" y="14096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marL="342900" indent="-342900">
              <a:lnSpc>
                <a:spcPct val="120000"/>
              </a:lnSpc>
              <a:buFont typeface="Wingdings" panose="05000000000000000000" pitchFamily="2" charset="2"/>
              <a:buChar char="n"/>
            </a:pPr>
            <a:r>
              <a:rPr lang="en-US" altLang="zh-CN" sz="2000" b="1" dirty="0">
                <a:solidFill>
                  <a:schemeClr val="bg1"/>
                </a:solidFill>
                <a:latin typeface="微软雅黑" panose="020B0503020204020204" pitchFamily="34" charset="-122"/>
                <a:ea typeface="微软雅黑" panose="020B0503020204020204" pitchFamily="34" charset="-122"/>
              </a:rPr>
              <a:t>8086</a:t>
            </a:r>
            <a:r>
              <a:rPr lang="zh-CN" altLang="en-US" sz="2000" b="1" dirty="0">
                <a:solidFill>
                  <a:schemeClr val="bg1"/>
                </a:solidFill>
                <a:latin typeface="微软雅黑" panose="020B0503020204020204" pitchFamily="34" charset="-122"/>
                <a:ea typeface="微软雅黑" panose="020B0503020204020204" pitchFamily="34" charset="-122"/>
              </a:rPr>
              <a:t>工作方式基本相同</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342900" indent="-342900">
              <a:lnSpc>
                <a:spcPct val="120000"/>
              </a:lnSpc>
              <a:buFont typeface="Wingdings" panose="05000000000000000000" pitchFamily="2" charset="2"/>
              <a:buChar char="n"/>
            </a:pPr>
            <a:endParaRPr lang="en-US" altLang="zh-CN" sz="2000" b="1" dirty="0">
              <a:solidFill>
                <a:schemeClr val="bg1"/>
              </a:solidFill>
              <a:latin typeface="微软雅黑" panose="020B0503020204020204" pitchFamily="34" charset="-122"/>
              <a:ea typeface="微软雅黑" panose="020B0503020204020204" pitchFamily="34" charset="-122"/>
            </a:endParaRPr>
          </a:p>
          <a:p>
            <a:pPr marL="342900" indent="-342900">
              <a:lnSpc>
                <a:spcPct val="120000"/>
              </a:lnSpc>
              <a:buFont typeface="Wingdings" panose="05000000000000000000" pitchFamily="2" charset="2"/>
              <a:buChar char="n"/>
            </a:pP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755576" y="2063287"/>
            <a:ext cx="2361970" cy="400110"/>
          </a:xfrm>
          <a:prstGeom prst="rect">
            <a:avLst/>
          </a:prstGeom>
          <a:noFill/>
        </p:spPr>
        <p:txBody>
          <a:bodyPr wrap="square" rtlCol="0">
            <a:spAutoFit/>
          </a:bodyPr>
          <a:lstStyle/>
          <a:p>
            <a:pPr algn="ctr"/>
            <a:r>
              <a:rPr lang="zh-CN" altLang="en-US" sz="2000" dirty="0">
                <a:solidFill>
                  <a:srgbClr val="3E3D4F"/>
                </a:solidFill>
                <a:latin typeface="微软雅黑" panose="020B0503020204020204" pitchFamily="34" charset="-122"/>
                <a:ea typeface="微软雅黑" panose="020B0503020204020204" pitchFamily="34" charset="-122"/>
              </a:rPr>
              <a:t>实模式</a:t>
            </a:r>
          </a:p>
        </p:txBody>
      </p:sp>
      <p:sp>
        <p:nvSpPr>
          <p:cNvPr id="24" name="矩形 23"/>
          <p:cNvSpPr/>
          <p:nvPr/>
        </p:nvSpPr>
        <p:spPr>
          <a:xfrm>
            <a:off x="3476718" y="1916832"/>
            <a:ext cx="2361969" cy="2612436"/>
          </a:xfrm>
          <a:prstGeom prst="rect">
            <a:avLst/>
          </a:prstGeom>
          <a:solidFill>
            <a:schemeClr val="accent1">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24"/>
          <p:cNvSpPr/>
          <p:nvPr/>
        </p:nvSpPr>
        <p:spPr>
          <a:xfrm>
            <a:off x="3476719" y="2549595"/>
            <a:ext cx="2361969" cy="1979673"/>
          </a:xfrm>
          <a:custGeom>
            <a:avLst/>
            <a:gdLst>
              <a:gd name="connsiteX0" fmla="*/ 1175287 w 2356338"/>
              <a:gd name="connsiteY0" fmla="*/ 0 h 2856024"/>
              <a:gd name="connsiteX1" fmla="*/ 1474827 w 2356338"/>
              <a:gd name="connsiteY1" fmla="*/ 140960 h 2856024"/>
              <a:gd name="connsiteX2" fmla="*/ 2356338 w 2356338"/>
              <a:gd name="connsiteY2" fmla="*/ 140960 h 2856024"/>
              <a:gd name="connsiteX3" fmla="*/ 2356338 w 2356338"/>
              <a:gd name="connsiteY3" fmla="*/ 2856024 h 2856024"/>
              <a:gd name="connsiteX4" fmla="*/ 0 w 2356338"/>
              <a:gd name="connsiteY4" fmla="*/ 2856024 h 2856024"/>
              <a:gd name="connsiteX5" fmla="*/ 0 w 2356338"/>
              <a:gd name="connsiteY5" fmla="*/ 140960 h 2856024"/>
              <a:gd name="connsiteX6" fmla="*/ 875747 w 2356338"/>
              <a:gd name="connsiteY6" fmla="*/ 140960 h 285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6338" h="2856024">
                <a:moveTo>
                  <a:pt x="1175287" y="0"/>
                </a:moveTo>
                <a:lnTo>
                  <a:pt x="1474827" y="140960"/>
                </a:lnTo>
                <a:lnTo>
                  <a:pt x="2356338" y="140960"/>
                </a:lnTo>
                <a:lnTo>
                  <a:pt x="2356338" y="2856024"/>
                </a:lnTo>
                <a:lnTo>
                  <a:pt x="0" y="2856024"/>
                </a:lnTo>
                <a:lnTo>
                  <a:pt x="0" y="140960"/>
                </a:lnTo>
                <a:lnTo>
                  <a:pt x="875747" y="14096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marL="342900" indent="-342900" algn="just">
              <a:lnSpc>
                <a:spcPct val="120000"/>
              </a:lnSpc>
              <a:buFont typeface="Wingdings" panose="05000000000000000000" pitchFamily="2" charset="2"/>
              <a:buChar char="n"/>
            </a:pPr>
            <a:r>
              <a:rPr lang="zh-CN" altLang="en-US" sz="2000" b="1" dirty="0">
                <a:solidFill>
                  <a:schemeClr val="bg1"/>
                </a:solidFill>
                <a:latin typeface="微软雅黑" panose="020B0503020204020204" pitchFamily="34" charset="-122"/>
                <a:ea typeface="微软雅黑" panose="020B0503020204020204" pitchFamily="34" charset="-122"/>
              </a:rPr>
              <a:t>实现虚拟存储</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342900" indent="-342900" algn="just">
              <a:lnSpc>
                <a:spcPct val="120000"/>
              </a:lnSpc>
              <a:buFont typeface="Wingdings" panose="05000000000000000000" pitchFamily="2" charset="2"/>
              <a:buChar char="n"/>
            </a:pPr>
            <a:r>
              <a:rPr lang="zh-CN" altLang="en-US" sz="2000" b="1" dirty="0">
                <a:solidFill>
                  <a:schemeClr val="bg1"/>
                </a:solidFill>
                <a:latin typeface="微软雅黑" panose="020B0503020204020204" pitchFamily="34" charset="-122"/>
                <a:ea typeface="微软雅黑" panose="020B0503020204020204" pitchFamily="34" charset="-122"/>
              </a:rPr>
              <a:t>支持多用户、多任务</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342900" indent="-342900" algn="just">
              <a:lnSpc>
                <a:spcPct val="120000"/>
              </a:lnSpc>
              <a:buFont typeface="Wingdings" panose="05000000000000000000" pitchFamily="2" charset="2"/>
              <a:buChar char="n"/>
            </a:pP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3476718" y="2063287"/>
            <a:ext cx="2361970" cy="400110"/>
          </a:xfrm>
          <a:prstGeom prst="rect">
            <a:avLst/>
          </a:prstGeom>
          <a:noFill/>
        </p:spPr>
        <p:txBody>
          <a:bodyPr wrap="square" rtlCol="0">
            <a:spAutoFit/>
          </a:bodyPr>
          <a:lstStyle/>
          <a:p>
            <a:pPr algn="ctr"/>
            <a:r>
              <a:rPr lang="zh-CN" altLang="en-US" sz="2000" dirty="0">
                <a:solidFill>
                  <a:srgbClr val="3E3D4F"/>
                </a:solidFill>
                <a:latin typeface="微软雅黑" panose="020B0503020204020204" pitchFamily="34" charset="-122"/>
                <a:ea typeface="微软雅黑" panose="020B0503020204020204" pitchFamily="34" charset="-122"/>
              </a:rPr>
              <a:t>保护模式</a:t>
            </a:r>
          </a:p>
        </p:txBody>
      </p:sp>
      <p:sp>
        <p:nvSpPr>
          <p:cNvPr id="27" name="矩形 26"/>
          <p:cNvSpPr/>
          <p:nvPr/>
        </p:nvSpPr>
        <p:spPr>
          <a:xfrm>
            <a:off x="6202795" y="1916832"/>
            <a:ext cx="2361969" cy="2612436"/>
          </a:xfrm>
          <a:prstGeom prst="rect">
            <a:avLst/>
          </a:prstGeom>
          <a:solidFill>
            <a:schemeClr val="accent1">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a:off x="6202796" y="2549595"/>
            <a:ext cx="2361969" cy="1979673"/>
          </a:xfrm>
          <a:custGeom>
            <a:avLst/>
            <a:gdLst>
              <a:gd name="connsiteX0" fmla="*/ 1175287 w 2356338"/>
              <a:gd name="connsiteY0" fmla="*/ 0 h 2856024"/>
              <a:gd name="connsiteX1" fmla="*/ 1474827 w 2356338"/>
              <a:gd name="connsiteY1" fmla="*/ 140960 h 2856024"/>
              <a:gd name="connsiteX2" fmla="*/ 2356338 w 2356338"/>
              <a:gd name="connsiteY2" fmla="*/ 140960 h 2856024"/>
              <a:gd name="connsiteX3" fmla="*/ 2356338 w 2356338"/>
              <a:gd name="connsiteY3" fmla="*/ 2856024 h 2856024"/>
              <a:gd name="connsiteX4" fmla="*/ 0 w 2356338"/>
              <a:gd name="connsiteY4" fmla="*/ 2856024 h 2856024"/>
              <a:gd name="connsiteX5" fmla="*/ 0 w 2356338"/>
              <a:gd name="connsiteY5" fmla="*/ 140960 h 2856024"/>
              <a:gd name="connsiteX6" fmla="*/ 875747 w 2356338"/>
              <a:gd name="connsiteY6" fmla="*/ 140960 h 285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6338" h="2856024">
                <a:moveTo>
                  <a:pt x="1175287" y="0"/>
                </a:moveTo>
                <a:lnTo>
                  <a:pt x="1474827" y="140960"/>
                </a:lnTo>
                <a:lnTo>
                  <a:pt x="2356338" y="140960"/>
                </a:lnTo>
                <a:lnTo>
                  <a:pt x="2356338" y="2856024"/>
                </a:lnTo>
                <a:lnTo>
                  <a:pt x="0" y="2856024"/>
                </a:lnTo>
                <a:lnTo>
                  <a:pt x="0" y="140960"/>
                </a:lnTo>
                <a:lnTo>
                  <a:pt x="875747" y="14096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marL="342900" indent="-342900" algn="just">
              <a:lnSpc>
                <a:spcPct val="120000"/>
              </a:lnSpc>
              <a:buFont typeface="Wingdings" panose="05000000000000000000" pitchFamily="2" charset="2"/>
              <a:buChar char="n"/>
            </a:pPr>
            <a:r>
              <a:rPr lang="zh-CN" altLang="en-US" sz="2000" b="1" dirty="0">
                <a:solidFill>
                  <a:schemeClr val="bg1"/>
                </a:solidFill>
                <a:latin typeface="微软雅黑" panose="020B0503020204020204" pitchFamily="34" charset="-122"/>
                <a:ea typeface="微软雅黑" panose="020B0503020204020204" pitchFamily="34" charset="-122"/>
              </a:rPr>
              <a:t>多任务运行</a:t>
            </a:r>
            <a:r>
              <a:rPr lang="en-US" altLang="zh-CN" sz="2000" b="1" dirty="0">
                <a:solidFill>
                  <a:schemeClr val="bg1"/>
                </a:solidFill>
                <a:latin typeface="微软雅黑" panose="020B0503020204020204" pitchFamily="34" charset="-122"/>
                <a:ea typeface="微软雅黑" panose="020B0503020204020204" pitchFamily="34" charset="-122"/>
              </a:rPr>
              <a:t>DOS</a:t>
            </a:r>
          </a:p>
          <a:p>
            <a:pPr marL="342900" indent="-342900" algn="just">
              <a:lnSpc>
                <a:spcPct val="120000"/>
              </a:lnSpc>
              <a:buFont typeface="Wingdings" panose="05000000000000000000" pitchFamily="2" charset="2"/>
              <a:buChar char="n"/>
            </a:pPr>
            <a:r>
              <a:rPr lang="zh-CN" altLang="en-US" sz="2000" b="1" dirty="0">
                <a:solidFill>
                  <a:schemeClr val="bg1"/>
                </a:solidFill>
                <a:latin typeface="微软雅黑" panose="020B0503020204020204" pitchFamily="34" charset="-122"/>
                <a:ea typeface="微软雅黑" panose="020B0503020204020204" pitchFamily="34" charset="-122"/>
              </a:rPr>
              <a:t>与</a:t>
            </a:r>
            <a:r>
              <a:rPr lang="en-US" altLang="zh-CN" sz="2000" b="1" dirty="0">
                <a:solidFill>
                  <a:schemeClr val="bg1"/>
                </a:solidFill>
                <a:latin typeface="微软雅黑" panose="020B0503020204020204" pitchFamily="34" charset="-122"/>
                <a:ea typeface="微软雅黑" panose="020B0503020204020204" pitchFamily="34" charset="-122"/>
              </a:rPr>
              <a:t>8086</a:t>
            </a:r>
            <a:r>
              <a:rPr lang="zh-CN" altLang="en-US" sz="2000" b="1" dirty="0">
                <a:solidFill>
                  <a:schemeClr val="bg1"/>
                </a:solidFill>
                <a:latin typeface="微软雅黑" panose="020B0503020204020204" pitchFamily="34" charset="-122"/>
                <a:ea typeface="微软雅黑" panose="020B0503020204020204" pitchFamily="34" charset="-122"/>
              </a:rPr>
              <a:t>兼容又不同于实地址</a:t>
            </a:r>
          </a:p>
        </p:txBody>
      </p:sp>
      <p:sp>
        <p:nvSpPr>
          <p:cNvPr id="29" name="文本框 28"/>
          <p:cNvSpPr txBox="1"/>
          <p:nvPr/>
        </p:nvSpPr>
        <p:spPr>
          <a:xfrm>
            <a:off x="6202795" y="2063287"/>
            <a:ext cx="2361970" cy="400110"/>
          </a:xfrm>
          <a:prstGeom prst="rect">
            <a:avLst/>
          </a:prstGeom>
          <a:noFill/>
        </p:spPr>
        <p:txBody>
          <a:bodyPr wrap="square" rtlCol="0">
            <a:spAutoFit/>
          </a:bodyPr>
          <a:lstStyle/>
          <a:p>
            <a:pPr algn="ctr"/>
            <a:r>
              <a:rPr lang="zh-CN" altLang="en-US" sz="2000" dirty="0">
                <a:solidFill>
                  <a:srgbClr val="3E3D4F"/>
                </a:solidFill>
                <a:latin typeface="微软雅黑" panose="020B0503020204020204" pitchFamily="34" charset="-122"/>
                <a:ea typeface="微软雅黑" panose="020B0503020204020204" pitchFamily="34" charset="-122"/>
              </a:rPr>
              <a:t>虚拟</a:t>
            </a:r>
            <a:r>
              <a:rPr lang="en-US" altLang="zh-CN" sz="2000" dirty="0">
                <a:solidFill>
                  <a:srgbClr val="3E3D4F"/>
                </a:solidFill>
                <a:latin typeface="微软雅黑" panose="020B0503020204020204" pitchFamily="34" charset="-122"/>
                <a:ea typeface="微软雅黑" panose="020B0503020204020204" pitchFamily="34" charset="-122"/>
              </a:rPr>
              <a:t>8086</a:t>
            </a:r>
            <a:r>
              <a:rPr lang="zh-CN" altLang="en-US" sz="2000" dirty="0">
                <a:solidFill>
                  <a:srgbClr val="3E3D4F"/>
                </a:solidFill>
                <a:latin typeface="微软雅黑" panose="020B0503020204020204" pitchFamily="34" charset="-122"/>
                <a:ea typeface="微软雅黑" panose="020B0503020204020204" pitchFamily="34" charset="-122"/>
              </a:rPr>
              <a:t>模式</a:t>
            </a:r>
          </a:p>
        </p:txBody>
      </p:sp>
    </p:spTree>
    <p:extLst>
      <p:ext uri="{BB962C8B-B14F-4D97-AF65-F5344CB8AC3E}">
        <p14:creationId xmlns:p14="http://schemas.microsoft.com/office/powerpoint/2010/main" val="38472475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8"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实模式</a:t>
            </a:r>
            <a:endParaRPr lang="en-US" altLang="zh-CN" sz="3200" b="1" dirty="0">
              <a:solidFill>
                <a:srgbClr val="00B0F0"/>
              </a:solidFill>
              <a:latin typeface="微软雅黑" pitchFamily="34" charset="-122"/>
              <a:ea typeface="微软雅黑" pitchFamily="34" charset="-122"/>
            </a:endParaRPr>
          </a:p>
        </p:txBody>
      </p:sp>
      <p:cxnSp>
        <p:nvCxnSpPr>
          <p:cNvPr id="19" name="直接连接符 18"/>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4" name="矩形 13"/>
          <p:cNvSpPr>
            <a:spLocks noChangeAspect="1"/>
          </p:cNvSpPr>
          <p:nvPr/>
        </p:nvSpPr>
        <p:spPr>
          <a:xfrm>
            <a:off x="835621" y="3841779"/>
            <a:ext cx="7624811" cy="1603445"/>
          </a:xfrm>
          <a:prstGeom prst="rect">
            <a:avLst/>
          </a:prstGeom>
          <a:ln>
            <a:solidFill>
              <a:srgbClr val="0883C8"/>
            </a:solidFill>
            <a:prstDash val="solid"/>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pic>
        <p:nvPicPr>
          <p:cNvPr id="15" name="Picture 2" descr="E:\仝德志文件，勿删！\03-参考文档\！PPT图片及版面资源\06-PPT精选插图\12-标签\蓝色燕尾01.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rot="16200000">
            <a:off x="749398" y="4041695"/>
            <a:ext cx="1080899" cy="574029"/>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9"/>
          <p:cNvSpPr txBox="1"/>
          <p:nvPr/>
        </p:nvSpPr>
        <p:spPr>
          <a:xfrm>
            <a:off x="1075523" y="3907958"/>
            <a:ext cx="461665" cy="1138372"/>
          </a:xfrm>
          <a:prstGeom prst="rect">
            <a:avLst/>
          </a:prstGeom>
          <a:noFill/>
        </p:spPr>
        <p:txBody>
          <a:bodyPr vert="eaVert" wrap="square" rtlCol="0">
            <a:spAutoFit/>
          </a:bodyPr>
          <a:lstStyle/>
          <a:p>
            <a:r>
              <a:rPr lang="zh-CN" altLang="en-US" b="1" dirty="0">
                <a:solidFill>
                  <a:schemeClr val="bg1"/>
                </a:solidFill>
                <a:latin typeface="微软雅黑" pitchFamily="34" charset="-122"/>
                <a:ea typeface="微软雅黑" pitchFamily="34" charset="-122"/>
              </a:rPr>
              <a:t>特点</a:t>
            </a:r>
          </a:p>
        </p:txBody>
      </p:sp>
      <p:sp>
        <p:nvSpPr>
          <p:cNvPr id="20" name="TextBox 17"/>
          <p:cNvSpPr txBox="1"/>
          <p:nvPr/>
        </p:nvSpPr>
        <p:spPr>
          <a:xfrm>
            <a:off x="1744073" y="3904472"/>
            <a:ext cx="6675583" cy="1320361"/>
          </a:xfrm>
          <a:prstGeom prst="rect">
            <a:avLst/>
          </a:prstGeom>
          <a:noFill/>
        </p:spPr>
        <p:txBody>
          <a:bodyPr wrap="square">
            <a:spAutoFit/>
          </a:bodyPr>
          <a:lstStyle/>
          <a:p>
            <a:pPr marL="342900" indent="-342900">
              <a:lnSpc>
                <a:spcPct val="133000"/>
              </a:lnSpc>
              <a:buFont typeface="Wingdings" panose="05000000000000000000" pitchFamily="2" charset="2"/>
              <a:buChar char="n"/>
              <a:defRPr/>
            </a:pPr>
            <a:r>
              <a:rPr lang="en-US" altLang="zh-CN" sz="2000" b="1" dirty="0">
                <a:solidFill>
                  <a:schemeClr val="tx1">
                    <a:lumMod val="50000"/>
                    <a:lumOff val="50000"/>
                  </a:schemeClr>
                </a:solidFill>
                <a:latin typeface="微软雅黑" pitchFamily="34" charset="-122"/>
                <a:ea typeface="微软雅黑" pitchFamily="34" charset="-122"/>
              </a:rPr>
              <a:t>1MB</a:t>
            </a:r>
            <a:r>
              <a:rPr lang="zh-CN" altLang="en-US" sz="2000" b="1" dirty="0">
                <a:solidFill>
                  <a:schemeClr val="tx1">
                    <a:lumMod val="50000"/>
                    <a:lumOff val="50000"/>
                  </a:schemeClr>
                </a:solidFill>
                <a:latin typeface="微软雅黑" pitchFamily="34" charset="-122"/>
                <a:ea typeface="微软雅黑" pitchFamily="34" charset="-122"/>
              </a:rPr>
              <a:t>存储空间，段加偏移访问存储器，段最大</a:t>
            </a:r>
            <a:r>
              <a:rPr lang="en-US" altLang="zh-CN" sz="2000" b="1" dirty="0">
                <a:solidFill>
                  <a:schemeClr val="tx1">
                    <a:lumMod val="50000"/>
                    <a:lumOff val="50000"/>
                  </a:schemeClr>
                </a:solidFill>
                <a:latin typeface="微软雅黑" pitchFamily="34" charset="-122"/>
                <a:ea typeface="微软雅黑" pitchFamily="34" charset="-122"/>
              </a:rPr>
              <a:t>64KB</a:t>
            </a:r>
            <a:r>
              <a:rPr lang="zh-CN" altLang="en-US" sz="2000" b="1" dirty="0">
                <a:solidFill>
                  <a:schemeClr val="tx1">
                    <a:lumMod val="50000"/>
                    <a:lumOff val="50000"/>
                  </a:schemeClr>
                </a:solidFill>
                <a:latin typeface="微软雅黑" pitchFamily="34" charset="-122"/>
                <a:ea typeface="微软雅黑" pitchFamily="34" charset="-122"/>
              </a:rPr>
              <a:t>；</a:t>
            </a:r>
            <a:endParaRPr lang="en-US" altLang="zh-CN" sz="2000" b="1" dirty="0">
              <a:solidFill>
                <a:schemeClr val="tx1">
                  <a:lumMod val="50000"/>
                  <a:lumOff val="50000"/>
                </a:schemeClr>
              </a:solidFill>
              <a:latin typeface="微软雅黑" pitchFamily="34" charset="-122"/>
              <a:ea typeface="微软雅黑" pitchFamily="34" charset="-122"/>
            </a:endParaRPr>
          </a:p>
          <a:p>
            <a:pPr marL="342900" indent="-342900">
              <a:lnSpc>
                <a:spcPct val="133000"/>
              </a:lnSpc>
              <a:buFont typeface="Wingdings" panose="05000000000000000000" pitchFamily="2" charset="2"/>
              <a:buChar char="n"/>
              <a:defRPr/>
            </a:pPr>
            <a:r>
              <a:rPr lang="zh-CN" altLang="en-US" sz="2000" b="1" dirty="0">
                <a:solidFill>
                  <a:schemeClr val="tx1">
                    <a:lumMod val="50000"/>
                    <a:lumOff val="50000"/>
                  </a:schemeClr>
                </a:solidFill>
                <a:latin typeface="微软雅黑" pitchFamily="34" charset="-122"/>
                <a:ea typeface="微软雅黑" pitchFamily="34" charset="-122"/>
              </a:rPr>
              <a:t>不采用分页部件，即不支持虚拟存储器；</a:t>
            </a:r>
            <a:endParaRPr lang="en-US" altLang="zh-CN" sz="2000" b="1" dirty="0">
              <a:solidFill>
                <a:schemeClr val="tx1">
                  <a:lumMod val="50000"/>
                  <a:lumOff val="50000"/>
                </a:schemeClr>
              </a:solidFill>
              <a:latin typeface="微软雅黑" pitchFamily="34" charset="-122"/>
              <a:ea typeface="微软雅黑" pitchFamily="34" charset="-122"/>
            </a:endParaRPr>
          </a:p>
          <a:p>
            <a:pPr marL="342900" indent="-342900">
              <a:lnSpc>
                <a:spcPct val="133000"/>
              </a:lnSpc>
              <a:buFont typeface="Wingdings" panose="05000000000000000000" pitchFamily="2" charset="2"/>
              <a:buChar char="n"/>
              <a:defRPr/>
            </a:pPr>
            <a:r>
              <a:rPr lang="zh-CN" altLang="en-US" sz="2000" b="1" dirty="0">
                <a:solidFill>
                  <a:schemeClr val="tx1">
                    <a:lumMod val="50000"/>
                    <a:lumOff val="50000"/>
                  </a:schemeClr>
                </a:solidFill>
                <a:latin typeface="微软雅黑" pitchFamily="34" charset="-122"/>
                <a:ea typeface="微软雅黑" pitchFamily="34" charset="-122"/>
              </a:rPr>
              <a:t>单任务，代码段和数据段没有保护机制。</a:t>
            </a:r>
            <a:endParaRPr lang="en-US" altLang="zh-CN" sz="2000" b="1" dirty="0">
              <a:solidFill>
                <a:schemeClr val="tx1">
                  <a:lumMod val="50000"/>
                  <a:lumOff val="50000"/>
                </a:schemeClr>
              </a:solidFill>
              <a:latin typeface="微软雅黑" pitchFamily="34" charset="-122"/>
              <a:ea typeface="微软雅黑" pitchFamily="34" charset="-122"/>
            </a:endParaRPr>
          </a:p>
        </p:txBody>
      </p:sp>
      <p:sp>
        <p:nvSpPr>
          <p:cNvPr id="30" name="矩形 29"/>
          <p:cNvSpPr/>
          <p:nvPr/>
        </p:nvSpPr>
        <p:spPr>
          <a:xfrm>
            <a:off x="1411474" y="1556792"/>
            <a:ext cx="7048958" cy="824462"/>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实模式是</a:t>
            </a:r>
            <a:r>
              <a:rPr lang="en-US" altLang="zh-CN" sz="2000" b="1" dirty="0">
                <a:ea typeface="微软雅黑" panose="020B0503020204020204" pitchFamily="34" charset="-122"/>
              </a:rPr>
              <a:t>80386</a:t>
            </a:r>
            <a:r>
              <a:rPr lang="zh-CN" altLang="en-US" sz="2000" b="1" dirty="0">
                <a:ea typeface="微软雅黑" panose="020B0503020204020204" pitchFamily="34" charset="-122"/>
              </a:rPr>
              <a:t>最基本的工作方式，与</a:t>
            </a:r>
            <a:r>
              <a:rPr lang="en-US" altLang="zh-CN" sz="2000" b="1" dirty="0">
                <a:ea typeface="微软雅黑" panose="020B0503020204020204" pitchFamily="34" charset="-122"/>
              </a:rPr>
              <a:t>8086</a:t>
            </a:r>
            <a:r>
              <a:rPr lang="zh-CN" altLang="en-US" sz="2000" b="1" dirty="0">
                <a:ea typeface="微软雅黑" panose="020B0503020204020204" pitchFamily="34" charset="-122"/>
              </a:rPr>
              <a:t>工作方式基本相同。</a:t>
            </a:r>
            <a:endParaRPr lang="zh-CN" altLang="en-US" sz="2000" b="1" u="sng" dirty="0">
              <a:solidFill>
                <a:schemeClr val="bg1"/>
              </a:solidFill>
              <a:ea typeface="微软雅黑" panose="020B0503020204020204" pitchFamily="34" charset="-122"/>
            </a:endParaRPr>
          </a:p>
        </p:txBody>
      </p:sp>
      <p:sp>
        <p:nvSpPr>
          <p:cNvPr id="31" name="矩形 30"/>
          <p:cNvSpPr/>
          <p:nvPr/>
        </p:nvSpPr>
        <p:spPr>
          <a:xfrm>
            <a:off x="835621" y="1556792"/>
            <a:ext cx="575852" cy="82446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1</a:t>
            </a:r>
            <a:endParaRPr lang="zh-CN" altLang="en-US" sz="3200" dirty="0">
              <a:latin typeface="Arial Black" pitchFamily="34" charset="0"/>
            </a:endParaRPr>
          </a:p>
        </p:txBody>
      </p:sp>
      <p:sp>
        <p:nvSpPr>
          <p:cNvPr id="32" name="矩形 31"/>
          <p:cNvSpPr/>
          <p:nvPr/>
        </p:nvSpPr>
        <p:spPr>
          <a:xfrm>
            <a:off x="1411474" y="2564904"/>
            <a:ext cx="7048958" cy="824462"/>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加电后进入实模式，为保护模式所需数据结构做配置和准备。</a:t>
            </a:r>
            <a:endParaRPr lang="zh-CN" altLang="en-US" sz="2000" b="1" u="sng" dirty="0">
              <a:solidFill>
                <a:schemeClr val="bg1"/>
              </a:solidFill>
              <a:ea typeface="微软雅黑" panose="020B0503020204020204" pitchFamily="34" charset="-122"/>
            </a:endParaRPr>
          </a:p>
        </p:txBody>
      </p:sp>
      <p:sp>
        <p:nvSpPr>
          <p:cNvPr id="33" name="矩形 32"/>
          <p:cNvSpPr/>
          <p:nvPr/>
        </p:nvSpPr>
        <p:spPr>
          <a:xfrm>
            <a:off x="835621" y="2564904"/>
            <a:ext cx="575852" cy="82446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2</a:t>
            </a:r>
            <a:endParaRPr lang="zh-CN" altLang="en-US" sz="3200" dirty="0">
              <a:latin typeface="Arial Black" pitchFamily="34" charset="0"/>
            </a:endParaRPr>
          </a:p>
        </p:txBody>
      </p:sp>
    </p:spTree>
    <p:extLst>
      <p:ext uri="{BB962C8B-B14F-4D97-AF65-F5344CB8AC3E}">
        <p14:creationId xmlns:p14="http://schemas.microsoft.com/office/powerpoint/2010/main" val="58948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par>
                                <p:cTn id="8" presetID="22" presetClass="entr" presetSubtype="8" fill="hold" grpId="0" nodeType="withEffect">
                                  <p:stCondLst>
                                    <p:cond delay="500"/>
                                  </p:stCondLst>
                                  <p:childTnLst>
                                    <p:set>
                                      <p:cBhvr>
                                        <p:cTn id="9" dur="1" fill="hold">
                                          <p:stCondLst>
                                            <p:cond delay="0"/>
                                          </p:stCondLst>
                                        </p:cTn>
                                        <p:tgtEl>
                                          <p:spTgt spid="30"/>
                                        </p:tgtEl>
                                        <p:attrNameLst>
                                          <p:attrName>style.visibility</p:attrName>
                                        </p:attrNameLst>
                                      </p:cBhvr>
                                      <p:to>
                                        <p:strVal val="visible"/>
                                      </p:to>
                                    </p:set>
                                    <p:animEffect transition="in" filter="wipe(left)">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500"/>
                                        <p:tgtEl>
                                          <p:spTgt spid="33"/>
                                        </p:tgtEl>
                                      </p:cBhvr>
                                    </p:animEffect>
                                  </p:childTnLst>
                                </p:cTn>
                              </p:par>
                              <p:par>
                                <p:cTn id="16" presetID="22" presetClass="entr" presetSubtype="8" fill="hold" grpId="0" nodeType="withEffect">
                                  <p:stCondLst>
                                    <p:cond delay="500"/>
                                  </p:stCondLst>
                                  <p:childTnLst>
                                    <p:set>
                                      <p:cBhvr>
                                        <p:cTn id="17" dur="1" fill="hold">
                                          <p:stCondLst>
                                            <p:cond delay="0"/>
                                          </p:stCondLst>
                                        </p:cTn>
                                        <p:tgtEl>
                                          <p:spTgt spid="32"/>
                                        </p:tgtEl>
                                        <p:attrNameLst>
                                          <p:attrName>style.visibility</p:attrName>
                                        </p:attrNameLst>
                                      </p:cBhvr>
                                      <p:to>
                                        <p:strVal val="visible"/>
                                      </p:to>
                                    </p:set>
                                    <p:animEffect transition="in" filter="wipe(left)">
                                      <p:cBhvr>
                                        <p:cTn id="18" dur="500"/>
                                        <p:tgtEl>
                                          <p:spTgt spid="3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500"/>
                                        <p:tgtEl>
                                          <p:spTgt spid="14"/>
                                        </p:tgtEl>
                                      </p:cBhvr>
                                    </p:animEffect>
                                  </p:childTnLst>
                                </p:cTn>
                              </p:par>
                              <p:par>
                                <p:cTn id="24" presetID="22" presetClass="entr" presetSubtype="8"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par>
                                <p:cTn id="30" presetID="22" presetClass="entr" presetSubtype="8" fill="hold" nodeType="withEffect">
                                  <p:stCondLst>
                                    <p:cond delay="0"/>
                                  </p:stCondLst>
                                  <p:childTnLst>
                                    <p:set>
                                      <p:cBhvr>
                                        <p:cTn id="31" dur="1" fill="hold">
                                          <p:stCondLst>
                                            <p:cond delay="0"/>
                                          </p:stCondLst>
                                        </p:cTn>
                                        <p:tgtEl>
                                          <p:spTgt spid="20">
                                            <p:txEl>
                                              <p:pRg st="0" end="0"/>
                                            </p:txEl>
                                          </p:spTgt>
                                        </p:tgtEl>
                                        <p:attrNameLst>
                                          <p:attrName>style.visibility</p:attrName>
                                        </p:attrNameLst>
                                      </p:cBhvr>
                                      <p:to>
                                        <p:strVal val="visible"/>
                                      </p:to>
                                    </p:set>
                                    <p:animEffect transition="in" filter="wipe(left)">
                                      <p:cBhvr>
                                        <p:cTn id="32" dur="500"/>
                                        <p:tgtEl>
                                          <p:spTgt spid="2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
                                            <p:txEl>
                                              <p:pRg st="1" end="1"/>
                                            </p:txEl>
                                          </p:spTgt>
                                        </p:tgtEl>
                                        <p:attrNameLst>
                                          <p:attrName>style.visibility</p:attrName>
                                        </p:attrNameLst>
                                      </p:cBhvr>
                                      <p:to>
                                        <p:strVal val="visible"/>
                                      </p:to>
                                    </p:set>
                                    <p:animEffect transition="in" filter="wipe(left)">
                                      <p:cBhvr>
                                        <p:cTn id="37" dur="500"/>
                                        <p:tgtEl>
                                          <p:spTgt spid="20">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
                                            <p:txEl>
                                              <p:pRg st="2" end="2"/>
                                            </p:txEl>
                                          </p:spTgt>
                                        </p:tgtEl>
                                        <p:attrNameLst>
                                          <p:attrName>style.visibility</p:attrName>
                                        </p:attrNameLst>
                                      </p:cBhvr>
                                      <p:to>
                                        <p:strVal val="visible"/>
                                      </p:to>
                                    </p:set>
                                    <p:animEffect transition="in" filter="wipe(left)">
                                      <p:cBhvr>
                                        <p:cTn id="42" dur="500"/>
                                        <p:tgtEl>
                                          <p:spTgt spid="2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p:bldP spid="30" grpId="0" animBg="1"/>
      <p:bldP spid="31" grpId="0" animBg="1"/>
      <p:bldP spid="32" grpId="0" animBg="1"/>
      <p:bldP spid="3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anose="020B0503020204020204" pitchFamily="34" charset="-122"/>
              <a:ea typeface="微软雅黑" panose="020B0503020204020204" pitchFamily="34" charset="-122"/>
            </a:endParaRPr>
          </a:p>
        </p:txBody>
      </p:sp>
      <p:sp>
        <p:nvSpPr>
          <p:cNvPr id="10" name="TextBox 15"/>
          <p:cNvSpPr txBox="1"/>
          <p:nvPr/>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pPr algn="ctr"/>
              <a:t>20</a:t>
            </a:fld>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t> </a:t>
            </a:r>
            <a:endParaRPr lang="zh-CN" altLang="en-US" sz="1600" b="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2" name="TextBox 15"/>
          <p:cNvSpPr txBox="1">
            <a:spLocks noChangeArrowheads="1"/>
          </p:cNvSpPr>
          <p:nvPr/>
        </p:nvSpPr>
        <p:spPr bwMode="auto">
          <a:xfrm>
            <a:off x="2966244" y="4119885"/>
            <a:ext cx="3405956" cy="1884273"/>
          </a:xfrm>
          <a:prstGeom prst="rect">
            <a:avLst/>
          </a:prstGeom>
          <a:noFill/>
          <a:ln w="9525">
            <a:noFill/>
            <a:miter lim="800000"/>
            <a:headEnd/>
            <a:tailEnd/>
          </a:ln>
        </p:spPr>
        <p:txBody>
          <a:bodyPr wrap="square" lIns="67730" tIns="33865" rIns="67730" bIns="33865">
            <a:spAutoFit/>
          </a:bodyP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indent="-342900" defTabSz="762000">
              <a:lnSpc>
                <a:spcPct val="150000"/>
              </a:lnSpc>
              <a:spcAft>
                <a:spcPts val="600"/>
              </a:spcAft>
              <a:buFont typeface="Wingdings" pitchFamily="2" charset="2"/>
              <a:buChar char="u"/>
            </a:pPr>
            <a:r>
              <a:rPr lang="zh-CN" altLang="en-US" sz="2400" b="1" dirty="0">
                <a:solidFill>
                  <a:srgbClr val="FF3255"/>
                </a:solidFill>
                <a:latin typeface="微软雅黑" pitchFamily="34" charset="-122"/>
                <a:ea typeface="微软雅黑" pitchFamily="34" charset="-122"/>
              </a:rPr>
              <a:t>保护模式下的分段</a:t>
            </a:r>
            <a:endParaRPr lang="en-US" altLang="zh-CN" sz="2400" b="1" dirty="0">
              <a:solidFill>
                <a:srgbClr val="FF3255"/>
              </a:solidFill>
              <a:latin typeface="微软雅黑" pitchFamily="34" charset="-122"/>
              <a:ea typeface="微软雅黑" pitchFamily="34" charset="-122"/>
            </a:endParaRPr>
          </a:p>
          <a:p>
            <a:pPr indent="-342900" defTabSz="762000">
              <a:lnSpc>
                <a:spcPct val="150000"/>
              </a:lnSpc>
              <a:spcAft>
                <a:spcPts val="600"/>
              </a:spcAft>
              <a:buFont typeface="Wingdings" pitchFamily="2" charset="2"/>
              <a:buChar char="u"/>
            </a:pPr>
            <a:r>
              <a:rPr lang="zh-CN" altLang="en-US" sz="2400" b="1" dirty="0">
                <a:solidFill>
                  <a:schemeClr val="tx1">
                    <a:lumMod val="65000"/>
                    <a:lumOff val="35000"/>
                  </a:schemeClr>
                </a:solidFill>
                <a:latin typeface="微软雅黑" pitchFamily="34" charset="-122"/>
                <a:ea typeface="微软雅黑" pitchFamily="34" charset="-122"/>
              </a:rPr>
              <a:t>保护模式下的分页</a:t>
            </a:r>
            <a:endParaRPr lang="en-US" altLang="zh-CN" sz="2400" b="1" dirty="0">
              <a:solidFill>
                <a:schemeClr val="tx1">
                  <a:lumMod val="65000"/>
                  <a:lumOff val="35000"/>
                </a:schemeClr>
              </a:solidFill>
              <a:latin typeface="微软雅黑" pitchFamily="34" charset="-122"/>
              <a:ea typeface="微软雅黑" pitchFamily="34" charset="-122"/>
            </a:endParaRPr>
          </a:p>
          <a:p>
            <a:pPr indent="-342900" defTabSz="762000">
              <a:lnSpc>
                <a:spcPct val="150000"/>
              </a:lnSpc>
              <a:spcAft>
                <a:spcPts val="600"/>
              </a:spcAft>
              <a:buFont typeface="Wingdings" pitchFamily="2" charset="2"/>
              <a:buChar char="u"/>
            </a:pPr>
            <a:r>
              <a:rPr lang="en-US" altLang="zh-CN" sz="2400" b="1" dirty="0">
                <a:solidFill>
                  <a:schemeClr val="tx1">
                    <a:lumMod val="65000"/>
                    <a:lumOff val="35000"/>
                  </a:schemeClr>
                </a:solidFill>
                <a:latin typeface="微软雅黑" pitchFamily="34" charset="-122"/>
                <a:ea typeface="微软雅黑" pitchFamily="34" charset="-122"/>
              </a:rPr>
              <a:t>80386</a:t>
            </a:r>
            <a:r>
              <a:rPr lang="zh-CN" altLang="en-US" sz="2400" b="1" dirty="0">
                <a:solidFill>
                  <a:schemeClr val="tx1">
                    <a:lumMod val="65000"/>
                    <a:lumOff val="35000"/>
                  </a:schemeClr>
                </a:solidFill>
                <a:latin typeface="微软雅黑" pitchFamily="34" charset="-122"/>
                <a:ea typeface="微软雅黑" pitchFamily="34" charset="-122"/>
              </a:rPr>
              <a:t>的安全机制</a:t>
            </a:r>
          </a:p>
        </p:txBody>
      </p:sp>
      <p:cxnSp>
        <p:nvCxnSpPr>
          <p:cNvPr id="14" name="直接连接符 13"/>
          <p:cNvCxnSpPr/>
          <p:nvPr/>
        </p:nvCxnSpPr>
        <p:spPr>
          <a:xfrm>
            <a:off x="1404144" y="2207419"/>
            <a:ext cx="6264275" cy="1587"/>
          </a:xfrm>
          <a:prstGeom prst="line">
            <a:avLst/>
          </a:prstGeom>
          <a:noFill/>
          <a:ln w="9525" cap="flat" cmpd="sng" algn="ctr">
            <a:solidFill>
              <a:sysClr val="window" lastClr="FFFFFF">
                <a:lumMod val="85000"/>
              </a:sysClr>
            </a:solidFill>
            <a:prstDash val="solid"/>
          </a:ln>
          <a:effectLst/>
        </p:spPr>
      </p:cxnSp>
      <p:cxnSp>
        <p:nvCxnSpPr>
          <p:cNvPr id="15" name="直接连接符 14"/>
          <p:cNvCxnSpPr/>
          <p:nvPr/>
        </p:nvCxnSpPr>
        <p:spPr>
          <a:xfrm>
            <a:off x="1475582" y="3936206"/>
            <a:ext cx="6264275" cy="1588"/>
          </a:xfrm>
          <a:prstGeom prst="line">
            <a:avLst/>
          </a:prstGeom>
          <a:noFill/>
          <a:ln w="9525" cap="flat" cmpd="sng" algn="ctr">
            <a:solidFill>
              <a:sysClr val="window" lastClr="FFFFFF">
                <a:lumMod val="85000"/>
              </a:sysClr>
            </a:solidFill>
            <a:prstDash val="solid"/>
          </a:ln>
          <a:effectLst/>
        </p:spPr>
      </p:cxnSp>
      <p:sp>
        <p:nvSpPr>
          <p:cNvPr id="16" name="TextBox 10"/>
          <p:cNvSpPr txBox="1">
            <a:spLocks noChangeArrowheads="1"/>
          </p:cNvSpPr>
          <p:nvPr/>
        </p:nvSpPr>
        <p:spPr bwMode="auto">
          <a:xfrm>
            <a:off x="1475697" y="2447499"/>
            <a:ext cx="6985934" cy="1250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algn="ctr">
              <a:lnSpc>
                <a:spcPct val="114000"/>
              </a:lnSpc>
            </a:pPr>
            <a:r>
              <a:rPr lang="en-US" altLang="zh-CN" sz="6600" b="1" dirty="0">
                <a:solidFill>
                  <a:srgbClr val="00C4F0"/>
                </a:solidFill>
                <a:latin typeface="微软雅黑" pitchFamily="34" charset="-122"/>
                <a:ea typeface="微软雅黑" pitchFamily="34" charset="-122"/>
              </a:rPr>
              <a:t>80386</a:t>
            </a:r>
            <a:r>
              <a:rPr lang="zh-CN" altLang="en-US" sz="6600" b="1" dirty="0">
                <a:solidFill>
                  <a:srgbClr val="00C4F0"/>
                </a:solidFill>
                <a:latin typeface="微软雅黑" pitchFamily="34" charset="-122"/>
                <a:ea typeface="微软雅黑" pitchFamily="34" charset="-122"/>
              </a:rPr>
              <a:t>保护模式</a:t>
            </a:r>
            <a:endParaRPr lang="zh-CN" altLang="en-US" sz="8000" b="1" dirty="0">
              <a:solidFill>
                <a:srgbClr val="00C4F0"/>
              </a:solidFill>
              <a:latin typeface="微软雅黑" pitchFamily="34" charset="-122"/>
              <a:ea typeface="微软雅黑" pitchFamily="34" charset="-122"/>
            </a:endParaRPr>
          </a:p>
        </p:txBody>
      </p:sp>
    </p:spTree>
    <p:extLst>
      <p:ext uri="{BB962C8B-B14F-4D97-AF65-F5344CB8AC3E}">
        <p14:creationId xmlns:p14="http://schemas.microsoft.com/office/powerpoint/2010/main" val="341904496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500"/>
                                        <p:tgtEl>
                                          <p:spTgt spid="14"/>
                                        </p:tgtEl>
                                      </p:cBhvr>
                                    </p:animEffect>
                                  </p:childTnLst>
                                </p:cTn>
                              </p:par>
                              <p:par>
                                <p:cTn id="8" presetID="1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slide(fromBottom)">
                                      <p:cBhvr>
                                        <p:cTn id="10" dur="500"/>
                                        <p:tgtEl>
                                          <p:spTgt spid="15"/>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1000"/>
                                        <p:tgtEl>
                                          <p:spTgt spid="12"/>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1000" fill="hold"/>
                                        <p:tgtEl>
                                          <p:spTgt spid="16"/>
                                        </p:tgtEl>
                                        <p:attrNameLst>
                                          <p:attrName>ppt_w</p:attrName>
                                        </p:attrNameLst>
                                      </p:cBhvr>
                                      <p:tavLst>
                                        <p:tav tm="0">
                                          <p:val>
                                            <p:fltVal val="0"/>
                                          </p:val>
                                        </p:tav>
                                        <p:tav tm="100000">
                                          <p:val>
                                            <p:strVal val="#ppt_w"/>
                                          </p:val>
                                        </p:tav>
                                      </p:tavLst>
                                    </p:anim>
                                    <p:anim calcmode="lin" valueType="num">
                                      <p:cBhvr>
                                        <p:cTn id="18" dur="1000" fill="hold"/>
                                        <p:tgtEl>
                                          <p:spTgt spid="16"/>
                                        </p:tgtEl>
                                        <p:attrNameLst>
                                          <p:attrName>ppt_h</p:attrName>
                                        </p:attrNameLst>
                                      </p:cBhvr>
                                      <p:tavLst>
                                        <p:tav tm="0">
                                          <p:val>
                                            <p:fltVal val="0"/>
                                          </p:val>
                                        </p:tav>
                                        <p:tav tm="100000">
                                          <p:val>
                                            <p:strVal val="#ppt_h"/>
                                          </p:val>
                                        </p:tav>
                                      </p:tavLst>
                                    </p:anim>
                                    <p:animEffect transition="in" filter="fade">
                                      <p:cBhvr>
                                        <p:cTn id="19"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8"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保护模式──虚拟地址空间的分段</a:t>
            </a:r>
            <a:endParaRPr lang="en-US" altLang="zh-CN" sz="3200" b="1" dirty="0">
              <a:solidFill>
                <a:srgbClr val="00B0F0"/>
              </a:solidFill>
              <a:latin typeface="微软雅黑" pitchFamily="34" charset="-122"/>
              <a:ea typeface="微软雅黑" pitchFamily="34" charset="-122"/>
            </a:endParaRPr>
          </a:p>
        </p:txBody>
      </p:sp>
      <p:cxnSp>
        <p:nvCxnSpPr>
          <p:cNvPr id="19" name="直接连接符 18"/>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29" name="Text Box 44"/>
          <p:cNvSpPr txBox="1">
            <a:spLocks noChangeArrowheads="1"/>
          </p:cNvSpPr>
          <p:nvPr/>
        </p:nvSpPr>
        <p:spPr bwMode="auto">
          <a:xfrm>
            <a:off x="5517278" y="3933056"/>
            <a:ext cx="3083737" cy="1320361"/>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indent="0" defTabSz="914400">
              <a:lnSpc>
                <a:spcPct val="133000"/>
              </a:lnSpc>
              <a:defRPr/>
            </a:pPr>
            <a:r>
              <a:rPr lang="en-US" altLang="zh-CN" sz="2000" dirty="0">
                <a:solidFill>
                  <a:schemeClr val="tx1">
                    <a:lumMod val="65000"/>
                    <a:lumOff val="35000"/>
                  </a:schemeClr>
                </a:solidFill>
              </a:rPr>
              <a:t>386</a:t>
            </a:r>
            <a:r>
              <a:rPr lang="zh-CN" altLang="en-US" sz="2000" dirty="0">
                <a:solidFill>
                  <a:schemeClr val="tx1">
                    <a:lumMod val="65000"/>
                    <a:lumOff val="35000"/>
                  </a:schemeClr>
                </a:solidFill>
              </a:rPr>
              <a:t>分段与</a:t>
            </a:r>
            <a:r>
              <a:rPr lang="en-US" altLang="zh-CN" sz="2000" dirty="0">
                <a:solidFill>
                  <a:schemeClr val="tx1">
                    <a:lumMod val="65000"/>
                    <a:lumOff val="35000"/>
                  </a:schemeClr>
                </a:solidFill>
              </a:rPr>
              <a:t>8086</a:t>
            </a:r>
            <a:r>
              <a:rPr lang="zh-CN" altLang="en-US" sz="2000" dirty="0">
                <a:solidFill>
                  <a:schemeClr val="tx1">
                    <a:lumMod val="65000"/>
                    <a:lumOff val="35000"/>
                  </a:schemeClr>
                </a:solidFill>
              </a:rPr>
              <a:t>有何不同？</a:t>
            </a:r>
            <a:endParaRPr lang="en-US" altLang="zh-CN" sz="2000" dirty="0">
              <a:solidFill>
                <a:schemeClr val="tx1">
                  <a:lumMod val="65000"/>
                  <a:lumOff val="35000"/>
                </a:schemeClr>
              </a:solidFill>
            </a:endParaRPr>
          </a:p>
          <a:p>
            <a:pPr marL="285750" indent="-285750" defTabSz="914400">
              <a:lnSpc>
                <a:spcPct val="133000"/>
              </a:lnSpc>
              <a:buFont typeface="Wingdings" panose="05000000000000000000" pitchFamily="2" charset="2"/>
              <a:buChar char="n"/>
              <a:defRPr/>
            </a:pPr>
            <a:r>
              <a:rPr lang="zh-CN" altLang="en-US" sz="2000" dirty="0">
                <a:solidFill>
                  <a:schemeClr val="tx1">
                    <a:lumMod val="65000"/>
                    <a:lumOff val="35000"/>
                  </a:schemeClr>
                </a:solidFill>
              </a:rPr>
              <a:t>解决多任务的隔离问题；</a:t>
            </a:r>
            <a:endParaRPr lang="en-US" altLang="zh-CN" sz="2000" dirty="0">
              <a:solidFill>
                <a:schemeClr val="tx1">
                  <a:lumMod val="65000"/>
                  <a:lumOff val="35000"/>
                </a:schemeClr>
              </a:solidFill>
            </a:endParaRPr>
          </a:p>
          <a:p>
            <a:pPr marL="285750" indent="-285750" defTabSz="914400">
              <a:lnSpc>
                <a:spcPct val="133000"/>
              </a:lnSpc>
              <a:buFont typeface="Wingdings" panose="05000000000000000000" pitchFamily="2" charset="2"/>
              <a:buChar char="n"/>
              <a:defRPr/>
            </a:pPr>
            <a:r>
              <a:rPr lang="zh-CN" altLang="en-US" sz="2000" dirty="0">
                <a:solidFill>
                  <a:schemeClr val="tx1">
                    <a:lumMod val="65000"/>
                    <a:lumOff val="35000"/>
                  </a:schemeClr>
                </a:solidFill>
              </a:rPr>
              <a:t>解决程序的编译问题。</a:t>
            </a:r>
            <a:endParaRPr lang="en-US" altLang="zh-CN" sz="2000" dirty="0">
              <a:solidFill>
                <a:schemeClr val="tx1">
                  <a:lumMod val="65000"/>
                  <a:lumOff val="35000"/>
                </a:schemeClr>
              </a:solidFill>
            </a:endParaRPr>
          </a:p>
        </p:txBody>
      </p:sp>
      <p:pic>
        <p:nvPicPr>
          <p:cNvPr id="35" name="Picture 2" descr="http://pic2.sc.chinaz.com/files/pic/pic9/201203/xpic3867.jp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08143" y="2027544"/>
            <a:ext cx="4865071" cy="3345671"/>
          </a:xfrm>
          <a:prstGeom prst="rect">
            <a:avLst/>
          </a:prstGeom>
          <a:noFill/>
          <a:extLst>
            <a:ext uri="{909E8E84-426E-40DD-AFC4-6F175D3DCCD1}">
              <a14:hiddenFill xmlns:a14="http://schemas.microsoft.com/office/drawing/2010/main">
                <a:solidFill>
                  <a:srgbClr val="FFFFFF"/>
                </a:solidFill>
              </a14:hiddenFill>
            </a:ext>
          </a:extLst>
        </p:spPr>
      </p:pic>
      <p:sp>
        <p:nvSpPr>
          <p:cNvPr id="43" name="矩形 42"/>
          <p:cNvSpPr/>
          <p:nvPr/>
        </p:nvSpPr>
        <p:spPr>
          <a:xfrm>
            <a:off x="5436096" y="3816881"/>
            <a:ext cx="3388396" cy="1556335"/>
          </a:xfrm>
          <a:prstGeom prst="rect">
            <a:avLst/>
          </a:prstGeom>
          <a:ln>
            <a:solidFill>
              <a:srgbClr val="1D8DE5"/>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sz="1600" dirty="0">
              <a:solidFill>
                <a:srgbClr val="7BC143"/>
              </a:solidFill>
              <a:ea typeface="微软雅黑" panose="020B0503020204020204" pitchFamily="34" charset="-122"/>
            </a:endParaRPr>
          </a:p>
        </p:txBody>
      </p:sp>
      <p:sp>
        <p:nvSpPr>
          <p:cNvPr id="44" name="TextBox 32"/>
          <p:cNvSpPr txBox="1"/>
          <p:nvPr/>
        </p:nvSpPr>
        <p:spPr>
          <a:xfrm>
            <a:off x="5517278" y="2257790"/>
            <a:ext cx="3145983" cy="607410"/>
          </a:xfrm>
          <a:prstGeom prst="rect">
            <a:avLst/>
          </a:prstGeom>
          <a:noFill/>
          <a:ln>
            <a:noFill/>
            <a:prstDash val="dash"/>
          </a:ln>
        </p:spPr>
        <p:txBody>
          <a:bodyPr wrap="square">
            <a:spAutoFit/>
          </a:bodyPr>
          <a:lstStyle/>
          <a:p>
            <a:pPr>
              <a:lnSpc>
                <a:spcPct val="133000"/>
              </a:lnSpc>
              <a:defRPr/>
            </a:pPr>
            <a:r>
              <a:rPr lang="zh-CN" altLang="en-US" sz="2800" dirty="0">
                <a:solidFill>
                  <a:srgbClr val="FF3255"/>
                </a:solidFill>
                <a:latin typeface="微软雅黑" pitchFamily="34" charset="-122"/>
                <a:ea typeface="微软雅黑" pitchFamily="34" charset="-122"/>
              </a:rPr>
              <a:t>为什么要分段？</a:t>
            </a:r>
            <a:endParaRPr lang="zh-CN" altLang="en-US" sz="2000" dirty="0">
              <a:solidFill>
                <a:schemeClr val="tx1">
                  <a:lumMod val="65000"/>
                  <a:lumOff val="35000"/>
                </a:schemeClr>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5872138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8"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保护模式：进程与任务</a:t>
            </a:r>
            <a:endParaRPr lang="en-US" altLang="zh-CN" sz="3200" b="1" dirty="0">
              <a:solidFill>
                <a:srgbClr val="00B0F0"/>
              </a:solidFill>
              <a:latin typeface="微软雅黑" pitchFamily="34" charset="-122"/>
              <a:ea typeface="微软雅黑" pitchFamily="34" charset="-122"/>
            </a:endParaRPr>
          </a:p>
        </p:txBody>
      </p:sp>
      <p:cxnSp>
        <p:nvCxnSpPr>
          <p:cNvPr id="19" name="直接连接符 18"/>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9" name="矩形 8"/>
          <p:cNvSpPr/>
          <p:nvPr/>
        </p:nvSpPr>
        <p:spPr>
          <a:xfrm>
            <a:off x="2411760" y="1556792"/>
            <a:ext cx="4525525" cy="584082"/>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进程即任务，是对</a:t>
            </a:r>
            <a:r>
              <a:rPr lang="en-US" altLang="zh-CN" sz="2000" b="1" dirty="0">
                <a:latin typeface="微软雅黑" panose="020B0503020204020204" pitchFamily="34" charset="-122"/>
                <a:ea typeface="微软雅黑" panose="020B0503020204020204" pitchFamily="34" charset="-122"/>
              </a:rPr>
              <a:t>CPU</a:t>
            </a:r>
            <a:r>
              <a:rPr lang="zh-CN" altLang="en-US" sz="2000" b="1" dirty="0">
                <a:latin typeface="微软雅黑" panose="020B0503020204020204" pitchFamily="34" charset="-122"/>
                <a:ea typeface="微软雅黑" panose="020B0503020204020204" pitchFamily="34" charset="-122"/>
              </a:rPr>
              <a:t>的一个抽象。</a:t>
            </a:r>
            <a:endParaRPr lang="zh-CN" altLang="en-US" sz="2000" b="1" u="sng" dirty="0">
              <a:solidFill>
                <a:schemeClr val="bg1"/>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827584" y="4020184"/>
            <a:ext cx="7488832"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059832" y="4396000"/>
            <a:ext cx="3312368" cy="864096"/>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OS</a:t>
            </a:r>
            <a:r>
              <a:rPr lang="zh-CN" altLang="en-US" dirty="0">
                <a:latin typeface="微软雅黑" panose="020B0503020204020204" pitchFamily="34" charset="-122"/>
                <a:ea typeface="微软雅黑" panose="020B0503020204020204" pitchFamily="34" charset="-122"/>
              </a:rPr>
              <a:t>内核</a:t>
            </a:r>
          </a:p>
        </p:txBody>
      </p:sp>
      <p:sp>
        <p:nvSpPr>
          <p:cNvPr id="14" name="矩形 13"/>
          <p:cNvSpPr/>
          <p:nvPr/>
        </p:nvSpPr>
        <p:spPr>
          <a:xfrm>
            <a:off x="1115616" y="2803723"/>
            <a:ext cx="1242678" cy="864096"/>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用户进程</a:t>
            </a:r>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2915816" y="2803723"/>
            <a:ext cx="1242678" cy="864096"/>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用户进程</a:t>
            </a:r>
            <a:r>
              <a:rPr lang="en-US" altLang="zh-CN"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16" name="矩形 15"/>
          <p:cNvSpPr/>
          <p:nvPr/>
        </p:nvSpPr>
        <p:spPr>
          <a:xfrm>
            <a:off x="6012160" y="2803723"/>
            <a:ext cx="1242678" cy="864096"/>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用户进程</a:t>
            </a:r>
            <a:r>
              <a:rPr lang="en-US" altLang="zh-CN" dirty="0">
                <a:latin typeface="微软雅黑" panose="020B0503020204020204" pitchFamily="34" charset="-122"/>
                <a:ea typeface="微软雅黑" panose="020B0503020204020204" pitchFamily="34" charset="-122"/>
              </a:rPr>
              <a:t>n</a:t>
            </a:r>
            <a:endParaRPr lang="zh-CN" altLang="en-US" dirty="0">
              <a:latin typeface="微软雅黑" panose="020B0503020204020204" pitchFamily="34" charset="-122"/>
              <a:ea typeface="微软雅黑" panose="020B0503020204020204" pitchFamily="34" charset="-122"/>
            </a:endParaRPr>
          </a:p>
        </p:txBody>
      </p:sp>
      <p:sp>
        <p:nvSpPr>
          <p:cNvPr id="20" name="矩形 19"/>
          <p:cNvSpPr/>
          <p:nvPr/>
        </p:nvSpPr>
        <p:spPr>
          <a:xfrm>
            <a:off x="4716016" y="2783093"/>
            <a:ext cx="792088" cy="8640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1" name="矩形 20"/>
          <p:cNvSpPr/>
          <p:nvPr/>
        </p:nvSpPr>
        <p:spPr>
          <a:xfrm>
            <a:off x="7545812" y="2703041"/>
            <a:ext cx="640027" cy="10692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用</a:t>
            </a:r>
            <a:endParaRPr lang="en-US" altLang="zh-CN"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户</a:t>
            </a:r>
            <a:endParaRPr lang="en-US" altLang="zh-CN"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态</a:t>
            </a:r>
          </a:p>
        </p:txBody>
      </p:sp>
      <p:sp>
        <p:nvSpPr>
          <p:cNvPr id="22" name="矩形 21"/>
          <p:cNvSpPr/>
          <p:nvPr/>
        </p:nvSpPr>
        <p:spPr>
          <a:xfrm>
            <a:off x="7524750" y="4293439"/>
            <a:ext cx="640027" cy="10692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核心</a:t>
            </a:r>
            <a:endParaRPr lang="en-US" altLang="zh-CN"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态</a:t>
            </a:r>
          </a:p>
        </p:txBody>
      </p:sp>
      <p:sp>
        <p:nvSpPr>
          <p:cNvPr id="5" name="矩形 4"/>
          <p:cNvSpPr/>
          <p:nvPr/>
        </p:nvSpPr>
        <p:spPr>
          <a:xfrm>
            <a:off x="705526" y="2493239"/>
            <a:ext cx="7732526" cy="3168352"/>
          </a:xfrm>
          <a:prstGeom prst="rect">
            <a:avLst/>
          </a:prstGeom>
          <a:noFill/>
          <a:ln w="952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21135" y="5445567"/>
            <a:ext cx="1590625" cy="404664"/>
          </a:xfrm>
          <a:prstGeom prst="rect">
            <a:avLst/>
          </a:prstGeom>
          <a:solidFill>
            <a:srgbClr val="FF325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操作系统抽象</a:t>
            </a:r>
          </a:p>
        </p:txBody>
      </p:sp>
    </p:spTree>
    <p:extLst>
      <p:ext uri="{BB962C8B-B14F-4D97-AF65-F5344CB8AC3E}">
        <p14:creationId xmlns:p14="http://schemas.microsoft.com/office/powerpoint/2010/main" val="1043687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up)">
                                      <p:cBhvr>
                                        <p:cTn id="23" dur="500"/>
                                        <p:tgtEl>
                                          <p:spTgt spid="21"/>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up)">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left)">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par>
                                <p:cTn id="37" presetID="22" presetClass="entr" presetSubtype="8" fill="hold" grpId="0" nodeType="withEffect">
                                  <p:stCondLst>
                                    <p:cond delay="500"/>
                                  </p:stCondLst>
                                  <p:childTnLst>
                                    <p:set>
                                      <p:cBhvr>
                                        <p:cTn id="38" dur="1" fill="hold">
                                          <p:stCondLst>
                                            <p:cond delay="0"/>
                                          </p:stCondLst>
                                        </p:cTn>
                                        <p:tgtEl>
                                          <p:spTgt spid="15"/>
                                        </p:tgtEl>
                                        <p:attrNameLst>
                                          <p:attrName>style.visibility</p:attrName>
                                        </p:attrNameLst>
                                      </p:cBhvr>
                                      <p:to>
                                        <p:strVal val="visible"/>
                                      </p:to>
                                    </p:set>
                                    <p:animEffect transition="in" filter="wipe(left)">
                                      <p:cBhvr>
                                        <p:cTn id="39" dur="500"/>
                                        <p:tgtEl>
                                          <p:spTgt spid="15"/>
                                        </p:tgtEl>
                                      </p:cBhvr>
                                    </p:animEffect>
                                  </p:childTnLst>
                                </p:cTn>
                              </p:par>
                              <p:par>
                                <p:cTn id="40" presetID="22" presetClass="entr" presetSubtype="8" fill="hold" grpId="0" nodeType="withEffect">
                                  <p:stCondLst>
                                    <p:cond delay="100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par>
                                <p:cTn id="43" presetID="22" presetClass="entr" presetSubtype="8" fill="hold" grpId="0" nodeType="withEffect">
                                  <p:stCondLst>
                                    <p:cond delay="150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 grpId="0" animBg="1"/>
      <p:bldP spid="14" grpId="0" animBg="1"/>
      <p:bldP spid="15" grpId="0" animBg="1"/>
      <p:bldP spid="16" grpId="0" animBg="1"/>
      <p:bldP spid="20" grpId="0"/>
      <p:bldP spid="21" grpId="0"/>
      <p:bldP spid="22" grpId="0"/>
      <p:bldP spid="5" grpId="0" animBg="1"/>
      <p:bldP spid="2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保护模式：虚拟存储器的概念</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5" name="矩形 4"/>
          <p:cNvSpPr/>
          <p:nvPr/>
        </p:nvSpPr>
        <p:spPr>
          <a:xfrm>
            <a:off x="835620" y="1628800"/>
            <a:ext cx="7624811" cy="569654"/>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latin typeface="微软雅黑" panose="020B0503020204020204" pitchFamily="34" charset="-122"/>
                <a:ea typeface="微软雅黑" panose="020B0503020204020204" pitchFamily="34" charset="-122"/>
              </a:rPr>
              <a:t>地址空间是对物理内存的抽象，每个进程有自己独立的地址空间。</a:t>
            </a:r>
            <a:endParaRPr lang="zh-CN" altLang="en-US" sz="2000" b="1" u="sng" dirty="0">
              <a:solidFill>
                <a:schemeClr val="bg1"/>
              </a:solidFill>
              <a:latin typeface="微软雅黑" panose="020B0503020204020204" pitchFamily="34" charset="-122"/>
              <a:ea typeface="微软雅黑" panose="020B0503020204020204" pitchFamily="34" charset="-122"/>
            </a:endParaRPr>
          </a:p>
        </p:txBody>
      </p:sp>
      <p:sp>
        <p:nvSpPr>
          <p:cNvPr id="6" name="矩形 5"/>
          <p:cNvSpPr>
            <a:spLocks noChangeAspect="1"/>
          </p:cNvSpPr>
          <p:nvPr/>
        </p:nvSpPr>
        <p:spPr>
          <a:xfrm>
            <a:off x="835621" y="2834447"/>
            <a:ext cx="7624811" cy="2322746"/>
          </a:xfrm>
          <a:prstGeom prst="rect">
            <a:avLst/>
          </a:prstGeom>
          <a:ln>
            <a:solidFill>
              <a:srgbClr val="0883C8"/>
            </a:solidFill>
            <a:prstDash val="solid"/>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pic>
        <p:nvPicPr>
          <p:cNvPr id="7" name="Picture 2" descr="E:\仝德志文件，勿删！\03-参考文档\！PPT图片及版面资源\06-PPT精选插图\12-标签\蓝色燕尾01.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rot="16200000">
            <a:off x="749398" y="3034363"/>
            <a:ext cx="1080899" cy="57402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19"/>
          <p:cNvSpPr txBox="1"/>
          <p:nvPr/>
        </p:nvSpPr>
        <p:spPr>
          <a:xfrm>
            <a:off x="1075523" y="2900626"/>
            <a:ext cx="461665" cy="1138372"/>
          </a:xfrm>
          <a:prstGeom prst="rect">
            <a:avLst/>
          </a:prstGeom>
          <a:noFill/>
        </p:spPr>
        <p:txBody>
          <a:bodyPr vert="eaVert" wrap="square" rtlCol="0">
            <a:spAutoFit/>
          </a:bodyPr>
          <a:lstStyle/>
          <a:p>
            <a:r>
              <a:rPr lang="zh-CN" altLang="en-US" b="1" dirty="0">
                <a:solidFill>
                  <a:schemeClr val="bg1"/>
                </a:solidFill>
                <a:latin typeface="微软雅黑" pitchFamily="34" charset="-122"/>
                <a:ea typeface="微软雅黑" pitchFamily="34" charset="-122"/>
              </a:rPr>
              <a:t>特点</a:t>
            </a:r>
          </a:p>
        </p:txBody>
      </p:sp>
      <p:sp>
        <p:nvSpPr>
          <p:cNvPr id="9" name="TextBox 17"/>
          <p:cNvSpPr txBox="1"/>
          <p:nvPr/>
        </p:nvSpPr>
        <p:spPr>
          <a:xfrm>
            <a:off x="1744073" y="2897140"/>
            <a:ext cx="6675583" cy="2139047"/>
          </a:xfrm>
          <a:prstGeom prst="rect">
            <a:avLst/>
          </a:prstGeom>
          <a:noFill/>
        </p:spPr>
        <p:txBody>
          <a:bodyPr wrap="square">
            <a:spAutoFit/>
          </a:bodyPr>
          <a:lstStyle/>
          <a:p>
            <a:pPr marL="342900" indent="-342900">
              <a:lnSpc>
                <a:spcPct val="133000"/>
              </a:lnSpc>
              <a:buFont typeface="Wingdings" panose="05000000000000000000" pitchFamily="2" charset="2"/>
              <a:buChar char="n"/>
              <a:defRPr/>
            </a:pPr>
            <a:r>
              <a:rPr lang="zh-CN" altLang="en-US" sz="2000" b="1" dirty="0">
                <a:solidFill>
                  <a:schemeClr val="tx1">
                    <a:lumMod val="50000"/>
                    <a:lumOff val="50000"/>
                  </a:schemeClr>
                </a:solidFill>
                <a:latin typeface="微软雅黑" pitchFamily="34" charset="-122"/>
                <a:ea typeface="微软雅黑" pitchFamily="34" charset="-122"/>
              </a:rPr>
              <a:t>地址线性排列，又称为线性地址空间；</a:t>
            </a:r>
            <a:r>
              <a:rPr lang="zh-CN" altLang="en-US" sz="2000" b="1" dirty="0">
                <a:solidFill>
                  <a:srgbClr val="FD7A2A"/>
                </a:solidFill>
                <a:latin typeface="微软雅黑" pitchFamily="34" charset="-122"/>
                <a:ea typeface="微软雅黑" pitchFamily="34" charset="-122"/>
              </a:rPr>
              <a:t>存储器分段是必须的</a:t>
            </a:r>
            <a:r>
              <a:rPr lang="zh-CN" altLang="en-US" sz="2000" b="1" dirty="0">
                <a:solidFill>
                  <a:schemeClr val="tx1">
                    <a:lumMod val="50000"/>
                    <a:lumOff val="50000"/>
                  </a:schemeClr>
                </a:solidFill>
                <a:latin typeface="微软雅黑" pitchFamily="34" charset="-122"/>
                <a:ea typeface="微软雅黑" pitchFamily="34" charset="-122"/>
              </a:rPr>
              <a:t>，没有分页的情况下，线性地址即物理地址；</a:t>
            </a:r>
            <a:endParaRPr lang="en-US" altLang="zh-CN" sz="2000" b="1" dirty="0">
              <a:solidFill>
                <a:schemeClr val="tx1">
                  <a:lumMod val="50000"/>
                  <a:lumOff val="50000"/>
                </a:schemeClr>
              </a:solidFill>
              <a:latin typeface="微软雅黑" pitchFamily="34" charset="-122"/>
              <a:ea typeface="微软雅黑" pitchFamily="34" charset="-122"/>
            </a:endParaRPr>
          </a:p>
          <a:p>
            <a:pPr marL="342900" indent="-342900">
              <a:lnSpc>
                <a:spcPct val="133000"/>
              </a:lnSpc>
              <a:buFont typeface="Wingdings" panose="05000000000000000000" pitchFamily="2" charset="2"/>
              <a:buChar char="n"/>
              <a:defRPr/>
            </a:pPr>
            <a:r>
              <a:rPr lang="zh-CN" altLang="en-US" sz="2000" b="1" dirty="0">
                <a:solidFill>
                  <a:schemeClr val="tx1">
                    <a:lumMod val="50000"/>
                    <a:lumOff val="50000"/>
                  </a:schemeClr>
                </a:solidFill>
                <a:latin typeface="微软雅黑" pitchFamily="34" charset="-122"/>
                <a:ea typeface="微软雅黑" pitchFamily="34" charset="-122"/>
              </a:rPr>
              <a:t>现有的操作系统均采用分段、分页。有分页的情况下，线性地址需要经过映射，转换为物理地址。因此，线性地址空间也被称为虚拟存储空间。</a:t>
            </a:r>
            <a:endParaRPr lang="en-US" altLang="zh-CN"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4214101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8"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par>
                                <p:cTn id="19" presetID="22" presetClass="entr" presetSubtype="8" fill="hold" nodeType="with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animEffect transition="in" filter="wipe(left)">
                                      <p:cBhvr>
                                        <p:cTn id="21" dur="500"/>
                                        <p:tgtEl>
                                          <p:spTgt spid="9">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
                                            <p:txEl>
                                              <p:pRg st="1" end="1"/>
                                            </p:txEl>
                                          </p:spTgt>
                                        </p:tgtEl>
                                        <p:attrNameLst>
                                          <p:attrName>style.visibility</p:attrName>
                                        </p:attrNameLst>
                                      </p:cBhvr>
                                      <p:to>
                                        <p:strVal val="visible"/>
                                      </p:to>
                                    </p:set>
                                    <p:animEffect transition="in" filter="wipe(left)">
                                      <p:cBhvr>
                                        <p:cTn id="26"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保护模式：</a:t>
            </a:r>
            <a:r>
              <a:rPr lang="en-US" altLang="zh-CN" sz="3200" b="1" dirty="0">
                <a:solidFill>
                  <a:srgbClr val="00B0F0"/>
                </a:solidFill>
                <a:latin typeface="微软雅黑" pitchFamily="34" charset="-122"/>
                <a:ea typeface="微软雅黑" pitchFamily="34" charset="-122"/>
              </a:rPr>
              <a:t>GDT</a:t>
            </a:r>
            <a:r>
              <a:rPr lang="zh-CN" altLang="en-US" sz="3200" b="1" dirty="0">
                <a:solidFill>
                  <a:srgbClr val="00B0F0"/>
                </a:solidFill>
                <a:latin typeface="微软雅黑" pitchFamily="34" charset="-122"/>
                <a:ea typeface="微软雅黑" pitchFamily="34" charset="-122"/>
              </a:rPr>
              <a:t>与</a:t>
            </a:r>
            <a:r>
              <a:rPr lang="en-US" altLang="zh-CN" sz="3200" b="1" dirty="0">
                <a:solidFill>
                  <a:srgbClr val="00B0F0"/>
                </a:solidFill>
                <a:latin typeface="微软雅黑" pitchFamily="34" charset="-122"/>
                <a:ea typeface="微软雅黑" pitchFamily="34" charset="-122"/>
              </a:rPr>
              <a:t>LDT</a:t>
            </a: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7" name="矩形 6"/>
          <p:cNvSpPr/>
          <p:nvPr/>
        </p:nvSpPr>
        <p:spPr>
          <a:xfrm>
            <a:off x="816204" y="2645731"/>
            <a:ext cx="1973017" cy="255051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矩形 7"/>
          <p:cNvSpPr/>
          <p:nvPr/>
        </p:nvSpPr>
        <p:spPr>
          <a:xfrm>
            <a:off x="822316" y="3203682"/>
            <a:ext cx="1973017" cy="305516"/>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任务</a:t>
            </a:r>
            <a:r>
              <a:rPr lang="en-US" altLang="zh-CN" dirty="0">
                <a:latin typeface="微软雅黑" panose="020B0503020204020204" pitchFamily="34" charset="-122"/>
                <a:ea typeface="微软雅黑" panose="020B0503020204020204" pitchFamily="34" charset="-122"/>
              </a:rPr>
              <a:t>1 LDT</a:t>
            </a:r>
            <a:r>
              <a:rPr lang="zh-CN" altLang="en-US" dirty="0">
                <a:latin typeface="微软雅黑" panose="020B0503020204020204" pitchFamily="34" charset="-122"/>
                <a:ea typeface="微软雅黑" panose="020B0503020204020204" pitchFamily="34" charset="-122"/>
              </a:rPr>
              <a:t>描述符</a:t>
            </a:r>
          </a:p>
        </p:txBody>
      </p:sp>
      <p:sp>
        <p:nvSpPr>
          <p:cNvPr id="9" name="矩形 8"/>
          <p:cNvSpPr/>
          <p:nvPr/>
        </p:nvSpPr>
        <p:spPr>
          <a:xfrm>
            <a:off x="807786" y="4512848"/>
            <a:ext cx="1973017" cy="356312"/>
          </a:xfrm>
          <a:prstGeom prst="rect">
            <a:avLst/>
          </a:prstGeom>
          <a:solidFill>
            <a:srgbClr val="FF3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任务</a:t>
            </a:r>
            <a:r>
              <a:rPr lang="en-US" altLang="zh-CN" dirty="0">
                <a:latin typeface="微软雅黑" panose="020B0503020204020204" pitchFamily="34" charset="-122"/>
                <a:ea typeface="微软雅黑" panose="020B0503020204020204" pitchFamily="34" charset="-122"/>
              </a:rPr>
              <a:t>2 LDT</a:t>
            </a:r>
            <a:r>
              <a:rPr lang="zh-CN" altLang="en-US" dirty="0">
                <a:latin typeface="微软雅黑" panose="020B0503020204020204" pitchFamily="34" charset="-122"/>
                <a:ea typeface="微软雅黑" panose="020B0503020204020204" pitchFamily="34" charset="-122"/>
              </a:rPr>
              <a:t>描述符</a:t>
            </a:r>
          </a:p>
        </p:txBody>
      </p:sp>
      <p:sp>
        <p:nvSpPr>
          <p:cNvPr id="11" name="矩形 10"/>
          <p:cNvSpPr/>
          <p:nvPr/>
        </p:nvSpPr>
        <p:spPr>
          <a:xfrm>
            <a:off x="3901780" y="2644483"/>
            <a:ext cx="1974722" cy="125543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cxnSp>
        <p:nvCxnSpPr>
          <p:cNvPr id="12" name="直接箭头连接符 11"/>
          <p:cNvCxnSpPr/>
          <p:nvPr/>
        </p:nvCxnSpPr>
        <p:spPr>
          <a:xfrm flipV="1">
            <a:off x="2787171" y="2651695"/>
            <a:ext cx="1108497" cy="5419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3901780" y="2973426"/>
            <a:ext cx="1974722" cy="348535"/>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代码段描述符</a:t>
            </a:r>
          </a:p>
        </p:txBody>
      </p:sp>
      <p:sp>
        <p:nvSpPr>
          <p:cNvPr id="14" name="矩形 13"/>
          <p:cNvSpPr/>
          <p:nvPr/>
        </p:nvSpPr>
        <p:spPr>
          <a:xfrm>
            <a:off x="3901780" y="3352451"/>
            <a:ext cx="1974722" cy="348535"/>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数据段描述符</a:t>
            </a:r>
          </a:p>
        </p:txBody>
      </p:sp>
      <p:sp>
        <p:nvSpPr>
          <p:cNvPr id="15" name="矩形 14"/>
          <p:cNvSpPr/>
          <p:nvPr/>
        </p:nvSpPr>
        <p:spPr>
          <a:xfrm>
            <a:off x="1093468" y="2236883"/>
            <a:ext cx="1224136" cy="364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GDT</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矩形 15"/>
          <p:cNvSpPr/>
          <p:nvPr/>
        </p:nvSpPr>
        <p:spPr>
          <a:xfrm>
            <a:off x="3789050" y="2232248"/>
            <a:ext cx="2200962" cy="3086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任务</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的</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LDT</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9" name="直接箭头连接符 18"/>
          <p:cNvCxnSpPr/>
          <p:nvPr/>
        </p:nvCxnSpPr>
        <p:spPr>
          <a:xfrm>
            <a:off x="2756960" y="3525088"/>
            <a:ext cx="1138708" cy="340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3901780" y="4158125"/>
            <a:ext cx="1974722" cy="103811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1" name="矩形 20"/>
          <p:cNvSpPr/>
          <p:nvPr/>
        </p:nvSpPr>
        <p:spPr>
          <a:xfrm>
            <a:off x="3901780" y="4332658"/>
            <a:ext cx="1974722" cy="348535"/>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代码段描述符</a:t>
            </a:r>
          </a:p>
        </p:txBody>
      </p:sp>
      <p:sp>
        <p:nvSpPr>
          <p:cNvPr id="22" name="矩形 21"/>
          <p:cNvSpPr/>
          <p:nvPr/>
        </p:nvSpPr>
        <p:spPr>
          <a:xfrm>
            <a:off x="3901780" y="4711683"/>
            <a:ext cx="1974722" cy="348535"/>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数据段描述符</a:t>
            </a:r>
          </a:p>
        </p:txBody>
      </p:sp>
      <p:cxnSp>
        <p:nvCxnSpPr>
          <p:cNvPr id="23" name="直接箭头连接符 22"/>
          <p:cNvCxnSpPr/>
          <p:nvPr/>
        </p:nvCxnSpPr>
        <p:spPr>
          <a:xfrm flipV="1">
            <a:off x="2780802" y="4168545"/>
            <a:ext cx="1120978" cy="357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2795333" y="4884138"/>
            <a:ext cx="1100335" cy="312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766344" y="1412776"/>
            <a:ext cx="7610890" cy="569654"/>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bg1"/>
                </a:solidFill>
                <a:latin typeface="微软雅黑" panose="020B0503020204020204" pitchFamily="34" charset="-122"/>
                <a:ea typeface="微软雅黑" panose="020B0503020204020204" pitchFamily="34" charset="-122"/>
              </a:rPr>
              <a:t>全局描述符表：</a:t>
            </a:r>
            <a:r>
              <a:rPr lang="en-US" altLang="zh-CN" sz="2000" b="1" dirty="0">
                <a:solidFill>
                  <a:schemeClr val="bg1"/>
                </a:solidFill>
                <a:latin typeface="微软雅黑" panose="020B0503020204020204" pitchFamily="34" charset="-122"/>
                <a:ea typeface="微软雅黑" panose="020B0503020204020204" pitchFamily="34" charset="-122"/>
              </a:rPr>
              <a:t>GDT</a:t>
            </a:r>
            <a:r>
              <a:rPr lang="zh-CN" altLang="en-US" sz="2000" b="1" dirty="0">
                <a:solidFill>
                  <a:schemeClr val="bg1"/>
                </a:solidFill>
                <a:latin typeface="微软雅黑" panose="020B0503020204020204" pitchFamily="34" charset="-122"/>
                <a:ea typeface="微软雅黑" panose="020B0503020204020204" pitchFamily="34" charset="-122"/>
              </a:rPr>
              <a:t>，唯一。局部描述符表：</a:t>
            </a:r>
            <a:r>
              <a:rPr lang="en-US" altLang="zh-CN" sz="2000" b="1" dirty="0">
                <a:solidFill>
                  <a:schemeClr val="bg1"/>
                </a:solidFill>
                <a:latin typeface="微软雅黑" panose="020B0503020204020204" pitchFamily="34" charset="-122"/>
                <a:ea typeface="微软雅黑" panose="020B0503020204020204" pitchFamily="34" charset="-122"/>
              </a:rPr>
              <a:t>LDT</a:t>
            </a:r>
            <a:r>
              <a:rPr lang="zh-CN" altLang="en-US" sz="2000" b="1" dirty="0">
                <a:solidFill>
                  <a:schemeClr val="bg1"/>
                </a:solidFill>
                <a:latin typeface="微软雅黑" panose="020B0503020204020204" pitchFamily="34" charset="-122"/>
                <a:ea typeface="微软雅黑" panose="020B0503020204020204" pitchFamily="34" charset="-122"/>
              </a:rPr>
              <a:t>，每个任务有。</a:t>
            </a:r>
          </a:p>
        </p:txBody>
      </p:sp>
      <p:sp>
        <p:nvSpPr>
          <p:cNvPr id="26" name="矩形 25"/>
          <p:cNvSpPr/>
          <p:nvPr/>
        </p:nvSpPr>
        <p:spPr>
          <a:xfrm>
            <a:off x="3774017" y="5226051"/>
            <a:ext cx="2200962" cy="3086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任务</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的</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LDT</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0" name="矩形 29"/>
          <p:cNvSpPr/>
          <p:nvPr/>
        </p:nvSpPr>
        <p:spPr>
          <a:xfrm>
            <a:off x="807786" y="3702259"/>
            <a:ext cx="1973017" cy="356312"/>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OS</a:t>
            </a:r>
            <a:r>
              <a:rPr lang="zh-CN" altLang="en-US" dirty="0">
                <a:latin typeface="微软雅黑" panose="020B0503020204020204" pitchFamily="34" charset="-122"/>
                <a:ea typeface="微软雅黑" panose="020B0503020204020204" pitchFamily="34" charset="-122"/>
              </a:rPr>
              <a:t>代码段描述符</a:t>
            </a:r>
          </a:p>
        </p:txBody>
      </p:sp>
      <p:sp>
        <p:nvSpPr>
          <p:cNvPr id="31" name="矩形 30"/>
          <p:cNvSpPr/>
          <p:nvPr/>
        </p:nvSpPr>
        <p:spPr>
          <a:xfrm>
            <a:off x="6444598" y="2072337"/>
            <a:ext cx="1974722" cy="187581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2" name="矩形 31"/>
          <p:cNvSpPr/>
          <p:nvPr/>
        </p:nvSpPr>
        <p:spPr>
          <a:xfrm>
            <a:off x="6444598" y="2159580"/>
            <a:ext cx="1974722" cy="659825"/>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代码段</a:t>
            </a:r>
          </a:p>
        </p:txBody>
      </p:sp>
      <p:sp>
        <p:nvSpPr>
          <p:cNvPr id="33" name="矩形 32"/>
          <p:cNvSpPr/>
          <p:nvPr/>
        </p:nvSpPr>
        <p:spPr>
          <a:xfrm>
            <a:off x="6452372" y="2837936"/>
            <a:ext cx="1974722" cy="619514"/>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数据段</a:t>
            </a:r>
          </a:p>
        </p:txBody>
      </p:sp>
      <p:sp>
        <p:nvSpPr>
          <p:cNvPr id="34" name="矩形 33"/>
          <p:cNvSpPr/>
          <p:nvPr/>
        </p:nvSpPr>
        <p:spPr>
          <a:xfrm>
            <a:off x="6331478" y="3528392"/>
            <a:ext cx="2200962" cy="3086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任务</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的地址空间</a:t>
            </a:r>
          </a:p>
        </p:txBody>
      </p:sp>
      <p:sp>
        <p:nvSpPr>
          <p:cNvPr id="35" name="矩形 34"/>
          <p:cNvSpPr/>
          <p:nvPr/>
        </p:nvSpPr>
        <p:spPr>
          <a:xfrm>
            <a:off x="6444598" y="4096539"/>
            <a:ext cx="1974722" cy="185274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6" name="矩形 35"/>
          <p:cNvSpPr/>
          <p:nvPr/>
        </p:nvSpPr>
        <p:spPr>
          <a:xfrm>
            <a:off x="6444598" y="4183782"/>
            <a:ext cx="1974722" cy="659825"/>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代码段</a:t>
            </a:r>
          </a:p>
        </p:txBody>
      </p:sp>
      <p:sp>
        <p:nvSpPr>
          <p:cNvPr id="37" name="矩形 36"/>
          <p:cNvSpPr/>
          <p:nvPr/>
        </p:nvSpPr>
        <p:spPr>
          <a:xfrm>
            <a:off x="6452372" y="4862138"/>
            <a:ext cx="1974722" cy="619514"/>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数据段</a:t>
            </a:r>
          </a:p>
        </p:txBody>
      </p:sp>
      <p:sp>
        <p:nvSpPr>
          <p:cNvPr id="38" name="矩形 37"/>
          <p:cNvSpPr/>
          <p:nvPr/>
        </p:nvSpPr>
        <p:spPr>
          <a:xfrm>
            <a:off x="6331478" y="5544616"/>
            <a:ext cx="2200962" cy="3086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任务</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的地址空间</a:t>
            </a:r>
          </a:p>
        </p:txBody>
      </p:sp>
      <p:cxnSp>
        <p:nvCxnSpPr>
          <p:cNvPr id="39" name="直接箭头连接符 38"/>
          <p:cNvCxnSpPr>
            <a:endCxn id="32" idx="1"/>
          </p:cNvCxnSpPr>
          <p:nvPr/>
        </p:nvCxnSpPr>
        <p:spPr>
          <a:xfrm flipV="1">
            <a:off x="5842078" y="2489493"/>
            <a:ext cx="602520" cy="659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endCxn id="33" idx="1"/>
          </p:cNvCxnSpPr>
          <p:nvPr/>
        </p:nvCxnSpPr>
        <p:spPr>
          <a:xfrm flipV="1">
            <a:off x="5884276" y="3147693"/>
            <a:ext cx="568096" cy="427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endCxn id="36" idx="1"/>
          </p:cNvCxnSpPr>
          <p:nvPr/>
        </p:nvCxnSpPr>
        <p:spPr>
          <a:xfrm>
            <a:off x="5823707" y="4490234"/>
            <a:ext cx="620891" cy="23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endCxn id="37" idx="1"/>
          </p:cNvCxnSpPr>
          <p:nvPr/>
        </p:nvCxnSpPr>
        <p:spPr>
          <a:xfrm>
            <a:off x="5850353" y="4896880"/>
            <a:ext cx="602019" cy="275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807785" y="4077072"/>
            <a:ext cx="1973017" cy="356312"/>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OS</a:t>
            </a:r>
            <a:r>
              <a:rPr lang="zh-CN" altLang="en-US" dirty="0">
                <a:latin typeface="微软雅黑" panose="020B0503020204020204" pitchFamily="34" charset="-122"/>
                <a:ea typeface="微软雅黑" panose="020B0503020204020204" pitchFamily="34" charset="-122"/>
              </a:rPr>
              <a:t>数据段描述符</a:t>
            </a:r>
          </a:p>
        </p:txBody>
      </p:sp>
      <p:sp>
        <p:nvSpPr>
          <p:cNvPr id="40" name="矩形 4"/>
          <p:cNvSpPr>
            <a:spLocks noChangeArrowheads="1"/>
          </p:cNvSpPr>
          <p:nvPr/>
        </p:nvSpPr>
        <p:spPr bwMode="auto">
          <a:xfrm>
            <a:off x="1721135" y="6153430"/>
            <a:ext cx="5437237" cy="381258"/>
          </a:xfrm>
          <a:prstGeom prst="rect">
            <a:avLst/>
          </a:prstGeom>
          <a:noFill/>
          <a:ln w="9525">
            <a:noFill/>
            <a:miter lim="800000"/>
            <a:headEnd/>
            <a:tailEnd/>
          </a:ln>
        </p:spPr>
        <p:txBody>
          <a:bodyPr wrap="square">
            <a:spAutoFit/>
          </a:bodyPr>
          <a:lstStyle/>
          <a:p>
            <a:pPr>
              <a:lnSpc>
                <a:spcPct val="130000"/>
              </a:lnSpc>
              <a:spcBef>
                <a:spcPts val="200"/>
              </a:spcBef>
              <a:spcAft>
                <a:spcPts val="60"/>
              </a:spcAft>
            </a:pPr>
            <a:r>
              <a:rPr lang="zh-CN" altLang="en-US" sz="1600" b="1" dirty="0">
                <a:solidFill>
                  <a:schemeClr val="tx1">
                    <a:lumMod val="65000"/>
                    <a:lumOff val="35000"/>
                  </a:schemeClr>
                </a:solidFill>
                <a:latin typeface="微软雅黑" pitchFamily="34" charset="-122"/>
                <a:ea typeface="微软雅黑" pitchFamily="34" charset="-122"/>
              </a:rPr>
              <a:t>描述符是特殊的</a:t>
            </a:r>
            <a:r>
              <a:rPr lang="en-US" altLang="zh-CN" sz="1600" b="1" dirty="0">
                <a:solidFill>
                  <a:schemeClr val="tx1">
                    <a:lumMod val="65000"/>
                    <a:lumOff val="35000"/>
                  </a:schemeClr>
                </a:solidFill>
                <a:latin typeface="微软雅黑" pitchFamily="34" charset="-122"/>
                <a:ea typeface="微软雅黑" pitchFamily="34" charset="-122"/>
              </a:rPr>
              <a:t>8</a:t>
            </a:r>
            <a:r>
              <a:rPr lang="zh-CN" altLang="en-US" sz="1600" b="1" dirty="0">
                <a:solidFill>
                  <a:schemeClr val="tx1">
                    <a:lumMod val="65000"/>
                    <a:lumOff val="35000"/>
                  </a:schemeClr>
                </a:solidFill>
                <a:latin typeface="微软雅黑" pitchFamily="34" charset="-122"/>
                <a:ea typeface="微软雅黑" pitchFamily="34" charset="-122"/>
              </a:rPr>
              <a:t>字节的字段，包含所描述的段的一些信息。</a:t>
            </a:r>
          </a:p>
        </p:txBody>
      </p:sp>
      <p:pic>
        <p:nvPicPr>
          <p:cNvPr id="42" name="Picture 2" descr="C:\Documents and Settings\tdz\桌面\未标题-1 拷贝.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82368" y="5948014"/>
            <a:ext cx="694256" cy="650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84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up)">
                                      <p:cBhvr>
                                        <p:cTn id="18" dur="500"/>
                                        <p:tgtEl>
                                          <p:spTgt spid="9"/>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up)">
                                      <p:cBhvr>
                                        <p:cTn id="21" dur="500"/>
                                        <p:tgtEl>
                                          <p:spTgt spid="15"/>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wipe(up)">
                                      <p:cBhvr>
                                        <p:cTn id="24" dur="500"/>
                                        <p:tgtEl>
                                          <p:spTgt spid="30"/>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up)">
                                      <p:cBhvr>
                                        <p:cTn id="27" dur="500"/>
                                        <p:tgtEl>
                                          <p:spTgt spid="4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up)">
                                      <p:cBhvr>
                                        <p:cTn id="32" dur="500"/>
                                        <p:tgtEl>
                                          <p:spTgt spid="11"/>
                                        </p:tgtEl>
                                      </p:cBhvr>
                                    </p:animEffect>
                                  </p:childTnLst>
                                </p:cTn>
                              </p:par>
                              <p:par>
                                <p:cTn id="33" presetID="22" presetClass="entr" presetSubtype="1"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up)">
                                      <p:cBhvr>
                                        <p:cTn id="35" dur="500"/>
                                        <p:tgtEl>
                                          <p:spTgt spid="12"/>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up)">
                                      <p:cBhvr>
                                        <p:cTn id="38" dur="500"/>
                                        <p:tgtEl>
                                          <p:spTgt spid="13"/>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up)">
                                      <p:cBhvr>
                                        <p:cTn id="41" dur="500"/>
                                        <p:tgtEl>
                                          <p:spTgt spid="14"/>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wipe(up)">
                                      <p:cBhvr>
                                        <p:cTn id="44" dur="500"/>
                                        <p:tgtEl>
                                          <p:spTgt spid="16"/>
                                        </p:tgtEl>
                                      </p:cBhvr>
                                    </p:animEffect>
                                  </p:childTnLst>
                                </p:cTn>
                              </p:par>
                              <p:par>
                                <p:cTn id="45" presetID="22" presetClass="entr" presetSubtype="1"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up)">
                                      <p:cBhvr>
                                        <p:cTn id="47" dur="500"/>
                                        <p:tgtEl>
                                          <p:spTgt spid="19"/>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up)">
                                      <p:cBhvr>
                                        <p:cTn id="50" dur="500"/>
                                        <p:tgtEl>
                                          <p:spTgt spid="20"/>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wipe(up)">
                                      <p:cBhvr>
                                        <p:cTn id="53" dur="500"/>
                                        <p:tgtEl>
                                          <p:spTgt spid="21"/>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wipe(up)">
                                      <p:cBhvr>
                                        <p:cTn id="56" dur="500"/>
                                        <p:tgtEl>
                                          <p:spTgt spid="22"/>
                                        </p:tgtEl>
                                      </p:cBhvr>
                                    </p:animEffect>
                                  </p:childTnLst>
                                </p:cTn>
                              </p:par>
                              <p:par>
                                <p:cTn id="57" presetID="22" presetClass="entr" presetSubtype="1"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wipe(up)">
                                      <p:cBhvr>
                                        <p:cTn id="59" dur="500"/>
                                        <p:tgtEl>
                                          <p:spTgt spid="23"/>
                                        </p:tgtEl>
                                      </p:cBhvr>
                                    </p:animEffect>
                                  </p:childTnLst>
                                </p:cTn>
                              </p:par>
                              <p:par>
                                <p:cTn id="60" presetID="22" presetClass="entr" presetSubtype="1" fill="hold"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wipe(up)">
                                      <p:cBhvr>
                                        <p:cTn id="62" dur="500"/>
                                        <p:tgtEl>
                                          <p:spTgt spid="24"/>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wipe(up)">
                                      <p:cBhvr>
                                        <p:cTn id="65" dur="500"/>
                                        <p:tgtEl>
                                          <p:spTgt spid="2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grpId="0" nodeType="click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wipe(up)">
                                      <p:cBhvr>
                                        <p:cTn id="70" dur="500"/>
                                        <p:tgtEl>
                                          <p:spTgt spid="31"/>
                                        </p:tgtEl>
                                      </p:cBhvr>
                                    </p:animEffect>
                                  </p:childTnLst>
                                </p:cTn>
                              </p:par>
                              <p:par>
                                <p:cTn id="71" presetID="22" presetClass="entr" presetSubtype="1"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wipe(up)">
                                      <p:cBhvr>
                                        <p:cTn id="73" dur="500"/>
                                        <p:tgtEl>
                                          <p:spTgt spid="32"/>
                                        </p:tgtEl>
                                      </p:cBhvr>
                                    </p:animEffect>
                                  </p:childTnLst>
                                </p:cTn>
                              </p:par>
                              <p:par>
                                <p:cTn id="74" presetID="22" presetClass="entr" presetSubtype="1"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wipe(up)">
                                      <p:cBhvr>
                                        <p:cTn id="76" dur="500"/>
                                        <p:tgtEl>
                                          <p:spTgt spid="33"/>
                                        </p:tgtEl>
                                      </p:cBhvr>
                                    </p:animEffect>
                                  </p:childTnLst>
                                </p:cTn>
                              </p:par>
                              <p:par>
                                <p:cTn id="77" presetID="22" presetClass="entr" presetSubtype="1" fill="hold" grpId="0" nodeType="with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up)">
                                      <p:cBhvr>
                                        <p:cTn id="79" dur="500"/>
                                        <p:tgtEl>
                                          <p:spTgt spid="34"/>
                                        </p:tgtEl>
                                      </p:cBhvr>
                                    </p:animEffect>
                                  </p:childTnLst>
                                </p:cTn>
                              </p:par>
                              <p:par>
                                <p:cTn id="80" presetID="22" presetClass="entr" presetSubtype="1" fill="hold" grpId="0" nodeType="with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wipe(up)">
                                      <p:cBhvr>
                                        <p:cTn id="82" dur="500"/>
                                        <p:tgtEl>
                                          <p:spTgt spid="35"/>
                                        </p:tgtEl>
                                      </p:cBhvr>
                                    </p:animEffect>
                                  </p:childTnLst>
                                </p:cTn>
                              </p:par>
                              <p:par>
                                <p:cTn id="83" presetID="22" presetClass="entr" presetSubtype="1" fill="hold" grpId="0" nodeType="with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wipe(up)">
                                      <p:cBhvr>
                                        <p:cTn id="85" dur="500"/>
                                        <p:tgtEl>
                                          <p:spTgt spid="36"/>
                                        </p:tgtEl>
                                      </p:cBhvr>
                                    </p:animEffect>
                                  </p:childTnLst>
                                </p:cTn>
                              </p:par>
                              <p:par>
                                <p:cTn id="86" presetID="22" presetClass="entr" presetSubtype="1" fill="hold" grpId="0" nodeType="with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wipe(up)">
                                      <p:cBhvr>
                                        <p:cTn id="88" dur="500"/>
                                        <p:tgtEl>
                                          <p:spTgt spid="37"/>
                                        </p:tgtEl>
                                      </p:cBhvr>
                                    </p:animEffect>
                                  </p:childTnLst>
                                </p:cTn>
                              </p:par>
                              <p:par>
                                <p:cTn id="89" presetID="22" presetClass="entr" presetSubtype="1" fill="hold" grpId="0" nodeType="with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wipe(up)">
                                      <p:cBhvr>
                                        <p:cTn id="91" dur="500"/>
                                        <p:tgtEl>
                                          <p:spTgt spid="38"/>
                                        </p:tgtEl>
                                      </p:cBhvr>
                                    </p:animEffect>
                                  </p:childTnLst>
                                </p:cTn>
                              </p:par>
                              <p:par>
                                <p:cTn id="92" presetID="22" presetClass="entr" presetSubtype="1" fill="hold" nodeType="with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wipe(up)">
                                      <p:cBhvr>
                                        <p:cTn id="94" dur="500"/>
                                        <p:tgtEl>
                                          <p:spTgt spid="39"/>
                                        </p:tgtEl>
                                      </p:cBhvr>
                                    </p:animEffect>
                                  </p:childTnLst>
                                </p:cTn>
                              </p:par>
                              <p:par>
                                <p:cTn id="95" presetID="22" presetClass="entr" presetSubtype="1" fill="hold" nodeType="withEffect">
                                  <p:stCondLst>
                                    <p:cond delay="0"/>
                                  </p:stCondLst>
                                  <p:childTnLst>
                                    <p:set>
                                      <p:cBhvr>
                                        <p:cTn id="96" dur="1" fill="hold">
                                          <p:stCondLst>
                                            <p:cond delay="0"/>
                                          </p:stCondLst>
                                        </p:cTn>
                                        <p:tgtEl>
                                          <p:spTgt spid="41"/>
                                        </p:tgtEl>
                                        <p:attrNameLst>
                                          <p:attrName>style.visibility</p:attrName>
                                        </p:attrNameLst>
                                      </p:cBhvr>
                                      <p:to>
                                        <p:strVal val="visible"/>
                                      </p:to>
                                    </p:set>
                                    <p:animEffect transition="in" filter="wipe(up)">
                                      <p:cBhvr>
                                        <p:cTn id="97" dur="500"/>
                                        <p:tgtEl>
                                          <p:spTgt spid="41"/>
                                        </p:tgtEl>
                                      </p:cBhvr>
                                    </p:animEffect>
                                  </p:childTnLst>
                                </p:cTn>
                              </p:par>
                              <p:par>
                                <p:cTn id="98" presetID="22" presetClass="entr" presetSubtype="1" fill="hold" nodeType="with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wipe(up)">
                                      <p:cBhvr>
                                        <p:cTn id="100" dur="500"/>
                                        <p:tgtEl>
                                          <p:spTgt spid="44"/>
                                        </p:tgtEl>
                                      </p:cBhvr>
                                    </p:animEffect>
                                  </p:childTnLst>
                                </p:cTn>
                              </p:par>
                              <p:par>
                                <p:cTn id="101" presetID="22" presetClass="entr" presetSubtype="1" fill="hold" nodeType="withEffect">
                                  <p:stCondLst>
                                    <p:cond delay="0"/>
                                  </p:stCondLst>
                                  <p:childTnLst>
                                    <p:set>
                                      <p:cBhvr>
                                        <p:cTn id="102" dur="1" fill="hold">
                                          <p:stCondLst>
                                            <p:cond delay="0"/>
                                          </p:stCondLst>
                                        </p:cTn>
                                        <p:tgtEl>
                                          <p:spTgt spid="46"/>
                                        </p:tgtEl>
                                        <p:attrNameLst>
                                          <p:attrName>style.visibility</p:attrName>
                                        </p:attrNameLst>
                                      </p:cBhvr>
                                      <p:to>
                                        <p:strVal val="visible"/>
                                      </p:to>
                                    </p:set>
                                    <p:animEffect transition="in" filter="wipe(up)">
                                      <p:cBhvr>
                                        <p:cTn id="103" dur="500"/>
                                        <p:tgtEl>
                                          <p:spTgt spid="46"/>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grpId="0" nodeType="click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wipe(down)">
                                      <p:cBhvr>
                                        <p:cTn id="108" dur="500"/>
                                        <p:tgtEl>
                                          <p:spTgt spid="40"/>
                                        </p:tgtEl>
                                      </p:cBhvr>
                                    </p:animEffect>
                                  </p:childTnLst>
                                </p:cTn>
                              </p:par>
                              <p:par>
                                <p:cTn id="109" presetID="22" presetClass="entr" presetSubtype="4" fill="hold" nodeType="with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wipe(down)">
                                      <p:cBhvr>
                                        <p:cTn id="11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3" grpId="0" animBg="1"/>
      <p:bldP spid="14" grpId="0" animBg="1"/>
      <p:bldP spid="15" grpId="0"/>
      <p:bldP spid="16" grpId="0"/>
      <p:bldP spid="20" grpId="0" animBg="1"/>
      <p:bldP spid="21" grpId="0" animBg="1"/>
      <p:bldP spid="22" grpId="0" animBg="1"/>
      <p:bldP spid="25" grpId="0" animBg="1"/>
      <p:bldP spid="26" grpId="0"/>
      <p:bldP spid="30" grpId="0" animBg="1"/>
      <p:bldP spid="31" grpId="0" animBg="1"/>
      <p:bldP spid="32" grpId="0" animBg="1"/>
      <p:bldP spid="33" grpId="0" animBg="1"/>
      <p:bldP spid="34" grpId="0"/>
      <p:bldP spid="35" grpId="0" animBg="1"/>
      <p:bldP spid="36" grpId="0" animBg="1"/>
      <p:bldP spid="37" grpId="0" animBg="1"/>
      <p:bldP spid="38" grpId="0"/>
      <p:bldP spid="49" grpId="0" animBg="1"/>
      <p:bldP spid="4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保护模式下的虚拟存储器大小</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5" name="矩形 4"/>
          <p:cNvSpPr/>
          <p:nvPr/>
        </p:nvSpPr>
        <p:spPr>
          <a:xfrm>
            <a:off x="982368" y="1340768"/>
            <a:ext cx="7190032" cy="569654"/>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latin typeface="微软雅黑" panose="020B0503020204020204" pitchFamily="34" charset="-122"/>
                <a:ea typeface="微软雅黑" panose="020B0503020204020204" pitchFamily="34" charset="-122"/>
              </a:rPr>
              <a:t>GDT</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LDT</a:t>
            </a:r>
            <a:r>
              <a:rPr lang="zh-CN" altLang="en-US" sz="2000" b="1" dirty="0">
                <a:latin typeface="微软雅黑" panose="020B0503020204020204" pitchFamily="34" charset="-122"/>
                <a:ea typeface="微软雅黑" panose="020B0503020204020204" pitchFamily="34" charset="-122"/>
              </a:rPr>
              <a:t>中最多各有</a:t>
            </a:r>
            <a:r>
              <a:rPr lang="en-US" altLang="zh-CN" sz="2000" b="1" dirty="0">
                <a:latin typeface="微软雅黑" panose="020B0503020204020204" pitchFamily="34" charset="-122"/>
                <a:ea typeface="微软雅黑" panose="020B0503020204020204" pitchFamily="34" charset="-122"/>
              </a:rPr>
              <a:t>2</a:t>
            </a:r>
            <a:r>
              <a:rPr lang="en-US" altLang="zh-CN" sz="2000" b="1" baseline="30000" dirty="0">
                <a:latin typeface="微软雅黑" panose="020B0503020204020204" pitchFamily="34" charset="-122"/>
                <a:ea typeface="微软雅黑" panose="020B0503020204020204" pitchFamily="34" charset="-122"/>
              </a:rPr>
              <a:t>13</a:t>
            </a:r>
            <a:r>
              <a:rPr lang="zh-CN" altLang="en-US" sz="2000" b="1" dirty="0">
                <a:latin typeface="微软雅黑" panose="020B0503020204020204" pitchFamily="34" charset="-122"/>
                <a:ea typeface="微软雅黑" panose="020B0503020204020204" pitchFamily="34" charset="-122"/>
              </a:rPr>
              <a:t>个描述符，每个描述符可寻址</a:t>
            </a:r>
            <a:r>
              <a:rPr lang="en-US" altLang="zh-CN" sz="2000" b="1" dirty="0">
                <a:latin typeface="微软雅黑" panose="020B0503020204020204" pitchFamily="34" charset="-122"/>
                <a:ea typeface="微软雅黑" panose="020B0503020204020204" pitchFamily="34" charset="-122"/>
              </a:rPr>
              <a:t>4GB</a:t>
            </a:r>
            <a:r>
              <a:rPr lang="zh-CN" altLang="en-US" sz="2000" b="1" dirty="0">
                <a:latin typeface="微软雅黑" panose="020B0503020204020204" pitchFamily="34" charset="-122"/>
                <a:ea typeface="微软雅黑" panose="020B0503020204020204" pitchFamily="34" charset="-122"/>
              </a:rPr>
              <a:t>。</a:t>
            </a:r>
            <a:endParaRPr lang="zh-CN" altLang="en-US" sz="2000" b="1" u="sng"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2699679" y="2924944"/>
            <a:ext cx="1973017" cy="121480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矩形 7"/>
          <p:cNvSpPr/>
          <p:nvPr/>
        </p:nvSpPr>
        <p:spPr>
          <a:xfrm>
            <a:off x="2705791" y="2927614"/>
            <a:ext cx="1973017" cy="252138"/>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描述符</a:t>
            </a: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p:txBody>
      </p:sp>
      <p:sp>
        <p:nvSpPr>
          <p:cNvPr id="9" name="矩形 8"/>
          <p:cNvSpPr/>
          <p:nvPr/>
        </p:nvSpPr>
        <p:spPr>
          <a:xfrm>
            <a:off x="2701796" y="3558639"/>
            <a:ext cx="1973017" cy="290795"/>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描述符</a:t>
            </a:r>
            <a:r>
              <a:rPr lang="en-US" altLang="zh-CN" sz="1400" dirty="0">
                <a:latin typeface="微软雅黑" panose="020B0503020204020204" pitchFamily="34" charset="-122"/>
                <a:ea typeface="微软雅黑" panose="020B0503020204020204" pitchFamily="34" charset="-122"/>
              </a:rPr>
              <a:t>8191</a:t>
            </a:r>
            <a:endParaRPr lang="zh-CN" altLang="en-US" sz="1400" dirty="0">
              <a:latin typeface="微软雅黑" panose="020B0503020204020204" pitchFamily="34" charset="-122"/>
              <a:ea typeface="微软雅黑" panose="020B0503020204020204" pitchFamily="34" charset="-122"/>
            </a:endParaRPr>
          </a:p>
        </p:txBody>
      </p:sp>
      <p:sp>
        <p:nvSpPr>
          <p:cNvPr id="11" name="矩形 10"/>
          <p:cNvSpPr/>
          <p:nvPr/>
        </p:nvSpPr>
        <p:spPr>
          <a:xfrm>
            <a:off x="2699679" y="4393866"/>
            <a:ext cx="1973016" cy="121480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3" name="矩形 12"/>
          <p:cNvSpPr/>
          <p:nvPr/>
        </p:nvSpPr>
        <p:spPr>
          <a:xfrm>
            <a:off x="2698826" y="4420553"/>
            <a:ext cx="1974722" cy="249217"/>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描述符</a:t>
            </a: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p:txBody>
      </p:sp>
      <p:sp>
        <p:nvSpPr>
          <p:cNvPr id="14" name="矩形 13"/>
          <p:cNvSpPr/>
          <p:nvPr/>
        </p:nvSpPr>
        <p:spPr>
          <a:xfrm>
            <a:off x="2697973" y="5021135"/>
            <a:ext cx="1974722" cy="254276"/>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描述符</a:t>
            </a:r>
            <a:r>
              <a:rPr lang="en-US" altLang="zh-CN" sz="1400" dirty="0">
                <a:latin typeface="微软雅黑" panose="020B0503020204020204" pitchFamily="34" charset="-122"/>
                <a:ea typeface="微软雅黑" panose="020B0503020204020204" pitchFamily="34" charset="-122"/>
              </a:rPr>
              <a:t>8191</a:t>
            </a:r>
            <a:endParaRPr lang="zh-CN" altLang="en-US" sz="1400" dirty="0">
              <a:latin typeface="微软雅黑" panose="020B0503020204020204" pitchFamily="34" charset="-122"/>
              <a:ea typeface="微软雅黑" panose="020B0503020204020204" pitchFamily="34" charset="-122"/>
            </a:endParaRPr>
          </a:p>
        </p:txBody>
      </p:sp>
      <p:sp>
        <p:nvSpPr>
          <p:cNvPr id="15" name="矩形 14"/>
          <p:cNvSpPr/>
          <p:nvPr/>
        </p:nvSpPr>
        <p:spPr>
          <a:xfrm>
            <a:off x="1676037" y="3428995"/>
            <a:ext cx="1224136" cy="364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GDT</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矩形 15"/>
          <p:cNvSpPr/>
          <p:nvPr/>
        </p:nvSpPr>
        <p:spPr>
          <a:xfrm>
            <a:off x="1187624" y="4966675"/>
            <a:ext cx="2200962" cy="3086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LDT</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5" name="矩形 24"/>
          <p:cNvSpPr/>
          <p:nvPr/>
        </p:nvSpPr>
        <p:spPr>
          <a:xfrm>
            <a:off x="982368" y="1995250"/>
            <a:ext cx="7190032" cy="569654"/>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solidFill>
                  <a:schemeClr val="bg1"/>
                </a:solidFill>
                <a:latin typeface="微软雅黑" panose="020B0503020204020204" pitchFamily="34" charset="-122"/>
                <a:ea typeface="微软雅黑" panose="020B0503020204020204" pitchFamily="34" charset="-122"/>
              </a:rPr>
              <a:t>80386</a:t>
            </a:r>
            <a:r>
              <a:rPr lang="zh-CN" altLang="en-US" sz="2000" b="1" dirty="0">
                <a:solidFill>
                  <a:srgbClr val="FFFF00"/>
                </a:solidFill>
                <a:latin typeface="微软雅黑" panose="020B0503020204020204" pitchFamily="34" charset="-122"/>
                <a:ea typeface="微软雅黑" panose="020B0503020204020204" pitchFamily="34" charset="-122"/>
              </a:rPr>
              <a:t>理论上</a:t>
            </a:r>
            <a:r>
              <a:rPr lang="zh-CN" altLang="en-US" sz="2000" b="1" dirty="0">
                <a:solidFill>
                  <a:schemeClr val="bg1"/>
                </a:solidFill>
                <a:latin typeface="微软雅黑" panose="020B0503020204020204" pitchFamily="34" charset="-122"/>
                <a:ea typeface="微软雅黑" panose="020B0503020204020204" pitchFamily="34" charset="-122"/>
              </a:rPr>
              <a:t>可以寻址：</a:t>
            </a:r>
            <a:r>
              <a:rPr lang="en-US" altLang="zh-CN" sz="2000" b="1" dirty="0" smtClean="0">
                <a:solidFill>
                  <a:schemeClr val="bg1"/>
                </a:solidFill>
                <a:latin typeface="微软雅黑" panose="020B0503020204020204" pitchFamily="34" charset="-122"/>
                <a:ea typeface="微软雅黑" panose="020B0503020204020204" pitchFamily="34" charset="-122"/>
              </a:rPr>
              <a:t>2</a:t>
            </a:r>
            <a:r>
              <a:rPr lang="en-US" altLang="zh-CN" sz="2000" b="1" baseline="30000" dirty="0" smtClean="0">
                <a:solidFill>
                  <a:schemeClr val="bg1"/>
                </a:solidFill>
                <a:latin typeface="微软雅黑" panose="020B0503020204020204" pitchFamily="34" charset="-122"/>
                <a:ea typeface="微软雅黑" panose="020B0503020204020204" pitchFamily="34" charset="-122"/>
              </a:rPr>
              <a:t>46</a:t>
            </a:r>
            <a:r>
              <a:rPr lang="en-US" altLang="zh-CN" sz="2000" b="1" dirty="0" smtClean="0">
                <a:solidFill>
                  <a:schemeClr val="bg1"/>
                </a:solidFill>
                <a:latin typeface="微软雅黑" panose="020B0503020204020204" pitchFamily="34" charset="-122"/>
                <a:ea typeface="微软雅黑" panose="020B0503020204020204" pitchFamily="34" charset="-122"/>
              </a:rPr>
              <a:t>B</a:t>
            </a:r>
            <a:r>
              <a:rPr lang="zh-CN" altLang="en-US" sz="2000" b="1" dirty="0">
                <a:solidFill>
                  <a:schemeClr val="bg1"/>
                </a:solidFill>
                <a:latin typeface="微软雅黑" panose="020B0503020204020204" pitchFamily="34" charset="-122"/>
                <a:ea typeface="微软雅黑" panose="020B0503020204020204" pitchFamily="34" charset="-122"/>
              </a:rPr>
              <a:t>的虚拟存储器。</a:t>
            </a:r>
          </a:p>
        </p:txBody>
      </p:sp>
      <p:sp>
        <p:nvSpPr>
          <p:cNvPr id="31" name="矩形 30"/>
          <p:cNvSpPr/>
          <p:nvPr/>
        </p:nvSpPr>
        <p:spPr>
          <a:xfrm>
            <a:off x="5395911" y="2780928"/>
            <a:ext cx="1759088" cy="149466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4" name="矩形 33"/>
          <p:cNvSpPr/>
          <p:nvPr/>
        </p:nvSpPr>
        <p:spPr>
          <a:xfrm>
            <a:off x="5591379" y="3318379"/>
            <a:ext cx="1368152" cy="41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4GB</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线性地址空间</a:t>
            </a:r>
          </a:p>
        </p:txBody>
      </p:sp>
      <p:sp>
        <p:nvSpPr>
          <p:cNvPr id="23" name="矩形 4"/>
          <p:cNvSpPr>
            <a:spLocks noChangeArrowheads="1"/>
          </p:cNvSpPr>
          <p:nvPr/>
        </p:nvSpPr>
        <p:spPr bwMode="auto">
          <a:xfrm>
            <a:off x="1721135" y="6153430"/>
            <a:ext cx="5437237" cy="412421"/>
          </a:xfrm>
          <a:prstGeom prst="rect">
            <a:avLst/>
          </a:prstGeom>
          <a:noFill/>
          <a:ln w="9525">
            <a:noFill/>
            <a:miter lim="800000"/>
            <a:headEnd/>
            <a:tailEnd/>
          </a:ln>
        </p:spPr>
        <p:txBody>
          <a:bodyPr wrap="square">
            <a:spAutoFit/>
          </a:bodyPr>
          <a:lstStyle/>
          <a:p>
            <a:pPr>
              <a:lnSpc>
                <a:spcPct val="130000"/>
              </a:lnSpc>
              <a:spcBef>
                <a:spcPts val="200"/>
              </a:spcBef>
              <a:spcAft>
                <a:spcPts val="60"/>
              </a:spcAft>
            </a:pPr>
            <a:r>
              <a:rPr lang="zh-CN" altLang="en-US" sz="1600" b="1" dirty="0">
                <a:solidFill>
                  <a:schemeClr val="tx1">
                    <a:lumMod val="65000"/>
                    <a:lumOff val="35000"/>
                  </a:schemeClr>
                </a:solidFill>
                <a:latin typeface="微软雅黑" pitchFamily="34" charset="-122"/>
                <a:ea typeface="微软雅黑" pitchFamily="34" charset="-122"/>
              </a:rPr>
              <a:t>实际的</a:t>
            </a:r>
            <a:r>
              <a:rPr lang="en-US" altLang="zh-CN" sz="1600" b="1" dirty="0">
                <a:solidFill>
                  <a:schemeClr val="tx1">
                    <a:lumMod val="65000"/>
                    <a:lumOff val="35000"/>
                  </a:schemeClr>
                </a:solidFill>
                <a:latin typeface="微软雅黑" pitchFamily="34" charset="-122"/>
                <a:ea typeface="微软雅黑" pitchFamily="34" charset="-122"/>
              </a:rPr>
              <a:t>Linux</a:t>
            </a:r>
            <a:r>
              <a:rPr lang="zh-CN" altLang="en-US" sz="1600" b="1" dirty="0">
                <a:solidFill>
                  <a:schemeClr val="tx1">
                    <a:lumMod val="65000"/>
                    <a:lumOff val="35000"/>
                  </a:schemeClr>
                </a:solidFill>
                <a:latin typeface="微软雅黑" pitchFamily="34" charset="-122"/>
                <a:ea typeface="微软雅黑" pitchFamily="34" charset="-122"/>
              </a:rPr>
              <a:t>和</a:t>
            </a:r>
            <a:r>
              <a:rPr lang="en-US" altLang="zh-CN" sz="1600" b="1" dirty="0">
                <a:solidFill>
                  <a:schemeClr val="tx1">
                    <a:lumMod val="65000"/>
                    <a:lumOff val="35000"/>
                  </a:schemeClr>
                </a:solidFill>
                <a:latin typeface="微软雅黑" pitchFamily="34" charset="-122"/>
                <a:ea typeface="微软雅黑" pitchFamily="34" charset="-122"/>
              </a:rPr>
              <a:t>Windows</a:t>
            </a:r>
            <a:r>
              <a:rPr lang="zh-CN" altLang="en-US" sz="1600" b="1" dirty="0">
                <a:solidFill>
                  <a:schemeClr val="tx1">
                    <a:lumMod val="65000"/>
                    <a:lumOff val="35000"/>
                  </a:schemeClr>
                </a:solidFill>
                <a:latin typeface="微软雅黑" pitchFamily="34" charset="-122"/>
                <a:ea typeface="微软雅黑" pitchFamily="34" charset="-122"/>
              </a:rPr>
              <a:t>，每个任务规定</a:t>
            </a:r>
            <a:r>
              <a:rPr lang="en-US" altLang="zh-CN" sz="1600" b="1" dirty="0">
                <a:solidFill>
                  <a:schemeClr val="tx1">
                    <a:lumMod val="65000"/>
                    <a:lumOff val="35000"/>
                  </a:schemeClr>
                </a:solidFill>
                <a:latin typeface="微软雅黑" pitchFamily="34" charset="-122"/>
                <a:ea typeface="微软雅黑" pitchFamily="34" charset="-122"/>
              </a:rPr>
              <a:t>4GB</a:t>
            </a:r>
            <a:r>
              <a:rPr lang="zh-CN" altLang="en-US" sz="1600" b="1" dirty="0">
                <a:solidFill>
                  <a:schemeClr val="tx1">
                    <a:lumMod val="65000"/>
                    <a:lumOff val="35000"/>
                  </a:schemeClr>
                </a:solidFill>
                <a:latin typeface="微软雅黑" pitchFamily="34" charset="-122"/>
                <a:ea typeface="微软雅黑" pitchFamily="34" charset="-122"/>
              </a:rPr>
              <a:t>的线性空间。</a:t>
            </a:r>
          </a:p>
        </p:txBody>
      </p:sp>
      <p:pic>
        <p:nvPicPr>
          <p:cNvPr id="24" name="Picture 2" descr="C:\Documents and Settings\tdz\桌面\未标题-1 拷贝.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82368" y="5948014"/>
            <a:ext cx="694256" cy="650798"/>
          </a:xfrm>
          <a:prstGeom prst="rect">
            <a:avLst/>
          </a:prstGeom>
          <a:noFill/>
          <a:extLst>
            <a:ext uri="{909E8E84-426E-40DD-AFC4-6F175D3DCCD1}">
              <a14:hiddenFill xmlns:a14="http://schemas.microsoft.com/office/drawing/2010/main">
                <a:solidFill>
                  <a:srgbClr val="FFFFFF"/>
                </a:solidFill>
              </a14:hiddenFill>
            </a:ext>
          </a:extLst>
        </p:spPr>
      </p:pic>
      <p:sp>
        <p:nvSpPr>
          <p:cNvPr id="21" name="矩形 20"/>
          <p:cNvSpPr/>
          <p:nvPr/>
        </p:nvSpPr>
        <p:spPr>
          <a:xfrm>
            <a:off x="5398727" y="4593953"/>
            <a:ext cx="1759088" cy="145632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2" name="矩形 21"/>
          <p:cNvSpPr/>
          <p:nvPr/>
        </p:nvSpPr>
        <p:spPr>
          <a:xfrm>
            <a:off x="5592468" y="5107951"/>
            <a:ext cx="1368152" cy="41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4GB</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线性地址空间</a:t>
            </a:r>
          </a:p>
        </p:txBody>
      </p:sp>
      <p:cxnSp>
        <p:nvCxnSpPr>
          <p:cNvPr id="17" name="直接箭头连接符 16"/>
          <p:cNvCxnSpPr>
            <a:stCxn id="8" idx="3"/>
            <a:endCxn id="31" idx="1"/>
          </p:cNvCxnSpPr>
          <p:nvPr/>
        </p:nvCxnSpPr>
        <p:spPr>
          <a:xfrm>
            <a:off x="4678808" y="3053683"/>
            <a:ext cx="717103" cy="4745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3" idx="3"/>
            <a:endCxn id="21" idx="1"/>
          </p:cNvCxnSpPr>
          <p:nvPr/>
        </p:nvCxnSpPr>
        <p:spPr>
          <a:xfrm>
            <a:off x="4673548" y="4545162"/>
            <a:ext cx="725179" cy="7769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4424069" y="3929855"/>
            <a:ext cx="1224136" cy="364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a:t>
            </a:r>
          </a:p>
          <a:p>
            <a:pPr algn="ct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a:t>
            </a:r>
          </a:p>
          <a:p>
            <a:pPr algn="ct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a:t>
            </a:r>
          </a:p>
          <a:p>
            <a:pPr algn="ct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73111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500"/>
                                        <p:tgtEl>
                                          <p:spTgt spid="13"/>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wipe(left)">
                                      <p:cBhvr>
                                        <p:cTn id="43" dur="500"/>
                                        <p:tgtEl>
                                          <p:spTgt spid="34"/>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wipe(left)">
                                      <p:cBhvr>
                                        <p:cTn id="46" dur="500"/>
                                        <p:tgtEl>
                                          <p:spTgt spid="3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wipe(left)">
                                      <p:cBhvr>
                                        <p:cTn id="51" dur="500"/>
                                        <p:tgtEl>
                                          <p:spTgt spid="27"/>
                                        </p:tgtEl>
                                      </p:cBhvr>
                                    </p:animEffect>
                                  </p:childTnLst>
                                </p:cTn>
                              </p:par>
                              <p:par>
                                <p:cTn id="52" presetID="22" presetClass="entr" presetSubtype="8"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500"/>
                                        <p:tgtEl>
                                          <p:spTgt spid="19"/>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wipe(left)">
                                      <p:cBhvr>
                                        <p:cTn id="57" dur="500"/>
                                        <p:tgtEl>
                                          <p:spTgt spid="22"/>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wipe(left)">
                                      <p:cBhvr>
                                        <p:cTn id="60" dur="500"/>
                                        <p:tgtEl>
                                          <p:spTgt spid="21"/>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wipe(left)">
                                      <p:cBhvr>
                                        <p:cTn id="65" dur="500"/>
                                        <p:tgtEl>
                                          <p:spTgt spid="2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wipe(left)">
                                      <p:cBhvr>
                                        <p:cTn id="70" dur="500"/>
                                        <p:tgtEl>
                                          <p:spTgt spid="24"/>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wipe(left)">
                                      <p:cBhvr>
                                        <p:cTn id="7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1" grpId="0" animBg="1"/>
      <p:bldP spid="13" grpId="0" animBg="1"/>
      <p:bldP spid="14" grpId="0" animBg="1"/>
      <p:bldP spid="15" grpId="0"/>
      <p:bldP spid="16" grpId="0"/>
      <p:bldP spid="25" grpId="0" animBg="1"/>
      <p:bldP spid="31" grpId="0" animBg="1"/>
      <p:bldP spid="34" grpId="0"/>
      <p:bldP spid="23" grpId="0"/>
      <p:bldP spid="21" grpId="0" animBg="1"/>
      <p:bldP spid="22" grpId="0"/>
      <p:bldP spid="2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8"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保护模式：分段的优点</a:t>
            </a:r>
            <a:endParaRPr lang="en-US" altLang="zh-CN" sz="3200" b="1" dirty="0">
              <a:solidFill>
                <a:srgbClr val="00B0F0"/>
              </a:solidFill>
              <a:latin typeface="微软雅黑" pitchFamily="34" charset="-122"/>
              <a:ea typeface="微软雅黑" pitchFamily="34" charset="-122"/>
            </a:endParaRPr>
          </a:p>
        </p:txBody>
      </p:sp>
      <p:cxnSp>
        <p:nvCxnSpPr>
          <p:cNvPr id="19" name="直接连接符 18"/>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0" name="矩形 29"/>
          <p:cNvSpPr/>
          <p:nvPr/>
        </p:nvSpPr>
        <p:spPr>
          <a:xfrm>
            <a:off x="1411474" y="1556792"/>
            <a:ext cx="7192974" cy="824462"/>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每个任务有自己的地址空间，任务隔离，各自独立。</a:t>
            </a:r>
            <a:endParaRPr lang="zh-CN" altLang="en-US" sz="2000" b="1" u="sng" dirty="0">
              <a:solidFill>
                <a:schemeClr val="bg1"/>
              </a:solidFill>
              <a:ea typeface="微软雅黑" panose="020B0503020204020204" pitchFamily="34" charset="-122"/>
            </a:endParaRPr>
          </a:p>
        </p:txBody>
      </p:sp>
      <p:sp>
        <p:nvSpPr>
          <p:cNvPr id="31" name="矩形 30"/>
          <p:cNvSpPr/>
          <p:nvPr/>
        </p:nvSpPr>
        <p:spPr>
          <a:xfrm>
            <a:off x="835621" y="1556792"/>
            <a:ext cx="575852" cy="82446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1</a:t>
            </a:r>
            <a:endParaRPr lang="zh-CN" altLang="en-US" sz="3200" dirty="0">
              <a:latin typeface="Arial Black" pitchFamily="34" charset="0"/>
            </a:endParaRPr>
          </a:p>
        </p:txBody>
      </p:sp>
      <p:sp>
        <p:nvSpPr>
          <p:cNvPr id="32" name="矩形 31"/>
          <p:cNvSpPr/>
          <p:nvPr/>
        </p:nvSpPr>
        <p:spPr>
          <a:xfrm>
            <a:off x="1411474" y="2564904"/>
            <a:ext cx="7192974" cy="824462"/>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易于保护数据不被未授权的用户访问，程序不被别的进程破坏。</a:t>
            </a:r>
            <a:endParaRPr lang="zh-CN" altLang="en-US" sz="2000" b="1" u="sng" dirty="0">
              <a:solidFill>
                <a:schemeClr val="bg1"/>
              </a:solidFill>
              <a:ea typeface="微软雅黑" panose="020B0503020204020204" pitchFamily="34" charset="-122"/>
            </a:endParaRPr>
          </a:p>
        </p:txBody>
      </p:sp>
      <p:sp>
        <p:nvSpPr>
          <p:cNvPr id="33" name="矩形 32"/>
          <p:cNvSpPr/>
          <p:nvPr/>
        </p:nvSpPr>
        <p:spPr>
          <a:xfrm>
            <a:off x="835621" y="2564904"/>
            <a:ext cx="575852" cy="82446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2</a:t>
            </a:r>
            <a:endParaRPr lang="zh-CN" altLang="en-US" sz="3200" dirty="0">
              <a:latin typeface="Arial Black" pitchFamily="34" charset="0"/>
            </a:endParaRPr>
          </a:p>
        </p:txBody>
      </p:sp>
      <p:sp>
        <p:nvSpPr>
          <p:cNvPr id="13" name="矩形 12"/>
          <p:cNvSpPr/>
          <p:nvPr/>
        </p:nvSpPr>
        <p:spPr>
          <a:xfrm>
            <a:off x="1411473" y="3573016"/>
            <a:ext cx="7192974" cy="824462"/>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ea typeface="微软雅黑" panose="020B0503020204020204" pitchFamily="34" charset="-122"/>
              </a:rPr>
              <a:t>LDT</a:t>
            </a:r>
            <a:r>
              <a:rPr lang="zh-CN" altLang="en-US" sz="2000" b="1" dirty="0">
                <a:ea typeface="微软雅黑" panose="020B0503020204020204" pitchFamily="34" charset="-122"/>
              </a:rPr>
              <a:t>和</a:t>
            </a:r>
            <a:r>
              <a:rPr lang="en-US" altLang="zh-CN" sz="2000" b="1" dirty="0">
                <a:ea typeface="微软雅黑" panose="020B0503020204020204" pitchFamily="34" charset="-122"/>
              </a:rPr>
              <a:t>GDT</a:t>
            </a:r>
            <a:r>
              <a:rPr lang="zh-CN" altLang="en-US" sz="2000" b="1" dirty="0">
                <a:ea typeface="微软雅黑" panose="020B0503020204020204" pitchFamily="34" charset="-122"/>
              </a:rPr>
              <a:t>实现进程的虚拟地址的隔离。</a:t>
            </a:r>
            <a:endParaRPr lang="zh-CN" altLang="en-US" sz="2000" b="1" u="sng" dirty="0">
              <a:solidFill>
                <a:schemeClr val="bg1"/>
              </a:solidFill>
              <a:ea typeface="微软雅黑" panose="020B0503020204020204" pitchFamily="34" charset="-122"/>
            </a:endParaRPr>
          </a:p>
        </p:txBody>
      </p:sp>
      <p:sp>
        <p:nvSpPr>
          <p:cNvPr id="21" name="矩形 20"/>
          <p:cNvSpPr/>
          <p:nvPr/>
        </p:nvSpPr>
        <p:spPr>
          <a:xfrm>
            <a:off x="835620" y="3573016"/>
            <a:ext cx="575852" cy="82446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3</a:t>
            </a:r>
            <a:endParaRPr lang="zh-CN" altLang="en-US" sz="3200" dirty="0">
              <a:latin typeface="Arial Black" pitchFamily="34" charset="0"/>
            </a:endParaRPr>
          </a:p>
        </p:txBody>
      </p:sp>
    </p:spTree>
    <p:extLst>
      <p:ext uri="{BB962C8B-B14F-4D97-AF65-F5344CB8AC3E}">
        <p14:creationId xmlns:p14="http://schemas.microsoft.com/office/powerpoint/2010/main" val="4058861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par>
                                <p:cTn id="8" presetID="22" presetClass="entr" presetSubtype="8" fill="hold" grpId="0" nodeType="withEffect">
                                  <p:stCondLst>
                                    <p:cond delay="500"/>
                                  </p:stCondLst>
                                  <p:childTnLst>
                                    <p:set>
                                      <p:cBhvr>
                                        <p:cTn id="9" dur="1" fill="hold">
                                          <p:stCondLst>
                                            <p:cond delay="0"/>
                                          </p:stCondLst>
                                        </p:cTn>
                                        <p:tgtEl>
                                          <p:spTgt spid="30"/>
                                        </p:tgtEl>
                                        <p:attrNameLst>
                                          <p:attrName>style.visibility</p:attrName>
                                        </p:attrNameLst>
                                      </p:cBhvr>
                                      <p:to>
                                        <p:strVal val="visible"/>
                                      </p:to>
                                    </p:set>
                                    <p:animEffect transition="in" filter="wipe(left)">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500"/>
                                        <p:tgtEl>
                                          <p:spTgt spid="33"/>
                                        </p:tgtEl>
                                      </p:cBhvr>
                                    </p:animEffect>
                                  </p:childTnLst>
                                </p:cTn>
                              </p:par>
                              <p:par>
                                <p:cTn id="16" presetID="22" presetClass="entr" presetSubtype="8" fill="hold" grpId="0" nodeType="withEffect">
                                  <p:stCondLst>
                                    <p:cond delay="500"/>
                                  </p:stCondLst>
                                  <p:childTnLst>
                                    <p:set>
                                      <p:cBhvr>
                                        <p:cTn id="17" dur="1" fill="hold">
                                          <p:stCondLst>
                                            <p:cond delay="0"/>
                                          </p:stCondLst>
                                        </p:cTn>
                                        <p:tgtEl>
                                          <p:spTgt spid="32"/>
                                        </p:tgtEl>
                                        <p:attrNameLst>
                                          <p:attrName>style.visibility</p:attrName>
                                        </p:attrNameLst>
                                      </p:cBhvr>
                                      <p:to>
                                        <p:strVal val="visible"/>
                                      </p:to>
                                    </p:set>
                                    <p:animEffect transition="in" filter="wipe(left)">
                                      <p:cBhvr>
                                        <p:cTn id="18" dur="500"/>
                                        <p:tgtEl>
                                          <p:spTgt spid="3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left)">
                                      <p:cBhvr>
                                        <p:cTn id="23" dur="500"/>
                                        <p:tgtEl>
                                          <p:spTgt spid="21"/>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13" grpId="0" animBg="1"/>
      <p:bldP spid="2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anose="020B0503020204020204" pitchFamily="34" charset="-122"/>
              <a:ea typeface="微软雅黑" panose="020B0503020204020204" pitchFamily="34" charset="-122"/>
            </a:endParaRPr>
          </a:p>
        </p:txBody>
      </p:sp>
      <p:sp>
        <p:nvSpPr>
          <p:cNvPr id="10" name="TextBox 15"/>
          <p:cNvSpPr txBox="1"/>
          <p:nvPr/>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pPr algn="ctr"/>
              <a:t>27</a:t>
            </a:fld>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t> </a:t>
            </a:r>
            <a:endParaRPr lang="zh-CN" altLang="en-US" sz="1600" b="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2" name="TextBox 15"/>
          <p:cNvSpPr txBox="1">
            <a:spLocks noChangeArrowheads="1"/>
          </p:cNvSpPr>
          <p:nvPr/>
        </p:nvSpPr>
        <p:spPr bwMode="auto">
          <a:xfrm>
            <a:off x="2966244" y="4119885"/>
            <a:ext cx="3405956" cy="1884273"/>
          </a:xfrm>
          <a:prstGeom prst="rect">
            <a:avLst/>
          </a:prstGeom>
          <a:noFill/>
          <a:ln w="9525">
            <a:noFill/>
            <a:miter lim="800000"/>
            <a:headEnd/>
            <a:tailEnd/>
          </a:ln>
        </p:spPr>
        <p:txBody>
          <a:bodyPr wrap="square" lIns="67730" tIns="33865" rIns="67730" bIns="33865">
            <a:spAutoFit/>
          </a:bodyP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indent="-342900" defTabSz="762000">
              <a:lnSpc>
                <a:spcPct val="150000"/>
              </a:lnSpc>
              <a:spcAft>
                <a:spcPts val="600"/>
              </a:spcAft>
              <a:buFont typeface="Wingdings" pitchFamily="2" charset="2"/>
              <a:buChar char="u"/>
            </a:pPr>
            <a:r>
              <a:rPr lang="zh-CN" altLang="en-US" sz="2400" b="1" dirty="0">
                <a:solidFill>
                  <a:schemeClr val="tx1">
                    <a:lumMod val="65000"/>
                    <a:lumOff val="35000"/>
                  </a:schemeClr>
                </a:solidFill>
                <a:latin typeface="微软雅黑" pitchFamily="34" charset="-122"/>
                <a:ea typeface="微软雅黑" pitchFamily="34" charset="-122"/>
              </a:rPr>
              <a:t>保护模式下的分段</a:t>
            </a:r>
            <a:endParaRPr lang="en-US" altLang="zh-CN" sz="2400" b="1" dirty="0">
              <a:solidFill>
                <a:schemeClr val="tx1">
                  <a:lumMod val="65000"/>
                  <a:lumOff val="35000"/>
                </a:schemeClr>
              </a:solidFill>
              <a:latin typeface="微软雅黑" pitchFamily="34" charset="-122"/>
              <a:ea typeface="微软雅黑" pitchFamily="34" charset="-122"/>
            </a:endParaRPr>
          </a:p>
          <a:p>
            <a:pPr indent="-342900" defTabSz="762000">
              <a:lnSpc>
                <a:spcPct val="150000"/>
              </a:lnSpc>
              <a:spcAft>
                <a:spcPts val="600"/>
              </a:spcAft>
              <a:buFont typeface="Wingdings" pitchFamily="2" charset="2"/>
              <a:buChar char="u"/>
            </a:pPr>
            <a:r>
              <a:rPr lang="zh-CN" altLang="en-US" sz="2400" b="1" dirty="0">
                <a:solidFill>
                  <a:srgbClr val="FF3255"/>
                </a:solidFill>
                <a:latin typeface="微软雅黑" pitchFamily="34" charset="-122"/>
                <a:ea typeface="微软雅黑" pitchFamily="34" charset="-122"/>
              </a:rPr>
              <a:t>保护模式下的分页</a:t>
            </a:r>
            <a:endParaRPr lang="en-US" altLang="zh-CN" sz="2400" b="1" dirty="0">
              <a:solidFill>
                <a:srgbClr val="FF3255"/>
              </a:solidFill>
              <a:latin typeface="微软雅黑" pitchFamily="34" charset="-122"/>
              <a:ea typeface="微软雅黑" pitchFamily="34" charset="-122"/>
            </a:endParaRPr>
          </a:p>
          <a:p>
            <a:pPr indent="-342900" defTabSz="762000">
              <a:lnSpc>
                <a:spcPct val="150000"/>
              </a:lnSpc>
              <a:spcAft>
                <a:spcPts val="600"/>
              </a:spcAft>
              <a:buFont typeface="Wingdings" pitchFamily="2" charset="2"/>
              <a:buChar char="u"/>
            </a:pPr>
            <a:r>
              <a:rPr lang="en-US" altLang="zh-CN" sz="2400" b="1" dirty="0">
                <a:solidFill>
                  <a:schemeClr val="tx1">
                    <a:lumMod val="65000"/>
                    <a:lumOff val="35000"/>
                  </a:schemeClr>
                </a:solidFill>
                <a:latin typeface="微软雅黑" pitchFamily="34" charset="-122"/>
                <a:ea typeface="微软雅黑" pitchFamily="34" charset="-122"/>
              </a:rPr>
              <a:t>80386</a:t>
            </a:r>
            <a:r>
              <a:rPr lang="zh-CN" altLang="en-US" sz="2400" b="1" dirty="0">
                <a:solidFill>
                  <a:schemeClr val="tx1">
                    <a:lumMod val="65000"/>
                    <a:lumOff val="35000"/>
                  </a:schemeClr>
                </a:solidFill>
                <a:latin typeface="微软雅黑" pitchFamily="34" charset="-122"/>
                <a:ea typeface="微软雅黑" pitchFamily="34" charset="-122"/>
              </a:rPr>
              <a:t>的安全机制</a:t>
            </a:r>
          </a:p>
        </p:txBody>
      </p:sp>
      <p:cxnSp>
        <p:nvCxnSpPr>
          <p:cNvPr id="14" name="直接连接符 13"/>
          <p:cNvCxnSpPr/>
          <p:nvPr/>
        </p:nvCxnSpPr>
        <p:spPr>
          <a:xfrm>
            <a:off x="1404144" y="2207419"/>
            <a:ext cx="6264275" cy="1587"/>
          </a:xfrm>
          <a:prstGeom prst="line">
            <a:avLst/>
          </a:prstGeom>
          <a:noFill/>
          <a:ln w="9525" cap="flat" cmpd="sng" algn="ctr">
            <a:solidFill>
              <a:sysClr val="window" lastClr="FFFFFF">
                <a:lumMod val="85000"/>
              </a:sysClr>
            </a:solidFill>
            <a:prstDash val="solid"/>
          </a:ln>
          <a:effectLst/>
        </p:spPr>
      </p:cxnSp>
      <p:cxnSp>
        <p:nvCxnSpPr>
          <p:cNvPr id="15" name="直接连接符 14"/>
          <p:cNvCxnSpPr/>
          <p:nvPr/>
        </p:nvCxnSpPr>
        <p:spPr>
          <a:xfrm>
            <a:off x="1475582" y="3936206"/>
            <a:ext cx="6264275" cy="1588"/>
          </a:xfrm>
          <a:prstGeom prst="line">
            <a:avLst/>
          </a:prstGeom>
          <a:noFill/>
          <a:ln w="9525" cap="flat" cmpd="sng" algn="ctr">
            <a:solidFill>
              <a:sysClr val="window" lastClr="FFFFFF">
                <a:lumMod val="85000"/>
              </a:sysClr>
            </a:solidFill>
            <a:prstDash val="solid"/>
          </a:ln>
          <a:effectLst/>
        </p:spPr>
      </p:cxnSp>
      <p:sp>
        <p:nvSpPr>
          <p:cNvPr id="16" name="TextBox 10"/>
          <p:cNvSpPr txBox="1">
            <a:spLocks noChangeArrowheads="1"/>
          </p:cNvSpPr>
          <p:nvPr/>
        </p:nvSpPr>
        <p:spPr bwMode="auto">
          <a:xfrm>
            <a:off x="1475697" y="2447499"/>
            <a:ext cx="6985934" cy="1250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algn="ctr">
              <a:lnSpc>
                <a:spcPct val="114000"/>
              </a:lnSpc>
            </a:pPr>
            <a:r>
              <a:rPr lang="en-US" altLang="zh-CN" sz="6600" b="1" dirty="0">
                <a:solidFill>
                  <a:srgbClr val="00C4F0"/>
                </a:solidFill>
                <a:latin typeface="微软雅黑" pitchFamily="34" charset="-122"/>
                <a:ea typeface="微软雅黑" pitchFamily="34" charset="-122"/>
              </a:rPr>
              <a:t>80386</a:t>
            </a:r>
            <a:r>
              <a:rPr lang="zh-CN" altLang="en-US" sz="6600" b="1" dirty="0">
                <a:solidFill>
                  <a:srgbClr val="00C4F0"/>
                </a:solidFill>
                <a:latin typeface="微软雅黑" pitchFamily="34" charset="-122"/>
                <a:ea typeface="微软雅黑" pitchFamily="34" charset="-122"/>
              </a:rPr>
              <a:t>保护模式</a:t>
            </a:r>
            <a:endParaRPr lang="zh-CN" altLang="en-US" sz="8000" b="1" dirty="0">
              <a:solidFill>
                <a:srgbClr val="00C4F0"/>
              </a:solidFill>
              <a:latin typeface="微软雅黑" pitchFamily="34" charset="-122"/>
              <a:ea typeface="微软雅黑" pitchFamily="34" charset="-122"/>
            </a:endParaRPr>
          </a:p>
        </p:txBody>
      </p:sp>
    </p:spTree>
    <p:extLst>
      <p:ext uri="{BB962C8B-B14F-4D97-AF65-F5344CB8AC3E}">
        <p14:creationId xmlns:p14="http://schemas.microsoft.com/office/powerpoint/2010/main" val="332663542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500"/>
                                        <p:tgtEl>
                                          <p:spTgt spid="14"/>
                                        </p:tgtEl>
                                      </p:cBhvr>
                                    </p:animEffect>
                                  </p:childTnLst>
                                </p:cTn>
                              </p:par>
                              <p:par>
                                <p:cTn id="8" presetID="1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slide(fromBottom)">
                                      <p:cBhvr>
                                        <p:cTn id="10" dur="500"/>
                                        <p:tgtEl>
                                          <p:spTgt spid="15"/>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1000"/>
                                        <p:tgtEl>
                                          <p:spTgt spid="12"/>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1000" fill="hold"/>
                                        <p:tgtEl>
                                          <p:spTgt spid="16"/>
                                        </p:tgtEl>
                                        <p:attrNameLst>
                                          <p:attrName>ppt_w</p:attrName>
                                        </p:attrNameLst>
                                      </p:cBhvr>
                                      <p:tavLst>
                                        <p:tav tm="0">
                                          <p:val>
                                            <p:fltVal val="0"/>
                                          </p:val>
                                        </p:tav>
                                        <p:tav tm="100000">
                                          <p:val>
                                            <p:strVal val="#ppt_w"/>
                                          </p:val>
                                        </p:tav>
                                      </p:tavLst>
                                    </p:anim>
                                    <p:anim calcmode="lin" valueType="num">
                                      <p:cBhvr>
                                        <p:cTn id="18" dur="1000" fill="hold"/>
                                        <p:tgtEl>
                                          <p:spTgt spid="16"/>
                                        </p:tgtEl>
                                        <p:attrNameLst>
                                          <p:attrName>ppt_h</p:attrName>
                                        </p:attrNameLst>
                                      </p:cBhvr>
                                      <p:tavLst>
                                        <p:tav tm="0">
                                          <p:val>
                                            <p:fltVal val="0"/>
                                          </p:val>
                                        </p:tav>
                                        <p:tav tm="100000">
                                          <p:val>
                                            <p:strVal val="#ppt_h"/>
                                          </p:val>
                                        </p:tav>
                                      </p:tavLst>
                                    </p:anim>
                                    <p:animEffect transition="in" filter="fade">
                                      <p:cBhvr>
                                        <p:cTn id="19"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8"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分页──从线性地址到物理地址映射</a:t>
            </a:r>
            <a:endParaRPr lang="en-US" altLang="zh-CN" sz="3200" b="1" dirty="0">
              <a:solidFill>
                <a:srgbClr val="00B0F0"/>
              </a:solidFill>
              <a:latin typeface="微软雅黑" pitchFamily="34" charset="-122"/>
              <a:ea typeface="微软雅黑" pitchFamily="34" charset="-122"/>
            </a:endParaRPr>
          </a:p>
        </p:txBody>
      </p:sp>
      <p:cxnSp>
        <p:nvCxnSpPr>
          <p:cNvPr id="19" name="直接连接符 18"/>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29" name="Text Box 44"/>
          <p:cNvSpPr txBox="1">
            <a:spLocks noChangeArrowheads="1"/>
          </p:cNvSpPr>
          <p:nvPr/>
        </p:nvSpPr>
        <p:spPr bwMode="auto">
          <a:xfrm>
            <a:off x="5598460" y="4365103"/>
            <a:ext cx="3083737" cy="911019"/>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marL="285750" indent="-285750" defTabSz="914400">
              <a:lnSpc>
                <a:spcPct val="133000"/>
              </a:lnSpc>
              <a:buFont typeface="Wingdings" panose="05000000000000000000" pitchFamily="2" charset="2"/>
              <a:buChar char="n"/>
              <a:defRPr/>
            </a:pPr>
            <a:r>
              <a:rPr lang="zh-CN" altLang="en-US" sz="2000" dirty="0">
                <a:solidFill>
                  <a:schemeClr val="tx1">
                    <a:lumMod val="65000"/>
                    <a:lumOff val="35000"/>
                  </a:schemeClr>
                </a:solidFill>
              </a:rPr>
              <a:t>提高内存的使用效率；</a:t>
            </a:r>
            <a:endParaRPr lang="en-US" altLang="zh-CN" sz="2000" dirty="0">
              <a:solidFill>
                <a:schemeClr val="tx1">
                  <a:lumMod val="65000"/>
                  <a:lumOff val="35000"/>
                </a:schemeClr>
              </a:solidFill>
            </a:endParaRPr>
          </a:p>
          <a:p>
            <a:pPr marL="285750" indent="-285750" defTabSz="914400">
              <a:lnSpc>
                <a:spcPct val="133000"/>
              </a:lnSpc>
              <a:buFont typeface="Wingdings" panose="05000000000000000000" pitchFamily="2" charset="2"/>
              <a:buChar char="n"/>
              <a:defRPr/>
            </a:pPr>
            <a:r>
              <a:rPr lang="zh-CN" altLang="en-US" sz="2000" dirty="0">
                <a:solidFill>
                  <a:schemeClr val="tx1">
                    <a:lumMod val="65000"/>
                    <a:lumOff val="35000"/>
                  </a:schemeClr>
                </a:solidFill>
              </a:rPr>
              <a:t>解决小内存运行大程序。</a:t>
            </a:r>
            <a:endParaRPr lang="en-US" altLang="zh-CN" sz="2000" dirty="0">
              <a:solidFill>
                <a:schemeClr val="tx1">
                  <a:lumMod val="65000"/>
                  <a:lumOff val="35000"/>
                </a:schemeClr>
              </a:solidFill>
            </a:endParaRPr>
          </a:p>
        </p:txBody>
      </p:sp>
      <p:pic>
        <p:nvPicPr>
          <p:cNvPr id="35" name="Picture 2" descr="http://pic2.sc.chinaz.com/files/pic/pic9/201203/xpic3867.jp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08143" y="2027544"/>
            <a:ext cx="4865071" cy="3345671"/>
          </a:xfrm>
          <a:prstGeom prst="rect">
            <a:avLst/>
          </a:prstGeom>
          <a:noFill/>
          <a:extLst>
            <a:ext uri="{909E8E84-426E-40DD-AFC4-6F175D3DCCD1}">
              <a14:hiddenFill xmlns:a14="http://schemas.microsoft.com/office/drawing/2010/main">
                <a:solidFill>
                  <a:srgbClr val="FFFFFF"/>
                </a:solidFill>
              </a14:hiddenFill>
            </a:ext>
          </a:extLst>
        </p:spPr>
      </p:pic>
      <p:sp>
        <p:nvSpPr>
          <p:cNvPr id="43" name="矩形 42"/>
          <p:cNvSpPr/>
          <p:nvPr/>
        </p:nvSpPr>
        <p:spPr>
          <a:xfrm>
            <a:off x="5517278" y="4248928"/>
            <a:ext cx="3388396" cy="1124287"/>
          </a:xfrm>
          <a:prstGeom prst="rect">
            <a:avLst/>
          </a:prstGeom>
          <a:ln>
            <a:solidFill>
              <a:srgbClr val="1D8DE5"/>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sz="1600" dirty="0">
              <a:solidFill>
                <a:srgbClr val="7BC143"/>
              </a:solidFill>
              <a:ea typeface="微软雅黑" panose="020B0503020204020204" pitchFamily="34" charset="-122"/>
            </a:endParaRPr>
          </a:p>
        </p:txBody>
      </p:sp>
      <p:sp>
        <p:nvSpPr>
          <p:cNvPr id="44" name="TextBox 32"/>
          <p:cNvSpPr txBox="1"/>
          <p:nvPr/>
        </p:nvSpPr>
        <p:spPr>
          <a:xfrm>
            <a:off x="5517278" y="2257790"/>
            <a:ext cx="3145983" cy="665439"/>
          </a:xfrm>
          <a:prstGeom prst="rect">
            <a:avLst/>
          </a:prstGeom>
          <a:noFill/>
          <a:ln>
            <a:noFill/>
            <a:prstDash val="dash"/>
          </a:ln>
        </p:spPr>
        <p:txBody>
          <a:bodyPr wrap="square">
            <a:spAutoFit/>
          </a:bodyPr>
          <a:lstStyle/>
          <a:p>
            <a:pPr>
              <a:lnSpc>
                <a:spcPct val="133000"/>
              </a:lnSpc>
              <a:defRPr/>
            </a:pPr>
            <a:r>
              <a:rPr lang="zh-CN" altLang="en-US" sz="2800" dirty="0">
                <a:solidFill>
                  <a:srgbClr val="FF3255"/>
                </a:solidFill>
                <a:latin typeface="微软雅黑" pitchFamily="34" charset="-122"/>
                <a:ea typeface="微软雅黑" pitchFamily="34" charset="-122"/>
              </a:rPr>
              <a:t>为什么要分页？</a:t>
            </a:r>
            <a:endParaRPr lang="zh-CN" altLang="en-US" sz="2000" dirty="0">
              <a:solidFill>
                <a:schemeClr val="tx1">
                  <a:lumMod val="65000"/>
                  <a:lumOff val="35000"/>
                </a:schemeClr>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10929460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8"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保护模式下的分页</a:t>
            </a:r>
            <a:endParaRPr lang="en-US" altLang="zh-CN" sz="3200" b="1" dirty="0">
              <a:solidFill>
                <a:srgbClr val="00B0F0"/>
              </a:solidFill>
              <a:latin typeface="微软雅黑" pitchFamily="34" charset="-122"/>
              <a:ea typeface="微软雅黑" pitchFamily="34" charset="-122"/>
            </a:endParaRPr>
          </a:p>
        </p:txBody>
      </p:sp>
      <p:cxnSp>
        <p:nvCxnSpPr>
          <p:cNvPr id="19" name="直接连接符 18"/>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0" name="矩形 29"/>
          <p:cNvSpPr/>
          <p:nvPr/>
        </p:nvSpPr>
        <p:spPr>
          <a:xfrm>
            <a:off x="1411474" y="1525660"/>
            <a:ext cx="7192974" cy="679204"/>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磁盘分扇区，虚拟存储空间被划分成页，</a:t>
            </a:r>
            <a:r>
              <a:rPr lang="en-US" altLang="zh-CN" sz="2000" b="1" dirty="0">
                <a:ea typeface="微软雅黑" panose="020B0503020204020204" pitchFamily="34" charset="-122"/>
              </a:rPr>
              <a:t>OS</a:t>
            </a:r>
            <a:r>
              <a:rPr lang="zh-CN" altLang="en-US" sz="2000" b="1" dirty="0">
                <a:ea typeface="微软雅黑" panose="020B0503020204020204" pitchFamily="34" charset="-122"/>
              </a:rPr>
              <a:t>把物理内存分为页。</a:t>
            </a:r>
            <a:endParaRPr lang="zh-CN" altLang="en-US" sz="2000" b="1" u="sng" dirty="0">
              <a:solidFill>
                <a:schemeClr val="bg1"/>
              </a:solidFill>
              <a:ea typeface="微软雅黑" panose="020B0503020204020204" pitchFamily="34" charset="-122"/>
            </a:endParaRPr>
          </a:p>
        </p:txBody>
      </p:sp>
      <p:sp>
        <p:nvSpPr>
          <p:cNvPr id="31" name="矩形 30"/>
          <p:cNvSpPr/>
          <p:nvPr/>
        </p:nvSpPr>
        <p:spPr>
          <a:xfrm>
            <a:off x="835621" y="1525660"/>
            <a:ext cx="575852" cy="679204"/>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1</a:t>
            </a:r>
            <a:endParaRPr lang="zh-CN" altLang="en-US" sz="3200" dirty="0">
              <a:latin typeface="Arial Black" pitchFamily="34" charset="0"/>
            </a:endParaRPr>
          </a:p>
        </p:txBody>
      </p:sp>
      <p:sp>
        <p:nvSpPr>
          <p:cNvPr id="32" name="矩形 31"/>
          <p:cNvSpPr/>
          <p:nvPr/>
        </p:nvSpPr>
        <p:spPr>
          <a:xfrm>
            <a:off x="1411474" y="2461764"/>
            <a:ext cx="7192974" cy="679204"/>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这些分页只是</a:t>
            </a:r>
            <a:r>
              <a:rPr lang="en-US" altLang="zh-CN" sz="2000" b="1" dirty="0">
                <a:ea typeface="微软雅黑" panose="020B0503020204020204" pitchFamily="34" charset="-122"/>
              </a:rPr>
              <a:t>OS</a:t>
            </a:r>
            <a:r>
              <a:rPr lang="zh-CN" altLang="en-US" sz="2000" b="1" dirty="0">
                <a:ea typeface="微软雅黑" panose="020B0503020204020204" pitchFamily="34" charset="-122"/>
              </a:rPr>
              <a:t>为了管理方便，在逻辑上划分的一种数据结构。</a:t>
            </a:r>
            <a:endParaRPr lang="zh-CN" altLang="en-US" sz="2000" b="1" u="sng" dirty="0">
              <a:solidFill>
                <a:schemeClr val="bg1"/>
              </a:solidFill>
              <a:ea typeface="微软雅黑" panose="020B0503020204020204" pitchFamily="34" charset="-122"/>
            </a:endParaRPr>
          </a:p>
        </p:txBody>
      </p:sp>
      <p:sp>
        <p:nvSpPr>
          <p:cNvPr id="33" name="矩形 32"/>
          <p:cNvSpPr/>
          <p:nvPr/>
        </p:nvSpPr>
        <p:spPr>
          <a:xfrm>
            <a:off x="835621" y="2461764"/>
            <a:ext cx="575852" cy="679204"/>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2</a:t>
            </a:r>
            <a:endParaRPr lang="zh-CN" altLang="en-US" sz="3200" dirty="0">
              <a:latin typeface="Arial Black" pitchFamily="34" charset="0"/>
            </a:endParaRPr>
          </a:p>
        </p:txBody>
      </p:sp>
      <p:sp>
        <p:nvSpPr>
          <p:cNvPr id="13" name="矩形 12"/>
          <p:cNvSpPr/>
          <p:nvPr/>
        </p:nvSpPr>
        <p:spPr>
          <a:xfrm>
            <a:off x="1411473" y="3397868"/>
            <a:ext cx="7192974" cy="679204"/>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虚拟内存的页可以和物理内存的页对应起来，产生映射关系。</a:t>
            </a:r>
            <a:endParaRPr lang="zh-CN" altLang="en-US" sz="2000" b="1" u="sng" dirty="0">
              <a:solidFill>
                <a:schemeClr val="bg1"/>
              </a:solidFill>
              <a:ea typeface="微软雅黑" panose="020B0503020204020204" pitchFamily="34" charset="-122"/>
            </a:endParaRPr>
          </a:p>
        </p:txBody>
      </p:sp>
      <p:sp>
        <p:nvSpPr>
          <p:cNvPr id="21" name="矩形 20"/>
          <p:cNvSpPr/>
          <p:nvPr/>
        </p:nvSpPr>
        <p:spPr>
          <a:xfrm>
            <a:off x="835620" y="3397868"/>
            <a:ext cx="575852" cy="679204"/>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3</a:t>
            </a:r>
            <a:endParaRPr lang="zh-CN" altLang="en-US" sz="3200" dirty="0">
              <a:latin typeface="Arial Black" pitchFamily="34" charset="0"/>
            </a:endParaRPr>
          </a:p>
        </p:txBody>
      </p:sp>
      <p:sp>
        <p:nvSpPr>
          <p:cNvPr id="2" name="流程图: 磁盘 1"/>
          <p:cNvSpPr/>
          <p:nvPr/>
        </p:nvSpPr>
        <p:spPr>
          <a:xfrm>
            <a:off x="1691680" y="4616270"/>
            <a:ext cx="1512168" cy="1908212"/>
          </a:xfrm>
          <a:prstGeom prst="flowChartMagneticDisk">
            <a:avLst/>
          </a:prstGeom>
          <a:solidFill>
            <a:schemeClr val="accent6">
              <a:lumMod val="40000"/>
              <a:lumOff val="60000"/>
            </a:schemeClr>
          </a:solidFill>
          <a:ln>
            <a:solidFill>
              <a:srgbClr val="FD7A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磁盘 11"/>
          <p:cNvSpPr/>
          <p:nvPr/>
        </p:nvSpPr>
        <p:spPr>
          <a:xfrm>
            <a:off x="5436096" y="5124937"/>
            <a:ext cx="1512168" cy="1116124"/>
          </a:xfrm>
          <a:prstGeom prst="flowChartMagneticDisk">
            <a:avLst/>
          </a:prstGeom>
          <a:solidFill>
            <a:schemeClr val="tx2">
              <a:lumMod val="20000"/>
              <a:lumOff val="80000"/>
            </a:schemeClr>
          </a:solidFill>
          <a:ln>
            <a:solidFill>
              <a:srgbClr val="1D8D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4104370" y="4986654"/>
            <a:ext cx="467630" cy="1466682"/>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872122" y="5344001"/>
            <a:ext cx="287926" cy="439723"/>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276465" y="5344001"/>
            <a:ext cx="287926" cy="439723"/>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2692911" y="5344001"/>
            <a:ext cx="287926" cy="439723"/>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1872122" y="5867701"/>
            <a:ext cx="287926" cy="439723"/>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2276465" y="5867701"/>
            <a:ext cx="287926" cy="439723"/>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2692911" y="5867701"/>
            <a:ext cx="287926" cy="439723"/>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104369" y="5481400"/>
            <a:ext cx="467631" cy="54465"/>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4104369" y="5673092"/>
            <a:ext cx="467631" cy="54465"/>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104158" y="5883970"/>
            <a:ext cx="467631" cy="54465"/>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5652120" y="5622759"/>
            <a:ext cx="287926" cy="439723"/>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6056463" y="5622759"/>
            <a:ext cx="287926" cy="439723"/>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6472909" y="5622759"/>
            <a:ext cx="287926" cy="439723"/>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32"/>
          <p:cNvSpPr txBox="1"/>
          <p:nvPr/>
        </p:nvSpPr>
        <p:spPr>
          <a:xfrm>
            <a:off x="1760447" y="4718360"/>
            <a:ext cx="1374634" cy="423449"/>
          </a:xfrm>
          <a:prstGeom prst="rect">
            <a:avLst/>
          </a:prstGeom>
          <a:noFill/>
          <a:ln>
            <a:noFill/>
            <a:prstDash val="dash"/>
          </a:ln>
        </p:spPr>
        <p:txBody>
          <a:bodyPr wrap="square">
            <a:spAutoFit/>
          </a:bodyPr>
          <a:lstStyle/>
          <a:p>
            <a:pPr algn="ctr">
              <a:lnSpc>
                <a:spcPct val="133000"/>
              </a:lnSpc>
              <a:defRPr/>
            </a:pPr>
            <a:r>
              <a:rPr lang="zh-CN" altLang="en-US" dirty="0">
                <a:solidFill>
                  <a:schemeClr val="tx1">
                    <a:lumMod val="65000"/>
                    <a:lumOff val="35000"/>
                  </a:schemeClr>
                </a:solidFill>
                <a:latin typeface="微软雅黑" pitchFamily="34" charset="-122"/>
                <a:ea typeface="微软雅黑" pitchFamily="34" charset="-122"/>
              </a:rPr>
              <a:t>物理磁盘</a:t>
            </a:r>
            <a:endParaRPr lang="zh-CN" altLang="en-US" sz="1400" dirty="0">
              <a:solidFill>
                <a:schemeClr val="tx1">
                  <a:lumMod val="65000"/>
                  <a:lumOff val="35000"/>
                </a:schemeClr>
              </a:solidFill>
              <a:latin typeface="Times New Roman" panose="02020603050405020304" pitchFamily="18" charset="0"/>
              <a:ea typeface="微软雅黑" panose="020B0503020204020204" pitchFamily="34" charset="-122"/>
            </a:endParaRPr>
          </a:p>
        </p:txBody>
      </p:sp>
      <p:sp>
        <p:nvSpPr>
          <p:cNvPr id="34" name="TextBox 32"/>
          <p:cNvSpPr txBox="1"/>
          <p:nvPr/>
        </p:nvSpPr>
        <p:spPr>
          <a:xfrm>
            <a:off x="5645638" y="5085184"/>
            <a:ext cx="1374634" cy="423449"/>
          </a:xfrm>
          <a:prstGeom prst="rect">
            <a:avLst/>
          </a:prstGeom>
          <a:noFill/>
          <a:ln>
            <a:noFill/>
            <a:prstDash val="dash"/>
          </a:ln>
        </p:spPr>
        <p:txBody>
          <a:bodyPr wrap="square">
            <a:spAutoFit/>
          </a:bodyPr>
          <a:lstStyle/>
          <a:p>
            <a:pPr>
              <a:lnSpc>
                <a:spcPct val="133000"/>
              </a:lnSpc>
              <a:defRPr/>
            </a:pPr>
            <a:r>
              <a:rPr lang="zh-CN" altLang="en-US" dirty="0">
                <a:solidFill>
                  <a:schemeClr val="tx1">
                    <a:lumMod val="65000"/>
                    <a:lumOff val="35000"/>
                  </a:schemeClr>
                </a:solidFill>
                <a:latin typeface="微软雅黑" pitchFamily="34" charset="-122"/>
                <a:ea typeface="微软雅黑" pitchFamily="34" charset="-122"/>
              </a:rPr>
              <a:t>物理内存</a:t>
            </a:r>
            <a:endParaRPr lang="zh-CN" altLang="en-US" sz="1400" dirty="0">
              <a:solidFill>
                <a:schemeClr val="tx1">
                  <a:lumMod val="65000"/>
                  <a:lumOff val="35000"/>
                </a:schemeClr>
              </a:solidFill>
              <a:latin typeface="Times New Roman" panose="02020603050405020304" pitchFamily="18" charset="0"/>
              <a:ea typeface="微软雅黑" panose="020B0503020204020204" pitchFamily="34" charset="-122"/>
            </a:endParaRPr>
          </a:p>
        </p:txBody>
      </p:sp>
      <p:sp>
        <p:nvSpPr>
          <p:cNvPr id="35" name="TextBox 32"/>
          <p:cNvSpPr txBox="1"/>
          <p:nvPr/>
        </p:nvSpPr>
        <p:spPr>
          <a:xfrm>
            <a:off x="3787667" y="4581128"/>
            <a:ext cx="1100611" cy="423449"/>
          </a:xfrm>
          <a:prstGeom prst="rect">
            <a:avLst/>
          </a:prstGeom>
          <a:noFill/>
          <a:ln>
            <a:noFill/>
            <a:prstDash val="dash"/>
          </a:ln>
        </p:spPr>
        <p:txBody>
          <a:bodyPr wrap="square">
            <a:spAutoFit/>
          </a:bodyPr>
          <a:lstStyle/>
          <a:p>
            <a:pPr>
              <a:lnSpc>
                <a:spcPct val="133000"/>
              </a:lnSpc>
              <a:defRPr/>
            </a:pPr>
            <a:r>
              <a:rPr lang="zh-CN" altLang="en-US" dirty="0">
                <a:solidFill>
                  <a:schemeClr val="tx1">
                    <a:lumMod val="65000"/>
                    <a:lumOff val="35000"/>
                  </a:schemeClr>
                </a:solidFill>
                <a:latin typeface="微软雅黑" pitchFamily="34" charset="-122"/>
                <a:ea typeface="微软雅黑" pitchFamily="34" charset="-122"/>
              </a:rPr>
              <a:t>线性空间</a:t>
            </a:r>
            <a:endParaRPr lang="zh-CN" altLang="en-US" sz="1400" dirty="0">
              <a:solidFill>
                <a:schemeClr val="tx1">
                  <a:lumMod val="65000"/>
                  <a:lumOff val="35000"/>
                </a:schemeClr>
              </a:solidFill>
              <a:latin typeface="Times New Roman" panose="02020603050405020304" pitchFamily="18" charset="0"/>
              <a:ea typeface="微软雅黑" panose="020B0503020204020204" pitchFamily="34" charset="-122"/>
            </a:endParaRPr>
          </a:p>
        </p:txBody>
      </p:sp>
      <p:cxnSp>
        <p:nvCxnSpPr>
          <p:cNvPr id="7" name="直接箭头连接符 6"/>
          <p:cNvCxnSpPr>
            <a:stCxn id="5" idx="3"/>
          </p:cNvCxnSpPr>
          <p:nvPr/>
        </p:nvCxnSpPr>
        <p:spPr>
          <a:xfrm>
            <a:off x="4572000" y="5508633"/>
            <a:ext cx="1073638" cy="27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endCxn id="5" idx="1"/>
          </p:cNvCxnSpPr>
          <p:nvPr/>
        </p:nvCxnSpPr>
        <p:spPr>
          <a:xfrm flipV="1">
            <a:off x="2980837" y="5508633"/>
            <a:ext cx="1123532" cy="578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2"/>
          <p:cNvSpPr txBox="1"/>
          <p:nvPr/>
        </p:nvSpPr>
        <p:spPr>
          <a:xfrm>
            <a:off x="3810337" y="5883434"/>
            <a:ext cx="1100611" cy="423449"/>
          </a:xfrm>
          <a:prstGeom prst="rect">
            <a:avLst/>
          </a:prstGeom>
          <a:noFill/>
          <a:ln>
            <a:noFill/>
            <a:prstDash val="dash"/>
          </a:ln>
        </p:spPr>
        <p:txBody>
          <a:bodyPr wrap="square">
            <a:spAutoFit/>
          </a:bodyPr>
          <a:lstStyle/>
          <a:p>
            <a:pPr algn="ctr">
              <a:lnSpc>
                <a:spcPct val="133000"/>
              </a:lnSpc>
              <a:defRPr/>
            </a:pPr>
            <a:r>
              <a:rPr lang="zh-CN" altLang="en-US" dirty="0">
                <a:solidFill>
                  <a:schemeClr val="tx1">
                    <a:lumMod val="65000"/>
                    <a:lumOff val="35000"/>
                  </a:schemeClr>
                </a:solidFill>
                <a:latin typeface="微软雅黑" pitchFamily="34" charset="-122"/>
                <a:ea typeface="微软雅黑" pitchFamily="34" charset="-122"/>
              </a:rPr>
              <a:t>虚拟页</a:t>
            </a:r>
            <a:endParaRPr lang="zh-CN" altLang="en-US" sz="1400" dirty="0">
              <a:solidFill>
                <a:schemeClr val="tx1">
                  <a:lumMod val="65000"/>
                  <a:lumOff val="35000"/>
                </a:schemeClr>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01437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down)">
                                      <p:cBhvr>
                                        <p:cTn id="33" dur="500"/>
                                        <p:tgtEl>
                                          <p:spTgt spid="5"/>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down)">
                                      <p:cBhvr>
                                        <p:cTn id="36" dur="500"/>
                                        <p:tgtEl>
                                          <p:spTgt spid="24"/>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wipe(down)">
                                      <p:cBhvr>
                                        <p:cTn id="39" dur="500"/>
                                        <p:tgtEl>
                                          <p:spTgt spid="25"/>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wipe(down)">
                                      <p:cBhvr>
                                        <p:cTn id="42" dur="500"/>
                                        <p:tgtEl>
                                          <p:spTgt spid="36"/>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wipe(down)">
                                      <p:cBhvr>
                                        <p:cTn id="45" dur="500"/>
                                        <p:tgtEl>
                                          <p:spTgt spid="2"/>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wipe(down)">
                                      <p:cBhvr>
                                        <p:cTn id="48" dur="500"/>
                                        <p:tgtEl>
                                          <p:spTgt spid="4"/>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down)">
                                      <p:cBhvr>
                                        <p:cTn id="51" dur="500"/>
                                        <p:tgtEl>
                                          <p:spTgt spid="15"/>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down)">
                                      <p:cBhvr>
                                        <p:cTn id="54" dur="500"/>
                                        <p:tgtEl>
                                          <p:spTgt spid="16"/>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down)">
                                      <p:cBhvr>
                                        <p:cTn id="57" dur="500"/>
                                        <p:tgtEl>
                                          <p:spTgt spid="20"/>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wipe(down)">
                                      <p:cBhvr>
                                        <p:cTn id="60" dur="500"/>
                                        <p:tgtEl>
                                          <p:spTgt spid="22"/>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down)">
                                      <p:cBhvr>
                                        <p:cTn id="63" dur="500"/>
                                        <p:tgtEl>
                                          <p:spTgt spid="23"/>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wipe(down)">
                                      <p:cBhvr>
                                        <p:cTn id="66" dur="500"/>
                                        <p:tgtEl>
                                          <p:spTgt spid="29"/>
                                        </p:tgtEl>
                                      </p:cBhvr>
                                    </p:animEffect>
                                  </p:childTnLst>
                                </p:cTn>
                              </p:par>
                              <p:par>
                                <p:cTn id="67" presetID="22" presetClass="entr" presetSubtype="4" fill="hold" nodeType="with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ipe(down)">
                                      <p:cBhvr>
                                        <p:cTn id="69" dur="500"/>
                                        <p:tgtEl>
                                          <p:spTgt spid="9"/>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wipe(left)">
                                      <p:cBhvr>
                                        <p:cTn id="74" dur="500"/>
                                        <p:tgtEl>
                                          <p:spTgt spid="31"/>
                                        </p:tgtEl>
                                      </p:cBhvr>
                                    </p:animEffect>
                                  </p:childTnLst>
                                </p:cTn>
                              </p:par>
                              <p:par>
                                <p:cTn id="75" presetID="22" presetClass="entr" presetSubtype="8" fill="hold" grpId="0" nodeType="withEffect">
                                  <p:stCondLst>
                                    <p:cond delay="50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7" dur="500"/>
                                        <p:tgtEl>
                                          <p:spTgt spid="3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wipe(left)">
                                      <p:cBhvr>
                                        <p:cTn id="82" dur="500"/>
                                        <p:tgtEl>
                                          <p:spTgt spid="33"/>
                                        </p:tgtEl>
                                      </p:cBhvr>
                                    </p:animEffect>
                                  </p:childTnLst>
                                </p:cTn>
                              </p:par>
                              <p:par>
                                <p:cTn id="83" presetID="22" presetClass="entr" presetSubtype="8" fill="hold" grpId="0" nodeType="withEffect">
                                  <p:stCondLst>
                                    <p:cond delay="500"/>
                                  </p:stCondLst>
                                  <p:childTnLst>
                                    <p:set>
                                      <p:cBhvr>
                                        <p:cTn id="84" dur="1" fill="hold">
                                          <p:stCondLst>
                                            <p:cond delay="0"/>
                                          </p:stCondLst>
                                        </p:cTn>
                                        <p:tgtEl>
                                          <p:spTgt spid="32"/>
                                        </p:tgtEl>
                                        <p:attrNameLst>
                                          <p:attrName>style.visibility</p:attrName>
                                        </p:attrNameLst>
                                      </p:cBhvr>
                                      <p:to>
                                        <p:strVal val="visible"/>
                                      </p:to>
                                    </p:set>
                                    <p:animEffect transition="in" filter="wipe(left)">
                                      <p:cBhvr>
                                        <p:cTn id="85" dur="500"/>
                                        <p:tgtEl>
                                          <p:spTgt spid="32"/>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wipe(left)">
                                      <p:cBhvr>
                                        <p:cTn id="90" dur="500"/>
                                        <p:tgtEl>
                                          <p:spTgt spid="21"/>
                                        </p:tgtEl>
                                      </p:cBhvr>
                                    </p:animEffect>
                                  </p:childTnLst>
                                </p:cTn>
                              </p:par>
                              <p:par>
                                <p:cTn id="91" presetID="22" presetClass="entr" presetSubtype="8" fill="hold" grpId="0" nodeType="withEffect">
                                  <p:stCondLst>
                                    <p:cond delay="500"/>
                                  </p:stCondLst>
                                  <p:childTnLst>
                                    <p:set>
                                      <p:cBhvr>
                                        <p:cTn id="92" dur="1" fill="hold">
                                          <p:stCondLst>
                                            <p:cond delay="0"/>
                                          </p:stCondLst>
                                        </p:cTn>
                                        <p:tgtEl>
                                          <p:spTgt spid="13"/>
                                        </p:tgtEl>
                                        <p:attrNameLst>
                                          <p:attrName>style.visibility</p:attrName>
                                        </p:attrNameLst>
                                      </p:cBhvr>
                                      <p:to>
                                        <p:strVal val="visible"/>
                                      </p:to>
                                    </p:set>
                                    <p:animEffect transition="in" filter="wipe(left)">
                                      <p:cBhvr>
                                        <p:cTn id="9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13" grpId="0" animBg="1"/>
      <p:bldP spid="21" grpId="0" animBg="1"/>
      <p:bldP spid="2" grpId="0" animBg="1"/>
      <p:bldP spid="12" grpId="0" animBg="1"/>
      <p:bldP spid="3" grpId="0" animBg="1"/>
      <p:bldP spid="4" grpId="0" animBg="1"/>
      <p:bldP spid="15" grpId="0" animBg="1"/>
      <p:bldP spid="16" grpId="0" animBg="1"/>
      <p:bldP spid="20" grpId="0" animBg="1"/>
      <p:bldP spid="22" grpId="0" animBg="1"/>
      <p:bldP spid="23" grpId="0" animBg="1"/>
      <p:bldP spid="5" grpId="0" animBg="1"/>
      <p:bldP spid="24" grpId="0" animBg="1"/>
      <p:bldP spid="25" grpId="0" animBg="1"/>
      <p:bldP spid="26" grpId="0" animBg="1"/>
      <p:bldP spid="27" grpId="0" animBg="1"/>
      <p:bldP spid="28" grpId="0" animBg="1"/>
      <p:bldP spid="29" grpId="0"/>
      <p:bldP spid="34" grpId="0"/>
      <p:bldP spid="35" grpId="0"/>
      <p:bldP spid="3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页为什么是</a:t>
            </a:r>
            <a:r>
              <a:rPr lang="en-US" altLang="zh-CN" sz="3200" b="1" dirty="0">
                <a:solidFill>
                  <a:srgbClr val="00B0F0"/>
                </a:solidFill>
                <a:latin typeface="微软雅黑" pitchFamily="34" charset="-122"/>
                <a:ea typeface="微软雅黑" pitchFamily="34" charset="-122"/>
              </a:rPr>
              <a:t>4KB</a:t>
            </a:r>
            <a:r>
              <a:rPr lang="zh-CN" altLang="en-US" sz="3200" b="1" dirty="0">
                <a:solidFill>
                  <a:srgbClr val="00B0F0"/>
                </a:solidFill>
                <a:latin typeface="微软雅黑" pitchFamily="34" charset="-122"/>
                <a:ea typeface="微软雅黑" pitchFamily="34" charset="-122"/>
              </a:rPr>
              <a:t>？</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5" name="矩形 4"/>
          <p:cNvSpPr/>
          <p:nvPr/>
        </p:nvSpPr>
        <p:spPr>
          <a:xfrm>
            <a:off x="1835485" y="1812450"/>
            <a:ext cx="6048883" cy="824462"/>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对于磁盘，扇区小，开销大，传送性能低。</a:t>
            </a:r>
            <a:endParaRPr lang="zh-CN" altLang="en-US" sz="2000" b="1" u="sng" dirty="0">
              <a:solidFill>
                <a:srgbClr val="FFFF00"/>
              </a:solidFill>
              <a:ea typeface="微软雅黑" panose="020B0503020204020204" pitchFamily="34" charset="-122"/>
            </a:endParaRPr>
          </a:p>
        </p:txBody>
      </p:sp>
      <p:sp>
        <p:nvSpPr>
          <p:cNvPr id="6" name="矩形 5"/>
          <p:cNvSpPr/>
          <p:nvPr/>
        </p:nvSpPr>
        <p:spPr>
          <a:xfrm>
            <a:off x="1259632" y="1812450"/>
            <a:ext cx="575642" cy="82446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1</a:t>
            </a:r>
            <a:endParaRPr lang="zh-CN" altLang="en-US" sz="3200" dirty="0">
              <a:latin typeface="Arial Black" pitchFamily="34" charset="0"/>
            </a:endParaRPr>
          </a:p>
        </p:txBody>
      </p:sp>
      <p:sp>
        <p:nvSpPr>
          <p:cNvPr id="7" name="矩形 6"/>
          <p:cNvSpPr/>
          <p:nvPr/>
        </p:nvSpPr>
        <p:spPr>
          <a:xfrm>
            <a:off x="1835485" y="2820562"/>
            <a:ext cx="6048883" cy="824462"/>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对于内存，页小，开销大；页大，会导致碎片，申请内存多用到的少。</a:t>
            </a:r>
            <a:endParaRPr lang="zh-CN" altLang="en-US" sz="2000" b="1" u="sng" dirty="0">
              <a:solidFill>
                <a:srgbClr val="FFFF00"/>
              </a:solidFill>
              <a:ea typeface="微软雅黑" panose="020B0503020204020204" pitchFamily="34" charset="-122"/>
            </a:endParaRPr>
          </a:p>
        </p:txBody>
      </p:sp>
      <p:sp>
        <p:nvSpPr>
          <p:cNvPr id="8" name="矩形 7"/>
          <p:cNvSpPr/>
          <p:nvPr/>
        </p:nvSpPr>
        <p:spPr>
          <a:xfrm>
            <a:off x="1259632" y="2820562"/>
            <a:ext cx="575642" cy="82446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2</a:t>
            </a:r>
            <a:endParaRPr lang="zh-CN" altLang="en-US" sz="3200" dirty="0">
              <a:latin typeface="Arial Black" pitchFamily="34" charset="0"/>
            </a:endParaRPr>
          </a:p>
        </p:txBody>
      </p:sp>
      <p:sp>
        <p:nvSpPr>
          <p:cNvPr id="9" name="矩形 8"/>
          <p:cNvSpPr/>
          <p:nvPr/>
        </p:nvSpPr>
        <p:spPr>
          <a:xfrm>
            <a:off x="2544367" y="5805264"/>
            <a:ext cx="4475905" cy="369332"/>
          </a:xfrm>
          <a:prstGeom prst="rect">
            <a:avLst/>
          </a:prstGeom>
        </p:spPr>
        <p:txBody>
          <a:bodyPr wrap="none">
            <a:spAutoFit/>
          </a:bodyPr>
          <a:lstStyle/>
          <a:p>
            <a:r>
              <a:rPr lang="zh-CN" altLang="en-US" b="1" dirty="0">
                <a:solidFill>
                  <a:schemeClr val="tx1">
                    <a:lumMod val="65000"/>
                    <a:lumOff val="35000"/>
                  </a:schemeClr>
                </a:solidFill>
                <a:ea typeface="微软雅黑" panose="020B0503020204020204" pitchFamily="34" charset="-122"/>
              </a:rPr>
              <a:t>拷贝</a:t>
            </a:r>
            <a:r>
              <a:rPr lang="en-US" altLang="zh-CN" b="1" dirty="0">
                <a:solidFill>
                  <a:schemeClr val="tx1">
                    <a:lumMod val="65000"/>
                    <a:lumOff val="35000"/>
                  </a:schemeClr>
                </a:solidFill>
                <a:ea typeface="微软雅黑" panose="020B0503020204020204" pitchFamily="34" charset="-122"/>
              </a:rPr>
              <a:t>1024</a:t>
            </a:r>
            <a:r>
              <a:rPr lang="zh-CN" altLang="en-US" b="1" dirty="0">
                <a:solidFill>
                  <a:schemeClr val="tx1">
                    <a:lumMod val="65000"/>
                    <a:lumOff val="35000"/>
                  </a:schemeClr>
                </a:solidFill>
                <a:ea typeface="微软雅黑" panose="020B0503020204020204" pitchFamily="34" charset="-122"/>
              </a:rPr>
              <a:t>个</a:t>
            </a:r>
            <a:r>
              <a:rPr lang="en-US" altLang="zh-CN" b="1" dirty="0">
                <a:solidFill>
                  <a:schemeClr val="tx1">
                    <a:lumMod val="65000"/>
                    <a:lumOff val="35000"/>
                  </a:schemeClr>
                </a:solidFill>
                <a:ea typeface="微软雅黑" panose="020B0503020204020204" pitchFamily="34" charset="-122"/>
              </a:rPr>
              <a:t>1KB</a:t>
            </a:r>
            <a:r>
              <a:rPr lang="zh-CN" altLang="en-US" b="1" dirty="0">
                <a:solidFill>
                  <a:schemeClr val="tx1">
                    <a:lumMod val="65000"/>
                    <a:lumOff val="35000"/>
                  </a:schemeClr>
                </a:solidFill>
                <a:ea typeface="微软雅黑" panose="020B0503020204020204" pitchFamily="34" charset="-122"/>
              </a:rPr>
              <a:t>的文件快还是</a:t>
            </a:r>
            <a:r>
              <a:rPr lang="en-US" altLang="zh-CN" b="1" dirty="0">
                <a:solidFill>
                  <a:schemeClr val="tx1">
                    <a:lumMod val="65000"/>
                    <a:lumOff val="35000"/>
                  </a:schemeClr>
                </a:solidFill>
                <a:ea typeface="微软雅黑" panose="020B0503020204020204" pitchFamily="34" charset="-122"/>
              </a:rPr>
              <a:t>1MB</a:t>
            </a:r>
            <a:r>
              <a:rPr lang="zh-CN" altLang="en-US" b="1" dirty="0">
                <a:solidFill>
                  <a:schemeClr val="tx1">
                    <a:lumMod val="65000"/>
                    <a:lumOff val="35000"/>
                  </a:schemeClr>
                </a:solidFill>
                <a:ea typeface="微软雅黑" panose="020B0503020204020204" pitchFamily="34" charset="-122"/>
              </a:rPr>
              <a:t>文件快？</a:t>
            </a:r>
            <a:endParaRPr lang="zh-CN" altLang="en-US" dirty="0">
              <a:solidFill>
                <a:schemeClr val="tx1">
                  <a:lumMod val="65000"/>
                  <a:lumOff val="35000"/>
                </a:schemeClr>
              </a:solidFill>
            </a:endParaRPr>
          </a:p>
        </p:txBody>
      </p:sp>
      <p:pic>
        <p:nvPicPr>
          <p:cNvPr id="10" name="图片 9" descr="问号01.png"/>
          <p:cNvPicPr>
            <a:picLocks noChangeAspect="1"/>
          </p:cNvPicPr>
          <p:nvPr/>
        </p:nvPicPr>
        <p:blipFill>
          <a:blip r:embed="rId2"/>
          <a:stretch>
            <a:fillRect/>
          </a:stretch>
        </p:blipFill>
        <p:spPr>
          <a:xfrm>
            <a:off x="1115616" y="5517232"/>
            <a:ext cx="1080367" cy="839910"/>
          </a:xfrm>
          <a:prstGeom prst="rect">
            <a:avLst/>
          </a:prstGeom>
        </p:spPr>
      </p:pic>
      <p:sp>
        <p:nvSpPr>
          <p:cNvPr id="16" name="矩形 15"/>
          <p:cNvSpPr/>
          <p:nvPr/>
        </p:nvSpPr>
        <p:spPr>
          <a:xfrm>
            <a:off x="1835485" y="3828674"/>
            <a:ext cx="6048883" cy="824462"/>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当前磁盘扇区</a:t>
            </a:r>
            <a:r>
              <a:rPr lang="en-US" altLang="zh-CN" sz="2000" b="1" dirty="0">
                <a:ea typeface="微软雅黑" panose="020B0503020204020204" pitchFamily="34" charset="-122"/>
              </a:rPr>
              <a:t>4KB</a:t>
            </a:r>
            <a:r>
              <a:rPr lang="zh-CN" altLang="en-US" sz="2000" b="1" dirty="0">
                <a:ea typeface="微软雅黑" panose="020B0503020204020204" pitchFamily="34" charset="-122"/>
              </a:rPr>
              <a:t>，</a:t>
            </a:r>
            <a:r>
              <a:rPr lang="en-US" altLang="zh-CN" sz="2000" b="1" dirty="0">
                <a:ea typeface="微软雅黑" panose="020B0503020204020204" pitchFamily="34" charset="-122"/>
              </a:rPr>
              <a:t>Windows</a:t>
            </a:r>
            <a:r>
              <a:rPr lang="zh-CN" altLang="en-US" sz="2000" b="1" dirty="0">
                <a:ea typeface="微软雅黑" panose="020B0503020204020204" pitchFamily="34" charset="-122"/>
              </a:rPr>
              <a:t>，</a:t>
            </a:r>
            <a:r>
              <a:rPr lang="en-US" altLang="zh-CN" sz="2000" b="1" dirty="0">
                <a:ea typeface="微软雅黑" panose="020B0503020204020204" pitchFamily="34" charset="-122"/>
              </a:rPr>
              <a:t>Linux</a:t>
            </a:r>
            <a:r>
              <a:rPr lang="zh-CN" altLang="en-US" sz="2000" b="1" dirty="0">
                <a:ea typeface="微软雅黑" panose="020B0503020204020204" pitchFamily="34" charset="-122"/>
              </a:rPr>
              <a:t>内存页默认</a:t>
            </a:r>
            <a:r>
              <a:rPr lang="en-US" altLang="zh-CN" sz="2000" b="1" dirty="0">
                <a:ea typeface="微软雅黑" panose="020B0503020204020204" pitchFamily="34" charset="-122"/>
              </a:rPr>
              <a:t>4KB</a:t>
            </a:r>
            <a:r>
              <a:rPr lang="zh-CN" altLang="en-US" sz="2000" b="1" dirty="0">
                <a:ea typeface="微软雅黑" panose="020B0503020204020204" pitchFamily="34" charset="-122"/>
              </a:rPr>
              <a:t>。</a:t>
            </a:r>
            <a:endParaRPr lang="zh-CN" altLang="en-US" sz="2000" b="1" u="sng" dirty="0">
              <a:solidFill>
                <a:srgbClr val="FFFF00"/>
              </a:solidFill>
              <a:ea typeface="微软雅黑" panose="020B0503020204020204" pitchFamily="34" charset="-122"/>
            </a:endParaRPr>
          </a:p>
        </p:txBody>
      </p:sp>
      <p:sp>
        <p:nvSpPr>
          <p:cNvPr id="17" name="矩形 16"/>
          <p:cNvSpPr/>
          <p:nvPr/>
        </p:nvSpPr>
        <p:spPr>
          <a:xfrm>
            <a:off x="1259632" y="3828674"/>
            <a:ext cx="575642" cy="82446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3</a:t>
            </a:r>
            <a:endParaRPr lang="zh-CN" altLang="en-US" sz="3200" dirty="0">
              <a:latin typeface="Arial Black" pitchFamily="34" charset="0"/>
            </a:endParaRPr>
          </a:p>
        </p:txBody>
      </p:sp>
    </p:spTree>
    <p:extLst>
      <p:ext uri="{BB962C8B-B14F-4D97-AF65-F5344CB8AC3E}">
        <p14:creationId xmlns:p14="http://schemas.microsoft.com/office/powerpoint/2010/main" val="3132183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50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nodeType="clickEffect">
                                  <p:stCondLst>
                                    <p:cond delay="0"/>
                                  </p:stCondLst>
                                  <p:childTnLst>
                                    <p:animEffect transition="out" filter="fade">
                                      <p:cBhvr>
                                        <p:cTn id="22" dur="500"/>
                                        <p:tgtEl>
                                          <p:spTgt spid="10"/>
                                        </p:tgtEl>
                                      </p:cBhvr>
                                    </p:animEffect>
                                    <p:set>
                                      <p:cBhvr>
                                        <p:cTn id="23" dur="1" fill="hold">
                                          <p:stCondLst>
                                            <p:cond delay="499"/>
                                          </p:stCondLst>
                                        </p:cTn>
                                        <p:tgtEl>
                                          <p:spTgt spid="10"/>
                                        </p:tgtEl>
                                        <p:attrNameLst>
                                          <p:attrName>style.visibility</p:attrName>
                                        </p:attrNameLst>
                                      </p:cBhvr>
                                      <p:to>
                                        <p:strVal val="hidden"/>
                                      </p:to>
                                    </p:set>
                                  </p:childTnLst>
                                </p:cTn>
                              </p:par>
                              <p:par>
                                <p:cTn id="24" presetID="10" presetClass="exit" presetSubtype="0" fill="hold" grpId="1" nodeType="withEffect">
                                  <p:stCondLst>
                                    <p:cond delay="0"/>
                                  </p:stCondLst>
                                  <p:childTnLst>
                                    <p:animEffect transition="out" filter="fade">
                                      <p:cBhvr>
                                        <p:cTn id="25" dur="500"/>
                                        <p:tgtEl>
                                          <p:spTgt spid="9"/>
                                        </p:tgtEl>
                                      </p:cBhvr>
                                    </p:animEffect>
                                    <p:set>
                                      <p:cBhvr>
                                        <p:cTn id="26" dur="1" fill="hold">
                                          <p:stCondLst>
                                            <p:cond delay="499"/>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par>
                                <p:cTn id="32" presetID="22" presetClass="entr" presetSubtype="8" fill="hold" grpId="0" nodeType="withEffect">
                                  <p:stCondLst>
                                    <p:cond delay="50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left)">
                                      <p:cBhvr>
                                        <p:cTn id="39" dur="500"/>
                                        <p:tgtEl>
                                          <p:spTgt spid="17"/>
                                        </p:tgtEl>
                                      </p:cBhvr>
                                    </p:animEffect>
                                  </p:childTnLst>
                                </p:cTn>
                              </p:par>
                              <p:par>
                                <p:cTn id="40" presetID="22" presetClass="entr" presetSubtype="8" fill="hold" grpId="0" nodeType="withEffect">
                                  <p:stCondLst>
                                    <p:cond delay="50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p:bldP spid="9" grpId="1"/>
      <p:bldP spid="16" grpId="0" animBg="1"/>
      <p:bldP spid="1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虚拟页</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pic>
        <p:nvPicPr>
          <p:cNvPr id="5" name="Picture 2" descr="C:\Documents and Settings\tdz\桌面\图片3.jp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076056" y="1412776"/>
            <a:ext cx="3599971" cy="3416796"/>
          </a:xfrm>
          <a:prstGeom prst="rect">
            <a:avLst/>
          </a:prstGeom>
          <a:noFill/>
          <a:extLst>
            <a:ext uri="{909E8E84-426E-40DD-AFC4-6F175D3DCCD1}">
              <a14:hiddenFill xmlns:a14="http://schemas.microsoft.com/office/drawing/2010/main">
                <a:solidFill>
                  <a:srgbClr val="FFFFFF"/>
                </a:solidFill>
              </a14:hiddenFill>
            </a:ext>
          </a:extLst>
        </p:spPr>
      </p:pic>
      <p:sp>
        <p:nvSpPr>
          <p:cNvPr id="6" name="矩形标注 5"/>
          <p:cNvSpPr/>
          <p:nvPr/>
        </p:nvSpPr>
        <p:spPr>
          <a:xfrm>
            <a:off x="899592" y="2348880"/>
            <a:ext cx="4176464" cy="1224136"/>
          </a:xfrm>
          <a:prstGeom prst="wedgeRectCallout">
            <a:avLst>
              <a:gd name="adj1" fmla="val 62123"/>
              <a:gd name="adj2" fmla="val 1601"/>
            </a:avLst>
          </a:prstGeom>
        </p:spPr>
        <p:style>
          <a:lnRef idx="1">
            <a:schemeClr val="accent6"/>
          </a:lnRef>
          <a:fillRef idx="3">
            <a:schemeClr val="accent6"/>
          </a:fillRef>
          <a:effectRef idx="2">
            <a:schemeClr val="accent6"/>
          </a:effectRef>
          <a:fontRef idx="minor">
            <a:schemeClr val="lt1"/>
          </a:fontRef>
        </p:style>
        <p:txBody>
          <a:bodyPr anchor="ctr"/>
          <a:lstStyle/>
          <a:p>
            <a:pPr defTabSz="1234440" fontAlgn="auto">
              <a:lnSpc>
                <a:spcPct val="140000"/>
              </a:lnSpc>
              <a:spcBef>
                <a:spcPts val="0"/>
              </a:spcBef>
              <a:spcAft>
                <a:spcPts val="0"/>
              </a:spcAft>
              <a:defRPr/>
            </a:pPr>
            <a:r>
              <a:rPr lang="zh-CN" altLang="en-US" sz="2400" dirty="0">
                <a:latin typeface="微软雅黑" pitchFamily="34" charset="-122"/>
                <a:ea typeface="微软雅黑" pitchFamily="34" charset="-122"/>
              </a:rPr>
              <a:t>虚拟页到底是实际存在的还是虚拟的？</a:t>
            </a:r>
          </a:p>
        </p:txBody>
      </p:sp>
    </p:spTree>
    <p:extLst>
      <p:ext uri="{BB962C8B-B14F-4D97-AF65-F5344CB8AC3E}">
        <p14:creationId xmlns:p14="http://schemas.microsoft.com/office/powerpoint/2010/main" val="225136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虚拟页</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7" name="Oval 5"/>
          <p:cNvSpPr>
            <a:spLocks noChangeArrowheads="1"/>
          </p:cNvSpPr>
          <p:nvPr/>
        </p:nvSpPr>
        <p:spPr bwMode="auto">
          <a:xfrm>
            <a:off x="1262435" y="1627658"/>
            <a:ext cx="1109663" cy="1098550"/>
          </a:xfrm>
          <a:prstGeom prst="ellipse">
            <a:avLst/>
          </a:prstGeom>
          <a:solidFill>
            <a:srgbClr val="F9CB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8" name="Freeform 6"/>
          <p:cNvSpPr>
            <a:spLocks noEditPoints="1"/>
          </p:cNvSpPr>
          <p:nvPr/>
        </p:nvSpPr>
        <p:spPr bwMode="auto">
          <a:xfrm>
            <a:off x="978273" y="1345083"/>
            <a:ext cx="1679575" cy="1663700"/>
          </a:xfrm>
          <a:custGeom>
            <a:avLst/>
            <a:gdLst>
              <a:gd name="T0" fmla="*/ 107 w 165"/>
              <a:gd name="T1" fmla="*/ 4 h 165"/>
              <a:gd name="T2" fmla="*/ 113 w 165"/>
              <a:gd name="T3" fmla="*/ 29 h 165"/>
              <a:gd name="T4" fmla="*/ 135 w 165"/>
              <a:gd name="T5" fmla="*/ 19 h 165"/>
              <a:gd name="T6" fmla="*/ 131 w 165"/>
              <a:gd name="T7" fmla="*/ 45 h 165"/>
              <a:gd name="T8" fmla="*/ 156 w 165"/>
              <a:gd name="T9" fmla="*/ 44 h 165"/>
              <a:gd name="T10" fmla="*/ 142 w 165"/>
              <a:gd name="T11" fmla="*/ 66 h 165"/>
              <a:gd name="T12" fmla="*/ 165 w 165"/>
              <a:gd name="T13" fmla="*/ 75 h 165"/>
              <a:gd name="T14" fmla="*/ 144 w 165"/>
              <a:gd name="T15" fmla="*/ 90 h 165"/>
              <a:gd name="T16" fmla="*/ 161 w 165"/>
              <a:gd name="T17" fmla="*/ 107 h 165"/>
              <a:gd name="T18" fmla="*/ 136 w 165"/>
              <a:gd name="T19" fmla="*/ 113 h 165"/>
              <a:gd name="T20" fmla="*/ 146 w 165"/>
              <a:gd name="T21" fmla="*/ 135 h 165"/>
              <a:gd name="T22" fmla="*/ 120 w 165"/>
              <a:gd name="T23" fmla="*/ 131 h 165"/>
              <a:gd name="T24" fmla="*/ 120 w 165"/>
              <a:gd name="T25" fmla="*/ 156 h 165"/>
              <a:gd name="T26" fmla="*/ 99 w 165"/>
              <a:gd name="T27" fmla="*/ 142 h 165"/>
              <a:gd name="T28" fmla="*/ 90 w 165"/>
              <a:gd name="T29" fmla="*/ 165 h 165"/>
              <a:gd name="T30" fmla="*/ 75 w 165"/>
              <a:gd name="T31" fmla="*/ 144 h 165"/>
              <a:gd name="T32" fmla="*/ 58 w 165"/>
              <a:gd name="T33" fmla="*/ 161 h 165"/>
              <a:gd name="T34" fmla="*/ 52 w 165"/>
              <a:gd name="T35" fmla="*/ 136 h 165"/>
              <a:gd name="T36" fmla="*/ 29 w 165"/>
              <a:gd name="T37" fmla="*/ 146 h 165"/>
              <a:gd name="T38" fmla="*/ 33 w 165"/>
              <a:gd name="T39" fmla="*/ 120 h 165"/>
              <a:gd name="T40" fmla="*/ 9 w 165"/>
              <a:gd name="T41" fmla="*/ 120 h 165"/>
              <a:gd name="T42" fmla="*/ 23 w 165"/>
              <a:gd name="T43" fmla="*/ 99 h 165"/>
              <a:gd name="T44" fmla="*/ 0 w 165"/>
              <a:gd name="T45" fmla="*/ 90 h 165"/>
              <a:gd name="T46" fmla="*/ 21 w 165"/>
              <a:gd name="T47" fmla="*/ 74 h 165"/>
              <a:gd name="T48" fmla="*/ 4 w 165"/>
              <a:gd name="T49" fmla="*/ 58 h 165"/>
              <a:gd name="T50" fmla="*/ 29 w 165"/>
              <a:gd name="T51" fmla="*/ 52 h 165"/>
              <a:gd name="T52" fmla="*/ 19 w 165"/>
              <a:gd name="T53" fmla="*/ 29 h 165"/>
              <a:gd name="T54" fmla="*/ 45 w 165"/>
              <a:gd name="T55" fmla="*/ 33 h 165"/>
              <a:gd name="T56" fmla="*/ 44 w 165"/>
              <a:gd name="T57" fmla="*/ 9 h 165"/>
              <a:gd name="T58" fmla="*/ 66 w 165"/>
              <a:gd name="T59" fmla="*/ 23 h 165"/>
              <a:gd name="T60" fmla="*/ 75 w 165"/>
              <a:gd name="T61" fmla="*/ 0 h 165"/>
              <a:gd name="T62" fmla="*/ 90 w 165"/>
              <a:gd name="T63" fmla="*/ 21 h 165"/>
              <a:gd name="T64" fmla="*/ 95 w 165"/>
              <a:gd name="T65" fmla="*/ 35 h 165"/>
              <a:gd name="T66" fmla="*/ 70 w 165"/>
              <a:gd name="T67" fmla="*/ 130 h 165"/>
              <a:gd name="T68" fmla="*/ 95 w 165"/>
              <a:gd name="T69" fmla="*/ 3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5">
                <a:moveTo>
                  <a:pt x="100" y="2"/>
                </a:moveTo>
                <a:cubicBezTo>
                  <a:pt x="107" y="4"/>
                  <a:pt x="107" y="4"/>
                  <a:pt x="107" y="4"/>
                </a:cubicBezTo>
                <a:cubicBezTo>
                  <a:pt x="106" y="25"/>
                  <a:pt x="106" y="25"/>
                  <a:pt x="106" y="25"/>
                </a:cubicBezTo>
                <a:cubicBezTo>
                  <a:pt x="109" y="26"/>
                  <a:pt x="111" y="27"/>
                  <a:pt x="113" y="29"/>
                </a:cubicBezTo>
                <a:cubicBezTo>
                  <a:pt x="130" y="15"/>
                  <a:pt x="130" y="15"/>
                  <a:pt x="130" y="15"/>
                </a:cubicBezTo>
                <a:cubicBezTo>
                  <a:pt x="135" y="19"/>
                  <a:pt x="135" y="19"/>
                  <a:pt x="135" y="19"/>
                </a:cubicBezTo>
                <a:cubicBezTo>
                  <a:pt x="126" y="39"/>
                  <a:pt x="126" y="39"/>
                  <a:pt x="126" y="39"/>
                </a:cubicBezTo>
                <a:cubicBezTo>
                  <a:pt x="128" y="41"/>
                  <a:pt x="130" y="43"/>
                  <a:pt x="131" y="45"/>
                </a:cubicBezTo>
                <a:cubicBezTo>
                  <a:pt x="152" y="38"/>
                  <a:pt x="152" y="38"/>
                  <a:pt x="152" y="38"/>
                </a:cubicBezTo>
                <a:cubicBezTo>
                  <a:pt x="156" y="44"/>
                  <a:pt x="156" y="44"/>
                  <a:pt x="156" y="44"/>
                </a:cubicBezTo>
                <a:cubicBezTo>
                  <a:pt x="140" y="59"/>
                  <a:pt x="140" y="59"/>
                  <a:pt x="140" y="59"/>
                </a:cubicBezTo>
                <a:cubicBezTo>
                  <a:pt x="141" y="61"/>
                  <a:pt x="142" y="64"/>
                  <a:pt x="142" y="66"/>
                </a:cubicBezTo>
                <a:cubicBezTo>
                  <a:pt x="164" y="68"/>
                  <a:pt x="164" y="68"/>
                  <a:pt x="164" y="68"/>
                </a:cubicBezTo>
                <a:cubicBezTo>
                  <a:pt x="165" y="75"/>
                  <a:pt x="165" y="75"/>
                  <a:pt x="165" y="75"/>
                </a:cubicBezTo>
                <a:cubicBezTo>
                  <a:pt x="144" y="83"/>
                  <a:pt x="144" y="83"/>
                  <a:pt x="144" y="83"/>
                </a:cubicBezTo>
                <a:cubicBezTo>
                  <a:pt x="144" y="85"/>
                  <a:pt x="144" y="88"/>
                  <a:pt x="144" y="90"/>
                </a:cubicBezTo>
                <a:cubicBezTo>
                  <a:pt x="163" y="100"/>
                  <a:pt x="163" y="100"/>
                  <a:pt x="163" y="100"/>
                </a:cubicBezTo>
                <a:cubicBezTo>
                  <a:pt x="161" y="107"/>
                  <a:pt x="161" y="107"/>
                  <a:pt x="161" y="107"/>
                </a:cubicBezTo>
                <a:cubicBezTo>
                  <a:pt x="140" y="106"/>
                  <a:pt x="140" y="106"/>
                  <a:pt x="140" y="106"/>
                </a:cubicBezTo>
                <a:cubicBezTo>
                  <a:pt x="139" y="109"/>
                  <a:pt x="138" y="111"/>
                  <a:pt x="136" y="113"/>
                </a:cubicBezTo>
                <a:cubicBezTo>
                  <a:pt x="150" y="130"/>
                  <a:pt x="150" y="130"/>
                  <a:pt x="150" y="130"/>
                </a:cubicBezTo>
                <a:cubicBezTo>
                  <a:pt x="146" y="135"/>
                  <a:pt x="146" y="135"/>
                  <a:pt x="146" y="135"/>
                </a:cubicBezTo>
                <a:cubicBezTo>
                  <a:pt x="126" y="126"/>
                  <a:pt x="126" y="126"/>
                  <a:pt x="126" y="126"/>
                </a:cubicBezTo>
                <a:cubicBezTo>
                  <a:pt x="124" y="128"/>
                  <a:pt x="122" y="130"/>
                  <a:pt x="120" y="131"/>
                </a:cubicBezTo>
                <a:cubicBezTo>
                  <a:pt x="127" y="152"/>
                  <a:pt x="127" y="152"/>
                  <a:pt x="127" y="152"/>
                </a:cubicBezTo>
                <a:cubicBezTo>
                  <a:pt x="120" y="156"/>
                  <a:pt x="120" y="156"/>
                  <a:pt x="120" y="156"/>
                </a:cubicBezTo>
                <a:cubicBezTo>
                  <a:pt x="106" y="140"/>
                  <a:pt x="106" y="140"/>
                  <a:pt x="106" y="140"/>
                </a:cubicBezTo>
                <a:cubicBezTo>
                  <a:pt x="104" y="141"/>
                  <a:pt x="101" y="142"/>
                  <a:pt x="99" y="142"/>
                </a:cubicBezTo>
                <a:cubicBezTo>
                  <a:pt x="97" y="164"/>
                  <a:pt x="97" y="164"/>
                  <a:pt x="97" y="164"/>
                </a:cubicBezTo>
                <a:cubicBezTo>
                  <a:pt x="90" y="165"/>
                  <a:pt x="90" y="165"/>
                  <a:pt x="90" y="165"/>
                </a:cubicBezTo>
                <a:cubicBezTo>
                  <a:pt x="82" y="144"/>
                  <a:pt x="82" y="144"/>
                  <a:pt x="82" y="144"/>
                </a:cubicBezTo>
                <a:cubicBezTo>
                  <a:pt x="80" y="144"/>
                  <a:pt x="77" y="144"/>
                  <a:pt x="75" y="144"/>
                </a:cubicBezTo>
                <a:cubicBezTo>
                  <a:pt x="65" y="163"/>
                  <a:pt x="65" y="163"/>
                  <a:pt x="65" y="163"/>
                </a:cubicBezTo>
                <a:cubicBezTo>
                  <a:pt x="58" y="161"/>
                  <a:pt x="58" y="161"/>
                  <a:pt x="58" y="161"/>
                </a:cubicBezTo>
                <a:cubicBezTo>
                  <a:pt x="59" y="140"/>
                  <a:pt x="59" y="140"/>
                  <a:pt x="59" y="140"/>
                </a:cubicBezTo>
                <a:cubicBezTo>
                  <a:pt x="56" y="139"/>
                  <a:pt x="54" y="137"/>
                  <a:pt x="52" y="136"/>
                </a:cubicBezTo>
                <a:cubicBezTo>
                  <a:pt x="35" y="150"/>
                  <a:pt x="35" y="150"/>
                  <a:pt x="35" y="150"/>
                </a:cubicBezTo>
                <a:cubicBezTo>
                  <a:pt x="29" y="146"/>
                  <a:pt x="29" y="146"/>
                  <a:pt x="29" y="146"/>
                </a:cubicBezTo>
                <a:cubicBezTo>
                  <a:pt x="39" y="126"/>
                  <a:pt x="39" y="126"/>
                  <a:pt x="39" y="126"/>
                </a:cubicBezTo>
                <a:cubicBezTo>
                  <a:pt x="37" y="124"/>
                  <a:pt x="35" y="122"/>
                  <a:pt x="33" y="120"/>
                </a:cubicBezTo>
                <a:cubicBezTo>
                  <a:pt x="13" y="127"/>
                  <a:pt x="13" y="127"/>
                  <a:pt x="13" y="127"/>
                </a:cubicBezTo>
                <a:cubicBezTo>
                  <a:pt x="9" y="120"/>
                  <a:pt x="9" y="120"/>
                  <a:pt x="9" y="120"/>
                </a:cubicBezTo>
                <a:cubicBezTo>
                  <a:pt x="25" y="106"/>
                  <a:pt x="25" y="106"/>
                  <a:pt x="25" y="106"/>
                </a:cubicBezTo>
                <a:cubicBezTo>
                  <a:pt x="24" y="104"/>
                  <a:pt x="23" y="101"/>
                  <a:pt x="23" y="99"/>
                </a:cubicBezTo>
                <a:cubicBezTo>
                  <a:pt x="1" y="97"/>
                  <a:pt x="1" y="97"/>
                  <a:pt x="1" y="97"/>
                </a:cubicBezTo>
                <a:cubicBezTo>
                  <a:pt x="0" y="90"/>
                  <a:pt x="0" y="90"/>
                  <a:pt x="0" y="90"/>
                </a:cubicBezTo>
                <a:cubicBezTo>
                  <a:pt x="21" y="82"/>
                  <a:pt x="21" y="82"/>
                  <a:pt x="21" y="82"/>
                </a:cubicBezTo>
                <a:cubicBezTo>
                  <a:pt x="20" y="80"/>
                  <a:pt x="21" y="77"/>
                  <a:pt x="21" y="74"/>
                </a:cubicBezTo>
                <a:cubicBezTo>
                  <a:pt x="2" y="65"/>
                  <a:pt x="2" y="65"/>
                  <a:pt x="2" y="65"/>
                </a:cubicBezTo>
                <a:cubicBezTo>
                  <a:pt x="4" y="58"/>
                  <a:pt x="4" y="58"/>
                  <a:pt x="4" y="58"/>
                </a:cubicBezTo>
                <a:cubicBezTo>
                  <a:pt x="25" y="59"/>
                  <a:pt x="25" y="59"/>
                  <a:pt x="25" y="59"/>
                </a:cubicBezTo>
                <a:cubicBezTo>
                  <a:pt x="26" y="56"/>
                  <a:pt x="27" y="54"/>
                  <a:pt x="29" y="52"/>
                </a:cubicBezTo>
                <a:cubicBezTo>
                  <a:pt x="15" y="35"/>
                  <a:pt x="15" y="35"/>
                  <a:pt x="15" y="35"/>
                </a:cubicBezTo>
                <a:cubicBezTo>
                  <a:pt x="19" y="29"/>
                  <a:pt x="19" y="29"/>
                  <a:pt x="19" y="29"/>
                </a:cubicBezTo>
                <a:cubicBezTo>
                  <a:pt x="39" y="39"/>
                  <a:pt x="39" y="39"/>
                  <a:pt x="39" y="39"/>
                </a:cubicBezTo>
                <a:cubicBezTo>
                  <a:pt x="41" y="37"/>
                  <a:pt x="43" y="35"/>
                  <a:pt x="45" y="33"/>
                </a:cubicBezTo>
                <a:cubicBezTo>
                  <a:pt x="38" y="13"/>
                  <a:pt x="38" y="13"/>
                  <a:pt x="38" y="13"/>
                </a:cubicBezTo>
                <a:cubicBezTo>
                  <a:pt x="44" y="9"/>
                  <a:pt x="44" y="9"/>
                  <a:pt x="44" y="9"/>
                </a:cubicBezTo>
                <a:cubicBezTo>
                  <a:pt x="59" y="25"/>
                  <a:pt x="59" y="25"/>
                  <a:pt x="59" y="25"/>
                </a:cubicBezTo>
                <a:cubicBezTo>
                  <a:pt x="61" y="24"/>
                  <a:pt x="64" y="23"/>
                  <a:pt x="66" y="23"/>
                </a:cubicBezTo>
                <a:cubicBezTo>
                  <a:pt x="68" y="1"/>
                  <a:pt x="68" y="1"/>
                  <a:pt x="68" y="1"/>
                </a:cubicBezTo>
                <a:cubicBezTo>
                  <a:pt x="75" y="0"/>
                  <a:pt x="75" y="0"/>
                  <a:pt x="75" y="0"/>
                </a:cubicBezTo>
                <a:cubicBezTo>
                  <a:pt x="83" y="21"/>
                  <a:pt x="83" y="21"/>
                  <a:pt x="83" y="21"/>
                </a:cubicBezTo>
                <a:cubicBezTo>
                  <a:pt x="85" y="20"/>
                  <a:pt x="88" y="21"/>
                  <a:pt x="90" y="21"/>
                </a:cubicBezTo>
                <a:cubicBezTo>
                  <a:pt x="100" y="2"/>
                  <a:pt x="100" y="2"/>
                  <a:pt x="100" y="2"/>
                </a:cubicBezTo>
                <a:close/>
                <a:moveTo>
                  <a:pt x="95" y="35"/>
                </a:moveTo>
                <a:cubicBezTo>
                  <a:pt x="121" y="42"/>
                  <a:pt x="137" y="69"/>
                  <a:pt x="130" y="95"/>
                </a:cubicBezTo>
                <a:cubicBezTo>
                  <a:pt x="123" y="121"/>
                  <a:pt x="96" y="137"/>
                  <a:pt x="70" y="130"/>
                </a:cubicBezTo>
                <a:cubicBezTo>
                  <a:pt x="44" y="123"/>
                  <a:pt x="28" y="96"/>
                  <a:pt x="35" y="69"/>
                </a:cubicBezTo>
                <a:cubicBezTo>
                  <a:pt x="42" y="43"/>
                  <a:pt x="69" y="28"/>
                  <a:pt x="95" y="35"/>
                </a:cubicBezTo>
                <a:close/>
              </a:path>
            </a:pathLst>
          </a:custGeom>
          <a:solidFill>
            <a:srgbClr val="E84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9" name="Freeform 7"/>
          <p:cNvSpPr>
            <a:spLocks noEditPoints="1"/>
          </p:cNvSpPr>
          <p:nvPr/>
        </p:nvSpPr>
        <p:spPr bwMode="auto">
          <a:xfrm>
            <a:off x="611560" y="2888133"/>
            <a:ext cx="1679575" cy="1652588"/>
          </a:xfrm>
          <a:custGeom>
            <a:avLst/>
            <a:gdLst>
              <a:gd name="T0" fmla="*/ 86 w 165"/>
              <a:gd name="T1" fmla="*/ 0 h 164"/>
              <a:gd name="T2" fmla="*/ 98 w 165"/>
              <a:gd name="T3" fmla="*/ 22 h 164"/>
              <a:gd name="T4" fmla="*/ 117 w 165"/>
              <a:gd name="T5" fmla="*/ 7 h 164"/>
              <a:gd name="T6" fmla="*/ 120 w 165"/>
              <a:gd name="T7" fmla="*/ 33 h 164"/>
              <a:gd name="T8" fmla="*/ 143 w 165"/>
              <a:gd name="T9" fmla="*/ 26 h 164"/>
              <a:gd name="T10" fmla="*/ 136 w 165"/>
              <a:gd name="T11" fmla="*/ 51 h 164"/>
              <a:gd name="T12" fmla="*/ 160 w 165"/>
              <a:gd name="T13" fmla="*/ 54 h 164"/>
              <a:gd name="T14" fmla="*/ 144 w 165"/>
              <a:gd name="T15" fmla="*/ 74 h 164"/>
              <a:gd name="T16" fmla="*/ 165 w 165"/>
              <a:gd name="T17" fmla="*/ 86 h 164"/>
              <a:gd name="T18" fmla="*/ 142 w 165"/>
              <a:gd name="T19" fmla="*/ 98 h 164"/>
              <a:gd name="T20" fmla="*/ 157 w 165"/>
              <a:gd name="T21" fmla="*/ 117 h 164"/>
              <a:gd name="T22" fmla="*/ 132 w 165"/>
              <a:gd name="T23" fmla="*/ 119 h 164"/>
              <a:gd name="T24" fmla="*/ 138 w 165"/>
              <a:gd name="T25" fmla="*/ 143 h 164"/>
              <a:gd name="T26" fmla="*/ 114 w 165"/>
              <a:gd name="T27" fmla="*/ 135 h 164"/>
              <a:gd name="T28" fmla="*/ 111 w 165"/>
              <a:gd name="T29" fmla="*/ 159 h 164"/>
              <a:gd name="T30" fmla="*/ 91 w 165"/>
              <a:gd name="T31" fmla="*/ 143 h 164"/>
              <a:gd name="T32" fmla="*/ 79 w 165"/>
              <a:gd name="T33" fmla="*/ 164 h 164"/>
              <a:gd name="T34" fmla="*/ 67 w 165"/>
              <a:gd name="T35" fmla="*/ 142 h 164"/>
              <a:gd name="T36" fmla="*/ 48 w 165"/>
              <a:gd name="T37" fmla="*/ 157 h 164"/>
              <a:gd name="T38" fmla="*/ 45 w 165"/>
              <a:gd name="T39" fmla="*/ 131 h 164"/>
              <a:gd name="T40" fmla="*/ 22 w 165"/>
              <a:gd name="T41" fmla="*/ 138 h 164"/>
              <a:gd name="T42" fmla="*/ 29 w 165"/>
              <a:gd name="T43" fmla="*/ 113 h 164"/>
              <a:gd name="T44" fmla="*/ 5 w 165"/>
              <a:gd name="T45" fmla="*/ 110 h 164"/>
              <a:gd name="T46" fmla="*/ 21 w 165"/>
              <a:gd name="T47" fmla="*/ 90 h 164"/>
              <a:gd name="T48" fmla="*/ 0 w 165"/>
              <a:gd name="T49" fmla="*/ 78 h 164"/>
              <a:gd name="T50" fmla="*/ 23 w 165"/>
              <a:gd name="T51" fmla="*/ 66 h 164"/>
              <a:gd name="T52" fmla="*/ 8 w 165"/>
              <a:gd name="T53" fmla="*/ 47 h 164"/>
              <a:gd name="T54" fmla="*/ 33 w 165"/>
              <a:gd name="T55" fmla="*/ 44 h 164"/>
              <a:gd name="T56" fmla="*/ 27 w 165"/>
              <a:gd name="T57" fmla="*/ 21 h 164"/>
              <a:gd name="T58" fmla="*/ 51 w 165"/>
              <a:gd name="T59" fmla="*/ 28 h 164"/>
              <a:gd name="T60" fmla="*/ 54 w 165"/>
              <a:gd name="T61" fmla="*/ 4 h 164"/>
              <a:gd name="T62" fmla="*/ 74 w 165"/>
              <a:gd name="T63" fmla="*/ 21 h 164"/>
              <a:gd name="T64" fmla="*/ 83 w 165"/>
              <a:gd name="T65" fmla="*/ 32 h 164"/>
              <a:gd name="T66" fmla="*/ 83 w 165"/>
              <a:gd name="T67" fmla="*/ 131 h 164"/>
              <a:gd name="T68" fmla="*/ 83 w 165"/>
              <a:gd name="T69" fmla="*/ 3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4">
                <a:moveTo>
                  <a:pt x="79" y="0"/>
                </a:moveTo>
                <a:cubicBezTo>
                  <a:pt x="86" y="0"/>
                  <a:pt x="86" y="0"/>
                  <a:pt x="86" y="0"/>
                </a:cubicBezTo>
                <a:cubicBezTo>
                  <a:pt x="91" y="21"/>
                  <a:pt x="91" y="21"/>
                  <a:pt x="91" y="21"/>
                </a:cubicBezTo>
                <a:cubicBezTo>
                  <a:pt x="93" y="21"/>
                  <a:pt x="96" y="21"/>
                  <a:pt x="98" y="22"/>
                </a:cubicBezTo>
                <a:cubicBezTo>
                  <a:pt x="111" y="4"/>
                  <a:pt x="111" y="4"/>
                  <a:pt x="111" y="4"/>
                </a:cubicBezTo>
                <a:cubicBezTo>
                  <a:pt x="117" y="7"/>
                  <a:pt x="117" y="7"/>
                  <a:pt x="117" y="7"/>
                </a:cubicBezTo>
                <a:cubicBezTo>
                  <a:pt x="114" y="28"/>
                  <a:pt x="114" y="28"/>
                  <a:pt x="114" y="28"/>
                </a:cubicBezTo>
                <a:cubicBezTo>
                  <a:pt x="116" y="30"/>
                  <a:pt x="118" y="31"/>
                  <a:pt x="120" y="33"/>
                </a:cubicBezTo>
                <a:cubicBezTo>
                  <a:pt x="138" y="21"/>
                  <a:pt x="138" y="21"/>
                  <a:pt x="138" y="21"/>
                </a:cubicBezTo>
                <a:cubicBezTo>
                  <a:pt x="143" y="26"/>
                  <a:pt x="143" y="26"/>
                  <a:pt x="143" y="26"/>
                </a:cubicBezTo>
                <a:cubicBezTo>
                  <a:pt x="132" y="44"/>
                  <a:pt x="132" y="44"/>
                  <a:pt x="132" y="44"/>
                </a:cubicBezTo>
                <a:cubicBezTo>
                  <a:pt x="133" y="46"/>
                  <a:pt x="135" y="49"/>
                  <a:pt x="136" y="51"/>
                </a:cubicBezTo>
                <a:cubicBezTo>
                  <a:pt x="157" y="47"/>
                  <a:pt x="157" y="47"/>
                  <a:pt x="157" y="47"/>
                </a:cubicBezTo>
                <a:cubicBezTo>
                  <a:pt x="160" y="54"/>
                  <a:pt x="160" y="54"/>
                  <a:pt x="160" y="54"/>
                </a:cubicBezTo>
                <a:cubicBezTo>
                  <a:pt x="142" y="66"/>
                  <a:pt x="142" y="66"/>
                  <a:pt x="142" y="66"/>
                </a:cubicBezTo>
                <a:cubicBezTo>
                  <a:pt x="143" y="69"/>
                  <a:pt x="144" y="71"/>
                  <a:pt x="144" y="74"/>
                </a:cubicBezTo>
                <a:cubicBezTo>
                  <a:pt x="165" y="78"/>
                  <a:pt x="165" y="78"/>
                  <a:pt x="165" y="78"/>
                </a:cubicBezTo>
                <a:cubicBezTo>
                  <a:pt x="165" y="86"/>
                  <a:pt x="165" y="86"/>
                  <a:pt x="165" y="86"/>
                </a:cubicBezTo>
                <a:cubicBezTo>
                  <a:pt x="144" y="90"/>
                  <a:pt x="144" y="90"/>
                  <a:pt x="144" y="90"/>
                </a:cubicBezTo>
                <a:cubicBezTo>
                  <a:pt x="144" y="93"/>
                  <a:pt x="143" y="95"/>
                  <a:pt x="142" y="98"/>
                </a:cubicBezTo>
                <a:cubicBezTo>
                  <a:pt x="160" y="110"/>
                  <a:pt x="160" y="110"/>
                  <a:pt x="160" y="110"/>
                </a:cubicBezTo>
                <a:cubicBezTo>
                  <a:pt x="157" y="117"/>
                  <a:pt x="157" y="117"/>
                  <a:pt x="157" y="117"/>
                </a:cubicBezTo>
                <a:cubicBezTo>
                  <a:pt x="136" y="113"/>
                  <a:pt x="136" y="113"/>
                  <a:pt x="136" y="113"/>
                </a:cubicBezTo>
                <a:cubicBezTo>
                  <a:pt x="135" y="115"/>
                  <a:pt x="133" y="117"/>
                  <a:pt x="132" y="119"/>
                </a:cubicBezTo>
                <a:cubicBezTo>
                  <a:pt x="143" y="138"/>
                  <a:pt x="143" y="138"/>
                  <a:pt x="143" y="138"/>
                </a:cubicBezTo>
                <a:cubicBezTo>
                  <a:pt x="138" y="143"/>
                  <a:pt x="138" y="143"/>
                  <a:pt x="138" y="143"/>
                </a:cubicBezTo>
                <a:cubicBezTo>
                  <a:pt x="120" y="131"/>
                  <a:pt x="120" y="131"/>
                  <a:pt x="120" y="131"/>
                </a:cubicBezTo>
                <a:cubicBezTo>
                  <a:pt x="118" y="133"/>
                  <a:pt x="116" y="134"/>
                  <a:pt x="114" y="135"/>
                </a:cubicBezTo>
                <a:cubicBezTo>
                  <a:pt x="117" y="157"/>
                  <a:pt x="117" y="157"/>
                  <a:pt x="117" y="157"/>
                </a:cubicBezTo>
                <a:cubicBezTo>
                  <a:pt x="111" y="159"/>
                  <a:pt x="111" y="159"/>
                  <a:pt x="111" y="159"/>
                </a:cubicBezTo>
                <a:cubicBezTo>
                  <a:pt x="98" y="142"/>
                  <a:pt x="98" y="142"/>
                  <a:pt x="98" y="142"/>
                </a:cubicBezTo>
                <a:cubicBezTo>
                  <a:pt x="96" y="142"/>
                  <a:pt x="93" y="143"/>
                  <a:pt x="91" y="143"/>
                </a:cubicBezTo>
                <a:cubicBezTo>
                  <a:pt x="86" y="164"/>
                  <a:pt x="86" y="164"/>
                  <a:pt x="86" y="164"/>
                </a:cubicBezTo>
                <a:cubicBezTo>
                  <a:pt x="79" y="164"/>
                  <a:pt x="79" y="164"/>
                  <a:pt x="79" y="164"/>
                </a:cubicBezTo>
                <a:cubicBezTo>
                  <a:pt x="74" y="143"/>
                  <a:pt x="74" y="143"/>
                  <a:pt x="74" y="143"/>
                </a:cubicBezTo>
                <a:cubicBezTo>
                  <a:pt x="72" y="143"/>
                  <a:pt x="69" y="142"/>
                  <a:pt x="67" y="142"/>
                </a:cubicBezTo>
                <a:cubicBezTo>
                  <a:pt x="54" y="159"/>
                  <a:pt x="54" y="159"/>
                  <a:pt x="54" y="159"/>
                </a:cubicBezTo>
                <a:cubicBezTo>
                  <a:pt x="48" y="157"/>
                  <a:pt x="48" y="157"/>
                  <a:pt x="48" y="157"/>
                </a:cubicBezTo>
                <a:cubicBezTo>
                  <a:pt x="52" y="135"/>
                  <a:pt x="52" y="135"/>
                  <a:pt x="52" y="135"/>
                </a:cubicBezTo>
                <a:cubicBezTo>
                  <a:pt x="49" y="134"/>
                  <a:pt x="47" y="133"/>
                  <a:pt x="45" y="131"/>
                </a:cubicBezTo>
                <a:cubicBezTo>
                  <a:pt x="27" y="143"/>
                  <a:pt x="27" y="143"/>
                  <a:pt x="27" y="143"/>
                </a:cubicBezTo>
                <a:cubicBezTo>
                  <a:pt x="22" y="138"/>
                  <a:pt x="22" y="138"/>
                  <a:pt x="22" y="138"/>
                </a:cubicBezTo>
                <a:cubicBezTo>
                  <a:pt x="33" y="119"/>
                  <a:pt x="33" y="119"/>
                  <a:pt x="33" y="119"/>
                </a:cubicBezTo>
                <a:cubicBezTo>
                  <a:pt x="32" y="117"/>
                  <a:pt x="30" y="115"/>
                  <a:pt x="29" y="113"/>
                </a:cubicBezTo>
                <a:cubicBezTo>
                  <a:pt x="8" y="117"/>
                  <a:pt x="8" y="117"/>
                  <a:pt x="8" y="117"/>
                </a:cubicBezTo>
                <a:cubicBezTo>
                  <a:pt x="5" y="110"/>
                  <a:pt x="5" y="110"/>
                  <a:pt x="5" y="110"/>
                </a:cubicBezTo>
                <a:cubicBezTo>
                  <a:pt x="23" y="98"/>
                  <a:pt x="23" y="98"/>
                  <a:pt x="23" y="98"/>
                </a:cubicBezTo>
                <a:cubicBezTo>
                  <a:pt x="22" y="95"/>
                  <a:pt x="21" y="93"/>
                  <a:pt x="21" y="90"/>
                </a:cubicBezTo>
                <a:cubicBezTo>
                  <a:pt x="0" y="86"/>
                  <a:pt x="0" y="86"/>
                  <a:pt x="0" y="86"/>
                </a:cubicBezTo>
                <a:cubicBezTo>
                  <a:pt x="0" y="78"/>
                  <a:pt x="0" y="78"/>
                  <a:pt x="0" y="78"/>
                </a:cubicBezTo>
                <a:cubicBezTo>
                  <a:pt x="21" y="74"/>
                  <a:pt x="21" y="74"/>
                  <a:pt x="21" y="74"/>
                </a:cubicBezTo>
                <a:cubicBezTo>
                  <a:pt x="21" y="71"/>
                  <a:pt x="22" y="69"/>
                  <a:pt x="23" y="66"/>
                </a:cubicBezTo>
                <a:cubicBezTo>
                  <a:pt x="5" y="54"/>
                  <a:pt x="5" y="54"/>
                  <a:pt x="5" y="54"/>
                </a:cubicBezTo>
                <a:cubicBezTo>
                  <a:pt x="8" y="47"/>
                  <a:pt x="8" y="47"/>
                  <a:pt x="8" y="47"/>
                </a:cubicBezTo>
                <a:cubicBezTo>
                  <a:pt x="29" y="51"/>
                  <a:pt x="29" y="51"/>
                  <a:pt x="29" y="51"/>
                </a:cubicBezTo>
                <a:cubicBezTo>
                  <a:pt x="30" y="49"/>
                  <a:pt x="32" y="46"/>
                  <a:pt x="33" y="44"/>
                </a:cubicBezTo>
                <a:cubicBezTo>
                  <a:pt x="22" y="26"/>
                  <a:pt x="22" y="26"/>
                  <a:pt x="22" y="26"/>
                </a:cubicBezTo>
                <a:cubicBezTo>
                  <a:pt x="27" y="21"/>
                  <a:pt x="27" y="21"/>
                  <a:pt x="27" y="21"/>
                </a:cubicBezTo>
                <a:cubicBezTo>
                  <a:pt x="45" y="33"/>
                  <a:pt x="45" y="33"/>
                  <a:pt x="45" y="33"/>
                </a:cubicBezTo>
                <a:cubicBezTo>
                  <a:pt x="47" y="31"/>
                  <a:pt x="49" y="30"/>
                  <a:pt x="51" y="28"/>
                </a:cubicBezTo>
                <a:cubicBezTo>
                  <a:pt x="48" y="7"/>
                  <a:pt x="48" y="7"/>
                  <a:pt x="48" y="7"/>
                </a:cubicBezTo>
                <a:cubicBezTo>
                  <a:pt x="54" y="4"/>
                  <a:pt x="54" y="4"/>
                  <a:pt x="54" y="4"/>
                </a:cubicBezTo>
                <a:cubicBezTo>
                  <a:pt x="67" y="22"/>
                  <a:pt x="67" y="22"/>
                  <a:pt x="67" y="22"/>
                </a:cubicBezTo>
                <a:cubicBezTo>
                  <a:pt x="69" y="21"/>
                  <a:pt x="72" y="21"/>
                  <a:pt x="74" y="21"/>
                </a:cubicBezTo>
                <a:cubicBezTo>
                  <a:pt x="79" y="0"/>
                  <a:pt x="79" y="0"/>
                  <a:pt x="79" y="0"/>
                </a:cubicBezTo>
                <a:close/>
                <a:moveTo>
                  <a:pt x="83" y="32"/>
                </a:moveTo>
                <a:cubicBezTo>
                  <a:pt x="110" y="32"/>
                  <a:pt x="132" y="55"/>
                  <a:pt x="132" y="82"/>
                </a:cubicBezTo>
                <a:cubicBezTo>
                  <a:pt x="132" y="109"/>
                  <a:pt x="110" y="131"/>
                  <a:pt x="83" y="131"/>
                </a:cubicBezTo>
                <a:cubicBezTo>
                  <a:pt x="55" y="131"/>
                  <a:pt x="33" y="109"/>
                  <a:pt x="33" y="82"/>
                </a:cubicBezTo>
                <a:cubicBezTo>
                  <a:pt x="33" y="55"/>
                  <a:pt x="55" y="32"/>
                  <a:pt x="83" y="32"/>
                </a:cubicBezTo>
                <a:close/>
              </a:path>
            </a:pathLst>
          </a:custGeom>
          <a:solidFill>
            <a:srgbClr val="DED4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10" name="Oval 8"/>
          <p:cNvSpPr>
            <a:spLocks noChangeArrowheads="1"/>
          </p:cNvSpPr>
          <p:nvPr/>
        </p:nvSpPr>
        <p:spPr bwMode="auto">
          <a:xfrm>
            <a:off x="895723" y="3159596"/>
            <a:ext cx="1109663" cy="1098550"/>
          </a:xfrm>
          <a:prstGeom prst="ellipse">
            <a:avLst/>
          </a:prstGeom>
          <a:solidFill>
            <a:srgbClr val="CCCD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11" name="Freeform 9"/>
          <p:cNvSpPr>
            <a:spLocks noEditPoints="1"/>
          </p:cNvSpPr>
          <p:nvPr/>
        </p:nvSpPr>
        <p:spPr bwMode="auto">
          <a:xfrm>
            <a:off x="611560" y="2888133"/>
            <a:ext cx="1679575" cy="1652588"/>
          </a:xfrm>
          <a:custGeom>
            <a:avLst/>
            <a:gdLst>
              <a:gd name="T0" fmla="*/ 86 w 165"/>
              <a:gd name="T1" fmla="*/ 0 h 164"/>
              <a:gd name="T2" fmla="*/ 98 w 165"/>
              <a:gd name="T3" fmla="*/ 22 h 164"/>
              <a:gd name="T4" fmla="*/ 117 w 165"/>
              <a:gd name="T5" fmla="*/ 7 h 164"/>
              <a:gd name="T6" fmla="*/ 120 w 165"/>
              <a:gd name="T7" fmla="*/ 33 h 164"/>
              <a:gd name="T8" fmla="*/ 143 w 165"/>
              <a:gd name="T9" fmla="*/ 26 h 164"/>
              <a:gd name="T10" fmla="*/ 136 w 165"/>
              <a:gd name="T11" fmla="*/ 51 h 164"/>
              <a:gd name="T12" fmla="*/ 160 w 165"/>
              <a:gd name="T13" fmla="*/ 54 h 164"/>
              <a:gd name="T14" fmla="*/ 144 w 165"/>
              <a:gd name="T15" fmla="*/ 74 h 164"/>
              <a:gd name="T16" fmla="*/ 165 w 165"/>
              <a:gd name="T17" fmla="*/ 86 h 164"/>
              <a:gd name="T18" fmla="*/ 142 w 165"/>
              <a:gd name="T19" fmla="*/ 98 h 164"/>
              <a:gd name="T20" fmla="*/ 157 w 165"/>
              <a:gd name="T21" fmla="*/ 117 h 164"/>
              <a:gd name="T22" fmla="*/ 132 w 165"/>
              <a:gd name="T23" fmla="*/ 119 h 164"/>
              <a:gd name="T24" fmla="*/ 138 w 165"/>
              <a:gd name="T25" fmla="*/ 143 h 164"/>
              <a:gd name="T26" fmla="*/ 114 w 165"/>
              <a:gd name="T27" fmla="*/ 135 h 164"/>
              <a:gd name="T28" fmla="*/ 111 w 165"/>
              <a:gd name="T29" fmla="*/ 159 h 164"/>
              <a:gd name="T30" fmla="*/ 91 w 165"/>
              <a:gd name="T31" fmla="*/ 143 h 164"/>
              <a:gd name="T32" fmla="*/ 79 w 165"/>
              <a:gd name="T33" fmla="*/ 164 h 164"/>
              <a:gd name="T34" fmla="*/ 67 w 165"/>
              <a:gd name="T35" fmla="*/ 142 h 164"/>
              <a:gd name="T36" fmla="*/ 48 w 165"/>
              <a:gd name="T37" fmla="*/ 157 h 164"/>
              <a:gd name="T38" fmla="*/ 45 w 165"/>
              <a:gd name="T39" fmla="*/ 131 h 164"/>
              <a:gd name="T40" fmla="*/ 22 w 165"/>
              <a:gd name="T41" fmla="*/ 138 h 164"/>
              <a:gd name="T42" fmla="*/ 29 w 165"/>
              <a:gd name="T43" fmla="*/ 113 h 164"/>
              <a:gd name="T44" fmla="*/ 5 w 165"/>
              <a:gd name="T45" fmla="*/ 110 h 164"/>
              <a:gd name="T46" fmla="*/ 21 w 165"/>
              <a:gd name="T47" fmla="*/ 90 h 164"/>
              <a:gd name="T48" fmla="*/ 0 w 165"/>
              <a:gd name="T49" fmla="*/ 78 h 164"/>
              <a:gd name="T50" fmla="*/ 23 w 165"/>
              <a:gd name="T51" fmla="*/ 66 h 164"/>
              <a:gd name="T52" fmla="*/ 8 w 165"/>
              <a:gd name="T53" fmla="*/ 47 h 164"/>
              <a:gd name="T54" fmla="*/ 33 w 165"/>
              <a:gd name="T55" fmla="*/ 44 h 164"/>
              <a:gd name="T56" fmla="*/ 27 w 165"/>
              <a:gd name="T57" fmla="*/ 21 h 164"/>
              <a:gd name="T58" fmla="*/ 51 w 165"/>
              <a:gd name="T59" fmla="*/ 28 h 164"/>
              <a:gd name="T60" fmla="*/ 54 w 165"/>
              <a:gd name="T61" fmla="*/ 4 h 164"/>
              <a:gd name="T62" fmla="*/ 74 w 165"/>
              <a:gd name="T63" fmla="*/ 21 h 164"/>
              <a:gd name="T64" fmla="*/ 83 w 165"/>
              <a:gd name="T65" fmla="*/ 32 h 164"/>
              <a:gd name="T66" fmla="*/ 83 w 165"/>
              <a:gd name="T67" fmla="*/ 131 h 164"/>
              <a:gd name="T68" fmla="*/ 83 w 165"/>
              <a:gd name="T69" fmla="*/ 3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4">
                <a:moveTo>
                  <a:pt x="79" y="0"/>
                </a:moveTo>
                <a:cubicBezTo>
                  <a:pt x="86" y="0"/>
                  <a:pt x="86" y="0"/>
                  <a:pt x="86" y="0"/>
                </a:cubicBezTo>
                <a:cubicBezTo>
                  <a:pt x="91" y="21"/>
                  <a:pt x="91" y="21"/>
                  <a:pt x="91" y="21"/>
                </a:cubicBezTo>
                <a:cubicBezTo>
                  <a:pt x="93" y="21"/>
                  <a:pt x="96" y="21"/>
                  <a:pt x="98" y="22"/>
                </a:cubicBezTo>
                <a:cubicBezTo>
                  <a:pt x="111" y="4"/>
                  <a:pt x="111" y="4"/>
                  <a:pt x="111" y="4"/>
                </a:cubicBezTo>
                <a:cubicBezTo>
                  <a:pt x="117" y="7"/>
                  <a:pt x="117" y="7"/>
                  <a:pt x="117" y="7"/>
                </a:cubicBezTo>
                <a:cubicBezTo>
                  <a:pt x="114" y="28"/>
                  <a:pt x="114" y="28"/>
                  <a:pt x="114" y="28"/>
                </a:cubicBezTo>
                <a:cubicBezTo>
                  <a:pt x="116" y="30"/>
                  <a:pt x="118" y="31"/>
                  <a:pt x="120" y="33"/>
                </a:cubicBezTo>
                <a:cubicBezTo>
                  <a:pt x="138" y="21"/>
                  <a:pt x="138" y="21"/>
                  <a:pt x="138" y="21"/>
                </a:cubicBezTo>
                <a:cubicBezTo>
                  <a:pt x="143" y="26"/>
                  <a:pt x="143" y="26"/>
                  <a:pt x="143" y="26"/>
                </a:cubicBezTo>
                <a:cubicBezTo>
                  <a:pt x="132" y="44"/>
                  <a:pt x="132" y="44"/>
                  <a:pt x="132" y="44"/>
                </a:cubicBezTo>
                <a:cubicBezTo>
                  <a:pt x="133" y="46"/>
                  <a:pt x="135" y="49"/>
                  <a:pt x="136" y="51"/>
                </a:cubicBezTo>
                <a:cubicBezTo>
                  <a:pt x="157" y="47"/>
                  <a:pt x="157" y="47"/>
                  <a:pt x="157" y="47"/>
                </a:cubicBezTo>
                <a:cubicBezTo>
                  <a:pt x="160" y="54"/>
                  <a:pt x="160" y="54"/>
                  <a:pt x="160" y="54"/>
                </a:cubicBezTo>
                <a:cubicBezTo>
                  <a:pt x="142" y="66"/>
                  <a:pt x="142" y="66"/>
                  <a:pt x="142" y="66"/>
                </a:cubicBezTo>
                <a:cubicBezTo>
                  <a:pt x="143" y="69"/>
                  <a:pt x="144" y="71"/>
                  <a:pt x="144" y="74"/>
                </a:cubicBezTo>
                <a:cubicBezTo>
                  <a:pt x="165" y="78"/>
                  <a:pt x="165" y="78"/>
                  <a:pt x="165" y="78"/>
                </a:cubicBezTo>
                <a:cubicBezTo>
                  <a:pt x="165" y="86"/>
                  <a:pt x="165" y="86"/>
                  <a:pt x="165" y="86"/>
                </a:cubicBezTo>
                <a:cubicBezTo>
                  <a:pt x="144" y="90"/>
                  <a:pt x="144" y="90"/>
                  <a:pt x="144" y="90"/>
                </a:cubicBezTo>
                <a:cubicBezTo>
                  <a:pt x="144" y="93"/>
                  <a:pt x="143" y="95"/>
                  <a:pt x="142" y="98"/>
                </a:cubicBezTo>
                <a:cubicBezTo>
                  <a:pt x="160" y="110"/>
                  <a:pt x="160" y="110"/>
                  <a:pt x="160" y="110"/>
                </a:cubicBezTo>
                <a:cubicBezTo>
                  <a:pt x="157" y="117"/>
                  <a:pt x="157" y="117"/>
                  <a:pt x="157" y="117"/>
                </a:cubicBezTo>
                <a:cubicBezTo>
                  <a:pt x="136" y="113"/>
                  <a:pt x="136" y="113"/>
                  <a:pt x="136" y="113"/>
                </a:cubicBezTo>
                <a:cubicBezTo>
                  <a:pt x="135" y="115"/>
                  <a:pt x="133" y="117"/>
                  <a:pt x="132" y="119"/>
                </a:cubicBezTo>
                <a:cubicBezTo>
                  <a:pt x="143" y="138"/>
                  <a:pt x="143" y="138"/>
                  <a:pt x="143" y="138"/>
                </a:cubicBezTo>
                <a:cubicBezTo>
                  <a:pt x="138" y="143"/>
                  <a:pt x="138" y="143"/>
                  <a:pt x="138" y="143"/>
                </a:cubicBezTo>
                <a:cubicBezTo>
                  <a:pt x="120" y="131"/>
                  <a:pt x="120" y="131"/>
                  <a:pt x="120" y="131"/>
                </a:cubicBezTo>
                <a:cubicBezTo>
                  <a:pt x="118" y="133"/>
                  <a:pt x="116" y="134"/>
                  <a:pt x="114" y="135"/>
                </a:cubicBezTo>
                <a:cubicBezTo>
                  <a:pt x="117" y="157"/>
                  <a:pt x="117" y="157"/>
                  <a:pt x="117" y="157"/>
                </a:cubicBezTo>
                <a:cubicBezTo>
                  <a:pt x="111" y="159"/>
                  <a:pt x="111" y="159"/>
                  <a:pt x="111" y="159"/>
                </a:cubicBezTo>
                <a:cubicBezTo>
                  <a:pt x="98" y="142"/>
                  <a:pt x="98" y="142"/>
                  <a:pt x="98" y="142"/>
                </a:cubicBezTo>
                <a:cubicBezTo>
                  <a:pt x="96" y="142"/>
                  <a:pt x="93" y="143"/>
                  <a:pt x="91" y="143"/>
                </a:cubicBezTo>
                <a:cubicBezTo>
                  <a:pt x="86" y="164"/>
                  <a:pt x="86" y="164"/>
                  <a:pt x="86" y="164"/>
                </a:cubicBezTo>
                <a:cubicBezTo>
                  <a:pt x="79" y="164"/>
                  <a:pt x="79" y="164"/>
                  <a:pt x="79" y="164"/>
                </a:cubicBezTo>
                <a:cubicBezTo>
                  <a:pt x="74" y="143"/>
                  <a:pt x="74" y="143"/>
                  <a:pt x="74" y="143"/>
                </a:cubicBezTo>
                <a:cubicBezTo>
                  <a:pt x="72" y="143"/>
                  <a:pt x="69" y="142"/>
                  <a:pt x="67" y="142"/>
                </a:cubicBezTo>
                <a:cubicBezTo>
                  <a:pt x="54" y="159"/>
                  <a:pt x="54" y="159"/>
                  <a:pt x="54" y="159"/>
                </a:cubicBezTo>
                <a:cubicBezTo>
                  <a:pt x="48" y="157"/>
                  <a:pt x="48" y="157"/>
                  <a:pt x="48" y="157"/>
                </a:cubicBezTo>
                <a:cubicBezTo>
                  <a:pt x="52" y="135"/>
                  <a:pt x="52" y="135"/>
                  <a:pt x="52" y="135"/>
                </a:cubicBezTo>
                <a:cubicBezTo>
                  <a:pt x="49" y="134"/>
                  <a:pt x="47" y="133"/>
                  <a:pt x="45" y="131"/>
                </a:cubicBezTo>
                <a:cubicBezTo>
                  <a:pt x="27" y="143"/>
                  <a:pt x="27" y="143"/>
                  <a:pt x="27" y="143"/>
                </a:cubicBezTo>
                <a:cubicBezTo>
                  <a:pt x="22" y="138"/>
                  <a:pt x="22" y="138"/>
                  <a:pt x="22" y="138"/>
                </a:cubicBezTo>
                <a:cubicBezTo>
                  <a:pt x="33" y="119"/>
                  <a:pt x="33" y="119"/>
                  <a:pt x="33" y="119"/>
                </a:cubicBezTo>
                <a:cubicBezTo>
                  <a:pt x="32" y="117"/>
                  <a:pt x="30" y="115"/>
                  <a:pt x="29" y="113"/>
                </a:cubicBezTo>
                <a:cubicBezTo>
                  <a:pt x="8" y="117"/>
                  <a:pt x="8" y="117"/>
                  <a:pt x="8" y="117"/>
                </a:cubicBezTo>
                <a:cubicBezTo>
                  <a:pt x="5" y="110"/>
                  <a:pt x="5" y="110"/>
                  <a:pt x="5" y="110"/>
                </a:cubicBezTo>
                <a:cubicBezTo>
                  <a:pt x="23" y="98"/>
                  <a:pt x="23" y="98"/>
                  <a:pt x="23" y="98"/>
                </a:cubicBezTo>
                <a:cubicBezTo>
                  <a:pt x="22" y="95"/>
                  <a:pt x="21" y="93"/>
                  <a:pt x="21" y="90"/>
                </a:cubicBezTo>
                <a:cubicBezTo>
                  <a:pt x="0" y="86"/>
                  <a:pt x="0" y="86"/>
                  <a:pt x="0" y="86"/>
                </a:cubicBezTo>
                <a:cubicBezTo>
                  <a:pt x="0" y="78"/>
                  <a:pt x="0" y="78"/>
                  <a:pt x="0" y="78"/>
                </a:cubicBezTo>
                <a:cubicBezTo>
                  <a:pt x="21" y="74"/>
                  <a:pt x="21" y="74"/>
                  <a:pt x="21" y="74"/>
                </a:cubicBezTo>
                <a:cubicBezTo>
                  <a:pt x="21" y="71"/>
                  <a:pt x="22" y="69"/>
                  <a:pt x="23" y="66"/>
                </a:cubicBezTo>
                <a:cubicBezTo>
                  <a:pt x="5" y="54"/>
                  <a:pt x="5" y="54"/>
                  <a:pt x="5" y="54"/>
                </a:cubicBezTo>
                <a:cubicBezTo>
                  <a:pt x="8" y="47"/>
                  <a:pt x="8" y="47"/>
                  <a:pt x="8" y="47"/>
                </a:cubicBezTo>
                <a:cubicBezTo>
                  <a:pt x="29" y="51"/>
                  <a:pt x="29" y="51"/>
                  <a:pt x="29" y="51"/>
                </a:cubicBezTo>
                <a:cubicBezTo>
                  <a:pt x="30" y="49"/>
                  <a:pt x="32" y="46"/>
                  <a:pt x="33" y="44"/>
                </a:cubicBezTo>
                <a:cubicBezTo>
                  <a:pt x="22" y="26"/>
                  <a:pt x="22" y="26"/>
                  <a:pt x="22" y="26"/>
                </a:cubicBezTo>
                <a:cubicBezTo>
                  <a:pt x="27" y="21"/>
                  <a:pt x="27" y="21"/>
                  <a:pt x="27" y="21"/>
                </a:cubicBezTo>
                <a:cubicBezTo>
                  <a:pt x="45" y="33"/>
                  <a:pt x="45" y="33"/>
                  <a:pt x="45" y="33"/>
                </a:cubicBezTo>
                <a:cubicBezTo>
                  <a:pt x="47" y="31"/>
                  <a:pt x="49" y="30"/>
                  <a:pt x="51" y="28"/>
                </a:cubicBezTo>
                <a:cubicBezTo>
                  <a:pt x="48" y="7"/>
                  <a:pt x="48" y="7"/>
                  <a:pt x="48" y="7"/>
                </a:cubicBezTo>
                <a:cubicBezTo>
                  <a:pt x="54" y="4"/>
                  <a:pt x="54" y="4"/>
                  <a:pt x="54" y="4"/>
                </a:cubicBezTo>
                <a:cubicBezTo>
                  <a:pt x="67" y="22"/>
                  <a:pt x="67" y="22"/>
                  <a:pt x="67" y="22"/>
                </a:cubicBezTo>
                <a:cubicBezTo>
                  <a:pt x="69" y="21"/>
                  <a:pt x="72" y="21"/>
                  <a:pt x="74" y="21"/>
                </a:cubicBezTo>
                <a:cubicBezTo>
                  <a:pt x="79" y="0"/>
                  <a:pt x="79" y="0"/>
                  <a:pt x="79" y="0"/>
                </a:cubicBezTo>
                <a:close/>
                <a:moveTo>
                  <a:pt x="83" y="32"/>
                </a:moveTo>
                <a:cubicBezTo>
                  <a:pt x="110" y="32"/>
                  <a:pt x="132" y="55"/>
                  <a:pt x="132" y="82"/>
                </a:cubicBezTo>
                <a:cubicBezTo>
                  <a:pt x="132" y="109"/>
                  <a:pt x="110" y="131"/>
                  <a:pt x="83" y="131"/>
                </a:cubicBezTo>
                <a:cubicBezTo>
                  <a:pt x="55" y="131"/>
                  <a:pt x="33" y="109"/>
                  <a:pt x="33" y="82"/>
                </a:cubicBezTo>
                <a:cubicBezTo>
                  <a:pt x="33" y="55"/>
                  <a:pt x="55" y="32"/>
                  <a:pt x="83" y="32"/>
                </a:cubicBezTo>
                <a:close/>
              </a:path>
            </a:pathLst>
          </a:custGeom>
          <a:solidFill>
            <a:srgbClr val="4B57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12" name="Oval 10"/>
          <p:cNvSpPr>
            <a:spLocks noChangeArrowheads="1"/>
          </p:cNvSpPr>
          <p:nvPr/>
        </p:nvSpPr>
        <p:spPr bwMode="auto">
          <a:xfrm>
            <a:off x="1262435" y="4712171"/>
            <a:ext cx="1109663" cy="1098550"/>
          </a:xfrm>
          <a:prstGeom prst="ellipse">
            <a:avLst/>
          </a:prstGeom>
          <a:solidFill>
            <a:srgbClr val="FEE7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13" name="Freeform 11"/>
          <p:cNvSpPr>
            <a:spLocks noEditPoints="1"/>
          </p:cNvSpPr>
          <p:nvPr/>
        </p:nvSpPr>
        <p:spPr bwMode="auto">
          <a:xfrm>
            <a:off x="987798" y="4429596"/>
            <a:ext cx="1670050" cy="1663700"/>
          </a:xfrm>
          <a:custGeom>
            <a:avLst/>
            <a:gdLst>
              <a:gd name="T0" fmla="*/ 57 w 164"/>
              <a:gd name="T1" fmla="*/ 4 h 165"/>
              <a:gd name="T2" fmla="*/ 51 w 164"/>
              <a:gd name="T3" fmla="*/ 29 h 165"/>
              <a:gd name="T4" fmla="*/ 29 w 164"/>
              <a:gd name="T5" fmla="*/ 19 h 165"/>
              <a:gd name="T6" fmla="*/ 33 w 164"/>
              <a:gd name="T7" fmla="*/ 45 h 165"/>
              <a:gd name="T8" fmla="*/ 9 w 164"/>
              <a:gd name="T9" fmla="*/ 45 h 165"/>
              <a:gd name="T10" fmla="*/ 22 w 164"/>
              <a:gd name="T11" fmla="*/ 66 h 165"/>
              <a:gd name="T12" fmla="*/ 0 w 164"/>
              <a:gd name="T13" fmla="*/ 75 h 165"/>
              <a:gd name="T14" fmla="*/ 21 w 164"/>
              <a:gd name="T15" fmla="*/ 91 h 165"/>
              <a:gd name="T16" fmla="*/ 3 w 164"/>
              <a:gd name="T17" fmla="*/ 107 h 165"/>
              <a:gd name="T18" fmla="*/ 28 w 164"/>
              <a:gd name="T19" fmla="*/ 113 h 165"/>
              <a:gd name="T20" fmla="*/ 19 w 164"/>
              <a:gd name="T21" fmla="*/ 136 h 165"/>
              <a:gd name="T22" fmla="*/ 44 w 164"/>
              <a:gd name="T23" fmla="*/ 132 h 165"/>
              <a:gd name="T24" fmla="*/ 44 w 164"/>
              <a:gd name="T25" fmla="*/ 156 h 165"/>
              <a:gd name="T26" fmla="*/ 66 w 164"/>
              <a:gd name="T27" fmla="*/ 142 h 165"/>
              <a:gd name="T28" fmla="*/ 75 w 164"/>
              <a:gd name="T29" fmla="*/ 165 h 165"/>
              <a:gd name="T30" fmla="*/ 90 w 164"/>
              <a:gd name="T31" fmla="*/ 144 h 165"/>
              <a:gd name="T32" fmla="*/ 107 w 164"/>
              <a:gd name="T33" fmla="*/ 161 h 165"/>
              <a:gd name="T34" fmla="*/ 113 w 164"/>
              <a:gd name="T35" fmla="*/ 136 h 165"/>
              <a:gd name="T36" fmla="*/ 135 w 164"/>
              <a:gd name="T37" fmla="*/ 146 h 165"/>
              <a:gd name="T38" fmla="*/ 131 w 164"/>
              <a:gd name="T39" fmla="*/ 120 h 165"/>
              <a:gd name="T40" fmla="*/ 155 w 164"/>
              <a:gd name="T41" fmla="*/ 121 h 165"/>
              <a:gd name="T42" fmla="*/ 142 w 164"/>
              <a:gd name="T43" fmla="*/ 99 h 165"/>
              <a:gd name="T44" fmla="*/ 164 w 164"/>
              <a:gd name="T45" fmla="*/ 90 h 165"/>
              <a:gd name="T46" fmla="*/ 143 w 164"/>
              <a:gd name="T47" fmla="*/ 75 h 165"/>
              <a:gd name="T48" fmla="*/ 161 w 164"/>
              <a:gd name="T49" fmla="*/ 58 h 165"/>
              <a:gd name="T50" fmla="*/ 136 w 164"/>
              <a:gd name="T51" fmla="*/ 52 h 165"/>
              <a:gd name="T52" fmla="*/ 145 w 164"/>
              <a:gd name="T53" fmla="*/ 30 h 165"/>
              <a:gd name="T54" fmla="*/ 120 w 164"/>
              <a:gd name="T55" fmla="*/ 34 h 165"/>
              <a:gd name="T56" fmla="*/ 120 w 164"/>
              <a:gd name="T57" fmla="*/ 9 h 165"/>
              <a:gd name="T58" fmla="*/ 98 w 164"/>
              <a:gd name="T59" fmla="*/ 23 h 165"/>
              <a:gd name="T60" fmla="*/ 89 w 164"/>
              <a:gd name="T61" fmla="*/ 0 h 165"/>
              <a:gd name="T62" fmla="*/ 74 w 164"/>
              <a:gd name="T63" fmla="*/ 21 h 165"/>
              <a:gd name="T64" fmla="*/ 69 w 164"/>
              <a:gd name="T65" fmla="*/ 35 h 165"/>
              <a:gd name="T66" fmla="*/ 95 w 164"/>
              <a:gd name="T67" fmla="*/ 130 h 165"/>
              <a:gd name="T68" fmla="*/ 69 w 164"/>
              <a:gd name="T69" fmla="*/ 3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4" h="165">
                <a:moveTo>
                  <a:pt x="64" y="2"/>
                </a:moveTo>
                <a:cubicBezTo>
                  <a:pt x="57" y="4"/>
                  <a:pt x="57" y="4"/>
                  <a:pt x="57" y="4"/>
                </a:cubicBezTo>
                <a:cubicBezTo>
                  <a:pt x="58" y="25"/>
                  <a:pt x="58" y="25"/>
                  <a:pt x="58" y="25"/>
                </a:cubicBezTo>
                <a:cubicBezTo>
                  <a:pt x="56" y="26"/>
                  <a:pt x="53" y="28"/>
                  <a:pt x="51" y="29"/>
                </a:cubicBezTo>
                <a:cubicBezTo>
                  <a:pt x="35" y="15"/>
                  <a:pt x="35" y="15"/>
                  <a:pt x="35" y="15"/>
                </a:cubicBezTo>
                <a:cubicBezTo>
                  <a:pt x="29" y="19"/>
                  <a:pt x="29" y="19"/>
                  <a:pt x="29" y="19"/>
                </a:cubicBezTo>
                <a:cubicBezTo>
                  <a:pt x="38" y="39"/>
                  <a:pt x="38" y="39"/>
                  <a:pt x="38" y="39"/>
                </a:cubicBezTo>
                <a:cubicBezTo>
                  <a:pt x="36" y="41"/>
                  <a:pt x="34" y="43"/>
                  <a:pt x="33" y="45"/>
                </a:cubicBezTo>
                <a:cubicBezTo>
                  <a:pt x="12" y="38"/>
                  <a:pt x="12" y="38"/>
                  <a:pt x="12" y="38"/>
                </a:cubicBezTo>
                <a:cubicBezTo>
                  <a:pt x="9" y="45"/>
                  <a:pt x="9" y="45"/>
                  <a:pt x="9" y="45"/>
                </a:cubicBezTo>
                <a:cubicBezTo>
                  <a:pt x="25" y="59"/>
                  <a:pt x="25" y="59"/>
                  <a:pt x="25" y="59"/>
                </a:cubicBezTo>
                <a:cubicBezTo>
                  <a:pt x="24" y="61"/>
                  <a:pt x="23" y="64"/>
                  <a:pt x="22" y="66"/>
                </a:cubicBezTo>
                <a:cubicBezTo>
                  <a:pt x="1" y="68"/>
                  <a:pt x="1" y="68"/>
                  <a:pt x="1" y="68"/>
                </a:cubicBezTo>
                <a:cubicBezTo>
                  <a:pt x="0" y="75"/>
                  <a:pt x="0" y="75"/>
                  <a:pt x="0" y="75"/>
                </a:cubicBezTo>
                <a:cubicBezTo>
                  <a:pt x="20" y="83"/>
                  <a:pt x="20" y="83"/>
                  <a:pt x="20" y="83"/>
                </a:cubicBezTo>
                <a:cubicBezTo>
                  <a:pt x="20" y="85"/>
                  <a:pt x="20" y="88"/>
                  <a:pt x="21" y="91"/>
                </a:cubicBezTo>
                <a:cubicBezTo>
                  <a:pt x="1" y="100"/>
                  <a:pt x="1" y="100"/>
                  <a:pt x="1" y="100"/>
                </a:cubicBezTo>
                <a:cubicBezTo>
                  <a:pt x="3" y="107"/>
                  <a:pt x="3" y="107"/>
                  <a:pt x="3" y="107"/>
                </a:cubicBezTo>
                <a:cubicBezTo>
                  <a:pt x="25" y="106"/>
                  <a:pt x="25" y="106"/>
                  <a:pt x="25" y="106"/>
                </a:cubicBezTo>
                <a:cubicBezTo>
                  <a:pt x="26" y="109"/>
                  <a:pt x="27" y="111"/>
                  <a:pt x="28" y="113"/>
                </a:cubicBezTo>
                <a:cubicBezTo>
                  <a:pt x="14" y="130"/>
                  <a:pt x="14" y="130"/>
                  <a:pt x="14" y="130"/>
                </a:cubicBezTo>
                <a:cubicBezTo>
                  <a:pt x="19" y="136"/>
                  <a:pt x="19" y="136"/>
                  <a:pt x="19" y="136"/>
                </a:cubicBezTo>
                <a:cubicBezTo>
                  <a:pt x="38" y="126"/>
                  <a:pt x="38" y="126"/>
                  <a:pt x="38" y="126"/>
                </a:cubicBezTo>
                <a:cubicBezTo>
                  <a:pt x="40" y="128"/>
                  <a:pt x="42" y="130"/>
                  <a:pt x="44" y="132"/>
                </a:cubicBezTo>
                <a:cubicBezTo>
                  <a:pt x="38" y="152"/>
                  <a:pt x="38" y="152"/>
                  <a:pt x="38" y="152"/>
                </a:cubicBezTo>
                <a:cubicBezTo>
                  <a:pt x="44" y="156"/>
                  <a:pt x="44" y="156"/>
                  <a:pt x="44" y="156"/>
                </a:cubicBezTo>
                <a:cubicBezTo>
                  <a:pt x="58" y="140"/>
                  <a:pt x="58" y="140"/>
                  <a:pt x="58" y="140"/>
                </a:cubicBezTo>
                <a:cubicBezTo>
                  <a:pt x="61" y="141"/>
                  <a:pt x="63" y="142"/>
                  <a:pt x="66" y="142"/>
                </a:cubicBezTo>
                <a:cubicBezTo>
                  <a:pt x="68" y="164"/>
                  <a:pt x="68" y="164"/>
                  <a:pt x="68" y="164"/>
                </a:cubicBezTo>
                <a:cubicBezTo>
                  <a:pt x="75" y="165"/>
                  <a:pt x="75" y="165"/>
                  <a:pt x="75" y="165"/>
                </a:cubicBezTo>
                <a:cubicBezTo>
                  <a:pt x="82" y="144"/>
                  <a:pt x="82" y="144"/>
                  <a:pt x="82" y="144"/>
                </a:cubicBezTo>
                <a:cubicBezTo>
                  <a:pt x="85" y="145"/>
                  <a:pt x="87" y="144"/>
                  <a:pt x="90" y="144"/>
                </a:cubicBezTo>
                <a:cubicBezTo>
                  <a:pt x="100" y="163"/>
                  <a:pt x="100" y="163"/>
                  <a:pt x="100" y="163"/>
                </a:cubicBezTo>
                <a:cubicBezTo>
                  <a:pt x="107" y="161"/>
                  <a:pt x="107" y="161"/>
                  <a:pt x="107" y="161"/>
                </a:cubicBezTo>
                <a:cubicBezTo>
                  <a:pt x="106" y="140"/>
                  <a:pt x="106" y="140"/>
                  <a:pt x="106" y="140"/>
                </a:cubicBezTo>
                <a:cubicBezTo>
                  <a:pt x="108" y="139"/>
                  <a:pt x="111" y="138"/>
                  <a:pt x="113" y="136"/>
                </a:cubicBezTo>
                <a:cubicBezTo>
                  <a:pt x="129" y="150"/>
                  <a:pt x="129" y="150"/>
                  <a:pt x="129" y="150"/>
                </a:cubicBezTo>
                <a:cubicBezTo>
                  <a:pt x="135" y="146"/>
                  <a:pt x="135" y="146"/>
                  <a:pt x="135" y="146"/>
                </a:cubicBezTo>
                <a:cubicBezTo>
                  <a:pt x="126" y="126"/>
                  <a:pt x="126" y="126"/>
                  <a:pt x="126" y="126"/>
                </a:cubicBezTo>
                <a:cubicBezTo>
                  <a:pt x="128" y="124"/>
                  <a:pt x="129" y="123"/>
                  <a:pt x="131" y="120"/>
                </a:cubicBezTo>
                <a:cubicBezTo>
                  <a:pt x="151" y="127"/>
                  <a:pt x="151" y="127"/>
                  <a:pt x="151" y="127"/>
                </a:cubicBezTo>
                <a:cubicBezTo>
                  <a:pt x="155" y="121"/>
                  <a:pt x="155" y="121"/>
                  <a:pt x="155" y="121"/>
                </a:cubicBezTo>
                <a:cubicBezTo>
                  <a:pt x="139" y="106"/>
                  <a:pt x="139" y="106"/>
                  <a:pt x="139" y="106"/>
                </a:cubicBezTo>
                <a:cubicBezTo>
                  <a:pt x="140" y="104"/>
                  <a:pt x="141" y="101"/>
                  <a:pt x="142" y="99"/>
                </a:cubicBezTo>
                <a:cubicBezTo>
                  <a:pt x="163" y="97"/>
                  <a:pt x="163" y="97"/>
                  <a:pt x="163" y="97"/>
                </a:cubicBezTo>
                <a:cubicBezTo>
                  <a:pt x="164" y="90"/>
                  <a:pt x="164" y="90"/>
                  <a:pt x="164" y="90"/>
                </a:cubicBezTo>
                <a:cubicBezTo>
                  <a:pt x="144" y="82"/>
                  <a:pt x="144" y="82"/>
                  <a:pt x="144" y="82"/>
                </a:cubicBezTo>
                <a:cubicBezTo>
                  <a:pt x="144" y="80"/>
                  <a:pt x="144" y="77"/>
                  <a:pt x="143" y="75"/>
                </a:cubicBezTo>
                <a:cubicBezTo>
                  <a:pt x="162" y="65"/>
                  <a:pt x="162" y="65"/>
                  <a:pt x="162" y="65"/>
                </a:cubicBezTo>
                <a:cubicBezTo>
                  <a:pt x="161" y="58"/>
                  <a:pt x="161" y="58"/>
                  <a:pt x="161" y="58"/>
                </a:cubicBezTo>
                <a:cubicBezTo>
                  <a:pt x="139" y="59"/>
                  <a:pt x="139" y="59"/>
                  <a:pt x="139" y="59"/>
                </a:cubicBezTo>
                <a:cubicBezTo>
                  <a:pt x="138" y="56"/>
                  <a:pt x="137" y="54"/>
                  <a:pt x="136" y="52"/>
                </a:cubicBezTo>
                <a:cubicBezTo>
                  <a:pt x="150" y="35"/>
                  <a:pt x="150" y="35"/>
                  <a:pt x="150" y="35"/>
                </a:cubicBezTo>
                <a:cubicBezTo>
                  <a:pt x="145" y="30"/>
                  <a:pt x="145" y="30"/>
                  <a:pt x="145" y="30"/>
                </a:cubicBezTo>
                <a:cubicBezTo>
                  <a:pt x="126" y="39"/>
                  <a:pt x="126" y="39"/>
                  <a:pt x="126" y="39"/>
                </a:cubicBezTo>
                <a:cubicBezTo>
                  <a:pt x="124" y="37"/>
                  <a:pt x="122" y="35"/>
                  <a:pt x="120" y="34"/>
                </a:cubicBezTo>
                <a:cubicBezTo>
                  <a:pt x="126" y="13"/>
                  <a:pt x="126" y="13"/>
                  <a:pt x="126" y="13"/>
                </a:cubicBezTo>
                <a:cubicBezTo>
                  <a:pt x="120" y="9"/>
                  <a:pt x="120" y="9"/>
                  <a:pt x="120" y="9"/>
                </a:cubicBezTo>
                <a:cubicBezTo>
                  <a:pt x="106" y="25"/>
                  <a:pt x="106" y="25"/>
                  <a:pt x="106" y="25"/>
                </a:cubicBezTo>
                <a:cubicBezTo>
                  <a:pt x="103" y="24"/>
                  <a:pt x="101" y="23"/>
                  <a:pt x="98" y="23"/>
                </a:cubicBezTo>
                <a:cubicBezTo>
                  <a:pt x="96" y="1"/>
                  <a:pt x="96" y="1"/>
                  <a:pt x="96" y="1"/>
                </a:cubicBezTo>
                <a:cubicBezTo>
                  <a:pt x="89" y="0"/>
                  <a:pt x="89" y="0"/>
                  <a:pt x="89" y="0"/>
                </a:cubicBezTo>
                <a:cubicBezTo>
                  <a:pt x="82" y="21"/>
                  <a:pt x="82" y="21"/>
                  <a:pt x="82" y="21"/>
                </a:cubicBezTo>
                <a:cubicBezTo>
                  <a:pt x="79" y="21"/>
                  <a:pt x="77" y="21"/>
                  <a:pt x="74" y="21"/>
                </a:cubicBezTo>
                <a:cubicBezTo>
                  <a:pt x="64" y="2"/>
                  <a:pt x="64" y="2"/>
                  <a:pt x="64" y="2"/>
                </a:cubicBezTo>
                <a:close/>
                <a:moveTo>
                  <a:pt x="69" y="35"/>
                </a:moveTo>
                <a:cubicBezTo>
                  <a:pt x="43" y="42"/>
                  <a:pt x="27" y="69"/>
                  <a:pt x="34" y="95"/>
                </a:cubicBezTo>
                <a:cubicBezTo>
                  <a:pt x="41" y="121"/>
                  <a:pt x="68" y="137"/>
                  <a:pt x="95" y="130"/>
                </a:cubicBezTo>
                <a:cubicBezTo>
                  <a:pt x="121" y="123"/>
                  <a:pt x="137" y="96"/>
                  <a:pt x="130" y="70"/>
                </a:cubicBezTo>
                <a:cubicBezTo>
                  <a:pt x="122" y="43"/>
                  <a:pt x="95" y="28"/>
                  <a:pt x="69" y="35"/>
                </a:cubicBezTo>
                <a:close/>
              </a:path>
            </a:pathLst>
          </a:custGeom>
          <a:solidFill>
            <a:srgbClr val="F4B4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17" name="文本框 16"/>
          <p:cNvSpPr txBox="1"/>
          <p:nvPr/>
        </p:nvSpPr>
        <p:spPr>
          <a:xfrm>
            <a:off x="2689988" y="1749520"/>
            <a:ext cx="5565811" cy="799706"/>
          </a:xfrm>
          <a:prstGeom prst="rect">
            <a:avLst/>
          </a:prstGeom>
          <a:noFill/>
        </p:spPr>
        <p:txBody>
          <a:bodyPr wrap="square" rtlCol="0">
            <a:spAutoFit/>
          </a:bodyPr>
          <a:lstStyle/>
          <a:p>
            <a:pPr>
              <a:lnSpc>
                <a:spcPct val="12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程序运行前，它的数据和代码是在可执行文件中，运行时需要把可执行文件加载到内存。</a:t>
            </a:r>
          </a:p>
        </p:txBody>
      </p:sp>
      <p:sp>
        <p:nvSpPr>
          <p:cNvPr id="18" name="文本框 17"/>
          <p:cNvSpPr txBox="1"/>
          <p:nvPr/>
        </p:nvSpPr>
        <p:spPr>
          <a:xfrm>
            <a:off x="2657848" y="3299473"/>
            <a:ext cx="5597951" cy="830997"/>
          </a:xfrm>
          <a:prstGeom prst="rect">
            <a:avLst/>
          </a:prstGeom>
          <a:noFill/>
        </p:spPr>
        <p:txBody>
          <a:bodyPr wrap="square" rtlCol="0">
            <a:spAutoFit/>
          </a:bodyPr>
          <a:lstStyle/>
          <a:p>
            <a:pPr>
              <a:lnSpc>
                <a:spcPct val="12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硬盘上的文件逻辑上划分为</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4K</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的页（实际由加载器加载到内存），这就是虚拟页里面实际的东西。</a:t>
            </a:r>
          </a:p>
        </p:txBody>
      </p:sp>
      <p:sp>
        <p:nvSpPr>
          <p:cNvPr id="19" name="文本框 18"/>
          <p:cNvSpPr txBox="1"/>
          <p:nvPr/>
        </p:nvSpPr>
        <p:spPr>
          <a:xfrm>
            <a:off x="2750605" y="4885120"/>
            <a:ext cx="5505194" cy="830997"/>
          </a:xfrm>
          <a:prstGeom prst="rect">
            <a:avLst/>
          </a:prstGeom>
          <a:noFill/>
        </p:spPr>
        <p:txBody>
          <a:bodyPr wrap="square" rtlCol="0">
            <a:spAutoFit/>
          </a:bodyPr>
          <a:lstStyle/>
          <a:p>
            <a:pPr>
              <a:lnSpc>
                <a:spcPct val="12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但是，程序在运行是可能会申请内存，这时需新的虚拟页来映射。所以，虚拟页应有</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种状态。</a:t>
            </a:r>
          </a:p>
        </p:txBody>
      </p:sp>
      <p:sp>
        <p:nvSpPr>
          <p:cNvPr id="21" name="文本框 20"/>
          <p:cNvSpPr txBox="1"/>
          <p:nvPr/>
        </p:nvSpPr>
        <p:spPr>
          <a:xfrm>
            <a:off x="1613906" y="1946894"/>
            <a:ext cx="365806" cy="461665"/>
          </a:xfrm>
          <a:prstGeom prst="rect">
            <a:avLst/>
          </a:prstGeom>
          <a:noFill/>
        </p:spPr>
        <p:txBody>
          <a:bodyPr wrap="none" rtlCol="0">
            <a:spAutoFit/>
          </a:bodyPr>
          <a:lstStyle/>
          <a:p>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rPr>
              <a:t>1</a:t>
            </a:r>
            <a:endPar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1613906" y="5022031"/>
            <a:ext cx="365806" cy="461665"/>
          </a:xfrm>
          <a:prstGeom prst="rect">
            <a:avLst/>
          </a:prstGeom>
          <a:noFill/>
        </p:spPr>
        <p:txBody>
          <a:bodyPr wrap="none" rtlCol="0">
            <a:spAutoFit/>
          </a:bodyPr>
          <a:lstStyle/>
          <a:p>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rPr>
              <a:t>3</a:t>
            </a:r>
            <a:endPar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59632" y="3497808"/>
            <a:ext cx="365806" cy="461665"/>
          </a:xfrm>
          <a:prstGeom prst="rect">
            <a:avLst/>
          </a:prstGeom>
          <a:noFill/>
        </p:spPr>
        <p:txBody>
          <a:bodyPr wrap="none" rtlCol="0">
            <a:spAutoFit/>
          </a:bodyPr>
          <a:lstStyle/>
          <a:p>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rPr>
              <a:t>2</a:t>
            </a:r>
            <a:endPar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9744721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虚拟页的</a:t>
            </a:r>
            <a:r>
              <a:rPr lang="en-US" altLang="zh-CN" sz="3200" b="1" dirty="0">
                <a:solidFill>
                  <a:srgbClr val="00B0F0"/>
                </a:solidFill>
                <a:latin typeface="微软雅黑" pitchFamily="34" charset="-122"/>
                <a:ea typeface="微软雅黑" pitchFamily="34" charset="-122"/>
              </a:rPr>
              <a:t>3</a:t>
            </a:r>
            <a:r>
              <a:rPr lang="zh-CN" altLang="en-US" sz="3200" b="1" dirty="0">
                <a:solidFill>
                  <a:srgbClr val="00B0F0"/>
                </a:solidFill>
                <a:latin typeface="微软雅黑" pitchFamily="34" charset="-122"/>
                <a:ea typeface="微软雅黑" pitchFamily="34" charset="-122"/>
              </a:rPr>
              <a:t>种状态</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20" name="Freeform 10"/>
          <p:cNvSpPr>
            <a:spLocks/>
          </p:cNvSpPr>
          <p:nvPr/>
        </p:nvSpPr>
        <p:spPr bwMode="auto">
          <a:xfrm>
            <a:off x="1187624" y="5181624"/>
            <a:ext cx="1081087" cy="955675"/>
          </a:xfrm>
          <a:custGeom>
            <a:avLst/>
            <a:gdLst>
              <a:gd name="T0" fmla="*/ 0 w 681"/>
              <a:gd name="T1" fmla="*/ 0 h 602"/>
              <a:gd name="T2" fmla="*/ 681 w 681"/>
              <a:gd name="T3" fmla="*/ 0 h 602"/>
              <a:gd name="T4" fmla="*/ 681 w 681"/>
              <a:gd name="T5" fmla="*/ 602 h 602"/>
              <a:gd name="T6" fmla="*/ 0 w 681"/>
              <a:gd name="T7" fmla="*/ 602 h 602"/>
              <a:gd name="T8" fmla="*/ 183 w 681"/>
              <a:gd name="T9" fmla="*/ 304 h 602"/>
              <a:gd name="T10" fmla="*/ 0 w 681"/>
              <a:gd name="T11" fmla="*/ 0 h 602"/>
              <a:gd name="T12" fmla="*/ 0 w 68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681" h="602">
                <a:moveTo>
                  <a:pt x="0" y="0"/>
                </a:moveTo>
                <a:lnTo>
                  <a:pt x="681" y="0"/>
                </a:lnTo>
                <a:lnTo>
                  <a:pt x="681" y="602"/>
                </a:lnTo>
                <a:lnTo>
                  <a:pt x="0" y="602"/>
                </a:lnTo>
                <a:lnTo>
                  <a:pt x="183" y="304"/>
                </a:lnTo>
                <a:lnTo>
                  <a:pt x="0" y="0"/>
                </a:lnTo>
                <a:lnTo>
                  <a:pt x="0" y="0"/>
                </a:lnTo>
                <a:close/>
              </a:path>
            </a:pathLst>
          </a:custGeom>
          <a:solidFill>
            <a:srgbClr val="FDD8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24" name="Freeform 11"/>
          <p:cNvSpPr>
            <a:spLocks noEditPoints="1"/>
          </p:cNvSpPr>
          <p:nvPr/>
        </p:nvSpPr>
        <p:spPr bwMode="auto">
          <a:xfrm>
            <a:off x="1303511" y="5240362"/>
            <a:ext cx="998537" cy="33338"/>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FEEA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25" name="Freeform 12"/>
          <p:cNvSpPr>
            <a:spLocks noEditPoints="1"/>
          </p:cNvSpPr>
          <p:nvPr/>
        </p:nvSpPr>
        <p:spPr bwMode="auto">
          <a:xfrm>
            <a:off x="1303511" y="6046812"/>
            <a:ext cx="998537" cy="33338"/>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FEEA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26" name="Freeform 13"/>
          <p:cNvSpPr>
            <a:spLocks/>
          </p:cNvSpPr>
          <p:nvPr/>
        </p:nvSpPr>
        <p:spPr bwMode="auto">
          <a:xfrm>
            <a:off x="1619424" y="4806974"/>
            <a:ext cx="498475" cy="1430338"/>
          </a:xfrm>
          <a:custGeom>
            <a:avLst/>
            <a:gdLst>
              <a:gd name="T0" fmla="*/ 0 w 314"/>
              <a:gd name="T1" fmla="*/ 0 h 901"/>
              <a:gd name="T2" fmla="*/ 314 w 314"/>
              <a:gd name="T3" fmla="*/ 299 h 901"/>
              <a:gd name="T4" fmla="*/ 314 w 314"/>
              <a:gd name="T5" fmla="*/ 901 h 901"/>
              <a:gd name="T6" fmla="*/ 0 w 314"/>
              <a:gd name="T7" fmla="*/ 603 h 901"/>
              <a:gd name="T8" fmla="*/ 0 w 314"/>
              <a:gd name="T9" fmla="*/ 0 h 901"/>
              <a:gd name="T10" fmla="*/ 0 w 314"/>
              <a:gd name="T11" fmla="*/ 0 h 901"/>
            </a:gdLst>
            <a:ahLst/>
            <a:cxnLst>
              <a:cxn ang="0">
                <a:pos x="T0" y="T1"/>
              </a:cxn>
              <a:cxn ang="0">
                <a:pos x="T2" y="T3"/>
              </a:cxn>
              <a:cxn ang="0">
                <a:pos x="T4" y="T5"/>
              </a:cxn>
              <a:cxn ang="0">
                <a:pos x="T6" y="T7"/>
              </a:cxn>
              <a:cxn ang="0">
                <a:pos x="T8" y="T9"/>
              </a:cxn>
              <a:cxn ang="0">
                <a:pos x="T10" y="T11"/>
              </a:cxn>
            </a:cxnLst>
            <a:rect l="0" t="0" r="r" b="b"/>
            <a:pathLst>
              <a:path w="314" h="901">
                <a:moveTo>
                  <a:pt x="0" y="0"/>
                </a:moveTo>
                <a:lnTo>
                  <a:pt x="314" y="299"/>
                </a:lnTo>
                <a:lnTo>
                  <a:pt x="314" y="901"/>
                </a:lnTo>
                <a:lnTo>
                  <a:pt x="0" y="603"/>
                </a:lnTo>
                <a:lnTo>
                  <a:pt x="0" y="0"/>
                </a:lnTo>
                <a:lnTo>
                  <a:pt x="0" y="0"/>
                </a:lnTo>
                <a:close/>
              </a:path>
            </a:pathLst>
          </a:custGeom>
          <a:solidFill>
            <a:srgbClr val="D46B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27" name="Freeform 14"/>
          <p:cNvSpPr>
            <a:spLocks noEditPoints="1"/>
          </p:cNvSpPr>
          <p:nvPr/>
        </p:nvSpPr>
        <p:spPr bwMode="auto">
          <a:xfrm>
            <a:off x="1619424" y="5638824"/>
            <a:ext cx="498475" cy="506413"/>
          </a:xfrm>
          <a:custGeom>
            <a:avLst/>
            <a:gdLst>
              <a:gd name="T0" fmla="*/ 60 w 60"/>
              <a:gd name="T1" fmla="*/ 57 h 61"/>
              <a:gd name="T2" fmla="*/ 60 w 60"/>
              <a:gd name="T3" fmla="*/ 61 h 61"/>
              <a:gd name="T4" fmla="*/ 53 w 60"/>
              <a:gd name="T5" fmla="*/ 55 h 61"/>
              <a:gd name="T6" fmla="*/ 53 w 60"/>
              <a:gd name="T7" fmla="*/ 53 h 61"/>
              <a:gd name="T8" fmla="*/ 53 w 60"/>
              <a:gd name="T9" fmla="*/ 53 h 61"/>
              <a:gd name="T10" fmla="*/ 56 w 60"/>
              <a:gd name="T11" fmla="*/ 53 h 61"/>
              <a:gd name="T12" fmla="*/ 60 w 60"/>
              <a:gd name="T13" fmla="*/ 57 h 61"/>
              <a:gd name="T14" fmla="*/ 0 w 60"/>
              <a:gd name="T15" fmla="*/ 4 h 61"/>
              <a:gd name="T16" fmla="*/ 0 w 60"/>
              <a:gd name="T17" fmla="*/ 0 h 61"/>
              <a:gd name="T18" fmla="*/ 3 w 60"/>
              <a:gd name="T19" fmla="*/ 3 h 61"/>
              <a:gd name="T20" fmla="*/ 4 w 60"/>
              <a:gd name="T21" fmla="*/ 6 h 61"/>
              <a:gd name="T22" fmla="*/ 4 w 60"/>
              <a:gd name="T23" fmla="*/ 6 h 61"/>
              <a:gd name="T24" fmla="*/ 1 w 60"/>
              <a:gd name="T25" fmla="*/ 6 h 61"/>
              <a:gd name="T26" fmla="*/ 0 w 60"/>
              <a:gd name="T27" fmla="*/ 4 h 61"/>
              <a:gd name="T28" fmla="*/ 10 w 60"/>
              <a:gd name="T29" fmla="*/ 10 h 61"/>
              <a:gd name="T30" fmla="*/ 19 w 60"/>
              <a:gd name="T31" fmla="*/ 18 h 61"/>
              <a:gd name="T32" fmla="*/ 19 w 60"/>
              <a:gd name="T33" fmla="*/ 20 h 61"/>
              <a:gd name="T34" fmla="*/ 19 w 60"/>
              <a:gd name="T35" fmla="*/ 20 h 61"/>
              <a:gd name="T36" fmla="*/ 16 w 60"/>
              <a:gd name="T37" fmla="*/ 20 h 61"/>
              <a:gd name="T38" fmla="*/ 8 w 60"/>
              <a:gd name="T39" fmla="*/ 12 h 61"/>
              <a:gd name="T40" fmla="*/ 8 w 60"/>
              <a:gd name="T41" fmla="*/ 10 h 61"/>
              <a:gd name="T42" fmla="*/ 8 w 60"/>
              <a:gd name="T43" fmla="*/ 10 h 61"/>
              <a:gd name="T44" fmla="*/ 10 w 60"/>
              <a:gd name="T45" fmla="*/ 10 h 61"/>
              <a:gd name="T46" fmla="*/ 25 w 60"/>
              <a:gd name="T47" fmla="*/ 24 h 61"/>
              <a:gd name="T48" fmla="*/ 34 w 60"/>
              <a:gd name="T49" fmla="*/ 32 h 61"/>
              <a:gd name="T50" fmla="*/ 34 w 60"/>
              <a:gd name="T51" fmla="*/ 35 h 61"/>
              <a:gd name="T52" fmla="*/ 34 w 60"/>
              <a:gd name="T53" fmla="*/ 35 h 61"/>
              <a:gd name="T54" fmla="*/ 32 w 60"/>
              <a:gd name="T55" fmla="*/ 35 h 61"/>
              <a:gd name="T56" fmla="*/ 23 w 60"/>
              <a:gd name="T57" fmla="*/ 27 h 61"/>
              <a:gd name="T58" fmla="*/ 23 w 60"/>
              <a:gd name="T59" fmla="*/ 24 h 61"/>
              <a:gd name="T60" fmla="*/ 23 w 60"/>
              <a:gd name="T61" fmla="*/ 24 h 61"/>
              <a:gd name="T62" fmla="*/ 25 w 60"/>
              <a:gd name="T63" fmla="*/ 24 h 61"/>
              <a:gd name="T64" fmla="*/ 41 w 60"/>
              <a:gd name="T65" fmla="*/ 39 h 61"/>
              <a:gd name="T66" fmla="*/ 49 w 60"/>
              <a:gd name="T67" fmla="*/ 47 h 61"/>
              <a:gd name="T68" fmla="*/ 49 w 60"/>
              <a:gd name="T69" fmla="*/ 49 h 61"/>
              <a:gd name="T70" fmla="*/ 49 w 60"/>
              <a:gd name="T71" fmla="*/ 49 h 61"/>
              <a:gd name="T72" fmla="*/ 47 w 60"/>
              <a:gd name="T73" fmla="*/ 49 h 61"/>
              <a:gd name="T74" fmla="*/ 38 w 60"/>
              <a:gd name="T75" fmla="*/ 41 h 61"/>
              <a:gd name="T76" fmla="*/ 38 w 60"/>
              <a:gd name="T77" fmla="*/ 39 h 61"/>
              <a:gd name="T78" fmla="*/ 38 w 60"/>
              <a:gd name="T79" fmla="*/ 39 h 61"/>
              <a:gd name="T80" fmla="*/ 41 w 60"/>
              <a:gd name="T81" fmla="*/ 3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61">
                <a:moveTo>
                  <a:pt x="60" y="57"/>
                </a:moveTo>
                <a:cubicBezTo>
                  <a:pt x="60" y="61"/>
                  <a:pt x="60" y="61"/>
                  <a:pt x="60" y="61"/>
                </a:cubicBezTo>
                <a:cubicBezTo>
                  <a:pt x="58" y="59"/>
                  <a:pt x="56" y="57"/>
                  <a:pt x="53" y="55"/>
                </a:cubicBezTo>
                <a:cubicBezTo>
                  <a:pt x="53" y="55"/>
                  <a:pt x="53" y="54"/>
                  <a:pt x="53" y="53"/>
                </a:cubicBezTo>
                <a:cubicBezTo>
                  <a:pt x="53" y="53"/>
                  <a:pt x="53" y="53"/>
                  <a:pt x="53" y="53"/>
                </a:cubicBezTo>
                <a:cubicBezTo>
                  <a:pt x="54" y="52"/>
                  <a:pt x="55" y="52"/>
                  <a:pt x="56" y="53"/>
                </a:cubicBezTo>
                <a:cubicBezTo>
                  <a:pt x="57" y="54"/>
                  <a:pt x="58" y="56"/>
                  <a:pt x="60" y="57"/>
                </a:cubicBezTo>
                <a:close/>
                <a:moveTo>
                  <a:pt x="0" y="4"/>
                </a:moveTo>
                <a:cubicBezTo>
                  <a:pt x="0" y="0"/>
                  <a:pt x="0" y="0"/>
                  <a:pt x="0" y="0"/>
                </a:cubicBezTo>
                <a:cubicBezTo>
                  <a:pt x="1" y="1"/>
                  <a:pt x="2" y="2"/>
                  <a:pt x="3" y="3"/>
                </a:cubicBezTo>
                <a:cubicBezTo>
                  <a:pt x="4" y="4"/>
                  <a:pt x="4" y="5"/>
                  <a:pt x="4" y="6"/>
                </a:cubicBezTo>
                <a:cubicBezTo>
                  <a:pt x="4" y="6"/>
                  <a:pt x="4" y="6"/>
                  <a:pt x="4" y="6"/>
                </a:cubicBezTo>
                <a:cubicBezTo>
                  <a:pt x="3" y="6"/>
                  <a:pt x="2" y="6"/>
                  <a:pt x="1" y="6"/>
                </a:cubicBezTo>
                <a:cubicBezTo>
                  <a:pt x="1" y="5"/>
                  <a:pt x="0" y="5"/>
                  <a:pt x="0" y="4"/>
                </a:cubicBezTo>
                <a:close/>
                <a:moveTo>
                  <a:pt x="10" y="10"/>
                </a:moveTo>
                <a:cubicBezTo>
                  <a:pt x="13" y="12"/>
                  <a:pt x="16" y="15"/>
                  <a:pt x="19" y="18"/>
                </a:cubicBezTo>
                <a:cubicBezTo>
                  <a:pt x="19" y="18"/>
                  <a:pt x="19" y="19"/>
                  <a:pt x="19" y="20"/>
                </a:cubicBezTo>
                <a:cubicBezTo>
                  <a:pt x="19" y="20"/>
                  <a:pt x="19" y="20"/>
                  <a:pt x="19" y="20"/>
                </a:cubicBezTo>
                <a:cubicBezTo>
                  <a:pt x="18" y="21"/>
                  <a:pt x="17" y="21"/>
                  <a:pt x="16" y="20"/>
                </a:cubicBezTo>
                <a:cubicBezTo>
                  <a:pt x="14" y="17"/>
                  <a:pt x="11" y="15"/>
                  <a:pt x="8" y="12"/>
                </a:cubicBezTo>
                <a:cubicBezTo>
                  <a:pt x="7" y="11"/>
                  <a:pt x="7" y="10"/>
                  <a:pt x="8" y="10"/>
                </a:cubicBezTo>
                <a:cubicBezTo>
                  <a:pt x="8" y="10"/>
                  <a:pt x="8" y="10"/>
                  <a:pt x="8" y="10"/>
                </a:cubicBezTo>
                <a:cubicBezTo>
                  <a:pt x="8" y="9"/>
                  <a:pt x="9" y="9"/>
                  <a:pt x="10" y="10"/>
                </a:cubicBezTo>
                <a:close/>
                <a:moveTo>
                  <a:pt x="25" y="24"/>
                </a:moveTo>
                <a:cubicBezTo>
                  <a:pt x="28" y="27"/>
                  <a:pt x="31" y="30"/>
                  <a:pt x="34" y="32"/>
                </a:cubicBezTo>
                <a:cubicBezTo>
                  <a:pt x="35" y="33"/>
                  <a:pt x="35" y="34"/>
                  <a:pt x="34" y="35"/>
                </a:cubicBezTo>
                <a:cubicBezTo>
                  <a:pt x="34" y="35"/>
                  <a:pt x="34" y="35"/>
                  <a:pt x="34" y="35"/>
                </a:cubicBezTo>
                <a:cubicBezTo>
                  <a:pt x="33" y="35"/>
                  <a:pt x="32" y="35"/>
                  <a:pt x="32" y="35"/>
                </a:cubicBezTo>
                <a:cubicBezTo>
                  <a:pt x="29" y="32"/>
                  <a:pt x="26" y="29"/>
                  <a:pt x="23" y="27"/>
                </a:cubicBezTo>
                <a:cubicBezTo>
                  <a:pt x="22" y="26"/>
                  <a:pt x="22" y="25"/>
                  <a:pt x="23" y="24"/>
                </a:cubicBezTo>
                <a:cubicBezTo>
                  <a:pt x="23" y="24"/>
                  <a:pt x="23" y="24"/>
                  <a:pt x="23" y="24"/>
                </a:cubicBezTo>
                <a:cubicBezTo>
                  <a:pt x="24" y="24"/>
                  <a:pt x="25" y="23"/>
                  <a:pt x="25" y="24"/>
                </a:cubicBezTo>
                <a:close/>
                <a:moveTo>
                  <a:pt x="41" y="39"/>
                </a:moveTo>
                <a:cubicBezTo>
                  <a:pt x="43" y="41"/>
                  <a:pt x="46" y="44"/>
                  <a:pt x="49" y="47"/>
                </a:cubicBezTo>
                <a:cubicBezTo>
                  <a:pt x="50" y="47"/>
                  <a:pt x="50" y="48"/>
                  <a:pt x="49" y="49"/>
                </a:cubicBezTo>
                <a:cubicBezTo>
                  <a:pt x="49" y="49"/>
                  <a:pt x="49" y="49"/>
                  <a:pt x="49" y="49"/>
                </a:cubicBezTo>
                <a:cubicBezTo>
                  <a:pt x="48" y="50"/>
                  <a:pt x="47" y="50"/>
                  <a:pt x="47" y="49"/>
                </a:cubicBezTo>
                <a:cubicBezTo>
                  <a:pt x="44" y="46"/>
                  <a:pt x="41" y="44"/>
                  <a:pt x="38" y="41"/>
                </a:cubicBezTo>
                <a:cubicBezTo>
                  <a:pt x="38" y="40"/>
                  <a:pt x="38" y="39"/>
                  <a:pt x="38" y="39"/>
                </a:cubicBezTo>
                <a:cubicBezTo>
                  <a:pt x="38" y="39"/>
                  <a:pt x="38" y="39"/>
                  <a:pt x="38" y="39"/>
                </a:cubicBezTo>
                <a:cubicBezTo>
                  <a:pt x="39" y="38"/>
                  <a:pt x="40" y="38"/>
                  <a:pt x="41" y="39"/>
                </a:cubicBezTo>
                <a:close/>
              </a:path>
            </a:pathLst>
          </a:custGeom>
          <a:solidFill>
            <a:srgbClr val="F4B4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28" name="Freeform 15"/>
          <p:cNvSpPr>
            <a:spLocks/>
          </p:cNvSpPr>
          <p:nvPr/>
        </p:nvSpPr>
        <p:spPr bwMode="auto">
          <a:xfrm>
            <a:off x="1187624" y="3552849"/>
            <a:ext cx="1081087" cy="955675"/>
          </a:xfrm>
          <a:custGeom>
            <a:avLst/>
            <a:gdLst>
              <a:gd name="T0" fmla="*/ 0 w 681"/>
              <a:gd name="T1" fmla="*/ 0 h 602"/>
              <a:gd name="T2" fmla="*/ 681 w 681"/>
              <a:gd name="T3" fmla="*/ 0 h 602"/>
              <a:gd name="T4" fmla="*/ 681 w 681"/>
              <a:gd name="T5" fmla="*/ 602 h 602"/>
              <a:gd name="T6" fmla="*/ 0 w 681"/>
              <a:gd name="T7" fmla="*/ 602 h 602"/>
              <a:gd name="T8" fmla="*/ 183 w 681"/>
              <a:gd name="T9" fmla="*/ 303 h 602"/>
              <a:gd name="T10" fmla="*/ 0 w 681"/>
              <a:gd name="T11" fmla="*/ 0 h 602"/>
              <a:gd name="T12" fmla="*/ 0 w 68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681" h="602">
                <a:moveTo>
                  <a:pt x="0" y="0"/>
                </a:moveTo>
                <a:lnTo>
                  <a:pt x="681" y="0"/>
                </a:lnTo>
                <a:lnTo>
                  <a:pt x="681" y="602"/>
                </a:lnTo>
                <a:lnTo>
                  <a:pt x="0" y="602"/>
                </a:lnTo>
                <a:lnTo>
                  <a:pt x="183" y="303"/>
                </a:lnTo>
                <a:lnTo>
                  <a:pt x="0" y="0"/>
                </a:lnTo>
                <a:lnTo>
                  <a:pt x="0" y="0"/>
                </a:lnTo>
                <a:close/>
              </a:path>
            </a:pathLst>
          </a:custGeom>
          <a:solidFill>
            <a:srgbClr val="75797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29" name="Freeform 16"/>
          <p:cNvSpPr>
            <a:spLocks noEditPoints="1"/>
          </p:cNvSpPr>
          <p:nvPr/>
        </p:nvSpPr>
        <p:spPr bwMode="auto">
          <a:xfrm>
            <a:off x="1303511" y="3609999"/>
            <a:ext cx="998537" cy="33338"/>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9798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30" name="Freeform 17"/>
          <p:cNvSpPr>
            <a:spLocks noEditPoints="1"/>
          </p:cNvSpPr>
          <p:nvPr/>
        </p:nvSpPr>
        <p:spPr bwMode="auto">
          <a:xfrm>
            <a:off x="1303511" y="4416449"/>
            <a:ext cx="998537" cy="33338"/>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9798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31" name="Freeform 18"/>
          <p:cNvSpPr>
            <a:spLocks/>
          </p:cNvSpPr>
          <p:nvPr/>
        </p:nvSpPr>
        <p:spPr bwMode="auto">
          <a:xfrm>
            <a:off x="1619424" y="3178199"/>
            <a:ext cx="498475" cy="1430338"/>
          </a:xfrm>
          <a:custGeom>
            <a:avLst/>
            <a:gdLst>
              <a:gd name="T0" fmla="*/ 0 w 314"/>
              <a:gd name="T1" fmla="*/ 0 h 901"/>
              <a:gd name="T2" fmla="*/ 314 w 314"/>
              <a:gd name="T3" fmla="*/ 299 h 901"/>
              <a:gd name="T4" fmla="*/ 314 w 314"/>
              <a:gd name="T5" fmla="*/ 901 h 901"/>
              <a:gd name="T6" fmla="*/ 0 w 314"/>
              <a:gd name="T7" fmla="*/ 602 h 901"/>
              <a:gd name="T8" fmla="*/ 0 w 314"/>
              <a:gd name="T9" fmla="*/ 0 h 901"/>
              <a:gd name="T10" fmla="*/ 0 w 314"/>
              <a:gd name="T11" fmla="*/ 0 h 901"/>
            </a:gdLst>
            <a:ahLst/>
            <a:cxnLst>
              <a:cxn ang="0">
                <a:pos x="T0" y="T1"/>
              </a:cxn>
              <a:cxn ang="0">
                <a:pos x="T2" y="T3"/>
              </a:cxn>
              <a:cxn ang="0">
                <a:pos x="T4" y="T5"/>
              </a:cxn>
              <a:cxn ang="0">
                <a:pos x="T6" y="T7"/>
              </a:cxn>
              <a:cxn ang="0">
                <a:pos x="T8" y="T9"/>
              </a:cxn>
              <a:cxn ang="0">
                <a:pos x="T10" y="T11"/>
              </a:cxn>
            </a:cxnLst>
            <a:rect l="0" t="0" r="r" b="b"/>
            <a:pathLst>
              <a:path w="314" h="901">
                <a:moveTo>
                  <a:pt x="0" y="0"/>
                </a:moveTo>
                <a:lnTo>
                  <a:pt x="314" y="299"/>
                </a:lnTo>
                <a:lnTo>
                  <a:pt x="314" y="901"/>
                </a:lnTo>
                <a:lnTo>
                  <a:pt x="0" y="602"/>
                </a:lnTo>
                <a:lnTo>
                  <a:pt x="0" y="0"/>
                </a:lnTo>
                <a:lnTo>
                  <a:pt x="0" y="0"/>
                </a:lnTo>
                <a:close/>
              </a:path>
            </a:pathLst>
          </a:custGeom>
          <a:solidFill>
            <a:srgbClr val="3D49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32" name="Freeform 19"/>
          <p:cNvSpPr>
            <a:spLocks noEditPoints="1"/>
          </p:cNvSpPr>
          <p:nvPr/>
        </p:nvSpPr>
        <p:spPr bwMode="auto">
          <a:xfrm>
            <a:off x="1619424" y="4010049"/>
            <a:ext cx="498475" cy="506413"/>
          </a:xfrm>
          <a:custGeom>
            <a:avLst/>
            <a:gdLst>
              <a:gd name="T0" fmla="*/ 60 w 60"/>
              <a:gd name="T1" fmla="*/ 57 h 61"/>
              <a:gd name="T2" fmla="*/ 60 w 60"/>
              <a:gd name="T3" fmla="*/ 61 h 61"/>
              <a:gd name="T4" fmla="*/ 53 w 60"/>
              <a:gd name="T5" fmla="*/ 55 h 61"/>
              <a:gd name="T6" fmla="*/ 53 w 60"/>
              <a:gd name="T7" fmla="*/ 53 h 61"/>
              <a:gd name="T8" fmla="*/ 53 w 60"/>
              <a:gd name="T9" fmla="*/ 53 h 61"/>
              <a:gd name="T10" fmla="*/ 56 w 60"/>
              <a:gd name="T11" fmla="*/ 53 h 61"/>
              <a:gd name="T12" fmla="*/ 60 w 60"/>
              <a:gd name="T13" fmla="*/ 57 h 61"/>
              <a:gd name="T14" fmla="*/ 0 w 60"/>
              <a:gd name="T15" fmla="*/ 4 h 61"/>
              <a:gd name="T16" fmla="*/ 0 w 60"/>
              <a:gd name="T17" fmla="*/ 0 h 61"/>
              <a:gd name="T18" fmla="*/ 3 w 60"/>
              <a:gd name="T19" fmla="*/ 3 h 61"/>
              <a:gd name="T20" fmla="*/ 4 w 60"/>
              <a:gd name="T21" fmla="*/ 6 h 61"/>
              <a:gd name="T22" fmla="*/ 4 w 60"/>
              <a:gd name="T23" fmla="*/ 6 h 61"/>
              <a:gd name="T24" fmla="*/ 1 w 60"/>
              <a:gd name="T25" fmla="*/ 6 h 61"/>
              <a:gd name="T26" fmla="*/ 0 w 60"/>
              <a:gd name="T27" fmla="*/ 4 h 61"/>
              <a:gd name="T28" fmla="*/ 10 w 60"/>
              <a:gd name="T29" fmla="*/ 10 h 61"/>
              <a:gd name="T30" fmla="*/ 19 w 60"/>
              <a:gd name="T31" fmla="*/ 18 h 61"/>
              <a:gd name="T32" fmla="*/ 19 w 60"/>
              <a:gd name="T33" fmla="*/ 20 h 61"/>
              <a:gd name="T34" fmla="*/ 19 w 60"/>
              <a:gd name="T35" fmla="*/ 20 h 61"/>
              <a:gd name="T36" fmla="*/ 16 w 60"/>
              <a:gd name="T37" fmla="*/ 20 h 61"/>
              <a:gd name="T38" fmla="*/ 8 w 60"/>
              <a:gd name="T39" fmla="*/ 12 h 61"/>
              <a:gd name="T40" fmla="*/ 8 w 60"/>
              <a:gd name="T41" fmla="*/ 10 h 61"/>
              <a:gd name="T42" fmla="*/ 8 w 60"/>
              <a:gd name="T43" fmla="*/ 10 h 61"/>
              <a:gd name="T44" fmla="*/ 10 w 60"/>
              <a:gd name="T45" fmla="*/ 10 h 61"/>
              <a:gd name="T46" fmla="*/ 25 w 60"/>
              <a:gd name="T47" fmla="*/ 24 h 61"/>
              <a:gd name="T48" fmla="*/ 34 w 60"/>
              <a:gd name="T49" fmla="*/ 32 h 61"/>
              <a:gd name="T50" fmla="*/ 34 w 60"/>
              <a:gd name="T51" fmla="*/ 35 h 61"/>
              <a:gd name="T52" fmla="*/ 34 w 60"/>
              <a:gd name="T53" fmla="*/ 35 h 61"/>
              <a:gd name="T54" fmla="*/ 32 w 60"/>
              <a:gd name="T55" fmla="*/ 35 h 61"/>
              <a:gd name="T56" fmla="*/ 23 w 60"/>
              <a:gd name="T57" fmla="*/ 26 h 61"/>
              <a:gd name="T58" fmla="*/ 23 w 60"/>
              <a:gd name="T59" fmla="*/ 24 h 61"/>
              <a:gd name="T60" fmla="*/ 23 w 60"/>
              <a:gd name="T61" fmla="*/ 24 h 61"/>
              <a:gd name="T62" fmla="*/ 25 w 60"/>
              <a:gd name="T63" fmla="*/ 24 h 61"/>
              <a:gd name="T64" fmla="*/ 41 w 60"/>
              <a:gd name="T65" fmla="*/ 39 h 61"/>
              <a:gd name="T66" fmla="*/ 49 w 60"/>
              <a:gd name="T67" fmla="*/ 47 h 61"/>
              <a:gd name="T68" fmla="*/ 49 w 60"/>
              <a:gd name="T69" fmla="*/ 49 h 61"/>
              <a:gd name="T70" fmla="*/ 49 w 60"/>
              <a:gd name="T71" fmla="*/ 49 h 61"/>
              <a:gd name="T72" fmla="*/ 47 w 60"/>
              <a:gd name="T73" fmla="*/ 49 h 61"/>
              <a:gd name="T74" fmla="*/ 38 w 60"/>
              <a:gd name="T75" fmla="*/ 41 h 61"/>
              <a:gd name="T76" fmla="*/ 38 w 60"/>
              <a:gd name="T77" fmla="*/ 39 h 61"/>
              <a:gd name="T78" fmla="*/ 38 w 60"/>
              <a:gd name="T79" fmla="*/ 39 h 61"/>
              <a:gd name="T80" fmla="*/ 41 w 60"/>
              <a:gd name="T81" fmla="*/ 3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61">
                <a:moveTo>
                  <a:pt x="60" y="57"/>
                </a:moveTo>
                <a:cubicBezTo>
                  <a:pt x="60" y="61"/>
                  <a:pt x="60" y="61"/>
                  <a:pt x="60" y="61"/>
                </a:cubicBezTo>
                <a:cubicBezTo>
                  <a:pt x="58" y="59"/>
                  <a:pt x="56" y="57"/>
                  <a:pt x="53" y="55"/>
                </a:cubicBezTo>
                <a:cubicBezTo>
                  <a:pt x="53" y="55"/>
                  <a:pt x="53" y="54"/>
                  <a:pt x="53" y="53"/>
                </a:cubicBezTo>
                <a:cubicBezTo>
                  <a:pt x="53" y="53"/>
                  <a:pt x="53" y="53"/>
                  <a:pt x="53" y="53"/>
                </a:cubicBezTo>
                <a:cubicBezTo>
                  <a:pt x="54" y="52"/>
                  <a:pt x="55" y="52"/>
                  <a:pt x="56" y="53"/>
                </a:cubicBezTo>
                <a:cubicBezTo>
                  <a:pt x="57" y="54"/>
                  <a:pt x="58" y="55"/>
                  <a:pt x="60" y="57"/>
                </a:cubicBezTo>
                <a:close/>
                <a:moveTo>
                  <a:pt x="0" y="4"/>
                </a:moveTo>
                <a:cubicBezTo>
                  <a:pt x="0" y="0"/>
                  <a:pt x="0" y="0"/>
                  <a:pt x="0" y="0"/>
                </a:cubicBezTo>
                <a:cubicBezTo>
                  <a:pt x="1" y="1"/>
                  <a:pt x="2" y="2"/>
                  <a:pt x="3" y="3"/>
                </a:cubicBezTo>
                <a:cubicBezTo>
                  <a:pt x="4" y="4"/>
                  <a:pt x="4" y="5"/>
                  <a:pt x="4" y="6"/>
                </a:cubicBezTo>
                <a:cubicBezTo>
                  <a:pt x="4" y="6"/>
                  <a:pt x="4" y="6"/>
                  <a:pt x="4" y="6"/>
                </a:cubicBezTo>
                <a:cubicBezTo>
                  <a:pt x="3" y="6"/>
                  <a:pt x="2" y="6"/>
                  <a:pt x="1" y="6"/>
                </a:cubicBezTo>
                <a:cubicBezTo>
                  <a:pt x="1" y="5"/>
                  <a:pt x="0" y="5"/>
                  <a:pt x="0" y="4"/>
                </a:cubicBezTo>
                <a:close/>
                <a:moveTo>
                  <a:pt x="10" y="10"/>
                </a:moveTo>
                <a:cubicBezTo>
                  <a:pt x="13" y="12"/>
                  <a:pt x="16" y="15"/>
                  <a:pt x="19" y="18"/>
                </a:cubicBezTo>
                <a:cubicBezTo>
                  <a:pt x="19" y="18"/>
                  <a:pt x="19" y="19"/>
                  <a:pt x="19" y="20"/>
                </a:cubicBezTo>
                <a:cubicBezTo>
                  <a:pt x="19" y="20"/>
                  <a:pt x="19" y="20"/>
                  <a:pt x="19" y="20"/>
                </a:cubicBezTo>
                <a:cubicBezTo>
                  <a:pt x="18" y="21"/>
                  <a:pt x="17" y="21"/>
                  <a:pt x="16" y="20"/>
                </a:cubicBezTo>
                <a:cubicBezTo>
                  <a:pt x="14" y="17"/>
                  <a:pt x="11" y="15"/>
                  <a:pt x="8" y="12"/>
                </a:cubicBezTo>
                <a:cubicBezTo>
                  <a:pt x="7" y="11"/>
                  <a:pt x="7" y="10"/>
                  <a:pt x="8" y="10"/>
                </a:cubicBezTo>
                <a:cubicBezTo>
                  <a:pt x="8" y="10"/>
                  <a:pt x="8" y="10"/>
                  <a:pt x="8" y="10"/>
                </a:cubicBezTo>
                <a:cubicBezTo>
                  <a:pt x="8" y="9"/>
                  <a:pt x="9" y="9"/>
                  <a:pt x="10" y="10"/>
                </a:cubicBezTo>
                <a:close/>
                <a:moveTo>
                  <a:pt x="25" y="24"/>
                </a:moveTo>
                <a:cubicBezTo>
                  <a:pt x="28" y="27"/>
                  <a:pt x="31" y="29"/>
                  <a:pt x="34" y="32"/>
                </a:cubicBezTo>
                <a:cubicBezTo>
                  <a:pt x="35" y="33"/>
                  <a:pt x="35" y="34"/>
                  <a:pt x="34" y="35"/>
                </a:cubicBezTo>
                <a:cubicBezTo>
                  <a:pt x="34" y="35"/>
                  <a:pt x="34" y="35"/>
                  <a:pt x="34" y="35"/>
                </a:cubicBezTo>
                <a:cubicBezTo>
                  <a:pt x="33" y="35"/>
                  <a:pt x="32" y="35"/>
                  <a:pt x="32" y="35"/>
                </a:cubicBezTo>
                <a:cubicBezTo>
                  <a:pt x="29" y="32"/>
                  <a:pt x="26" y="29"/>
                  <a:pt x="23" y="26"/>
                </a:cubicBezTo>
                <a:cubicBezTo>
                  <a:pt x="22" y="26"/>
                  <a:pt x="22" y="25"/>
                  <a:pt x="23" y="24"/>
                </a:cubicBezTo>
                <a:cubicBezTo>
                  <a:pt x="23" y="24"/>
                  <a:pt x="23" y="24"/>
                  <a:pt x="23" y="24"/>
                </a:cubicBezTo>
                <a:cubicBezTo>
                  <a:pt x="24" y="23"/>
                  <a:pt x="25" y="23"/>
                  <a:pt x="25" y="24"/>
                </a:cubicBezTo>
                <a:close/>
                <a:moveTo>
                  <a:pt x="41" y="39"/>
                </a:moveTo>
                <a:cubicBezTo>
                  <a:pt x="43" y="41"/>
                  <a:pt x="46" y="44"/>
                  <a:pt x="49" y="47"/>
                </a:cubicBezTo>
                <a:cubicBezTo>
                  <a:pt x="50" y="47"/>
                  <a:pt x="50" y="48"/>
                  <a:pt x="49" y="49"/>
                </a:cubicBezTo>
                <a:cubicBezTo>
                  <a:pt x="49" y="49"/>
                  <a:pt x="49" y="49"/>
                  <a:pt x="49" y="49"/>
                </a:cubicBezTo>
                <a:cubicBezTo>
                  <a:pt x="48" y="50"/>
                  <a:pt x="47" y="50"/>
                  <a:pt x="47" y="49"/>
                </a:cubicBezTo>
                <a:cubicBezTo>
                  <a:pt x="44" y="46"/>
                  <a:pt x="41" y="44"/>
                  <a:pt x="38" y="41"/>
                </a:cubicBezTo>
                <a:cubicBezTo>
                  <a:pt x="38" y="40"/>
                  <a:pt x="38" y="39"/>
                  <a:pt x="38" y="39"/>
                </a:cubicBezTo>
                <a:cubicBezTo>
                  <a:pt x="38" y="39"/>
                  <a:pt x="38" y="39"/>
                  <a:pt x="38" y="39"/>
                </a:cubicBezTo>
                <a:cubicBezTo>
                  <a:pt x="39" y="38"/>
                  <a:pt x="40" y="38"/>
                  <a:pt x="41" y="39"/>
                </a:cubicBezTo>
                <a:close/>
              </a:path>
            </a:pathLst>
          </a:custGeom>
          <a:solidFill>
            <a:srgbClr val="4B57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33" name="Freeform 20"/>
          <p:cNvSpPr>
            <a:spLocks/>
          </p:cNvSpPr>
          <p:nvPr/>
        </p:nvSpPr>
        <p:spPr bwMode="auto">
          <a:xfrm>
            <a:off x="1187624" y="1932012"/>
            <a:ext cx="1081087" cy="955675"/>
          </a:xfrm>
          <a:custGeom>
            <a:avLst/>
            <a:gdLst>
              <a:gd name="T0" fmla="*/ 0 w 681"/>
              <a:gd name="T1" fmla="*/ 0 h 602"/>
              <a:gd name="T2" fmla="*/ 681 w 681"/>
              <a:gd name="T3" fmla="*/ 0 h 602"/>
              <a:gd name="T4" fmla="*/ 681 w 681"/>
              <a:gd name="T5" fmla="*/ 602 h 602"/>
              <a:gd name="T6" fmla="*/ 0 w 681"/>
              <a:gd name="T7" fmla="*/ 602 h 602"/>
              <a:gd name="T8" fmla="*/ 183 w 681"/>
              <a:gd name="T9" fmla="*/ 298 h 602"/>
              <a:gd name="T10" fmla="*/ 0 w 681"/>
              <a:gd name="T11" fmla="*/ 0 h 602"/>
              <a:gd name="T12" fmla="*/ 0 w 68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681" h="602">
                <a:moveTo>
                  <a:pt x="0" y="0"/>
                </a:moveTo>
                <a:lnTo>
                  <a:pt x="681" y="0"/>
                </a:lnTo>
                <a:lnTo>
                  <a:pt x="681" y="602"/>
                </a:lnTo>
                <a:lnTo>
                  <a:pt x="0" y="602"/>
                </a:lnTo>
                <a:lnTo>
                  <a:pt x="183" y="298"/>
                </a:lnTo>
                <a:lnTo>
                  <a:pt x="0" y="0"/>
                </a:lnTo>
                <a:lnTo>
                  <a:pt x="0" y="0"/>
                </a:lnTo>
                <a:close/>
              </a:path>
            </a:pathLst>
          </a:custGeom>
          <a:solidFill>
            <a:srgbClr val="EE76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34" name="Freeform 21"/>
          <p:cNvSpPr>
            <a:spLocks noEditPoints="1"/>
          </p:cNvSpPr>
          <p:nvPr/>
        </p:nvSpPr>
        <p:spPr bwMode="auto">
          <a:xfrm>
            <a:off x="1303511" y="1989162"/>
            <a:ext cx="998537" cy="33338"/>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FAD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35" name="Freeform 22"/>
          <p:cNvSpPr>
            <a:spLocks noEditPoints="1"/>
          </p:cNvSpPr>
          <p:nvPr/>
        </p:nvSpPr>
        <p:spPr bwMode="auto">
          <a:xfrm>
            <a:off x="1303511" y="2795612"/>
            <a:ext cx="998537" cy="25400"/>
          </a:xfrm>
          <a:custGeom>
            <a:avLst/>
            <a:gdLst>
              <a:gd name="T0" fmla="*/ 1 w 120"/>
              <a:gd name="T1" fmla="*/ 0 h 3"/>
              <a:gd name="T2" fmla="*/ 13 w 120"/>
              <a:gd name="T3" fmla="*/ 0 h 3"/>
              <a:gd name="T4" fmla="*/ 15 w 120"/>
              <a:gd name="T5" fmla="*/ 2 h 3"/>
              <a:gd name="T6" fmla="*/ 15 w 120"/>
              <a:gd name="T7" fmla="*/ 2 h 3"/>
              <a:gd name="T8" fmla="*/ 13 w 120"/>
              <a:gd name="T9" fmla="*/ 3 h 3"/>
              <a:gd name="T10" fmla="*/ 1 w 120"/>
              <a:gd name="T11" fmla="*/ 3 h 3"/>
              <a:gd name="T12" fmla="*/ 0 w 120"/>
              <a:gd name="T13" fmla="*/ 2 h 3"/>
              <a:gd name="T14" fmla="*/ 0 w 120"/>
              <a:gd name="T15" fmla="*/ 2 h 3"/>
              <a:gd name="T16" fmla="*/ 1 w 120"/>
              <a:gd name="T17" fmla="*/ 0 h 3"/>
              <a:gd name="T18" fmla="*/ 22 w 120"/>
              <a:gd name="T19" fmla="*/ 0 h 3"/>
              <a:gd name="T20" fmla="*/ 34 w 120"/>
              <a:gd name="T21" fmla="*/ 0 h 3"/>
              <a:gd name="T22" fmla="*/ 36 w 120"/>
              <a:gd name="T23" fmla="*/ 2 h 3"/>
              <a:gd name="T24" fmla="*/ 36 w 120"/>
              <a:gd name="T25" fmla="*/ 2 h 3"/>
              <a:gd name="T26" fmla="*/ 34 w 120"/>
              <a:gd name="T27" fmla="*/ 3 h 3"/>
              <a:gd name="T28" fmla="*/ 22 w 120"/>
              <a:gd name="T29" fmla="*/ 3 h 3"/>
              <a:gd name="T30" fmla="*/ 21 w 120"/>
              <a:gd name="T31" fmla="*/ 2 h 3"/>
              <a:gd name="T32" fmla="*/ 21 w 120"/>
              <a:gd name="T33" fmla="*/ 2 h 3"/>
              <a:gd name="T34" fmla="*/ 22 w 120"/>
              <a:gd name="T35" fmla="*/ 0 h 3"/>
              <a:gd name="T36" fmla="*/ 43 w 120"/>
              <a:gd name="T37" fmla="*/ 0 h 3"/>
              <a:gd name="T38" fmla="*/ 55 w 120"/>
              <a:gd name="T39" fmla="*/ 0 h 3"/>
              <a:gd name="T40" fmla="*/ 57 w 120"/>
              <a:gd name="T41" fmla="*/ 2 h 3"/>
              <a:gd name="T42" fmla="*/ 57 w 120"/>
              <a:gd name="T43" fmla="*/ 2 h 3"/>
              <a:gd name="T44" fmla="*/ 55 w 120"/>
              <a:gd name="T45" fmla="*/ 3 h 3"/>
              <a:gd name="T46" fmla="*/ 43 w 120"/>
              <a:gd name="T47" fmla="*/ 3 h 3"/>
              <a:gd name="T48" fmla="*/ 42 w 120"/>
              <a:gd name="T49" fmla="*/ 2 h 3"/>
              <a:gd name="T50" fmla="*/ 42 w 120"/>
              <a:gd name="T51" fmla="*/ 2 h 3"/>
              <a:gd name="T52" fmla="*/ 43 w 120"/>
              <a:gd name="T53" fmla="*/ 0 h 3"/>
              <a:gd name="T54" fmla="*/ 64 w 120"/>
              <a:gd name="T55" fmla="*/ 0 h 3"/>
              <a:gd name="T56" fmla="*/ 76 w 120"/>
              <a:gd name="T57" fmla="*/ 0 h 3"/>
              <a:gd name="T58" fmla="*/ 78 w 120"/>
              <a:gd name="T59" fmla="*/ 2 h 3"/>
              <a:gd name="T60" fmla="*/ 78 w 120"/>
              <a:gd name="T61" fmla="*/ 2 h 3"/>
              <a:gd name="T62" fmla="*/ 76 w 120"/>
              <a:gd name="T63" fmla="*/ 3 h 3"/>
              <a:gd name="T64" fmla="*/ 64 w 120"/>
              <a:gd name="T65" fmla="*/ 3 h 3"/>
              <a:gd name="T66" fmla="*/ 63 w 120"/>
              <a:gd name="T67" fmla="*/ 2 h 3"/>
              <a:gd name="T68" fmla="*/ 63 w 120"/>
              <a:gd name="T69" fmla="*/ 2 h 3"/>
              <a:gd name="T70" fmla="*/ 64 w 120"/>
              <a:gd name="T71" fmla="*/ 0 h 3"/>
              <a:gd name="T72" fmla="*/ 85 w 120"/>
              <a:gd name="T73" fmla="*/ 0 h 3"/>
              <a:gd name="T74" fmla="*/ 97 w 120"/>
              <a:gd name="T75" fmla="*/ 0 h 3"/>
              <a:gd name="T76" fmla="*/ 99 w 120"/>
              <a:gd name="T77" fmla="*/ 2 h 3"/>
              <a:gd name="T78" fmla="*/ 99 w 120"/>
              <a:gd name="T79" fmla="*/ 2 h 3"/>
              <a:gd name="T80" fmla="*/ 97 w 120"/>
              <a:gd name="T81" fmla="*/ 3 h 3"/>
              <a:gd name="T82" fmla="*/ 85 w 120"/>
              <a:gd name="T83" fmla="*/ 3 h 3"/>
              <a:gd name="T84" fmla="*/ 84 w 120"/>
              <a:gd name="T85" fmla="*/ 2 h 3"/>
              <a:gd name="T86" fmla="*/ 84 w 120"/>
              <a:gd name="T87" fmla="*/ 2 h 3"/>
              <a:gd name="T88" fmla="*/ 85 w 120"/>
              <a:gd name="T89" fmla="*/ 0 h 3"/>
              <a:gd name="T90" fmla="*/ 106 w 120"/>
              <a:gd name="T91" fmla="*/ 0 h 3"/>
              <a:gd name="T92" fmla="*/ 118 w 120"/>
              <a:gd name="T93" fmla="*/ 0 h 3"/>
              <a:gd name="T94" fmla="*/ 120 w 120"/>
              <a:gd name="T95" fmla="*/ 2 h 3"/>
              <a:gd name="T96" fmla="*/ 120 w 120"/>
              <a:gd name="T97" fmla="*/ 2 h 3"/>
              <a:gd name="T98" fmla="*/ 118 w 120"/>
              <a:gd name="T99" fmla="*/ 3 h 3"/>
              <a:gd name="T100" fmla="*/ 106 w 120"/>
              <a:gd name="T101" fmla="*/ 3 h 3"/>
              <a:gd name="T102" fmla="*/ 105 w 120"/>
              <a:gd name="T103" fmla="*/ 2 h 3"/>
              <a:gd name="T104" fmla="*/ 105 w 120"/>
              <a:gd name="T105" fmla="*/ 2 h 3"/>
              <a:gd name="T106" fmla="*/ 106 w 120"/>
              <a:gd name="T10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3">
                <a:moveTo>
                  <a:pt x="1" y="0"/>
                </a:moveTo>
                <a:cubicBezTo>
                  <a:pt x="5" y="0"/>
                  <a:pt x="9" y="0"/>
                  <a:pt x="13" y="0"/>
                </a:cubicBezTo>
                <a:cubicBezTo>
                  <a:pt x="14" y="0"/>
                  <a:pt x="15" y="1"/>
                  <a:pt x="15" y="2"/>
                </a:cubicBezTo>
                <a:cubicBezTo>
                  <a:pt x="15" y="2"/>
                  <a:pt x="15" y="2"/>
                  <a:pt x="15" y="2"/>
                </a:cubicBezTo>
                <a:cubicBezTo>
                  <a:pt x="15" y="3"/>
                  <a:pt x="14" y="3"/>
                  <a:pt x="13" y="3"/>
                </a:cubicBezTo>
                <a:cubicBezTo>
                  <a:pt x="9" y="3"/>
                  <a:pt x="5" y="3"/>
                  <a:pt x="1" y="3"/>
                </a:cubicBezTo>
                <a:cubicBezTo>
                  <a:pt x="0" y="3"/>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3"/>
                  <a:pt x="34" y="3"/>
                </a:cubicBezTo>
                <a:cubicBezTo>
                  <a:pt x="30" y="3"/>
                  <a:pt x="26" y="3"/>
                  <a:pt x="22" y="3"/>
                </a:cubicBezTo>
                <a:cubicBezTo>
                  <a:pt x="21" y="3"/>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3"/>
                  <a:pt x="55" y="3"/>
                </a:cubicBezTo>
                <a:cubicBezTo>
                  <a:pt x="51" y="3"/>
                  <a:pt x="47" y="3"/>
                  <a:pt x="43" y="3"/>
                </a:cubicBezTo>
                <a:cubicBezTo>
                  <a:pt x="42" y="3"/>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3"/>
                  <a:pt x="76" y="3"/>
                </a:cubicBezTo>
                <a:cubicBezTo>
                  <a:pt x="72" y="3"/>
                  <a:pt x="68" y="3"/>
                  <a:pt x="64" y="3"/>
                </a:cubicBezTo>
                <a:cubicBezTo>
                  <a:pt x="63" y="3"/>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3"/>
                  <a:pt x="97" y="3"/>
                </a:cubicBezTo>
                <a:cubicBezTo>
                  <a:pt x="93" y="3"/>
                  <a:pt x="89" y="3"/>
                  <a:pt x="85" y="3"/>
                </a:cubicBezTo>
                <a:cubicBezTo>
                  <a:pt x="84" y="3"/>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3"/>
                  <a:pt x="118" y="3"/>
                </a:cubicBezTo>
                <a:cubicBezTo>
                  <a:pt x="114" y="3"/>
                  <a:pt x="110" y="3"/>
                  <a:pt x="106" y="3"/>
                </a:cubicBezTo>
                <a:cubicBezTo>
                  <a:pt x="105" y="3"/>
                  <a:pt x="105" y="3"/>
                  <a:pt x="105" y="2"/>
                </a:cubicBezTo>
                <a:cubicBezTo>
                  <a:pt x="105" y="2"/>
                  <a:pt x="105" y="2"/>
                  <a:pt x="105" y="2"/>
                </a:cubicBezTo>
                <a:cubicBezTo>
                  <a:pt x="105" y="1"/>
                  <a:pt x="105" y="0"/>
                  <a:pt x="106" y="0"/>
                </a:cubicBezTo>
                <a:close/>
              </a:path>
            </a:pathLst>
          </a:custGeom>
          <a:solidFill>
            <a:srgbClr val="FAD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36" name="Freeform 23"/>
          <p:cNvSpPr>
            <a:spLocks/>
          </p:cNvSpPr>
          <p:nvPr/>
        </p:nvSpPr>
        <p:spPr bwMode="auto">
          <a:xfrm>
            <a:off x="1619424" y="1557362"/>
            <a:ext cx="498475" cy="1430338"/>
          </a:xfrm>
          <a:custGeom>
            <a:avLst/>
            <a:gdLst>
              <a:gd name="T0" fmla="*/ 0 w 314"/>
              <a:gd name="T1" fmla="*/ 0 h 901"/>
              <a:gd name="T2" fmla="*/ 314 w 314"/>
              <a:gd name="T3" fmla="*/ 299 h 901"/>
              <a:gd name="T4" fmla="*/ 314 w 314"/>
              <a:gd name="T5" fmla="*/ 901 h 901"/>
              <a:gd name="T6" fmla="*/ 0 w 314"/>
              <a:gd name="T7" fmla="*/ 602 h 901"/>
              <a:gd name="T8" fmla="*/ 0 w 314"/>
              <a:gd name="T9" fmla="*/ 0 h 901"/>
              <a:gd name="T10" fmla="*/ 0 w 314"/>
              <a:gd name="T11" fmla="*/ 0 h 901"/>
            </a:gdLst>
            <a:ahLst/>
            <a:cxnLst>
              <a:cxn ang="0">
                <a:pos x="T0" y="T1"/>
              </a:cxn>
              <a:cxn ang="0">
                <a:pos x="T2" y="T3"/>
              </a:cxn>
              <a:cxn ang="0">
                <a:pos x="T4" y="T5"/>
              </a:cxn>
              <a:cxn ang="0">
                <a:pos x="T6" y="T7"/>
              </a:cxn>
              <a:cxn ang="0">
                <a:pos x="T8" y="T9"/>
              </a:cxn>
              <a:cxn ang="0">
                <a:pos x="T10" y="T11"/>
              </a:cxn>
            </a:cxnLst>
            <a:rect l="0" t="0" r="r" b="b"/>
            <a:pathLst>
              <a:path w="314" h="901">
                <a:moveTo>
                  <a:pt x="0" y="0"/>
                </a:moveTo>
                <a:lnTo>
                  <a:pt x="314" y="299"/>
                </a:lnTo>
                <a:lnTo>
                  <a:pt x="314" y="901"/>
                </a:lnTo>
                <a:lnTo>
                  <a:pt x="0" y="602"/>
                </a:lnTo>
                <a:lnTo>
                  <a:pt x="0" y="0"/>
                </a:lnTo>
                <a:lnTo>
                  <a:pt x="0" y="0"/>
                </a:lnTo>
                <a:close/>
              </a:path>
            </a:pathLst>
          </a:custGeom>
          <a:solidFill>
            <a:srgbClr val="CD40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37" name="Freeform 24"/>
          <p:cNvSpPr>
            <a:spLocks noEditPoints="1"/>
          </p:cNvSpPr>
          <p:nvPr/>
        </p:nvSpPr>
        <p:spPr bwMode="auto">
          <a:xfrm>
            <a:off x="1619424" y="2379687"/>
            <a:ext cx="498475" cy="515938"/>
          </a:xfrm>
          <a:custGeom>
            <a:avLst/>
            <a:gdLst>
              <a:gd name="T0" fmla="*/ 60 w 60"/>
              <a:gd name="T1" fmla="*/ 57 h 62"/>
              <a:gd name="T2" fmla="*/ 60 w 60"/>
              <a:gd name="T3" fmla="*/ 62 h 62"/>
              <a:gd name="T4" fmla="*/ 53 w 60"/>
              <a:gd name="T5" fmla="*/ 56 h 62"/>
              <a:gd name="T6" fmla="*/ 53 w 60"/>
              <a:gd name="T7" fmla="*/ 54 h 62"/>
              <a:gd name="T8" fmla="*/ 53 w 60"/>
              <a:gd name="T9" fmla="*/ 54 h 62"/>
              <a:gd name="T10" fmla="*/ 56 w 60"/>
              <a:gd name="T11" fmla="*/ 54 h 62"/>
              <a:gd name="T12" fmla="*/ 60 w 60"/>
              <a:gd name="T13" fmla="*/ 57 h 62"/>
              <a:gd name="T14" fmla="*/ 0 w 60"/>
              <a:gd name="T15" fmla="*/ 5 h 62"/>
              <a:gd name="T16" fmla="*/ 0 w 60"/>
              <a:gd name="T17" fmla="*/ 0 h 62"/>
              <a:gd name="T18" fmla="*/ 3 w 60"/>
              <a:gd name="T19" fmla="*/ 4 h 62"/>
              <a:gd name="T20" fmla="*/ 4 w 60"/>
              <a:gd name="T21" fmla="*/ 6 h 62"/>
              <a:gd name="T22" fmla="*/ 4 w 60"/>
              <a:gd name="T23" fmla="*/ 6 h 62"/>
              <a:gd name="T24" fmla="*/ 1 w 60"/>
              <a:gd name="T25" fmla="*/ 6 h 62"/>
              <a:gd name="T26" fmla="*/ 0 w 60"/>
              <a:gd name="T27" fmla="*/ 5 h 62"/>
              <a:gd name="T28" fmla="*/ 10 w 60"/>
              <a:gd name="T29" fmla="*/ 10 h 62"/>
              <a:gd name="T30" fmla="*/ 19 w 60"/>
              <a:gd name="T31" fmla="*/ 18 h 62"/>
              <a:gd name="T32" fmla="*/ 19 w 60"/>
              <a:gd name="T33" fmla="*/ 21 h 62"/>
              <a:gd name="T34" fmla="*/ 19 w 60"/>
              <a:gd name="T35" fmla="*/ 21 h 62"/>
              <a:gd name="T36" fmla="*/ 16 w 60"/>
              <a:gd name="T37" fmla="*/ 21 h 62"/>
              <a:gd name="T38" fmla="*/ 8 w 60"/>
              <a:gd name="T39" fmla="*/ 13 h 62"/>
              <a:gd name="T40" fmla="*/ 8 w 60"/>
              <a:gd name="T41" fmla="*/ 10 h 62"/>
              <a:gd name="T42" fmla="*/ 8 w 60"/>
              <a:gd name="T43" fmla="*/ 10 h 62"/>
              <a:gd name="T44" fmla="*/ 10 w 60"/>
              <a:gd name="T45" fmla="*/ 10 h 62"/>
              <a:gd name="T46" fmla="*/ 25 w 60"/>
              <a:gd name="T47" fmla="*/ 25 h 62"/>
              <a:gd name="T48" fmla="*/ 34 w 60"/>
              <a:gd name="T49" fmla="*/ 33 h 62"/>
              <a:gd name="T50" fmla="*/ 34 w 60"/>
              <a:gd name="T51" fmla="*/ 35 h 62"/>
              <a:gd name="T52" fmla="*/ 34 w 60"/>
              <a:gd name="T53" fmla="*/ 35 h 62"/>
              <a:gd name="T54" fmla="*/ 32 w 60"/>
              <a:gd name="T55" fmla="*/ 35 h 62"/>
              <a:gd name="T56" fmla="*/ 23 w 60"/>
              <a:gd name="T57" fmla="*/ 27 h 62"/>
              <a:gd name="T58" fmla="*/ 23 w 60"/>
              <a:gd name="T59" fmla="*/ 25 h 62"/>
              <a:gd name="T60" fmla="*/ 23 w 60"/>
              <a:gd name="T61" fmla="*/ 25 h 62"/>
              <a:gd name="T62" fmla="*/ 25 w 60"/>
              <a:gd name="T63" fmla="*/ 25 h 62"/>
              <a:gd name="T64" fmla="*/ 41 w 60"/>
              <a:gd name="T65" fmla="*/ 39 h 62"/>
              <a:gd name="T66" fmla="*/ 49 w 60"/>
              <a:gd name="T67" fmla="*/ 47 h 62"/>
              <a:gd name="T68" fmla="*/ 49 w 60"/>
              <a:gd name="T69" fmla="*/ 50 h 62"/>
              <a:gd name="T70" fmla="*/ 49 w 60"/>
              <a:gd name="T71" fmla="*/ 50 h 62"/>
              <a:gd name="T72" fmla="*/ 47 w 60"/>
              <a:gd name="T73" fmla="*/ 50 h 62"/>
              <a:gd name="T74" fmla="*/ 38 w 60"/>
              <a:gd name="T75" fmla="*/ 42 h 62"/>
              <a:gd name="T76" fmla="*/ 38 w 60"/>
              <a:gd name="T77" fmla="*/ 39 h 62"/>
              <a:gd name="T78" fmla="*/ 38 w 60"/>
              <a:gd name="T79" fmla="*/ 39 h 62"/>
              <a:gd name="T80" fmla="*/ 41 w 60"/>
              <a:gd name="T81" fmla="*/ 39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62">
                <a:moveTo>
                  <a:pt x="60" y="57"/>
                </a:moveTo>
                <a:cubicBezTo>
                  <a:pt x="60" y="62"/>
                  <a:pt x="60" y="62"/>
                  <a:pt x="60" y="62"/>
                </a:cubicBezTo>
                <a:cubicBezTo>
                  <a:pt x="58" y="60"/>
                  <a:pt x="56" y="58"/>
                  <a:pt x="53" y="56"/>
                </a:cubicBezTo>
                <a:cubicBezTo>
                  <a:pt x="53" y="56"/>
                  <a:pt x="53" y="55"/>
                  <a:pt x="53" y="54"/>
                </a:cubicBezTo>
                <a:cubicBezTo>
                  <a:pt x="53" y="54"/>
                  <a:pt x="53" y="54"/>
                  <a:pt x="53" y="54"/>
                </a:cubicBezTo>
                <a:cubicBezTo>
                  <a:pt x="54" y="53"/>
                  <a:pt x="55" y="53"/>
                  <a:pt x="56" y="54"/>
                </a:cubicBezTo>
                <a:cubicBezTo>
                  <a:pt x="57" y="55"/>
                  <a:pt x="58" y="56"/>
                  <a:pt x="60" y="57"/>
                </a:cubicBezTo>
                <a:close/>
                <a:moveTo>
                  <a:pt x="0" y="5"/>
                </a:moveTo>
                <a:cubicBezTo>
                  <a:pt x="0" y="0"/>
                  <a:pt x="0" y="0"/>
                  <a:pt x="0" y="0"/>
                </a:cubicBezTo>
                <a:cubicBezTo>
                  <a:pt x="1" y="2"/>
                  <a:pt x="2" y="3"/>
                  <a:pt x="3" y="4"/>
                </a:cubicBezTo>
                <a:cubicBezTo>
                  <a:pt x="4" y="5"/>
                  <a:pt x="4" y="6"/>
                  <a:pt x="4" y="6"/>
                </a:cubicBezTo>
                <a:cubicBezTo>
                  <a:pt x="4" y="6"/>
                  <a:pt x="4" y="6"/>
                  <a:pt x="4" y="6"/>
                </a:cubicBezTo>
                <a:cubicBezTo>
                  <a:pt x="3" y="7"/>
                  <a:pt x="2" y="7"/>
                  <a:pt x="1" y="6"/>
                </a:cubicBezTo>
                <a:cubicBezTo>
                  <a:pt x="1" y="6"/>
                  <a:pt x="0" y="5"/>
                  <a:pt x="0" y="5"/>
                </a:cubicBezTo>
                <a:close/>
                <a:moveTo>
                  <a:pt x="10" y="10"/>
                </a:moveTo>
                <a:cubicBezTo>
                  <a:pt x="13" y="13"/>
                  <a:pt x="16" y="16"/>
                  <a:pt x="19" y="18"/>
                </a:cubicBezTo>
                <a:cubicBezTo>
                  <a:pt x="19" y="19"/>
                  <a:pt x="19" y="20"/>
                  <a:pt x="19" y="21"/>
                </a:cubicBezTo>
                <a:cubicBezTo>
                  <a:pt x="19" y="21"/>
                  <a:pt x="19" y="21"/>
                  <a:pt x="19" y="21"/>
                </a:cubicBezTo>
                <a:cubicBezTo>
                  <a:pt x="18" y="21"/>
                  <a:pt x="17" y="22"/>
                  <a:pt x="16" y="21"/>
                </a:cubicBezTo>
                <a:cubicBezTo>
                  <a:pt x="14" y="18"/>
                  <a:pt x="11" y="15"/>
                  <a:pt x="8" y="13"/>
                </a:cubicBezTo>
                <a:cubicBezTo>
                  <a:pt x="7" y="12"/>
                  <a:pt x="7" y="11"/>
                  <a:pt x="8" y="10"/>
                </a:cubicBezTo>
                <a:cubicBezTo>
                  <a:pt x="8" y="10"/>
                  <a:pt x="8" y="10"/>
                  <a:pt x="8" y="10"/>
                </a:cubicBezTo>
                <a:cubicBezTo>
                  <a:pt x="8" y="10"/>
                  <a:pt x="9" y="10"/>
                  <a:pt x="10" y="10"/>
                </a:cubicBezTo>
                <a:close/>
                <a:moveTo>
                  <a:pt x="25" y="25"/>
                </a:moveTo>
                <a:cubicBezTo>
                  <a:pt x="28" y="28"/>
                  <a:pt x="31" y="30"/>
                  <a:pt x="34" y="33"/>
                </a:cubicBezTo>
                <a:cubicBezTo>
                  <a:pt x="35" y="34"/>
                  <a:pt x="35" y="35"/>
                  <a:pt x="34" y="35"/>
                </a:cubicBezTo>
                <a:cubicBezTo>
                  <a:pt x="34" y="35"/>
                  <a:pt x="34" y="35"/>
                  <a:pt x="34" y="35"/>
                </a:cubicBezTo>
                <a:cubicBezTo>
                  <a:pt x="33" y="36"/>
                  <a:pt x="32" y="36"/>
                  <a:pt x="32" y="35"/>
                </a:cubicBezTo>
                <a:cubicBezTo>
                  <a:pt x="29" y="33"/>
                  <a:pt x="26" y="30"/>
                  <a:pt x="23" y="27"/>
                </a:cubicBezTo>
                <a:cubicBezTo>
                  <a:pt x="22" y="27"/>
                  <a:pt x="22" y="26"/>
                  <a:pt x="23" y="25"/>
                </a:cubicBezTo>
                <a:cubicBezTo>
                  <a:pt x="23" y="25"/>
                  <a:pt x="23" y="25"/>
                  <a:pt x="23" y="25"/>
                </a:cubicBezTo>
                <a:cubicBezTo>
                  <a:pt x="24" y="24"/>
                  <a:pt x="25" y="24"/>
                  <a:pt x="25" y="25"/>
                </a:cubicBezTo>
                <a:close/>
                <a:moveTo>
                  <a:pt x="41" y="39"/>
                </a:moveTo>
                <a:cubicBezTo>
                  <a:pt x="43" y="42"/>
                  <a:pt x="46" y="45"/>
                  <a:pt x="49" y="47"/>
                </a:cubicBezTo>
                <a:cubicBezTo>
                  <a:pt x="50" y="48"/>
                  <a:pt x="50" y="49"/>
                  <a:pt x="49" y="50"/>
                </a:cubicBezTo>
                <a:cubicBezTo>
                  <a:pt x="49" y="50"/>
                  <a:pt x="49" y="50"/>
                  <a:pt x="49" y="50"/>
                </a:cubicBezTo>
                <a:cubicBezTo>
                  <a:pt x="48" y="50"/>
                  <a:pt x="47" y="50"/>
                  <a:pt x="47" y="50"/>
                </a:cubicBezTo>
                <a:cubicBezTo>
                  <a:pt x="44" y="47"/>
                  <a:pt x="41" y="44"/>
                  <a:pt x="38" y="42"/>
                </a:cubicBezTo>
                <a:cubicBezTo>
                  <a:pt x="38" y="41"/>
                  <a:pt x="38" y="40"/>
                  <a:pt x="38" y="39"/>
                </a:cubicBezTo>
                <a:cubicBezTo>
                  <a:pt x="38" y="39"/>
                  <a:pt x="38" y="39"/>
                  <a:pt x="38" y="39"/>
                </a:cubicBezTo>
                <a:cubicBezTo>
                  <a:pt x="39" y="39"/>
                  <a:pt x="40" y="39"/>
                  <a:pt x="41" y="39"/>
                </a:cubicBezTo>
                <a:close/>
              </a:path>
            </a:pathLst>
          </a:custGeom>
          <a:solidFill>
            <a:srgbClr val="E84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38" name="Freeform 26"/>
          <p:cNvSpPr>
            <a:spLocks/>
          </p:cNvSpPr>
          <p:nvPr/>
        </p:nvSpPr>
        <p:spPr bwMode="auto">
          <a:xfrm>
            <a:off x="1927399" y="1657374"/>
            <a:ext cx="1736725" cy="955675"/>
          </a:xfrm>
          <a:custGeom>
            <a:avLst/>
            <a:gdLst>
              <a:gd name="T0" fmla="*/ 0 w 1094"/>
              <a:gd name="T1" fmla="*/ 0 h 602"/>
              <a:gd name="T2" fmla="*/ 911 w 1094"/>
              <a:gd name="T3" fmla="*/ 0 h 602"/>
              <a:gd name="T4" fmla="*/ 1094 w 1094"/>
              <a:gd name="T5" fmla="*/ 304 h 602"/>
              <a:gd name="T6" fmla="*/ 911 w 1094"/>
              <a:gd name="T7" fmla="*/ 602 h 602"/>
              <a:gd name="T8" fmla="*/ 0 w 1094"/>
              <a:gd name="T9" fmla="*/ 602 h 602"/>
              <a:gd name="T10" fmla="*/ 0 w 1094"/>
              <a:gd name="T11" fmla="*/ 0 h 602"/>
              <a:gd name="T12" fmla="*/ 0 w 1094"/>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094" h="602">
                <a:moveTo>
                  <a:pt x="0" y="0"/>
                </a:moveTo>
                <a:lnTo>
                  <a:pt x="911" y="0"/>
                </a:lnTo>
                <a:lnTo>
                  <a:pt x="1094" y="304"/>
                </a:lnTo>
                <a:lnTo>
                  <a:pt x="911" y="602"/>
                </a:lnTo>
                <a:lnTo>
                  <a:pt x="0" y="602"/>
                </a:lnTo>
                <a:lnTo>
                  <a:pt x="0" y="0"/>
                </a:lnTo>
                <a:lnTo>
                  <a:pt x="0" y="0"/>
                </a:lnTo>
                <a:close/>
              </a:path>
            </a:pathLst>
          </a:custGeom>
          <a:solidFill>
            <a:srgbClr val="C9CA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39" name="Freeform 27"/>
          <p:cNvSpPr>
            <a:spLocks/>
          </p:cNvSpPr>
          <p:nvPr/>
        </p:nvSpPr>
        <p:spPr bwMode="auto">
          <a:xfrm>
            <a:off x="1619424" y="1557362"/>
            <a:ext cx="1954212" cy="955675"/>
          </a:xfrm>
          <a:custGeom>
            <a:avLst/>
            <a:gdLst>
              <a:gd name="T0" fmla="*/ 0 w 1231"/>
              <a:gd name="T1" fmla="*/ 0 h 602"/>
              <a:gd name="T2" fmla="*/ 1047 w 1231"/>
              <a:gd name="T3" fmla="*/ 0 h 602"/>
              <a:gd name="T4" fmla="*/ 1231 w 1231"/>
              <a:gd name="T5" fmla="*/ 299 h 602"/>
              <a:gd name="T6" fmla="*/ 1047 w 1231"/>
              <a:gd name="T7" fmla="*/ 602 h 602"/>
              <a:gd name="T8" fmla="*/ 0 w 1231"/>
              <a:gd name="T9" fmla="*/ 602 h 602"/>
              <a:gd name="T10" fmla="*/ 0 w 1231"/>
              <a:gd name="T11" fmla="*/ 0 h 602"/>
              <a:gd name="T12" fmla="*/ 0 w 123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231" h="602">
                <a:moveTo>
                  <a:pt x="0" y="0"/>
                </a:moveTo>
                <a:lnTo>
                  <a:pt x="1047" y="0"/>
                </a:lnTo>
                <a:lnTo>
                  <a:pt x="1231" y="299"/>
                </a:lnTo>
                <a:lnTo>
                  <a:pt x="1047" y="602"/>
                </a:lnTo>
                <a:lnTo>
                  <a:pt x="0" y="602"/>
                </a:lnTo>
                <a:lnTo>
                  <a:pt x="0" y="0"/>
                </a:lnTo>
                <a:lnTo>
                  <a:pt x="0" y="0"/>
                </a:lnTo>
                <a:close/>
              </a:path>
            </a:pathLst>
          </a:custGeom>
          <a:solidFill>
            <a:srgbClr val="E84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40" name="Freeform 28"/>
          <p:cNvSpPr>
            <a:spLocks noEditPoints="1"/>
          </p:cNvSpPr>
          <p:nvPr/>
        </p:nvSpPr>
        <p:spPr bwMode="auto">
          <a:xfrm>
            <a:off x="1619424" y="2081237"/>
            <a:ext cx="1836737" cy="365125"/>
          </a:xfrm>
          <a:custGeom>
            <a:avLst/>
            <a:gdLst>
              <a:gd name="T0" fmla="*/ 30 w 221"/>
              <a:gd name="T1" fmla="*/ 44 h 44"/>
              <a:gd name="T2" fmla="*/ 32 w 221"/>
              <a:gd name="T3" fmla="*/ 43 h 44"/>
              <a:gd name="T4" fmla="*/ 19 w 221"/>
              <a:gd name="T5" fmla="*/ 41 h 44"/>
              <a:gd name="T6" fmla="*/ 17 w 221"/>
              <a:gd name="T7" fmla="*/ 43 h 44"/>
              <a:gd name="T8" fmla="*/ 196 w 221"/>
              <a:gd name="T9" fmla="*/ 43 h 44"/>
              <a:gd name="T10" fmla="*/ 198 w 221"/>
              <a:gd name="T11" fmla="*/ 37 h 44"/>
              <a:gd name="T12" fmla="*/ 195 w 221"/>
              <a:gd name="T13" fmla="*/ 37 h 44"/>
              <a:gd name="T14" fmla="*/ 186 w 221"/>
              <a:gd name="T15" fmla="*/ 41 h 44"/>
              <a:gd name="T16" fmla="*/ 185 w 221"/>
              <a:gd name="T17" fmla="*/ 43 h 44"/>
              <a:gd name="T18" fmla="*/ 194 w 221"/>
              <a:gd name="T19" fmla="*/ 44 h 44"/>
              <a:gd name="T20" fmla="*/ 217 w 221"/>
              <a:gd name="T21" fmla="*/ 1 h 44"/>
              <a:gd name="T22" fmla="*/ 212 w 221"/>
              <a:gd name="T23" fmla="*/ 14 h 44"/>
              <a:gd name="T24" fmla="*/ 214 w 221"/>
              <a:gd name="T25" fmla="*/ 13 h 44"/>
              <a:gd name="T26" fmla="*/ 219 w 221"/>
              <a:gd name="T27" fmla="*/ 1 h 44"/>
              <a:gd name="T28" fmla="*/ 217 w 221"/>
              <a:gd name="T29" fmla="*/ 1 h 44"/>
              <a:gd name="T30" fmla="*/ 200 w 221"/>
              <a:gd name="T31" fmla="*/ 29 h 44"/>
              <a:gd name="T32" fmla="*/ 201 w 221"/>
              <a:gd name="T33" fmla="*/ 32 h 44"/>
              <a:gd name="T34" fmla="*/ 209 w 221"/>
              <a:gd name="T35" fmla="*/ 21 h 44"/>
              <a:gd name="T36" fmla="*/ 209 w 221"/>
              <a:gd name="T37" fmla="*/ 19 h 44"/>
              <a:gd name="T38" fmla="*/ 0 w 221"/>
              <a:gd name="T39" fmla="*/ 41 h 44"/>
              <a:gd name="T40" fmla="*/ 8 w 221"/>
              <a:gd name="T41" fmla="*/ 44 h 44"/>
              <a:gd name="T42" fmla="*/ 10 w 221"/>
              <a:gd name="T43" fmla="*/ 43 h 44"/>
              <a:gd name="T44" fmla="*/ 0 w 221"/>
              <a:gd name="T45" fmla="*/ 41 h 44"/>
              <a:gd name="T46" fmla="*/ 51 w 221"/>
              <a:gd name="T47" fmla="*/ 44 h 44"/>
              <a:gd name="T48" fmla="*/ 53 w 221"/>
              <a:gd name="T49" fmla="*/ 43 h 44"/>
              <a:gd name="T50" fmla="*/ 40 w 221"/>
              <a:gd name="T51" fmla="*/ 41 h 44"/>
              <a:gd name="T52" fmla="*/ 38 w 221"/>
              <a:gd name="T53" fmla="*/ 43 h 44"/>
              <a:gd name="T54" fmla="*/ 60 w 221"/>
              <a:gd name="T55" fmla="*/ 44 h 44"/>
              <a:gd name="T56" fmla="*/ 74 w 221"/>
              <a:gd name="T57" fmla="*/ 43 h 44"/>
              <a:gd name="T58" fmla="*/ 72 w 221"/>
              <a:gd name="T59" fmla="*/ 41 h 44"/>
              <a:gd name="T60" fmla="*/ 59 w 221"/>
              <a:gd name="T61" fmla="*/ 43 h 44"/>
              <a:gd name="T62" fmla="*/ 60 w 221"/>
              <a:gd name="T63" fmla="*/ 44 h 44"/>
              <a:gd name="T64" fmla="*/ 93 w 221"/>
              <a:gd name="T65" fmla="*/ 44 h 44"/>
              <a:gd name="T66" fmla="*/ 95 w 221"/>
              <a:gd name="T67" fmla="*/ 43 h 44"/>
              <a:gd name="T68" fmla="*/ 81 w 221"/>
              <a:gd name="T69" fmla="*/ 41 h 44"/>
              <a:gd name="T70" fmla="*/ 80 w 221"/>
              <a:gd name="T71" fmla="*/ 43 h 44"/>
              <a:gd name="T72" fmla="*/ 102 w 221"/>
              <a:gd name="T73" fmla="*/ 44 h 44"/>
              <a:gd name="T74" fmla="*/ 116 w 221"/>
              <a:gd name="T75" fmla="*/ 43 h 44"/>
              <a:gd name="T76" fmla="*/ 114 w 221"/>
              <a:gd name="T77" fmla="*/ 41 h 44"/>
              <a:gd name="T78" fmla="*/ 101 w 221"/>
              <a:gd name="T79" fmla="*/ 43 h 44"/>
              <a:gd name="T80" fmla="*/ 102 w 221"/>
              <a:gd name="T81" fmla="*/ 44 h 44"/>
              <a:gd name="T82" fmla="*/ 135 w 221"/>
              <a:gd name="T83" fmla="*/ 44 h 44"/>
              <a:gd name="T84" fmla="*/ 137 w 221"/>
              <a:gd name="T85" fmla="*/ 43 h 44"/>
              <a:gd name="T86" fmla="*/ 123 w 221"/>
              <a:gd name="T87" fmla="*/ 41 h 44"/>
              <a:gd name="T88" fmla="*/ 122 w 221"/>
              <a:gd name="T89" fmla="*/ 43 h 44"/>
              <a:gd name="T90" fmla="*/ 144 w 221"/>
              <a:gd name="T91" fmla="*/ 44 h 44"/>
              <a:gd name="T92" fmla="*/ 158 w 221"/>
              <a:gd name="T93" fmla="*/ 43 h 44"/>
              <a:gd name="T94" fmla="*/ 156 w 221"/>
              <a:gd name="T95" fmla="*/ 41 h 44"/>
              <a:gd name="T96" fmla="*/ 143 w 221"/>
              <a:gd name="T97" fmla="*/ 43 h 44"/>
              <a:gd name="T98" fmla="*/ 144 w 221"/>
              <a:gd name="T99" fmla="*/ 44 h 44"/>
              <a:gd name="T100" fmla="*/ 177 w 221"/>
              <a:gd name="T101" fmla="*/ 44 h 44"/>
              <a:gd name="T102" fmla="*/ 179 w 221"/>
              <a:gd name="T103" fmla="*/ 43 h 44"/>
              <a:gd name="T104" fmla="*/ 165 w 221"/>
              <a:gd name="T105" fmla="*/ 41 h 44"/>
              <a:gd name="T106" fmla="*/ 164 w 221"/>
              <a:gd name="T10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1" h="44">
                <a:moveTo>
                  <a:pt x="19" y="44"/>
                </a:moveTo>
                <a:cubicBezTo>
                  <a:pt x="22" y="44"/>
                  <a:pt x="26" y="44"/>
                  <a:pt x="30" y="44"/>
                </a:cubicBezTo>
                <a:cubicBezTo>
                  <a:pt x="31" y="44"/>
                  <a:pt x="32" y="44"/>
                  <a:pt x="32" y="43"/>
                </a:cubicBezTo>
                <a:cubicBezTo>
                  <a:pt x="32" y="43"/>
                  <a:pt x="32" y="43"/>
                  <a:pt x="32" y="43"/>
                </a:cubicBezTo>
                <a:cubicBezTo>
                  <a:pt x="32" y="42"/>
                  <a:pt x="31" y="41"/>
                  <a:pt x="30" y="41"/>
                </a:cubicBezTo>
                <a:cubicBezTo>
                  <a:pt x="26" y="41"/>
                  <a:pt x="22" y="41"/>
                  <a:pt x="19" y="41"/>
                </a:cubicBezTo>
                <a:cubicBezTo>
                  <a:pt x="18" y="41"/>
                  <a:pt x="17" y="42"/>
                  <a:pt x="17" y="43"/>
                </a:cubicBezTo>
                <a:cubicBezTo>
                  <a:pt x="17" y="43"/>
                  <a:pt x="17" y="43"/>
                  <a:pt x="17" y="43"/>
                </a:cubicBezTo>
                <a:cubicBezTo>
                  <a:pt x="17" y="44"/>
                  <a:pt x="18" y="44"/>
                  <a:pt x="19" y="44"/>
                </a:cubicBezTo>
                <a:close/>
                <a:moveTo>
                  <a:pt x="196" y="43"/>
                </a:moveTo>
                <a:cubicBezTo>
                  <a:pt x="196" y="42"/>
                  <a:pt x="197" y="40"/>
                  <a:pt x="198" y="39"/>
                </a:cubicBezTo>
                <a:cubicBezTo>
                  <a:pt x="199" y="38"/>
                  <a:pt x="198" y="37"/>
                  <a:pt x="198" y="37"/>
                </a:cubicBezTo>
                <a:cubicBezTo>
                  <a:pt x="198" y="37"/>
                  <a:pt x="198" y="37"/>
                  <a:pt x="198" y="37"/>
                </a:cubicBezTo>
                <a:cubicBezTo>
                  <a:pt x="197" y="36"/>
                  <a:pt x="196" y="37"/>
                  <a:pt x="195" y="37"/>
                </a:cubicBezTo>
                <a:cubicBezTo>
                  <a:pt x="195" y="39"/>
                  <a:pt x="194" y="40"/>
                  <a:pt x="193" y="41"/>
                </a:cubicBezTo>
                <a:cubicBezTo>
                  <a:pt x="190" y="41"/>
                  <a:pt x="190" y="41"/>
                  <a:pt x="186" y="41"/>
                </a:cubicBezTo>
                <a:cubicBezTo>
                  <a:pt x="186" y="41"/>
                  <a:pt x="185" y="42"/>
                  <a:pt x="185" y="43"/>
                </a:cubicBezTo>
                <a:cubicBezTo>
                  <a:pt x="185" y="43"/>
                  <a:pt x="185" y="43"/>
                  <a:pt x="185" y="43"/>
                </a:cubicBezTo>
                <a:cubicBezTo>
                  <a:pt x="185" y="44"/>
                  <a:pt x="186" y="44"/>
                  <a:pt x="186" y="44"/>
                </a:cubicBezTo>
                <a:cubicBezTo>
                  <a:pt x="194" y="44"/>
                  <a:pt x="194" y="44"/>
                  <a:pt x="194" y="44"/>
                </a:cubicBezTo>
                <a:cubicBezTo>
                  <a:pt x="195" y="44"/>
                  <a:pt x="195" y="44"/>
                  <a:pt x="196" y="43"/>
                </a:cubicBezTo>
                <a:close/>
                <a:moveTo>
                  <a:pt x="217" y="1"/>
                </a:moveTo>
                <a:cubicBezTo>
                  <a:pt x="215" y="5"/>
                  <a:pt x="213" y="8"/>
                  <a:pt x="211" y="12"/>
                </a:cubicBezTo>
                <a:cubicBezTo>
                  <a:pt x="211" y="12"/>
                  <a:pt x="211" y="13"/>
                  <a:pt x="212" y="14"/>
                </a:cubicBezTo>
                <a:cubicBezTo>
                  <a:pt x="212" y="14"/>
                  <a:pt x="212" y="14"/>
                  <a:pt x="212" y="14"/>
                </a:cubicBezTo>
                <a:cubicBezTo>
                  <a:pt x="212" y="14"/>
                  <a:pt x="213" y="14"/>
                  <a:pt x="214" y="13"/>
                </a:cubicBezTo>
                <a:cubicBezTo>
                  <a:pt x="216" y="10"/>
                  <a:pt x="218" y="7"/>
                  <a:pt x="220" y="3"/>
                </a:cubicBezTo>
                <a:cubicBezTo>
                  <a:pt x="221" y="2"/>
                  <a:pt x="220" y="1"/>
                  <a:pt x="219" y="1"/>
                </a:cubicBezTo>
                <a:cubicBezTo>
                  <a:pt x="219" y="1"/>
                  <a:pt x="219" y="1"/>
                  <a:pt x="219" y="1"/>
                </a:cubicBezTo>
                <a:cubicBezTo>
                  <a:pt x="219" y="0"/>
                  <a:pt x="218" y="1"/>
                  <a:pt x="217" y="1"/>
                </a:cubicBezTo>
                <a:close/>
                <a:moveTo>
                  <a:pt x="206" y="19"/>
                </a:moveTo>
                <a:cubicBezTo>
                  <a:pt x="204" y="23"/>
                  <a:pt x="202" y="26"/>
                  <a:pt x="200" y="29"/>
                </a:cubicBezTo>
                <a:cubicBezTo>
                  <a:pt x="200" y="30"/>
                  <a:pt x="200" y="31"/>
                  <a:pt x="201" y="32"/>
                </a:cubicBezTo>
                <a:cubicBezTo>
                  <a:pt x="201" y="32"/>
                  <a:pt x="201" y="32"/>
                  <a:pt x="201" y="32"/>
                </a:cubicBezTo>
                <a:cubicBezTo>
                  <a:pt x="201" y="32"/>
                  <a:pt x="203" y="32"/>
                  <a:pt x="203" y="31"/>
                </a:cubicBezTo>
                <a:cubicBezTo>
                  <a:pt x="205" y="28"/>
                  <a:pt x="207" y="24"/>
                  <a:pt x="209" y="21"/>
                </a:cubicBezTo>
                <a:cubicBezTo>
                  <a:pt x="210" y="20"/>
                  <a:pt x="209" y="19"/>
                  <a:pt x="209" y="19"/>
                </a:cubicBezTo>
                <a:cubicBezTo>
                  <a:pt x="209" y="19"/>
                  <a:pt x="209" y="19"/>
                  <a:pt x="209" y="19"/>
                </a:cubicBezTo>
                <a:cubicBezTo>
                  <a:pt x="208" y="18"/>
                  <a:pt x="207" y="19"/>
                  <a:pt x="206" y="19"/>
                </a:cubicBezTo>
                <a:close/>
                <a:moveTo>
                  <a:pt x="0" y="41"/>
                </a:moveTo>
                <a:cubicBezTo>
                  <a:pt x="0" y="44"/>
                  <a:pt x="0" y="44"/>
                  <a:pt x="0" y="44"/>
                </a:cubicBezTo>
                <a:cubicBezTo>
                  <a:pt x="8" y="44"/>
                  <a:pt x="8" y="44"/>
                  <a:pt x="8" y="44"/>
                </a:cubicBezTo>
                <a:cubicBezTo>
                  <a:pt x="9" y="44"/>
                  <a:pt x="10" y="44"/>
                  <a:pt x="10" y="43"/>
                </a:cubicBezTo>
                <a:cubicBezTo>
                  <a:pt x="10" y="43"/>
                  <a:pt x="10" y="43"/>
                  <a:pt x="10" y="43"/>
                </a:cubicBezTo>
                <a:cubicBezTo>
                  <a:pt x="10" y="42"/>
                  <a:pt x="9" y="41"/>
                  <a:pt x="8" y="41"/>
                </a:cubicBezTo>
                <a:cubicBezTo>
                  <a:pt x="0" y="41"/>
                  <a:pt x="0" y="41"/>
                  <a:pt x="0" y="41"/>
                </a:cubicBezTo>
                <a:close/>
                <a:moveTo>
                  <a:pt x="40" y="44"/>
                </a:moveTo>
                <a:cubicBezTo>
                  <a:pt x="43" y="44"/>
                  <a:pt x="47" y="44"/>
                  <a:pt x="51" y="44"/>
                </a:cubicBezTo>
                <a:cubicBezTo>
                  <a:pt x="52" y="44"/>
                  <a:pt x="53" y="44"/>
                  <a:pt x="53" y="43"/>
                </a:cubicBezTo>
                <a:cubicBezTo>
                  <a:pt x="53" y="43"/>
                  <a:pt x="53" y="43"/>
                  <a:pt x="53" y="43"/>
                </a:cubicBezTo>
                <a:cubicBezTo>
                  <a:pt x="53" y="42"/>
                  <a:pt x="52" y="41"/>
                  <a:pt x="51" y="41"/>
                </a:cubicBezTo>
                <a:cubicBezTo>
                  <a:pt x="47" y="41"/>
                  <a:pt x="43" y="41"/>
                  <a:pt x="40" y="41"/>
                </a:cubicBezTo>
                <a:cubicBezTo>
                  <a:pt x="39" y="41"/>
                  <a:pt x="38" y="42"/>
                  <a:pt x="38" y="43"/>
                </a:cubicBezTo>
                <a:cubicBezTo>
                  <a:pt x="38" y="43"/>
                  <a:pt x="38" y="43"/>
                  <a:pt x="38" y="43"/>
                </a:cubicBezTo>
                <a:cubicBezTo>
                  <a:pt x="38" y="44"/>
                  <a:pt x="39" y="44"/>
                  <a:pt x="40" y="44"/>
                </a:cubicBezTo>
                <a:close/>
                <a:moveTo>
                  <a:pt x="60" y="44"/>
                </a:moveTo>
                <a:cubicBezTo>
                  <a:pt x="64" y="44"/>
                  <a:pt x="68" y="44"/>
                  <a:pt x="72" y="44"/>
                </a:cubicBezTo>
                <a:cubicBezTo>
                  <a:pt x="73" y="44"/>
                  <a:pt x="74" y="44"/>
                  <a:pt x="74" y="43"/>
                </a:cubicBezTo>
                <a:cubicBezTo>
                  <a:pt x="74" y="43"/>
                  <a:pt x="74" y="43"/>
                  <a:pt x="74" y="43"/>
                </a:cubicBezTo>
                <a:cubicBezTo>
                  <a:pt x="74" y="42"/>
                  <a:pt x="73" y="41"/>
                  <a:pt x="72" y="41"/>
                </a:cubicBezTo>
                <a:cubicBezTo>
                  <a:pt x="68" y="41"/>
                  <a:pt x="64" y="41"/>
                  <a:pt x="60" y="41"/>
                </a:cubicBezTo>
                <a:cubicBezTo>
                  <a:pt x="60" y="41"/>
                  <a:pt x="59" y="42"/>
                  <a:pt x="59" y="43"/>
                </a:cubicBezTo>
                <a:cubicBezTo>
                  <a:pt x="59" y="43"/>
                  <a:pt x="59" y="43"/>
                  <a:pt x="59" y="43"/>
                </a:cubicBezTo>
                <a:cubicBezTo>
                  <a:pt x="59" y="44"/>
                  <a:pt x="60" y="44"/>
                  <a:pt x="60" y="44"/>
                </a:cubicBezTo>
                <a:close/>
                <a:moveTo>
                  <a:pt x="81" y="44"/>
                </a:moveTo>
                <a:cubicBezTo>
                  <a:pt x="85" y="44"/>
                  <a:pt x="89" y="44"/>
                  <a:pt x="93" y="44"/>
                </a:cubicBezTo>
                <a:cubicBezTo>
                  <a:pt x="94" y="44"/>
                  <a:pt x="95" y="44"/>
                  <a:pt x="95" y="43"/>
                </a:cubicBezTo>
                <a:cubicBezTo>
                  <a:pt x="95" y="43"/>
                  <a:pt x="95" y="43"/>
                  <a:pt x="95" y="43"/>
                </a:cubicBezTo>
                <a:cubicBezTo>
                  <a:pt x="95" y="42"/>
                  <a:pt x="94" y="41"/>
                  <a:pt x="93" y="41"/>
                </a:cubicBezTo>
                <a:cubicBezTo>
                  <a:pt x="89" y="41"/>
                  <a:pt x="85" y="41"/>
                  <a:pt x="81" y="41"/>
                </a:cubicBezTo>
                <a:cubicBezTo>
                  <a:pt x="81" y="41"/>
                  <a:pt x="80" y="42"/>
                  <a:pt x="80" y="43"/>
                </a:cubicBezTo>
                <a:cubicBezTo>
                  <a:pt x="80" y="43"/>
                  <a:pt x="80" y="43"/>
                  <a:pt x="80" y="43"/>
                </a:cubicBezTo>
                <a:cubicBezTo>
                  <a:pt x="80" y="44"/>
                  <a:pt x="81" y="44"/>
                  <a:pt x="81" y="44"/>
                </a:cubicBezTo>
                <a:close/>
                <a:moveTo>
                  <a:pt x="102" y="44"/>
                </a:moveTo>
                <a:cubicBezTo>
                  <a:pt x="106" y="44"/>
                  <a:pt x="110" y="44"/>
                  <a:pt x="114" y="44"/>
                </a:cubicBezTo>
                <a:cubicBezTo>
                  <a:pt x="115" y="44"/>
                  <a:pt x="116" y="44"/>
                  <a:pt x="116" y="43"/>
                </a:cubicBezTo>
                <a:cubicBezTo>
                  <a:pt x="116" y="43"/>
                  <a:pt x="116" y="43"/>
                  <a:pt x="116" y="43"/>
                </a:cubicBezTo>
                <a:cubicBezTo>
                  <a:pt x="116" y="42"/>
                  <a:pt x="115" y="41"/>
                  <a:pt x="114" y="41"/>
                </a:cubicBezTo>
                <a:cubicBezTo>
                  <a:pt x="110" y="41"/>
                  <a:pt x="106" y="41"/>
                  <a:pt x="102" y="41"/>
                </a:cubicBezTo>
                <a:cubicBezTo>
                  <a:pt x="102" y="41"/>
                  <a:pt x="101" y="42"/>
                  <a:pt x="101" y="43"/>
                </a:cubicBezTo>
                <a:cubicBezTo>
                  <a:pt x="101" y="43"/>
                  <a:pt x="101" y="43"/>
                  <a:pt x="101" y="43"/>
                </a:cubicBezTo>
                <a:cubicBezTo>
                  <a:pt x="101" y="44"/>
                  <a:pt x="102" y="44"/>
                  <a:pt x="102" y="44"/>
                </a:cubicBezTo>
                <a:close/>
                <a:moveTo>
                  <a:pt x="123" y="44"/>
                </a:moveTo>
                <a:cubicBezTo>
                  <a:pt x="127" y="44"/>
                  <a:pt x="131" y="44"/>
                  <a:pt x="135" y="44"/>
                </a:cubicBezTo>
                <a:cubicBezTo>
                  <a:pt x="136" y="44"/>
                  <a:pt x="137" y="44"/>
                  <a:pt x="137" y="43"/>
                </a:cubicBezTo>
                <a:cubicBezTo>
                  <a:pt x="137" y="43"/>
                  <a:pt x="137" y="43"/>
                  <a:pt x="137" y="43"/>
                </a:cubicBezTo>
                <a:cubicBezTo>
                  <a:pt x="137" y="42"/>
                  <a:pt x="136" y="41"/>
                  <a:pt x="135" y="41"/>
                </a:cubicBezTo>
                <a:cubicBezTo>
                  <a:pt x="131" y="41"/>
                  <a:pt x="127" y="41"/>
                  <a:pt x="123" y="41"/>
                </a:cubicBezTo>
                <a:cubicBezTo>
                  <a:pt x="123" y="41"/>
                  <a:pt x="122" y="42"/>
                  <a:pt x="122" y="43"/>
                </a:cubicBezTo>
                <a:cubicBezTo>
                  <a:pt x="122" y="43"/>
                  <a:pt x="122" y="43"/>
                  <a:pt x="122" y="43"/>
                </a:cubicBezTo>
                <a:cubicBezTo>
                  <a:pt x="122" y="44"/>
                  <a:pt x="123" y="44"/>
                  <a:pt x="123" y="44"/>
                </a:cubicBezTo>
                <a:close/>
                <a:moveTo>
                  <a:pt x="144" y="44"/>
                </a:moveTo>
                <a:cubicBezTo>
                  <a:pt x="148" y="44"/>
                  <a:pt x="152" y="44"/>
                  <a:pt x="156" y="44"/>
                </a:cubicBezTo>
                <a:cubicBezTo>
                  <a:pt x="157" y="44"/>
                  <a:pt x="158" y="44"/>
                  <a:pt x="158" y="43"/>
                </a:cubicBezTo>
                <a:cubicBezTo>
                  <a:pt x="158" y="43"/>
                  <a:pt x="158" y="43"/>
                  <a:pt x="158" y="43"/>
                </a:cubicBezTo>
                <a:cubicBezTo>
                  <a:pt x="158" y="42"/>
                  <a:pt x="157" y="41"/>
                  <a:pt x="156" y="41"/>
                </a:cubicBezTo>
                <a:cubicBezTo>
                  <a:pt x="152" y="41"/>
                  <a:pt x="148" y="41"/>
                  <a:pt x="144" y="41"/>
                </a:cubicBezTo>
                <a:cubicBezTo>
                  <a:pt x="144" y="41"/>
                  <a:pt x="143" y="42"/>
                  <a:pt x="143" y="43"/>
                </a:cubicBezTo>
                <a:cubicBezTo>
                  <a:pt x="143" y="43"/>
                  <a:pt x="143" y="43"/>
                  <a:pt x="143" y="43"/>
                </a:cubicBezTo>
                <a:cubicBezTo>
                  <a:pt x="143" y="44"/>
                  <a:pt x="144" y="44"/>
                  <a:pt x="144" y="44"/>
                </a:cubicBezTo>
                <a:close/>
                <a:moveTo>
                  <a:pt x="165" y="44"/>
                </a:moveTo>
                <a:cubicBezTo>
                  <a:pt x="169" y="44"/>
                  <a:pt x="173" y="44"/>
                  <a:pt x="177" y="44"/>
                </a:cubicBezTo>
                <a:cubicBezTo>
                  <a:pt x="178" y="44"/>
                  <a:pt x="179" y="44"/>
                  <a:pt x="179" y="43"/>
                </a:cubicBezTo>
                <a:cubicBezTo>
                  <a:pt x="179" y="43"/>
                  <a:pt x="179" y="43"/>
                  <a:pt x="179" y="43"/>
                </a:cubicBezTo>
                <a:cubicBezTo>
                  <a:pt x="179" y="42"/>
                  <a:pt x="178" y="41"/>
                  <a:pt x="177" y="41"/>
                </a:cubicBezTo>
                <a:cubicBezTo>
                  <a:pt x="173" y="41"/>
                  <a:pt x="169" y="41"/>
                  <a:pt x="165" y="41"/>
                </a:cubicBezTo>
                <a:cubicBezTo>
                  <a:pt x="165" y="41"/>
                  <a:pt x="164" y="42"/>
                  <a:pt x="164" y="43"/>
                </a:cubicBezTo>
                <a:cubicBezTo>
                  <a:pt x="164" y="43"/>
                  <a:pt x="164" y="43"/>
                  <a:pt x="164" y="43"/>
                </a:cubicBezTo>
                <a:cubicBezTo>
                  <a:pt x="164" y="44"/>
                  <a:pt x="165" y="44"/>
                  <a:pt x="165" y="44"/>
                </a:cubicBezTo>
                <a:close/>
              </a:path>
            </a:pathLst>
          </a:custGeom>
          <a:solidFill>
            <a:srgbClr val="F7BF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41" name="Freeform 29"/>
          <p:cNvSpPr>
            <a:spLocks noEditPoints="1"/>
          </p:cNvSpPr>
          <p:nvPr/>
        </p:nvSpPr>
        <p:spPr bwMode="auto">
          <a:xfrm>
            <a:off x="1619424" y="1616099"/>
            <a:ext cx="1870075" cy="431800"/>
          </a:xfrm>
          <a:custGeom>
            <a:avLst/>
            <a:gdLst>
              <a:gd name="T0" fmla="*/ 30 w 225"/>
              <a:gd name="T1" fmla="*/ 0 h 52"/>
              <a:gd name="T2" fmla="*/ 32 w 225"/>
              <a:gd name="T3" fmla="*/ 2 h 52"/>
              <a:gd name="T4" fmla="*/ 19 w 225"/>
              <a:gd name="T5" fmla="*/ 3 h 52"/>
              <a:gd name="T6" fmla="*/ 17 w 225"/>
              <a:gd name="T7" fmla="*/ 2 h 52"/>
              <a:gd name="T8" fmla="*/ 224 w 225"/>
              <a:gd name="T9" fmla="*/ 48 h 52"/>
              <a:gd name="T10" fmla="*/ 225 w 225"/>
              <a:gd name="T11" fmla="*/ 50 h 52"/>
              <a:gd name="T12" fmla="*/ 224 w 225"/>
              <a:gd name="T13" fmla="*/ 52 h 52"/>
              <a:gd name="T14" fmla="*/ 222 w 225"/>
              <a:gd name="T15" fmla="*/ 50 h 52"/>
              <a:gd name="T16" fmla="*/ 224 w 225"/>
              <a:gd name="T17" fmla="*/ 48 h 52"/>
              <a:gd name="T18" fmla="*/ 198 w 225"/>
              <a:gd name="T19" fmla="*/ 5 h 52"/>
              <a:gd name="T20" fmla="*/ 198 w 225"/>
              <a:gd name="T21" fmla="*/ 8 h 52"/>
              <a:gd name="T22" fmla="*/ 193 w 225"/>
              <a:gd name="T23" fmla="*/ 3 h 52"/>
              <a:gd name="T24" fmla="*/ 185 w 225"/>
              <a:gd name="T25" fmla="*/ 2 h 52"/>
              <a:gd name="T26" fmla="*/ 186 w 225"/>
              <a:gd name="T27" fmla="*/ 0 h 52"/>
              <a:gd name="T28" fmla="*/ 196 w 225"/>
              <a:gd name="T29" fmla="*/ 1 h 52"/>
              <a:gd name="T30" fmla="*/ 211 w 225"/>
              <a:gd name="T31" fmla="*/ 33 h 52"/>
              <a:gd name="T32" fmla="*/ 212 w 225"/>
              <a:gd name="T33" fmla="*/ 31 h 52"/>
              <a:gd name="T34" fmla="*/ 220 w 225"/>
              <a:gd name="T35" fmla="*/ 41 h 52"/>
              <a:gd name="T36" fmla="*/ 219 w 225"/>
              <a:gd name="T37" fmla="*/ 43 h 52"/>
              <a:gd name="T38" fmla="*/ 206 w 225"/>
              <a:gd name="T39" fmla="*/ 25 h 52"/>
              <a:gd name="T40" fmla="*/ 201 w 225"/>
              <a:gd name="T41" fmla="*/ 13 h 52"/>
              <a:gd name="T42" fmla="*/ 203 w 225"/>
              <a:gd name="T43" fmla="*/ 13 h 52"/>
              <a:gd name="T44" fmla="*/ 209 w 225"/>
              <a:gd name="T45" fmla="*/ 26 h 52"/>
              <a:gd name="T46" fmla="*/ 206 w 225"/>
              <a:gd name="T47" fmla="*/ 25 h 52"/>
              <a:gd name="T48" fmla="*/ 0 w 225"/>
              <a:gd name="T49" fmla="*/ 0 h 52"/>
              <a:gd name="T50" fmla="*/ 10 w 225"/>
              <a:gd name="T51" fmla="*/ 2 h 52"/>
              <a:gd name="T52" fmla="*/ 8 w 225"/>
              <a:gd name="T53" fmla="*/ 3 h 52"/>
              <a:gd name="T54" fmla="*/ 40 w 225"/>
              <a:gd name="T55" fmla="*/ 0 h 52"/>
              <a:gd name="T56" fmla="*/ 53 w 225"/>
              <a:gd name="T57" fmla="*/ 2 h 52"/>
              <a:gd name="T58" fmla="*/ 51 w 225"/>
              <a:gd name="T59" fmla="*/ 3 h 52"/>
              <a:gd name="T60" fmla="*/ 38 w 225"/>
              <a:gd name="T61" fmla="*/ 2 h 52"/>
              <a:gd name="T62" fmla="*/ 40 w 225"/>
              <a:gd name="T63" fmla="*/ 0 h 52"/>
              <a:gd name="T64" fmla="*/ 72 w 225"/>
              <a:gd name="T65" fmla="*/ 0 h 52"/>
              <a:gd name="T66" fmla="*/ 74 w 225"/>
              <a:gd name="T67" fmla="*/ 2 h 52"/>
              <a:gd name="T68" fmla="*/ 60 w 225"/>
              <a:gd name="T69" fmla="*/ 3 h 52"/>
              <a:gd name="T70" fmla="*/ 59 w 225"/>
              <a:gd name="T71" fmla="*/ 2 h 52"/>
              <a:gd name="T72" fmla="*/ 81 w 225"/>
              <a:gd name="T73" fmla="*/ 0 h 52"/>
              <a:gd name="T74" fmla="*/ 95 w 225"/>
              <a:gd name="T75" fmla="*/ 2 h 52"/>
              <a:gd name="T76" fmla="*/ 93 w 225"/>
              <a:gd name="T77" fmla="*/ 3 h 52"/>
              <a:gd name="T78" fmla="*/ 80 w 225"/>
              <a:gd name="T79" fmla="*/ 2 h 52"/>
              <a:gd name="T80" fmla="*/ 81 w 225"/>
              <a:gd name="T81" fmla="*/ 0 h 52"/>
              <a:gd name="T82" fmla="*/ 114 w 225"/>
              <a:gd name="T83" fmla="*/ 0 h 52"/>
              <a:gd name="T84" fmla="*/ 116 w 225"/>
              <a:gd name="T85" fmla="*/ 2 h 52"/>
              <a:gd name="T86" fmla="*/ 102 w 225"/>
              <a:gd name="T87" fmla="*/ 3 h 52"/>
              <a:gd name="T88" fmla="*/ 101 w 225"/>
              <a:gd name="T89" fmla="*/ 2 h 52"/>
              <a:gd name="T90" fmla="*/ 123 w 225"/>
              <a:gd name="T91" fmla="*/ 0 h 52"/>
              <a:gd name="T92" fmla="*/ 137 w 225"/>
              <a:gd name="T93" fmla="*/ 2 h 52"/>
              <a:gd name="T94" fmla="*/ 135 w 225"/>
              <a:gd name="T95" fmla="*/ 3 h 52"/>
              <a:gd name="T96" fmla="*/ 122 w 225"/>
              <a:gd name="T97" fmla="*/ 2 h 52"/>
              <a:gd name="T98" fmla="*/ 123 w 225"/>
              <a:gd name="T99" fmla="*/ 0 h 52"/>
              <a:gd name="T100" fmla="*/ 156 w 225"/>
              <a:gd name="T101" fmla="*/ 0 h 52"/>
              <a:gd name="T102" fmla="*/ 158 w 225"/>
              <a:gd name="T103" fmla="*/ 2 h 52"/>
              <a:gd name="T104" fmla="*/ 144 w 225"/>
              <a:gd name="T105" fmla="*/ 3 h 52"/>
              <a:gd name="T106" fmla="*/ 143 w 225"/>
              <a:gd name="T107" fmla="*/ 2 h 52"/>
              <a:gd name="T108" fmla="*/ 165 w 225"/>
              <a:gd name="T109" fmla="*/ 0 h 52"/>
              <a:gd name="T110" fmla="*/ 179 w 225"/>
              <a:gd name="T111" fmla="*/ 2 h 52"/>
              <a:gd name="T112" fmla="*/ 177 w 225"/>
              <a:gd name="T113" fmla="*/ 3 h 52"/>
              <a:gd name="T114" fmla="*/ 164 w 225"/>
              <a:gd name="T115" fmla="*/ 2 h 52"/>
              <a:gd name="T116" fmla="*/ 165 w 225"/>
              <a:gd name="T1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5" h="52">
                <a:moveTo>
                  <a:pt x="19" y="0"/>
                </a:moveTo>
                <a:cubicBezTo>
                  <a:pt x="22" y="0"/>
                  <a:pt x="26" y="0"/>
                  <a:pt x="30" y="0"/>
                </a:cubicBezTo>
                <a:cubicBezTo>
                  <a:pt x="31" y="0"/>
                  <a:pt x="32" y="1"/>
                  <a:pt x="32" y="2"/>
                </a:cubicBezTo>
                <a:cubicBezTo>
                  <a:pt x="32" y="2"/>
                  <a:pt x="32" y="2"/>
                  <a:pt x="32" y="2"/>
                </a:cubicBezTo>
                <a:cubicBezTo>
                  <a:pt x="32" y="3"/>
                  <a:pt x="31" y="3"/>
                  <a:pt x="30" y="3"/>
                </a:cubicBezTo>
                <a:cubicBezTo>
                  <a:pt x="26" y="3"/>
                  <a:pt x="22" y="3"/>
                  <a:pt x="19" y="3"/>
                </a:cubicBezTo>
                <a:cubicBezTo>
                  <a:pt x="18" y="3"/>
                  <a:pt x="17" y="3"/>
                  <a:pt x="17" y="2"/>
                </a:cubicBezTo>
                <a:cubicBezTo>
                  <a:pt x="17" y="2"/>
                  <a:pt x="17" y="2"/>
                  <a:pt x="17" y="2"/>
                </a:cubicBezTo>
                <a:cubicBezTo>
                  <a:pt x="17" y="1"/>
                  <a:pt x="18" y="0"/>
                  <a:pt x="19" y="0"/>
                </a:cubicBezTo>
                <a:close/>
                <a:moveTo>
                  <a:pt x="224" y="48"/>
                </a:moveTo>
                <a:cubicBezTo>
                  <a:pt x="224" y="48"/>
                  <a:pt x="224" y="48"/>
                  <a:pt x="224" y="48"/>
                </a:cubicBezTo>
                <a:cubicBezTo>
                  <a:pt x="225" y="48"/>
                  <a:pt x="225" y="49"/>
                  <a:pt x="225" y="50"/>
                </a:cubicBezTo>
                <a:cubicBezTo>
                  <a:pt x="225" y="50"/>
                  <a:pt x="225" y="50"/>
                  <a:pt x="225" y="50"/>
                </a:cubicBezTo>
                <a:cubicBezTo>
                  <a:pt x="225" y="51"/>
                  <a:pt x="225" y="52"/>
                  <a:pt x="224" y="52"/>
                </a:cubicBezTo>
                <a:cubicBezTo>
                  <a:pt x="224" y="52"/>
                  <a:pt x="224" y="52"/>
                  <a:pt x="224" y="52"/>
                </a:cubicBezTo>
                <a:cubicBezTo>
                  <a:pt x="223" y="52"/>
                  <a:pt x="222" y="51"/>
                  <a:pt x="222" y="50"/>
                </a:cubicBezTo>
                <a:cubicBezTo>
                  <a:pt x="222" y="50"/>
                  <a:pt x="222" y="50"/>
                  <a:pt x="222" y="50"/>
                </a:cubicBezTo>
                <a:cubicBezTo>
                  <a:pt x="222" y="49"/>
                  <a:pt x="223" y="48"/>
                  <a:pt x="224" y="48"/>
                </a:cubicBezTo>
                <a:close/>
                <a:moveTo>
                  <a:pt x="196" y="1"/>
                </a:moveTo>
                <a:cubicBezTo>
                  <a:pt x="196" y="3"/>
                  <a:pt x="197" y="4"/>
                  <a:pt x="198" y="5"/>
                </a:cubicBezTo>
                <a:cubicBezTo>
                  <a:pt x="199" y="6"/>
                  <a:pt x="198" y="7"/>
                  <a:pt x="198" y="8"/>
                </a:cubicBezTo>
                <a:cubicBezTo>
                  <a:pt x="198" y="8"/>
                  <a:pt x="198" y="8"/>
                  <a:pt x="198" y="8"/>
                </a:cubicBezTo>
                <a:cubicBezTo>
                  <a:pt x="197" y="8"/>
                  <a:pt x="196" y="8"/>
                  <a:pt x="195" y="7"/>
                </a:cubicBezTo>
                <a:cubicBezTo>
                  <a:pt x="195" y="6"/>
                  <a:pt x="194" y="5"/>
                  <a:pt x="193" y="3"/>
                </a:cubicBezTo>
                <a:cubicBezTo>
                  <a:pt x="190" y="3"/>
                  <a:pt x="190" y="3"/>
                  <a:pt x="186" y="3"/>
                </a:cubicBezTo>
                <a:cubicBezTo>
                  <a:pt x="186" y="3"/>
                  <a:pt x="185" y="3"/>
                  <a:pt x="185" y="2"/>
                </a:cubicBezTo>
                <a:cubicBezTo>
                  <a:pt x="185" y="2"/>
                  <a:pt x="185" y="2"/>
                  <a:pt x="185" y="2"/>
                </a:cubicBezTo>
                <a:cubicBezTo>
                  <a:pt x="185" y="1"/>
                  <a:pt x="186" y="0"/>
                  <a:pt x="186" y="0"/>
                </a:cubicBezTo>
                <a:cubicBezTo>
                  <a:pt x="194" y="0"/>
                  <a:pt x="194" y="0"/>
                  <a:pt x="194" y="0"/>
                </a:cubicBezTo>
                <a:cubicBezTo>
                  <a:pt x="195" y="0"/>
                  <a:pt x="195" y="1"/>
                  <a:pt x="196" y="1"/>
                </a:cubicBezTo>
                <a:close/>
                <a:moveTo>
                  <a:pt x="217" y="43"/>
                </a:moveTo>
                <a:cubicBezTo>
                  <a:pt x="215" y="40"/>
                  <a:pt x="213" y="36"/>
                  <a:pt x="211" y="33"/>
                </a:cubicBezTo>
                <a:cubicBezTo>
                  <a:pt x="211" y="32"/>
                  <a:pt x="211" y="31"/>
                  <a:pt x="212" y="31"/>
                </a:cubicBezTo>
                <a:cubicBezTo>
                  <a:pt x="212" y="31"/>
                  <a:pt x="212" y="31"/>
                  <a:pt x="212" y="31"/>
                </a:cubicBezTo>
                <a:cubicBezTo>
                  <a:pt x="212" y="30"/>
                  <a:pt x="213" y="30"/>
                  <a:pt x="214" y="31"/>
                </a:cubicBezTo>
                <a:cubicBezTo>
                  <a:pt x="216" y="34"/>
                  <a:pt x="218" y="38"/>
                  <a:pt x="220" y="41"/>
                </a:cubicBezTo>
                <a:cubicBezTo>
                  <a:pt x="221" y="42"/>
                  <a:pt x="220" y="43"/>
                  <a:pt x="219" y="43"/>
                </a:cubicBezTo>
                <a:cubicBezTo>
                  <a:pt x="219" y="43"/>
                  <a:pt x="219" y="43"/>
                  <a:pt x="219" y="43"/>
                </a:cubicBezTo>
                <a:cubicBezTo>
                  <a:pt x="219" y="44"/>
                  <a:pt x="218" y="44"/>
                  <a:pt x="217" y="43"/>
                </a:cubicBezTo>
                <a:close/>
                <a:moveTo>
                  <a:pt x="206" y="25"/>
                </a:moveTo>
                <a:cubicBezTo>
                  <a:pt x="204" y="22"/>
                  <a:pt x="202" y="18"/>
                  <a:pt x="200" y="15"/>
                </a:cubicBezTo>
                <a:cubicBezTo>
                  <a:pt x="200" y="14"/>
                  <a:pt x="200" y="13"/>
                  <a:pt x="201" y="13"/>
                </a:cubicBezTo>
                <a:cubicBezTo>
                  <a:pt x="201" y="13"/>
                  <a:pt x="201" y="13"/>
                  <a:pt x="201" y="13"/>
                </a:cubicBezTo>
                <a:cubicBezTo>
                  <a:pt x="201" y="12"/>
                  <a:pt x="203" y="12"/>
                  <a:pt x="203" y="13"/>
                </a:cubicBezTo>
                <a:cubicBezTo>
                  <a:pt x="205" y="17"/>
                  <a:pt x="207" y="20"/>
                  <a:pt x="209" y="23"/>
                </a:cubicBezTo>
                <a:cubicBezTo>
                  <a:pt x="210" y="24"/>
                  <a:pt x="209" y="25"/>
                  <a:pt x="209" y="26"/>
                </a:cubicBezTo>
                <a:cubicBezTo>
                  <a:pt x="209" y="26"/>
                  <a:pt x="209" y="26"/>
                  <a:pt x="209" y="26"/>
                </a:cubicBezTo>
                <a:cubicBezTo>
                  <a:pt x="208" y="26"/>
                  <a:pt x="207" y="26"/>
                  <a:pt x="206" y="25"/>
                </a:cubicBezTo>
                <a:close/>
                <a:moveTo>
                  <a:pt x="0" y="3"/>
                </a:moveTo>
                <a:cubicBezTo>
                  <a:pt x="0" y="0"/>
                  <a:pt x="0" y="0"/>
                  <a:pt x="0" y="0"/>
                </a:cubicBezTo>
                <a:cubicBezTo>
                  <a:pt x="8" y="0"/>
                  <a:pt x="8" y="0"/>
                  <a:pt x="8" y="0"/>
                </a:cubicBezTo>
                <a:cubicBezTo>
                  <a:pt x="9" y="0"/>
                  <a:pt x="10" y="1"/>
                  <a:pt x="10" y="2"/>
                </a:cubicBezTo>
                <a:cubicBezTo>
                  <a:pt x="10" y="2"/>
                  <a:pt x="10" y="2"/>
                  <a:pt x="10" y="2"/>
                </a:cubicBezTo>
                <a:cubicBezTo>
                  <a:pt x="10" y="3"/>
                  <a:pt x="9" y="3"/>
                  <a:pt x="8" y="3"/>
                </a:cubicBezTo>
                <a:cubicBezTo>
                  <a:pt x="0" y="3"/>
                  <a:pt x="0" y="3"/>
                  <a:pt x="0" y="3"/>
                </a:cubicBezTo>
                <a:close/>
                <a:moveTo>
                  <a:pt x="40" y="0"/>
                </a:moveTo>
                <a:cubicBezTo>
                  <a:pt x="43" y="0"/>
                  <a:pt x="47" y="0"/>
                  <a:pt x="51" y="0"/>
                </a:cubicBezTo>
                <a:cubicBezTo>
                  <a:pt x="52" y="0"/>
                  <a:pt x="53" y="1"/>
                  <a:pt x="53" y="2"/>
                </a:cubicBezTo>
                <a:cubicBezTo>
                  <a:pt x="53" y="2"/>
                  <a:pt x="53" y="2"/>
                  <a:pt x="53" y="2"/>
                </a:cubicBezTo>
                <a:cubicBezTo>
                  <a:pt x="53" y="3"/>
                  <a:pt x="52" y="3"/>
                  <a:pt x="51" y="3"/>
                </a:cubicBezTo>
                <a:cubicBezTo>
                  <a:pt x="47" y="3"/>
                  <a:pt x="43" y="3"/>
                  <a:pt x="40" y="3"/>
                </a:cubicBezTo>
                <a:cubicBezTo>
                  <a:pt x="39" y="3"/>
                  <a:pt x="38" y="3"/>
                  <a:pt x="38" y="2"/>
                </a:cubicBezTo>
                <a:cubicBezTo>
                  <a:pt x="38" y="2"/>
                  <a:pt x="38" y="2"/>
                  <a:pt x="38" y="2"/>
                </a:cubicBezTo>
                <a:cubicBezTo>
                  <a:pt x="38" y="1"/>
                  <a:pt x="39" y="0"/>
                  <a:pt x="40" y="0"/>
                </a:cubicBezTo>
                <a:close/>
                <a:moveTo>
                  <a:pt x="60" y="0"/>
                </a:moveTo>
                <a:cubicBezTo>
                  <a:pt x="64" y="0"/>
                  <a:pt x="68" y="0"/>
                  <a:pt x="72" y="0"/>
                </a:cubicBezTo>
                <a:cubicBezTo>
                  <a:pt x="73" y="0"/>
                  <a:pt x="74" y="1"/>
                  <a:pt x="74" y="2"/>
                </a:cubicBezTo>
                <a:cubicBezTo>
                  <a:pt x="74" y="2"/>
                  <a:pt x="74" y="2"/>
                  <a:pt x="74" y="2"/>
                </a:cubicBezTo>
                <a:cubicBezTo>
                  <a:pt x="74" y="3"/>
                  <a:pt x="73" y="3"/>
                  <a:pt x="72" y="3"/>
                </a:cubicBezTo>
                <a:cubicBezTo>
                  <a:pt x="68" y="3"/>
                  <a:pt x="64" y="3"/>
                  <a:pt x="60" y="3"/>
                </a:cubicBezTo>
                <a:cubicBezTo>
                  <a:pt x="60" y="3"/>
                  <a:pt x="59" y="3"/>
                  <a:pt x="59" y="2"/>
                </a:cubicBezTo>
                <a:cubicBezTo>
                  <a:pt x="59" y="2"/>
                  <a:pt x="59" y="2"/>
                  <a:pt x="59" y="2"/>
                </a:cubicBezTo>
                <a:cubicBezTo>
                  <a:pt x="59" y="1"/>
                  <a:pt x="60" y="0"/>
                  <a:pt x="60" y="0"/>
                </a:cubicBezTo>
                <a:close/>
                <a:moveTo>
                  <a:pt x="81" y="0"/>
                </a:moveTo>
                <a:cubicBezTo>
                  <a:pt x="85" y="0"/>
                  <a:pt x="89" y="0"/>
                  <a:pt x="93" y="0"/>
                </a:cubicBezTo>
                <a:cubicBezTo>
                  <a:pt x="94" y="0"/>
                  <a:pt x="95" y="1"/>
                  <a:pt x="95" y="2"/>
                </a:cubicBezTo>
                <a:cubicBezTo>
                  <a:pt x="95" y="2"/>
                  <a:pt x="95" y="2"/>
                  <a:pt x="95" y="2"/>
                </a:cubicBezTo>
                <a:cubicBezTo>
                  <a:pt x="95" y="3"/>
                  <a:pt x="94" y="3"/>
                  <a:pt x="93" y="3"/>
                </a:cubicBezTo>
                <a:cubicBezTo>
                  <a:pt x="89" y="3"/>
                  <a:pt x="85" y="3"/>
                  <a:pt x="81" y="3"/>
                </a:cubicBezTo>
                <a:cubicBezTo>
                  <a:pt x="81" y="3"/>
                  <a:pt x="80" y="3"/>
                  <a:pt x="80" y="2"/>
                </a:cubicBezTo>
                <a:cubicBezTo>
                  <a:pt x="80" y="2"/>
                  <a:pt x="80" y="2"/>
                  <a:pt x="80" y="2"/>
                </a:cubicBezTo>
                <a:cubicBezTo>
                  <a:pt x="80" y="1"/>
                  <a:pt x="81" y="0"/>
                  <a:pt x="81" y="0"/>
                </a:cubicBezTo>
                <a:close/>
                <a:moveTo>
                  <a:pt x="102" y="0"/>
                </a:moveTo>
                <a:cubicBezTo>
                  <a:pt x="106" y="0"/>
                  <a:pt x="110" y="0"/>
                  <a:pt x="114" y="0"/>
                </a:cubicBezTo>
                <a:cubicBezTo>
                  <a:pt x="115" y="0"/>
                  <a:pt x="116" y="1"/>
                  <a:pt x="116" y="2"/>
                </a:cubicBezTo>
                <a:cubicBezTo>
                  <a:pt x="116" y="2"/>
                  <a:pt x="116" y="2"/>
                  <a:pt x="116" y="2"/>
                </a:cubicBezTo>
                <a:cubicBezTo>
                  <a:pt x="116" y="3"/>
                  <a:pt x="115" y="3"/>
                  <a:pt x="114" y="3"/>
                </a:cubicBezTo>
                <a:cubicBezTo>
                  <a:pt x="110" y="3"/>
                  <a:pt x="106" y="3"/>
                  <a:pt x="102" y="3"/>
                </a:cubicBezTo>
                <a:cubicBezTo>
                  <a:pt x="102" y="3"/>
                  <a:pt x="101" y="3"/>
                  <a:pt x="101" y="2"/>
                </a:cubicBezTo>
                <a:cubicBezTo>
                  <a:pt x="101" y="2"/>
                  <a:pt x="101" y="2"/>
                  <a:pt x="101" y="2"/>
                </a:cubicBezTo>
                <a:cubicBezTo>
                  <a:pt x="101" y="1"/>
                  <a:pt x="102" y="0"/>
                  <a:pt x="102" y="0"/>
                </a:cubicBezTo>
                <a:close/>
                <a:moveTo>
                  <a:pt x="123" y="0"/>
                </a:moveTo>
                <a:cubicBezTo>
                  <a:pt x="127" y="0"/>
                  <a:pt x="131" y="0"/>
                  <a:pt x="135" y="0"/>
                </a:cubicBezTo>
                <a:cubicBezTo>
                  <a:pt x="136" y="0"/>
                  <a:pt x="137" y="1"/>
                  <a:pt x="137" y="2"/>
                </a:cubicBezTo>
                <a:cubicBezTo>
                  <a:pt x="137" y="2"/>
                  <a:pt x="137" y="2"/>
                  <a:pt x="137" y="2"/>
                </a:cubicBezTo>
                <a:cubicBezTo>
                  <a:pt x="137" y="3"/>
                  <a:pt x="136" y="3"/>
                  <a:pt x="135" y="3"/>
                </a:cubicBezTo>
                <a:cubicBezTo>
                  <a:pt x="131" y="3"/>
                  <a:pt x="127" y="3"/>
                  <a:pt x="123" y="3"/>
                </a:cubicBezTo>
                <a:cubicBezTo>
                  <a:pt x="123" y="3"/>
                  <a:pt x="122" y="3"/>
                  <a:pt x="122" y="2"/>
                </a:cubicBezTo>
                <a:cubicBezTo>
                  <a:pt x="122" y="2"/>
                  <a:pt x="122" y="2"/>
                  <a:pt x="122" y="2"/>
                </a:cubicBezTo>
                <a:cubicBezTo>
                  <a:pt x="122" y="1"/>
                  <a:pt x="123" y="0"/>
                  <a:pt x="123" y="0"/>
                </a:cubicBezTo>
                <a:close/>
                <a:moveTo>
                  <a:pt x="144" y="0"/>
                </a:moveTo>
                <a:cubicBezTo>
                  <a:pt x="148" y="0"/>
                  <a:pt x="152" y="0"/>
                  <a:pt x="156" y="0"/>
                </a:cubicBezTo>
                <a:cubicBezTo>
                  <a:pt x="157" y="0"/>
                  <a:pt x="158" y="1"/>
                  <a:pt x="158" y="2"/>
                </a:cubicBezTo>
                <a:cubicBezTo>
                  <a:pt x="158" y="2"/>
                  <a:pt x="158" y="2"/>
                  <a:pt x="158" y="2"/>
                </a:cubicBezTo>
                <a:cubicBezTo>
                  <a:pt x="158" y="3"/>
                  <a:pt x="157" y="3"/>
                  <a:pt x="156" y="3"/>
                </a:cubicBezTo>
                <a:cubicBezTo>
                  <a:pt x="152" y="3"/>
                  <a:pt x="148" y="3"/>
                  <a:pt x="144" y="3"/>
                </a:cubicBezTo>
                <a:cubicBezTo>
                  <a:pt x="144" y="3"/>
                  <a:pt x="143" y="3"/>
                  <a:pt x="143" y="2"/>
                </a:cubicBezTo>
                <a:cubicBezTo>
                  <a:pt x="143" y="2"/>
                  <a:pt x="143" y="2"/>
                  <a:pt x="143" y="2"/>
                </a:cubicBezTo>
                <a:cubicBezTo>
                  <a:pt x="143" y="1"/>
                  <a:pt x="144" y="0"/>
                  <a:pt x="144" y="0"/>
                </a:cubicBezTo>
                <a:close/>
                <a:moveTo>
                  <a:pt x="165" y="0"/>
                </a:moveTo>
                <a:cubicBezTo>
                  <a:pt x="169" y="0"/>
                  <a:pt x="173" y="0"/>
                  <a:pt x="177" y="0"/>
                </a:cubicBezTo>
                <a:cubicBezTo>
                  <a:pt x="178" y="0"/>
                  <a:pt x="179" y="1"/>
                  <a:pt x="179" y="2"/>
                </a:cubicBezTo>
                <a:cubicBezTo>
                  <a:pt x="179" y="2"/>
                  <a:pt x="179" y="2"/>
                  <a:pt x="179" y="2"/>
                </a:cubicBezTo>
                <a:cubicBezTo>
                  <a:pt x="179" y="3"/>
                  <a:pt x="178" y="3"/>
                  <a:pt x="177" y="3"/>
                </a:cubicBezTo>
                <a:cubicBezTo>
                  <a:pt x="173" y="3"/>
                  <a:pt x="169" y="3"/>
                  <a:pt x="165" y="3"/>
                </a:cubicBezTo>
                <a:cubicBezTo>
                  <a:pt x="165" y="3"/>
                  <a:pt x="164" y="3"/>
                  <a:pt x="164" y="2"/>
                </a:cubicBezTo>
                <a:cubicBezTo>
                  <a:pt x="164" y="2"/>
                  <a:pt x="164" y="2"/>
                  <a:pt x="164" y="2"/>
                </a:cubicBezTo>
                <a:cubicBezTo>
                  <a:pt x="164" y="1"/>
                  <a:pt x="165" y="0"/>
                  <a:pt x="165" y="0"/>
                </a:cubicBezTo>
                <a:close/>
              </a:path>
            </a:pathLst>
          </a:custGeom>
          <a:solidFill>
            <a:srgbClr val="F7BF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42" name="Freeform 30"/>
          <p:cNvSpPr>
            <a:spLocks/>
          </p:cNvSpPr>
          <p:nvPr/>
        </p:nvSpPr>
        <p:spPr bwMode="auto">
          <a:xfrm>
            <a:off x="1927399" y="3278212"/>
            <a:ext cx="1736725" cy="955675"/>
          </a:xfrm>
          <a:custGeom>
            <a:avLst/>
            <a:gdLst>
              <a:gd name="T0" fmla="*/ 0 w 1094"/>
              <a:gd name="T1" fmla="*/ 0 h 602"/>
              <a:gd name="T2" fmla="*/ 911 w 1094"/>
              <a:gd name="T3" fmla="*/ 0 h 602"/>
              <a:gd name="T4" fmla="*/ 1094 w 1094"/>
              <a:gd name="T5" fmla="*/ 304 h 602"/>
              <a:gd name="T6" fmla="*/ 911 w 1094"/>
              <a:gd name="T7" fmla="*/ 602 h 602"/>
              <a:gd name="T8" fmla="*/ 0 w 1094"/>
              <a:gd name="T9" fmla="*/ 602 h 602"/>
              <a:gd name="T10" fmla="*/ 0 w 1094"/>
              <a:gd name="T11" fmla="*/ 0 h 602"/>
              <a:gd name="T12" fmla="*/ 0 w 1094"/>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094" h="602">
                <a:moveTo>
                  <a:pt x="0" y="0"/>
                </a:moveTo>
                <a:lnTo>
                  <a:pt x="911" y="0"/>
                </a:lnTo>
                <a:lnTo>
                  <a:pt x="1094" y="304"/>
                </a:lnTo>
                <a:lnTo>
                  <a:pt x="911" y="602"/>
                </a:lnTo>
                <a:lnTo>
                  <a:pt x="0" y="602"/>
                </a:lnTo>
                <a:lnTo>
                  <a:pt x="0" y="0"/>
                </a:lnTo>
                <a:lnTo>
                  <a:pt x="0" y="0"/>
                </a:lnTo>
                <a:close/>
              </a:path>
            </a:pathLst>
          </a:custGeom>
          <a:solidFill>
            <a:srgbClr val="C9CA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43" name="Freeform 31"/>
          <p:cNvSpPr>
            <a:spLocks/>
          </p:cNvSpPr>
          <p:nvPr/>
        </p:nvSpPr>
        <p:spPr bwMode="auto">
          <a:xfrm>
            <a:off x="1619424" y="3178199"/>
            <a:ext cx="1954212" cy="955675"/>
          </a:xfrm>
          <a:custGeom>
            <a:avLst/>
            <a:gdLst>
              <a:gd name="T0" fmla="*/ 0 w 1231"/>
              <a:gd name="T1" fmla="*/ 0 h 602"/>
              <a:gd name="T2" fmla="*/ 1047 w 1231"/>
              <a:gd name="T3" fmla="*/ 0 h 602"/>
              <a:gd name="T4" fmla="*/ 1231 w 1231"/>
              <a:gd name="T5" fmla="*/ 299 h 602"/>
              <a:gd name="T6" fmla="*/ 1047 w 1231"/>
              <a:gd name="T7" fmla="*/ 602 h 602"/>
              <a:gd name="T8" fmla="*/ 0 w 1231"/>
              <a:gd name="T9" fmla="*/ 602 h 602"/>
              <a:gd name="T10" fmla="*/ 0 w 1231"/>
              <a:gd name="T11" fmla="*/ 0 h 602"/>
              <a:gd name="T12" fmla="*/ 0 w 123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231" h="602">
                <a:moveTo>
                  <a:pt x="0" y="0"/>
                </a:moveTo>
                <a:lnTo>
                  <a:pt x="1047" y="0"/>
                </a:lnTo>
                <a:lnTo>
                  <a:pt x="1231" y="299"/>
                </a:lnTo>
                <a:lnTo>
                  <a:pt x="1047" y="602"/>
                </a:lnTo>
                <a:lnTo>
                  <a:pt x="0" y="602"/>
                </a:lnTo>
                <a:lnTo>
                  <a:pt x="0" y="0"/>
                </a:lnTo>
                <a:lnTo>
                  <a:pt x="0" y="0"/>
                </a:lnTo>
                <a:close/>
              </a:path>
            </a:pathLst>
          </a:custGeom>
          <a:solidFill>
            <a:srgbClr val="4B57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44" name="Freeform 32"/>
          <p:cNvSpPr>
            <a:spLocks noEditPoints="1"/>
          </p:cNvSpPr>
          <p:nvPr/>
        </p:nvSpPr>
        <p:spPr bwMode="auto">
          <a:xfrm>
            <a:off x="1619424" y="3710012"/>
            <a:ext cx="1836737" cy="366713"/>
          </a:xfrm>
          <a:custGeom>
            <a:avLst/>
            <a:gdLst>
              <a:gd name="T0" fmla="*/ 30 w 221"/>
              <a:gd name="T1" fmla="*/ 44 h 44"/>
              <a:gd name="T2" fmla="*/ 32 w 221"/>
              <a:gd name="T3" fmla="*/ 42 h 44"/>
              <a:gd name="T4" fmla="*/ 19 w 221"/>
              <a:gd name="T5" fmla="*/ 40 h 44"/>
              <a:gd name="T6" fmla="*/ 17 w 221"/>
              <a:gd name="T7" fmla="*/ 42 h 44"/>
              <a:gd name="T8" fmla="*/ 196 w 221"/>
              <a:gd name="T9" fmla="*/ 42 h 44"/>
              <a:gd name="T10" fmla="*/ 198 w 221"/>
              <a:gd name="T11" fmla="*/ 36 h 44"/>
              <a:gd name="T12" fmla="*/ 195 w 221"/>
              <a:gd name="T13" fmla="*/ 37 h 44"/>
              <a:gd name="T14" fmla="*/ 186 w 221"/>
              <a:gd name="T15" fmla="*/ 40 h 44"/>
              <a:gd name="T16" fmla="*/ 185 w 221"/>
              <a:gd name="T17" fmla="*/ 42 h 44"/>
              <a:gd name="T18" fmla="*/ 194 w 221"/>
              <a:gd name="T19" fmla="*/ 44 h 44"/>
              <a:gd name="T20" fmla="*/ 217 w 221"/>
              <a:gd name="T21" fmla="*/ 1 h 44"/>
              <a:gd name="T22" fmla="*/ 212 w 221"/>
              <a:gd name="T23" fmla="*/ 13 h 44"/>
              <a:gd name="T24" fmla="*/ 214 w 221"/>
              <a:gd name="T25" fmla="*/ 12 h 44"/>
              <a:gd name="T26" fmla="*/ 219 w 221"/>
              <a:gd name="T27" fmla="*/ 0 h 44"/>
              <a:gd name="T28" fmla="*/ 217 w 221"/>
              <a:gd name="T29" fmla="*/ 1 h 44"/>
              <a:gd name="T30" fmla="*/ 200 w 221"/>
              <a:gd name="T31" fmla="*/ 29 h 44"/>
              <a:gd name="T32" fmla="*/ 201 w 221"/>
              <a:gd name="T33" fmla="*/ 31 h 44"/>
              <a:gd name="T34" fmla="*/ 209 w 221"/>
              <a:gd name="T35" fmla="*/ 20 h 44"/>
              <a:gd name="T36" fmla="*/ 209 w 221"/>
              <a:gd name="T37" fmla="*/ 18 h 44"/>
              <a:gd name="T38" fmla="*/ 0 w 221"/>
              <a:gd name="T39" fmla="*/ 40 h 44"/>
              <a:gd name="T40" fmla="*/ 8 w 221"/>
              <a:gd name="T41" fmla="*/ 44 h 44"/>
              <a:gd name="T42" fmla="*/ 10 w 221"/>
              <a:gd name="T43" fmla="*/ 42 h 44"/>
              <a:gd name="T44" fmla="*/ 0 w 221"/>
              <a:gd name="T45" fmla="*/ 40 h 44"/>
              <a:gd name="T46" fmla="*/ 51 w 221"/>
              <a:gd name="T47" fmla="*/ 44 h 44"/>
              <a:gd name="T48" fmla="*/ 53 w 221"/>
              <a:gd name="T49" fmla="*/ 42 h 44"/>
              <a:gd name="T50" fmla="*/ 40 w 221"/>
              <a:gd name="T51" fmla="*/ 40 h 44"/>
              <a:gd name="T52" fmla="*/ 38 w 221"/>
              <a:gd name="T53" fmla="*/ 42 h 44"/>
              <a:gd name="T54" fmla="*/ 60 w 221"/>
              <a:gd name="T55" fmla="*/ 44 h 44"/>
              <a:gd name="T56" fmla="*/ 74 w 221"/>
              <a:gd name="T57" fmla="*/ 42 h 44"/>
              <a:gd name="T58" fmla="*/ 72 w 221"/>
              <a:gd name="T59" fmla="*/ 40 h 44"/>
              <a:gd name="T60" fmla="*/ 59 w 221"/>
              <a:gd name="T61" fmla="*/ 42 h 44"/>
              <a:gd name="T62" fmla="*/ 60 w 221"/>
              <a:gd name="T63" fmla="*/ 44 h 44"/>
              <a:gd name="T64" fmla="*/ 93 w 221"/>
              <a:gd name="T65" fmla="*/ 44 h 44"/>
              <a:gd name="T66" fmla="*/ 95 w 221"/>
              <a:gd name="T67" fmla="*/ 42 h 44"/>
              <a:gd name="T68" fmla="*/ 81 w 221"/>
              <a:gd name="T69" fmla="*/ 40 h 44"/>
              <a:gd name="T70" fmla="*/ 80 w 221"/>
              <a:gd name="T71" fmla="*/ 42 h 44"/>
              <a:gd name="T72" fmla="*/ 102 w 221"/>
              <a:gd name="T73" fmla="*/ 44 h 44"/>
              <a:gd name="T74" fmla="*/ 116 w 221"/>
              <a:gd name="T75" fmla="*/ 42 h 44"/>
              <a:gd name="T76" fmla="*/ 114 w 221"/>
              <a:gd name="T77" fmla="*/ 40 h 44"/>
              <a:gd name="T78" fmla="*/ 101 w 221"/>
              <a:gd name="T79" fmla="*/ 42 h 44"/>
              <a:gd name="T80" fmla="*/ 102 w 221"/>
              <a:gd name="T81" fmla="*/ 44 h 44"/>
              <a:gd name="T82" fmla="*/ 135 w 221"/>
              <a:gd name="T83" fmla="*/ 44 h 44"/>
              <a:gd name="T84" fmla="*/ 137 w 221"/>
              <a:gd name="T85" fmla="*/ 42 h 44"/>
              <a:gd name="T86" fmla="*/ 123 w 221"/>
              <a:gd name="T87" fmla="*/ 40 h 44"/>
              <a:gd name="T88" fmla="*/ 122 w 221"/>
              <a:gd name="T89" fmla="*/ 42 h 44"/>
              <a:gd name="T90" fmla="*/ 144 w 221"/>
              <a:gd name="T91" fmla="*/ 44 h 44"/>
              <a:gd name="T92" fmla="*/ 158 w 221"/>
              <a:gd name="T93" fmla="*/ 42 h 44"/>
              <a:gd name="T94" fmla="*/ 156 w 221"/>
              <a:gd name="T95" fmla="*/ 40 h 44"/>
              <a:gd name="T96" fmla="*/ 143 w 221"/>
              <a:gd name="T97" fmla="*/ 42 h 44"/>
              <a:gd name="T98" fmla="*/ 144 w 221"/>
              <a:gd name="T99" fmla="*/ 44 h 44"/>
              <a:gd name="T100" fmla="*/ 177 w 221"/>
              <a:gd name="T101" fmla="*/ 44 h 44"/>
              <a:gd name="T102" fmla="*/ 179 w 221"/>
              <a:gd name="T103" fmla="*/ 42 h 44"/>
              <a:gd name="T104" fmla="*/ 165 w 221"/>
              <a:gd name="T105" fmla="*/ 40 h 44"/>
              <a:gd name="T106" fmla="*/ 164 w 221"/>
              <a:gd name="T107" fmla="*/ 4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1" h="44">
                <a:moveTo>
                  <a:pt x="19" y="44"/>
                </a:moveTo>
                <a:cubicBezTo>
                  <a:pt x="22" y="44"/>
                  <a:pt x="26" y="44"/>
                  <a:pt x="30" y="44"/>
                </a:cubicBezTo>
                <a:cubicBezTo>
                  <a:pt x="31" y="44"/>
                  <a:pt x="32" y="43"/>
                  <a:pt x="32" y="42"/>
                </a:cubicBezTo>
                <a:cubicBezTo>
                  <a:pt x="32" y="42"/>
                  <a:pt x="32" y="42"/>
                  <a:pt x="32" y="42"/>
                </a:cubicBezTo>
                <a:cubicBezTo>
                  <a:pt x="32" y="41"/>
                  <a:pt x="31" y="40"/>
                  <a:pt x="30" y="40"/>
                </a:cubicBezTo>
                <a:cubicBezTo>
                  <a:pt x="26" y="40"/>
                  <a:pt x="22" y="40"/>
                  <a:pt x="19" y="40"/>
                </a:cubicBezTo>
                <a:cubicBezTo>
                  <a:pt x="18" y="40"/>
                  <a:pt x="17" y="41"/>
                  <a:pt x="17" y="42"/>
                </a:cubicBezTo>
                <a:cubicBezTo>
                  <a:pt x="17" y="42"/>
                  <a:pt x="17" y="42"/>
                  <a:pt x="17" y="42"/>
                </a:cubicBezTo>
                <a:cubicBezTo>
                  <a:pt x="17" y="43"/>
                  <a:pt x="18" y="44"/>
                  <a:pt x="19" y="44"/>
                </a:cubicBezTo>
                <a:close/>
                <a:moveTo>
                  <a:pt x="196" y="42"/>
                </a:moveTo>
                <a:cubicBezTo>
                  <a:pt x="196" y="41"/>
                  <a:pt x="197" y="40"/>
                  <a:pt x="198" y="38"/>
                </a:cubicBezTo>
                <a:cubicBezTo>
                  <a:pt x="199" y="38"/>
                  <a:pt x="198" y="36"/>
                  <a:pt x="198" y="36"/>
                </a:cubicBezTo>
                <a:cubicBezTo>
                  <a:pt x="198" y="36"/>
                  <a:pt x="198" y="36"/>
                  <a:pt x="198" y="36"/>
                </a:cubicBezTo>
                <a:cubicBezTo>
                  <a:pt x="197" y="36"/>
                  <a:pt x="196" y="36"/>
                  <a:pt x="195" y="37"/>
                </a:cubicBezTo>
                <a:cubicBezTo>
                  <a:pt x="195" y="38"/>
                  <a:pt x="194" y="39"/>
                  <a:pt x="193" y="40"/>
                </a:cubicBezTo>
                <a:cubicBezTo>
                  <a:pt x="190" y="40"/>
                  <a:pt x="190" y="40"/>
                  <a:pt x="186" y="40"/>
                </a:cubicBezTo>
                <a:cubicBezTo>
                  <a:pt x="186" y="40"/>
                  <a:pt x="185" y="41"/>
                  <a:pt x="185" y="42"/>
                </a:cubicBezTo>
                <a:cubicBezTo>
                  <a:pt x="185" y="42"/>
                  <a:pt x="185" y="42"/>
                  <a:pt x="185" y="42"/>
                </a:cubicBezTo>
                <a:cubicBezTo>
                  <a:pt x="185" y="43"/>
                  <a:pt x="186" y="44"/>
                  <a:pt x="186" y="44"/>
                </a:cubicBezTo>
                <a:cubicBezTo>
                  <a:pt x="194" y="44"/>
                  <a:pt x="194" y="44"/>
                  <a:pt x="194" y="44"/>
                </a:cubicBezTo>
                <a:cubicBezTo>
                  <a:pt x="195" y="44"/>
                  <a:pt x="195" y="43"/>
                  <a:pt x="196" y="42"/>
                </a:cubicBezTo>
                <a:close/>
                <a:moveTo>
                  <a:pt x="217" y="1"/>
                </a:moveTo>
                <a:cubicBezTo>
                  <a:pt x="215" y="4"/>
                  <a:pt x="213" y="7"/>
                  <a:pt x="211" y="11"/>
                </a:cubicBezTo>
                <a:cubicBezTo>
                  <a:pt x="211" y="12"/>
                  <a:pt x="211" y="13"/>
                  <a:pt x="212" y="13"/>
                </a:cubicBezTo>
                <a:cubicBezTo>
                  <a:pt x="212" y="13"/>
                  <a:pt x="212" y="13"/>
                  <a:pt x="212" y="13"/>
                </a:cubicBezTo>
                <a:cubicBezTo>
                  <a:pt x="212" y="14"/>
                  <a:pt x="213" y="13"/>
                  <a:pt x="214" y="12"/>
                </a:cubicBezTo>
                <a:cubicBezTo>
                  <a:pt x="216" y="9"/>
                  <a:pt x="218" y="6"/>
                  <a:pt x="220" y="2"/>
                </a:cubicBezTo>
                <a:cubicBezTo>
                  <a:pt x="221" y="2"/>
                  <a:pt x="220" y="1"/>
                  <a:pt x="219" y="0"/>
                </a:cubicBezTo>
                <a:cubicBezTo>
                  <a:pt x="219" y="0"/>
                  <a:pt x="219" y="0"/>
                  <a:pt x="219" y="0"/>
                </a:cubicBezTo>
                <a:cubicBezTo>
                  <a:pt x="219" y="0"/>
                  <a:pt x="218" y="0"/>
                  <a:pt x="217" y="1"/>
                </a:cubicBezTo>
                <a:close/>
                <a:moveTo>
                  <a:pt x="206" y="19"/>
                </a:moveTo>
                <a:cubicBezTo>
                  <a:pt x="204" y="22"/>
                  <a:pt x="202" y="25"/>
                  <a:pt x="200" y="29"/>
                </a:cubicBezTo>
                <a:cubicBezTo>
                  <a:pt x="200" y="29"/>
                  <a:pt x="200" y="30"/>
                  <a:pt x="201" y="31"/>
                </a:cubicBezTo>
                <a:cubicBezTo>
                  <a:pt x="201" y="31"/>
                  <a:pt x="201" y="31"/>
                  <a:pt x="201" y="31"/>
                </a:cubicBezTo>
                <a:cubicBezTo>
                  <a:pt x="201" y="31"/>
                  <a:pt x="203" y="31"/>
                  <a:pt x="203" y="30"/>
                </a:cubicBezTo>
                <a:cubicBezTo>
                  <a:pt x="205" y="27"/>
                  <a:pt x="207" y="24"/>
                  <a:pt x="209" y="20"/>
                </a:cubicBezTo>
                <a:cubicBezTo>
                  <a:pt x="210" y="20"/>
                  <a:pt x="209" y="19"/>
                  <a:pt x="209" y="18"/>
                </a:cubicBezTo>
                <a:cubicBezTo>
                  <a:pt x="209" y="18"/>
                  <a:pt x="209" y="18"/>
                  <a:pt x="209" y="18"/>
                </a:cubicBezTo>
                <a:cubicBezTo>
                  <a:pt x="208" y="18"/>
                  <a:pt x="207" y="18"/>
                  <a:pt x="206" y="19"/>
                </a:cubicBezTo>
                <a:close/>
                <a:moveTo>
                  <a:pt x="0" y="40"/>
                </a:moveTo>
                <a:cubicBezTo>
                  <a:pt x="0" y="44"/>
                  <a:pt x="0" y="44"/>
                  <a:pt x="0" y="44"/>
                </a:cubicBezTo>
                <a:cubicBezTo>
                  <a:pt x="8" y="44"/>
                  <a:pt x="8" y="44"/>
                  <a:pt x="8" y="44"/>
                </a:cubicBezTo>
                <a:cubicBezTo>
                  <a:pt x="9" y="44"/>
                  <a:pt x="10" y="43"/>
                  <a:pt x="10" y="42"/>
                </a:cubicBezTo>
                <a:cubicBezTo>
                  <a:pt x="10" y="42"/>
                  <a:pt x="10" y="42"/>
                  <a:pt x="10" y="42"/>
                </a:cubicBezTo>
                <a:cubicBezTo>
                  <a:pt x="10" y="41"/>
                  <a:pt x="9" y="40"/>
                  <a:pt x="8" y="40"/>
                </a:cubicBezTo>
                <a:cubicBezTo>
                  <a:pt x="0" y="40"/>
                  <a:pt x="0" y="40"/>
                  <a:pt x="0" y="40"/>
                </a:cubicBezTo>
                <a:close/>
                <a:moveTo>
                  <a:pt x="40" y="44"/>
                </a:moveTo>
                <a:cubicBezTo>
                  <a:pt x="43" y="44"/>
                  <a:pt x="47" y="44"/>
                  <a:pt x="51" y="44"/>
                </a:cubicBezTo>
                <a:cubicBezTo>
                  <a:pt x="52" y="44"/>
                  <a:pt x="53" y="43"/>
                  <a:pt x="53" y="42"/>
                </a:cubicBezTo>
                <a:cubicBezTo>
                  <a:pt x="53" y="42"/>
                  <a:pt x="53" y="42"/>
                  <a:pt x="53" y="42"/>
                </a:cubicBezTo>
                <a:cubicBezTo>
                  <a:pt x="53" y="41"/>
                  <a:pt x="52" y="40"/>
                  <a:pt x="51" y="40"/>
                </a:cubicBezTo>
                <a:cubicBezTo>
                  <a:pt x="47" y="40"/>
                  <a:pt x="43" y="40"/>
                  <a:pt x="40" y="40"/>
                </a:cubicBezTo>
                <a:cubicBezTo>
                  <a:pt x="39" y="40"/>
                  <a:pt x="38" y="41"/>
                  <a:pt x="38" y="42"/>
                </a:cubicBezTo>
                <a:cubicBezTo>
                  <a:pt x="38" y="42"/>
                  <a:pt x="38" y="42"/>
                  <a:pt x="38" y="42"/>
                </a:cubicBezTo>
                <a:cubicBezTo>
                  <a:pt x="38" y="43"/>
                  <a:pt x="39" y="44"/>
                  <a:pt x="40" y="44"/>
                </a:cubicBezTo>
                <a:close/>
                <a:moveTo>
                  <a:pt x="60" y="44"/>
                </a:moveTo>
                <a:cubicBezTo>
                  <a:pt x="64" y="44"/>
                  <a:pt x="68" y="44"/>
                  <a:pt x="72" y="44"/>
                </a:cubicBezTo>
                <a:cubicBezTo>
                  <a:pt x="73" y="44"/>
                  <a:pt x="74" y="43"/>
                  <a:pt x="74" y="42"/>
                </a:cubicBezTo>
                <a:cubicBezTo>
                  <a:pt x="74" y="42"/>
                  <a:pt x="74" y="42"/>
                  <a:pt x="74" y="42"/>
                </a:cubicBezTo>
                <a:cubicBezTo>
                  <a:pt x="74" y="41"/>
                  <a:pt x="73" y="40"/>
                  <a:pt x="72" y="40"/>
                </a:cubicBezTo>
                <a:cubicBezTo>
                  <a:pt x="68" y="40"/>
                  <a:pt x="64" y="40"/>
                  <a:pt x="60" y="40"/>
                </a:cubicBezTo>
                <a:cubicBezTo>
                  <a:pt x="60" y="40"/>
                  <a:pt x="59" y="41"/>
                  <a:pt x="59" y="42"/>
                </a:cubicBezTo>
                <a:cubicBezTo>
                  <a:pt x="59" y="42"/>
                  <a:pt x="59" y="42"/>
                  <a:pt x="59" y="42"/>
                </a:cubicBezTo>
                <a:cubicBezTo>
                  <a:pt x="59" y="43"/>
                  <a:pt x="60" y="44"/>
                  <a:pt x="60" y="44"/>
                </a:cubicBezTo>
                <a:close/>
                <a:moveTo>
                  <a:pt x="81" y="44"/>
                </a:moveTo>
                <a:cubicBezTo>
                  <a:pt x="85" y="44"/>
                  <a:pt x="89" y="44"/>
                  <a:pt x="93" y="44"/>
                </a:cubicBezTo>
                <a:cubicBezTo>
                  <a:pt x="94" y="44"/>
                  <a:pt x="95" y="43"/>
                  <a:pt x="95" y="42"/>
                </a:cubicBezTo>
                <a:cubicBezTo>
                  <a:pt x="95" y="42"/>
                  <a:pt x="95" y="42"/>
                  <a:pt x="95" y="42"/>
                </a:cubicBezTo>
                <a:cubicBezTo>
                  <a:pt x="95" y="41"/>
                  <a:pt x="94" y="40"/>
                  <a:pt x="93" y="40"/>
                </a:cubicBezTo>
                <a:cubicBezTo>
                  <a:pt x="89" y="40"/>
                  <a:pt x="85" y="40"/>
                  <a:pt x="81" y="40"/>
                </a:cubicBezTo>
                <a:cubicBezTo>
                  <a:pt x="81" y="40"/>
                  <a:pt x="80" y="41"/>
                  <a:pt x="80" y="42"/>
                </a:cubicBezTo>
                <a:cubicBezTo>
                  <a:pt x="80" y="42"/>
                  <a:pt x="80" y="42"/>
                  <a:pt x="80" y="42"/>
                </a:cubicBezTo>
                <a:cubicBezTo>
                  <a:pt x="80" y="43"/>
                  <a:pt x="81" y="44"/>
                  <a:pt x="81" y="44"/>
                </a:cubicBezTo>
                <a:close/>
                <a:moveTo>
                  <a:pt x="102" y="44"/>
                </a:moveTo>
                <a:cubicBezTo>
                  <a:pt x="106" y="44"/>
                  <a:pt x="110" y="44"/>
                  <a:pt x="114" y="44"/>
                </a:cubicBezTo>
                <a:cubicBezTo>
                  <a:pt x="115" y="44"/>
                  <a:pt x="116" y="43"/>
                  <a:pt x="116" y="42"/>
                </a:cubicBezTo>
                <a:cubicBezTo>
                  <a:pt x="116" y="42"/>
                  <a:pt x="116" y="42"/>
                  <a:pt x="116" y="42"/>
                </a:cubicBezTo>
                <a:cubicBezTo>
                  <a:pt x="116" y="41"/>
                  <a:pt x="115" y="40"/>
                  <a:pt x="114" y="40"/>
                </a:cubicBezTo>
                <a:cubicBezTo>
                  <a:pt x="110" y="40"/>
                  <a:pt x="106" y="40"/>
                  <a:pt x="102" y="40"/>
                </a:cubicBezTo>
                <a:cubicBezTo>
                  <a:pt x="102" y="40"/>
                  <a:pt x="101" y="41"/>
                  <a:pt x="101" y="42"/>
                </a:cubicBezTo>
                <a:cubicBezTo>
                  <a:pt x="101" y="42"/>
                  <a:pt x="101" y="42"/>
                  <a:pt x="101" y="42"/>
                </a:cubicBezTo>
                <a:cubicBezTo>
                  <a:pt x="101" y="43"/>
                  <a:pt x="102" y="44"/>
                  <a:pt x="102" y="44"/>
                </a:cubicBezTo>
                <a:close/>
                <a:moveTo>
                  <a:pt x="123" y="44"/>
                </a:moveTo>
                <a:cubicBezTo>
                  <a:pt x="127" y="44"/>
                  <a:pt x="131" y="44"/>
                  <a:pt x="135" y="44"/>
                </a:cubicBezTo>
                <a:cubicBezTo>
                  <a:pt x="136" y="44"/>
                  <a:pt x="137" y="43"/>
                  <a:pt x="137" y="42"/>
                </a:cubicBezTo>
                <a:cubicBezTo>
                  <a:pt x="137" y="42"/>
                  <a:pt x="137" y="42"/>
                  <a:pt x="137" y="42"/>
                </a:cubicBezTo>
                <a:cubicBezTo>
                  <a:pt x="137" y="41"/>
                  <a:pt x="136" y="40"/>
                  <a:pt x="135" y="40"/>
                </a:cubicBezTo>
                <a:cubicBezTo>
                  <a:pt x="131" y="40"/>
                  <a:pt x="127" y="40"/>
                  <a:pt x="123" y="40"/>
                </a:cubicBezTo>
                <a:cubicBezTo>
                  <a:pt x="123" y="40"/>
                  <a:pt x="122" y="41"/>
                  <a:pt x="122" y="42"/>
                </a:cubicBezTo>
                <a:cubicBezTo>
                  <a:pt x="122" y="42"/>
                  <a:pt x="122" y="42"/>
                  <a:pt x="122" y="42"/>
                </a:cubicBezTo>
                <a:cubicBezTo>
                  <a:pt x="122" y="43"/>
                  <a:pt x="123" y="44"/>
                  <a:pt x="123" y="44"/>
                </a:cubicBezTo>
                <a:close/>
                <a:moveTo>
                  <a:pt x="144" y="44"/>
                </a:moveTo>
                <a:cubicBezTo>
                  <a:pt x="148" y="44"/>
                  <a:pt x="152" y="44"/>
                  <a:pt x="156" y="44"/>
                </a:cubicBezTo>
                <a:cubicBezTo>
                  <a:pt x="157" y="44"/>
                  <a:pt x="158" y="43"/>
                  <a:pt x="158" y="42"/>
                </a:cubicBezTo>
                <a:cubicBezTo>
                  <a:pt x="158" y="42"/>
                  <a:pt x="158" y="42"/>
                  <a:pt x="158" y="42"/>
                </a:cubicBezTo>
                <a:cubicBezTo>
                  <a:pt x="158" y="41"/>
                  <a:pt x="157" y="40"/>
                  <a:pt x="156" y="40"/>
                </a:cubicBezTo>
                <a:cubicBezTo>
                  <a:pt x="152" y="40"/>
                  <a:pt x="148" y="40"/>
                  <a:pt x="144" y="40"/>
                </a:cubicBezTo>
                <a:cubicBezTo>
                  <a:pt x="144" y="40"/>
                  <a:pt x="143" y="41"/>
                  <a:pt x="143" y="42"/>
                </a:cubicBezTo>
                <a:cubicBezTo>
                  <a:pt x="143" y="42"/>
                  <a:pt x="143" y="42"/>
                  <a:pt x="143" y="42"/>
                </a:cubicBezTo>
                <a:cubicBezTo>
                  <a:pt x="143" y="43"/>
                  <a:pt x="144" y="44"/>
                  <a:pt x="144" y="44"/>
                </a:cubicBezTo>
                <a:close/>
                <a:moveTo>
                  <a:pt x="165" y="44"/>
                </a:moveTo>
                <a:cubicBezTo>
                  <a:pt x="169" y="44"/>
                  <a:pt x="173" y="44"/>
                  <a:pt x="177" y="44"/>
                </a:cubicBezTo>
                <a:cubicBezTo>
                  <a:pt x="178" y="44"/>
                  <a:pt x="179" y="43"/>
                  <a:pt x="179" y="42"/>
                </a:cubicBezTo>
                <a:cubicBezTo>
                  <a:pt x="179" y="42"/>
                  <a:pt x="179" y="42"/>
                  <a:pt x="179" y="42"/>
                </a:cubicBezTo>
                <a:cubicBezTo>
                  <a:pt x="179" y="41"/>
                  <a:pt x="178" y="40"/>
                  <a:pt x="177" y="40"/>
                </a:cubicBezTo>
                <a:cubicBezTo>
                  <a:pt x="173" y="40"/>
                  <a:pt x="169" y="40"/>
                  <a:pt x="165" y="40"/>
                </a:cubicBezTo>
                <a:cubicBezTo>
                  <a:pt x="165" y="40"/>
                  <a:pt x="164" y="41"/>
                  <a:pt x="164" y="42"/>
                </a:cubicBezTo>
                <a:cubicBezTo>
                  <a:pt x="164" y="42"/>
                  <a:pt x="164" y="42"/>
                  <a:pt x="164" y="42"/>
                </a:cubicBezTo>
                <a:cubicBezTo>
                  <a:pt x="164" y="43"/>
                  <a:pt x="165" y="44"/>
                  <a:pt x="165" y="44"/>
                </a:cubicBezTo>
                <a:close/>
              </a:path>
            </a:pathLst>
          </a:custGeom>
          <a:solidFill>
            <a:srgbClr val="75797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45" name="Freeform 33"/>
          <p:cNvSpPr>
            <a:spLocks noEditPoints="1"/>
          </p:cNvSpPr>
          <p:nvPr/>
        </p:nvSpPr>
        <p:spPr bwMode="auto">
          <a:xfrm>
            <a:off x="1619424" y="3236937"/>
            <a:ext cx="1870075" cy="431800"/>
          </a:xfrm>
          <a:custGeom>
            <a:avLst/>
            <a:gdLst>
              <a:gd name="T0" fmla="*/ 30 w 225"/>
              <a:gd name="T1" fmla="*/ 0 h 52"/>
              <a:gd name="T2" fmla="*/ 32 w 225"/>
              <a:gd name="T3" fmla="*/ 2 h 52"/>
              <a:gd name="T4" fmla="*/ 19 w 225"/>
              <a:gd name="T5" fmla="*/ 4 h 52"/>
              <a:gd name="T6" fmla="*/ 17 w 225"/>
              <a:gd name="T7" fmla="*/ 2 h 52"/>
              <a:gd name="T8" fmla="*/ 224 w 225"/>
              <a:gd name="T9" fmla="*/ 48 h 52"/>
              <a:gd name="T10" fmla="*/ 225 w 225"/>
              <a:gd name="T11" fmla="*/ 50 h 52"/>
              <a:gd name="T12" fmla="*/ 224 w 225"/>
              <a:gd name="T13" fmla="*/ 52 h 52"/>
              <a:gd name="T14" fmla="*/ 222 w 225"/>
              <a:gd name="T15" fmla="*/ 51 h 52"/>
              <a:gd name="T16" fmla="*/ 224 w 225"/>
              <a:gd name="T17" fmla="*/ 48 h 52"/>
              <a:gd name="T18" fmla="*/ 198 w 225"/>
              <a:gd name="T19" fmla="*/ 6 h 52"/>
              <a:gd name="T20" fmla="*/ 198 w 225"/>
              <a:gd name="T21" fmla="*/ 8 h 52"/>
              <a:gd name="T22" fmla="*/ 193 w 225"/>
              <a:gd name="T23" fmla="*/ 4 h 52"/>
              <a:gd name="T24" fmla="*/ 185 w 225"/>
              <a:gd name="T25" fmla="*/ 2 h 52"/>
              <a:gd name="T26" fmla="*/ 186 w 225"/>
              <a:gd name="T27" fmla="*/ 0 h 52"/>
              <a:gd name="T28" fmla="*/ 196 w 225"/>
              <a:gd name="T29" fmla="*/ 1 h 52"/>
              <a:gd name="T30" fmla="*/ 211 w 225"/>
              <a:gd name="T31" fmla="*/ 33 h 52"/>
              <a:gd name="T32" fmla="*/ 212 w 225"/>
              <a:gd name="T33" fmla="*/ 31 h 52"/>
              <a:gd name="T34" fmla="*/ 220 w 225"/>
              <a:gd name="T35" fmla="*/ 41 h 52"/>
              <a:gd name="T36" fmla="*/ 219 w 225"/>
              <a:gd name="T37" fmla="*/ 44 h 52"/>
              <a:gd name="T38" fmla="*/ 206 w 225"/>
              <a:gd name="T39" fmla="*/ 25 h 52"/>
              <a:gd name="T40" fmla="*/ 201 w 225"/>
              <a:gd name="T41" fmla="*/ 13 h 52"/>
              <a:gd name="T42" fmla="*/ 203 w 225"/>
              <a:gd name="T43" fmla="*/ 13 h 52"/>
              <a:gd name="T44" fmla="*/ 209 w 225"/>
              <a:gd name="T45" fmla="*/ 26 h 52"/>
              <a:gd name="T46" fmla="*/ 206 w 225"/>
              <a:gd name="T47" fmla="*/ 25 h 52"/>
              <a:gd name="T48" fmla="*/ 0 w 225"/>
              <a:gd name="T49" fmla="*/ 0 h 52"/>
              <a:gd name="T50" fmla="*/ 10 w 225"/>
              <a:gd name="T51" fmla="*/ 2 h 52"/>
              <a:gd name="T52" fmla="*/ 8 w 225"/>
              <a:gd name="T53" fmla="*/ 4 h 52"/>
              <a:gd name="T54" fmla="*/ 40 w 225"/>
              <a:gd name="T55" fmla="*/ 0 h 52"/>
              <a:gd name="T56" fmla="*/ 53 w 225"/>
              <a:gd name="T57" fmla="*/ 2 h 52"/>
              <a:gd name="T58" fmla="*/ 51 w 225"/>
              <a:gd name="T59" fmla="*/ 4 h 52"/>
              <a:gd name="T60" fmla="*/ 38 w 225"/>
              <a:gd name="T61" fmla="*/ 2 h 52"/>
              <a:gd name="T62" fmla="*/ 40 w 225"/>
              <a:gd name="T63" fmla="*/ 0 h 52"/>
              <a:gd name="T64" fmla="*/ 72 w 225"/>
              <a:gd name="T65" fmla="*/ 0 h 52"/>
              <a:gd name="T66" fmla="*/ 74 w 225"/>
              <a:gd name="T67" fmla="*/ 2 h 52"/>
              <a:gd name="T68" fmla="*/ 60 w 225"/>
              <a:gd name="T69" fmla="*/ 4 h 52"/>
              <a:gd name="T70" fmla="*/ 59 w 225"/>
              <a:gd name="T71" fmla="*/ 2 h 52"/>
              <a:gd name="T72" fmla="*/ 81 w 225"/>
              <a:gd name="T73" fmla="*/ 0 h 52"/>
              <a:gd name="T74" fmla="*/ 95 w 225"/>
              <a:gd name="T75" fmla="*/ 2 h 52"/>
              <a:gd name="T76" fmla="*/ 93 w 225"/>
              <a:gd name="T77" fmla="*/ 4 h 52"/>
              <a:gd name="T78" fmla="*/ 80 w 225"/>
              <a:gd name="T79" fmla="*/ 2 h 52"/>
              <a:gd name="T80" fmla="*/ 81 w 225"/>
              <a:gd name="T81" fmla="*/ 0 h 52"/>
              <a:gd name="T82" fmla="*/ 114 w 225"/>
              <a:gd name="T83" fmla="*/ 0 h 52"/>
              <a:gd name="T84" fmla="*/ 116 w 225"/>
              <a:gd name="T85" fmla="*/ 2 h 52"/>
              <a:gd name="T86" fmla="*/ 102 w 225"/>
              <a:gd name="T87" fmla="*/ 4 h 52"/>
              <a:gd name="T88" fmla="*/ 101 w 225"/>
              <a:gd name="T89" fmla="*/ 2 h 52"/>
              <a:gd name="T90" fmla="*/ 123 w 225"/>
              <a:gd name="T91" fmla="*/ 0 h 52"/>
              <a:gd name="T92" fmla="*/ 137 w 225"/>
              <a:gd name="T93" fmla="*/ 2 h 52"/>
              <a:gd name="T94" fmla="*/ 135 w 225"/>
              <a:gd name="T95" fmla="*/ 4 h 52"/>
              <a:gd name="T96" fmla="*/ 122 w 225"/>
              <a:gd name="T97" fmla="*/ 2 h 52"/>
              <a:gd name="T98" fmla="*/ 123 w 225"/>
              <a:gd name="T99" fmla="*/ 0 h 52"/>
              <a:gd name="T100" fmla="*/ 156 w 225"/>
              <a:gd name="T101" fmla="*/ 0 h 52"/>
              <a:gd name="T102" fmla="*/ 158 w 225"/>
              <a:gd name="T103" fmla="*/ 2 h 52"/>
              <a:gd name="T104" fmla="*/ 144 w 225"/>
              <a:gd name="T105" fmla="*/ 4 h 52"/>
              <a:gd name="T106" fmla="*/ 143 w 225"/>
              <a:gd name="T107" fmla="*/ 2 h 52"/>
              <a:gd name="T108" fmla="*/ 165 w 225"/>
              <a:gd name="T109" fmla="*/ 0 h 52"/>
              <a:gd name="T110" fmla="*/ 179 w 225"/>
              <a:gd name="T111" fmla="*/ 2 h 52"/>
              <a:gd name="T112" fmla="*/ 177 w 225"/>
              <a:gd name="T113" fmla="*/ 4 h 52"/>
              <a:gd name="T114" fmla="*/ 164 w 225"/>
              <a:gd name="T115" fmla="*/ 2 h 52"/>
              <a:gd name="T116" fmla="*/ 165 w 225"/>
              <a:gd name="T1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5" h="52">
                <a:moveTo>
                  <a:pt x="19" y="0"/>
                </a:moveTo>
                <a:cubicBezTo>
                  <a:pt x="22" y="0"/>
                  <a:pt x="26" y="0"/>
                  <a:pt x="30" y="0"/>
                </a:cubicBezTo>
                <a:cubicBezTo>
                  <a:pt x="31" y="0"/>
                  <a:pt x="32" y="1"/>
                  <a:pt x="32" y="2"/>
                </a:cubicBezTo>
                <a:cubicBezTo>
                  <a:pt x="32" y="2"/>
                  <a:pt x="32" y="2"/>
                  <a:pt x="32" y="2"/>
                </a:cubicBezTo>
                <a:cubicBezTo>
                  <a:pt x="32" y="3"/>
                  <a:pt x="31" y="4"/>
                  <a:pt x="30" y="4"/>
                </a:cubicBezTo>
                <a:cubicBezTo>
                  <a:pt x="26" y="4"/>
                  <a:pt x="22" y="4"/>
                  <a:pt x="19" y="4"/>
                </a:cubicBezTo>
                <a:cubicBezTo>
                  <a:pt x="18" y="4"/>
                  <a:pt x="17" y="3"/>
                  <a:pt x="17" y="2"/>
                </a:cubicBezTo>
                <a:cubicBezTo>
                  <a:pt x="17" y="2"/>
                  <a:pt x="17" y="2"/>
                  <a:pt x="17" y="2"/>
                </a:cubicBezTo>
                <a:cubicBezTo>
                  <a:pt x="17" y="1"/>
                  <a:pt x="18" y="0"/>
                  <a:pt x="19" y="0"/>
                </a:cubicBezTo>
                <a:close/>
                <a:moveTo>
                  <a:pt x="224" y="48"/>
                </a:moveTo>
                <a:cubicBezTo>
                  <a:pt x="224" y="48"/>
                  <a:pt x="224" y="48"/>
                  <a:pt x="224" y="48"/>
                </a:cubicBezTo>
                <a:cubicBezTo>
                  <a:pt x="225" y="48"/>
                  <a:pt x="225" y="49"/>
                  <a:pt x="225" y="50"/>
                </a:cubicBezTo>
                <a:cubicBezTo>
                  <a:pt x="225" y="51"/>
                  <a:pt x="225" y="51"/>
                  <a:pt x="225" y="51"/>
                </a:cubicBezTo>
                <a:cubicBezTo>
                  <a:pt x="225" y="52"/>
                  <a:pt x="225" y="52"/>
                  <a:pt x="224" y="52"/>
                </a:cubicBezTo>
                <a:cubicBezTo>
                  <a:pt x="224" y="52"/>
                  <a:pt x="224" y="52"/>
                  <a:pt x="224" y="52"/>
                </a:cubicBezTo>
                <a:cubicBezTo>
                  <a:pt x="223" y="52"/>
                  <a:pt x="222" y="52"/>
                  <a:pt x="222" y="51"/>
                </a:cubicBezTo>
                <a:cubicBezTo>
                  <a:pt x="222" y="50"/>
                  <a:pt x="222" y="50"/>
                  <a:pt x="222" y="50"/>
                </a:cubicBezTo>
                <a:cubicBezTo>
                  <a:pt x="222" y="49"/>
                  <a:pt x="223" y="48"/>
                  <a:pt x="224" y="48"/>
                </a:cubicBezTo>
                <a:close/>
                <a:moveTo>
                  <a:pt x="196" y="1"/>
                </a:moveTo>
                <a:cubicBezTo>
                  <a:pt x="196" y="3"/>
                  <a:pt x="197" y="4"/>
                  <a:pt x="198" y="6"/>
                </a:cubicBezTo>
                <a:cubicBezTo>
                  <a:pt x="199" y="6"/>
                  <a:pt x="198" y="7"/>
                  <a:pt x="198" y="8"/>
                </a:cubicBezTo>
                <a:cubicBezTo>
                  <a:pt x="198" y="8"/>
                  <a:pt x="198" y="8"/>
                  <a:pt x="198" y="8"/>
                </a:cubicBezTo>
                <a:cubicBezTo>
                  <a:pt x="197" y="8"/>
                  <a:pt x="196" y="8"/>
                  <a:pt x="195" y="7"/>
                </a:cubicBezTo>
                <a:cubicBezTo>
                  <a:pt x="195" y="6"/>
                  <a:pt x="194" y="5"/>
                  <a:pt x="193" y="4"/>
                </a:cubicBezTo>
                <a:cubicBezTo>
                  <a:pt x="190" y="4"/>
                  <a:pt x="190" y="4"/>
                  <a:pt x="186" y="4"/>
                </a:cubicBezTo>
                <a:cubicBezTo>
                  <a:pt x="186" y="4"/>
                  <a:pt x="185" y="3"/>
                  <a:pt x="185" y="2"/>
                </a:cubicBezTo>
                <a:cubicBezTo>
                  <a:pt x="185" y="2"/>
                  <a:pt x="185" y="2"/>
                  <a:pt x="185" y="2"/>
                </a:cubicBezTo>
                <a:cubicBezTo>
                  <a:pt x="185" y="1"/>
                  <a:pt x="186" y="0"/>
                  <a:pt x="186" y="0"/>
                </a:cubicBezTo>
                <a:cubicBezTo>
                  <a:pt x="194" y="0"/>
                  <a:pt x="194" y="0"/>
                  <a:pt x="194" y="0"/>
                </a:cubicBezTo>
                <a:cubicBezTo>
                  <a:pt x="195" y="0"/>
                  <a:pt x="195" y="1"/>
                  <a:pt x="196" y="1"/>
                </a:cubicBezTo>
                <a:close/>
                <a:moveTo>
                  <a:pt x="217" y="43"/>
                </a:moveTo>
                <a:cubicBezTo>
                  <a:pt x="215" y="40"/>
                  <a:pt x="213" y="36"/>
                  <a:pt x="211" y="33"/>
                </a:cubicBezTo>
                <a:cubicBezTo>
                  <a:pt x="211" y="32"/>
                  <a:pt x="211" y="31"/>
                  <a:pt x="212" y="31"/>
                </a:cubicBezTo>
                <a:cubicBezTo>
                  <a:pt x="212" y="31"/>
                  <a:pt x="212" y="31"/>
                  <a:pt x="212" y="31"/>
                </a:cubicBezTo>
                <a:cubicBezTo>
                  <a:pt x="212" y="30"/>
                  <a:pt x="213" y="31"/>
                  <a:pt x="214" y="31"/>
                </a:cubicBezTo>
                <a:cubicBezTo>
                  <a:pt x="216" y="35"/>
                  <a:pt x="218" y="38"/>
                  <a:pt x="220" y="41"/>
                </a:cubicBezTo>
                <a:cubicBezTo>
                  <a:pt x="221" y="42"/>
                  <a:pt x="220" y="43"/>
                  <a:pt x="219" y="44"/>
                </a:cubicBezTo>
                <a:cubicBezTo>
                  <a:pt x="219" y="44"/>
                  <a:pt x="219" y="44"/>
                  <a:pt x="219" y="44"/>
                </a:cubicBezTo>
                <a:cubicBezTo>
                  <a:pt x="219" y="44"/>
                  <a:pt x="218" y="44"/>
                  <a:pt x="217" y="43"/>
                </a:cubicBezTo>
                <a:close/>
                <a:moveTo>
                  <a:pt x="206" y="25"/>
                </a:moveTo>
                <a:cubicBezTo>
                  <a:pt x="204" y="22"/>
                  <a:pt x="202" y="19"/>
                  <a:pt x="200" y="15"/>
                </a:cubicBezTo>
                <a:cubicBezTo>
                  <a:pt x="200" y="14"/>
                  <a:pt x="200" y="13"/>
                  <a:pt x="201" y="13"/>
                </a:cubicBezTo>
                <a:cubicBezTo>
                  <a:pt x="201" y="13"/>
                  <a:pt x="201" y="13"/>
                  <a:pt x="201" y="13"/>
                </a:cubicBezTo>
                <a:cubicBezTo>
                  <a:pt x="201" y="12"/>
                  <a:pt x="203" y="13"/>
                  <a:pt x="203" y="13"/>
                </a:cubicBezTo>
                <a:cubicBezTo>
                  <a:pt x="205" y="17"/>
                  <a:pt x="207" y="20"/>
                  <a:pt x="209" y="23"/>
                </a:cubicBezTo>
                <a:cubicBezTo>
                  <a:pt x="210" y="24"/>
                  <a:pt x="209" y="25"/>
                  <a:pt x="209" y="26"/>
                </a:cubicBezTo>
                <a:cubicBezTo>
                  <a:pt x="209" y="26"/>
                  <a:pt x="209" y="26"/>
                  <a:pt x="209" y="26"/>
                </a:cubicBezTo>
                <a:cubicBezTo>
                  <a:pt x="208" y="26"/>
                  <a:pt x="207" y="26"/>
                  <a:pt x="206" y="25"/>
                </a:cubicBezTo>
                <a:close/>
                <a:moveTo>
                  <a:pt x="0" y="4"/>
                </a:moveTo>
                <a:cubicBezTo>
                  <a:pt x="0" y="0"/>
                  <a:pt x="0" y="0"/>
                  <a:pt x="0" y="0"/>
                </a:cubicBezTo>
                <a:cubicBezTo>
                  <a:pt x="8" y="0"/>
                  <a:pt x="8" y="0"/>
                  <a:pt x="8" y="0"/>
                </a:cubicBezTo>
                <a:cubicBezTo>
                  <a:pt x="9" y="0"/>
                  <a:pt x="10" y="1"/>
                  <a:pt x="10" y="2"/>
                </a:cubicBezTo>
                <a:cubicBezTo>
                  <a:pt x="10" y="2"/>
                  <a:pt x="10" y="2"/>
                  <a:pt x="10" y="2"/>
                </a:cubicBezTo>
                <a:cubicBezTo>
                  <a:pt x="10" y="3"/>
                  <a:pt x="9" y="4"/>
                  <a:pt x="8" y="4"/>
                </a:cubicBezTo>
                <a:cubicBezTo>
                  <a:pt x="0" y="4"/>
                  <a:pt x="0" y="4"/>
                  <a:pt x="0" y="4"/>
                </a:cubicBezTo>
                <a:close/>
                <a:moveTo>
                  <a:pt x="40" y="0"/>
                </a:moveTo>
                <a:cubicBezTo>
                  <a:pt x="43" y="0"/>
                  <a:pt x="47" y="0"/>
                  <a:pt x="51" y="0"/>
                </a:cubicBezTo>
                <a:cubicBezTo>
                  <a:pt x="52" y="0"/>
                  <a:pt x="53" y="1"/>
                  <a:pt x="53" y="2"/>
                </a:cubicBezTo>
                <a:cubicBezTo>
                  <a:pt x="53" y="2"/>
                  <a:pt x="53" y="2"/>
                  <a:pt x="53" y="2"/>
                </a:cubicBezTo>
                <a:cubicBezTo>
                  <a:pt x="53" y="3"/>
                  <a:pt x="52" y="4"/>
                  <a:pt x="51" y="4"/>
                </a:cubicBezTo>
                <a:cubicBezTo>
                  <a:pt x="47" y="4"/>
                  <a:pt x="43" y="4"/>
                  <a:pt x="40" y="4"/>
                </a:cubicBezTo>
                <a:cubicBezTo>
                  <a:pt x="39" y="4"/>
                  <a:pt x="38" y="3"/>
                  <a:pt x="38" y="2"/>
                </a:cubicBezTo>
                <a:cubicBezTo>
                  <a:pt x="38" y="2"/>
                  <a:pt x="38" y="2"/>
                  <a:pt x="38" y="2"/>
                </a:cubicBezTo>
                <a:cubicBezTo>
                  <a:pt x="38" y="1"/>
                  <a:pt x="39" y="0"/>
                  <a:pt x="40" y="0"/>
                </a:cubicBezTo>
                <a:close/>
                <a:moveTo>
                  <a:pt x="60" y="0"/>
                </a:moveTo>
                <a:cubicBezTo>
                  <a:pt x="64" y="0"/>
                  <a:pt x="68" y="0"/>
                  <a:pt x="72" y="0"/>
                </a:cubicBezTo>
                <a:cubicBezTo>
                  <a:pt x="73" y="0"/>
                  <a:pt x="74" y="1"/>
                  <a:pt x="74" y="2"/>
                </a:cubicBezTo>
                <a:cubicBezTo>
                  <a:pt x="74" y="2"/>
                  <a:pt x="74" y="2"/>
                  <a:pt x="74" y="2"/>
                </a:cubicBezTo>
                <a:cubicBezTo>
                  <a:pt x="74" y="3"/>
                  <a:pt x="73" y="4"/>
                  <a:pt x="72" y="4"/>
                </a:cubicBezTo>
                <a:cubicBezTo>
                  <a:pt x="68" y="4"/>
                  <a:pt x="64" y="4"/>
                  <a:pt x="60" y="4"/>
                </a:cubicBezTo>
                <a:cubicBezTo>
                  <a:pt x="60" y="4"/>
                  <a:pt x="59" y="3"/>
                  <a:pt x="59" y="2"/>
                </a:cubicBezTo>
                <a:cubicBezTo>
                  <a:pt x="59" y="2"/>
                  <a:pt x="59" y="2"/>
                  <a:pt x="59" y="2"/>
                </a:cubicBezTo>
                <a:cubicBezTo>
                  <a:pt x="59" y="1"/>
                  <a:pt x="60" y="0"/>
                  <a:pt x="60" y="0"/>
                </a:cubicBezTo>
                <a:close/>
                <a:moveTo>
                  <a:pt x="81" y="0"/>
                </a:moveTo>
                <a:cubicBezTo>
                  <a:pt x="85" y="0"/>
                  <a:pt x="89" y="0"/>
                  <a:pt x="93" y="0"/>
                </a:cubicBezTo>
                <a:cubicBezTo>
                  <a:pt x="94" y="0"/>
                  <a:pt x="95" y="1"/>
                  <a:pt x="95" y="2"/>
                </a:cubicBezTo>
                <a:cubicBezTo>
                  <a:pt x="95" y="2"/>
                  <a:pt x="95" y="2"/>
                  <a:pt x="95" y="2"/>
                </a:cubicBezTo>
                <a:cubicBezTo>
                  <a:pt x="95" y="3"/>
                  <a:pt x="94" y="4"/>
                  <a:pt x="93" y="4"/>
                </a:cubicBezTo>
                <a:cubicBezTo>
                  <a:pt x="89" y="4"/>
                  <a:pt x="85" y="4"/>
                  <a:pt x="81" y="4"/>
                </a:cubicBezTo>
                <a:cubicBezTo>
                  <a:pt x="81" y="4"/>
                  <a:pt x="80" y="3"/>
                  <a:pt x="80" y="2"/>
                </a:cubicBezTo>
                <a:cubicBezTo>
                  <a:pt x="80" y="2"/>
                  <a:pt x="80" y="2"/>
                  <a:pt x="80" y="2"/>
                </a:cubicBezTo>
                <a:cubicBezTo>
                  <a:pt x="80" y="1"/>
                  <a:pt x="81" y="0"/>
                  <a:pt x="81" y="0"/>
                </a:cubicBezTo>
                <a:close/>
                <a:moveTo>
                  <a:pt x="102" y="0"/>
                </a:moveTo>
                <a:cubicBezTo>
                  <a:pt x="106" y="0"/>
                  <a:pt x="110" y="0"/>
                  <a:pt x="114" y="0"/>
                </a:cubicBezTo>
                <a:cubicBezTo>
                  <a:pt x="115" y="0"/>
                  <a:pt x="116" y="1"/>
                  <a:pt x="116" y="2"/>
                </a:cubicBezTo>
                <a:cubicBezTo>
                  <a:pt x="116" y="2"/>
                  <a:pt x="116" y="2"/>
                  <a:pt x="116" y="2"/>
                </a:cubicBezTo>
                <a:cubicBezTo>
                  <a:pt x="116" y="3"/>
                  <a:pt x="115" y="4"/>
                  <a:pt x="114" y="4"/>
                </a:cubicBezTo>
                <a:cubicBezTo>
                  <a:pt x="110" y="4"/>
                  <a:pt x="106" y="4"/>
                  <a:pt x="102" y="4"/>
                </a:cubicBezTo>
                <a:cubicBezTo>
                  <a:pt x="102" y="4"/>
                  <a:pt x="101" y="3"/>
                  <a:pt x="101" y="2"/>
                </a:cubicBezTo>
                <a:cubicBezTo>
                  <a:pt x="101" y="2"/>
                  <a:pt x="101" y="2"/>
                  <a:pt x="101" y="2"/>
                </a:cubicBezTo>
                <a:cubicBezTo>
                  <a:pt x="101" y="1"/>
                  <a:pt x="102" y="0"/>
                  <a:pt x="102" y="0"/>
                </a:cubicBezTo>
                <a:close/>
                <a:moveTo>
                  <a:pt x="123" y="0"/>
                </a:moveTo>
                <a:cubicBezTo>
                  <a:pt x="127" y="0"/>
                  <a:pt x="131" y="0"/>
                  <a:pt x="135" y="0"/>
                </a:cubicBezTo>
                <a:cubicBezTo>
                  <a:pt x="136" y="0"/>
                  <a:pt x="137" y="1"/>
                  <a:pt x="137" y="2"/>
                </a:cubicBezTo>
                <a:cubicBezTo>
                  <a:pt x="137" y="2"/>
                  <a:pt x="137" y="2"/>
                  <a:pt x="137" y="2"/>
                </a:cubicBezTo>
                <a:cubicBezTo>
                  <a:pt x="137" y="3"/>
                  <a:pt x="136" y="4"/>
                  <a:pt x="135" y="4"/>
                </a:cubicBezTo>
                <a:cubicBezTo>
                  <a:pt x="131" y="4"/>
                  <a:pt x="127" y="4"/>
                  <a:pt x="123" y="4"/>
                </a:cubicBezTo>
                <a:cubicBezTo>
                  <a:pt x="123" y="4"/>
                  <a:pt x="122" y="3"/>
                  <a:pt x="122" y="2"/>
                </a:cubicBezTo>
                <a:cubicBezTo>
                  <a:pt x="122" y="2"/>
                  <a:pt x="122" y="2"/>
                  <a:pt x="122" y="2"/>
                </a:cubicBezTo>
                <a:cubicBezTo>
                  <a:pt x="122" y="1"/>
                  <a:pt x="123" y="0"/>
                  <a:pt x="123" y="0"/>
                </a:cubicBezTo>
                <a:close/>
                <a:moveTo>
                  <a:pt x="144" y="0"/>
                </a:moveTo>
                <a:cubicBezTo>
                  <a:pt x="148" y="0"/>
                  <a:pt x="152" y="0"/>
                  <a:pt x="156" y="0"/>
                </a:cubicBezTo>
                <a:cubicBezTo>
                  <a:pt x="157" y="0"/>
                  <a:pt x="158" y="1"/>
                  <a:pt x="158" y="2"/>
                </a:cubicBezTo>
                <a:cubicBezTo>
                  <a:pt x="158" y="2"/>
                  <a:pt x="158" y="2"/>
                  <a:pt x="158" y="2"/>
                </a:cubicBezTo>
                <a:cubicBezTo>
                  <a:pt x="158" y="3"/>
                  <a:pt x="157" y="4"/>
                  <a:pt x="156" y="4"/>
                </a:cubicBezTo>
                <a:cubicBezTo>
                  <a:pt x="152" y="4"/>
                  <a:pt x="148" y="4"/>
                  <a:pt x="144" y="4"/>
                </a:cubicBezTo>
                <a:cubicBezTo>
                  <a:pt x="144" y="4"/>
                  <a:pt x="143" y="3"/>
                  <a:pt x="143" y="2"/>
                </a:cubicBezTo>
                <a:cubicBezTo>
                  <a:pt x="143" y="2"/>
                  <a:pt x="143" y="2"/>
                  <a:pt x="143" y="2"/>
                </a:cubicBezTo>
                <a:cubicBezTo>
                  <a:pt x="143" y="1"/>
                  <a:pt x="144" y="0"/>
                  <a:pt x="144" y="0"/>
                </a:cubicBezTo>
                <a:close/>
                <a:moveTo>
                  <a:pt x="165" y="0"/>
                </a:moveTo>
                <a:cubicBezTo>
                  <a:pt x="169" y="0"/>
                  <a:pt x="173" y="0"/>
                  <a:pt x="177" y="0"/>
                </a:cubicBezTo>
                <a:cubicBezTo>
                  <a:pt x="178" y="0"/>
                  <a:pt x="179" y="1"/>
                  <a:pt x="179" y="2"/>
                </a:cubicBezTo>
                <a:cubicBezTo>
                  <a:pt x="179" y="2"/>
                  <a:pt x="179" y="2"/>
                  <a:pt x="179" y="2"/>
                </a:cubicBezTo>
                <a:cubicBezTo>
                  <a:pt x="179" y="3"/>
                  <a:pt x="178" y="4"/>
                  <a:pt x="177" y="4"/>
                </a:cubicBezTo>
                <a:cubicBezTo>
                  <a:pt x="173" y="4"/>
                  <a:pt x="169" y="4"/>
                  <a:pt x="165" y="4"/>
                </a:cubicBezTo>
                <a:cubicBezTo>
                  <a:pt x="165" y="4"/>
                  <a:pt x="164" y="3"/>
                  <a:pt x="164" y="2"/>
                </a:cubicBezTo>
                <a:cubicBezTo>
                  <a:pt x="164" y="2"/>
                  <a:pt x="164" y="2"/>
                  <a:pt x="164" y="2"/>
                </a:cubicBezTo>
                <a:cubicBezTo>
                  <a:pt x="164" y="1"/>
                  <a:pt x="165" y="0"/>
                  <a:pt x="165" y="0"/>
                </a:cubicBezTo>
                <a:close/>
              </a:path>
            </a:pathLst>
          </a:custGeom>
          <a:solidFill>
            <a:srgbClr val="75797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46" name="Freeform 34"/>
          <p:cNvSpPr>
            <a:spLocks/>
          </p:cNvSpPr>
          <p:nvPr/>
        </p:nvSpPr>
        <p:spPr bwMode="auto">
          <a:xfrm>
            <a:off x="1927399" y="4906987"/>
            <a:ext cx="1736725" cy="955675"/>
          </a:xfrm>
          <a:custGeom>
            <a:avLst/>
            <a:gdLst>
              <a:gd name="T0" fmla="*/ 0 w 1094"/>
              <a:gd name="T1" fmla="*/ 0 h 602"/>
              <a:gd name="T2" fmla="*/ 911 w 1094"/>
              <a:gd name="T3" fmla="*/ 0 h 602"/>
              <a:gd name="T4" fmla="*/ 1094 w 1094"/>
              <a:gd name="T5" fmla="*/ 304 h 602"/>
              <a:gd name="T6" fmla="*/ 911 w 1094"/>
              <a:gd name="T7" fmla="*/ 602 h 602"/>
              <a:gd name="T8" fmla="*/ 0 w 1094"/>
              <a:gd name="T9" fmla="*/ 602 h 602"/>
              <a:gd name="T10" fmla="*/ 0 w 1094"/>
              <a:gd name="T11" fmla="*/ 0 h 602"/>
              <a:gd name="T12" fmla="*/ 0 w 1094"/>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094" h="602">
                <a:moveTo>
                  <a:pt x="0" y="0"/>
                </a:moveTo>
                <a:lnTo>
                  <a:pt x="911" y="0"/>
                </a:lnTo>
                <a:lnTo>
                  <a:pt x="1094" y="304"/>
                </a:lnTo>
                <a:lnTo>
                  <a:pt x="911" y="602"/>
                </a:lnTo>
                <a:lnTo>
                  <a:pt x="0" y="602"/>
                </a:lnTo>
                <a:lnTo>
                  <a:pt x="0" y="0"/>
                </a:lnTo>
                <a:lnTo>
                  <a:pt x="0" y="0"/>
                </a:lnTo>
                <a:close/>
              </a:path>
            </a:pathLst>
          </a:custGeom>
          <a:solidFill>
            <a:srgbClr val="C9CA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47" name="Freeform 36"/>
          <p:cNvSpPr>
            <a:spLocks/>
          </p:cNvSpPr>
          <p:nvPr/>
        </p:nvSpPr>
        <p:spPr bwMode="auto">
          <a:xfrm>
            <a:off x="1619424" y="4806974"/>
            <a:ext cx="1954212" cy="957263"/>
          </a:xfrm>
          <a:custGeom>
            <a:avLst/>
            <a:gdLst>
              <a:gd name="T0" fmla="*/ 0 w 1231"/>
              <a:gd name="T1" fmla="*/ 0 h 603"/>
              <a:gd name="T2" fmla="*/ 1047 w 1231"/>
              <a:gd name="T3" fmla="*/ 0 h 603"/>
              <a:gd name="T4" fmla="*/ 1231 w 1231"/>
              <a:gd name="T5" fmla="*/ 299 h 603"/>
              <a:gd name="T6" fmla="*/ 1047 w 1231"/>
              <a:gd name="T7" fmla="*/ 603 h 603"/>
              <a:gd name="T8" fmla="*/ 0 w 1231"/>
              <a:gd name="T9" fmla="*/ 603 h 603"/>
              <a:gd name="T10" fmla="*/ 0 w 1231"/>
              <a:gd name="T11" fmla="*/ 0 h 603"/>
              <a:gd name="T12" fmla="*/ 0 w 1231"/>
              <a:gd name="T13" fmla="*/ 0 h 603"/>
            </a:gdLst>
            <a:ahLst/>
            <a:cxnLst>
              <a:cxn ang="0">
                <a:pos x="T0" y="T1"/>
              </a:cxn>
              <a:cxn ang="0">
                <a:pos x="T2" y="T3"/>
              </a:cxn>
              <a:cxn ang="0">
                <a:pos x="T4" y="T5"/>
              </a:cxn>
              <a:cxn ang="0">
                <a:pos x="T6" y="T7"/>
              </a:cxn>
              <a:cxn ang="0">
                <a:pos x="T8" y="T9"/>
              </a:cxn>
              <a:cxn ang="0">
                <a:pos x="T10" y="T11"/>
              </a:cxn>
              <a:cxn ang="0">
                <a:pos x="T12" y="T13"/>
              </a:cxn>
            </a:cxnLst>
            <a:rect l="0" t="0" r="r" b="b"/>
            <a:pathLst>
              <a:path w="1231" h="603">
                <a:moveTo>
                  <a:pt x="0" y="0"/>
                </a:moveTo>
                <a:lnTo>
                  <a:pt x="1047" y="0"/>
                </a:lnTo>
                <a:lnTo>
                  <a:pt x="1231" y="299"/>
                </a:lnTo>
                <a:lnTo>
                  <a:pt x="1047" y="603"/>
                </a:lnTo>
                <a:lnTo>
                  <a:pt x="0" y="603"/>
                </a:lnTo>
                <a:lnTo>
                  <a:pt x="0" y="0"/>
                </a:lnTo>
                <a:lnTo>
                  <a:pt x="0" y="0"/>
                </a:lnTo>
                <a:close/>
              </a:path>
            </a:pathLst>
          </a:custGeom>
          <a:solidFill>
            <a:srgbClr val="F4B4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48" name="Freeform 38"/>
          <p:cNvSpPr>
            <a:spLocks noEditPoints="1"/>
          </p:cNvSpPr>
          <p:nvPr/>
        </p:nvSpPr>
        <p:spPr bwMode="auto">
          <a:xfrm>
            <a:off x="1619424" y="5340374"/>
            <a:ext cx="1836737" cy="365125"/>
          </a:xfrm>
          <a:custGeom>
            <a:avLst/>
            <a:gdLst>
              <a:gd name="T0" fmla="*/ 30 w 221"/>
              <a:gd name="T1" fmla="*/ 44 h 44"/>
              <a:gd name="T2" fmla="*/ 32 w 221"/>
              <a:gd name="T3" fmla="*/ 42 h 44"/>
              <a:gd name="T4" fmla="*/ 19 w 221"/>
              <a:gd name="T5" fmla="*/ 40 h 44"/>
              <a:gd name="T6" fmla="*/ 17 w 221"/>
              <a:gd name="T7" fmla="*/ 42 h 44"/>
              <a:gd name="T8" fmla="*/ 196 w 221"/>
              <a:gd name="T9" fmla="*/ 43 h 44"/>
              <a:gd name="T10" fmla="*/ 198 w 221"/>
              <a:gd name="T11" fmla="*/ 36 h 44"/>
              <a:gd name="T12" fmla="*/ 195 w 221"/>
              <a:gd name="T13" fmla="*/ 37 h 44"/>
              <a:gd name="T14" fmla="*/ 186 w 221"/>
              <a:gd name="T15" fmla="*/ 40 h 44"/>
              <a:gd name="T16" fmla="*/ 185 w 221"/>
              <a:gd name="T17" fmla="*/ 42 h 44"/>
              <a:gd name="T18" fmla="*/ 194 w 221"/>
              <a:gd name="T19" fmla="*/ 44 h 44"/>
              <a:gd name="T20" fmla="*/ 217 w 221"/>
              <a:gd name="T21" fmla="*/ 1 h 44"/>
              <a:gd name="T22" fmla="*/ 212 w 221"/>
              <a:gd name="T23" fmla="*/ 13 h 44"/>
              <a:gd name="T24" fmla="*/ 214 w 221"/>
              <a:gd name="T25" fmla="*/ 13 h 44"/>
              <a:gd name="T26" fmla="*/ 219 w 221"/>
              <a:gd name="T27" fmla="*/ 0 h 44"/>
              <a:gd name="T28" fmla="*/ 217 w 221"/>
              <a:gd name="T29" fmla="*/ 1 h 44"/>
              <a:gd name="T30" fmla="*/ 200 w 221"/>
              <a:gd name="T31" fmla="*/ 29 h 44"/>
              <a:gd name="T32" fmla="*/ 201 w 221"/>
              <a:gd name="T33" fmla="*/ 31 h 44"/>
              <a:gd name="T34" fmla="*/ 209 w 221"/>
              <a:gd name="T35" fmla="*/ 20 h 44"/>
              <a:gd name="T36" fmla="*/ 209 w 221"/>
              <a:gd name="T37" fmla="*/ 18 h 44"/>
              <a:gd name="T38" fmla="*/ 0 w 221"/>
              <a:gd name="T39" fmla="*/ 40 h 44"/>
              <a:gd name="T40" fmla="*/ 8 w 221"/>
              <a:gd name="T41" fmla="*/ 44 h 44"/>
              <a:gd name="T42" fmla="*/ 10 w 221"/>
              <a:gd name="T43" fmla="*/ 42 h 44"/>
              <a:gd name="T44" fmla="*/ 0 w 221"/>
              <a:gd name="T45" fmla="*/ 40 h 44"/>
              <a:gd name="T46" fmla="*/ 51 w 221"/>
              <a:gd name="T47" fmla="*/ 44 h 44"/>
              <a:gd name="T48" fmla="*/ 53 w 221"/>
              <a:gd name="T49" fmla="*/ 42 h 44"/>
              <a:gd name="T50" fmla="*/ 40 w 221"/>
              <a:gd name="T51" fmla="*/ 40 h 44"/>
              <a:gd name="T52" fmla="*/ 38 w 221"/>
              <a:gd name="T53" fmla="*/ 42 h 44"/>
              <a:gd name="T54" fmla="*/ 60 w 221"/>
              <a:gd name="T55" fmla="*/ 44 h 44"/>
              <a:gd name="T56" fmla="*/ 74 w 221"/>
              <a:gd name="T57" fmla="*/ 42 h 44"/>
              <a:gd name="T58" fmla="*/ 72 w 221"/>
              <a:gd name="T59" fmla="*/ 40 h 44"/>
              <a:gd name="T60" fmla="*/ 59 w 221"/>
              <a:gd name="T61" fmla="*/ 42 h 44"/>
              <a:gd name="T62" fmla="*/ 60 w 221"/>
              <a:gd name="T63" fmla="*/ 44 h 44"/>
              <a:gd name="T64" fmla="*/ 93 w 221"/>
              <a:gd name="T65" fmla="*/ 44 h 44"/>
              <a:gd name="T66" fmla="*/ 95 w 221"/>
              <a:gd name="T67" fmla="*/ 42 h 44"/>
              <a:gd name="T68" fmla="*/ 81 w 221"/>
              <a:gd name="T69" fmla="*/ 40 h 44"/>
              <a:gd name="T70" fmla="*/ 80 w 221"/>
              <a:gd name="T71" fmla="*/ 42 h 44"/>
              <a:gd name="T72" fmla="*/ 102 w 221"/>
              <a:gd name="T73" fmla="*/ 44 h 44"/>
              <a:gd name="T74" fmla="*/ 116 w 221"/>
              <a:gd name="T75" fmla="*/ 42 h 44"/>
              <a:gd name="T76" fmla="*/ 114 w 221"/>
              <a:gd name="T77" fmla="*/ 40 h 44"/>
              <a:gd name="T78" fmla="*/ 101 w 221"/>
              <a:gd name="T79" fmla="*/ 42 h 44"/>
              <a:gd name="T80" fmla="*/ 102 w 221"/>
              <a:gd name="T81" fmla="*/ 44 h 44"/>
              <a:gd name="T82" fmla="*/ 135 w 221"/>
              <a:gd name="T83" fmla="*/ 44 h 44"/>
              <a:gd name="T84" fmla="*/ 137 w 221"/>
              <a:gd name="T85" fmla="*/ 42 h 44"/>
              <a:gd name="T86" fmla="*/ 123 w 221"/>
              <a:gd name="T87" fmla="*/ 40 h 44"/>
              <a:gd name="T88" fmla="*/ 122 w 221"/>
              <a:gd name="T89" fmla="*/ 42 h 44"/>
              <a:gd name="T90" fmla="*/ 144 w 221"/>
              <a:gd name="T91" fmla="*/ 44 h 44"/>
              <a:gd name="T92" fmla="*/ 158 w 221"/>
              <a:gd name="T93" fmla="*/ 42 h 44"/>
              <a:gd name="T94" fmla="*/ 156 w 221"/>
              <a:gd name="T95" fmla="*/ 40 h 44"/>
              <a:gd name="T96" fmla="*/ 143 w 221"/>
              <a:gd name="T97" fmla="*/ 42 h 44"/>
              <a:gd name="T98" fmla="*/ 144 w 221"/>
              <a:gd name="T99" fmla="*/ 44 h 44"/>
              <a:gd name="T100" fmla="*/ 177 w 221"/>
              <a:gd name="T101" fmla="*/ 44 h 44"/>
              <a:gd name="T102" fmla="*/ 179 w 221"/>
              <a:gd name="T103" fmla="*/ 42 h 44"/>
              <a:gd name="T104" fmla="*/ 165 w 221"/>
              <a:gd name="T105" fmla="*/ 40 h 44"/>
              <a:gd name="T106" fmla="*/ 164 w 221"/>
              <a:gd name="T107" fmla="*/ 4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1" h="44">
                <a:moveTo>
                  <a:pt x="19" y="44"/>
                </a:moveTo>
                <a:cubicBezTo>
                  <a:pt x="22" y="44"/>
                  <a:pt x="26" y="44"/>
                  <a:pt x="30" y="44"/>
                </a:cubicBezTo>
                <a:cubicBezTo>
                  <a:pt x="31" y="44"/>
                  <a:pt x="32" y="43"/>
                  <a:pt x="32" y="42"/>
                </a:cubicBezTo>
                <a:cubicBezTo>
                  <a:pt x="32" y="42"/>
                  <a:pt x="32" y="42"/>
                  <a:pt x="32" y="42"/>
                </a:cubicBezTo>
                <a:cubicBezTo>
                  <a:pt x="32" y="41"/>
                  <a:pt x="31" y="40"/>
                  <a:pt x="30" y="40"/>
                </a:cubicBezTo>
                <a:cubicBezTo>
                  <a:pt x="26" y="40"/>
                  <a:pt x="22" y="40"/>
                  <a:pt x="19" y="40"/>
                </a:cubicBezTo>
                <a:cubicBezTo>
                  <a:pt x="18" y="40"/>
                  <a:pt x="17" y="41"/>
                  <a:pt x="17" y="42"/>
                </a:cubicBezTo>
                <a:cubicBezTo>
                  <a:pt x="17" y="42"/>
                  <a:pt x="17" y="42"/>
                  <a:pt x="17" y="42"/>
                </a:cubicBezTo>
                <a:cubicBezTo>
                  <a:pt x="17" y="43"/>
                  <a:pt x="18" y="44"/>
                  <a:pt x="19" y="44"/>
                </a:cubicBezTo>
                <a:close/>
                <a:moveTo>
                  <a:pt x="196" y="43"/>
                </a:moveTo>
                <a:cubicBezTo>
                  <a:pt x="196" y="41"/>
                  <a:pt x="197" y="40"/>
                  <a:pt x="198" y="38"/>
                </a:cubicBezTo>
                <a:cubicBezTo>
                  <a:pt x="199" y="38"/>
                  <a:pt x="198" y="37"/>
                  <a:pt x="198" y="36"/>
                </a:cubicBezTo>
                <a:cubicBezTo>
                  <a:pt x="198" y="36"/>
                  <a:pt x="198" y="36"/>
                  <a:pt x="198" y="36"/>
                </a:cubicBezTo>
                <a:cubicBezTo>
                  <a:pt x="197" y="36"/>
                  <a:pt x="196" y="36"/>
                  <a:pt x="195" y="37"/>
                </a:cubicBezTo>
                <a:cubicBezTo>
                  <a:pt x="195" y="38"/>
                  <a:pt x="194" y="39"/>
                  <a:pt x="193" y="40"/>
                </a:cubicBezTo>
                <a:cubicBezTo>
                  <a:pt x="190" y="40"/>
                  <a:pt x="190" y="40"/>
                  <a:pt x="186" y="40"/>
                </a:cubicBezTo>
                <a:cubicBezTo>
                  <a:pt x="186" y="40"/>
                  <a:pt x="185" y="41"/>
                  <a:pt x="185" y="42"/>
                </a:cubicBezTo>
                <a:cubicBezTo>
                  <a:pt x="185" y="42"/>
                  <a:pt x="185" y="42"/>
                  <a:pt x="185" y="42"/>
                </a:cubicBezTo>
                <a:cubicBezTo>
                  <a:pt x="185" y="43"/>
                  <a:pt x="186" y="44"/>
                  <a:pt x="186" y="44"/>
                </a:cubicBezTo>
                <a:cubicBezTo>
                  <a:pt x="194" y="44"/>
                  <a:pt x="194" y="44"/>
                  <a:pt x="194" y="44"/>
                </a:cubicBezTo>
                <a:cubicBezTo>
                  <a:pt x="195" y="44"/>
                  <a:pt x="195" y="43"/>
                  <a:pt x="196" y="43"/>
                </a:cubicBezTo>
                <a:close/>
                <a:moveTo>
                  <a:pt x="217" y="1"/>
                </a:moveTo>
                <a:cubicBezTo>
                  <a:pt x="215" y="4"/>
                  <a:pt x="213" y="7"/>
                  <a:pt x="211" y="11"/>
                </a:cubicBezTo>
                <a:cubicBezTo>
                  <a:pt x="211" y="12"/>
                  <a:pt x="211" y="13"/>
                  <a:pt x="212" y="13"/>
                </a:cubicBezTo>
                <a:cubicBezTo>
                  <a:pt x="212" y="13"/>
                  <a:pt x="212" y="13"/>
                  <a:pt x="212" y="13"/>
                </a:cubicBezTo>
                <a:cubicBezTo>
                  <a:pt x="212" y="14"/>
                  <a:pt x="213" y="13"/>
                  <a:pt x="214" y="13"/>
                </a:cubicBezTo>
                <a:cubicBezTo>
                  <a:pt x="216" y="9"/>
                  <a:pt x="218" y="6"/>
                  <a:pt x="220" y="3"/>
                </a:cubicBezTo>
                <a:cubicBezTo>
                  <a:pt x="221" y="2"/>
                  <a:pt x="220" y="1"/>
                  <a:pt x="219" y="0"/>
                </a:cubicBezTo>
                <a:cubicBezTo>
                  <a:pt x="219" y="0"/>
                  <a:pt x="219" y="0"/>
                  <a:pt x="219" y="0"/>
                </a:cubicBezTo>
                <a:cubicBezTo>
                  <a:pt x="219" y="0"/>
                  <a:pt x="218" y="0"/>
                  <a:pt x="217" y="1"/>
                </a:cubicBezTo>
                <a:close/>
                <a:moveTo>
                  <a:pt x="206" y="19"/>
                </a:moveTo>
                <a:cubicBezTo>
                  <a:pt x="204" y="22"/>
                  <a:pt x="202" y="25"/>
                  <a:pt x="200" y="29"/>
                </a:cubicBezTo>
                <a:cubicBezTo>
                  <a:pt x="200" y="29"/>
                  <a:pt x="200" y="31"/>
                  <a:pt x="201" y="31"/>
                </a:cubicBezTo>
                <a:cubicBezTo>
                  <a:pt x="201" y="31"/>
                  <a:pt x="201" y="31"/>
                  <a:pt x="201" y="31"/>
                </a:cubicBezTo>
                <a:cubicBezTo>
                  <a:pt x="201" y="31"/>
                  <a:pt x="203" y="31"/>
                  <a:pt x="203" y="30"/>
                </a:cubicBezTo>
                <a:cubicBezTo>
                  <a:pt x="205" y="27"/>
                  <a:pt x="207" y="24"/>
                  <a:pt x="209" y="20"/>
                </a:cubicBezTo>
                <a:cubicBezTo>
                  <a:pt x="210" y="20"/>
                  <a:pt x="209" y="19"/>
                  <a:pt x="209" y="18"/>
                </a:cubicBezTo>
                <a:cubicBezTo>
                  <a:pt x="209" y="18"/>
                  <a:pt x="209" y="18"/>
                  <a:pt x="209" y="18"/>
                </a:cubicBezTo>
                <a:cubicBezTo>
                  <a:pt x="208" y="18"/>
                  <a:pt x="207" y="18"/>
                  <a:pt x="206" y="19"/>
                </a:cubicBezTo>
                <a:close/>
                <a:moveTo>
                  <a:pt x="0" y="40"/>
                </a:moveTo>
                <a:cubicBezTo>
                  <a:pt x="0" y="44"/>
                  <a:pt x="0" y="44"/>
                  <a:pt x="0" y="44"/>
                </a:cubicBezTo>
                <a:cubicBezTo>
                  <a:pt x="8" y="44"/>
                  <a:pt x="8" y="44"/>
                  <a:pt x="8" y="44"/>
                </a:cubicBezTo>
                <a:cubicBezTo>
                  <a:pt x="9" y="44"/>
                  <a:pt x="10" y="43"/>
                  <a:pt x="10" y="42"/>
                </a:cubicBezTo>
                <a:cubicBezTo>
                  <a:pt x="10" y="42"/>
                  <a:pt x="10" y="42"/>
                  <a:pt x="10" y="42"/>
                </a:cubicBezTo>
                <a:cubicBezTo>
                  <a:pt x="10" y="41"/>
                  <a:pt x="9" y="40"/>
                  <a:pt x="8" y="40"/>
                </a:cubicBezTo>
                <a:cubicBezTo>
                  <a:pt x="0" y="40"/>
                  <a:pt x="0" y="40"/>
                  <a:pt x="0" y="40"/>
                </a:cubicBezTo>
                <a:close/>
                <a:moveTo>
                  <a:pt x="40" y="44"/>
                </a:moveTo>
                <a:cubicBezTo>
                  <a:pt x="43" y="44"/>
                  <a:pt x="47" y="44"/>
                  <a:pt x="51" y="44"/>
                </a:cubicBezTo>
                <a:cubicBezTo>
                  <a:pt x="52" y="44"/>
                  <a:pt x="53" y="43"/>
                  <a:pt x="53" y="42"/>
                </a:cubicBezTo>
                <a:cubicBezTo>
                  <a:pt x="53" y="42"/>
                  <a:pt x="53" y="42"/>
                  <a:pt x="53" y="42"/>
                </a:cubicBezTo>
                <a:cubicBezTo>
                  <a:pt x="53" y="41"/>
                  <a:pt x="52" y="40"/>
                  <a:pt x="51" y="40"/>
                </a:cubicBezTo>
                <a:cubicBezTo>
                  <a:pt x="47" y="40"/>
                  <a:pt x="43" y="40"/>
                  <a:pt x="40" y="40"/>
                </a:cubicBezTo>
                <a:cubicBezTo>
                  <a:pt x="39" y="40"/>
                  <a:pt x="38" y="41"/>
                  <a:pt x="38" y="42"/>
                </a:cubicBezTo>
                <a:cubicBezTo>
                  <a:pt x="38" y="42"/>
                  <a:pt x="38" y="42"/>
                  <a:pt x="38" y="42"/>
                </a:cubicBezTo>
                <a:cubicBezTo>
                  <a:pt x="38" y="43"/>
                  <a:pt x="39" y="44"/>
                  <a:pt x="40" y="44"/>
                </a:cubicBezTo>
                <a:close/>
                <a:moveTo>
                  <a:pt x="60" y="44"/>
                </a:moveTo>
                <a:cubicBezTo>
                  <a:pt x="64" y="44"/>
                  <a:pt x="68" y="44"/>
                  <a:pt x="72" y="44"/>
                </a:cubicBezTo>
                <a:cubicBezTo>
                  <a:pt x="73" y="44"/>
                  <a:pt x="74" y="43"/>
                  <a:pt x="74" y="42"/>
                </a:cubicBezTo>
                <a:cubicBezTo>
                  <a:pt x="74" y="42"/>
                  <a:pt x="74" y="42"/>
                  <a:pt x="74" y="42"/>
                </a:cubicBezTo>
                <a:cubicBezTo>
                  <a:pt x="74" y="41"/>
                  <a:pt x="73" y="40"/>
                  <a:pt x="72" y="40"/>
                </a:cubicBezTo>
                <a:cubicBezTo>
                  <a:pt x="68" y="40"/>
                  <a:pt x="64" y="40"/>
                  <a:pt x="60" y="40"/>
                </a:cubicBezTo>
                <a:cubicBezTo>
                  <a:pt x="60" y="40"/>
                  <a:pt x="59" y="41"/>
                  <a:pt x="59" y="42"/>
                </a:cubicBezTo>
                <a:cubicBezTo>
                  <a:pt x="59" y="42"/>
                  <a:pt x="59" y="42"/>
                  <a:pt x="59" y="42"/>
                </a:cubicBezTo>
                <a:cubicBezTo>
                  <a:pt x="59" y="43"/>
                  <a:pt x="60" y="44"/>
                  <a:pt x="60" y="44"/>
                </a:cubicBezTo>
                <a:close/>
                <a:moveTo>
                  <a:pt x="81" y="44"/>
                </a:moveTo>
                <a:cubicBezTo>
                  <a:pt x="85" y="44"/>
                  <a:pt x="89" y="44"/>
                  <a:pt x="93" y="44"/>
                </a:cubicBezTo>
                <a:cubicBezTo>
                  <a:pt x="94" y="44"/>
                  <a:pt x="95" y="43"/>
                  <a:pt x="95" y="42"/>
                </a:cubicBezTo>
                <a:cubicBezTo>
                  <a:pt x="95" y="42"/>
                  <a:pt x="95" y="42"/>
                  <a:pt x="95" y="42"/>
                </a:cubicBezTo>
                <a:cubicBezTo>
                  <a:pt x="95" y="41"/>
                  <a:pt x="94" y="40"/>
                  <a:pt x="93" y="40"/>
                </a:cubicBezTo>
                <a:cubicBezTo>
                  <a:pt x="89" y="40"/>
                  <a:pt x="85" y="40"/>
                  <a:pt x="81" y="40"/>
                </a:cubicBezTo>
                <a:cubicBezTo>
                  <a:pt x="81" y="40"/>
                  <a:pt x="80" y="41"/>
                  <a:pt x="80" y="42"/>
                </a:cubicBezTo>
                <a:cubicBezTo>
                  <a:pt x="80" y="42"/>
                  <a:pt x="80" y="42"/>
                  <a:pt x="80" y="42"/>
                </a:cubicBezTo>
                <a:cubicBezTo>
                  <a:pt x="80" y="43"/>
                  <a:pt x="81" y="44"/>
                  <a:pt x="81" y="44"/>
                </a:cubicBezTo>
                <a:close/>
                <a:moveTo>
                  <a:pt x="102" y="44"/>
                </a:moveTo>
                <a:cubicBezTo>
                  <a:pt x="106" y="44"/>
                  <a:pt x="110" y="44"/>
                  <a:pt x="114" y="44"/>
                </a:cubicBezTo>
                <a:cubicBezTo>
                  <a:pt x="115" y="44"/>
                  <a:pt x="116" y="43"/>
                  <a:pt x="116" y="42"/>
                </a:cubicBezTo>
                <a:cubicBezTo>
                  <a:pt x="116" y="42"/>
                  <a:pt x="116" y="42"/>
                  <a:pt x="116" y="42"/>
                </a:cubicBezTo>
                <a:cubicBezTo>
                  <a:pt x="116" y="41"/>
                  <a:pt x="115" y="40"/>
                  <a:pt x="114" y="40"/>
                </a:cubicBezTo>
                <a:cubicBezTo>
                  <a:pt x="110" y="40"/>
                  <a:pt x="106" y="40"/>
                  <a:pt x="102" y="40"/>
                </a:cubicBezTo>
                <a:cubicBezTo>
                  <a:pt x="102" y="40"/>
                  <a:pt x="101" y="41"/>
                  <a:pt x="101" y="42"/>
                </a:cubicBezTo>
                <a:cubicBezTo>
                  <a:pt x="101" y="42"/>
                  <a:pt x="101" y="42"/>
                  <a:pt x="101" y="42"/>
                </a:cubicBezTo>
                <a:cubicBezTo>
                  <a:pt x="101" y="43"/>
                  <a:pt x="102" y="44"/>
                  <a:pt x="102" y="44"/>
                </a:cubicBezTo>
                <a:close/>
                <a:moveTo>
                  <a:pt x="123" y="44"/>
                </a:moveTo>
                <a:cubicBezTo>
                  <a:pt x="127" y="44"/>
                  <a:pt x="131" y="44"/>
                  <a:pt x="135" y="44"/>
                </a:cubicBezTo>
                <a:cubicBezTo>
                  <a:pt x="136" y="44"/>
                  <a:pt x="137" y="43"/>
                  <a:pt x="137" y="42"/>
                </a:cubicBezTo>
                <a:cubicBezTo>
                  <a:pt x="137" y="42"/>
                  <a:pt x="137" y="42"/>
                  <a:pt x="137" y="42"/>
                </a:cubicBezTo>
                <a:cubicBezTo>
                  <a:pt x="137" y="41"/>
                  <a:pt x="136" y="40"/>
                  <a:pt x="135" y="40"/>
                </a:cubicBezTo>
                <a:cubicBezTo>
                  <a:pt x="131" y="40"/>
                  <a:pt x="127" y="40"/>
                  <a:pt x="123" y="40"/>
                </a:cubicBezTo>
                <a:cubicBezTo>
                  <a:pt x="123" y="40"/>
                  <a:pt x="122" y="41"/>
                  <a:pt x="122" y="42"/>
                </a:cubicBezTo>
                <a:cubicBezTo>
                  <a:pt x="122" y="42"/>
                  <a:pt x="122" y="42"/>
                  <a:pt x="122" y="42"/>
                </a:cubicBezTo>
                <a:cubicBezTo>
                  <a:pt x="122" y="43"/>
                  <a:pt x="123" y="44"/>
                  <a:pt x="123" y="44"/>
                </a:cubicBezTo>
                <a:close/>
                <a:moveTo>
                  <a:pt x="144" y="44"/>
                </a:moveTo>
                <a:cubicBezTo>
                  <a:pt x="148" y="44"/>
                  <a:pt x="152" y="44"/>
                  <a:pt x="156" y="44"/>
                </a:cubicBezTo>
                <a:cubicBezTo>
                  <a:pt x="157" y="44"/>
                  <a:pt x="158" y="43"/>
                  <a:pt x="158" y="42"/>
                </a:cubicBezTo>
                <a:cubicBezTo>
                  <a:pt x="158" y="42"/>
                  <a:pt x="158" y="42"/>
                  <a:pt x="158" y="42"/>
                </a:cubicBezTo>
                <a:cubicBezTo>
                  <a:pt x="158" y="41"/>
                  <a:pt x="157" y="40"/>
                  <a:pt x="156" y="40"/>
                </a:cubicBezTo>
                <a:cubicBezTo>
                  <a:pt x="152" y="40"/>
                  <a:pt x="148" y="40"/>
                  <a:pt x="144" y="40"/>
                </a:cubicBezTo>
                <a:cubicBezTo>
                  <a:pt x="144" y="40"/>
                  <a:pt x="143" y="41"/>
                  <a:pt x="143" y="42"/>
                </a:cubicBezTo>
                <a:cubicBezTo>
                  <a:pt x="143" y="42"/>
                  <a:pt x="143" y="42"/>
                  <a:pt x="143" y="42"/>
                </a:cubicBezTo>
                <a:cubicBezTo>
                  <a:pt x="143" y="43"/>
                  <a:pt x="144" y="44"/>
                  <a:pt x="144" y="44"/>
                </a:cubicBezTo>
                <a:close/>
                <a:moveTo>
                  <a:pt x="165" y="44"/>
                </a:moveTo>
                <a:cubicBezTo>
                  <a:pt x="169" y="44"/>
                  <a:pt x="173" y="44"/>
                  <a:pt x="177" y="44"/>
                </a:cubicBezTo>
                <a:cubicBezTo>
                  <a:pt x="178" y="44"/>
                  <a:pt x="179" y="43"/>
                  <a:pt x="179" y="42"/>
                </a:cubicBezTo>
                <a:cubicBezTo>
                  <a:pt x="179" y="42"/>
                  <a:pt x="179" y="42"/>
                  <a:pt x="179" y="42"/>
                </a:cubicBezTo>
                <a:cubicBezTo>
                  <a:pt x="179" y="41"/>
                  <a:pt x="178" y="40"/>
                  <a:pt x="177" y="40"/>
                </a:cubicBezTo>
                <a:cubicBezTo>
                  <a:pt x="173" y="40"/>
                  <a:pt x="169" y="40"/>
                  <a:pt x="165" y="40"/>
                </a:cubicBezTo>
                <a:cubicBezTo>
                  <a:pt x="165" y="40"/>
                  <a:pt x="164" y="41"/>
                  <a:pt x="164" y="42"/>
                </a:cubicBezTo>
                <a:cubicBezTo>
                  <a:pt x="164" y="42"/>
                  <a:pt x="164" y="42"/>
                  <a:pt x="164" y="42"/>
                </a:cubicBezTo>
                <a:cubicBezTo>
                  <a:pt x="164" y="43"/>
                  <a:pt x="165" y="44"/>
                  <a:pt x="165" y="44"/>
                </a:cubicBezTo>
                <a:close/>
              </a:path>
            </a:pathLst>
          </a:custGeom>
          <a:solidFill>
            <a:srgbClr val="FDD8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49" name="Freeform 40"/>
          <p:cNvSpPr>
            <a:spLocks noEditPoints="1"/>
          </p:cNvSpPr>
          <p:nvPr/>
        </p:nvSpPr>
        <p:spPr bwMode="auto">
          <a:xfrm>
            <a:off x="1619424" y="4865712"/>
            <a:ext cx="1870075" cy="431800"/>
          </a:xfrm>
          <a:custGeom>
            <a:avLst/>
            <a:gdLst>
              <a:gd name="T0" fmla="*/ 30 w 225"/>
              <a:gd name="T1" fmla="*/ 0 h 52"/>
              <a:gd name="T2" fmla="*/ 32 w 225"/>
              <a:gd name="T3" fmla="*/ 2 h 52"/>
              <a:gd name="T4" fmla="*/ 19 w 225"/>
              <a:gd name="T5" fmla="*/ 4 h 52"/>
              <a:gd name="T6" fmla="*/ 17 w 225"/>
              <a:gd name="T7" fmla="*/ 2 h 52"/>
              <a:gd name="T8" fmla="*/ 224 w 225"/>
              <a:gd name="T9" fmla="*/ 49 h 52"/>
              <a:gd name="T10" fmla="*/ 225 w 225"/>
              <a:gd name="T11" fmla="*/ 50 h 52"/>
              <a:gd name="T12" fmla="*/ 224 w 225"/>
              <a:gd name="T13" fmla="*/ 52 h 52"/>
              <a:gd name="T14" fmla="*/ 222 w 225"/>
              <a:gd name="T15" fmla="*/ 51 h 52"/>
              <a:gd name="T16" fmla="*/ 224 w 225"/>
              <a:gd name="T17" fmla="*/ 49 h 52"/>
              <a:gd name="T18" fmla="*/ 198 w 225"/>
              <a:gd name="T19" fmla="*/ 6 h 52"/>
              <a:gd name="T20" fmla="*/ 198 w 225"/>
              <a:gd name="T21" fmla="*/ 8 h 52"/>
              <a:gd name="T22" fmla="*/ 193 w 225"/>
              <a:gd name="T23" fmla="*/ 4 h 52"/>
              <a:gd name="T24" fmla="*/ 185 w 225"/>
              <a:gd name="T25" fmla="*/ 2 h 52"/>
              <a:gd name="T26" fmla="*/ 186 w 225"/>
              <a:gd name="T27" fmla="*/ 0 h 52"/>
              <a:gd name="T28" fmla="*/ 196 w 225"/>
              <a:gd name="T29" fmla="*/ 1 h 52"/>
              <a:gd name="T30" fmla="*/ 211 w 225"/>
              <a:gd name="T31" fmla="*/ 33 h 52"/>
              <a:gd name="T32" fmla="*/ 212 w 225"/>
              <a:gd name="T33" fmla="*/ 31 h 52"/>
              <a:gd name="T34" fmla="*/ 220 w 225"/>
              <a:gd name="T35" fmla="*/ 41 h 52"/>
              <a:gd name="T36" fmla="*/ 219 w 225"/>
              <a:gd name="T37" fmla="*/ 44 h 52"/>
              <a:gd name="T38" fmla="*/ 206 w 225"/>
              <a:gd name="T39" fmla="*/ 25 h 52"/>
              <a:gd name="T40" fmla="*/ 201 w 225"/>
              <a:gd name="T41" fmla="*/ 13 h 52"/>
              <a:gd name="T42" fmla="*/ 203 w 225"/>
              <a:gd name="T43" fmla="*/ 14 h 52"/>
              <a:gd name="T44" fmla="*/ 209 w 225"/>
              <a:gd name="T45" fmla="*/ 26 h 52"/>
              <a:gd name="T46" fmla="*/ 206 w 225"/>
              <a:gd name="T47" fmla="*/ 25 h 52"/>
              <a:gd name="T48" fmla="*/ 0 w 225"/>
              <a:gd name="T49" fmla="*/ 0 h 52"/>
              <a:gd name="T50" fmla="*/ 10 w 225"/>
              <a:gd name="T51" fmla="*/ 2 h 52"/>
              <a:gd name="T52" fmla="*/ 8 w 225"/>
              <a:gd name="T53" fmla="*/ 4 h 52"/>
              <a:gd name="T54" fmla="*/ 40 w 225"/>
              <a:gd name="T55" fmla="*/ 0 h 52"/>
              <a:gd name="T56" fmla="*/ 53 w 225"/>
              <a:gd name="T57" fmla="*/ 2 h 52"/>
              <a:gd name="T58" fmla="*/ 51 w 225"/>
              <a:gd name="T59" fmla="*/ 4 h 52"/>
              <a:gd name="T60" fmla="*/ 38 w 225"/>
              <a:gd name="T61" fmla="*/ 2 h 52"/>
              <a:gd name="T62" fmla="*/ 40 w 225"/>
              <a:gd name="T63" fmla="*/ 0 h 52"/>
              <a:gd name="T64" fmla="*/ 72 w 225"/>
              <a:gd name="T65" fmla="*/ 0 h 52"/>
              <a:gd name="T66" fmla="*/ 74 w 225"/>
              <a:gd name="T67" fmla="*/ 2 h 52"/>
              <a:gd name="T68" fmla="*/ 60 w 225"/>
              <a:gd name="T69" fmla="*/ 4 h 52"/>
              <a:gd name="T70" fmla="*/ 59 w 225"/>
              <a:gd name="T71" fmla="*/ 2 h 52"/>
              <a:gd name="T72" fmla="*/ 81 w 225"/>
              <a:gd name="T73" fmla="*/ 0 h 52"/>
              <a:gd name="T74" fmla="*/ 95 w 225"/>
              <a:gd name="T75" fmla="*/ 2 h 52"/>
              <a:gd name="T76" fmla="*/ 93 w 225"/>
              <a:gd name="T77" fmla="*/ 4 h 52"/>
              <a:gd name="T78" fmla="*/ 80 w 225"/>
              <a:gd name="T79" fmla="*/ 2 h 52"/>
              <a:gd name="T80" fmla="*/ 81 w 225"/>
              <a:gd name="T81" fmla="*/ 0 h 52"/>
              <a:gd name="T82" fmla="*/ 114 w 225"/>
              <a:gd name="T83" fmla="*/ 0 h 52"/>
              <a:gd name="T84" fmla="*/ 116 w 225"/>
              <a:gd name="T85" fmla="*/ 2 h 52"/>
              <a:gd name="T86" fmla="*/ 102 w 225"/>
              <a:gd name="T87" fmla="*/ 4 h 52"/>
              <a:gd name="T88" fmla="*/ 101 w 225"/>
              <a:gd name="T89" fmla="*/ 2 h 52"/>
              <a:gd name="T90" fmla="*/ 123 w 225"/>
              <a:gd name="T91" fmla="*/ 0 h 52"/>
              <a:gd name="T92" fmla="*/ 137 w 225"/>
              <a:gd name="T93" fmla="*/ 2 h 52"/>
              <a:gd name="T94" fmla="*/ 135 w 225"/>
              <a:gd name="T95" fmla="*/ 4 h 52"/>
              <a:gd name="T96" fmla="*/ 122 w 225"/>
              <a:gd name="T97" fmla="*/ 2 h 52"/>
              <a:gd name="T98" fmla="*/ 123 w 225"/>
              <a:gd name="T99" fmla="*/ 0 h 52"/>
              <a:gd name="T100" fmla="*/ 156 w 225"/>
              <a:gd name="T101" fmla="*/ 0 h 52"/>
              <a:gd name="T102" fmla="*/ 158 w 225"/>
              <a:gd name="T103" fmla="*/ 2 h 52"/>
              <a:gd name="T104" fmla="*/ 144 w 225"/>
              <a:gd name="T105" fmla="*/ 4 h 52"/>
              <a:gd name="T106" fmla="*/ 143 w 225"/>
              <a:gd name="T107" fmla="*/ 2 h 52"/>
              <a:gd name="T108" fmla="*/ 165 w 225"/>
              <a:gd name="T109" fmla="*/ 0 h 52"/>
              <a:gd name="T110" fmla="*/ 179 w 225"/>
              <a:gd name="T111" fmla="*/ 2 h 52"/>
              <a:gd name="T112" fmla="*/ 177 w 225"/>
              <a:gd name="T113" fmla="*/ 4 h 52"/>
              <a:gd name="T114" fmla="*/ 164 w 225"/>
              <a:gd name="T115" fmla="*/ 2 h 52"/>
              <a:gd name="T116" fmla="*/ 165 w 225"/>
              <a:gd name="T1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5" h="52">
                <a:moveTo>
                  <a:pt x="19" y="0"/>
                </a:moveTo>
                <a:cubicBezTo>
                  <a:pt x="22" y="0"/>
                  <a:pt x="26" y="0"/>
                  <a:pt x="30" y="0"/>
                </a:cubicBezTo>
                <a:cubicBezTo>
                  <a:pt x="31" y="0"/>
                  <a:pt x="32" y="1"/>
                  <a:pt x="32" y="2"/>
                </a:cubicBezTo>
                <a:cubicBezTo>
                  <a:pt x="32" y="2"/>
                  <a:pt x="32" y="2"/>
                  <a:pt x="32" y="2"/>
                </a:cubicBezTo>
                <a:cubicBezTo>
                  <a:pt x="32" y="3"/>
                  <a:pt x="31" y="4"/>
                  <a:pt x="30" y="4"/>
                </a:cubicBezTo>
                <a:cubicBezTo>
                  <a:pt x="26" y="4"/>
                  <a:pt x="22" y="4"/>
                  <a:pt x="19" y="4"/>
                </a:cubicBezTo>
                <a:cubicBezTo>
                  <a:pt x="18" y="4"/>
                  <a:pt x="17" y="3"/>
                  <a:pt x="17" y="2"/>
                </a:cubicBezTo>
                <a:cubicBezTo>
                  <a:pt x="17" y="2"/>
                  <a:pt x="17" y="2"/>
                  <a:pt x="17" y="2"/>
                </a:cubicBezTo>
                <a:cubicBezTo>
                  <a:pt x="17" y="1"/>
                  <a:pt x="18" y="0"/>
                  <a:pt x="19" y="0"/>
                </a:cubicBezTo>
                <a:close/>
                <a:moveTo>
                  <a:pt x="224" y="49"/>
                </a:moveTo>
                <a:cubicBezTo>
                  <a:pt x="224" y="49"/>
                  <a:pt x="224" y="49"/>
                  <a:pt x="224" y="49"/>
                </a:cubicBezTo>
                <a:cubicBezTo>
                  <a:pt x="225" y="49"/>
                  <a:pt x="225" y="49"/>
                  <a:pt x="225" y="50"/>
                </a:cubicBezTo>
                <a:cubicBezTo>
                  <a:pt x="225" y="51"/>
                  <a:pt x="225" y="51"/>
                  <a:pt x="225" y="51"/>
                </a:cubicBezTo>
                <a:cubicBezTo>
                  <a:pt x="225" y="52"/>
                  <a:pt x="225" y="52"/>
                  <a:pt x="224" y="52"/>
                </a:cubicBezTo>
                <a:cubicBezTo>
                  <a:pt x="224" y="52"/>
                  <a:pt x="224" y="52"/>
                  <a:pt x="224" y="52"/>
                </a:cubicBezTo>
                <a:cubicBezTo>
                  <a:pt x="223" y="52"/>
                  <a:pt x="222" y="52"/>
                  <a:pt x="222" y="51"/>
                </a:cubicBezTo>
                <a:cubicBezTo>
                  <a:pt x="222" y="50"/>
                  <a:pt x="222" y="50"/>
                  <a:pt x="222" y="50"/>
                </a:cubicBezTo>
                <a:cubicBezTo>
                  <a:pt x="222" y="49"/>
                  <a:pt x="223" y="49"/>
                  <a:pt x="224" y="49"/>
                </a:cubicBezTo>
                <a:close/>
                <a:moveTo>
                  <a:pt x="196" y="1"/>
                </a:moveTo>
                <a:cubicBezTo>
                  <a:pt x="196" y="3"/>
                  <a:pt x="197" y="4"/>
                  <a:pt x="198" y="6"/>
                </a:cubicBezTo>
                <a:cubicBezTo>
                  <a:pt x="199" y="6"/>
                  <a:pt x="198" y="7"/>
                  <a:pt x="198" y="8"/>
                </a:cubicBezTo>
                <a:cubicBezTo>
                  <a:pt x="198" y="8"/>
                  <a:pt x="198" y="8"/>
                  <a:pt x="198" y="8"/>
                </a:cubicBezTo>
                <a:cubicBezTo>
                  <a:pt x="197" y="8"/>
                  <a:pt x="196" y="8"/>
                  <a:pt x="195" y="7"/>
                </a:cubicBezTo>
                <a:cubicBezTo>
                  <a:pt x="195" y="6"/>
                  <a:pt x="194" y="5"/>
                  <a:pt x="193" y="4"/>
                </a:cubicBezTo>
                <a:cubicBezTo>
                  <a:pt x="190" y="4"/>
                  <a:pt x="190" y="4"/>
                  <a:pt x="186" y="4"/>
                </a:cubicBezTo>
                <a:cubicBezTo>
                  <a:pt x="186" y="4"/>
                  <a:pt x="185" y="3"/>
                  <a:pt x="185" y="2"/>
                </a:cubicBezTo>
                <a:cubicBezTo>
                  <a:pt x="185" y="2"/>
                  <a:pt x="185" y="2"/>
                  <a:pt x="185" y="2"/>
                </a:cubicBezTo>
                <a:cubicBezTo>
                  <a:pt x="185" y="1"/>
                  <a:pt x="186" y="0"/>
                  <a:pt x="186" y="0"/>
                </a:cubicBezTo>
                <a:cubicBezTo>
                  <a:pt x="194" y="0"/>
                  <a:pt x="194" y="0"/>
                  <a:pt x="194" y="0"/>
                </a:cubicBezTo>
                <a:cubicBezTo>
                  <a:pt x="195" y="0"/>
                  <a:pt x="195" y="1"/>
                  <a:pt x="196" y="1"/>
                </a:cubicBezTo>
                <a:close/>
                <a:moveTo>
                  <a:pt x="217" y="43"/>
                </a:moveTo>
                <a:cubicBezTo>
                  <a:pt x="215" y="40"/>
                  <a:pt x="213" y="37"/>
                  <a:pt x="211" y="33"/>
                </a:cubicBezTo>
                <a:cubicBezTo>
                  <a:pt x="211" y="32"/>
                  <a:pt x="211" y="31"/>
                  <a:pt x="212" y="31"/>
                </a:cubicBezTo>
                <a:cubicBezTo>
                  <a:pt x="212" y="31"/>
                  <a:pt x="212" y="31"/>
                  <a:pt x="212" y="31"/>
                </a:cubicBezTo>
                <a:cubicBezTo>
                  <a:pt x="212" y="30"/>
                  <a:pt x="213" y="31"/>
                  <a:pt x="214" y="31"/>
                </a:cubicBezTo>
                <a:cubicBezTo>
                  <a:pt x="216" y="35"/>
                  <a:pt x="218" y="38"/>
                  <a:pt x="220" y="41"/>
                </a:cubicBezTo>
                <a:cubicBezTo>
                  <a:pt x="221" y="42"/>
                  <a:pt x="220" y="43"/>
                  <a:pt x="219" y="44"/>
                </a:cubicBezTo>
                <a:cubicBezTo>
                  <a:pt x="219" y="44"/>
                  <a:pt x="219" y="44"/>
                  <a:pt x="219" y="44"/>
                </a:cubicBezTo>
                <a:cubicBezTo>
                  <a:pt x="219" y="44"/>
                  <a:pt x="218" y="44"/>
                  <a:pt x="217" y="43"/>
                </a:cubicBezTo>
                <a:close/>
                <a:moveTo>
                  <a:pt x="206" y="25"/>
                </a:moveTo>
                <a:cubicBezTo>
                  <a:pt x="204" y="22"/>
                  <a:pt x="202" y="19"/>
                  <a:pt x="200" y="15"/>
                </a:cubicBezTo>
                <a:cubicBezTo>
                  <a:pt x="200" y="14"/>
                  <a:pt x="200" y="13"/>
                  <a:pt x="201" y="13"/>
                </a:cubicBezTo>
                <a:cubicBezTo>
                  <a:pt x="201" y="13"/>
                  <a:pt x="201" y="13"/>
                  <a:pt x="201" y="13"/>
                </a:cubicBezTo>
                <a:cubicBezTo>
                  <a:pt x="201" y="12"/>
                  <a:pt x="203" y="13"/>
                  <a:pt x="203" y="14"/>
                </a:cubicBezTo>
                <a:cubicBezTo>
                  <a:pt x="205" y="17"/>
                  <a:pt x="207" y="20"/>
                  <a:pt x="209" y="24"/>
                </a:cubicBezTo>
                <a:cubicBezTo>
                  <a:pt x="210" y="24"/>
                  <a:pt x="209" y="25"/>
                  <a:pt x="209" y="26"/>
                </a:cubicBezTo>
                <a:cubicBezTo>
                  <a:pt x="209" y="26"/>
                  <a:pt x="209" y="26"/>
                  <a:pt x="209" y="26"/>
                </a:cubicBezTo>
                <a:cubicBezTo>
                  <a:pt x="208" y="26"/>
                  <a:pt x="207" y="26"/>
                  <a:pt x="206" y="25"/>
                </a:cubicBezTo>
                <a:close/>
                <a:moveTo>
                  <a:pt x="0" y="4"/>
                </a:moveTo>
                <a:cubicBezTo>
                  <a:pt x="0" y="0"/>
                  <a:pt x="0" y="0"/>
                  <a:pt x="0" y="0"/>
                </a:cubicBezTo>
                <a:cubicBezTo>
                  <a:pt x="8" y="0"/>
                  <a:pt x="8" y="0"/>
                  <a:pt x="8" y="0"/>
                </a:cubicBezTo>
                <a:cubicBezTo>
                  <a:pt x="9" y="0"/>
                  <a:pt x="10" y="1"/>
                  <a:pt x="10" y="2"/>
                </a:cubicBezTo>
                <a:cubicBezTo>
                  <a:pt x="10" y="2"/>
                  <a:pt x="10" y="2"/>
                  <a:pt x="10" y="2"/>
                </a:cubicBezTo>
                <a:cubicBezTo>
                  <a:pt x="10" y="3"/>
                  <a:pt x="9" y="4"/>
                  <a:pt x="8" y="4"/>
                </a:cubicBezTo>
                <a:cubicBezTo>
                  <a:pt x="0" y="4"/>
                  <a:pt x="0" y="4"/>
                  <a:pt x="0" y="4"/>
                </a:cubicBezTo>
                <a:close/>
                <a:moveTo>
                  <a:pt x="40" y="0"/>
                </a:moveTo>
                <a:cubicBezTo>
                  <a:pt x="43" y="0"/>
                  <a:pt x="47" y="0"/>
                  <a:pt x="51" y="0"/>
                </a:cubicBezTo>
                <a:cubicBezTo>
                  <a:pt x="52" y="0"/>
                  <a:pt x="53" y="1"/>
                  <a:pt x="53" y="2"/>
                </a:cubicBezTo>
                <a:cubicBezTo>
                  <a:pt x="53" y="2"/>
                  <a:pt x="53" y="2"/>
                  <a:pt x="53" y="2"/>
                </a:cubicBezTo>
                <a:cubicBezTo>
                  <a:pt x="53" y="3"/>
                  <a:pt x="52" y="4"/>
                  <a:pt x="51" y="4"/>
                </a:cubicBezTo>
                <a:cubicBezTo>
                  <a:pt x="47" y="4"/>
                  <a:pt x="43" y="4"/>
                  <a:pt x="40" y="4"/>
                </a:cubicBezTo>
                <a:cubicBezTo>
                  <a:pt x="39" y="4"/>
                  <a:pt x="38" y="3"/>
                  <a:pt x="38" y="2"/>
                </a:cubicBezTo>
                <a:cubicBezTo>
                  <a:pt x="38" y="2"/>
                  <a:pt x="38" y="2"/>
                  <a:pt x="38" y="2"/>
                </a:cubicBezTo>
                <a:cubicBezTo>
                  <a:pt x="38" y="1"/>
                  <a:pt x="39" y="0"/>
                  <a:pt x="40" y="0"/>
                </a:cubicBezTo>
                <a:close/>
                <a:moveTo>
                  <a:pt x="60" y="0"/>
                </a:moveTo>
                <a:cubicBezTo>
                  <a:pt x="64" y="0"/>
                  <a:pt x="68" y="0"/>
                  <a:pt x="72" y="0"/>
                </a:cubicBezTo>
                <a:cubicBezTo>
                  <a:pt x="73" y="0"/>
                  <a:pt x="74" y="1"/>
                  <a:pt x="74" y="2"/>
                </a:cubicBezTo>
                <a:cubicBezTo>
                  <a:pt x="74" y="2"/>
                  <a:pt x="74" y="2"/>
                  <a:pt x="74" y="2"/>
                </a:cubicBezTo>
                <a:cubicBezTo>
                  <a:pt x="74" y="3"/>
                  <a:pt x="73" y="4"/>
                  <a:pt x="72" y="4"/>
                </a:cubicBezTo>
                <a:cubicBezTo>
                  <a:pt x="68" y="4"/>
                  <a:pt x="64" y="4"/>
                  <a:pt x="60" y="4"/>
                </a:cubicBezTo>
                <a:cubicBezTo>
                  <a:pt x="60" y="4"/>
                  <a:pt x="59" y="3"/>
                  <a:pt x="59" y="2"/>
                </a:cubicBezTo>
                <a:cubicBezTo>
                  <a:pt x="59" y="2"/>
                  <a:pt x="59" y="2"/>
                  <a:pt x="59" y="2"/>
                </a:cubicBezTo>
                <a:cubicBezTo>
                  <a:pt x="59" y="1"/>
                  <a:pt x="60" y="0"/>
                  <a:pt x="60" y="0"/>
                </a:cubicBezTo>
                <a:close/>
                <a:moveTo>
                  <a:pt x="81" y="0"/>
                </a:moveTo>
                <a:cubicBezTo>
                  <a:pt x="85" y="0"/>
                  <a:pt x="89" y="0"/>
                  <a:pt x="93" y="0"/>
                </a:cubicBezTo>
                <a:cubicBezTo>
                  <a:pt x="94" y="0"/>
                  <a:pt x="95" y="1"/>
                  <a:pt x="95" y="2"/>
                </a:cubicBezTo>
                <a:cubicBezTo>
                  <a:pt x="95" y="2"/>
                  <a:pt x="95" y="2"/>
                  <a:pt x="95" y="2"/>
                </a:cubicBezTo>
                <a:cubicBezTo>
                  <a:pt x="95" y="3"/>
                  <a:pt x="94" y="4"/>
                  <a:pt x="93" y="4"/>
                </a:cubicBezTo>
                <a:cubicBezTo>
                  <a:pt x="89" y="4"/>
                  <a:pt x="85" y="4"/>
                  <a:pt x="81" y="4"/>
                </a:cubicBezTo>
                <a:cubicBezTo>
                  <a:pt x="81" y="4"/>
                  <a:pt x="80" y="3"/>
                  <a:pt x="80" y="2"/>
                </a:cubicBezTo>
                <a:cubicBezTo>
                  <a:pt x="80" y="2"/>
                  <a:pt x="80" y="2"/>
                  <a:pt x="80" y="2"/>
                </a:cubicBezTo>
                <a:cubicBezTo>
                  <a:pt x="80" y="1"/>
                  <a:pt x="81" y="0"/>
                  <a:pt x="81" y="0"/>
                </a:cubicBezTo>
                <a:close/>
                <a:moveTo>
                  <a:pt x="102" y="0"/>
                </a:moveTo>
                <a:cubicBezTo>
                  <a:pt x="106" y="0"/>
                  <a:pt x="110" y="0"/>
                  <a:pt x="114" y="0"/>
                </a:cubicBezTo>
                <a:cubicBezTo>
                  <a:pt x="115" y="0"/>
                  <a:pt x="116" y="1"/>
                  <a:pt x="116" y="2"/>
                </a:cubicBezTo>
                <a:cubicBezTo>
                  <a:pt x="116" y="2"/>
                  <a:pt x="116" y="2"/>
                  <a:pt x="116" y="2"/>
                </a:cubicBezTo>
                <a:cubicBezTo>
                  <a:pt x="116" y="3"/>
                  <a:pt x="115" y="4"/>
                  <a:pt x="114" y="4"/>
                </a:cubicBezTo>
                <a:cubicBezTo>
                  <a:pt x="110" y="4"/>
                  <a:pt x="106" y="4"/>
                  <a:pt x="102" y="4"/>
                </a:cubicBezTo>
                <a:cubicBezTo>
                  <a:pt x="102" y="4"/>
                  <a:pt x="101" y="3"/>
                  <a:pt x="101" y="2"/>
                </a:cubicBezTo>
                <a:cubicBezTo>
                  <a:pt x="101" y="2"/>
                  <a:pt x="101" y="2"/>
                  <a:pt x="101" y="2"/>
                </a:cubicBezTo>
                <a:cubicBezTo>
                  <a:pt x="101" y="1"/>
                  <a:pt x="102" y="0"/>
                  <a:pt x="102" y="0"/>
                </a:cubicBezTo>
                <a:close/>
                <a:moveTo>
                  <a:pt x="123" y="0"/>
                </a:moveTo>
                <a:cubicBezTo>
                  <a:pt x="127" y="0"/>
                  <a:pt x="131" y="0"/>
                  <a:pt x="135" y="0"/>
                </a:cubicBezTo>
                <a:cubicBezTo>
                  <a:pt x="136" y="0"/>
                  <a:pt x="137" y="1"/>
                  <a:pt x="137" y="2"/>
                </a:cubicBezTo>
                <a:cubicBezTo>
                  <a:pt x="137" y="2"/>
                  <a:pt x="137" y="2"/>
                  <a:pt x="137" y="2"/>
                </a:cubicBezTo>
                <a:cubicBezTo>
                  <a:pt x="137" y="3"/>
                  <a:pt x="136" y="4"/>
                  <a:pt x="135" y="4"/>
                </a:cubicBezTo>
                <a:cubicBezTo>
                  <a:pt x="131" y="4"/>
                  <a:pt x="127" y="4"/>
                  <a:pt x="123" y="4"/>
                </a:cubicBezTo>
                <a:cubicBezTo>
                  <a:pt x="123" y="4"/>
                  <a:pt x="122" y="3"/>
                  <a:pt x="122" y="2"/>
                </a:cubicBezTo>
                <a:cubicBezTo>
                  <a:pt x="122" y="2"/>
                  <a:pt x="122" y="2"/>
                  <a:pt x="122" y="2"/>
                </a:cubicBezTo>
                <a:cubicBezTo>
                  <a:pt x="122" y="1"/>
                  <a:pt x="123" y="0"/>
                  <a:pt x="123" y="0"/>
                </a:cubicBezTo>
                <a:close/>
                <a:moveTo>
                  <a:pt x="144" y="0"/>
                </a:moveTo>
                <a:cubicBezTo>
                  <a:pt x="148" y="0"/>
                  <a:pt x="152" y="0"/>
                  <a:pt x="156" y="0"/>
                </a:cubicBezTo>
                <a:cubicBezTo>
                  <a:pt x="157" y="0"/>
                  <a:pt x="158" y="1"/>
                  <a:pt x="158" y="2"/>
                </a:cubicBezTo>
                <a:cubicBezTo>
                  <a:pt x="158" y="2"/>
                  <a:pt x="158" y="2"/>
                  <a:pt x="158" y="2"/>
                </a:cubicBezTo>
                <a:cubicBezTo>
                  <a:pt x="158" y="3"/>
                  <a:pt x="157" y="4"/>
                  <a:pt x="156" y="4"/>
                </a:cubicBezTo>
                <a:cubicBezTo>
                  <a:pt x="152" y="4"/>
                  <a:pt x="148" y="4"/>
                  <a:pt x="144" y="4"/>
                </a:cubicBezTo>
                <a:cubicBezTo>
                  <a:pt x="144" y="4"/>
                  <a:pt x="143" y="3"/>
                  <a:pt x="143" y="2"/>
                </a:cubicBezTo>
                <a:cubicBezTo>
                  <a:pt x="143" y="2"/>
                  <a:pt x="143" y="2"/>
                  <a:pt x="143" y="2"/>
                </a:cubicBezTo>
                <a:cubicBezTo>
                  <a:pt x="143" y="1"/>
                  <a:pt x="144" y="0"/>
                  <a:pt x="144" y="0"/>
                </a:cubicBezTo>
                <a:close/>
                <a:moveTo>
                  <a:pt x="165" y="0"/>
                </a:moveTo>
                <a:cubicBezTo>
                  <a:pt x="169" y="0"/>
                  <a:pt x="173" y="0"/>
                  <a:pt x="177" y="0"/>
                </a:cubicBezTo>
                <a:cubicBezTo>
                  <a:pt x="178" y="0"/>
                  <a:pt x="179" y="1"/>
                  <a:pt x="179" y="2"/>
                </a:cubicBezTo>
                <a:cubicBezTo>
                  <a:pt x="179" y="2"/>
                  <a:pt x="179" y="2"/>
                  <a:pt x="179" y="2"/>
                </a:cubicBezTo>
                <a:cubicBezTo>
                  <a:pt x="179" y="3"/>
                  <a:pt x="178" y="4"/>
                  <a:pt x="177" y="4"/>
                </a:cubicBezTo>
                <a:cubicBezTo>
                  <a:pt x="173" y="4"/>
                  <a:pt x="169" y="4"/>
                  <a:pt x="165" y="4"/>
                </a:cubicBezTo>
                <a:cubicBezTo>
                  <a:pt x="165" y="4"/>
                  <a:pt x="164" y="3"/>
                  <a:pt x="164" y="2"/>
                </a:cubicBezTo>
                <a:cubicBezTo>
                  <a:pt x="164" y="2"/>
                  <a:pt x="164" y="2"/>
                  <a:pt x="164" y="2"/>
                </a:cubicBezTo>
                <a:cubicBezTo>
                  <a:pt x="164" y="1"/>
                  <a:pt x="165" y="0"/>
                  <a:pt x="165" y="0"/>
                </a:cubicBezTo>
                <a:close/>
              </a:path>
            </a:pathLst>
          </a:custGeom>
          <a:solidFill>
            <a:srgbClr val="FDD8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50" name="文本框 49"/>
          <p:cNvSpPr txBox="1"/>
          <p:nvPr/>
        </p:nvSpPr>
        <p:spPr>
          <a:xfrm>
            <a:off x="3670701" y="1661673"/>
            <a:ext cx="4573707" cy="757130"/>
          </a:xfrm>
          <a:prstGeom prst="rect">
            <a:avLst/>
          </a:prstGeom>
          <a:noFill/>
        </p:spPr>
        <p:txBody>
          <a:bodyPr wrap="square" rtlCol="0">
            <a:spAutoFit/>
          </a:bodyPr>
          <a:lstStyle/>
          <a:p>
            <a:pPr>
              <a:lnSpc>
                <a:spcPct val="12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虚拟页面被创建并被加载到物理内存，和物理页之间存在映射关系。</a:t>
            </a:r>
          </a:p>
        </p:txBody>
      </p:sp>
      <p:sp>
        <p:nvSpPr>
          <p:cNvPr id="51" name="文本框 50"/>
          <p:cNvSpPr txBox="1"/>
          <p:nvPr/>
        </p:nvSpPr>
        <p:spPr>
          <a:xfrm>
            <a:off x="3670701" y="3290863"/>
            <a:ext cx="4573707" cy="757130"/>
          </a:xfrm>
          <a:prstGeom prst="rect">
            <a:avLst/>
          </a:prstGeom>
          <a:noFill/>
        </p:spPr>
        <p:txBody>
          <a:bodyPr wrap="square" rtlCol="0">
            <a:spAutoFit/>
          </a:bodyPr>
          <a:lstStyle/>
          <a:p>
            <a:pPr>
              <a:lnSpc>
                <a:spcPct val="12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虚拟页被创建，但未被加载到内存或已被调出内存，和物理页面之间没有映射关系。 </a:t>
            </a:r>
          </a:p>
        </p:txBody>
      </p:sp>
      <p:sp>
        <p:nvSpPr>
          <p:cNvPr id="52" name="文本框 51"/>
          <p:cNvSpPr txBox="1"/>
          <p:nvPr/>
        </p:nvSpPr>
        <p:spPr>
          <a:xfrm>
            <a:off x="3670701" y="4920053"/>
            <a:ext cx="4573707" cy="757130"/>
          </a:xfrm>
          <a:prstGeom prst="rect">
            <a:avLst/>
          </a:prstGeom>
          <a:noFill/>
        </p:spPr>
        <p:txBody>
          <a:bodyPr wrap="square" rtlCol="0">
            <a:spAutoFit/>
          </a:bodyPr>
          <a:lstStyle/>
          <a:p>
            <a:pPr>
              <a:lnSpc>
                <a:spcPct val="12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虚拟页面未创建，未被访问所以未加载或是调用</a:t>
            </a:r>
            <a:r>
              <a:rPr lang="en-US" altLang="zh-CN" dirty="0" err="1">
                <a:solidFill>
                  <a:schemeClr val="tx1">
                    <a:lumMod val="65000"/>
                    <a:lumOff val="35000"/>
                  </a:schemeClr>
                </a:solidFill>
                <a:latin typeface="微软雅黑" panose="020B0503020204020204" pitchFamily="34" charset="-122"/>
                <a:ea typeface="微软雅黑" panose="020B0503020204020204" pitchFamily="34" charset="-122"/>
              </a:rPr>
              <a:t>malloc</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分配内存，仅运行时才被创建。 </a:t>
            </a:r>
          </a:p>
        </p:txBody>
      </p:sp>
      <p:sp>
        <p:nvSpPr>
          <p:cNvPr id="53" name="Freeform 45"/>
          <p:cNvSpPr>
            <a:spLocks noChangeAspect="1" noEditPoints="1"/>
          </p:cNvSpPr>
          <p:nvPr/>
        </p:nvSpPr>
        <p:spPr bwMode="auto">
          <a:xfrm>
            <a:off x="1923768" y="5042739"/>
            <a:ext cx="278276" cy="464405"/>
          </a:xfrm>
          <a:custGeom>
            <a:avLst/>
            <a:gdLst>
              <a:gd name="T0" fmla="*/ 427 w 463"/>
              <a:gd name="T1" fmla="*/ 0 h 773"/>
              <a:gd name="T2" fmla="*/ 42 w 463"/>
              <a:gd name="T3" fmla="*/ 0 h 773"/>
              <a:gd name="T4" fmla="*/ 0 w 463"/>
              <a:gd name="T5" fmla="*/ 35 h 773"/>
              <a:gd name="T6" fmla="*/ 0 w 463"/>
              <a:gd name="T7" fmla="*/ 733 h 773"/>
              <a:gd name="T8" fmla="*/ 42 w 463"/>
              <a:gd name="T9" fmla="*/ 773 h 773"/>
              <a:gd name="T10" fmla="*/ 427 w 463"/>
              <a:gd name="T11" fmla="*/ 773 h 773"/>
              <a:gd name="T12" fmla="*/ 463 w 463"/>
              <a:gd name="T13" fmla="*/ 733 h 773"/>
              <a:gd name="T14" fmla="*/ 463 w 463"/>
              <a:gd name="T15" fmla="*/ 35 h 773"/>
              <a:gd name="T16" fmla="*/ 427 w 463"/>
              <a:gd name="T17" fmla="*/ 0 h 773"/>
              <a:gd name="T18" fmla="*/ 152 w 463"/>
              <a:gd name="T19" fmla="*/ 730 h 773"/>
              <a:gd name="T20" fmla="*/ 139 w 463"/>
              <a:gd name="T21" fmla="*/ 743 h 773"/>
              <a:gd name="T22" fmla="*/ 112 w 463"/>
              <a:gd name="T23" fmla="*/ 743 h 773"/>
              <a:gd name="T24" fmla="*/ 99 w 463"/>
              <a:gd name="T25" fmla="*/ 730 h 773"/>
              <a:gd name="T26" fmla="*/ 99 w 463"/>
              <a:gd name="T27" fmla="*/ 722 h 773"/>
              <a:gd name="T28" fmla="*/ 112 w 463"/>
              <a:gd name="T29" fmla="*/ 709 h 773"/>
              <a:gd name="T30" fmla="*/ 139 w 463"/>
              <a:gd name="T31" fmla="*/ 709 h 773"/>
              <a:gd name="T32" fmla="*/ 152 w 463"/>
              <a:gd name="T33" fmla="*/ 722 h 773"/>
              <a:gd name="T34" fmla="*/ 152 w 463"/>
              <a:gd name="T35" fmla="*/ 730 h 773"/>
              <a:gd name="T36" fmla="*/ 263 w 463"/>
              <a:gd name="T37" fmla="*/ 724 h 773"/>
              <a:gd name="T38" fmla="*/ 247 w 463"/>
              <a:gd name="T39" fmla="*/ 743 h 773"/>
              <a:gd name="T40" fmla="*/ 219 w 463"/>
              <a:gd name="T41" fmla="*/ 743 h 773"/>
              <a:gd name="T42" fmla="*/ 202 w 463"/>
              <a:gd name="T43" fmla="*/ 724 h 773"/>
              <a:gd name="T44" fmla="*/ 202 w 463"/>
              <a:gd name="T45" fmla="*/ 716 h 773"/>
              <a:gd name="T46" fmla="*/ 219 w 463"/>
              <a:gd name="T47" fmla="*/ 699 h 773"/>
              <a:gd name="T48" fmla="*/ 247 w 463"/>
              <a:gd name="T49" fmla="*/ 699 h 773"/>
              <a:gd name="T50" fmla="*/ 263 w 463"/>
              <a:gd name="T51" fmla="*/ 716 h 773"/>
              <a:gd name="T52" fmla="*/ 263 w 463"/>
              <a:gd name="T53" fmla="*/ 724 h 773"/>
              <a:gd name="T54" fmla="*/ 366 w 463"/>
              <a:gd name="T55" fmla="*/ 730 h 773"/>
              <a:gd name="T56" fmla="*/ 354 w 463"/>
              <a:gd name="T57" fmla="*/ 743 h 773"/>
              <a:gd name="T58" fmla="*/ 326 w 463"/>
              <a:gd name="T59" fmla="*/ 743 h 773"/>
              <a:gd name="T60" fmla="*/ 314 w 463"/>
              <a:gd name="T61" fmla="*/ 730 h 773"/>
              <a:gd name="T62" fmla="*/ 314 w 463"/>
              <a:gd name="T63" fmla="*/ 722 h 773"/>
              <a:gd name="T64" fmla="*/ 326 w 463"/>
              <a:gd name="T65" fmla="*/ 709 h 773"/>
              <a:gd name="T66" fmla="*/ 354 w 463"/>
              <a:gd name="T67" fmla="*/ 709 h 773"/>
              <a:gd name="T68" fmla="*/ 366 w 463"/>
              <a:gd name="T69" fmla="*/ 722 h 773"/>
              <a:gd name="T70" fmla="*/ 366 w 463"/>
              <a:gd name="T71" fmla="*/ 730 h 773"/>
              <a:gd name="T72" fmla="*/ 417 w 463"/>
              <a:gd name="T73" fmla="*/ 644 h 773"/>
              <a:gd name="T74" fmla="*/ 394 w 463"/>
              <a:gd name="T75" fmla="*/ 671 h 773"/>
              <a:gd name="T76" fmla="*/ 74 w 463"/>
              <a:gd name="T77" fmla="*/ 671 h 773"/>
              <a:gd name="T78" fmla="*/ 49 w 463"/>
              <a:gd name="T79" fmla="*/ 644 h 773"/>
              <a:gd name="T80" fmla="*/ 49 w 463"/>
              <a:gd name="T81" fmla="*/ 67 h 773"/>
              <a:gd name="T82" fmla="*/ 74 w 463"/>
              <a:gd name="T83" fmla="*/ 46 h 773"/>
              <a:gd name="T84" fmla="*/ 394 w 463"/>
              <a:gd name="T85" fmla="*/ 46 h 773"/>
              <a:gd name="T86" fmla="*/ 417 w 463"/>
              <a:gd name="T87" fmla="*/ 67 h 773"/>
              <a:gd name="T88" fmla="*/ 417 w 463"/>
              <a:gd name="T89" fmla="*/ 64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63" h="773">
                <a:moveTo>
                  <a:pt x="427" y="0"/>
                </a:moveTo>
                <a:cubicBezTo>
                  <a:pt x="42" y="0"/>
                  <a:pt x="42" y="0"/>
                  <a:pt x="42" y="0"/>
                </a:cubicBezTo>
                <a:cubicBezTo>
                  <a:pt x="19" y="0"/>
                  <a:pt x="0" y="17"/>
                  <a:pt x="0" y="35"/>
                </a:cubicBezTo>
                <a:cubicBezTo>
                  <a:pt x="0" y="733"/>
                  <a:pt x="0" y="733"/>
                  <a:pt x="0" y="733"/>
                </a:cubicBezTo>
                <a:cubicBezTo>
                  <a:pt x="0" y="756"/>
                  <a:pt x="17" y="773"/>
                  <a:pt x="42" y="773"/>
                </a:cubicBezTo>
                <a:cubicBezTo>
                  <a:pt x="427" y="773"/>
                  <a:pt x="427" y="773"/>
                  <a:pt x="427" y="773"/>
                </a:cubicBezTo>
                <a:cubicBezTo>
                  <a:pt x="448" y="773"/>
                  <a:pt x="463" y="756"/>
                  <a:pt x="463" y="733"/>
                </a:cubicBezTo>
                <a:cubicBezTo>
                  <a:pt x="463" y="35"/>
                  <a:pt x="463" y="35"/>
                  <a:pt x="463" y="35"/>
                </a:cubicBezTo>
                <a:cubicBezTo>
                  <a:pt x="463" y="19"/>
                  <a:pt x="451" y="0"/>
                  <a:pt x="427" y="0"/>
                </a:cubicBezTo>
                <a:close/>
                <a:moveTo>
                  <a:pt x="152" y="730"/>
                </a:moveTo>
                <a:cubicBezTo>
                  <a:pt x="152" y="737"/>
                  <a:pt x="146" y="743"/>
                  <a:pt x="139" y="743"/>
                </a:cubicBezTo>
                <a:cubicBezTo>
                  <a:pt x="112" y="743"/>
                  <a:pt x="112" y="743"/>
                  <a:pt x="112" y="743"/>
                </a:cubicBezTo>
                <a:cubicBezTo>
                  <a:pt x="106" y="743"/>
                  <a:pt x="99" y="737"/>
                  <a:pt x="99" y="730"/>
                </a:cubicBezTo>
                <a:cubicBezTo>
                  <a:pt x="99" y="722"/>
                  <a:pt x="99" y="722"/>
                  <a:pt x="99" y="722"/>
                </a:cubicBezTo>
                <a:cubicBezTo>
                  <a:pt x="99" y="714"/>
                  <a:pt x="106" y="709"/>
                  <a:pt x="112" y="709"/>
                </a:cubicBezTo>
                <a:cubicBezTo>
                  <a:pt x="139" y="709"/>
                  <a:pt x="139" y="709"/>
                  <a:pt x="139" y="709"/>
                </a:cubicBezTo>
                <a:cubicBezTo>
                  <a:pt x="146" y="709"/>
                  <a:pt x="152" y="714"/>
                  <a:pt x="152" y="722"/>
                </a:cubicBezTo>
                <a:cubicBezTo>
                  <a:pt x="152" y="730"/>
                  <a:pt x="152" y="730"/>
                  <a:pt x="152" y="730"/>
                </a:cubicBezTo>
                <a:close/>
                <a:moveTo>
                  <a:pt x="263" y="724"/>
                </a:moveTo>
                <a:cubicBezTo>
                  <a:pt x="263" y="735"/>
                  <a:pt x="255" y="743"/>
                  <a:pt x="247" y="743"/>
                </a:cubicBezTo>
                <a:cubicBezTo>
                  <a:pt x="219" y="743"/>
                  <a:pt x="219" y="743"/>
                  <a:pt x="219" y="743"/>
                </a:cubicBezTo>
                <a:cubicBezTo>
                  <a:pt x="211" y="743"/>
                  <a:pt x="202" y="735"/>
                  <a:pt x="202" y="724"/>
                </a:cubicBezTo>
                <a:cubicBezTo>
                  <a:pt x="202" y="716"/>
                  <a:pt x="202" y="716"/>
                  <a:pt x="202" y="716"/>
                </a:cubicBezTo>
                <a:cubicBezTo>
                  <a:pt x="202" y="705"/>
                  <a:pt x="209" y="699"/>
                  <a:pt x="219" y="699"/>
                </a:cubicBezTo>
                <a:cubicBezTo>
                  <a:pt x="247" y="699"/>
                  <a:pt x="247" y="699"/>
                  <a:pt x="247" y="699"/>
                </a:cubicBezTo>
                <a:cubicBezTo>
                  <a:pt x="255" y="699"/>
                  <a:pt x="263" y="705"/>
                  <a:pt x="263" y="716"/>
                </a:cubicBezTo>
                <a:cubicBezTo>
                  <a:pt x="263" y="724"/>
                  <a:pt x="263" y="724"/>
                  <a:pt x="263" y="724"/>
                </a:cubicBezTo>
                <a:close/>
                <a:moveTo>
                  <a:pt x="366" y="730"/>
                </a:moveTo>
                <a:cubicBezTo>
                  <a:pt x="366" y="737"/>
                  <a:pt x="360" y="743"/>
                  <a:pt x="354" y="743"/>
                </a:cubicBezTo>
                <a:cubicBezTo>
                  <a:pt x="326" y="743"/>
                  <a:pt x="326" y="743"/>
                  <a:pt x="326" y="743"/>
                </a:cubicBezTo>
                <a:cubicBezTo>
                  <a:pt x="320" y="743"/>
                  <a:pt x="314" y="737"/>
                  <a:pt x="314" y="730"/>
                </a:cubicBezTo>
                <a:cubicBezTo>
                  <a:pt x="314" y="722"/>
                  <a:pt x="314" y="722"/>
                  <a:pt x="314" y="722"/>
                </a:cubicBezTo>
                <a:cubicBezTo>
                  <a:pt x="314" y="714"/>
                  <a:pt x="320" y="709"/>
                  <a:pt x="326" y="709"/>
                </a:cubicBezTo>
                <a:cubicBezTo>
                  <a:pt x="354" y="709"/>
                  <a:pt x="354" y="709"/>
                  <a:pt x="354" y="709"/>
                </a:cubicBezTo>
                <a:cubicBezTo>
                  <a:pt x="360" y="709"/>
                  <a:pt x="366" y="714"/>
                  <a:pt x="366" y="722"/>
                </a:cubicBezTo>
                <a:cubicBezTo>
                  <a:pt x="366" y="730"/>
                  <a:pt x="366" y="730"/>
                  <a:pt x="366" y="730"/>
                </a:cubicBezTo>
                <a:close/>
                <a:moveTo>
                  <a:pt x="417" y="644"/>
                </a:moveTo>
                <a:cubicBezTo>
                  <a:pt x="417" y="657"/>
                  <a:pt x="409" y="671"/>
                  <a:pt x="394" y="671"/>
                </a:cubicBezTo>
                <a:cubicBezTo>
                  <a:pt x="74" y="671"/>
                  <a:pt x="74" y="671"/>
                  <a:pt x="74" y="671"/>
                </a:cubicBezTo>
                <a:cubicBezTo>
                  <a:pt x="59" y="671"/>
                  <a:pt x="49" y="659"/>
                  <a:pt x="49" y="644"/>
                </a:cubicBezTo>
                <a:cubicBezTo>
                  <a:pt x="49" y="67"/>
                  <a:pt x="49" y="67"/>
                  <a:pt x="49" y="67"/>
                </a:cubicBezTo>
                <a:cubicBezTo>
                  <a:pt x="49" y="50"/>
                  <a:pt x="61" y="46"/>
                  <a:pt x="74" y="46"/>
                </a:cubicBezTo>
                <a:cubicBezTo>
                  <a:pt x="394" y="46"/>
                  <a:pt x="394" y="46"/>
                  <a:pt x="394" y="46"/>
                </a:cubicBezTo>
                <a:cubicBezTo>
                  <a:pt x="404" y="46"/>
                  <a:pt x="417" y="48"/>
                  <a:pt x="417" y="67"/>
                </a:cubicBezTo>
                <a:cubicBezTo>
                  <a:pt x="417" y="644"/>
                  <a:pt x="417" y="644"/>
                  <a:pt x="417" y="644"/>
                </a:cubicBezTo>
                <a:close/>
              </a:path>
            </a:pathLst>
          </a:custGeom>
          <a:solidFill>
            <a:srgbClr val="FFFFFF"/>
          </a:solidFill>
          <a:ln>
            <a:noFill/>
          </a:ln>
        </p:spPr>
        <p:txBody>
          <a:bodyPr vert="horz" wrap="square" lIns="93256" tIns="46627" rIns="93256" bIns="46627" numCol="1" anchor="t" anchorCtr="0" compatLnSpc="1">
            <a:prstTxWarp prst="textNoShape">
              <a:avLst/>
            </a:prstTxWarp>
          </a:bodyPr>
          <a:lstStyle/>
          <a:p>
            <a:pPr>
              <a:defRPr/>
            </a:pPr>
            <a:endParaRPr lang="en-US" kern="0" dirty="0">
              <a:solidFill>
                <a:srgbClr val="FFFFFF"/>
              </a:solidFill>
              <a:latin typeface="微软雅黑" panose="020B0503020204020204" pitchFamily="34" charset="-122"/>
              <a:ea typeface="微软雅黑" panose="020B0503020204020204" pitchFamily="34" charset="-122"/>
            </a:endParaRPr>
          </a:p>
        </p:txBody>
      </p:sp>
      <p:sp>
        <p:nvSpPr>
          <p:cNvPr id="54" name="Freeform 10"/>
          <p:cNvSpPr>
            <a:spLocks noEditPoints="1"/>
          </p:cNvSpPr>
          <p:nvPr/>
        </p:nvSpPr>
        <p:spPr bwMode="auto">
          <a:xfrm>
            <a:off x="1744410" y="3432427"/>
            <a:ext cx="710707" cy="449262"/>
          </a:xfrm>
          <a:custGeom>
            <a:avLst/>
            <a:gdLst>
              <a:gd name="T0" fmla="*/ 87 w 782"/>
              <a:gd name="T1" fmla="*/ 232 h 493"/>
              <a:gd name="T2" fmla="*/ 195 w 782"/>
              <a:gd name="T3" fmla="*/ 0 h 493"/>
              <a:gd name="T4" fmla="*/ 724 w 782"/>
              <a:gd name="T5" fmla="*/ 467 h 493"/>
              <a:gd name="T6" fmla="*/ 612 w 782"/>
              <a:gd name="T7" fmla="*/ 369 h 493"/>
              <a:gd name="T8" fmla="*/ 565 w 782"/>
              <a:gd name="T9" fmla="*/ 349 h 493"/>
              <a:gd name="T10" fmla="*/ 605 w 782"/>
              <a:gd name="T11" fmla="*/ 354 h 493"/>
              <a:gd name="T12" fmla="*/ 366 w 782"/>
              <a:gd name="T13" fmla="*/ 366 h 493"/>
              <a:gd name="T14" fmla="*/ 372 w 782"/>
              <a:gd name="T15" fmla="*/ 348 h 493"/>
              <a:gd name="T16" fmla="*/ 410 w 782"/>
              <a:gd name="T17" fmla="*/ 351 h 493"/>
              <a:gd name="T18" fmla="*/ 409 w 782"/>
              <a:gd name="T19" fmla="*/ 406 h 493"/>
              <a:gd name="T20" fmla="*/ 362 w 782"/>
              <a:gd name="T21" fmla="*/ 405 h 493"/>
              <a:gd name="T22" fmla="*/ 288 w 782"/>
              <a:gd name="T23" fmla="*/ 400 h 493"/>
              <a:gd name="T24" fmla="*/ 339 w 782"/>
              <a:gd name="T25" fmla="*/ 389 h 493"/>
              <a:gd name="T26" fmla="*/ 322 w 782"/>
              <a:gd name="T27" fmla="*/ 409 h 493"/>
              <a:gd name="T28" fmla="*/ 302 w 782"/>
              <a:gd name="T29" fmla="*/ 353 h 493"/>
              <a:gd name="T30" fmla="*/ 345 w 782"/>
              <a:gd name="T31" fmla="*/ 351 h 493"/>
              <a:gd name="T32" fmla="*/ 213 w 782"/>
              <a:gd name="T33" fmla="*/ 402 h 493"/>
              <a:gd name="T34" fmla="*/ 267 w 782"/>
              <a:gd name="T35" fmla="*/ 387 h 493"/>
              <a:gd name="T36" fmla="*/ 213 w 782"/>
              <a:gd name="T37" fmla="*/ 406 h 493"/>
              <a:gd name="T38" fmla="*/ 199 w 782"/>
              <a:gd name="T39" fmla="*/ 369 h 493"/>
              <a:gd name="T40" fmla="*/ 214 w 782"/>
              <a:gd name="T41" fmla="*/ 348 h 493"/>
              <a:gd name="T42" fmla="*/ 233 w 782"/>
              <a:gd name="T43" fmla="*/ 361 h 493"/>
              <a:gd name="T44" fmla="*/ 280 w 782"/>
              <a:gd name="T45" fmla="*/ 350 h 493"/>
              <a:gd name="T46" fmla="*/ 273 w 782"/>
              <a:gd name="T47" fmla="*/ 367 h 493"/>
              <a:gd name="T48" fmla="*/ 159 w 782"/>
              <a:gd name="T49" fmla="*/ 452 h 493"/>
              <a:gd name="T50" fmla="*/ 107 w 782"/>
              <a:gd name="T51" fmla="*/ 448 h 493"/>
              <a:gd name="T52" fmla="*/ 137 w 782"/>
              <a:gd name="T53" fmla="*/ 424 h 493"/>
              <a:gd name="T54" fmla="*/ 188 w 782"/>
              <a:gd name="T55" fmla="*/ 402 h 493"/>
              <a:gd name="T56" fmla="*/ 142 w 782"/>
              <a:gd name="T57" fmla="*/ 409 h 493"/>
              <a:gd name="T58" fmla="*/ 153 w 782"/>
              <a:gd name="T59" fmla="*/ 385 h 493"/>
              <a:gd name="T60" fmla="*/ 196 w 782"/>
              <a:gd name="T61" fmla="*/ 389 h 493"/>
              <a:gd name="T62" fmla="*/ 407 w 782"/>
              <a:gd name="T63" fmla="*/ 455 h 493"/>
              <a:gd name="T64" fmla="*/ 200 w 782"/>
              <a:gd name="T65" fmla="*/ 458 h 493"/>
              <a:gd name="T66" fmla="*/ 203 w 782"/>
              <a:gd name="T67" fmla="*/ 427 h 493"/>
              <a:gd name="T68" fmla="*/ 402 w 782"/>
              <a:gd name="T69" fmla="*/ 423 h 493"/>
              <a:gd name="T70" fmla="*/ 411 w 782"/>
              <a:gd name="T71" fmla="*/ 448 h 493"/>
              <a:gd name="T72" fmla="*/ 438 w 782"/>
              <a:gd name="T73" fmla="*/ 347 h 493"/>
              <a:gd name="T74" fmla="*/ 471 w 782"/>
              <a:gd name="T75" fmla="*/ 369 h 493"/>
              <a:gd name="T76" fmla="*/ 434 w 782"/>
              <a:gd name="T77" fmla="*/ 366 h 493"/>
              <a:gd name="T78" fmla="*/ 484 w 782"/>
              <a:gd name="T79" fmla="*/ 395 h 493"/>
              <a:gd name="T80" fmla="*/ 473 w 782"/>
              <a:gd name="T81" fmla="*/ 409 h 493"/>
              <a:gd name="T82" fmla="*/ 437 w 782"/>
              <a:gd name="T83" fmla="*/ 404 h 493"/>
              <a:gd name="T84" fmla="*/ 440 w 782"/>
              <a:gd name="T85" fmla="*/ 451 h 493"/>
              <a:gd name="T86" fmla="*/ 438 w 782"/>
              <a:gd name="T87" fmla="*/ 428 h 493"/>
              <a:gd name="T88" fmla="*/ 447 w 782"/>
              <a:gd name="T89" fmla="*/ 423 h 493"/>
              <a:gd name="T90" fmla="*/ 483 w 782"/>
              <a:gd name="T91" fmla="*/ 424 h 493"/>
              <a:gd name="T92" fmla="*/ 502 w 782"/>
              <a:gd name="T93" fmla="*/ 363 h 493"/>
              <a:gd name="T94" fmla="*/ 536 w 782"/>
              <a:gd name="T95" fmla="*/ 350 h 493"/>
              <a:gd name="T96" fmla="*/ 547 w 782"/>
              <a:gd name="T97" fmla="*/ 366 h 493"/>
              <a:gd name="T98" fmla="*/ 519 w 782"/>
              <a:gd name="T99" fmla="*/ 405 h 493"/>
              <a:gd name="T100" fmla="*/ 559 w 782"/>
              <a:gd name="T101" fmla="*/ 389 h 493"/>
              <a:gd name="T102" fmla="*/ 564 w 782"/>
              <a:gd name="T103" fmla="*/ 408 h 493"/>
              <a:gd name="T104" fmla="*/ 588 w 782"/>
              <a:gd name="T105" fmla="*/ 453 h 493"/>
              <a:gd name="T106" fmla="*/ 548 w 782"/>
              <a:gd name="T107" fmla="*/ 457 h 493"/>
              <a:gd name="T108" fmla="*/ 536 w 782"/>
              <a:gd name="T109" fmla="*/ 423 h 493"/>
              <a:gd name="T110" fmla="*/ 588 w 782"/>
              <a:gd name="T111" fmla="*/ 448 h 493"/>
              <a:gd name="T112" fmla="*/ 591 w 782"/>
              <a:gd name="T113" fmla="*/ 382 h 493"/>
              <a:gd name="T114" fmla="*/ 635 w 782"/>
              <a:gd name="T115" fmla="*/ 409 h 493"/>
              <a:gd name="T116" fmla="*/ 616 w 782"/>
              <a:gd name="T117" fmla="*/ 449 h 493"/>
              <a:gd name="T118" fmla="*/ 639 w 782"/>
              <a:gd name="T119" fmla="*/ 423 h 493"/>
              <a:gd name="T120" fmla="*/ 670 w 782"/>
              <a:gd name="T121" fmla="*/ 449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82" h="493">
                <a:moveTo>
                  <a:pt x="111" y="206"/>
                </a:moveTo>
                <a:cubicBezTo>
                  <a:pt x="91" y="187"/>
                  <a:pt x="91" y="152"/>
                  <a:pt x="111" y="134"/>
                </a:cubicBezTo>
                <a:cubicBezTo>
                  <a:pt x="97" y="136"/>
                  <a:pt x="84" y="151"/>
                  <a:pt x="84" y="170"/>
                </a:cubicBezTo>
                <a:cubicBezTo>
                  <a:pt x="84" y="188"/>
                  <a:pt x="97" y="203"/>
                  <a:pt x="111" y="206"/>
                </a:cubicBezTo>
                <a:close/>
                <a:moveTo>
                  <a:pt x="698" y="170"/>
                </a:moveTo>
                <a:cubicBezTo>
                  <a:pt x="698" y="151"/>
                  <a:pt x="685" y="136"/>
                  <a:pt x="671" y="134"/>
                </a:cubicBezTo>
                <a:cubicBezTo>
                  <a:pt x="691" y="152"/>
                  <a:pt x="691" y="187"/>
                  <a:pt x="671" y="206"/>
                </a:cubicBezTo>
                <a:cubicBezTo>
                  <a:pt x="685" y="203"/>
                  <a:pt x="698" y="188"/>
                  <a:pt x="698" y="170"/>
                </a:cubicBezTo>
                <a:close/>
                <a:moveTo>
                  <a:pt x="696" y="232"/>
                </a:moveTo>
                <a:cubicBezTo>
                  <a:pt x="716" y="224"/>
                  <a:pt x="737" y="200"/>
                  <a:pt x="737" y="170"/>
                </a:cubicBezTo>
                <a:cubicBezTo>
                  <a:pt x="737" y="139"/>
                  <a:pt x="716" y="115"/>
                  <a:pt x="696" y="108"/>
                </a:cubicBezTo>
                <a:cubicBezTo>
                  <a:pt x="712" y="124"/>
                  <a:pt x="723" y="147"/>
                  <a:pt x="723" y="170"/>
                </a:cubicBezTo>
                <a:cubicBezTo>
                  <a:pt x="723" y="193"/>
                  <a:pt x="712" y="215"/>
                  <a:pt x="696" y="232"/>
                </a:cubicBezTo>
                <a:close/>
                <a:moveTo>
                  <a:pt x="87" y="232"/>
                </a:moveTo>
                <a:cubicBezTo>
                  <a:pt x="70" y="215"/>
                  <a:pt x="59" y="193"/>
                  <a:pt x="59" y="170"/>
                </a:cubicBezTo>
                <a:cubicBezTo>
                  <a:pt x="59" y="147"/>
                  <a:pt x="70" y="124"/>
                  <a:pt x="87" y="108"/>
                </a:cubicBezTo>
                <a:cubicBezTo>
                  <a:pt x="66" y="115"/>
                  <a:pt x="45" y="139"/>
                  <a:pt x="46" y="170"/>
                </a:cubicBezTo>
                <a:cubicBezTo>
                  <a:pt x="45" y="200"/>
                  <a:pt x="66" y="224"/>
                  <a:pt x="87" y="232"/>
                </a:cubicBezTo>
                <a:close/>
                <a:moveTo>
                  <a:pt x="714" y="448"/>
                </a:moveTo>
                <a:cubicBezTo>
                  <a:pt x="706" y="438"/>
                  <a:pt x="697" y="428"/>
                  <a:pt x="689" y="419"/>
                </a:cubicBezTo>
                <a:cubicBezTo>
                  <a:pt x="671" y="397"/>
                  <a:pt x="653" y="376"/>
                  <a:pt x="635" y="355"/>
                </a:cubicBezTo>
                <a:cubicBezTo>
                  <a:pt x="634" y="354"/>
                  <a:pt x="633" y="353"/>
                  <a:pt x="632" y="352"/>
                </a:cubicBezTo>
                <a:cubicBezTo>
                  <a:pt x="629" y="347"/>
                  <a:pt x="623" y="345"/>
                  <a:pt x="617" y="343"/>
                </a:cubicBezTo>
                <a:cubicBezTo>
                  <a:pt x="612" y="341"/>
                  <a:pt x="606" y="339"/>
                  <a:pt x="599" y="339"/>
                </a:cubicBezTo>
                <a:cubicBezTo>
                  <a:pt x="621" y="333"/>
                  <a:pt x="637" y="314"/>
                  <a:pt x="637" y="291"/>
                </a:cubicBezTo>
                <a:cubicBezTo>
                  <a:pt x="637" y="50"/>
                  <a:pt x="637" y="50"/>
                  <a:pt x="637" y="50"/>
                </a:cubicBezTo>
                <a:cubicBezTo>
                  <a:pt x="637" y="22"/>
                  <a:pt x="614" y="0"/>
                  <a:pt x="587" y="0"/>
                </a:cubicBezTo>
                <a:cubicBezTo>
                  <a:pt x="195" y="0"/>
                  <a:pt x="195" y="0"/>
                  <a:pt x="195" y="0"/>
                </a:cubicBezTo>
                <a:cubicBezTo>
                  <a:pt x="168" y="0"/>
                  <a:pt x="145" y="22"/>
                  <a:pt x="145" y="50"/>
                </a:cubicBezTo>
                <a:cubicBezTo>
                  <a:pt x="145" y="291"/>
                  <a:pt x="145" y="291"/>
                  <a:pt x="145" y="291"/>
                </a:cubicBezTo>
                <a:cubicBezTo>
                  <a:pt x="145" y="314"/>
                  <a:pt x="161" y="334"/>
                  <a:pt x="183" y="339"/>
                </a:cubicBezTo>
                <a:cubicBezTo>
                  <a:pt x="171" y="340"/>
                  <a:pt x="157" y="344"/>
                  <a:pt x="149" y="354"/>
                </a:cubicBezTo>
                <a:cubicBezTo>
                  <a:pt x="143" y="361"/>
                  <a:pt x="136" y="369"/>
                  <a:pt x="130" y="377"/>
                </a:cubicBezTo>
                <a:cubicBezTo>
                  <a:pt x="111" y="399"/>
                  <a:pt x="91" y="422"/>
                  <a:pt x="72" y="446"/>
                </a:cubicBezTo>
                <a:cubicBezTo>
                  <a:pt x="67" y="451"/>
                  <a:pt x="58" y="459"/>
                  <a:pt x="58" y="467"/>
                </a:cubicBezTo>
                <a:cubicBezTo>
                  <a:pt x="58" y="489"/>
                  <a:pt x="58" y="478"/>
                  <a:pt x="58" y="478"/>
                </a:cubicBezTo>
                <a:cubicBezTo>
                  <a:pt x="58" y="481"/>
                  <a:pt x="59" y="483"/>
                  <a:pt x="60" y="485"/>
                </a:cubicBezTo>
                <a:cubicBezTo>
                  <a:pt x="65" y="492"/>
                  <a:pt x="75" y="493"/>
                  <a:pt x="83" y="493"/>
                </a:cubicBezTo>
                <a:cubicBezTo>
                  <a:pt x="94" y="493"/>
                  <a:pt x="667" y="493"/>
                  <a:pt x="684" y="493"/>
                </a:cubicBezTo>
                <a:cubicBezTo>
                  <a:pt x="693" y="493"/>
                  <a:pt x="702" y="492"/>
                  <a:pt x="711" y="490"/>
                </a:cubicBezTo>
                <a:cubicBezTo>
                  <a:pt x="716" y="489"/>
                  <a:pt x="723" y="486"/>
                  <a:pt x="724" y="479"/>
                </a:cubicBezTo>
                <a:cubicBezTo>
                  <a:pt x="724" y="456"/>
                  <a:pt x="724" y="467"/>
                  <a:pt x="724" y="467"/>
                </a:cubicBezTo>
                <a:cubicBezTo>
                  <a:pt x="725" y="462"/>
                  <a:pt x="722" y="457"/>
                  <a:pt x="718" y="453"/>
                </a:cubicBezTo>
                <a:cubicBezTo>
                  <a:pt x="717" y="451"/>
                  <a:pt x="715" y="449"/>
                  <a:pt x="714" y="448"/>
                </a:cubicBezTo>
                <a:close/>
                <a:moveTo>
                  <a:pt x="164" y="299"/>
                </a:moveTo>
                <a:cubicBezTo>
                  <a:pt x="164" y="64"/>
                  <a:pt x="164" y="53"/>
                  <a:pt x="164" y="53"/>
                </a:cubicBezTo>
                <a:cubicBezTo>
                  <a:pt x="164" y="39"/>
                  <a:pt x="175" y="16"/>
                  <a:pt x="189" y="16"/>
                </a:cubicBezTo>
                <a:cubicBezTo>
                  <a:pt x="570" y="16"/>
                  <a:pt x="593" y="16"/>
                  <a:pt x="593" y="16"/>
                </a:cubicBezTo>
                <a:cubicBezTo>
                  <a:pt x="607" y="16"/>
                  <a:pt x="618" y="39"/>
                  <a:pt x="618" y="53"/>
                </a:cubicBezTo>
                <a:cubicBezTo>
                  <a:pt x="618" y="268"/>
                  <a:pt x="618" y="299"/>
                  <a:pt x="618" y="299"/>
                </a:cubicBezTo>
                <a:cubicBezTo>
                  <a:pt x="618" y="313"/>
                  <a:pt x="607" y="325"/>
                  <a:pt x="593" y="325"/>
                </a:cubicBezTo>
                <a:cubicBezTo>
                  <a:pt x="212" y="325"/>
                  <a:pt x="189" y="325"/>
                  <a:pt x="189" y="325"/>
                </a:cubicBezTo>
                <a:cubicBezTo>
                  <a:pt x="175" y="325"/>
                  <a:pt x="164" y="302"/>
                  <a:pt x="164" y="287"/>
                </a:cubicBezTo>
                <a:lnTo>
                  <a:pt x="164" y="299"/>
                </a:lnTo>
                <a:close/>
                <a:moveTo>
                  <a:pt x="613" y="367"/>
                </a:moveTo>
                <a:cubicBezTo>
                  <a:pt x="613" y="367"/>
                  <a:pt x="613" y="368"/>
                  <a:pt x="612" y="369"/>
                </a:cubicBezTo>
                <a:cubicBezTo>
                  <a:pt x="612" y="369"/>
                  <a:pt x="612" y="369"/>
                  <a:pt x="612" y="369"/>
                </a:cubicBezTo>
                <a:cubicBezTo>
                  <a:pt x="612" y="369"/>
                  <a:pt x="612" y="369"/>
                  <a:pt x="612" y="369"/>
                </a:cubicBezTo>
                <a:cubicBezTo>
                  <a:pt x="612" y="369"/>
                  <a:pt x="612" y="369"/>
                  <a:pt x="612" y="369"/>
                </a:cubicBezTo>
                <a:cubicBezTo>
                  <a:pt x="612" y="369"/>
                  <a:pt x="612" y="369"/>
                  <a:pt x="611" y="369"/>
                </a:cubicBezTo>
                <a:cubicBezTo>
                  <a:pt x="611" y="369"/>
                  <a:pt x="611" y="369"/>
                  <a:pt x="611" y="369"/>
                </a:cubicBezTo>
                <a:cubicBezTo>
                  <a:pt x="611" y="369"/>
                  <a:pt x="611" y="369"/>
                  <a:pt x="610" y="369"/>
                </a:cubicBezTo>
                <a:cubicBezTo>
                  <a:pt x="608" y="371"/>
                  <a:pt x="604" y="371"/>
                  <a:pt x="600" y="371"/>
                </a:cubicBezTo>
                <a:cubicBezTo>
                  <a:pt x="584" y="371"/>
                  <a:pt x="584" y="371"/>
                  <a:pt x="584" y="371"/>
                </a:cubicBezTo>
                <a:cubicBezTo>
                  <a:pt x="580" y="371"/>
                  <a:pt x="577" y="370"/>
                  <a:pt x="574" y="369"/>
                </a:cubicBezTo>
                <a:cubicBezTo>
                  <a:pt x="573" y="368"/>
                  <a:pt x="572" y="367"/>
                  <a:pt x="571" y="367"/>
                </a:cubicBezTo>
                <a:cubicBezTo>
                  <a:pt x="570" y="366"/>
                  <a:pt x="569" y="365"/>
                  <a:pt x="569" y="365"/>
                </a:cubicBezTo>
                <a:cubicBezTo>
                  <a:pt x="568" y="363"/>
                  <a:pt x="568" y="363"/>
                  <a:pt x="568" y="363"/>
                </a:cubicBezTo>
                <a:cubicBezTo>
                  <a:pt x="566" y="360"/>
                  <a:pt x="564" y="357"/>
                  <a:pt x="563" y="354"/>
                </a:cubicBezTo>
                <a:cubicBezTo>
                  <a:pt x="561" y="351"/>
                  <a:pt x="563" y="350"/>
                  <a:pt x="565" y="349"/>
                </a:cubicBezTo>
                <a:cubicBezTo>
                  <a:pt x="565" y="349"/>
                  <a:pt x="566" y="349"/>
                  <a:pt x="566" y="349"/>
                </a:cubicBezTo>
                <a:cubicBezTo>
                  <a:pt x="567" y="348"/>
                  <a:pt x="569" y="348"/>
                  <a:pt x="570" y="348"/>
                </a:cubicBezTo>
                <a:cubicBezTo>
                  <a:pt x="573" y="348"/>
                  <a:pt x="573" y="348"/>
                  <a:pt x="573" y="348"/>
                </a:cubicBezTo>
                <a:cubicBezTo>
                  <a:pt x="573" y="348"/>
                  <a:pt x="573" y="348"/>
                  <a:pt x="573" y="348"/>
                </a:cubicBezTo>
                <a:cubicBezTo>
                  <a:pt x="577" y="348"/>
                  <a:pt x="581" y="348"/>
                  <a:pt x="586" y="348"/>
                </a:cubicBezTo>
                <a:cubicBezTo>
                  <a:pt x="586" y="348"/>
                  <a:pt x="586" y="348"/>
                  <a:pt x="586" y="348"/>
                </a:cubicBezTo>
                <a:cubicBezTo>
                  <a:pt x="590" y="348"/>
                  <a:pt x="590" y="348"/>
                  <a:pt x="590" y="348"/>
                </a:cubicBezTo>
                <a:cubicBezTo>
                  <a:pt x="592" y="348"/>
                  <a:pt x="594" y="348"/>
                  <a:pt x="595" y="348"/>
                </a:cubicBezTo>
                <a:cubicBezTo>
                  <a:pt x="596" y="349"/>
                  <a:pt x="597" y="349"/>
                  <a:pt x="598" y="349"/>
                </a:cubicBezTo>
                <a:cubicBezTo>
                  <a:pt x="598" y="349"/>
                  <a:pt x="598" y="349"/>
                  <a:pt x="598" y="349"/>
                </a:cubicBezTo>
                <a:cubicBezTo>
                  <a:pt x="598" y="350"/>
                  <a:pt x="598" y="350"/>
                  <a:pt x="599" y="350"/>
                </a:cubicBezTo>
                <a:cubicBezTo>
                  <a:pt x="599" y="350"/>
                  <a:pt x="599" y="350"/>
                  <a:pt x="599" y="350"/>
                </a:cubicBezTo>
                <a:cubicBezTo>
                  <a:pt x="600" y="350"/>
                  <a:pt x="602" y="351"/>
                  <a:pt x="603" y="351"/>
                </a:cubicBezTo>
                <a:cubicBezTo>
                  <a:pt x="604" y="352"/>
                  <a:pt x="604" y="353"/>
                  <a:pt x="605" y="354"/>
                </a:cubicBezTo>
                <a:cubicBezTo>
                  <a:pt x="608" y="359"/>
                  <a:pt x="608" y="359"/>
                  <a:pt x="608" y="359"/>
                </a:cubicBezTo>
                <a:cubicBezTo>
                  <a:pt x="609" y="360"/>
                  <a:pt x="611" y="362"/>
                  <a:pt x="612" y="364"/>
                </a:cubicBezTo>
                <a:cubicBezTo>
                  <a:pt x="612" y="364"/>
                  <a:pt x="612" y="364"/>
                  <a:pt x="612" y="364"/>
                </a:cubicBezTo>
                <a:cubicBezTo>
                  <a:pt x="613" y="365"/>
                  <a:pt x="613" y="366"/>
                  <a:pt x="613" y="367"/>
                </a:cubicBezTo>
                <a:close/>
                <a:moveTo>
                  <a:pt x="410" y="363"/>
                </a:moveTo>
                <a:cubicBezTo>
                  <a:pt x="410" y="364"/>
                  <a:pt x="410" y="364"/>
                  <a:pt x="410" y="365"/>
                </a:cubicBezTo>
                <a:cubicBezTo>
                  <a:pt x="406" y="371"/>
                  <a:pt x="392" y="369"/>
                  <a:pt x="386" y="369"/>
                </a:cubicBezTo>
                <a:cubicBezTo>
                  <a:pt x="383" y="369"/>
                  <a:pt x="380" y="369"/>
                  <a:pt x="377" y="369"/>
                </a:cubicBezTo>
                <a:cubicBezTo>
                  <a:pt x="374" y="369"/>
                  <a:pt x="370" y="369"/>
                  <a:pt x="367" y="367"/>
                </a:cubicBezTo>
                <a:cubicBezTo>
                  <a:pt x="367" y="367"/>
                  <a:pt x="367" y="367"/>
                  <a:pt x="367" y="367"/>
                </a:cubicBezTo>
                <a:cubicBezTo>
                  <a:pt x="367" y="366"/>
                  <a:pt x="367" y="366"/>
                  <a:pt x="367" y="366"/>
                </a:cubicBezTo>
                <a:cubicBezTo>
                  <a:pt x="366" y="366"/>
                  <a:pt x="366" y="366"/>
                  <a:pt x="366" y="366"/>
                </a:cubicBezTo>
                <a:cubicBezTo>
                  <a:pt x="366" y="366"/>
                  <a:pt x="366" y="366"/>
                  <a:pt x="366" y="366"/>
                </a:cubicBezTo>
                <a:cubicBezTo>
                  <a:pt x="366" y="366"/>
                  <a:pt x="366" y="366"/>
                  <a:pt x="366" y="366"/>
                </a:cubicBezTo>
                <a:cubicBezTo>
                  <a:pt x="366" y="365"/>
                  <a:pt x="366" y="365"/>
                  <a:pt x="366" y="365"/>
                </a:cubicBezTo>
                <a:cubicBezTo>
                  <a:pt x="366" y="364"/>
                  <a:pt x="366" y="364"/>
                  <a:pt x="366" y="363"/>
                </a:cubicBezTo>
                <a:cubicBezTo>
                  <a:pt x="366" y="363"/>
                  <a:pt x="366" y="363"/>
                  <a:pt x="366" y="363"/>
                </a:cubicBezTo>
                <a:cubicBezTo>
                  <a:pt x="366" y="362"/>
                  <a:pt x="366" y="361"/>
                  <a:pt x="366" y="361"/>
                </a:cubicBezTo>
                <a:cubicBezTo>
                  <a:pt x="366" y="360"/>
                  <a:pt x="366" y="360"/>
                  <a:pt x="366" y="360"/>
                </a:cubicBezTo>
                <a:cubicBezTo>
                  <a:pt x="366" y="358"/>
                  <a:pt x="366" y="355"/>
                  <a:pt x="367" y="353"/>
                </a:cubicBezTo>
                <a:cubicBezTo>
                  <a:pt x="367" y="352"/>
                  <a:pt x="367" y="352"/>
                  <a:pt x="367" y="352"/>
                </a:cubicBezTo>
                <a:cubicBezTo>
                  <a:pt x="367" y="352"/>
                  <a:pt x="367" y="351"/>
                  <a:pt x="368" y="350"/>
                </a:cubicBezTo>
                <a:cubicBezTo>
                  <a:pt x="369" y="350"/>
                  <a:pt x="369" y="349"/>
                  <a:pt x="370" y="349"/>
                </a:cubicBezTo>
                <a:cubicBezTo>
                  <a:pt x="370" y="349"/>
                  <a:pt x="370" y="349"/>
                  <a:pt x="370" y="349"/>
                </a:cubicBezTo>
                <a:cubicBezTo>
                  <a:pt x="370" y="349"/>
                  <a:pt x="370" y="348"/>
                  <a:pt x="370" y="348"/>
                </a:cubicBezTo>
                <a:cubicBezTo>
                  <a:pt x="370" y="348"/>
                  <a:pt x="371" y="348"/>
                  <a:pt x="371" y="348"/>
                </a:cubicBezTo>
                <a:cubicBezTo>
                  <a:pt x="371" y="348"/>
                  <a:pt x="371" y="348"/>
                  <a:pt x="371" y="348"/>
                </a:cubicBezTo>
                <a:cubicBezTo>
                  <a:pt x="371" y="348"/>
                  <a:pt x="372" y="348"/>
                  <a:pt x="372" y="348"/>
                </a:cubicBezTo>
                <a:cubicBezTo>
                  <a:pt x="372" y="348"/>
                  <a:pt x="372" y="348"/>
                  <a:pt x="373" y="348"/>
                </a:cubicBezTo>
                <a:cubicBezTo>
                  <a:pt x="373" y="347"/>
                  <a:pt x="373" y="347"/>
                  <a:pt x="374" y="347"/>
                </a:cubicBezTo>
                <a:cubicBezTo>
                  <a:pt x="374" y="347"/>
                  <a:pt x="374" y="347"/>
                  <a:pt x="374" y="347"/>
                </a:cubicBezTo>
                <a:cubicBezTo>
                  <a:pt x="374" y="347"/>
                  <a:pt x="374" y="347"/>
                  <a:pt x="374" y="347"/>
                </a:cubicBezTo>
                <a:cubicBezTo>
                  <a:pt x="375" y="347"/>
                  <a:pt x="375" y="347"/>
                  <a:pt x="375" y="347"/>
                </a:cubicBezTo>
                <a:cubicBezTo>
                  <a:pt x="376" y="347"/>
                  <a:pt x="377" y="347"/>
                  <a:pt x="378" y="347"/>
                </a:cubicBezTo>
                <a:cubicBezTo>
                  <a:pt x="379" y="347"/>
                  <a:pt x="379" y="347"/>
                  <a:pt x="379" y="347"/>
                </a:cubicBezTo>
                <a:cubicBezTo>
                  <a:pt x="380" y="347"/>
                  <a:pt x="382" y="347"/>
                  <a:pt x="383" y="347"/>
                </a:cubicBezTo>
                <a:cubicBezTo>
                  <a:pt x="399" y="347"/>
                  <a:pt x="399" y="347"/>
                  <a:pt x="399" y="347"/>
                </a:cubicBezTo>
                <a:cubicBezTo>
                  <a:pt x="399" y="347"/>
                  <a:pt x="399" y="347"/>
                  <a:pt x="400" y="347"/>
                </a:cubicBezTo>
                <a:cubicBezTo>
                  <a:pt x="400" y="347"/>
                  <a:pt x="400" y="347"/>
                  <a:pt x="400" y="347"/>
                </a:cubicBezTo>
                <a:cubicBezTo>
                  <a:pt x="401" y="347"/>
                  <a:pt x="401" y="347"/>
                  <a:pt x="402" y="347"/>
                </a:cubicBezTo>
                <a:cubicBezTo>
                  <a:pt x="405" y="347"/>
                  <a:pt x="408" y="348"/>
                  <a:pt x="409" y="351"/>
                </a:cubicBezTo>
                <a:cubicBezTo>
                  <a:pt x="410" y="351"/>
                  <a:pt x="410" y="351"/>
                  <a:pt x="410" y="351"/>
                </a:cubicBezTo>
                <a:cubicBezTo>
                  <a:pt x="410" y="351"/>
                  <a:pt x="410" y="351"/>
                  <a:pt x="410" y="351"/>
                </a:cubicBezTo>
                <a:cubicBezTo>
                  <a:pt x="411" y="355"/>
                  <a:pt x="410" y="359"/>
                  <a:pt x="410" y="362"/>
                </a:cubicBezTo>
                <a:cubicBezTo>
                  <a:pt x="410" y="363"/>
                  <a:pt x="410" y="363"/>
                  <a:pt x="410" y="363"/>
                </a:cubicBezTo>
                <a:cubicBezTo>
                  <a:pt x="410" y="363"/>
                  <a:pt x="410" y="363"/>
                  <a:pt x="410" y="363"/>
                </a:cubicBezTo>
                <a:close/>
                <a:moveTo>
                  <a:pt x="387" y="381"/>
                </a:moveTo>
                <a:cubicBezTo>
                  <a:pt x="393" y="381"/>
                  <a:pt x="407" y="380"/>
                  <a:pt x="410" y="386"/>
                </a:cubicBezTo>
                <a:cubicBezTo>
                  <a:pt x="410" y="387"/>
                  <a:pt x="411" y="387"/>
                  <a:pt x="411" y="388"/>
                </a:cubicBezTo>
                <a:cubicBezTo>
                  <a:pt x="411" y="395"/>
                  <a:pt x="411" y="395"/>
                  <a:pt x="411" y="395"/>
                </a:cubicBezTo>
                <a:cubicBezTo>
                  <a:pt x="411" y="397"/>
                  <a:pt x="411" y="399"/>
                  <a:pt x="411" y="401"/>
                </a:cubicBezTo>
                <a:cubicBezTo>
                  <a:pt x="411" y="401"/>
                  <a:pt x="411" y="401"/>
                  <a:pt x="411" y="401"/>
                </a:cubicBezTo>
                <a:cubicBezTo>
                  <a:pt x="411" y="402"/>
                  <a:pt x="411" y="402"/>
                  <a:pt x="411" y="402"/>
                </a:cubicBezTo>
                <a:cubicBezTo>
                  <a:pt x="411" y="402"/>
                  <a:pt x="410" y="404"/>
                  <a:pt x="410" y="404"/>
                </a:cubicBezTo>
                <a:cubicBezTo>
                  <a:pt x="409" y="405"/>
                  <a:pt x="409" y="405"/>
                  <a:pt x="409" y="405"/>
                </a:cubicBezTo>
                <a:cubicBezTo>
                  <a:pt x="409" y="405"/>
                  <a:pt x="409" y="405"/>
                  <a:pt x="409" y="406"/>
                </a:cubicBezTo>
                <a:cubicBezTo>
                  <a:pt x="409" y="406"/>
                  <a:pt x="409" y="406"/>
                  <a:pt x="409" y="406"/>
                </a:cubicBezTo>
                <a:cubicBezTo>
                  <a:pt x="407" y="407"/>
                  <a:pt x="405" y="408"/>
                  <a:pt x="403" y="409"/>
                </a:cubicBezTo>
                <a:cubicBezTo>
                  <a:pt x="403" y="409"/>
                  <a:pt x="403" y="409"/>
                  <a:pt x="403" y="409"/>
                </a:cubicBezTo>
                <a:cubicBezTo>
                  <a:pt x="403" y="409"/>
                  <a:pt x="403" y="409"/>
                  <a:pt x="403" y="409"/>
                </a:cubicBezTo>
                <a:cubicBezTo>
                  <a:pt x="402" y="409"/>
                  <a:pt x="401" y="409"/>
                  <a:pt x="401" y="409"/>
                </a:cubicBezTo>
                <a:cubicBezTo>
                  <a:pt x="400" y="409"/>
                  <a:pt x="400" y="409"/>
                  <a:pt x="400" y="409"/>
                </a:cubicBezTo>
                <a:cubicBezTo>
                  <a:pt x="399" y="409"/>
                  <a:pt x="398" y="409"/>
                  <a:pt x="398" y="409"/>
                </a:cubicBezTo>
                <a:cubicBezTo>
                  <a:pt x="398" y="409"/>
                  <a:pt x="398" y="409"/>
                  <a:pt x="398" y="409"/>
                </a:cubicBezTo>
                <a:cubicBezTo>
                  <a:pt x="373" y="409"/>
                  <a:pt x="373" y="409"/>
                  <a:pt x="373" y="409"/>
                </a:cubicBezTo>
                <a:cubicBezTo>
                  <a:pt x="371" y="409"/>
                  <a:pt x="367" y="409"/>
                  <a:pt x="364" y="407"/>
                </a:cubicBezTo>
                <a:cubicBezTo>
                  <a:pt x="364" y="407"/>
                  <a:pt x="364" y="407"/>
                  <a:pt x="364" y="407"/>
                </a:cubicBezTo>
                <a:cubicBezTo>
                  <a:pt x="364" y="407"/>
                  <a:pt x="364" y="407"/>
                  <a:pt x="364" y="407"/>
                </a:cubicBezTo>
                <a:cubicBezTo>
                  <a:pt x="364" y="407"/>
                  <a:pt x="364" y="406"/>
                  <a:pt x="363" y="406"/>
                </a:cubicBezTo>
                <a:cubicBezTo>
                  <a:pt x="363" y="406"/>
                  <a:pt x="362" y="405"/>
                  <a:pt x="362" y="405"/>
                </a:cubicBezTo>
                <a:cubicBezTo>
                  <a:pt x="362" y="405"/>
                  <a:pt x="362" y="405"/>
                  <a:pt x="362" y="404"/>
                </a:cubicBezTo>
                <a:cubicBezTo>
                  <a:pt x="362" y="404"/>
                  <a:pt x="361" y="403"/>
                  <a:pt x="361" y="402"/>
                </a:cubicBezTo>
                <a:cubicBezTo>
                  <a:pt x="362" y="400"/>
                  <a:pt x="362" y="400"/>
                  <a:pt x="362" y="400"/>
                </a:cubicBezTo>
                <a:cubicBezTo>
                  <a:pt x="362" y="400"/>
                  <a:pt x="362" y="400"/>
                  <a:pt x="362" y="400"/>
                </a:cubicBezTo>
                <a:cubicBezTo>
                  <a:pt x="362" y="396"/>
                  <a:pt x="362" y="392"/>
                  <a:pt x="363" y="388"/>
                </a:cubicBezTo>
                <a:cubicBezTo>
                  <a:pt x="363" y="388"/>
                  <a:pt x="363" y="388"/>
                  <a:pt x="363" y="388"/>
                </a:cubicBezTo>
                <a:cubicBezTo>
                  <a:pt x="363" y="388"/>
                  <a:pt x="363" y="388"/>
                  <a:pt x="363" y="388"/>
                </a:cubicBezTo>
                <a:cubicBezTo>
                  <a:pt x="364" y="379"/>
                  <a:pt x="381" y="381"/>
                  <a:pt x="387" y="381"/>
                </a:cubicBezTo>
                <a:close/>
                <a:moveTo>
                  <a:pt x="289" y="407"/>
                </a:moveTo>
                <a:cubicBezTo>
                  <a:pt x="289" y="407"/>
                  <a:pt x="289" y="407"/>
                  <a:pt x="288" y="406"/>
                </a:cubicBezTo>
                <a:cubicBezTo>
                  <a:pt x="288" y="406"/>
                  <a:pt x="288" y="405"/>
                  <a:pt x="287" y="405"/>
                </a:cubicBezTo>
                <a:cubicBezTo>
                  <a:pt x="287" y="405"/>
                  <a:pt x="287" y="405"/>
                  <a:pt x="287" y="405"/>
                </a:cubicBezTo>
                <a:cubicBezTo>
                  <a:pt x="287" y="404"/>
                  <a:pt x="287" y="403"/>
                  <a:pt x="287" y="402"/>
                </a:cubicBezTo>
                <a:cubicBezTo>
                  <a:pt x="288" y="400"/>
                  <a:pt x="288" y="400"/>
                  <a:pt x="288" y="400"/>
                </a:cubicBezTo>
                <a:cubicBezTo>
                  <a:pt x="288" y="400"/>
                  <a:pt x="288" y="400"/>
                  <a:pt x="288" y="400"/>
                </a:cubicBezTo>
                <a:cubicBezTo>
                  <a:pt x="288" y="400"/>
                  <a:pt x="288" y="399"/>
                  <a:pt x="288" y="399"/>
                </a:cubicBezTo>
                <a:cubicBezTo>
                  <a:pt x="291" y="388"/>
                  <a:pt x="291" y="388"/>
                  <a:pt x="291" y="388"/>
                </a:cubicBezTo>
                <a:cubicBezTo>
                  <a:pt x="291" y="388"/>
                  <a:pt x="291" y="388"/>
                  <a:pt x="292" y="388"/>
                </a:cubicBezTo>
                <a:cubicBezTo>
                  <a:pt x="295" y="380"/>
                  <a:pt x="310" y="381"/>
                  <a:pt x="317" y="381"/>
                </a:cubicBezTo>
                <a:cubicBezTo>
                  <a:pt x="320" y="381"/>
                  <a:pt x="325" y="381"/>
                  <a:pt x="330" y="381"/>
                </a:cubicBezTo>
                <a:cubicBezTo>
                  <a:pt x="331" y="382"/>
                  <a:pt x="332" y="382"/>
                  <a:pt x="333" y="382"/>
                </a:cubicBezTo>
                <a:cubicBezTo>
                  <a:pt x="333" y="382"/>
                  <a:pt x="333" y="382"/>
                  <a:pt x="333" y="382"/>
                </a:cubicBezTo>
                <a:cubicBezTo>
                  <a:pt x="335" y="383"/>
                  <a:pt x="337" y="384"/>
                  <a:pt x="338" y="385"/>
                </a:cubicBezTo>
                <a:cubicBezTo>
                  <a:pt x="338" y="385"/>
                  <a:pt x="338" y="385"/>
                  <a:pt x="338" y="385"/>
                </a:cubicBezTo>
                <a:cubicBezTo>
                  <a:pt x="338" y="386"/>
                  <a:pt x="338" y="386"/>
                  <a:pt x="338" y="386"/>
                </a:cubicBezTo>
                <a:cubicBezTo>
                  <a:pt x="338" y="386"/>
                  <a:pt x="338" y="386"/>
                  <a:pt x="338" y="386"/>
                </a:cubicBezTo>
                <a:cubicBezTo>
                  <a:pt x="339" y="387"/>
                  <a:pt x="339" y="388"/>
                  <a:pt x="339" y="388"/>
                </a:cubicBezTo>
                <a:cubicBezTo>
                  <a:pt x="339" y="389"/>
                  <a:pt x="339" y="389"/>
                  <a:pt x="339" y="389"/>
                </a:cubicBezTo>
                <a:cubicBezTo>
                  <a:pt x="339" y="389"/>
                  <a:pt x="339" y="389"/>
                  <a:pt x="339" y="389"/>
                </a:cubicBezTo>
                <a:cubicBezTo>
                  <a:pt x="338" y="391"/>
                  <a:pt x="338" y="393"/>
                  <a:pt x="338" y="395"/>
                </a:cubicBezTo>
                <a:cubicBezTo>
                  <a:pt x="336" y="402"/>
                  <a:pt x="336" y="402"/>
                  <a:pt x="336" y="402"/>
                </a:cubicBezTo>
                <a:cubicBezTo>
                  <a:pt x="336" y="403"/>
                  <a:pt x="336" y="404"/>
                  <a:pt x="335" y="404"/>
                </a:cubicBezTo>
                <a:cubicBezTo>
                  <a:pt x="335" y="405"/>
                  <a:pt x="335" y="405"/>
                  <a:pt x="335" y="405"/>
                </a:cubicBezTo>
                <a:cubicBezTo>
                  <a:pt x="335" y="405"/>
                  <a:pt x="334" y="405"/>
                  <a:pt x="334" y="405"/>
                </a:cubicBezTo>
                <a:cubicBezTo>
                  <a:pt x="334" y="405"/>
                  <a:pt x="334" y="406"/>
                  <a:pt x="334" y="406"/>
                </a:cubicBezTo>
                <a:cubicBezTo>
                  <a:pt x="332" y="407"/>
                  <a:pt x="329" y="408"/>
                  <a:pt x="327" y="409"/>
                </a:cubicBezTo>
                <a:cubicBezTo>
                  <a:pt x="327" y="409"/>
                  <a:pt x="327" y="409"/>
                  <a:pt x="327" y="409"/>
                </a:cubicBezTo>
                <a:cubicBezTo>
                  <a:pt x="327" y="409"/>
                  <a:pt x="327" y="409"/>
                  <a:pt x="327" y="409"/>
                </a:cubicBezTo>
                <a:cubicBezTo>
                  <a:pt x="327" y="409"/>
                  <a:pt x="326" y="409"/>
                  <a:pt x="325" y="409"/>
                </a:cubicBezTo>
                <a:cubicBezTo>
                  <a:pt x="325" y="409"/>
                  <a:pt x="325" y="409"/>
                  <a:pt x="324" y="409"/>
                </a:cubicBezTo>
                <a:cubicBezTo>
                  <a:pt x="324" y="409"/>
                  <a:pt x="323" y="409"/>
                  <a:pt x="322" y="409"/>
                </a:cubicBezTo>
                <a:cubicBezTo>
                  <a:pt x="322" y="409"/>
                  <a:pt x="322" y="409"/>
                  <a:pt x="322" y="409"/>
                </a:cubicBezTo>
                <a:cubicBezTo>
                  <a:pt x="298" y="409"/>
                  <a:pt x="298" y="409"/>
                  <a:pt x="298" y="409"/>
                </a:cubicBezTo>
                <a:cubicBezTo>
                  <a:pt x="295" y="409"/>
                  <a:pt x="292" y="409"/>
                  <a:pt x="289" y="407"/>
                </a:cubicBezTo>
                <a:cubicBezTo>
                  <a:pt x="289" y="407"/>
                  <a:pt x="289" y="407"/>
                  <a:pt x="289" y="407"/>
                </a:cubicBezTo>
                <a:close/>
                <a:moveTo>
                  <a:pt x="320" y="369"/>
                </a:moveTo>
                <a:cubicBezTo>
                  <a:pt x="316" y="369"/>
                  <a:pt x="312" y="369"/>
                  <a:pt x="309" y="369"/>
                </a:cubicBezTo>
                <a:cubicBezTo>
                  <a:pt x="306" y="369"/>
                  <a:pt x="301" y="369"/>
                  <a:pt x="299" y="366"/>
                </a:cubicBezTo>
                <a:cubicBezTo>
                  <a:pt x="299" y="365"/>
                  <a:pt x="299" y="365"/>
                  <a:pt x="299" y="365"/>
                </a:cubicBezTo>
                <a:cubicBezTo>
                  <a:pt x="299" y="365"/>
                  <a:pt x="299" y="364"/>
                  <a:pt x="299" y="364"/>
                </a:cubicBezTo>
                <a:cubicBezTo>
                  <a:pt x="299" y="364"/>
                  <a:pt x="299" y="364"/>
                  <a:pt x="299" y="363"/>
                </a:cubicBezTo>
                <a:cubicBezTo>
                  <a:pt x="299" y="363"/>
                  <a:pt x="299" y="363"/>
                  <a:pt x="299" y="363"/>
                </a:cubicBezTo>
                <a:cubicBezTo>
                  <a:pt x="299" y="363"/>
                  <a:pt x="299" y="363"/>
                  <a:pt x="299" y="363"/>
                </a:cubicBezTo>
                <a:cubicBezTo>
                  <a:pt x="299" y="362"/>
                  <a:pt x="299" y="361"/>
                  <a:pt x="300" y="361"/>
                </a:cubicBezTo>
                <a:cubicBezTo>
                  <a:pt x="300" y="358"/>
                  <a:pt x="301" y="355"/>
                  <a:pt x="302" y="353"/>
                </a:cubicBezTo>
                <a:cubicBezTo>
                  <a:pt x="302" y="353"/>
                  <a:pt x="302" y="353"/>
                  <a:pt x="302" y="353"/>
                </a:cubicBezTo>
                <a:cubicBezTo>
                  <a:pt x="302" y="352"/>
                  <a:pt x="303" y="351"/>
                  <a:pt x="303" y="350"/>
                </a:cubicBezTo>
                <a:cubicBezTo>
                  <a:pt x="304" y="350"/>
                  <a:pt x="304" y="350"/>
                  <a:pt x="305" y="349"/>
                </a:cubicBezTo>
                <a:cubicBezTo>
                  <a:pt x="306" y="348"/>
                  <a:pt x="308" y="348"/>
                  <a:pt x="310" y="347"/>
                </a:cubicBezTo>
                <a:cubicBezTo>
                  <a:pt x="310" y="347"/>
                  <a:pt x="310" y="347"/>
                  <a:pt x="310" y="347"/>
                </a:cubicBezTo>
                <a:cubicBezTo>
                  <a:pt x="312" y="347"/>
                  <a:pt x="313" y="347"/>
                  <a:pt x="315" y="347"/>
                </a:cubicBezTo>
                <a:cubicBezTo>
                  <a:pt x="317" y="347"/>
                  <a:pt x="317" y="347"/>
                  <a:pt x="317" y="347"/>
                </a:cubicBezTo>
                <a:cubicBezTo>
                  <a:pt x="317" y="347"/>
                  <a:pt x="318" y="347"/>
                  <a:pt x="319" y="347"/>
                </a:cubicBezTo>
                <a:cubicBezTo>
                  <a:pt x="323" y="347"/>
                  <a:pt x="328" y="347"/>
                  <a:pt x="332" y="347"/>
                </a:cubicBezTo>
                <a:cubicBezTo>
                  <a:pt x="333" y="347"/>
                  <a:pt x="334" y="347"/>
                  <a:pt x="334" y="347"/>
                </a:cubicBezTo>
                <a:cubicBezTo>
                  <a:pt x="335" y="347"/>
                  <a:pt x="335" y="347"/>
                  <a:pt x="335" y="347"/>
                </a:cubicBezTo>
                <a:cubicBezTo>
                  <a:pt x="335" y="347"/>
                  <a:pt x="335" y="347"/>
                  <a:pt x="336" y="347"/>
                </a:cubicBezTo>
                <a:cubicBezTo>
                  <a:pt x="336" y="347"/>
                  <a:pt x="337" y="347"/>
                  <a:pt x="337" y="347"/>
                </a:cubicBezTo>
                <a:cubicBezTo>
                  <a:pt x="337" y="347"/>
                  <a:pt x="337" y="347"/>
                  <a:pt x="337" y="347"/>
                </a:cubicBezTo>
                <a:cubicBezTo>
                  <a:pt x="341" y="347"/>
                  <a:pt x="345" y="348"/>
                  <a:pt x="345" y="351"/>
                </a:cubicBezTo>
                <a:cubicBezTo>
                  <a:pt x="345" y="351"/>
                  <a:pt x="345" y="351"/>
                  <a:pt x="345" y="351"/>
                </a:cubicBezTo>
                <a:cubicBezTo>
                  <a:pt x="345" y="351"/>
                  <a:pt x="345" y="351"/>
                  <a:pt x="345" y="352"/>
                </a:cubicBezTo>
                <a:cubicBezTo>
                  <a:pt x="345" y="355"/>
                  <a:pt x="344" y="359"/>
                  <a:pt x="343" y="362"/>
                </a:cubicBezTo>
                <a:cubicBezTo>
                  <a:pt x="343" y="362"/>
                  <a:pt x="343" y="362"/>
                  <a:pt x="343" y="362"/>
                </a:cubicBezTo>
                <a:cubicBezTo>
                  <a:pt x="343" y="363"/>
                  <a:pt x="343" y="363"/>
                  <a:pt x="343" y="363"/>
                </a:cubicBezTo>
                <a:cubicBezTo>
                  <a:pt x="343" y="364"/>
                  <a:pt x="343" y="364"/>
                  <a:pt x="342" y="365"/>
                </a:cubicBezTo>
                <a:cubicBezTo>
                  <a:pt x="342" y="365"/>
                  <a:pt x="342" y="365"/>
                  <a:pt x="342" y="366"/>
                </a:cubicBezTo>
                <a:cubicBezTo>
                  <a:pt x="342" y="366"/>
                  <a:pt x="342" y="366"/>
                  <a:pt x="342" y="366"/>
                </a:cubicBezTo>
                <a:cubicBezTo>
                  <a:pt x="342" y="366"/>
                  <a:pt x="342" y="366"/>
                  <a:pt x="342" y="366"/>
                </a:cubicBezTo>
                <a:cubicBezTo>
                  <a:pt x="337" y="371"/>
                  <a:pt x="325" y="369"/>
                  <a:pt x="320" y="369"/>
                </a:cubicBezTo>
                <a:close/>
                <a:moveTo>
                  <a:pt x="212" y="404"/>
                </a:moveTo>
                <a:cubicBezTo>
                  <a:pt x="212" y="404"/>
                  <a:pt x="212" y="403"/>
                  <a:pt x="212" y="403"/>
                </a:cubicBezTo>
                <a:cubicBezTo>
                  <a:pt x="213" y="403"/>
                  <a:pt x="213" y="402"/>
                  <a:pt x="213" y="402"/>
                </a:cubicBezTo>
                <a:cubicBezTo>
                  <a:pt x="213" y="402"/>
                  <a:pt x="213" y="402"/>
                  <a:pt x="213" y="402"/>
                </a:cubicBezTo>
                <a:cubicBezTo>
                  <a:pt x="213" y="402"/>
                  <a:pt x="213" y="402"/>
                  <a:pt x="213" y="402"/>
                </a:cubicBezTo>
                <a:cubicBezTo>
                  <a:pt x="213" y="401"/>
                  <a:pt x="214" y="401"/>
                  <a:pt x="214" y="400"/>
                </a:cubicBezTo>
                <a:cubicBezTo>
                  <a:pt x="216" y="396"/>
                  <a:pt x="217" y="393"/>
                  <a:pt x="219" y="389"/>
                </a:cubicBezTo>
                <a:cubicBezTo>
                  <a:pt x="219" y="389"/>
                  <a:pt x="219" y="389"/>
                  <a:pt x="219" y="389"/>
                </a:cubicBezTo>
                <a:cubicBezTo>
                  <a:pt x="219" y="389"/>
                  <a:pt x="219" y="389"/>
                  <a:pt x="219" y="389"/>
                </a:cubicBezTo>
                <a:cubicBezTo>
                  <a:pt x="220" y="388"/>
                  <a:pt x="220" y="388"/>
                  <a:pt x="220" y="388"/>
                </a:cubicBezTo>
                <a:cubicBezTo>
                  <a:pt x="220" y="388"/>
                  <a:pt x="220" y="388"/>
                  <a:pt x="220" y="387"/>
                </a:cubicBezTo>
                <a:cubicBezTo>
                  <a:pt x="220" y="387"/>
                  <a:pt x="220" y="387"/>
                  <a:pt x="221" y="387"/>
                </a:cubicBezTo>
                <a:cubicBezTo>
                  <a:pt x="226" y="380"/>
                  <a:pt x="238" y="382"/>
                  <a:pt x="245" y="382"/>
                </a:cubicBezTo>
                <a:cubicBezTo>
                  <a:pt x="245" y="382"/>
                  <a:pt x="245" y="382"/>
                  <a:pt x="245" y="382"/>
                </a:cubicBezTo>
                <a:cubicBezTo>
                  <a:pt x="247" y="382"/>
                  <a:pt x="253" y="381"/>
                  <a:pt x="258" y="382"/>
                </a:cubicBezTo>
                <a:cubicBezTo>
                  <a:pt x="259" y="382"/>
                  <a:pt x="261" y="382"/>
                  <a:pt x="262" y="382"/>
                </a:cubicBezTo>
                <a:cubicBezTo>
                  <a:pt x="263" y="382"/>
                  <a:pt x="264" y="383"/>
                  <a:pt x="264" y="383"/>
                </a:cubicBezTo>
                <a:cubicBezTo>
                  <a:pt x="266" y="384"/>
                  <a:pt x="267" y="385"/>
                  <a:pt x="267" y="387"/>
                </a:cubicBezTo>
                <a:cubicBezTo>
                  <a:pt x="267" y="387"/>
                  <a:pt x="267" y="387"/>
                  <a:pt x="267" y="387"/>
                </a:cubicBezTo>
                <a:cubicBezTo>
                  <a:pt x="267" y="387"/>
                  <a:pt x="267" y="387"/>
                  <a:pt x="267" y="388"/>
                </a:cubicBezTo>
                <a:cubicBezTo>
                  <a:pt x="267" y="388"/>
                  <a:pt x="267" y="388"/>
                  <a:pt x="267" y="388"/>
                </a:cubicBezTo>
                <a:cubicBezTo>
                  <a:pt x="262" y="402"/>
                  <a:pt x="262" y="402"/>
                  <a:pt x="262" y="402"/>
                </a:cubicBezTo>
                <a:cubicBezTo>
                  <a:pt x="262" y="403"/>
                  <a:pt x="261" y="404"/>
                  <a:pt x="260" y="405"/>
                </a:cubicBezTo>
                <a:cubicBezTo>
                  <a:pt x="259" y="406"/>
                  <a:pt x="258" y="407"/>
                  <a:pt x="256" y="407"/>
                </a:cubicBezTo>
                <a:cubicBezTo>
                  <a:pt x="256" y="407"/>
                  <a:pt x="256" y="407"/>
                  <a:pt x="256" y="407"/>
                </a:cubicBezTo>
                <a:cubicBezTo>
                  <a:pt x="254" y="408"/>
                  <a:pt x="252" y="409"/>
                  <a:pt x="250" y="409"/>
                </a:cubicBezTo>
                <a:cubicBezTo>
                  <a:pt x="249" y="409"/>
                  <a:pt x="249" y="409"/>
                  <a:pt x="249" y="409"/>
                </a:cubicBezTo>
                <a:cubicBezTo>
                  <a:pt x="249" y="409"/>
                  <a:pt x="249" y="409"/>
                  <a:pt x="248" y="409"/>
                </a:cubicBezTo>
                <a:cubicBezTo>
                  <a:pt x="244" y="410"/>
                  <a:pt x="240" y="409"/>
                  <a:pt x="235" y="409"/>
                </a:cubicBezTo>
                <a:cubicBezTo>
                  <a:pt x="231" y="409"/>
                  <a:pt x="227" y="410"/>
                  <a:pt x="222" y="410"/>
                </a:cubicBezTo>
                <a:cubicBezTo>
                  <a:pt x="219" y="410"/>
                  <a:pt x="215" y="409"/>
                  <a:pt x="213" y="406"/>
                </a:cubicBezTo>
                <a:cubicBezTo>
                  <a:pt x="213" y="406"/>
                  <a:pt x="213" y="406"/>
                  <a:pt x="213" y="406"/>
                </a:cubicBezTo>
                <a:cubicBezTo>
                  <a:pt x="213" y="406"/>
                  <a:pt x="213" y="406"/>
                  <a:pt x="213" y="406"/>
                </a:cubicBezTo>
                <a:cubicBezTo>
                  <a:pt x="213" y="405"/>
                  <a:pt x="213" y="405"/>
                  <a:pt x="212" y="405"/>
                </a:cubicBezTo>
                <a:cubicBezTo>
                  <a:pt x="212" y="405"/>
                  <a:pt x="212" y="405"/>
                  <a:pt x="212" y="405"/>
                </a:cubicBezTo>
                <a:cubicBezTo>
                  <a:pt x="212" y="405"/>
                  <a:pt x="212" y="405"/>
                  <a:pt x="212" y="405"/>
                </a:cubicBezTo>
                <a:cubicBezTo>
                  <a:pt x="212" y="404"/>
                  <a:pt x="212" y="404"/>
                  <a:pt x="212" y="404"/>
                </a:cubicBezTo>
                <a:close/>
                <a:moveTo>
                  <a:pt x="212" y="359"/>
                </a:moveTo>
                <a:cubicBezTo>
                  <a:pt x="212" y="359"/>
                  <a:pt x="212" y="359"/>
                  <a:pt x="212" y="359"/>
                </a:cubicBezTo>
                <a:cubicBezTo>
                  <a:pt x="209" y="364"/>
                  <a:pt x="209" y="364"/>
                  <a:pt x="209" y="364"/>
                </a:cubicBezTo>
                <a:cubicBezTo>
                  <a:pt x="209" y="364"/>
                  <a:pt x="208" y="365"/>
                  <a:pt x="207" y="366"/>
                </a:cubicBezTo>
                <a:cubicBezTo>
                  <a:pt x="206" y="367"/>
                  <a:pt x="205" y="367"/>
                  <a:pt x="203" y="368"/>
                </a:cubicBezTo>
                <a:cubicBezTo>
                  <a:pt x="203" y="368"/>
                  <a:pt x="203" y="368"/>
                  <a:pt x="202" y="368"/>
                </a:cubicBezTo>
                <a:cubicBezTo>
                  <a:pt x="202" y="369"/>
                  <a:pt x="202" y="369"/>
                  <a:pt x="202" y="369"/>
                </a:cubicBezTo>
                <a:cubicBezTo>
                  <a:pt x="202" y="369"/>
                  <a:pt x="202" y="369"/>
                  <a:pt x="202" y="369"/>
                </a:cubicBezTo>
                <a:cubicBezTo>
                  <a:pt x="201" y="369"/>
                  <a:pt x="200" y="369"/>
                  <a:pt x="199" y="369"/>
                </a:cubicBezTo>
                <a:cubicBezTo>
                  <a:pt x="197" y="370"/>
                  <a:pt x="196" y="370"/>
                  <a:pt x="194" y="370"/>
                </a:cubicBezTo>
                <a:cubicBezTo>
                  <a:pt x="189" y="370"/>
                  <a:pt x="189" y="370"/>
                  <a:pt x="189" y="370"/>
                </a:cubicBezTo>
                <a:cubicBezTo>
                  <a:pt x="189" y="370"/>
                  <a:pt x="189" y="370"/>
                  <a:pt x="189" y="370"/>
                </a:cubicBezTo>
                <a:cubicBezTo>
                  <a:pt x="184" y="370"/>
                  <a:pt x="178" y="370"/>
                  <a:pt x="172" y="370"/>
                </a:cubicBezTo>
                <a:cubicBezTo>
                  <a:pt x="170" y="370"/>
                  <a:pt x="165" y="369"/>
                  <a:pt x="164" y="366"/>
                </a:cubicBezTo>
                <a:cubicBezTo>
                  <a:pt x="164" y="366"/>
                  <a:pt x="164" y="365"/>
                  <a:pt x="164" y="365"/>
                </a:cubicBezTo>
                <a:cubicBezTo>
                  <a:pt x="165" y="364"/>
                  <a:pt x="166" y="362"/>
                  <a:pt x="166" y="362"/>
                </a:cubicBezTo>
                <a:cubicBezTo>
                  <a:pt x="168" y="358"/>
                  <a:pt x="170" y="355"/>
                  <a:pt x="173" y="352"/>
                </a:cubicBezTo>
                <a:cubicBezTo>
                  <a:pt x="173" y="352"/>
                  <a:pt x="173" y="352"/>
                  <a:pt x="173" y="352"/>
                </a:cubicBezTo>
                <a:cubicBezTo>
                  <a:pt x="173" y="352"/>
                  <a:pt x="173" y="352"/>
                  <a:pt x="173" y="352"/>
                </a:cubicBezTo>
                <a:cubicBezTo>
                  <a:pt x="180" y="345"/>
                  <a:pt x="193" y="347"/>
                  <a:pt x="201" y="347"/>
                </a:cubicBezTo>
                <a:cubicBezTo>
                  <a:pt x="205" y="347"/>
                  <a:pt x="210" y="346"/>
                  <a:pt x="213" y="348"/>
                </a:cubicBezTo>
                <a:cubicBezTo>
                  <a:pt x="213" y="348"/>
                  <a:pt x="213" y="348"/>
                  <a:pt x="213" y="348"/>
                </a:cubicBezTo>
                <a:cubicBezTo>
                  <a:pt x="214" y="348"/>
                  <a:pt x="214" y="348"/>
                  <a:pt x="214" y="348"/>
                </a:cubicBezTo>
                <a:cubicBezTo>
                  <a:pt x="214" y="348"/>
                  <a:pt x="214" y="349"/>
                  <a:pt x="214" y="349"/>
                </a:cubicBezTo>
                <a:cubicBezTo>
                  <a:pt x="215" y="349"/>
                  <a:pt x="216" y="350"/>
                  <a:pt x="216" y="350"/>
                </a:cubicBezTo>
                <a:cubicBezTo>
                  <a:pt x="216" y="351"/>
                  <a:pt x="216" y="352"/>
                  <a:pt x="215" y="353"/>
                </a:cubicBezTo>
                <a:cubicBezTo>
                  <a:pt x="215" y="353"/>
                  <a:pt x="215" y="353"/>
                  <a:pt x="215" y="353"/>
                </a:cubicBezTo>
                <a:cubicBezTo>
                  <a:pt x="214" y="355"/>
                  <a:pt x="213" y="357"/>
                  <a:pt x="212" y="359"/>
                </a:cubicBezTo>
                <a:close/>
                <a:moveTo>
                  <a:pt x="266" y="369"/>
                </a:moveTo>
                <a:cubicBezTo>
                  <a:pt x="266" y="369"/>
                  <a:pt x="265" y="369"/>
                  <a:pt x="264" y="369"/>
                </a:cubicBezTo>
                <a:cubicBezTo>
                  <a:pt x="264" y="369"/>
                  <a:pt x="264" y="370"/>
                  <a:pt x="264" y="370"/>
                </a:cubicBezTo>
                <a:cubicBezTo>
                  <a:pt x="261" y="370"/>
                  <a:pt x="258" y="370"/>
                  <a:pt x="254" y="370"/>
                </a:cubicBezTo>
                <a:cubicBezTo>
                  <a:pt x="240" y="370"/>
                  <a:pt x="240" y="370"/>
                  <a:pt x="240" y="370"/>
                </a:cubicBezTo>
                <a:cubicBezTo>
                  <a:pt x="238" y="370"/>
                  <a:pt x="233" y="369"/>
                  <a:pt x="231" y="366"/>
                </a:cubicBezTo>
                <a:cubicBezTo>
                  <a:pt x="231" y="366"/>
                  <a:pt x="231" y="365"/>
                  <a:pt x="231" y="365"/>
                </a:cubicBezTo>
                <a:cubicBezTo>
                  <a:pt x="231" y="365"/>
                  <a:pt x="231" y="365"/>
                  <a:pt x="231" y="364"/>
                </a:cubicBezTo>
                <a:cubicBezTo>
                  <a:pt x="232" y="363"/>
                  <a:pt x="233" y="362"/>
                  <a:pt x="233" y="361"/>
                </a:cubicBezTo>
                <a:cubicBezTo>
                  <a:pt x="234" y="358"/>
                  <a:pt x="235" y="354"/>
                  <a:pt x="238" y="352"/>
                </a:cubicBezTo>
                <a:cubicBezTo>
                  <a:pt x="238" y="351"/>
                  <a:pt x="238" y="351"/>
                  <a:pt x="238" y="351"/>
                </a:cubicBezTo>
                <a:cubicBezTo>
                  <a:pt x="238" y="351"/>
                  <a:pt x="238" y="351"/>
                  <a:pt x="238" y="351"/>
                </a:cubicBezTo>
                <a:cubicBezTo>
                  <a:pt x="239" y="351"/>
                  <a:pt x="239" y="351"/>
                  <a:pt x="239" y="351"/>
                </a:cubicBezTo>
                <a:cubicBezTo>
                  <a:pt x="239" y="350"/>
                  <a:pt x="239" y="350"/>
                  <a:pt x="239" y="350"/>
                </a:cubicBezTo>
                <a:cubicBezTo>
                  <a:pt x="239" y="350"/>
                  <a:pt x="239" y="350"/>
                  <a:pt x="239" y="350"/>
                </a:cubicBezTo>
                <a:cubicBezTo>
                  <a:pt x="241" y="349"/>
                  <a:pt x="244" y="348"/>
                  <a:pt x="246" y="348"/>
                </a:cubicBezTo>
                <a:cubicBezTo>
                  <a:pt x="246" y="348"/>
                  <a:pt x="246" y="347"/>
                  <a:pt x="247" y="347"/>
                </a:cubicBezTo>
                <a:cubicBezTo>
                  <a:pt x="248" y="347"/>
                  <a:pt x="249" y="347"/>
                  <a:pt x="251" y="347"/>
                </a:cubicBezTo>
                <a:cubicBezTo>
                  <a:pt x="259" y="347"/>
                  <a:pt x="259" y="347"/>
                  <a:pt x="259" y="347"/>
                </a:cubicBezTo>
                <a:cubicBezTo>
                  <a:pt x="262" y="347"/>
                  <a:pt x="265" y="347"/>
                  <a:pt x="267" y="347"/>
                </a:cubicBezTo>
                <a:cubicBezTo>
                  <a:pt x="271" y="347"/>
                  <a:pt x="276" y="346"/>
                  <a:pt x="279" y="349"/>
                </a:cubicBezTo>
                <a:cubicBezTo>
                  <a:pt x="279" y="349"/>
                  <a:pt x="280" y="349"/>
                  <a:pt x="280" y="350"/>
                </a:cubicBezTo>
                <a:cubicBezTo>
                  <a:pt x="280" y="350"/>
                  <a:pt x="280" y="350"/>
                  <a:pt x="280" y="350"/>
                </a:cubicBezTo>
                <a:cubicBezTo>
                  <a:pt x="280" y="350"/>
                  <a:pt x="280" y="350"/>
                  <a:pt x="280" y="350"/>
                </a:cubicBezTo>
                <a:cubicBezTo>
                  <a:pt x="280" y="350"/>
                  <a:pt x="280" y="350"/>
                  <a:pt x="280" y="350"/>
                </a:cubicBezTo>
                <a:cubicBezTo>
                  <a:pt x="280" y="351"/>
                  <a:pt x="280" y="351"/>
                  <a:pt x="280" y="352"/>
                </a:cubicBezTo>
                <a:cubicBezTo>
                  <a:pt x="280" y="355"/>
                  <a:pt x="278" y="359"/>
                  <a:pt x="277" y="361"/>
                </a:cubicBezTo>
                <a:cubicBezTo>
                  <a:pt x="277" y="361"/>
                  <a:pt x="277" y="361"/>
                  <a:pt x="277" y="361"/>
                </a:cubicBezTo>
                <a:cubicBezTo>
                  <a:pt x="277" y="362"/>
                  <a:pt x="277" y="362"/>
                  <a:pt x="276" y="363"/>
                </a:cubicBezTo>
                <a:cubicBezTo>
                  <a:pt x="276" y="363"/>
                  <a:pt x="276" y="363"/>
                  <a:pt x="276" y="363"/>
                </a:cubicBezTo>
                <a:cubicBezTo>
                  <a:pt x="276" y="364"/>
                  <a:pt x="276" y="364"/>
                  <a:pt x="276" y="364"/>
                </a:cubicBezTo>
                <a:cubicBezTo>
                  <a:pt x="276" y="364"/>
                  <a:pt x="276" y="364"/>
                  <a:pt x="276" y="364"/>
                </a:cubicBezTo>
                <a:cubicBezTo>
                  <a:pt x="276" y="364"/>
                  <a:pt x="275" y="365"/>
                  <a:pt x="275" y="365"/>
                </a:cubicBezTo>
                <a:cubicBezTo>
                  <a:pt x="275" y="365"/>
                  <a:pt x="275" y="365"/>
                  <a:pt x="275" y="365"/>
                </a:cubicBezTo>
                <a:cubicBezTo>
                  <a:pt x="275" y="365"/>
                  <a:pt x="275" y="365"/>
                  <a:pt x="275" y="365"/>
                </a:cubicBezTo>
                <a:cubicBezTo>
                  <a:pt x="275" y="366"/>
                  <a:pt x="275" y="366"/>
                  <a:pt x="275" y="366"/>
                </a:cubicBezTo>
                <a:cubicBezTo>
                  <a:pt x="274" y="366"/>
                  <a:pt x="274" y="367"/>
                  <a:pt x="273" y="367"/>
                </a:cubicBezTo>
                <a:cubicBezTo>
                  <a:pt x="273" y="367"/>
                  <a:pt x="272" y="367"/>
                  <a:pt x="272" y="368"/>
                </a:cubicBezTo>
                <a:cubicBezTo>
                  <a:pt x="271" y="368"/>
                  <a:pt x="271" y="368"/>
                  <a:pt x="271" y="368"/>
                </a:cubicBezTo>
                <a:cubicBezTo>
                  <a:pt x="271" y="368"/>
                  <a:pt x="271" y="368"/>
                  <a:pt x="271" y="368"/>
                </a:cubicBezTo>
                <a:cubicBezTo>
                  <a:pt x="269" y="369"/>
                  <a:pt x="268" y="369"/>
                  <a:pt x="266" y="369"/>
                </a:cubicBezTo>
                <a:close/>
                <a:moveTo>
                  <a:pt x="172" y="430"/>
                </a:moveTo>
                <a:cubicBezTo>
                  <a:pt x="172" y="430"/>
                  <a:pt x="172" y="430"/>
                  <a:pt x="172" y="430"/>
                </a:cubicBezTo>
                <a:cubicBezTo>
                  <a:pt x="172" y="433"/>
                  <a:pt x="169" y="437"/>
                  <a:pt x="167" y="439"/>
                </a:cubicBezTo>
                <a:cubicBezTo>
                  <a:pt x="167" y="439"/>
                  <a:pt x="167" y="439"/>
                  <a:pt x="167" y="439"/>
                </a:cubicBezTo>
                <a:cubicBezTo>
                  <a:pt x="165" y="443"/>
                  <a:pt x="164" y="447"/>
                  <a:pt x="161" y="450"/>
                </a:cubicBezTo>
                <a:cubicBezTo>
                  <a:pt x="161" y="450"/>
                  <a:pt x="161" y="450"/>
                  <a:pt x="161" y="451"/>
                </a:cubicBezTo>
                <a:cubicBezTo>
                  <a:pt x="160" y="451"/>
                  <a:pt x="160" y="451"/>
                  <a:pt x="160" y="451"/>
                </a:cubicBezTo>
                <a:cubicBezTo>
                  <a:pt x="160" y="451"/>
                  <a:pt x="160" y="451"/>
                  <a:pt x="160" y="452"/>
                </a:cubicBezTo>
                <a:cubicBezTo>
                  <a:pt x="159" y="452"/>
                  <a:pt x="159" y="452"/>
                  <a:pt x="159" y="452"/>
                </a:cubicBezTo>
                <a:cubicBezTo>
                  <a:pt x="159" y="452"/>
                  <a:pt x="159" y="452"/>
                  <a:pt x="159" y="452"/>
                </a:cubicBezTo>
                <a:cubicBezTo>
                  <a:pt x="156" y="455"/>
                  <a:pt x="153" y="456"/>
                  <a:pt x="150" y="457"/>
                </a:cubicBezTo>
                <a:cubicBezTo>
                  <a:pt x="149" y="457"/>
                  <a:pt x="149" y="457"/>
                  <a:pt x="149" y="458"/>
                </a:cubicBezTo>
                <a:cubicBezTo>
                  <a:pt x="146" y="458"/>
                  <a:pt x="144" y="458"/>
                  <a:pt x="142" y="458"/>
                </a:cubicBezTo>
                <a:cubicBezTo>
                  <a:pt x="141" y="458"/>
                  <a:pt x="141" y="458"/>
                  <a:pt x="141" y="458"/>
                </a:cubicBezTo>
                <a:cubicBezTo>
                  <a:pt x="141" y="458"/>
                  <a:pt x="141" y="458"/>
                  <a:pt x="141" y="458"/>
                </a:cubicBezTo>
                <a:cubicBezTo>
                  <a:pt x="132" y="458"/>
                  <a:pt x="124" y="458"/>
                  <a:pt x="115" y="458"/>
                </a:cubicBezTo>
                <a:cubicBezTo>
                  <a:pt x="114" y="458"/>
                  <a:pt x="114" y="458"/>
                  <a:pt x="113" y="458"/>
                </a:cubicBezTo>
                <a:cubicBezTo>
                  <a:pt x="112" y="458"/>
                  <a:pt x="111" y="458"/>
                  <a:pt x="110" y="458"/>
                </a:cubicBezTo>
                <a:cubicBezTo>
                  <a:pt x="109" y="457"/>
                  <a:pt x="107" y="456"/>
                  <a:pt x="107" y="456"/>
                </a:cubicBezTo>
                <a:cubicBezTo>
                  <a:pt x="106" y="455"/>
                  <a:pt x="106" y="453"/>
                  <a:pt x="106" y="452"/>
                </a:cubicBezTo>
                <a:cubicBezTo>
                  <a:pt x="106" y="451"/>
                  <a:pt x="106" y="451"/>
                  <a:pt x="107" y="450"/>
                </a:cubicBezTo>
                <a:cubicBezTo>
                  <a:pt x="107" y="449"/>
                  <a:pt x="107" y="449"/>
                  <a:pt x="107" y="449"/>
                </a:cubicBezTo>
                <a:cubicBezTo>
                  <a:pt x="107" y="449"/>
                  <a:pt x="107" y="449"/>
                  <a:pt x="107" y="449"/>
                </a:cubicBezTo>
                <a:cubicBezTo>
                  <a:pt x="107" y="448"/>
                  <a:pt x="107" y="448"/>
                  <a:pt x="107" y="448"/>
                </a:cubicBezTo>
                <a:cubicBezTo>
                  <a:pt x="107" y="448"/>
                  <a:pt x="107" y="448"/>
                  <a:pt x="107" y="448"/>
                </a:cubicBezTo>
                <a:cubicBezTo>
                  <a:pt x="109" y="445"/>
                  <a:pt x="112" y="442"/>
                  <a:pt x="114" y="439"/>
                </a:cubicBezTo>
                <a:cubicBezTo>
                  <a:pt x="116" y="436"/>
                  <a:pt x="117" y="433"/>
                  <a:pt x="119" y="431"/>
                </a:cubicBezTo>
                <a:cubicBezTo>
                  <a:pt x="120" y="431"/>
                  <a:pt x="120" y="430"/>
                  <a:pt x="120" y="430"/>
                </a:cubicBezTo>
                <a:cubicBezTo>
                  <a:pt x="120" y="430"/>
                  <a:pt x="120" y="430"/>
                  <a:pt x="120" y="430"/>
                </a:cubicBezTo>
                <a:cubicBezTo>
                  <a:pt x="121" y="430"/>
                  <a:pt x="121" y="429"/>
                  <a:pt x="122" y="429"/>
                </a:cubicBezTo>
                <a:cubicBezTo>
                  <a:pt x="122" y="429"/>
                  <a:pt x="122" y="429"/>
                  <a:pt x="122" y="429"/>
                </a:cubicBezTo>
                <a:cubicBezTo>
                  <a:pt x="122" y="429"/>
                  <a:pt x="122" y="429"/>
                  <a:pt x="122" y="429"/>
                </a:cubicBezTo>
                <a:cubicBezTo>
                  <a:pt x="125" y="426"/>
                  <a:pt x="128" y="425"/>
                  <a:pt x="132" y="424"/>
                </a:cubicBezTo>
                <a:cubicBezTo>
                  <a:pt x="132" y="424"/>
                  <a:pt x="132" y="424"/>
                  <a:pt x="132" y="424"/>
                </a:cubicBezTo>
                <a:cubicBezTo>
                  <a:pt x="132" y="424"/>
                  <a:pt x="132" y="424"/>
                  <a:pt x="132" y="424"/>
                </a:cubicBezTo>
                <a:cubicBezTo>
                  <a:pt x="133" y="424"/>
                  <a:pt x="133" y="424"/>
                  <a:pt x="134" y="424"/>
                </a:cubicBezTo>
                <a:cubicBezTo>
                  <a:pt x="135" y="424"/>
                  <a:pt x="135" y="424"/>
                  <a:pt x="135" y="424"/>
                </a:cubicBezTo>
                <a:cubicBezTo>
                  <a:pt x="136" y="424"/>
                  <a:pt x="136" y="424"/>
                  <a:pt x="137" y="424"/>
                </a:cubicBezTo>
                <a:cubicBezTo>
                  <a:pt x="137" y="423"/>
                  <a:pt x="137" y="423"/>
                  <a:pt x="138" y="423"/>
                </a:cubicBezTo>
                <a:cubicBezTo>
                  <a:pt x="138" y="423"/>
                  <a:pt x="138" y="423"/>
                  <a:pt x="138" y="423"/>
                </a:cubicBezTo>
                <a:cubicBezTo>
                  <a:pt x="138" y="423"/>
                  <a:pt x="138" y="423"/>
                  <a:pt x="138" y="423"/>
                </a:cubicBezTo>
                <a:cubicBezTo>
                  <a:pt x="146" y="423"/>
                  <a:pt x="153" y="423"/>
                  <a:pt x="161" y="423"/>
                </a:cubicBezTo>
                <a:cubicBezTo>
                  <a:pt x="161" y="423"/>
                  <a:pt x="161" y="423"/>
                  <a:pt x="161" y="423"/>
                </a:cubicBezTo>
                <a:cubicBezTo>
                  <a:pt x="163" y="423"/>
                  <a:pt x="163" y="423"/>
                  <a:pt x="163" y="423"/>
                </a:cubicBezTo>
                <a:cubicBezTo>
                  <a:pt x="165" y="423"/>
                  <a:pt x="166" y="424"/>
                  <a:pt x="167" y="424"/>
                </a:cubicBezTo>
                <a:cubicBezTo>
                  <a:pt x="168" y="424"/>
                  <a:pt x="168" y="424"/>
                  <a:pt x="169" y="425"/>
                </a:cubicBezTo>
                <a:cubicBezTo>
                  <a:pt x="169" y="425"/>
                  <a:pt x="169" y="425"/>
                  <a:pt x="169" y="425"/>
                </a:cubicBezTo>
                <a:cubicBezTo>
                  <a:pt x="169" y="425"/>
                  <a:pt x="169" y="425"/>
                  <a:pt x="170" y="425"/>
                </a:cubicBezTo>
                <a:cubicBezTo>
                  <a:pt x="172" y="426"/>
                  <a:pt x="173" y="428"/>
                  <a:pt x="172" y="430"/>
                </a:cubicBezTo>
                <a:close/>
                <a:moveTo>
                  <a:pt x="188" y="402"/>
                </a:moveTo>
                <a:cubicBezTo>
                  <a:pt x="188" y="402"/>
                  <a:pt x="188" y="402"/>
                  <a:pt x="188" y="402"/>
                </a:cubicBezTo>
                <a:cubicBezTo>
                  <a:pt x="188" y="402"/>
                  <a:pt x="188" y="402"/>
                  <a:pt x="188" y="402"/>
                </a:cubicBezTo>
                <a:cubicBezTo>
                  <a:pt x="188" y="403"/>
                  <a:pt x="187" y="403"/>
                  <a:pt x="187" y="404"/>
                </a:cubicBezTo>
                <a:cubicBezTo>
                  <a:pt x="187" y="404"/>
                  <a:pt x="187" y="404"/>
                  <a:pt x="187" y="404"/>
                </a:cubicBezTo>
                <a:cubicBezTo>
                  <a:pt x="185" y="406"/>
                  <a:pt x="182" y="407"/>
                  <a:pt x="179" y="408"/>
                </a:cubicBezTo>
                <a:cubicBezTo>
                  <a:pt x="179" y="408"/>
                  <a:pt x="179" y="408"/>
                  <a:pt x="179" y="408"/>
                </a:cubicBezTo>
                <a:cubicBezTo>
                  <a:pt x="179" y="409"/>
                  <a:pt x="178" y="409"/>
                  <a:pt x="178" y="409"/>
                </a:cubicBezTo>
                <a:cubicBezTo>
                  <a:pt x="177" y="409"/>
                  <a:pt x="177" y="409"/>
                  <a:pt x="177" y="409"/>
                </a:cubicBezTo>
                <a:cubicBezTo>
                  <a:pt x="177" y="409"/>
                  <a:pt x="177" y="409"/>
                  <a:pt x="176" y="409"/>
                </a:cubicBezTo>
                <a:cubicBezTo>
                  <a:pt x="174" y="409"/>
                  <a:pt x="172" y="410"/>
                  <a:pt x="171" y="410"/>
                </a:cubicBezTo>
                <a:cubicBezTo>
                  <a:pt x="170" y="410"/>
                  <a:pt x="170" y="410"/>
                  <a:pt x="170" y="410"/>
                </a:cubicBezTo>
                <a:cubicBezTo>
                  <a:pt x="167" y="410"/>
                  <a:pt x="164" y="410"/>
                  <a:pt x="161" y="410"/>
                </a:cubicBezTo>
                <a:cubicBezTo>
                  <a:pt x="156" y="410"/>
                  <a:pt x="151" y="410"/>
                  <a:pt x="146" y="410"/>
                </a:cubicBezTo>
                <a:cubicBezTo>
                  <a:pt x="146" y="410"/>
                  <a:pt x="145" y="410"/>
                  <a:pt x="144" y="410"/>
                </a:cubicBezTo>
                <a:cubicBezTo>
                  <a:pt x="144" y="410"/>
                  <a:pt x="144" y="410"/>
                  <a:pt x="144" y="410"/>
                </a:cubicBezTo>
                <a:cubicBezTo>
                  <a:pt x="143" y="409"/>
                  <a:pt x="143" y="409"/>
                  <a:pt x="142" y="409"/>
                </a:cubicBezTo>
                <a:cubicBezTo>
                  <a:pt x="142" y="409"/>
                  <a:pt x="142" y="409"/>
                  <a:pt x="142" y="409"/>
                </a:cubicBezTo>
                <a:cubicBezTo>
                  <a:pt x="142" y="409"/>
                  <a:pt x="142" y="409"/>
                  <a:pt x="142" y="409"/>
                </a:cubicBezTo>
                <a:cubicBezTo>
                  <a:pt x="140" y="409"/>
                  <a:pt x="138" y="407"/>
                  <a:pt x="138" y="405"/>
                </a:cubicBezTo>
                <a:cubicBezTo>
                  <a:pt x="138" y="405"/>
                  <a:pt x="138" y="404"/>
                  <a:pt x="138" y="404"/>
                </a:cubicBezTo>
                <a:cubicBezTo>
                  <a:pt x="138" y="404"/>
                  <a:pt x="138" y="404"/>
                  <a:pt x="138" y="403"/>
                </a:cubicBezTo>
                <a:cubicBezTo>
                  <a:pt x="138" y="403"/>
                  <a:pt x="138" y="403"/>
                  <a:pt x="139" y="402"/>
                </a:cubicBezTo>
                <a:cubicBezTo>
                  <a:pt x="139" y="402"/>
                  <a:pt x="139" y="402"/>
                  <a:pt x="139" y="402"/>
                </a:cubicBezTo>
                <a:cubicBezTo>
                  <a:pt x="139" y="402"/>
                  <a:pt x="139" y="402"/>
                  <a:pt x="139" y="402"/>
                </a:cubicBezTo>
                <a:cubicBezTo>
                  <a:pt x="139" y="402"/>
                  <a:pt x="139" y="401"/>
                  <a:pt x="140" y="401"/>
                </a:cubicBezTo>
                <a:cubicBezTo>
                  <a:pt x="142" y="397"/>
                  <a:pt x="144" y="394"/>
                  <a:pt x="147" y="390"/>
                </a:cubicBezTo>
                <a:cubicBezTo>
                  <a:pt x="147" y="390"/>
                  <a:pt x="147" y="390"/>
                  <a:pt x="147" y="390"/>
                </a:cubicBezTo>
                <a:cubicBezTo>
                  <a:pt x="148" y="389"/>
                  <a:pt x="148" y="389"/>
                  <a:pt x="148" y="389"/>
                </a:cubicBezTo>
                <a:cubicBezTo>
                  <a:pt x="149" y="388"/>
                  <a:pt x="149" y="387"/>
                  <a:pt x="151" y="386"/>
                </a:cubicBezTo>
                <a:cubicBezTo>
                  <a:pt x="151" y="385"/>
                  <a:pt x="152" y="385"/>
                  <a:pt x="153" y="385"/>
                </a:cubicBezTo>
                <a:cubicBezTo>
                  <a:pt x="153" y="384"/>
                  <a:pt x="154" y="384"/>
                  <a:pt x="154" y="384"/>
                </a:cubicBezTo>
                <a:cubicBezTo>
                  <a:pt x="154" y="384"/>
                  <a:pt x="154" y="384"/>
                  <a:pt x="155" y="384"/>
                </a:cubicBezTo>
                <a:cubicBezTo>
                  <a:pt x="155" y="384"/>
                  <a:pt x="155" y="384"/>
                  <a:pt x="155" y="384"/>
                </a:cubicBezTo>
                <a:cubicBezTo>
                  <a:pt x="155" y="384"/>
                  <a:pt x="155" y="384"/>
                  <a:pt x="156" y="383"/>
                </a:cubicBezTo>
                <a:cubicBezTo>
                  <a:pt x="157" y="383"/>
                  <a:pt x="158" y="383"/>
                  <a:pt x="160" y="382"/>
                </a:cubicBezTo>
                <a:cubicBezTo>
                  <a:pt x="161" y="382"/>
                  <a:pt x="163" y="382"/>
                  <a:pt x="165" y="382"/>
                </a:cubicBezTo>
                <a:cubicBezTo>
                  <a:pt x="169" y="382"/>
                  <a:pt x="169" y="382"/>
                  <a:pt x="169" y="382"/>
                </a:cubicBezTo>
                <a:cubicBezTo>
                  <a:pt x="170" y="382"/>
                  <a:pt x="171" y="382"/>
                  <a:pt x="172" y="382"/>
                </a:cubicBezTo>
                <a:cubicBezTo>
                  <a:pt x="177" y="382"/>
                  <a:pt x="181" y="382"/>
                  <a:pt x="185" y="382"/>
                </a:cubicBezTo>
                <a:cubicBezTo>
                  <a:pt x="185" y="382"/>
                  <a:pt x="185" y="382"/>
                  <a:pt x="185" y="382"/>
                </a:cubicBezTo>
                <a:cubicBezTo>
                  <a:pt x="187" y="382"/>
                  <a:pt x="187" y="382"/>
                  <a:pt x="187" y="382"/>
                </a:cubicBezTo>
                <a:cubicBezTo>
                  <a:pt x="189" y="382"/>
                  <a:pt x="190" y="382"/>
                  <a:pt x="191" y="382"/>
                </a:cubicBezTo>
                <a:cubicBezTo>
                  <a:pt x="193" y="383"/>
                  <a:pt x="193" y="383"/>
                  <a:pt x="194" y="383"/>
                </a:cubicBezTo>
                <a:cubicBezTo>
                  <a:pt x="196" y="384"/>
                  <a:pt x="197" y="386"/>
                  <a:pt x="196" y="389"/>
                </a:cubicBezTo>
                <a:cubicBezTo>
                  <a:pt x="194" y="392"/>
                  <a:pt x="192" y="395"/>
                  <a:pt x="190" y="398"/>
                </a:cubicBezTo>
                <a:cubicBezTo>
                  <a:pt x="188" y="402"/>
                  <a:pt x="188" y="402"/>
                  <a:pt x="188" y="402"/>
                </a:cubicBezTo>
                <a:cubicBezTo>
                  <a:pt x="188" y="402"/>
                  <a:pt x="188" y="402"/>
                  <a:pt x="188" y="402"/>
                </a:cubicBezTo>
                <a:close/>
                <a:moveTo>
                  <a:pt x="411" y="448"/>
                </a:moveTo>
                <a:cubicBezTo>
                  <a:pt x="411" y="449"/>
                  <a:pt x="411" y="449"/>
                  <a:pt x="411" y="450"/>
                </a:cubicBezTo>
                <a:cubicBezTo>
                  <a:pt x="411" y="450"/>
                  <a:pt x="411" y="450"/>
                  <a:pt x="411" y="450"/>
                </a:cubicBezTo>
                <a:cubicBezTo>
                  <a:pt x="411" y="451"/>
                  <a:pt x="411" y="451"/>
                  <a:pt x="410" y="451"/>
                </a:cubicBezTo>
                <a:cubicBezTo>
                  <a:pt x="410" y="451"/>
                  <a:pt x="410" y="451"/>
                  <a:pt x="410" y="452"/>
                </a:cubicBezTo>
                <a:cubicBezTo>
                  <a:pt x="410" y="452"/>
                  <a:pt x="410" y="452"/>
                  <a:pt x="410" y="452"/>
                </a:cubicBezTo>
                <a:cubicBezTo>
                  <a:pt x="410" y="452"/>
                  <a:pt x="409" y="453"/>
                  <a:pt x="409" y="453"/>
                </a:cubicBezTo>
                <a:cubicBezTo>
                  <a:pt x="409" y="453"/>
                  <a:pt x="409" y="453"/>
                  <a:pt x="409" y="453"/>
                </a:cubicBezTo>
                <a:cubicBezTo>
                  <a:pt x="408" y="454"/>
                  <a:pt x="408" y="454"/>
                  <a:pt x="407" y="455"/>
                </a:cubicBezTo>
                <a:cubicBezTo>
                  <a:pt x="407" y="455"/>
                  <a:pt x="407" y="455"/>
                  <a:pt x="407" y="455"/>
                </a:cubicBezTo>
                <a:cubicBezTo>
                  <a:pt x="407" y="455"/>
                  <a:pt x="407" y="455"/>
                  <a:pt x="407" y="455"/>
                </a:cubicBezTo>
                <a:cubicBezTo>
                  <a:pt x="406" y="455"/>
                  <a:pt x="406" y="456"/>
                  <a:pt x="405" y="456"/>
                </a:cubicBezTo>
                <a:cubicBezTo>
                  <a:pt x="405" y="456"/>
                  <a:pt x="405" y="456"/>
                  <a:pt x="405" y="456"/>
                </a:cubicBezTo>
                <a:cubicBezTo>
                  <a:pt x="404" y="456"/>
                  <a:pt x="404" y="456"/>
                  <a:pt x="404" y="456"/>
                </a:cubicBezTo>
                <a:cubicBezTo>
                  <a:pt x="403" y="456"/>
                  <a:pt x="403" y="457"/>
                  <a:pt x="403" y="457"/>
                </a:cubicBezTo>
                <a:cubicBezTo>
                  <a:pt x="403" y="457"/>
                  <a:pt x="403" y="457"/>
                  <a:pt x="402" y="457"/>
                </a:cubicBezTo>
                <a:cubicBezTo>
                  <a:pt x="402" y="457"/>
                  <a:pt x="402" y="457"/>
                  <a:pt x="402" y="457"/>
                </a:cubicBezTo>
                <a:cubicBezTo>
                  <a:pt x="402" y="457"/>
                  <a:pt x="401" y="457"/>
                  <a:pt x="400" y="457"/>
                </a:cubicBezTo>
                <a:cubicBezTo>
                  <a:pt x="400" y="457"/>
                  <a:pt x="399" y="457"/>
                  <a:pt x="399" y="457"/>
                </a:cubicBezTo>
                <a:cubicBezTo>
                  <a:pt x="398" y="458"/>
                  <a:pt x="398" y="458"/>
                  <a:pt x="397" y="458"/>
                </a:cubicBezTo>
                <a:cubicBezTo>
                  <a:pt x="397" y="458"/>
                  <a:pt x="397" y="458"/>
                  <a:pt x="397" y="458"/>
                </a:cubicBezTo>
                <a:cubicBezTo>
                  <a:pt x="396" y="458"/>
                  <a:pt x="396" y="458"/>
                  <a:pt x="396" y="458"/>
                </a:cubicBezTo>
                <a:cubicBezTo>
                  <a:pt x="396" y="458"/>
                  <a:pt x="396" y="458"/>
                  <a:pt x="396" y="458"/>
                </a:cubicBezTo>
                <a:cubicBezTo>
                  <a:pt x="393" y="458"/>
                  <a:pt x="390" y="458"/>
                  <a:pt x="387" y="458"/>
                </a:cubicBezTo>
                <a:cubicBezTo>
                  <a:pt x="373" y="458"/>
                  <a:pt x="212" y="458"/>
                  <a:pt x="200" y="458"/>
                </a:cubicBezTo>
                <a:cubicBezTo>
                  <a:pt x="199" y="458"/>
                  <a:pt x="198" y="458"/>
                  <a:pt x="198" y="458"/>
                </a:cubicBezTo>
                <a:cubicBezTo>
                  <a:pt x="197" y="458"/>
                  <a:pt x="196" y="458"/>
                  <a:pt x="195" y="457"/>
                </a:cubicBezTo>
                <a:cubicBezTo>
                  <a:pt x="193" y="457"/>
                  <a:pt x="192" y="456"/>
                  <a:pt x="191" y="455"/>
                </a:cubicBezTo>
                <a:cubicBezTo>
                  <a:pt x="190" y="454"/>
                  <a:pt x="190" y="453"/>
                  <a:pt x="189" y="452"/>
                </a:cubicBezTo>
                <a:cubicBezTo>
                  <a:pt x="189" y="451"/>
                  <a:pt x="189" y="450"/>
                  <a:pt x="190" y="449"/>
                </a:cubicBezTo>
                <a:cubicBezTo>
                  <a:pt x="191" y="448"/>
                  <a:pt x="191" y="448"/>
                  <a:pt x="191" y="448"/>
                </a:cubicBezTo>
                <a:cubicBezTo>
                  <a:pt x="191" y="448"/>
                  <a:pt x="191" y="448"/>
                  <a:pt x="191" y="448"/>
                </a:cubicBezTo>
                <a:cubicBezTo>
                  <a:pt x="192" y="444"/>
                  <a:pt x="194" y="440"/>
                  <a:pt x="196" y="437"/>
                </a:cubicBezTo>
                <a:cubicBezTo>
                  <a:pt x="196" y="436"/>
                  <a:pt x="197" y="435"/>
                  <a:pt x="197" y="435"/>
                </a:cubicBezTo>
                <a:cubicBezTo>
                  <a:pt x="198" y="432"/>
                  <a:pt x="198" y="432"/>
                  <a:pt x="198" y="432"/>
                </a:cubicBezTo>
                <a:cubicBezTo>
                  <a:pt x="199" y="431"/>
                  <a:pt x="200" y="430"/>
                  <a:pt x="201" y="428"/>
                </a:cubicBezTo>
                <a:cubicBezTo>
                  <a:pt x="201" y="428"/>
                  <a:pt x="202" y="428"/>
                  <a:pt x="202" y="428"/>
                </a:cubicBezTo>
                <a:cubicBezTo>
                  <a:pt x="202" y="428"/>
                  <a:pt x="202" y="428"/>
                  <a:pt x="203" y="428"/>
                </a:cubicBezTo>
                <a:cubicBezTo>
                  <a:pt x="203" y="427"/>
                  <a:pt x="203" y="427"/>
                  <a:pt x="203" y="427"/>
                </a:cubicBezTo>
                <a:cubicBezTo>
                  <a:pt x="203" y="427"/>
                  <a:pt x="203" y="427"/>
                  <a:pt x="203" y="427"/>
                </a:cubicBezTo>
                <a:cubicBezTo>
                  <a:pt x="204" y="427"/>
                  <a:pt x="204" y="427"/>
                  <a:pt x="204" y="427"/>
                </a:cubicBezTo>
                <a:cubicBezTo>
                  <a:pt x="204" y="426"/>
                  <a:pt x="205" y="426"/>
                  <a:pt x="205" y="426"/>
                </a:cubicBezTo>
                <a:cubicBezTo>
                  <a:pt x="205" y="426"/>
                  <a:pt x="206" y="426"/>
                  <a:pt x="206" y="425"/>
                </a:cubicBezTo>
                <a:cubicBezTo>
                  <a:pt x="206" y="425"/>
                  <a:pt x="207" y="425"/>
                  <a:pt x="207" y="425"/>
                </a:cubicBezTo>
                <a:cubicBezTo>
                  <a:pt x="208" y="425"/>
                  <a:pt x="208" y="425"/>
                  <a:pt x="209" y="424"/>
                </a:cubicBezTo>
                <a:cubicBezTo>
                  <a:pt x="209" y="424"/>
                  <a:pt x="210" y="424"/>
                  <a:pt x="210" y="424"/>
                </a:cubicBezTo>
                <a:cubicBezTo>
                  <a:pt x="210" y="424"/>
                  <a:pt x="210" y="424"/>
                  <a:pt x="210" y="424"/>
                </a:cubicBezTo>
                <a:cubicBezTo>
                  <a:pt x="212" y="423"/>
                  <a:pt x="214" y="423"/>
                  <a:pt x="216" y="423"/>
                </a:cubicBezTo>
                <a:cubicBezTo>
                  <a:pt x="216" y="423"/>
                  <a:pt x="385" y="423"/>
                  <a:pt x="392" y="423"/>
                </a:cubicBezTo>
                <a:cubicBezTo>
                  <a:pt x="393" y="423"/>
                  <a:pt x="395" y="423"/>
                  <a:pt x="397" y="423"/>
                </a:cubicBezTo>
                <a:cubicBezTo>
                  <a:pt x="398" y="423"/>
                  <a:pt x="399" y="423"/>
                  <a:pt x="400" y="423"/>
                </a:cubicBezTo>
                <a:cubicBezTo>
                  <a:pt x="400" y="423"/>
                  <a:pt x="400" y="423"/>
                  <a:pt x="400" y="423"/>
                </a:cubicBezTo>
                <a:cubicBezTo>
                  <a:pt x="401" y="423"/>
                  <a:pt x="402" y="423"/>
                  <a:pt x="402" y="423"/>
                </a:cubicBezTo>
                <a:cubicBezTo>
                  <a:pt x="403" y="423"/>
                  <a:pt x="403" y="423"/>
                  <a:pt x="403" y="423"/>
                </a:cubicBezTo>
                <a:cubicBezTo>
                  <a:pt x="403" y="423"/>
                  <a:pt x="403" y="423"/>
                  <a:pt x="403" y="423"/>
                </a:cubicBezTo>
                <a:cubicBezTo>
                  <a:pt x="404" y="424"/>
                  <a:pt x="404" y="424"/>
                  <a:pt x="405" y="424"/>
                </a:cubicBezTo>
                <a:cubicBezTo>
                  <a:pt x="405" y="424"/>
                  <a:pt x="405" y="424"/>
                  <a:pt x="405" y="424"/>
                </a:cubicBezTo>
                <a:cubicBezTo>
                  <a:pt x="406" y="425"/>
                  <a:pt x="406" y="425"/>
                  <a:pt x="407" y="425"/>
                </a:cubicBezTo>
                <a:cubicBezTo>
                  <a:pt x="407" y="425"/>
                  <a:pt x="407" y="425"/>
                  <a:pt x="407" y="425"/>
                </a:cubicBezTo>
                <a:cubicBezTo>
                  <a:pt x="407" y="425"/>
                  <a:pt x="407" y="425"/>
                  <a:pt x="407" y="425"/>
                </a:cubicBezTo>
                <a:cubicBezTo>
                  <a:pt x="408" y="426"/>
                  <a:pt x="408" y="426"/>
                  <a:pt x="408" y="426"/>
                </a:cubicBezTo>
                <a:cubicBezTo>
                  <a:pt x="409" y="427"/>
                  <a:pt x="409" y="427"/>
                  <a:pt x="410" y="428"/>
                </a:cubicBezTo>
                <a:cubicBezTo>
                  <a:pt x="411" y="429"/>
                  <a:pt x="411" y="430"/>
                  <a:pt x="411" y="431"/>
                </a:cubicBezTo>
                <a:cubicBezTo>
                  <a:pt x="411" y="432"/>
                  <a:pt x="411" y="432"/>
                  <a:pt x="411" y="432"/>
                </a:cubicBezTo>
                <a:cubicBezTo>
                  <a:pt x="411" y="432"/>
                  <a:pt x="411" y="432"/>
                  <a:pt x="411" y="432"/>
                </a:cubicBezTo>
                <a:cubicBezTo>
                  <a:pt x="411" y="436"/>
                  <a:pt x="411" y="441"/>
                  <a:pt x="411" y="445"/>
                </a:cubicBezTo>
                <a:cubicBezTo>
                  <a:pt x="411" y="446"/>
                  <a:pt x="411" y="447"/>
                  <a:pt x="411" y="448"/>
                </a:cubicBezTo>
                <a:close/>
                <a:moveTo>
                  <a:pt x="434" y="366"/>
                </a:moveTo>
                <a:cubicBezTo>
                  <a:pt x="434" y="366"/>
                  <a:pt x="434" y="366"/>
                  <a:pt x="434" y="366"/>
                </a:cubicBezTo>
                <a:cubicBezTo>
                  <a:pt x="434" y="366"/>
                  <a:pt x="434" y="366"/>
                  <a:pt x="434" y="365"/>
                </a:cubicBezTo>
                <a:cubicBezTo>
                  <a:pt x="433" y="365"/>
                  <a:pt x="433" y="364"/>
                  <a:pt x="432" y="363"/>
                </a:cubicBezTo>
                <a:cubicBezTo>
                  <a:pt x="432" y="362"/>
                  <a:pt x="432" y="362"/>
                  <a:pt x="432" y="362"/>
                </a:cubicBezTo>
                <a:cubicBezTo>
                  <a:pt x="432" y="362"/>
                  <a:pt x="432" y="361"/>
                  <a:pt x="432" y="360"/>
                </a:cubicBezTo>
                <a:cubicBezTo>
                  <a:pt x="432" y="360"/>
                  <a:pt x="432" y="360"/>
                  <a:pt x="432" y="360"/>
                </a:cubicBezTo>
                <a:cubicBezTo>
                  <a:pt x="432" y="358"/>
                  <a:pt x="432" y="355"/>
                  <a:pt x="432" y="353"/>
                </a:cubicBezTo>
                <a:cubicBezTo>
                  <a:pt x="432" y="352"/>
                  <a:pt x="432" y="352"/>
                  <a:pt x="432" y="352"/>
                </a:cubicBezTo>
                <a:cubicBezTo>
                  <a:pt x="432" y="351"/>
                  <a:pt x="432" y="350"/>
                  <a:pt x="432" y="350"/>
                </a:cubicBezTo>
                <a:cubicBezTo>
                  <a:pt x="433" y="349"/>
                  <a:pt x="434" y="349"/>
                  <a:pt x="435" y="348"/>
                </a:cubicBezTo>
                <a:cubicBezTo>
                  <a:pt x="436" y="348"/>
                  <a:pt x="437" y="347"/>
                  <a:pt x="438" y="347"/>
                </a:cubicBezTo>
                <a:cubicBezTo>
                  <a:pt x="438" y="347"/>
                  <a:pt x="438" y="347"/>
                  <a:pt x="438" y="347"/>
                </a:cubicBezTo>
                <a:cubicBezTo>
                  <a:pt x="438" y="347"/>
                  <a:pt x="438" y="347"/>
                  <a:pt x="438" y="347"/>
                </a:cubicBezTo>
                <a:cubicBezTo>
                  <a:pt x="439" y="347"/>
                  <a:pt x="439" y="347"/>
                  <a:pt x="440" y="347"/>
                </a:cubicBezTo>
                <a:cubicBezTo>
                  <a:pt x="440" y="347"/>
                  <a:pt x="440" y="347"/>
                  <a:pt x="441" y="347"/>
                </a:cubicBezTo>
                <a:cubicBezTo>
                  <a:pt x="443" y="346"/>
                  <a:pt x="445" y="346"/>
                  <a:pt x="447" y="346"/>
                </a:cubicBezTo>
                <a:cubicBezTo>
                  <a:pt x="463" y="346"/>
                  <a:pt x="463" y="346"/>
                  <a:pt x="463" y="346"/>
                </a:cubicBezTo>
                <a:cubicBezTo>
                  <a:pt x="464" y="346"/>
                  <a:pt x="465" y="346"/>
                  <a:pt x="465" y="347"/>
                </a:cubicBezTo>
                <a:cubicBezTo>
                  <a:pt x="469" y="347"/>
                  <a:pt x="474" y="348"/>
                  <a:pt x="475" y="352"/>
                </a:cubicBezTo>
                <a:cubicBezTo>
                  <a:pt x="476" y="355"/>
                  <a:pt x="476" y="359"/>
                  <a:pt x="477" y="362"/>
                </a:cubicBezTo>
                <a:cubicBezTo>
                  <a:pt x="477" y="363"/>
                  <a:pt x="477" y="363"/>
                  <a:pt x="477" y="363"/>
                </a:cubicBezTo>
                <a:cubicBezTo>
                  <a:pt x="477" y="364"/>
                  <a:pt x="477" y="364"/>
                  <a:pt x="477" y="365"/>
                </a:cubicBezTo>
                <a:cubicBezTo>
                  <a:pt x="477" y="365"/>
                  <a:pt x="477" y="365"/>
                  <a:pt x="477" y="365"/>
                </a:cubicBezTo>
                <a:cubicBezTo>
                  <a:pt x="477" y="365"/>
                  <a:pt x="477" y="365"/>
                  <a:pt x="477" y="365"/>
                </a:cubicBezTo>
                <a:cubicBezTo>
                  <a:pt x="477" y="365"/>
                  <a:pt x="477" y="365"/>
                  <a:pt x="477" y="365"/>
                </a:cubicBezTo>
                <a:cubicBezTo>
                  <a:pt x="476" y="367"/>
                  <a:pt x="474" y="368"/>
                  <a:pt x="472" y="369"/>
                </a:cubicBezTo>
                <a:cubicBezTo>
                  <a:pt x="471" y="369"/>
                  <a:pt x="471" y="369"/>
                  <a:pt x="471" y="369"/>
                </a:cubicBezTo>
                <a:cubicBezTo>
                  <a:pt x="471" y="369"/>
                  <a:pt x="471" y="369"/>
                  <a:pt x="470" y="369"/>
                </a:cubicBezTo>
                <a:cubicBezTo>
                  <a:pt x="470" y="369"/>
                  <a:pt x="470" y="369"/>
                  <a:pt x="470" y="369"/>
                </a:cubicBezTo>
                <a:cubicBezTo>
                  <a:pt x="469" y="369"/>
                  <a:pt x="469" y="369"/>
                  <a:pt x="469" y="369"/>
                </a:cubicBezTo>
                <a:cubicBezTo>
                  <a:pt x="463" y="370"/>
                  <a:pt x="457" y="369"/>
                  <a:pt x="455" y="369"/>
                </a:cubicBezTo>
                <a:cubicBezTo>
                  <a:pt x="445" y="369"/>
                  <a:pt x="445" y="369"/>
                  <a:pt x="445" y="369"/>
                </a:cubicBezTo>
                <a:cubicBezTo>
                  <a:pt x="444" y="369"/>
                  <a:pt x="443" y="369"/>
                  <a:pt x="442" y="369"/>
                </a:cubicBezTo>
                <a:cubicBezTo>
                  <a:pt x="442" y="369"/>
                  <a:pt x="441" y="369"/>
                  <a:pt x="441" y="369"/>
                </a:cubicBezTo>
                <a:cubicBezTo>
                  <a:pt x="440" y="369"/>
                  <a:pt x="440" y="369"/>
                  <a:pt x="440" y="369"/>
                </a:cubicBezTo>
                <a:cubicBezTo>
                  <a:pt x="440" y="369"/>
                  <a:pt x="440" y="369"/>
                  <a:pt x="440" y="369"/>
                </a:cubicBezTo>
                <a:cubicBezTo>
                  <a:pt x="439" y="369"/>
                  <a:pt x="439" y="369"/>
                  <a:pt x="438" y="368"/>
                </a:cubicBezTo>
                <a:cubicBezTo>
                  <a:pt x="438" y="368"/>
                  <a:pt x="438" y="368"/>
                  <a:pt x="438" y="368"/>
                </a:cubicBezTo>
                <a:cubicBezTo>
                  <a:pt x="437" y="368"/>
                  <a:pt x="437" y="368"/>
                  <a:pt x="436" y="367"/>
                </a:cubicBezTo>
                <a:cubicBezTo>
                  <a:pt x="436" y="367"/>
                  <a:pt x="435" y="367"/>
                  <a:pt x="434" y="366"/>
                </a:cubicBezTo>
                <a:cubicBezTo>
                  <a:pt x="434" y="366"/>
                  <a:pt x="434" y="366"/>
                  <a:pt x="434" y="366"/>
                </a:cubicBezTo>
                <a:close/>
                <a:moveTo>
                  <a:pt x="437" y="404"/>
                </a:moveTo>
                <a:cubicBezTo>
                  <a:pt x="436" y="403"/>
                  <a:pt x="436" y="402"/>
                  <a:pt x="435" y="402"/>
                </a:cubicBezTo>
                <a:cubicBezTo>
                  <a:pt x="435" y="400"/>
                  <a:pt x="435" y="400"/>
                  <a:pt x="435" y="400"/>
                </a:cubicBezTo>
                <a:cubicBezTo>
                  <a:pt x="435" y="400"/>
                  <a:pt x="435" y="400"/>
                  <a:pt x="435" y="400"/>
                </a:cubicBezTo>
                <a:cubicBezTo>
                  <a:pt x="435" y="396"/>
                  <a:pt x="435" y="392"/>
                  <a:pt x="434" y="388"/>
                </a:cubicBezTo>
                <a:cubicBezTo>
                  <a:pt x="434" y="388"/>
                  <a:pt x="434" y="388"/>
                  <a:pt x="434" y="388"/>
                </a:cubicBezTo>
                <a:cubicBezTo>
                  <a:pt x="434" y="388"/>
                  <a:pt x="434" y="388"/>
                  <a:pt x="434" y="388"/>
                </a:cubicBezTo>
                <a:cubicBezTo>
                  <a:pt x="434" y="388"/>
                  <a:pt x="434" y="388"/>
                  <a:pt x="434" y="387"/>
                </a:cubicBezTo>
                <a:cubicBezTo>
                  <a:pt x="435" y="379"/>
                  <a:pt x="453" y="381"/>
                  <a:pt x="458" y="381"/>
                </a:cubicBezTo>
                <a:cubicBezTo>
                  <a:pt x="465" y="381"/>
                  <a:pt x="477" y="380"/>
                  <a:pt x="481" y="386"/>
                </a:cubicBezTo>
                <a:cubicBezTo>
                  <a:pt x="481" y="387"/>
                  <a:pt x="482" y="387"/>
                  <a:pt x="482" y="388"/>
                </a:cubicBezTo>
                <a:cubicBezTo>
                  <a:pt x="482" y="389"/>
                  <a:pt x="482" y="389"/>
                  <a:pt x="482" y="389"/>
                </a:cubicBezTo>
                <a:cubicBezTo>
                  <a:pt x="482" y="389"/>
                  <a:pt x="482" y="389"/>
                  <a:pt x="482" y="389"/>
                </a:cubicBezTo>
                <a:cubicBezTo>
                  <a:pt x="483" y="391"/>
                  <a:pt x="483" y="392"/>
                  <a:pt x="484" y="395"/>
                </a:cubicBezTo>
                <a:cubicBezTo>
                  <a:pt x="485" y="401"/>
                  <a:pt x="485" y="401"/>
                  <a:pt x="485" y="401"/>
                </a:cubicBezTo>
                <a:cubicBezTo>
                  <a:pt x="485" y="402"/>
                  <a:pt x="485" y="403"/>
                  <a:pt x="484" y="404"/>
                </a:cubicBezTo>
                <a:cubicBezTo>
                  <a:pt x="484" y="405"/>
                  <a:pt x="484" y="405"/>
                  <a:pt x="483" y="406"/>
                </a:cubicBezTo>
                <a:cubicBezTo>
                  <a:pt x="483" y="406"/>
                  <a:pt x="483" y="406"/>
                  <a:pt x="482" y="407"/>
                </a:cubicBezTo>
                <a:cubicBezTo>
                  <a:pt x="482" y="407"/>
                  <a:pt x="482" y="407"/>
                  <a:pt x="482" y="407"/>
                </a:cubicBezTo>
                <a:cubicBezTo>
                  <a:pt x="482" y="407"/>
                  <a:pt x="482" y="407"/>
                  <a:pt x="482" y="407"/>
                </a:cubicBezTo>
                <a:cubicBezTo>
                  <a:pt x="481" y="407"/>
                  <a:pt x="481" y="407"/>
                  <a:pt x="481" y="407"/>
                </a:cubicBezTo>
                <a:cubicBezTo>
                  <a:pt x="480" y="408"/>
                  <a:pt x="480" y="408"/>
                  <a:pt x="480" y="408"/>
                </a:cubicBezTo>
                <a:cubicBezTo>
                  <a:pt x="479" y="408"/>
                  <a:pt x="479" y="408"/>
                  <a:pt x="479" y="408"/>
                </a:cubicBezTo>
                <a:cubicBezTo>
                  <a:pt x="479" y="408"/>
                  <a:pt x="479" y="408"/>
                  <a:pt x="478" y="408"/>
                </a:cubicBezTo>
                <a:cubicBezTo>
                  <a:pt x="478" y="408"/>
                  <a:pt x="478" y="409"/>
                  <a:pt x="477" y="409"/>
                </a:cubicBezTo>
                <a:cubicBezTo>
                  <a:pt x="477" y="409"/>
                  <a:pt x="477" y="409"/>
                  <a:pt x="477" y="409"/>
                </a:cubicBezTo>
                <a:cubicBezTo>
                  <a:pt x="477" y="409"/>
                  <a:pt x="476" y="409"/>
                  <a:pt x="475" y="409"/>
                </a:cubicBezTo>
                <a:cubicBezTo>
                  <a:pt x="474" y="409"/>
                  <a:pt x="474" y="409"/>
                  <a:pt x="473" y="409"/>
                </a:cubicBezTo>
                <a:cubicBezTo>
                  <a:pt x="473" y="409"/>
                  <a:pt x="473" y="409"/>
                  <a:pt x="473" y="409"/>
                </a:cubicBezTo>
                <a:cubicBezTo>
                  <a:pt x="473" y="409"/>
                  <a:pt x="473" y="409"/>
                  <a:pt x="473" y="409"/>
                </a:cubicBezTo>
                <a:cubicBezTo>
                  <a:pt x="473" y="409"/>
                  <a:pt x="473" y="409"/>
                  <a:pt x="473" y="409"/>
                </a:cubicBezTo>
                <a:cubicBezTo>
                  <a:pt x="465" y="409"/>
                  <a:pt x="457" y="409"/>
                  <a:pt x="449" y="409"/>
                </a:cubicBezTo>
                <a:cubicBezTo>
                  <a:pt x="448" y="409"/>
                  <a:pt x="447" y="409"/>
                  <a:pt x="447" y="409"/>
                </a:cubicBezTo>
                <a:cubicBezTo>
                  <a:pt x="446" y="409"/>
                  <a:pt x="446" y="409"/>
                  <a:pt x="446" y="409"/>
                </a:cubicBezTo>
                <a:cubicBezTo>
                  <a:pt x="445" y="409"/>
                  <a:pt x="445" y="409"/>
                  <a:pt x="444" y="409"/>
                </a:cubicBezTo>
                <a:cubicBezTo>
                  <a:pt x="444" y="409"/>
                  <a:pt x="444" y="409"/>
                  <a:pt x="444" y="409"/>
                </a:cubicBezTo>
                <a:cubicBezTo>
                  <a:pt x="444" y="408"/>
                  <a:pt x="444" y="408"/>
                  <a:pt x="444" y="408"/>
                </a:cubicBezTo>
                <a:cubicBezTo>
                  <a:pt x="443" y="408"/>
                  <a:pt x="442" y="408"/>
                  <a:pt x="442" y="408"/>
                </a:cubicBezTo>
                <a:cubicBezTo>
                  <a:pt x="441" y="408"/>
                  <a:pt x="441" y="407"/>
                  <a:pt x="441" y="407"/>
                </a:cubicBezTo>
                <a:cubicBezTo>
                  <a:pt x="441" y="407"/>
                  <a:pt x="440" y="407"/>
                  <a:pt x="440" y="407"/>
                </a:cubicBezTo>
                <a:cubicBezTo>
                  <a:pt x="440" y="407"/>
                  <a:pt x="440" y="407"/>
                  <a:pt x="440" y="407"/>
                </a:cubicBezTo>
                <a:cubicBezTo>
                  <a:pt x="439" y="406"/>
                  <a:pt x="437" y="405"/>
                  <a:pt x="437" y="404"/>
                </a:cubicBezTo>
                <a:close/>
                <a:moveTo>
                  <a:pt x="494" y="451"/>
                </a:moveTo>
                <a:cubicBezTo>
                  <a:pt x="493" y="453"/>
                  <a:pt x="492" y="453"/>
                  <a:pt x="491" y="454"/>
                </a:cubicBezTo>
                <a:cubicBezTo>
                  <a:pt x="490" y="455"/>
                  <a:pt x="489" y="456"/>
                  <a:pt x="487" y="456"/>
                </a:cubicBezTo>
                <a:cubicBezTo>
                  <a:pt x="485" y="457"/>
                  <a:pt x="484" y="457"/>
                  <a:pt x="481" y="457"/>
                </a:cubicBezTo>
                <a:cubicBezTo>
                  <a:pt x="476" y="457"/>
                  <a:pt x="476" y="457"/>
                  <a:pt x="476" y="457"/>
                </a:cubicBezTo>
                <a:cubicBezTo>
                  <a:pt x="476" y="457"/>
                  <a:pt x="476" y="457"/>
                  <a:pt x="476" y="457"/>
                </a:cubicBezTo>
                <a:cubicBezTo>
                  <a:pt x="469" y="457"/>
                  <a:pt x="462" y="457"/>
                  <a:pt x="454" y="457"/>
                </a:cubicBezTo>
                <a:cubicBezTo>
                  <a:pt x="453" y="457"/>
                  <a:pt x="453" y="457"/>
                  <a:pt x="452" y="457"/>
                </a:cubicBezTo>
                <a:cubicBezTo>
                  <a:pt x="451" y="457"/>
                  <a:pt x="451" y="457"/>
                  <a:pt x="451" y="457"/>
                </a:cubicBezTo>
                <a:cubicBezTo>
                  <a:pt x="450" y="457"/>
                  <a:pt x="450" y="457"/>
                  <a:pt x="449" y="457"/>
                </a:cubicBezTo>
                <a:cubicBezTo>
                  <a:pt x="449" y="457"/>
                  <a:pt x="449" y="457"/>
                  <a:pt x="448" y="457"/>
                </a:cubicBezTo>
                <a:cubicBezTo>
                  <a:pt x="448" y="457"/>
                  <a:pt x="448" y="457"/>
                  <a:pt x="448" y="457"/>
                </a:cubicBezTo>
                <a:cubicBezTo>
                  <a:pt x="445" y="456"/>
                  <a:pt x="442" y="454"/>
                  <a:pt x="440" y="451"/>
                </a:cubicBezTo>
                <a:cubicBezTo>
                  <a:pt x="440" y="451"/>
                  <a:pt x="440" y="451"/>
                  <a:pt x="440" y="451"/>
                </a:cubicBezTo>
                <a:cubicBezTo>
                  <a:pt x="440" y="451"/>
                  <a:pt x="440" y="451"/>
                  <a:pt x="440" y="451"/>
                </a:cubicBezTo>
                <a:cubicBezTo>
                  <a:pt x="440" y="451"/>
                  <a:pt x="440" y="451"/>
                  <a:pt x="440" y="450"/>
                </a:cubicBezTo>
                <a:cubicBezTo>
                  <a:pt x="439" y="450"/>
                  <a:pt x="439" y="449"/>
                  <a:pt x="439" y="449"/>
                </a:cubicBezTo>
                <a:cubicBezTo>
                  <a:pt x="439" y="449"/>
                  <a:pt x="439" y="449"/>
                  <a:pt x="439" y="448"/>
                </a:cubicBezTo>
                <a:cubicBezTo>
                  <a:pt x="439" y="448"/>
                  <a:pt x="439" y="448"/>
                  <a:pt x="439" y="448"/>
                </a:cubicBezTo>
                <a:cubicBezTo>
                  <a:pt x="439" y="447"/>
                  <a:pt x="439" y="447"/>
                  <a:pt x="439" y="447"/>
                </a:cubicBezTo>
                <a:cubicBezTo>
                  <a:pt x="439" y="447"/>
                  <a:pt x="439" y="447"/>
                  <a:pt x="439" y="447"/>
                </a:cubicBezTo>
                <a:cubicBezTo>
                  <a:pt x="439" y="444"/>
                  <a:pt x="438" y="439"/>
                  <a:pt x="438" y="435"/>
                </a:cubicBezTo>
                <a:cubicBezTo>
                  <a:pt x="438" y="435"/>
                  <a:pt x="438" y="434"/>
                  <a:pt x="438" y="433"/>
                </a:cubicBezTo>
                <a:cubicBezTo>
                  <a:pt x="438" y="431"/>
                  <a:pt x="438" y="431"/>
                  <a:pt x="438" y="431"/>
                </a:cubicBezTo>
                <a:cubicBezTo>
                  <a:pt x="438" y="431"/>
                  <a:pt x="438" y="431"/>
                  <a:pt x="438" y="431"/>
                </a:cubicBezTo>
                <a:cubicBezTo>
                  <a:pt x="438" y="430"/>
                  <a:pt x="438" y="430"/>
                  <a:pt x="438" y="430"/>
                </a:cubicBezTo>
                <a:cubicBezTo>
                  <a:pt x="438" y="430"/>
                  <a:pt x="438" y="429"/>
                  <a:pt x="438" y="429"/>
                </a:cubicBezTo>
                <a:cubicBezTo>
                  <a:pt x="438" y="429"/>
                  <a:pt x="438" y="429"/>
                  <a:pt x="438" y="428"/>
                </a:cubicBezTo>
                <a:cubicBezTo>
                  <a:pt x="439" y="428"/>
                  <a:pt x="439" y="428"/>
                  <a:pt x="439" y="428"/>
                </a:cubicBezTo>
                <a:cubicBezTo>
                  <a:pt x="439" y="428"/>
                  <a:pt x="439" y="428"/>
                  <a:pt x="439" y="428"/>
                </a:cubicBezTo>
                <a:cubicBezTo>
                  <a:pt x="439" y="427"/>
                  <a:pt x="439" y="427"/>
                  <a:pt x="439" y="427"/>
                </a:cubicBezTo>
                <a:cubicBezTo>
                  <a:pt x="440" y="426"/>
                  <a:pt x="440" y="426"/>
                  <a:pt x="440" y="426"/>
                </a:cubicBezTo>
                <a:cubicBezTo>
                  <a:pt x="440" y="426"/>
                  <a:pt x="441" y="426"/>
                  <a:pt x="441" y="425"/>
                </a:cubicBezTo>
                <a:cubicBezTo>
                  <a:pt x="441" y="425"/>
                  <a:pt x="441" y="425"/>
                  <a:pt x="441" y="425"/>
                </a:cubicBezTo>
                <a:cubicBezTo>
                  <a:pt x="441" y="425"/>
                  <a:pt x="441" y="425"/>
                  <a:pt x="441" y="425"/>
                </a:cubicBezTo>
                <a:cubicBezTo>
                  <a:pt x="442" y="425"/>
                  <a:pt x="442" y="425"/>
                  <a:pt x="443" y="424"/>
                </a:cubicBezTo>
                <a:cubicBezTo>
                  <a:pt x="443" y="424"/>
                  <a:pt x="443" y="424"/>
                  <a:pt x="443" y="424"/>
                </a:cubicBezTo>
                <a:cubicBezTo>
                  <a:pt x="444" y="424"/>
                  <a:pt x="444" y="424"/>
                  <a:pt x="444" y="424"/>
                </a:cubicBezTo>
                <a:cubicBezTo>
                  <a:pt x="444" y="424"/>
                  <a:pt x="444" y="424"/>
                  <a:pt x="444" y="424"/>
                </a:cubicBezTo>
                <a:cubicBezTo>
                  <a:pt x="444" y="424"/>
                  <a:pt x="445" y="423"/>
                  <a:pt x="445" y="423"/>
                </a:cubicBezTo>
                <a:cubicBezTo>
                  <a:pt x="446" y="423"/>
                  <a:pt x="446" y="423"/>
                  <a:pt x="446" y="423"/>
                </a:cubicBezTo>
                <a:cubicBezTo>
                  <a:pt x="446" y="423"/>
                  <a:pt x="447" y="423"/>
                  <a:pt x="447" y="423"/>
                </a:cubicBezTo>
                <a:cubicBezTo>
                  <a:pt x="448" y="423"/>
                  <a:pt x="448" y="423"/>
                  <a:pt x="449" y="423"/>
                </a:cubicBezTo>
                <a:cubicBezTo>
                  <a:pt x="450" y="423"/>
                  <a:pt x="450" y="423"/>
                  <a:pt x="450" y="423"/>
                </a:cubicBezTo>
                <a:cubicBezTo>
                  <a:pt x="450" y="423"/>
                  <a:pt x="450" y="423"/>
                  <a:pt x="451" y="423"/>
                </a:cubicBezTo>
                <a:cubicBezTo>
                  <a:pt x="452" y="423"/>
                  <a:pt x="452" y="423"/>
                  <a:pt x="452" y="423"/>
                </a:cubicBezTo>
                <a:cubicBezTo>
                  <a:pt x="453" y="423"/>
                  <a:pt x="454" y="423"/>
                  <a:pt x="455" y="423"/>
                </a:cubicBezTo>
                <a:cubicBezTo>
                  <a:pt x="457" y="423"/>
                  <a:pt x="458" y="423"/>
                  <a:pt x="459" y="423"/>
                </a:cubicBezTo>
                <a:cubicBezTo>
                  <a:pt x="469" y="423"/>
                  <a:pt x="469" y="423"/>
                  <a:pt x="469" y="423"/>
                </a:cubicBezTo>
                <a:cubicBezTo>
                  <a:pt x="472" y="423"/>
                  <a:pt x="475" y="423"/>
                  <a:pt x="478" y="423"/>
                </a:cubicBezTo>
                <a:cubicBezTo>
                  <a:pt x="478" y="423"/>
                  <a:pt x="479" y="423"/>
                  <a:pt x="479" y="423"/>
                </a:cubicBezTo>
                <a:cubicBezTo>
                  <a:pt x="479" y="423"/>
                  <a:pt x="480" y="423"/>
                  <a:pt x="480" y="423"/>
                </a:cubicBezTo>
                <a:cubicBezTo>
                  <a:pt x="480" y="423"/>
                  <a:pt x="480" y="423"/>
                  <a:pt x="481" y="423"/>
                </a:cubicBezTo>
                <a:cubicBezTo>
                  <a:pt x="481" y="423"/>
                  <a:pt x="481" y="423"/>
                  <a:pt x="481" y="423"/>
                </a:cubicBezTo>
                <a:cubicBezTo>
                  <a:pt x="481" y="423"/>
                  <a:pt x="481" y="423"/>
                  <a:pt x="481" y="423"/>
                </a:cubicBezTo>
                <a:cubicBezTo>
                  <a:pt x="482" y="423"/>
                  <a:pt x="482" y="424"/>
                  <a:pt x="483" y="424"/>
                </a:cubicBezTo>
                <a:cubicBezTo>
                  <a:pt x="483" y="424"/>
                  <a:pt x="484" y="424"/>
                  <a:pt x="484" y="424"/>
                </a:cubicBezTo>
                <a:cubicBezTo>
                  <a:pt x="484" y="424"/>
                  <a:pt x="484" y="424"/>
                  <a:pt x="484" y="425"/>
                </a:cubicBezTo>
                <a:cubicBezTo>
                  <a:pt x="485" y="425"/>
                  <a:pt x="485" y="425"/>
                  <a:pt x="486" y="425"/>
                </a:cubicBezTo>
                <a:cubicBezTo>
                  <a:pt x="487" y="426"/>
                  <a:pt x="488" y="427"/>
                  <a:pt x="489" y="428"/>
                </a:cubicBezTo>
                <a:cubicBezTo>
                  <a:pt x="490" y="429"/>
                  <a:pt x="491" y="430"/>
                  <a:pt x="491" y="431"/>
                </a:cubicBezTo>
                <a:cubicBezTo>
                  <a:pt x="492" y="438"/>
                  <a:pt x="492" y="438"/>
                  <a:pt x="492" y="438"/>
                </a:cubicBezTo>
                <a:cubicBezTo>
                  <a:pt x="493" y="441"/>
                  <a:pt x="493" y="443"/>
                  <a:pt x="494" y="446"/>
                </a:cubicBezTo>
                <a:cubicBezTo>
                  <a:pt x="494" y="446"/>
                  <a:pt x="494" y="446"/>
                  <a:pt x="494" y="446"/>
                </a:cubicBezTo>
                <a:cubicBezTo>
                  <a:pt x="494" y="448"/>
                  <a:pt x="494" y="448"/>
                  <a:pt x="494" y="448"/>
                </a:cubicBezTo>
                <a:cubicBezTo>
                  <a:pt x="494" y="449"/>
                  <a:pt x="494" y="450"/>
                  <a:pt x="494" y="451"/>
                </a:cubicBezTo>
                <a:close/>
                <a:moveTo>
                  <a:pt x="508" y="369"/>
                </a:moveTo>
                <a:cubicBezTo>
                  <a:pt x="507" y="368"/>
                  <a:pt x="505" y="368"/>
                  <a:pt x="505" y="367"/>
                </a:cubicBezTo>
                <a:cubicBezTo>
                  <a:pt x="504" y="366"/>
                  <a:pt x="503" y="365"/>
                  <a:pt x="503" y="365"/>
                </a:cubicBezTo>
                <a:cubicBezTo>
                  <a:pt x="502" y="363"/>
                  <a:pt x="502" y="363"/>
                  <a:pt x="502" y="363"/>
                </a:cubicBezTo>
                <a:cubicBezTo>
                  <a:pt x="502" y="361"/>
                  <a:pt x="501" y="359"/>
                  <a:pt x="500" y="357"/>
                </a:cubicBezTo>
                <a:cubicBezTo>
                  <a:pt x="500" y="356"/>
                  <a:pt x="499" y="355"/>
                  <a:pt x="499" y="353"/>
                </a:cubicBezTo>
                <a:cubicBezTo>
                  <a:pt x="499" y="353"/>
                  <a:pt x="499" y="353"/>
                  <a:pt x="499" y="353"/>
                </a:cubicBezTo>
                <a:cubicBezTo>
                  <a:pt x="499" y="353"/>
                  <a:pt x="499" y="353"/>
                  <a:pt x="499" y="353"/>
                </a:cubicBezTo>
                <a:cubicBezTo>
                  <a:pt x="499" y="352"/>
                  <a:pt x="499" y="352"/>
                  <a:pt x="499" y="352"/>
                </a:cubicBezTo>
                <a:cubicBezTo>
                  <a:pt x="499" y="352"/>
                  <a:pt x="499" y="352"/>
                  <a:pt x="499" y="352"/>
                </a:cubicBezTo>
                <a:cubicBezTo>
                  <a:pt x="499" y="352"/>
                  <a:pt x="499" y="352"/>
                  <a:pt x="499" y="352"/>
                </a:cubicBezTo>
                <a:cubicBezTo>
                  <a:pt x="501" y="348"/>
                  <a:pt x="508" y="348"/>
                  <a:pt x="511" y="348"/>
                </a:cubicBezTo>
                <a:cubicBezTo>
                  <a:pt x="528" y="348"/>
                  <a:pt x="528" y="348"/>
                  <a:pt x="528" y="348"/>
                </a:cubicBezTo>
                <a:cubicBezTo>
                  <a:pt x="529" y="348"/>
                  <a:pt x="531" y="348"/>
                  <a:pt x="532" y="349"/>
                </a:cubicBezTo>
                <a:cubicBezTo>
                  <a:pt x="532" y="349"/>
                  <a:pt x="533" y="349"/>
                  <a:pt x="533" y="349"/>
                </a:cubicBezTo>
                <a:cubicBezTo>
                  <a:pt x="533" y="349"/>
                  <a:pt x="534" y="349"/>
                  <a:pt x="534" y="349"/>
                </a:cubicBezTo>
                <a:cubicBezTo>
                  <a:pt x="534" y="349"/>
                  <a:pt x="534" y="349"/>
                  <a:pt x="534" y="349"/>
                </a:cubicBezTo>
                <a:cubicBezTo>
                  <a:pt x="535" y="349"/>
                  <a:pt x="536" y="350"/>
                  <a:pt x="536" y="350"/>
                </a:cubicBezTo>
                <a:cubicBezTo>
                  <a:pt x="536" y="350"/>
                  <a:pt x="536" y="350"/>
                  <a:pt x="536" y="350"/>
                </a:cubicBezTo>
                <a:cubicBezTo>
                  <a:pt x="536" y="350"/>
                  <a:pt x="536" y="350"/>
                  <a:pt x="536" y="350"/>
                </a:cubicBezTo>
                <a:cubicBezTo>
                  <a:pt x="537" y="350"/>
                  <a:pt x="537" y="350"/>
                  <a:pt x="538" y="350"/>
                </a:cubicBezTo>
                <a:cubicBezTo>
                  <a:pt x="538" y="351"/>
                  <a:pt x="538" y="351"/>
                  <a:pt x="538" y="351"/>
                </a:cubicBezTo>
                <a:cubicBezTo>
                  <a:pt x="538" y="351"/>
                  <a:pt x="538" y="351"/>
                  <a:pt x="539" y="351"/>
                </a:cubicBezTo>
                <a:cubicBezTo>
                  <a:pt x="539" y="351"/>
                  <a:pt x="539" y="351"/>
                  <a:pt x="539" y="351"/>
                </a:cubicBezTo>
                <a:cubicBezTo>
                  <a:pt x="539" y="352"/>
                  <a:pt x="539" y="352"/>
                  <a:pt x="539" y="352"/>
                </a:cubicBezTo>
                <a:cubicBezTo>
                  <a:pt x="540" y="352"/>
                  <a:pt x="541" y="353"/>
                  <a:pt x="541" y="354"/>
                </a:cubicBezTo>
                <a:cubicBezTo>
                  <a:pt x="541" y="354"/>
                  <a:pt x="541" y="354"/>
                  <a:pt x="541" y="354"/>
                </a:cubicBezTo>
                <a:cubicBezTo>
                  <a:pt x="543" y="356"/>
                  <a:pt x="544" y="359"/>
                  <a:pt x="545" y="361"/>
                </a:cubicBezTo>
                <a:cubicBezTo>
                  <a:pt x="545" y="361"/>
                  <a:pt x="545" y="361"/>
                  <a:pt x="545" y="361"/>
                </a:cubicBezTo>
                <a:cubicBezTo>
                  <a:pt x="546" y="363"/>
                  <a:pt x="547" y="364"/>
                  <a:pt x="547" y="365"/>
                </a:cubicBezTo>
                <a:cubicBezTo>
                  <a:pt x="547" y="366"/>
                  <a:pt x="547" y="366"/>
                  <a:pt x="547" y="366"/>
                </a:cubicBezTo>
                <a:cubicBezTo>
                  <a:pt x="547" y="366"/>
                  <a:pt x="547" y="366"/>
                  <a:pt x="547" y="366"/>
                </a:cubicBezTo>
                <a:cubicBezTo>
                  <a:pt x="547" y="368"/>
                  <a:pt x="545" y="369"/>
                  <a:pt x="543" y="370"/>
                </a:cubicBezTo>
                <a:cubicBezTo>
                  <a:pt x="542" y="370"/>
                  <a:pt x="542" y="370"/>
                  <a:pt x="542" y="370"/>
                </a:cubicBezTo>
                <a:cubicBezTo>
                  <a:pt x="542" y="370"/>
                  <a:pt x="542" y="370"/>
                  <a:pt x="542" y="370"/>
                </a:cubicBezTo>
                <a:cubicBezTo>
                  <a:pt x="542" y="370"/>
                  <a:pt x="541" y="370"/>
                  <a:pt x="541" y="371"/>
                </a:cubicBezTo>
                <a:cubicBezTo>
                  <a:pt x="540" y="371"/>
                  <a:pt x="540" y="371"/>
                  <a:pt x="540" y="371"/>
                </a:cubicBezTo>
                <a:cubicBezTo>
                  <a:pt x="540" y="371"/>
                  <a:pt x="539" y="371"/>
                  <a:pt x="539" y="371"/>
                </a:cubicBezTo>
                <a:cubicBezTo>
                  <a:pt x="539" y="371"/>
                  <a:pt x="538" y="371"/>
                  <a:pt x="538" y="371"/>
                </a:cubicBezTo>
                <a:cubicBezTo>
                  <a:pt x="538" y="371"/>
                  <a:pt x="538" y="371"/>
                  <a:pt x="538" y="371"/>
                </a:cubicBezTo>
                <a:cubicBezTo>
                  <a:pt x="538" y="371"/>
                  <a:pt x="538" y="371"/>
                  <a:pt x="538" y="371"/>
                </a:cubicBezTo>
                <a:cubicBezTo>
                  <a:pt x="535" y="371"/>
                  <a:pt x="532" y="371"/>
                  <a:pt x="530" y="371"/>
                </a:cubicBezTo>
                <a:cubicBezTo>
                  <a:pt x="526" y="371"/>
                  <a:pt x="521" y="371"/>
                  <a:pt x="517" y="371"/>
                </a:cubicBezTo>
                <a:cubicBezTo>
                  <a:pt x="514" y="371"/>
                  <a:pt x="511" y="370"/>
                  <a:pt x="508" y="369"/>
                </a:cubicBezTo>
                <a:cubicBezTo>
                  <a:pt x="508" y="369"/>
                  <a:pt x="508" y="369"/>
                  <a:pt x="508" y="369"/>
                </a:cubicBezTo>
                <a:close/>
                <a:moveTo>
                  <a:pt x="519" y="405"/>
                </a:moveTo>
                <a:cubicBezTo>
                  <a:pt x="518" y="404"/>
                  <a:pt x="517" y="403"/>
                  <a:pt x="517" y="402"/>
                </a:cubicBezTo>
                <a:cubicBezTo>
                  <a:pt x="515" y="396"/>
                  <a:pt x="515" y="396"/>
                  <a:pt x="515" y="396"/>
                </a:cubicBezTo>
                <a:cubicBezTo>
                  <a:pt x="514" y="394"/>
                  <a:pt x="513" y="392"/>
                  <a:pt x="512" y="390"/>
                </a:cubicBezTo>
                <a:cubicBezTo>
                  <a:pt x="512" y="390"/>
                  <a:pt x="512" y="390"/>
                  <a:pt x="512" y="390"/>
                </a:cubicBezTo>
                <a:cubicBezTo>
                  <a:pt x="512" y="389"/>
                  <a:pt x="512" y="389"/>
                  <a:pt x="512" y="389"/>
                </a:cubicBezTo>
                <a:cubicBezTo>
                  <a:pt x="512" y="388"/>
                  <a:pt x="512" y="387"/>
                  <a:pt x="512" y="386"/>
                </a:cubicBezTo>
                <a:cubicBezTo>
                  <a:pt x="512" y="386"/>
                  <a:pt x="513" y="385"/>
                  <a:pt x="513" y="385"/>
                </a:cubicBezTo>
                <a:cubicBezTo>
                  <a:pt x="513" y="385"/>
                  <a:pt x="513" y="385"/>
                  <a:pt x="514" y="385"/>
                </a:cubicBezTo>
                <a:cubicBezTo>
                  <a:pt x="514" y="384"/>
                  <a:pt x="514" y="384"/>
                  <a:pt x="514" y="384"/>
                </a:cubicBezTo>
                <a:cubicBezTo>
                  <a:pt x="515" y="384"/>
                  <a:pt x="516" y="383"/>
                  <a:pt x="517" y="383"/>
                </a:cubicBezTo>
                <a:cubicBezTo>
                  <a:pt x="518" y="383"/>
                  <a:pt x="519" y="383"/>
                  <a:pt x="520" y="382"/>
                </a:cubicBezTo>
                <a:cubicBezTo>
                  <a:pt x="525" y="382"/>
                  <a:pt x="530" y="382"/>
                  <a:pt x="532" y="382"/>
                </a:cubicBezTo>
                <a:cubicBezTo>
                  <a:pt x="540" y="382"/>
                  <a:pt x="554" y="381"/>
                  <a:pt x="559" y="389"/>
                </a:cubicBezTo>
                <a:cubicBezTo>
                  <a:pt x="559" y="389"/>
                  <a:pt x="559" y="389"/>
                  <a:pt x="559" y="389"/>
                </a:cubicBezTo>
                <a:cubicBezTo>
                  <a:pt x="559" y="389"/>
                  <a:pt x="559" y="389"/>
                  <a:pt x="559" y="389"/>
                </a:cubicBezTo>
                <a:cubicBezTo>
                  <a:pt x="559" y="389"/>
                  <a:pt x="559" y="389"/>
                  <a:pt x="559" y="389"/>
                </a:cubicBezTo>
                <a:cubicBezTo>
                  <a:pt x="561" y="393"/>
                  <a:pt x="562" y="396"/>
                  <a:pt x="564" y="400"/>
                </a:cubicBezTo>
                <a:cubicBezTo>
                  <a:pt x="565" y="401"/>
                  <a:pt x="565" y="402"/>
                  <a:pt x="566" y="403"/>
                </a:cubicBezTo>
                <a:cubicBezTo>
                  <a:pt x="566" y="403"/>
                  <a:pt x="566" y="403"/>
                  <a:pt x="566" y="403"/>
                </a:cubicBezTo>
                <a:cubicBezTo>
                  <a:pt x="566" y="404"/>
                  <a:pt x="566" y="404"/>
                  <a:pt x="566" y="404"/>
                </a:cubicBezTo>
                <a:cubicBezTo>
                  <a:pt x="566" y="404"/>
                  <a:pt x="566" y="405"/>
                  <a:pt x="566" y="405"/>
                </a:cubicBezTo>
                <a:cubicBezTo>
                  <a:pt x="566" y="405"/>
                  <a:pt x="566" y="405"/>
                  <a:pt x="566" y="405"/>
                </a:cubicBezTo>
                <a:cubicBezTo>
                  <a:pt x="566" y="405"/>
                  <a:pt x="566" y="405"/>
                  <a:pt x="566" y="405"/>
                </a:cubicBezTo>
                <a:cubicBezTo>
                  <a:pt x="566" y="406"/>
                  <a:pt x="565" y="406"/>
                  <a:pt x="565" y="406"/>
                </a:cubicBezTo>
                <a:cubicBezTo>
                  <a:pt x="565" y="406"/>
                  <a:pt x="565" y="406"/>
                  <a:pt x="565" y="406"/>
                </a:cubicBezTo>
                <a:cubicBezTo>
                  <a:pt x="565" y="407"/>
                  <a:pt x="565" y="407"/>
                  <a:pt x="564" y="407"/>
                </a:cubicBezTo>
                <a:cubicBezTo>
                  <a:pt x="564" y="407"/>
                  <a:pt x="564" y="407"/>
                  <a:pt x="564" y="407"/>
                </a:cubicBezTo>
                <a:cubicBezTo>
                  <a:pt x="564" y="408"/>
                  <a:pt x="564" y="408"/>
                  <a:pt x="564" y="408"/>
                </a:cubicBezTo>
                <a:cubicBezTo>
                  <a:pt x="564" y="408"/>
                  <a:pt x="563" y="408"/>
                  <a:pt x="563" y="408"/>
                </a:cubicBezTo>
                <a:cubicBezTo>
                  <a:pt x="563" y="408"/>
                  <a:pt x="562" y="409"/>
                  <a:pt x="561" y="409"/>
                </a:cubicBezTo>
                <a:cubicBezTo>
                  <a:pt x="561" y="409"/>
                  <a:pt x="561" y="409"/>
                  <a:pt x="560" y="409"/>
                </a:cubicBezTo>
                <a:cubicBezTo>
                  <a:pt x="560" y="409"/>
                  <a:pt x="559" y="409"/>
                  <a:pt x="559" y="410"/>
                </a:cubicBezTo>
                <a:cubicBezTo>
                  <a:pt x="559" y="410"/>
                  <a:pt x="559" y="410"/>
                  <a:pt x="559" y="410"/>
                </a:cubicBezTo>
                <a:cubicBezTo>
                  <a:pt x="558" y="410"/>
                  <a:pt x="558" y="410"/>
                  <a:pt x="558" y="410"/>
                </a:cubicBezTo>
                <a:cubicBezTo>
                  <a:pt x="550" y="410"/>
                  <a:pt x="541" y="410"/>
                  <a:pt x="532" y="410"/>
                </a:cubicBezTo>
                <a:cubicBezTo>
                  <a:pt x="532" y="410"/>
                  <a:pt x="531" y="410"/>
                  <a:pt x="530" y="410"/>
                </a:cubicBezTo>
                <a:cubicBezTo>
                  <a:pt x="530" y="410"/>
                  <a:pt x="530" y="410"/>
                  <a:pt x="530" y="410"/>
                </a:cubicBezTo>
                <a:cubicBezTo>
                  <a:pt x="527" y="409"/>
                  <a:pt x="524" y="408"/>
                  <a:pt x="521" y="406"/>
                </a:cubicBezTo>
                <a:cubicBezTo>
                  <a:pt x="520" y="406"/>
                  <a:pt x="520" y="406"/>
                  <a:pt x="519" y="405"/>
                </a:cubicBezTo>
                <a:close/>
                <a:moveTo>
                  <a:pt x="589" y="451"/>
                </a:moveTo>
                <a:cubicBezTo>
                  <a:pt x="589" y="452"/>
                  <a:pt x="588" y="452"/>
                  <a:pt x="588" y="452"/>
                </a:cubicBezTo>
                <a:cubicBezTo>
                  <a:pt x="588" y="452"/>
                  <a:pt x="588" y="452"/>
                  <a:pt x="588" y="453"/>
                </a:cubicBezTo>
                <a:cubicBezTo>
                  <a:pt x="588" y="453"/>
                  <a:pt x="588" y="453"/>
                  <a:pt x="588" y="453"/>
                </a:cubicBezTo>
                <a:cubicBezTo>
                  <a:pt x="588" y="453"/>
                  <a:pt x="588" y="453"/>
                  <a:pt x="588" y="454"/>
                </a:cubicBezTo>
                <a:cubicBezTo>
                  <a:pt x="588" y="454"/>
                  <a:pt x="588" y="454"/>
                  <a:pt x="587" y="454"/>
                </a:cubicBezTo>
                <a:cubicBezTo>
                  <a:pt x="587" y="454"/>
                  <a:pt x="587" y="454"/>
                  <a:pt x="587" y="454"/>
                </a:cubicBezTo>
                <a:cubicBezTo>
                  <a:pt x="587" y="454"/>
                  <a:pt x="587" y="454"/>
                  <a:pt x="587" y="455"/>
                </a:cubicBezTo>
                <a:cubicBezTo>
                  <a:pt x="585" y="456"/>
                  <a:pt x="583" y="457"/>
                  <a:pt x="581" y="457"/>
                </a:cubicBezTo>
                <a:cubicBezTo>
                  <a:pt x="581" y="457"/>
                  <a:pt x="581" y="457"/>
                  <a:pt x="581" y="457"/>
                </a:cubicBezTo>
                <a:cubicBezTo>
                  <a:pt x="580" y="457"/>
                  <a:pt x="579" y="457"/>
                  <a:pt x="578" y="457"/>
                </a:cubicBezTo>
                <a:cubicBezTo>
                  <a:pt x="578" y="457"/>
                  <a:pt x="578" y="457"/>
                  <a:pt x="578" y="457"/>
                </a:cubicBezTo>
                <a:cubicBezTo>
                  <a:pt x="577" y="457"/>
                  <a:pt x="577" y="457"/>
                  <a:pt x="577" y="457"/>
                </a:cubicBezTo>
                <a:cubicBezTo>
                  <a:pt x="577" y="457"/>
                  <a:pt x="576" y="457"/>
                  <a:pt x="575" y="457"/>
                </a:cubicBezTo>
                <a:cubicBezTo>
                  <a:pt x="552" y="457"/>
                  <a:pt x="552" y="457"/>
                  <a:pt x="552" y="457"/>
                </a:cubicBezTo>
                <a:cubicBezTo>
                  <a:pt x="551" y="457"/>
                  <a:pt x="550" y="457"/>
                  <a:pt x="549" y="457"/>
                </a:cubicBezTo>
                <a:cubicBezTo>
                  <a:pt x="549" y="457"/>
                  <a:pt x="549" y="457"/>
                  <a:pt x="548" y="457"/>
                </a:cubicBezTo>
                <a:cubicBezTo>
                  <a:pt x="543" y="456"/>
                  <a:pt x="538" y="454"/>
                  <a:pt x="535" y="450"/>
                </a:cubicBezTo>
                <a:cubicBezTo>
                  <a:pt x="534" y="449"/>
                  <a:pt x="534" y="449"/>
                  <a:pt x="534" y="448"/>
                </a:cubicBezTo>
                <a:cubicBezTo>
                  <a:pt x="534" y="448"/>
                  <a:pt x="534" y="448"/>
                  <a:pt x="534" y="448"/>
                </a:cubicBezTo>
                <a:cubicBezTo>
                  <a:pt x="534" y="448"/>
                  <a:pt x="534" y="448"/>
                  <a:pt x="534" y="448"/>
                </a:cubicBezTo>
                <a:cubicBezTo>
                  <a:pt x="533" y="444"/>
                  <a:pt x="531" y="441"/>
                  <a:pt x="530" y="438"/>
                </a:cubicBezTo>
                <a:cubicBezTo>
                  <a:pt x="530" y="436"/>
                  <a:pt x="528" y="434"/>
                  <a:pt x="528" y="432"/>
                </a:cubicBezTo>
                <a:cubicBezTo>
                  <a:pt x="528" y="432"/>
                  <a:pt x="528" y="432"/>
                  <a:pt x="528" y="432"/>
                </a:cubicBezTo>
                <a:cubicBezTo>
                  <a:pt x="528" y="431"/>
                  <a:pt x="528" y="431"/>
                  <a:pt x="528" y="431"/>
                </a:cubicBezTo>
                <a:cubicBezTo>
                  <a:pt x="528" y="431"/>
                  <a:pt x="528" y="431"/>
                  <a:pt x="528" y="431"/>
                </a:cubicBezTo>
                <a:cubicBezTo>
                  <a:pt x="528" y="430"/>
                  <a:pt x="528" y="429"/>
                  <a:pt x="528" y="428"/>
                </a:cubicBezTo>
                <a:cubicBezTo>
                  <a:pt x="528" y="428"/>
                  <a:pt x="528" y="427"/>
                  <a:pt x="528" y="427"/>
                </a:cubicBezTo>
                <a:cubicBezTo>
                  <a:pt x="528" y="427"/>
                  <a:pt x="528" y="427"/>
                  <a:pt x="528" y="427"/>
                </a:cubicBezTo>
                <a:cubicBezTo>
                  <a:pt x="530" y="425"/>
                  <a:pt x="532" y="424"/>
                  <a:pt x="535" y="423"/>
                </a:cubicBezTo>
                <a:cubicBezTo>
                  <a:pt x="535" y="423"/>
                  <a:pt x="535" y="423"/>
                  <a:pt x="536" y="423"/>
                </a:cubicBezTo>
                <a:cubicBezTo>
                  <a:pt x="536" y="423"/>
                  <a:pt x="537" y="423"/>
                  <a:pt x="538" y="423"/>
                </a:cubicBezTo>
                <a:cubicBezTo>
                  <a:pt x="538" y="423"/>
                  <a:pt x="538" y="423"/>
                  <a:pt x="538" y="423"/>
                </a:cubicBezTo>
                <a:cubicBezTo>
                  <a:pt x="540" y="423"/>
                  <a:pt x="540" y="423"/>
                  <a:pt x="540" y="423"/>
                </a:cubicBezTo>
                <a:cubicBezTo>
                  <a:pt x="540" y="423"/>
                  <a:pt x="540" y="423"/>
                  <a:pt x="541" y="423"/>
                </a:cubicBezTo>
                <a:cubicBezTo>
                  <a:pt x="548" y="423"/>
                  <a:pt x="555" y="423"/>
                  <a:pt x="563" y="423"/>
                </a:cubicBezTo>
                <a:cubicBezTo>
                  <a:pt x="563" y="423"/>
                  <a:pt x="563" y="423"/>
                  <a:pt x="563" y="423"/>
                </a:cubicBezTo>
                <a:cubicBezTo>
                  <a:pt x="563" y="423"/>
                  <a:pt x="563" y="423"/>
                  <a:pt x="563" y="423"/>
                </a:cubicBezTo>
                <a:cubicBezTo>
                  <a:pt x="563" y="423"/>
                  <a:pt x="564" y="423"/>
                  <a:pt x="565" y="423"/>
                </a:cubicBezTo>
                <a:cubicBezTo>
                  <a:pt x="565" y="423"/>
                  <a:pt x="565" y="423"/>
                  <a:pt x="565" y="423"/>
                </a:cubicBezTo>
                <a:cubicBezTo>
                  <a:pt x="570" y="424"/>
                  <a:pt x="576" y="426"/>
                  <a:pt x="579" y="430"/>
                </a:cubicBezTo>
                <a:cubicBezTo>
                  <a:pt x="579" y="430"/>
                  <a:pt x="579" y="431"/>
                  <a:pt x="580" y="431"/>
                </a:cubicBezTo>
                <a:cubicBezTo>
                  <a:pt x="581" y="433"/>
                  <a:pt x="581" y="433"/>
                  <a:pt x="581" y="433"/>
                </a:cubicBezTo>
                <a:cubicBezTo>
                  <a:pt x="582" y="436"/>
                  <a:pt x="584" y="439"/>
                  <a:pt x="585" y="442"/>
                </a:cubicBezTo>
                <a:cubicBezTo>
                  <a:pt x="586" y="443"/>
                  <a:pt x="588" y="446"/>
                  <a:pt x="588" y="448"/>
                </a:cubicBezTo>
                <a:cubicBezTo>
                  <a:pt x="589" y="449"/>
                  <a:pt x="589" y="450"/>
                  <a:pt x="589" y="451"/>
                </a:cubicBezTo>
                <a:close/>
                <a:moveTo>
                  <a:pt x="594" y="406"/>
                </a:moveTo>
                <a:cubicBezTo>
                  <a:pt x="593" y="406"/>
                  <a:pt x="593" y="405"/>
                  <a:pt x="592" y="405"/>
                </a:cubicBezTo>
                <a:cubicBezTo>
                  <a:pt x="591" y="404"/>
                  <a:pt x="590" y="403"/>
                  <a:pt x="590" y="402"/>
                </a:cubicBezTo>
                <a:cubicBezTo>
                  <a:pt x="589" y="401"/>
                  <a:pt x="589" y="401"/>
                  <a:pt x="589" y="401"/>
                </a:cubicBezTo>
                <a:cubicBezTo>
                  <a:pt x="589" y="401"/>
                  <a:pt x="589" y="401"/>
                  <a:pt x="589" y="401"/>
                </a:cubicBezTo>
                <a:cubicBezTo>
                  <a:pt x="587" y="398"/>
                  <a:pt x="585" y="394"/>
                  <a:pt x="583" y="390"/>
                </a:cubicBezTo>
                <a:cubicBezTo>
                  <a:pt x="583" y="390"/>
                  <a:pt x="583" y="390"/>
                  <a:pt x="583" y="390"/>
                </a:cubicBezTo>
                <a:cubicBezTo>
                  <a:pt x="582" y="389"/>
                  <a:pt x="582" y="389"/>
                  <a:pt x="582" y="389"/>
                </a:cubicBezTo>
                <a:cubicBezTo>
                  <a:pt x="582" y="388"/>
                  <a:pt x="582" y="387"/>
                  <a:pt x="582" y="386"/>
                </a:cubicBezTo>
                <a:cubicBezTo>
                  <a:pt x="582" y="385"/>
                  <a:pt x="582" y="385"/>
                  <a:pt x="583" y="384"/>
                </a:cubicBezTo>
                <a:cubicBezTo>
                  <a:pt x="584" y="383"/>
                  <a:pt x="585" y="383"/>
                  <a:pt x="586" y="383"/>
                </a:cubicBezTo>
                <a:cubicBezTo>
                  <a:pt x="588" y="382"/>
                  <a:pt x="589" y="382"/>
                  <a:pt x="591" y="382"/>
                </a:cubicBezTo>
                <a:cubicBezTo>
                  <a:pt x="591" y="382"/>
                  <a:pt x="591" y="382"/>
                  <a:pt x="591" y="382"/>
                </a:cubicBezTo>
                <a:cubicBezTo>
                  <a:pt x="594" y="382"/>
                  <a:pt x="598" y="382"/>
                  <a:pt x="600" y="382"/>
                </a:cubicBezTo>
                <a:cubicBezTo>
                  <a:pt x="609" y="382"/>
                  <a:pt x="623" y="380"/>
                  <a:pt x="629" y="389"/>
                </a:cubicBezTo>
                <a:cubicBezTo>
                  <a:pt x="631" y="392"/>
                  <a:pt x="633" y="394"/>
                  <a:pt x="635" y="397"/>
                </a:cubicBezTo>
                <a:cubicBezTo>
                  <a:pt x="636" y="399"/>
                  <a:pt x="637" y="401"/>
                  <a:pt x="638" y="402"/>
                </a:cubicBezTo>
                <a:cubicBezTo>
                  <a:pt x="639" y="403"/>
                  <a:pt x="639" y="404"/>
                  <a:pt x="639" y="405"/>
                </a:cubicBezTo>
                <a:cubicBezTo>
                  <a:pt x="639" y="405"/>
                  <a:pt x="639" y="406"/>
                  <a:pt x="639" y="406"/>
                </a:cubicBezTo>
                <a:cubicBezTo>
                  <a:pt x="639" y="407"/>
                  <a:pt x="638" y="407"/>
                  <a:pt x="638" y="407"/>
                </a:cubicBezTo>
                <a:cubicBezTo>
                  <a:pt x="638" y="407"/>
                  <a:pt x="638" y="407"/>
                  <a:pt x="638" y="407"/>
                </a:cubicBezTo>
                <a:cubicBezTo>
                  <a:pt x="638" y="407"/>
                  <a:pt x="638" y="407"/>
                  <a:pt x="638" y="407"/>
                </a:cubicBezTo>
                <a:cubicBezTo>
                  <a:pt x="638" y="408"/>
                  <a:pt x="638" y="408"/>
                  <a:pt x="637" y="408"/>
                </a:cubicBezTo>
                <a:cubicBezTo>
                  <a:pt x="637" y="408"/>
                  <a:pt x="637" y="408"/>
                  <a:pt x="637" y="408"/>
                </a:cubicBezTo>
                <a:cubicBezTo>
                  <a:pt x="637" y="408"/>
                  <a:pt x="637" y="408"/>
                  <a:pt x="636" y="408"/>
                </a:cubicBezTo>
                <a:cubicBezTo>
                  <a:pt x="636" y="408"/>
                  <a:pt x="635" y="409"/>
                  <a:pt x="635" y="409"/>
                </a:cubicBezTo>
                <a:cubicBezTo>
                  <a:pt x="635" y="409"/>
                  <a:pt x="635" y="409"/>
                  <a:pt x="635" y="409"/>
                </a:cubicBezTo>
                <a:cubicBezTo>
                  <a:pt x="635" y="409"/>
                  <a:pt x="635" y="409"/>
                  <a:pt x="635" y="409"/>
                </a:cubicBezTo>
                <a:cubicBezTo>
                  <a:pt x="631" y="410"/>
                  <a:pt x="625" y="410"/>
                  <a:pt x="621" y="410"/>
                </a:cubicBezTo>
                <a:cubicBezTo>
                  <a:pt x="616" y="410"/>
                  <a:pt x="611" y="410"/>
                  <a:pt x="607" y="410"/>
                </a:cubicBezTo>
                <a:cubicBezTo>
                  <a:pt x="602" y="410"/>
                  <a:pt x="598" y="408"/>
                  <a:pt x="594" y="406"/>
                </a:cubicBezTo>
                <a:close/>
                <a:moveTo>
                  <a:pt x="670" y="454"/>
                </a:moveTo>
                <a:cubicBezTo>
                  <a:pt x="670" y="454"/>
                  <a:pt x="670" y="454"/>
                  <a:pt x="670" y="454"/>
                </a:cubicBezTo>
                <a:cubicBezTo>
                  <a:pt x="669" y="455"/>
                  <a:pt x="668" y="456"/>
                  <a:pt x="666" y="456"/>
                </a:cubicBezTo>
                <a:cubicBezTo>
                  <a:pt x="665" y="457"/>
                  <a:pt x="664" y="457"/>
                  <a:pt x="662" y="457"/>
                </a:cubicBezTo>
                <a:cubicBezTo>
                  <a:pt x="660" y="457"/>
                  <a:pt x="660" y="457"/>
                  <a:pt x="660" y="457"/>
                </a:cubicBezTo>
                <a:cubicBezTo>
                  <a:pt x="660" y="457"/>
                  <a:pt x="660" y="457"/>
                  <a:pt x="660" y="457"/>
                </a:cubicBezTo>
                <a:cubicBezTo>
                  <a:pt x="651" y="457"/>
                  <a:pt x="643" y="457"/>
                  <a:pt x="635" y="457"/>
                </a:cubicBezTo>
                <a:cubicBezTo>
                  <a:pt x="634" y="457"/>
                  <a:pt x="633" y="457"/>
                  <a:pt x="632" y="457"/>
                </a:cubicBezTo>
                <a:cubicBezTo>
                  <a:pt x="632" y="457"/>
                  <a:pt x="632" y="457"/>
                  <a:pt x="632" y="457"/>
                </a:cubicBezTo>
                <a:cubicBezTo>
                  <a:pt x="626" y="456"/>
                  <a:pt x="620" y="454"/>
                  <a:pt x="616" y="449"/>
                </a:cubicBezTo>
                <a:cubicBezTo>
                  <a:pt x="616" y="449"/>
                  <a:pt x="616" y="448"/>
                  <a:pt x="615" y="448"/>
                </a:cubicBezTo>
                <a:cubicBezTo>
                  <a:pt x="615" y="448"/>
                  <a:pt x="615" y="448"/>
                  <a:pt x="615" y="448"/>
                </a:cubicBezTo>
                <a:cubicBezTo>
                  <a:pt x="615" y="448"/>
                  <a:pt x="615" y="448"/>
                  <a:pt x="615" y="448"/>
                </a:cubicBezTo>
                <a:cubicBezTo>
                  <a:pt x="614" y="445"/>
                  <a:pt x="612" y="441"/>
                  <a:pt x="610" y="438"/>
                </a:cubicBezTo>
                <a:cubicBezTo>
                  <a:pt x="609" y="436"/>
                  <a:pt x="606" y="433"/>
                  <a:pt x="606" y="430"/>
                </a:cubicBezTo>
                <a:cubicBezTo>
                  <a:pt x="606" y="430"/>
                  <a:pt x="606" y="430"/>
                  <a:pt x="606" y="430"/>
                </a:cubicBezTo>
                <a:cubicBezTo>
                  <a:pt x="605" y="429"/>
                  <a:pt x="605" y="429"/>
                  <a:pt x="605" y="429"/>
                </a:cubicBezTo>
                <a:cubicBezTo>
                  <a:pt x="605" y="426"/>
                  <a:pt x="607" y="425"/>
                  <a:pt x="610" y="424"/>
                </a:cubicBezTo>
                <a:cubicBezTo>
                  <a:pt x="610" y="424"/>
                  <a:pt x="610" y="424"/>
                  <a:pt x="610" y="424"/>
                </a:cubicBezTo>
                <a:cubicBezTo>
                  <a:pt x="610" y="424"/>
                  <a:pt x="610" y="424"/>
                  <a:pt x="610" y="424"/>
                </a:cubicBezTo>
                <a:cubicBezTo>
                  <a:pt x="610" y="424"/>
                  <a:pt x="610" y="424"/>
                  <a:pt x="611" y="423"/>
                </a:cubicBezTo>
                <a:cubicBezTo>
                  <a:pt x="612" y="423"/>
                  <a:pt x="613" y="423"/>
                  <a:pt x="615" y="423"/>
                </a:cubicBezTo>
                <a:cubicBezTo>
                  <a:pt x="631" y="423"/>
                  <a:pt x="631" y="423"/>
                  <a:pt x="631" y="423"/>
                </a:cubicBezTo>
                <a:cubicBezTo>
                  <a:pt x="634" y="423"/>
                  <a:pt x="637" y="423"/>
                  <a:pt x="639" y="423"/>
                </a:cubicBezTo>
                <a:cubicBezTo>
                  <a:pt x="639" y="423"/>
                  <a:pt x="639" y="423"/>
                  <a:pt x="639" y="423"/>
                </a:cubicBezTo>
                <a:cubicBezTo>
                  <a:pt x="639" y="423"/>
                  <a:pt x="639" y="423"/>
                  <a:pt x="640" y="423"/>
                </a:cubicBezTo>
                <a:cubicBezTo>
                  <a:pt x="640" y="423"/>
                  <a:pt x="641" y="423"/>
                  <a:pt x="642" y="423"/>
                </a:cubicBezTo>
                <a:cubicBezTo>
                  <a:pt x="642" y="423"/>
                  <a:pt x="642" y="423"/>
                  <a:pt x="642" y="423"/>
                </a:cubicBezTo>
                <a:cubicBezTo>
                  <a:pt x="647" y="424"/>
                  <a:pt x="653" y="426"/>
                  <a:pt x="656" y="429"/>
                </a:cubicBezTo>
                <a:cubicBezTo>
                  <a:pt x="657" y="429"/>
                  <a:pt x="657" y="430"/>
                  <a:pt x="657" y="430"/>
                </a:cubicBezTo>
                <a:cubicBezTo>
                  <a:pt x="657" y="430"/>
                  <a:pt x="657" y="430"/>
                  <a:pt x="657" y="431"/>
                </a:cubicBezTo>
                <a:cubicBezTo>
                  <a:pt x="658" y="431"/>
                  <a:pt x="658" y="431"/>
                  <a:pt x="658" y="431"/>
                </a:cubicBezTo>
                <a:cubicBezTo>
                  <a:pt x="658" y="431"/>
                  <a:pt x="658" y="431"/>
                  <a:pt x="658" y="431"/>
                </a:cubicBezTo>
                <a:cubicBezTo>
                  <a:pt x="659" y="432"/>
                  <a:pt x="659" y="432"/>
                  <a:pt x="659" y="432"/>
                </a:cubicBezTo>
                <a:cubicBezTo>
                  <a:pt x="660" y="434"/>
                  <a:pt x="662" y="436"/>
                  <a:pt x="663" y="439"/>
                </a:cubicBezTo>
                <a:cubicBezTo>
                  <a:pt x="663" y="439"/>
                  <a:pt x="663" y="439"/>
                  <a:pt x="663" y="439"/>
                </a:cubicBezTo>
                <a:cubicBezTo>
                  <a:pt x="665" y="442"/>
                  <a:pt x="668" y="445"/>
                  <a:pt x="670" y="449"/>
                </a:cubicBezTo>
                <a:cubicBezTo>
                  <a:pt x="670" y="449"/>
                  <a:pt x="670" y="449"/>
                  <a:pt x="670" y="449"/>
                </a:cubicBezTo>
                <a:cubicBezTo>
                  <a:pt x="670" y="449"/>
                  <a:pt x="670" y="449"/>
                  <a:pt x="670" y="449"/>
                </a:cubicBezTo>
                <a:cubicBezTo>
                  <a:pt x="671" y="451"/>
                  <a:pt x="671" y="453"/>
                  <a:pt x="670" y="454"/>
                </a:cubicBezTo>
                <a:close/>
                <a:moveTo>
                  <a:pt x="729" y="79"/>
                </a:moveTo>
                <a:cubicBezTo>
                  <a:pt x="753" y="103"/>
                  <a:pt x="766" y="136"/>
                  <a:pt x="766" y="170"/>
                </a:cubicBezTo>
                <a:cubicBezTo>
                  <a:pt x="766" y="204"/>
                  <a:pt x="753" y="237"/>
                  <a:pt x="729" y="261"/>
                </a:cubicBezTo>
                <a:cubicBezTo>
                  <a:pt x="757" y="248"/>
                  <a:pt x="782" y="212"/>
                  <a:pt x="782" y="170"/>
                </a:cubicBezTo>
                <a:cubicBezTo>
                  <a:pt x="782" y="127"/>
                  <a:pt x="757" y="92"/>
                  <a:pt x="729" y="79"/>
                </a:cubicBezTo>
                <a:close/>
                <a:moveTo>
                  <a:pt x="53" y="79"/>
                </a:moveTo>
                <a:cubicBezTo>
                  <a:pt x="26" y="92"/>
                  <a:pt x="0" y="127"/>
                  <a:pt x="0" y="170"/>
                </a:cubicBezTo>
                <a:cubicBezTo>
                  <a:pt x="0" y="212"/>
                  <a:pt x="26" y="248"/>
                  <a:pt x="53" y="261"/>
                </a:cubicBezTo>
                <a:cubicBezTo>
                  <a:pt x="30" y="237"/>
                  <a:pt x="16" y="204"/>
                  <a:pt x="16" y="170"/>
                </a:cubicBezTo>
                <a:cubicBezTo>
                  <a:pt x="16" y="136"/>
                  <a:pt x="30" y="103"/>
                  <a:pt x="53" y="79"/>
                </a:cubicBezTo>
                <a:close/>
              </a:path>
            </a:pathLst>
          </a:custGeom>
          <a:solidFill>
            <a:srgbClr val="FFFFFF"/>
          </a:solidFill>
          <a:ln w="9525">
            <a:noFill/>
            <a:round/>
            <a:headEnd/>
            <a:tailEnd/>
          </a:ln>
        </p:spPr>
        <p:txBody>
          <a:bodyPr vert="horz" wrap="square" lIns="91427" tIns="45713" rIns="91427" bIns="45713" numCol="1" anchor="t" anchorCtr="0" compatLnSpc="1">
            <a:prstTxWarp prst="textNoShape">
              <a:avLst/>
            </a:prstTxWarp>
          </a:bodyPr>
          <a:lstStyle/>
          <a:p>
            <a:pPr defTabSz="932563"/>
            <a:endParaRPr lang="en-GB">
              <a:solidFill>
                <a:srgbClr val="FFFFFF"/>
              </a:solidFill>
              <a:latin typeface="微软雅黑" panose="020B0503020204020204" pitchFamily="34" charset="-122"/>
              <a:ea typeface="微软雅黑" panose="020B0503020204020204" pitchFamily="34" charset="-122"/>
            </a:endParaRPr>
          </a:p>
        </p:txBody>
      </p:sp>
      <p:pic>
        <p:nvPicPr>
          <p:cNvPr id="55" name="Picture 9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0726" y="1763739"/>
            <a:ext cx="557899" cy="557899"/>
          </a:xfrm>
          <a:prstGeom prst="rect">
            <a:avLst/>
          </a:prstGeom>
        </p:spPr>
      </p:pic>
      <p:sp>
        <p:nvSpPr>
          <p:cNvPr id="56" name="文本框 55"/>
          <p:cNvSpPr txBox="1"/>
          <p:nvPr/>
        </p:nvSpPr>
        <p:spPr>
          <a:xfrm>
            <a:off x="2267744" y="1806540"/>
            <a:ext cx="1107996" cy="461665"/>
          </a:xfrm>
          <a:prstGeom prst="rect">
            <a:avLst/>
          </a:prstGeom>
          <a:no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已映射</a:t>
            </a:r>
          </a:p>
        </p:txBody>
      </p:sp>
      <p:sp>
        <p:nvSpPr>
          <p:cNvPr id="57" name="文本框 56"/>
          <p:cNvSpPr txBox="1"/>
          <p:nvPr/>
        </p:nvSpPr>
        <p:spPr>
          <a:xfrm>
            <a:off x="2339752" y="3431037"/>
            <a:ext cx="1107996" cy="461665"/>
          </a:xfrm>
          <a:prstGeom prst="rect">
            <a:avLst/>
          </a:prstGeom>
          <a:no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未映射</a:t>
            </a:r>
          </a:p>
        </p:txBody>
      </p:sp>
      <p:sp>
        <p:nvSpPr>
          <p:cNvPr id="58" name="文本框 57"/>
          <p:cNvSpPr txBox="1"/>
          <p:nvPr/>
        </p:nvSpPr>
        <p:spPr>
          <a:xfrm>
            <a:off x="2267744" y="5055534"/>
            <a:ext cx="1107996" cy="461665"/>
          </a:xfrm>
          <a:prstGeom prst="rect">
            <a:avLst/>
          </a:prstGeom>
          <a:no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未创建</a:t>
            </a:r>
          </a:p>
        </p:txBody>
      </p:sp>
    </p:spTree>
    <p:extLst>
      <p:ext uri="{BB962C8B-B14F-4D97-AF65-F5344CB8AC3E}">
        <p14:creationId xmlns:p14="http://schemas.microsoft.com/office/powerpoint/2010/main" val="202041599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存储器映射</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5" name="Oval 5"/>
          <p:cNvSpPr>
            <a:spLocks noChangeArrowheads="1"/>
          </p:cNvSpPr>
          <p:nvPr/>
        </p:nvSpPr>
        <p:spPr bwMode="auto">
          <a:xfrm>
            <a:off x="1262435" y="1627658"/>
            <a:ext cx="1109663" cy="1098550"/>
          </a:xfrm>
          <a:prstGeom prst="ellipse">
            <a:avLst/>
          </a:prstGeom>
          <a:solidFill>
            <a:srgbClr val="F9CB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6" name="Freeform 6"/>
          <p:cNvSpPr>
            <a:spLocks noEditPoints="1"/>
          </p:cNvSpPr>
          <p:nvPr/>
        </p:nvSpPr>
        <p:spPr bwMode="auto">
          <a:xfrm>
            <a:off x="978273" y="1345083"/>
            <a:ext cx="1679575" cy="1663700"/>
          </a:xfrm>
          <a:custGeom>
            <a:avLst/>
            <a:gdLst>
              <a:gd name="T0" fmla="*/ 107 w 165"/>
              <a:gd name="T1" fmla="*/ 4 h 165"/>
              <a:gd name="T2" fmla="*/ 113 w 165"/>
              <a:gd name="T3" fmla="*/ 29 h 165"/>
              <a:gd name="T4" fmla="*/ 135 w 165"/>
              <a:gd name="T5" fmla="*/ 19 h 165"/>
              <a:gd name="T6" fmla="*/ 131 w 165"/>
              <a:gd name="T7" fmla="*/ 45 h 165"/>
              <a:gd name="T8" fmla="*/ 156 w 165"/>
              <a:gd name="T9" fmla="*/ 44 h 165"/>
              <a:gd name="T10" fmla="*/ 142 w 165"/>
              <a:gd name="T11" fmla="*/ 66 h 165"/>
              <a:gd name="T12" fmla="*/ 165 w 165"/>
              <a:gd name="T13" fmla="*/ 75 h 165"/>
              <a:gd name="T14" fmla="*/ 144 w 165"/>
              <a:gd name="T15" fmla="*/ 90 h 165"/>
              <a:gd name="T16" fmla="*/ 161 w 165"/>
              <a:gd name="T17" fmla="*/ 107 h 165"/>
              <a:gd name="T18" fmla="*/ 136 w 165"/>
              <a:gd name="T19" fmla="*/ 113 h 165"/>
              <a:gd name="T20" fmla="*/ 146 w 165"/>
              <a:gd name="T21" fmla="*/ 135 h 165"/>
              <a:gd name="T22" fmla="*/ 120 w 165"/>
              <a:gd name="T23" fmla="*/ 131 h 165"/>
              <a:gd name="T24" fmla="*/ 120 w 165"/>
              <a:gd name="T25" fmla="*/ 156 h 165"/>
              <a:gd name="T26" fmla="*/ 99 w 165"/>
              <a:gd name="T27" fmla="*/ 142 h 165"/>
              <a:gd name="T28" fmla="*/ 90 w 165"/>
              <a:gd name="T29" fmla="*/ 165 h 165"/>
              <a:gd name="T30" fmla="*/ 75 w 165"/>
              <a:gd name="T31" fmla="*/ 144 h 165"/>
              <a:gd name="T32" fmla="*/ 58 w 165"/>
              <a:gd name="T33" fmla="*/ 161 h 165"/>
              <a:gd name="T34" fmla="*/ 52 w 165"/>
              <a:gd name="T35" fmla="*/ 136 h 165"/>
              <a:gd name="T36" fmla="*/ 29 w 165"/>
              <a:gd name="T37" fmla="*/ 146 h 165"/>
              <a:gd name="T38" fmla="*/ 33 w 165"/>
              <a:gd name="T39" fmla="*/ 120 h 165"/>
              <a:gd name="T40" fmla="*/ 9 w 165"/>
              <a:gd name="T41" fmla="*/ 120 h 165"/>
              <a:gd name="T42" fmla="*/ 23 w 165"/>
              <a:gd name="T43" fmla="*/ 99 h 165"/>
              <a:gd name="T44" fmla="*/ 0 w 165"/>
              <a:gd name="T45" fmla="*/ 90 h 165"/>
              <a:gd name="T46" fmla="*/ 21 w 165"/>
              <a:gd name="T47" fmla="*/ 74 h 165"/>
              <a:gd name="T48" fmla="*/ 4 w 165"/>
              <a:gd name="T49" fmla="*/ 58 h 165"/>
              <a:gd name="T50" fmla="*/ 29 w 165"/>
              <a:gd name="T51" fmla="*/ 52 h 165"/>
              <a:gd name="T52" fmla="*/ 19 w 165"/>
              <a:gd name="T53" fmla="*/ 29 h 165"/>
              <a:gd name="T54" fmla="*/ 45 w 165"/>
              <a:gd name="T55" fmla="*/ 33 h 165"/>
              <a:gd name="T56" fmla="*/ 44 w 165"/>
              <a:gd name="T57" fmla="*/ 9 h 165"/>
              <a:gd name="T58" fmla="*/ 66 w 165"/>
              <a:gd name="T59" fmla="*/ 23 h 165"/>
              <a:gd name="T60" fmla="*/ 75 w 165"/>
              <a:gd name="T61" fmla="*/ 0 h 165"/>
              <a:gd name="T62" fmla="*/ 90 w 165"/>
              <a:gd name="T63" fmla="*/ 21 h 165"/>
              <a:gd name="T64" fmla="*/ 95 w 165"/>
              <a:gd name="T65" fmla="*/ 35 h 165"/>
              <a:gd name="T66" fmla="*/ 70 w 165"/>
              <a:gd name="T67" fmla="*/ 130 h 165"/>
              <a:gd name="T68" fmla="*/ 95 w 165"/>
              <a:gd name="T69" fmla="*/ 3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5">
                <a:moveTo>
                  <a:pt x="100" y="2"/>
                </a:moveTo>
                <a:cubicBezTo>
                  <a:pt x="107" y="4"/>
                  <a:pt x="107" y="4"/>
                  <a:pt x="107" y="4"/>
                </a:cubicBezTo>
                <a:cubicBezTo>
                  <a:pt x="106" y="25"/>
                  <a:pt x="106" y="25"/>
                  <a:pt x="106" y="25"/>
                </a:cubicBezTo>
                <a:cubicBezTo>
                  <a:pt x="109" y="26"/>
                  <a:pt x="111" y="27"/>
                  <a:pt x="113" y="29"/>
                </a:cubicBezTo>
                <a:cubicBezTo>
                  <a:pt x="130" y="15"/>
                  <a:pt x="130" y="15"/>
                  <a:pt x="130" y="15"/>
                </a:cubicBezTo>
                <a:cubicBezTo>
                  <a:pt x="135" y="19"/>
                  <a:pt x="135" y="19"/>
                  <a:pt x="135" y="19"/>
                </a:cubicBezTo>
                <a:cubicBezTo>
                  <a:pt x="126" y="39"/>
                  <a:pt x="126" y="39"/>
                  <a:pt x="126" y="39"/>
                </a:cubicBezTo>
                <a:cubicBezTo>
                  <a:pt x="128" y="41"/>
                  <a:pt x="130" y="43"/>
                  <a:pt x="131" y="45"/>
                </a:cubicBezTo>
                <a:cubicBezTo>
                  <a:pt x="152" y="38"/>
                  <a:pt x="152" y="38"/>
                  <a:pt x="152" y="38"/>
                </a:cubicBezTo>
                <a:cubicBezTo>
                  <a:pt x="156" y="44"/>
                  <a:pt x="156" y="44"/>
                  <a:pt x="156" y="44"/>
                </a:cubicBezTo>
                <a:cubicBezTo>
                  <a:pt x="140" y="59"/>
                  <a:pt x="140" y="59"/>
                  <a:pt x="140" y="59"/>
                </a:cubicBezTo>
                <a:cubicBezTo>
                  <a:pt x="141" y="61"/>
                  <a:pt x="142" y="64"/>
                  <a:pt x="142" y="66"/>
                </a:cubicBezTo>
                <a:cubicBezTo>
                  <a:pt x="164" y="68"/>
                  <a:pt x="164" y="68"/>
                  <a:pt x="164" y="68"/>
                </a:cubicBezTo>
                <a:cubicBezTo>
                  <a:pt x="165" y="75"/>
                  <a:pt x="165" y="75"/>
                  <a:pt x="165" y="75"/>
                </a:cubicBezTo>
                <a:cubicBezTo>
                  <a:pt x="144" y="83"/>
                  <a:pt x="144" y="83"/>
                  <a:pt x="144" y="83"/>
                </a:cubicBezTo>
                <a:cubicBezTo>
                  <a:pt x="144" y="85"/>
                  <a:pt x="144" y="88"/>
                  <a:pt x="144" y="90"/>
                </a:cubicBezTo>
                <a:cubicBezTo>
                  <a:pt x="163" y="100"/>
                  <a:pt x="163" y="100"/>
                  <a:pt x="163" y="100"/>
                </a:cubicBezTo>
                <a:cubicBezTo>
                  <a:pt x="161" y="107"/>
                  <a:pt x="161" y="107"/>
                  <a:pt x="161" y="107"/>
                </a:cubicBezTo>
                <a:cubicBezTo>
                  <a:pt x="140" y="106"/>
                  <a:pt x="140" y="106"/>
                  <a:pt x="140" y="106"/>
                </a:cubicBezTo>
                <a:cubicBezTo>
                  <a:pt x="139" y="109"/>
                  <a:pt x="138" y="111"/>
                  <a:pt x="136" y="113"/>
                </a:cubicBezTo>
                <a:cubicBezTo>
                  <a:pt x="150" y="130"/>
                  <a:pt x="150" y="130"/>
                  <a:pt x="150" y="130"/>
                </a:cubicBezTo>
                <a:cubicBezTo>
                  <a:pt x="146" y="135"/>
                  <a:pt x="146" y="135"/>
                  <a:pt x="146" y="135"/>
                </a:cubicBezTo>
                <a:cubicBezTo>
                  <a:pt x="126" y="126"/>
                  <a:pt x="126" y="126"/>
                  <a:pt x="126" y="126"/>
                </a:cubicBezTo>
                <a:cubicBezTo>
                  <a:pt x="124" y="128"/>
                  <a:pt x="122" y="130"/>
                  <a:pt x="120" y="131"/>
                </a:cubicBezTo>
                <a:cubicBezTo>
                  <a:pt x="127" y="152"/>
                  <a:pt x="127" y="152"/>
                  <a:pt x="127" y="152"/>
                </a:cubicBezTo>
                <a:cubicBezTo>
                  <a:pt x="120" y="156"/>
                  <a:pt x="120" y="156"/>
                  <a:pt x="120" y="156"/>
                </a:cubicBezTo>
                <a:cubicBezTo>
                  <a:pt x="106" y="140"/>
                  <a:pt x="106" y="140"/>
                  <a:pt x="106" y="140"/>
                </a:cubicBezTo>
                <a:cubicBezTo>
                  <a:pt x="104" y="141"/>
                  <a:pt x="101" y="142"/>
                  <a:pt x="99" y="142"/>
                </a:cubicBezTo>
                <a:cubicBezTo>
                  <a:pt x="97" y="164"/>
                  <a:pt x="97" y="164"/>
                  <a:pt x="97" y="164"/>
                </a:cubicBezTo>
                <a:cubicBezTo>
                  <a:pt x="90" y="165"/>
                  <a:pt x="90" y="165"/>
                  <a:pt x="90" y="165"/>
                </a:cubicBezTo>
                <a:cubicBezTo>
                  <a:pt x="82" y="144"/>
                  <a:pt x="82" y="144"/>
                  <a:pt x="82" y="144"/>
                </a:cubicBezTo>
                <a:cubicBezTo>
                  <a:pt x="80" y="144"/>
                  <a:pt x="77" y="144"/>
                  <a:pt x="75" y="144"/>
                </a:cubicBezTo>
                <a:cubicBezTo>
                  <a:pt x="65" y="163"/>
                  <a:pt x="65" y="163"/>
                  <a:pt x="65" y="163"/>
                </a:cubicBezTo>
                <a:cubicBezTo>
                  <a:pt x="58" y="161"/>
                  <a:pt x="58" y="161"/>
                  <a:pt x="58" y="161"/>
                </a:cubicBezTo>
                <a:cubicBezTo>
                  <a:pt x="59" y="140"/>
                  <a:pt x="59" y="140"/>
                  <a:pt x="59" y="140"/>
                </a:cubicBezTo>
                <a:cubicBezTo>
                  <a:pt x="56" y="139"/>
                  <a:pt x="54" y="137"/>
                  <a:pt x="52" y="136"/>
                </a:cubicBezTo>
                <a:cubicBezTo>
                  <a:pt x="35" y="150"/>
                  <a:pt x="35" y="150"/>
                  <a:pt x="35" y="150"/>
                </a:cubicBezTo>
                <a:cubicBezTo>
                  <a:pt x="29" y="146"/>
                  <a:pt x="29" y="146"/>
                  <a:pt x="29" y="146"/>
                </a:cubicBezTo>
                <a:cubicBezTo>
                  <a:pt x="39" y="126"/>
                  <a:pt x="39" y="126"/>
                  <a:pt x="39" y="126"/>
                </a:cubicBezTo>
                <a:cubicBezTo>
                  <a:pt x="37" y="124"/>
                  <a:pt x="35" y="122"/>
                  <a:pt x="33" y="120"/>
                </a:cubicBezTo>
                <a:cubicBezTo>
                  <a:pt x="13" y="127"/>
                  <a:pt x="13" y="127"/>
                  <a:pt x="13" y="127"/>
                </a:cubicBezTo>
                <a:cubicBezTo>
                  <a:pt x="9" y="120"/>
                  <a:pt x="9" y="120"/>
                  <a:pt x="9" y="120"/>
                </a:cubicBezTo>
                <a:cubicBezTo>
                  <a:pt x="25" y="106"/>
                  <a:pt x="25" y="106"/>
                  <a:pt x="25" y="106"/>
                </a:cubicBezTo>
                <a:cubicBezTo>
                  <a:pt x="24" y="104"/>
                  <a:pt x="23" y="101"/>
                  <a:pt x="23" y="99"/>
                </a:cubicBezTo>
                <a:cubicBezTo>
                  <a:pt x="1" y="97"/>
                  <a:pt x="1" y="97"/>
                  <a:pt x="1" y="97"/>
                </a:cubicBezTo>
                <a:cubicBezTo>
                  <a:pt x="0" y="90"/>
                  <a:pt x="0" y="90"/>
                  <a:pt x="0" y="90"/>
                </a:cubicBezTo>
                <a:cubicBezTo>
                  <a:pt x="21" y="82"/>
                  <a:pt x="21" y="82"/>
                  <a:pt x="21" y="82"/>
                </a:cubicBezTo>
                <a:cubicBezTo>
                  <a:pt x="20" y="80"/>
                  <a:pt x="21" y="77"/>
                  <a:pt x="21" y="74"/>
                </a:cubicBezTo>
                <a:cubicBezTo>
                  <a:pt x="2" y="65"/>
                  <a:pt x="2" y="65"/>
                  <a:pt x="2" y="65"/>
                </a:cubicBezTo>
                <a:cubicBezTo>
                  <a:pt x="4" y="58"/>
                  <a:pt x="4" y="58"/>
                  <a:pt x="4" y="58"/>
                </a:cubicBezTo>
                <a:cubicBezTo>
                  <a:pt x="25" y="59"/>
                  <a:pt x="25" y="59"/>
                  <a:pt x="25" y="59"/>
                </a:cubicBezTo>
                <a:cubicBezTo>
                  <a:pt x="26" y="56"/>
                  <a:pt x="27" y="54"/>
                  <a:pt x="29" y="52"/>
                </a:cubicBezTo>
                <a:cubicBezTo>
                  <a:pt x="15" y="35"/>
                  <a:pt x="15" y="35"/>
                  <a:pt x="15" y="35"/>
                </a:cubicBezTo>
                <a:cubicBezTo>
                  <a:pt x="19" y="29"/>
                  <a:pt x="19" y="29"/>
                  <a:pt x="19" y="29"/>
                </a:cubicBezTo>
                <a:cubicBezTo>
                  <a:pt x="39" y="39"/>
                  <a:pt x="39" y="39"/>
                  <a:pt x="39" y="39"/>
                </a:cubicBezTo>
                <a:cubicBezTo>
                  <a:pt x="41" y="37"/>
                  <a:pt x="43" y="35"/>
                  <a:pt x="45" y="33"/>
                </a:cubicBezTo>
                <a:cubicBezTo>
                  <a:pt x="38" y="13"/>
                  <a:pt x="38" y="13"/>
                  <a:pt x="38" y="13"/>
                </a:cubicBezTo>
                <a:cubicBezTo>
                  <a:pt x="44" y="9"/>
                  <a:pt x="44" y="9"/>
                  <a:pt x="44" y="9"/>
                </a:cubicBezTo>
                <a:cubicBezTo>
                  <a:pt x="59" y="25"/>
                  <a:pt x="59" y="25"/>
                  <a:pt x="59" y="25"/>
                </a:cubicBezTo>
                <a:cubicBezTo>
                  <a:pt x="61" y="24"/>
                  <a:pt x="64" y="23"/>
                  <a:pt x="66" y="23"/>
                </a:cubicBezTo>
                <a:cubicBezTo>
                  <a:pt x="68" y="1"/>
                  <a:pt x="68" y="1"/>
                  <a:pt x="68" y="1"/>
                </a:cubicBezTo>
                <a:cubicBezTo>
                  <a:pt x="75" y="0"/>
                  <a:pt x="75" y="0"/>
                  <a:pt x="75" y="0"/>
                </a:cubicBezTo>
                <a:cubicBezTo>
                  <a:pt x="83" y="21"/>
                  <a:pt x="83" y="21"/>
                  <a:pt x="83" y="21"/>
                </a:cubicBezTo>
                <a:cubicBezTo>
                  <a:pt x="85" y="20"/>
                  <a:pt x="88" y="21"/>
                  <a:pt x="90" y="21"/>
                </a:cubicBezTo>
                <a:cubicBezTo>
                  <a:pt x="100" y="2"/>
                  <a:pt x="100" y="2"/>
                  <a:pt x="100" y="2"/>
                </a:cubicBezTo>
                <a:close/>
                <a:moveTo>
                  <a:pt x="95" y="35"/>
                </a:moveTo>
                <a:cubicBezTo>
                  <a:pt x="121" y="42"/>
                  <a:pt x="137" y="69"/>
                  <a:pt x="130" y="95"/>
                </a:cubicBezTo>
                <a:cubicBezTo>
                  <a:pt x="123" y="121"/>
                  <a:pt x="96" y="137"/>
                  <a:pt x="70" y="130"/>
                </a:cubicBezTo>
                <a:cubicBezTo>
                  <a:pt x="44" y="123"/>
                  <a:pt x="28" y="96"/>
                  <a:pt x="35" y="69"/>
                </a:cubicBezTo>
                <a:cubicBezTo>
                  <a:pt x="42" y="43"/>
                  <a:pt x="69" y="28"/>
                  <a:pt x="95" y="35"/>
                </a:cubicBezTo>
                <a:close/>
              </a:path>
            </a:pathLst>
          </a:custGeom>
          <a:solidFill>
            <a:srgbClr val="E84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7" name="Freeform 7"/>
          <p:cNvSpPr>
            <a:spLocks noEditPoints="1"/>
          </p:cNvSpPr>
          <p:nvPr/>
        </p:nvSpPr>
        <p:spPr bwMode="auto">
          <a:xfrm>
            <a:off x="611560" y="2888133"/>
            <a:ext cx="1679575" cy="1652588"/>
          </a:xfrm>
          <a:custGeom>
            <a:avLst/>
            <a:gdLst>
              <a:gd name="T0" fmla="*/ 86 w 165"/>
              <a:gd name="T1" fmla="*/ 0 h 164"/>
              <a:gd name="T2" fmla="*/ 98 w 165"/>
              <a:gd name="T3" fmla="*/ 22 h 164"/>
              <a:gd name="T4" fmla="*/ 117 w 165"/>
              <a:gd name="T5" fmla="*/ 7 h 164"/>
              <a:gd name="T6" fmla="*/ 120 w 165"/>
              <a:gd name="T7" fmla="*/ 33 h 164"/>
              <a:gd name="T8" fmla="*/ 143 w 165"/>
              <a:gd name="T9" fmla="*/ 26 h 164"/>
              <a:gd name="T10" fmla="*/ 136 w 165"/>
              <a:gd name="T11" fmla="*/ 51 h 164"/>
              <a:gd name="T12" fmla="*/ 160 w 165"/>
              <a:gd name="T13" fmla="*/ 54 h 164"/>
              <a:gd name="T14" fmla="*/ 144 w 165"/>
              <a:gd name="T15" fmla="*/ 74 h 164"/>
              <a:gd name="T16" fmla="*/ 165 w 165"/>
              <a:gd name="T17" fmla="*/ 86 h 164"/>
              <a:gd name="T18" fmla="*/ 142 w 165"/>
              <a:gd name="T19" fmla="*/ 98 h 164"/>
              <a:gd name="T20" fmla="*/ 157 w 165"/>
              <a:gd name="T21" fmla="*/ 117 h 164"/>
              <a:gd name="T22" fmla="*/ 132 w 165"/>
              <a:gd name="T23" fmla="*/ 119 h 164"/>
              <a:gd name="T24" fmla="*/ 138 w 165"/>
              <a:gd name="T25" fmla="*/ 143 h 164"/>
              <a:gd name="T26" fmla="*/ 114 w 165"/>
              <a:gd name="T27" fmla="*/ 135 h 164"/>
              <a:gd name="T28" fmla="*/ 111 w 165"/>
              <a:gd name="T29" fmla="*/ 159 h 164"/>
              <a:gd name="T30" fmla="*/ 91 w 165"/>
              <a:gd name="T31" fmla="*/ 143 h 164"/>
              <a:gd name="T32" fmla="*/ 79 w 165"/>
              <a:gd name="T33" fmla="*/ 164 h 164"/>
              <a:gd name="T34" fmla="*/ 67 w 165"/>
              <a:gd name="T35" fmla="*/ 142 h 164"/>
              <a:gd name="T36" fmla="*/ 48 w 165"/>
              <a:gd name="T37" fmla="*/ 157 h 164"/>
              <a:gd name="T38" fmla="*/ 45 w 165"/>
              <a:gd name="T39" fmla="*/ 131 h 164"/>
              <a:gd name="T40" fmla="*/ 22 w 165"/>
              <a:gd name="T41" fmla="*/ 138 h 164"/>
              <a:gd name="T42" fmla="*/ 29 w 165"/>
              <a:gd name="T43" fmla="*/ 113 h 164"/>
              <a:gd name="T44" fmla="*/ 5 w 165"/>
              <a:gd name="T45" fmla="*/ 110 h 164"/>
              <a:gd name="T46" fmla="*/ 21 w 165"/>
              <a:gd name="T47" fmla="*/ 90 h 164"/>
              <a:gd name="T48" fmla="*/ 0 w 165"/>
              <a:gd name="T49" fmla="*/ 78 h 164"/>
              <a:gd name="T50" fmla="*/ 23 w 165"/>
              <a:gd name="T51" fmla="*/ 66 h 164"/>
              <a:gd name="T52" fmla="*/ 8 w 165"/>
              <a:gd name="T53" fmla="*/ 47 h 164"/>
              <a:gd name="T54" fmla="*/ 33 w 165"/>
              <a:gd name="T55" fmla="*/ 44 h 164"/>
              <a:gd name="T56" fmla="*/ 27 w 165"/>
              <a:gd name="T57" fmla="*/ 21 h 164"/>
              <a:gd name="T58" fmla="*/ 51 w 165"/>
              <a:gd name="T59" fmla="*/ 28 h 164"/>
              <a:gd name="T60" fmla="*/ 54 w 165"/>
              <a:gd name="T61" fmla="*/ 4 h 164"/>
              <a:gd name="T62" fmla="*/ 74 w 165"/>
              <a:gd name="T63" fmla="*/ 21 h 164"/>
              <a:gd name="T64" fmla="*/ 83 w 165"/>
              <a:gd name="T65" fmla="*/ 32 h 164"/>
              <a:gd name="T66" fmla="*/ 83 w 165"/>
              <a:gd name="T67" fmla="*/ 131 h 164"/>
              <a:gd name="T68" fmla="*/ 83 w 165"/>
              <a:gd name="T69" fmla="*/ 3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4">
                <a:moveTo>
                  <a:pt x="79" y="0"/>
                </a:moveTo>
                <a:cubicBezTo>
                  <a:pt x="86" y="0"/>
                  <a:pt x="86" y="0"/>
                  <a:pt x="86" y="0"/>
                </a:cubicBezTo>
                <a:cubicBezTo>
                  <a:pt x="91" y="21"/>
                  <a:pt x="91" y="21"/>
                  <a:pt x="91" y="21"/>
                </a:cubicBezTo>
                <a:cubicBezTo>
                  <a:pt x="93" y="21"/>
                  <a:pt x="96" y="21"/>
                  <a:pt x="98" y="22"/>
                </a:cubicBezTo>
                <a:cubicBezTo>
                  <a:pt x="111" y="4"/>
                  <a:pt x="111" y="4"/>
                  <a:pt x="111" y="4"/>
                </a:cubicBezTo>
                <a:cubicBezTo>
                  <a:pt x="117" y="7"/>
                  <a:pt x="117" y="7"/>
                  <a:pt x="117" y="7"/>
                </a:cubicBezTo>
                <a:cubicBezTo>
                  <a:pt x="114" y="28"/>
                  <a:pt x="114" y="28"/>
                  <a:pt x="114" y="28"/>
                </a:cubicBezTo>
                <a:cubicBezTo>
                  <a:pt x="116" y="30"/>
                  <a:pt x="118" y="31"/>
                  <a:pt x="120" y="33"/>
                </a:cubicBezTo>
                <a:cubicBezTo>
                  <a:pt x="138" y="21"/>
                  <a:pt x="138" y="21"/>
                  <a:pt x="138" y="21"/>
                </a:cubicBezTo>
                <a:cubicBezTo>
                  <a:pt x="143" y="26"/>
                  <a:pt x="143" y="26"/>
                  <a:pt x="143" y="26"/>
                </a:cubicBezTo>
                <a:cubicBezTo>
                  <a:pt x="132" y="44"/>
                  <a:pt x="132" y="44"/>
                  <a:pt x="132" y="44"/>
                </a:cubicBezTo>
                <a:cubicBezTo>
                  <a:pt x="133" y="46"/>
                  <a:pt x="135" y="49"/>
                  <a:pt x="136" y="51"/>
                </a:cubicBezTo>
                <a:cubicBezTo>
                  <a:pt x="157" y="47"/>
                  <a:pt x="157" y="47"/>
                  <a:pt x="157" y="47"/>
                </a:cubicBezTo>
                <a:cubicBezTo>
                  <a:pt x="160" y="54"/>
                  <a:pt x="160" y="54"/>
                  <a:pt x="160" y="54"/>
                </a:cubicBezTo>
                <a:cubicBezTo>
                  <a:pt x="142" y="66"/>
                  <a:pt x="142" y="66"/>
                  <a:pt x="142" y="66"/>
                </a:cubicBezTo>
                <a:cubicBezTo>
                  <a:pt x="143" y="69"/>
                  <a:pt x="144" y="71"/>
                  <a:pt x="144" y="74"/>
                </a:cubicBezTo>
                <a:cubicBezTo>
                  <a:pt x="165" y="78"/>
                  <a:pt x="165" y="78"/>
                  <a:pt x="165" y="78"/>
                </a:cubicBezTo>
                <a:cubicBezTo>
                  <a:pt x="165" y="86"/>
                  <a:pt x="165" y="86"/>
                  <a:pt x="165" y="86"/>
                </a:cubicBezTo>
                <a:cubicBezTo>
                  <a:pt x="144" y="90"/>
                  <a:pt x="144" y="90"/>
                  <a:pt x="144" y="90"/>
                </a:cubicBezTo>
                <a:cubicBezTo>
                  <a:pt x="144" y="93"/>
                  <a:pt x="143" y="95"/>
                  <a:pt x="142" y="98"/>
                </a:cubicBezTo>
                <a:cubicBezTo>
                  <a:pt x="160" y="110"/>
                  <a:pt x="160" y="110"/>
                  <a:pt x="160" y="110"/>
                </a:cubicBezTo>
                <a:cubicBezTo>
                  <a:pt x="157" y="117"/>
                  <a:pt x="157" y="117"/>
                  <a:pt x="157" y="117"/>
                </a:cubicBezTo>
                <a:cubicBezTo>
                  <a:pt x="136" y="113"/>
                  <a:pt x="136" y="113"/>
                  <a:pt x="136" y="113"/>
                </a:cubicBezTo>
                <a:cubicBezTo>
                  <a:pt x="135" y="115"/>
                  <a:pt x="133" y="117"/>
                  <a:pt x="132" y="119"/>
                </a:cubicBezTo>
                <a:cubicBezTo>
                  <a:pt x="143" y="138"/>
                  <a:pt x="143" y="138"/>
                  <a:pt x="143" y="138"/>
                </a:cubicBezTo>
                <a:cubicBezTo>
                  <a:pt x="138" y="143"/>
                  <a:pt x="138" y="143"/>
                  <a:pt x="138" y="143"/>
                </a:cubicBezTo>
                <a:cubicBezTo>
                  <a:pt x="120" y="131"/>
                  <a:pt x="120" y="131"/>
                  <a:pt x="120" y="131"/>
                </a:cubicBezTo>
                <a:cubicBezTo>
                  <a:pt x="118" y="133"/>
                  <a:pt x="116" y="134"/>
                  <a:pt x="114" y="135"/>
                </a:cubicBezTo>
                <a:cubicBezTo>
                  <a:pt x="117" y="157"/>
                  <a:pt x="117" y="157"/>
                  <a:pt x="117" y="157"/>
                </a:cubicBezTo>
                <a:cubicBezTo>
                  <a:pt x="111" y="159"/>
                  <a:pt x="111" y="159"/>
                  <a:pt x="111" y="159"/>
                </a:cubicBezTo>
                <a:cubicBezTo>
                  <a:pt x="98" y="142"/>
                  <a:pt x="98" y="142"/>
                  <a:pt x="98" y="142"/>
                </a:cubicBezTo>
                <a:cubicBezTo>
                  <a:pt x="96" y="142"/>
                  <a:pt x="93" y="143"/>
                  <a:pt x="91" y="143"/>
                </a:cubicBezTo>
                <a:cubicBezTo>
                  <a:pt x="86" y="164"/>
                  <a:pt x="86" y="164"/>
                  <a:pt x="86" y="164"/>
                </a:cubicBezTo>
                <a:cubicBezTo>
                  <a:pt x="79" y="164"/>
                  <a:pt x="79" y="164"/>
                  <a:pt x="79" y="164"/>
                </a:cubicBezTo>
                <a:cubicBezTo>
                  <a:pt x="74" y="143"/>
                  <a:pt x="74" y="143"/>
                  <a:pt x="74" y="143"/>
                </a:cubicBezTo>
                <a:cubicBezTo>
                  <a:pt x="72" y="143"/>
                  <a:pt x="69" y="142"/>
                  <a:pt x="67" y="142"/>
                </a:cubicBezTo>
                <a:cubicBezTo>
                  <a:pt x="54" y="159"/>
                  <a:pt x="54" y="159"/>
                  <a:pt x="54" y="159"/>
                </a:cubicBezTo>
                <a:cubicBezTo>
                  <a:pt x="48" y="157"/>
                  <a:pt x="48" y="157"/>
                  <a:pt x="48" y="157"/>
                </a:cubicBezTo>
                <a:cubicBezTo>
                  <a:pt x="52" y="135"/>
                  <a:pt x="52" y="135"/>
                  <a:pt x="52" y="135"/>
                </a:cubicBezTo>
                <a:cubicBezTo>
                  <a:pt x="49" y="134"/>
                  <a:pt x="47" y="133"/>
                  <a:pt x="45" y="131"/>
                </a:cubicBezTo>
                <a:cubicBezTo>
                  <a:pt x="27" y="143"/>
                  <a:pt x="27" y="143"/>
                  <a:pt x="27" y="143"/>
                </a:cubicBezTo>
                <a:cubicBezTo>
                  <a:pt x="22" y="138"/>
                  <a:pt x="22" y="138"/>
                  <a:pt x="22" y="138"/>
                </a:cubicBezTo>
                <a:cubicBezTo>
                  <a:pt x="33" y="119"/>
                  <a:pt x="33" y="119"/>
                  <a:pt x="33" y="119"/>
                </a:cubicBezTo>
                <a:cubicBezTo>
                  <a:pt x="32" y="117"/>
                  <a:pt x="30" y="115"/>
                  <a:pt x="29" y="113"/>
                </a:cubicBezTo>
                <a:cubicBezTo>
                  <a:pt x="8" y="117"/>
                  <a:pt x="8" y="117"/>
                  <a:pt x="8" y="117"/>
                </a:cubicBezTo>
                <a:cubicBezTo>
                  <a:pt x="5" y="110"/>
                  <a:pt x="5" y="110"/>
                  <a:pt x="5" y="110"/>
                </a:cubicBezTo>
                <a:cubicBezTo>
                  <a:pt x="23" y="98"/>
                  <a:pt x="23" y="98"/>
                  <a:pt x="23" y="98"/>
                </a:cubicBezTo>
                <a:cubicBezTo>
                  <a:pt x="22" y="95"/>
                  <a:pt x="21" y="93"/>
                  <a:pt x="21" y="90"/>
                </a:cubicBezTo>
                <a:cubicBezTo>
                  <a:pt x="0" y="86"/>
                  <a:pt x="0" y="86"/>
                  <a:pt x="0" y="86"/>
                </a:cubicBezTo>
                <a:cubicBezTo>
                  <a:pt x="0" y="78"/>
                  <a:pt x="0" y="78"/>
                  <a:pt x="0" y="78"/>
                </a:cubicBezTo>
                <a:cubicBezTo>
                  <a:pt x="21" y="74"/>
                  <a:pt x="21" y="74"/>
                  <a:pt x="21" y="74"/>
                </a:cubicBezTo>
                <a:cubicBezTo>
                  <a:pt x="21" y="71"/>
                  <a:pt x="22" y="69"/>
                  <a:pt x="23" y="66"/>
                </a:cubicBezTo>
                <a:cubicBezTo>
                  <a:pt x="5" y="54"/>
                  <a:pt x="5" y="54"/>
                  <a:pt x="5" y="54"/>
                </a:cubicBezTo>
                <a:cubicBezTo>
                  <a:pt x="8" y="47"/>
                  <a:pt x="8" y="47"/>
                  <a:pt x="8" y="47"/>
                </a:cubicBezTo>
                <a:cubicBezTo>
                  <a:pt x="29" y="51"/>
                  <a:pt x="29" y="51"/>
                  <a:pt x="29" y="51"/>
                </a:cubicBezTo>
                <a:cubicBezTo>
                  <a:pt x="30" y="49"/>
                  <a:pt x="32" y="46"/>
                  <a:pt x="33" y="44"/>
                </a:cubicBezTo>
                <a:cubicBezTo>
                  <a:pt x="22" y="26"/>
                  <a:pt x="22" y="26"/>
                  <a:pt x="22" y="26"/>
                </a:cubicBezTo>
                <a:cubicBezTo>
                  <a:pt x="27" y="21"/>
                  <a:pt x="27" y="21"/>
                  <a:pt x="27" y="21"/>
                </a:cubicBezTo>
                <a:cubicBezTo>
                  <a:pt x="45" y="33"/>
                  <a:pt x="45" y="33"/>
                  <a:pt x="45" y="33"/>
                </a:cubicBezTo>
                <a:cubicBezTo>
                  <a:pt x="47" y="31"/>
                  <a:pt x="49" y="30"/>
                  <a:pt x="51" y="28"/>
                </a:cubicBezTo>
                <a:cubicBezTo>
                  <a:pt x="48" y="7"/>
                  <a:pt x="48" y="7"/>
                  <a:pt x="48" y="7"/>
                </a:cubicBezTo>
                <a:cubicBezTo>
                  <a:pt x="54" y="4"/>
                  <a:pt x="54" y="4"/>
                  <a:pt x="54" y="4"/>
                </a:cubicBezTo>
                <a:cubicBezTo>
                  <a:pt x="67" y="22"/>
                  <a:pt x="67" y="22"/>
                  <a:pt x="67" y="22"/>
                </a:cubicBezTo>
                <a:cubicBezTo>
                  <a:pt x="69" y="21"/>
                  <a:pt x="72" y="21"/>
                  <a:pt x="74" y="21"/>
                </a:cubicBezTo>
                <a:cubicBezTo>
                  <a:pt x="79" y="0"/>
                  <a:pt x="79" y="0"/>
                  <a:pt x="79" y="0"/>
                </a:cubicBezTo>
                <a:close/>
                <a:moveTo>
                  <a:pt x="83" y="32"/>
                </a:moveTo>
                <a:cubicBezTo>
                  <a:pt x="110" y="32"/>
                  <a:pt x="132" y="55"/>
                  <a:pt x="132" y="82"/>
                </a:cubicBezTo>
                <a:cubicBezTo>
                  <a:pt x="132" y="109"/>
                  <a:pt x="110" y="131"/>
                  <a:pt x="83" y="131"/>
                </a:cubicBezTo>
                <a:cubicBezTo>
                  <a:pt x="55" y="131"/>
                  <a:pt x="33" y="109"/>
                  <a:pt x="33" y="82"/>
                </a:cubicBezTo>
                <a:cubicBezTo>
                  <a:pt x="33" y="55"/>
                  <a:pt x="55" y="32"/>
                  <a:pt x="83" y="32"/>
                </a:cubicBezTo>
                <a:close/>
              </a:path>
            </a:pathLst>
          </a:custGeom>
          <a:solidFill>
            <a:srgbClr val="DED4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8" name="Oval 8"/>
          <p:cNvSpPr>
            <a:spLocks noChangeArrowheads="1"/>
          </p:cNvSpPr>
          <p:nvPr/>
        </p:nvSpPr>
        <p:spPr bwMode="auto">
          <a:xfrm>
            <a:off x="895723" y="3159596"/>
            <a:ext cx="1109663" cy="1098550"/>
          </a:xfrm>
          <a:prstGeom prst="ellipse">
            <a:avLst/>
          </a:prstGeom>
          <a:solidFill>
            <a:srgbClr val="CCCD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9" name="Freeform 9"/>
          <p:cNvSpPr>
            <a:spLocks noEditPoints="1"/>
          </p:cNvSpPr>
          <p:nvPr/>
        </p:nvSpPr>
        <p:spPr bwMode="auto">
          <a:xfrm>
            <a:off x="611560" y="2888133"/>
            <a:ext cx="1679575" cy="1652588"/>
          </a:xfrm>
          <a:custGeom>
            <a:avLst/>
            <a:gdLst>
              <a:gd name="T0" fmla="*/ 86 w 165"/>
              <a:gd name="T1" fmla="*/ 0 h 164"/>
              <a:gd name="T2" fmla="*/ 98 w 165"/>
              <a:gd name="T3" fmla="*/ 22 h 164"/>
              <a:gd name="T4" fmla="*/ 117 w 165"/>
              <a:gd name="T5" fmla="*/ 7 h 164"/>
              <a:gd name="T6" fmla="*/ 120 w 165"/>
              <a:gd name="T7" fmla="*/ 33 h 164"/>
              <a:gd name="T8" fmla="*/ 143 w 165"/>
              <a:gd name="T9" fmla="*/ 26 h 164"/>
              <a:gd name="T10" fmla="*/ 136 w 165"/>
              <a:gd name="T11" fmla="*/ 51 h 164"/>
              <a:gd name="T12" fmla="*/ 160 w 165"/>
              <a:gd name="T13" fmla="*/ 54 h 164"/>
              <a:gd name="T14" fmla="*/ 144 w 165"/>
              <a:gd name="T15" fmla="*/ 74 h 164"/>
              <a:gd name="T16" fmla="*/ 165 w 165"/>
              <a:gd name="T17" fmla="*/ 86 h 164"/>
              <a:gd name="T18" fmla="*/ 142 w 165"/>
              <a:gd name="T19" fmla="*/ 98 h 164"/>
              <a:gd name="T20" fmla="*/ 157 w 165"/>
              <a:gd name="T21" fmla="*/ 117 h 164"/>
              <a:gd name="T22" fmla="*/ 132 w 165"/>
              <a:gd name="T23" fmla="*/ 119 h 164"/>
              <a:gd name="T24" fmla="*/ 138 w 165"/>
              <a:gd name="T25" fmla="*/ 143 h 164"/>
              <a:gd name="T26" fmla="*/ 114 w 165"/>
              <a:gd name="T27" fmla="*/ 135 h 164"/>
              <a:gd name="T28" fmla="*/ 111 w 165"/>
              <a:gd name="T29" fmla="*/ 159 h 164"/>
              <a:gd name="T30" fmla="*/ 91 w 165"/>
              <a:gd name="T31" fmla="*/ 143 h 164"/>
              <a:gd name="T32" fmla="*/ 79 w 165"/>
              <a:gd name="T33" fmla="*/ 164 h 164"/>
              <a:gd name="T34" fmla="*/ 67 w 165"/>
              <a:gd name="T35" fmla="*/ 142 h 164"/>
              <a:gd name="T36" fmla="*/ 48 w 165"/>
              <a:gd name="T37" fmla="*/ 157 h 164"/>
              <a:gd name="T38" fmla="*/ 45 w 165"/>
              <a:gd name="T39" fmla="*/ 131 h 164"/>
              <a:gd name="T40" fmla="*/ 22 w 165"/>
              <a:gd name="T41" fmla="*/ 138 h 164"/>
              <a:gd name="T42" fmla="*/ 29 w 165"/>
              <a:gd name="T43" fmla="*/ 113 h 164"/>
              <a:gd name="T44" fmla="*/ 5 w 165"/>
              <a:gd name="T45" fmla="*/ 110 h 164"/>
              <a:gd name="T46" fmla="*/ 21 w 165"/>
              <a:gd name="T47" fmla="*/ 90 h 164"/>
              <a:gd name="T48" fmla="*/ 0 w 165"/>
              <a:gd name="T49" fmla="*/ 78 h 164"/>
              <a:gd name="T50" fmla="*/ 23 w 165"/>
              <a:gd name="T51" fmla="*/ 66 h 164"/>
              <a:gd name="T52" fmla="*/ 8 w 165"/>
              <a:gd name="T53" fmla="*/ 47 h 164"/>
              <a:gd name="T54" fmla="*/ 33 w 165"/>
              <a:gd name="T55" fmla="*/ 44 h 164"/>
              <a:gd name="T56" fmla="*/ 27 w 165"/>
              <a:gd name="T57" fmla="*/ 21 h 164"/>
              <a:gd name="T58" fmla="*/ 51 w 165"/>
              <a:gd name="T59" fmla="*/ 28 h 164"/>
              <a:gd name="T60" fmla="*/ 54 w 165"/>
              <a:gd name="T61" fmla="*/ 4 h 164"/>
              <a:gd name="T62" fmla="*/ 74 w 165"/>
              <a:gd name="T63" fmla="*/ 21 h 164"/>
              <a:gd name="T64" fmla="*/ 83 w 165"/>
              <a:gd name="T65" fmla="*/ 32 h 164"/>
              <a:gd name="T66" fmla="*/ 83 w 165"/>
              <a:gd name="T67" fmla="*/ 131 h 164"/>
              <a:gd name="T68" fmla="*/ 83 w 165"/>
              <a:gd name="T69" fmla="*/ 3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4">
                <a:moveTo>
                  <a:pt x="79" y="0"/>
                </a:moveTo>
                <a:cubicBezTo>
                  <a:pt x="86" y="0"/>
                  <a:pt x="86" y="0"/>
                  <a:pt x="86" y="0"/>
                </a:cubicBezTo>
                <a:cubicBezTo>
                  <a:pt x="91" y="21"/>
                  <a:pt x="91" y="21"/>
                  <a:pt x="91" y="21"/>
                </a:cubicBezTo>
                <a:cubicBezTo>
                  <a:pt x="93" y="21"/>
                  <a:pt x="96" y="21"/>
                  <a:pt x="98" y="22"/>
                </a:cubicBezTo>
                <a:cubicBezTo>
                  <a:pt x="111" y="4"/>
                  <a:pt x="111" y="4"/>
                  <a:pt x="111" y="4"/>
                </a:cubicBezTo>
                <a:cubicBezTo>
                  <a:pt x="117" y="7"/>
                  <a:pt x="117" y="7"/>
                  <a:pt x="117" y="7"/>
                </a:cubicBezTo>
                <a:cubicBezTo>
                  <a:pt x="114" y="28"/>
                  <a:pt x="114" y="28"/>
                  <a:pt x="114" y="28"/>
                </a:cubicBezTo>
                <a:cubicBezTo>
                  <a:pt x="116" y="30"/>
                  <a:pt x="118" y="31"/>
                  <a:pt x="120" y="33"/>
                </a:cubicBezTo>
                <a:cubicBezTo>
                  <a:pt x="138" y="21"/>
                  <a:pt x="138" y="21"/>
                  <a:pt x="138" y="21"/>
                </a:cubicBezTo>
                <a:cubicBezTo>
                  <a:pt x="143" y="26"/>
                  <a:pt x="143" y="26"/>
                  <a:pt x="143" y="26"/>
                </a:cubicBezTo>
                <a:cubicBezTo>
                  <a:pt x="132" y="44"/>
                  <a:pt x="132" y="44"/>
                  <a:pt x="132" y="44"/>
                </a:cubicBezTo>
                <a:cubicBezTo>
                  <a:pt x="133" y="46"/>
                  <a:pt x="135" y="49"/>
                  <a:pt x="136" y="51"/>
                </a:cubicBezTo>
                <a:cubicBezTo>
                  <a:pt x="157" y="47"/>
                  <a:pt x="157" y="47"/>
                  <a:pt x="157" y="47"/>
                </a:cubicBezTo>
                <a:cubicBezTo>
                  <a:pt x="160" y="54"/>
                  <a:pt x="160" y="54"/>
                  <a:pt x="160" y="54"/>
                </a:cubicBezTo>
                <a:cubicBezTo>
                  <a:pt x="142" y="66"/>
                  <a:pt x="142" y="66"/>
                  <a:pt x="142" y="66"/>
                </a:cubicBezTo>
                <a:cubicBezTo>
                  <a:pt x="143" y="69"/>
                  <a:pt x="144" y="71"/>
                  <a:pt x="144" y="74"/>
                </a:cubicBezTo>
                <a:cubicBezTo>
                  <a:pt x="165" y="78"/>
                  <a:pt x="165" y="78"/>
                  <a:pt x="165" y="78"/>
                </a:cubicBezTo>
                <a:cubicBezTo>
                  <a:pt x="165" y="86"/>
                  <a:pt x="165" y="86"/>
                  <a:pt x="165" y="86"/>
                </a:cubicBezTo>
                <a:cubicBezTo>
                  <a:pt x="144" y="90"/>
                  <a:pt x="144" y="90"/>
                  <a:pt x="144" y="90"/>
                </a:cubicBezTo>
                <a:cubicBezTo>
                  <a:pt x="144" y="93"/>
                  <a:pt x="143" y="95"/>
                  <a:pt x="142" y="98"/>
                </a:cubicBezTo>
                <a:cubicBezTo>
                  <a:pt x="160" y="110"/>
                  <a:pt x="160" y="110"/>
                  <a:pt x="160" y="110"/>
                </a:cubicBezTo>
                <a:cubicBezTo>
                  <a:pt x="157" y="117"/>
                  <a:pt x="157" y="117"/>
                  <a:pt x="157" y="117"/>
                </a:cubicBezTo>
                <a:cubicBezTo>
                  <a:pt x="136" y="113"/>
                  <a:pt x="136" y="113"/>
                  <a:pt x="136" y="113"/>
                </a:cubicBezTo>
                <a:cubicBezTo>
                  <a:pt x="135" y="115"/>
                  <a:pt x="133" y="117"/>
                  <a:pt x="132" y="119"/>
                </a:cubicBezTo>
                <a:cubicBezTo>
                  <a:pt x="143" y="138"/>
                  <a:pt x="143" y="138"/>
                  <a:pt x="143" y="138"/>
                </a:cubicBezTo>
                <a:cubicBezTo>
                  <a:pt x="138" y="143"/>
                  <a:pt x="138" y="143"/>
                  <a:pt x="138" y="143"/>
                </a:cubicBezTo>
                <a:cubicBezTo>
                  <a:pt x="120" y="131"/>
                  <a:pt x="120" y="131"/>
                  <a:pt x="120" y="131"/>
                </a:cubicBezTo>
                <a:cubicBezTo>
                  <a:pt x="118" y="133"/>
                  <a:pt x="116" y="134"/>
                  <a:pt x="114" y="135"/>
                </a:cubicBezTo>
                <a:cubicBezTo>
                  <a:pt x="117" y="157"/>
                  <a:pt x="117" y="157"/>
                  <a:pt x="117" y="157"/>
                </a:cubicBezTo>
                <a:cubicBezTo>
                  <a:pt x="111" y="159"/>
                  <a:pt x="111" y="159"/>
                  <a:pt x="111" y="159"/>
                </a:cubicBezTo>
                <a:cubicBezTo>
                  <a:pt x="98" y="142"/>
                  <a:pt x="98" y="142"/>
                  <a:pt x="98" y="142"/>
                </a:cubicBezTo>
                <a:cubicBezTo>
                  <a:pt x="96" y="142"/>
                  <a:pt x="93" y="143"/>
                  <a:pt x="91" y="143"/>
                </a:cubicBezTo>
                <a:cubicBezTo>
                  <a:pt x="86" y="164"/>
                  <a:pt x="86" y="164"/>
                  <a:pt x="86" y="164"/>
                </a:cubicBezTo>
                <a:cubicBezTo>
                  <a:pt x="79" y="164"/>
                  <a:pt x="79" y="164"/>
                  <a:pt x="79" y="164"/>
                </a:cubicBezTo>
                <a:cubicBezTo>
                  <a:pt x="74" y="143"/>
                  <a:pt x="74" y="143"/>
                  <a:pt x="74" y="143"/>
                </a:cubicBezTo>
                <a:cubicBezTo>
                  <a:pt x="72" y="143"/>
                  <a:pt x="69" y="142"/>
                  <a:pt x="67" y="142"/>
                </a:cubicBezTo>
                <a:cubicBezTo>
                  <a:pt x="54" y="159"/>
                  <a:pt x="54" y="159"/>
                  <a:pt x="54" y="159"/>
                </a:cubicBezTo>
                <a:cubicBezTo>
                  <a:pt x="48" y="157"/>
                  <a:pt x="48" y="157"/>
                  <a:pt x="48" y="157"/>
                </a:cubicBezTo>
                <a:cubicBezTo>
                  <a:pt x="52" y="135"/>
                  <a:pt x="52" y="135"/>
                  <a:pt x="52" y="135"/>
                </a:cubicBezTo>
                <a:cubicBezTo>
                  <a:pt x="49" y="134"/>
                  <a:pt x="47" y="133"/>
                  <a:pt x="45" y="131"/>
                </a:cubicBezTo>
                <a:cubicBezTo>
                  <a:pt x="27" y="143"/>
                  <a:pt x="27" y="143"/>
                  <a:pt x="27" y="143"/>
                </a:cubicBezTo>
                <a:cubicBezTo>
                  <a:pt x="22" y="138"/>
                  <a:pt x="22" y="138"/>
                  <a:pt x="22" y="138"/>
                </a:cubicBezTo>
                <a:cubicBezTo>
                  <a:pt x="33" y="119"/>
                  <a:pt x="33" y="119"/>
                  <a:pt x="33" y="119"/>
                </a:cubicBezTo>
                <a:cubicBezTo>
                  <a:pt x="32" y="117"/>
                  <a:pt x="30" y="115"/>
                  <a:pt x="29" y="113"/>
                </a:cubicBezTo>
                <a:cubicBezTo>
                  <a:pt x="8" y="117"/>
                  <a:pt x="8" y="117"/>
                  <a:pt x="8" y="117"/>
                </a:cubicBezTo>
                <a:cubicBezTo>
                  <a:pt x="5" y="110"/>
                  <a:pt x="5" y="110"/>
                  <a:pt x="5" y="110"/>
                </a:cubicBezTo>
                <a:cubicBezTo>
                  <a:pt x="23" y="98"/>
                  <a:pt x="23" y="98"/>
                  <a:pt x="23" y="98"/>
                </a:cubicBezTo>
                <a:cubicBezTo>
                  <a:pt x="22" y="95"/>
                  <a:pt x="21" y="93"/>
                  <a:pt x="21" y="90"/>
                </a:cubicBezTo>
                <a:cubicBezTo>
                  <a:pt x="0" y="86"/>
                  <a:pt x="0" y="86"/>
                  <a:pt x="0" y="86"/>
                </a:cubicBezTo>
                <a:cubicBezTo>
                  <a:pt x="0" y="78"/>
                  <a:pt x="0" y="78"/>
                  <a:pt x="0" y="78"/>
                </a:cubicBezTo>
                <a:cubicBezTo>
                  <a:pt x="21" y="74"/>
                  <a:pt x="21" y="74"/>
                  <a:pt x="21" y="74"/>
                </a:cubicBezTo>
                <a:cubicBezTo>
                  <a:pt x="21" y="71"/>
                  <a:pt x="22" y="69"/>
                  <a:pt x="23" y="66"/>
                </a:cubicBezTo>
                <a:cubicBezTo>
                  <a:pt x="5" y="54"/>
                  <a:pt x="5" y="54"/>
                  <a:pt x="5" y="54"/>
                </a:cubicBezTo>
                <a:cubicBezTo>
                  <a:pt x="8" y="47"/>
                  <a:pt x="8" y="47"/>
                  <a:pt x="8" y="47"/>
                </a:cubicBezTo>
                <a:cubicBezTo>
                  <a:pt x="29" y="51"/>
                  <a:pt x="29" y="51"/>
                  <a:pt x="29" y="51"/>
                </a:cubicBezTo>
                <a:cubicBezTo>
                  <a:pt x="30" y="49"/>
                  <a:pt x="32" y="46"/>
                  <a:pt x="33" y="44"/>
                </a:cubicBezTo>
                <a:cubicBezTo>
                  <a:pt x="22" y="26"/>
                  <a:pt x="22" y="26"/>
                  <a:pt x="22" y="26"/>
                </a:cubicBezTo>
                <a:cubicBezTo>
                  <a:pt x="27" y="21"/>
                  <a:pt x="27" y="21"/>
                  <a:pt x="27" y="21"/>
                </a:cubicBezTo>
                <a:cubicBezTo>
                  <a:pt x="45" y="33"/>
                  <a:pt x="45" y="33"/>
                  <a:pt x="45" y="33"/>
                </a:cubicBezTo>
                <a:cubicBezTo>
                  <a:pt x="47" y="31"/>
                  <a:pt x="49" y="30"/>
                  <a:pt x="51" y="28"/>
                </a:cubicBezTo>
                <a:cubicBezTo>
                  <a:pt x="48" y="7"/>
                  <a:pt x="48" y="7"/>
                  <a:pt x="48" y="7"/>
                </a:cubicBezTo>
                <a:cubicBezTo>
                  <a:pt x="54" y="4"/>
                  <a:pt x="54" y="4"/>
                  <a:pt x="54" y="4"/>
                </a:cubicBezTo>
                <a:cubicBezTo>
                  <a:pt x="67" y="22"/>
                  <a:pt x="67" y="22"/>
                  <a:pt x="67" y="22"/>
                </a:cubicBezTo>
                <a:cubicBezTo>
                  <a:pt x="69" y="21"/>
                  <a:pt x="72" y="21"/>
                  <a:pt x="74" y="21"/>
                </a:cubicBezTo>
                <a:cubicBezTo>
                  <a:pt x="79" y="0"/>
                  <a:pt x="79" y="0"/>
                  <a:pt x="79" y="0"/>
                </a:cubicBezTo>
                <a:close/>
                <a:moveTo>
                  <a:pt x="83" y="32"/>
                </a:moveTo>
                <a:cubicBezTo>
                  <a:pt x="110" y="32"/>
                  <a:pt x="132" y="55"/>
                  <a:pt x="132" y="82"/>
                </a:cubicBezTo>
                <a:cubicBezTo>
                  <a:pt x="132" y="109"/>
                  <a:pt x="110" y="131"/>
                  <a:pt x="83" y="131"/>
                </a:cubicBezTo>
                <a:cubicBezTo>
                  <a:pt x="55" y="131"/>
                  <a:pt x="33" y="109"/>
                  <a:pt x="33" y="82"/>
                </a:cubicBezTo>
                <a:cubicBezTo>
                  <a:pt x="33" y="55"/>
                  <a:pt x="55" y="32"/>
                  <a:pt x="83" y="32"/>
                </a:cubicBezTo>
                <a:close/>
              </a:path>
            </a:pathLst>
          </a:custGeom>
          <a:solidFill>
            <a:srgbClr val="4B57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10" name="Oval 10"/>
          <p:cNvSpPr>
            <a:spLocks noChangeArrowheads="1"/>
          </p:cNvSpPr>
          <p:nvPr/>
        </p:nvSpPr>
        <p:spPr bwMode="auto">
          <a:xfrm>
            <a:off x="1262435" y="4712171"/>
            <a:ext cx="1109663" cy="1098550"/>
          </a:xfrm>
          <a:prstGeom prst="ellipse">
            <a:avLst/>
          </a:prstGeom>
          <a:solidFill>
            <a:srgbClr val="FEE7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11" name="Freeform 11"/>
          <p:cNvSpPr>
            <a:spLocks noEditPoints="1"/>
          </p:cNvSpPr>
          <p:nvPr/>
        </p:nvSpPr>
        <p:spPr bwMode="auto">
          <a:xfrm>
            <a:off x="987798" y="4429596"/>
            <a:ext cx="1670050" cy="1663700"/>
          </a:xfrm>
          <a:custGeom>
            <a:avLst/>
            <a:gdLst>
              <a:gd name="T0" fmla="*/ 57 w 164"/>
              <a:gd name="T1" fmla="*/ 4 h 165"/>
              <a:gd name="T2" fmla="*/ 51 w 164"/>
              <a:gd name="T3" fmla="*/ 29 h 165"/>
              <a:gd name="T4" fmla="*/ 29 w 164"/>
              <a:gd name="T5" fmla="*/ 19 h 165"/>
              <a:gd name="T6" fmla="*/ 33 w 164"/>
              <a:gd name="T7" fmla="*/ 45 h 165"/>
              <a:gd name="T8" fmla="*/ 9 w 164"/>
              <a:gd name="T9" fmla="*/ 45 h 165"/>
              <a:gd name="T10" fmla="*/ 22 w 164"/>
              <a:gd name="T11" fmla="*/ 66 h 165"/>
              <a:gd name="T12" fmla="*/ 0 w 164"/>
              <a:gd name="T13" fmla="*/ 75 h 165"/>
              <a:gd name="T14" fmla="*/ 21 w 164"/>
              <a:gd name="T15" fmla="*/ 91 h 165"/>
              <a:gd name="T16" fmla="*/ 3 w 164"/>
              <a:gd name="T17" fmla="*/ 107 h 165"/>
              <a:gd name="T18" fmla="*/ 28 w 164"/>
              <a:gd name="T19" fmla="*/ 113 h 165"/>
              <a:gd name="T20" fmla="*/ 19 w 164"/>
              <a:gd name="T21" fmla="*/ 136 h 165"/>
              <a:gd name="T22" fmla="*/ 44 w 164"/>
              <a:gd name="T23" fmla="*/ 132 h 165"/>
              <a:gd name="T24" fmla="*/ 44 w 164"/>
              <a:gd name="T25" fmla="*/ 156 h 165"/>
              <a:gd name="T26" fmla="*/ 66 w 164"/>
              <a:gd name="T27" fmla="*/ 142 h 165"/>
              <a:gd name="T28" fmla="*/ 75 w 164"/>
              <a:gd name="T29" fmla="*/ 165 h 165"/>
              <a:gd name="T30" fmla="*/ 90 w 164"/>
              <a:gd name="T31" fmla="*/ 144 h 165"/>
              <a:gd name="T32" fmla="*/ 107 w 164"/>
              <a:gd name="T33" fmla="*/ 161 h 165"/>
              <a:gd name="T34" fmla="*/ 113 w 164"/>
              <a:gd name="T35" fmla="*/ 136 h 165"/>
              <a:gd name="T36" fmla="*/ 135 w 164"/>
              <a:gd name="T37" fmla="*/ 146 h 165"/>
              <a:gd name="T38" fmla="*/ 131 w 164"/>
              <a:gd name="T39" fmla="*/ 120 h 165"/>
              <a:gd name="T40" fmla="*/ 155 w 164"/>
              <a:gd name="T41" fmla="*/ 121 h 165"/>
              <a:gd name="T42" fmla="*/ 142 w 164"/>
              <a:gd name="T43" fmla="*/ 99 h 165"/>
              <a:gd name="T44" fmla="*/ 164 w 164"/>
              <a:gd name="T45" fmla="*/ 90 h 165"/>
              <a:gd name="T46" fmla="*/ 143 w 164"/>
              <a:gd name="T47" fmla="*/ 75 h 165"/>
              <a:gd name="T48" fmla="*/ 161 w 164"/>
              <a:gd name="T49" fmla="*/ 58 h 165"/>
              <a:gd name="T50" fmla="*/ 136 w 164"/>
              <a:gd name="T51" fmla="*/ 52 h 165"/>
              <a:gd name="T52" fmla="*/ 145 w 164"/>
              <a:gd name="T53" fmla="*/ 30 h 165"/>
              <a:gd name="T54" fmla="*/ 120 w 164"/>
              <a:gd name="T55" fmla="*/ 34 h 165"/>
              <a:gd name="T56" fmla="*/ 120 w 164"/>
              <a:gd name="T57" fmla="*/ 9 h 165"/>
              <a:gd name="T58" fmla="*/ 98 w 164"/>
              <a:gd name="T59" fmla="*/ 23 h 165"/>
              <a:gd name="T60" fmla="*/ 89 w 164"/>
              <a:gd name="T61" fmla="*/ 0 h 165"/>
              <a:gd name="T62" fmla="*/ 74 w 164"/>
              <a:gd name="T63" fmla="*/ 21 h 165"/>
              <a:gd name="T64" fmla="*/ 69 w 164"/>
              <a:gd name="T65" fmla="*/ 35 h 165"/>
              <a:gd name="T66" fmla="*/ 95 w 164"/>
              <a:gd name="T67" fmla="*/ 130 h 165"/>
              <a:gd name="T68" fmla="*/ 69 w 164"/>
              <a:gd name="T69" fmla="*/ 3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4" h="165">
                <a:moveTo>
                  <a:pt x="64" y="2"/>
                </a:moveTo>
                <a:cubicBezTo>
                  <a:pt x="57" y="4"/>
                  <a:pt x="57" y="4"/>
                  <a:pt x="57" y="4"/>
                </a:cubicBezTo>
                <a:cubicBezTo>
                  <a:pt x="58" y="25"/>
                  <a:pt x="58" y="25"/>
                  <a:pt x="58" y="25"/>
                </a:cubicBezTo>
                <a:cubicBezTo>
                  <a:pt x="56" y="26"/>
                  <a:pt x="53" y="28"/>
                  <a:pt x="51" y="29"/>
                </a:cubicBezTo>
                <a:cubicBezTo>
                  <a:pt x="35" y="15"/>
                  <a:pt x="35" y="15"/>
                  <a:pt x="35" y="15"/>
                </a:cubicBezTo>
                <a:cubicBezTo>
                  <a:pt x="29" y="19"/>
                  <a:pt x="29" y="19"/>
                  <a:pt x="29" y="19"/>
                </a:cubicBezTo>
                <a:cubicBezTo>
                  <a:pt x="38" y="39"/>
                  <a:pt x="38" y="39"/>
                  <a:pt x="38" y="39"/>
                </a:cubicBezTo>
                <a:cubicBezTo>
                  <a:pt x="36" y="41"/>
                  <a:pt x="34" y="43"/>
                  <a:pt x="33" y="45"/>
                </a:cubicBezTo>
                <a:cubicBezTo>
                  <a:pt x="12" y="38"/>
                  <a:pt x="12" y="38"/>
                  <a:pt x="12" y="38"/>
                </a:cubicBezTo>
                <a:cubicBezTo>
                  <a:pt x="9" y="45"/>
                  <a:pt x="9" y="45"/>
                  <a:pt x="9" y="45"/>
                </a:cubicBezTo>
                <a:cubicBezTo>
                  <a:pt x="25" y="59"/>
                  <a:pt x="25" y="59"/>
                  <a:pt x="25" y="59"/>
                </a:cubicBezTo>
                <a:cubicBezTo>
                  <a:pt x="24" y="61"/>
                  <a:pt x="23" y="64"/>
                  <a:pt x="22" y="66"/>
                </a:cubicBezTo>
                <a:cubicBezTo>
                  <a:pt x="1" y="68"/>
                  <a:pt x="1" y="68"/>
                  <a:pt x="1" y="68"/>
                </a:cubicBezTo>
                <a:cubicBezTo>
                  <a:pt x="0" y="75"/>
                  <a:pt x="0" y="75"/>
                  <a:pt x="0" y="75"/>
                </a:cubicBezTo>
                <a:cubicBezTo>
                  <a:pt x="20" y="83"/>
                  <a:pt x="20" y="83"/>
                  <a:pt x="20" y="83"/>
                </a:cubicBezTo>
                <a:cubicBezTo>
                  <a:pt x="20" y="85"/>
                  <a:pt x="20" y="88"/>
                  <a:pt x="21" y="91"/>
                </a:cubicBezTo>
                <a:cubicBezTo>
                  <a:pt x="1" y="100"/>
                  <a:pt x="1" y="100"/>
                  <a:pt x="1" y="100"/>
                </a:cubicBezTo>
                <a:cubicBezTo>
                  <a:pt x="3" y="107"/>
                  <a:pt x="3" y="107"/>
                  <a:pt x="3" y="107"/>
                </a:cubicBezTo>
                <a:cubicBezTo>
                  <a:pt x="25" y="106"/>
                  <a:pt x="25" y="106"/>
                  <a:pt x="25" y="106"/>
                </a:cubicBezTo>
                <a:cubicBezTo>
                  <a:pt x="26" y="109"/>
                  <a:pt x="27" y="111"/>
                  <a:pt x="28" y="113"/>
                </a:cubicBezTo>
                <a:cubicBezTo>
                  <a:pt x="14" y="130"/>
                  <a:pt x="14" y="130"/>
                  <a:pt x="14" y="130"/>
                </a:cubicBezTo>
                <a:cubicBezTo>
                  <a:pt x="19" y="136"/>
                  <a:pt x="19" y="136"/>
                  <a:pt x="19" y="136"/>
                </a:cubicBezTo>
                <a:cubicBezTo>
                  <a:pt x="38" y="126"/>
                  <a:pt x="38" y="126"/>
                  <a:pt x="38" y="126"/>
                </a:cubicBezTo>
                <a:cubicBezTo>
                  <a:pt x="40" y="128"/>
                  <a:pt x="42" y="130"/>
                  <a:pt x="44" y="132"/>
                </a:cubicBezTo>
                <a:cubicBezTo>
                  <a:pt x="38" y="152"/>
                  <a:pt x="38" y="152"/>
                  <a:pt x="38" y="152"/>
                </a:cubicBezTo>
                <a:cubicBezTo>
                  <a:pt x="44" y="156"/>
                  <a:pt x="44" y="156"/>
                  <a:pt x="44" y="156"/>
                </a:cubicBezTo>
                <a:cubicBezTo>
                  <a:pt x="58" y="140"/>
                  <a:pt x="58" y="140"/>
                  <a:pt x="58" y="140"/>
                </a:cubicBezTo>
                <a:cubicBezTo>
                  <a:pt x="61" y="141"/>
                  <a:pt x="63" y="142"/>
                  <a:pt x="66" y="142"/>
                </a:cubicBezTo>
                <a:cubicBezTo>
                  <a:pt x="68" y="164"/>
                  <a:pt x="68" y="164"/>
                  <a:pt x="68" y="164"/>
                </a:cubicBezTo>
                <a:cubicBezTo>
                  <a:pt x="75" y="165"/>
                  <a:pt x="75" y="165"/>
                  <a:pt x="75" y="165"/>
                </a:cubicBezTo>
                <a:cubicBezTo>
                  <a:pt x="82" y="144"/>
                  <a:pt x="82" y="144"/>
                  <a:pt x="82" y="144"/>
                </a:cubicBezTo>
                <a:cubicBezTo>
                  <a:pt x="85" y="145"/>
                  <a:pt x="87" y="144"/>
                  <a:pt x="90" y="144"/>
                </a:cubicBezTo>
                <a:cubicBezTo>
                  <a:pt x="100" y="163"/>
                  <a:pt x="100" y="163"/>
                  <a:pt x="100" y="163"/>
                </a:cubicBezTo>
                <a:cubicBezTo>
                  <a:pt x="107" y="161"/>
                  <a:pt x="107" y="161"/>
                  <a:pt x="107" y="161"/>
                </a:cubicBezTo>
                <a:cubicBezTo>
                  <a:pt x="106" y="140"/>
                  <a:pt x="106" y="140"/>
                  <a:pt x="106" y="140"/>
                </a:cubicBezTo>
                <a:cubicBezTo>
                  <a:pt x="108" y="139"/>
                  <a:pt x="111" y="138"/>
                  <a:pt x="113" y="136"/>
                </a:cubicBezTo>
                <a:cubicBezTo>
                  <a:pt x="129" y="150"/>
                  <a:pt x="129" y="150"/>
                  <a:pt x="129" y="150"/>
                </a:cubicBezTo>
                <a:cubicBezTo>
                  <a:pt x="135" y="146"/>
                  <a:pt x="135" y="146"/>
                  <a:pt x="135" y="146"/>
                </a:cubicBezTo>
                <a:cubicBezTo>
                  <a:pt x="126" y="126"/>
                  <a:pt x="126" y="126"/>
                  <a:pt x="126" y="126"/>
                </a:cubicBezTo>
                <a:cubicBezTo>
                  <a:pt x="128" y="124"/>
                  <a:pt x="129" y="123"/>
                  <a:pt x="131" y="120"/>
                </a:cubicBezTo>
                <a:cubicBezTo>
                  <a:pt x="151" y="127"/>
                  <a:pt x="151" y="127"/>
                  <a:pt x="151" y="127"/>
                </a:cubicBezTo>
                <a:cubicBezTo>
                  <a:pt x="155" y="121"/>
                  <a:pt x="155" y="121"/>
                  <a:pt x="155" y="121"/>
                </a:cubicBezTo>
                <a:cubicBezTo>
                  <a:pt x="139" y="106"/>
                  <a:pt x="139" y="106"/>
                  <a:pt x="139" y="106"/>
                </a:cubicBezTo>
                <a:cubicBezTo>
                  <a:pt x="140" y="104"/>
                  <a:pt x="141" y="101"/>
                  <a:pt x="142" y="99"/>
                </a:cubicBezTo>
                <a:cubicBezTo>
                  <a:pt x="163" y="97"/>
                  <a:pt x="163" y="97"/>
                  <a:pt x="163" y="97"/>
                </a:cubicBezTo>
                <a:cubicBezTo>
                  <a:pt x="164" y="90"/>
                  <a:pt x="164" y="90"/>
                  <a:pt x="164" y="90"/>
                </a:cubicBezTo>
                <a:cubicBezTo>
                  <a:pt x="144" y="82"/>
                  <a:pt x="144" y="82"/>
                  <a:pt x="144" y="82"/>
                </a:cubicBezTo>
                <a:cubicBezTo>
                  <a:pt x="144" y="80"/>
                  <a:pt x="144" y="77"/>
                  <a:pt x="143" y="75"/>
                </a:cubicBezTo>
                <a:cubicBezTo>
                  <a:pt x="162" y="65"/>
                  <a:pt x="162" y="65"/>
                  <a:pt x="162" y="65"/>
                </a:cubicBezTo>
                <a:cubicBezTo>
                  <a:pt x="161" y="58"/>
                  <a:pt x="161" y="58"/>
                  <a:pt x="161" y="58"/>
                </a:cubicBezTo>
                <a:cubicBezTo>
                  <a:pt x="139" y="59"/>
                  <a:pt x="139" y="59"/>
                  <a:pt x="139" y="59"/>
                </a:cubicBezTo>
                <a:cubicBezTo>
                  <a:pt x="138" y="56"/>
                  <a:pt x="137" y="54"/>
                  <a:pt x="136" y="52"/>
                </a:cubicBezTo>
                <a:cubicBezTo>
                  <a:pt x="150" y="35"/>
                  <a:pt x="150" y="35"/>
                  <a:pt x="150" y="35"/>
                </a:cubicBezTo>
                <a:cubicBezTo>
                  <a:pt x="145" y="30"/>
                  <a:pt x="145" y="30"/>
                  <a:pt x="145" y="30"/>
                </a:cubicBezTo>
                <a:cubicBezTo>
                  <a:pt x="126" y="39"/>
                  <a:pt x="126" y="39"/>
                  <a:pt x="126" y="39"/>
                </a:cubicBezTo>
                <a:cubicBezTo>
                  <a:pt x="124" y="37"/>
                  <a:pt x="122" y="35"/>
                  <a:pt x="120" y="34"/>
                </a:cubicBezTo>
                <a:cubicBezTo>
                  <a:pt x="126" y="13"/>
                  <a:pt x="126" y="13"/>
                  <a:pt x="126" y="13"/>
                </a:cubicBezTo>
                <a:cubicBezTo>
                  <a:pt x="120" y="9"/>
                  <a:pt x="120" y="9"/>
                  <a:pt x="120" y="9"/>
                </a:cubicBezTo>
                <a:cubicBezTo>
                  <a:pt x="106" y="25"/>
                  <a:pt x="106" y="25"/>
                  <a:pt x="106" y="25"/>
                </a:cubicBezTo>
                <a:cubicBezTo>
                  <a:pt x="103" y="24"/>
                  <a:pt x="101" y="23"/>
                  <a:pt x="98" y="23"/>
                </a:cubicBezTo>
                <a:cubicBezTo>
                  <a:pt x="96" y="1"/>
                  <a:pt x="96" y="1"/>
                  <a:pt x="96" y="1"/>
                </a:cubicBezTo>
                <a:cubicBezTo>
                  <a:pt x="89" y="0"/>
                  <a:pt x="89" y="0"/>
                  <a:pt x="89" y="0"/>
                </a:cubicBezTo>
                <a:cubicBezTo>
                  <a:pt x="82" y="21"/>
                  <a:pt x="82" y="21"/>
                  <a:pt x="82" y="21"/>
                </a:cubicBezTo>
                <a:cubicBezTo>
                  <a:pt x="79" y="21"/>
                  <a:pt x="77" y="21"/>
                  <a:pt x="74" y="21"/>
                </a:cubicBezTo>
                <a:cubicBezTo>
                  <a:pt x="64" y="2"/>
                  <a:pt x="64" y="2"/>
                  <a:pt x="64" y="2"/>
                </a:cubicBezTo>
                <a:close/>
                <a:moveTo>
                  <a:pt x="69" y="35"/>
                </a:moveTo>
                <a:cubicBezTo>
                  <a:pt x="43" y="42"/>
                  <a:pt x="27" y="69"/>
                  <a:pt x="34" y="95"/>
                </a:cubicBezTo>
                <a:cubicBezTo>
                  <a:pt x="41" y="121"/>
                  <a:pt x="68" y="137"/>
                  <a:pt x="95" y="130"/>
                </a:cubicBezTo>
                <a:cubicBezTo>
                  <a:pt x="121" y="123"/>
                  <a:pt x="137" y="96"/>
                  <a:pt x="130" y="70"/>
                </a:cubicBezTo>
                <a:cubicBezTo>
                  <a:pt x="122" y="43"/>
                  <a:pt x="95" y="28"/>
                  <a:pt x="69" y="35"/>
                </a:cubicBezTo>
                <a:close/>
              </a:path>
            </a:pathLst>
          </a:custGeom>
          <a:solidFill>
            <a:srgbClr val="F4B4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12" name="文本框 11"/>
          <p:cNvSpPr txBox="1"/>
          <p:nvPr/>
        </p:nvSpPr>
        <p:spPr>
          <a:xfrm>
            <a:off x="2689988" y="1749520"/>
            <a:ext cx="5565811" cy="799706"/>
          </a:xfrm>
          <a:prstGeom prst="rect">
            <a:avLst/>
          </a:prstGeom>
          <a:noFill/>
        </p:spPr>
        <p:txBody>
          <a:bodyPr wrap="square" rtlCol="0">
            <a:spAutoFit/>
          </a:bodyPr>
          <a:lstStyle/>
          <a:p>
            <a:pPr>
              <a:lnSpc>
                <a:spcPct val="12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加载应用程序到内存时，因为和虚拟地址有关，我们需要把应用程序文件和虚拟内存关联起来。</a:t>
            </a:r>
          </a:p>
        </p:txBody>
      </p:sp>
      <p:sp>
        <p:nvSpPr>
          <p:cNvPr id="13" name="文本框 12"/>
          <p:cNvSpPr txBox="1"/>
          <p:nvPr/>
        </p:nvSpPr>
        <p:spPr>
          <a:xfrm>
            <a:off x="2657848" y="3299473"/>
            <a:ext cx="5597951" cy="830997"/>
          </a:xfrm>
          <a:prstGeom prst="rect">
            <a:avLst/>
          </a:prstGeom>
          <a:noFill/>
        </p:spPr>
        <p:txBody>
          <a:bodyPr wrap="square" rtlCol="0">
            <a:spAutoFit/>
          </a:bodyPr>
          <a:lstStyle/>
          <a:p>
            <a:pPr>
              <a:lnSpc>
                <a:spcPct val="12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在</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Linux</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中称为存储器映射，同时提供了一个</a:t>
            </a:r>
            <a:r>
              <a:rPr lang="en-US" altLang="zh-CN" sz="2000" dirty="0" err="1">
                <a:solidFill>
                  <a:schemeClr val="tx1">
                    <a:lumMod val="65000"/>
                    <a:lumOff val="35000"/>
                  </a:schemeClr>
                </a:solidFill>
                <a:latin typeface="微软雅黑" panose="020B0503020204020204" pitchFamily="34" charset="-122"/>
                <a:ea typeface="微软雅黑" panose="020B0503020204020204" pitchFamily="34" charset="-122"/>
              </a:rPr>
              <a:t>mmap</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的系统调用来实现次功能。</a:t>
            </a:r>
          </a:p>
        </p:txBody>
      </p:sp>
      <p:sp>
        <p:nvSpPr>
          <p:cNvPr id="14" name="文本框 13"/>
          <p:cNvSpPr txBox="1"/>
          <p:nvPr/>
        </p:nvSpPr>
        <p:spPr>
          <a:xfrm>
            <a:off x="2750605" y="4581128"/>
            <a:ext cx="5505194" cy="1200329"/>
          </a:xfrm>
          <a:prstGeom prst="rect">
            <a:avLst/>
          </a:prstGeom>
          <a:noFill/>
        </p:spPr>
        <p:txBody>
          <a:bodyPr wrap="square" rtlCol="0">
            <a:spAutoFit/>
          </a:bodyPr>
          <a:lstStyle/>
          <a:p>
            <a:pPr>
              <a:lnSpc>
                <a:spcPct val="12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文件被分成页面大小，每片含一个虚拟页内容。页面按需调度，</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CPU</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发出访问请求时，创建虚拟页并加载到内存。</a:t>
            </a:r>
          </a:p>
        </p:txBody>
      </p:sp>
      <p:sp>
        <p:nvSpPr>
          <p:cNvPr id="15" name="文本框 14"/>
          <p:cNvSpPr txBox="1"/>
          <p:nvPr/>
        </p:nvSpPr>
        <p:spPr>
          <a:xfrm>
            <a:off x="1613906" y="1946894"/>
            <a:ext cx="365806" cy="461665"/>
          </a:xfrm>
          <a:prstGeom prst="rect">
            <a:avLst/>
          </a:prstGeom>
          <a:noFill/>
        </p:spPr>
        <p:txBody>
          <a:bodyPr wrap="none" rtlCol="0">
            <a:spAutoFit/>
          </a:bodyPr>
          <a:lstStyle/>
          <a:p>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rPr>
              <a:t>1</a:t>
            </a:r>
            <a:endPar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1613906" y="5022031"/>
            <a:ext cx="365806" cy="461665"/>
          </a:xfrm>
          <a:prstGeom prst="rect">
            <a:avLst/>
          </a:prstGeom>
          <a:noFill/>
        </p:spPr>
        <p:txBody>
          <a:bodyPr wrap="none" rtlCol="0">
            <a:spAutoFit/>
          </a:bodyPr>
          <a:lstStyle/>
          <a:p>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rPr>
              <a:t>3</a:t>
            </a:r>
            <a:endPar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1259632" y="3497808"/>
            <a:ext cx="365806" cy="461665"/>
          </a:xfrm>
          <a:prstGeom prst="rect">
            <a:avLst/>
          </a:prstGeom>
          <a:noFill/>
        </p:spPr>
        <p:txBody>
          <a:bodyPr wrap="none" rtlCol="0">
            <a:spAutoFit/>
          </a:bodyPr>
          <a:lstStyle/>
          <a:p>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rPr>
              <a:t>2</a:t>
            </a:r>
            <a:endPar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68597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存储器映射</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5" name="Oval 5"/>
          <p:cNvSpPr>
            <a:spLocks noChangeArrowheads="1"/>
          </p:cNvSpPr>
          <p:nvPr/>
        </p:nvSpPr>
        <p:spPr bwMode="auto">
          <a:xfrm>
            <a:off x="1262435" y="1627658"/>
            <a:ext cx="1109663" cy="1098550"/>
          </a:xfrm>
          <a:prstGeom prst="ellipse">
            <a:avLst/>
          </a:prstGeom>
          <a:solidFill>
            <a:srgbClr val="F9CB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6" name="Freeform 6"/>
          <p:cNvSpPr>
            <a:spLocks noEditPoints="1"/>
          </p:cNvSpPr>
          <p:nvPr/>
        </p:nvSpPr>
        <p:spPr bwMode="auto">
          <a:xfrm>
            <a:off x="978273" y="1345083"/>
            <a:ext cx="1679575" cy="1663700"/>
          </a:xfrm>
          <a:custGeom>
            <a:avLst/>
            <a:gdLst>
              <a:gd name="T0" fmla="*/ 107 w 165"/>
              <a:gd name="T1" fmla="*/ 4 h 165"/>
              <a:gd name="T2" fmla="*/ 113 w 165"/>
              <a:gd name="T3" fmla="*/ 29 h 165"/>
              <a:gd name="T4" fmla="*/ 135 w 165"/>
              <a:gd name="T5" fmla="*/ 19 h 165"/>
              <a:gd name="T6" fmla="*/ 131 w 165"/>
              <a:gd name="T7" fmla="*/ 45 h 165"/>
              <a:gd name="T8" fmla="*/ 156 w 165"/>
              <a:gd name="T9" fmla="*/ 44 h 165"/>
              <a:gd name="T10" fmla="*/ 142 w 165"/>
              <a:gd name="T11" fmla="*/ 66 h 165"/>
              <a:gd name="T12" fmla="*/ 165 w 165"/>
              <a:gd name="T13" fmla="*/ 75 h 165"/>
              <a:gd name="T14" fmla="*/ 144 w 165"/>
              <a:gd name="T15" fmla="*/ 90 h 165"/>
              <a:gd name="T16" fmla="*/ 161 w 165"/>
              <a:gd name="T17" fmla="*/ 107 h 165"/>
              <a:gd name="T18" fmla="*/ 136 w 165"/>
              <a:gd name="T19" fmla="*/ 113 h 165"/>
              <a:gd name="T20" fmla="*/ 146 w 165"/>
              <a:gd name="T21" fmla="*/ 135 h 165"/>
              <a:gd name="T22" fmla="*/ 120 w 165"/>
              <a:gd name="T23" fmla="*/ 131 h 165"/>
              <a:gd name="T24" fmla="*/ 120 w 165"/>
              <a:gd name="T25" fmla="*/ 156 h 165"/>
              <a:gd name="T26" fmla="*/ 99 w 165"/>
              <a:gd name="T27" fmla="*/ 142 h 165"/>
              <a:gd name="T28" fmla="*/ 90 w 165"/>
              <a:gd name="T29" fmla="*/ 165 h 165"/>
              <a:gd name="T30" fmla="*/ 75 w 165"/>
              <a:gd name="T31" fmla="*/ 144 h 165"/>
              <a:gd name="T32" fmla="*/ 58 w 165"/>
              <a:gd name="T33" fmla="*/ 161 h 165"/>
              <a:gd name="T34" fmla="*/ 52 w 165"/>
              <a:gd name="T35" fmla="*/ 136 h 165"/>
              <a:gd name="T36" fmla="*/ 29 w 165"/>
              <a:gd name="T37" fmla="*/ 146 h 165"/>
              <a:gd name="T38" fmla="*/ 33 w 165"/>
              <a:gd name="T39" fmla="*/ 120 h 165"/>
              <a:gd name="T40" fmla="*/ 9 w 165"/>
              <a:gd name="T41" fmla="*/ 120 h 165"/>
              <a:gd name="T42" fmla="*/ 23 w 165"/>
              <a:gd name="T43" fmla="*/ 99 h 165"/>
              <a:gd name="T44" fmla="*/ 0 w 165"/>
              <a:gd name="T45" fmla="*/ 90 h 165"/>
              <a:gd name="T46" fmla="*/ 21 w 165"/>
              <a:gd name="T47" fmla="*/ 74 h 165"/>
              <a:gd name="T48" fmla="*/ 4 w 165"/>
              <a:gd name="T49" fmla="*/ 58 h 165"/>
              <a:gd name="T50" fmla="*/ 29 w 165"/>
              <a:gd name="T51" fmla="*/ 52 h 165"/>
              <a:gd name="T52" fmla="*/ 19 w 165"/>
              <a:gd name="T53" fmla="*/ 29 h 165"/>
              <a:gd name="T54" fmla="*/ 45 w 165"/>
              <a:gd name="T55" fmla="*/ 33 h 165"/>
              <a:gd name="T56" fmla="*/ 44 w 165"/>
              <a:gd name="T57" fmla="*/ 9 h 165"/>
              <a:gd name="T58" fmla="*/ 66 w 165"/>
              <a:gd name="T59" fmla="*/ 23 h 165"/>
              <a:gd name="T60" fmla="*/ 75 w 165"/>
              <a:gd name="T61" fmla="*/ 0 h 165"/>
              <a:gd name="T62" fmla="*/ 90 w 165"/>
              <a:gd name="T63" fmla="*/ 21 h 165"/>
              <a:gd name="T64" fmla="*/ 95 w 165"/>
              <a:gd name="T65" fmla="*/ 35 h 165"/>
              <a:gd name="T66" fmla="*/ 70 w 165"/>
              <a:gd name="T67" fmla="*/ 130 h 165"/>
              <a:gd name="T68" fmla="*/ 95 w 165"/>
              <a:gd name="T69" fmla="*/ 3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5">
                <a:moveTo>
                  <a:pt x="100" y="2"/>
                </a:moveTo>
                <a:cubicBezTo>
                  <a:pt x="107" y="4"/>
                  <a:pt x="107" y="4"/>
                  <a:pt x="107" y="4"/>
                </a:cubicBezTo>
                <a:cubicBezTo>
                  <a:pt x="106" y="25"/>
                  <a:pt x="106" y="25"/>
                  <a:pt x="106" y="25"/>
                </a:cubicBezTo>
                <a:cubicBezTo>
                  <a:pt x="109" y="26"/>
                  <a:pt x="111" y="27"/>
                  <a:pt x="113" y="29"/>
                </a:cubicBezTo>
                <a:cubicBezTo>
                  <a:pt x="130" y="15"/>
                  <a:pt x="130" y="15"/>
                  <a:pt x="130" y="15"/>
                </a:cubicBezTo>
                <a:cubicBezTo>
                  <a:pt x="135" y="19"/>
                  <a:pt x="135" y="19"/>
                  <a:pt x="135" y="19"/>
                </a:cubicBezTo>
                <a:cubicBezTo>
                  <a:pt x="126" y="39"/>
                  <a:pt x="126" y="39"/>
                  <a:pt x="126" y="39"/>
                </a:cubicBezTo>
                <a:cubicBezTo>
                  <a:pt x="128" y="41"/>
                  <a:pt x="130" y="43"/>
                  <a:pt x="131" y="45"/>
                </a:cubicBezTo>
                <a:cubicBezTo>
                  <a:pt x="152" y="38"/>
                  <a:pt x="152" y="38"/>
                  <a:pt x="152" y="38"/>
                </a:cubicBezTo>
                <a:cubicBezTo>
                  <a:pt x="156" y="44"/>
                  <a:pt x="156" y="44"/>
                  <a:pt x="156" y="44"/>
                </a:cubicBezTo>
                <a:cubicBezTo>
                  <a:pt x="140" y="59"/>
                  <a:pt x="140" y="59"/>
                  <a:pt x="140" y="59"/>
                </a:cubicBezTo>
                <a:cubicBezTo>
                  <a:pt x="141" y="61"/>
                  <a:pt x="142" y="64"/>
                  <a:pt x="142" y="66"/>
                </a:cubicBezTo>
                <a:cubicBezTo>
                  <a:pt x="164" y="68"/>
                  <a:pt x="164" y="68"/>
                  <a:pt x="164" y="68"/>
                </a:cubicBezTo>
                <a:cubicBezTo>
                  <a:pt x="165" y="75"/>
                  <a:pt x="165" y="75"/>
                  <a:pt x="165" y="75"/>
                </a:cubicBezTo>
                <a:cubicBezTo>
                  <a:pt x="144" y="83"/>
                  <a:pt x="144" y="83"/>
                  <a:pt x="144" y="83"/>
                </a:cubicBezTo>
                <a:cubicBezTo>
                  <a:pt x="144" y="85"/>
                  <a:pt x="144" y="88"/>
                  <a:pt x="144" y="90"/>
                </a:cubicBezTo>
                <a:cubicBezTo>
                  <a:pt x="163" y="100"/>
                  <a:pt x="163" y="100"/>
                  <a:pt x="163" y="100"/>
                </a:cubicBezTo>
                <a:cubicBezTo>
                  <a:pt x="161" y="107"/>
                  <a:pt x="161" y="107"/>
                  <a:pt x="161" y="107"/>
                </a:cubicBezTo>
                <a:cubicBezTo>
                  <a:pt x="140" y="106"/>
                  <a:pt x="140" y="106"/>
                  <a:pt x="140" y="106"/>
                </a:cubicBezTo>
                <a:cubicBezTo>
                  <a:pt x="139" y="109"/>
                  <a:pt x="138" y="111"/>
                  <a:pt x="136" y="113"/>
                </a:cubicBezTo>
                <a:cubicBezTo>
                  <a:pt x="150" y="130"/>
                  <a:pt x="150" y="130"/>
                  <a:pt x="150" y="130"/>
                </a:cubicBezTo>
                <a:cubicBezTo>
                  <a:pt x="146" y="135"/>
                  <a:pt x="146" y="135"/>
                  <a:pt x="146" y="135"/>
                </a:cubicBezTo>
                <a:cubicBezTo>
                  <a:pt x="126" y="126"/>
                  <a:pt x="126" y="126"/>
                  <a:pt x="126" y="126"/>
                </a:cubicBezTo>
                <a:cubicBezTo>
                  <a:pt x="124" y="128"/>
                  <a:pt x="122" y="130"/>
                  <a:pt x="120" y="131"/>
                </a:cubicBezTo>
                <a:cubicBezTo>
                  <a:pt x="127" y="152"/>
                  <a:pt x="127" y="152"/>
                  <a:pt x="127" y="152"/>
                </a:cubicBezTo>
                <a:cubicBezTo>
                  <a:pt x="120" y="156"/>
                  <a:pt x="120" y="156"/>
                  <a:pt x="120" y="156"/>
                </a:cubicBezTo>
                <a:cubicBezTo>
                  <a:pt x="106" y="140"/>
                  <a:pt x="106" y="140"/>
                  <a:pt x="106" y="140"/>
                </a:cubicBezTo>
                <a:cubicBezTo>
                  <a:pt x="104" y="141"/>
                  <a:pt x="101" y="142"/>
                  <a:pt x="99" y="142"/>
                </a:cubicBezTo>
                <a:cubicBezTo>
                  <a:pt x="97" y="164"/>
                  <a:pt x="97" y="164"/>
                  <a:pt x="97" y="164"/>
                </a:cubicBezTo>
                <a:cubicBezTo>
                  <a:pt x="90" y="165"/>
                  <a:pt x="90" y="165"/>
                  <a:pt x="90" y="165"/>
                </a:cubicBezTo>
                <a:cubicBezTo>
                  <a:pt x="82" y="144"/>
                  <a:pt x="82" y="144"/>
                  <a:pt x="82" y="144"/>
                </a:cubicBezTo>
                <a:cubicBezTo>
                  <a:pt x="80" y="144"/>
                  <a:pt x="77" y="144"/>
                  <a:pt x="75" y="144"/>
                </a:cubicBezTo>
                <a:cubicBezTo>
                  <a:pt x="65" y="163"/>
                  <a:pt x="65" y="163"/>
                  <a:pt x="65" y="163"/>
                </a:cubicBezTo>
                <a:cubicBezTo>
                  <a:pt x="58" y="161"/>
                  <a:pt x="58" y="161"/>
                  <a:pt x="58" y="161"/>
                </a:cubicBezTo>
                <a:cubicBezTo>
                  <a:pt x="59" y="140"/>
                  <a:pt x="59" y="140"/>
                  <a:pt x="59" y="140"/>
                </a:cubicBezTo>
                <a:cubicBezTo>
                  <a:pt x="56" y="139"/>
                  <a:pt x="54" y="137"/>
                  <a:pt x="52" y="136"/>
                </a:cubicBezTo>
                <a:cubicBezTo>
                  <a:pt x="35" y="150"/>
                  <a:pt x="35" y="150"/>
                  <a:pt x="35" y="150"/>
                </a:cubicBezTo>
                <a:cubicBezTo>
                  <a:pt x="29" y="146"/>
                  <a:pt x="29" y="146"/>
                  <a:pt x="29" y="146"/>
                </a:cubicBezTo>
                <a:cubicBezTo>
                  <a:pt x="39" y="126"/>
                  <a:pt x="39" y="126"/>
                  <a:pt x="39" y="126"/>
                </a:cubicBezTo>
                <a:cubicBezTo>
                  <a:pt x="37" y="124"/>
                  <a:pt x="35" y="122"/>
                  <a:pt x="33" y="120"/>
                </a:cubicBezTo>
                <a:cubicBezTo>
                  <a:pt x="13" y="127"/>
                  <a:pt x="13" y="127"/>
                  <a:pt x="13" y="127"/>
                </a:cubicBezTo>
                <a:cubicBezTo>
                  <a:pt x="9" y="120"/>
                  <a:pt x="9" y="120"/>
                  <a:pt x="9" y="120"/>
                </a:cubicBezTo>
                <a:cubicBezTo>
                  <a:pt x="25" y="106"/>
                  <a:pt x="25" y="106"/>
                  <a:pt x="25" y="106"/>
                </a:cubicBezTo>
                <a:cubicBezTo>
                  <a:pt x="24" y="104"/>
                  <a:pt x="23" y="101"/>
                  <a:pt x="23" y="99"/>
                </a:cubicBezTo>
                <a:cubicBezTo>
                  <a:pt x="1" y="97"/>
                  <a:pt x="1" y="97"/>
                  <a:pt x="1" y="97"/>
                </a:cubicBezTo>
                <a:cubicBezTo>
                  <a:pt x="0" y="90"/>
                  <a:pt x="0" y="90"/>
                  <a:pt x="0" y="90"/>
                </a:cubicBezTo>
                <a:cubicBezTo>
                  <a:pt x="21" y="82"/>
                  <a:pt x="21" y="82"/>
                  <a:pt x="21" y="82"/>
                </a:cubicBezTo>
                <a:cubicBezTo>
                  <a:pt x="20" y="80"/>
                  <a:pt x="21" y="77"/>
                  <a:pt x="21" y="74"/>
                </a:cubicBezTo>
                <a:cubicBezTo>
                  <a:pt x="2" y="65"/>
                  <a:pt x="2" y="65"/>
                  <a:pt x="2" y="65"/>
                </a:cubicBezTo>
                <a:cubicBezTo>
                  <a:pt x="4" y="58"/>
                  <a:pt x="4" y="58"/>
                  <a:pt x="4" y="58"/>
                </a:cubicBezTo>
                <a:cubicBezTo>
                  <a:pt x="25" y="59"/>
                  <a:pt x="25" y="59"/>
                  <a:pt x="25" y="59"/>
                </a:cubicBezTo>
                <a:cubicBezTo>
                  <a:pt x="26" y="56"/>
                  <a:pt x="27" y="54"/>
                  <a:pt x="29" y="52"/>
                </a:cubicBezTo>
                <a:cubicBezTo>
                  <a:pt x="15" y="35"/>
                  <a:pt x="15" y="35"/>
                  <a:pt x="15" y="35"/>
                </a:cubicBezTo>
                <a:cubicBezTo>
                  <a:pt x="19" y="29"/>
                  <a:pt x="19" y="29"/>
                  <a:pt x="19" y="29"/>
                </a:cubicBezTo>
                <a:cubicBezTo>
                  <a:pt x="39" y="39"/>
                  <a:pt x="39" y="39"/>
                  <a:pt x="39" y="39"/>
                </a:cubicBezTo>
                <a:cubicBezTo>
                  <a:pt x="41" y="37"/>
                  <a:pt x="43" y="35"/>
                  <a:pt x="45" y="33"/>
                </a:cubicBezTo>
                <a:cubicBezTo>
                  <a:pt x="38" y="13"/>
                  <a:pt x="38" y="13"/>
                  <a:pt x="38" y="13"/>
                </a:cubicBezTo>
                <a:cubicBezTo>
                  <a:pt x="44" y="9"/>
                  <a:pt x="44" y="9"/>
                  <a:pt x="44" y="9"/>
                </a:cubicBezTo>
                <a:cubicBezTo>
                  <a:pt x="59" y="25"/>
                  <a:pt x="59" y="25"/>
                  <a:pt x="59" y="25"/>
                </a:cubicBezTo>
                <a:cubicBezTo>
                  <a:pt x="61" y="24"/>
                  <a:pt x="64" y="23"/>
                  <a:pt x="66" y="23"/>
                </a:cubicBezTo>
                <a:cubicBezTo>
                  <a:pt x="68" y="1"/>
                  <a:pt x="68" y="1"/>
                  <a:pt x="68" y="1"/>
                </a:cubicBezTo>
                <a:cubicBezTo>
                  <a:pt x="75" y="0"/>
                  <a:pt x="75" y="0"/>
                  <a:pt x="75" y="0"/>
                </a:cubicBezTo>
                <a:cubicBezTo>
                  <a:pt x="83" y="21"/>
                  <a:pt x="83" y="21"/>
                  <a:pt x="83" y="21"/>
                </a:cubicBezTo>
                <a:cubicBezTo>
                  <a:pt x="85" y="20"/>
                  <a:pt x="88" y="21"/>
                  <a:pt x="90" y="21"/>
                </a:cubicBezTo>
                <a:cubicBezTo>
                  <a:pt x="100" y="2"/>
                  <a:pt x="100" y="2"/>
                  <a:pt x="100" y="2"/>
                </a:cubicBezTo>
                <a:close/>
                <a:moveTo>
                  <a:pt x="95" y="35"/>
                </a:moveTo>
                <a:cubicBezTo>
                  <a:pt x="121" y="42"/>
                  <a:pt x="137" y="69"/>
                  <a:pt x="130" y="95"/>
                </a:cubicBezTo>
                <a:cubicBezTo>
                  <a:pt x="123" y="121"/>
                  <a:pt x="96" y="137"/>
                  <a:pt x="70" y="130"/>
                </a:cubicBezTo>
                <a:cubicBezTo>
                  <a:pt x="44" y="123"/>
                  <a:pt x="28" y="96"/>
                  <a:pt x="35" y="69"/>
                </a:cubicBezTo>
                <a:cubicBezTo>
                  <a:pt x="42" y="43"/>
                  <a:pt x="69" y="28"/>
                  <a:pt x="95" y="35"/>
                </a:cubicBezTo>
                <a:close/>
              </a:path>
            </a:pathLst>
          </a:custGeom>
          <a:solidFill>
            <a:srgbClr val="E84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7" name="Freeform 7"/>
          <p:cNvSpPr>
            <a:spLocks noEditPoints="1"/>
          </p:cNvSpPr>
          <p:nvPr/>
        </p:nvSpPr>
        <p:spPr bwMode="auto">
          <a:xfrm>
            <a:off x="611560" y="2888133"/>
            <a:ext cx="1679575" cy="1652588"/>
          </a:xfrm>
          <a:custGeom>
            <a:avLst/>
            <a:gdLst>
              <a:gd name="T0" fmla="*/ 86 w 165"/>
              <a:gd name="T1" fmla="*/ 0 h 164"/>
              <a:gd name="T2" fmla="*/ 98 w 165"/>
              <a:gd name="T3" fmla="*/ 22 h 164"/>
              <a:gd name="T4" fmla="*/ 117 w 165"/>
              <a:gd name="T5" fmla="*/ 7 h 164"/>
              <a:gd name="T6" fmla="*/ 120 w 165"/>
              <a:gd name="T7" fmla="*/ 33 h 164"/>
              <a:gd name="T8" fmla="*/ 143 w 165"/>
              <a:gd name="T9" fmla="*/ 26 h 164"/>
              <a:gd name="T10" fmla="*/ 136 w 165"/>
              <a:gd name="T11" fmla="*/ 51 h 164"/>
              <a:gd name="T12" fmla="*/ 160 w 165"/>
              <a:gd name="T13" fmla="*/ 54 h 164"/>
              <a:gd name="T14" fmla="*/ 144 w 165"/>
              <a:gd name="T15" fmla="*/ 74 h 164"/>
              <a:gd name="T16" fmla="*/ 165 w 165"/>
              <a:gd name="T17" fmla="*/ 86 h 164"/>
              <a:gd name="T18" fmla="*/ 142 w 165"/>
              <a:gd name="T19" fmla="*/ 98 h 164"/>
              <a:gd name="T20" fmla="*/ 157 w 165"/>
              <a:gd name="T21" fmla="*/ 117 h 164"/>
              <a:gd name="T22" fmla="*/ 132 w 165"/>
              <a:gd name="T23" fmla="*/ 119 h 164"/>
              <a:gd name="T24" fmla="*/ 138 w 165"/>
              <a:gd name="T25" fmla="*/ 143 h 164"/>
              <a:gd name="T26" fmla="*/ 114 w 165"/>
              <a:gd name="T27" fmla="*/ 135 h 164"/>
              <a:gd name="T28" fmla="*/ 111 w 165"/>
              <a:gd name="T29" fmla="*/ 159 h 164"/>
              <a:gd name="T30" fmla="*/ 91 w 165"/>
              <a:gd name="T31" fmla="*/ 143 h 164"/>
              <a:gd name="T32" fmla="*/ 79 w 165"/>
              <a:gd name="T33" fmla="*/ 164 h 164"/>
              <a:gd name="T34" fmla="*/ 67 w 165"/>
              <a:gd name="T35" fmla="*/ 142 h 164"/>
              <a:gd name="T36" fmla="*/ 48 w 165"/>
              <a:gd name="T37" fmla="*/ 157 h 164"/>
              <a:gd name="T38" fmla="*/ 45 w 165"/>
              <a:gd name="T39" fmla="*/ 131 h 164"/>
              <a:gd name="T40" fmla="*/ 22 w 165"/>
              <a:gd name="T41" fmla="*/ 138 h 164"/>
              <a:gd name="T42" fmla="*/ 29 w 165"/>
              <a:gd name="T43" fmla="*/ 113 h 164"/>
              <a:gd name="T44" fmla="*/ 5 w 165"/>
              <a:gd name="T45" fmla="*/ 110 h 164"/>
              <a:gd name="T46" fmla="*/ 21 w 165"/>
              <a:gd name="T47" fmla="*/ 90 h 164"/>
              <a:gd name="T48" fmla="*/ 0 w 165"/>
              <a:gd name="T49" fmla="*/ 78 h 164"/>
              <a:gd name="T50" fmla="*/ 23 w 165"/>
              <a:gd name="T51" fmla="*/ 66 h 164"/>
              <a:gd name="T52" fmla="*/ 8 w 165"/>
              <a:gd name="T53" fmla="*/ 47 h 164"/>
              <a:gd name="T54" fmla="*/ 33 w 165"/>
              <a:gd name="T55" fmla="*/ 44 h 164"/>
              <a:gd name="T56" fmla="*/ 27 w 165"/>
              <a:gd name="T57" fmla="*/ 21 h 164"/>
              <a:gd name="T58" fmla="*/ 51 w 165"/>
              <a:gd name="T59" fmla="*/ 28 h 164"/>
              <a:gd name="T60" fmla="*/ 54 w 165"/>
              <a:gd name="T61" fmla="*/ 4 h 164"/>
              <a:gd name="T62" fmla="*/ 74 w 165"/>
              <a:gd name="T63" fmla="*/ 21 h 164"/>
              <a:gd name="T64" fmla="*/ 83 w 165"/>
              <a:gd name="T65" fmla="*/ 32 h 164"/>
              <a:gd name="T66" fmla="*/ 83 w 165"/>
              <a:gd name="T67" fmla="*/ 131 h 164"/>
              <a:gd name="T68" fmla="*/ 83 w 165"/>
              <a:gd name="T69" fmla="*/ 3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4">
                <a:moveTo>
                  <a:pt x="79" y="0"/>
                </a:moveTo>
                <a:cubicBezTo>
                  <a:pt x="86" y="0"/>
                  <a:pt x="86" y="0"/>
                  <a:pt x="86" y="0"/>
                </a:cubicBezTo>
                <a:cubicBezTo>
                  <a:pt x="91" y="21"/>
                  <a:pt x="91" y="21"/>
                  <a:pt x="91" y="21"/>
                </a:cubicBezTo>
                <a:cubicBezTo>
                  <a:pt x="93" y="21"/>
                  <a:pt x="96" y="21"/>
                  <a:pt x="98" y="22"/>
                </a:cubicBezTo>
                <a:cubicBezTo>
                  <a:pt x="111" y="4"/>
                  <a:pt x="111" y="4"/>
                  <a:pt x="111" y="4"/>
                </a:cubicBezTo>
                <a:cubicBezTo>
                  <a:pt x="117" y="7"/>
                  <a:pt x="117" y="7"/>
                  <a:pt x="117" y="7"/>
                </a:cubicBezTo>
                <a:cubicBezTo>
                  <a:pt x="114" y="28"/>
                  <a:pt x="114" y="28"/>
                  <a:pt x="114" y="28"/>
                </a:cubicBezTo>
                <a:cubicBezTo>
                  <a:pt x="116" y="30"/>
                  <a:pt x="118" y="31"/>
                  <a:pt x="120" y="33"/>
                </a:cubicBezTo>
                <a:cubicBezTo>
                  <a:pt x="138" y="21"/>
                  <a:pt x="138" y="21"/>
                  <a:pt x="138" y="21"/>
                </a:cubicBezTo>
                <a:cubicBezTo>
                  <a:pt x="143" y="26"/>
                  <a:pt x="143" y="26"/>
                  <a:pt x="143" y="26"/>
                </a:cubicBezTo>
                <a:cubicBezTo>
                  <a:pt x="132" y="44"/>
                  <a:pt x="132" y="44"/>
                  <a:pt x="132" y="44"/>
                </a:cubicBezTo>
                <a:cubicBezTo>
                  <a:pt x="133" y="46"/>
                  <a:pt x="135" y="49"/>
                  <a:pt x="136" y="51"/>
                </a:cubicBezTo>
                <a:cubicBezTo>
                  <a:pt x="157" y="47"/>
                  <a:pt x="157" y="47"/>
                  <a:pt x="157" y="47"/>
                </a:cubicBezTo>
                <a:cubicBezTo>
                  <a:pt x="160" y="54"/>
                  <a:pt x="160" y="54"/>
                  <a:pt x="160" y="54"/>
                </a:cubicBezTo>
                <a:cubicBezTo>
                  <a:pt x="142" y="66"/>
                  <a:pt x="142" y="66"/>
                  <a:pt x="142" y="66"/>
                </a:cubicBezTo>
                <a:cubicBezTo>
                  <a:pt x="143" y="69"/>
                  <a:pt x="144" y="71"/>
                  <a:pt x="144" y="74"/>
                </a:cubicBezTo>
                <a:cubicBezTo>
                  <a:pt x="165" y="78"/>
                  <a:pt x="165" y="78"/>
                  <a:pt x="165" y="78"/>
                </a:cubicBezTo>
                <a:cubicBezTo>
                  <a:pt x="165" y="86"/>
                  <a:pt x="165" y="86"/>
                  <a:pt x="165" y="86"/>
                </a:cubicBezTo>
                <a:cubicBezTo>
                  <a:pt x="144" y="90"/>
                  <a:pt x="144" y="90"/>
                  <a:pt x="144" y="90"/>
                </a:cubicBezTo>
                <a:cubicBezTo>
                  <a:pt x="144" y="93"/>
                  <a:pt x="143" y="95"/>
                  <a:pt x="142" y="98"/>
                </a:cubicBezTo>
                <a:cubicBezTo>
                  <a:pt x="160" y="110"/>
                  <a:pt x="160" y="110"/>
                  <a:pt x="160" y="110"/>
                </a:cubicBezTo>
                <a:cubicBezTo>
                  <a:pt x="157" y="117"/>
                  <a:pt x="157" y="117"/>
                  <a:pt x="157" y="117"/>
                </a:cubicBezTo>
                <a:cubicBezTo>
                  <a:pt x="136" y="113"/>
                  <a:pt x="136" y="113"/>
                  <a:pt x="136" y="113"/>
                </a:cubicBezTo>
                <a:cubicBezTo>
                  <a:pt x="135" y="115"/>
                  <a:pt x="133" y="117"/>
                  <a:pt x="132" y="119"/>
                </a:cubicBezTo>
                <a:cubicBezTo>
                  <a:pt x="143" y="138"/>
                  <a:pt x="143" y="138"/>
                  <a:pt x="143" y="138"/>
                </a:cubicBezTo>
                <a:cubicBezTo>
                  <a:pt x="138" y="143"/>
                  <a:pt x="138" y="143"/>
                  <a:pt x="138" y="143"/>
                </a:cubicBezTo>
                <a:cubicBezTo>
                  <a:pt x="120" y="131"/>
                  <a:pt x="120" y="131"/>
                  <a:pt x="120" y="131"/>
                </a:cubicBezTo>
                <a:cubicBezTo>
                  <a:pt x="118" y="133"/>
                  <a:pt x="116" y="134"/>
                  <a:pt x="114" y="135"/>
                </a:cubicBezTo>
                <a:cubicBezTo>
                  <a:pt x="117" y="157"/>
                  <a:pt x="117" y="157"/>
                  <a:pt x="117" y="157"/>
                </a:cubicBezTo>
                <a:cubicBezTo>
                  <a:pt x="111" y="159"/>
                  <a:pt x="111" y="159"/>
                  <a:pt x="111" y="159"/>
                </a:cubicBezTo>
                <a:cubicBezTo>
                  <a:pt x="98" y="142"/>
                  <a:pt x="98" y="142"/>
                  <a:pt x="98" y="142"/>
                </a:cubicBezTo>
                <a:cubicBezTo>
                  <a:pt x="96" y="142"/>
                  <a:pt x="93" y="143"/>
                  <a:pt x="91" y="143"/>
                </a:cubicBezTo>
                <a:cubicBezTo>
                  <a:pt x="86" y="164"/>
                  <a:pt x="86" y="164"/>
                  <a:pt x="86" y="164"/>
                </a:cubicBezTo>
                <a:cubicBezTo>
                  <a:pt x="79" y="164"/>
                  <a:pt x="79" y="164"/>
                  <a:pt x="79" y="164"/>
                </a:cubicBezTo>
                <a:cubicBezTo>
                  <a:pt x="74" y="143"/>
                  <a:pt x="74" y="143"/>
                  <a:pt x="74" y="143"/>
                </a:cubicBezTo>
                <a:cubicBezTo>
                  <a:pt x="72" y="143"/>
                  <a:pt x="69" y="142"/>
                  <a:pt x="67" y="142"/>
                </a:cubicBezTo>
                <a:cubicBezTo>
                  <a:pt x="54" y="159"/>
                  <a:pt x="54" y="159"/>
                  <a:pt x="54" y="159"/>
                </a:cubicBezTo>
                <a:cubicBezTo>
                  <a:pt x="48" y="157"/>
                  <a:pt x="48" y="157"/>
                  <a:pt x="48" y="157"/>
                </a:cubicBezTo>
                <a:cubicBezTo>
                  <a:pt x="52" y="135"/>
                  <a:pt x="52" y="135"/>
                  <a:pt x="52" y="135"/>
                </a:cubicBezTo>
                <a:cubicBezTo>
                  <a:pt x="49" y="134"/>
                  <a:pt x="47" y="133"/>
                  <a:pt x="45" y="131"/>
                </a:cubicBezTo>
                <a:cubicBezTo>
                  <a:pt x="27" y="143"/>
                  <a:pt x="27" y="143"/>
                  <a:pt x="27" y="143"/>
                </a:cubicBezTo>
                <a:cubicBezTo>
                  <a:pt x="22" y="138"/>
                  <a:pt x="22" y="138"/>
                  <a:pt x="22" y="138"/>
                </a:cubicBezTo>
                <a:cubicBezTo>
                  <a:pt x="33" y="119"/>
                  <a:pt x="33" y="119"/>
                  <a:pt x="33" y="119"/>
                </a:cubicBezTo>
                <a:cubicBezTo>
                  <a:pt x="32" y="117"/>
                  <a:pt x="30" y="115"/>
                  <a:pt x="29" y="113"/>
                </a:cubicBezTo>
                <a:cubicBezTo>
                  <a:pt x="8" y="117"/>
                  <a:pt x="8" y="117"/>
                  <a:pt x="8" y="117"/>
                </a:cubicBezTo>
                <a:cubicBezTo>
                  <a:pt x="5" y="110"/>
                  <a:pt x="5" y="110"/>
                  <a:pt x="5" y="110"/>
                </a:cubicBezTo>
                <a:cubicBezTo>
                  <a:pt x="23" y="98"/>
                  <a:pt x="23" y="98"/>
                  <a:pt x="23" y="98"/>
                </a:cubicBezTo>
                <a:cubicBezTo>
                  <a:pt x="22" y="95"/>
                  <a:pt x="21" y="93"/>
                  <a:pt x="21" y="90"/>
                </a:cubicBezTo>
                <a:cubicBezTo>
                  <a:pt x="0" y="86"/>
                  <a:pt x="0" y="86"/>
                  <a:pt x="0" y="86"/>
                </a:cubicBezTo>
                <a:cubicBezTo>
                  <a:pt x="0" y="78"/>
                  <a:pt x="0" y="78"/>
                  <a:pt x="0" y="78"/>
                </a:cubicBezTo>
                <a:cubicBezTo>
                  <a:pt x="21" y="74"/>
                  <a:pt x="21" y="74"/>
                  <a:pt x="21" y="74"/>
                </a:cubicBezTo>
                <a:cubicBezTo>
                  <a:pt x="21" y="71"/>
                  <a:pt x="22" y="69"/>
                  <a:pt x="23" y="66"/>
                </a:cubicBezTo>
                <a:cubicBezTo>
                  <a:pt x="5" y="54"/>
                  <a:pt x="5" y="54"/>
                  <a:pt x="5" y="54"/>
                </a:cubicBezTo>
                <a:cubicBezTo>
                  <a:pt x="8" y="47"/>
                  <a:pt x="8" y="47"/>
                  <a:pt x="8" y="47"/>
                </a:cubicBezTo>
                <a:cubicBezTo>
                  <a:pt x="29" y="51"/>
                  <a:pt x="29" y="51"/>
                  <a:pt x="29" y="51"/>
                </a:cubicBezTo>
                <a:cubicBezTo>
                  <a:pt x="30" y="49"/>
                  <a:pt x="32" y="46"/>
                  <a:pt x="33" y="44"/>
                </a:cubicBezTo>
                <a:cubicBezTo>
                  <a:pt x="22" y="26"/>
                  <a:pt x="22" y="26"/>
                  <a:pt x="22" y="26"/>
                </a:cubicBezTo>
                <a:cubicBezTo>
                  <a:pt x="27" y="21"/>
                  <a:pt x="27" y="21"/>
                  <a:pt x="27" y="21"/>
                </a:cubicBezTo>
                <a:cubicBezTo>
                  <a:pt x="45" y="33"/>
                  <a:pt x="45" y="33"/>
                  <a:pt x="45" y="33"/>
                </a:cubicBezTo>
                <a:cubicBezTo>
                  <a:pt x="47" y="31"/>
                  <a:pt x="49" y="30"/>
                  <a:pt x="51" y="28"/>
                </a:cubicBezTo>
                <a:cubicBezTo>
                  <a:pt x="48" y="7"/>
                  <a:pt x="48" y="7"/>
                  <a:pt x="48" y="7"/>
                </a:cubicBezTo>
                <a:cubicBezTo>
                  <a:pt x="54" y="4"/>
                  <a:pt x="54" y="4"/>
                  <a:pt x="54" y="4"/>
                </a:cubicBezTo>
                <a:cubicBezTo>
                  <a:pt x="67" y="22"/>
                  <a:pt x="67" y="22"/>
                  <a:pt x="67" y="22"/>
                </a:cubicBezTo>
                <a:cubicBezTo>
                  <a:pt x="69" y="21"/>
                  <a:pt x="72" y="21"/>
                  <a:pt x="74" y="21"/>
                </a:cubicBezTo>
                <a:cubicBezTo>
                  <a:pt x="79" y="0"/>
                  <a:pt x="79" y="0"/>
                  <a:pt x="79" y="0"/>
                </a:cubicBezTo>
                <a:close/>
                <a:moveTo>
                  <a:pt x="83" y="32"/>
                </a:moveTo>
                <a:cubicBezTo>
                  <a:pt x="110" y="32"/>
                  <a:pt x="132" y="55"/>
                  <a:pt x="132" y="82"/>
                </a:cubicBezTo>
                <a:cubicBezTo>
                  <a:pt x="132" y="109"/>
                  <a:pt x="110" y="131"/>
                  <a:pt x="83" y="131"/>
                </a:cubicBezTo>
                <a:cubicBezTo>
                  <a:pt x="55" y="131"/>
                  <a:pt x="33" y="109"/>
                  <a:pt x="33" y="82"/>
                </a:cubicBezTo>
                <a:cubicBezTo>
                  <a:pt x="33" y="55"/>
                  <a:pt x="55" y="32"/>
                  <a:pt x="83" y="32"/>
                </a:cubicBezTo>
                <a:close/>
              </a:path>
            </a:pathLst>
          </a:custGeom>
          <a:solidFill>
            <a:srgbClr val="DED4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8" name="Oval 8"/>
          <p:cNvSpPr>
            <a:spLocks noChangeArrowheads="1"/>
          </p:cNvSpPr>
          <p:nvPr/>
        </p:nvSpPr>
        <p:spPr bwMode="auto">
          <a:xfrm>
            <a:off x="895723" y="3159596"/>
            <a:ext cx="1109663" cy="1098550"/>
          </a:xfrm>
          <a:prstGeom prst="ellipse">
            <a:avLst/>
          </a:prstGeom>
          <a:solidFill>
            <a:srgbClr val="CCCD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9" name="Freeform 9"/>
          <p:cNvSpPr>
            <a:spLocks noEditPoints="1"/>
          </p:cNvSpPr>
          <p:nvPr/>
        </p:nvSpPr>
        <p:spPr bwMode="auto">
          <a:xfrm>
            <a:off x="611560" y="2888133"/>
            <a:ext cx="1679575" cy="1652588"/>
          </a:xfrm>
          <a:custGeom>
            <a:avLst/>
            <a:gdLst>
              <a:gd name="T0" fmla="*/ 86 w 165"/>
              <a:gd name="T1" fmla="*/ 0 h 164"/>
              <a:gd name="T2" fmla="*/ 98 w 165"/>
              <a:gd name="T3" fmla="*/ 22 h 164"/>
              <a:gd name="T4" fmla="*/ 117 w 165"/>
              <a:gd name="T5" fmla="*/ 7 h 164"/>
              <a:gd name="T6" fmla="*/ 120 w 165"/>
              <a:gd name="T7" fmla="*/ 33 h 164"/>
              <a:gd name="T8" fmla="*/ 143 w 165"/>
              <a:gd name="T9" fmla="*/ 26 h 164"/>
              <a:gd name="T10" fmla="*/ 136 w 165"/>
              <a:gd name="T11" fmla="*/ 51 h 164"/>
              <a:gd name="T12" fmla="*/ 160 w 165"/>
              <a:gd name="T13" fmla="*/ 54 h 164"/>
              <a:gd name="T14" fmla="*/ 144 w 165"/>
              <a:gd name="T15" fmla="*/ 74 h 164"/>
              <a:gd name="T16" fmla="*/ 165 w 165"/>
              <a:gd name="T17" fmla="*/ 86 h 164"/>
              <a:gd name="T18" fmla="*/ 142 w 165"/>
              <a:gd name="T19" fmla="*/ 98 h 164"/>
              <a:gd name="T20" fmla="*/ 157 w 165"/>
              <a:gd name="T21" fmla="*/ 117 h 164"/>
              <a:gd name="T22" fmla="*/ 132 w 165"/>
              <a:gd name="T23" fmla="*/ 119 h 164"/>
              <a:gd name="T24" fmla="*/ 138 w 165"/>
              <a:gd name="T25" fmla="*/ 143 h 164"/>
              <a:gd name="T26" fmla="*/ 114 w 165"/>
              <a:gd name="T27" fmla="*/ 135 h 164"/>
              <a:gd name="T28" fmla="*/ 111 w 165"/>
              <a:gd name="T29" fmla="*/ 159 h 164"/>
              <a:gd name="T30" fmla="*/ 91 w 165"/>
              <a:gd name="T31" fmla="*/ 143 h 164"/>
              <a:gd name="T32" fmla="*/ 79 w 165"/>
              <a:gd name="T33" fmla="*/ 164 h 164"/>
              <a:gd name="T34" fmla="*/ 67 w 165"/>
              <a:gd name="T35" fmla="*/ 142 h 164"/>
              <a:gd name="T36" fmla="*/ 48 w 165"/>
              <a:gd name="T37" fmla="*/ 157 h 164"/>
              <a:gd name="T38" fmla="*/ 45 w 165"/>
              <a:gd name="T39" fmla="*/ 131 h 164"/>
              <a:gd name="T40" fmla="*/ 22 w 165"/>
              <a:gd name="T41" fmla="*/ 138 h 164"/>
              <a:gd name="T42" fmla="*/ 29 w 165"/>
              <a:gd name="T43" fmla="*/ 113 h 164"/>
              <a:gd name="T44" fmla="*/ 5 w 165"/>
              <a:gd name="T45" fmla="*/ 110 h 164"/>
              <a:gd name="T46" fmla="*/ 21 w 165"/>
              <a:gd name="T47" fmla="*/ 90 h 164"/>
              <a:gd name="T48" fmla="*/ 0 w 165"/>
              <a:gd name="T49" fmla="*/ 78 h 164"/>
              <a:gd name="T50" fmla="*/ 23 w 165"/>
              <a:gd name="T51" fmla="*/ 66 h 164"/>
              <a:gd name="T52" fmla="*/ 8 w 165"/>
              <a:gd name="T53" fmla="*/ 47 h 164"/>
              <a:gd name="T54" fmla="*/ 33 w 165"/>
              <a:gd name="T55" fmla="*/ 44 h 164"/>
              <a:gd name="T56" fmla="*/ 27 w 165"/>
              <a:gd name="T57" fmla="*/ 21 h 164"/>
              <a:gd name="T58" fmla="*/ 51 w 165"/>
              <a:gd name="T59" fmla="*/ 28 h 164"/>
              <a:gd name="T60" fmla="*/ 54 w 165"/>
              <a:gd name="T61" fmla="*/ 4 h 164"/>
              <a:gd name="T62" fmla="*/ 74 w 165"/>
              <a:gd name="T63" fmla="*/ 21 h 164"/>
              <a:gd name="T64" fmla="*/ 83 w 165"/>
              <a:gd name="T65" fmla="*/ 32 h 164"/>
              <a:gd name="T66" fmla="*/ 83 w 165"/>
              <a:gd name="T67" fmla="*/ 131 h 164"/>
              <a:gd name="T68" fmla="*/ 83 w 165"/>
              <a:gd name="T69" fmla="*/ 3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4">
                <a:moveTo>
                  <a:pt x="79" y="0"/>
                </a:moveTo>
                <a:cubicBezTo>
                  <a:pt x="86" y="0"/>
                  <a:pt x="86" y="0"/>
                  <a:pt x="86" y="0"/>
                </a:cubicBezTo>
                <a:cubicBezTo>
                  <a:pt x="91" y="21"/>
                  <a:pt x="91" y="21"/>
                  <a:pt x="91" y="21"/>
                </a:cubicBezTo>
                <a:cubicBezTo>
                  <a:pt x="93" y="21"/>
                  <a:pt x="96" y="21"/>
                  <a:pt x="98" y="22"/>
                </a:cubicBezTo>
                <a:cubicBezTo>
                  <a:pt x="111" y="4"/>
                  <a:pt x="111" y="4"/>
                  <a:pt x="111" y="4"/>
                </a:cubicBezTo>
                <a:cubicBezTo>
                  <a:pt x="117" y="7"/>
                  <a:pt x="117" y="7"/>
                  <a:pt x="117" y="7"/>
                </a:cubicBezTo>
                <a:cubicBezTo>
                  <a:pt x="114" y="28"/>
                  <a:pt x="114" y="28"/>
                  <a:pt x="114" y="28"/>
                </a:cubicBezTo>
                <a:cubicBezTo>
                  <a:pt x="116" y="30"/>
                  <a:pt x="118" y="31"/>
                  <a:pt x="120" y="33"/>
                </a:cubicBezTo>
                <a:cubicBezTo>
                  <a:pt x="138" y="21"/>
                  <a:pt x="138" y="21"/>
                  <a:pt x="138" y="21"/>
                </a:cubicBezTo>
                <a:cubicBezTo>
                  <a:pt x="143" y="26"/>
                  <a:pt x="143" y="26"/>
                  <a:pt x="143" y="26"/>
                </a:cubicBezTo>
                <a:cubicBezTo>
                  <a:pt x="132" y="44"/>
                  <a:pt x="132" y="44"/>
                  <a:pt x="132" y="44"/>
                </a:cubicBezTo>
                <a:cubicBezTo>
                  <a:pt x="133" y="46"/>
                  <a:pt x="135" y="49"/>
                  <a:pt x="136" y="51"/>
                </a:cubicBezTo>
                <a:cubicBezTo>
                  <a:pt x="157" y="47"/>
                  <a:pt x="157" y="47"/>
                  <a:pt x="157" y="47"/>
                </a:cubicBezTo>
                <a:cubicBezTo>
                  <a:pt x="160" y="54"/>
                  <a:pt x="160" y="54"/>
                  <a:pt x="160" y="54"/>
                </a:cubicBezTo>
                <a:cubicBezTo>
                  <a:pt x="142" y="66"/>
                  <a:pt x="142" y="66"/>
                  <a:pt x="142" y="66"/>
                </a:cubicBezTo>
                <a:cubicBezTo>
                  <a:pt x="143" y="69"/>
                  <a:pt x="144" y="71"/>
                  <a:pt x="144" y="74"/>
                </a:cubicBezTo>
                <a:cubicBezTo>
                  <a:pt x="165" y="78"/>
                  <a:pt x="165" y="78"/>
                  <a:pt x="165" y="78"/>
                </a:cubicBezTo>
                <a:cubicBezTo>
                  <a:pt x="165" y="86"/>
                  <a:pt x="165" y="86"/>
                  <a:pt x="165" y="86"/>
                </a:cubicBezTo>
                <a:cubicBezTo>
                  <a:pt x="144" y="90"/>
                  <a:pt x="144" y="90"/>
                  <a:pt x="144" y="90"/>
                </a:cubicBezTo>
                <a:cubicBezTo>
                  <a:pt x="144" y="93"/>
                  <a:pt x="143" y="95"/>
                  <a:pt x="142" y="98"/>
                </a:cubicBezTo>
                <a:cubicBezTo>
                  <a:pt x="160" y="110"/>
                  <a:pt x="160" y="110"/>
                  <a:pt x="160" y="110"/>
                </a:cubicBezTo>
                <a:cubicBezTo>
                  <a:pt x="157" y="117"/>
                  <a:pt x="157" y="117"/>
                  <a:pt x="157" y="117"/>
                </a:cubicBezTo>
                <a:cubicBezTo>
                  <a:pt x="136" y="113"/>
                  <a:pt x="136" y="113"/>
                  <a:pt x="136" y="113"/>
                </a:cubicBezTo>
                <a:cubicBezTo>
                  <a:pt x="135" y="115"/>
                  <a:pt x="133" y="117"/>
                  <a:pt x="132" y="119"/>
                </a:cubicBezTo>
                <a:cubicBezTo>
                  <a:pt x="143" y="138"/>
                  <a:pt x="143" y="138"/>
                  <a:pt x="143" y="138"/>
                </a:cubicBezTo>
                <a:cubicBezTo>
                  <a:pt x="138" y="143"/>
                  <a:pt x="138" y="143"/>
                  <a:pt x="138" y="143"/>
                </a:cubicBezTo>
                <a:cubicBezTo>
                  <a:pt x="120" y="131"/>
                  <a:pt x="120" y="131"/>
                  <a:pt x="120" y="131"/>
                </a:cubicBezTo>
                <a:cubicBezTo>
                  <a:pt x="118" y="133"/>
                  <a:pt x="116" y="134"/>
                  <a:pt x="114" y="135"/>
                </a:cubicBezTo>
                <a:cubicBezTo>
                  <a:pt x="117" y="157"/>
                  <a:pt x="117" y="157"/>
                  <a:pt x="117" y="157"/>
                </a:cubicBezTo>
                <a:cubicBezTo>
                  <a:pt x="111" y="159"/>
                  <a:pt x="111" y="159"/>
                  <a:pt x="111" y="159"/>
                </a:cubicBezTo>
                <a:cubicBezTo>
                  <a:pt x="98" y="142"/>
                  <a:pt x="98" y="142"/>
                  <a:pt x="98" y="142"/>
                </a:cubicBezTo>
                <a:cubicBezTo>
                  <a:pt x="96" y="142"/>
                  <a:pt x="93" y="143"/>
                  <a:pt x="91" y="143"/>
                </a:cubicBezTo>
                <a:cubicBezTo>
                  <a:pt x="86" y="164"/>
                  <a:pt x="86" y="164"/>
                  <a:pt x="86" y="164"/>
                </a:cubicBezTo>
                <a:cubicBezTo>
                  <a:pt x="79" y="164"/>
                  <a:pt x="79" y="164"/>
                  <a:pt x="79" y="164"/>
                </a:cubicBezTo>
                <a:cubicBezTo>
                  <a:pt x="74" y="143"/>
                  <a:pt x="74" y="143"/>
                  <a:pt x="74" y="143"/>
                </a:cubicBezTo>
                <a:cubicBezTo>
                  <a:pt x="72" y="143"/>
                  <a:pt x="69" y="142"/>
                  <a:pt x="67" y="142"/>
                </a:cubicBezTo>
                <a:cubicBezTo>
                  <a:pt x="54" y="159"/>
                  <a:pt x="54" y="159"/>
                  <a:pt x="54" y="159"/>
                </a:cubicBezTo>
                <a:cubicBezTo>
                  <a:pt x="48" y="157"/>
                  <a:pt x="48" y="157"/>
                  <a:pt x="48" y="157"/>
                </a:cubicBezTo>
                <a:cubicBezTo>
                  <a:pt x="52" y="135"/>
                  <a:pt x="52" y="135"/>
                  <a:pt x="52" y="135"/>
                </a:cubicBezTo>
                <a:cubicBezTo>
                  <a:pt x="49" y="134"/>
                  <a:pt x="47" y="133"/>
                  <a:pt x="45" y="131"/>
                </a:cubicBezTo>
                <a:cubicBezTo>
                  <a:pt x="27" y="143"/>
                  <a:pt x="27" y="143"/>
                  <a:pt x="27" y="143"/>
                </a:cubicBezTo>
                <a:cubicBezTo>
                  <a:pt x="22" y="138"/>
                  <a:pt x="22" y="138"/>
                  <a:pt x="22" y="138"/>
                </a:cubicBezTo>
                <a:cubicBezTo>
                  <a:pt x="33" y="119"/>
                  <a:pt x="33" y="119"/>
                  <a:pt x="33" y="119"/>
                </a:cubicBezTo>
                <a:cubicBezTo>
                  <a:pt x="32" y="117"/>
                  <a:pt x="30" y="115"/>
                  <a:pt x="29" y="113"/>
                </a:cubicBezTo>
                <a:cubicBezTo>
                  <a:pt x="8" y="117"/>
                  <a:pt x="8" y="117"/>
                  <a:pt x="8" y="117"/>
                </a:cubicBezTo>
                <a:cubicBezTo>
                  <a:pt x="5" y="110"/>
                  <a:pt x="5" y="110"/>
                  <a:pt x="5" y="110"/>
                </a:cubicBezTo>
                <a:cubicBezTo>
                  <a:pt x="23" y="98"/>
                  <a:pt x="23" y="98"/>
                  <a:pt x="23" y="98"/>
                </a:cubicBezTo>
                <a:cubicBezTo>
                  <a:pt x="22" y="95"/>
                  <a:pt x="21" y="93"/>
                  <a:pt x="21" y="90"/>
                </a:cubicBezTo>
                <a:cubicBezTo>
                  <a:pt x="0" y="86"/>
                  <a:pt x="0" y="86"/>
                  <a:pt x="0" y="86"/>
                </a:cubicBezTo>
                <a:cubicBezTo>
                  <a:pt x="0" y="78"/>
                  <a:pt x="0" y="78"/>
                  <a:pt x="0" y="78"/>
                </a:cubicBezTo>
                <a:cubicBezTo>
                  <a:pt x="21" y="74"/>
                  <a:pt x="21" y="74"/>
                  <a:pt x="21" y="74"/>
                </a:cubicBezTo>
                <a:cubicBezTo>
                  <a:pt x="21" y="71"/>
                  <a:pt x="22" y="69"/>
                  <a:pt x="23" y="66"/>
                </a:cubicBezTo>
                <a:cubicBezTo>
                  <a:pt x="5" y="54"/>
                  <a:pt x="5" y="54"/>
                  <a:pt x="5" y="54"/>
                </a:cubicBezTo>
                <a:cubicBezTo>
                  <a:pt x="8" y="47"/>
                  <a:pt x="8" y="47"/>
                  <a:pt x="8" y="47"/>
                </a:cubicBezTo>
                <a:cubicBezTo>
                  <a:pt x="29" y="51"/>
                  <a:pt x="29" y="51"/>
                  <a:pt x="29" y="51"/>
                </a:cubicBezTo>
                <a:cubicBezTo>
                  <a:pt x="30" y="49"/>
                  <a:pt x="32" y="46"/>
                  <a:pt x="33" y="44"/>
                </a:cubicBezTo>
                <a:cubicBezTo>
                  <a:pt x="22" y="26"/>
                  <a:pt x="22" y="26"/>
                  <a:pt x="22" y="26"/>
                </a:cubicBezTo>
                <a:cubicBezTo>
                  <a:pt x="27" y="21"/>
                  <a:pt x="27" y="21"/>
                  <a:pt x="27" y="21"/>
                </a:cubicBezTo>
                <a:cubicBezTo>
                  <a:pt x="45" y="33"/>
                  <a:pt x="45" y="33"/>
                  <a:pt x="45" y="33"/>
                </a:cubicBezTo>
                <a:cubicBezTo>
                  <a:pt x="47" y="31"/>
                  <a:pt x="49" y="30"/>
                  <a:pt x="51" y="28"/>
                </a:cubicBezTo>
                <a:cubicBezTo>
                  <a:pt x="48" y="7"/>
                  <a:pt x="48" y="7"/>
                  <a:pt x="48" y="7"/>
                </a:cubicBezTo>
                <a:cubicBezTo>
                  <a:pt x="54" y="4"/>
                  <a:pt x="54" y="4"/>
                  <a:pt x="54" y="4"/>
                </a:cubicBezTo>
                <a:cubicBezTo>
                  <a:pt x="67" y="22"/>
                  <a:pt x="67" y="22"/>
                  <a:pt x="67" y="22"/>
                </a:cubicBezTo>
                <a:cubicBezTo>
                  <a:pt x="69" y="21"/>
                  <a:pt x="72" y="21"/>
                  <a:pt x="74" y="21"/>
                </a:cubicBezTo>
                <a:cubicBezTo>
                  <a:pt x="79" y="0"/>
                  <a:pt x="79" y="0"/>
                  <a:pt x="79" y="0"/>
                </a:cubicBezTo>
                <a:close/>
                <a:moveTo>
                  <a:pt x="83" y="32"/>
                </a:moveTo>
                <a:cubicBezTo>
                  <a:pt x="110" y="32"/>
                  <a:pt x="132" y="55"/>
                  <a:pt x="132" y="82"/>
                </a:cubicBezTo>
                <a:cubicBezTo>
                  <a:pt x="132" y="109"/>
                  <a:pt x="110" y="131"/>
                  <a:pt x="83" y="131"/>
                </a:cubicBezTo>
                <a:cubicBezTo>
                  <a:pt x="55" y="131"/>
                  <a:pt x="33" y="109"/>
                  <a:pt x="33" y="82"/>
                </a:cubicBezTo>
                <a:cubicBezTo>
                  <a:pt x="33" y="55"/>
                  <a:pt x="55" y="32"/>
                  <a:pt x="83" y="32"/>
                </a:cubicBezTo>
                <a:close/>
              </a:path>
            </a:pathLst>
          </a:custGeom>
          <a:solidFill>
            <a:srgbClr val="4B57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10" name="Oval 10"/>
          <p:cNvSpPr>
            <a:spLocks noChangeArrowheads="1"/>
          </p:cNvSpPr>
          <p:nvPr/>
        </p:nvSpPr>
        <p:spPr bwMode="auto">
          <a:xfrm>
            <a:off x="1262435" y="4712171"/>
            <a:ext cx="1109663" cy="1098550"/>
          </a:xfrm>
          <a:prstGeom prst="ellipse">
            <a:avLst/>
          </a:prstGeom>
          <a:solidFill>
            <a:srgbClr val="FEE7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11" name="Freeform 11"/>
          <p:cNvSpPr>
            <a:spLocks noEditPoints="1"/>
          </p:cNvSpPr>
          <p:nvPr/>
        </p:nvSpPr>
        <p:spPr bwMode="auto">
          <a:xfrm>
            <a:off x="987798" y="4429596"/>
            <a:ext cx="1670050" cy="1663700"/>
          </a:xfrm>
          <a:custGeom>
            <a:avLst/>
            <a:gdLst>
              <a:gd name="T0" fmla="*/ 57 w 164"/>
              <a:gd name="T1" fmla="*/ 4 h 165"/>
              <a:gd name="T2" fmla="*/ 51 w 164"/>
              <a:gd name="T3" fmla="*/ 29 h 165"/>
              <a:gd name="T4" fmla="*/ 29 w 164"/>
              <a:gd name="T5" fmla="*/ 19 h 165"/>
              <a:gd name="T6" fmla="*/ 33 w 164"/>
              <a:gd name="T7" fmla="*/ 45 h 165"/>
              <a:gd name="T8" fmla="*/ 9 w 164"/>
              <a:gd name="T9" fmla="*/ 45 h 165"/>
              <a:gd name="T10" fmla="*/ 22 w 164"/>
              <a:gd name="T11" fmla="*/ 66 h 165"/>
              <a:gd name="T12" fmla="*/ 0 w 164"/>
              <a:gd name="T13" fmla="*/ 75 h 165"/>
              <a:gd name="T14" fmla="*/ 21 w 164"/>
              <a:gd name="T15" fmla="*/ 91 h 165"/>
              <a:gd name="T16" fmla="*/ 3 w 164"/>
              <a:gd name="T17" fmla="*/ 107 h 165"/>
              <a:gd name="T18" fmla="*/ 28 w 164"/>
              <a:gd name="T19" fmla="*/ 113 h 165"/>
              <a:gd name="T20" fmla="*/ 19 w 164"/>
              <a:gd name="T21" fmla="*/ 136 h 165"/>
              <a:gd name="T22" fmla="*/ 44 w 164"/>
              <a:gd name="T23" fmla="*/ 132 h 165"/>
              <a:gd name="T24" fmla="*/ 44 w 164"/>
              <a:gd name="T25" fmla="*/ 156 h 165"/>
              <a:gd name="T26" fmla="*/ 66 w 164"/>
              <a:gd name="T27" fmla="*/ 142 h 165"/>
              <a:gd name="T28" fmla="*/ 75 w 164"/>
              <a:gd name="T29" fmla="*/ 165 h 165"/>
              <a:gd name="T30" fmla="*/ 90 w 164"/>
              <a:gd name="T31" fmla="*/ 144 h 165"/>
              <a:gd name="T32" fmla="*/ 107 w 164"/>
              <a:gd name="T33" fmla="*/ 161 h 165"/>
              <a:gd name="T34" fmla="*/ 113 w 164"/>
              <a:gd name="T35" fmla="*/ 136 h 165"/>
              <a:gd name="T36" fmla="*/ 135 w 164"/>
              <a:gd name="T37" fmla="*/ 146 h 165"/>
              <a:gd name="T38" fmla="*/ 131 w 164"/>
              <a:gd name="T39" fmla="*/ 120 h 165"/>
              <a:gd name="T40" fmla="*/ 155 w 164"/>
              <a:gd name="T41" fmla="*/ 121 h 165"/>
              <a:gd name="T42" fmla="*/ 142 w 164"/>
              <a:gd name="T43" fmla="*/ 99 h 165"/>
              <a:gd name="T44" fmla="*/ 164 w 164"/>
              <a:gd name="T45" fmla="*/ 90 h 165"/>
              <a:gd name="T46" fmla="*/ 143 w 164"/>
              <a:gd name="T47" fmla="*/ 75 h 165"/>
              <a:gd name="T48" fmla="*/ 161 w 164"/>
              <a:gd name="T49" fmla="*/ 58 h 165"/>
              <a:gd name="T50" fmla="*/ 136 w 164"/>
              <a:gd name="T51" fmla="*/ 52 h 165"/>
              <a:gd name="T52" fmla="*/ 145 w 164"/>
              <a:gd name="T53" fmla="*/ 30 h 165"/>
              <a:gd name="T54" fmla="*/ 120 w 164"/>
              <a:gd name="T55" fmla="*/ 34 h 165"/>
              <a:gd name="T56" fmla="*/ 120 w 164"/>
              <a:gd name="T57" fmla="*/ 9 h 165"/>
              <a:gd name="T58" fmla="*/ 98 w 164"/>
              <a:gd name="T59" fmla="*/ 23 h 165"/>
              <a:gd name="T60" fmla="*/ 89 w 164"/>
              <a:gd name="T61" fmla="*/ 0 h 165"/>
              <a:gd name="T62" fmla="*/ 74 w 164"/>
              <a:gd name="T63" fmla="*/ 21 h 165"/>
              <a:gd name="T64" fmla="*/ 69 w 164"/>
              <a:gd name="T65" fmla="*/ 35 h 165"/>
              <a:gd name="T66" fmla="*/ 95 w 164"/>
              <a:gd name="T67" fmla="*/ 130 h 165"/>
              <a:gd name="T68" fmla="*/ 69 w 164"/>
              <a:gd name="T69" fmla="*/ 3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4" h="165">
                <a:moveTo>
                  <a:pt x="64" y="2"/>
                </a:moveTo>
                <a:cubicBezTo>
                  <a:pt x="57" y="4"/>
                  <a:pt x="57" y="4"/>
                  <a:pt x="57" y="4"/>
                </a:cubicBezTo>
                <a:cubicBezTo>
                  <a:pt x="58" y="25"/>
                  <a:pt x="58" y="25"/>
                  <a:pt x="58" y="25"/>
                </a:cubicBezTo>
                <a:cubicBezTo>
                  <a:pt x="56" y="26"/>
                  <a:pt x="53" y="28"/>
                  <a:pt x="51" y="29"/>
                </a:cubicBezTo>
                <a:cubicBezTo>
                  <a:pt x="35" y="15"/>
                  <a:pt x="35" y="15"/>
                  <a:pt x="35" y="15"/>
                </a:cubicBezTo>
                <a:cubicBezTo>
                  <a:pt x="29" y="19"/>
                  <a:pt x="29" y="19"/>
                  <a:pt x="29" y="19"/>
                </a:cubicBezTo>
                <a:cubicBezTo>
                  <a:pt x="38" y="39"/>
                  <a:pt x="38" y="39"/>
                  <a:pt x="38" y="39"/>
                </a:cubicBezTo>
                <a:cubicBezTo>
                  <a:pt x="36" y="41"/>
                  <a:pt x="34" y="43"/>
                  <a:pt x="33" y="45"/>
                </a:cubicBezTo>
                <a:cubicBezTo>
                  <a:pt x="12" y="38"/>
                  <a:pt x="12" y="38"/>
                  <a:pt x="12" y="38"/>
                </a:cubicBezTo>
                <a:cubicBezTo>
                  <a:pt x="9" y="45"/>
                  <a:pt x="9" y="45"/>
                  <a:pt x="9" y="45"/>
                </a:cubicBezTo>
                <a:cubicBezTo>
                  <a:pt x="25" y="59"/>
                  <a:pt x="25" y="59"/>
                  <a:pt x="25" y="59"/>
                </a:cubicBezTo>
                <a:cubicBezTo>
                  <a:pt x="24" y="61"/>
                  <a:pt x="23" y="64"/>
                  <a:pt x="22" y="66"/>
                </a:cubicBezTo>
                <a:cubicBezTo>
                  <a:pt x="1" y="68"/>
                  <a:pt x="1" y="68"/>
                  <a:pt x="1" y="68"/>
                </a:cubicBezTo>
                <a:cubicBezTo>
                  <a:pt x="0" y="75"/>
                  <a:pt x="0" y="75"/>
                  <a:pt x="0" y="75"/>
                </a:cubicBezTo>
                <a:cubicBezTo>
                  <a:pt x="20" y="83"/>
                  <a:pt x="20" y="83"/>
                  <a:pt x="20" y="83"/>
                </a:cubicBezTo>
                <a:cubicBezTo>
                  <a:pt x="20" y="85"/>
                  <a:pt x="20" y="88"/>
                  <a:pt x="21" y="91"/>
                </a:cubicBezTo>
                <a:cubicBezTo>
                  <a:pt x="1" y="100"/>
                  <a:pt x="1" y="100"/>
                  <a:pt x="1" y="100"/>
                </a:cubicBezTo>
                <a:cubicBezTo>
                  <a:pt x="3" y="107"/>
                  <a:pt x="3" y="107"/>
                  <a:pt x="3" y="107"/>
                </a:cubicBezTo>
                <a:cubicBezTo>
                  <a:pt x="25" y="106"/>
                  <a:pt x="25" y="106"/>
                  <a:pt x="25" y="106"/>
                </a:cubicBezTo>
                <a:cubicBezTo>
                  <a:pt x="26" y="109"/>
                  <a:pt x="27" y="111"/>
                  <a:pt x="28" y="113"/>
                </a:cubicBezTo>
                <a:cubicBezTo>
                  <a:pt x="14" y="130"/>
                  <a:pt x="14" y="130"/>
                  <a:pt x="14" y="130"/>
                </a:cubicBezTo>
                <a:cubicBezTo>
                  <a:pt x="19" y="136"/>
                  <a:pt x="19" y="136"/>
                  <a:pt x="19" y="136"/>
                </a:cubicBezTo>
                <a:cubicBezTo>
                  <a:pt x="38" y="126"/>
                  <a:pt x="38" y="126"/>
                  <a:pt x="38" y="126"/>
                </a:cubicBezTo>
                <a:cubicBezTo>
                  <a:pt x="40" y="128"/>
                  <a:pt x="42" y="130"/>
                  <a:pt x="44" y="132"/>
                </a:cubicBezTo>
                <a:cubicBezTo>
                  <a:pt x="38" y="152"/>
                  <a:pt x="38" y="152"/>
                  <a:pt x="38" y="152"/>
                </a:cubicBezTo>
                <a:cubicBezTo>
                  <a:pt x="44" y="156"/>
                  <a:pt x="44" y="156"/>
                  <a:pt x="44" y="156"/>
                </a:cubicBezTo>
                <a:cubicBezTo>
                  <a:pt x="58" y="140"/>
                  <a:pt x="58" y="140"/>
                  <a:pt x="58" y="140"/>
                </a:cubicBezTo>
                <a:cubicBezTo>
                  <a:pt x="61" y="141"/>
                  <a:pt x="63" y="142"/>
                  <a:pt x="66" y="142"/>
                </a:cubicBezTo>
                <a:cubicBezTo>
                  <a:pt x="68" y="164"/>
                  <a:pt x="68" y="164"/>
                  <a:pt x="68" y="164"/>
                </a:cubicBezTo>
                <a:cubicBezTo>
                  <a:pt x="75" y="165"/>
                  <a:pt x="75" y="165"/>
                  <a:pt x="75" y="165"/>
                </a:cubicBezTo>
                <a:cubicBezTo>
                  <a:pt x="82" y="144"/>
                  <a:pt x="82" y="144"/>
                  <a:pt x="82" y="144"/>
                </a:cubicBezTo>
                <a:cubicBezTo>
                  <a:pt x="85" y="145"/>
                  <a:pt x="87" y="144"/>
                  <a:pt x="90" y="144"/>
                </a:cubicBezTo>
                <a:cubicBezTo>
                  <a:pt x="100" y="163"/>
                  <a:pt x="100" y="163"/>
                  <a:pt x="100" y="163"/>
                </a:cubicBezTo>
                <a:cubicBezTo>
                  <a:pt x="107" y="161"/>
                  <a:pt x="107" y="161"/>
                  <a:pt x="107" y="161"/>
                </a:cubicBezTo>
                <a:cubicBezTo>
                  <a:pt x="106" y="140"/>
                  <a:pt x="106" y="140"/>
                  <a:pt x="106" y="140"/>
                </a:cubicBezTo>
                <a:cubicBezTo>
                  <a:pt x="108" y="139"/>
                  <a:pt x="111" y="138"/>
                  <a:pt x="113" y="136"/>
                </a:cubicBezTo>
                <a:cubicBezTo>
                  <a:pt x="129" y="150"/>
                  <a:pt x="129" y="150"/>
                  <a:pt x="129" y="150"/>
                </a:cubicBezTo>
                <a:cubicBezTo>
                  <a:pt x="135" y="146"/>
                  <a:pt x="135" y="146"/>
                  <a:pt x="135" y="146"/>
                </a:cubicBezTo>
                <a:cubicBezTo>
                  <a:pt x="126" y="126"/>
                  <a:pt x="126" y="126"/>
                  <a:pt x="126" y="126"/>
                </a:cubicBezTo>
                <a:cubicBezTo>
                  <a:pt x="128" y="124"/>
                  <a:pt x="129" y="123"/>
                  <a:pt x="131" y="120"/>
                </a:cubicBezTo>
                <a:cubicBezTo>
                  <a:pt x="151" y="127"/>
                  <a:pt x="151" y="127"/>
                  <a:pt x="151" y="127"/>
                </a:cubicBezTo>
                <a:cubicBezTo>
                  <a:pt x="155" y="121"/>
                  <a:pt x="155" y="121"/>
                  <a:pt x="155" y="121"/>
                </a:cubicBezTo>
                <a:cubicBezTo>
                  <a:pt x="139" y="106"/>
                  <a:pt x="139" y="106"/>
                  <a:pt x="139" y="106"/>
                </a:cubicBezTo>
                <a:cubicBezTo>
                  <a:pt x="140" y="104"/>
                  <a:pt x="141" y="101"/>
                  <a:pt x="142" y="99"/>
                </a:cubicBezTo>
                <a:cubicBezTo>
                  <a:pt x="163" y="97"/>
                  <a:pt x="163" y="97"/>
                  <a:pt x="163" y="97"/>
                </a:cubicBezTo>
                <a:cubicBezTo>
                  <a:pt x="164" y="90"/>
                  <a:pt x="164" y="90"/>
                  <a:pt x="164" y="90"/>
                </a:cubicBezTo>
                <a:cubicBezTo>
                  <a:pt x="144" y="82"/>
                  <a:pt x="144" y="82"/>
                  <a:pt x="144" y="82"/>
                </a:cubicBezTo>
                <a:cubicBezTo>
                  <a:pt x="144" y="80"/>
                  <a:pt x="144" y="77"/>
                  <a:pt x="143" y="75"/>
                </a:cubicBezTo>
                <a:cubicBezTo>
                  <a:pt x="162" y="65"/>
                  <a:pt x="162" y="65"/>
                  <a:pt x="162" y="65"/>
                </a:cubicBezTo>
                <a:cubicBezTo>
                  <a:pt x="161" y="58"/>
                  <a:pt x="161" y="58"/>
                  <a:pt x="161" y="58"/>
                </a:cubicBezTo>
                <a:cubicBezTo>
                  <a:pt x="139" y="59"/>
                  <a:pt x="139" y="59"/>
                  <a:pt x="139" y="59"/>
                </a:cubicBezTo>
                <a:cubicBezTo>
                  <a:pt x="138" y="56"/>
                  <a:pt x="137" y="54"/>
                  <a:pt x="136" y="52"/>
                </a:cubicBezTo>
                <a:cubicBezTo>
                  <a:pt x="150" y="35"/>
                  <a:pt x="150" y="35"/>
                  <a:pt x="150" y="35"/>
                </a:cubicBezTo>
                <a:cubicBezTo>
                  <a:pt x="145" y="30"/>
                  <a:pt x="145" y="30"/>
                  <a:pt x="145" y="30"/>
                </a:cubicBezTo>
                <a:cubicBezTo>
                  <a:pt x="126" y="39"/>
                  <a:pt x="126" y="39"/>
                  <a:pt x="126" y="39"/>
                </a:cubicBezTo>
                <a:cubicBezTo>
                  <a:pt x="124" y="37"/>
                  <a:pt x="122" y="35"/>
                  <a:pt x="120" y="34"/>
                </a:cubicBezTo>
                <a:cubicBezTo>
                  <a:pt x="126" y="13"/>
                  <a:pt x="126" y="13"/>
                  <a:pt x="126" y="13"/>
                </a:cubicBezTo>
                <a:cubicBezTo>
                  <a:pt x="120" y="9"/>
                  <a:pt x="120" y="9"/>
                  <a:pt x="120" y="9"/>
                </a:cubicBezTo>
                <a:cubicBezTo>
                  <a:pt x="106" y="25"/>
                  <a:pt x="106" y="25"/>
                  <a:pt x="106" y="25"/>
                </a:cubicBezTo>
                <a:cubicBezTo>
                  <a:pt x="103" y="24"/>
                  <a:pt x="101" y="23"/>
                  <a:pt x="98" y="23"/>
                </a:cubicBezTo>
                <a:cubicBezTo>
                  <a:pt x="96" y="1"/>
                  <a:pt x="96" y="1"/>
                  <a:pt x="96" y="1"/>
                </a:cubicBezTo>
                <a:cubicBezTo>
                  <a:pt x="89" y="0"/>
                  <a:pt x="89" y="0"/>
                  <a:pt x="89" y="0"/>
                </a:cubicBezTo>
                <a:cubicBezTo>
                  <a:pt x="82" y="21"/>
                  <a:pt x="82" y="21"/>
                  <a:pt x="82" y="21"/>
                </a:cubicBezTo>
                <a:cubicBezTo>
                  <a:pt x="79" y="21"/>
                  <a:pt x="77" y="21"/>
                  <a:pt x="74" y="21"/>
                </a:cubicBezTo>
                <a:cubicBezTo>
                  <a:pt x="64" y="2"/>
                  <a:pt x="64" y="2"/>
                  <a:pt x="64" y="2"/>
                </a:cubicBezTo>
                <a:close/>
                <a:moveTo>
                  <a:pt x="69" y="35"/>
                </a:moveTo>
                <a:cubicBezTo>
                  <a:pt x="43" y="42"/>
                  <a:pt x="27" y="69"/>
                  <a:pt x="34" y="95"/>
                </a:cubicBezTo>
                <a:cubicBezTo>
                  <a:pt x="41" y="121"/>
                  <a:pt x="68" y="137"/>
                  <a:pt x="95" y="130"/>
                </a:cubicBezTo>
                <a:cubicBezTo>
                  <a:pt x="121" y="123"/>
                  <a:pt x="137" y="96"/>
                  <a:pt x="130" y="70"/>
                </a:cubicBezTo>
                <a:cubicBezTo>
                  <a:pt x="122" y="43"/>
                  <a:pt x="95" y="28"/>
                  <a:pt x="69" y="35"/>
                </a:cubicBezTo>
                <a:close/>
              </a:path>
            </a:pathLst>
          </a:custGeom>
          <a:solidFill>
            <a:srgbClr val="F4B4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12" name="文本框 11"/>
          <p:cNvSpPr txBox="1"/>
          <p:nvPr/>
        </p:nvSpPr>
        <p:spPr>
          <a:xfrm>
            <a:off x="2689988" y="1749520"/>
            <a:ext cx="5565811" cy="830997"/>
          </a:xfrm>
          <a:prstGeom prst="rect">
            <a:avLst/>
          </a:prstGeom>
          <a:noFill/>
        </p:spPr>
        <p:txBody>
          <a:bodyPr wrap="square" rtlCol="0">
            <a:spAutoFit/>
          </a:bodyPr>
          <a:lstStyle/>
          <a:p>
            <a:pPr>
              <a:lnSpc>
                <a:spcPct val="12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启动一个进程时，加载器完成文件映射的功能，所以执行文件又可称为映像文件。</a:t>
            </a:r>
          </a:p>
        </p:txBody>
      </p:sp>
      <p:sp>
        <p:nvSpPr>
          <p:cNvPr id="13" name="文本框 12"/>
          <p:cNvSpPr txBox="1"/>
          <p:nvPr/>
        </p:nvSpPr>
        <p:spPr>
          <a:xfrm>
            <a:off x="2655044" y="3154787"/>
            <a:ext cx="5597951" cy="1200329"/>
          </a:xfrm>
          <a:prstGeom prst="rect">
            <a:avLst/>
          </a:prstGeom>
          <a:noFill/>
        </p:spPr>
        <p:txBody>
          <a:bodyPr wrap="square" rtlCol="0">
            <a:spAutoFit/>
          </a:bodyPr>
          <a:lstStyle/>
          <a:p>
            <a:pPr>
              <a:lnSpc>
                <a:spcPct val="12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实际上加载器并不真正负责从磁盘加载数据到内存，因为和虚拟内存建立了映射关系，操作是虚拟内存自动进行的。 </a:t>
            </a:r>
          </a:p>
        </p:txBody>
      </p:sp>
      <p:sp>
        <p:nvSpPr>
          <p:cNvPr id="14" name="文本框 13"/>
          <p:cNvSpPr txBox="1"/>
          <p:nvPr/>
        </p:nvSpPr>
        <p:spPr>
          <a:xfrm>
            <a:off x="2750605" y="4881050"/>
            <a:ext cx="5505194" cy="799706"/>
          </a:xfrm>
          <a:prstGeom prst="rect">
            <a:avLst/>
          </a:prstGeom>
          <a:noFill/>
        </p:spPr>
        <p:txBody>
          <a:bodyPr wrap="square" rtlCol="0">
            <a:spAutoFit/>
          </a:bodyPr>
          <a:lstStyle/>
          <a:p>
            <a:pPr>
              <a:lnSpc>
                <a:spcPct val="12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正是有了存储器映射的存在，使得我们可以很方便的将程序和数据加载到内存中。</a:t>
            </a:r>
          </a:p>
        </p:txBody>
      </p:sp>
      <p:sp>
        <p:nvSpPr>
          <p:cNvPr id="15" name="文本框 14"/>
          <p:cNvSpPr txBox="1"/>
          <p:nvPr/>
        </p:nvSpPr>
        <p:spPr>
          <a:xfrm>
            <a:off x="1613906" y="1946894"/>
            <a:ext cx="365806" cy="461665"/>
          </a:xfrm>
          <a:prstGeom prst="rect">
            <a:avLst/>
          </a:prstGeom>
          <a:noFill/>
        </p:spPr>
        <p:txBody>
          <a:bodyPr wrap="none" rtlCol="0">
            <a:spAutoFit/>
          </a:bodyPr>
          <a:lstStyle/>
          <a:p>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rPr>
              <a:t>1</a:t>
            </a:r>
            <a:endPar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1613906" y="5022031"/>
            <a:ext cx="365806" cy="461665"/>
          </a:xfrm>
          <a:prstGeom prst="rect">
            <a:avLst/>
          </a:prstGeom>
          <a:noFill/>
        </p:spPr>
        <p:txBody>
          <a:bodyPr wrap="none" rtlCol="0">
            <a:spAutoFit/>
          </a:bodyPr>
          <a:lstStyle/>
          <a:p>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rPr>
              <a:t>3</a:t>
            </a:r>
            <a:endPar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1259632" y="3497808"/>
            <a:ext cx="365806" cy="461665"/>
          </a:xfrm>
          <a:prstGeom prst="rect">
            <a:avLst/>
          </a:prstGeom>
          <a:noFill/>
        </p:spPr>
        <p:txBody>
          <a:bodyPr wrap="none" rtlCol="0">
            <a:spAutoFit/>
          </a:bodyPr>
          <a:lstStyle/>
          <a:p>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rPr>
              <a:t>2</a:t>
            </a:r>
            <a:endPar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4072200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anose="020B0503020204020204" pitchFamily="34" charset="-122"/>
              <a:ea typeface="微软雅黑" panose="020B0503020204020204" pitchFamily="34" charset="-122"/>
            </a:endParaRPr>
          </a:p>
        </p:txBody>
      </p:sp>
      <p:sp>
        <p:nvSpPr>
          <p:cNvPr id="10" name="TextBox 15"/>
          <p:cNvSpPr txBox="1"/>
          <p:nvPr/>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pPr algn="ctr"/>
              <a:t>36</a:t>
            </a:fld>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t> </a:t>
            </a:r>
            <a:endParaRPr lang="zh-CN" altLang="en-US" sz="1600" b="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2" name="TextBox 15"/>
          <p:cNvSpPr txBox="1">
            <a:spLocks noChangeArrowheads="1"/>
          </p:cNvSpPr>
          <p:nvPr/>
        </p:nvSpPr>
        <p:spPr bwMode="auto">
          <a:xfrm>
            <a:off x="2966244" y="4119885"/>
            <a:ext cx="3405956" cy="1884273"/>
          </a:xfrm>
          <a:prstGeom prst="rect">
            <a:avLst/>
          </a:prstGeom>
          <a:noFill/>
          <a:ln w="9525">
            <a:noFill/>
            <a:miter lim="800000"/>
            <a:headEnd/>
            <a:tailEnd/>
          </a:ln>
        </p:spPr>
        <p:txBody>
          <a:bodyPr wrap="square" lIns="67730" tIns="33865" rIns="67730" bIns="33865">
            <a:spAutoFit/>
          </a:bodyP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indent="-342900" defTabSz="762000">
              <a:lnSpc>
                <a:spcPct val="150000"/>
              </a:lnSpc>
              <a:spcAft>
                <a:spcPts val="600"/>
              </a:spcAft>
              <a:buFont typeface="Wingdings" pitchFamily="2" charset="2"/>
              <a:buChar char="u"/>
            </a:pPr>
            <a:r>
              <a:rPr lang="zh-CN" altLang="en-US" sz="2400" b="1" dirty="0">
                <a:solidFill>
                  <a:schemeClr val="tx1">
                    <a:lumMod val="65000"/>
                    <a:lumOff val="35000"/>
                  </a:schemeClr>
                </a:solidFill>
                <a:latin typeface="微软雅黑" pitchFamily="34" charset="-122"/>
                <a:ea typeface="微软雅黑" pitchFamily="34" charset="-122"/>
              </a:rPr>
              <a:t>保护模式下的分段</a:t>
            </a:r>
            <a:endParaRPr lang="en-US" altLang="zh-CN" sz="2400" b="1" dirty="0">
              <a:solidFill>
                <a:schemeClr val="tx1">
                  <a:lumMod val="65000"/>
                  <a:lumOff val="35000"/>
                </a:schemeClr>
              </a:solidFill>
              <a:latin typeface="微软雅黑" pitchFamily="34" charset="-122"/>
              <a:ea typeface="微软雅黑" pitchFamily="34" charset="-122"/>
            </a:endParaRPr>
          </a:p>
          <a:p>
            <a:pPr indent="-342900" defTabSz="762000">
              <a:lnSpc>
                <a:spcPct val="150000"/>
              </a:lnSpc>
              <a:spcAft>
                <a:spcPts val="600"/>
              </a:spcAft>
              <a:buFont typeface="Wingdings" pitchFamily="2" charset="2"/>
              <a:buChar char="u"/>
            </a:pPr>
            <a:r>
              <a:rPr lang="zh-CN" altLang="en-US" sz="2400" b="1" dirty="0">
                <a:solidFill>
                  <a:schemeClr val="tx1">
                    <a:lumMod val="65000"/>
                    <a:lumOff val="35000"/>
                  </a:schemeClr>
                </a:solidFill>
                <a:latin typeface="微软雅黑" pitchFamily="34" charset="-122"/>
                <a:ea typeface="微软雅黑" pitchFamily="34" charset="-122"/>
              </a:rPr>
              <a:t>保护模式下的分页</a:t>
            </a:r>
            <a:endParaRPr lang="en-US" altLang="zh-CN" sz="2400" b="1" dirty="0">
              <a:solidFill>
                <a:schemeClr val="tx1">
                  <a:lumMod val="65000"/>
                  <a:lumOff val="35000"/>
                </a:schemeClr>
              </a:solidFill>
              <a:latin typeface="微软雅黑" pitchFamily="34" charset="-122"/>
              <a:ea typeface="微软雅黑" pitchFamily="34" charset="-122"/>
            </a:endParaRPr>
          </a:p>
          <a:p>
            <a:pPr indent="-342900" defTabSz="762000">
              <a:lnSpc>
                <a:spcPct val="150000"/>
              </a:lnSpc>
              <a:spcAft>
                <a:spcPts val="600"/>
              </a:spcAft>
              <a:buFont typeface="Wingdings" pitchFamily="2" charset="2"/>
              <a:buChar char="u"/>
            </a:pPr>
            <a:r>
              <a:rPr lang="en-US" altLang="zh-CN" sz="2400" b="1" dirty="0">
                <a:solidFill>
                  <a:srgbClr val="FF3255"/>
                </a:solidFill>
                <a:latin typeface="微软雅黑" pitchFamily="34" charset="-122"/>
                <a:ea typeface="微软雅黑" pitchFamily="34" charset="-122"/>
              </a:rPr>
              <a:t>80386</a:t>
            </a:r>
            <a:r>
              <a:rPr lang="zh-CN" altLang="en-US" sz="2400" b="1" dirty="0">
                <a:solidFill>
                  <a:srgbClr val="FF3255"/>
                </a:solidFill>
                <a:latin typeface="微软雅黑" pitchFamily="34" charset="-122"/>
                <a:ea typeface="微软雅黑" pitchFamily="34" charset="-122"/>
              </a:rPr>
              <a:t>的特权机制</a:t>
            </a:r>
          </a:p>
        </p:txBody>
      </p:sp>
      <p:cxnSp>
        <p:nvCxnSpPr>
          <p:cNvPr id="14" name="直接连接符 13"/>
          <p:cNvCxnSpPr/>
          <p:nvPr/>
        </p:nvCxnSpPr>
        <p:spPr>
          <a:xfrm>
            <a:off x="1404144" y="2207419"/>
            <a:ext cx="6264275" cy="1587"/>
          </a:xfrm>
          <a:prstGeom prst="line">
            <a:avLst/>
          </a:prstGeom>
          <a:noFill/>
          <a:ln w="9525" cap="flat" cmpd="sng" algn="ctr">
            <a:solidFill>
              <a:sysClr val="window" lastClr="FFFFFF">
                <a:lumMod val="85000"/>
              </a:sysClr>
            </a:solidFill>
            <a:prstDash val="solid"/>
          </a:ln>
          <a:effectLst/>
        </p:spPr>
      </p:cxnSp>
      <p:cxnSp>
        <p:nvCxnSpPr>
          <p:cNvPr id="15" name="直接连接符 14"/>
          <p:cNvCxnSpPr/>
          <p:nvPr/>
        </p:nvCxnSpPr>
        <p:spPr>
          <a:xfrm>
            <a:off x="1475582" y="3936206"/>
            <a:ext cx="6264275" cy="1588"/>
          </a:xfrm>
          <a:prstGeom prst="line">
            <a:avLst/>
          </a:prstGeom>
          <a:noFill/>
          <a:ln w="9525" cap="flat" cmpd="sng" algn="ctr">
            <a:solidFill>
              <a:sysClr val="window" lastClr="FFFFFF">
                <a:lumMod val="85000"/>
              </a:sysClr>
            </a:solidFill>
            <a:prstDash val="solid"/>
          </a:ln>
          <a:effectLst/>
        </p:spPr>
      </p:cxnSp>
      <p:sp>
        <p:nvSpPr>
          <p:cNvPr id="16" name="TextBox 10"/>
          <p:cNvSpPr txBox="1">
            <a:spLocks noChangeArrowheads="1"/>
          </p:cNvSpPr>
          <p:nvPr/>
        </p:nvSpPr>
        <p:spPr bwMode="auto">
          <a:xfrm>
            <a:off x="1475697" y="2447499"/>
            <a:ext cx="6985934" cy="1250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algn="ctr">
              <a:lnSpc>
                <a:spcPct val="114000"/>
              </a:lnSpc>
            </a:pPr>
            <a:r>
              <a:rPr lang="en-US" altLang="zh-CN" sz="6600" b="1" dirty="0">
                <a:solidFill>
                  <a:srgbClr val="00C4F0"/>
                </a:solidFill>
                <a:latin typeface="微软雅黑" pitchFamily="34" charset="-122"/>
                <a:ea typeface="微软雅黑" pitchFamily="34" charset="-122"/>
              </a:rPr>
              <a:t>80386</a:t>
            </a:r>
            <a:r>
              <a:rPr lang="zh-CN" altLang="en-US" sz="6600" b="1" dirty="0">
                <a:solidFill>
                  <a:srgbClr val="00C4F0"/>
                </a:solidFill>
                <a:latin typeface="微软雅黑" pitchFamily="34" charset="-122"/>
                <a:ea typeface="微软雅黑" pitchFamily="34" charset="-122"/>
              </a:rPr>
              <a:t>保护模式</a:t>
            </a:r>
            <a:endParaRPr lang="zh-CN" altLang="en-US" sz="8000" b="1" dirty="0">
              <a:solidFill>
                <a:srgbClr val="00C4F0"/>
              </a:solidFill>
              <a:latin typeface="微软雅黑" pitchFamily="34" charset="-122"/>
              <a:ea typeface="微软雅黑" pitchFamily="34" charset="-122"/>
            </a:endParaRPr>
          </a:p>
        </p:txBody>
      </p:sp>
    </p:spTree>
    <p:extLst>
      <p:ext uri="{BB962C8B-B14F-4D97-AF65-F5344CB8AC3E}">
        <p14:creationId xmlns:p14="http://schemas.microsoft.com/office/powerpoint/2010/main" val="6437067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500"/>
                                        <p:tgtEl>
                                          <p:spTgt spid="14"/>
                                        </p:tgtEl>
                                      </p:cBhvr>
                                    </p:animEffect>
                                  </p:childTnLst>
                                </p:cTn>
                              </p:par>
                              <p:par>
                                <p:cTn id="8" presetID="1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slide(fromBottom)">
                                      <p:cBhvr>
                                        <p:cTn id="10" dur="500"/>
                                        <p:tgtEl>
                                          <p:spTgt spid="15"/>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1000"/>
                                        <p:tgtEl>
                                          <p:spTgt spid="12"/>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1000" fill="hold"/>
                                        <p:tgtEl>
                                          <p:spTgt spid="16"/>
                                        </p:tgtEl>
                                        <p:attrNameLst>
                                          <p:attrName>ppt_w</p:attrName>
                                        </p:attrNameLst>
                                      </p:cBhvr>
                                      <p:tavLst>
                                        <p:tav tm="0">
                                          <p:val>
                                            <p:fltVal val="0"/>
                                          </p:val>
                                        </p:tav>
                                        <p:tav tm="100000">
                                          <p:val>
                                            <p:strVal val="#ppt_w"/>
                                          </p:val>
                                        </p:tav>
                                      </p:tavLst>
                                    </p:anim>
                                    <p:anim calcmode="lin" valueType="num">
                                      <p:cBhvr>
                                        <p:cTn id="18" dur="1000" fill="hold"/>
                                        <p:tgtEl>
                                          <p:spTgt spid="16"/>
                                        </p:tgtEl>
                                        <p:attrNameLst>
                                          <p:attrName>ppt_h</p:attrName>
                                        </p:attrNameLst>
                                      </p:cBhvr>
                                      <p:tavLst>
                                        <p:tav tm="0">
                                          <p:val>
                                            <p:fltVal val="0"/>
                                          </p:val>
                                        </p:tav>
                                        <p:tav tm="100000">
                                          <p:val>
                                            <p:strVal val="#ppt_h"/>
                                          </p:val>
                                        </p:tav>
                                      </p:tavLst>
                                    </p:anim>
                                    <p:animEffect transition="in" filter="fade">
                                      <p:cBhvr>
                                        <p:cTn id="19"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en-US" altLang="zh-CN" sz="3200" b="1" dirty="0">
                <a:solidFill>
                  <a:srgbClr val="00B0F0"/>
                </a:solidFill>
                <a:latin typeface="微软雅黑" pitchFamily="34" charset="-122"/>
                <a:ea typeface="微软雅黑" pitchFamily="34" charset="-122"/>
              </a:rPr>
              <a:t>80386</a:t>
            </a:r>
            <a:r>
              <a:rPr lang="zh-CN" altLang="en-US" sz="3200" b="1" dirty="0">
                <a:solidFill>
                  <a:srgbClr val="00B0F0"/>
                </a:solidFill>
                <a:latin typeface="微软雅黑" pitchFamily="34" charset="-122"/>
                <a:ea typeface="微软雅黑" pitchFamily="34" charset="-122"/>
              </a:rPr>
              <a:t>的特权机制</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6" name="椭圆 5"/>
          <p:cNvSpPr/>
          <p:nvPr/>
        </p:nvSpPr>
        <p:spPr>
          <a:xfrm>
            <a:off x="2458106" y="3089965"/>
            <a:ext cx="1296144" cy="1296144"/>
          </a:xfrm>
          <a:prstGeom prst="ellipse">
            <a:avLst/>
          </a:prstGeom>
          <a:noFill/>
          <a:ln>
            <a:solidFill>
              <a:srgbClr val="1D8D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FD7A2A"/>
                </a:solidFill>
                <a:latin typeface="微软雅黑" panose="020B0503020204020204" pitchFamily="34" charset="-122"/>
                <a:ea typeface="微软雅黑" panose="020B0503020204020204" pitchFamily="34" charset="-122"/>
              </a:rPr>
              <a:t>核心</a:t>
            </a:r>
            <a:endParaRPr lang="en-US" altLang="zh-CN" sz="1400" dirty="0">
              <a:solidFill>
                <a:srgbClr val="FD7A2A"/>
              </a:solidFill>
              <a:latin typeface="微软雅黑" panose="020B0503020204020204" pitchFamily="34" charset="-122"/>
              <a:ea typeface="微软雅黑" panose="020B0503020204020204" pitchFamily="34" charset="-122"/>
            </a:endParaRPr>
          </a:p>
          <a:p>
            <a:pPr algn="ctr"/>
            <a:r>
              <a:rPr lang="zh-CN" altLang="en-US" sz="1400" dirty="0">
                <a:solidFill>
                  <a:srgbClr val="FD7A2A"/>
                </a:solidFill>
                <a:latin typeface="微软雅黑" panose="020B0503020204020204" pitchFamily="34" charset="-122"/>
                <a:ea typeface="微软雅黑" panose="020B0503020204020204" pitchFamily="34" charset="-122"/>
              </a:rPr>
              <a:t>最高特权</a:t>
            </a:r>
            <a:endParaRPr lang="en-US" altLang="zh-CN" sz="1400" dirty="0">
              <a:solidFill>
                <a:srgbClr val="FD7A2A"/>
              </a:solidFill>
              <a:latin typeface="微软雅黑" panose="020B0503020204020204" pitchFamily="34" charset="-122"/>
              <a:ea typeface="微软雅黑" panose="020B0503020204020204" pitchFamily="34" charset="-122"/>
            </a:endParaRPr>
          </a:p>
          <a:p>
            <a:pPr algn="ctr"/>
            <a:r>
              <a:rPr lang="en-US" altLang="zh-CN" sz="1400" dirty="0">
                <a:solidFill>
                  <a:srgbClr val="FD7A2A"/>
                </a:solidFill>
                <a:latin typeface="微软雅黑" panose="020B0503020204020204" pitchFamily="34" charset="-122"/>
                <a:ea typeface="微软雅黑" panose="020B0503020204020204" pitchFamily="34" charset="-122"/>
              </a:rPr>
              <a:t>PL=0</a:t>
            </a:r>
            <a:endParaRPr lang="zh-CN" altLang="en-US" sz="1400" dirty="0">
              <a:solidFill>
                <a:srgbClr val="FD7A2A"/>
              </a:solidFill>
              <a:latin typeface="微软雅黑" panose="020B0503020204020204" pitchFamily="34" charset="-122"/>
              <a:ea typeface="微软雅黑" panose="020B0503020204020204" pitchFamily="34" charset="-122"/>
            </a:endParaRPr>
          </a:p>
        </p:txBody>
      </p:sp>
      <p:sp>
        <p:nvSpPr>
          <p:cNvPr id="7" name="椭圆 6"/>
          <p:cNvSpPr/>
          <p:nvPr/>
        </p:nvSpPr>
        <p:spPr>
          <a:xfrm>
            <a:off x="899593" y="1628800"/>
            <a:ext cx="4420304" cy="4197470"/>
          </a:xfrm>
          <a:prstGeom prst="ellipse">
            <a:avLst/>
          </a:prstGeom>
          <a:noFill/>
          <a:ln>
            <a:solidFill>
              <a:srgbClr val="1D8D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椭圆 7"/>
          <p:cNvSpPr/>
          <p:nvPr/>
        </p:nvSpPr>
        <p:spPr>
          <a:xfrm>
            <a:off x="1918046" y="2549905"/>
            <a:ext cx="2376264" cy="2376264"/>
          </a:xfrm>
          <a:prstGeom prst="ellipse">
            <a:avLst/>
          </a:prstGeom>
          <a:noFill/>
          <a:ln>
            <a:solidFill>
              <a:srgbClr val="1D8D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 name="椭圆 8"/>
          <p:cNvSpPr/>
          <p:nvPr/>
        </p:nvSpPr>
        <p:spPr>
          <a:xfrm>
            <a:off x="1449994" y="2045849"/>
            <a:ext cx="3312368" cy="3384376"/>
          </a:xfrm>
          <a:prstGeom prst="ellipse">
            <a:avLst/>
          </a:prstGeom>
          <a:noFill/>
          <a:ln>
            <a:solidFill>
              <a:srgbClr val="1D8D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 name="矩形 10"/>
          <p:cNvSpPr/>
          <p:nvPr/>
        </p:nvSpPr>
        <p:spPr>
          <a:xfrm>
            <a:off x="2658310" y="2657917"/>
            <a:ext cx="1005403" cy="338554"/>
          </a:xfrm>
          <a:prstGeom prst="rect">
            <a:avLst/>
          </a:prstGeom>
        </p:spPr>
        <p:txBody>
          <a:bodyPr wrap="none">
            <a:spAutoFit/>
          </a:bodyPr>
          <a:lstStyle/>
          <a:p>
            <a:pPr algn="ctr"/>
            <a:r>
              <a:rPr lang="zh-CN" altLang="en-US" sz="1600" dirty="0">
                <a:solidFill>
                  <a:srgbClr val="FD7A2A"/>
                </a:solidFill>
                <a:latin typeface="微软雅黑" panose="020B0503020204020204" pitchFamily="34" charset="-122"/>
                <a:ea typeface="微软雅黑" panose="020B0503020204020204" pitchFamily="34" charset="-122"/>
              </a:rPr>
              <a:t>系统服务</a:t>
            </a:r>
          </a:p>
        </p:txBody>
      </p:sp>
      <p:sp>
        <p:nvSpPr>
          <p:cNvPr id="12" name="矩形 11"/>
          <p:cNvSpPr/>
          <p:nvPr/>
        </p:nvSpPr>
        <p:spPr>
          <a:xfrm>
            <a:off x="2658310" y="2153861"/>
            <a:ext cx="880369" cy="338554"/>
          </a:xfrm>
          <a:prstGeom prst="rect">
            <a:avLst/>
          </a:prstGeom>
        </p:spPr>
        <p:txBody>
          <a:bodyPr wrap="none">
            <a:spAutoFit/>
          </a:bodyPr>
          <a:lstStyle/>
          <a:p>
            <a:pPr algn="ctr"/>
            <a:r>
              <a:rPr lang="en-US" altLang="zh-CN" sz="1600" dirty="0">
                <a:solidFill>
                  <a:srgbClr val="FD7A2A"/>
                </a:solidFill>
                <a:latin typeface="微软雅黑" panose="020B0503020204020204" pitchFamily="34" charset="-122"/>
                <a:ea typeface="微软雅黑" panose="020B0503020204020204" pitchFamily="34" charset="-122"/>
              </a:rPr>
              <a:t>OS</a:t>
            </a:r>
            <a:r>
              <a:rPr lang="zh-CN" altLang="en-US" sz="1600" dirty="0">
                <a:solidFill>
                  <a:srgbClr val="FD7A2A"/>
                </a:solidFill>
                <a:latin typeface="微软雅黑" panose="020B0503020204020204" pitchFamily="34" charset="-122"/>
                <a:ea typeface="微软雅黑" panose="020B0503020204020204" pitchFamily="34" charset="-122"/>
              </a:rPr>
              <a:t>扩展</a:t>
            </a:r>
          </a:p>
        </p:txBody>
      </p:sp>
      <p:sp>
        <p:nvSpPr>
          <p:cNvPr id="13" name="矩形 12"/>
          <p:cNvSpPr/>
          <p:nvPr/>
        </p:nvSpPr>
        <p:spPr>
          <a:xfrm>
            <a:off x="2658310" y="1649805"/>
            <a:ext cx="1005403" cy="338554"/>
          </a:xfrm>
          <a:prstGeom prst="rect">
            <a:avLst/>
          </a:prstGeom>
        </p:spPr>
        <p:txBody>
          <a:bodyPr wrap="none">
            <a:spAutoFit/>
          </a:bodyPr>
          <a:lstStyle/>
          <a:p>
            <a:pPr algn="ctr"/>
            <a:r>
              <a:rPr lang="zh-CN" altLang="en-US" sz="1600" dirty="0">
                <a:solidFill>
                  <a:srgbClr val="FD7A2A"/>
                </a:solidFill>
                <a:latin typeface="微软雅黑" panose="020B0503020204020204" pitchFamily="34" charset="-122"/>
                <a:ea typeface="微软雅黑" panose="020B0503020204020204" pitchFamily="34" charset="-122"/>
              </a:rPr>
              <a:t>应用程序</a:t>
            </a:r>
          </a:p>
        </p:txBody>
      </p:sp>
      <p:sp>
        <p:nvSpPr>
          <p:cNvPr id="14" name="矩形 13"/>
          <p:cNvSpPr/>
          <p:nvPr/>
        </p:nvSpPr>
        <p:spPr>
          <a:xfrm>
            <a:off x="2771800" y="4477973"/>
            <a:ext cx="688009" cy="338554"/>
          </a:xfrm>
          <a:prstGeom prst="rect">
            <a:avLst/>
          </a:prstGeom>
        </p:spPr>
        <p:txBody>
          <a:bodyPr wrap="none">
            <a:spAutoFit/>
          </a:bodyPr>
          <a:lstStyle/>
          <a:p>
            <a:pPr algn="ctr"/>
            <a:r>
              <a:rPr lang="en-US" altLang="zh-CN" sz="1600" dirty="0">
                <a:solidFill>
                  <a:srgbClr val="FD7A2A"/>
                </a:solidFill>
                <a:latin typeface="微软雅黑" panose="020B0503020204020204" pitchFamily="34" charset="-122"/>
                <a:ea typeface="微软雅黑" panose="020B0503020204020204" pitchFamily="34" charset="-122"/>
              </a:rPr>
              <a:t>PL=1</a:t>
            </a:r>
          </a:p>
        </p:txBody>
      </p:sp>
      <p:sp>
        <p:nvSpPr>
          <p:cNvPr id="15" name="矩形 14"/>
          <p:cNvSpPr/>
          <p:nvPr/>
        </p:nvSpPr>
        <p:spPr>
          <a:xfrm>
            <a:off x="2771800" y="5034181"/>
            <a:ext cx="688009" cy="338554"/>
          </a:xfrm>
          <a:prstGeom prst="rect">
            <a:avLst/>
          </a:prstGeom>
        </p:spPr>
        <p:txBody>
          <a:bodyPr wrap="none">
            <a:spAutoFit/>
          </a:bodyPr>
          <a:lstStyle/>
          <a:p>
            <a:pPr algn="ctr"/>
            <a:r>
              <a:rPr lang="en-US" altLang="zh-CN" sz="1600" dirty="0">
                <a:solidFill>
                  <a:srgbClr val="FD7A2A"/>
                </a:solidFill>
                <a:latin typeface="微软雅黑" panose="020B0503020204020204" pitchFamily="34" charset="-122"/>
                <a:ea typeface="微软雅黑" panose="020B0503020204020204" pitchFamily="34" charset="-122"/>
              </a:rPr>
              <a:t>PL=2</a:t>
            </a:r>
          </a:p>
        </p:txBody>
      </p:sp>
      <p:sp>
        <p:nvSpPr>
          <p:cNvPr id="16" name="矩形 15"/>
          <p:cNvSpPr/>
          <p:nvPr/>
        </p:nvSpPr>
        <p:spPr>
          <a:xfrm>
            <a:off x="2771800" y="5512976"/>
            <a:ext cx="688009" cy="338554"/>
          </a:xfrm>
          <a:prstGeom prst="rect">
            <a:avLst/>
          </a:prstGeom>
        </p:spPr>
        <p:txBody>
          <a:bodyPr wrap="none">
            <a:spAutoFit/>
          </a:bodyPr>
          <a:lstStyle/>
          <a:p>
            <a:pPr algn="ctr"/>
            <a:r>
              <a:rPr lang="en-US" altLang="zh-CN" sz="1600" dirty="0">
                <a:solidFill>
                  <a:srgbClr val="FD7A2A"/>
                </a:solidFill>
                <a:latin typeface="微软雅黑" panose="020B0503020204020204" pitchFamily="34" charset="-122"/>
                <a:ea typeface="微软雅黑" panose="020B0503020204020204" pitchFamily="34" charset="-122"/>
              </a:rPr>
              <a:t>PL=3</a:t>
            </a:r>
          </a:p>
        </p:txBody>
      </p:sp>
      <p:sp>
        <p:nvSpPr>
          <p:cNvPr id="17" name="矩形 16"/>
          <p:cNvSpPr/>
          <p:nvPr/>
        </p:nvSpPr>
        <p:spPr>
          <a:xfrm>
            <a:off x="5508105" y="4303598"/>
            <a:ext cx="3096343" cy="1461165"/>
          </a:xfrm>
          <a:prstGeom prst="rect">
            <a:avLst/>
          </a:prstGeom>
          <a:solidFill>
            <a:srgbClr val="FF3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latin typeface="微软雅黑" panose="020B0503020204020204" pitchFamily="34" charset="-122"/>
                <a:ea typeface="微软雅黑" panose="020B0503020204020204" pitchFamily="34" charset="-122"/>
              </a:rPr>
              <a:t>80386</a:t>
            </a:r>
            <a:r>
              <a:rPr lang="zh-CN" altLang="en-US" sz="2000" b="1" dirty="0">
                <a:latin typeface="微软雅黑" panose="020B0503020204020204" pitchFamily="34" charset="-122"/>
                <a:ea typeface="微软雅黑" panose="020B0503020204020204" pitchFamily="34" charset="-122"/>
              </a:rPr>
              <a:t>为系统设置了</a:t>
            </a:r>
            <a:r>
              <a:rPr lang="en-US" altLang="zh-CN" sz="2000" b="1" dirty="0">
                <a:latin typeface="微软雅黑" panose="020B0503020204020204" pitchFamily="34" charset="-122"/>
                <a:ea typeface="微软雅黑" panose="020B0503020204020204" pitchFamily="34" charset="-122"/>
              </a:rPr>
              <a:t>4</a:t>
            </a:r>
            <a:r>
              <a:rPr lang="zh-CN" altLang="en-US" sz="2000" b="1" dirty="0">
                <a:latin typeface="微软雅黑" panose="020B0503020204020204" pitchFamily="34" charset="-122"/>
                <a:ea typeface="微软雅黑" panose="020B0503020204020204" pitchFamily="34" charset="-122"/>
              </a:rPr>
              <a:t>个特权等级（</a:t>
            </a:r>
            <a:r>
              <a:rPr lang="en-US" altLang="zh-CN" sz="2000" b="1" dirty="0">
                <a:latin typeface="微软雅黑" panose="020B0503020204020204" pitchFamily="34" charset="-122"/>
                <a:ea typeface="微软雅黑" panose="020B0503020204020204" pitchFamily="34" charset="-122"/>
              </a:rPr>
              <a:t>privilege level</a:t>
            </a:r>
            <a:r>
              <a:rPr lang="zh-CN" altLang="en-US" sz="2000" b="1" dirty="0">
                <a:latin typeface="微软雅黑" panose="020B0503020204020204" pitchFamily="34" charset="-122"/>
                <a:ea typeface="微软雅黑" panose="020B0503020204020204" pitchFamily="34" charset="-122"/>
              </a:rPr>
              <a:t>），其取值由</a:t>
            </a:r>
            <a:r>
              <a:rPr lang="en-US" altLang="zh-CN" sz="2000" b="1" dirty="0">
                <a:latin typeface="微软雅黑" panose="020B0503020204020204" pitchFamily="34" charset="-122"/>
                <a:ea typeface="微软雅黑" panose="020B0503020204020204" pitchFamily="34" charset="-122"/>
              </a:rPr>
              <a:t>0</a:t>
            </a:r>
            <a:r>
              <a:rPr lang="zh-CN" altLang="en-US" sz="2000" b="1" dirty="0">
                <a:latin typeface="微软雅黑" panose="020B0503020204020204" pitchFamily="34" charset="-122"/>
                <a:ea typeface="微软雅黑" panose="020B0503020204020204" pitchFamily="34" charset="-122"/>
              </a:rPr>
              <a:t>到</a:t>
            </a:r>
            <a:r>
              <a:rPr lang="en-US" altLang="zh-CN" sz="2000" b="1" dirty="0">
                <a:latin typeface="微软雅黑" panose="020B0503020204020204" pitchFamily="34" charset="-122"/>
                <a:ea typeface="微软雅黑" panose="020B0503020204020204" pitchFamily="34" charset="-122"/>
              </a:rPr>
              <a:t>3</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0</a:t>
            </a:r>
            <a:r>
              <a:rPr lang="zh-CN" altLang="en-US" sz="2000" b="1" dirty="0">
                <a:latin typeface="微软雅黑" panose="020B0503020204020204" pitchFamily="34" charset="-122"/>
                <a:ea typeface="微软雅黑" panose="020B0503020204020204" pitchFamily="34" charset="-122"/>
              </a:rPr>
              <a:t>为最高特权级。</a:t>
            </a:r>
          </a:p>
        </p:txBody>
      </p:sp>
    </p:spTree>
    <p:extLst>
      <p:ext uri="{BB962C8B-B14F-4D97-AF65-F5344CB8AC3E}">
        <p14:creationId xmlns:p14="http://schemas.microsoft.com/office/powerpoint/2010/main" val="242741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heel(1)">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heel(1)">
                                      <p:cBhvr>
                                        <p:cTn id="17" dur="1000"/>
                                        <p:tgtEl>
                                          <p:spTgt spid="11"/>
                                        </p:tgtEl>
                                      </p:cBhvr>
                                    </p:animEffect>
                                  </p:childTnLst>
                                </p:cTn>
                              </p:par>
                              <p:par>
                                <p:cTn id="18" presetID="21" presetClass="entr" presetSubtype="1"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heel(1)">
                                      <p:cBhvr>
                                        <p:cTn id="20" dur="1000"/>
                                        <p:tgtEl>
                                          <p:spTgt spid="14"/>
                                        </p:tgtEl>
                                      </p:cBhvr>
                                    </p:animEffect>
                                  </p:childTnLst>
                                </p:cTn>
                              </p:par>
                              <p:par>
                                <p:cTn id="21" presetID="21" presetClass="entr" presetSubtype="1"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heel(1)">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heel(1)">
                                      <p:cBhvr>
                                        <p:cTn id="28" dur="1000"/>
                                        <p:tgtEl>
                                          <p:spTgt spid="12"/>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heel(1)">
                                      <p:cBhvr>
                                        <p:cTn id="31" dur="1000"/>
                                        <p:tgtEl>
                                          <p:spTgt spid="15"/>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heel(1)">
                                      <p:cBhvr>
                                        <p:cTn id="34" dur="10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1" presetClass="entr" presetSubtype="1"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heel(1)">
                                      <p:cBhvr>
                                        <p:cTn id="39" dur="1000"/>
                                        <p:tgtEl>
                                          <p:spTgt spid="13"/>
                                        </p:tgtEl>
                                      </p:cBhvr>
                                    </p:animEffect>
                                  </p:childTnLst>
                                </p:cTn>
                              </p:par>
                              <p:par>
                                <p:cTn id="40" presetID="21" presetClass="entr" presetSubtype="1"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heel(1)">
                                      <p:cBhvr>
                                        <p:cTn id="42" dur="1000"/>
                                        <p:tgtEl>
                                          <p:spTgt spid="16"/>
                                        </p:tgtEl>
                                      </p:cBhvr>
                                    </p:animEffect>
                                  </p:childTnLst>
                                </p:cTn>
                              </p:par>
                              <p:par>
                                <p:cTn id="43" presetID="21" presetClass="entr" presetSubtype="1"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heel(1)">
                                      <p:cBhvr>
                                        <p:cTn id="45"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p:bldP spid="12" grpId="0"/>
      <p:bldP spid="13" grpId="0"/>
      <p:bldP spid="14" grpId="0"/>
      <p:bldP spid="15" grpId="0"/>
      <p:bldP spid="16" grpId="0"/>
      <p:bldP spid="1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8"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保护模式下的特权规则</a:t>
            </a:r>
            <a:endParaRPr lang="en-US" altLang="zh-CN" sz="3200" b="1" dirty="0">
              <a:solidFill>
                <a:srgbClr val="00B0F0"/>
              </a:solidFill>
              <a:latin typeface="微软雅黑" pitchFamily="34" charset="-122"/>
              <a:ea typeface="微软雅黑" pitchFamily="34" charset="-122"/>
            </a:endParaRPr>
          </a:p>
        </p:txBody>
      </p:sp>
      <p:cxnSp>
        <p:nvCxnSpPr>
          <p:cNvPr id="19" name="直接连接符 18"/>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饼形 2"/>
          <p:cNvSpPr/>
          <p:nvPr/>
        </p:nvSpPr>
        <p:spPr>
          <a:xfrm rot="12671968">
            <a:off x="29079" y="-2825668"/>
            <a:ext cx="8847503" cy="8647884"/>
          </a:xfrm>
          <a:prstGeom prst="pie">
            <a:avLst>
              <a:gd name="adj1" fmla="val 12156588"/>
              <a:gd name="adj2" fmla="val 16200000"/>
            </a:avLst>
          </a:prstGeom>
          <a:solidFill>
            <a:srgbClr val="FD7A2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饼形 6"/>
          <p:cNvSpPr/>
          <p:nvPr/>
        </p:nvSpPr>
        <p:spPr>
          <a:xfrm rot="12671968">
            <a:off x="816094" y="-2089316"/>
            <a:ext cx="7293976" cy="7047919"/>
          </a:xfrm>
          <a:prstGeom prst="pie">
            <a:avLst>
              <a:gd name="adj1" fmla="val 12185583"/>
              <a:gd name="adj2" fmla="val 16190960"/>
            </a:avLst>
          </a:prstGeom>
          <a:solidFill>
            <a:srgbClr val="FD7A2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饼形 7"/>
          <p:cNvSpPr/>
          <p:nvPr/>
        </p:nvSpPr>
        <p:spPr>
          <a:xfrm rot="12671968">
            <a:off x="1683490" y="-1313875"/>
            <a:ext cx="5564926" cy="5369712"/>
          </a:xfrm>
          <a:prstGeom prst="pie">
            <a:avLst>
              <a:gd name="adj1" fmla="val 12217747"/>
              <a:gd name="adj2" fmla="val 16142648"/>
            </a:avLst>
          </a:prstGeom>
          <a:solidFill>
            <a:srgbClr val="FD7A2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饼形 9"/>
          <p:cNvSpPr/>
          <p:nvPr/>
        </p:nvSpPr>
        <p:spPr>
          <a:xfrm rot="12671968">
            <a:off x="2479666" y="-579495"/>
            <a:ext cx="4042429" cy="3848361"/>
          </a:xfrm>
          <a:prstGeom prst="pie">
            <a:avLst>
              <a:gd name="adj1" fmla="val 12286837"/>
              <a:gd name="adj2" fmla="val 16142648"/>
            </a:avLst>
          </a:prstGeom>
          <a:solidFill>
            <a:srgbClr val="FD7A2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矩形 4"/>
          <p:cNvSpPr/>
          <p:nvPr/>
        </p:nvSpPr>
        <p:spPr>
          <a:xfrm>
            <a:off x="3863465" y="2543498"/>
            <a:ext cx="720080" cy="36004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t>Code</a:t>
            </a:r>
            <a:r>
              <a:rPr lang="en-US" altLang="zh-CN" sz="1600" baseline="-25000" dirty="0" err="1"/>
              <a:t>K</a:t>
            </a:r>
            <a:endParaRPr lang="zh-CN" altLang="en-US" sz="1600" baseline="-25000" dirty="0"/>
          </a:p>
        </p:txBody>
      </p:sp>
      <p:sp>
        <p:nvSpPr>
          <p:cNvPr id="12" name="矩形 11"/>
          <p:cNvSpPr/>
          <p:nvPr/>
        </p:nvSpPr>
        <p:spPr>
          <a:xfrm>
            <a:off x="4655553" y="2543498"/>
            <a:ext cx="720080" cy="36004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t>Data</a:t>
            </a:r>
            <a:r>
              <a:rPr lang="en-US" altLang="zh-CN" sz="1600" baseline="-25000" dirty="0" err="1"/>
              <a:t>K</a:t>
            </a:r>
            <a:endParaRPr lang="zh-CN" altLang="en-US" sz="1600" baseline="-25000" dirty="0"/>
          </a:p>
        </p:txBody>
      </p:sp>
      <p:sp>
        <p:nvSpPr>
          <p:cNvPr id="13" name="矩形 12"/>
          <p:cNvSpPr/>
          <p:nvPr/>
        </p:nvSpPr>
        <p:spPr>
          <a:xfrm>
            <a:off x="3719449" y="3407594"/>
            <a:ext cx="864096" cy="36004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t>Code</a:t>
            </a:r>
            <a:r>
              <a:rPr lang="en-US" altLang="zh-CN" sz="1600" baseline="-25000" dirty="0" err="1"/>
              <a:t>OS</a:t>
            </a:r>
            <a:endParaRPr lang="zh-CN" altLang="en-US" sz="1600" baseline="-25000" dirty="0"/>
          </a:p>
        </p:txBody>
      </p:sp>
      <p:sp>
        <p:nvSpPr>
          <p:cNvPr id="14" name="矩形 13"/>
          <p:cNvSpPr/>
          <p:nvPr/>
        </p:nvSpPr>
        <p:spPr>
          <a:xfrm>
            <a:off x="4799569" y="3407594"/>
            <a:ext cx="864096" cy="36004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t>Data</a:t>
            </a:r>
            <a:r>
              <a:rPr lang="en-US" altLang="zh-CN" sz="1600" baseline="-25000" dirty="0" err="1"/>
              <a:t>OS</a:t>
            </a:r>
            <a:endParaRPr lang="zh-CN" altLang="en-US" sz="1600" baseline="-25000" dirty="0"/>
          </a:p>
        </p:txBody>
      </p:sp>
      <p:sp>
        <p:nvSpPr>
          <p:cNvPr id="15" name="矩形 14"/>
          <p:cNvSpPr/>
          <p:nvPr/>
        </p:nvSpPr>
        <p:spPr>
          <a:xfrm>
            <a:off x="2833888" y="4847754"/>
            <a:ext cx="720080" cy="28803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Code</a:t>
            </a:r>
            <a:r>
              <a:rPr lang="en-US" altLang="zh-CN" sz="1600" baseline="-25000" dirty="0"/>
              <a:t>1</a:t>
            </a:r>
            <a:endParaRPr lang="zh-CN" altLang="en-US" sz="1600" baseline="-25000" dirty="0"/>
          </a:p>
        </p:txBody>
      </p:sp>
      <p:sp>
        <p:nvSpPr>
          <p:cNvPr id="16" name="矩形 15"/>
          <p:cNvSpPr/>
          <p:nvPr/>
        </p:nvSpPr>
        <p:spPr>
          <a:xfrm>
            <a:off x="2833888" y="5135786"/>
            <a:ext cx="720080" cy="28803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Data</a:t>
            </a:r>
            <a:r>
              <a:rPr lang="en-US" altLang="zh-CN" sz="1600" baseline="-25000" dirty="0"/>
              <a:t>1</a:t>
            </a:r>
            <a:endParaRPr lang="zh-CN" altLang="en-US" sz="1600" baseline="-25000" dirty="0"/>
          </a:p>
        </p:txBody>
      </p:sp>
      <p:sp>
        <p:nvSpPr>
          <p:cNvPr id="20" name="矩形 19"/>
          <p:cNvSpPr/>
          <p:nvPr/>
        </p:nvSpPr>
        <p:spPr>
          <a:xfrm>
            <a:off x="4295513" y="5063778"/>
            <a:ext cx="720080" cy="28803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Code</a:t>
            </a:r>
            <a:r>
              <a:rPr lang="en-US" altLang="zh-CN" sz="1600" baseline="-25000" dirty="0"/>
              <a:t>2</a:t>
            </a:r>
            <a:endParaRPr lang="zh-CN" altLang="en-US" sz="1600" baseline="-25000" dirty="0"/>
          </a:p>
        </p:txBody>
      </p:sp>
      <p:sp>
        <p:nvSpPr>
          <p:cNvPr id="21" name="矩形 20"/>
          <p:cNvSpPr/>
          <p:nvPr/>
        </p:nvSpPr>
        <p:spPr>
          <a:xfrm>
            <a:off x="4295513" y="5351810"/>
            <a:ext cx="720080" cy="28803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Data</a:t>
            </a:r>
            <a:r>
              <a:rPr lang="en-US" altLang="zh-CN" sz="1600" baseline="-25000" dirty="0"/>
              <a:t>2</a:t>
            </a:r>
            <a:endParaRPr lang="zh-CN" altLang="en-US" sz="1600" baseline="-25000" dirty="0"/>
          </a:p>
        </p:txBody>
      </p:sp>
      <p:sp>
        <p:nvSpPr>
          <p:cNvPr id="22" name="矩形 21"/>
          <p:cNvSpPr/>
          <p:nvPr/>
        </p:nvSpPr>
        <p:spPr>
          <a:xfrm>
            <a:off x="5663665" y="4847754"/>
            <a:ext cx="720080" cy="28803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t>Code</a:t>
            </a:r>
            <a:r>
              <a:rPr lang="en-US" altLang="zh-CN" sz="1600" baseline="-25000" dirty="0" err="1"/>
              <a:t>K</a:t>
            </a:r>
            <a:endParaRPr lang="zh-CN" altLang="en-US" sz="1600" baseline="-25000" dirty="0"/>
          </a:p>
        </p:txBody>
      </p:sp>
      <p:sp>
        <p:nvSpPr>
          <p:cNvPr id="23" name="矩形 22"/>
          <p:cNvSpPr/>
          <p:nvPr/>
        </p:nvSpPr>
        <p:spPr>
          <a:xfrm>
            <a:off x="5663665" y="5135786"/>
            <a:ext cx="720080" cy="28803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t>Data</a:t>
            </a:r>
            <a:r>
              <a:rPr lang="en-US" altLang="zh-CN" sz="1600" baseline="-25000" dirty="0" err="1"/>
              <a:t>K</a:t>
            </a:r>
            <a:endParaRPr lang="zh-CN" altLang="en-US" sz="1600" baseline="-25000" dirty="0"/>
          </a:p>
        </p:txBody>
      </p:sp>
      <p:sp>
        <p:nvSpPr>
          <p:cNvPr id="24" name="矩形 23"/>
          <p:cNvSpPr/>
          <p:nvPr/>
        </p:nvSpPr>
        <p:spPr>
          <a:xfrm>
            <a:off x="5231617" y="1737022"/>
            <a:ext cx="628431" cy="549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solidFill>
                  <a:srgbClr val="FF0066"/>
                </a:solidFill>
                <a:latin typeface="微软雅黑" panose="020B0503020204020204" pitchFamily="34" charset="-122"/>
                <a:ea typeface="微软雅黑" panose="020B0503020204020204" pitchFamily="34" charset="-122"/>
              </a:rPr>
              <a:t>0</a:t>
            </a:r>
            <a:r>
              <a:rPr lang="zh-CN" altLang="en-US" sz="2000" b="1" dirty="0">
                <a:solidFill>
                  <a:srgbClr val="FF0066"/>
                </a:solidFill>
                <a:latin typeface="微软雅黑" panose="020B0503020204020204" pitchFamily="34" charset="-122"/>
                <a:ea typeface="微软雅黑" panose="020B0503020204020204" pitchFamily="34" charset="-122"/>
              </a:rPr>
              <a:t>级</a:t>
            </a:r>
          </a:p>
        </p:txBody>
      </p:sp>
      <p:sp>
        <p:nvSpPr>
          <p:cNvPr id="25" name="矩形 24"/>
          <p:cNvSpPr/>
          <p:nvPr/>
        </p:nvSpPr>
        <p:spPr>
          <a:xfrm>
            <a:off x="5883403" y="2841548"/>
            <a:ext cx="628431" cy="549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solidFill>
                  <a:srgbClr val="FF0066"/>
                </a:solidFill>
                <a:latin typeface="微软雅黑" panose="020B0503020204020204" pitchFamily="34" charset="-122"/>
                <a:ea typeface="微软雅黑" panose="020B0503020204020204" pitchFamily="34" charset="-122"/>
              </a:rPr>
              <a:t>1</a:t>
            </a:r>
            <a:r>
              <a:rPr lang="zh-CN" altLang="en-US" sz="2000" b="1" dirty="0">
                <a:solidFill>
                  <a:srgbClr val="FF0066"/>
                </a:solidFill>
                <a:latin typeface="微软雅黑" panose="020B0503020204020204" pitchFamily="34" charset="-122"/>
                <a:ea typeface="微软雅黑" panose="020B0503020204020204" pitchFamily="34" charset="-122"/>
              </a:rPr>
              <a:t>级</a:t>
            </a:r>
          </a:p>
        </p:txBody>
      </p:sp>
      <p:sp>
        <p:nvSpPr>
          <p:cNvPr id="26" name="矩形 25"/>
          <p:cNvSpPr/>
          <p:nvPr/>
        </p:nvSpPr>
        <p:spPr>
          <a:xfrm>
            <a:off x="6391894" y="3542826"/>
            <a:ext cx="628431" cy="549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solidFill>
                  <a:srgbClr val="FF0066"/>
                </a:solidFill>
                <a:latin typeface="微软雅黑" panose="020B0503020204020204" pitchFamily="34" charset="-122"/>
                <a:ea typeface="微软雅黑" panose="020B0503020204020204" pitchFamily="34" charset="-122"/>
              </a:rPr>
              <a:t>2</a:t>
            </a:r>
            <a:r>
              <a:rPr lang="zh-CN" altLang="en-US" sz="2000" b="1" dirty="0">
                <a:solidFill>
                  <a:srgbClr val="FF0066"/>
                </a:solidFill>
                <a:latin typeface="微软雅黑" panose="020B0503020204020204" pitchFamily="34" charset="-122"/>
                <a:ea typeface="微软雅黑" panose="020B0503020204020204" pitchFamily="34" charset="-122"/>
              </a:rPr>
              <a:t>级</a:t>
            </a:r>
          </a:p>
        </p:txBody>
      </p:sp>
      <p:sp>
        <p:nvSpPr>
          <p:cNvPr id="27" name="矩形 26"/>
          <p:cNvSpPr/>
          <p:nvPr/>
        </p:nvSpPr>
        <p:spPr>
          <a:xfrm>
            <a:off x="6844392" y="4311747"/>
            <a:ext cx="628431" cy="549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solidFill>
                  <a:srgbClr val="FF0066"/>
                </a:solidFill>
                <a:latin typeface="微软雅黑" panose="020B0503020204020204" pitchFamily="34" charset="-122"/>
                <a:ea typeface="微软雅黑" panose="020B0503020204020204" pitchFamily="34" charset="-122"/>
              </a:rPr>
              <a:t>3</a:t>
            </a:r>
            <a:r>
              <a:rPr lang="zh-CN" altLang="en-US" sz="2000" b="1" dirty="0">
                <a:solidFill>
                  <a:srgbClr val="FF0066"/>
                </a:solidFill>
                <a:latin typeface="微软雅黑" panose="020B0503020204020204" pitchFamily="34" charset="-122"/>
                <a:ea typeface="微软雅黑" panose="020B0503020204020204" pitchFamily="34" charset="-122"/>
              </a:rPr>
              <a:t>级</a:t>
            </a:r>
          </a:p>
        </p:txBody>
      </p:sp>
      <p:sp>
        <p:nvSpPr>
          <p:cNvPr id="28" name="矩形 27"/>
          <p:cNvSpPr/>
          <p:nvPr/>
        </p:nvSpPr>
        <p:spPr>
          <a:xfrm>
            <a:off x="2711337" y="5594138"/>
            <a:ext cx="914639" cy="549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rgbClr val="FF0066"/>
                </a:solidFill>
                <a:latin typeface="微软雅黑" panose="020B0503020204020204" pitchFamily="34" charset="-122"/>
                <a:ea typeface="微软雅黑" panose="020B0503020204020204" pitchFamily="34" charset="-122"/>
              </a:rPr>
              <a:t>任务</a:t>
            </a:r>
            <a:r>
              <a:rPr lang="en-US" altLang="zh-CN" sz="2000" b="1" dirty="0">
                <a:solidFill>
                  <a:srgbClr val="FF0066"/>
                </a:solidFill>
                <a:latin typeface="微软雅黑" panose="020B0503020204020204" pitchFamily="34" charset="-122"/>
                <a:ea typeface="微软雅黑" panose="020B0503020204020204" pitchFamily="34" charset="-122"/>
              </a:rPr>
              <a:t>A</a:t>
            </a:r>
            <a:endParaRPr lang="zh-CN" altLang="en-US" sz="2000" b="1" dirty="0">
              <a:solidFill>
                <a:srgbClr val="FF0066"/>
              </a:solidFill>
              <a:latin typeface="微软雅黑" panose="020B0503020204020204" pitchFamily="34" charset="-122"/>
              <a:ea typeface="微软雅黑" panose="020B0503020204020204" pitchFamily="34" charset="-122"/>
            </a:endParaRPr>
          </a:p>
        </p:txBody>
      </p:sp>
      <p:sp>
        <p:nvSpPr>
          <p:cNvPr id="29" name="矩形 28"/>
          <p:cNvSpPr/>
          <p:nvPr/>
        </p:nvSpPr>
        <p:spPr>
          <a:xfrm>
            <a:off x="4223505" y="5711850"/>
            <a:ext cx="914639" cy="549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rgbClr val="FF0066"/>
                </a:solidFill>
                <a:latin typeface="微软雅黑" panose="020B0503020204020204" pitchFamily="34" charset="-122"/>
                <a:ea typeface="微软雅黑" panose="020B0503020204020204" pitchFamily="34" charset="-122"/>
              </a:rPr>
              <a:t>任务</a:t>
            </a:r>
            <a:r>
              <a:rPr lang="en-US" altLang="zh-CN" sz="2000" b="1" dirty="0">
                <a:solidFill>
                  <a:srgbClr val="FF0066"/>
                </a:solidFill>
                <a:latin typeface="微软雅黑" panose="020B0503020204020204" pitchFamily="34" charset="-122"/>
                <a:ea typeface="微软雅黑" panose="020B0503020204020204" pitchFamily="34" charset="-122"/>
              </a:rPr>
              <a:t>B</a:t>
            </a:r>
            <a:endParaRPr lang="zh-CN" altLang="en-US" sz="2000" b="1" dirty="0">
              <a:solidFill>
                <a:srgbClr val="FF0066"/>
              </a:solidFill>
              <a:latin typeface="微软雅黑" panose="020B0503020204020204" pitchFamily="34" charset="-122"/>
              <a:ea typeface="微软雅黑" panose="020B0503020204020204" pitchFamily="34" charset="-122"/>
            </a:endParaRPr>
          </a:p>
        </p:txBody>
      </p:sp>
      <p:sp>
        <p:nvSpPr>
          <p:cNvPr id="30" name="矩形 29"/>
          <p:cNvSpPr/>
          <p:nvPr/>
        </p:nvSpPr>
        <p:spPr>
          <a:xfrm>
            <a:off x="5647351" y="5524801"/>
            <a:ext cx="914639" cy="549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rgbClr val="FF0066"/>
                </a:solidFill>
                <a:latin typeface="微软雅黑" panose="020B0503020204020204" pitchFamily="34" charset="-122"/>
                <a:ea typeface="微软雅黑" panose="020B0503020204020204" pitchFamily="34" charset="-122"/>
              </a:rPr>
              <a:t>任务</a:t>
            </a:r>
            <a:r>
              <a:rPr lang="en-US" altLang="zh-CN" sz="2000" b="1" dirty="0">
                <a:solidFill>
                  <a:srgbClr val="FF0066"/>
                </a:solidFill>
                <a:latin typeface="微软雅黑" panose="020B0503020204020204" pitchFamily="34" charset="-122"/>
                <a:ea typeface="微软雅黑" panose="020B0503020204020204" pitchFamily="34" charset="-122"/>
              </a:rPr>
              <a:t>C</a:t>
            </a:r>
            <a:endParaRPr lang="zh-CN" altLang="en-US" sz="2000" b="1" dirty="0">
              <a:solidFill>
                <a:srgbClr val="FF0066"/>
              </a:solidFill>
              <a:latin typeface="微软雅黑" panose="020B0503020204020204" pitchFamily="34" charset="-122"/>
              <a:ea typeface="微软雅黑" panose="020B0503020204020204" pitchFamily="34" charset="-122"/>
            </a:endParaRPr>
          </a:p>
        </p:txBody>
      </p:sp>
      <p:sp>
        <p:nvSpPr>
          <p:cNvPr id="31" name="矩形 30"/>
          <p:cNvSpPr/>
          <p:nvPr/>
        </p:nvSpPr>
        <p:spPr>
          <a:xfrm>
            <a:off x="207875" y="1463779"/>
            <a:ext cx="3096343" cy="1461165"/>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bg1"/>
                </a:solidFill>
                <a:latin typeface="微软雅黑" panose="020B0503020204020204" pitchFamily="34" charset="-122"/>
                <a:ea typeface="微软雅黑" panose="020B0503020204020204" pitchFamily="34" charset="-122"/>
              </a:rPr>
              <a:t>规则</a:t>
            </a:r>
            <a:r>
              <a:rPr lang="en-US" altLang="zh-CN" sz="2000" b="1" dirty="0">
                <a:solidFill>
                  <a:schemeClr val="bg1"/>
                </a:solidFill>
                <a:latin typeface="微软雅黑" panose="020B0503020204020204" pitchFamily="34" charset="-122"/>
                <a:ea typeface="微软雅黑" panose="020B0503020204020204" pitchFamily="34" charset="-122"/>
              </a:rPr>
              <a:t>1</a:t>
            </a:r>
            <a:r>
              <a:rPr lang="zh-CN" altLang="en-US" sz="2000" b="1" dirty="0">
                <a:solidFill>
                  <a:schemeClr val="bg1"/>
                </a:solidFill>
                <a:latin typeface="微软雅黑" panose="020B0503020204020204" pitchFamily="34" charset="-122"/>
                <a:ea typeface="微软雅黑" panose="020B0503020204020204" pitchFamily="34" charset="-122"/>
              </a:rPr>
              <a:t>：高特权级码段可访问低特权级段中的数据；</a:t>
            </a:r>
            <a:endParaRPr lang="en-US" altLang="zh-CN" sz="2000" b="1" dirty="0">
              <a:solidFill>
                <a:schemeClr val="bg1"/>
              </a:solidFill>
              <a:latin typeface="微软雅黑" panose="020B0503020204020204" pitchFamily="34" charset="-122"/>
              <a:ea typeface="微软雅黑" panose="020B0503020204020204" pitchFamily="34" charset="-122"/>
            </a:endParaRPr>
          </a:p>
          <a:p>
            <a:r>
              <a:rPr lang="zh-CN" altLang="en-US" sz="2000" b="1" dirty="0">
                <a:solidFill>
                  <a:schemeClr val="bg1"/>
                </a:solidFill>
                <a:latin typeface="微软雅黑" panose="020B0503020204020204" pitchFamily="34" charset="-122"/>
                <a:ea typeface="微软雅黑" panose="020B0503020204020204" pitchFamily="34" charset="-122"/>
              </a:rPr>
              <a:t>规则</a:t>
            </a:r>
            <a:r>
              <a:rPr lang="en-US" altLang="zh-CN" sz="2000" b="1" dirty="0">
                <a:solidFill>
                  <a:schemeClr val="bg1"/>
                </a:solidFill>
                <a:latin typeface="微软雅黑" panose="020B0503020204020204" pitchFamily="34" charset="-122"/>
                <a:ea typeface="微软雅黑" panose="020B0503020204020204" pitchFamily="34" charset="-122"/>
              </a:rPr>
              <a:t>2</a:t>
            </a:r>
            <a:r>
              <a:rPr lang="zh-CN" altLang="en-US" sz="2000" b="1" dirty="0">
                <a:solidFill>
                  <a:schemeClr val="bg1"/>
                </a:solidFill>
                <a:latin typeface="微软雅黑" panose="020B0503020204020204" pitchFamily="34" charset="-122"/>
                <a:ea typeface="微软雅黑" panose="020B0503020204020204" pitchFamily="34" charset="-122"/>
              </a:rPr>
              <a:t>：低特权级码段可调用高特权级码段。</a:t>
            </a:r>
          </a:p>
        </p:txBody>
      </p:sp>
    </p:spTree>
    <p:extLst>
      <p:ext uri="{BB962C8B-B14F-4D97-AF65-F5344CB8AC3E}">
        <p14:creationId xmlns:p14="http://schemas.microsoft.com/office/powerpoint/2010/main" val="3844374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wipe(left)">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wipe(left)">
                                      <p:cBhvr>
                                        <p:cTn id="4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8" grpId="0"/>
      <p:bldP spid="29" grpId="0"/>
      <p:bldP spid="30" grpId="0"/>
      <p:bldP spid="3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983523" y="1799934"/>
            <a:ext cx="4668597" cy="4005330"/>
          </a:xfrm>
          <a:prstGeom prst="rect">
            <a:avLst/>
          </a:prstGeom>
          <a:ln>
            <a:solidFill>
              <a:srgbClr val="7BC143"/>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solidFill>
                <a:srgbClr val="7BC143"/>
              </a:solidFill>
            </a:endParaRPr>
          </a:p>
        </p:txBody>
      </p:sp>
      <p:sp>
        <p:nvSpPr>
          <p:cNvPr id="13" name="TextBox 15"/>
          <p:cNvSpPr txBox="1"/>
          <p:nvPr/>
        </p:nvSpPr>
        <p:spPr>
          <a:xfrm>
            <a:off x="1127559" y="1916326"/>
            <a:ext cx="4413206" cy="1197636"/>
          </a:xfrm>
          <a:prstGeom prst="rect">
            <a:avLst/>
          </a:prstGeom>
          <a:noFill/>
        </p:spPr>
        <p:txBody>
          <a:bodyPr wrap="square">
            <a:spAutoFit/>
          </a:bodyPr>
          <a:lstStyle/>
          <a:p>
            <a:pPr>
              <a:lnSpc>
                <a:spcPct val="133000"/>
              </a:lnSpc>
              <a:defRPr/>
            </a:pPr>
            <a:r>
              <a:rPr lang="zh-CN" altLang="en-US" dirty="0">
                <a:solidFill>
                  <a:schemeClr val="tx1">
                    <a:lumMod val="65000"/>
                    <a:lumOff val="35000"/>
                  </a:schemeClr>
                </a:solidFill>
                <a:latin typeface="微软雅黑" pitchFamily="34" charset="-122"/>
                <a:ea typeface="微软雅黑" pitchFamily="34" charset="-122"/>
              </a:rPr>
              <a:t>分段解决进程的虚拟地址空间的隔离，使程序员从复杂纷繁的存储器管理解脱，只需要关注程序设计，不关心内存不够用。</a:t>
            </a:r>
            <a:endParaRPr lang="zh-CN" altLang="en-US" dirty="0">
              <a:solidFill>
                <a:schemeClr val="tx1">
                  <a:lumMod val="65000"/>
                  <a:lumOff val="35000"/>
                </a:schemeClr>
              </a:solidFill>
              <a:latin typeface="Arial" charset="0"/>
              <a:ea typeface="宋体" charset="-122"/>
            </a:endParaRPr>
          </a:p>
        </p:txBody>
      </p:sp>
      <p:sp>
        <p:nvSpPr>
          <p:cNvPr id="14" name="TextBox 16"/>
          <p:cNvSpPr txBox="1"/>
          <p:nvPr/>
        </p:nvSpPr>
        <p:spPr>
          <a:xfrm>
            <a:off x="1127559" y="3573016"/>
            <a:ext cx="4413205" cy="1566070"/>
          </a:xfrm>
          <a:prstGeom prst="rect">
            <a:avLst/>
          </a:prstGeom>
          <a:noFill/>
        </p:spPr>
        <p:txBody>
          <a:bodyPr wrap="square">
            <a:spAutoFit/>
          </a:bodyPr>
          <a:lstStyle/>
          <a:p>
            <a:pPr>
              <a:lnSpc>
                <a:spcPct val="133000"/>
              </a:lnSpc>
              <a:defRPr/>
            </a:pPr>
            <a:r>
              <a:rPr lang="zh-CN" altLang="en-US" dirty="0">
                <a:solidFill>
                  <a:schemeClr val="tx1">
                    <a:lumMod val="65000"/>
                    <a:lumOff val="35000"/>
                  </a:schemeClr>
                </a:solidFill>
                <a:latin typeface="微软雅黑" pitchFamily="34" charset="-122"/>
                <a:ea typeface="微软雅黑" pitchFamily="34" charset="-122"/>
              </a:rPr>
              <a:t>分页是解决物理内存的使用效率，与程序的执行密切相关，与程序员设计程序无关，程序员不需要关心程序是如何被执行的，从而实现了真正的虚拟存储器。</a:t>
            </a:r>
          </a:p>
        </p:txBody>
      </p:sp>
      <p:pic>
        <p:nvPicPr>
          <p:cNvPr id="15" name="Picture 3" descr="E:\仝德志文件，勿删！\03-参考文档\！PPT图片及版面资源\06-PPT精选插图\12-标签\绿色燕尾02.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72213" y="5204961"/>
            <a:ext cx="1872208" cy="58904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5"/>
          <p:cNvSpPr txBox="1"/>
          <p:nvPr/>
        </p:nvSpPr>
        <p:spPr>
          <a:xfrm>
            <a:off x="856909" y="5256425"/>
            <a:ext cx="1338828" cy="369332"/>
          </a:xfrm>
          <a:prstGeom prst="rect">
            <a:avLst/>
          </a:prstGeom>
          <a:noFill/>
        </p:spPr>
        <p:txBody>
          <a:bodyPr wrap="none" rtlCol="0">
            <a:spAutoFit/>
          </a:bodyPr>
          <a:lstStyle/>
          <a:p>
            <a:r>
              <a:rPr lang="zh-CN" altLang="en-US" dirty="0">
                <a:solidFill>
                  <a:schemeClr val="bg1"/>
                </a:solidFill>
                <a:latin typeface="微软雅黑" pitchFamily="34" charset="-122"/>
                <a:ea typeface="微软雅黑" pitchFamily="34" charset="-122"/>
              </a:rPr>
              <a:t>分段，分页</a:t>
            </a:r>
          </a:p>
        </p:txBody>
      </p:sp>
      <p:cxnSp>
        <p:nvCxnSpPr>
          <p:cNvPr id="17" name="直接连接符 16"/>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8"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保护模式：小结</a:t>
            </a:r>
            <a:endParaRPr lang="en-US" altLang="zh-CN" sz="3200" b="1" dirty="0">
              <a:solidFill>
                <a:srgbClr val="00B0F0"/>
              </a:solidFill>
              <a:latin typeface="微软雅黑" pitchFamily="34" charset="-122"/>
              <a:ea typeface="微软雅黑" pitchFamily="34" charset="-122"/>
            </a:endParaRPr>
          </a:p>
        </p:txBody>
      </p:sp>
      <p:cxnSp>
        <p:nvCxnSpPr>
          <p:cNvPr id="19" name="直接连接符 18"/>
          <p:cNvCxnSpPr/>
          <p:nvPr/>
        </p:nvCxnSpPr>
        <p:spPr bwMode="auto">
          <a:xfrm>
            <a:off x="1619250" y="1123963"/>
            <a:ext cx="5905500" cy="0"/>
          </a:xfrm>
          <a:prstGeom prst="line">
            <a:avLst/>
          </a:prstGeom>
          <a:noFill/>
          <a:ln w="28575" cap="flat" cmpd="sng" algn="ctr">
            <a:solidFill>
              <a:srgbClr val="FFC000"/>
            </a:solidFill>
            <a:prstDash val="sysDot"/>
          </a:ln>
          <a:effectLst/>
        </p:spPr>
      </p:cxnSp>
      <p:pic>
        <p:nvPicPr>
          <p:cNvPr id="20" name="Picture 2" descr="F:\TDZ临时\其他备用\！PPT图片及版面资源\06-PPT精选插图\04-图标\E3B286D66D8AD39C2D5302F1CDC81A36.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084168" y="3274296"/>
            <a:ext cx="2530968" cy="2530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4414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问号01.png"/>
          <p:cNvPicPr>
            <a:picLocks noChangeAspect="1"/>
          </p:cNvPicPr>
          <p:nvPr/>
        </p:nvPicPr>
        <p:blipFill>
          <a:blip r:embed="rId2"/>
          <a:stretch>
            <a:fillRect/>
          </a:stretch>
        </p:blipFill>
        <p:spPr>
          <a:xfrm>
            <a:off x="7515043" y="157306"/>
            <a:ext cx="1614899" cy="1255470"/>
          </a:xfrm>
          <a:prstGeom prst="rect">
            <a:avLst/>
          </a:prstGeom>
        </p:spPr>
      </p:pic>
      <p:cxnSp>
        <p:nvCxnSpPr>
          <p:cNvPr id="3" name="直接连接符 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4" name="Rectangle 2"/>
          <p:cNvSpPr>
            <a:spLocks noChangeArrowheads="1"/>
          </p:cNvSpPr>
          <p:nvPr/>
        </p:nvSpPr>
        <p:spPr bwMode="auto">
          <a:xfrm>
            <a:off x="3702006" y="419266"/>
            <a:ext cx="1739987"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检测点</a:t>
            </a:r>
            <a:endParaRPr lang="zh-CN" altLang="en-US" sz="3200" b="1" dirty="0">
              <a:solidFill>
                <a:prstClr val="white">
                  <a:lumMod val="65000"/>
                </a:prstClr>
              </a:solidFill>
              <a:latin typeface="Arial"/>
              <a:ea typeface="微软雅黑" pitchFamily="34" charset="-122"/>
              <a:cs typeface="Arial"/>
            </a:endParaRPr>
          </a:p>
        </p:txBody>
      </p:sp>
      <p:sp>
        <p:nvSpPr>
          <p:cNvPr id="6" name="矩形 5"/>
          <p:cNvSpPr/>
          <p:nvPr/>
        </p:nvSpPr>
        <p:spPr>
          <a:xfrm>
            <a:off x="1043607" y="2755527"/>
            <a:ext cx="7921091" cy="864096"/>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ea typeface="微软雅黑" panose="020B0503020204020204" pitchFamily="34" charset="-122"/>
              </a:rPr>
              <a:t>80386</a:t>
            </a:r>
            <a:r>
              <a:rPr lang="zh-CN" altLang="en-US" sz="2000" b="1" dirty="0">
                <a:ea typeface="微软雅黑" panose="020B0503020204020204" pitchFamily="34" charset="-122"/>
              </a:rPr>
              <a:t>的工作模式包括</a:t>
            </a:r>
            <a:r>
              <a:rPr lang="zh-CN" altLang="en-US" sz="2000" b="1" u="sng" dirty="0">
                <a:ea typeface="微软雅黑" panose="020B0503020204020204" pitchFamily="34" charset="-122"/>
              </a:rPr>
              <a:t>               </a:t>
            </a:r>
            <a:r>
              <a:rPr lang="zh-CN" altLang="en-US" sz="2000" b="1" dirty="0">
                <a:ea typeface="微软雅黑" panose="020B0503020204020204" pitchFamily="34" charset="-122"/>
              </a:rPr>
              <a:t> 、</a:t>
            </a:r>
            <a:r>
              <a:rPr lang="zh-CN" altLang="en-US" sz="2000" b="1" u="sng" dirty="0">
                <a:ea typeface="微软雅黑" panose="020B0503020204020204" pitchFamily="34" charset="-122"/>
              </a:rPr>
              <a:t>                     </a:t>
            </a:r>
            <a:r>
              <a:rPr lang="zh-CN" altLang="en-US" sz="2000" b="1" dirty="0">
                <a:ea typeface="微软雅黑" panose="020B0503020204020204" pitchFamily="34" charset="-122"/>
              </a:rPr>
              <a:t>、</a:t>
            </a:r>
            <a:r>
              <a:rPr lang="zh-CN" altLang="en-US" sz="2000" b="1" u="sng" dirty="0">
                <a:ea typeface="微软雅黑" panose="020B0503020204020204" pitchFamily="34" charset="-122"/>
              </a:rPr>
              <a:t>                       </a:t>
            </a:r>
            <a:r>
              <a:rPr lang="zh-CN" altLang="en-US" sz="2000" b="1" dirty="0">
                <a:ea typeface="微软雅黑" panose="020B0503020204020204" pitchFamily="34" charset="-122"/>
              </a:rPr>
              <a:t>。</a:t>
            </a:r>
            <a:endParaRPr lang="zh-CN" altLang="en-US" sz="2000" b="1" u="sng" dirty="0">
              <a:solidFill>
                <a:schemeClr val="bg1"/>
              </a:solidFill>
              <a:ea typeface="微软雅黑" panose="020B0503020204020204" pitchFamily="34" charset="-122"/>
            </a:endParaRPr>
          </a:p>
        </p:txBody>
      </p:sp>
      <p:sp>
        <p:nvSpPr>
          <p:cNvPr id="7" name="矩形 6"/>
          <p:cNvSpPr/>
          <p:nvPr/>
        </p:nvSpPr>
        <p:spPr>
          <a:xfrm>
            <a:off x="1043608" y="3742835"/>
            <a:ext cx="7921092" cy="86409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保护模式下</a:t>
            </a:r>
            <a:r>
              <a:rPr lang="en-US" altLang="zh-CN" sz="2000" b="1" dirty="0">
                <a:ea typeface="微软雅黑" panose="020B0503020204020204" pitchFamily="34" charset="-122"/>
              </a:rPr>
              <a:t>80386</a:t>
            </a:r>
            <a:r>
              <a:rPr lang="zh-CN" altLang="en-US" sz="2000" b="1" dirty="0">
                <a:ea typeface="微软雅黑" panose="020B0503020204020204" pitchFamily="34" charset="-122"/>
              </a:rPr>
              <a:t>的可以寻址的虚拟存储器最大为</a:t>
            </a:r>
            <a:r>
              <a:rPr lang="zh-CN" altLang="en-US" sz="2000" b="1" u="sng" dirty="0">
                <a:ea typeface="微软雅黑" panose="020B0503020204020204" pitchFamily="34" charset="-122"/>
              </a:rPr>
              <a:t>                    </a:t>
            </a:r>
            <a:r>
              <a:rPr lang="zh-CN" altLang="en-US" sz="2000" b="1" dirty="0">
                <a:ea typeface="微软雅黑" panose="020B0503020204020204" pitchFamily="34" charset="-122"/>
              </a:rPr>
              <a:t>。</a:t>
            </a:r>
          </a:p>
        </p:txBody>
      </p:sp>
      <p:sp>
        <p:nvSpPr>
          <p:cNvPr id="9" name="矩形 8"/>
          <p:cNvSpPr/>
          <p:nvPr/>
        </p:nvSpPr>
        <p:spPr>
          <a:xfrm>
            <a:off x="1043396" y="1772816"/>
            <a:ext cx="7921092" cy="86409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ea typeface="微软雅黑" panose="020B0503020204020204" pitchFamily="34" charset="-122"/>
              </a:rPr>
              <a:t>80386CPU</a:t>
            </a:r>
            <a:r>
              <a:rPr lang="zh-CN" altLang="en-US" sz="2000" b="1" dirty="0">
                <a:ea typeface="微软雅黑" panose="020B0503020204020204" pitchFamily="34" charset="-122"/>
              </a:rPr>
              <a:t>的地址线有</a:t>
            </a:r>
            <a:r>
              <a:rPr lang="zh-CN" altLang="en-US" sz="2000" b="1" u="sng" dirty="0">
                <a:ea typeface="微软雅黑" panose="020B0503020204020204" pitchFamily="34" charset="-122"/>
              </a:rPr>
              <a:t>                </a:t>
            </a:r>
            <a:r>
              <a:rPr lang="zh-CN" altLang="en-US" sz="2000" b="1" dirty="0">
                <a:ea typeface="微软雅黑" panose="020B0503020204020204" pitchFamily="34" charset="-122"/>
              </a:rPr>
              <a:t>位，可以寻址 </a:t>
            </a:r>
            <a:r>
              <a:rPr lang="zh-CN" altLang="en-US" sz="2000" b="1" u="sng" dirty="0">
                <a:ea typeface="微软雅黑" panose="020B0503020204020204" pitchFamily="34" charset="-122"/>
              </a:rPr>
              <a:t>               </a:t>
            </a:r>
            <a:r>
              <a:rPr lang="zh-CN" altLang="en-US" sz="2000" b="1" dirty="0">
                <a:ea typeface="微软雅黑" panose="020B0503020204020204" pitchFamily="34" charset="-122"/>
              </a:rPr>
              <a:t>的物理存储器</a:t>
            </a:r>
            <a:r>
              <a:rPr lang="zh-CN" altLang="en-US" sz="2000" b="1" dirty="0">
                <a:solidFill>
                  <a:schemeClr val="bg1"/>
                </a:solidFill>
                <a:ea typeface="微软雅黑" panose="020B0503020204020204" pitchFamily="34" charset="-122"/>
              </a:rPr>
              <a:t>。</a:t>
            </a:r>
            <a:r>
              <a:rPr lang="zh-CN" altLang="en-US" sz="2000" b="1" u="sng" dirty="0">
                <a:solidFill>
                  <a:schemeClr val="bg1"/>
                </a:solidFill>
                <a:ea typeface="微软雅黑" panose="020B0503020204020204" pitchFamily="34" charset="-122"/>
              </a:rPr>
              <a:t> </a:t>
            </a:r>
          </a:p>
        </p:txBody>
      </p:sp>
      <p:sp>
        <p:nvSpPr>
          <p:cNvPr id="10" name="矩形 9"/>
          <p:cNvSpPr/>
          <p:nvPr/>
        </p:nvSpPr>
        <p:spPr>
          <a:xfrm>
            <a:off x="467544" y="1772816"/>
            <a:ext cx="575852" cy="86409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1</a:t>
            </a:r>
            <a:endParaRPr lang="zh-CN" altLang="en-US" sz="3200" dirty="0">
              <a:latin typeface="Arial Black" pitchFamily="34" charset="0"/>
            </a:endParaRPr>
          </a:p>
        </p:txBody>
      </p:sp>
      <p:sp>
        <p:nvSpPr>
          <p:cNvPr id="12" name="矩形 11"/>
          <p:cNvSpPr/>
          <p:nvPr/>
        </p:nvSpPr>
        <p:spPr>
          <a:xfrm>
            <a:off x="467544" y="2755526"/>
            <a:ext cx="575852" cy="86409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2</a:t>
            </a:r>
            <a:endParaRPr lang="zh-CN" altLang="en-US" sz="3200" dirty="0">
              <a:latin typeface="Arial Black" pitchFamily="34" charset="0"/>
            </a:endParaRPr>
          </a:p>
        </p:txBody>
      </p:sp>
      <p:sp>
        <p:nvSpPr>
          <p:cNvPr id="13" name="矩形 12"/>
          <p:cNvSpPr/>
          <p:nvPr/>
        </p:nvSpPr>
        <p:spPr>
          <a:xfrm>
            <a:off x="467544" y="3742834"/>
            <a:ext cx="575852" cy="86409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3</a:t>
            </a:r>
            <a:endParaRPr lang="zh-CN" altLang="en-US" sz="3200" dirty="0">
              <a:latin typeface="Arial Black" pitchFamily="34" charset="0"/>
            </a:endParaRPr>
          </a:p>
        </p:txBody>
      </p:sp>
    </p:spTree>
    <p:extLst>
      <p:ext uri="{BB962C8B-B14F-4D97-AF65-F5344CB8AC3E}">
        <p14:creationId xmlns:p14="http://schemas.microsoft.com/office/powerpoint/2010/main" val="4206245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down)">
                                      <p:cBhvr>
                                        <p:cTn id="25" dur="500"/>
                                        <p:tgtEl>
                                          <p:spTgt spid="9"/>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down)">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xit" presetSubtype="4" fill="hold" grpId="1" nodeType="clickEffect">
                                  <p:stCondLst>
                                    <p:cond delay="0"/>
                                  </p:stCondLst>
                                  <p:childTnLst>
                                    <p:animEffect transition="out" filter="wipe(down)">
                                      <p:cBhvr>
                                        <p:cTn id="32" dur="500"/>
                                        <p:tgtEl>
                                          <p:spTgt spid="9"/>
                                        </p:tgtEl>
                                      </p:cBhvr>
                                    </p:animEffect>
                                    <p:set>
                                      <p:cBhvr>
                                        <p:cTn id="33" dur="1" fill="hold">
                                          <p:stCondLst>
                                            <p:cond delay="499"/>
                                          </p:stCondLst>
                                        </p:cTn>
                                        <p:tgtEl>
                                          <p:spTgt spid="9"/>
                                        </p:tgtEl>
                                        <p:attrNameLst>
                                          <p:attrName>style.visibility</p:attrName>
                                        </p:attrNameLst>
                                      </p:cBhvr>
                                      <p:to>
                                        <p:strVal val="hidden"/>
                                      </p:to>
                                    </p:set>
                                  </p:childTnLst>
                                </p:cTn>
                              </p:par>
                              <p:par>
                                <p:cTn id="34" presetID="22" presetClass="exit" presetSubtype="4" fill="hold" grpId="1" nodeType="withEffect">
                                  <p:stCondLst>
                                    <p:cond delay="0"/>
                                  </p:stCondLst>
                                  <p:childTnLst>
                                    <p:animEffect transition="out" filter="wipe(down)">
                                      <p:cBhvr>
                                        <p:cTn id="35" dur="500"/>
                                        <p:tgtEl>
                                          <p:spTgt spid="10"/>
                                        </p:tgtEl>
                                      </p:cBhvr>
                                    </p:animEffect>
                                    <p:set>
                                      <p:cBhvr>
                                        <p:cTn id="36" dur="1" fill="hold">
                                          <p:stCondLst>
                                            <p:cond delay="499"/>
                                          </p:stCondLst>
                                        </p:cTn>
                                        <p:tgtEl>
                                          <p:spTgt spid="10"/>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down)">
                                      <p:cBhvr>
                                        <p:cTn id="41" dur="500"/>
                                        <p:tgtEl>
                                          <p:spTgt spid="6"/>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down)">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xit" presetSubtype="4" fill="hold" grpId="1" nodeType="clickEffect">
                                  <p:stCondLst>
                                    <p:cond delay="0"/>
                                  </p:stCondLst>
                                  <p:childTnLst>
                                    <p:animEffect transition="out" filter="wipe(down)">
                                      <p:cBhvr>
                                        <p:cTn id="48" dur="500"/>
                                        <p:tgtEl>
                                          <p:spTgt spid="6"/>
                                        </p:tgtEl>
                                      </p:cBhvr>
                                    </p:animEffect>
                                    <p:set>
                                      <p:cBhvr>
                                        <p:cTn id="49" dur="1" fill="hold">
                                          <p:stCondLst>
                                            <p:cond delay="499"/>
                                          </p:stCondLst>
                                        </p:cTn>
                                        <p:tgtEl>
                                          <p:spTgt spid="6"/>
                                        </p:tgtEl>
                                        <p:attrNameLst>
                                          <p:attrName>style.visibility</p:attrName>
                                        </p:attrNameLst>
                                      </p:cBhvr>
                                      <p:to>
                                        <p:strVal val="hidden"/>
                                      </p:to>
                                    </p:set>
                                  </p:childTnLst>
                                </p:cTn>
                              </p:par>
                              <p:par>
                                <p:cTn id="50" presetID="22" presetClass="exit" presetSubtype="4" fill="hold" grpId="1" nodeType="withEffect">
                                  <p:stCondLst>
                                    <p:cond delay="0"/>
                                  </p:stCondLst>
                                  <p:childTnLst>
                                    <p:animEffect transition="out" filter="wipe(down)">
                                      <p:cBhvr>
                                        <p:cTn id="51" dur="500"/>
                                        <p:tgtEl>
                                          <p:spTgt spid="12"/>
                                        </p:tgtEl>
                                      </p:cBhvr>
                                    </p:animEffect>
                                    <p:set>
                                      <p:cBhvr>
                                        <p:cTn id="52" dur="1" fill="hold">
                                          <p:stCondLst>
                                            <p:cond delay="499"/>
                                          </p:stCondLst>
                                        </p:cTn>
                                        <p:tgtEl>
                                          <p:spTgt spid="12"/>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wipe(down)">
                                      <p:cBhvr>
                                        <p:cTn id="57" dur="500"/>
                                        <p:tgtEl>
                                          <p:spTgt spid="7"/>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wipe(down)">
                                      <p:cBhvr>
                                        <p:cTn id="60" dur="500"/>
                                        <p:tgtEl>
                                          <p:spTgt spid="1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xit" presetSubtype="4" fill="hold" grpId="1" nodeType="clickEffect">
                                  <p:stCondLst>
                                    <p:cond delay="0"/>
                                  </p:stCondLst>
                                  <p:childTnLst>
                                    <p:animEffect transition="out" filter="wipe(down)">
                                      <p:cBhvr>
                                        <p:cTn id="64" dur="500"/>
                                        <p:tgtEl>
                                          <p:spTgt spid="7"/>
                                        </p:tgtEl>
                                      </p:cBhvr>
                                    </p:animEffect>
                                    <p:set>
                                      <p:cBhvr>
                                        <p:cTn id="65" dur="1" fill="hold">
                                          <p:stCondLst>
                                            <p:cond delay="499"/>
                                          </p:stCondLst>
                                        </p:cTn>
                                        <p:tgtEl>
                                          <p:spTgt spid="7"/>
                                        </p:tgtEl>
                                        <p:attrNameLst>
                                          <p:attrName>style.visibility</p:attrName>
                                        </p:attrNameLst>
                                      </p:cBhvr>
                                      <p:to>
                                        <p:strVal val="hidden"/>
                                      </p:to>
                                    </p:set>
                                  </p:childTnLst>
                                </p:cTn>
                              </p:par>
                              <p:par>
                                <p:cTn id="66" presetID="22" presetClass="exit" presetSubtype="4" fill="hold" grpId="1" nodeType="withEffect">
                                  <p:stCondLst>
                                    <p:cond delay="0"/>
                                  </p:stCondLst>
                                  <p:childTnLst>
                                    <p:animEffect transition="out" filter="wipe(down)">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9" grpId="0" animBg="1"/>
      <p:bldP spid="9" grpId="1" animBg="1"/>
      <p:bldP spid="10" grpId="0" animBg="1"/>
      <p:bldP spid="10" grpId="1" animBg="1"/>
      <p:bldP spid="12" grpId="0" animBg="1"/>
      <p:bldP spid="12" grpId="1" animBg="1"/>
      <p:bldP spid="13" grpId="0" animBg="1"/>
      <p:bldP spid="13"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
          <p:cNvSpPr txBox="1"/>
          <p:nvPr/>
        </p:nvSpPr>
        <p:spPr>
          <a:xfrm>
            <a:off x="4292127" y="1364332"/>
            <a:ext cx="3664249" cy="841375"/>
          </a:xfrm>
          <a:prstGeom prst="roundRect">
            <a:avLst>
              <a:gd name="adj" fmla="val 8176"/>
            </a:avLst>
          </a:prstGeom>
          <a:noFill/>
          <a:ln w="19050">
            <a:solidFill>
              <a:schemeClr val="bg1">
                <a:lumMod val="65000"/>
              </a:schemeClr>
            </a:solidFill>
          </a:ln>
        </p:spPr>
        <p:txBody>
          <a:bodyPr wrap="none" anchor="ctr"/>
          <a:lstStyle>
            <a:defPPr>
              <a:defRPr lang="en-US"/>
            </a:defPPr>
            <a:lvl1pPr algn="ctr">
              <a:defRPr sz="2800" b="1">
                <a:solidFill>
                  <a:srgbClr val="A6A6A6"/>
                </a:solidFill>
                <a:latin typeface="微软雅黑" panose="020B0503020204020204" pitchFamily="34" charset="-122"/>
                <a:ea typeface="微软雅黑" panose="020B0503020204020204" pitchFamily="34" charset="-122"/>
              </a:defRPr>
            </a:lvl1pPr>
          </a:lstStyle>
          <a:p>
            <a:r>
              <a:rPr lang="en-US" altLang="zh-CN" dirty="0"/>
              <a:t>80386</a:t>
            </a:r>
            <a:r>
              <a:rPr lang="zh-CN" altLang="en-US" dirty="0"/>
              <a:t>及其特点</a:t>
            </a:r>
          </a:p>
        </p:txBody>
      </p:sp>
      <p:sp>
        <p:nvSpPr>
          <p:cNvPr id="3" name="椭圆 2"/>
          <p:cNvSpPr/>
          <p:nvPr/>
        </p:nvSpPr>
        <p:spPr>
          <a:xfrm>
            <a:off x="3859857" y="1413396"/>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1</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
        <p:nvSpPr>
          <p:cNvPr id="4" name="TextBox 9"/>
          <p:cNvSpPr txBox="1"/>
          <p:nvPr/>
        </p:nvSpPr>
        <p:spPr>
          <a:xfrm>
            <a:off x="4292127" y="2516857"/>
            <a:ext cx="3664249" cy="841375"/>
          </a:xfrm>
          <a:prstGeom prst="roundRect">
            <a:avLst>
              <a:gd name="adj" fmla="val 8176"/>
            </a:avLst>
          </a:prstGeom>
          <a:noFill/>
          <a:ln w="19050">
            <a:solidFill>
              <a:schemeClr val="bg1">
                <a:lumMod val="65000"/>
              </a:schemeClr>
            </a:solidFill>
          </a:ln>
        </p:spPr>
        <p:txBody>
          <a:bodyPr wrap="none" anchor="ctr"/>
          <a:lstStyle>
            <a:defPPr>
              <a:defRPr lang="en-US"/>
            </a:defPPr>
            <a:lvl1pPr algn="ctr">
              <a:defRPr sz="2800" b="1">
                <a:solidFill>
                  <a:srgbClr val="A6A6A6"/>
                </a:solidFill>
                <a:latin typeface="微软雅黑" panose="020B0503020204020204" pitchFamily="34" charset="-122"/>
                <a:ea typeface="微软雅黑" panose="020B0503020204020204" pitchFamily="34" charset="-122"/>
              </a:defRPr>
            </a:lvl1pPr>
          </a:lstStyle>
          <a:p>
            <a:r>
              <a:rPr lang="en-US" altLang="zh-CN" dirty="0"/>
              <a:t>80386</a:t>
            </a:r>
            <a:r>
              <a:rPr lang="zh-CN" altLang="en-US" dirty="0"/>
              <a:t>工作模式</a:t>
            </a:r>
          </a:p>
        </p:txBody>
      </p:sp>
      <p:sp>
        <p:nvSpPr>
          <p:cNvPr id="5" name="椭圆 4"/>
          <p:cNvSpPr/>
          <p:nvPr/>
        </p:nvSpPr>
        <p:spPr>
          <a:xfrm>
            <a:off x="3859857" y="2565921"/>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2</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
        <p:nvSpPr>
          <p:cNvPr id="6" name="TextBox 9"/>
          <p:cNvSpPr txBox="1"/>
          <p:nvPr/>
        </p:nvSpPr>
        <p:spPr>
          <a:xfrm>
            <a:off x="4284190" y="3668365"/>
            <a:ext cx="3664249" cy="841375"/>
          </a:xfrm>
          <a:prstGeom prst="roundRect">
            <a:avLst>
              <a:gd name="adj" fmla="val 8176"/>
            </a:avLst>
          </a:prstGeom>
          <a:solidFill>
            <a:srgbClr val="5DCB08"/>
          </a:solidFill>
          <a:ln w="19050">
            <a:solidFill>
              <a:schemeClr val="bg1">
                <a:lumMod val="65000"/>
              </a:schemeClr>
            </a:solidFill>
          </a:ln>
        </p:spPr>
        <p:txBody>
          <a:bodyPr wrap="none" anchor="ctr"/>
          <a:lstStyle>
            <a:defPPr>
              <a:defRPr lang="en-US"/>
            </a:defPPr>
            <a:lvl1pPr algn="ctr">
              <a:defRPr sz="2800" b="1">
                <a:latin typeface="微软雅黑" panose="020B0503020204020204" pitchFamily="34" charset="-122"/>
                <a:ea typeface="微软雅黑" panose="020B0503020204020204" pitchFamily="34" charset="-122"/>
              </a:defRPr>
            </a:lvl1pPr>
          </a:lstStyle>
          <a:p>
            <a:r>
              <a:rPr lang="en-US" altLang="zh-CN" dirty="0"/>
              <a:t>80386</a:t>
            </a:r>
            <a:r>
              <a:rPr lang="zh-CN" altLang="en-US" dirty="0"/>
              <a:t>内部寄存器</a:t>
            </a:r>
          </a:p>
        </p:txBody>
      </p:sp>
      <p:sp>
        <p:nvSpPr>
          <p:cNvPr id="7" name="椭圆 6"/>
          <p:cNvSpPr/>
          <p:nvPr/>
        </p:nvSpPr>
        <p:spPr>
          <a:xfrm>
            <a:off x="3851920" y="3717429"/>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3</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
        <p:nvSpPr>
          <p:cNvPr id="8" name="TextBox 9"/>
          <p:cNvSpPr txBox="1"/>
          <p:nvPr/>
        </p:nvSpPr>
        <p:spPr>
          <a:xfrm>
            <a:off x="4292127" y="4819873"/>
            <a:ext cx="3664249" cy="841375"/>
          </a:xfrm>
          <a:prstGeom prst="roundRect">
            <a:avLst>
              <a:gd name="adj" fmla="val 8176"/>
            </a:avLst>
          </a:prstGeom>
          <a:noFill/>
          <a:ln w="19050">
            <a:solidFill>
              <a:schemeClr val="bg1">
                <a:lumMod val="65000"/>
              </a:schemeClr>
            </a:solidFill>
          </a:ln>
        </p:spPr>
        <p:txBody>
          <a:bodyPr wrap="none" anchor="ctr"/>
          <a:lstStyle>
            <a:defPPr>
              <a:defRPr lang="en-US"/>
            </a:defPPr>
            <a:lvl1pPr algn="ctr">
              <a:defRPr sz="2800" b="1">
                <a:solidFill>
                  <a:srgbClr val="A6A6A6"/>
                </a:solidFill>
                <a:latin typeface="微软雅黑" panose="020B0503020204020204" pitchFamily="34" charset="-122"/>
                <a:ea typeface="微软雅黑" panose="020B0503020204020204" pitchFamily="34" charset="-122"/>
              </a:defRPr>
            </a:lvl1pPr>
          </a:lstStyle>
          <a:p>
            <a:r>
              <a:rPr lang="en-US" altLang="zh-CN" dirty="0"/>
              <a:t>80386</a:t>
            </a:r>
            <a:r>
              <a:rPr lang="zh-CN" altLang="en-US" dirty="0"/>
              <a:t>存储器管理</a:t>
            </a:r>
          </a:p>
        </p:txBody>
      </p:sp>
      <p:sp>
        <p:nvSpPr>
          <p:cNvPr id="9" name="椭圆 8"/>
          <p:cNvSpPr/>
          <p:nvPr/>
        </p:nvSpPr>
        <p:spPr>
          <a:xfrm>
            <a:off x="3859857" y="4868937"/>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4</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Tree>
    <p:extLst>
      <p:ext uri="{BB962C8B-B14F-4D97-AF65-F5344CB8AC3E}">
        <p14:creationId xmlns:p14="http://schemas.microsoft.com/office/powerpoint/2010/main" val="106744101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fltVal val="0"/>
                                          </p:val>
                                        </p:tav>
                                        <p:tav tm="100000">
                                          <p:val>
                                            <p:strVal val="#ppt_h"/>
                                          </p:val>
                                        </p:tav>
                                      </p:tavLst>
                                    </p:anim>
                                    <p:animEffect transition="in" filter="fade">
                                      <p:cBhvr>
                                        <p:cTn id="34" dur="500"/>
                                        <p:tgtEl>
                                          <p:spTgt spid="6"/>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Effect transition="in" filter="fade">
                                      <p:cBhvr>
                                        <p:cTn id="39" dur="500"/>
                                        <p:tgtEl>
                                          <p:spTgt spid="9"/>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p:cTn id="42" dur="500" fill="hold"/>
                                        <p:tgtEl>
                                          <p:spTgt spid="8"/>
                                        </p:tgtEl>
                                        <p:attrNameLst>
                                          <p:attrName>ppt_w</p:attrName>
                                        </p:attrNameLst>
                                      </p:cBhvr>
                                      <p:tavLst>
                                        <p:tav tm="0">
                                          <p:val>
                                            <p:fltVal val="0"/>
                                          </p:val>
                                        </p:tav>
                                        <p:tav tm="100000">
                                          <p:val>
                                            <p:strVal val="#ppt_w"/>
                                          </p:val>
                                        </p:tav>
                                      </p:tavLst>
                                    </p:anim>
                                    <p:anim calcmode="lin" valueType="num">
                                      <p:cBhvr>
                                        <p:cTn id="43" dur="500" fill="hold"/>
                                        <p:tgtEl>
                                          <p:spTgt spid="8"/>
                                        </p:tgtEl>
                                        <p:attrNameLst>
                                          <p:attrName>ppt_h</p:attrName>
                                        </p:attrNameLst>
                                      </p:cBhvr>
                                      <p:tavLst>
                                        <p:tav tm="0">
                                          <p:val>
                                            <p:fltVal val="0"/>
                                          </p:val>
                                        </p:tav>
                                        <p:tav tm="100000">
                                          <p:val>
                                            <p:strVal val="#ppt_h"/>
                                          </p:val>
                                        </p:tav>
                                      </p:tavLst>
                                    </p:anim>
                                    <p:animEffect transition="in" filter="fade">
                                      <p:cBhvr>
                                        <p:cTn id="4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８个</a:t>
            </a:r>
            <a:r>
              <a:rPr lang="en-US" altLang="zh-CN" sz="3200" b="1" dirty="0">
                <a:solidFill>
                  <a:srgbClr val="00B0F0"/>
                </a:solidFill>
                <a:latin typeface="微软雅黑" pitchFamily="34" charset="-122"/>
                <a:ea typeface="微软雅黑" pitchFamily="34" charset="-122"/>
              </a:rPr>
              <a:t>32</a:t>
            </a:r>
            <a:r>
              <a:rPr lang="zh-CN" altLang="en-US" sz="3200" b="1" dirty="0">
                <a:solidFill>
                  <a:srgbClr val="00B0F0"/>
                </a:solidFill>
                <a:latin typeface="微软雅黑" pitchFamily="34" charset="-122"/>
                <a:ea typeface="微软雅黑" pitchFamily="34" charset="-122"/>
              </a:rPr>
              <a:t>位通用寄存器</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2" name="矩形 11"/>
          <p:cNvSpPr/>
          <p:nvPr/>
        </p:nvSpPr>
        <p:spPr>
          <a:xfrm>
            <a:off x="4704302" y="1556792"/>
            <a:ext cx="1523882" cy="50604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AH  AL</a:t>
            </a:r>
            <a:endParaRPr lang="zh-CN" altLang="en-US" sz="2000" b="1" dirty="0">
              <a:ea typeface="微软雅黑" panose="020B0503020204020204" pitchFamily="34" charset="-122"/>
            </a:endParaRPr>
          </a:p>
        </p:txBody>
      </p:sp>
      <p:sp>
        <p:nvSpPr>
          <p:cNvPr id="13" name="矩形 12"/>
          <p:cNvSpPr/>
          <p:nvPr/>
        </p:nvSpPr>
        <p:spPr>
          <a:xfrm>
            <a:off x="4704302" y="2132856"/>
            <a:ext cx="1523882" cy="50604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BH  BL</a:t>
            </a:r>
            <a:endParaRPr lang="zh-CN" altLang="en-US" sz="2000" b="1" dirty="0">
              <a:ea typeface="微软雅黑" panose="020B0503020204020204" pitchFamily="34" charset="-122"/>
            </a:endParaRPr>
          </a:p>
        </p:txBody>
      </p:sp>
      <p:sp>
        <p:nvSpPr>
          <p:cNvPr id="14" name="矩形 13"/>
          <p:cNvSpPr/>
          <p:nvPr/>
        </p:nvSpPr>
        <p:spPr>
          <a:xfrm>
            <a:off x="4704302" y="2708920"/>
            <a:ext cx="1523882" cy="506040"/>
          </a:xfrm>
          <a:prstGeom prst="rect">
            <a:avLst/>
          </a:prstGeom>
          <a:solidFill>
            <a:srgbClr val="FF3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CH  CL</a:t>
            </a:r>
            <a:endParaRPr lang="zh-CN" altLang="en-US" sz="2000" b="1" dirty="0">
              <a:ea typeface="微软雅黑" panose="020B0503020204020204" pitchFamily="34" charset="-122"/>
            </a:endParaRPr>
          </a:p>
        </p:txBody>
      </p:sp>
      <p:sp>
        <p:nvSpPr>
          <p:cNvPr id="16" name="矩形 15"/>
          <p:cNvSpPr/>
          <p:nvPr/>
        </p:nvSpPr>
        <p:spPr>
          <a:xfrm>
            <a:off x="4704302" y="3284984"/>
            <a:ext cx="1523882" cy="506040"/>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DH  DL</a:t>
            </a:r>
            <a:endParaRPr lang="zh-CN" altLang="en-US" sz="2000" b="1" dirty="0">
              <a:ea typeface="微软雅黑" panose="020B0503020204020204" pitchFamily="34" charset="-122"/>
            </a:endParaRPr>
          </a:p>
        </p:txBody>
      </p:sp>
      <p:sp>
        <p:nvSpPr>
          <p:cNvPr id="17" name="矩形 16"/>
          <p:cNvSpPr/>
          <p:nvPr/>
        </p:nvSpPr>
        <p:spPr>
          <a:xfrm>
            <a:off x="2437554" y="1628800"/>
            <a:ext cx="603114" cy="400110"/>
          </a:xfrm>
          <a:prstGeom prst="rect">
            <a:avLst/>
          </a:prstGeom>
        </p:spPr>
        <p:txBody>
          <a:bodyPr wrap="none">
            <a:spAutoFit/>
          </a:bodyPr>
          <a:lstStyle/>
          <a:p>
            <a:pPr algn="ctr"/>
            <a:r>
              <a:rPr lang="en-US" altLang="zh-CN" sz="2000" b="1" dirty="0">
                <a:solidFill>
                  <a:srgbClr val="1D8DE5"/>
                </a:solidFill>
                <a:ea typeface="微软雅黑" panose="020B0503020204020204" pitchFamily="34" charset="-122"/>
              </a:rPr>
              <a:t>EAX</a:t>
            </a:r>
            <a:endParaRPr lang="zh-CN" altLang="en-US" sz="2000" b="1" dirty="0">
              <a:solidFill>
                <a:srgbClr val="1D8DE5"/>
              </a:solidFill>
              <a:ea typeface="微软雅黑" panose="020B0503020204020204" pitchFamily="34" charset="-122"/>
            </a:endParaRPr>
          </a:p>
        </p:txBody>
      </p:sp>
      <p:sp>
        <p:nvSpPr>
          <p:cNvPr id="18" name="矩形 17"/>
          <p:cNvSpPr/>
          <p:nvPr/>
        </p:nvSpPr>
        <p:spPr>
          <a:xfrm>
            <a:off x="2437554" y="2780928"/>
            <a:ext cx="583237" cy="400110"/>
          </a:xfrm>
          <a:prstGeom prst="rect">
            <a:avLst/>
          </a:prstGeom>
        </p:spPr>
        <p:txBody>
          <a:bodyPr wrap="none">
            <a:spAutoFit/>
          </a:bodyPr>
          <a:lstStyle/>
          <a:p>
            <a:pPr algn="ctr"/>
            <a:r>
              <a:rPr lang="en-US" altLang="zh-CN" sz="2000" b="1" dirty="0">
                <a:solidFill>
                  <a:srgbClr val="FF3255"/>
                </a:solidFill>
                <a:ea typeface="微软雅黑" panose="020B0503020204020204" pitchFamily="34" charset="-122"/>
              </a:rPr>
              <a:t>ECX</a:t>
            </a:r>
            <a:endParaRPr lang="zh-CN" altLang="en-US" sz="2000" b="1" dirty="0">
              <a:solidFill>
                <a:srgbClr val="FF3255"/>
              </a:solidFill>
              <a:ea typeface="微软雅黑" panose="020B0503020204020204" pitchFamily="34" charset="-122"/>
            </a:endParaRPr>
          </a:p>
        </p:txBody>
      </p:sp>
      <p:sp>
        <p:nvSpPr>
          <p:cNvPr id="19" name="矩形 18"/>
          <p:cNvSpPr/>
          <p:nvPr/>
        </p:nvSpPr>
        <p:spPr>
          <a:xfrm>
            <a:off x="2437554" y="2204864"/>
            <a:ext cx="588751" cy="400110"/>
          </a:xfrm>
          <a:prstGeom prst="rect">
            <a:avLst/>
          </a:prstGeom>
        </p:spPr>
        <p:txBody>
          <a:bodyPr wrap="none">
            <a:spAutoFit/>
          </a:bodyPr>
          <a:lstStyle/>
          <a:p>
            <a:pPr algn="ctr"/>
            <a:r>
              <a:rPr lang="en-US" altLang="zh-CN" sz="2000" b="1" dirty="0">
                <a:solidFill>
                  <a:srgbClr val="00B050"/>
                </a:solidFill>
                <a:ea typeface="微软雅黑" panose="020B0503020204020204" pitchFamily="34" charset="-122"/>
              </a:rPr>
              <a:t>EBX</a:t>
            </a:r>
            <a:endParaRPr lang="zh-CN" altLang="en-US" sz="2000" b="1" dirty="0">
              <a:solidFill>
                <a:srgbClr val="00B050"/>
              </a:solidFill>
              <a:ea typeface="微软雅黑" panose="020B0503020204020204" pitchFamily="34" charset="-122"/>
            </a:endParaRPr>
          </a:p>
        </p:txBody>
      </p:sp>
      <p:sp>
        <p:nvSpPr>
          <p:cNvPr id="20" name="矩形 19"/>
          <p:cNvSpPr/>
          <p:nvPr/>
        </p:nvSpPr>
        <p:spPr>
          <a:xfrm>
            <a:off x="2437554" y="3316922"/>
            <a:ext cx="606255" cy="400110"/>
          </a:xfrm>
          <a:prstGeom prst="rect">
            <a:avLst/>
          </a:prstGeom>
        </p:spPr>
        <p:txBody>
          <a:bodyPr wrap="none">
            <a:spAutoFit/>
          </a:bodyPr>
          <a:lstStyle/>
          <a:p>
            <a:pPr algn="ctr"/>
            <a:r>
              <a:rPr lang="en-US" altLang="zh-CN" sz="2000" b="1" dirty="0">
                <a:solidFill>
                  <a:srgbClr val="FD7A2A"/>
                </a:solidFill>
                <a:ea typeface="微软雅黑" panose="020B0503020204020204" pitchFamily="34" charset="-122"/>
              </a:rPr>
              <a:t>EDX</a:t>
            </a:r>
            <a:endParaRPr lang="zh-CN" altLang="en-US" sz="2000" b="1" dirty="0">
              <a:solidFill>
                <a:srgbClr val="FD7A2A"/>
              </a:solidFill>
              <a:ea typeface="微软雅黑" panose="020B0503020204020204" pitchFamily="34" charset="-122"/>
            </a:endParaRPr>
          </a:p>
        </p:txBody>
      </p:sp>
      <p:sp>
        <p:nvSpPr>
          <p:cNvPr id="24" name="矩形 23"/>
          <p:cNvSpPr/>
          <p:nvPr/>
        </p:nvSpPr>
        <p:spPr>
          <a:xfrm>
            <a:off x="4704302" y="3859021"/>
            <a:ext cx="1523882" cy="50604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SI</a:t>
            </a:r>
            <a:endParaRPr lang="zh-CN" altLang="en-US" sz="2000" b="1" dirty="0">
              <a:ea typeface="微软雅黑" panose="020B0503020204020204" pitchFamily="34" charset="-122"/>
            </a:endParaRPr>
          </a:p>
        </p:txBody>
      </p:sp>
      <p:sp>
        <p:nvSpPr>
          <p:cNvPr id="25" name="矩形 24"/>
          <p:cNvSpPr/>
          <p:nvPr/>
        </p:nvSpPr>
        <p:spPr>
          <a:xfrm>
            <a:off x="4704302" y="4435085"/>
            <a:ext cx="1523882" cy="50604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DI</a:t>
            </a:r>
            <a:endParaRPr lang="zh-CN" altLang="en-US" sz="2000" b="1" dirty="0">
              <a:ea typeface="微软雅黑" panose="020B0503020204020204" pitchFamily="34" charset="-122"/>
            </a:endParaRPr>
          </a:p>
        </p:txBody>
      </p:sp>
      <p:sp>
        <p:nvSpPr>
          <p:cNvPr id="26" name="矩形 25"/>
          <p:cNvSpPr/>
          <p:nvPr/>
        </p:nvSpPr>
        <p:spPr>
          <a:xfrm>
            <a:off x="4704302" y="5011149"/>
            <a:ext cx="1523882" cy="506040"/>
          </a:xfrm>
          <a:prstGeom prst="rect">
            <a:avLst/>
          </a:prstGeom>
          <a:solidFill>
            <a:srgbClr val="FF3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BP</a:t>
            </a:r>
            <a:endParaRPr lang="zh-CN" altLang="en-US" sz="2000" b="1" dirty="0">
              <a:ea typeface="微软雅黑" panose="020B0503020204020204" pitchFamily="34" charset="-122"/>
            </a:endParaRPr>
          </a:p>
        </p:txBody>
      </p:sp>
      <p:sp>
        <p:nvSpPr>
          <p:cNvPr id="28" name="矩形 27"/>
          <p:cNvSpPr/>
          <p:nvPr/>
        </p:nvSpPr>
        <p:spPr>
          <a:xfrm>
            <a:off x="4704302" y="5587213"/>
            <a:ext cx="1523882" cy="483387"/>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SP</a:t>
            </a:r>
            <a:endParaRPr lang="zh-CN" altLang="en-US" sz="2000" b="1" dirty="0">
              <a:ea typeface="微软雅黑" panose="020B0503020204020204" pitchFamily="34" charset="-122"/>
            </a:endParaRPr>
          </a:p>
        </p:txBody>
      </p:sp>
      <p:sp>
        <p:nvSpPr>
          <p:cNvPr id="29" name="矩形 28"/>
          <p:cNvSpPr/>
          <p:nvPr/>
        </p:nvSpPr>
        <p:spPr>
          <a:xfrm>
            <a:off x="2437554" y="3933056"/>
            <a:ext cx="497958" cy="400110"/>
          </a:xfrm>
          <a:prstGeom prst="rect">
            <a:avLst/>
          </a:prstGeom>
        </p:spPr>
        <p:txBody>
          <a:bodyPr wrap="none">
            <a:spAutoFit/>
          </a:bodyPr>
          <a:lstStyle/>
          <a:p>
            <a:pPr algn="ctr"/>
            <a:r>
              <a:rPr lang="en-US" altLang="zh-CN" sz="2000" b="1" dirty="0">
                <a:solidFill>
                  <a:srgbClr val="1D8DE5"/>
                </a:solidFill>
                <a:ea typeface="微软雅黑" panose="020B0503020204020204" pitchFamily="34" charset="-122"/>
              </a:rPr>
              <a:t>ESI</a:t>
            </a:r>
            <a:endParaRPr lang="zh-CN" altLang="en-US" sz="2000" b="1" dirty="0">
              <a:solidFill>
                <a:srgbClr val="1D8DE5"/>
              </a:solidFill>
              <a:ea typeface="微软雅黑" panose="020B0503020204020204" pitchFamily="34" charset="-122"/>
            </a:endParaRPr>
          </a:p>
        </p:txBody>
      </p:sp>
      <p:sp>
        <p:nvSpPr>
          <p:cNvPr id="30" name="矩形 29"/>
          <p:cNvSpPr/>
          <p:nvPr/>
        </p:nvSpPr>
        <p:spPr>
          <a:xfrm>
            <a:off x="2437554" y="5085184"/>
            <a:ext cx="590226" cy="400110"/>
          </a:xfrm>
          <a:prstGeom prst="rect">
            <a:avLst/>
          </a:prstGeom>
        </p:spPr>
        <p:txBody>
          <a:bodyPr wrap="none">
            <a:spAutoFit/>
          </a:bodyPr>
          <a:lstStyle/>
          <a:p>
            <a:pPr algn="ctr"/>
            <a:r>
              <a:rPr lang="en-US" altLang="zh-CN" sz="2000" b="1" dirty="0">
                <a:solidFill>
                  <a:srgbClr val="FF3255"/>
                </a:solidFill>
                <a:ea typeface="微软雅黑" panose="020B0503020204020204" pitchFamily="34" charset="-122"/>
              </a:rPr>
              <a:t>EBP</a:t>
            </a:r>
            <a:endParaRPr lang="zh-CN" altLang="en-US" sz="2000" b="1" dirty="0">
              <a:solidFill>
                <a:srgbClr val="FF3255"/>
              </a:solidFill>
              <a:ea typeface="微软雅黑" panose="020B0503020204020204" pitchFamily="34" charset="-122"/>
            </a:endParaRPr>
          </a:p>
        </p:txBody>
      </p:sp>
      <p:sp>
        <p:nvSpPr>
          <p:cNvPr id="31" name="矩形 30"/>
          <p:cNvSpPr/>
          <p:nvPr/>
        </p:nvSpPr>
        <p:spPr>
          <a:xfrm>
            <a:off x="2437554" y="4509120"/>
            <a:ext cx="540533" cy="400110"/>
          </a:xfrm>
          <a:prstGeom prst="rect">
            <a:avLst/>
          </a:prstGeom>
        </p:spPr>
        <p:txBody>
          <a:bodyPr wrap="none">
            <a:spAutoFit/>
          </a:bodyPr>
          <a:lstStyle/>
          <a:p>
            <a:pPr algn="ctr"/>
            <a:r>
              <a:rPr lang="en-US" altLang="zh-CN" sz="2000" b="1" dirty="0">
                <a:solidFill>
                  <a:srgbClr val="00B050"/>
                </a:solidFill>
                <a:ea typeface="微软雅黑" panose="020B0503020204020204" pitchFamily="34" charset="-122"/>
              </a:rPr>
              <a:t>EDI</a:t>
            </a:r>
            <a:endParaRPr lang="zh-CN" altLang="en-US" sz="2000" b="1" dirty="0">
              <a:solidFill>
                <a:srgbClr val="00B050"/>
              </a:solidFill>
              <a:ea typeface="微软雅黑" panose="020B0503020204020204" pitchFamily="34" charset="-122"/>
            </a:endParaRPr>
          </a:p>
        </p:txBody>
      </p:sp>
      <p:sp>
        <p:nvSpPr>
          <p:cNvPr id="32" name="矩形 31"/>
          <p:cNvSpPr/>
          <p:nvPr/>
        </p:nvSpPr>
        <p:spPr>
          <a:xfrm>
            <a:off x="2437554" y="5621178"/>
            <a:ext cx="565283" cy="400110"/>
          </a:xfrm>
          <a:prstGeom prst="rect">
            <a:avLst/>
          </a:prstGeom>
        </p:spPr>
        <p:txBody>
          <a:bodyPr wrap="none">
            <a:spAutoFit/>
          </a:bodyPr>
          <a:lstStyle/>
          <a:p>
            <a:pPr algn="ctr"/>
            <a:r>
              <a:rPr lang="en-US" altLang="zh-CN" sz="2000" b="1" dirty="0">
                <a:solidFill>
                  <a:srgbClr val="FD7A2A"/>
                </a:solidFill>
                <a:ea typeface="微软雅黑" panose="020B0503020204020204" pitchFamily="34" charset="-122"/>
              </a:rPr>
              <a:t>ESP</a:t>
            </a:r>
            <a:endParaRPr lang="zh-CN" altLang="en-US" sz="2000" b="1" dirty="0">
              <a:solidFill>
                <a:srgbClr val="FD7A2A"/>
              </a:solidFill>
              <a:ea typeface="微软雅黑" panose="020B0503020204020204" pitchFamily="34" charset="-122"/>
            </a:endParaRPr>
          </a:p>
        </p:txBody>
      </p:sp>
      <p:sp>
        <p:nvSpPr>
          <p:cNvPr id="33" name="矩形 32"/>
          <p:cNvSpPr/>
          <p:nvPr/>
        </p:nvSpPr>
        <p:spPr>
          <a:xfrm>
            <a:off x="3157858" y="1556792"/>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34" name="矩形 33"/>
          <p:cNvSpPr/>
          <p:nvPr/>
        </p:nvSpPr>
        <p:spPr>
          <a:xfrm>
            <a:off x="3157858" y="2132856"/>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35" name="矩形 34"/>
          <p:cNvSpPr/>
          <p:nvPr/>
        </p:nvSpPr>
        <p:spPr>
          <a:xfrm>
            <a:off x="3157858" y="2708920"/>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36" name="矩形 35"/>
          <p:cNvSpPr/>
          <p:nvPr/>
        </p:nvSpPr>
        <p:spPr>
          <a:xfrm>
            <a:off x="3157858" y="3284984"/>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37" name="矩形 36"/>
          <p:cNvSpPr/>
          <p:nvPr/>
        </p:nvSpPr>
        <p:spPr>
          <a:xfrm>
            <a:off x="3157858" y="3859021"/>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38" name="矩形 37"/>
          <p:cNvSpPr/>
          <p:nvPr/>
        </p:nvSpPr>
        <p:spPr>
          <a:xfrm>
            <a:off x="3157858" y="4435085"/>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39" name="矩形 38"/>
          <p:cNvSpPr/>
          <p:nvPr/>
        </p:nvSpPr>
        <p:spPr>
          <a:xfrm>
            <a:off x="3157858" y="5011149"/>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40" name="矩形 39"/>
          <p:cNvSpPr/>
          <p:nvPr/>
        </p:nvSpPr>
        <p:spPr>
          <a:xfrm>
            <a:off x="3157858" y="5587213"/>
            <a:ext cx="1546444" cy="483387"/>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Tree>
    <p:extLst>
      <p:ext uri="{BB962C8B-B14F-4D97-AF65-F5344CB8AC3E}">
        <p14:creationId xmlns:p14="http://schemas.microsoft.com/office/powerpoint/2010/main" val="113552133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en-US" altLang="zh-CN" sz="3200" b="1" dirty="0">
                <a:solidFill>
                  <a:srgbClr val="00B0F0"/>
                </a:solidFill>
                <a:latin typeface="微软雅黑" pitchFamily="34" charset="-122"/>
                <a:ea typeface="微软雅黑" pitchFamily="34" charset="-122"/>
              </a:rPr>
              <a:t>6</a:t>
            </a:r>
            <a:r>
              <a:rPr lang="zh-CN" altLang="en-US" sz="3200" b="1" dirty="0">
                <a:solidFill>
                  <a:srgbClr val="00B0F0"/>
                </a:solidFill>
                <a:latin typeface="微软雅黑" pitchFamily="34" charset="-122"/>
                <a:ea typeface="微软雅黑" pitchFamily="34" charset="-122"/>
              </a:rPr>
              <a:t>个</a:t>
            </a:r>
            <a:r>
              <a:rPr lang="en-US" altLang="zh-CN" sz="3200" b="1" dirty="0">
                <a:solidFill>
                  <a:srgbClr val="00B0F0"/>
                </a:solidFill>
                <a:latin typeface="微软雅黑" pitchFamily="34" charset="-122"/>
                <a:ea typeface="微软雅黑" pitchFamily="34" charset="-122"/>
              </a:rPr>
              <a:t>16</a:t>
            </a:r>
            <a:r>
              <a:rPr lang="zh-CN" altLang="en-US" sz="3200" b="1" dirty="0">
                <a:solidFill>
                  <a:srgbClr val="00B0F0"/>
                </a:solidFill>
                <a:latin typeface="微软雅黑" pitchFamily="34" charset="-122"/>
                <a:ea typeface="微软雅黑" pitchFamily="34" charset="-122"/>
              </a:rPr>
              <a:t>位段寄存器</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2" name="矩形 11"/>
          <p:cNvSpPr/>
          <p:nvPr/>
        </p:nvSpPr>
        <p:spPr>
          <a:xfrm>
            <a:off x="1064850" y="2101277"/>
            <a:ext cx="1523882" cy="50604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ea typeface="微软雅黑" panose="020B0503020204020204" pitchFamily="34" charset="-122"/>
              </a:rPr>
              <a:t>段选择子</a:t>
            </a:r>
          </a:p>
        </p:txBody>
      </p:sp>
      <p:sp>
        <p:nvSpPr>
          <p:cNvPr id="13" name="矩形 12"/>
          <p:cNvSpPr/>
          <p:nvPr/>
        </p:nvSpPr>
        <p:spPr>
          <a:xfrm>
            <a:off x="1064850" y="2677341"/>
            <a:ext cx="1523882" cy="50604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ea typeface="微软雅黑" panose="020B0503020204020204" pitchFamily="34" charset="-122"/>
              </a:rPr>
              <a:t>段选择子</a:t>
            </a:r>
          </a:p>
        </p:txBody>
      </p:sp>
      <p:sp>
        <p:nvSpPr>
          <p:cNvPr id="14" name="矩形 13"/>
          <p:cNvSpPr/>
          <p:nvPr/>
        </p:nvSpPr>
        <p:spPr>
          <a:xfrm>
            <a:off x="1064850" y="3253405"/>
            <a:ext cx="1523882" cy="506040"/>
          </a:xfrm>
          <a:prstGeom prst="rect">
            <a:avLst/>
          </a:prstGeom>
          <a:solidFill>
            <a:srgbClr val="FF3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ea typeface="微软雅黑" panose="020B0503020204020204" pitchFamily="34" charset="-122"/>
              </a:rPr>
              <a:t>段选择子</a:t>
            </a:r>
          </a:p>
        </p:txBody>
      </p:sp>
      <p:sp>
        <p:nvSpPr>
          <p:cNvPr id="16" name="矩形 15"/>
          <p:cNvSpPr/>
          <p:nvPr/>
        </p:nvSpPr>
        <p:spPr>
          <a:xfrm>
            <a:off x="1064850" y="3829469"/>
            <a:ext cx="1523882" cy="506040"/>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ea typeface="微软雅黑" panose="020B0503020204020204" pitchFamily="34" charset="-122"/>
              </a:rPr>
              <a:t>段选择子</a:t>
            </a:r>
          </a:p>
        </p:txBody>
      </p:sp>
      <p:sp>
        <p:nvSpPr>
          <p:cNvPr id="17" name="矩形 16"/>
          <p:cNvSpPr/>
          <p:nvPr/>
        </p:nvSpPr>
        <p:spPr>
          <a:xfrm>
            <a:off x="296436" y="2173285"/>
            <a:ext cx="442749" cy="400110"/>
          </a:xfrm>
          <a:prstGeom prst="rect">
            <a:avLst/>
          </a:prstGeom>
        </p:spPr>
        <p:txBody>
          <a:bodyPr wrap="none">
            <a:spAutoFit/>
          </a:bodyPr>
          <a:lstStyle/>
          <a:p>
            <a:pPr algn="ctr"/>
            <a:r>
              <a:rPr lang="en-US" altLang="zh-CN" sz="2000" b="1" dirty="0">
                <a:solidFill>
                  <a:srgbClr val="1D8DE5"/>
                </a:solidFill>
                <a:ea typeface="微软雅黑" panose="020B0503020204020204" pitchFamily="34" charset="-122"/>
              </a:rPr>
              <a:t>CS</a:t>
            </a:r>
            <a:endParaRPr lang="zh-CN" altLang="en-US" sz="2000" b="1" dirty="0">
              <a:solidFill>
                <a:srgbClr val="1D8DE5"/>
              </a:solidFill>
              <a:ea typeface="微软雅黑" panose="020B0503020204020204" pitchFamily="34" charset="-122"/>
            </a:endParaRPr>
          </a:p>
        </p:txBody>
      </p:sp>
      <p:sp>
        <p:nvSpPr>
          <p:cNvPr id="18" name="矩形 17"/>
          <p:cNvSpPr/>
          <p:nvPr/>
        </p:nvSpPr>
        <p:spPr>
          <a:xfrm>
            <a:off x="273674" y="3325413"/>
            <a:ext cx="468398" cy="400110"/>
          </a:xfrm>
          <a:prstGeom prst="rect">
            <a:avLst/>
          </a:prstGeom>
        </p:spPr>
        <p:txBody>
          <a:bodyPr wrap="none">
            <a:spAutoFit/>
          </a:bodyPr>
          <a:lstStyle/>
          <a:p>
            <a:pPr algn="ctr"/>
            <a:r>
              <a:rPr lang="en-US" altLang="zh-CN" sz="2000" b="1" dirty="0">
                <a:solidFill>
                  <a:srgbClr val="FF3255"/>
                </a:solidFill>
                <a:ea typeface="微软雅黑" panose="020B0503020204020204" pitchFamily="34" charset="-122"/>
              </a:rPr>
              <a:t>DS</a:t>
            </a:r>
            <a:endParaRPr lang="zh-CN" altLang="en-US" sz="2000" b="1" dirty="0">
              <a:solidFill>
                <a:srgbClr val="FF3255"/>
              </a:solidFill>
              <a:ea typeface="微软雅黑" panose="020B0503020204020204" pitchFamily="34" charset="-122"/>
            </a:endParaRPr>
          </a:p>
        </p:txBody>
      </p:sp>
      <p:sp>
        <p:nvSpPr>
          <p:cNvPr id="19" name="矩形 18"/>
          <p:cNvSpPr/>
          <p:nvPr/>
        </p:nvSpPr>
        <p:spPr>
          <a:xfrm>
            <a:off x="296468" y="2749349"/>
            <a:ext cx="428323" cy="400110"/>
          </a:xfrm>
          <a:prstGeom prst="rect">
            <a:avLst/>
          </a:prstGeom>
        </p:spPr>
        <p:txBody>
          <a:bodyPr wrap="none">
            <a:spAutoFit/>
          </a:bodyPr>
          <a:lstStyle/>
          <a:p>
            <a:pPr algn="ctr"/>
            <a:r>
              <a:rPr lang="en-US" altLang="zh-CN" sz="2000" b="1" dirty="0">
                <a:solidFill>
                  <a:srgbClr val="00B050"/>
                </a:solidFill>
                <a:ea typeface="微软雅黑" panose="020B0503020204020204" pitchFamily="34" charset="-122"/>
              </a:rPr>
              <a:t>SS</a:t>
            </a:r>
            <a:endParaRPr lang="zh-CN" altLang="en-US" sz="2000" b="1" dirty="0">
              <a:solidFill>
                <a:srgbClr val="00B050"/>
              </a:solidFill>
              <a:ea typeface="微软雅黑" panose="020B0503020204020204" pitchFamily="34" charset="-122"/>
            </a:endParaRPr>
          </a:p>
        </p:txBody>
      </p:sp>
      <p:sp>
        <p:nvSpPr>
          <p:cNvPr id="20" name="矩形 19"/>
          <p:cNvSpPr/>
          <p:nvPr/>
        </p:nvSpPr>
        <p:spPr>
          <a:xfrm>
            <a:off x="304867" y="3861407"/>
            <a:ext cx="429028" cy="400110"/>
          </a:xfrm>
          <a:prstGeom prst="rect">
            <a:avLst/>
          </a:prstGeom>
        </p:spPr>
        <p:txBody>
          <a:bodyPr wrap="none">
            <a:spAutoFit/>
          </a:bodyPr>
          <a:lstStyle/>
          <a:p>
            <a:pPr algn="ctr"/>
            <a:r>
              <a:rPr lang="en-US" altLang="zh-CN" sz="2000" b="1" dirty="0">
                <a:solidFill>
                  <a:srgbClr val="FD7A2A"/>
                </a:solidFill>
                <a:ea typeface="微软雅黑" panose="020B0503020204020204" pitchFamily="34" charset="-122"/>
              </a:rPr>
              <a:t>ES</a:t>
            </a:r>
            <a:endParaRPr lang="zh-CN" altLang="en-US" sz="2000" b="1" dirty="0">
              <a:solidFill>
                <a:srgbClr val="FD7A2A"/>
              </a:solidFill>
              <a:ea typeface="微软雅黑" panose="020B0503020204020204" pitchFamily="34" charset="-122"/>
            </a:endParaRPr>
          </a:p>
        </p:txBody>
      </p:sp>
      <p:sp>
        <p:nvSpPr>
          <p:cNvPr id="24" name="矩形 23"/>
          <p:cNvSpPr/>
          <p:nvPr/>
        </p:nvSpPr>
        <p:spPr>
          <a:xfrm>
            <a:off x="1064850" y="4403506"/>
            <a:ext cx="1523882" cy="50604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ea typeface="微软雅黑" panose="020B0503020204020204" pitchFamily="34" charset="-122"/>
              </a:rPr>
              <a:t>段选择子</a:t>
            </a:r>
          </a:p>
        </p:txBody>
      </p:sp>
      <p:sp>
        <p:nvSpPr>
          <p:cNvPr id="25" name="矩形 24"/>
          <p:cNvSpPr/>
          <p:nvPr/>
        </p:nvSpPr>
        <p:spPr>
          <a:xfrm>
            <a:off x="1064850" y="4979570"/>
            <a:ext cx="1523882" cy="50604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ea typeface="微软雅黑" panose="020B0503020204020204" pitchFamily="34" charset="-122"/>
              </a:rPr>
              <a:t>段选择子</a:t>
            </a:r>
          </a:p>
        </p:txBody>
      </p:sp>
      <p:sp>
        <p:nvSpPr>
          <p:cNvPr id="29" name="矩形 28"/>
          <p:cNvSpPr/>
          <p:nvPr/>
        </p:nvSpPr>
        <p:spPr>
          <a:xfrm>
            <a:off x="255175" y="4477541"/>
            <a:ext cx="420116" cy="400110"/>
          </a:xfrm>
          <a:prstGeom prst="rect">
            <a:avLst/>
          </a:prstGeom>
        </p:spPr>
        <p:txBody>
          <a:bodyPr wrap="none">
            <a:spAutoFit/>
          </a:bodyPr>
          <a:lstStyle/>
          <a:p>
            <a:pPr algn="ctr"/>
            <a:r>
              <a:rPr lang="en-US" altLang="zh-CN" sz="2000" b="1" dirty="0">
                <a:solidFill>
                  <a:srgbClr val="1D8DE5"/>
                </a:solidFill>
                <a:ea typeface="微软雅黑" panose="020B0503020204020204" pitchFamily="34" charset="-122"/>
              </a:rPr>
              <a:t>FS</a:t>
            </a:r>
            <a:endParaRPr lang="zh-CN" altLang="en-US" sz="2000" b="1" dirty="0">
              <a:solidFill>
                <a:srgbClr val="1D8DE5"/>
              </a:solidFill>
              <a:ea typeface="微软雅黑" panose="020B0503020204020204" pitchFamily="34" charset="-122"/>
            </a:endParaRPr>
          </a:p>
        </p:txBody>
      </p:sp>
      <p:sp>
        <p:nvSpPr>
          <p:cNvPr id="31" name="矩形 30"/>
          <p:cNvSpPr/>
          <p:nvPr/>
        </p:nvSpPr>
        <p:spPr>
          <a:xfrm>
            <a:off x="251520" y="5053605"/>
            <a:ext cx="470001" cy="400110"/>
          </a:xfrm>
          <a:prstGeom prst="rect">
            <a:avLst/>
          </a:prstGeom>
        </p:spPr>
        <p:txBody>
          <a:bodyPr wrap="none">
            <a:spAutoFit/>
          </a:bodyPr>
          <a:lstStyle/>
          <a:p>
            <a:pPr algn="ctr"/>
            <a:r>
              <a:rPr lang="en-US" altLang="zh-CN" sz="2000" b="1" dirty="0">
                <a:solidFill>
                  <a:srgbClr val="00B050"/>
                </a:solidFill>
                <a:ea typeface="微软雅黑" panose="020B0503020204020204" pitchFamily="34" charset="-122"/>
              </a:rPr>
              <a:t>GS</a:t>
            </a:r>
            <a:endParaRPr lang="zh-CN" altLang="en-US" sz="2000" b="1" dirty="0">
              <a:solidFill>
                <a:srgbClr val="00B050"/>
              </a:solidFill>
              <a:ea typeface="微软雅黑" panose="020B0503020204020204" pitchFamily="34" charset="-122"/>
            </a:endParaRPr>
          </a:p>
        </p:txBody>
      </p:sp>
      <p:sp>
        <p:nvSpPr>
          <p:cNvPr id="33" name="矩形 32"/>
          <p:cNvSpPr/>
          <p:nvPr/>
        </p:nvSpPr>
        <p:spPr>
          <a:xfrm>
            <a:off x="2771034" y="2101277"/>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34" name="矩形 33"/>
          <p:cNvSpPr/>
          <p:nvPr/>
        </p:nvSpPr>
        <p:spPr>
          <a:xfrm>
            <a:off x="2771034" y="2677341"/>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35" name="矩形 34"/>
          <p:cNvSpPr/>
          <p:nvPr/>
        </p:nvSpPr>
        <p:spPr>
          <a:xfrm>
            <a:off x="2771034" y="3253405"/>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36" name="矩形 35"/>
          <p:cNvSpPr/>
          <p:nvPr/>
        </p:nvSpPr>
        <p:spPr>
          <a:xfrm>
            <a:off x="2771034" y="3829469"/>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37" name="矩形 36"/>
          <p:cNvSpPr/>
          <p:nvPr/>
        </p:nvSpPr>
        <p:spPr>
          <a:xfrm>
            <a:off x="2771034" y="4403506"/>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38" name="矩形 37"/>
          <p:cNvSpPr/>
          <p:nvPr/>
        </p:nvSpPr>
        <p:spPr>
          <a:xfrm>
            <a:off x="2771034" y="4979570"/>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41" name="矩形 40"/>
          <p:cNvSpPr/>
          <p:nvPr/>
        </p:nvSpPr>
        <p:spPr>
          <a:xfrm>
            <a:off x="4294916" y="2101277"/>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42" name="矩形 41"/>
          <p:cNvSpPr/>
          <p:nvPr/>
        </p:nvSpPr>
        <p:spPr>
          <a:xfrm>
            <a:off x="4294916" y="2677341"/>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43" name="矩形 42"/>
          <p:cNvSpPr/>
          <p:nvPr/>
        </p:nvSpPr>
        <p:spPr>
          <a:xfrm>
            <a:off x="4294916" y="3253405"/>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44" name="矩形 43"/>
          <p:cNvSpPr/>
          <p:nvPr/>
        </p:nvSpPr>
        <p:spPr>
          <a:xfrm>
            <a:off x="4294916" y="3829469"/>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45" name="矩形 44"/>
          <p:cNvSpPr/>
          <p:nvPr/>
        </p:nvSpPr>
        <p:spPr>
          <a:xfrm>
            <a:off x="4294916" y="4403506"/>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46" name="矩形 45"/>
          <p:cNvSpPr/>
          <p:nvPr/>
        </p:nvSpPr>
        <p:spPr>
          <a:xfrm>
            <a:off x="4294916" y="4979570"/>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47" name="矩形 46"/>
          <p:cNvSpPr/>
          <p:nvPr/>
        </p:nvSpPr>
        <p:spPr>
          <a:xfrm>
            <a:off x="5844716" y="2101277"/>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48" name="矩形 47"/>
          <p:cNvSpPr/>
          <p:nvPr/>
        </p:nvSpPr>
        <p:spPr>
          <a:xfrm>
            <a:off x="5844716" y="2677341"/>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49" name="矩形 48"/>
          <p:cNvSpPr/>
          <p:nvPr/>
        </p:nvSpPr>
        <p:spPr>
          <a:xfrm>
            <a:off x="5844716" y="3253405"/>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50" name="矩形 49"/>
          <p:cNvSpPr/>
          <p:nvPr/>
        </p:nvSpPr>
        <p:spPr>
          <a:xfrm>
            <a:off x="5844716" y="3829469"/>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51" name="矩形 50"/>
          <p:cNvSpPr/>
          <p:nvPr/>
        </p:nvSpPr>
        <p:spPr>
          <a:xfrm>
            <a:off x="5844716" y="4403506"/>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52" name="矩形 51"/>
          <p:cNvSpPr/>
          <p:nvPr/>
        </p:nvSpPr>
        <p:spPr>
          <a:xfrm>
            <a:off x="5844716" y="4979570"/>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53" name="矩形 52"/>
          <p:cNvSpPr/>
          <p:nvPr/>
        </p:nvSpPr>
        <p:spPr>
          <a:xfrm>
            <a:off x="7368598" y="2100264"/>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54" name="矩形 53"/>
          <p:cNvSpPr/>
          <p:nvPr/>
        </p:nvSpPr>
        <p:spPr>
          <a:xfrm>
            <a:off x="7368598" y="2676328"/>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55" name="矩形 54"/>
          <p:cNvSpPr/>
          <p:nvPr/>
        </p:nvSpPr>
        <p:spPr>
          <a:xfrm>
            <a:off x="7368598" y="3252392"/>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56" name="矩形 55"/>
          <p:cNvSpPr/>
          <p:nvPr/>
        </p:nvSpPr>
        <p:spPr>
          <a:xfrm>
            <a:off x="7368598" y="3828456"/>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57" name="矩形 56"/>
          <p:cNvSpPr/>
          <p:nvPr/>
        </p:nvSpPr>
        <p:spPr>
          <a:xfrm>
            <a:off x="7368598" y="4402493"/>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58" name="矩形 57"/>
          <p:cNvSpPr/>
          <p:nvPr/>
        </p:nvSpPr>
        <p:spPr>
          <a:xfrm>
            <a:off x="7368598" y="4978557"/>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5" name="矩形 4"/>
          <p:cNvSpPr/>
          <p:nvPr/>
        </p:nvSpPr>
        <p:spPr>
          <a:xfrm>
            <a:off x="304867" y="1484784"/>
            <a:ext cx="2393604" cy="461665"/>
          </a:xfrm>
          <a:prstGeom prst="rect">
            <a:avLst/>
          </a:prstGeom>
        </p:spPr>
        <p:txBody>
          <a:bodyPr wrap="none">
            <a:spAutoFit/>
          </a:bodyPr>
          <a:lstStyle/>
          <a:p>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16位的段寄存器</a:t>
            </a:r>
          </a:p>
        </p:txBody>
      </p:sp>
      <p:sp>
        <p:nvSpPr>
          <p:cNvPr id="59" name="矩形 58"/>
          <p:cNvSpPr/>
          <p:nvPr/>
        </p:nvSpPr>
        <p:spPr>
          <a:xfrm>
            <a:off x="3347864" y="1495553"/>
            <a:ext cx="5471370" cy="461665"/>
          </a:xfrm>
          <a:prstGeom prst="rect">
            <a:avLst/>
          </a:prstGeom>
        </p:spPr>
        <p:txBody>
          <a:bodyPr wrap="none">
            <a:spAutoFit/>
          </a:bodyPr>
          <a:lstStyle/>
          <a:p>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段描述符高速缓存（</a:t>
            </a:r>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rPr>
              <a:t>64</a:t>
            </a: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位，自动加载）</a:t>
            </a:r>
          </a:p>
        </p:txBody>
      </p:sp>
      <p:sp>
        <p:nvSpPr>
          <p:cNvPr id="8" name="矩形 7"/>
          <p:cNvSpPr/>
          <p:nvPr/>
        </p:nvSpPr>
        <p:spPr>
          <a:xfrm>
            <a:off x="3740918" y="2188674"/>
            <a:ext cx="1107996"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段基地址</a:t>
            </a:r>
            <a:endParaRPr lang="zh-CN" altLang="en-US" dirty="0">
              <a:solidFill>
                <a:schemeClr val="bg1"/>
              </a:solidFill>
            </a:endParaRPr>
          </a:p>
        </p:txBody>
      </p:sp>
      <p:sp>
        <p:nvSpPr>
          <p:cNvPr id="63" name="矩形 62"/>
          <p:cNvSpPr/>
          <p:nvPr/>
        </p:nvSpPr>
        <p:spPr>
          <a:xfrm>
            <a:off x="3740918" y="2764738"/>
            <a:ext cx="1107996"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段基地址</a:t>
            </a:r>
            <a:endParaRPr lang="zh-CN" altLang="en-US" dirty="0">
              <a:solidFill>
                <a:schemeClr val="bg1"/>
              </a:solidFill>
            </a:endParaRPr>
          </a:p>
        </p:txBody>
      </p:sp>
      <p:sp>
        <p:nvSpPr>
          <p:cNvPr id="64" name="矩形 63"/>
          <p:cNvSpPr/>
          <p:nvPr/>
        </p:nvSpPr>
        <p:spPr>
          <a:xfrm>
            <a:off x="3740918" y="3325370"/>
            <a:ext cx="1107996"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段基地址</a:t>
            </a:r>
            <a:endParaRPr lang="zh-CN" altLang="en-US" dirty="0">
              <a:solidFill>
                <a:schemeClr val="bg1"/>
              </a:solidFill>
            </a:endParaRPr>
          </a:p>
        </p:txBody>
      </p:sp>
      <p:sp>
        <p:nvSpPr>
          <p:cNvPr id="65" name="矩形 64"/>
          <p:cNvSpPr/>
          <p:nvPr/>
        </p:nvSpPr>
        <p:spPr>
          <a:xfrm>
            <a:off x="3740918" y="3892142"/>
            <a:ext cx="1107996"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段基地址</a:t>
            </a:r>
            <a:endParaRPr lang="zh-CN" altLang="en-US" dirty="0">
              <a:solidFill>
                <a:schemeClr val="bg1"/>
              </a:solidFill>
            </a:endParaRPr>
          </a:p>
        </p:txBody>
      </p:sp>
      <p:sp>
        <p:nvSpPr>
          <p:cNvPr id="66" name="矩形 65"/>
          <p:cNvSpPr/>
          <p:nvPr/>
        </p:nvSpPr>
        <p:spPr>
          <a:xfrm>
            <a:off x="3740918" y="4468206"/>
            <a:ext cx="1107996"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段基地址</a:t>
            </a:r>
            <a:endParaRPr lang="zh-CN" altLang="en-US" dirty="0">
              <a:solidFill>
                <a:schemeClr val="bg1"/>
              </a:solidFill>
            </a:endParaRPr>
          </a:p>
        </p:txBody>
      </p:sp>
      <p:sp>
        <p:nvSpPr>
          <p:cNvPr id="67" name="矩形 66"/>
          <p:cNvSpPr/>
          <p:nvPr/>
        </p:nvSpPr>
        <p:spPr>
          <a:xfrm>
            <a:off x="3740918" y="5044270"/>
            <a:ext cx="1107996"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段基地址</a:t>
            </a:r>
            <a:endParaRPr lang="zh-CN" altLang="en-US" dirty="0">
              <a:solidFill>
                <a:schemeClr val="bg1"/>
              </a:solidFill>
            </a:endParaRPr>
          </a:p>
        </p:txBody>
      </p:sp>
      <p:sp>
        <p:nvSpPr>
          <p:cNvPr id="68" name="矩形 67"/>
          <p:cNvSpPr/>
          <p:nvPr/>
        </p:nvSpPr>
        <p:spPr>
          <a:xfrm>
            <a:off x="6732240" y="2188674"/>
            <a:ext cx="1569660"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段界限和属性</a:t>
            </a:r>
            <a:endParaRPr lang="zh-CN" altLang="en-US" dirty="0">
              <a:solidFill>
                <a:schemeClr val="bg1"/>
              </a:solidFill>
            </a:endParaRPr>
          </a:p>
        </p:txBody>
      </p:sp>
      <p:sp>
        <p:nvSpPr>
          <p:cNvPr id="69" name="矩形 68"/>
          <p:cNvSpPr/>
          <p:nvPr/>
        </p:nvSpPr>
        <p:spPr>
          <a:xfrm>
            <a:off x="6732240" y="2764738"/>
            <a:ext cx="1569660"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段界限和属性</a:t>
            </a:r>
            <a:endParaRPr lang="zh-CN" altLang="en-US" dirty="0">
              <a:solidFill>
                <a:schemeClr val="bg1"/>
              </a:solidFill>
            </a:endParaRPr>
          </a:p>
        </p:txBody>
      </p:sp>
      <p:sp>
        <p:nvSpPr>
          <p:cNvPr id="70" name="矩形 69"/>
          <p:cNvSpPr/>
          <p:nvPr/>
        </p:nvSpPr>
        <p:spPr>
          <a:xfrm>
            <a:off x="6732240" y="3325370"/>
            <a:ext cx="1569660"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段界限和属性</a:t>
            </a:r>
            <a:endParaRPr lang="zh-CN" altLang="en-US" dirty="0">
              <a:solidFill>
                <a:schemeClr val="bg1"/>
              </a:solidFill>
            </a:endParaRPr>
          </a:p>
        </p:txBody>
      </p:sp>
      <p:sp>
        <p:nvSpPr>
          <p:cNvPr id="71" name="矩形 70"/>
          <p:cNvSpPr/>
          <p:nvPr/>
        </p:nvSpPr>
        <p:spPr>
          <a:xfrm>
            <a:off x="6732240" y="3892142"/>
            <a:ext cx="1569660"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段界限和属性</a:t>
            </a:r>
            <a:endParaRPr lang="zh-CN" altLang="en-US" dirty="0">
              <a:solidFill>
                <a:schemeClr val="bg1"/>
              </a:solidFill>
            </a:endParaRPr>
          </a:p>
        </p:txBody>
      </p:sp>
      <p:sp>
        <p:nvSpPr>
          <p:cNvPr id="72" name="矩形 71"/>
          <p:cNvSpPr/>
          <p:nvPr/>
        </p:nvSpPr>
        <p:spPr>
          <a:xfrm>
            <a:off x="6732240" y="4468206"/>
            <a:ext cx="1569660"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段界限和属性</a:t>
            </a:r>
            <a:endParaRPr lang="zh-CN" altLang="en-US" dirty="0">
              <a:solidFill>
                <a:schemeClr val="bg1"/>
              </a:solidFill>
            </a:endParaRPr>
          </a:p>
        </p:txBody>
      </p:sp>
      <p:sp>
        <p:nvSpPr>
          <p:cNvPr id="73" name="矩形 72"/>
          <p:cNvSpPr/>
          <p:nvPr/>
        </p:nvSpPr>
        <p:spPr>
          <a:xfrm>
            <a:off x="6732240" y="5044270"/>
            <a:ext cx="1569660"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段界限和属性</a:t>
            </a:r>
            <a:endParaRPr lang="zh-CN" altLang="en-US" dirty="0">
              <a:solidFill>
                <a:schemeClr val="bg1"/>
              </a:solidFill>
            </a:endParaRPr>
          </a:p>
        </p:txBody>
      </p:sp>
      <p:sp>
        <p:nvSpPr>
          <p:cNvPr id="74" name="矩形 4"/>
          <p:cNvSpPr>
            <a:spLocks noChangeArrowheads="1"/>
          </p:cNvSpPr>
          <p:nvPr/>
        </p:nvSpPr>
        <p:spPr bwMode="auto">
          <a:xfrm>
            <a:off x="2087513" y="5799050"/>
            <a:ext cx="4968552" cy="701346"/>
          </a:xfrm>
          <a:prstGeom prst="rect">
            <a:avLst/>
          </a:prstGeom>
          <a:noFill/>
          <a:ln w="9525">
            <a:noFill/>
            <a:miter lim="800000"/>
            <a:headEnd/>
            <a:tailEnd/>
          </a:ln>
        </p:spPr>
        <p:txBody>
          <a:bodyPr wrap="square">
            <a:spAutoFit/>
          </a:bodyPr>
          <a:lstStyle/>
          <a:p>
            <a:pPr>
              <a:lnSpc>
                <a:spcPct val="130000"/>
              </a:lnSpc>
              <a:spcBef>
                <a:spcPts val="200"/>
              </a:spcBef>
              <a:spcAft>
                <a:spcPts val="60"/>
              </a:spcAft>
            </a:pPr>
            <a:r>
              <a:rPr lang="zh-CN" altLang="en-US" sz="1600" b="1" dirty="0">
                <a:solidFill>
                  <a:schemeClr val="tx1">
                    <a:lumMod val="65000"/>
                    <a:lumOff val="35000"/>
                  </a:schemeClr>
                </a:solidFill>
                <a:latin typeface="微软雅黑" pitchFamily="34" charset="-122"/>
                <a:ea typeface="微软雅黑" pitchFamily="34" charset="-122"/>
              </a:rPr>
              <a:t>段寄存器不再直接存放段地址，而是一个选择子，通过它间接查找到段描述符，进而得到段基地址。</a:t>
            </a:r>
          </a:p>
        </p:txBody>
      </p:sp>
      <p:pic>
        <p:nvPicPr>
          <p:cNvPr id="75" name="Picture 2" descr="C:\Documents and Settings\tdz\桌面\未标题-1 拷贝.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054341" y="5769905"/>
            <a:ext cx="834828" cy="782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1655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down)">
                                      <p:cBhvr>
                                        <p:cTn id="7" dur="500"/>
                                        <p:tgtEl>
                                          <p:spTgt spid="74"/>
                                        </p:tgtEl>
                                      </p:cBhvr>
                                    </p:animEffect>
                                  </p:childTnLst>
                                </p:cTn>
                              </p:par>
                              <p:par>
                                <p:cTn id="8" presetID="22" presetClass="entr" presetSubtype="4" fill="hold"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wipe(down)">
                                      <p:cBhvr>
                                        <p:cTn id="10"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指令指针和标志寄存器</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5" name="矩形 4"/>
          <p:cNvSpPr/>
          <p:nvPr/>
        </p:nvSpPr>
        <p:spPr>
          <a:xfrm>
            <a:off x="755576" y="1700808"/>
            <a:ext cx="7776864" cy="72008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dirty="0">
                <a:ea typeface="微软雅黑" panose="020B0503020204020204" pitchFamily="34" charset="-122"/>
              </a:rPr>
              <a:t>32</a:t>
            </a:r>
            <a:r>
              <a:rPr lang="zh-CN" altLang="en-US" sz="2400" b="1" dirty="0">
                <a:ea typeface="微软雅黑" panose="020B0503020204020204" pitchFamily="34" charset="-122"/>
              </a:rPr>
              <a:t>位的指令指针（</a:t>
            </a:r>
            <a:r>
              <a:rPr lang="en-US" altLang="zh-CN" sz="2400" b="1" dirty="0">
                <a:ea typeface="微软雅黑" panose="020B0503020204020204" pitchFamily="34" charset="-122"/>
              </a:rPr>
              <a:t>EIP</a:t>
            </a:r>
            <a:r>
              <a:rPr lang="zh-CN" altLang="en-US" sz="2400" b="1" dirty="0">
                <a:ea typeface="微软雅黑" panose="020B0503020204020204" pitchFamily="34" charset="-122"/>
              </a:rPr>
              <a:t>）和标志寄存器（</a:t>
            </a:r>
            <a:r>
              <a:rPr lang="en-US" altLang="zh-CN" sz="2400" b="1" dirty="0">
                <a:ea typeface="微软雅黑" panose="020B0503020204020204" pitchFamily="34" charset="-122"/>
              </a:rPr>
              <a:t>EFLAGS</a:t>
            </a:r>
            <a:r>
              <a:rPr lang="zh-CN" altLang="en-US" sz="2400" b="1" dirty="0">
                <a:ea typeface="微软雅黑" panose="020B0503020204020204" pitchFamily="34" charset="-122"/>
              </a:rPr>
              <a:t>）各一个。</a:t>
            </a:r>
          </a:p>
        </p:txBody>
      </p:sp>
      <p:sp>
        <p:nvSpPr>
          <p:cNvPr id="6" name="矩形 5"/>
          <p:cNvSpPr/>
          <p:nvPr/>
        </p:nvSpPr>
        <p:spPr>
          <a:xfrm>
            <a:off x="755576" y="2636912"/>
            <a:ext cx="7776864" cy="720080"/>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ea typeface="微软雅黑" panose="020B0503020204020204" pitchFamily="34" charset="-122"/>
              </a:rPr>
              <a:t>实模式时采用</a:t>
            </a:r>
            <a:r>
              <a:rPr lang="en-US" altLang="zh-CN" sz="2400" b="1" dirty="0">
                <a:ea typeface="微软雅黑" panose="020B0503020204020204" pitchFamily="34" charset="-122"/>
              </a:rPr>
              <a:t>16</a:t>
            </a:r>
            <a:r>
              <a:rPr lang="zh-CN" altLang="en-US" sz="2400" b="1" dirty="0">
                <a:ea typeface="微软雅黑" panose="020B0503020204020204" pitchFamily="34" charset="-122"/>
              </a:rPr>
              <a:t>位的指令指针</a:t>
            </a:r>
            <a:r>
              <a:rPr lang="en-US" altLang="zh-CN" sz="2400" b="1" dirty="0">
                <a:ea typeface="微软雅黑" panose="020B0503020204020204" pitchFamily="34" charset="-122"/>
              </a:rPr>
              <a:t>IP</a:t>
            </a:r>
            <a:r>
              <a:rPr lang="zh-CN" altLang="en-US" sz="2400" b="1" dirty="0">
                <a:ea typeface="微软雅黑" panose="020B0503020204020204" pitchFamily="34" charset="-122"/>
              </a:rPr>
              <a:t>（</a:t>
            </a:r>
            <a:r>
              <a:rPr lang="en-US" altLang="zh-CN" sz="2400" b="1" dirty="0">
                <a:ea typeface="微软雅黑" panose="020B0503020204020204" pitchFamily="34" charset="-122"/>
              </a:rPr>
              <a:t>EIP</a:t>
            </a:r>
            <a:r>
              <a:rPr lang="zh-CN" altLang="en-US" sz="2400" b="1" dirty="0">
                <a:ea typeface="微软雅黑" panose="020B0503020204020204" pitchFamily="34" charset="-122"/>
              </a:rPr>
              <a:t>低</a:t>
            </a:r>
            <a:r>
              <a:rPr lang="en-US" altLang="zh-CN" sz="2400" b="1" dirty="0">
                <a:ea typeface="微软雅黑" panose="020B0503020204020204" pitchFamily="34" charset="-122"/>
              </a:rPr>
              <a:t>16</a:t>
            </a:r>
            <a:r>
              <a:rPr lang="zh-CN" altLang="en-US" sz="2400" b="1" dirty="0">
                <a:ea typeface="微软雅黑" panose="020B0503020204020204" pitchFamily="34" charset="-122"/>
              </a:rPr>
              <a:t>位）。</a:t>
            </a:r>
          </a:p>
        </p:txBody>
      </p:sp>
      <p:sp>
        <p:nvSpPr>
          <p:cNvPr id="7" name="矩形 6"/>
          <p:cNvSpPr/>
          <p:nvPr/>
        </p:nvSpPr>
        <p:spPr>
          <a:xfrm>
            <a:off x="755576" y="3645024"/>
            <a:ext cx="77768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dirty="0">
                <a:ea typeface="微软雅黑" panose="020B0503020204020204" pitchFamily="34" charset="-122"/>
              </a:rPr>
              <a:t>EFLAGS</a:t>
            </a:r>
            <a:r>
              <a:rPr lang="zh-CN" altLang="en-US" sz="2400" b="1" dirty="0">
                <a:ea typeface="微软雅黑" panose="020B0503020204020204" pitchFamily="34" charset="-122"/>
              </a:rPr>
              <a:t>的低</a:t>
            </a:r>
            <a:r>
              <a:rPr lang="en-US" altLang="zh-CN" sz="2400" b="1" dirty="0">
                <a:ea typeface="微软雅黑" panose="020B0503020204020204" pitchFamily="34" charset="-122"/>
              </a:rPr>
              <a:t>12</a:t>
            </a:r>
            <a:r>
              <a:rPr lang="zh-CN" altLang="en-US" sz="2400" b="1" dirty="0">
                <a:ea typeface="微软雅黑" panose="020B0503020204020204" pitchFamily="34" charset="-122"/>
              </a:rPr>
              <a:t>位与</a:t>
            </a:r>
            <a:r>
              <a:rPr lang="en-US" altLang="zh-CN" sz="2400" b="1" dirty="0">
                <a:ea typeface="微软雅黑" panose="020B0503020204020204" pitchFamily="34" charset="-122"/>
              </a:rPr>
              <a:t>8086</a:t>
            </a:r>
            <a:r>
              <a:rPr lang="zh-CN" altLang="en-US" sz="2400" b="1" dirty="0">
                <a:ea typeface="微软雅黑" panose="020B0503020204020204" pitchFamily="34" charset="-122"/>
              </a:rPr>
              <a:t>标志寄存器</a:t>
            </a:r>
            <a:r>
              <a:rPr lang="en-US" altLang="zh-CN" sz="2400" b="1" dirty="0">
                <a:ea typeface="微软雅黑" panose="020B0503020204020204" pitchFamily="34" charset="-122"/>
              </a:rPr>
              <a:t>FLAGS</a:t>
            </a:r>
            <a:r>
              <a:rPr lang="zh-CN" altLang="en-US" sz="2400" b="1" dirty="0">
                <a:ea typeface="微软雅黑" panose="020B0503020204020204" pitchFamily="34" charset="-122"/>
              </a:rPr>
              <a:t>完全相同。</a:t>
            </a:r>
          </a:p>
        </p:txBody>
      </p:sp>
    </p:spTree>
    <p:extLst>
      <p:ext uri="{BB962C8B-B14F-4D97-AF65-F5344CB8AC3E}">
        <p14:creationId xmlns:p14="http://schemas.microsoft.com/office/powerpoint/2010/main" val="3212688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系统地址寄存器和系统段寄存器</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7" name="矩形 6"/>
          <p:cNvSpPr/>
          <p:nvPr/>
        </p:nvSpPr>
        <p:spPr>
          <a:xfrm>
            <a:off x="1064850" y="3377681"/>
            <a:ext cx="1523882" cy="50604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16</a:t>
            </a:r>
            <a:r>
              <a:rPr lang="zh-CN" altLang="en-US" sz="2000" b="1" dirty="0">
                <a:ea typeface="微软雅黑" panose="020B0503020204020204" pitchFamily="34" charset="-122"/>
              </a:rPr>
              <a:t>位选择子</a:t>
            </a:r>
          </a:p>
        </p:txBody>
      </p:sp>
      <p:sp>
        <p:nvSpPr>
          <p:cNvPr id="8" name="矩形 7"/>
          <p:cNvSpPr/>
          <p:nvPr/>
        </p:nvSpPr>
        <p:spPr>
          <a:xfrm>
            <a:off x="1064850" y="3953745"/>
            <a:ext cx="1523882" cy="50604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16</a:t>
            </a:r>
            <a:r>
              <a:rPr lang="zh-CN" altLang="en-US" sz="2000" b="1" dirty="0">
                <a:ea typeface="微软雅黑" panose="020B0503020204020204" pitchFamily="34" charset="-122"/>
              </a:rPr>
              <a:t>位选择子</a:t>
            </a:r>
          </a:p>
        </p:txBody>
      </p:sp>
      <p:sp>
        <p:nvSpPr>
          <p:cNvPr id="9" name="矩形 8"/>
          <p:cNvSpPr/>
          <p:nvPr/>
        </p:nvSpPr>
        <p:spPr>
          <a:xfrm>
            <a:off x="103820" y="3451716"/>
            <a:ext cx="722827" cy="400110"/>
          </a:xfrm>
          <a:prstGeom prst="rect">
            <a:avLst/>
          </a:prstGeom>
        </p:spPr>
        <p:txBody>
          <a:bodyPr wrap="none">
            <a:spAutoFit/>
          </a:bodyPr>
          <a:lstStyle/>
          <a:p>
            <a:pPr algn="ctr"/>
            <a:r>
              <a:rPr lang="en-US" altLang="zh-CN" sz="2000" b="1" dirty="0">
                <a:solidFill>
                  <a:srgbClr val="1D8DE5"/>
                </a:solidFill>
                <a:ea typeface="微软雅黑" panose="020B0503020204020204" pitchFamily="34" charset="-122"/>
              </a:rPr>
              <a:t>LDTR</a:t>
            </a:r>
            <a:endParaRPr lang="zh-CN" altLang="en-US" sz="2000" b="1" dirty="0">
              <a:solidFill>
                <a:srgbClr val="1D8DE5"/>
              </a:solidFill>
              <a:ea typeface="微软雅黑" panose="020B0503020204020204" pitchFamily="34" charset="-122"/>
            </a:endParaRPr>
          </a:p>
        </p:txBody>
      </p:sp>
      <p:sp>
        <p:nvSpPr>
          <p:cNvPr id="10" name="矩形 9"/>
          <p:cNvSpPr/>
          <p:nvPr/>
        </p:nvSpPr>
        <p:spPr>
          <a:xfrm>
            <a:off x="258733" y="4027780"/>
            <a:ext cx="455574" cy="400110"/>
          </a:xfrm>
          <a:prstGeom prst="rect">
            <a:avLst/>
          </a:prstGeom>
        </p:spPr>
        <p:txBody>
          <a:bodyPr wrap="none">
            <a:spAutoFit/>
          </a:bodyPr>
          <a:lstStyle/>
          <a:p>
            <a:pPr algn="ctr"/>
            <a:r>
              <a:rPr lang="en-US" altLang="zh-CN" sz="2000" b="1" dirty="0">
                <a:solidFill>
                  <a:srgbClr val="00B050"/>
                </a:solidFill>
                <a:ea typeface="微软雅黑" panose="020B0503020204020204" pitchFamily="34" charset="-122"/>
              </a:rPr>
              <a:t>TR</a:t>
            </a:r>
            <a:endParaRPr lang="zh-CN" altLang="en-US" sz="2000" b="1" dirty="0">
              <a:solidFill>
                <a:srgbClr val="00B050"/>
              </a:solidFill>
              <a:ea typeface="微软雅黑" panose="020B0503020204020204" pitchFamily="34" charset="-122"/>
            </a:endParaRPr>
          </a:p>
        </p:txBody>
      </p:sp>
      <p:sp>
        <p:nvSpPr>
          <p:cNvPr id="11" name="矩形 10"/>
          <p:cNvSpPr/>
          <p:nvPr/>
        </p:nvSpPr>
        <p:spPr>
          <a:xfrm>
            <a:off x="2699792" y="3377681"/>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12" name="矩形 11"/>
          <p:cNvSpPr/>
          <p:nvPr/>
        </p:nvSpPr>
        <p:spPr>
          <a:xfrm>
            <a:off x="2699792" y="3953745"/>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13" name="矩形 12"/>
          <p:cNvSpPr/>
          <p:nvPr/>
        </p:nvSpPr>
        <p:spPr>
          <a:xfrm>
            <a:off x="4223674" y="3377681"/>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14" name="矩形 13"/>
          <p:cNvSpPr/>
          <p:nvPr/>
        </p:nvSpPr>
        <p:spPr>
          <a:xfrm>
            <a:off x="4223674" y="3953745"/>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15" name="矩形 14"/>
          <p:cNvSpPr/>
          <p:nvPr/>
        </p:nvSpPr>
        <p:spPr>
          <a:xfrm>
            <a:off x="5773474" y="3377681"/>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16" name="矩形 15"/>
          <p:cNvSpPr/>
          <p:nvPr/>
        </p:nvSpPr>
        <p:spPr>
          <a:xfrm>
            <a:off x="5773474" y="3953745"/>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17" name="矩形 16"/>
          <p:cNvSpPr/>
          <p:nvPr/>
        </p:nvSpPr>
        <p:spPr>
          <a:xfrm>
            <a:off x="7297356" y="3376668"/>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18" name="矩形 17"/>
          <p:cNvSpPr/>
          <p:nvPr/>
        </p:nvSpPr>
        <p:spPr>
          <a:xfrm>
            <a:off x="7297356" y="3952732"/>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19" name="矩形 18"/>
          <p:cNvSpPr/>
          <p:nvPr/>
        </p:nvSpPr>
        <p:spPr>
          <a:xfrm>
            <a:off x="3669676" y="3442381"/>
            <a:ext cx="1107996"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段基地址</a:t>
            </a:r>
            <a:endParaRPr lang="zh-CN" altLang="en-US" dirty="0">
              <a:solidFill>
                <a:schemeClr val="bg1"/>
              </a:solidFill>
            </a:endParaRPr>
          </a:p>
        </p:txBody>
      </p:sp>
      <p:sp>
        <p:nvSpPr>
          <p:cNvPr id="20" name="矩形 19"/>
          <p:cNvSpPr/>
          <p:nvPr/>
        </p:nvSpPr>
        <p:spPr>
          <a:xfrm>
            <a:off x="3669676" y="4018445"/>
            <a:ext cx="1107996"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段基地址</a:t>
            </a:r>
            <a:endParaRPr lang="zh-CN" altLang="en-US" dirty="0">
              <a:solidFill>
                <a:schemeClr val="bg1"/>
              </a:solidFill>
            </a:endParaRPr>
          </a:p>
        </p:txBody>
      </p:sp>
      <p:sp>
        <p:nvSpPr>
          <p:cNvPr id="21" name="矩形 20"/>
          <p:cNvSpPr/>
          <p:nvPr/>
        </p:nvSpPr>
        <p:spPr>
          <a:xfrm>
            <a:off x="6660998" y="3442381"/>
            <a:ext cx="1569660"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段界限和属性</a:t>
            </a:r>
            <a:endParaRPr lang="zh-CN" altLang="en-US" dirty="0">
              <a:solidFill>
                <a:schemeClr val="bg1"/>
              </a:solidFill>
            </a:endParaRPr>
          </a:p>
        </p:txBody>
      </p:sp>
      <p:sp>
        <p:nvSpPr>
          <p:cNvPr id="22" name="矩形 21"/>
          <p:cNvSpPr/>
          <p:nvPr/>
        </p:nvSpPr>
        <p:spPr>
          <a:xfrm>
            <a:off x="6660998" y="4018445"/>
            <a:ext cx="1569660" cy="369332"/>
          </a:xfrm>
          <a:prstGeom prst="rect">
            <a:avLst/>
          </a:prstGeom>
        </p:spPr>
        <p:txBody>
          <a:bodyPr wrap="none">
            <a:spAutoFit/>
          </a:bodyPr>
          <a:lstStyle/>
          <a:p>
            <a:r>
              <a:rPr lang="zh-CN" altLang="en-US" b="1" dirty="0">
                <a:solidFill>
                  <a:schemeClr val="bg1"/>
                </a:solidFill>
                <a:ea typeface="微软雅黑" panose="020B0503020204020204" pitchFamily="34" charset="-122"/>
              </a:rPr>
              <a:t>段界限和属性</a:t>
            </a:r>
            <a:endParaRPr lang="zh-CN" altLang="en-US" dirty="0">
              <a:solidFill>
                <a:schemeClr val="bg1"/>
              </a:solidFill>
            </a:endParaRPr>
          </a:p>
        </p:txBody>
      </p:sp>
      <p:sp>
        <p:nvSpPr>
          <p:cNvPr id="23" name="矩形 22"/>
          <p:cNvSpPr/>
          <p:nvPr/>
        </p:nvSpPr>
        <p:spPr>
          <a:xfrm>
            <a:off x="2701324" y="1844824"/>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24" name="矩形 23"/>
          <p:cNvSpPr/>
          <p:nvPr/>
        </p:nvSpPr>
        <p:spPr>
          <a:xfrm>
            <a:off x="4225206" y="1844824"/>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25" name="矩形 24"/>
          <p:cNvSpPr/>
          <p:nvPr/>
        </p:nvSpPr>
        <p:spPr>
          <a:xfrm>
            <a:off x="5775006" y="1844824"/>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27" name="矩形 26"/>
          <p:cNvSpPr/>
          <p:nvPr/>
        </p:nvSpPr>
        <p:spPr>
          <a:xfrm>
            <a:off x="3349396" y="1909524"/>
            <a:ext cx="1803699" cy="369332"/>
          </a:xfrm>
          <a:prstGeom prst="rect">
            <a:avLst/>
          </a:prstGeom>
        </p:spPr>
        <p:txBody>
          <a:bodyPr wrap="none">
            <a:spAutoFit/>
          </a:bodyPr>
          <a:lstStyle/>
          <a:p>
            <a:r>
              <a:rPr lang="en-US" altLang="zh-CN" b="1" dirty="0">
                <a:solidFill>
                  <a:schemeClr val="bg1"/>
                </a:solidFill>
                <a:ea typeface="微软雅黑" panose="020B0503020204020204" pitchFamily="34" charset="-122"/>
              </a:rPr>
              <a:t>32</a:t>
            </a:r>
            <a:r>
              <a:rPr lang="zh-CN" altLang="en-US" b="1" dirty="0">
                <a:solidFill>
                  <a:schemeClr val="bg1"/>
                </a:solidFill>
                <a:ea typeface="微软雅黑" panose="020B0503020204020204" pitchFamily="34" charset="-122"/>
              </a:rPr>
              <a:t>位线性基地址</a:t>
            </a:r>
            <a:endParaRPr lang="zh-CN" altLang="en-US" dirty="0">
              <a:solidFill>
                <a:schemeClr val="bg1"/>
              </a:solidFill>
            </a:endParaRPr>
          </a:p>
        </p:txBody>
      </p:sp>
      <p:sp>
        <p:nvSpPr>
          <p:cNvPr id="28" name="矩形 27"/>
          <p:cNvSpPr/>
          <p:nvPr/>
        </p:nvSpPr>
        <p:spPr>
          <a:xfrm>
            <a:off x="5869676" y="1909524"/>
            <a:ext cx="1342034" cy="369332"/>
          </a:xfrm>
          <a:prstGeom prst="rect">
            <a:avLst/>
          </a:prstGeom>
        </p:spPr>
        <p:txBody>
          <a:bodyPr wrap="none">
            <a:spAutoFit/>
          </a:bodyPr>
          <a:lstStyle/>
          <a:p>
            <a:r>
              <a:rPr lang="en-US" altLang="zh-CN" b="1" dirty="0">
                <a:solidFill>
                  <a:schemeClr val="bg1"/>
                </a:solidFill>
                <a:ea typeface="微软雅黑" panose="020B0503020204020204" pitchFamily="34" charset="-122"/>
              </a:rPr>
              <a:t>16</a:t>
            </a:r>
            <a:r>
              <a:rPr lang="zh-CN" altLang="en-US" b="1" dirty="0">
                <a:solidFill>
                  <a:schemeClr val="bg1"/>
                </a:solidFill>
                <a:ea typeface="微软雅黑" panose="020B0503020204020204" pitchFamily="34" charset="-122"/>
              </a:rPr>
              <a:t>位界限值</a:t>
            </a:r>
            <a:endParaRPr lang="zh-CN" altLang="en-US" dirty="0">
              <a:solidFill>
                <a:schemeClr val="bg1"/>
              </a:solidFill>
            </a:endParaRPr>
          </a:p>
        </p:txBody>
      </p:sp>
      <p:sp>
        <p:nvSpPr>
          <p:cNvPr id="29" name="矩形 28"/>
          <p:cNvSpPr/>
          <p:nvPr/>
        </p:nvSpPr>
        <p:spPr>
          <a:xfrm>
            <a:off x="2700558" y="2441577"/>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30" name="矩形 29"/>
          <p:cNvSpPr/>
          <p:nvPr/>
        </p:nvSpPr>
        <p:spPr>
          <a:xfrm>
            <a:off x="4224440" y="2441577"/>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31" name="矩形 30"/>
          <p:cNvSpPr/>
          <p:nvPr/>
        </p:nvSpPr>
        <p:spPr>
          <a:xfrm>
            <a:off x="5774240" y="2441577"/>
            <a:ext cx="1523882" cy="5060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sp>
        <p:nvSpPr>
          <p:cNvPr id="33" name="矩形 32"/>
          <p:cNvSpPr/>
          <p:nvPr/>
        </p:nvSpPr>
        <p:spPr>
          <a:xfrm>
            <a:off x="3349396" y="2506277"/>
            <a:ext cx="1803699" cy="369332"/>
          </a:xfrm>
          <a:prstGeom prst="rect">
            <a:avLst/>
          </a:prstGeom>
        </p:spPr>
        <p:txBody>
          <a:bodyPr wrap="none">
            <a:spAutoFit/>
          </a:bodyPr>
          <a:lstStyle/>
          <a:p>
            <a:r>
              <a:rPr lang="en-US" altLang="zh-CN" b="1" dirty="0">
                <a:solidFill>
                  <a:schemeClr val="bg1"/>
                </a:solidFill>
                <a:ea typeface="微软雅黑" panose="020B0503020204020204" pitchFamily="34" charset="-122"/>
              </a:rPr>
              <a:t>32</a:t>
            </a:r>
            <a:r>
              <a:rPr lang="zh-CN" altLang="en-US" b="1" dirty="0">
                <a:solidFill>
                  <a:schemeClr val="bg1"/>
                </a:solidFill>
                <a:ea typeface="微软雅黑" panose="020B0503020204020204" pitchFamily="34" charset="-122"/>
              </a:rPr>
              <a:t>位线性基地址</a:t>
            </a:r>
            <a:endParaRPr lang="zh-CN" altLang="en-US" dirty="0">
              <a:solidFill>
                <a:schemeClr val="bg1"/>
              </a:solidFill>
            </a:endParaRPr>
          </a:p>
        </p:txBody>
      </p:sp>
      <p:sp>
        <p:nvSpPr>
          <p:cNvPr id="34" name="矩形 33"/>
          <p:cNvSpPr/>
          <p:nvPr/>
        </p:nvSpPr>
        <p:spPr>
          <a:xfrm>
            <a:off x="5869676" y="2506277"/>
            <a:ext cx="1342034" cy="369332"/>
          </a:xfrm>
          <a:prstGeom prst="rect">
            <a:avLst/>
          </a:prstGeom>
        </p:spPr>
        <p:txBody>
          <a:bodyPr wrap="none">
            <a:spAutoFit/>
          </a:bodyPr>
          <a:lstStyle/>
          <a:p>
            <a:r>
              <a:rPr lang="en-US" altLang="zh-CN" b="1" dirty="0">
                <a:solidFill>
                  <a:schemeClr val="bg1"/>
                </a:solidFill>
                <a:ea typeface="微软雅黑" panose="020B0503020204020204" pitchFamily="34" charset="-122"/>
              </a:rPr>
              <a:t>16</a:t>
            </a:r>
            <a:r>
              <a:rPr lang="zh-CN" altLang="en-US" b="1" dirty="0">
                <a:solidFill>
                  <a:schemeClr val="bg1"/>
                </a:solidFill>
                <a:ea typeface="微软雅黑" panose="020B0503020204020204" pitchFamily="34" charset="-122"/>
              </a:rPr>
              <a:t>位界限值</a:t>
            </a:r>
            <a:endParaRPr lang="zh-CN" altLang="en-US" dirty="0">
              <a:solidFill>
                <a:schemeClr val="bg1"/>
              </a:solidFill>
            </a:endParaRPr>
          </a:p>
        </p:txBody>
      </p:sp>
      <p:sp>
        <p:nvSpPr>
          <p:cNvPr id="35" name="矩形 34"/>
          <p:cNvSpPr/>
          <p:nvPr/>
        </p:nvSpPr>
        <p:spPr>
          <a:xfrm>
            <a:off x="1259632" y="1908468"/>
            <a:ext cx="1351204" cy="400110"/>
          </a:xfrm>
          <a:prstGeom prst="rect">
            <a:avLst/>
          </a:prstGeom>
        </p:spPr>
        <p:txBody>
          <a:bodyPr wrap="none">
            <a:spAutoFit/>
          </a:bodyPr>
          <a:lstStyle/>
          <a:p>
            <a:pPr algn="ctr"/>
            <a:r>
              <a:rPr lang="en-US" altLang="zh-CN" sz="2000" b="1" dirty="0">
                <a:solidFill>
                  <a:srgbClr val="FD7A2A"/>
                </a:solidFill>
                <a:ea typeface="微软雅黑" panose="020B0503020204020204" pitchFamily="34" charset="-122"/>
              </a:rPr>
              <a:t>GDTR 48</a:t>
            </a:r>
            <a:r>
              <a:rPr lang="zh-CN" altLang="en-US" sz="2000" b="1" dirty="0">
                <a:solidFill>
                  <a:srgbClr val="FD7A2A"/>
                </a:solidFill>
                <a:ea typeface="微软雅黑" panose="020B0503020204020204" pitchFamily="34" charset="-122"/>
              </a:rPr>
              <a:t>位</a:t>
            </a:r>
          </a:p>
        </p:txBody>
      </p:sp>
      <p:sp>
        <p:nvSpPr>
          <p:cNvPr id="36" name="矩形 35"/>
          <p:cNvSpPr/>
          <p:nvPr/>
        </p:nvSpPr>
        <p:spPr>
          <a:xfrm>
            <a:off x="1328209" y="2484532"/>
            <a:ext cx="1256626" cy="400110"/>
          </a:xfrm>
          <a:prstGeom prst="rect">
            <a:avLst/>
          </a:prstGeom>
        </p:spPr>
        <p:txBody>
          <a:bodyPr wrap="none">
            <a:spAutoFit/>
          </a:bodyPr>
          <a:lstStyle/>
          <a:p>
            <a:pPr algn="ctr"/>
            <a:r>
              <a:rPr lang="en-US" altLang="zh-CN" sz="2000" b="1" dirty="0">
                <a:solidFill>
                  <a:srgbClr val="FF0066"/>
                </a:solidFill>
                <a:ea typeface="微软雅黑" panose="020B0503020204020204" pitchFamily="34" charset="-122"/>
              </a:rPr>
              <a:t>IDTR 48</a:t>
            </a:r>
            <a:r>
              <a:rPr lang="zh-CN" altLang="en-US" sz="2000" b="1" dirty="0">
                <a:solidFill>
                  <a:srgbClr val="FF0066"/>
                </a:solidFill>
                <a:ea typeface="微软雅黑" panose="020B0503020204020204" pitchFamily="34" charset="-122"/>
              </a:rPr>
              <a:t>位</a:t>
            </a:r>
          </a:p>
        </p:txBody>
      </p:sp>
      <p:sp>
        <p:nvSpPr>
          <p:cNvPr id="37" name="矩形 36"/>
          <p:cNvSpPr/>
          <p:nvPr/>
        </p:nvSpPr>
        <p:spPr>
          <a:xfrm>
            <a:off x="395536" y="4963798"/>
            <a:ext cx="8345715" cy="667072"/>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微软雅黑" panose="020B0503020204020204" pitchFamily="34" charset="-122"/>
                <a:ea typeface="微软雅黑" panose="020B0503020204020204" pitchFamily="34" charset="-122"/>
              </a:rPr>
              <a:t>GDTR</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IDTR</a:t>
            </a:r>
            <a:r>
              <a:rPr lang="zh-CN" altLang="en-US" sz="2000" b="1" dirty="0">
                <a:latin typeface="微软雅黑" panose="020B0503020204020204" pitchFamily="34" charset="-122"/>
                <a:ea typeface="微软雅黑" panose="020B0503020204020204" pitchFamily="34" charset="-122"/>
              </a:rPr>
              <a:t>在系统唯一，每任务一个</a:t>
            </a:r>
            <a:r>
              <a:rPr lang="en-US" altLang="zh-CN" sz="2000" b="1" dirty="0">
                <a:latin typeface="微软雅黑" panose="020B0503020204020204" pitchFamily="34" charset="-122"/>
                <a:ea typeface="微软雅黑" panose="020B0503020204020204" pitchFamily="34" charset="-122"/>
              </a:rPr>
              <a:t>LDTR</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TR</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Intel</a:t>
            </a:r>
            <a:r>
              <a:rPr lang="zh-CN" altLang="en-US" sz="2000" b="1" dirty="0">
                <a:latin typeface="微软雅黑" panose="020B0503020204020204" pitchFamily="34" charset="-122"/>
                <a:ea typeface="微软雅黑" panose="020B0503020204020204" pitchFamily="34" charset="-122"/>
              </a:rPr>
              <a:t>建议）。</a:t>
            </a:r>
          </a:p>
        </p:txBody>
      </p:sp>
      <p:sp>
        <p:nvSpPr>
          <p:cNvPr id="38" name="矩形 4"/>
          <p:cNvSpPr>
            <a:spLocks noChangeArrowheads="1"/>
          </p:cNvSpPr>
          <p:nvPr/>
        </p:nvSpPr>
        <p:spPr bwMode="auto">
          <a:xfrm>
            <a:off x="2084117" y="6012226"/>
            <a:ext cx="4968552" cy="412421"/>
          </a:xfrm>
          <a:prstGeom prst="rect">
            <a:avLst/>
          </a:prstGeom>
          <a:noFill/>
          <a:ln w="9525">
            <a:noFill/>
            <a:miter lim="800000"/>
            <a:headEnd/>
            <a:tailEnd/>
          </a:ln>
        </p:spPr>
        <p:txBody>
          <a:bodyPr wrap="square">
            <a:spAutoFit/>
          </a:bodyPr>
          <a:lstStyle/>
          <a:p>
            <a:pPr>
              <a:lnSpc>
                <a:spcPct val="130000"/>
              </a:lnSpc>
              <a:spcBef>
                <a:spcPts val="200"/>
              </a:spcBef>
              <a:spcAft>
                <a:spcPts val="60"/>
              </a:spcAft>
            </a:pPr>
            <a:r>
              <a:rPr lang="zh-CN" altLang="en-US" sz="1600" b="1" dirty="0">
                <a:solidFill>
                  <a:schemeClr val="tx1">
                    <a:lumMod val="65000"/>
                    <a:lumOff val="35000"/>
                  </a:schemeClr>
                </a:solidFill>
                <a:latin typeface="微软雅黑" pitchFamily="34" charset="-122"/>
                <a:ea typeface="微软雅黑" pitchFamily="34" charset="-122"/>
              </a:rPr>
              <a:t>在多</a:t>
            </a:r>
            <a:r>
              <a:rPr lang="en-US" altLang="zh-CN" sz="1600" b="1" dirty="0">
                <a:solidFill>
                  <a:schemeClr val="tx1">
                    <a:lumMod val="65000"/>
                    <a:lumOff val="35000"/>
                  </a:schemeClr>
                </a:solidFill>
                <a:latin typeface="微软雅黑" pitchFamily="34" charset="-122"/>
                <a:ea typeface="微软雅黑" pitchFamily="34" charset="-122"/>
              </a:rPr>
              <a:t>CPU</a:t>
            </a:r>
            <a:r>
              <a:rPr lang="zh-CN" altLang="en-US" sz="1600" b="1" dirty="0">
                <a:solidFill>
                  <a:schemeClr val="tx1">
                    <a:lumMod val="65000"/>
                    <a:lumOff val="35000"/>
                  </a:schemeClr>
                </a:solidFill>
                <a:latin typeface="微软雅黑" pitchFamily="34" charset="-122"/>
                <a:ea typeface="微软雅黑" pitchFamily="34" charset="-122"/>
              </a:rPr>
              <a:t>系统中，</a:t>
            </a:r>
            <a:r>
              <a:rPr lang="en-US" altLang="zh-CN" sz="1600" b="1" dirty="0">
                <a:solidFill>
                  <a:schemeClr val="tx1">
                    <a:lumMod val="65000"/>
                    <a:lumOff val="35000"/>
                  </a:schemeClr>
                </a:solidFill>
                <a:latin typeface="微软雅黑" pitchFamily="34" charset="-122"/>
                <a:ea typeface="微软雅黑" pitchFamily="34" charset="-122"/>
              </a:rPr>
              <a:t>GDTR</a:t>
            </a:r>
            <a:r>
              <a:rPr lang="zh-CN" altLang="en-US" sz="1600" b="1" dirty="0">
                <a:solidFill>
                  <a:schemeClr val="tx1">
                    <a:lumMod val="65000"/>
                    <a:lumOff val="35000"/>
                  </a:schemeClr>
                </a:solidFill>
                <a:latin typeface="微软雅黑" pitchFamily="34" charset="-122"/>
                <a:ea typeface="微软雅黑" pitchFamily="34" charset="-122"/>
              </a:rPr>
              <a:t>的个数等于</a:t>
            </a:r>
            <a:r>
              <a:rPr lang="en-US" altLang="zh-CN" sz="1600" b="1" dirty="0">
                <a:solidFill>
                  <a:schemeClr val="tx1">
                    <a:lumMod val="65000"/>
                    <a:lumOff val="35000"/>
                  </a:schemeClr>
                </a:solidFill>
                <a:latin typeface="微软雅黑" pitchFamily="34" charset="-122"/>
                <a:ea typeface="微软雅黑" pitchFamily="34" charset="-122"/>
              </a:rPr>
              <a:t>CPU</a:t>
            </a:r>
            <a:r>
              <a:rPr lang="zh-CN" altLang="en-US" sz="1600" b="1" dirty="0">
                <a:solidFill>
                  <a:schemeClr val="tx1">
                    <a:lumMod val="65000"/>
                    <a:lumOff val="35000"/>
                  </a:schemeClr>
                </a:solidFill>
                <a:latin typeface="微软雅黑" pitchFamily="34" charset="-122"/>
                <a:ea typeface="微软雅黑" pitchFamily="34" charset="-122"/>
              </a:rPr>
              <a:t>的个数。</a:t>
            </a:r>
          </a:p>
        </p:txBody>
      </p:sp>
      <p:pic>
        <p:nvPicPr>
          <p:cNvPr id="39" name="Picture 2" descr="C:\Documents and Settings\tdz\桌面\未标题-1 拷贝.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54341" y="5769905"/>
            <a:ext cx="834828" cy="782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3825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wipe(down)">
                                      <p:cBhvr>
                                        <p:cTn id="12" dur="500"/>
                                        <p:tgtEl>
                                          <p:spTgt spid="38"/>
                                        </p:tgtEl>
                                      </p:cBhvr>
                                    </p:animEffect>
                                  </p:childTnLst>
                                </p:cTn>
                              </p:par>
                              <p:par>
                                <p:cTn id="13" presetID="22" presetClass="entr" presetSubtype="4"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ipe(down)">
                                      <p:cBhvr>
                                        <p:cTn id="1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控制寄存器</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0" name="圆角矩形 9"/>
          <p:cNvSpPr/>
          <p:nvPr/>
        </p:nvSpPr>
        <p:spPr>
          <a:xfrm>
            <a:off x="944513" y="4077072"/>
            <a:ext cx="891183" cy="576064"/>
          </a:xfrm>
          <a:prstGeom prst="roundRect">
            <a:avLst>
              <a:gd name="adj" fmla="val 4357"/>
            </a:avLst>
          </a:prstGeom>
          <a:solidFill>
            <a:srgbClr val="FF3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PG</a:t>
            </a:r>
            <a:endParaRPr lang="zh-CN" altLang="en-US" sz="2000" b="1" dirty="0">
              <a:ea typeface="微软雅黑" panose="020B0503020204020204" pitchFamily="34" charset="-122"/>
            </a:endParaRPr>
          </a:p>
        </p:txBody>
      </p:sp>
      <p:sp>
        <p:nvSpPr>
          <p:cNvPr id="11" name="圆角矩形 10"/>
          <p:cNvSpPr/>
          <p:nvPr/>
        </p:nvSpPr>
        <p:spPr>
          <a:xfrm>
            <a:off x="2407328" y="4005064"/>
            <a:ext cx="891183" cy="576064"/>
          </a:xfrm>
          <a:prstGeom prst="roundRect">
            <a:avLst>
              <a:gd name="adj" fmla="val 435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lumMod val="65000"/>
                    <a:lumOff val="35000"/>
                  </a:schemeClr>
                </a:solidFill>
                <a:ea typeface="微软雅黑" panose="020B0503020204020204" pitchFamily="34" charset="-122"/>
              </a:rPr>
              <a:t>……</a:t>
            </a:r>
            <a:endParaRPr lang="zh-CN" altLang="en-US" sz="2000" b="1" dirty="0">
              <a:solidFill>
                <a:schemeClr val="tx1">
                  <a:lumMod val="65000"/>
                  <a:lumOff val="35000"/>
                </a:schemeClr>
              </a:solidFill>
              <a:ea typeface="微软雅黑" panose="020B0503020204020204" pitchFamily="34" charset="-122"/>
            </a:endParaRPr>
          </a:p>
        </p:txBody>
      </p:sp>
      <p:sp>
        <p:nvSpPr>
          <p:cNvPr id="13" name="圆角矩形 12"/>
          <p:cNvSpPr/>
          <p:nvPr/>
        </p:nvSpPr>
        <p:spPr>
          <a:xfrm>
            <a:off x="3752825" y="4077072"/>
            <a:ext cx="891183" cy="576064"/>
          </a:xfrm>
          <a:prstGeom prst="roundRect">
            <a:avLst>
              <a:gd name="adj" fmla="val 4357"/>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ET</a:t>
            </a:r>
            <a:endParaRPr lang="zh-CN" altLang="en-US" sz="2000" b="1" dirty="0">
              <a:ea typeface="微软雅黑" panose="020B0503020204020204" pitchFamily="34" charset="-122"/>
            </a:endParaRPr>
          </a:p>
        </p:txBody>
      </p:sp>
      <p:sp>
        <p:nvSpPr>
          <p:cNvPr id="14" name="圆角矩形 13"/>
          <p:cNvSpPr/>
          <p:nvPr/>
        </p:nvSpPr>
        <p:spPr>
          <a:xfrm>
            <a:off x="5625033" y="4077072"/>
            <a:ext cx="891183" cy="576064"/>
          </a:xfrm>
          <a:prstGeom prst="roundRect">
            <a:avLst>
              <a:gd name="adj" fmla="val 4357"/>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EM</a:t>
            </a:r>
            <a:endParaRPr lang="zh-CN" altLang="en-US" sz="2000" b="1" dirty="0">
              <a:ea typeface="微软雅黑" panose="020B0503020204020204" pitchFamily="34" charset="-122"/>
            </a:endParaRPr>
          </a:p>
        </p:txBody>
      </p:sp>
      <p:sp>
        <p:nvSpPr>
          <p:cNvPr id="15" name="圆角矩形 14"/>
          <p:cNvSpPr/>
          <p:nvPr/>
        </p:nvSpPr>
        <p:spPr>
          <a:xfrm>
            <a:off x="6561137" y="4077072"/>
            <a:ext cx="891183" cy="576064"/>
          </a:xfrm>
          <a:prstGeom prst="roundRect">
            <a:avLst>
              <a:gd name="adj" fmla="val 4357"/>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MP</a:t>
            </a:r>
          </a:p>
        </p:txBody>
      </p:sp>
      <p:sp>
        <p:nvSpPr>
          <p:cNvPr id="16" name="圆角矩形 15"/>
          <p:cNvSpPr/>
          <p:nvPr/>
        </p:nvSpPr>
        <p:spPr>
          <a:xfrm>
            <a:off x="7497241" y="4077072"/>
            <a:ext cx="891183" cy="5760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PE</a:t>
            </a:r>
            <a:endParaRPr lang="zh-CN" altLang="en-US" sz="2000" b="1" dirty="0">
              <a:ea typeface="微软雅黑" panose="020B0503020204020204" pitchFamily="34" charset="-122"/>
            </a:endParaRPr>
          </a:p>
        </p:txBody>
      </p:sp>
      <p:sp>
        <p:nvSpPr>
          <p:cNvPr id="17" name="圆角矩形 16"/>
          <p:cNvSpPr/>
          <p:nvPr/>
        </p:nvSpPr>
        <p:spPr>
          <a:xfrm>
            <a:off x="4688929" y="4077072"/>
            <a:ext cx="891183" cy="576064"/>
          </a:xfrm>
          <a:prstGeom prst="roundRect">
            <a:avLst>
              <a:gd name="adj" fmla="val 4357"/>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TS</a:t>
            </a:r>
            <a:endParaRPr lang="zh-CN" altLang="en-US" sz="1600" b="1" dirty="0">
              <a:ea typeface="微软雅黑" panose="020B0503020204020204" pitchFamily="34" charset="-122"/>
            </a:endParaRPr>
          </a:p>
        </p:txBody>
      </p:sp>
      <p:sp>
        <p:nvSpPr>
          <p:cNvPr id="21" name="矩形 20"/>
          <p:cNvSpPr/>
          <p:nvPr/>
        </p:nvSpPr>
        <p:spPr>
          <a:xfrm>
            <a:off x="683568" y="1412776"/>
            <a:ext cx="7992888" cy="619264"/>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dirty="0">
                <a:ea typeface="微软雅黑" panose="020B0503020204020204" pitchFamily="34" charset="-122"/>
              </a:rPr>
              <a:t>32</a:t>
            </a:r>
            <a:r>
              <a:rPr lang="zh-CN" altLang="en-US" sz="2400" b="1" dirty="0">
                <a:ea typeface="微软雅黑" panose="020B0503020204020204" pitchFamily="34" charset="-122"/>
              </a:rPr>
              <a:t>位的控制寄存器</a:t>
            </a:r>
            <a:r>
              <a:rPr lang="en-US" altLang="zh-CN" sz="2400" b="1" dirty="0">
                <a:ea typeface="微软雅黑" panose="020B0503020204020204" pitchFamily="34" charset="-122"/>
              </a:rPr>
              <a:t>CR0</a:t>
            </a:r>
            <a:r>
              <a:rPr lang="zh-CN" altLang="en-US" sz="2400" b="1" dirty="0">
                <a:ea typeface="微软雅黑" panose="020B0503020204020204" pitchFamily="34" charset="-122"/>
              </a:rPr>
              <a:t>、</a:t>
            </a:r>
            <a:r>
              <a:rPr lang="en-US" altLang="zh-CN" sz="2400" b="1" dirty="0">
                <a:ea typeface="微软雅黑" panose="020B0503020204020204" pitchFamily="34" charset="-122"/>
              </a:rPr>
              <a:t>CR2</a:t>
            </a:r>
            <a:r>
              <a:rPr lang="zh-CN" altLang="en-US" sz="2400" b="1" dirty="0">
                <a:ea typeface="微软雅黑" panose="020B0503020204020204" pitchFamily="34" charset="-122"/>
              </a:rPr>
              <a:t>和</a:t>
            </a:r>
            <a:r>
              <a:rPr lang="en-US" altLang="zh-CN" sz="2400" b="1" dirty="0">
                <a:ea typeface="微软雅黑" panose="020B0503020204020204" pitchFamily="34" charset="-122"/>
              </a:rPr>
              <a:t>CR3</a:t>
            </a:r>
            <a:r>
              <a:rPr lang="zh-CN" altLang="en-US" sz="2400" b="1" dirty="0">
                <a:ea typeface="微软雅黑" panose="020B0503020204020204" pitchFamily="34" charset="-122"/>
              </a:rPr>
              <a:t>，保存各种全局性状态。</a:t>
            </a:r>
          </a:p>
        </p:txBody>
      </p:sp>
      <p:sp>
        <p:nvSpPr>
          <p:cNvPr id="22" name="矩形 21"/>
          <p:cNvSpPr/>
          <p:nvPr/>
        </p:nvSpPr>
        <p:spPr>
          <a:xfrm>
            <a:off x="683568" y="2204864"/>
            <a:ext cx="7992888" cy="619264"/>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dirty="0">
                <a:ea typeface="微软雅黑" panose="020B0503020204020204" pitchFamily="34" charset="-122"/>
              </a:rPr>
              <a:t>CR0</a:t>
            </a:r>
            <a:r>
              <a:rPr lang="zh-CN" altLang="en-US" sz="2400" b="1" dirty="0">
                <a:ea typeface="微软雅黑" panose="020B0503020204020204" pitchFamily="34" charset="-122"/>
              </a:rPr>
              <a:t>是最常用的一个控制寄存器，选择工作模式。</a:t>
            </a:r>
          </a:p>
        </p:txBody>
      </p:sp>
      <p:sp>
        <p:nvSpPr>
          <p:cNvPr id="23" name="矩形 22"/>
          <p:cNvSpPr/>
          <p:nvPr/>
        </p:nvSpPr>
        <p:spPr>
          <a:xfrm>
            <a:off x="683568" y="2996952"/>
            <a:ext cx="7992888" cy="619264"/>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dirty="0">
                <a:ea typeface="微软雅黑" panose="020B0503020204020204" pitchFamily="34" charset="-122"/>
              </a:rPr>
              <a:t>CR3</a:t>
            </a:r>
            <a:r>
              <a:rPr lang="zh-CN" altLang="en-US" sz="2400" b="1" dirty="0">
                <a:ea typeface="微软雅黑" panose="020B0503020204020204" pitchFamily="34" charset="-122"/>
              </a:rPr>
              <a:t>为页目录基址寄存器，存放页目录表的物理基地址。</a:t>
            </a:r>
          </a:p>
        </p:txBody>
      </p:sp>
      <p:graphicFrame>
        <p:nvGraphicFramePr>
          <p:cNvPr id="5" name="表格 4"/>
          <p:cNvGraphicFramePr>
            <a:graphicFrameLocks noGrp="1"/>
          </p:cNvGraphicFramePr>
          <p:nvPr>
            <p:extLst>
              <p:ext uri="{D42A27DB-BD31-4B8C-83A1-F6EECF244321}">
                <p14:modId xmlns:p14="http://schemas.microsoft.com/office/powerpoint/2010/main" val="2354909474"/>
              </p:ext>
            </p:extLst>
          </p:nvPr>
        </p:nvGraphicFramePr>
        <p:xfrm>
          <a:off x="2404777" y="4969976"/>
          <a:ext cx="4334024" cy="1483360"/>
        </p:xfrm>
        <a:graphic>
          <a:graphicData uri="http://schemas.openxmlformats.org/drawingml/2006/table">
            <a:tbl>
              <a:tblPr firstRow="1" bandRow="1">
                <a:tableStyleId>{5C22544A-7EE6-4342-B048-85BDC9FD1C3A}</a:tableStyleId>
              </a:tblPr>
              <a:tblGrid>
                <a:gridCol w="521579">
                  <a:extLst>
                    <a:ext uri="{9D8B030D-6E8A-4147-A177-3AD203B41FA5}">
                      <a16:colId xmlns="" xmlns:a16="http://schemas.microsoft.com/office/drawing/2014/main" val="1600108676"/>
                    </a:ext>
                  </a:extLst>
                </a:gridCol>
                <a:gridCol w="563144">
                  <a:extLst>
                    <a:ext uri="{9D8B030D-6E8A-4147-A177-3AD203B41FA5}">
                      <a16:colId xmlns="" xmlns:a16="http://schemas.microsoft.com/office/drawing/2014/main" val="2632943796"/>
                    </a:ext>
                  </a:extLst>
                </a:gridCol>
                <a:gridCol w="3249301">
                  <a:extLst>
                    <a:ext uri="{9D8B030D-6E8A-4147-A177-3AD203B41FA5}">
                      <a16:colId xmlns="" xmlns:a16="http://schemas.microsoft.com/office/drawing/2014/main" val="64748781"/>
                    </a:ext>
                  </a:extLst>
                </a:gridCol>
              </a:tblGrid>
              <a:tr h="370840">
                <a:tc>
                  <a:txBody>
                    <a:bodyPr/>
                    <a:lstStyle/>
                    <a:p>
                      <a:pPr algn="ctr"/>
                      <a:r>
                        <a:rPr lang="en-US" altLang="zh-CN" dirty="0"/>
                        <a:t>PG</a:t>
                      </a:r>
                      <a:endParaRPr lang="zh-CN" altLang="en-US" dirty="0"/>
                    </a:p>
                  </a:txBody>
                  <a:tcPr/>
                </a:tc>
                <a:tc>
                  <a:txBody>
                    <a:bodyPr/>
                    <a:lstStyle/>
                    <a:p>
                      <a:pPr algn="ctr"/>
                      <a:r>
                        <a:rPr lang="en-US" altLang="zh-CN" dirty="0"/>
                        <a:t>PE</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b="0" dirty="0">
                          <a:solidFill>
                            <a:schemeClr val="bg1"/>
                          </a:solidFill>
                        </a:rPr>
                        <a:t>80386</a:t>
                      </a:r>
                      <a:r>
                        <a:rPr lang="zh-CN" altLang="en-US" b="0" dirty="0">
                          <a:solidFill>
                            <a:schemeClr val="bg1"/>
                          </a:solidFill>
                        </a:rPr>
                        <a:t>的工作模式选择</a:t>
                      </a:r>
                    </a:p>
                  </a:txBody>
                  <a:tcPr/>
                </a:tc>
                <a:extLst>
                  <a:ext uri="{0D108BD9-81ED-4DB2-BD59-A6C34878D82A}">
                    <a16:rowId xmlns="" xmlns:a16="http://schemas.microsoft.com/office/drawing/2014/main" val="903797095"/>
                  </a:ext>
                </a:extLst>
              </a:tr>
              <a:tr h="370840">
                <a:tc>
                  <a:txBody>
                    <a:bodyPr/>
                    <a:lstStyle/>
                    <a:p>
                      <a:pPr algn="ctr"/>
                      <a:r>
                        <a:rPr lang="en-US" altLang="zh-CN" dirty="0">
                          <a:solidFill>
                            <a:schemeClr val="tx1">
                              <a:lumMod val="65000"/>
                              <a:lumOff val="35000"/>
                            </a:schemeClr>
                          </a:solidFill>
                        </a:rPr>
                        <a:t>0</a:t>
                      </a:r>
                      <a:endParaRPr lang="zh-CN" altLang="en-US" dirty="0">
                        <a:solidFill>
                          <a:schemeClr val="tx1">
                            <a:lumMod val="65000"/>
                            <a:lumOff val="35000"/>
                          </a:schemeClr>
                        </a:solidFill>
                      </a:endParaRPr>
                    </a:p>
                  </a:txBody>
                  <a:tcPr/>
                </a:tc>
                <a:tc>
                  <a:txBody>
                    <a:bodyPr/>
                    <a:lstStyle/>
                    <a:p>
                      <a:pPr algn="ctr"/>
                      <a:r>
                        <a:rPr lang="en-US" altLang="zh-CN" dirty="0">
                          <a:solidFill>
                            <a:schemeClr val="tx1">
                              <a:lumMod val="65000"/>
                              <a:lumOff val="35000"/>
                            </a:schemeClr>
                          </a:solidFill>
                        </a:rPr>
                        <a:t>0</a:t>
                      </a:r>
                      <a:endParaRPr lang="zh-CN" altLang="en-US" dirty="0">
                        <a:solidFill>
                          <a:schemeClr val="tx1">
                            <a:lumMod val="65000"/>
                            <a:lumOff val="35000"/>
                          </a:schemeClr>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b="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实模式</a:t>
                      </a:r>
                    </a:p>
                  </a:txBody>
                  <a:tcPr/>
                </a:tc>
                <a:extLst>
                  <a:ext uri="{0D108BD9-81ED-4DB2-BD59-A6C34878D82A}">
                    <a16:rowId xmlns="" xmlns:a16="http://schemas.microsoft.com/office/drawing/2014/main" val="2968810480"/>
                  </a:ext>
                </a:extLst>
              </a:tr>
              <a:tr h="370840">
                <a:tc>
                  <a:txBody>
                    <a:bodyPr/>
                    <a:lstStyle/>
                    <a:p>
                      <a:pPr algn="ctr"/>
                      <a:r>
                        <a:rPr lang="en-US" altLang="zh-CN" dirty="0">
                          <a:solidFill>
                            <a:schemeClr val="tx1">
                              <a:lumMod val="65000"/>
                              <a:lumOff val="35000"/>
                            </a:schemeClr>
                          </a:solidFill>
                        </a:rPr>
                        <a:t>0</a:t>
                      </a:r>
                      <a:endParaRPr lang="zh-CN" altLang="en-US" dirty="0">
                        <a:solidFill>
                          <a:schemeClr val="tx1">
                            <a:lumMod val="65000"/>
                            <a:lumOff val="35000"/>
                          </a:schemeClr>
                        </a:solidFill>
                      </a:endParaRPr>
                    </a:p>
                  </a:txBody>
                  <a:tcPr/>
                </a:tc>
                <a:tc>
                  <a:txBody>
                    <a:bodyPr/>
                    <a:lstStyle/>
                    <a:p>
                      <a:pPr algn="ctr"/>
                      <a:r>
                        <a:rPr lang="en-US" altLang="zh-CN" dirty="0">
                          <a:solidFill>
                            <a:schemeClr val="tx1">
                              <a:lumMod val="65000"/>
                              <a:lumOff val="35000"/>
                            </a:schemeClr>
                          </a:solidFill>
                        </a:rPr>
                        <a:t>1</a:t>
                      </a:r>
                      <a:endParaRPr lang="zh-CN" altLang="en-US" dirty="0">
                        <a:solidFill>
                          <a:schemeClr val="tx1">
                            <a:lumMod val="65000"/>
                            <a:lumOff val="35000"/>
                          </a:schemeClr>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b="0" kern="1200" dirty="0">
                          <a:solidFill>
                            <a:schemeClr val="tx1">
                              <a:lumMod val="65000"/>
                              <a:lumOff val="35000"/>
                            </a:schemeClr>
                          </a:solidFill>
                          <a:latin typeface="+mn-lt"/>
                          <a:ea typeface="微软雅黑" panose="020B0503020204020204" pitchFamily="34" charset="-122"/>
                          <a:cs typeface="+mn-cs"/>
                        </a:rPr>
                        <a:t>分段，不分页的保护模式</a:t>
                      </a:r>
                    </a:p>
                  </a:txBody>
                  <a:tcPr/>
                </a:tc>
                <a:extLst>
                  <a:ext uri="{0D108BD9-81ED-4DB2-BD59-A6C34878D82A}">
                    <a16:rowId xmlns="" xmlns:a16="http://schemas.microsoft.com/office/drawing/2014/main" val="1259874798"/>
                  </a:ext>
                </a:extLst>
              </a:tr>
              <a:tr h="370840">
                <a:tc>
                  <a:txBody>
                    <a:bodyPr/>
                    <a:lstStyle/>
                    <a:p>
                      <a:pPr algn="ctr"/>
                      <a:r>
                        <a:rPr lang="en-US" altLang="zh-CN" dirty="0">
                          <a:solidFill>
                            <a:schemeClr val="tx1">
                              <a:lumMod val="65000"/>
                              <a:lumOff val="35000"/>
                            </a:schemeClr>
                          </a:solidFill>
                        </a:rPr>
                        <a:t>1</a:t>
                      </a:r>
                      <a:endParaRPr lang="zh-CN" altLang="en-US" dirty="0">
                        <a:solidFill>
                          <a:schemeClr val="tx1">
                            <a:lumMod val="65000"/>
                            <a:lumOff val="35000"/>
                          </a:schemeClr>
                        </a:solidFill>
                      </a:endParaRPr>
                    </a:p>
                  </a:txBody>
                  <a:tcPr/>
                </a:tc>
                <a:tc>
                  <a:txBody>
                    <a:bodyPr/>
                    <a:lstStyle/>
                    <a:p>
                      <a:pPr algn="ctr"/>
                      <a:r>
                        <a:rPr lang="en-US" altLang="zh-CN" dirty="0">
                          <a:solidFill>
                            <a:schemeClr val="tx1">
                              <a:lumMod val="65000"/>
                              <a:lumOff val="35000"/>
                            </a:schemeClr>
                          </a:solidFill>
                        </a:rPr>
                        <a:t>1</a:t>
                      </a:r>
                      <a:endParaRPr lang="zh-CN" altLang="en-US" dirty="0">
                        <a:solidFill>
                          <a:schemeClr val="tx1">
                            <a:lumMod val="65000"/>
                            <a:lumOff val="35000"/>
                          </a:schemeClr>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b="0" kern="1200" dirty="0">
                          <a:solidFill>
                            <a:schemeClr val="tx1">
                              <a:lumMod val="65000"/>
                              <a:lumOff val="35000"/>
                            </a:schemeClr>
                          </a:solidFill>
                          <a:latin typeface="+mn-lt"/>
                          <a:ea typeface="微软雅黑" panose="020B0503020204020204" pitchFamily="34" charset="-122"/>
                          <a:cs typeface="+mn-cs"/>
                        </a:rPr>
                        <a:t>分段分页的保护模式</a:t>
                      </a:r>
                    </a:p>
                  </a:txBody>
                  <a:tcPr/>
                </a:tc>
                <a:extLst>
                  <a:ext uri="{0D108BD9-81ED-4DB2-BD59-A6C34878D82A}">
                    <a16:rowId xmlns="" xmlns:a16="http://schemas.microsoft.com/office/drawing/2014/main" val="967028711"/>
                  </a:ext>
                </a:extLst>
              </a:tr>
            </a:tbl>
          </a:graphicData>
        </a:graphic>
      </p:graphicFrame>
    </p:spTree>
    <p:extLst>
      <p:ext uri="{BB962C8B-B14F-4D97-AF65-F5344CB8AC3E}">
        <p14:creationId xmlns:p14="http://schemas.microsoft.com/office/powerpoint/2010/main" val="125060561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
          <p:cNvSpPr txBox="1"/>
          <p:nvPr/>
        </p:nvSpPr>
        <p:spPr>
          <a:xfrm>
            <a:off x="4292127" y="1364332"/>
            <a:ext cx="3664249" cy="841375"/>
          </a:xfrm>
          <a:prstGeom prst="roundRect">
            <a:avLst>
              <a:gd name="adj" fmla="val 8176"/>
            </a:avLst>
          </a:prstGeom>
          <a:noFill/>
          <a:ln w="19050">
            <a:solidFill>
              <a:schemeClr val="bg1">
                <a:lumMod val="65000"/>
              </a:schemeClr>
            </a:solidFill>
          </a:ln>
        </p:spPr>
        <p:txBody>
          <a:bodyPr wrap="none" anchor="ctr"/>
          <a:lstStyle>
            <a:defPPr>
              <a:defRPr lang="en-US"/>
            </a:defPPr>
            <a:lvl1pPr algn="ctr">
              <a:defRPr sz="2800" b="1">
                <a:solidFill>
                  <a:srgbClr val="A6A6A6"/>
                </a:solidFill>
                <a:latin typeface="微软雅黑" panose="020B0503020204020204" pitchFamily="34" charset="-122"/>
                <a:ea typeface="微软雅黑" panose="020B0503020204020204" pitchFamily="34" charset="-122"/>
              </a:defRPr>
            </a:lvl1pPr>
          </a:lstStyle>
          <a:p>
            <a:r>
              <a:rPr lang="en-US" altLang="zh-CN" dirty="0"/>
              <a:t>80386</a:t>
            </a:r>
            <a:r>
              <a:rPr lang="zh-CN" altLang="en-US" dirty="0"/>
              <a:t>及其特点</a:t>
            </a:r>
          </a:p>
        </p:txBody>
      </p:sp>
      <p:sp>
        <p:nvSpPr>
          <p:cNvPr id="3" name="椭圆 2"/>
          <p:cNvSpPr/>
          <p:nvPr/>
        </p:nvSpPr>
        <p:spPr>
          <a:xfrm>
            <a:off x="3859857" y="1413396"/>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1</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
        <p:nvSpPr>
          <p:cNvPr id="4" name="TextBox 9"/>
          <p:cNvSpPr txBox="1"/>
          <p:nvPr/>
        </p:nvSpPr>
        <p:spPr>
          <a:xfrm>
            <a:off x="4292127" y="2516857"/>
            <a:ext cx="3664249" cy="841375"/>
          </a:xfrm>
          <a:prstGeom prst="roundRect">
            <a:avLst>
              <a:gd name="adj" fmla="val 8176"/>
            </a:avLst>
          </a:prstGeom>
          <a:noFill/>
          <a:ln w="19050">
            <a:solidFill>
              <a:schemeClr val="bg1">
                <a:lumMod val="65000"/>
              </a:schemeClr>
            </a:solidFill>
          </a:ln>
        </p:spPr>
        <p:txBody>
          <a:bodyPr wrap="none" anchor="ctr"/>
          <a:lstStyle>
            <a:defPPr>
              <a:defRPr lang="en-US"/>
            </a:defPPr>
            <a:lvl1pPr algn="ctr">
              <a:defRPr sz="2800" b="1">
                <a:solidFill>
                  <a:srgbClr val="A6A6A6"/>
                </a:solidFill>
                <a:latin typeface="微软雅黑" panose="020B0503020204020204" pitchFamily="34" charset="-122"/>
                <a:ea typeface="微软雅黑" panose="020B0503020204020204" pitchFamily="34" charset="-122"/>
              </a:defRPr>
            </a:lvl1pPr>
          </a:lstStyle>
          <a:p>
            <a:r>
              <a:rPr lang="en-US" altLang="zh-CN" dirty="0"/>
              <a:t>80386</a:t>
            </a:r>
            <a:r>
              <a:rPr lang="zh-CN" altLang="en-US" dirty="0"/>
              <a:t>工作模式</a:t>
            </a:r>
          </a:p>
        </p:txBody>
      </p:sp>
      <p:sp>
        <p:nvSpPr>
          <p:cNvPr id="5" name="椭圆 4"/>
          <p:cNvSpPr/>
          <p:nvPr/>
        </p:nvSpPr>
        <p:spPr>
          <a:xfrm>
            <a:off x="3859857" y="2565921"/>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2</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
        <p:nvSpPr>
          <p:cNvPr id="6" name="TextBox 9"/>
          <p:cNvSpPr txBox="1"/>
          <p:nvPr/>
        </p:nvSpPr>
        <p:spPr>
          <a:xfrm>
            <a:off x="4284190" y="3668365"/>
            <a:ext cx="3664249" cy="841375"/>
          </a:xfrm>
          <a:prstGeom prst="roundRect">
            <a:avLst>
              <a:gd name="adj" fmla="val 8176"/>
            </a:avLst>
          </a:prstGeom>
          <a:noFill/>
          <a:ln w="19050">
            <a:solidFill>
              <a:schemeClr val="bg1">
                <a:lumMod val="65000"/>
              </a:schemeClr>
            </a:solidFill>
          </a:ln>
        </p:spPr>
        <p:txBody>
          <a:bodyPr wrap="none" anchor="ctr"/>
          <a:lstStyle>
            <a:defPPr>
              <a:defRPr lang="en-US"/>
            </a:defPPr>
            <a:lvl1pPr algn="ctr">
              <a:defRPr sz="2800" b="1">
                <a:solidFill>
                  <a:srgbClr val="A6A6A6"/>
                </a:solidFill>
                <a:latin typeface="微软雅黑" panose="020B0503020204020204" pitchFamily="34" charset="-122"/>
                <a:ea typeface="微软雅黑" panose="020B0503020204020204" pitchFamily="34" charset="-122"/>
              </a:defRPr>
            </a:lvl1pPr>
          </a:lstStyle>
          <a:p>
            <a:r>
              <a:rPr lang="en-US" altLang="zh-CN" dirty="0"/>
              <a:t>80386</a:t>
            </a:r>
            <a:r>
              <a:rPr lang="zh-CN" altLang="en-US" dirty="0"/>
              <a:t>内部寄存器</a:t>
            </a:r>
          </a:p>
        </p:txBody>
      </p:sp>
      <p:sp>
        <p:nvSpPr>
          <p:cNvPr id="7" name="椭圆 6"/>
          <p:cNvSpPr/>
          <p:nvPr/>
        </p:nvSpPr>
        <p:spPr>
          <a:xfrm>
            <a:off x="3851920" y="3717429"/>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3</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
        <p:nvSpPr>
          <p:cNvPr id="8" name="TextBox 9"/>
          <p:cNvSpPr txBox="1"/>
          <p:nvPr/>
        </p:nvSpPr>
        <p:spPr>
          <a:xfrm>
            <a:off x="4292127" y="4819873"/>
            <a:ext cx="3664249" cy="841375"/>
          </a:xfrm>
          <a:prstGeom prst="roundRect">
            <a:avLst>
              <a:gd name="adj" fmla="val 8176"/>
            </a:avLst>
          </a:prstGeom>
          <a:solidFill>
            <a:srgbClr val="5DCB08"/>
          </a:solidFill>
          <a:ln w="19050">
            <a:solidFill>
              <a:schemeClr val="bg1">
                <a:lumMod val="65000"/>
              </a:schemeClr>
            </a:solidFill>
          </a:ln>
        </p:spPr>
        <p:txBody>
          <a:bodyPr wrap="none" anchor="ctr"/>
          <a:lstStyle>
            <a:defPPr>
              <a:defRPr lang="en-US"/>
            </a:defPPr>
            <a:lvl1pPr algn="ctr">
              <a:defRPr sz="2800" b="1">
                <a:latin typeface="微软雅黑" panose="020B0503020204020204" pitchFamily="34" charset="-122"/>
                <a:ea typeface="微软雅黑" panose="020B0503020204020204" pitchFamily="34" charset="-122"/>
              </a:defRPr>
            </a:lvl1pPr>
          </a:lstStyle>
          <a:p>
            <a:r>
              <a:rPr lang="en-US" altLang="zh-CN" dirty="0"/>
              <a:t>80386</a:t>
            </a:r>
            <a:r>
              <a:rPr lang="zh-CN" altLang="en-US" dirty="0"/>
              <a:t>存储器管理</a:t>
            </a:r>
          </a:p>
        </p:txBody>
      </p:sp>
      <p:sp>
        <p:nvSpPr>
          <p:cNvPr id="9" name="椭圆 8"/>
          <p:cNvSpPr/>
          <p:nvPr/>
        </p:nvSpPr>
        <p:spPr>
          <a:xfrm>
            <a:off x="3859857" y="4868937"/>
            <a:ext cx="745008" cy="73342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微软雅黑" panose="020B0503020204020204" pitchFamily="34" charset="-122"/>
                <a:ea typeface="微软雅黑" panose="020B0503020204020204" pitchFamily="34" charset="-122"/>
                <a:cs typeface="Arial Unicode MS" pitchFamily="34" charset="-122"/>
              </a:rPr>
              <a:t>4</a:t>
            </a:r>
            <a:endParaRPr lang="zh-CN" altLang="en-US" sz="2800" b="1" dirty="0">
              <a:solidFill>
                <a:srgbClr val="FFC000"/>
              </a:solidFill>
              <a:latin typeface="微软雅黑" panose="020B0503020204020204" pitchFamily="34" charset="-122"/>
              <a:ea typeface="微软雅黑" panose="020B0503020204020204" pitchFamily="34" charset="-122"/>
              <a:cs typeface="Arial Unicode MS" pitchFamily="34" charset="-122"/>
            </a:endParaRPr>
          </a:p>
        </p:txBody>
      </p:sp>
    </p:spTree>
    <p:extLst>
      <p:ext uri="{BB962C8B-B14F-4D97-AF65-F5344CB8AC3E}">
        <p14:creationId xmlns:p14="http://schemas.microsoft.com/office/powerpoint/2010/main" val="47089281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fltVal val="0"/>
                                          </p:val>
                                        </p:tav>
                                        <p:tav tm="100000">
                                          <p:val>
                                            <p:strVal val="#ppt_h"/>
                                          </p:val>
                                        </p:tav>
                                      </p:tavLst>
                                    </p:anim>
                                    <p:animEffect transition="in" filter="fade">
                                      <p:cBhvr>
                                        <p:cTn id="34" dur="500"/>
                                        <p:tgtEl>
                                          <p:spTgt spid="6"/>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Effect transition="in" filter="fade">
                                      <p:cBhvr>
                                        <p:cTn id="39" dur="500"/>
                                        <p:tgtEl>
                                          <p:spTgt spid="9"/>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p:cTn id="42" dur="500" fill="hold"/>
                                        <p:tgtEl>
                                          <p:spTgt spid="8"/>
                                        </p:tgtEl>
                                        <p:attrNameLst>
                                          <p:attrName>ppt_w</p:attrName>
                                        </p:attrNameLst>
                                      </p:cBhvr>
                                      <p:tavLst>
                                        <p:tav tm="0">
                                          <p:val>
                                            <p:fltVal val="0"/>
                                          </p:val>
                                        </p:tav>
                                        <p:tav tm="100000">
                                          <p:val>
                                            <p:strVal val="#ppt_w"/>
                                          </p:val>
                                        </p:tav>
                                      </p:tavLst>
                                    </p:anim>
                                    <p:anim calcmode="lin" valueType="num">
                                      <p:cBhvr>
                                        <p:cTn id="43" dur="500" fill="hold"/>
                                        <p:tgtEl>
                                          <p:spTgt spid="8"/>
                                        </p:tgtEl>
                                        <p:attrNameLst>
                                          <p:attrName>ppt_h</p:attrName>
                                        </p:attrNameLst>
                                      </p:cBhvr>
                                      <p:tavLst>
                                        <p:tav tm="0">
                                          <p:val>
                                            <p:fltVal val="0"/>
                                          </p:val>
                                        </p:tav>
                                        <p:tav tm="100000">
                                          <p:val>
                                            <p:strVal val="#ppt_h"/>
                                          </p:val>
                                        </p:tav>
                                      </p:tavLst>
                                    </p:anim>
                                    <p:animEffect transition="in" filter="fade">
                                      <p:cBhvr>
                                        <p:cTn id="4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500313" y="2303029"/>
            <a:ext cx="3032125" cy="1323978"/>
            <a:chOff x="2500313" y="1724029"/>
            <a:chExt cx="3032125" cy="1323978"/>
          </a:xfrm>
        </p:grpSpPr>
        <p:sp>
          <p:nvSpPr>
            <p:cNvPr id="4" name="Text Box 6"/>
            <p:cNvSpPr txBox="1">
              <a:spLocks noChangeArrowheads="1"/>
            </p:cNvSpPr>
            <p:nvPr/>
          </p:nvSpPr>
          <p:spPr bwMode="auto">
            <a:xfrm>
              <a:off x="5227638" y="1814513"/>
              <a:ext cx="3048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800" dirty="0">
                  <a:solidFill>
                    <a:schemeClr val="tx1">
                      <a:lumMod val="65000"/>
                      <a:lumOff val="35000"/>
                    </a:schemeClr>
                  </a:solidFill>
                  <a:latin typeface="Times New Roman" panose="02020603050405020304" pitchFamily="18" charset="0"/>
                </a:rPr>
                <a:t>0</a:t>
              </a:r>
              <a:endParaRPr lang="en-US" altLang="zh-CN" sz="2400" b="0" dirty="0">
                <a:solidFill>
                  <a:schemeClr val="tx1">
                    <a:lumMod val="65000"/>
                    <a:lumOff val="35000"/>
                  </a:schemeClr>
                </a:solidFill>
                <a:latin typeface="Times New Roman" panose="02020603050405020304" pitchFamily="18" charset="0"/>
              </a:endParaRPr>
            </a:p>
          </p:txBody>
        </p:sp>
        <p:grpSp>
          <p:nvGrpSpPr>
            <p:cNvPr id="5" name="Group 7"/>
            <p:cNvGrpSpPr>
              <a:grpSpLocks/>
            </p:cNvGrpSpPr>
            <p:nvPr/>
          </p:nvGrpSpPr>
          <p:grpSpPr bwMode="auto">
            <a:xfrm>
              <a:off x="2500313" y="1724029"/>
              <a:ext cx="2955925" cy="1323978"/>
              <a:chOff x="1450" y="912"/>
              <a:chExt cx="1862" cy="834"/>
            </a:xfrm>
          </p:grpSpPr>
          <p:sp>
            <p:nvSpPr>
              <p:cNvPr id="9" name="AutoShape 11"/>
              <p:cNvSpPr>
                <a:spLocks noChangeArrowheads="1"/>
              </p:cNvSpPr>
              <p:nvPr/>
            </p:nvSpPr>
            <p:spPr bwMode="auto">
              <a:xfrm>
                <a:off x="1450" y="1231"/>
                <a:ext cx="288" cy="198"/>
              </a:xfrm>
              <a:prstGeom prst="rightArrow">
                <a:avLst>
                  <a:gd name="adj1" fmla="val 50000"/>
                  <a:gd name="adj2" fmla="val 25000"/>
                </a:avLst>
              </a:prstGeom>
              <a:solidFill>
                <a:srgbClr val="00B853"/>
              </a:solidFill>
              <a:ln w="9525">
                <a:no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 name="Text Box 12"/>
              <p:cNvSpPr txBox="1">
                <a:spLocks noChangeArrowheads="1"/>
              </p:cNvSpPr>
              <p:nvPr/>
            </p:nvSpPr>
            <p:spPr bwMode="auto">
              <a:xfrm>
                <a:off x="1776" y="912"/>
                <a:ext cx="432" cy="834"/>
              </a:xfrm>
              <a:prstGeom prst="rect">
                <a:avLst/>
              </a:prstGeom>
              <a:solidFill>
                <a:srgbClr val="1D8DE5"/>
              </a:solidFill>
              <a:ln w="12700">
                <a:no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dirty="0">
                    <a:solidFill>
                      <a:schemeClr val="bg1"/>
                    </a:solidFill>
                    <a:latin typeface="Times New Roman" panose="02020603050405020304" pitchFamily="18" charset="0"/>
                    <a:ea typeface="楷体_GB2312" pitchFamily="49" charset="-122"/>
                  </a:rPr>
                  <a:t>分段</a:t>
                </a:r>
              </a:p>
              <a:p>
                <a:pPr algn="ctr" eaLnBrk="1" hangingPunct="1">
                  <a:spcBef>
                    <a:spcPct val="50000"/>
                  </a:spcBef>
                </a:pPr>
                <a:r>
                  <a:rPr lang="zh-CN" altLang="en-US" dirty="0">
                    <a:solidFill>
                      <a:schemeClr val="bg1"/>
                    </a:solidFill>
                    <a:latin typeface="Times New Roman" panose="02020603050405020304" pitchFamily="18" charset="0"/>
                    <a:ea typeface="楷体_GB2312" pitchFamily="49" charset="-122"/>
                  </a:rPr>
                  <a:t>管理</a:t>
                </a:r>
              </a:p>
              <a:p>
                <a:pPr algn="ctr" eaLnBrk="1" hangingPunct="1">
                  <a:spcBef>
                    <a:spcPct val="50000"/>
                  </a:spcBef>
                </a:pPr>
                <a:r>
                  <a:rPr lang="zh-CN" altLang="en-US" dirty="0">
                    <a:solidFill>
                      <a:schemeClr val="bg1"/>
                    </a:solidFill>
                    <a:latin typeface="Times New Roman" panose="02020603050405020304" pitchFamily="18" charset="0"/>
                    <a:ea typeface="楷体_GB2312" pitchFamily="49" charset="-122"/>
                  </a:rPr>
                  <a:t>机制</a:t>
                </a:r>
              </a:p>
            </p:txBody>
          </p:sp>
          <p:sp>
            <p:nvSpPr>
              <p:cNvPr id="11" name="AutoShape 13"/>
              <p:cNvSpPr>
                <a:spLocks noChangeArrowheads="1"/>
              </p:cNvSpPr>
              <p:nvPr/>
            </p:nvSpPr>
            <p:spPr bwMode="auto">
              <a:xfrm>
                <a:off x="2256" y="1242"/>
                <a:ext cx="288" cy="198"/>
              </a:xfrm>
              <a:prstGeom prst="rightArrow">
                <a:avLst>
                  <a:gd name="adj1" fmla="val 50000"/>
                  <a:gd name="adj2" fmla="val 25000"/>
                </a:avLst>
              </a:prstGeom>
              <a:solidFill>
                <a:srgbClr val="00B853"/>
              </a:solidFill>
              <a:ln w="9525">
                <a:no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 name="Rectangle 14"/>
              <p:cNvSpPr>
                <a:spLocks noChangeArrowheads="1"/>
              </p:cNvSpPr>
              <p:nvPr/>
            </p:nvSpPr>
            <p:spPr bwMode="auto">
              <a:xfrm>
                <a:off x="2592" y="1170"/>
                <a:ext cx="720" cy="288"/>
              </a:xfrm>
              <a:prstGeom prst="rect">
                <a:avLst/>
              </a:prstGeom>
              <a:solidFill>
                <a:srgbClr val="FD7A2A"/>
              </a:solidFill>
              <a:ln w="9525">
                <a:no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lang="zh-CN" altLang="en-US" dirty="0">
                    <a:solidFill>
                      <a:schemeClr val="bg1"/>
                    </a:solidFill>
                  </a:rPr>
                  <a:t>线性地址</a:t>
                </a:r>
              </a:p>
            </p:txBody>
          </p:sp>
          <p:sp>
            <p:nvSpPr>
              <p:cNvPr id="13" name="Text Box 15"/>
              <p:cNvSpPr txBox="1">
                <a:spLocks noChangeArrowheads="1"/>
              </p:cNvSpPr>
              <p:nvPr/>
            </p:nvSpPr>
            <p:spPr bwMode="auto">
              <a:xfrm>
                <a:off x="2544" y="969"/>
                <a:ext cx="19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800" dirty="0">
                    <a:solidFill>
                      <a:schemeClr val="tx1">
                        <a:lumMod val="65000"/>
                        <a:lumOff val="35000"/>
                      </a:schemeClr>
                    </a:solidFill>
                    <a:latin typeface="Times New Roman" panose="02020603050405020304" pitchFamily="18" charset="0"/>
                  </a:rPr>
                  <a:t>31</a:t>
                </a:r>
                <a:endParaRPr lang="en-US" altLang="zh-CN" sz="2400" b="0" dirty="0">
                  <a:solidFill>
                    <a:schemeClr val="tx1">
                      <a:lumMod val="65000"/>
                      <a:lumOff val="35000"/>
                    </a:schemeClr>
                  </a:solidFill>
                  <a:latin typeface="Times New Roman" panose="02020603050405020304" pitchFamily="18" charset="0"/>
                </a:endParaRPr>
              </a:p>
            </p:txBody>
          </p:sp>
        </p:grpSp>
      </p:grpSp>
      <p:grpSp>
        <p:nvGrpSpPr>
          <p:cNvPr id="6" name="组合 5"/>
          <p:cNvGrpSpPr/>
          <p:nvPr/>
        </p:nvGrpSpPr>
        <p:grpSpPr>
          <a:xfrm>
            <a:off x="7844754" y="2317313"/>
            <a:ext cx="1143000" cy="891857"/>
            <a:chOff x="7844754" y="1738313"/>
            <a:chExt cx="1143000" cy="891857"/>
          </a:xfrm>
        </p:grpSpPr>
        <p:sp>
          <p:nvSpPr>
            <p:cNvPr id="23" name="Rectangle 25"/>
            <p:cNvSpPr>
              <a:spLocks noChangeArrowheads="1"/>
            </p:cNvSpPr>
            <p:nvPr/>
          </p:nvSpPr>
          <p:spPr bwMode="auto">
            <a:xfrm>
              <a:off x="7844754" y="2096770"/>
              <a:ext cx="1143000" cy="533400"/>
            </a:xfrm>
            <a:prstGeom prst="rect">
              <a:avLst/>
            </a:prstGeom>
            <a:solidFill>
              <a:srgbClr val="2ABDF2"/>
            </a:solidFill>
            <a:ln w="9525">
              <a:noFill/>
              <a:miter lim="800000"/>
              <a:headEnd/>
              <a:tailEnd/>
            </a:ln>
            <a:effectLs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lang="zh-CN" altLang="en-US" dirty="0">
                  <a:solidFill>
                    <a:schemeClr val="bg1"/>
                  </a:solidFill>
                </a:rPr>
                <a:t>物理地址</a:t>
              </a:r>
            </a:p>
          </p:txBody>
        </p:sp>
        <p:grpSp>
          <p:nvGrpSpPr>
            <p:cNvPr id="28" name="Group 30"/>
            <p:cNvGrpSpPr>
              <a:grpSpLocks/>
            </p:cNvGrpSpPr>
            <p:nvPr/>
          </p:nvGrpSpPr>
          <p:grpSpPr bwMode="auto">
            <a:xfrm>
              <a:off x="7904037" y="1738313"/>
              <a:ext cx="1073114" cy="366713"/>
              <a:chOff x="2592" y="921"/>
              <a:chExt cx="686" cy="231"/>
            </a:xfrm>
          </p:grpSpPr>
          <p:sp>
            <p:nvSpPr>
              <p:cNvPr id="31" name="Text Box 31"/>
              <p:cNvSpPr txBox="1">
                <a:spLocks noChangeArrowheads="1"/>
              </p:cNvSpPr>
              <p:nvPr/>
            </p:nvSpPr>
            <p:spPr bwMode="auto">
              <a:xfrm>
                <a:off x="3086" y="921"/>
                <a:ext cx="19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800" dirty="0">
                    <a:solidFill>
                      <a:schemeClr val="tx1">
                        <a:lumMod val="65000"/>
                        <a:lumOff val="35000"/>
                      </a:schemeClr>
                    </a:solidFill>
                    <a:latin typeface="Times New Roman" panose="02020603050405020304" pitchFamily="18" charset="0"/>
                  </a:rPr>
                  <a:t>0</a:t>
                </a:r>
                <a:endParaRPr lang="en-US" altLang="zh-CN" sz="2400" b="0" dirty="0">
                  <a:solidFill>
                    <a:schemeClr val="tx1">
                      <a:lumMod val="65000"/>
                      <a:lumOff val="35000"/>
                    </a:schemeClr>
                  </a:solidFill>
                  <a:latin typeface="Times New Roman" panose="02020603050405020304" pitchFamily="18" charset="0"/>
                </a:endParaRPr>
              </a:p>
            </p:txBody>
          </p:sp>
          <p:sp>
            <p:nvSpPr>
              <p:cNvPr id="32" name="Text Box 32"/>
              <p:cNvSpPr txBox="1">
                <a:spLocks noChangeArrowheads="1"/>
              </p:cNvSpPr>
              <p:nvPr/>
            </p:nvSpPr>
            <p:spPr bwMode="auto">
              <a:xfrm>
                <a:off x="2592" y="921"/>
                <a:ext cx="19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800" dirty="0">
                    <a:solidFill>
                      <a:schemeClr val="tx1">
                        <a:lumMod val="65000"/>
                        <a:lumOff val="35000"/>
                      </a:schemeClr>
                    </a:solidFill>
                    <a:latin typeface="Times New Roman" panose="02020603050405020304" pitchFamily="18" charset="0"/>
                  </a:rPr>
                  <a:t>31</a:t>
                </a:r>
                <a:endParaRPr lang="en-US" altLang="zh-CN" sz="2400" b="0" dirty="0">
                  <a:solidFill>
                    <a:schemeClr val="tx1">
                      <a:lumMod val="65000"/>
                      <a:lumOff val="35000"/>
                    </a:schemeClr>
                  </a:solidFill>
                  <a:latin typeface="Times New Roman" panose="02020603050405020304" pitchFamily="18" charset="0"/>
                </a:endParaRPr>
              </a:p>
            </p:txBody>
          </p:sp>
        </p:grpSp>
      </p:grpSp>
      <p:grpSp>
        <p:nvGrpSpPr>
          <p:cNvPr id="3" name="组合 2"/>
          <p:cNvGrpSpPr/>
          <p:nvPr/>
        </p:nvGrpSpPr>
        <p:grpSpPr>
          <a:xfrm>
            <a:off x="5467451" y="2303025"/>
            <a:ext cx="2343967" cy="1630031"/>
            <a:chOff x="5467451" y="1724025"/>
            <a:chExt cx="2343967" cy="1630031"/>
          </a:xfrm>
        </p:grpSpPr>
        <p:sp>
          <p:nvSpPr>
            <p:cNvPr id="19" name="AutoShape 21"/>
            <p:cNvSpPr>
              <a:spLocks noChangeArrowheads="1"/>
            </p:cNvSpPr>
            <p:nvPr/>
          </p:nvSpPr>
          <p:spPr bwMode="auto">
            <a:xfrm>
              <a:off x="5467451" y="2273300"/>
              <a:ext cx="914400" cy="302154"/>
            </a:xfrm>
            <a:prstGeom prst="rightArrow">
              <a:avLst>
                <a:gd name="adj1" fmla="val 50000"/>
                <a:gd name="adj2" fmla="val 50000"/>
              </a:avLst>
            </a:prstGeom>
            <a:solidFill>
              <a:srgbClr val="00B853"/>
            </a:solidFill>
            <a:ln w="9525">
              <a:no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0" name="Rectangle 22"/>
            <p:cNvSpPr>
              <a:spLocks noChangeArrowheads="1"/>
            </p:cNvSpPr>
            <p:nvPr/>
          </p:nvSpPr>
          <p:spPr bwMode="auto">
            <a:xfrm>
              <a:off x="5761038" y="2476500"/>
              <a:ext cx="152400" cy="762000"/>
            </a:xfrm>
            <a:prstGeom prst="rect">
              <a:avLst/>
            </a:prstGeom>
            <a:solidFill>
              <a:srgbClr val="00B853"/>
            </a:solidFill>
            <a:ln w="9525">
              <a:no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1" name="Rectangle 23"/>
            <p:cNvSpPr>
              <a:spLocks noChangeArrowheads="1"/>
            </p:cNvSpPr>
            <p:nvPr/>
          </p:nvSpPr>
          <p:spPr bwMode="auto">
            <a:xfrm>
              <a:off x="5761038" y="3200399"/>
              <a:ext cx="1725090" cy="153657"/>
            </a:xfrm>
            <a:prstGeom prst="rect">
              <a:avLst/>
            </a:prstGeom>
            <a:solidFill>
              <a:srgbClr val="00B853"/>
            </a:solidFill>
            <a:ln w="9525">
              <a:no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 name="Text Box 26"/>
            <p:cNvSpPr txBox="1">
              <a:spLocks noChangeArrowheads="1"/>
            </p:cNvSpPr>
            <p:nvPr/>
          </p:nvSpPr>
          <p:spPr bwMode="auto">
            <a:xfrm>
              <a:off x="6406480" y="1724025"/>
              <a:ext cx="685800" cy="1323975"/>
            </a:xfrm>
            <a:prstGeom prst="rect">
              <a:avLst/>
            </a:prstGeom>
            <a:solidFill>
              <a:srgbClr val="FF3255"/>
            </a:solidFill>
            <a:ln w="12700">
              <a:no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dirty="0">
                  <a:solidFill>
                    <a:schemeClr val="bg1"/>
                  </a:solidFill>
                  <a:latin typeface="Times New Roman" panose="02020603050405020304" pitchFamily="18" charset="0"/>
                  <a:ea typeface="楷体_GB2312" pitchFamily="49" charset="-122"/>
                </a:rPr>
                <a:t>分页</a:t>
              </a:r>
            </a:p>
            <a:p>
              <a:pPr algn="ctr" eaLnBrk="1" hangingPunct="1">
                <a:spcBef>
                  <a:spcPct val="50000"/>
                </a:spcBef>
              </a:pPr>
              <a:r>
                <a:rPr lang="zh-CN" altLang="en-US" dirty="0">
                  <a:solidFill>
                    <a:schemeClr val="bg1"/>
                  </a:solidFill>
                  <a:latin typeface="Times New Roman" panose="02020603050405020304" pitchFamily="18" charset="0"/>
                  <a:ea typeface="楷体_GB2312" pitchFamily="49" charset="-122"/>
                </a:rPr>
                <a:t>管理</a:t>
              </a:r>
            </a:p>
            <a:p>
              <a:pPr algn="ctr" eaLnBrk="1" hangingPunct="1">
                <a:spcBef>
                  <a:spcPct val="50000"/>
                </a:spcBef>
              </a:pPr>
              <a:r>
                <a:rPr lang="zh-CN" altLang="en-US" dirty="0">
                  <a:solidFill>
                    <a:schemeClr val="bg1"/>
                  </a:solidFill>
                  <a:latin typeface="Times New Roman" panose="02020603050405020304" pitchFamily="18" charset="0"/>
                  <a:ea typeface="楷体_GB2312" pitchFamily="49" charset="-122"/>
                </a:rPr>
                <a:t>机制</a:t>
              </a:r>
            </a:p>
          </p:txBody>
        </p:sp>
        <p:sp>
          <p:nvSpPr>
            <p:cNvPr id="25" name="AutoShape 27"/>
            <p:cNvSpPr>
              <a:spLocks noChangeArrowheads="1"/>
            </p:cNvSpPr>
            <p:nvPr/>
          </p:nvSpPr>
          <p:spPr bwMode="auto">
            <a:xfrm>
              <a:off x="7092280" y="2248218"/>
              <a:ext cx="719138" cy="317500"/>
            </a:xfrm>
            <a:prstGeom prst="rightArrow">
              <a:avLst>
                <a:gd name="adj1" fmla="val 50000"/>
                <a:gd name="adj2" fmla="val 39323"/>
              </a:avLst>
            </a:prstGeom>
            <a:solidFill>
              <a:srgbClr val="00B853"/>
            </a:solidFill>
            <a:ln w="9525">
              <a:no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6" name="Rectangle 28"/>
            <p:cNvSpPr>
              <a:spLocks noChangeArrowheads="1"/>
            </p:cNvSpPr>
            <p:nvPr/>
          </p:nvSpPr>
          <p:spPr bwMode="auto">
            <a:xfrm>
              <a:off x="7308304" y="2476500"/>
              <a:ext cx="177824" cy="723900"/>
            </a:xfrm>
            <a:prstGeom prst="rect">
              <a:avLst/>
            </a:prstGeom>
            <a:solidFill>
              <a:srgbClr val="00B853"/>
            </a:solidFill>
            <a:ln w="9525">
              <a:no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 name="Text Box 33"/>
            <p:cNvSpPr txBox="1">
              <a:spLocks noChangeArrowheads="1"/>
            </p:cNvSpPr>
            <p:nvPr/>
          </p:nvSpPr>
          <p:spPr bwMode="auto">
            <a:xfrm>
              <a:off x="5756275" y="1936750"/>
              <a:ext cx="6858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dirty="0">
                  <a:solidFill>
                    <a:schemeClr val="tx1">
                      <a:lumMod val="65000"/>
                      <a:lumOff val="35000"/>
                    </a:schemeClr>
                  </a:solidFill>
                  <a:latin typeface="Times New Roman" panose="02020603050405020304" pitchFamily="18" charset="0"/>
                </a:rPr>
                <a:t>PG=1</a:t>
              </a:r>
              <a:endParaRPr lang="en-US" altLang="zh-CN" sz="2400" b="0" dirty="0">
                <a:solidFill>
                  <a:schemeClr val="tx1">
                    <a:lumMod val="65000"/>
                    <a:lumOff val="35000"/>
                  </a:schemeClr>
                </a:solidFill>
                <a:latin typeface="Times New Roman" panose="02020603050405020304" pitchFamily="18" charset="0"/>
              </a:endParaRPr>
            </a:p>
          </p:txBody>
        </p:sp>
        <p:sp>
          <p:nvSpPr>
            <p:cNvPr id="30" name="Text Box 34"/>
            <p:cNvSpPr txBox="1">
              <a:spLocks noChangeArrowheads="1"/>
            </p:cNvSpPr>
            <p:nvPr/>
          </p:nvSpPr>
          <p:spPr bwMode="auto">
            <a:xfrm>
              <a:off x="5837238" y="2881511"/>
              <a:ext cx="6858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dirty="0">
                  <a:solidFill>
                    <a:schemeClr val="tx1">
                      <a:lumMod val="65000"/>
                      <a:lumOff val="35000"/>
                    </a:schemeClr>
                  </a:solidFill>
                  <a:latin typeface="Times New Roman" panose="02020603050405020304" pitchFamily="18" charset="0"/>
                </a:rPr>
                <a:t>PG=0</a:t>
              </a:r>
              <a:endParaRPr lang="en-US" altLang="zh-CN" sz="2400" b="0" dirty="0">
                <a:solidFill>
                  <a:schemeClr val="tx1">
                    <a:lumMod val="65000"/>
                    <a:lumOff val="35000"/>
                  </a:schemeClr>
                </a:solidFill>
                <a:latin typeface="Times New Roman" panose="02020603050405020304" pitchFamily="18" charset="0"/>
              </a:endParaRPr>
            </a:p>
          </p:txBody>
        </p:sp>
      </p:grpSp>
      <p:grpSp>
        <p:nvGrpSpPr>
          <p:cNvPr id="2" name="组合 1"/>
          <p:cNvGrpSpPr/>
          <p:nvPr/>
        </p:nvGrpSpPr>
        <p:grpSpPr>
          <a:xfrm>
            <a:off x="198438" y="2455425"/>
            <a:ext cx="2302098" cy="1082675"/>
            <a:chOff x="198438" y="1876425"/>
            <a:chExt cx="2302098" cy="1082675"/>
          </a:xfrm>
        </p:grpSpPr>
        <p:sp>
          <p:nvSpPr>
            <p:cNvPr id="40" name="Text Box 41"/>
            <p:cNvSpPr txBox="1">
              <a:spLocks noChangeArrowheads="1"/>
            </p:cNvSpPr>
            <p:nvPr/>
          </p:nvSpPr>
          <p:spPr bwMode="auto">
            <a:xfrm>
              <a:off x="274638" y="2181225"/>
              <a:ext cx="914400" cy="409575"/>
            </a:xfrm>
            <a:prstGeom prst="rect">
              <a:avLst/>
            </a:prstGeom>
            <a:solidFill>
              <a:srgbClr val="FD7A2A"/>
            </a:solidFill>
            <a:ln w="12700">
              <a:noFill/>
              <a:miter lim="800000"/>
              <a:headEnd/>
              <a:tailEnd/>
            </a:ln>
            <a:effec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dirty="0">
                  <a:solidFill>
                    <a:schemeClr val="bg1"/>
                  </a:solidFill>
                  <a:latin typeface="Times New Roman" panose="02020603050405020304" pitchFamily="18" charset="0"/>
                  <a:ea typeface="楷体_GB2312" pitchFamily="49" charset="-122"/>
                </a:rPr>
                <a:t>选择子</a:t>
              </a:r>
              <a:endParaRPr lang="zh-CN" altLang="en-US" sz="2400" b="0" dirty="0">
                <a:solidFill>
                  <a:schemeClr val="bg1"/>
                </a:solidFill>
                <a:latin typeface="Times New Roman" panose="02020603050405020304" pitchFamily="18" charset="0"/>
              </a:endParaRPr>
            </a:p>
          </p:txBody>
        </p:sp>
        <p:sp>
          <p:nvSpPr>
            <p:cNvPr id="41" name="Text Box 42"/>
            <p:cNvSpPr txBox="1">
              <a:spLocks noChangeArrowheads="1"/>
            </p:cNvSpPr>
            <p:nvPr/>
          </p:nvSpPr>
          <p:spPr bwMode="auto">
            <a:xfrm>
              <a:off x="1493838" y="2181225"/>
              <a:ext cx="914400" cy="409575"/>
            </a:xfrm>
            <a:prstGeom prst="rect">
              <a:avLst/>
            </a:prstGeom>
            <a:solidFill>
              <a:srgbClr val="FD7A2A"/>
            </a:solidFill>
            <a:ln w="12700">
              <a:noFill/>
              <a:miter lim="800000"/>
              <a:headEnd/>
              <a:tailEnd/>
            </a:ln>
            <a:effec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dirty="0">
                  <a:solidFill>
                    <a:schemeClr val="bg1"/>
                  </a:solidFill>
                  <a:latin typeface="Times New Roman" panose="02020603050405020304" pitchFamily="18" charset="0"/>
                  <a:ea typeface="楷体_GB2312" pitchFamily="49" charset="-122"/>
                </a:rPr>
                <a:t>偏移量</a:t>
              </a:r>
            </a:p>
          </p:txBody>
        </p:sp>
        <p:sp>
          <p:nvSpPr>
            <p:cNvPr id="42" name="Text Box 43"/>
            <p:cNvSpPr txBox="1">
              <a:spLocks noChangeArrowheads="1"/>
            </p:cNvSpPr>
            <p:nvPr/>
          </p:nvSpPr>
          <p:spPr bwMode="auto">
            <a:xfrm>
              <a:off x="1173163" y="2105025"/>
              <a:ext cx="3968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400">
                  <a:latin typeface="Times New Roman" panose="02020603050405020304" pitchFamily="18" charset="0"/>
                </a:rPr>
                <a:t>:</a:t>
              </a:r>
              <a:endParaRPr lang="en-US" altLang="zh-CN" sz="2400" b="0">
                <a:latin typeface="Times New Roman" panose="02020603050405020304" pitchFamily="18" charset="0"/>
              </a:endParaRPr>
            </a:p>
          </p:txBody>
        </p:sp>
        <p:sp>
          <p:nvSpPr>
            <p:cNvPr id="43" name="Text Box 44"/>
            <p:cNvSpPr txBox="1">
              <a:spLocks noChangeArrowheads="1"/>
            </p:cNvSpPr>
            <p:nvPr/>
          </p:nvSpPr>
          <p:spPr bwMode="auto">
            <a:xfrm>
              <a:off x="971600" y="1876425"/>
              <a:ext cx="3048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800" dirty="0">
                  <a:solidFill>
                    <a:schemeClr val="tx1">
                      <a:lumMod val="65000"/>
                      <a:lumOff val="35000"/>
                    </a:schemeClr>
                  </a:solidFill>
                  <a:latin typeface="Times New Roman" panose="02020603050405020304" pitchFamily="18" charset="0"/>
                </a:rPr>
                <a:t>0</a:t>
              </a:r>
              <a:endParaRPr lang="en-US" altLang="zh-CN" sz="2400" b="0" dirty="0">
                <a:solidFill>
                  <a:schemeClr val="tx1">
                    <a:lumMod val="65000"/>
                    <a:lumOff val="35000"/>
                  </a:schemeClr>
                </a:solidFill>
                <a:latin typeface="Times New Roman" panose="02020603050405020304" pitchFamily="18" charset="0"/>
              </a:endParaRPr>
            </a:p>
          </p:txBody>
        </p:sp>
        <p:sp>
          <p:nvSpPr>
            <p:cNvPr id="44" name="Text Box 45"/>
            <p:cNvSpPr txBox="1">
              <a:spLocks noChangeArrowheads="1"/>
            </p:cNvSpPr>
            <p:nvPr/>
          </p:nvSpPr>
          <p:spPr bwMode="auto">
            <a:xfrm>
              <a:off x="198438" y="1876425"/>
              <a:ext cx="3048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800" dirty="0">
                  <a:solidFill>
                    <a:schemeClr val="tx1">
                      <a:lumMod val="65000"/>
                      <a:lumOff val="35000"/>
                    </a:schemeClr>
                  </a:solidFill>
                  <a:latin typeface="Times New Roman" panose="02020603050405020304" pitchFamily="18" charset="0"/>
                </a:rPr>
                <a:t>15</a:t>
              </a:r>
              <a:endParaRPr lang="en-US" altLang="zh-CN" sz="2400" b="0" dirty="0">
                <a:solidFill>
                  <a:schemeClr val="tx1">
                    <a:lumMod val="65000"/>
                    <a:lumOff val="35000"/>
                  </a:schemeClr>
                </a:solidFill>
                <a:latin typeface="Times New Roman" panose="02020603050405020304" pitchFamily="18" charset="0"/>
              </a:endParaRPr>
            </a:p>
          </p:txBody>
        </p:sp>
        <p:sp>
          <p:nvSpPr>
            <p:cNvPr id="45" name="Text Box 46"/>
            <p:cNvSpPr txBox="1">
              <a:spLocks noChangeArrowheads="1"/>
            </p:cNvSpPr>
            <p:nvPr/>
          </p:nvSpPr>
          <p:spPr bwMode="auto">
            <a:xfrm>
              <a:off x="2195736" y="1876425"/>
              <a:ext cx="3048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800" dirty="0">
                  <a:solidFill>
                    <a:schemeClr val="tx1">
                      <a:lumMod val="65000"/>
                      <a:lumOff val="35000"/>
                    </a:schemeClr>
                  </a:solidFill>
                  <a:latin typeface="Times New Roman" panose="02020603050405020304" pitchFamily="18" charset="0"/>
                </a:rPr>
                <a:t>0</a:t>
              </a:r>
              <a:endParaRPr lang="en-US" altLang="zh-CN" sz="2400" b="0" dirty="0">
                <a:solidFill>
                  <a:schemeClr val="tx1">
                    <a:lumMod val="65000"/>
                    <a:lumOff val="35000"/>
                  </a:schemeClr>
                </a:solidFill>
                <a:latin typeface="Times New Roman" panose="02020603050405020304" pitchFamily="18" charset="0"/>
              </a:endParaRPr>
            </a:p>
          </p:txBody>
        </p:sp>
        <p:sp>
          <p:nvSpPr>
            <p:cNvPr id="46" name="Text Box 47"/>
            <p:cNvSpPr txBox="1">
              <a:spLocks noChangeArrowheads="1"/>
            </p:cNvSpPr>
            <p:nvPr/>
          </p:nvSpPr>
          <p:spPr bwMode="auto">
            <a:xfrm>
              <a:off x="1417638" y="1876425"/>
              <a:ext cx="3048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800">
                  <a:solidFill>
                    <a:schemeClr val="tx1">
                      <a:lumMod val="65000"/>
                      <a:lumOff val="35000"/>
                    </a:schemeClr>
                  </a:solidFill>
                  <a:latin typeface="Times New Roman" panose="02020603050405020304" pitchFamily="18" charset="0"/>
                </a:rPr>
                <a:t>31</a:t>
              </a:r>
              <a:endParaRPr lang="en-US" altLang="zh-CN" sz="2400" b="0">
                <a:solidFill>
                  <a:schemeClr val="tx1">
                    <a:lumMod val="65000"/>
                    <a:lumOff val="35000"/>
                  </a:schemeClr>
                </a:solidFill>
                <a:latin typeface="Times New Roman" panose="02020603050405020304" pitchFamily="18" charset="0"/>
              </a:endParaRPr>
            </a:p>
          </p:txBody>
        </p:sp>
        <p:sp>
          <p:nvSpPr>
            <p:cNvPr id="36" name="Text Box 48"/>
            <p:cNvSpPr txBox="1">
              <a:spLocks noChangeArrowheads="1"/>
            </p:cNvSpPr>
            <p:nvPr/>
          </p:nvSpPr>
          <p:spPr bwMode="auto">
            <a:xfrm>
              <a:off x="198438" y="2562225"/>
              <a:ext cx="10668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dirty="0">
                  <a:solidFill>
                    <a:srgbClr val="FF3255"/>
                  </a:solidFill>
                  <a:latin typeface="Times New Roman" panose="02020603050405020304" pitchFamily="18" charset="0"/>
                  <a:ea typeface="楷体_GB2312" pitchFamily="49" charset="-122"/>
                </a:rPr>
                <a:t>段寄存器</a:t>
              </a:r>
              <a:endParaRPr lang="zh-CN" altLang="en-US" sz="2400" b="0" dirty="0">
                <a:solidFill>
                  <a:srgbClr val="FF3255"/>
                </a:solidFill>
                <a:latin typeface="Times New Roman" panose="02020603050405020304" pitchFamily="18" charset="0"/>
              </a:endParaRPr>
            </a:p>
          </p:txBody>
        </p:sp>
      </p:grpSp>
      <p:cxnSp>
        <p:nvCxnSpPr>
          <p:cNvPr id="33" name="直接连接符 3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4"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en-US" altLang="zh-CN" sz="3200" b="1" dirty="0">
                <a:solidFill>
                  <a:srgbClr val="00B0F0"/>
                </a:solidFill>
                <a:latin typeface="微软雅黑" pitchFamily="34" charset="-122"/>
                <a:ea typeface="微软雅黑" pitchFamily="34" charset="-122"/>
              </a:rPr>
              <a:t>80386</a:t>
            </a:r>
            <a:r>
              <a:rPr lang="zh-CN" altLang="en-US" sz="3200" b="1" dirty="0">
                <a:solidFill>
                  <a:srgbClr val="00B0F0"/>
                </a:solidFill>
                <a:latin typeface="微软雅黑" pitchFamily="34" charset="-122"/>
                <a:ea typeface="微软雅黑" pitchFamily="34" charset="-122"/>
              </a:rPr>
              <a:t>的存储管理机制</a:t>
            </a:r>
            <a:endParaRPr lang="zh-CN" altLang="en-US" sz="3200" b="1" dirty="0">
              <a:solidFill>
                <a:srgbClr val="00C4F0"/>
              </a:solidFill>
              <a:latin typeface="微软雅黑" pitchFamily="34" charset="-122"/>
              <a:ea typeface="微软雅黑" pitchFamily="34" charset="-122"/>
            </a:endParaRPr>
          </a:p>
        </p:txBody>
      </p:sp>
      <p:cxnSp>
        <p:nvCxnSpPr>
          <p:cNvPr id="35" name="直接连接符 34"/>
          <p:cNvCxnSpPr/>
          <p:nvPr/>
        </p:nvCxnSpPr>
        <p:spPr bwMode="auto">
          <a:xfrm>
            <a:off x="1619250" y="1123963"/>
            <a:ext cx="5905500" cy="0"/>
          </a:xfrm>
          <a:prstGeom prst="line">
            <a:avLst/>
          </a:prstGeom>
          <a:noFill/>
          <a:ln w="28575" cap="flat" cmpd="sng" algn="ctr">
            <a:solidFill>
              <a:srgbClr val="FFC000"/>
            </a:solidFill>
            <a:prstDash val="sysDot"/>
          </a:ln>
          <a:effectLst/>
        </p:spPr>
      </p:cxnSp>
      <p:cxnSp>
        <p:nvCxnSpPr>
          <p:cNvPr id="14" name="直接连接符 13"/>
          <p:cNvCxnSpPr/>
          <p:nvPr/>
        </p:nvCxnSpPr>
        <p:spPr>
          <a:xfrm>
            <a:off x="2627784" y="1916832"/>
            <a:ext cx="0" cy="309634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5652120" y="1912339"/>
            <a:ext cx="0" cy="3096344"/>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39" name="圆角矩形 38"/>
          <p:cNvSpPr/>
          <p:nvPr/>
        </p:nvSpPr>
        <p:spPr>
          <a:xfrm>
            <a:off x="838337" y="4837164"/>
            <a:ext cx="1357399" cy="576064"/>
          </a:xfrm>
          <a:prstGeom prst="roundRect">
            <a:avLst>
              <a:gd name="adj" fmla="val 4357"/>
            </a:avLst>
          </a:prstGeom>
          <a:solidFill>
            <a:srgbClr val="FF3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ea typeface="微软雅黑" panose="020B0503020204020204" pitchFamily="34" charset="-122"/>
              </a:rPr>
              <a:t>逻辑地址</a:t>
            </a:r>
          </a:p>
        </p:txBody>
      </p:sp>
      <p:sp>
        <p:nvSpPr>
          <p:cNvPr id="47" name="圆角矩形 46"/>
          <p:cNvSpPr/>
          <p:nvPr/>
        </p:nvSpPr>
        <p:spPr>
          <a:xfrm>
            <a:off x="3558338" y="4837164"/>
            <a:ext cx="1357399" cy="576064"/>
          </a:xfrm>
          <a:prstGeom prst="roundRect">
            <a:avLst>
              <a:gd name="adj" fmla="val 4357"/>
            </a:avLst>
          </a:prstGeom>
          <a:solidFill>
            <a:srgbClr val="FF3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ea typeface="微软雅黑" panose="020B0503020204020204" pitchFamily="34" charset="-122"/>
              </a:rPr>
              <a:t>线性地址</a:t>
            </a:r>
          </a:p>
        </p:txBody>
      </p:sp>
      <p:sp>
        <p:nvSpPr>
          <p:cNvPr id="48" name="圆角矩形 47"/>
          <p:cNvSpPr/>
          <p:nvPr/>
        </p:nvSpPr>
        <p:spPr>
          <a:xfrm>
            <a:off x="6838090" y="4837164"/>
            <a:ext cx="1357399" cy="576064"/>
          </a:xfrm>
          <a:prstGeom prst="roundRect">
            <a:avLst>
              <a:gd name="adj" fmla="val 4357"/>
            </a:avLst>
          </a:prstGeom>
          <a:solidFill>
            <a:srgbClr val="FF3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ea typeface="微软雅黑" panose="020B0503020204020204" pitchFamily="34" charset="-122"/>
              </a:rPr>
              <a:t>物理地址</a:t>
            </a:r>
          </a:p>
        </p:txBody>
      </p:sp>
    </p:spTree>
    <p:extLst>
      <p:ext uri="{BB962C8B-B14F-4D97-AF65-F5344CB8AC3E}">
        <p14:creationId xmlns:p14="http://schemas.microsoft.com/office/powerpoint/2010/main" val="619491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anose="020B0503020204020204" pitchFamily="34" charset="-122"/>
              <a:ea typeface="微软雅黑" panose="020B0503020204020204" pitchFamily="34" charset="-122"/>
            </a:endParaRPr>
          </a:p>
        </p:txBody>
      </p:sp>
      <p:sp>
        <p:nvSpPr>
          <p:cNvPr id="10" name="TextBox 15"/>
          <p:cNvSpPr txBox="1"/>
          <p:nvPr/>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pPr algn="ctr"/>
              <a:t>49</a:t>
            </a:fld>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t> </a:t>
            </a:r>
            <a:endParaRPr lang="zh-CN" altLang="en-US" sz="1600" b="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2" name="TextBox 15"/>
          <p:cNvSpPr txBox="1">
            <a:spLocks noChangeArrowheads="1"/>
          </p:cNvSpPr>
          <p:nvPr/>
        </p:nvSpPr>
        <p:spPr bwMode="auto">
          <a:xfrm>
            <a:off x="3830340" y="4119885"/>
            <a:ext cx="1389732" cy="1884273"/>
          </a:xfrm>
          <a:prstGeom prst="rect">
            <a:avLst/>
          </a:prstGeom>
          <a:noFill/>
          <a:ln w="9525">
            <a:noFill/>
            <a:miter lim="800000"/>
            <a:headEnd/>
            <a:tailEnd/>
          </a:ln>
        </p:spPr>
        <p:txBody>
          <a:bodyPr wrap="square" lIns="67730" tIns="33865" rIns="67730" bIns="33865">
            <a:spAutoFit/>
          </a:bodyP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indent="-342900" defTabSz="762000">
              <a:lnSpc>
                <a:spcPct val="150000"/>
              </a:lnSpc>
              <a:spcAft>
                <a:spcPts val="600"/>
              </a:spcAft>
              <a:buFont typeface="Wingdings" pitchFamily="2" charset="2"/>
              <a:buChar char="u"/>
            </a:pPr>
            <a:r>
              <a:rPr lang="zh-CN" altLang="en-US" sz="2400" b="1" dirty="0">
                <a:solidFill>
                  <a:srgbClr val="FF3255"/>
                </a:solidFill>
                <a:latin typeface="微软雅黑" pitchFamily="34" charset="-122"/>
                <a:ea typeface="微软雅黑" pitchFamily="34" charset="-122"/>
              </a:rPr>
              <a:t>分段</a:t>
            </a:r>
            <a:endParaRPr lang="en-US" altLang="zh-CN" sz="2400" b="1" dirty="0">
              <a:solidFill>
                <a:srgbClr val="FF3255"/>
              </a:solidFill>
              <a:latin typeface="微软雅黑" pitchFamily="34" charset="-122"/>
              <a:ea typeface="微软雅黑" pitchFamily="34" charset="-122"/>
            </a:endParaRPr>
          </a:p>
          <a:p>
            <a:pPr indent="-342900" defTabSz="762000">
              <a:lnSpc>
                <a:spcPct val="150000"/>
              </a:lnSpc>
              <a:spcAft>
                <a:spcPts val="600"/>
              </a:spcAft>
              <a:buFont typeface="Wingdings" pitchFamily="2" charset="2"/>
              <a:buChar char="u"/>
            </a:pPr>
            <a:r>
              <a:rPr lang="zh-CN" altLang="en-US" sz="2400" b="1" dirty="0">
                <a:solidFill>
                  <a:schemeClr val="tx1">
                    <a:lumMod val="65000"/>
                    <a:lumOff val="35000"/>
                  </a:schemeClr>
                </a:solidFill>
                <a:latin typeface="微软雅黑" pitchFamily="34" charset="-122"/>
                <a:ea typeface="微软雅黑" pitchFamily="34" charset="-122"/>
              </a:rPr>
              <a:t>分页</a:t>
            </a:r>
            <a:endParaRPr lang="en-US" altLang="zh-CN" sz="2400" b="1" dirty="0">
              <a:solidFill>
                <a:schemeClr val="tx1">
                  <a:lumMod val="65000"/>
                  <a:lumOff val="35000"/>
                </a:schemeClr>
              </a:solidFill>
              <a:latin typeface="微软雅黑" pitchFamily="34" charset="-122"/>
              <a:ea typeface="微软雅黑" pitchFamily="34" charset="-122"/>
            </a:endParaRPr>
          </a:p>
          <a:p>
            <a:pPr indent="-342900" defTabSz="762000">
              <a:lnSpc>
                <a:spcPct val="150000"/>
              </a:lnSpc>
              <a:spcAft>
                <a:spcPts val="600"/>
              </a:spcAft>
              <a:buFont typeface="Wingdings" pitchFamily="2" charset="2"/>
              <a:buChar char="u"/>
            </a:pPr>
            <a:r>
              <a:rPr lang="zh-CN" altLang="en-US" sz="2400" b="1" dirty="0">
                <a:solidFill>
                  <a:schemeClr val="tx1">
                    <a:lumMod val="65000"/>
                    <a:lumOff val="35000"/>
                  </a:schemeClr>
                </a:solidFill>
                <a:latin typeface="微软雅黑" pitchFamily="34" charset="-122"/>
                <a:ea typeface="微软雅黑" pitchFamily="34" charset="-122"/>
              </a:rPr>
              <a:t>举例</a:t>
            </a:r>
          </a:p>
        </p:txBody>
      </p:sp>
      <p:cxnSp>
        <p:nvCxnSpPr>
          <p:cNvPr id="14" name="直接连接符 13"/>
          <p:cNvCxnSpPr/>
          <p:nvPr/>
        </p:nvCxnSpPr>
        <p:spPr>
          <a:xfrm>
            <a:off x="1404144" y="2207419"/>
            <a:ext cx="6264275" cy="1587"/>
          </a:xfrm>
          <a:prstGeom prst="line">
            <a:avLst/>
          </a:prstGeom>
          <a:noFill/>
          <a:ln w="9525" cap="flat" cmpd="sng" algn="ctr">
            <a:solidFill>
              <a:sysClr val="window" lastClr="FFFFFF">
                <a:lumMod val="85000"/>
              </a:sysClr>
            </a:solidFill>
            <a:prstDash val="solid"/>
          </a:ln>
          <a:effectLst/>
        </p:spPr>
      </p:cxnSp>
      <p:cxnSp>
        <p:nvCxnSpPr>
          <p:cNvPr id="15" name="直接连接符 14"/>
          <p:cNvCxnSpPr/>
          <p:nvPr/>
        </p:nvCxnSpPr>
        <p:spPr>
          <a:xfrm>
            <a:off x="1475582" y="3936206"/>
            <a:ext cx="6264275" cy="1588"/>
          </a:xfrm>
          <a:prstGeom prst="line">
            <a:avLst/>
          </a:prstGeom>
          <a:noFill/>
          <a:ln w="9525" cap="flat" cmpd="sng" algn="ctr">
            <a:solidFill>
              <a:sysClr val="window" lastClr="FFFFFF">
                <a:lumMod val="85000"/>
              </a:sysClr>
            </a:solidFill>
            <a:prstDash val="solid"/>
          </a:ln>
          <a:effectLst/>
        </p:spPr>
      </p:cxnSp>
      <p:sp>
        <p:nvSpPr>
          <p:cNvPr id="16" name="TextBox 10"/>
          <p:cNvSpPr txBox="1">
            <a:spLocks noChangeArrowheads="1"/>
          </p:cNvSpPr>
          <p:nvPr/>
        </p:nvSpPr>
        <p:spPr bwMode="auto">
          <a:xfrm>
            <a:off x="1475697" y="2447499"/>
            <a:ext cx="6985934" cy="1250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algn="ctr">
              <a:lnSpc>
                <a:spcPct val="114000"/>
              </a:lnSpc>
            </a:pPr>
            <a:r>
              <a:rPr lang="en-US" altLang="zh-CN" sz="6600" b="1" dirty="0">
                <a:solidFill>
                  <a:srgbClr val="00C4F0"/>
                </a:solidFill>
                <a:latin typeface="微软雅黑" pitchFamily="34" charset="-122"/>
                <a:ea typeface="微软雅黑" pitchFamily="34" charset="-122"/>
              </a:rPr>
              <a:t>80386</a:t>
            </a:r>
            <a:r>
              <a:rPr lang="zh-CN" altLang="en-US" sz="6600" b="1" dirty="0">
                <a:solidFill>
                  <a:srgbClr val="00C4F0"/>
                </a:solidFill>
                <a:latin typeface="微软雅黑" pitchFamily="34" charset="-122"/>
                <a:ea typeface="微软雅黑" pitchFamily="34" charset="-122"/>
              </a:rPr>
              <a:t>存储器管理</a:t>
            </a:r>
            <a:endParaRPr lang="zh-CN" altLang="en-US" sz="8000" b="1" dirty="0">
              <a:solidFill>
                <a:srgbClr val="00C4F0"/>
              </a:solidFill>
              <a:latin typeface="微软雅黑" pitchFamily="34" charset="-122"/>
              <a:ea typeface="微软雅黑" pitchFamily="34" charset="-122"/>
            </a:endParaRPr>
          </a:p>
        </p:txBody>
      </p:sp>
    </p:spTree>
    <p:extLst>
      <p:ext uri="{BB962C8B-B14F-4D97-AF65-F5344CB8AC3E}">
        <p14:creationId xmlns:p14="http://schemas.microsoft.com/office/powerpoint/2010/main" val="123045850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500"/>
                                        <p:tgtEl>
                                          <p:spTgt spid="14"/>
                                        </p:tgtEl>
                                      </p:cBhvr>
                                    </p:animEffect>
                                  </p:childTnLst>
                                </p:cTn>
                              </p:par>
                              <p:par>
                                <p:cTn id="8" presetID="1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slide(fromBottom)">
                                      <p:cBhvr>
                                        <p:cTn id="10" dur="500"/>
                                        <p:tgtEl>
                                          <p:spTgt spid="15"/>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1000"/>
                                        <p:tgtEl>
                                          <p:spTgt spid="12"/>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1000" fill="hold"/>
                                        <p:tgtEl>
                                          <p:spTgt spid="16"/>
                                        </p:tgtEl>
                                        <p:attrNameLst>
                                          <p:attrName>ppt_w</p:attrName>
                                        </p:attrNameLst>
                                      </p:cBhvr>
                                      <p:tavLst>
                                        <p:tav tm="0">
                                          <p:val>
                                            <p:fltVal val="0"/>
                                          </p:val>
                                        </p:tav>
                                        <p:tav tm="100000">
                                          <p:val>
                                            <p:strVal val="#ppt_w"/>
                                          </p:val>
                                        </p:tav>
                                      </p:tavLst>
                                    </p:anim>
                                    <p:anim calcmode="lin" valueType="num">
                                      <p:cBhvr>
                                        <p:cTn id="18" dur="1000" fill="hold"/>
                                        <p:tgtEl>
                                          <p:spTgt spid="16"/>
                                        </p:tgtEl>
                                        <p:attrNameLst>
                                          <p:attrName>ppt_h</p:attrName>
                                        </p:attrNameLst>
                                      </p:cBhvr>
                                      <p:tavLst>
                                        <p:tav tm="0">
                                          <p:val>
                                            <p:fltVal val="0"/>
                                          </p:val>
                                        </p:tav>
                                        <p:tav tm="100000">
                                          <p:val>
                                            <p:strVal val="#ppt_h"/>
                                          </p:val>
                                        </p:tav>
                                      </p:tavLst>
                                    </p:anim>
                                    <p:animEffect transition="in" filter="fade">
                                      <p:cBhvr>
                                        <p:cTn id="19"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en-US" altLang="zh-CN" sz="3200" b="1" dirty="0">
                <a:solidFill>
                  <a:srgbClr val="00B0F0"/>
                </a:solidFill>
                <a:latin typeface="微软雅黑" pitchFamily="34" charset="-122"/>
                <a:ea typeface="微软雅黑" pitchFamily="34" charset="-122"/>
              </a:rPr>
              <a:t>80386</a:t>
            </a:r>
            <a:r>
              <a:rPr lang="zh-CN" altLang="en-US" sz="3200" b="1" dirty="0">
                <a:solidFill>
                  <a:srgbClr val="00B0F0"/>
                </a:solidFill>
                <a:latin typeface="微软雅黑" pitchFamily="34" charset="-122"/>
                <a:ea typeface="微软雅黑" pitchFamily="34" charset="-122"/>
              </a:rPr>
              <a:t>的分段管理机制</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6" name="圆角矩形 5"/>
          <p:cNvSpPr/>
          <p:nvPr/>
        </p:nvSpPr>
        <p:spPr>
          <a:xfrm>
            <a:off x="2460379" y="1841415"/>
            <a:ext cx="1247525" cy="507464"/>
          </a:xfrm>
          <a:prstGeom prst="roundRect">
            <a:avLst>
              <a:gd name="adj" fmla="val 4357"/>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段寄存器</a:t>
            </a:r>
          </a:p>
        </p:txBody>
      </p:sp>
      <p:sp>
        <p:nvSpPr>
          <p:cNvPr id="7" name="圆角矩形 6"/>
          <p:cNvSpPr/>
          <p:nvPr/>
        </p:nvSpPr>
        <p:spPr>
          <a:xfrm>
            <a:off x="5124674" y="1841415"/>
            <a:ext cx="2520280" cy="507464"/>
          </a:xfrm>
          <a:prstGeom prst="roundRect">
            <a:avLst>
              <a:gd name="adj" fmla="val 4357"/>
            </a:avLst>
          </a:prstGeom>
          <a:solidFill>
            <a:srgbClr val="5DCB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偏移地址</a:t>
            </a:r>
          </a:p>
        </p:txBody>
      </p:sp>
      <p:sp>
        <p:nvSpPr>
          <p:cNvPr id="8" name="矩形 7"/>
          <p:cNvSpPr/>
          <p:nvPr/>
        </p:nvSpPr>
        <p:spPr>
          <a:xfrm>
            <a:off x="2099917" y="1628800"/>
            <a:ext cx="5905500" cy="889575"/>
          </a:xfrm>
          <a:prstGeom prst="rect">
            <a:avLst/>
          </a:prstGeom>
          <a:ln>
            <a:solidFill>
              <a:srgbClr val="36B2E6"/>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 name="右箭头 8"/>
          <p:cNvSpPr/>
          <p:nvPr/>
        </p:nvSpPr>
        <p:spPr>
          <a:xfrm rot="5400000">
            <a:off x="4800644" y="2492902"/>
            <a:ext cx="540048" cy="612068"/>
          </a:xfrm>
          <a:prstGeom prst="rightArrow">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0" name="圆角矩形 9"/>
          <p:cNvSpPr/>
          <p:nvPr/>
        </p:nvSpPr>
        <p:spPr>
          <a:xfrm>
            <a:off x="3851920" y="3212975"/>
            <a:ext cx="2520280" cy="507464"/>
          </a:xfrm>
          <a:prstGeom prst="roundRect">
            <a:avLst>
              <a:gd name="adj" fmla="val 4357"/>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段基地址</a:t>
            </a:r>
          </a:p>
        </p:txBody>
      </p:sp>
      <p:sp>
        <p:nvSpPr>
          <p:cNvPr id="11" name="圆角矩形 10"/>
          <p:cNvSpPr/>
          <p:nvPr/>
        </p:nvSpPr>
        <p:spPr>
          <a:xfrm>
            <a:off x="3851920" y="4002488"/>
            <a:ext cx="2520280" cy="507464"/>
          </a:xfrm>
          <a:prstGeom prst="roundRect">
            <a:avLst>
              <a:gd name="adj" fmla="val 4357"/>
            </a:avLst>
          </a:prstGeom>
          <a:solidFill>
            <a:srgbClr val="5DCB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偏移地址</a:t>
            </a:r>
          </a:p>
        </p:txBody>
      </p:sp>
      <p:sp>
        <p:nvSpPr>
          <p:cNvPr id="13" name="十字形 12"/>
          <p:cNvSpPr/>
          <p:nvPr/>
        </p:nvSpPr>
        <p:spPr>
          <a:xfrm>
            <a:off x="3083222" y="4077071"/>
            <a:ext cx="432048" cy="432048"/>
          </a:xfrm>
          <a:prstGeom prst="plus">
            <a:avLst/>
          </a:prstGeom>
          <a:solidFill>
            <a:srgbClr val="FD7A2A"/>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4" name="矩形 13"/>
          <p:cNvSpPr/>
          <p:nvPr/>
        </p:nvSpPr>
        <p:spPr>
          <a:xfrm>
            <a:off x="2100338" y="3068960"/>
            <a:ext cx="5905500" cy="1656183"/>
          </a:xfrm>
          <a:prstGeom prst="rect">
            <a:avLst/>
          </a:prstGeom>
          <a:ln>
            <a:solidFill>
              <a:srgbClr val="36B2E6"/>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1242607" y="1809690"/>
            <a:ext cx="646331" cy="646331"/>
          </a:xfrm>
          <a:prstGeom prst="rect">
            <a:avLst/>
          </a:prstGeom>
        </p:spPr>
        <p:txBody>
          <a:bodyPr wrap="none">
            <a:spAutoFit/>
          </a:bodyPr>
          <a:lstStyle/>
          <a:p>
            <a:r>
              <a:rPr lang="zh-CN" altLang="en-US" b="1" dirty="0">
                <a:solidFill>
                  <a:srgbClr val="FF3255"/>
                </a:solidFill>
                <a:latin typeface="微软雅黑" pitchFamily="34" charset="-122"/>
                <a:ea typeface="微软雅黑" pitchFamily="34" charset="-122"/>
              </a:rPr>
              <a:t>逻辑</a:t>
            </a:r>
            <a:endParaRPr lang="en-US" altLang="zh-CN" b="1" dirty="0">
              <a:solidFill>
                <a:srgbClr val="FF3255"/>
              </a:solidFill>
              <a:latin typeface="微软雅黑" pitchFamily="34" charset="-122"/>
              <a:ea typeface="微软雅黑" pitchFamily="34" charset="-122"/>
            </a:endParaRPr>
          </a:p>
          <a:p>
            <a:r>
              <a:rPr lang="zh-CN" altLang="en-US" b="1" dirty="0">
                <a:solidFill>
                  <a:srgbClr val="FF3255"/>
                </a:solidFill>
                <a:latin typeface="微软雅黑" pitchFamily="34" charset="-122"/>
                <a:ea typeface="微软雅黑" pitchFamily="34" charset="-122"/>
              </a:rPr>
              <a:t>地址</a:t>
            </a:r>
            <a:endParaRPr lang="zh-CN" altLang="en-US" dirty="0">
              <a:solidFill>
                <a:srgbClr val="FF3255"/>
              </a:solidFill>
              <a:latin typeface="微软雅黑" panose="020B0503020204020204" pitchFamily="34" charset="-122"/>
              <a:ea typeface="微软雅黑" panose="020B0503020204020204" pitchFamily="34" charset="-122"/>
            </a:endParaRPr>
          </a:p>
        </p:txBody>
      </p:sp>
      <p:sp>
        <p:nvSpPr>
          <p:cNvPr id="16" name="矩形 15"/>
          <p:cNvSpPr/>
          <p:nvPr/>
        </p:nvSpPr>
        <p:spPr>
          <a:xfrm>
            <a:off x="1242607" y="3609889"/>
            <a:ext cx="646331" cy="646331"/>
          </a:xfrm>
          <a:prstGeom prst="rect">
            <a:avLst/>
          </a:prstGeom>
        </p:spPr>
        <p:txBody>
          <a:bodyPr wrap="none">
            <a:spAutoFit/>
          </a:bodyPr>
          <a:lstStyle/>
          <a:p>
            <a:r>
              <a:rPr lang="zh-CN" altLang="en-US" b="1" dirty="0">
                <a:solidFill>
                  <a:srgbClr val="FF3255"/>
                </a:solidFill>
                <a:latin typeface="微软雅黑" pitchFamily="34" charset="-122"/>
                <a:ea typeface="微软雅黑" pitchFamily="34" charset="-122"/>
              </a:rPr>
              <a:t>线性</a:t>
            </a:r>
            <a:endParaRPr lang="en-US" altLang="zh-CN" b="1" dirty="0">
              <a:solidFill>
                <a:srgbClr val="FF3255"/>
              </a:solidFill>
              <a:latin typeface="微软雅黑" pitchFamily="34" charset="-122"/>
              <a:ea typeface="微软雅黑" pitchFamily="34" charset="-122"/>
            </a:endParaRPr>
          </a:p>
          <a:p>
            <a:r>
              <a:rPr lang="zh-CN" altLang="en-US" b="1" dirty="0">
                <a:solidFill>
                  <a:srgbClr val="FF3255"/>
                </a:solidFill>
                <a:latin typeface="微软雅黑" pitchFamily="34" charset="-122"/>
                <a:ea typeface="微软雅黑" pitchFamily="34" charset="-122"/>
              </a:rPr>
              <a:t>地址</a:t>
            </a:r>
            <a:endParaRPr lang="zh-CN" altLang="en-US" dirty="0">
              <a:solidFill>
                <a:srgbClr val="FF3255"/>
              </a:solidFill>
              <a:latin typeface="微软雅黑" panose="020B0503020204020204" pitchFamily="34" charset="-122"/>
              <a:ea typeface="微软雅黑" panose="020B0503020204020204" pitchFamily="34" charset="-122"/>
            </a:endParaRPr>
          </a:p>
        </p:txBody>
      </p:sp>
      <p:sp>
        <p:nvSpPr>
          <p:cNvPr id="17" name="矩形 16"/>
          <p:cNvSpPr/>
          <p:nvPr/>
        </p:nvSpPr>
        <p:spPr>
          <a:xfrm>
            <a:off x="685054" y="5183694"/>
            <a:ext cx="7773469" cy="667072"/>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latin typeface="微软雅黑" panose="020B0503020204020204" pitchFamily="34" charset="-122"/>
                <a:ea typeface="微软雅黑" panose="020B0503020204020204" pitchFamily="34" charset="-122"/>
              </a:rPr>
              <a:t>段基地址由段寄存器间接获取，偏移地址由指令中的寻址方式获取。</a:t>
            </a:r>
          </a:p>
        </p:txBody>
      </p:sp>
    </p:spTree>
    <p:extLst>
      <p:ext uri="{BB962C8B-B14F-4D97-AF65-F5344CB8AC3E}">
        <p14:creationId xmlns:p14="http://schemas.microsoft.com/office/powerpoint/2010/main" val="2092632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ine 1602"/>
          <p:cNvSpPr>
            <a:spLocks noChangeShapeType="1"/>
          </p:cNvSpPr>
          <p:nvPr/>
        </p:nvSpPr>
        <p:spPr bwMode="auto">
          <a:xfrm>
            <a:off x="3922930" y="6269434"/>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solidFill>
                <a:prstClr val="black"/>
              </a:solidFill>
              <a:latin typeface="Impact" pitchFamily="34" charset="0"/>
              <a:ea typeface="微软雅黑" pitchFamily="34" charset="-122"/>
            </a:endParaRPr>
          </a:p>
        </p:txBody>
      </p:sp>
      <p:sp>
        <p:nvSpPr>
          <p:cNvPr id="11" name="Line 1603"/>
          <p:cNvSpPr>
            <a:spLocks noChangeShapeType="1"/>
          </p:cNvSpPr>
          <p:nvPr/>
        </p:nvSpPr>
        <p:spPr bwMode="auto">
          <a:xfrm>
            <a:off x="3922930" y="6269434"/>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solidFill>
                <a:prstClr val="black"/>
              </a:solidFill>
              <a:latin typeface="Impact" pitchFamily="34" charset="0"/>
              <a:ea typeface="微软雅黑" pitchFamily="34" charset="-122"/>
            </a:endParaRPr>
          </a:p>
        </p:txBody>
      </p:sp>
      <p:sp>
        <p:nvSpPr>
          <p:cNvPr id="12" name="Oval 2713"/>
          <p:cNvSpPr>
            <a:spLocks noChangeArrowheads="1"/>
          </p:cNvSpPr>
          <p:nvPr/>
        </p:nvSpPr>
        <p:spPr bwMode="auto">
          <a:xfrm>
            <a:off x="2867399" y="4726384"/>
            <a:ext cx="2763838" cy="630238"/>
          </a:xfrm>
          <a:prstGeom prst="ellipse">
            <a:avLst/>
          </a:prstGeom>
          <a:solidFill>
            <a:srgbClr val="EEECE1">
              <a:alpha val="36862"/>
            </a:srgbClr>
          </a:solidFill>
          <a:ln>
            <a:noFill/>
          </a:ln>
          <a:effectLst/>
          <a:extLst>
            <a:ext uri="{91240B29-F687-4F45-9708-019B960494DF}">
              <a14:hiddenLine xmlns:a14="http://schemas.microsoft.com/office/drawing/2010/main" w="9525">
                <a:solidFill>
                  <a:srgbClr val="99FF66"/>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kern="0" dirty="0">
              <a:solidFill>
                <a:sysClr val="windowText" lastClr="000000"/>
              </a:solidFill>
              <a:latin typeface="Impact" pitchFamily="34" charset="0"/>
              <a:ea typeface="微软雅黑" pitchFamily="34" charset="-122"/>
            </a:endParaRPr>
          </a:p>
        </p:txBody>
      </p:sp>
      <p:sp>
        <p:nvSpPr>
          <p:cNvPr id="13" name="Line 1602"/>
          <p:cNvSpPr>
            <a:spLocks noChangeShapeType="1"/>
          </p:cNvSpPr>
          <p:nvPr/>
        </p:nvSpPr>
        <p:spPr bwMode="auto">
          <a:xfrm>
            <a:off x="3980237" y="6269434"/>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solidFill>
                <a:prstClr val="black"/>
              </a:solidFill>
              <a:latin typeface="Impact" pitchFamily="34" charset="0"/>
              <a:ea typeface="微软雅黑" pitchFamily="34" charset="-122"/>
            </a:endParaRPr>
          </a:p>
        </p:txBody>
      </p:sp>
      <p:sp>
        <p:nvSpPr>
          <p:cNvPr id="14" name="Line 1603"/>
          <p:cNvSpPr>
            <a:spLocks noChangeShapeType="1"/>
          </p:cNvSpPr>
          <p:nvPr/>
        </p:nvSpPr>
        <p:spPr bwMode="auto">
          <a:xfrm>
            <a:off x="3980237" y="6269434"/>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solidFill>
                <a:prstClr val="black"/>
              </a:solidFill>
              <a:latin typeface="Impact" pitchFamily="34" charset="0"/>
              <a:ea typeface="微软雅黑" pitchFamily="34" charset="-122"/>
            </a:endParaRPr>
          </a:p>
        </p:txBody>
      </p:sp>
      <p:grpSp>
        <p:nvGrpSpPr>
          <p:cNvPr id="15" name="组合 14"/>
          <p:cNvGrpSpPr/>
          <p:nvPr/>
        </p:nvGrpSpPr>
        <p:grpSpPr>
          <a:xfrm>
            <a:off x="3650452" y="3861891"/>
            <a:ext cx="3860462" cy="2490698"/>
            <a:chOff x="6916551" y="3480392"/>
            <a:chExt cx="3860462" cy="2490698"/>
          </a:xfrm>
        </p:grpSpPr>
        <p:sp>
          <p:nvSpPr>
            <p:cNvPr id="16" name="TextBox 19"/>
            <p:cNvSpPr txBox="1">
              <a:spLocks noChangeArrowheads="1"/>
            </p:cNvSpPr>
            <p:nvPr/>
          </p:nvSpPr>
          <p:spPr bwMode="auto">
            <a:xfrm>
              <a:off x="6916551" y="5131611"/>
              <a:ext cx="1728238"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r" defTabSz="914400" eaLnBrk="1" fontAlgn="auto" latinLnBrk="0" hangingPunct="1">
                <a:lnSpc>
                  <a:spcPct val="12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B0F0"/>
                  </a:solidFill>
                  <a:effectLst/>
                  <a:uLnTx/>
                  <a:uFillTx/>
                  <a:latin typeface="微软雅黑" pitchFamily="34" charset="-122"/>
                  <a:ea typeface="微软雅黑" pitchFamily="34" charset="-122"/>
                </a:rPr>
                <a:t>段保护属性</a:t>
              </a:r>
            </a:p>
          </p:txBody>
        </p:sp>
        <p:cxnSp>
          <p:nvCxnSpPr>
            <p:cNvPr id="17" name="直接连接符 16"/>
            <p:cNvCxnSpPr/>
            <p:nvPr/>
          </p:nvCxnSpPr>
          <p:spPr>
            <a:xfrm>
              <a:off x="8667735" y="3480392"/>
              <a:ext cx="0" cy="2108848"/>
            </a:xfrm>
            <a:prstGeom prst="line">
              <a:avLst/>
            </a:prstGeom>
            <a:noFill/>
            <a:ln w="9525" cap="flat" cmpd="sng" algn="ctr">
              <a:solidFill>
                <a:srgbClr val="F79646">
                  <a:shade val="95000"/>
                  <a:satMod val="105000"/>
                </a:srgbClr>
              </a:solidFill>
              <a:prstDash val="solid"/>
              <a:headEnd type="oval"/>
              <a:tailEnd type="oval"/>
            </a:ln>
            <a:effectLst>
              <a:outerShdw blurRad="50800" dist="38100" dir="5400000" algn="t" rotWithShape="0">
                <a:prstClr val="black">
                  <a:alpha val="40000"/>
                </a:prstClr>
              </a:outerShdw>
            </a:effectLst>
          </p:spPr>
        </p:cxnSp>
        <p:sp>
          <p:nvSpPr>
            <p:cNvPr id="18" name="Rectangle 17"/>
            <p:cNvSpPr>
              <a:spLocks noChangeArrowheads="1"/>
            </p:cNvSpPr>
            <p:nvPr/>
          </p:nvSpPr>
          <p:spPr bwMode="auto">
            <a:xfrm>
              <a:off x="8687494" y="5213960"/>
              <a:ext cx="2089519" cy="757130"/>
            </a:xfrm>
            <a:prstGeom prst="rect">
              <a:avLst/>
            </a:prstGeom>
            <a:noFill/>
            <a:ln w="9525">
              <a:noFill/>
              <a:miter lim="800000"/>
              <a:headEnd/>
              <a:tailEnd/>
            </a:ln>
            <a:effectLst/>
          </p:spPr>
          <p:txBody>
            <a:bodyPr wrap="square">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b="0" i="0" u="none" strike="noStrike" kern="0" cap="none" spc="0" normalizeH="0" baseline="0" noProof="0" dirty="0">
                  <a:ln>
                    <a:noFill/>
                  </a:ln>
                  <a:solidFill>
                    <a:prstClr val="white">
                      <a:lumMod val="50000"/>
                    </a:prstClr>
                  </a:solidFill>
                  <a:effectLst/>
                  <a:uLnTx/>
                  <a:uFillTx/>
                  <a:latin typeface="微软雅黑" pitchFamily="34" charset="-122"/>
                  <a:ea typeface="微软雅黑" pitchFamily="34" charset="-122"/>
                </a:rPr>
                <a:t>段的特性，如读写可执行及特权级</a:t>
              </a:r>
            </a:p>
          </p:txBody>
        </p:sp>
      </p:grpSp>
      <p:grpSp>
        <p:nvGrpSpPr>
          <p:cNvPr id="19" name="组合 18"/>
          <p:cNvGrpSpPr/>
          <p:nvPr/>
        </p:nvGrpSpPr>
        <p:grpSpPr>
          <a:xfrm>
            <a:off x="5257620" y="2861259"/>
            <a:ext cx="2253294" cy="1318182"/>
            <a:chOff x="8523719" y="2479760"/>
            <a:chExt cx="2253294" cy="1318182"/>
          </a:xfrm>
        </p:grpSpPr>
        <p:cxnSp>
          <p:nvCxnSpPr>
            <p:cNvPr id="20" name="直接连接符 19"/>
            <p:cNvCxnSpPr/>
            <p:nvPr/>
          </p:nvCxnSpPr>
          <p:spPr>
            <a:xfrm>
              <a:off x="8523719" y="2976336"/>
              <a:ext cx="2179999" cy="0"/>
            </a:xfrm>
            <a:prstGeom prst="line">
              <a:avLst/>
            </a:prstGeom>
            <a:noFill/>
            <a:ln w="9525" cap="flat" cmpd="sng" algn="ctr">
              <a:solidFill>
                <a:srgbClr val="F79646">
                  <a:shade val="95000"/>
                  <a:satMod val="105000"/>
                </a:srgbClr>
              </a:solidFill>
              <a:prstDash val="solid"/>
              <a:headEnd type="oval"/>
              <a:tailEnd type="oval"/>
            </a:ln>
            <a:effectLst>
              <a:outerShdw blurRad="50800" dist="38100" dir="5400000" algn="t" rotWithShape="0">
                <a:prstClr val="black">
                  <a:alpha val="40000"/>
                </a:prstClr>
              </a:outerShdw>
            </a:effectLst>
          </p:spPr>
        </p:cxnSp>
        <p:sp>
          <p:nvSpPr>
            <p:cNvPr id="21" name="TextBox 19"/>
            <p:cNvSpPr txBox="1">
              <a:spLocks noChangeArrowheads="1"/>
            </p:cNvSpPr>
            <p:nvPr/>
          </p:nvSpPr>
          <p:spPr bwMode="auto">
            <a:xfrm>
              <a:off x="8975480" y="2479760"/>
              <a:ext cx="1728238"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r" defTabSz="914400" eaLnBrk="1" fontAlgn="auto" latinLnBrk="0" hangingPunct="1">
                <a:lnSpc>
                  <a:spcPct val="12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B0F0"/>
                  </a:solidFill>
                  <a:effectLst/>
                  <a:uLnTx/>
                  <a:uFillTx/>
                  <a:latin typeface="微软雅黑" pitchFamily="34" charset="-122"/>
                  <a:ea typeface="微软雅黑" pitchFamily="34" charset="-122"/>
                </a:rPr>
                <a:t>段的界限</a:t>
              </a:r>
            </a:p>
          </p:txBody>
        </p:sp>
        <p:sp>
          <p:nvSpPr>
            <p:cNvPr id="22" name="Rectangle 17"/>
            <p:cNvSpPr>
              <a:spLocks noChangeArrowheads="1"/>
            </p:cNvSpPr>
            <p:nvPr/>
          </p:nvSpPr>
          <p:spPr bwMode="auto">
            <a:xfrm>
              <a:off x="8975480" y="3068960"/>
              <a:ext cx="1801533" cy="728982"/>
            </a:xfrm>
            <a:prstGeom prst="rect">
              <a:avLst/>
            </a:prstGeom>
            <a:noFill/>
            <a:ln w="9525">
              <a:noFill/>
              <a:miter lim="800000"/>
              <a:headEnd/>
              <a:tailEnd/>
            </a:ln>
            <a:effectLst/>
          </p:spPr>
          <p:txBody>
            <a:bodyPr wrap="square">
              <a:spAutoFit/>
            </a:bodyPr>
            <a:lstStyle/>
            <a:p>
              <a:pPr marL="0" marR="0" lvl="0" indent="0" algn="r" defTabSz="914400" eaLnBrk="1" fontAlgn="auto" latinLnBrk="0" hangingPunct="1">
                <a:lnSpc>
                  <a:spcPct val="120000"/>
                </a:lnSpc>
                <a:spcBef>
                  <a:spcPts val="0"/>
                </a:spcBef>
                <a:spcAft>
                  <a:spcPts val="0"/>
                </a:spcAft>
                <a:buClrTx/>
                <a:buSzTx/>
                <a:buFontTx/>
                <a:buNone/>
                <a:tabLst/>
                <a:defRPr/>
              </a:pPr>
              <a:r>
                <a:rPr kumimoji="0" lang="zh-CN" altLang="en-US" b="0" i="0" u="none" strike="noStrike" kern="0" cap="none" spc="0" normalizeH="0" baseline="0" noProof="0" dirty="0">
                  <a:ln>
                    <a:noFill/>
                  </a:ln>
                  <a:solidFill>
                    <a:prstClr val="white">
                      <a:lumMod val="50000"/>
                    </a:prstClr>
                  </a:solidFill>
                  <a:effectLst/>
                  <a:uLnTx/>
                  <a:uFillTx/>
                  <a:latin typeface="微软雅黑" pitchFamily="34" charset="-122"/>
                  <a:ea typeface="微软雅黑" pitchFamily="34" charset="-122"/>
                </a:rPr>
                <a:t>线性空间中段内可用最大偏移量</a:t>
              </a:r>
            </a:p>
          </p:txBody>
        </p:sp>
      </p:grpSp>
      <p:grpSp>
        <p:nvGrpSpPr>
          <p:cNvPr id="23" name="组合 22"/>
          <p:cNvGrpSpPr/>
          <p:nvPr/>
        </p:nvGrpSpPr>
        <p:grpSpPr>
          <a:xfrm>
            <a:off x="827584" y="3092682"/>
            <a:ext cx="2089566" cy="1365781"/>
            <a:chOff x="4093683" y="2711183"/>
            <a:chExt cx="2089566" cy="1365781"/>
          </a:xfrm>
        </p:grpSpPr>
        <p:grpSp>
          <p:nvGrpSpPr>
            <p:cNvPr id="24" name="组合 23"/>
            <p:cNvGrpSpPr/>
            <p:nvPr/>
          </p:nvGrpSpPr>
          <p:grpSpPr>
            <a:xfrm>
              <a:off x="4093683" y="2711183"/>
              <a:ext cx="2089566" cy="542296"/>
              <a:chOff x="1213067" y="2711183"/>
              <a:chExt cx="2089566" cy="542296"/>
            </a:xfrm>
          </p:grpSpPr>
          <p:sp>
            <p:nvSpPr>
              <p:cNvPr id="26" name="TextBox 19"/>
              <p:cNvSpPr txBox="1">
                <a:spLocks noChangeArrowheads="1"/>
              </p:cNvSpPr>
              <p:nvPr/>
            </p:nvSpPr>
            <p:spPr bwMode="auto">
              <a:xfrm>
                <a:off x="1213067" y="2711183"/>
                <a:ext cx="1728238"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B0F0"/>
                    </a:solidFill>
                    <a:effectLst/>
                    <a:uLnTx/>
                    <a:uFillTx/>
                    <a:latin typeface="微软雅黑" pitchFamily="34" charset="-122"/>
                    <a:ea typeface="微软雅黑" pitchFamily="34" charset="-122"/>
                  </a:rPr>
                  <a:t>段基地址</a:t>
                </a:r>
              </a:p>
            </p:txBody>
          </p:sp>
          <p:cxnSp>
            <p:nvCxnSpPr>
              <p:cNvPr id="27" name="直接连接符 26"/>
              <p:cNvCxnSpPr/>
              <p:nvPr/>
            </p:nvCxnSpPr>
            <p:spPr>
              <a:xfrm flipH="1">
                <a:off x="1213067" y="3253479"/>
                <a:ext cx="2089566" cy="0"/>
              </a:xfrm>
              <a:prstGeom prst="line">
                <a:avLst/>
              </a:prstGeom>
              <a:noFill/>
              <a:ln w="9525" cap="flat" cmpd="sng" algn="ctr">
                <a:solidFill>
                  <a:srgbClr val="F79646">
                    <a:shade val="95000"/>
                    <a:satMod val="105000"/>
                  </a:srgbClr>
                </a:solidFill>
                <a:prstDash val="solid"/>
                <a:headEnd type="oval"/>
                <a:tailEnd type="oval"/>
              </a:ln>
              <a:effectLst>
                <a:outerShdw blurRad="50800" dist="38100" dir="5400000" algn="t" rotWithShape="0">
                  <a:prstClr val="black">
                    <a:alpha val="40000"/>
                  </a:prstClr>
                </a:outerShdw>
              </a:effectLst>
            </p:spPr>
          </p:cxnSp>
        </p:grpSp>
        <p:sp>
          <p:nvSpPr>
            <p:cNvPr id="25" name="Rectangle 17"/>
            <p:cNvSpPr>
              <a:spLocks noChangeArrowheads="1"/>
            </p:cNvSpPr>
            <p:nvPr/>
          </p:nvSpPr>
          <p:spPr bwMode="auto">
            <a:xfrm>
              <a:off x="4093683" y="3319834"/>
              <a:ext cx="1801533" cy="757130"/>
            </a:xfrm>
            <a:prstGeom prst="rect">
              <a:avLst/>
            </a:prstGeom>
            <a:noFill/>
            <a:ln w="9525">
              <a:noFill/>
              <a:miter lim="800000"/>
              <a:headEnd/>
              <a:tailEnd/>
            </a:ln>
            <a:effectLst/>
          </p:spPr>
          <p:txBody>
            <a:bodyPr wrap="square">
              <a:spAutoFit/>
            </a:bodyPr>
            <a:lstStyle/>
            <a:p>
              <a:pPr lvl="0">
                <a:lnSpc>
                  <a:spcPct val="120000"/>
                </a:lnSpc>
                <a:defRPr/>
              </a:pPr>
              <a:r>
                <a:rPr kumimoji="0" lang="zh-CN" altLang="en-US" b="0" i="0" u="none" strike="noStrike" kern="0" cap="none" spc="0" normalizeH="0" baseline="0" noProof="0" dirty="0">
                  <a:ln>
                    <a:noFill/>
                  </a:ln>
                  <a:solidFill>
                    <a:prstClr val="white">
                      <a:lumMod val="50000"/>
                    </a:prstClr>
                  </a:solidFill>
                  <a:effectLst/>
                  <a:uLnTx/>
                  <a:uFillTx/>
                  <a:latin typeface="微软雅黑" pitchFamily="34" charset="-122"/>
                  <a:ea typeface="微软雅黑" pitchFamily="34" charset="-122"/>
                </a:rPr>
                <a:t>在线性</a:t>
              </a:r>
              <a:r>
                <a:rPr lang="zh-CN" altLang="en-US" kern="0" dirty="0">
                  <a:solidFill>
                    <a:prstClr val="white">
                      <a:lumMod val="50000"/>
                    </a:prstClr>
                  </a:solidFill>
                  <a:latin typeface="微软雅黑" pitchFamily="34" charset="-122"/>
                  <a:ea typeface="微软雅黑" pitchFamily="34" charset="-122"/>
                </a:rPr>
                <a:t>地址空间中段的起始</a:t>
              </a:r>
              <a:r>
                <a:rPr kumimoji="0" lang="zh-CN" altLang="en-US" b="0" i="0" u="none" strike="noStrike" kern="0" cap="none" spc="0" normalizeH="0" baseline="0" noProof="0" dirty="0">
                  <a:ln>
                    <a:noFill/>
                  </a:ln>
                  <a:solidFill>
                    <a:prstClr val="white">
                      <a:lumMod val="50000"/>
                    </a:prstClr>
                  </a:solidFill>
                  <a:effectLst/>
                  <a:uLnTx/>
                  <a:uFillTx/>
                  <a:latin typeface="微软雅黑" pitchFamily="34" charset="-122"/>
                  <a:ea typeface="微软雅黑" pitchFamily="34" charset="-122"/>
                </a:rPr>
                <a:t>地址</a:t>
              </a:r>
            </a:p>
          </p:txBody>
        </p:sp>
      </p:grpSp>
      <p:sp>
        <p:nvSpPr>
          <p:cNvPr id="28" name="深色2"/>
          <p:cNvSpPr>
            <a:spLocks/>
          </p:cNvSpPr>
          <p:nvPr/>
        </p:nvSpPr>
        <p:spPr bwMode="auto">
          <a:xfrm>
            <a:off x="3508749" y="2276872"/>
            <a:ext cx="2249488" cy="1331912"/>
          </a:xfrm>
          <a:custGeom>
            <a:avLst/>
            <a:gdLst>
              <a:gd name="T0" fmla="*/ 0 w 1296"/>
              <a:gd name="T1" fmla="*/ 0 h 768"/>
              <a:gd name="T2" fmla="*/ 2147483647 w 1296"/>
              <a:gd name="T3" fmla="*/ 2147483647 h 768"/>
              <a:gd name="T4" fmla="*/ 2147483647 w 1296"/>
              <a:gd name="T5" fmla="*/ 2147483647 h 768"/>
              <a:gd name="T6" fmla="*/ 2147483647 w 1296"/>
              <a:gd name="T7" fmla="*/ 0 h 768"/>
              <a:gd name="T8" fmla="*/ 0 w 1296"/>
              <a:gd name="T9" fmla="*/ 0 h 7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768">
                <a:moveTo>
                  <a:pt x="0" y="0"/>
                </a:moveTo>
                <a:lnTo>
                  <a:pt x="432" y="768"/>
                </a:lnTo>
                <a:lnTo>
                  <a:pt x="1296" y="768"/>
                </a:lnTo>
                <a:lnTo>
                  <a:pt x="864" y="0"/>
                </a:lnTo>
                <a:lnTo>
                  <a:pt x="0" y="0"/>
                </a:lnTo>
                <a:close/>
              </a:path>
            </a:pathLst>
          </a:custGeom>
          <a:gradFill>
            <a:gsLst>
              <a:gs pos="100000">
                <a:srgbClr val="2676FF">
                  <a:lumMod val="60000"/>
                  <a:lumOff val="40000"/>
                </a:srgbClr>
              </a:gs>
              <a:gs pos="0">
                <a:srgbClr val="2676FF"/>
              </a:gs>
            </a:gsLst>
            <a:lin ang="16200000" scaled="0"/>
          </a:gradFill>
          <a:ln w="3175" cap="flat" cmpd="sng" algn="ctr">
            <a:noFill/>
            <a:prstDash val="solid"/>
          </a:ln>
          <a:effectLst/>
        </p:spPr>
        <p:txBody>
          <a:bodyPr vert="eaVert" anchor="ctr"/>
          <a:lstStyle/>
          <a:p>
            <a:pPr>
              <a:defRPr/>
            </a:pPr>
            <a:endParaRPr lang="zh-CN" altLang="en-US" sz="3200" kern="0" dirty="0">
              <a:solidFill>
                <a:sysClr val="window" lastClr="FFFFFF"/>
              </a:solidFill>
              <a:latin typeface="微软雅黑" pitchFamily="34" charset="-122"/>
              <a:ea typeface="微软雅黑" pitchFamily="34" charset="-122"/>
            </a:endParaRPr>
          </a:p>
        </p:txBody>
      </p:sp>
      <p:sp>
        <p:nvSpPr>
          <p:cNvPr id="29" name="深色1"/>
          <p:cNvSpPr>
            <a:spLocks/>
          </p:cNvSpPr>
          <p:nvPr/>
        </p:nvSpPr>
        <p:spPr bwMode="auto">
          <a:xfrm>
            <a:off x="2686424" y="2302272"/>
            <a:ext cx="1500188" cy="2665412"/>
          </a:xfrm>
          <a:custGeom>
            <a:avLst/>
            <a:gdLst>
              <a:gd name="T0" fmla="*/ 0 w 864"/>
              <a:gd name="T1" fmla="*/ 2147483647 h 1536"/>
              <a:gd name="T2" fmla="*/ 2147483647 w 864"/>
              <a:gd name="T3" fmla="*/ 2147483647 h 1536"/>
              <a:gd name="T4" fmla="*/ 2147483647 w 864"/>
              <a:gd name="T5" fmla="*/ 2147483647 h 1536"/>
              <a:gd name="T6" fmla="*/ 2147483647 w 864"/>
              <a:gd name="T7" fmla="*/ 0 h 1536"/>
              <a:gd name="T8" fmla="*/ 0 w 864"/>
              <a:gd name="T9" fmla="*/ 2147483647 h 15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4" h="1536">
                <a:moveTo>
                  <a:pt x="0" y="768"/>
                </a:moveTo>
                <a:lnTo>
                  <a:pt x="432" y="1536"/>
                </a:lnTo>
                <a:lnTo>
                  <a:pt x="864" y="768"/>
                </a:lnTo>
                <a:lnTo>
                  <a:pt x="432" y="0"/>
                </a:lnTo>
                <a:lnTo>
                  <a:pt x="0" y="768"/>
                </a:lnTo>
                <a:close/>
              </a:path>
            </a:pathLst>
          </a:custGeom>
          <a:gradFill>
            <a:gsLst>
              <a:gs pos="100000">
                <a:srgbClr val="2676FF">
                  <a:lumMod val="60000"/>
                  <a:lumOff val="40000"/>
                </a:srgbClr>
              </a:gs>
              <a:gs pos="0">
                <a:srgbClr val="2676FF"/>
              </a:gs>
            </a:gsLst>
            <a:lin ang="16200000" scaled="0"/>
          </a:gradFill>
          <a:ln w="3175" cap="flat" cmpd="sng" algn="ctr">
            <a:noFill/>
            <a:prstDash val="solid"/>
          </a:ln>
          <a:effectLst/>
        </p:spPr>
        <p:txBody>
          <a:bodyPr vert="eaVert" anchor="ctr"/>
          <a:lstStyle/>
          <a:p>
            <a:pPr>
              <a:defRPr/>
            </a:pPr>
            <a:endParaRPr lang="zh-CN" altLang="en-US" sz="3200" kern="0" dirty="0">
              <a:solidFill>
                <a:sysClr val="window" lastClr="FFFFFF"/>
              </a:solidFill>
              <a:latin typeface="微软雅黑" pitchFamily="34" charset="-122"/>
              <a:ea typeface="微软雅黑" pitchFamily="34" charset="-122"/>
            </a:endParaRPr>
          </a:p>
        </p:txBody>
      </p:sp>
      <p:sp>
        <p:nvSpPr>
          <p:cNvPr id="30" name="深色3"/>
          <p:cNvSpPr>
            <a:spLocks/>
          </p:cNvSpPr>
          <p:nvPr/>
        </p:nvSpPr>
        <p:spPr bwMode="auto">
          <a:xfrm>
            <a:off x="3497637" y="3692922"/>
            <a:ext cx="2249487" cy="1335087"/>
          </a:xfrm>
          <a:custGeom>
            <a:avLst/>
            <a:gdLst>
              <a:gd name="T0" fmla="*/ 0 w 1296"/>
              <a:gd name="T1" fmla="*/ 2147483647 h 768"/>
              <a:gd name="T2" fmla="*/ 2147483647 w 1296"/>
              <a:gd name="T3" fmla="*/ 2147483647 h 768"/>
              <a:gd name="T4" fmla="*/ 2147483647 w 1296"/>
              <a:gd name="T5" fmla="*/ 0 h 768"/>
              <a:gd name="T6" fmla="*/ 2147483647 w 1296"/>
              <a:gd name="T7" fmla="*/ 0 h 768"/>
              <a:gd name="T8" fmla="*/ 0 w 1296"/>
              <a:gd name="T9" fmla="*/ 2147483647 h 7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768">
                <a:moveTo>
                  <a:pt x="0" y="768"/>
                </a:moveTo>
                <a:lnTo>
                  <a:pt x="864" y="768"/>
                </a:lnTo>
                <a:lnTo>
                  <a:pt x="1296" y="0"/>
                </a:lnTo>
                <a:lnTo>
                  <a:pt x="432" y="0"/>
                </a:lnTo>
                <a:lnTo>
                  <a:pt x="0" y="768"/>
                </a:lnTo>
                <a:close/>
              </a:path>
            </a:pathLst>
          </a:custGeom>
          <a:gradFill>
            <a:gsLst>
              <a:gs pos="100000">
                <a:srgbClr val="2676FF">
                  <a:lumMod val="60000"/>
                  <a:lumOff val="40000"/>
                </a:srgbClr>
              </a:gs>
              <a:gs pos="0">
                <a:srgbClr val="2676FF"/>
              </a:gs>
            </a:gsLst>
            <a:lin ang="16200000" scaled="0"/>
          </a:gradFill>
          <a:ln w="3175" cap="flat" cmpd="sng" algn="ctr">
            <a:noFill/>
            <a:prstDash val="solid"/>
          </a:ln>
          <a:effectLst/>
        </p:spPr>
        <p:txBody>
          <a:bodyPr vert="eaVert" anchor="ctr"/>
          <a:lstStyle/>
          <a:p>
            <a:pPr>
              <a:defRPr/>
            </a:pPr>
            <a:endParaRPr lang="zh-CN" altLang="en-US" sz="3200" kern="0" dirty="0">
              <a:solidFill>
                <a:sysClr val="window" lastClr="FFFFFF"/>
              </a:solidFill>
              <a:latin typeface="微软雅黑" pitchFamily="34" charset="-122"/>
              <a:ea typeface="微软雅黑" pitchFamily="34" charset="-122"/>
            </a:endParaRPr>
          </a:p>
        </p:txBody>
      </p:sp>
      <p:cxnSp>
        <p:nvCxnSpPr>
          <p:cNvPr id="31" name="直接连接符 30"/>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2"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描述一个段需要的数据结构</a:t>
            </a:r>
            <a:endParaRPr lang="zh-CN" altLang="en-US" sz="3200" b="1" dirty="0">
              <a:solidFill>
                <a:srgbClr val="00C4F0"/>
              </a:solidFill>
              <a:latin typeface="微软雅黑" pitchFamily="34" charset="-122"/>
              <a:ea typeface="微软雅黑" pitchFamily="34" charset="-122"/>
            </a:endParaRPr>
          </a:p>
        </p:txBody>
      </p:sp>
      <p:cxnSp>
        <p:nvCxnSpPr>
          <p:cNvPr id="33" name="直接连接符 3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4" name="矩形 33"/>
          <p:cNvSpPr/>
          <p:nvPr/>
        </p:nvSpPr>
        <p:spPr>
          <a:xfrm>
            <a:off x="421049" y="1346425"/>
            <a:ext cx="8475076" cy="655636"/>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defRPr/>
            </a:pPr>
            <a:r>
              <a:rPr lang="zh-CN" altLang="en-US" sz="2000" dirty="0">
                <a:solidFill>
                  <a:schemeClr val="bg1"/>
                </a:solidFill>
                <a:latin typeface="微软雅黑" pitchFamily="34" charset="-122"/>
                <a:ea typeface="微软雅黑" pitchFamily="34" charset="-122"/>
              </a:rPr>
              <a:t>仅段寄存器来确定段基地址还不够，还需描述段长度、段属性如访问权等。</a:t>
            </a:r>
          </a:p>
        </p:txBody>
      </p:sp>
    </p:spTree>
    <p:extLst>
      <p:ext uri="{BB962C8B-B14F-4D97-AF65-F5344CB8AC3E}">
        <p14:creationId xmlns:p14="http://schemas.microsoft.com/office/powerpoint/2010/main" val="23897417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描述符、描述符表和选择子</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6" name="矩形 5"/>
          <p:cNvSpPr/>
          <p:nvPr/>
        </p:nvSpPr>
        <p:spPr>
          <a:xfrm>
            <a:off x="2051720" y="1598394"/>
            <a:ext cx="6840760" cy="792088"/>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描述段属性的</a:t>
            </a:r>
            <a:r>
              <a:rPr lang="en-US" altLang="zh-CN" sz="2000" b="1" dirty="0">
                <a:ea typeface="微软雅黑" panose="020B0503020204020204" pitchFamily="34" charset="-122"/>
              </a:rPr>
              <a:t>8</a:t>
            </a:r>
            <a:r>
              <a:rPr lang="zh-CN" altLang="en-US" sz="2000" b="1" dirty="0">
                <a:ea typeface="微软雅黑" panose="020B0503020204020204" pitchFamily="34" charset="-122"/>
              </a:rPr>
              <a:t>个字节的存储单元。</a:t>
            </a:r>
          </a:p>
        </p:txBody>
      </p:sp>
      <p:sp>
        <p:nvSpPr>
          <p:cNvPr id="7" name="矩形 6"/>
          <p:cNvSpPr/>
          <p:nvPr/>
        </p:nvSpPr>
        <p:spPr>
          <a:xfrm>
            <a:off x="539552" y="1598394"/>
            <a:ext cx="1512167" cy="79208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ea typeface="微软雅黑" panose="020B0503020204020204" pitchFamily="34" charset="-122"/>
              </a:rPr>
              <a:t>描述符</a:t>
            </a:r>
            <a:endParaRPr lang="zh-CN" altLang="en-US" sz="2400" dirty="0">
              <a:latin typeface="Arial Black" pitchFamily="34" charset="0"/>
              <a:ea typeface="微软雅黑" panose="020B0503020204020204" pitchFamily="34" charset="-122"/>
            </a:endParaRPr>
          </a:p>
        </p:txBody>
      </p:sp>
      <p:sp>
        <p:nvSpPr>
          <p:cNvPr id="8" name="矩形 7"/>
          <p:cNvSpPr/>
          <p:nvPr/>
        </p:nvSpPr>
        <p:spPr>
          <a:xfrm>
            <a:off x="2051720" y="2669222"/>
            <a:ext cx="6840760" cy="792088"/>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存放描述符的特殊段。最大</a:t>
            </a:r>
            <a:r>
              <a:rPr lang="en-US" altLang="zh-CN" sz="2000" b="1" dirty="0">
                <a:ea typeface="微软雅黑" panose="020B0503020204020204" pitchFamily="34" charset="-122"/>
              </a:rPr>
              <a:t>64KB</a:t>
            </a:r>
            <a:r>
              <a:rPr lang="zh-CN" altLang="en-US" sz="2000" b="1" dirty="0">
                <a:ea typeface="微软雅黑" panose="020B0503020204020204" pitchFamily="34" charset="-122"/>
              </a:rPr>
              <a:t>，最多存放</a:t>
            </a:r>
            <a:r>
              <a:rPr lang="en-US" altLang="zh-CN" sz="2000" b="1" dirty="0">
                <a:ea typeface="微软雅黑" panose="020B0503020204020204" pitchFamily="34" charset="-122"/>
              </a:rPr>
              <a:t>8192</a:t>
            </a:r>
            <a:r>
              <a:rPr lang="zh-CN" altLang="en-US" sz="2000" b="1" dirty="0">
                <a:ea typeface="微软雅黑" panose="020B0503020204020204" pitchFamily="34" charset="-122"/>
              </a:rPr>
              <a:t>个描述符。</a:t>
            </a:r>
          </a:p>
        </p:txBody>
      </p:sp>
      <p:sp>
        <p:nvSpPr>
          <p:cNvPr id="9" name="矩形 8"/>
          <p:cNvSpPr/>
          <p:nvPr/>
        </p:nvSpPr>
        <p:spPr>
          <a:xfrm>
            <a:off x="539552" y="2669222"/>
            <a:ext cx="1512167" cy="79208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ea typeface="微软雅黑" panose="020B0503020204020204" pitchFamily="34" charset="-122"/>
              </a:rPr>
              <a:t>描述符表</a:t>
            </a:r>
            <a:endParaRPr lang="zh-CN" altLang="en-US" sz="2400" dirty="0">
              <a:latin typeface="Arial Black" pitchFamily="34" charset="0"/>
              <a:ea typeface="微软雅黑" panose="020B0503020204020204" pitchFamily="34" charset="-122"/>
            </a:endParaRPr>
          </a:p>
        </p:txBody>
      </p:sp>
      <p:sp>
        <p:nvSpPr>
          <p:cNvPr id="10" name="矩形 9"/>
          <p:cNvSpPr/>
          <p:nvPr/>
        </p:nvSpPr>
        <p:spPr>
          <a:xfrm>
            <a:off x="2051719" y="3760400"/>
            <a:ext cx="6840760" cy="792088"/>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ea typeface="微软雅黑" panose="020B0503020204020204" pitchFamily="34" charset="-122"/>
              </a:rPr>
              <a:t>16</a:t>
            </a:r>
            <a:r>
              <a:rPr lang="zh-CN" altLang="en-US" sz="2000" b="1" dirty="0">
                <a:ea typeface="微软雅黑" panose="020B0503020204020204" pitchFamily="34" charset="-122"/>
              </a:rPr>
              <a:t>位段寄存器，其高</a:t>
            </a:r>
            <a:r>
              <a:rPr lang="en-US" altLang="zh-CN" sz="2000" b="1" dirty="0">
                <a:ea typeface="微软雅黑" panose="020B0503020204020204" pitchFamily="34" charset="-122"/>
              </a:rPr>
              <a:t>13</a:t>
            </a:r>
            <a:r>
              <a:rPr lang="zh-CN" altLang="en-US" sz="2000" b="1" dirty="0">
                <a:ea typeface="微软雅黑" panose="020B0503020204020204" pitchFamily="34" charset="-122"/>
              </a:rPr>
              <a:t>位是描述符在描述符表中的索引号。</a:t>
            </a:r>
          </a:p>
        </p:txBody>
      </p:sp>
      <p:sp>
        <p:nvSpPr>
          <p:cNvPr id="11" name="矩形 10"/>
          <p:cNvSpPr/>
          <p:nvPr/>
        </p:nvSpPr>
        <p:spPr>
          <a:xfrm>
            <a:off x="539551" y="3760400"/>
            <a:ext cx="1512167" cy="79208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ea typeface="微软雅黑" panose="020B0503020204020204" pitchFamily="34" charset="-122"/>
              </a:rPr>
              <a:t>段选择子</a:t>
            </a:r>
            <a:endParaRPr lang="zh-CN" altLang="en-US" sz="2400" dirty="0">
              <a:latin typeface="Arial Black" pitchFamily="34" charset="0"/>
              <a:ea typeface="微软雅黑" panose="020B0503020204020204" pitchFamily="34" charset="-122"/>
            </a:endParaRPr>
          </a:p>
        </p:txBody>
      </p:sp>
      <p:sp>
        <p:nvSpPr>
          <p:cNvPr id="12" name="矩形 11"/>
          <p:cNvSpPr/>
          <p:nvPr/>
        </p:nvSpPr>
        <p:spPr>
          <a:xfrm>
            <a:off x="539551" y="4941168"/>
            <a:ext cx="8352928" cy="792088"/>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描述符表分为全局描述符表</a:t>
            </a:r>
            <a:r>
              <a:rPr lang="en-US" altLang="zh-CN" sz="2000" b="1" dirty="0">
                <a:ea typeface="微软雅黑" panose="020B0503020204020204" pitchFamily="34" charset="-122"/>
              </a:rPr>
              <a:t>GDT</a:t>
            </a:r>
            <a:r>
              <a:rPr lang="zh-CN" altLang="en-US" sz="2000" b="1" dirty="0">
                <a:ea typeface="微软雅黑" panose="020B0503020204020204" pitchFamily="34" charset="-122"/>
              </a:rPr>
              <a:t>、局部描述符表</a:t>
            </a:r>
            <a:r>
              <a:rPr lang="en-US" altLang="zh-CN" sz="2000" b="1" dirty="0">
                <a:ea typeface="微软雅黑" panose="020B0503020204020204" pitchFamily="34" charset="-122"/>
              </a:rPr>
              <a:t>LDT</a:t>
            </a:r>
            <a:r>
              <a:rPr lang="zh-CN" altLang="en-US" sz="2000" b="1" dirty="0">
                <a:ea typeface="微软雅黑" panose="020B0503020204020204" pitchFamily="34" charset="-122"/>
              </a:rPr>
              <a:t>和中断描述符表</a:t>
            </a:r>
            <a:r>
              <a:rPr lang="en-US" altLang="zh-CN" sz="2000" b="1" dirty="0">
                <a:ea typeface="微软雅黑" panose="020B0503020204020204" pitchFamily="34" charset="-122"/>
              </a:rPr>
              <a:t>IDT</a:t>
            </a:r>
            <a:r>
              <a:rPr lang="zh-CN" altLang="en-US" sz="2000" b="1" dirty="0">
                <a:ea typeface="微软雅黑" panose="020B0503020204020204" pitchFamily="34" charset="-122"/>
              </a:rPr>
              <a:t>。</a:t>
            </a:r>
          </a:p>
        </p:txBody>
      </p:sp>
    </p:spTree>
    <p:extLst>
      <p:ext uri="{BB962C8B-B14F-4D97-AF65-F5344CB8AC3E}">
        <p14:creationId xmlns:p14="http://schemas.microsoft.com/office/powerpoint/2010/main" val="399054966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保护方式下段基地址的产生</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5" name="矩形 4"/>
          <p:cNvSpPr/>
          <p:nvPr/>
        </p:nvSpPr>
        <p:spPr>
          <a:xfrm>
            <a:off x="1043608" y="2636912"/>
            <a:ext cx="1599780" cy="535524"/>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ea typeface="微软雅黑" panose="020B0503020204020204" pitchFamily="34" charset="-122"/>
              </a:rPr>
              <a:t>代码段选择子</a:t>
            </a:r>
          </a:p>
        </p:txBody>
      </p:sp>
      <p:sp>
        <p:nvSpPr>
          <p:cNvPr id="17" name="矩形 16"/>
          <p:cNvSpPr/>
          <p:nvPr/>
        </p:nvSpPr>
        <p:spPr>
          <a:xfrm>
            <a:off x="6299770" y="1484784"/>
            <a:ext cx="1656606" cy="1454684"/>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ea typeface="微软雅黑" panose="020B0503020204020204" pitchFamily="34" charset="-122"/>
              </a:rPr>
              <a:t>代码段</a:t>
            </a:r>
          </a:p>
        </p:txBody>
      </p:sp>
      <p:sp>
        <p:nvSpPr>
          <p:cNvPr id="35" name="矩形 34"/>
          <p:cNvSpPr/>
          <p:nvPr/>
        </p:nvSpPr>
        <p:spPr>
          <a:xfrm>
            <a:off x="3802246" y="2276872"/>
            <a:ext cx="1273809" cy="302433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ea typeface="微软雅黑" panose="020B0503020204020204" pitchFamily="34" charset="-122"/>
            </a:endParaRPr>
          </a:p>
        </p:txBody>
      </p:sp>
      <p:cxnSp>
        <p:nvCxnSpPr>
          <p:cNvPr id="39" name="直接箭头连接符 38"/>
          <p:cNvCxnSpPr/>
          <p:nvPr/>
        </p:nvCxnSpPr>
        <p:spPr>
          <a:xfrm>
            <a:off x="2643388" y="2893322"/>
            <a:ext cx="1158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3802246" y="2500127"/>
            <a:ext cx="1273809" cy="784855"/>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ea typeface="微软雅黑" panose="020B0503020204020204" pitchFamily="34" charset="-122"/>
              </a:rPr>
              <a:t>段描述符</a:t>
            </a:r>
          </a:p>
        </p:txBody>
      </p:sp>
      <p:cxnSp>
        <p:nvCxnSpPr>
          <p:cNvPr id="42" name="直接箭头连接符 41"/>
          <p:cNvCxnSpPr/>
          <p:nvPr/>
        </p:nvCxnSpPr>
        <p:spPr>
          <a:xfrm>
            <a:off x="5076055" y="2904674"/>
            <a:ext cx="1158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41" idx="3"/>
          </p:cNvCxnSpPr>
          <p:nvPr/>
        </p:nvCxnSpPr>
        <p:spPr>
          <a:xfrm flipV="1">
            <a:off x="5076055" y="1484785"/>
            <a:ext cx="1158858" cy="1407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1043608" y="4365104"/>
            <a:ext cx="1599780" cy="535524"/>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ea typeface="微软雅黑" panose="020B0503020204020204" pitchFamily="34" charset="-122"/>
              </a:rPr>
              <a:t>数据段选择子</a:t>
            </a:r>
          </a:p>
        </p:txBody>
      </p:sp>
      <p:cxnSp>
        <p:nvCxnSpPr>
          <p:cNvPr id="46" name="直接箭头连接符 45"/>
          <p:cNvCxnSpPr/>
          <p:nvPr/>
        </p:nvCxnSpPr>
        <p:spPr>
          <a:xfrm>
            <a:off x="2643386" y="4629526"/>
            <a:ext cx="1158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3802244" y="4221088"/>
            <a:ext cx="1273809" cy="824336"/>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ea typeface="微软雅黑" panose="020B0503020204020204" pitchFamily="34" charset="-122"/>
              </a:rPr>
              <a:t>段描述符</a:t>
            </a:r>
          </a:p>
        </p:txBody>
      </p:sp>
      <p:sp>
        <p:nvSpPr>
          <p:cNvPr id="48" name="矩形 47"/>
          <p:cNvSpPr/>
          <p:nvPr/>
        </p:nvSpPr>
        <p:spPr>
          <a:xfrm>
            <a:off x="6299770" y="3284983"/>
            <a:ext cx="1656606" cy="1416563"/>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ea typeface="微软雅黑" panose="020B0503020204020204" pitchFamily="34" charset="-122"/>
              </a:rPr>
              <a:t>数据段</a:t>
            </a:r>
          </a:p>
        </p:txBody>
      </p:sp>
      <p:cxnSp>
        <p:nvCxnSpPr>
          <p:cNvPr id="49" name="直接箭头连接符 48"/>
          <p:cNvCxnSpPr/>
          <p:nvPr/>
        </p:nvCxnSpPr>
        <p:spPr>
          <a:xfrm>
            <a:off x="5076055" y="4666753"/>
            <a:ext cx="1158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flipV="1">
            <a:off x="5076055" y="3284983"/>
            <a:ext cx="1158858" cy="1381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3779912" y="1658774"/>
            <a:ext cx="1273809" cy="418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B853"/>
                </a:solidFill>
                <a:ea typeface="微软雅黑" panose="020B0503020204020204" pitchFamily="34" charset="-122"/>
              </a:rPr>
              <a:t>描述符表</a:t>
            </a:r>
          </a:p>
        </p:txBody>
      </p:sp>
      <p:sp>
        <p:nvSpPr>
          <p:cNvPr id="6" name="右箭头 5"/>
          <p:cNvSpPr/>
          <p:nvPr/>
        </p:nvSpPr>
        <p:spPr>
          <a:xfrm>
            <a:off x="2086273" y="5445224"/>
            <a:ext cx="4661086" cy="181833"/>
          </a:xfrm>
          <a:prstGeom prst="righ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左箭头 6"/>
          <p:cNvSpPr/>
          <p:nvPr/>
        </p:nvSpPr>
        <p:spPr>
          <a:xfrm>
            <a:off x="2086273" y="5589240"/>
            <a:ext cx="4661086" cy="197205"/>
          </a:xfrm>
          <a:prstGeom prst="leftArrow">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96809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635471" y="4220883"/>
            <a:ext cx="3465675" cy="1808882"/>
            <a:chOff x="2732611" y="4284414"/>
            <a:chExt cx="3465675" cy="1808882"/>
          </a:xfrm>
        </p:grpSpPr>
        <p:sp>
          <p:nvSpPr>
            <p:cNvPr id="3" name="六边形 2"/>
            <p:cNvSpPr/>
            <p:nvPr/>
          </p:nvSpPr>
          <p:spPr>
            <a:xfrm>
              <a:off x="2745674" y="4375855"/>
              <a:ext cx="1336469" cy="1152128"/>
            </a:xfrm>
            <a:prstGeom prst="hexagon">
              <a:avLst/>
            </a:prstGeom>
            <a:gradFill flip="none" rotWithShape="1">
              <a:gsLst>
                <a:gs pos="0">
                  <a:srgbClr val="00B0F0"/>
                </a:gs>
                <a:gs pos="41000">
                  <a:srgbClr val="007DDA"/>
                </a:gs>
                <a:gs pos="97000">
                  <a:srgbClr val="005696"/>
                </a:gs>
              </a:gsLst>
              <a:path path="circle">
                <a:fillToRect l="50000" t="50000" r="50000" b="50000"/>
              </a:path>
              <a:tileRect/>
            </a:gra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 name="六边形 3"/>
            <p:cNvSpPr/>
            <p:nvPr/>
          </p:nvSpPr>
          <p:spPr>
            <a:xfrm>
              <a:off x="2732611" y="4297477"/>
              <a:ext cx="1336469" cy="1152128"/>
            </a:xfrm>
            <a:prstGeom prst="hexagon">
              <a:avLst/>
            </a:prstGeom>
            <a:gradFill flip="none" rotWithShape="1">
              <a:gsLst>
                <a:gs pos="0">
                  <a:srgbClr val="57D3FF"/>
                </a:gs>
                <a:gs pos="71000">
                  <a:srgbClr val="00B0F0"/>
                </a:gs>
                <a:gs pos="97000">
                  <a:srgbClr val="0091FE"/>
                </a:gs>
              </a:gsLst>
              <a:path path="rect">
                <a:fillToRect l="100000" t="100000"/>
              </a:path>
              <a:tileRect r="-100000" b="-100000"/>
            </a:gradFill>
            <a:ln w="6350">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5" name="六边形 4"/>
            <p:cNvSpPr/>
            <p:nvPr/>
          </p:nvSpPr>
          <p:spPr>
            <a:xfrm>
              <a:off x="4861817" y="4362792"/>
              <a:ext cx="1336469" cy="1152128"/>
            </a:xfrm>
            <a:prstGeom prst="hexagon">
              <a:avLst/>
            </a:prstGeom>
            <a:gradFill flip="none" rotWithShape="1">
              <a:gsLst>
                <a:gs pos="0">
                  <a:srgbClr val="A8E53B"/>
                </a:gs>
                <a:gs pos="55000">
                  <a:srgbClr val="679D07"/>
                </a:gs>
                <a:gs pos="97000">
                  <a:srgbClr val="416305"/>
                </a:gs>
              </a:gsLst>
              <a:path path="circle">
                <a:fillToRect l="50000" t="50000" r="50000" b="50000"/>
              </a:path>
              <a:tileRect/>
            </a:gra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 name="六边形 5"/>
            <p:cNvSpPr/>
            <p:nvPr/>
          </p:nvSpPr>
          <p:spPr>
            <a:xfrm>
              <a:off x="4848754" y="4284414"/>
              <a:ext cx="1336469" cy="1152128"/>
            </a:xfrm>
            <a:prstGeom prst="hexagon">
              <a:avLst/>
            </a:prstGeom>
            <a:gradFill flip="none" rotWithShape="1">
              <a:gsLst>
                <a:gs pos="0">
                  <a:srgbClr val="A8E53B"/>
                </a:gs>
                <a:gs pos="70000">
                  <a:srgbClr val="A1B90F"/>
                </a:gs>
                <a:gs pos="97000">
                  <a:srgbClr val="6FA808"/>
                </a:gs>
              </a:gsLst>
              <a:path path="rect">
                <a:fillToRect l="100000" t="100000"/>
              </a:path>
              <a:tileRect r="-100000" b="-100000"/>
            </a:gradFill>
            <a:ln w="6350">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7" name="六边形 6"/>
            <p:cNvSpPr/>
            <p:nvPr/>
          </p:nvSpPr>
          <p:spPr>
            <a:xfrm>
              <a:off x="3811595" y="4941168"/>
              <a:ext cx="1336469" cy="1152128"/>
            </a:xfrm>
            <a:prstGeom prst="hexagon">
              <a:avLst/>
            </a:prstGeom>
            <a:gradFill flip="none" rotWithShape="1">
              <a:gsLst>
                <a:gs pos="0">
                  <a:srgbClr val="C49500"/>
                </a:gs>
                <a:gs pos="32000">
                  <a:srgbClr val="E06B0A"/>
                </a:gs>
                <a:gs pos="97000">
                  <a:srgbClr val="884106"/>
                </a:gs>
              </a:gsLst>
              <a:path path="circle">
                <a:fillToRect l="50000" t="50000" r="50000" b="50000"/>
              </a:path>
              <a:tileRect/>
            </a:gra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 name="六边形 7"/>
            <p:cNvSpPr/>
            <p:nvPr/>
          </p:nvSpPr>
          <p:spPr>
            <a:xfrm>
              <a:off x="3798532" y="4862790"/>
              <a:ext cx="1336469" cy="1152128"/>
            </a:xfrm>
            <a:prstGeom prst="hexagon">
              <a:avLst/>
            </a:prstGeom>
            <a:gradFill flip="none" rotWithShape="1">
              <a:gsLst>
                <a:gs pos="0">
                  <a:srgbClr val="FFC000"/>
                </a:gs>
                <a:gs pos="71000">
                  <a:schemeClr val="accent6"/>
                </a:gs>
                <a:gs pos="97000">
                  <a:srgbClr val="F28416"/>
                </a:gs>
              </a:gsLst>
              <a:path path="rect">
                <a:fillToRect l="100000" t="100000"/>
              </a:path>
              <a:tileRect r="-100000" b="-100000"/>
            </a:gradFill>
            <a:ln w="6350">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grpSp>
      <p:sp>
        <p:nvSpPr>
          <p:cNvPr id="9" name="矩形 8"/>
          <p:cNvSpPr/>
          <p:nvPr/>
        </p:nvSpPr>
        <p:spPr>
          <a:xfrm>
            <a:off x="1331640" y="1484784"/>
            <a:ext cx="2041399" cy="1580641"/>
          </a:xfrm>
          <a:prstGeom prst="rect">
            <a:avLst/>
          </a:prstGeom>
          <a:gradFill flip="none" rotWithShape="1">
            <a:gsLst>
              <a:gs pos="0">
                <a:srgbClr val="57D3FF"/>
              </a:gs>
              <a:gs pos="71000">
                <a:srgbClr val="00B0F0"/>
              </a:gs>
              <a:gs pos="97000">
                <a:srgbClr val="0091FE"/>
              </a:gs>
            </a:gsLst>
            <a:path path="rect">
              <a:fillToRect l="100000" t="100000"/>
            </a:path>
            <a:tileRect r="-100000" b="-100000"/>
          </a:gradFill>
          <a:ln w="6350">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 name="矩形 9"/>
          <p:cNvSpPr/>
          <p:nvPr/>
        </p:nvSpPr>
        <p:spPr>
          <a:xfrm>
            <a:off x="3396494" y="1484784"/>
            <a:ext cx="2041399" cy="1580641"/>
          </a:xfrm>
          <a:prstGeom prst="rect">
            <a:avLst/>
          </a:prstGeom>
          <a:gradFill flip="none" rotWithShape="1">
            <a:gsLst>
              <a:gs pos="0">
                <a:srgbClr val="FFC000"/>
              </a:gs>
              <a:gs pos="71000">
                <a:schemeClr val="accent6"/>
              </a:gs>
              <a:gs pos="97000">
                <a:srgbClr val="F28416"/>
              </a:gs>
            </a:gsLst>
            <a:path path="rect">
              <a:fillToRect l="100000" t="100000"/>
            </a:path>
            <a:tileRect r="-100000" b="-100000"/>
          </a:gradFill>
          <a:ln w="6350">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1" name="矩形 10"/>
          <p:cNvSpPr/>
          <p:nvPr/>
        </p:nvSpPr>
        <p:spPr>
          <a:xfrm>
            <a:off x="5461347" y="1484784"/>
            <a:ext cx="2041399" cy="1580641"/>
          </a:xfrm>
          <a:prstGeom prst="rect">
            <a:avLst/>
          </a:prstGeom>
          <a:gradFill flip="none" rotWithShape="1">
            <a:gsLst>
              <a:gs pos="0">
                <a:srgbClr val="A8E53B"/>
              </a:gs>
              <a:gs pos="70000">
                <a:srgbClr val="A1B90F"/>
              </a:gs>
              <a:gs pos="97000">
                <a:srgbClr val="6FA808"/>
              </a:gs>
            </a:gsLst>
            <a:path path="rect">
              <a:fillToRect l="100000" t="100000"/>
            </a:path>
            <a:tileRect r="-100000" b="-100000"/>
          </a:gradFill>
          <a:ln w="6350">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2" name="矩形 11"/>
          <p:cNvSpPr/>
          <p:nvPr/>
        </p:nvSpPr>
        <p:spPr>
          <a:xfrm>
            <a:off x="1430285" y="1561164"/>
            <a:ext cx="1844106" cy="1427878"/>
          </a:xfrm>
          <a:prstGeom prst="rect">
            <a:avLst/>
          </a:prstGeom>
          <a:solidFill>
            <a:schemeClr val="bg1"/>
          </a:solidFill>
          <a:ln w="6350">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3" name="矩形 12"/>
          <p:cNvSpPr/>
          <p:nvPr/>
        </p:nvSpPr>
        <p:spPr>
          <a:xfrm>
            <a:off x="3495139" y="1561164"/>
            <a:ext cx="1844106" cy="1427878"/>
          </a:xfrm>
          <a:prstGeom prst="rect">
            <a:avLst/>
          </a:prstGeom>
          <a:solidFill>
            <a:schemeClr val="bg1"/>
          </a:solidFill>
          <a:ln w="6350">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4" name="矩形 13"/>
          <p:cNvSpPr/>
          <p:nvPr/>
        </p:nvSpPr>
        <p:spPr>
          <a:xfrm>
            <a:off x="5559992" y="1561164"/>
            <a:ext cx="1844106" cy="1427878"/>
          </a:xfrm>
          <a:prstGeom prst="rect">
            <a:avLst/>
          </a:prstGeom>
          <a:solidFill>
            <a:schemeClr val="bg1"/>
          </a:solidFill>
          <a:ln w="6350">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5" name="TextBox 37"/>
          <p:cNvSpPr txBox="1"/>
          <p:nvPr/>
        </p:nvSpPr>
        <p:spPr>
          <a:xfrm>
            <a:off x="2804296" y="4529161"/>
            <a:ext cx="1060925" cy="646331"/>
          </a:xfrm>
          <a:prstGeom prst="rect">
            <a:avLst/>
          </a:prstGeom>
          <a:noFill/>
        </p:spPr>
        <p:txBody>
          <a:bodyPr wrap="square" rtlCol="0">
            <a:spAutoFit/>
          </a:bodyPr>
          <a:lstStyle>
            <a:defPPr>
              <a:defRPr lang="zh-CN"/>
            </a:defPPr>
            <a:lvl1pPr algn="ctr">
              <a:defRPr b="1">
                <a:solidFill>
                  <a:srgbClr val="0070C0"/>
                </a:solidFill>
                <a:latin typeface="微软雅黑" pitchFamily="34" charset="-122"/>
                <a:ea typeface="微软雅黑" pitchFamily="34" charset="-122"/>
              </a:defRPr>
            </a:lvl1pPr>
          </a:lstStyle>
          <a:p>
            <a:r>
              <a:rPr lang="zh-CN" altLang="en-US" dirty="0">
                <a:solidFill>
                  <a:schemeClr val="bg1"/>
                </a:solidFill>
              </a:rPr>
              <a:t>全局描述符表</a:t>
            </a:r>
          </a:p>
        </p:txBody>
      </p:sp>
      <p:sp>
        <p:nvSpPr>
          <p:cNvPr id="16" name="TextBox 38"/>
          <p:cNvSpPr txBox="1"/>
          <p:nvPr/>
        </p:nvSpPr>
        <p:spPr>
          <a:xfrm>
            <a:off x="3865221" y="5087496"/>
            <a:ext cx="1060925" cy="646331"/>
          </a:xfrm>
          <a:prstGeom prst="rect">
            <a:avLst/>
          </a:prstGeom>
          <a:noFill/>
        </p:spPr>
        <p:txBody>
          <a:bodyPr wrap="square" rtlCol="0">
            <a:spAutoFit/>
          </a:bodyPr>
          <a:lstStyle>
            <a:defPPr>
              <a:defRPr lang="zh-CN"/>
            </a:defPPr>
            <a:lvl1pPr algn="ctr">
              <a:defRPr b="1">
                <a:solidFill>
                  <a:srgbClr val="0070C0"/>
                </a:solidFill>
                <a:latin typeface="微软雅黑" pitchFamily="34" charset="-122"/>
                <a:ea typeface="微软雅黑" pitchFamily="34" charset="-122"/>
              </a:defRPr>
            </a:lvl1pPr>
          </a:lstStyle>
          <a:p>
            <a:r>
              <a:rPr lang="zh-CN" altLang="en-US" dirty="0">
                <a:solidFill>
                  <a:schemeClr val="bg1"/>
                </a:solidFill>
              </a:rPr>
              <a:t>局部描述符表</a:t>
            </a:r>
          </a:p>
        </p:txBody>
      </p:sp>
      <p:sp>
        <p:nvSpPr>
          <p:cNvPr id="17" name="TextBox 39"/>
          <p:cNvSpPr txBox="1"/>
          <p:nvPr/>
        </p:nvSpPr>
        <p:spPr>
          <a:xfrm>
            <a:off x="4913083" y="4509120"/>
            <a:ext cx="1060925" cy="646331"/>
          </a:xfrm>
          <a:prstGeom prst="rect">
            <a:avLst/>
          </a:prstGeom>
          <a:noFill/>
        </p:spPr>
        <p:txBody>
          <a:bodyPr wrap="square" rtlCol="0">
            <a:spAutoFit/>
          </a:bodyPr>
          <a:lstStyle>
            <a:defPPr>
              <a:defRPr lang="zh-CN"/>
            </a:defPPr>
            <a:lvl1pPr algn="ctr">
              <a:defRPr b="1">
                <a:solidFill>
                  <a:srgbClr val="0070C0"/>
                </a:solidFill>
                <a:latin typeface="微软雅黑" pitchFamily="34" charset="-122"/>
                <a:ea typeface="微软雅黑" pitchFamily="34" charset="-122"/>
              </a:defRPr>
            </a:lvl1pPr>
          </a:lstStyle>
          <a:p>
            <a:r>
              <a:rPr lang="zh-CN" altLang="en-US" dirty="0">
                <a:solidFill>
                  <a:schemeClr val="bg1"/>
                </a:solidFill>
              </a:rPr>
              <a:t>中断描述符表</a:t>
            </a:r>
          </a:p>
        </p:txBody>
      </p:sp>
      <p:sp>
        <p:nvSpPr>
          <p:cNvPr id="18" name="TextBox 40"/>
          <p:cNvSpPr txBox="1"/>
          <p:nvPr/>
        </p:nvSpPr>
        <p:spPr>
          <a:xfrm>
            <a:off x="1430286" y="1556792"/>
            <a:ext cx="1873418" cy="1372683"/>
          </a:xfrm>
          <a:prstGeom prst="rect">
            <a:avLst/>
          </a:prstGeom>
          <a:noFill/>
        </p:spPr>
        <p:txBody>
          <a:bodyPr wrap="square" rtlCol="0">
            <a:spAutoFit/>
          </a:bodyPr>
          <a:lstStyle/>
          <a:p>
            <a:pPr>
              <a:lnSpc>
                <a:spcPct val="130000"/>
              </a:lnSpc>
            </a:pPr>
            <a:r>
              <a:rPr lang="zh-CN" altLang="en-US" sz="1600" dirty="0">
                <a:solidFill>
                  <a:schemeClr val="tx1">
                    <a:lumMod val="65000"/>
                    <a:lumOff val="35000"/>
                  </a:schemeClr>
                </a:solidFill>
                <a:latin typeface="微软雅黑" pitchFamily="34" charset="-122"/>
                <a:ea typeface="微软雅黑" pitchFamily="34" charset="-122"/>
              </a:rPr>
              <a:t>存放被系统所有任务共享的描述符，如</a:t>
            </a:r>
            <a:r>
              <a:rPr lang="en-US" altLang="zh-CN" sz="1600" dirty="0">
                <a:solidFill>
                  <a:schemeClr val="tx1">
                    <a:lumMod val="65000"/>
                    <a:lumOff val="35000"/>
                  </a:schemeClr>
                </a:solidFill>
                <a:latin typeface="微软雅黑" pitchFamily="34" charset="-122"/>
                <a:ea typeface="微软雅黑" pitchFamily="34" charset="-122"/>
              </a:rPr>
              <a:t>LDT</a:t>
            </a:r>
            <a:r>
              <a:rPr lang="zh-CN" altLang="en-US" sz="1600" dirty="0">
                <a:solidFill>
                  <a:schemeClr val="tx1">
                    <a:lumMod val="65000"/>
                    <a:lumOff val="35000"/>
                  </a:schemeClr>
                </a:solidFill>
                <a:latin typeface="微软雅黑" pitchFamily="34" charset="-122"/>
                <a:ea typeface="微软雅黑" pitchFamily="34" charset="-122"/>
              </a:rPr>
              <a:t>、</a:t>
            </a:r>
            <a:r>
              <a:rPr lang="en-US" altLang="zh-CN" sz="1600" dirty="0">
                <a:solidFill>
                  <a:schemeClr val="tx1">
                    <a:lumMod val="65000"/>
                    <a:lumOff val="35000"/>
                  </a:schemeClr>
                </a:solidFill>
                <a:latin typeface="微软雅黑" pitchFamily="34" charset="-122"/>
                <a:ea typeface="微软雅黑" pitchFamily="34" charset="-122"/>
              </a:rPr>
              <a:t>TSS</a:t>
            </a:r>
            <a:r>
              <a:rPr lang="zh-CN" altLang="en-US" sz="1600" dirty="0">
                <a:solidFill>
                  <a:schemeClr val="tx1">
                    <a:lumMod val="65000"/>
                    <a:lumOff val="35000"/>
                  </a:schemeClr>
                </a:solidFill>
                <a:latin typeface="微软雅黑" pitchFamily="34" charset="-122"/>
                <a:ea typeface="微软雅黑" pitchFamily="34" charset="-122"/>
              </a:rPr>
              <a:t>描述符，全局唯一。</a:t>
            </a:r>
            <a:endParaRPr lang="en-US" altLang="zh-CN" sz="1600" dirty="0">
              <a:solidFill>
                <a:schemeClr val="tx1">
                  <a:lumMod val="65000"/>
                  <a:lumOff val="35000"/>
                </a:schemeClr>
              </a:solidFill>
              <a:latin typeface="微软雅黑" pitchFamily="34" charset="-122"/>
              <a:ea typeface="微软雅黑" pitchFamily="34" charset="-122"/>
            </a:endParaRPr>
          </a:p>
        </p:txBody>
      </p:sp>
      <p:sp>
        <p:nvSpPr>
          <p:cNvPr id="19" name="TextBox 41"/>
          <p:cNvSpPr txBox="1"/>
          <p:nvPr/>
        </p:nvSpPr>
        <p:spPr>
          <a:xfrm>
            <a:off x="3495140" y="1556792"/>
            <a:ext cx="1844106" cy="1372683"/>
          </a:xfrm>
          <a:prstGeom prst="rect">
            <a:avLst/>
          </a:prstGeom>
          <a:noFill/>
        </p:spPr>
        <p:txBody>
          <a:bodyPr wrap="square" rtlCol="0">
            <a:spAutoFit/>
          </a:bodyPr>
          <a:lstStyle/>
          <a:p>
            <a:pPr>
              <a:lnSpc>
                <a:spcPct val="130000"/>
              </a:lnSpc>
            </a:pPr>
            <a:r>
              <a:rPr lang="zh-CN" altLang="en-US" sz="1600" dirty="0">
                <a:solidFill>
                  <a:schemeClr val="tx1">
                    <a:lumMod val="65000"/>
                    <a:lumOff val="35000"/>
                  </a:schemeClr>
                </a:solidFill>
                <a:latin typeface="微软雅黑" pitchFamily="34" charset="-122"/>
                <a:ea typeface="微软雅黑" pitchFamily="34" charset="-122"/>
              </a:rPr>
              <a:t>每任务独有</a:t>
            </a:r>
            <a:r>
              <a:rPr lang="en-US" altLang="zh-CN" sz="1600" dirty="0">
                <a:solidFill>
                  <a:schemeClr val="tx1">
                    <a:lumMod val="65000"/>
                    <a:lumOff val="35000"/>
                  </a:schemeClr>
                </a:solidFill>
                <a:latin typeface="微软雅黑" pitchFamily="34" charset="-122"/>
                <a:ea typeface="微软雅黑" pitchFamily="34" charset="-122"/>
              </a:rPr>
              <a:t>LDT</a:t>
            </a:r>
            <a:r>
              <a:rPr lang="zh-CN" altLang="en-US" sz="1600" dirty="0">
                <a:solidFill>
                  <a:schemeClr val="tx1">
                    <a:lumMod val="65000"/>
                    <a:lumOff val="35000"/>
                  </a:schemeClr>
                </a:solidFill>
                <a:latin typeface="微软雅黑" pitchFamily="34" charset="-122"/>
                <a:ea typeface="微软雅黑" pitchFamily="34" charset="-122"/>
              </a:rPr>
              <a:t>，存放与该任务相关的描述符，如代码段和数据段描述符。</a:t>
            </a:r>
            <a:endParaRPr lang="en-US" altLang="zh-CN" sz="1600" dirty="0">
              <a:solidFill>
                <a:schemeClr val="tx1">
                  <a:lumMod val="65000"/>
                  <a:lumOff val="35000"/>
                </a:schemeClr>
              </a:solidFill>
              <a:latin typeface="微软雅黑" pitchFamily="34" charset="-122"/>
              <a:ea typeface="微软雅黑" pitchFamily="34" charset="-122"/>
            </a:endParaRPr>
          </a:p>
        </p:txBody>
      </p:sp>
      <p:sp>
        <p:nvSpPr>
          <p:cNvPr id="20" name="TextBox 42"/>
          <p:cNvSpPr txBox="1"/>
          <p:nvPr/>
        </p:nvSpPr>
        <p:spPr>
          <a:xfrm>
            <a:off x="5559992" y="1556792"/>
            <a:ext cx="1844106" cy="1372683"/>
          </a:xfrm>
          <a:prstGeom prst="rect">
            <a:avLst/>
          </a:prstGeom>
          <a:noFill/>
        </p:spPr>
        <p:txBody>
          <a:bodyPr wrap="square" rtlCol="0">
            <a:spAutoFit/>
          </a:bodyPr>
          <a:lstStyle/>
          <a:p>
            <a:pPr>
              <a:lnSpc>
                <a:spcPct val="130000"/>
              </a:lnSpc>
            </a:pPr>
            <a:r>
              <a:rPr lang="zh-CN" altLang="en-US" sz="1600" dirty="0">
                <a:solidFill>
                  <a:schemeClr val="tx1">
                    <a:lumMod val="65000"/>
                    <a:lumOff val="35000"/>
                  </a:schemeClr>
                </a:solidFill>
                <a:latin typeface="微软雅黑" pitchFamily="34" charset="-122"/>
                <a:ea typeface="微软雅黑" pitchFamily="34" charset="-122"/>
              </a:rPr>
              <a:t>存放描述中断程序入口地址有关门描述符。最多</a:t>
            </a:r>
            <a:r>
              <a:rPr lang="en-US" altLang="zh-CN" sz="1600" dirty="0">
                <a:solidFill>
                  <a:schemeClr val="tx1">
                    <a:lumMod val="65000"/>
                    <a:lumOff val="35000"/>
                  </a:schemeClr>
                </a:solidFill>
                <a:latin typeface="微软雅黑" pitchFamily="34" charset="-122"/>
                <a:ea typeface="微软雅黑" pitchFamily="34" charset="-122"/>
              </a:rPr>
              <a:t>256</a:t>
            </a:r>
            <a:r>
              <a:rPr lang="zh-CN" altLang="en-US" sz="1600" dirty="0">
                <a:solidFill>
                  <a:schemeClr val="tx1">
                    <a:lumMod val="65000"/>
                    <a:lumOff val="35000"/>
                  </a:schemeClr>
                </a:solidFill>
                <a:latin typeface="微软雅黑" pitchFamily="34" charset="-122"/>
                <a:ea typeface="微软雅黑" pitchFamily="34" charset="-122"/>
              </a:rPr>
              <a:t>个描述符，全局唯一。</a:t>
            </a:r>
            <a:endParaRPr lang="en-US" altLang="zh-CN" sz="1600" dirty="0">
              <a:solidFill>
                <a:schemeClr val="tx1">
                  <a:lumMod val="65000"/>
                  <a:lumOff val="35000"/>
                </a:schemeClr>
              </a:solidFill>
              <a:latin typeface="微软雅黑" pitchFamily="34" charset="-122"/>
              <a:ea typeface="微软雅黑" pitchFamily="34" charset="-122"/>
            </a:endParaRPr>
          </a:p>
        </p:txBody>
      </p:sp>
      <p:sp>
        <p:nvSpPr>
          <p:cNvPr id="21" name="任意多边形 20"/>
          <p:cNvSpPr/>
          <p:nvPr/>
        </p:nvSpPr>
        <p:spPr>
          <a:xfrm>
            <a:off x="2252857" y="3110744"/>
            <a:ext cx="404949" cy="1737360"/>
          </a:xfrm>
          <a:custGeom>
            <a:avLst/>
            <a:gdLst>
              <a:gd name="connsiteX0" fmla="*/ 404949 w 404949"/>
              <a:gd name="connsiteY0" fmla="*/ 1737360 h 1737360"/>
              <a:gd name="connsiteX1" fmla="*/ 0 w 404949"/>
              <a:gd name="connsiteY1" fmla="*/ 1737360 h 1737360"/>
              <a:gd name="connsiteX2" fmla="*/ 0 w 404949"/>
              <a:gd name="connsiteY2" fmla="*/ 0 h 1737360"/>
            </a:gdLst>
            <a:ahLst/>
            <a:cxnLst>
              <a:cxn ang="0">
                <a:pos x="connsiteX0" y="connsiteY0"/>
              </a:cxn>
              <a:cxn ang="0">
                <a:pos x="connsiteX1" y="connsiteY1"/>
              </a:cxn>
              <a:cxn ang="0">
                <a:pos x="connsiteX2" y="connsiteY2"/>
              </a:cxn>
            </a:cxnLst>
            <a:rect l="l" t="t" r="r" b="b"/>
            <a:pathLst>
              <a:path w="404949" h="1737360">
                <a:moveTo>
                  <a:pt x="404949" y="1737360"/>
                </a:moveTo>
                <a:lnTo>
                  <a:pt x="0" y="1737360"/>
                </a:lnTo>
                <a:lnTo>
                  <a:pt x="0" y="0"/>
                </a:lnTo>
              </a:path>
            </a:pathLst>
          </a:custGeom>
          <a:noFill/>
          <a:ln>
            <a:solidFill>
              <a:schemeClr val="bg1">
                <a:lumMod val="75000"/>
              </a:schemeClr>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21"/>
          <p:cNvSpPr/>
          <p:nvPr/>
        </p:nvSpPr>
        <p:spPr>
          <a:xfrm flipH="1">
            <a:off x="6116664" y="3124902"/>
            <a:ext cx="404949" cy="1737360"/>
          </a:xfrm>
          <a:custGeom>
            <a:avLst/>
            <a:gdLst>
              <a:gd name="connsiteX0" fmla="*/ 404949 w 404949"/>
              <a:gd name="connsiteY0" fmla="*/ 1737360 h 1737360"/>
              <a:gd name="connsiteX1" fmla="*/ 0 w 404949"/>
              <a:gd name="connsiteY1" fmla="*/ 1737360 h 1737360"/>
              <a:gd name="connsiteX2" fmla="*/ 0 w 404949"/>
              <a:gd name="connsiteY2" fmla="*/ 0 h 1737360"/>
            </a:gdLst>
            <a:ahLst/>
            <a:cxnLst>
              <a:cxn ang="0">
                <a:pos x="connsiteX0" y="connsiteY0"/>
              </a:cxn>
              <a:cxn ang="0">
                <a:pos x="connsiteX1" y="connsiteY1"/>
              </a:cxn>
              <a:cxn ang="0">
                <a:pos x="connsiteX2" y="connsiteY2"/>
              </a:cxn>
            </a:cxnLst>
            <a:rect l="l" t="t" r="r" b="b"/>
            <a:pathLst>
              <a:path w="404949" h="1737360">
                <a:moveTo>
                  <a:pt x="404949" y="1737360"/>
                </a:moveTo>
                <a:lnTo>
                  <a:pt x="0" y="1737360"/>
                </a:lnTo>
                <a:lnTo>
                  <a:pt x="0" y="0"/>
                </a:lnTo>
              </a:path>
            </a:pathLst>
          </a:custGeom>
          <a:noFill/>
          <a:ln>
            <a:solidFill>
              <a:schemeClr val="bg1">
                <a:lumMod val="75000"/>
              </a:schemeClr>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p:nvPr/>
        </p:nvCxnSpPr>
        <p:spPr>
          <a:xfrm flipV="1">
            <a:off x="4395682" y="3065425"/>
            <a:ext cx="0" cy="1731523"/>
          </a:xfrm>
          <a:prstGeom prst="line">
            <a:avLst/>
          </a:prstGeom>
          <a:noFill/>
          <a:ln>
            <a:solidFill>
              <a:schemeClr val="bg1">
                <a:lumMod val="75000"/>
              </a:schemeClr>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4" name="直接连接符 2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25"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描述符表</a:t>
            </a:r>
            <a:endParaRPr lang="zh-CN" altLang="en-US" sz="3200" b="1" dirty="0">
              <a:solidFill>
                <a:srgbClr val="00C4F0"/>
              </a:solidFill>
              <a:latin typeface="微软雅黑" pitchFamily="34" charset="-122"/>
              <a:ea typeface="微软雅黑" pitchFamily="34" charset="-122"/>
            </a:endParaRPr>
          </a:p>
        </p:txBody>
      </p:sp>
      <p:cxnSp>
        <p:nvCxnSpPr>
          <p:cNvPr id="26" name="直接连接符 25"/>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27" name="矩形 26"/>
          <p:cNvSpPr/>
          <p:nvPr/>
        </p:nvSpPr>
        <p:spPr>
          <a:xfrm>
            <a:off x="899592" y="6145488"/>
            <a:ext cx="5311490" cy="3960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rgbClr val="FF0066"/>
                </a:solidFill>
                <a:ea typeface="微软雅黑" panose="020B0503020204020204" pitchFamily="34" charset="-122"/>
              </a:rPr>
              <a:t>全局唯一的</a:t>
            </a:r>
            <a:r>
              <a:rPr lang="en-US" altLang="zh-CN" sz="2000" dirty="0">
                <a:solidFill>
                  <a:srgbClr val="FF0066"/>
                </a:solidFill>
                <a:ea typeface="微软雅黑" panose="020B0503020204020204" pitchFamily="34" charset="-122"/>
              </a:rPr>
              <a:t>GDT</a:t>
            </a:r>
            <a:r>
              <a:rPr lang="zh-CN" altLang="en-US" sz="2000" dirty="0">
                <a:solidFill>
                  <a:srgbClr val="FF0066"/>
                </a:solidFill>
                <a:ea typeface="微软雅黑" panose="020B0503020204020204" pitchFamily="34" charset="-122"/>
              </a:rPr>
              <a:t>和</a:t>
            </a:r>
            <a:r>
              <a:rPr lang="en-US" altLang="zh-CN" sz="2000" dirty="0">
                <a:solidFill>
                  <a:srgbClr val="FF0066"/>
                </a:solidFill>
                <a:ea typeface="微软雅黑" panose="020B0503020204020204" pitchFamily="34" charset="-122"/>
              </a:rPr>
              <a:t>IDT</a:t>
            </a:r>
            <a:r>
              <a:rPr lang="zh-CN" altLang="en-US" sz="2000" dirty="0">
                <a:solidFill>
                  <a:srgbClr val="FF0066"/>
                </a:solidFill>
                <a:ea typeface="微软雅黑" panose="020B0503020204020204" pitchFamily="34" charset="-122"/>
              </a:rPr>
              <a:t>表的基地址放在哪里？</a:t>
            </a:r>
          </a:p>
        </p:txBody>
      </p:sp>
      <p:sp>
        <p:nvSpPr>
          <p:cNvPr id="28" name="矩形 27"/>
          <p:cNvSpPr/>
          <p:nvPr/>
        </p:nvSpPr>
        <p:spPr>
          <a:xfrm>
            <a:off x="5781348" y="6188097"/>
            <a:ext cx="1550742" cy="3073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66"/>
                </a:solidFill>
                <a:ea typeface="微软雅黑" panose="020B0503020204020204" pitchFamily="34" charset="-122"/>
              </a:rPr>
              <a:t>GDTR</a:t>
            </a:r>
            <a:r>
              <a:rPr lang="zh-CN" altLang="en-US" sz="2000" dirty="0">
                <a:solidFill>
                  <a:srgbClr val="FF0066"/>
                </a:solidFill>
                <a:ea typeface="微软雅黑" panose="020B0503020204020204" pitchFamily="34" charset="-122"/>
              </a:rPr>
              <a:t>和</a:t>
            </a:r>
            <a:r>
              <a:rPr lang="en-US" altLang="zh-CN" sz="2000" dirty="0">
                <a:solidFill>
                  <a:srgbClr val="FF0066"/>
                </a:solidFill>
                <a:ea typeface="微软雅黑" panose="020B0503020204020204" pitchFamily="34" charset="-122"/>
              </a:rPr>
              <a:t>IDTR</a:t>
            </a:r>
            <a:endParaRPr lang="zh-CN" altLang="en-US" sz="2000" dirty="0">
              <a:solidFill>
                <a:srgbClr val="FF0066"/>
              </a:solidFill>
              <a:ea typeface="微软雅黑" panose="020B0503020204020204" pitchFamily="34" charset="-122"/>
            </a:endParaRPr>
          </a:p>
        </p:txBody>
      </p:sp>
    </p:spTree>
    <p:extLst>
      <p:ext uri="{BB962C8B-B14F-4D97-AF65-F5344CB8AC3E}">
        <p14:creationId xmlns:p14="http://schemas.microsoft.com/office/powerpoint/2010/main" val="2965429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strVal val="(6*min(max(#ppt_w*#ppt_h,.3),1)-7.4)/-.7*#ppt_w"/>
                                          </p:val>
                                        </p:tav>
                                        <p:tav tm="100000">
                                          <p:val>
                                            <p:strVal val="#ppt_w"/>
                                          </p:val>
                                        </p:tav>
                                      </p:tavLst>
                                    </p:anim>
                                    <p:anim calcmode="lin" valueType="num">
                                      <p:cBhvr>
                                        <p:cTn id="8" dur="500" fill="hold"/>
                                        <p:tgtEl>
                                          <p:spTgt spid="18"/>
                                        </p:tgtEl>
                                        <p:attrNameLst>
                                          <p:attrName>ppt_h</p:attrName>
                                        </p:attrNameLst>
                                      </p:cBhvr>
                                      <p:tavLst>
                                        <p:tav tm="0">
                                          <p:val>
                                            <p:strVal val="(6*min(max(#ppt_w*#ppt_h,.3),1)-7.4)/-.7*#ppt_h"/>
                                          </p:val>
                                        </p:tav>
                                        <p:tav tm="100000">
                                          <p:val>
                                            <p:strVal val="#ppt_h"/>
                                          </p:val>
                                        </p:tav>
                                      </p:tavLst>
                                    </p:anim>
                                    <p:anim calcmode="lin" valueType="num">
                                      <p:cBhvr>
                                        <p:cTn id="9" dur="500" fill="hold"/>
                                        <p:tgtEl>
                                          <p:spTgt spid="18"/>
                                        </p:tgtEl>
                                        <p:attrNameLst>
                                          <p:attrName>ppt_x</p:attrName>
                                        </p:attrNameLst>
                                      </p:cBhvr>
                                      <p:tavLst>
                                        <p:tav tm="0">
                                          <p:val>
                                            <p:fltVal val="0.5"/>
                                          </p:val>
                                        </p:tav>
                                        <p:tav tm="100000">
                                          <p:val>
                                            <p:strVal val="#ppt_x"/>
                                          </p:val>
                                        </p:tav>
                                      </p:tavLst>
                                    </p:anim>
                                    <p:anim calcmode="lin" valueType="num">
                                      <p:cBhvr>
                                        <p:cTn id="10" dur="500" fill="hold"/>
                                        <p:tgtEl>
                                          <p:spTgt spid="18"/>
                                        </p:tgtEl>
                                        <p:attrNameLst>
                                          <p:attrName>ppt_y</p:attrName>
                                        </p:attrNameLst>
                                      </p:cBhvr>
                                      <p:tavLst>
                                        <p:tav tm="0">
                                          <p:val>
                                            <p:strVal val="1+(6*min(max(#ppt_w*#ppt_h,.3),1)-7.4)/-.7*#ppt_h/2"/>
                                          </p:val>
                                        </p:tav>
                                        <p:tav tm="100000">
                                          <p:val>
                                            <p:strVal val="#ppt_y"/>
                                          </p:val>
                                        </p:tav>
                                      </p:tavLst>
                                    </p:anim>
                                  </p:childTnLst>
                                </p:cTn>
                              </p:par>
                              <p:par>
                                <p:cTn id="11" presetID="23" presetClass="entr" presetSubtype="36" fill="hold" grpId="0" nodeType="withEffect">
                                  <p:stCondLst>
                                    <p:cond delay="150"/>
                                  </p:stCondLst>
                                  <p:childTnLst>
                                    <p:set>
                                      <p:cBhvr>
                                        <p:cTn id="12" dur="1" fill="hold">
                                          <p:stCondLst>
                                            <p:cond delay="0"/>
                                          </p:stCondLst>
                                        </p:cTn>
                                        <p:tgtEl>
                                          <p:spTgt spid="19"/>
                                        </p:tgtEl>
                                        <p:attrNameLst>
                                          <p:attrName>style.visibility</p:attrName>
                                        </p:attrNameLst>
                                      </p:cBhvr>
                                      <p:to>
                                        <p:strVal val="visible"/>
                                      </p:to>
                                    </p:set>
                                    <p:anim calcmode="lin" valueType="num">
                                      <p:cBhvr>
                                        <p:cTn id="13" dur="500" fill="hold"/>
                                        <p:tgtEl>
                                          <p:spTgt spid="19"/>
                                        </p:tgtEl>
                                        <p:attrNameLst>
                                          <p:attrName>ppt_w</p:attrName>
                                        </p:attrNameLst>
                                      </p:cBhvr>
                                      <p:tavLst>
                                        <p:tav tm="0">
                                          <p:val>
                                            <p:strVal val="(6*min(max(#ppt_w*#ppt_h,.3),1)-7.4)/-.7*#ppt_w"/>
                                          </p:val>
                                        </p:tav>
                                        <p:tav tm="100000">
                                          <p:val>
                                            <p:strVal val="#ppt_w"/>
                                          </p:val>
                                        </p:tav>
                                      </p:tavLst>
                                    </p:anim>
                                    <p:anim calcmode="lin" valueType="num">
                                      <p:cBhvr>
                                        <p:cTn id="14" dur="500" fill="hold"/>
                                        <p:tgtEl>
                                          <p:spTgt spid="19"/>
                                        </p:tgtEl>
                                        <p:attrNameLst>
                                          <p:attrName>ppt_h</p:attrName>
                                        </p:attrNameLst>
                                      </p:cBhvr>
                                      <p:tavLst>
                                        <p:tav tm="0">
                                          <p:val>
                                            <p:strVal val="(6*min(max(#ppt_w*#ppt_h,.3),1)-7.4)/-.7*#ppt_h"/>
                                          </p:val>
                                        </p:tav>
                                        <p:tav tm="100000">
                                          <p:val>
                                            <p:strVal val="#ppt_h"/>
                                          </p:val>
                                        </p:tav>
                                      </p:tavLst>
                                    </p:anim>
                                    <p:anim calcmode="lin" valueType="num">
                                      <p:cBhvr>
                                        <p:cTn id="15" dur="500" fill="hold"/>
                                        <p:tgtEl>
                                          <p:spTgt spid="19"/>
                                        </p:tgtEl>
                                        <p:attrNameLst>
                                          <p:attrName>ppt_x</p:attrName>
                                        </p:attrNameLst>
                                      </p:cBhvr>
                                      <p:tavLst>
                                        <p:tav tm="0">
                                          <p:val>
                                            <p:fltVal val="0.5"/>
                                          </p:val>
                                        </p:tav>
                                        <p:tav tm="100000">
                                          <p:val>
                                            <p:strVal val="#ppt_x"/>
                                          </p:val>
                                        </p:tav>
                                      </p:tavLst>
                                    </p:anim>
                                    <p:anim calcmode="lin" valueType="num">
                                      <p:cBhvr>
                                        <p:cTn id="16" dur="500" fill="hold"/>
                                        <p:tgtEl>
                                          <p:spTgt spid="19"/>
                                        </p:tgtEl>
                                        <p:attrNameLst>
                                          <p:attrName>ppt_y</p:attrName>
                                        </p:attrNameLst>
                                      </p:cBhvr>
                                      <p:tavLst>
                                        <p:tav tm="0">
                                          <p:val>
                                            <p:strVal val="1+(6*min(max(#ppt_w*#ppt_h,.3),1)-7.4)/-.7*#ppt_h/2"/>
                                          </p:val>
                                        </p:tav>
                                        <p:tav tm="100000">
                                          <p:val>
                                            <p:strVal val="#ppt_y"/>
                                          </p:val>
                                        </p:tav>
                                      </p:tavLst>
                                    </p:anim>
                                  </p:childTnLst>
                                </p:cTn>
                              </p:par>
                              <p:par>
                                <p:cTn id="17" presetID="23" presetClass="entr" presetSubtype="36" fill="hold" grpId="0" nodeType="withEffect">
                                  <p:stCondLst>
                                    <p:cond delay="300"/>
                                  </p:stCondLst>
                                  <p:childTnLst>
                                    <p:set>
                                      <p:cBhvr>
                                        <p:cTn id="18" dur="1" fill="hold">
                                          <p:stCondLst>
                                            <p:cond delay="0"/>
                                          </p:stCondLst>
                                        </p:cTn>
                                        <p:tgtEl>
                                          <p:spTgt spid="20"/>
                                        </p:tgtEl>
                                        <p:attrNameLst>
                                          <p:attrName>style.visibility</p:attrName>
                                        </p:attrNameLst>
                                      </p:cBhvr>
                                      <p:to>
                                        <p:strVal val="visible"/>
                                      </p:to>
                                    </p:set>
                                    <p:anim calcmode="lin" valueType="num">
                                      <p:cBhvr>
                                        <p:cTn id="19" dur="500" fill="hold"/>
                                        <p:tgtEl>
                                          <p:spTgt spid="20"/>
                                        </p:tgtEl>
                                        <p:attrNameLst>
                                          <p:attrName>ppt_w</p:attrName>
                                        </p:attrNameLst>
                                      </p:cBhvr>
                                      <p:tavLst>
                                        <p:tav tm="0">
                                          <p:val>
                                            <p:strVal val="(6*min(max(#ppt_w*#ppt_h,.3),1)-7.4)/-.7*#ppt_w"/>
                                          </p:val>
                                        </p:tav>
                                        <p:tav tm="100000">
                                          <p:val>
                                            <p:strVal val="#ppt_w"/>
                                          </p:val>
                                        </p:tav>
                                      </p:tavLst>
                                    </p:anim>
                                    <p:anim calcmode="lin" valueType="num">
                                      <p:cBhvr>
                                        <p:cTn id="20" dur="500" fill="hold"/>
                                        <p:tgtEl>
                                          <p:spTgt spid="20"/>
                                        </p:tgtEl>
                                        <p:attrNameLst>
                                          <p:attrName>ppt_h</p:attrName>
                                        </p:attrNameLst>
                                      </p:cBhvr>
                                      <p:tavLst>
                                        <p:tav tm="0">
                                          <p:val>
                                            <p:strVal val="(6*min(max(#ppt_w*#ppt_h,.3),1)-7.4)/-.7*#ppt_h"/>
                                          </p:val>
                                        </p:tav>
                                        <p:tav tm="100000">
                                          <p:val>
                                            <p:strVal val="#ppt_h"/>
                                          </p:val>
                                        </p:tav>
                                      </p:tavLst>
                                    </p:anim>
                                    <p:anim calcmode="lin" valueType="num">
                                      <p:cBhvr>
                                        <p:cTn id="21" dur="500" fill="hold"/>
                                        <p:tgtEl>
                                          <p:spTgt spid="20"/>
                                        </p:tgtEl>
                                        <p:attrNameLst>
                                          <p:attrName>ppt_x</p:attrName>
                                        </p:attrNameLst>
                                      </p:cBhvr>
                                      <p:tavLst>
                                        <p:tav tm="0">
                                          <p:val>
                                            <p:fltVal val="0.5"/>
                                          </p:val>
                                        </p:tav>
                                        <p:tav tm="100000">
                                          <p:val>
                                            <p:strVal val="#ppt_x"/>
                                          </p:val>
                                        </p:tav>
                                      </p:tavLst>
                                    </p:anim>
                                    <p:anim calcmode="lin" valueType="num">
                                      <p:cBhvr>
                                        <p:cTn id="22" dur="500" fill="hold"/>
                                        <p:tgtEl>
                                          <p:spTgt spid="20"/>
                                        </p:tgtEl>
                                        <p:attrNameLst>
                                          <p:attrName>ppt_y</p:attrName>
                                        </p:attrNameLst>
                                      </p:cBhvr>
                                      <p:tavLst>
                                        <p:tav tm="0">
                                          <p:val>
                                            <p:strVal val="1+(6*min(max(#ppt_w*#ppt_h,.3),1)-7.4)/-.7*#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left)">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7" grpId="0"/>
      <p:bldP spid="2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a:solidFill>
                  <a:srgbClr val="00B0F0"/>
                </a:solidFill>
                <a:latin typeface="微软雅黑" pitchFamily="34" charset="-122"/>
                <a:ea typeface="微软雅黑" pitchFamily="34" charset="-122"/>
              </a:rPr>
              <a:t>选择子</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grpSp>
        <p:nvGrpSpPr>
          <p:cNvPr id="9" name="Group 5"/>
          <p:cNvGrpSpPr>
            <a:grpSpLocks/>
          </p:cNvGrpSpPr>
          <p:nvPr/>
        </p:nvGrpSpPr>
        <p:grpSpPr bwMode="auto">
          <a:xfrm>
            <a:off x="294392" y="1340768"/>
            <a:ext cx="6248400" cy="1101725"/>
            <a:chOff x="816" y="1910"/>
            <a:chExt cx="3936" cy="694"/>
          </a:xfrm>
        </p:grpSpPr>
        <p:sp>
          <p:nvSpPr>
            <p:cNvPr id="10" name="Rectangle 6"/>
            <p:cNvSpPr>
              <a:spLocks noChangeArrowheads="1"/>
            </p:cNvSpPr>
            <p:nvPr/>
          </p:nvSpPr>
          <p:spPr bwMode="auto">
            <a:xfrm>
              <a:off x="3984" y="2112"/>
              <a:ext cx="720" cy="48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 name="Text Box 7"/>
            <p:cNvSpPr txBox="1">
              <a:spLocks noChangeArrowheads="1"/>
            </p:cNvSpPr>
            <p:nvPr/>
          </p:nvSpPr>
          <p:spPr bwMode="auto">
            <a:xfrm>
              <a:off x="816" y="1910"/>
              <a:ext cx="393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Times New Roman" panose="02020603050405020304" pitchFamily="18" charset="0"/>
                </a:rPr>
                <a:t>15                                        8    7    6    5    4    3    2    1    0</a:t>
              </a:r>
              <a:r>
                <a:rPr lang="en-US" altLang="zh-CN" sz="1600">
                  <a:latin typeface="Times New Roman" panose="02020603050405020304" pitchFamily="18" charset="0"/>
                </a:rPr>
                <a:t>     </a:t>
              </a:r>
              <a:endParaRPr lang="en-US" altLang="zh-CN" sz="2400" b="0">
                <a:latin typeface="Times New Roman" panose="02020603050405020304" pitchFamily="18" charset="0"/>
              </a:endParaRPr>
            </a:p>
          </p:txBody>
        </p:sp>
        <p:sp>
          <p:nvSpPr>
            <p:cNvPr id="12" name="Line 8"/>
            <p:cNvSpPr>
              <a:spLocks noChangeShapeType="1"/>
            </p:cNvSpPr>
            <p:nvPr/>
          </p:nvSpPr>
          <p:spPr bwMode="auto">
            <a:xfrm>
              <a:off x="4224" y="2112"/>
              <a:ext cx="0" cy="492"/>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3" name="Line 9"/>
            <p:cNvSpPr>
              <a:spLocks noChangeShapeType="1"/>
            </p:cNvSpPr>
            <p:nvPr/>
          </p:nvSpPr>
          <p:spPr bwMode="auto">
            <a:xfrm>
              <a:off x="3984" y="2112"/>
              <a:ext cx="0" cy="492"/>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4" name="Line 10"/>
            <p:cNvSpPr>
              <a:spLocks noChangeShapeType="1"/>
            </p:cNvSpPr>
            <p:nvPr/>
          </p:nvSpPr>
          <p:spPr bwMode="auto">
            <a:xfrm>
              <a:off x="4464" y="2112"/>
              <a:ext cx="0" cy="492"/>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5" name="Rectangle 11"/>
            <p:cNvSpPr>
              <a:spLocks noChangeArrowheads="1"/>
            </p:cNvSpPr>
            <p:nvPr/>
          </p:nvSpPr>
          <p:spPr bwMode="auto">
            <a:xfrm>
              <a:off x="864" y="2111"/>
              <a:ext cx="3120" cy="481"/>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 name="Text Box 12"/>
            <p:cNvSpPr txBox="1">
              <a:spLocks noChangeArrowheads="1"/>
            </p:cNvSpPr>
            <p:nvPr/>
          </p:nvSpPr>
          <p:spPr bwMode="auto">
            <a:xfrm>
              <a:off x="4032" y="2170"/>
              <a:ext cx="144" cy="4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lnSpc>
                  <a:spcPct val="110000"/>
                </a:lnSpc>
              </a:pPr>
              <a:r>
                <a:rPr lang="en-US" altLang="zh-CN">
                  <a:latin typeface="Times New Roman" panose="02020603050405020304" pitchFamily="18" charset="0"/>
                </a:rPr>
                <a:t>T</a:t>
              </a:r>
            </a:p>
            <a:p>
              <a:pPr algn="ctr" eaLnBrk="1" hangingPunct="1">
                <a:lnSpc>
                  <a:spcPct val="110000"/>
                </a:lnSpc>
              </a:pPr>
              <a:r>
                <a:rPr lang="en-US" altLang="zh-CN">
                  <a:latin typeface="Times New Roman" panose="02020603050405020304" pitchFamily="18" charset="0"/>
                </a:rPr>
                <a:t>I</a:t>
              </a:r>
              <a:endParaRPr lang="en-US" altLang="zh-CN" b="0">
                <a:latin typeface="Times New Roman" panose="02020603050405020304" pitchFamily="18" charset="0"/>
              </a:endParaRPr>
            </a:p>
          </p:txBody>
        </p:sp>
        <p:sp>
          <p:nvSpPr>
            <p:cNvPr id="17" name="Line 13"/>
            <p:cNvSpPr>
              <a:spLocks noChangeShapeType="1"/>
            </p:cNvSpPr>
            <p:nvPr/>
          </p:nvSpPr>
          <p:spPr bwMode="auto">
            <a:xfrm>
              <a:off x="1104" y="2116"/>
              <a:ext cx="0" cy="476"/>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8" name="Line 14"/>
            <p:cNvSpPr>
              <a:spLocks noChangeShapeType="1"/>
            </p:cNvSpPr>
            <p:nvPr/>
          </p:nvSpPr>
          <p:spPr bwMode="auto">
            <a:xfrm>
              <a:off x="1824" y="2116"/>
              <a:ext cx="0" cy="476"/>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9" name="Line 15"/>
            <p:cNvSpPr>
              <a:spLocks noChangeShapeType="1"/>
            </p:cNvSpPr>
            <p:nvPr/>
          </p:nvSpPr>
          <p:spPr bwMode="auto">
            <a:xfrm>
              <a:off x="1344" y="2116"/>
              <a:ext cx="0" cy="476"/>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0" name="Line 16"/>
            <p:cNvSpPr>
              <a:spLocks noChangeShapeType="1"/>
            </p:cNvSpPr>
            <p:nvPr/>
          </p:nvSpPr>
          <p:spPr bwMode="auto">
            <a:xfrm>
              <a:off x="1584" y="2116"/>
              <a:ext cx="0" cy="476"/>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1" name="Line 17"/>
            <p:cNvSpPr>
              <a:spLocks noChangeShapeType="1"/>
            </p:cNvSpPr>
            <p:nvPr/>
          </p:nvSpPr>
          <p:spPr bwMode="auto">
            <a:xfrm>
              <a:off x="2064" y="2116"/>
              <a:ext cx="0" cy="476"/>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2" name="Line 18"/>
            <p:cNvSpPr>
              <a:spLocks noChangeShapeType="1"/>
            </p:cNvSpPr>
            <p:nvPr/>
          </p:nvSpPr>
          <p:spPr bwMode="auto">
            <a:xfrm>
              <a:off x="2784" y="2098"/>
              <a:ext cx="0" cy="476"/>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3" name="Line 19"/>
            <p:cNvSpPr>
              <a:spLocks noChangeShapeType="1"/>
            </p:cNvSpPr>
            <p:nvPr/>
          </p:nvSpPr>
          <p:spPr bwMode="auto">
            <a:xfrm>
              <a:off x="2304" y="2109"/>
              <a:ext cx="0" cy="476"/>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4" name="Line 20"/>
            <p:cNvSpPr>
              <a:spLocks noChangeShapeType="1"/>
            </p:cNvSpPr>
            <p:nvPr/>
          </p:nvSpPr>
          <p:spPr bwMode="auto">
            <a:xfrm>
              <a:off x="2544" y="2109"/>
              <a:ext cx="0" cy="476"/>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5" name="Text Box 21"/>
            <p:cNvSpPr txBox="1">
              <a:spLocks noChangeArrowheads="1"/>
            </p:cNvSpPr>
            <p:nvPr/>
          </p:nvSpPr>
          <p:spPr bwMode="auto">
            <a:xfrm>
              <a:off x="4272" y="2288"/>
              <a:ext cx="384" cy="160"/>
            </a:xfrm>
            <a:prstGeom prst="rect">
              <a:avLst/>
            </a:prstGeom>
            <a:solidFill>
              <a:srgbClr val="CCFFFF"/>
            </a:solidFill>
            <a:ln w="9525">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pPr>
              <a:r>
                <a:rPr lang="en-US" altLang="zh-CN">
                  <a:latin typeface="Times New Roman" panose="02020603050405020304" pitchFamily="18" charset="0"/>
                </a:rPr>
                <a:t>RPL</a:t>
              </a:r>
              <a:endParaRPr lang="en-US" altLang="zh-CN" b="0">
                <a:latin typeface="Times New Roman" panose="02020603050405020304" pitchFamily="18" charset="0"/>
              </a:endParaRPr>
            </a:p>
          </p:txBody>
        </p:sp>
        <p:sp>
          <p:nvSpPr>
            <p:cNvPr id="26" name="Line 22"/>
            <p:cNvSpPr>
              <a:spLocks noChangeShapeType="1"/>
            </p:cNvSpPr>
            <p:nvPr/>
          </p:nvSpPr>
          <p:spPr bwMode="auto">
            <a:xfrm>
              <a:off x="3024" y="2112"/>
              <a:ext cx="0" cy="476"/>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7" name="Line 23"/>
            <p:cNvSpPr>
              <a:spLocks noChangeShapeType="1"/>
            </p:cNvSpPr>
            <p:nvPr/>
          </p:nvSpPr>
          <p:spPr bwMode="auto">
            <a:xfrm>
              <a:off x="3264" y="2119"/>
              <a:ext cx="0" cy="476"/>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8" name="Line 24"/>
            <p:cNvSpPr>
              <a:spLocks noChangeShapeType="1"/>
            </p:cNvSpPr>
            <p:nvPr/>
          </p:nvSpPr>
          <p:spPr bwMode="auto">
            <a:xfrm>
              <a:off x="3504" y="2112"/>
              <a:ext cx="0" cy="476"/>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9" name="Line 25"/>
            <p:cNvSpPr>
              <a:spLocks noChangeShapeType="1"/>
            </p:cNvSpPr>
            <p:nvPr/>
          </p:nvSpPr>
          <p:spPr bwMode="auto">
            <a:xfrm>
              <a:off x="3744" y="2112"/>
              <a:ext cx="0" cy="476"/>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30" name="Text Box 26"/>
            <p:cNvSpPr txBox="1">
              <a:spLocks noChangeArrowheads="1"/>
            </p:cNvSpPr>
            <p:nvPr/>
          </p:nvSpPr>
          <p:spPr bwMode="auto">
            <a:xfrm>
              <a:off x="960" y="2256"/>
              <a:ext cx="2928" cy="190"/>
            </a:xfrm>
            <a:prstGeom prst="rect">
              <a:avLst/>
            </a:prstGeom>
            <a:solidFill>
              <a:srgbClr val="FFFF99"/>
            </a:solidFill>
            <a:ln w="9525">
              <a:solidFill>
                <a:srgbClr val="FF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pPr>
              <a:r>
                <a:rPr lang="zh-CN" altLang="zh-CN" sz="2400">
                  <a:latin typeface="Times New Roman" panose="02020603050405020304" pitchFamily="18" charset="0"/>
                  <a:ea typeface="楷体_GB2312" pitchFamily="49" charset="-122"/>
                </a:rPr>
                <a:t>描     述     符    索     引   </a:t>
              </a:r>
              <a:r>
                <a:rPr lang="en-US" altLang="zh-CN" sz="2400">
                  <a:latin typeface="Times New Roman" panose="02020603050405020304" pitchFamily="18" charset="0"/>
                  <a:ea typeface="楷体_GB2312" pitchFamily="49" charset="-122"/>
                </a:rPr>
                <a:t>n</a:t>
              </a:r>
            </a:p>
          </p:txBody>
        </p:sp>
      </p:grpSp>
      <p:sp>
        <p:nvSpPr>
          <p:cNvPr id="33" name="Text Box 32"/>
          <p:cNvSpPr txBox="1">
            <a:spLocks noChangeArrowheads="1"/>
          </p:cNvSpPr>
          <p:nvPr/>
        </p:nvSpPr>
        <p:spPr bwMode="auto">
          <a:xfrm>
            <a:off x="7018248" y="1340768"/>
            <a:ext cx="1403350" cy="4462760"/>
          </a:xfrm>
          <a:prstGeom prst="rect">
            <a:avLst/>
          </a:prstGeom>
          <a:solidFill>
            <a:srgbClr val="C0C0C0">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30000"/>
              </a:spcBef>
            </a:pPr>
            <a:endParaRPr lang="en-US" altLang="zh-CN" sz="2400" b="0" dirty="0">
              <a:latin typeface="Times New Roman" panose="02020603050405020304" pitchFamily="18" charset="0"/>
            </a:endParaRPr>
          </a:p>
          <a:p>
            <a:pPr algn="ctr" eaLnBrk="1" hangingPunct="1"/>
            <a:r>
              <a:rPr lang="zh-CN" altLang="en-US" dirty="0">
                <a:latin typeface="Times New Roman" panose="02020603050405020304" pitchFamily="18" charset="0"/>
                <a:ea typeface="楷体_GB2312" pitchFamily="49" charset="-122"/>
              </a:rPr>
              <a:t>描述符</a:t>
            </a:r>
            <a:r>
              <a:rPr lang="en-US" altLang="zh-CN" dirty="0">
                <a:latin typeface="Times New Roman" panose="02020603050405020304" pitchFamily="18" charset="0"/>
                <a:ea typeface="楷体_GB2312" pitchFamily="49" charset="-122"/>
              </a:rPr>
              <a:t>0</a:t>
            </a:r>
          </a:p>
          <a:p>
            <a:pPr algn="ctr" eaLnBrk="1" hangingPunct="1"/>
            <a:r>
              <a:rPr lang="zh-CN" altLang="en-US" dirty="0">
                <a:latin typeface="Times New Roman" panose="02020603050405020304" pitchFamily="18" charset="0"/>
                <a:ea typeface="楷体_GB2312" pitchFamily="49" charset="-122"/>
              </a:rPr>
              <a:t>描述符</a:t>
            </a:r>
            <a:r>
              <a:rPr lang="en-US" altLang="zh-CN" dirty="0">
                <a:latin typeface="Times New Roman" panose="02020603050405020304" pitchFamily="18" charset="0"/>
                <a:ea typeface="楷体_GB2312" pitchFamily="49" charset="-122"/>
              </a:rPr>
              <a:t>1</a:t>
            </a:r>
          </a:p>
          <a:p>
            <a:pPr algn="ctr" eaLnBrk="1" hangingPunct="1"/>
            <a:r>
              <a:rPr lang="en-US" altLang="zh-CN" dirty="0">
                <a:latin typeface="Times New Roman" panose="02020603050405020304" pitchFamily="18" charset="0"/>
                <a:ea typeface="楷体_GB2312" pitchFamily="49" charset="-122"/>
              </a:rPr>
              <a:t>……</a:t>
            </a:r>
          </a:p>
          <a:p>
            <a:pPr algn="ctr" eaLnBrk="1" hangingPunct="1"/>
            <a:r>
              <a:rPr lang="zh-CN" altLang="en-US" dirty="0">
                <a:solidFill>
                  <a:srgbClr val="0000FF"/>
                </a:solidFill>
                <a:latin typeface="Times New Roman" panose="02020603050405020304" pitchFamily="18" charset="0"/>
                <a:ea typeface="楷体_GB2312" pitchFamily="49" charset="-122"/>
              </a:rPr>
              <a:t>描述符</a:t>
            </a:r>
            <a:r>
              <a:rPr lang="en-US" altLang="zh-CN" dirty="0">
                <a:solidFill>
                  <a:srgbClr val="0000FF"/>
                </a:solidFill>
                <a:latin typeface="Times New Roman" panose="02020603050405020304" pitchFamily="18" charset="0"/>
                <a:ea typeface="楷体_GB2312" pitchFamily="49" charset="-122"/>
              </a:rPr>
              <a:t>n</a:t>
            </a:r>
            <a:endParaRPr lang="en-US" altLang="zh-CN" dirty="0">
              <a:latin typeface="Times New Roman" panose="02020603050405020304" pitchFamily="18" charset="0"/>
              <a:ea typeface="楷体_GB2312" pitchFamily="49" charset="-122"/>
            </a:endParaRPr>
          </a:p>
          <a:p>
            <a:pPr algn="ctr" eaLnBrk="1" hangingPunct="1"/>
            <a:r>
              <a:rPr lang="en-US" altLang="zh-CN" dirty="0">
                <a:latin typeface="Times New Roman" panose="02020603050405020304" pitchFamily="18" charset="0"/>
                <a:ea typeface="楷体_GB2312" pitchFamily="49" charset="-122"/>
              </a:rPr>
              <a:t>…...</a:t>
            </a:r>
          </a:p>
          <a:p>
            <a:pPr algn="ctr" eaLnBrk="1" hangingPunct="1"/>
            <a:r>
              <a:rPr lang="zh-CN" altLang="en-US" dirty="0">
                <a:latin typeface="Times New Roman" panose="02020603050405020304" pitchFamily="18" charset="0"/>
                <a:ea typeface="楷体_GB2312" pitchFamily="49" charset="-122"/>
              </a:rPr>
              <a:t>描述符</a:t>
            </a:r>
            <a:r>
              <a:rPr lang="en-US" altLang="zh-CN" dirty="0">
                <a:latin typeface="Times New Roman" panose="02020603050405020304" pitchFamily="18" charset="0"/>
                <a:ea typeface="楷体_GB2312" pitchFamily="49" charset="-122"/>
              </a:rPr>
              <a:t>N-1   </a:t>
            </a:r>
          </a:p>
          <a:p>
            <a:pPr algn="ctr" eaLnBrk="1" hangingPunct="1"/>
            <a:r>
              <a:rPr lang="zh-CN" altLang="en-US" dirty="0">
                <a:latin typeface="Times New Roman" panose="02020603050405020304" pitchFamily="18" charset="0"/>
                <a:ea typeface="楷体_GB2312" pitchFamily="49" charset="-122"/>
              </a:rPr>
              <a:t>描述符</a:t>
            </a:r>
            <a:r>
              <a:rPr lang="en-US" altLang="zh-CN" dirty="0">
                <a:latin typeface="Times New Roman" panose="02020603050405020304" pitchFamily="18" charset="0"/>
                <a:ea typeface="楷体_GB2312" pitchFamily="49" charset="-122"/>
              </a:rPr>
              <a:t>N-2</a:t>
            </a:r>
          </a:p>
          <a:p>
            <a:pPr algn="ctr" eaLnBrk="1" hangingPunct="1"/>
            <a:endParaRPr lang="en-US" altLang="zh-CN" dirty="0">
              <a:latin typeface="Times New Roman" panose="02020603050405020304" pitchFamily="18" charset="0"/>
              <a:ea typeface="楷体_GB2312" pitchFamily="49" charset="-122"/>
            </a:endParaRPr>
          </a:p>
          <a:p>
            <a:pPr algn="ctr" eaLnBrk="1" hangingPunct="1"/>
            <a:endParaRPr lang="en-US" altLang="zh-CN" dirty="0">
              <a:latin typeface="Times New Roman" panose="02020603050405020304" pitchFamily="18" charset="0"/>
              <a:ea typeface="楷体_GB2312" pitchFamily="49" charset="-122"/>
            </a:endParaRPr>
          </a:p>
          <a:p>
            <a:pPr algn="ctr" eaLnBrk="1" hangingPunct="1"/>
            <a:r>
              <a:rPr lang="zh-CN" altLang="en-US" dirty="0">
                <a:latin typeface="Times New Roman" panose="02020603050405020304" pitchFamily="18" charset="0"/>
                <a:ea typeface="楷体_GB2312" pitchFamily="49" charset="-122"/>
              </a:rPr>
              <a:t>描述符</a:t>
            </a:r>
            <a:r>
              <a:rPr lang="en-US" altLang="zh-CN" dirty="0">
                <a:latin typeface="Times New Roman" panose="02020603050405020304" pitchFamily="18" charset="0"/>
                <a:ea typeface="楷体_GB2312" pitchFamily="49" charset="-122"/>
              </a:rPr>
              <a:t>0</a:t>
            </a:r>
          </a:p>
          <a:p>
            <a:pPr algn="ctr" eaLnBrk="1" hangingPunct="1"/>
            <a:r>
              <a:rPr lang="zh-CN" altLang="en-US" dirty="0">
                <a:latin typeface="Times New Roman" panose="02020603050405020304" pitchFamily="18" charset="0"/>
                <a:ea typeface="楷体_GB2312" pitchFamily="49" charset="-122"/>
              </a:rPr>
              <a:t>描述符</a:t>
            </a:r>
            <a:r>
              <a:rPr lang="en-US" altLang="zh-CN" dirty="0">
                <a:latin typeface="Times New Roman" panose="02020603050405020304" pitchFamily="18" charset="0"/>
                <a:ea typeface="楷体_GB2312" pitchFamily="49" charset="-122"/>
              </a:rPr>
              <a:t>1</a:t>
            </a:r>
          </a:p>
          <a:p>
            <a:pPr algn="ctr" eaLnBrk="1" hangingPunct="1"/>
            <a:r>
              <a:rPr lang="en-US" altLang="zh-CN" dirty="0">
                <a:latin typeface="Times New Roman" panose="02020603050405020304" pitchFamily="18" charset="0"/>
                <a:ea typeface="楷体_GB2312" pitchFamily="49" charset="-122"/>
              </a:rPr>
              <a:t>……</a:t>
            </a:r>
          </a:p>
          <a:p>
            <a:pPr algn="ctr" eaLnBrk="1" hangingPunct="1"/>
            <a:r>
              <a:rPr lang="zh-CN" altLang="en-US" dirty="0">
                <a:solidFill>
                  <a:srgbClr val="FF0000"/>
                </a:solidFill>
                <a:latin typeface="楷体_GB2312" pitchFamily="49" charset="-122"/>
                <a:ea typeface="楷体_GB2312" pitchFamily="49" charset="-122"/>
              </a:rPr>
              <a:t>描述符</a:t>
            </a:r>
            <a:r>
              <a:rPr lang="en-US" altLang="zh-CN" dirty="0">
                <a:solidFill>
                  <a:srgbClr val="FF0000"/>
                </a:solidFill>
                <a:latin typeface="楷体_GB2312" pitchFamily="49" charset="-122"/>
                <a:ea typeface="楷体_GB2312" pitchFamily="49" charset="-122"/>
              </a:rPr>
              <a:t>n</a:t>
            </a:r>
            <a:endParaRPr lang="en-US" altLang="zh-CN" dirty="0">
              <a:latin typeface="Times New Roman" panose="02020603050405020304" pitchFamily="18" charset="0"/>
              <a:ea typeface="楷体_GB2312" pitchFamily="49" charset="-122"/>
            </a:endParaRPr>
          </a:p>
        </p:txBody>
      </p:sp>
      <p:sp>
        <p:nvSpPr>
          <p:cNvPr id="35" name="Line 34"/>
          <p:cNvSpPr>
            <a:spLocks noChangeShapeType="1"/>
          </p:cNvSpPr>
          <p:nvPr/>
        </p:nvSpPr>
        <p:spPr bwMode="auto">
          <a:xfrm>
            <a:off x="7018248" y="5379368"/>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 name="Line 35"/>
          <p:cNvSpPr>
            <a:spLocks noChangeShapeType="1"/>
          </p:cNvSpPr>
          <p:nvPr/>
        </p:nvSpPr>
        <p:spPr bwMode="auto">
          <a:xfrm>
            <a:off x="7018248" y="4769768"/>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7" name="Line 36"/>
          <p:cNvSpPr>
            <a:spLocks noChangeShapeType="1"/>
          </p:cNvSpPr>
          <p:nvPr/>
        </p:nvSpPr>
        <p:spPr bwMode="auto">
          <a:xfrm>
            <a:off x="7018248" y="4388768"/>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 name="Line 37"/>
          <p:cNvSpPr>
            <a:spLocks noChangeShapeType="1"/>
          </p:cNvSpPr>
          <p:nvPr/>
        </p:nvSpPr>
        <p:spPr bwMode="auto">
          <a:xfrm>
            <a:off x="7018248" y="3245768"/>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9" name="Line 38"/>
          <p:cNvSpPr>
            <a:spLocks noChangeShapeType="1"/>
          </p:cNvSpPr>
          <p:nvPr/>
        </p:nvSpPr>
        <p:spPr bwMode="auto">
          <a:xfrm>
            <a:off x="7018248" y="2940968"/>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 name="Line 39"/>
          <p:cNvSpPr>
            <a:spLocks noChangeShapeType="1"/>
          </p:cNvSpPr>
          <p:nvPr/>
        </p:nvSpPr>
        <p:spPr bwMode="auto">
          <a:xfrm>
            <a:off x="7018248" y="2636168"/>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1" name="Line 40"/>
          <p:cNvSpPr>
            <a:spLocks noChangeShapeType="1"/>
          </p:cNvSpPr>
          <p:nvPr/>
        </p:nvSpPr>
        <p:spPr bwMode="auto">
          <a:xfrm>
            <a:off x="7018248" y="2026568"/>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42" name="Group 42"/>
          <p:cNvGrpSpPr>
            <a:grpSpLocks/>
          </p:cNvGrpSpPr>
          <p:nvPr/>
        </p:nvGrpSpPr>
        <p:grpSpPr bwMode="auto">
          <a:xfrm>
            <a:off x="8513673" y="1797968"/>
            <a:ext cx="409575" cy="1981200"/>
            <a:chOff x="5454" y="576"/>
            <a:chExt cx="258" cy="1248"/>
          </a:xfrm>
        </p:grpSpPr>
        <p:sp>
          <p:nvSpPr>
            <p:cNvPr id="43" name="AutoShape 43"/>
            <p:cNvSpPr>
              <a:spLocks/>
            </p:cNvSpPr>
            <p:nvPr/>
          </p:nvSpPr>
          <p:spPr bwMode="auto">
            <a:xfrm>
              <a:off x="5454" y="624"/>
              <a:ext cx="47" cy="1200"/>
            </a:xfrm>
            <a:prstGeom prst="rightBrace">
              <a:avLst>
                <a:gd name="adj1" fmla="val 212766"/>
                <a:gd name="adj2" fmla="val 50000"/>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 name="Text Box 44"/>
            <p:cNvSpPr txBox="1">
              <a:spLocks noChangeArrowheads="1"/>
            </p:cNvSpPr>
            <p:nvPr/>
          </p:nvSpPr>
          <p:spPr bwMode="auto">
            <a:xfrm>
              <a:off x="5461" y="576"/>
              <a:ext cx="251" cy="1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latin typeface="Times New Roman" panose="02020603050405020304" pitchFamily="18" charset="0"/>
                  <a:ea typeface="楷体_GB2312" pitchFamily="49" charset="-122"/>
                </a:rPr>
                <a:t>全局</a:t>
              </a:r>
            </a:p>
            <a:p>
              <a:pPr algn="ctr" eaLnBrk="1" hangingPunct="1"/>
              <a:r>
                <a:rPr lang="zh-CN" altLang="en-US">
                  <a:latin typeface="Times New Roman" panose="02020603050405020304" pitchFamily="18" charset="0"/>
                  <a:ea typeface="楷体_GB2312" pitchFamily="49" charset="-122"/>
                </a:rPr>
                <a:t>描</a:t>
              </a:r>
            </a:p>
            <a:p>
              <a:pPr algn="ctr" eaLnBrk="1" hangingPunct="1"/>
              <a:r>
                <a:rPr lang="zh-CN" altLang="en-US">
                  <a:latin typeface="Times New Roman" panose="02020603050405020304" pitchFamily="18" charset="0"/>
                  <a:ea typeface="楷体_GB2312" pitchFamily="49" charset="-122"/>
                </a:rPr>
                <a:t>述</a:t>
              </a:r>
            </a:p>
            <a:p>
              <a:pPr algn="ctr" eaLnBrk="1" hangingPunct="1"/>
              <a:r>
                <a:rPr lang="zh-CN" altLang="en-US">
                  <a:latin typeface="Times New Roman" panose="02020603050405020304" pitchFamily="18" charset="0"/>
                  <a:ea typeface="楷体_GB2312" pitchFamily="49" charset="-122"/>
                </a:rPr>
                <a:t>符</a:t>
              </a:r>
            </a:p>
            <a:p>
              <a:pPr algn="ctr" eaLnBrk="1" hangingPunct="1"/>
              <a:r>
                <a:rPr lang="zh-CN" altLang="en-US">
                  <a:latin typeface="Times New Roman" panose="02020603050405020304" pitchFamily="18" charset="0"/>
                  <a:ea typeface="楷体_GB2312" pitchFamily="49" charset="-122"/>
                </a:rPr>
                <a:t>表</a:t>
              </a:r>
              <a:endParaRPr lang="zh-CN" altLang="en-US" sz="2400" b="0">
                <a:latin typeface="Times New Roman" panose="02020603050405020304" pitchFamily="18" charset="0"/>
              </a:endParaRPr>
            </a:p>
          </p:txBody>
        </p:sp>
      </p:grpSp>
      <p:sp>
        <p:nvSpPr>
          <p:cNvPr id="45" name="Line 45"/>
          <p:cNvSpPr>
            <a:spLocks noChangeShapeType="1"/>
          </p:cNvSpPr>
          <p:nvPr/>
        </p:nvSpPr>
        <p:spPr bwMode="auto">
          <a:xfrm>
            <a:off x="7018248" y="3550568"/>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Line 47"/>
          <p:cNvSpPr>
            <a:spLocks noChangeShapeType="1"/>
          </p:cNvSpPr>
          <p:nvPr/>
        </p:nvSpPr>
        <p:spPr bwMode="auto">
          <a:xfrm>
            <a:off x="7018248" y="1721768"/>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Line 48"/>
          <p:cNvSpPr>
            <a:spLocks noChangeShapeType="1"/>
          </p:cNvSpPr>
          <p:nvPr/>
        </p:nvSpPr>
        <p:spPr bwMode="auto">
          <a:xfrm>
            <a:off x="7018248" y="2331368"/>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Line 49"/>
          <p:cNvSpPr>
            <a:spLocks noChangeShapeType="1"/>
          </p:cNvSpPr>
          <p:nvPr/>
        </p:nvSpPr>
        <p:spPr bwMode="auto">
          <a:xfrm>
            <a:off x="7018248" y="3855368"/>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Line 50"/>
          <p:cNvSpPr>
            <a:spLocks noChangeShapeType="1"/>
          </p:cNvSpPr>
          <p:nvPr/>
        </p:nvSpPr>
        <p:spPr bwMode="auto">
          <a:xfrm>
            <a:off x="7018248" y="5074568"/>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53" name="Group 53"/>
          <p:cNvGrpSpPr>
            <a:grpSpLocks/>
          </p:cNvGrpSpPr>
          <p:nvPr/>
        </p:nvGrpSpPr>
        <p:grpSpPr bwMode="auto">
          <a:xfrm>
            <a:off x="8466054" y="4140679"/>
            <a:ext cx="570442" cy="1584019"/>
            <a:chOff x="5454" y="258"/>
            <a:chExt cx="301" cy="1566"/>
          </a:xfrm>
        </p:grpSpPr>
        <p:sp>
          <p:nvSpPr>
            <p:cNvPr id="54" name="AutoShape 54"/>
            <p:cNvSpPr>
              <a:spLocks/>
            </p:cNvSpPr>
            <p:nvPr/>
          </p:nvSpPr>
          <p:spPr bwMode="auto">
            <a:xfrm>
              <a:off x="5454" y="624"/>
              <a:ext cx="47" cy="1200"/>
            </a:xfrm>
            <a:prstGeom prst="rightBrace">
              <a:avLst>
                <a:gd name="adj1" fmla="val 212766"/>
                <a:gd name="adj2" fmla="val 50000"/>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5" name="Text Box 55"/>
            <p:cNvSpPr txBox="1">
              <a:spLocks noChangeArrowheads="1"/>
            </p:cNvSpPr>
            <p:nvPr/>
          </p:nvSpPr>
          <p:spPr bwMode="auto">
            <a:xfrm>
              <a:off x="5504" y="258"/>
              <a:ext cx="251" cy="1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latin typeface="Times New Roman" panose="02020603050405020304" pitchFamily="18" charset="0"/>
                  <a:ea typeface="楷体_GB2312" pitchFamily="49" charset="-122"/>
                </a:rPr>
                <a:t>局</a:t>
              </a:r>
            </a:p>
            <a:p>
              <a:pPr algn="ctr" eaLnBrk="1" hangingPunct="1"/>
              <a:r>
                <a:rPr lang="zh-CN" altLang="en-US" dirty="0">
                  <a:latin typeface="Times New Roman" panose="02020603050405020304" pitchFamily="18" charset="0"/>
                  <a:ea typeface="楷体_GB2312" pitchFamily="49" charset="-122"/>
                </a:rPr>
                <a:t>部</a:t>
              </a:r>
            </a:p>
            <a:p>
              <a:pPr algn="ctr" eaLnBrk="1" hangingPunct="1"/>
              <a:r>
                <a:rPr lang="zh-CN" altLang="en-US" dirty="0">
                  <a:latin typeface="Times New Roman" panose="02020603050405020304" pitchFamily="18" charset="0"/>
                  <a:ea typeface="楷体_GB2312" pitchFamily="49" charset="-122"/>
                </a:rPr>
                <a:t>描</a:t>
              </a:r>
            </a:p>
            <a:p>
              <a:pPr algn="ctr" eaLnBrk="1" hangingPunct="1"/>
              <a:r>
                <a:rPr lang="zh-CN" altLang="en-US" dirty="0">
                  <a:latin typeface="Times New Roman" panose="02020603050405020304" pitchFamily="18" charset="0"/>
                  <a:ea typeface="楷体_GB2312" pitchFamily="49" charset="-122"/>
                </a:rPr>
                <a:t>述</a:t>
              </a:r>
            </a:p>
            <a:p>
              <a:pPr algn="ctr" eaLnBrk="1" hangingPunct="1"/>
              <a:r>
                <a:rPr lang="zh-CN" altLang="en-US" dirty="0">
                  <a:latin typeface="Times New Roman" panose="02020603050405020304" pitchFamily="18" charset="0"/>
                  <a:ea typeface="楷体_GB2312" pitchFamily="49" charset="-122"/>
                </a:rPr>
                <a:t>符</a:t>
              </a:r>
            </a:p>
            <a:p>
              <a:pPr algn="ctr" eaLnBrk="1" hangingPunct="1"/>
              <a:r>
                <a:rPr lang="zh-CN" altLang="en-US" dirty="0">
                  <a:latin typeface="Times New Roman" panose="02020603050405020304" pitchFamily="18" charset="0"/>
                  <a:ea typeface="楷体_GB2312" pitchFamily="49" charset="-122"/>
                </a:rPr>
                <a:t>表</a:t>
              </a:r>
              <a:endParaRPr lang="zh-CN" altLang="en-US" sz="2400" b="0" dirty="0">
                <a:latin typeface="Times New Roman" panose="02020603050405020304" pitchFamily="18" charset="0"/>
              </a:endParaRPr>
            </a:p>
          </p:txBody>
        </p:sp>
      </p:grpSp>
      <p:grpSp>
        <p:nvGrpSpPr>
          <p:cNvPr id="56" name="Group 56"/>
          <p:cNvGrpSpPr>
            <a:grpSpLocks/>
          </p:cNvGrpSpPr>
          <p:nvPr/>
        </p:nvGrpSpPr>
        <p:grpSpPr bwMode="auto">
          <a:xfrm>
            <a:off x="2885192" y="2407568"/>
            <a:ext cx="4088600" cy="685800"/>
            <a:chOff x="1728" y="1001"/>
            <a:chExt cx="2784" cy="432"/>
          </a:xfrm>
        </p:grpSpPr>
        <p:grpSp>
          <p:nvGrpSpPr>
            <p:cNvPr id="57" name="Group 57"/>
            <p:cNvGrpSpPr>
              <a:grpSpLocks/>
            </p:cNvGrpSpPr>
            <p:nvPr/>
          </p:nvGrpSpPr>
          <p:grpSpPr bwMode="auto">
            <a:xfrm>
              <a:off x="1728" y="1001"/>
              <a:ext cx="2784" cy="240"/>
              <a:chOff x="1728" y="1001"/>
              <a:chExt cx="2784" cy="240"/>
            </a:xfrm>
          </p:grpSpPr>
          <p:sp>
            <p:nvSpPr>
              <p:cNvPr id="59" name="Line 58"/>
              <p:cNvSpPr>
                <a:spLocks noChangeShapeType="1"/>
              </p:cNvSpPr>
              <p:nvPr/>
            </p:nvSpPr>
            <p:spPr bwMode="auto">
              <a:xfrm>
                <a:off x="1728" y="1001"/>
                <a:ext cx="0" cy="24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0" name="Line 59"/>
              <p:cNvSpPr>
                <a:spLocks noChangeShapeType="1"/>
              </p:cNvSpPr>
              <p:nvPr/>
            </p:nvSpPr>
            <p:spPr bwMode="auto">
              <a:xfrm>
                <a:off x="1728" y="1241"/>
                <a:ext cx="2784"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58" name="Text Box 60"/>
            <p:cNvSpPr txBox="1">
              <a:spLocks noChangeArrowheads="1"/>
            </p:cNvSpPr>
            <p:nvPr/>
          </p:nvSpPr>
          <p:spPr bwMode="auto">
            <a:xfrm>
              <a:off x="3865" y="1241"/>
              <a:ext cx="43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dirty="0">
                  <a:latin typeface="Times New Roman" panose="02020603050405020304" pitchFamily="18" charset="0"/>
                </a:rPr>
                <a:t>TI=</a:t>
              </a:r>
              <a:r>
                <a:rPr lang="en-US" altLang="zh-CN" dirty="0">
                  <a:solidFill>
                    <a:srgbClr val="0000FF"/>
                  </a:solidFill>
                  <a:latin typeface="Times New Roman" panose="02020603050405020304" pitchFamily="18" charset="0"/>
                  <a:ea typeface="楷体_GB2312" pitchFamily="49" charset="-122"/>
                </a:rPr>
                <a:t>0</a:t>
              </a:r>
              <a:endParaRPr lang="en-US" altLang="zh-CN" sz="2400" b="0" dirty="0">
                <a:latin typeface="Times New Roman" panose="02020603050405020304" pitchFamily="18" charset="0"/>
              </a:endParaRPr>
            </a:p>
          </p:txBody>
        </p:sp>
      </p:grpSp>
      <p:grpSp>
        <p:nvGrpSpPr>
          <p:cNvPr id="61" name="Group 61"/>
          <p:cNvGrpSpPr>
            <a:grpSpLocks/>
          </p:cNvGrpSpPr>
          <p:nvPr/>
        </p:nvGrpSpPr>
        <p:grpSpPr bwMode="auto">
          <a:xfrm>
            <a:off x="5933192" y="2788568"/>
            <a:ext cx="1079370" cy="2743200"/>
            <a:chOff x="3648" y="1241"/>
            <a:chExt cx="864" cy="1728"/>
          </a:xfrm>
        </p:grpSpPr>
        <p:sp>
          <p:nvSpPr>
            <p:cNvPr id="62" name="Line 62"/>
            <p:cNvSpPr>
              <a:spLocks noChangeShapeType="1"/>
            </p:cNvSpPr>
            <p:nvPr/>
          </p:nvSpPr>
          <p:spPr bwMode="auto">
            <a:xfrm>
              <a:off x="3648" y="1241"/>
              <a:ext cx="0" cy="172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 name="Line 63"/>
            <p:cNvSpPr>
              <a:spLocks noChangeShapeType="1"/>
            </p:cNvSpPr>
            <p:nvPr/>
          </p:nvSpPr>
          <p:spPr bwMode="auto">
            <a:xfrm>
              <a:off x="3648" y="2969"/>
              <a:ext cx="864"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4" name="Text Box 64"/>
            <p:cNvSpPr txBox="1">
              <a:spLocks noChangeArrowheads="1"/>
            </p:cNvSpPr>
            <p:nvPr/>
          </p:nvSpPr>
          <p:spPr bwMode="auto">
            <a:xfrm>
              <a:off x="3740" y="2777"/>
              <a:ext cx="4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dirty="0">
                  <a:latin typeface="Times New Roman" panose="02020603050405020304" pitchFamily="18" charset="0"/>
                </a:rPr>
                <a:t>TI=</a:t>
              </a:r>
              <a:r>
                <a:rPr lang="en-US" altLang="zh-CN" dirty="0">
                  <a:solidFill>
                    <a:srgbClr val="FF0000"/>
                  </a:solidFill>
                  <a:latin typeface="Times New Roman" panose="02020603050405020304" pitchFamily="18" charset="0"/>
                </a:rPr>
                <a:t>1</a:t>
              </a:r>
              <a:endParaRPr lang="en-US" altLang="zh-CN" sz="2400" b="0" dirty="0">
                <a:latin typeface="Times New Roman" panose="02020603050405020304" pitchFamily="18" charset="0"/>
              </a:endParaRPr>
            </a:p>
          </p:txBody>
        </p:sp>
      </p:grpSp>
      <p:sp>
        <p:nvSpPr>
          <p:cNvPr id="65" name="矩形 64"/>
          <p:cNvSpPr/>
          <p:nvPr/>
        </p:nvSpPr>
        <p:spPr>
          <a:xfrm>
            <a:off x="300736" y="4072881"/>
            <a:ext cx="5455974" cy="792088"/>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ea typeface="微软雅黑" panose="020B0503020204020204" pitchFamily="34" charset="-122"/>
              </a:rPr>
              <a:t>TI:  </a:t>
            </a:r>
            <a:r>
              <a:rPr lang="zh-CN" altLang="en-US" sz="2000" b="1" dirty="0">
                <a:ea typeface="微软雅黑" panose="020B0503020204020204" pitchFamily="34" charset="-122"/>
              </a:rPr>
              <a:t>描述符表指示位，</a:t>
            </a:r>
            <a:r>
              <a:rPr lang="en-US" altLang="zh-CN" sz="2000" b="1" dirty="0">
                <a:ea typeface="微软雅黑" panose="020B0503020204020204" pitchFamily="34" charset="-122"/>
              </a:rPr>
              <a:t>0</a:t>
            </a:r>
            <a:r>
              <a:rPr lang="zh-CN" altLang="en-US" sz="2000" b="1" dirty="0">
                <a:ea typeface="微软雅黑" panose="020B0503020204020204" pitchFamily="34" charset="-122"/>
              </a:rPr>
              <a:t>：从</a:t>
            </a:r>
            <a:r>
              <a:rPr lang="en-US" altLang="zh-CN" sz="2000" b="1" dirty="0">
                <a:ea typeface="微软雅黑" panose="020B0503020204020204" pitchFamily="34" charset="-122"/>
              </a:rPr>
              <a:t>GDT</a:t>
            </a:r>
            <a:r>
              <a:rPr lang="zh-CN" altLang="en-US" sz="2000" b="1" dirty="0">
                <a:ea typeface="微软雅黑" panose="020B0503020204020204" pitchFamily="34" charset="-122"/>
              </a:rPr>
              <a:t>中读取描述符，</a:t>
            </a:r>
            <a:r>
              <a:rPr lang="en-US" altLang="zh-CN" sz="2000" b="1" dirty="0">
                <a:ea typeface="微软雅黑" panose="020B0503020204020204" pitchFamily="34" charset="-122"/>
              </a:rPr>
              <a:t>1</a:t>
            </a:r>
            <a:r>
              <a:rPr lang="zh-CN" altLang="en-US" sz="2000" b="1" dirty="0">
                <a:ea typeface="微软雅黑" panose="020B0503020204020204" pitchFamily="34" charset="-122"/>
              </a:rPr>
              <a:t>：从 </a:t>
            </a:r>
            <a:r>
              <a:rPr lang="en-US" altLang="zh-CN" sz="2000" b="1" dirty="0">
                <a:ea typeface="微软雅黑" panose="020B0503020204020204" pitchFamily="34" charset="-122"/>
              </a:rPr>
              <a:t>LDT</a:t>
            </a:r>
            <a:r>
              <a:rPr lang="zh-CN" altLang="en-US" sz="2000" b="1" dirty="0">
                <a:ea typeface="微软雅黑" panose="020B0503020204020204" pitchFamily="34" charset="-122"/>
              </a:rPr>
              <a:t>中读取描述符</a:t>
            </a:r>
          </a:p>
        </p:txBody>
      </p:sp>
      <p:sp>
        <p:nvSpPr>
          <p:cNvPr id="66" name="矩形 65"/>
          <p:cNvSpPr/>
          <p:nvPr/>
        </p:nvSpPr>
        <p:spPr>
          <a:xfrm>
            <a:off x="300736" y="3132411"/>
            <a:ext cx="5455974" cy="792088"/>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描述符索引</a:t>
            </a:r>
            <a:r>
              <a:rPr lang="en-US" altLang="zh-CN" sz="2000" b="1" dirty="0">
                <a:ea typeface="微软雅黑" panose="020B0503020204020204" pitchFamily="34" charset="-122"/>
              </a:rPr>
              <a:t>n</a:t>
            </a:r>
            <a:r>
              <a:rPr lang="zh-CN" altLang="en-US" sz="2000" b="1" dirty="0">
                <a:ea typeface="微软雅黑" panose="020B0503020204020204" pitchFamily="34" charset="-122"/>
              </a:rPr>
              <a:t>：指示所要读取的描述符在描述符表中的序号。</a:t>
            </a:r>
          </a:p>
        </p:txBody>
      </p:sp>
      <p:sp>
        <p:nvSpPr>
          <p:cNvPr id="67" name="矩形 66"/>
          <p:cNvSpPr/>
          <p:nvPr/>
        </p:nvSpPr>
        <p:spPr>
          <a:xfrm>
            <a:off x="294392" y="5002612"/>
            <a:ext cx="5455974" cy="792088"/>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ea typeface="微软雅黑" panose="020B0503020204020204" pitchFamily="34" charset="-122"/>
              </a:rPr>
              <a:t>RPL: </a:t>
            </a:r>
            <a:r>
              <a:rPr lang="zh-CN" altLang="en-US" sz="2000" b="1" dirty="0">
                <a:ea typeface="微软雅黑" panose="020B0503020204020204" pitchFamily="34" charset="-122"/>
              </a:rPr>
              <a:t>表示请求特权级。</a:t>
            </a:r>
            <a:r>
              <a:rPr lang="en-US" altLang="zh-CN" sz="2000" b="1" dirty="0">
                <a:ea typeface="微软雅黑" panose="020B0503020204020204" pitchFamily="34" charset="-122"/>
              </a:rPr>
              <a:t>0~3</a:t>
            </a:r>
            <a:r>
              <a:rPr lang="zh-CN" altLang="en-US" sz="2000" b="1" dirty="0">
                <a:ea typeface="微软雅黑" panose="020B0503020204020204" pitchFamily="34" charset="-122"/>
              </a:rPr>
              <a:t>级，用于权限检查，以决定对该段能否进行访问。</a:t>
            </a:r>
          </a:p>
        </p:txBody>
      </p:sp>
      <p:sp>
        <p:nvSpPr>
          <p:cNvPr id="68" name="矩形 4"/>
          <p:cNvSpPr>
            <a:spLocks noChangeArrowheads="1"/>
          </p:cNvSpPr>
          <p:nvPr/>
        </p:nvSpPr>
        <p:spPr bwMode="auto">
          <a:xfrm>
            <a:off x="1187624" y="6112923"/>
            <a:ext cx="6120680" cy="412421"/>
          </a:xfrm>
          <a:prstGeom prst="rect">
            <a:avLst/>
          </a:prstGeom>
          <a:noFill/>
          <a:ln w="9525">
            <a:noFill/>
            <a:miter lim="800000"/>
            <a:headEnd/>
            <a:tailEnd/>
          </a:ln>
        </p:spPr>
        <p:txBody>
          <a:bodyPr wrap="square">
            <a:spAutoFit/>
          </a:bodyPr>
          <a:lstStyle/>
          <a:p>
            <a:pPr>
              <a:lnSpc>
                <a:spcPct val="130000"/>
              </a:lnSpc>
              <a:spcBef>
                <a:spcPts val="200"/>
              </a:spcBef>
              <a:spcAft>
                <a:spcPts val="60"/>
              </a:spcAft>
            </a:pPr>
            <a:r>
              <a:rPr lang="zh-CN" altLang="en-US" sz="1600" b="1" dirty="0">
                <a:solidFill>
                  <a:schemeClr val="tx1">
                    <a:lumMod val="65000"/>
                    <a:lumOff val="35000"/>
                  </a:schemeClr>
                </a:solidFill>
                <a:latin typeface="微软雅黑" pitchFamily="34" charset="-122"/>
                <a:ea typeface="微软雅黑" pitchFamily="34" charset="-122"/>
              </a:rPr>
              <a:t>为加快查表和计算，</a:t>
            </a:r>
            <a:r>
              <a:rPr lang="en-US" altLang="zh-CN" sz="1600" b="1" dirty="0">
                <a:solidFill>
                  <a:schemeClr val="tx1">
                    <a:lumMod val="65000"/>
                    <a:lumOff val="35000"/>
                  </a:schemeClr>
                </a:solidFill>
                <a:latin typeface="微软雅黑" pitchFamily="34" charset="-122"/>
                <a:ea typeface="微软雅黑" pitchFamily="34" charset="-122"/>
              </a:rPr>
              <a:t>CPU</a:t>
            </a:r>
            <a:r>
              <a:rPr lang="zh-CN" altLang="en-US" sz="1600" b="1" dirty="0">
                <a:solidFill>
                  <a:schemeClr val="tx1">
                    <a:lumMod val="65000"/>
                    <a:lumOff val="35000"/>
                  </a:schemeClr>
                </a:solidFill>
                <a:latin typeface="微软雅黑" pitchFamily="34" charset="-122"/>
                <a:ea typeface="微软雅黑" pitchFamily="34" charset="-122"/>
              </a:rPr>
              <a:t>里每个选择子有对应的描述符高速缓存。</a:t>
            </a:r>
          </a:p>
        </p:txBody>
      </p:sp>
      <p:pic>
        <p:nvPicPr>
          <p:cNvPr id="69" name="Picture 2" descr="C:\Documents and Settings\tdz\桌面\未标题-1 拷贝.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95536" y="6021288"/>
            <a:ext cx="629959" cy="590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6499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down)">
                                      <p:cBhvr>
                                        <p:cTn id="7" dur="500"/>
                                        <p:tgtEl>
                                          <p:spTgt spid="68"/>
                                        </p:tgtEl>
                                      </p:cBhvr>
                                    </p:animEffect>
                                  </p:childTnLst>
                                </p:cTn>
                              </p:par>
                              <p:par>
                                <p:cTn id="8" presetID="22" presetClass="entr" presetSubtype="4" fill="hold" nodeType="withEffect">
                                  <p:stCondLst>
                                    <p:cond delay="0"/>
                                  </p:stCondLst>
                                  <p:childTnLst>
                                    <p:set>
                                      <p:cBhvr>
                                        <p:cTn id="9" dur="1" fill="hold">
                                          <p:stCondLst>
                                            <p:cond delay="0"/>
                                          </p:stCondLst>
                                        </p:cTn>
                                        <p:tgtEl>
                                          <p:spTgt spid="69"/>
                                        </p:tgtEl>
                                        <p:attrNameLst>
                                          <p:attrName>style.visibility</p:attrName>
                                        </p:attrNameLst>
                                      </p:cBhvr>
                                      <p:to>
                                        <p:strVal val="visible"/>
                                      </p:to>
                                    </p:set>
                                    <p:animEffect transition="in" filter="wipe(down)">
                                      <p:cBhvr>
                                        <p:cTn id="10"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存储段描述符的分类</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graphicFrame>
        <p:nvGraphicFramePr>
          <p:cNvPr id="7" name="图示 6"/>
          <p:cNvGraphicFramePr/>
          <p:nvPr>
            <p:extLst>
              <p:ext uri="{D42A27DB-BD31-4B8C-83A1-F6EECF244321}">
                <p14:modId xmlns:p14="http://schemas.microsoft.com/office/powerpoint/2010/main" val="2785269680"/>
              </p:ext>
            </p:extLst>
          </p:nvPr>
        </p:nvGraphicFramePr>
        <p:xfrm>
          <a:off x="1403648" y="2893392"/>
          <a:ext cx="6624736" cy="2551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矩形 5"/>
          <p:cNvSpPr/>
          <p:nvPr/>
        </p:nvSpPr>
        <p:spPr>
          <a:xfrm>
            <a:off x="1907704" y="1494097"/>
            <a:ext cx="5400600" cy="792088"/>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ea typeface="微软雅黑" panose="020B0503020204020204" pitchFamily="34" charset="-122"/>
              </a:rPr>
              <a:t>描述符分为存储段描述符和系统段描述符。</a:t>
            </a:r>
          </a:p>
        </p:txBody>
      </p:sp>
      <p:sp>
        <p:nvSpPr>
          <p:cNvPr id="5" name="矩形 4"/>
          <p:cNvSpPr/>
          <p:nvPr/>
        </p:nvSpPr>
        <p:spPr>
          <a:xfrm>
            <a:off x="1907704" y="2708920"/>
            <a:ext cx="5400600" cy="2952328"/>
          </a:xfrm>
          <a:prstGeom prst="rect">
            <a:avLst/>
          </a:prstGeom>
          <a:noFill/>
          <a:ln w="952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6769092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系统段描述符的分类</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graphicFrame>
        <p:nvGraphicFramePr>
          <p:cNvPr id="7" name="图示 6"/>
          <p:cNvGraphicFramePr/>
          <p:nvPr>
            <p:extLst>
              <p:ext uri="{D42A27DB-BD31-4B8C-83A1-F6EECF244321}">
                <p14:modId xmlns:p14="http://schemas.microsoft.com/office/powerpoint/2010/main" val="540412382"/>
              </p:ext>
            </p:extLst>
          </p:nvPr>
        </p:nvGraphicFramePr>
        <p:xfrm>
          <a:off x="1547664" y="836712"/>
          <a:ext cx="6096000" cy="44960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矩形 5"/>
          <p:cNvSpPr/>
          <p:nvPr/>
        </p:nvSpPr>
        <p:spPr>
          <a:xfrm>
            <a:off x="1259210" y="1660352"/>
            <a:ext cx="6625158" cy="2952328"/>
          </a:xfrm>
          <a:prstGeom prst="rect">
            <a:avLst/>
          </a:prstGeom>
          <a:noFill/>
          <a:ln w="952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4533602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023831" y="2084225"/>
            <a:ext cx="5040560" cy="720080"/>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段界限值的</a:t>
            </a:r>
            <a:r>
              <a:rPr lang="en-US" altLang="zh-CN" sz="2000" dirty="0">
                <a:latin typeface="微软雅黑" panose="020B0503020204020204" pitchFamily="34" charset="-122"/>
                <a:ea typeface="微软雅黑" panose="020B0503020204020204" pitchFamily="34" charset="-122"/>
              </a:rPr>
              <a:t>15~0</a:t>
            </a:r>
            <a:r>
              <a:rPr lang="zh-CN" altLang="en-US" sz="2000" dirty="0">
                <a:latin typeface="微软雅黑" panose="020B0503020204020204" pitchFamily="34" charset="-122"/>
                <a:ea typeface="微软雅黑" panose="020B0503020204020204" pitchFamily="34" charset="-122"/>
              </a:rPr>
              <a:t>位</a:t>
            </a:r>
          </a:p>
        </p:txBody>
      </p:sp>
      <p:sp>
        <p:nvSpPr>
          <p:cNvPr id="3" name="矩形 2"/>
          <p:cNvSpPr/>
          <p:nvPr/>
        </p:nvSpPr>
        <p:spPr>
          <a:xfrm>
            <a:off x="2023831" y="2816798"/>
            <a:ext cx="5040560" cy="72008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段基址的</a:t>
            </a:r>
            <a:r>
              <a:rPr lang="en-US" altLang="zh-CN" sz="2000" dirty="0">
                <a:latin typeface="微软雅黑" panose="020B0503020204020204" pitchFamily="34" charset="-122"/>
                <a:ea typeface="微软雅黑" panose="020B0503020204020204" pitchFamily="34" charset="-122"/>
              </a:rPr>
              <a:t>15~0</a:t>
            </a:r>
            <a:r>
              <a:rPr lang="zh-CN" altLang="en-US" sz="2000" dirty="0">
                <a:latin typeface="微软雅黑" panose="020B0503020204020204" pitchFamily="34" charset="-122"/>
                <a:ea typeface="微软雅黑" panose="020B0503020204020204" pitchFamily="34" charset="-122"/>
              </a:rPr>
              <a:t>位</a:t>
            </a:r>
          </a:p>
        </p:txBody>
      </p:sp>
      <p:sp>
        <p:nvSpPr>
          <p:cNvPr id="7" name="矩形 6"/>
          <p:cNvSpPr/>
          <p:nvPr/>
        </p:nvSpPr>
        <p:spPr>
          <a:xfrm>
            <a:off x="4544111" y="3554699"/>
            <a:ext cx="2520280" cy="72008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段基址的</a:t>
            </a:r>
            <a:r>
              <a:rPr lang="en-US" altLang="zh-CN" dirty="0">
                <a:latin typeface="微软雅黑" panose="020B0503020204020204" pitchFamily="34" charset="-122"/>
                <a:ea typeface="微软雅黑" panose="020B0503020204020204" pitchFamily="34" charset="-122"/>
              </a:rPr>
              <a:t>23~16</a:t>
            </a:r>
            <a:r>
              <a:rPr lang="zh-CN" altLang="en-US" dirty="0">
                <a:latin typeface="微软雅黑" panose="020B0503020204020204" pitchFamily="34" charset="-122"/>
                <a:ea typeface="微软雅黑" panose="020B0503020204020204" pitchFamily="34" charset="-122"/>
              </a:rPr>
              <a:t>位</a:t>
            </a:r>
          </a:p>
        </p:txBody>
      </p:sp>
      <p:sp>
        <p:nvSpPr>
          <p:cNvPr id="8" name="矩形 7"/>
          <p:cNvSpPr/>
          <p:nvPr/>
        </p:nvSpPr>
        <p:spPr>
          <a:xfrm>
            <a:off x="2023831" y="4293096"/>
            <a:ext cx="2520280" cy="72008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段基址的</a:t>
            </a:r>
            <a:r>
              <a:rPr lang="en-US" altLang="zh-CN" sz="2000" dirty="0">
                <a:latin typeface="微软雅黑" panose="020B0503020204020204" pitchFamily="34" charset="-122"/>
                <a:ea typeface="微软雅黑" panose="020B0503020204020204" pitchFamily="34" charset="-122"/>
              </a:rPr>
              <a:t>31~24</a:t>
            </a:r>
            <a:r>
              <a:rPr lang="zh-CN" altLang="en-US" sz="2000" dirty="0">
                <a:latin typeface="微软雅黑" panose="020B0503020204020204" pitchFamily="34" charset="-122"/>
                <a:ea typeface="微软雅黑" panose="020B0503020204020204" pitchFamily="34" charset="-122"/>
              </a:rPr>
              <a:t>位</a:t>
            </a:r>
          </a:p>
        </p:txBody>
      </p:sp>
      <p:sp>
        <p:nvSpPr>
          <p:cNvPr id="10" name="矩形 9"/>
          <p:cNvSpPr/>
          <p:nvPr/>
        </p:nvSpPr>
        <p:spPr>
          <a:xfrm>
            <a:off x="5797344" y="4293096"/>
            <a:ext cx="1267048" cy="720080"/>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段界限值</a:t>
            </a:r>
            <a:r>
              <a:rPr lang="en-US" altLang="zh-CN" dirty="0">
                <a:latin typeface="微软雅黑" panose="020B0503020204020204" pitchFamily="34" charset="-122"/>
                <a:ea typeface="微软雅黑" panose="020B0503020204020204" pitchFamily="34" charset="-122"/>
              </a:rPr>
              <a:t>19~16</a:t>
            </a:r>
            <a:r>
              <a:rPr lang="zh-CN" altLang="en-US" dirty="0">
                <a:latin typeface="微软雅黑" panose="020B0503020204020204" pitchFamily="34" charset="-122"/>
                <a:ea typeface="微软雅黑" panose="020B0503020204020204" pitchFamily="34" charset="-122"/>
              </a:rPr>
              <a:t>位</a:t>
            </a:r>
          </a:p>
        </p:txBody>
      </p:sp>
      <p:sp>
        <p:nvSpPr>
          <p:cNvPr id="11" name="矩形 10"/>
          <p:cNvSpPr/>
          <p:nvPr/>
        </p:nvSpPr>
        <p:spPr>
          <a:xfrm>
            <a:off x="7108067" y="2213432"/>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0</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2" name="矩形 11"/>
          <p:cNvSpPr/>
          <p:nvPr/>
        </p:nvSpPr>
        <p:spPr>
          <a:xfrm>
            <a:off x="7108067" y="2946005"/>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2</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3" name="矩形 12"/>
          <p:cNvSpPr/>
          <p:nvPr/>
        </p:nvSpPr>
        <p:spPr>
          <a:xfrm>
            <a:off x="7108067" y="3683906"/>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4</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4" name="矩形 13"/>
          <p:cNvSpPr/>
          <p:nvPr/>
        </p:nvSpPr>
        <p:spPr>
          <a:xfrm>
            <a:off x="7108067" y="4421807"/>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6</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5" name="矩形 14"/>
          <p:cNvSpPr/>
          <p:nvPr/>
        </p:nvSpPr>
        <p:spPr>
          <a:xfrm>
            <a:off x="1038414" y="2213432"/>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1</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矩形 15"/>
          <p:cNvSpPr/>
          <p:nvPr/>
        </p:nvSpPr>
        <p:spPr>
          <a:xfrm>
            <a:off x="1038414" y="2946005"/>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3</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7" name="矩形 16"/>
          <p:cNvSpPr/>
          <p:nvPr/>
        </p:nvSpPr>
        <p:spPr>
          <a:xfrm>
            <a:off x="1038414" y="3683906"/>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5</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8" name="矩形 17"/>
          <p:cNvSpPr/>
          <p:nvPr/>
        </p:nvSpPr>
        <p:spPr>
          <a:xfrm>
            <a:off x="1038414" y="4421807"/>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7</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9" name="Text Box 6"/>
          <p:cNvSpPr txBox="1">
            <a:spLocks noChangeArrowheads="1"/>
          </p:cNvSpPr>
          <p:nvPr/>
        </p:nvSpPr>
        <p:spPr bwMode="auto">
          <a:xfrm>
            <a:off x="2023831" y="1745671"/>
            <a:ext cx="5084236"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15                                8    7   6   5   4   3    2   1   0</a:t>
            </a:r>
            <a:endParaRPr lang="en-US" altLang="zh-CN" sz="1600" b="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0" name="矩形 19"/>
          <p:cNvSpPr/>
          <p:nvPr/>
        </p:nvSpPr>
        <p:spPr>
          <a:xfrm>
            <a:off x="2023831" y="3554699"/>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P</a:t>
            </a:r>
            <a:endParaRPr lang="zh-CN" altLang="en-US" sz="1400" dirty="0">
              <a:latin typeface="微软雅黑" panose="020B0503020204020204" pitchFamily="34" charset="-122"/>
              <a:ea typeface="微软雅黑" panose="020B0503020204020204" pitchFamily="34" charset="-122"/>
            </a:endParaRPr>
          </a:p>
        </p:txBody>
      </p:sp>
      <p:sp>
        <p:nvSpPr>
          <p:cNvPr id="21" name="矩形 20"/>
          <p:cNvSpPr/>
          <p:nvPr/>
        </p:nvSpPr>
        <p:spPr>
          <a:xfrm>
            <a:off x="2350597" y="3554699"/>
            <a:ext cx="552192"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DPL</a:t>
            </a:r>
            <a:endParaRPr lang="zh-CN" altLang="en-US" sz="1400" dirty="0">
              <a:latin typeface="微软雅黑" panose="020B0503020204020204" pitchFamily="34" charset="-122"/>
              <a:ea typeface="微软雅黑" panose="020B0503020204020204" pitchFamily="34" charset="-122"/>
            </a:endParaRPr>
          </a:p>
        </p:txBody>
      </p:sp>
      <p:sp>
        <p:nvSpPr>
          <p:cNvPr id="23" name="矩形 22"/>
          <p:cNvSpPr/>
          <p:nvPr/>
        </p:nvSpPr>
        <p:spPr>
          <a:xfrm>
            <a:off x="2922599" y="3554699"/>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DT</a:t>
            </a:r>
          </a:p>
          <a:p>
            <a:pPr algn="ctr"/>
            <a:r>
              <a:rPr lang="en-US" altLang="zh-CN" sz="1400" dirty="0">
                <a:solidFill>
                  <a:srgbClr val="FFFF00"/>
                </a:solidFill>
                <a:latin typeface="微软雅黑" panose="020B0503020204020204" pitchFamily="34" charset="-122"/>
                <a:ea typeface="微软雅黑" panose="020B0503020204020204" pitchFamily="34" charset="-122"/>
              </a:rPr>
              <a:t>1</a:t>
            </a:r>
            <a:endParaRPr lang="zh-CN" altLang="en-US" dirty="0">
              <a:solidFill>
                <a:srgbClr val="FFFF00"/>
              </a:solidFill>
              <a:latin typeface="微软雅黑" panose="020B0503020204020204" pitchFamily="34" charset="-122"/>
              <a:ea typeface="微软雅黑" panose="020B0503020204020204" pitchFamily="34" charset="-122"/>
            </a:endParaRPr>
          </a:p>
        </p:txBody>
      </p:sp>
      <p:sp>
        <p:nvSpPr>
          <p:cNvPr id="24" name="矩形 23"/>
          <p:cNvSpPr/>
          <p:nvPr/>
        </p:nvSpPr>
        <p:spPr>
          <a:xfrm>
            <a:off x="3249873" y="3554699"/>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E</a:t>
            </a:r>
            <a:endParaRPr lang="zh-CN" altLang="en-US" sz="1600" dirty="0">
              <a:latin typeface="微软雅黑" panose="020B0503020204020204" pitchFamily="34" charset="-122"/>
              <a:ea typeface="微软雅黑" panose="020B0503020204020204" pitchFamily="34" charset="-122"/>
            </a:endParaRPr>
          </a:p>
        </p:txBody>
      </p:sp>
      <p:sp>
        <p:nvSpPr>
          <p:cNvPr id="25" name="矩形 24"/>
          <p:cNvSpPr/>
          <p:nvPr/>
        </p:nvSpPr>
        <p:spPr>
          <a:xfrm>
            <a:off x="3576639" y="3554699"/>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latin typeface="微软雅黑" panose="020B0503020204020204" pitchFamily="34" charset="-122"/>
                <a:ea typeface="微软雅黑" panose="020B0503020204020204" pitchFamily="34" charset="-122"/>
              </a:rPr>
              <a:t>ED/C</a:t>
            </a:r>
            <a:endParaRPr lang="zh-CN" altLang="en-US" sz="1050" dirty="0">
              <a:latin typeface="微软雅黑" panose="020B0503020204020204" pitchFamily="34" charset="-122"/>
              <a:ea typeface="微软雅黑" panose="020B0503020204020204" pitchFamily="34" charset="-122"/>
            </a:endParaRPr>
          </a:p>
        </p:txBody>
      </p:sp>
      <p:sp>
        <p:nvSpPr>
          <p:cNvPr id="26" name="矩形 25"/>
          <p:cNvSpPr/>
          <p:nvPr/>
        </p:nvSpPr>
        <p:spPr>
          <a:xfrm>
            <a:off x="3906199" y="3554699"/>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latin typeface="微软雅黑" panose="020B0503020204020204" pitchFamily="34" charset="-122"/>
                <a:ea typeface="微软雅黑" panose="020B0503020204020204" pitchFamily="34" charset="-122"/>
              </a:rPr>
              <a:t>W/R</a:t>
            </a:r>
            <a:endParaRPr lang="zh-CN" altLang="en-US" sz="1100" dirty="0">
              <a:latin typeface="微软雅黑" panose="020B0503020204020204" pitchFamily="34" charset="-122"/>
              <a:ea typeface="微软雅黑" panose="020B0503020204020204" pitchFamily="34" charset="-122"/>
            </a:endParaRPr>
          </a:p>
        </p:txBody>
      </p:sp>
      <p:sp>
        <p:nvSpPr>
          <p:cNvPr id="27" name="矩形 26"/>
          <p:cNvSpPr/>
          <p:nvPr/>
        </p:nvSpPr>
        <p:spPr>
          <a:xfrm>
            <a:off x="4236647" y="3554699"/>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A</a:t>
            </a:r>
            <a:endParaRPr lang="zh-CN" altLang="en-US" dirty="0">
              <a:latin typeface="微软雅黑" panose="020B0503020204020204" pitchFamily="34" charset="-122"/>
              <a:ea typeface="微软雅黑" panose="020B0503020204020204" pitchFamily="34" charset="-122"/>
            </a:endParaRPr>
          </a:p>
        </p:txBody>
      </p:sp>
      <p:sp>
        <p:nvSpPr>
          <p:cNvPr id="28" name="矩形 27"/>
          <p:cNvSpPr/>
          <p:nvPr/>
        </p:nvSpPr>
        <p:spPr>
          <a:xfrm>
            <a:off x="4523609" y="4293096"/>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G</a:t>
            </a:r>
            <a:endParaRPr lang="zh-CN" altLang="en-US" sz="1600" dirty="0">
              <a:latin typeface="微软雅黑" panose="020B0503020204020204" pitchFamily="34" charset="-122"/>
              <a:ea typeface="微软雅黑" panose="020B0503020204020204" pitchFamily="34" charset="-122"/>
            </a:endParaRPr>
          </a:p>
        </p:txBody>
      </p:sp>
      <p:sp>
        <p:nvSpPr>
          <p:cNvPr id="29" name="矩形 28"/>
          <p:cNvSpPr/>
          <p:nvPr/>
        </p:nvSpPr>
        <p:spPr>
          <a:xfrm>
            <a:off x="4850375" y="4293096"/>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D</a:t>
            </a:r>
            <a:endParaRPr lang="zh-CN" altLang="en-US" sz="1400" dirty="0">
              <a:latin typeface="微软雅黑" panose="020B0503020204020204" pitchFamily="34" charset="-122"/>
              <a:ea typeface="微软雅黑" panose="020B0503020204020204" pitchFamily="34" charset="-122"/>
            </a:endParaRPr>
          </a:p>
        </p:txBody>
      </p:sp>
      <p:sp>
        <p:nvSpPr>
          <p:cNvPr id="30" name="矩形 29"/>
          <p:cNvSpPr/>
          <p:nvPr/>
        </p:nvSpPr>
        <p:spPr>
          <a:xfrm>
            <a:off x="5179935" y="4293096"/>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p:txBody>
      </p:sp>
      <p:sp>
        <p:nvSpPr>
          <p:cNvPr id="31" name="矩形 30"/>
          <p:cNvSpPr/>
          <p:nvPr/>
        </p:nvSpPr>
        <p:spPr>
          <a:xfrm>
            <a:off x="5510383" y="4293096"/>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AVL</a:t>
            </a:r>
            <a:endParaRPr lang="zh-CN" altLang="en-US" dirty="0">
              <a:latin typeface="微软雅黑" panose="020B0503020204020204" pitchFamily="34" charset="-122"/>
              <a:ea typeface="微软雅黑" panose="020B0503020204020204" pitchFamily="34" charset="-122"/>
            </a:endParaRPr>
          </a:p>
        </p:txBody>
      </p:sp>
      <p:cxnSp>
        <p:nvCxnSpPr>
          <p:cNvPr id="32" name="直接连接符 3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存储段（非系统）描述符格式</a:t>
            </a:r>
            <a:endParaRPr lang="zh-CN" altLang="en-US" sz="3200" b="1" dirty="0">
              <a:solidFill>
                <a:srgbClr val="00C4F0"/>
              </a:solidFill>
              <a:latin typeface="微软雅黑" pitchFamily="34" charset="-122"/>
              <a:ea typeface="微软雅黑" pitchFamily="34" charset="-122"/>
            </a:endParaRPr>
          </a:p>
        </p:txBody>
      </p:sp>
      <p:cxnSp>
        <p:nvCxnSpPr>
          <p:cNvPr id="34" name="直接连接符 33"/>
          <p:cNvCxnSpPr/>
          <p:nvPr/>
        </p:nvCxnSpPr>
        <p:spPr bwMode="auto">
          <a:xfrm>
            <a:off x="1619250" y="1123963"/>
            <a:ext cx="5905500" cy="0"/>
          </a:xfrm>
          <a:prstGeom prst="line">
            <a:avLst/>
          </a:prstGeom>
          <a:noFill/>
          <a:ln w="28575" cap="flat" cmpd="sng" algn="ctr">
            <a:solidFill>
              <a:srgbClr val="FFC000"/>
            </a:solidFill>
            <a:prstDash val="sysDot"/>
          </a:ln>
          <a:effectLst/>
        </p:spPr>
      </p:cxnSp>
    </p:spTree>
    <p:extLst>
      <p:ext uri="{BB962C8B-B14F-4D97-AF65-F5344CB8AC3E}">
        <p14:creationId xmlns:p14="http://schemas.microsoft.com/office/powerpoint/2010/main" val="26950452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 name="直接连接符 40"/>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42"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存储段（非系统）描述符格式</a:t>
            </a:r>
            <a:endParaRPr lang="zh-CN" altLang="en-US" sz="3200" b="1" dirty="0">
              <a:solidFill>
                <a:srgbClr val="00C4F0"/>
              </a:solidFill>
              <a:latin typeface="微软雅黑" pitchFamily="34" charset="-122"/>
              <a:ea typeface="微软雅黑" pitchFamily="34" charset="-122"/>
            </a:endParaRPr>
          </a:p>
        </p:txBody>
      </p:sp>
      <p:cxnSp>
        <p:nvCxnSpPr>
          <p:cNvPr id="43" name="直接连接符 4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44" name="矩形 43"/>
          <p:cNvSpPr/>
          <p:nvPr/>
        </p:nvSpPr>
        <p:spPr>
          <a:xfrm>
            <a:off x="7318202" y="1722875"/>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5</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5" name="矩形 44"/>
          <p:cNvSpPr/>
          <p:nvPr/>
        </p:nvSpPr>
        <p:spPr>
          <a:xfrm>
            <a:off x="4710127"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P</a:t>
            </a:r>
            <a:endParaRPr lang="zh-CN" altLang="en-US" sz="1400" dirty="0">
              <a:latin typeface="微软雅黑" panose="020B0503020204020204" pitchFamily="34" charset="-122"/>
              <a:ea typeface="微软雅黑" panose="020B0503020204020204" pitchFamily="34" charset="-122"/>
            </a:endParaRPr>
          </a:p>
        </p:txBody>
      </p:sp>
      <p:sp>
        <p:nvSpPr>
          <p:cNvPr id="46" name="矩形 45"/>
          <p:cNvSpPr/>
          <p:nvPr/>
        </p:nvSpPr>
        <p:spPr>
          <a:xfrm>
            <a:off x="5036893" y="1593668"/>
            <a:ext cx="552192"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DPL</a:t>
            </a:r>
            <a:endParaRPr lang="zh-CN" altLang="en-US" sz="1400" dirty="0">
              <a:latin typeface="微软雅黑" panose="020B0503020204020204" pitchFamily="34" charset="-122"/>
              <a:ea typeface="微软雅黑" panose="020B0503020204020204" pitchFamily="34" charset="-122"/>
            </a:endParaRPr>
          </a:p>
        </p:txBody>
      </p:sp>
      <p:sp>
        <p:nvSpPr>
          <p:cNvPr id="47" name="矩形 46"/>
          <p:cNvSpPr/>
          <p:nvPr/>
        </p:nvSpPr>
        <p:spPr>
          <a:xfrm>
            <a:off x="5608895"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DT</a:t>
            </a:r>
          </a:p>
          <a:p>
            <a:pPr algn="ctr"/>
            <a:r>
              <a:rPr lang="en-US" altLang="zh-CN" sz="1400"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48" name="矩形 47"/>
          <p:cNvSpPr/>
          <p:nvPr/>
        </p:nvSpPr>
        <p:spPr>
          <a:xfrm>
            <a:off x="5936169"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E</a:t>
            </a:r>
            <a:endParaRPr lang="zh-CN" altLang="en-US" sz="1600" dirty="0">
              <a:latin typeface="微软雅黑" panose="020B0503020204020204" pitchFamily="34" charset="-122"/>
              <a:ea typeface="微软雅黑" panose="020B0503020204020204" pitchFamily="34" charset="-122"/>
            </a:endParaRPr>
          </a:p>
        </p:txBody>
      </p:sp>
      <p:sp>
        <p:nvSpPr>
          <p:cNvPr id="49" name="矩形 48"/>
          <p:cNvSpPr/>
          <p:nvPr/>
        </p:nvSpPr>
        <p:spPr>
          <a:xfrm>
            <a:off x="6262935"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latin typeface="微软雅黑" panose="020B0503020204020204" pitchFamily="34" charset="-122"/>
                <a:ea typeface="微软雅黑" panose="020B0503020204020204" pitchFamily="34" charset="-122"/>
              </a:rPr>
              <a:t>ED/C</a:t>
            </a:r>
            <a:endParaRPr lang="zh-CN" altLang="en-US" sz="1050" dirty="0">
              <a:latin typeface="微软雅黑" panose="020B0503020204020204" pitchFamily="34" charset="-122"/>
              <a:ea typeface="微软雅黑" panose="020B0503020204020204" pitchFamily="34" charset="-122"/>
            </a:endParaRPr>
          </a:p>
        </p:txBody>
      </p:sp>
      <p:sp>
        <p:nvSpPr>
          <p:cNvPr id="50" name="矩形 49"/>
          <p:cNvSpPr/>
          <p:nvPr/>
        </p:nvSpPr>
        <p:spPr>
          <a:xfrm>
            <a:off x="6592495"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latin typeface="微软雅黑" panose="020B0503020204020204" pitchFamily="34" charset="-122"/>
                <a:ea typeface="微软雅黑" panose="020B0503020204020204" pitchFamily="34" charset="-122"/>
              </a:rPr>
              <a:t>W/R</a:t>
            </a:r>
            <a:endParaRPr lang="zh-CN" altLang="en-US" sz="1100" dirty="0">
              <a:latin typeface="微软雅黑" panose="020B0503020204020204" pitchFamily="34" charset="-122"/>
              <a:ea typeface="微软雅黑" panose="020B0503020204020204" pitchFamily="34" charset="-122"/>
            </a:endParaRPr>
          </a:p>
        </p:txBody>
      </p:sp>
      <p:sp>
        <p:nvSpPr>
          <p:cNvPr id="51" name="矩形 50"/>
          <p:cNvSpPr/>
          <p:nvPr/>
        </p:nvSpPr>
        <p:spPr>
          <a:xfrm>
            <a:off x="6922943"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A</a:t>
            </a:r>
            <a:endParaRPr lang="zh-CN" altLang="en-US" dirty="0">
              <a:latin typeface="微软雅黑" panose="020B0503020204020204" pitchFamily="34" charset="-122"/>
              <a:ea typeface="微软雅黑" panose="020B0503020204020204" pitchFamily="34" charset="-122"/>
            </a:endParaRPr>
          </a:p>
        </p:txBody>
      </p:sp>
      <p:sp>
        <p:nvSpPr>
          <p:cNvPr id="52" name="矩形 51"/>
          <p:cNvSpPr/>
          <p:nvPr/>
        </p:nvSpPr>
        <p:spPr>
          <a:xfrm>
            <a:off x="2887518" y="1593668"/>
            <a:ext cx="1267048" cy="720080"/>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段界限值</a:t>
            </a:r>
            <a:r>
              <a:rPr lang="en-US" altLang="zh-CN" dirty="0">
                <a:latin typeface="微软雅黑" panose="020B0503020204020204" pitchFamily="34" charset="-122"/>
                <a:ea typeface="微软雅黑" panose="020B0503020204020204" pitchFamily="34" charset="-122"/>
              </a:rPr>
              <a:t>19~16</a:t>
            </a:r>
            <a:r>
              <a:rPr lang="zh-CN" altLang="en-US" dirty="0">
                <a:latin typeface="微软雅黑" panose="020B0503020204020204" pitchFamily="34" charset="-122"/>
                <a:ea typeface="微软雅黑" panose="020B0503020204020204" pitchFamily="34" charset="-122"/>
              </a:rPr>
              <a:t>位</a:t>
            </a:r>
          </a:p>
        </p:txBody>
      </p:sp>
      <p:sp>
        <p:nvSpPr>
          <p:cNvPr id="53" name="矩形 52"/>
          <p:cNvSpPr/>
          <p:nvPr/>
        </p:nvSpPr>
        <p:spPr>
          <a:xfrm>
            <a:off x="677679" y="1722379"/>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6</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54" name="矩形 53"/>
          <p:cNvSpPr/>
          <p:nvPr/>
        </p:nvSpPr>
        <p:spPr>
          <a:xfrm>
            <a:off x="1613783"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G</a:t>
            </a:r>
            <a:endParaRPr lang="zh-CN" altLang="en-US" sz="1600" dirty="0">
              <a:latin typeface="微软雅黑" panose="020B0503020204020204" pitchFamily="34" charset="-122"/>
              <a:ea typeface="微软雅黑" panose="020B0503020204020204" pitchFamily="34" charset="-122"/>
            </a:endParaRPr>
          </a:p>
        </p:txBody>
      </p:sp>
      <p:sp>
        <p:nvSpPr>
          <p:cNvPr id="55" name="矩形 54"/>
          <p:cNvSpPr/>
          <p:nvPr/>
        </p:nvSpPr>
        <p:spPr>
          <a:xfrm>
            <a:off x="1940549"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D</a:t>
            </a:r>
            <a:endParaRPr lang="zh-CN" altLang="en-US" sz="1400" dirty="0">
              <a:latin typeface="微软雅黑" panose="020B0503020204020204" pitchFamily="34" charset="-122"/>
              <a:ea typeface="微软雅黑" panose="020B0503020204020204" pitchFamily="34" charset="-122"/>
            </a:endParaRPr>
          </a:p>
        </p:txBody>
      </p:sp>
      <p:sp>
        <p:nvSpPr>
          <p:cNvPr id="56" name="矩形 55"/>
          <p:cNvSpPr/>
          <p:nvPr/>
        </p:nvSpPr>
        <p:spPr>
          <a:xfrm>
            <a:off x="2270109"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p:txBody>
      </p:sp>
      <p:sp>
        <p:nvSpPr>
          <p:cNvPr id="57" name="矩形 56"/>
          <p:cNvSpPr/>
          <p:nvPr/>
        </p:nvSpPr>
        <p:spPr>
          <a:xfrm>
            <a:off x="2600557"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AVL</a:t>
            </a:r>
            <a:endParaRPr lang="zh-CN" altLang="en-US" dirty="0">
              <a:latin typeface="微软雅黑" panose="020B0503020204020204" pitchFamily="34" charset="-122"/>
              <a:ea typeface="微软雅黑" panose="020B0503020204020204" pitchFamily="34" charset="-122"/>
            </a:endParaRPr>
          </a:p>
        </p:txBody>
      </p:sp>
      <p:sp>
        <p:nvSpPr>
          <p:cNvPr id="59" name="圆角矩形 58"/>
          <p:cNvSpPr/>
          <p:nvPr/>
        </p:nvSpPr>
        <p:spPr>
          <a:xfrm>
            <a:off x="642864" y="3133158"/>
            <a:ext cx="2228366" cy="971236"/>
          </a:xfrm>
          <a:prstGeom prst="roundRect">
            <a:avLst>
              <a:gd name="adj" fmla="val 4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ea typeface="微软雅黑" panose="020B0503020204020204" pitchFamily="34" charset="-122"/>
              </a:rPr>
              <a:t>段界限粒度位</a:t>
            </a:r>
            <a:r>
              <a:rPr lang="en-US" altLang="zh-CN" sz="1600" dirty="0">
                <a:ea typeface="微软雅黑" panose="020B0503020204020204" pitchFamily="34" charset="-122"/>
              </a:rPr>
              <a:t>: </a:t>
            </a:r>
          </a:p>
          <a:p>
            <a:r>
              <a:rPr lang="en-US" altLang="zh-CN" sz="1600" dirty="0">
                <a:ea typeface="微软雅黑" panose="020B0503020204020204" pitchFamily="34" charset="-122"/>
              </a:rPr>
              <a:t>0</a:t>
            </a:r>
            <a:r>
              <a:rPr lang="zh-CN" altLang="en-US" sz="1600" dirty="0">
                <a:ea typeface="微软雅黑" panose="020B0503020204020204" pitchFamily="34" charset="-122"/>
              </a:rPr>
              <a:t>：界限粒度为字节</a:t>
            </a:r>
            <a:endParaRPr lang="en-US" altLang="zh-CN" sz="1600" dirty="0">
              <a:ea typeface="微软雅黑" panose="020B0503020204020204" pitchFamily="34" charset="-122"/>
            </a:endParaRPr>
          </a:p>
          <a:p>
            <a:r>
              <a:rPr lang="en-US" altLang="zh-CN" sz="1600" dirty="0">
                <a:ea typeface="微软雅黑" panose="020B0503020204020204" pitchFamily="34" charset="-122"/>
              </a:rPr>
              <a:t>1</a:t>
            </a:r>
            <a:r>
              <a:rPr lang="zh-CN" altLang="en-US" sz="1600" dirty="0">
                <a:ea typeface="微软雅黑" panose="020B0503020204020204" pitchFamily="34" charset="-122"/>
              </a:rPr>
              <a:t>：界限粒度为</a:t>
            </a:r>
            <a:r>
              <a:rPr lang="en-US" altLang="zh-CN" sz="1600" dirty="0">
                <a:ea typeface="微软雅黑" panose="020B0503020204020204" pitchFamily="34" charset="-122"/>
              </a:rPr>
              <a:t>4K</a:t>
            </a:r>
            <a:r>
              <a:rPr lang="zh-CN" altLang="en-US" sz="1600" dirty="0">
                <a:ea typeface="微软雅黑" panose="020B0503020204020204" pitchFamily="34" charset="-122"/>
              </a:rPr>
              <a:t>字节</a:t>
            </a:r>
            <a:endParaRPr lang="en-US" altLang="zh-CN" sz="1600" dirty="0">
              <a:ea typeface="微软雅黑" panose="020B0503020204020204" pitchFamily="34" charset="-122"/>
            </a:endParaRPr>
          </a:p>
        </p:txBody>
      </p:sp>
      <p:cxnSp>
        <p:nvCxnSpPr>
          <p:cNvPr id="60" name="直接连接符 59"/>
          <p:cNvCxnSpPr/>
          <p:nvPr/>
        </p:nvCxnSpPr>
        <p:spPr>
          <a:xfrm>
            <a:off x="1767515" y="2313748"/>
            <a:ext cx="0" cy="819410"/>
          </a:xfrm>
          <a:prstGeom prst="line">
            <a:avLst/>
          </a:prstGeom>
        </p:spPr>
        <p:style>
          <a:lnRef idx="1">
            <a:schemeClr val="accent1"/>
          </a:lnRef>
          <a:fillRef idx="0">
            <a:schemeClr val="accent1"/>
          </a:fillRef>
          <a:effectRef idx="0">
            <a:schemeClr val="accent1"/>
          </a:effectRef>
          <a:fontRef idx="minor">
            <a:schemeClr val="tx1"/>
          </a:fontRef>
        </p:style>
      </p:cxnSp>
      <p:sp>
        <p:nvSpPr>
          <p:cNvPr id="61" name="圆角矩形 60"/>
          <p:cNvSpPr/>
          <p:nvPr/>
        </p:nvSpPr>
        <p:spPr>
          <a:xfrm>
            <a:off x="6220921" y="2934700"/>
            <a:ext cx="2599941" cy="1368152"/>
          </a:xfrm>
          <a:prstGeom prst="roundRect">
            <a:avLst>
              <a:gd name="adj" fmla="val 4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ea typeface="微软雅黑" panose="020B0503020204020204" pitchFamily="34" charset="-122"/>
              </a:rPr>
              <a:t>可读</a:t>
            </a:r>
            <a:r>
              <a:rPr lang="en-US" altLang="zh-CN" sz="1600" dirty="0">
                <a:ea typeface="微软雅黑" panose="020B0503020204020204" pitchFamily="34" charset="-122"/>
              </a:rPr>
              <a:t>/</a:t>
            </a:r>
            <a:r>
              <a:rPr lang="zh-CN" altLang="en-US" sz="1600" dirty="0">
                <a:ea typeface="微软雅黑" panose="020B0503020204020204" pitchFamily="34" charset="-122"/>
              </a:rPr>
              <a:t>写位：</a:t>
            </a:r>
            <a:r>
              <a:rPr lang="en-US" altLang="zh-CN" sz="1600" dirty="0">
                <a:ea typeface="微软雅黑" panose="020B0503020204020204" pitchFamily="34" charset="-122"/>
              </a:rPr>
              <a:t> </a:t>
            </a:r>
          </a:p>
          <a:p>
            <a:r>
              <a:rPr lang="zh-CN" altLang="en-US" sz="1600" dirty="0">
                <a:ea typeface="微软雅黑" panose="020B0503020204020204" pitchFamily="34" charset="-122"/>
              </a:rPr>
              <a:t>对数据段</a:t>
            </a:r>
            <a:r>
              <a:rPr lang="en-US" altLang="zh-CN" sz="1600" dirty="0">
                <a:ea typeface="微软雅黑" panose="020B0503020204020204" pitchFamily="34" charset="-122"/>
              </a:rPr>
              <a:t>1</a:t>
            </a:r>
            <a:r>
              <a:rPr lang="zh-CN" altLang="en-US" sz="1600" dirty="0">
                <a:ea typeface="微软雅黑" panose="020B0503020204020204" pitchFamily="34" charset="-122"/>
              </a:rPr>
              <a:t>表示该段可读可写，</a:t>
            </a:r>
            <a:r>
              <a:rPr lang="en-US" altLang="zh-CN" sz="1600" dirty="0">
                <a:ea typeface="微软雅黑" panose="020B0503020204020204" pitchFamily="34" charset="-122"/>
              </a:rPr>
              <a:t>0</a:t>
            </a:r>
            <a:r>
              <a:rPr lang="zh-CN" altLang="en-US" sz="1600" dirty="0">
                <a:ea typeface="微软雅黑" panose="020B0503020204020204" pitchFamily="34" charset="-122"/>
              </a:rPr>
              <a:t>表示可读不可写；</a:t>
            </a:r>
            <a:endParaRPr lang="en-US" altLang="zh-CN" sz="1600" dirty="0">
              <a:ea typeface="微软雅黑" panose="020B0503020204020204" pitchFamily="34" charset="-122"/>
            </a:endParaRPr>
          </a:p>
          <a:p>
            <a:r>
              <a:rPr lang="zh-CN" altLang="en-US" sz="1600" dirty="0">
                <a:ea typeface="微软雅黑" panose="020B0503020204020204" pitchFamily="34" charset="-122"/>
              </a:rPr>
              <a:t>对代码段</a:t>
            </a:r>
            <a:r>
              <a:rPr lang="en-US" altLang="zh-CN" sz="1600" dirty="0">
                <a:ea typeface="微软雅黑" panose="020B0503020204020204" pitchFamily="34" charset="-122"/>
              </a:rPr>
              <a:t>1</a:t>
            </a:r>
            <a:r>
              <a:rPr lang="zh-CN" altLang="en-US" sz="1600" dirty="0">
                <a:ea typeface="微软雅黑" panose="020B0503020204020204" pitchFamily="34" charset="-122"/>
              </a:rPr>
              <a:t>表示该段可执行可读，</a:t>
            </a:r>
            <a:r>
              <a:rPr lang="en-US" altLang="zh-CN" sz="1600" dirty="0">
                <a:ea typeface="微软雅黑" panose="020B0503020204020204" pitchFamily="34" charset="-122"/>
              </a:rPr>
              <a:t>0</a:t>
            </a:r>
            <a:r>
              <a:rPr lang="zh-CN" altLang="en-US" sz="1600" dirty="0">
                <a:ea typeface="微软雅黑" panose="020B0503020204020204" pitchFamily="34" charset="-122"/>
              </a:rPr>
              <a:t>表示可执行不可读。</a:t>
            </a:r>
            <a:endParaRPr lang="en-US" altLang="zh-CN" sz="1600" dirty="0">
              <a:ea typeface="微软雅黑" panose="020B0503020204020204" pitchFamily="34" charset="-122"/>
            </a:endParaRPr>
          </a:p>
        </p:txBody>
      </p:sp>
      <p:sp>
        <p:nvSpPr>
          <p:cNvPr id="62" name="圆角矩形 61"/>
          <p:cNvSpPr/>
          <p:nvPr/>
        </p:nvSpPr>
        <p:spPr>
          <a:xfrm>
            <a:off x="3198503" y="3133158"/>
            <a:ext cx="2814531" cy="971236"/>
          </a:xfrm>
          <a:prstGeom prst="roundRect">
            <a:avLst>
              <a:gd name="adj" fmla="val 4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ea typeface="微软雅黑" panose="020B0503020204020204" pitchFamily="34" charset="-122"/>
              </a:rPr>
              <a:t>表示描述符的类型：</a:t>
            </a:r>
          </a:p>
          <a:p>
            <a:r>
              <a:rPr lang="en-US" altLang="zh-CN" sz="1600" dirty="0">
                <a:solidFill>
                  <a:srgbClr val="FFFF00"/>
                </a:solidFill>
                <a:ea typeface="微软雅黑" panose="020B0503020204020204" pitchFamily="34" charset="-122"/>
              </a:rPr>
              <a:t>1</a:t>
            </a:r>
            <a:r>
              <a:rPr lang="zh-CN" altLang="en-US" sz="1600" dirty="0">
                <a:solidFill>
                  <a:srgbClr val="FFFF00"/>
                </a:solidFill>
                <a:ea typeface="微软雅黑" panose="020B0503020204020204" pitchFamily="34" charset="-122"/>
              </a:rPr>
              <a:t>：存储段描述符</a:t>
            </a:r>
          </a:p>
          <a:p>
            <a:r>
              <a:rPr lang="en-US" altLang="zh-CN" sz="1600" dirty="0">
                <a:ea typeface="微软雅黑" panose="020B0503020204020204" pitchFamily="34" charset="-122"/>
              </a:rPr>
              <a:t>0</a:t>
            </a:r>
            <a:r>
              <a:rPr lang="zh-CN" altLang="en-US" sz="1600" dirty="0">
                <a:ea typeface="微软雅黑" panose="020B0503020204020204" pitchFamily="34" charset="-122"/>
              </a:rPr>
              <a:t>：系统段描述符或门描述符</a:t>
            </a:r>
            <a:endParaRPr lang="en-US" altLang="zh-CN" sz="1600" dirty="0">
              <a:ea typeface="微软雅黑" panose="020B0503020204020204" pitchFamily="34" charset="-122"/>
            </a:endParaRPr>
          </a:p>
        </p:txBody>
      </p:sp>
      <p:cxnSp>
        <p:nvCxnSpPr>
          <p:cNvPr id="63" name="直接连接符 62"/>
          <p:cNvCxnSpPr/>
          <p:nvPr/>
        </p:nvCxnSpPr>
        <p:spPr>
          <a:xfrm>
            <a:off x="6089901" y="2313748"/>
            <a:ext cx="0" cy="2376264"/>
          </a:xfrm>
          <a:prstGeom prst="line">
            <a:avLst/>
          </a:prstGeom>
        </p:spPr>
        <p:style>
          <a:lnRef idx="1">
            <a:schemeClr val="accent1"/>
          </a:lnRef>
          <a:fillRef idx="0">
            <a:schemeClr val="accent1"/>
          </a:fillRef>
          <a:effectRef idx="0">
            <a:schemeClr val="accent1"/>
          </a:effectRef>
          <a:fontRef idx="minor">
            <a:schemeClr val="tx1"/>
          </a:fontRef>
        </p:style>
      </p:cxnSp>
      <p:sp>
        <p:nvSpPr>
          <p:cNvPr id="65" name="圆角矩形 64"/>
          <p:cNvSpPr/>
          <p:nvPr/>
        </p:nvSpPr>
        <p:spPr>
          <a:xfrm>
            <a:off x="4569048" y="4690012"/>
            <a:ext cx="3021399" cy="971236"/>
          </a:xfrm>
          <a:prstGeom prst="roundRect">
            <a:avLst>
              <a:gd name="adj" fmla="val 4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ea typeface="微软雅黑" panose="020B0503020204020204" pitchFamily="34" charset="-122"/>
              </a:rPr>
              <a:t>可执行位：</a:t>
            </a:r>
            <a:r>
              <a:rPr lang="en-US" altLang="zh-CN" sz="1600" dirty="0">
                <a:ea typeface="微软雅黑" panose="020B0503020204020204" pitchFamily="34" charset="-122"/>
              </a:rPr>
              <a:t> </a:t>
            </a:r>
          </a:p>
          <a:p>
            <a:r>
              <a:rPr lang="en-US" altLang="zh-CN" sz="1600" dirty="0">
                <a:ea typeface="微软雅黑" panose="020B0503020204020204" pitchFamily="34" charset="-122"/>
              </a:rPr>
              <a:t>1</a:t>
            </a:r>
            <a:r>
              <a:rPr lang="zh-CN" altLang="en-US" sz="1600" dirty="0">
                <a:ea typeface="微软雅黑" panose="020B0503020204020204" pitchFamily="34" charset="-122"/>
              </a:rPr>
              <a:t>：可执行，为代码段描述符</a:t>
            </a:r>
            <a:endParaRPr lang="en-US" altLang="zh-CN" sz="1600" dirty="0">
              <a:ea typeface="微软雅黑" panose="020B0503020204020204" pitchFamily="34" charset="-122"/>
            </a:endParaRPr>
          </a:p>
          <a:p>
            <a:r>
              <a:rPr lang="en-US" altLang="zh-CN" sz="1600" dirty="0">
                <a:ea typeface="微软雅黑" panose="020B0503020204020204" pitchFamily="34" charset="-122"/>
              </a:rPr>
              <a:t>0</a:t>
            </a:r>
            <a:r>
              <a:rPr lang="zh-CN" altLang="en-US" sz="1600" dirty="0">
                <a:ea typeface="微软雅黑" panose="020B0503020204020204" pitchFamily="34" charset="-122"/>
              </a:rPr>
              <a:t>：不可执行，为数据段描述符</a:t>
            </a:r>
            <a:endParaRPr lang="en-US" altLang="zh-CN" sz="1600" dirty="0">
              <a:ea typeface="微软雅黑" panose="020B0503020204020204" pitchFamily="34" charset="-122"/>
            </a:endParaRPr>
          </a:p>
        </p:txBody>
      </p:sp>
      <p:cxnSp>
        <p:nvCxnSpPr>
          <p:cNvPr id="66" name="直接连接符 65"/>
          <p:cNvCxnSpPr/>
          <p:nvPr/>
        </p:nvCxnSpPr>
        <p:spPr>
          <a:xfrm>
            <a:off x="5762627" y="2313748"/>
            <a:ext cx="0" cy="81941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6746227" y="2313748"/>
            <a:ext cx="0" cy="62095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5728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500"/>
                                        <p:tgtEl>
                                          <p:spTgt spid="6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wipe(up)">
                                      <p:cBhvr>
                                        <p:cTn id="10" dur="500"/>
                                        <p:tgtEl>
                                          <p:spTgt spid="6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wipe(up)">
                                      <p:cBhvr>
                                        <p:cTn id="15" dur="500"/>
                                        <p:tgtEl>
                                          <p:spTgt spid="61"/>
                                        </p:tgtEl>
                                      </p:cBhvr>
                                    </p:animEffect>
                                  </p:childTnLst>
                                </p:cTn>
                              </p:par>
                              <p:par>
                                <p:cTn id="16" presetID="22" presetClass="entr" presetSubtype="1" fill="hold" nodeType="withEffect">
                                  <p:stCondLst>
                                    <p:cond delay="0"/>
                                  </p:stCondLst>
                                  <p:childTnLst>
                                    <p:set>
                                      <p:cBhvr>
                                        <p:cTn id="17" dur="1" fill="hold">
                                          <p:stCondLst>
                                            <p:cond delay="0"/>
                                          </p:stCondLst>
                                        </p:cTn>
                                        <p:tgtEl>
                                          <p:spTgt spid="67"/>
                                        </p:tgtEl>
                                        <p:attrNameLst>
                                          <p:attrName>style.visibility</p:attrName>
                                        </p:attrNameLst>
                                      </p:cBhvr>
                                      <p:to>
                                        <p:strVal val="visible"/>
                                      </p:to>
                                    </p:set>
                                    <p:animEffect transition="in" filter="wipe(up)">
                                      <p:cBhvr>
                                        <p:cTn id="18" dur="500"/>
                                        <p:tgtEl>
                                          <p:spTgt spid="6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wipe(up)">
                                      <p:cBhvr>
                                        <p:cTn id="23" dur="500"/>
                                        <p:tgtEl>
                                          <p:spTgt spid="63"/>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65"/>
                                        </p:tgtEl>
                                        <p:attrNameLst>
                                          <p:attrName>style.visibility</p:attrName>
                                        </p:attrNameLst>
                                      </p:cBhvr>
                                      <p:to>
                                        <p:strVal val="visible"/>
                                      </p:to>
                                    </p:set>
                                    <p:animEffect transition="in" filter="wipe(up)">
                                      <p:cBhvr>
                                        <p:cTn id="26" dur="500"/>
                                        <p:tgtEl>
                                          <p:spTgt spid="6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wipe(up)">
                                      <p:cBhvr>
                                        <p:cTn id="31" dur="500"/>
                                        <p:tgtEl>
                                          <p:spTgt spid="59"/>
                                        </p:tgtEl>
                                      </p:cBhvr>
                                    </p:animEffect>
                                  </p:childTnLst>
                                </p:cTn>
                              </p:par>
                              <p:par>
                                <p:cTn id="32" presetID="22" presetClass="entr" presetSubtype="1" fill="hold" nodeType="withEffect">
                                  <p:stCondLst>
                                    <p:cond delay="0"/>
                                  </p:stCondLst>
                                  <p:childTnLst>
                                    <p:set>
                                      <p:cBhvr>
                                        <p:cTn id="33" dur="1" fill="hold">
                                          <p:stCondLst>
                                            <p:cond delay="0"/>
                                          </p:stCondLst>
                                        </p:cTn>
                                        <p:tgtEl>
                                          <p:spTgt spid="60"/>
                                        </p:tgtEl>
                                        <p:attrNameLst>
                                          <p:attrName>style.visibility</p:attrName>
                                        </p:attrNameLst>
                                      </p:cBhvr>
                                      <p:to>
                                        <p:strVal val="visible"/>
                                      </p:to>
                                    </p:set>
                                    <p:animEffect transition="in" filter="wipe(up)">
                                      <p:cBhvr>
                                        <p:cTn id="34"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1" grpId="0" animBg="1"/>
      <p:bldP spid="62" grpId="0" animBg="1"/>
      <p:bldP spid="6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 name="直接连接符 40"/>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42"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存储段（非系统）描述符格式</a:t>
            </a:r>
            <a:endParaRPr lang="zh-CN" altLang="en-US" sz="3200" b="1" dirty="0">
              <a:solidFill>
                <a:srgbClr val="00C4F0"/>
              </a:solidFill>
              <a:latin typeface="微软雅黑" pitchFamily="34" charset="-122"/>
              <a:ea typeface="微软雅黑" pitchFamily="34" charset="-122"/>
            </a:endParaRPr>
          </a:p>
        </p:txBody>
      </p:sp>
      <p:cxnSp>
        <p:nvCxnSpPr>
          <p:cNvPr id="43" name="直接连接符 4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44" name="矩形 43"/>
          <p:cNvSpPr/>
          <p:nvPr/>
        </p:nvSpPr>
        <p:spPr>
          <a:xfrm>
            <a:off x="6097398" y="1722875"/>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5</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5" name="矩形 44"/>
          <p:cNvSpPr/>
          <p:nvPr/>
        </p:nvSpPr>
        <p:spPr>
          <a:xfrm>
            <a:off x="3489323"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P</a:t>
            </a:r>
            <a:endParaRPr lang="zh-CN" altLang="en-US" sz="1400" dirty="0">
              <a:latin typeface="微软雅黑" panose="020B0503020204020204" pitchFamily="34" charset="-122"/>
              <a:ea typeface="微软雅黑" panose="020B0503020204020204" pitchFamily="34" charset="-122"/>
            </a:endParaRPr>
          </a:p>
        </p:txBody>
      </p:sp>
      <p:sp>
        <p:nvSpPr>
          <p:cNvPr id="46" name="矩形 45"/>
          <p:cNvSpPr/>
          <p:nvPr/>
        </p:nvSpPr>
        <p:spPr>
          <a:xfrm>
            <a:off x="3816089" y="1593668"/>
            <a:ext cx="552192"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DPL</a:t>
            </a:r>
            <a:endParaRPr lang="zh-CN" altLang="en-US" sz="1400" dirty="0">
              <a:latin typeface="微软雅黑" panose="020B0503020204020204" pitchFamily="34" charset="-122"/>
              <a:ea typeface="微软雅黑" panose="020B0503020204020204" pitchFamily="34" charset="-122"/>
            </a:endParaRPr>
          </a:p>
        </p:txBody>
      </p:sp>
      <p:sp>
        <p:nvSpPr>
          <p:cNvPr id="47" name="矩形 46"/>
          <p:cNvSpPr/>
          <p:nvPr/>
        </p:nvSpPr>
        <p:spPr>
          <a:xfrm>
            <a:off x="4388091"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DT</a:t>
            </a:r>
            <a:endParaRPr lang="zh-CN" altLang="en-US" dirty="0">
              <a:latin typeface="微软雅黑" panose="020B0503020204020204" pitchFamily="34" charset="-122"/>
              <a:ea typeface="微软雅黑" panose="020B0503020204020204" pitchFamily="34" charset="-122"/>
            </a:endParaRPr>
          </a:p>
        </p:txBody>
      </p:sp>
      <p:sp>
        <p:nvSpPr>
          <p:cNvPr id="48" name="矩形 47"/>
          <p:cNvSpPr/>
          <p:nvPr/>
        </p:nvSpPr>
        <p:spPr>
          <a:xfrm>
            <a:off x="4715365"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E</a:t>
            </a:r>
            <a:endParaRPr lang="zh-CN" altLang="en-US" sz="1600" dirty="0">
              <a:latin typeface="微软雅黑" panose="020B0503020204020204" pitchFamily="34" charset="-122"/>
              <a:ea typeface="微软雅黑" panose="020B0503020204020204" pitchFamily="34" charset="-122"/>
            </a:endParaRPr>
          </a:p>
        </p:txBody>
      </p:sp>
      <p:sp>
        <p:nvSpPr>
          <p:cNvPr id="49" name="矩形 48"/>
          <p:cNvSpPr/>
          <p:nvPr/>
        </p:nvSpPr>
        <p:spPr>
          <a:xfrm>
            <a:off x="5042131"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latin typeface="微软雅黑" panose="020B0503020204020204" pitchFamily="34" charset="-122"/>
                <a:ea typeface="微软雅黑" panose="020B0503020204020204" pitchFamily="34" charset="-122"/>
              </a:rPr>
              <a:t>ED/C</a:t>
            </a:r>
            <a:endParaRPr lang="zh-CN" altLang="en-US" sz="1050" dirty="0">
              <a:latin typeface="微软雅黑" panose="020B0503020204020204" pitchFamily="34" charset="-122"/>
              <a:ea typeface="微软雅黑" panose="020B0503020204020204" pitchFamily="34" charset="-122"/>
            </a:endParaRPr>
          </a:p>
        </p:txBody>
      </p:sp>
      <p:sp>
        <p:nvSpPr>
          <p:cNvPr id="50" name="矩形 49"/>
          <p:cNvSpPr/>
          <p:nvPr/>
        </p:nvSpPr>
        <p:spPr>
          <a:xfrm>
            <a:off x="5371691"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latin typeface="微软雅黑" panose="020B0503020204020204" pitchFamily="34" charset="-122"/>
                <a:ea typeface="微软雅黑" panose="020B0503020204020204" pitchFamily="34" charset="-122"/>
              </a:rPr>
              <a:t>W/R</a:t>
            </a:r>
            <a:endParaRPr lang="zh-CN" altLang="en-US" sz="1100" dirty="0">
              <a:latin typeface="微软雅黑" panose="020B0503020204020204" pitchFamily="34" charset="-122"/>
              <a:ea typeface="微软雅黑" panose="020B0503020204020204" pitchFamily="34" charset="-122"/>
            </a:endParaRPr>
          </a:p>
        </p:txBody>
      </p:sp>
      <p:sp>
        <p:nvSpPr>
          <p:cNvPr id="51" name="矩形 50"/>
          <p:cNvSpPr/>
          <p:nvPr/>
        </p:nvSpPr>
        <p:spPr>
          <a:xfrm>
            <a:off x="5702139" y="1593668"/>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A</a:t>
            </a:r>
            <a:endParaRPr lang="zh-CN" altLang="en-US" dirty="0">
              <a:latin typeface="微软雅黑" panose="020B0503020204020204" pitchFamily="34" charset="-122"/>
              <a:ea typeface="微软雅黑" panose="020B0503020204020204" pitchFamily="34" charset="-122"/>
            </a:endParaRPr>
          </a:p>
        </p:txBody>
      </p:sp>
      <p:sp>
        <p:nvSpPr>
          <p:cNvPr id="61" name="圆角矩形 60"/>
          <p:cNvSpPr/>
          <p:nvPr/>
        </p:nvSpPr>
        <p:spPr>
          <a:xfrm>
            <a:off x="251520" y="2941970"/>
            <a:ext cx="3007184" cy="847070"/>
          </a:xfrm>
          <a:prstGeom prst="roundRect">
            <a:avLst>
              <a:gd name="adj" fmla="val 4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ea typeface="微软雅黑" panose="020B0503020204020204" pitchFamily="34" charset="-122"/>
              </a:rPr>
              <a:t>段是否在内存：</a:t>
            </a:r>
            <a:endParaRPr lang="en-US" altLang="zh-CN" sz="1600" dirty="0">
              <a:ea typeface="微软雅黑" panose="020B0503020204020204" pitchFamily="34" charset="-122"/>
            </a:endParaRPr>
          </a:p>
          <a:p>
            <a:r>
              <a:rPr lang="en-US" altLang="zh-CN" sz="1600" dirty="0">
                <a:ea typeface="微软雅黑" panose="020B0503020204020204" pitchFamily="34" charset="-122"/>
              </a:rPr>
              <a:t>1</a:t>
            </a:r>
            <a:r>
              <a:rPr lang="zh-CN" altLang="en-US" sz="1600" dirty="0">
                <a:ea typeface="微软雅黑" panose="020B0503020204020204" pitchFamily="34" charset="-122"/>
              </a:rPr>
              <a:t>：该描述符所描述段在内存</a:t>
            </a:r>
            <a:endParaRPr lang="en-US" altLang="zh-CN" sz="1600" dirty="0">
              <a:ea typeface="微软雅黑" panose="020B0503020204020204" pitchFamily="34" charset="-122"/>
            </a:endParaRPr>
          </a:p>
          <a:p>
            <a:r>
              <a:rPr lang="en-US" altLang="zh-CN" sz="1600" dirty="0">
                <a:ea typeface="微软雅黑" panose="020B0503020204020204" pitchFamily="34" charset="-122"/>
              </a:rPr>
              <a:t>0</a:t>
            </a:r>
            <a:r>
              <a:rPr lang="zh-CN" altLang="en-US" sz="1600" dirty="0">
                <a:ea typeface="微软雅黑" panose="020B0503020204020204" pitchFamily="34" charset="-122"/>
              </a:rPr>
              <a:t>：该描述符所描述段不在内存</a:t>
            </a:r>
            <a:endParaRPr lang="en-US" altLang="zh-CN" sz="1600" dirty="0">
              <a:ea typeface="微软雅黑" panose="020B0503020204020204" pitchFamily="34" charset="-122"/>
            </a:endParaRPr>
          </a:p>
        </p:txBody>
      </p:sp>
      <p:sp>
        <p:nvSpPr>
          <p:cNvPr id="62" name="圆角矩形 61"/>
          <p:cNvSpPr/>
          <p:nvPr/>
        </p:nvSpPr>
        <p:spPr>
          <a:xfrm>
            <a:off x="2555777" y="4131754"/>
            <a:ext cx="2200012" cy="720080"/>
          </a:xfrm>
          <a:prstGeom prst="roundRect">
            <a:avLst>
              <a:gd name="adj" fmla="val 4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ea typeface="微软雅黑" panose="020B0503020204020204" pitchFamily="34" charset="-122"/>
              </a:rPr>
              <a:t>描述符特权级：</a:t>
            </a:r>
            <a:r>
              <a:rPr lang="en-US" altLang="zh-CN" sz="1600" dirty="0">
                <a:ea typeface="微软雅黑" panose="020B0503020204020204" pitchFamily="34" charset="-122"/>
              </a:rPr>
              <a:t>0~3</a:t>
            </a:r>
            <a:r>
              <a:rPr lang="zh-CN" altLang="en-US" sz="1600" dirty="0">
                <a:ea typeface="微软雅黑" panose="020B0503020204020204" pitchFamily="34" charset="-122"/>
              </a:rPr>
              <a:t>级</a:t>
            </a:r>
            <a:endParaRPr lang="en-US" altLang="zh-CN" sz="1600" dirty="0">
              <a:ea typeface="微软雅黑" panose="020B0503020204020204" pitchFamily="34" charset="-122"/>
            </a:endParaRPr>
          </a:p>
        </p:txBody>
      </p:sp>
      <p:sp>
        <p:nvSpPr>
          <p:cNvPr id="65" name="圆角矩形 64"/>
          <p:cNvSpPr/>
          <p:nvPr/>
        </p:nvSpPr>
        <p:spPr>
          <a:xfrm>
            <a:off x="5525423" y="2941970"/>
            <a:ext cx="2609441" cy="847070"/>
          </a:xfrm>
          <a:prstGeom prst="roundRect">
            <a:avLst>
              <a:gd name="adj" fmla="val 4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ea typeface="微软雅黑" panose="020B0503020204020204" pitchFamily="34" charset="-122"/>
              </a:rPr>
              <a:t>访问位：</a:t>
            </a:r>
            <a:endParaRPr lang="en-US" altLang="zh-CN" sz="1600" dirty="0">
              <a:ea typeface="微软雅黑" panose="020B0503020204020204" pitchFamily="34" charset="-122"/>
            </a:endParaRPr>
          </a:p>
          <a:p>
            <a:r>
              <a:rPr lang="en-US" altLang="zh-CN" sz="1600" dirty="0">
                <a:ea typeface="微软雅黑" panose="020B0503020204020204" pitchFamily="34" charset="-122"/>
              </a:rPr>
              <a:t>1</a:t>
            </a:r>
            <a:r>
              <a:rPr lang="zh-CN" altLang="en-US" sz="1600" dirty="0">
                <a:ea typeface="微软雅黑" panose="020B0503020204020204" pitchFamily="34" charset="-122"/>
              </a:rPr>
              <a:t>：指示描述符被访问过</a:t>
            </a:r>
          </a:p>
          <a:p>
            <a:r>
              <a:rPr lang="en-US" altLang="zh-CN" sz="1600" dirty="0">
                <a:ea typeface="微软雅黑" panose="020B0503020204020204" pitchFamily="34" charset="-122"/>
              </a:rPr>
              <a:t>0</a:t>
            </a:r>
            <a:r>
              <a:rPr lang="zh-CN" altLang="en-US" sz="1600" dirty="0">
                <a:ea typeface="微软雅黑" panose="020B0503020204020204" pitchFamily="34" charset="-122"/>
              </a:rPr>
              <a:t>：指示描述符未被访问过</a:t>
            </a:r>
            <a:endParaRPr lang="en-US" altLang="zh-CN" sz="1600" dirty="0">
              <a:ea typeface="微软雅黑" panose="020B0503020204020204" pitchFamily="34" charset="-122"/>
            </a:endParaRPr>
          </a:p>
        </p:txBody>
      </p:sp>
      <p:cxnSp>
        <p:nvCxnSpPr>
          <p:cNvPr id="66" name="直接连接符 65"/>
          <p:cNvCxnSpPr/>
          <p:nvPr/>
        </p:nvCxnSpPr>
        <p:spPr>
          <a:xfrm>
            <a:off x="4137395" y="2313748"/>
            <a:ext cx="0" cy="18180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3639228" y="2313748"/>
            <a:ext cx="0" cy="1048673"/>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5195863" y="2313748"/>
            <a:ext cx="0" cy="1818006"/>
          </a:xfrm>
          <a:prstGeom prst="line">
            <a:avLst/>
          </a:prstGeom>
        </p:spPr>
        <p:style>
          <a:lnRef idx="1">
            <a:schemeClr val="accent1"/>
          </a:lnRef>
          <a:fillRef idx="0">
            <a:schemeClr val="accent1"/>
          </a:fillRef>
          <a:effectRef idx="0">
            <a:schemeClr val="accent1"/>
          </a:effectRef>
          <a:fontRef idx="minor">
            <a:schemeClr val="tx1"/>
          </a:fontRef>
        </p:style>
      </p:cxnSp>
      <p:sp>
        <p:nvSpPr>
          <p:cNvPr id="33" name="圆角矩形 32"/>
          <p:cNvSpPr/>
          <p:nvPr/>
        </p:nvSpPr>
        <p:spPr>
          <a:xfrm>
            <a:off x="4929482" y="4086764"/>
            <a:ext cx="3962997" cy="998420"/>
          </a:xfrm>
          <a:prstGeom prst="roundRect">
            <a:avLst>
              <a:gd name="adj" fmla="val 4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ea typeface="微软雅黑" panose="020B0503020204020204" pitchFamily="34" charset="-122"/>
              </a:rPr>
              <a:t>对数据段：表示扩展方向位 </a:t>
            </a:r>
            <a:r>
              <a:rPr lang="en-US" altLang="zh-CN" sz="1600" dirty="0">
                <a:ea typeface="微软雅黑" panose="020B0503020204020204" pitchFamily="34" charset="-122"/>
              </a:rPr>
              <a:t>(0</a:t>
            </a:r>
            <a:r>
              <a:rPr lang="zh-CN" altLang="en-US" sz="1600" dirty="0">
                <a:ea typeface="微软雅黑" panose="020B0503020204020204" pitchFamily="34" charset="-122"/>
              </a:rPr>
              <a:t>向高</a:t>
            </a:r>
            <a:r>
              <a:rPr lang="en-US" altLang="zh-CN" sz="1600" dirty="0">
                <a:ea typeface="微软雅黑" panose="020B0503020204020204" pitchFamily="34" charset="-122"/>
              </a:rPr>
              <a:t>,1</a:t>
            </a:r>
            <a:r>
              <a:rPr lang="zh-CN" altLang="en-US" sz="1600" dirty="0">
                <a:ea typeface="微软雅黑" panose="020B0503020204020204" pitchFamily="34" charset="-122"/>
              </a:rPr>
              <a:t>向低</a:t>
            </a:r>
            <a:r>
              <a:rPr lang="en-US" altLang="zh-CN" sz="1600" dirty="0">
                <a:ea typeface="微软雅黑" panose="020B0503020204020204" pitchFamily="34" charset="-122"/>
              </a:rPr>
              <a:t>) </a:t>
            </a:r>
          </a:p>
          <a:p>
            <a:r>
              <a:rPr lang="zh-CN" altLang="en-US" sz="1600" dirty="0">
                <a:ea typeface="微软雅黑" panose="020B0503020204020204" pitchFamily="34" charset="-122"/>
              </a:rPr>
              <a:t>对代码段：表示类型 </a:t>
            </a:r>
            <a:r>
              <a:rPr lang="en-US" altLang="zh-CN" sz="1600" dirty="0">
                <a:ea typeface="微软雅黑" panose="020B0503020204020204" pitchFamily="34" charset="-122"/>
              </a:rPr>
              <a:t>(1</a:t>
            </a:r>
            <a:r>
              <a:rPr lang="zh-CN" altLang="en-US" sz="1600" dirty="0">
                <a:ea typeface="微软雅黑" panose="020B0503020204020204" pitchFamily="34" charset="-122"/>
              </a:rPr>
              <a:t>依从</a:t>
            </a:r>
            <a:r>
              <a:rPr lang="en-US" altLang="zh-CN" sz="1600" dirty="0">
                <a:ea typeface="微软雅黑" panose="020B0503020204020204" pitchFamily="34" charset="-122"/>
              </a:rPr>
              <a:t>, 0</a:t>
            </a:r>
            <a:r>
              <a:rPr lang="zh-CN" altLang="en-US" sz="1600" dirty="0">
                <a:ea typeface="微软雅黑" panose="020B0503020204020204" pitchFamily="34" charset="-122"/>
              </a:rPr>
              <a:t>不依从</a:t>
            </a:r>
            <a:r>
              <a:rPr lang="en-US" altLang="zh-CN" sz="1600" dirty="0">
                <a:ea typeface="微软雅黑" panose="020B0503020204020204" pitchFamily="34" charset="-122"/>
              </a:rPr>
              <a:t>)</a:t>
            </a:r>
          </a:p>
        </p:txBody>
      </p:sp>
      <p:cxnSp>
        <p:nvCxnSpPr>
          <p:cNvPr id="34" name="直接连接符 33"/>
          <p:cNvCxnSpPr/>
          <p:nvPr/>
        </p:nvCxnSpPr>
        <p:spPr>
          <a:xfrm>
            <a:off x="5868144" y="2315038"/>
            <a:ext cx="0" cy="5858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61" idx="3"/>
          </p:cNvCxnSpPr>
          <p:nvPr/>
        </p:nvCxnSpPr>
        <p:spPr>
          <a:xfrm flipV="1">
            <a:off x="3258704" y="3362423"/>
            <a:ext cx="380524" cy="3082"/>
          </a:xfrm>
          <a:prstGeom prst="line">
            <a:avLst/>
          </a:prstGeom>
        </p:spPr>
        <p:style>
          <a:lnRef idx="1">
            <a:schemeClr val="accent1"/>
          </a:lnRef>
          <a:fillRef idx="0">
            <a:schemeClr val="accent1"/>
          </a:fillRef>
          <a:effectRef idx="0">
            <a:schemeClr val="accent1"/>
          </a:effectRef>
          <a:fontRef idx="minor">
            <a:schemeClr val="tx1"/>
          </a:fontRef>
        </p:style>
      </p:cxnSp>
      <p:sp>
        <p:nvSpPr>
          <p:cNvPr id="23" name="矩形 4"/>
          <p:cNvSpPr>
            <a:spLocks noChangeArrowheads="1"/>
          </p:cNvSpPr>
          <p:nvPr/>
        </p:nvSpPr>
        <p:spPr bwMode="auto">
          <a:xfrm>
            <a:off x="1331640" y="6164001"/>
            <a:ext cx="5892852" cy="412421"/>
          </a:xfrm>
          <a:prstGeom prst="rect">
            <a:avLst/>
          </a:prstGeom>
          <a:noFill/>
          <a:ln w="9525">
            <a:noFill/>
            <a:miter lim="800000"/>
            <a:headEnd/>
            <a:tailEnd/>
          </a:ln>
        </p:spPr>
        <p:txBody>
          <a:bodyPr wrap="square">
            <a:spAutoFit/>
          </a:bodyPr>
          <a:lstStyle/>
          <a:p>
            <a:pPr>
              <a:lnSpc>
                <a:spcPct val="130000"/>
              </a:lnSpc>
              <a:spcBef>
                <a:spcPts val="200"/>
              </a:spcBef>
              <a:spcAft>
                <a:spcPts val="60"/>
              </a:spcAft>
            </a:pPr>
            <a:r>
              <a:rPr lang="zh-CN" altLang="en-US" sz="1600" b="1" dirty="0">
                <a:solidFill>
                  <a:schemeClr val="tx1">
                    <a:lumMod val="65000"/>
                    <a:lumOff val="35000"/>
                  </a:schemeClr>
                </a:solidFill>
                <a:latin typeface="微软雅黑" pitchFamily="34" charset="-122"/>
                <a:ea typeface="微软雅黑" pitchFamily="34" charset="-122"/>
              </a:rPr>
              <a:t>不依从指只能从同等特权之间切换，依从指可在不同特权间切换。</a:t>
            </a:r>
          </a:p>
        </p:txBody>
      </p:sp>
      <p:pic>
        <p:nvPicPr>
          <p:cNvPr id="24" name="Picture 2" descr="C:\Documents and Settings\tdz\桌面\未标题-1 拷贝.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55576" y="5948014"/>
            <a:ext cx="648642" cy="6080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3451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up)">
                                      <p:cBhvr>
                                        <p:cTn id="7" dur="500"/>
                                        <p:tgtEl>
                                          <p:spTgt spid="61"/>
                                        </p:tgtEl>
                                      </p:cBhvr>
                                    </p:animEffect>
                                  </p:childTnLst>
                                </p:cTn>
                              </p:par>
                              <p:par>
                                <p:cTn id="8" presetID="22" presetClass="entr" presetSubtype="1" fill="hold"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wipe(up)">
                                      <p:cBhvr>
                                        <p:cTn id="10" dur="500"/>
                                        <p:tgtEl>
                                          <p:spTgt spid="67"/>
                                        </p:tgtEl>
                                      </p:cBhvr>
                                    </p:animEffect>
                                  </p:childTnLst>
                                </p:cTn>
                              </p:par>
                              <p:par>
                                <p:cTn id="11" presetID="22" presetClass="entr" presetSubtype="1"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up)">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66"/>
                                        </p:tgtEl>
                                        <p:attrNameLst>
                                          <p:attrName>style.visibility</p:attrName>
                                        </p:attrNameLst>
                                      </p:cBhvr>
                                      <p:to>
                                        <p:strVal val="visible"/>
                                      </p:to>
                                    </p:set>
                                    <p:animEffect transition="in" filter="wipe(up)">
                                      <p:cBhvr>
                                        <p:cTn id="18" dur="500"/>
                                        <p:tgtEl>
                                          <p:spTgt spid="66"/>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animEffect transition="in" filter="wipe(up)">
                                      <p:cBhvr>
                                        <p:cTn id="21" dur="500"/>
                                        <p:tgtEl>
                                          <p:spTgt spid="6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wipe(up)">
                                      <p:cBhvr>
                                        <p:cTn id="26" dur="500"/>
                                        <p:tgtEl>
                                          <p:spTgt spid="32"/>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wipe(up)">
                                      <p:cBhvr>
                                        <p:cTn id="29" dur="500"/>
                                        <p:tgtEl>
                                          <p:spTgt spid="3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wipe(up)">
                                      <p:cBhvr>
                                        <p:cTn id="34" dur="500"/>
                                        <p:tgtEl>
                                          <p:spTgt spid="34"/>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65"/>
                                        </p:tgtEl>
                                        <p:attrNameLst>
                                          <p:attrName>style.visibility</p:attrName>
                                        </p:attrNameLst>
                                      </p:cBhvr>
                                      <p:to>
                                        <p:strVal val="visible"/>
                                      </p:to>
                                    </p:set>
                                    <p:animEffect transition="in" filter="wipe(up)">
                                      <p:cBhvr>
                                        <p:cTn id="37" dur="500"/>
                                        <p:tgtEl>
                                          <p:spTgt spid="6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left)">
                                      <p:cBhvr>
                                        <p:cTn id="4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animBg="1"/>
      <p:bldP spid="65" grpId="0" animBg="1"/>
      <p:bldP spid="33" grpId="0" animBg="1"/>
      <p:bldP spid="2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存储段的段界</a:t>
            </a:r>
            <a:endParaRPr lang="zh-CN" altLang="en-US" sz="3200" b="1" dirty="0">
              <a:solidFill>
                <a:srgbClr val="00C4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5" name="矩形 4"/>
          <p:cNvSpPr/>
          <p:nvPr/>
        </p:nvSpPr>
        <p:spPr>
          <a:xfrm>
            <a:off x="899381" y="1726674"/>
            <a:ext cx="7489043" cy="648072"/>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latin typeface="微软雅黑" panose="020B0503020204020204" pitchFamily="34" charset="-122"/>
                <a:ea typeface="微软雅黑" panose="020B0503020204020204" pitchFamily="34" charset="-122"/>
              </a:rPr>
              <a:t>段界限决定段的寻址范围，它由描述符中</a:t>
            </a:r>
            <a:r>
              <a:rPr lang="en-US" altLang="zh-CN" sz="2000" b="1" dirty="0">
                <a:latin typeface="微软雅黑" panose="020B0503020204020204" pitchFamily="34" charset="-122"/>
                <a:ea typeface="微软雅黑" panose="020B0503020204020204" pitchFamily="34" charset="-122"/>
              </a:rPr>
              <a:t>20</a:t>
            </a:r>
            <a:r>
              <a:rPr lang="zh-CN" altLang="en-US" sz="2000" b="1" dirty="0">
                <a:latin typeface="微软雅黑" panose="020B0503020204020204" pitchFamily="34" charset="-122"/>
                <a:ea typeface="微软雅黑" panose="020B0503020204020204" pitchFamily="34" charset="-122"/>
              </a:rPr>
              <a:t>位段限长及</a:t>
            </a:r>
            <a:r>
              <a:rPr lang="en-US" altLang="zh-CN" sz="2000" b="1" dirty="0">
                <a:solidFill>
                  <a:srgbClr val="FFFF00"/>
                </a:solidFill>
                <a:latin typeface="微软雅黑" panose="020B0503020204020204" pitchFamily="34" charset="-122"/>
                <a:ea typeface="微软雅黑" panose="020B0503020204020204" pitchFamily="34" charset="-122"/>
              </a:rPr>
              <a:t>G</a:t>
            </a:r>
            <a:r>
              <a:rPr lang="zh-CN" altLang="en-US" sz="2000" b="1" dirty="0">
                <a:solidFill>
                  <a:srgbClr val="FFFF00"/>
                </a:solidFill>
                <a:latin typeface="微软雅黑" panose="020B0503020204020204" pitchFamily="34" charset="-122"/>
                <a:ea typeface="微软雅黑" panose="020B0503020204020204" pitchFamily="34" charset="-122"/>
              </a:rPr>
              <a:t>位</a:t>
            </a:r>
            <a:r>
              <a:rPr lang="zh-CN" altLang="en-US" sz="2000" b="1" dirty="0">
                <a:latin typeface="微软雅黑" panose="020B0503020204020204" pitchFamily="34" charset="-122"/>
                <a:ea typeface="微软雅黑" panose="020B0503020204020204" pitchFamily="34" charset="-122"/>
              </a:rPr>
              <a:t>得到。</a:t>
            </a:r>
          </a:p>
        </p:txBody>
      </p:sp>
      <p:sp>
        <p:nvSpPr>
          <p:cNvPr id="6" name="TextBox 10"/>
          <p:cNvSpPr txBox="1">
            <a:spLocks noChangeArrowheads="1"/>
          </p:cNvSpPr>
          <p:nvPr/>
        </p:nvSpPr>
        <p:spPr bwMode="auto">
          <a:xfrm>
            <a:off x="1115617" y="2974616"/>
            <a:ext cx="7128792" cy="1776384"/>
          </a:xfrm>
          <a:prstGeom prst="rect">
            <a:avLst/>
          </a:prstGeom>
          <a:noFill/>
          <a:ln w="9525">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marL="342900" indent="-342900" algn="just">
              <a:lnSpc>
                <a:spcPct val="114000"/>
              </a:lnSpc>
              <a:buFont typeface="Wingdings" panose="05000000000000000000" pitchFamily="2" charset="2"/>
              <a:buChar char="n"/>
            </a:pPr>
            <a:r>
              <a:rPr lang="en-US" altLang="zh-CN" sz="2400" b="1" dirty="0">
                <a:solidFill>
                  <a:srgbClr val="FF3255"/>
                </a:solidFill>
                <a:latin typeface="微软雅黑" pitchFamily="34" charset="-122"/>
                <a:ea typeface="微软雅黑" pitchFamily="34" charset="-122"/>
              </a:rPr>
              <a:t>G</a:t>
            </a:r>
            <a:r>
              <a:rPr lang="zh-CN" altLang="en-US" sz="2400" b="1" dirty="0">
                <a:solidFill>
                  <a:srgbClr val="FF3255"/>
                </a:solidFill>
                <a:latin typeface="微软雅黑" pitchFamily="34" charset="-122"/>
                <a:ea typeface="微软雅黑" pitchFamily="34" charset="-122"/>
              </a:rPr>
              <a:t>＝</a:t>
            </a:r>
            <a:r>
              <a:rPr lang="en-US" altLang="zh-CN" sz="2400" b="1" dirty="0">
                <a:solidFill>
                  <a:srgbClr val="FF3255"/>
                </a:solidFill>
                <a:latin typeface="微软雅黑" pitchFamily="34" charset="-122"/>
                <a:ea typeface="微软雅黑" pitchFamily="34" charset="-122"/>
              </a:rPr>
              <a:t>0</a:t>
            </a:r>
            <a:r>
              <a:rPr lang="zh-CN" altLang="en-US" sz="2400" b="1" dirty="0">
                <a:solidFill>
                  <a:schemeClr val="tx1">
                    <a:lumMod val="50000"/>
                    <a:lumOff val="50000"/>
                  </a:schemeClr>
                </a:solidFill>
                <a:latin typeface="微软雅黑" pitchFamily="34" charset="-122"/>
                <a:ea typeface="微软雅黑" pitchFamily="34" charset="-122"/>
              </a:rPr>
              <a:t>：</a:t>
            </a:r>
            <a:r>
              <a:rPr lang="en-US" altLang="zh-CN" sz="2400" b="1" dirty="0">
                <a:solidFill>
                  <a:schemeClr val="tx1">
                    <a:lumMod val="50000"/>
                    <a:lumOff val="50000"/>
                  </a:schemeClr>
                </a:solidFill>
                <a:latin typeface="微软雅黑" pitchFamily="34" charset="-122"/>
                <a:ea typeface="微软雅黑" pitchFamily="34" charset="-122"/>
              </a:rPr>
              <a:t>32</a:t>
            </a:r>
            <a:r>
              <a:rPr lang="zh-CN" altLang="en-US" sz="2400" b="1" dirty="0">
                <a:solidFill>
                  <a:schemeClr val="tx1">
                    <a:lumMod val="50000"/>
                    <a:lumOff val="50000"/>
                  </a:schemeClr>
                </a:solidFill>
                <a:latin typeface="微软雅黑" pitchFamily="34" charset="-122"/>
                <a:ea typeface="微软雅黑" pitchFamily="34" charset="-122"/>
              </a:rPr>
              <a:t>位段限长的高</a:t>
            </a:r>
            <a:r>
              <a:rPr lang="en-US" altLang="zh-CN" sz="2400" b="1" dirty="0">
                <a:solidFill>
                  <a:schemeClr val="tx1">
                    <a:lumMod val="50000"/>
                    <a:lumOff val="50000"/>
                  </a:schemeClr>
                </a:solidFill>
                <a:latin typeface="微软雅黑" pitchFamily="34" charset="-122"/>
                <a:ea typeface="微软雅黑" pitchFamily="34" charset="-122"/>
              </a:rPr>
              <a:t>12</a:t>
            </a:r>
            <a:r>
              <a:rPr lang="zh-CN" altLang="en-US" sz="2400" b="1" dirty="0">
                <a:solidFill>
                  <a:schemeClr val="tx1">
                    <a:lumMod val="50000"/>
                    <a:lumOff val="50000"/>
                  </a:schemeClr>
                </a:solidFill>
                <a:latin typeface="微软雅黑" pitchFamily="34" charset="-122"/>
                <a:ea typeface="微软雅黑" pitchFamily="34" charset="-122"/>
              </a:rPr>
              <a:t>位为</a:t>
            </a:r>
            <a:r>
              <a:rPr lang="en-US" altLang="zh-CN" sz="2400" b="1" dirty="0">
                <a:solidFill>
                  <a:schemeClr val="tx1">
                    <a:lumMod val="50000"/>
                    <a:lumOff val="50000"/>
                  </a:schemeClr>
                </a:solidFill>
                <a:latin typeface="微软雅黑" pitchFamily="34" charset="-122"/>
                <a:ea typeface="微软雅黑" pitchFamily="34" charset="-122"/>
              </a:rPr>
              <a:t>0</a:t>
            </a:r>
            <a:r>
              <a:rPr lang="zh-CN" altLang="en-US" sz="2400" b="1" dirty="0">
                <a:solidFill>
                  <a:schemeClr val="tx1">
                    <a:lumMod val="50000"/>
                    <a:lumOff val="50000"/>
                  </a:schemeClr>
                </a:solidFill>
                <a:latin typeface="微软雅黑" pitchFamily="34" charset="-122"/>
                <a:ea typeface="微软雅黑" pitchFamily="34" charset="-122"/>
              </a:rPr>
              <a:t>，其低</a:t>
            </a:r>
            <a:r>
              <a:rPr lang="en-US" altLang="zh-CN" sz="2400" b="1" dirty="0">
                <a:solidFill>
                  <a:schemeClr val="tx1">
                    <a:lumMod val="50000"/>
                    <a:lumOff val="50000"/>
                  </a:schemeClr>
                </a:solidFill>
                <a:latin typeface="微软雅黑" pitchFamily="34" charset="-122"/>
                <a:ea typeface="微软雅黑" pitchFamily="34" charset="-122"/>
              </a:rPr>
              <a:t>20</a:t>
            </a:r>
            <a:r>
              <a:rPr lang="zh-CN" altLang="en-US" sz="2400" b="1" dirty="0">
                <a:solidFill>
                  <a:schemeClr val="tx1">
                    <a:lumMod val="50000"/>
                    <a:lumOff val="50000"/>
                  </a:schemeClr>
                </a:solidFill>
                <a:latin typeface="微软雅黑" pitchFamily="34" charset="-122"/>
                <a:ea typeface="微软雅黑" pitchFamily="34" charset="-122"/>
              </a:rPr>
              <a:t>位是段描述符中</a:t>
            </a:r>
            <a:r>
              <a:rPr lang="en-US" altLang="zh-CN" sz="2400" b="1" dirty="0">
                <a:solidFill>
                  <a:schemeClr val="tx1">
                    <a:lumMod val="50000"/>
                    <a:lumOff val="50000"/>
                  </a:schemeClr>
                </a:solidFill>
                <a:latin typeface="微软雅黑" pitchFamily="34" charset="-122"/>
                <a:ea typeface="微软雅黑" pitchFamily="34" charset="-122"/>
              </a:rPr>
              <a:t>20</a:t>
            </a:r>
            <a:r>
              <a:rPr lang="zh-CN" altLang="en-US" sz="2400" b="1" dirty="0">
                <a:solidFill>
                  <a:schemeClr val="tx1">
                    <a:lumMod val="50000"/>
                    <a:lumOff val="50000"/>
                  </a:schemeClr>
                </a:solidFill>
                <a:latin typeface="微软雅黑" pitchFamily="34" charset="-122"/>
                <a:ea typeface="微软雅黑" pitchFamily="34" charset="-122"/>
              </a:rPr>
              <a:t>位段限，段最大寻址范围</a:t>
            </a:r>
            <a:r>
              <a:rPr lang="en-US" altLang="zh-CN" sz="2400" b="1" dirty="0">
                <a:solidFill>
                  <a:schemeClr val="tx1">
                    <a:lumMod val="50000"/>
                    <a:lumOff val="50000"/>
                  </a:schemeClr>
                </a:solidFill>
                <a:latin typeface="微软雅黑" pitchFamily="34" charset="-122"/>
                <a:ea typeface="微软雅黑" pitchFamily="34" charset="-122"/>
              </a:rPr>
              <a:t>1MB</a:t>
            </a:r>
            <a:r>
              <a:rPr lang="zh-CN" altLang="en-US" sz="2400" b="1" dirty="0">
                <a:solidFill>
                  <a:schemeClr val="tx1">
                    <a:lumMod val="50000"/>
                    <a:lumOff val="50000"/>
                  </a:schemeClr>
                </a:solidFill>
                <a:latin typeface="微软雅黑" pitchFamily="34" charset="-122"/>
                <a:ea typeface="微软雅黑" pitchFamily="34" charset="-122"/>
              </a:rPr>
              <a:t>。</a:t>
            </a:r>
            <a:endParaRPr lang="en-US" altLang="zh-CN" sz="2400" b="1" dirty="0">
              <a:solidFill>
                <a:schemeClr val="tx1">
                  <a:lumMod val="50000"/>
                  <a:lumOff val="50000"/>
                </a:schemeClr>
              </a:solidFill>
              <a:latin typeface="微软雅黑" pitchFamily="34" charset="-122"/>
              <a:ea typeface="微软雅黑" pitchFamily="34" charset="-122"/>
            </a:endParaRPr>
          </a:p>
          <a:p>
            <a:pPr marL="342900" indent="-342900" algn="just">
              <a:lnSpc>
                <a:spcPct val="114000"/>
              </a:lnSpc>
              <a:buFont typeface="Wingdings" panose="05000000000000000000" pitchFamily="2" charset="2"/>
              <a:buChar char="n"/>
            </a:pPr>
            <a:r>
              <a:rPr lang="en-US" altLang="zh-CN" sz="2400" b="1" dirty="0">
                <a:solidFill>
                  <a:srgbClr val="FF3255"/>
                </a:solidFill>
                <a:latin typeface="微软雅黑" pitchFamily="34" charset="-122"/>
                <a:ea typeface="微软雅黑" pitchFamily="34" charset="-122"/>
              </a:rPr>
              <a:t>G</a:t>
            </a:r>
            <a:r>
              <a:rPr lang="zh-CN" altLang="en-US" sz="2400" b="1" dirty="0">
                <a:solidFill>
                  <a:srgbClr val="FF3255"/>
                </a:solidFill>
                <a:latin typeface="微软雅黑" pitchFamily="34" charset="-122"/>
                <a:ea typeface="微软雅黑" pitchFamily="34" charset="-122"/>
              </a:rPr>
              <a:t>＝</a:t>
            </a:r>
            <a:r>
              <a:rPr lang="en-US" altLang="zh-CN" sz="2400" b="1" dirty="0">
                <a:solidFill>
                  <a:srgbClr val="FF3255"/>
                </a:solidFill>
                <a:latin typeface="微软雅黑" pitchFamily="34" charset="-122"/>
                <a:ea typeface="微软雅黑" pitchFamily="34" charset="-122"/>
              </a:rPr>
              <a:t>1</a:t>
            </a:r>
            <a:r>
              <a:rPr lang="zh-CN" altLang="en-US" sz="2400" b="1" dirty="0">
                <a:solidFill>
                  <a:schemeClr val="tx1">
                    <a:lumMod val="50000"/>
                    <a:lumOff val="50000"/>
                  </a:schemeClr>
                </a:solidFill>
                <a:latin typeface="微软雅黑" pitchFamily="34" charset="-122"/>
                <a:ea typeface="微软雅黑" pitchFamily="34" charset="-122"/>
              </a:rPr>
              <a:t>：段限长等于描述符中规定的</a:t>
            </a:r>
            <a:r>
              <a:rPr lang="en-US" altLang="zh-CN" sz="2400" b="1" dirty="0">
                <a:solidFill>
                  <a:schemeClr val="tx1">
                    <a:lumMod val="50000"/>
                    <a:lumOff val="50000"/>
                  </a:schemeClr>
                </a:solidFill>
                <a:latin typeface="微软雅黑" pitchFamily="34" charset="-122"/>
                <a:ea typeface="微软雅黑" pitchFamily="34" charset="-122"/>
              </a:rPr>
              <a:t>20</a:t>
            </a:r>
            <a:r>
              <a:rPr lang="zh-CN" altLang="en-US" sz="2400" b="1" dirty="0">
                <a:solidFill>
                  <a:schemeClr val="tx1">
                    <a:lumMod val="50000"/>
                    <a:lumOff val="50000"/>
                  </a:schemeClr>
                </a:solidFill>
                <a:latin typeface="微软雅黑" pitchFamily="34" charset="-122"/>
                <a:ea typeface="微软雅黑" pitchFamily="34" charset="-122"/>
              </a:rPr>
              <a:t>位限长左移</a:t>
            </a:r>
            <a:r>
              <a:rPr lang="en-US" altLang="zh-CN" sz="2400" b="1" dirty="0">
                <a:solidFill>
                  <a:schemeClr val="tx1">
                    <a:lumMod val="50000"/>
                    <a:lumOff val="50000"/>
                  </a:schemeClr>
                </a:solidFill>
                <a:latin typeface="微软雅黑" pitchFamily="34" charset="-122"/>
                <a:ea typeface="微软雅黑" pitchFamily="34" charset="-122"/>
              </a:rPr>
              <a:t>12</a:t>
            </a:r>
            <a:r>
              <a:rPr lang="zh-CN" altLang="en-US" sz="2400" b="1" dirty="0">
                <a:solidFill>
                  <a:schemeClr val="tx1">
                    <a:lumMod val="50000"/>
                    <a:lumOff val="50000"/>
                  </a:schemeClr>
                </a:solidFill>
                <a:latin typeface="微软雅黑" pitchFamily="34" charset="-122"/>
                <a:ea typeface="微软雅黑" pitchFamily="34" charset="-122"/>
              </a:rPr>
              <a:t>位</a:t>
            </a:r>
            <a:r>
              <a:rPr lang="en-US" altLang="zh-CN" sz="2400" b="1" dirty="0">
                <a:solidFill>
                  <a:schemeClr val="tx1">
                    <a:lumMod val="50000"/>
                    <a:lumOff val="50000"/>
                  </a:schemeClr>
                </a:solidFill>
                <a:latin typeface="微软雅黑" pitchFamily="34" charset="-122"/>
                <a:ea typeface="微软雅黑" pitchFamily="34" charset="-122"/>
              </a:rPr>
              <a:t>+ 0FFFH </a:t>
            </a:r>
            <a:r>
              <a:rPr lang="zh-CN" altLang="en-US" sz="2400" b="1" dirty="0">
                <a:solidFill>
                  <a:schemeClr val="tx1">
                    <a:lumMod val="50000"/>
                    <a:lumOff val="50000"/>
                  </a:schemeClr>
                </a:solidFill>
                <a:latin typeface="微软雅黑" pitchFamily="34" charset="-122"/>
                <a:ea typeface="微软雅黑" pitchFamily="34" charset="-122"/>
              </a:rPr>
              <a:t>。</a:t>
            </a:r>
            <a:endParaRPr lang="en-US" altLang="zh-CN" sz="2400" b="1" dirty="0">
              <a:solidFill>
                <a:schemeClr val="tx1">
                  <a:lumMod val="50000"/>
                  <a:lumOff val="50000"/>
                </a:schemeClr>
              </a:solidFill>
              <a:latin typeface="微软雅黑" pitchFamily="34" charset="-122"/>
              <a:ea typeface="微软雅黑" pitchFamily="34" charset="-122"/>
              <a:sym typeface="Wingdings" panose="05000000000000000000" pitchFamily="2" charset="2"/>
            </a:endParaRPr>
          </a:p>
        </p:txBody>
      </p:sp>
      <p:sp>
        <p:nvSpPr>
          <p:cNvPr id="7" name="矩形 6"/>
          <p:cNvSpPr/>
          <p:nvPr/>
        </p:nvSpPr>
        <p:spPr>
          <a:xfrm>
            <a:off x="899381" y="2708920"/>
            <a:ext cx="7489043" cy="2304256"/>
          </a:xfrm>
          <a:prstGeom prst="rect">
            <a:avLst/>
          </a:prstGeom>
          <a:noFill/>
          <a:ln w="12700">
            <a:solidFill>
              <a:srgbClr val="1D8DE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3574378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3"/>
          <p:cNvSpPr>
            <a:spLocks noChangeArrowheads="1"/>
          </p:cNvSpPr>
          <p:nvPr/>
        </p:nvSpPr>
        <p:spPr bwMode="auto">
          <a:xfrm>
            <a:off x="683568" y="1499308"/>
            <a:ext cx="3665058" cy="2145716"/>
          </a:xfrm>
          <a:prstGeom prst="rect">
            <a:avLst/>
          </a:prstGeom>
          <a:noFill/>
          <a:ln w="9525">
            <a:solidFill>
              <a:srgbClr val="FB9F4B"/>
            </a:solidFill>
            <a:prstDash val="solid"/>
            <a:miter lim="800000"/>
            <a:headEnd/>
            <a:tailEnd/>
          </a:ln>
        </p:spPr>
        <p:txBody>
          <a:bodyPr wrap="square">
            <a:spAutoFit/>
          </a:bodyPr>
          <a:lstStyle/>
          <a:p>
            <a:pPr>
              <a:lnSpc>
                <a:spcPct val="139000"/>
              </a:lnSpc>
              <a:spcAft>
                <a:spcPts val="600"/>
              </a:spcAft>
              <a:defRPr/>
            </a:pPr>
            <a:r>
              <a:rPr lang="zh-CN" altLang="en-US" sz="2400" dirty="0">
                <a:solidFill>
                  <a:schemeClr val="tx1">
                    <a:lumMod val="65000"/>
                    <a:lumOff val="35000"/>
                  </a:schemeClr>
                </a:solidFill>
                <a:latin typeface="微软雅黑" pitchFamily="34" charset="-122"/>
                <a:ea typeface="微软雅黑" pitchFamily="34" charset="-122"/>
              </a:rPr>
              <a:t>段基地址为</a:t>
            </a:r>
            <a:r>
              <a:rPr lang="en-US" altLang="zh-CN" sz="2400" dirty="0">
                <a:solidFill>
                  <a:schemeClr val="tx1">
                    <a:lumMod val="65000"/>
                    <a:lumOff val="35000"/>
                  </a:schemeClr>
                </a:solidFill>
                <a:latin typeface="微软雅黑" pitchFamily="34" charset="-122"/>
                <a:ea typeface="微软雅黑" pitchFamily="34" charset="-122"/>
              </a:rPr>
              <a:t>20000000H</a:t>
            </a:r>
            <a:r>
              <a:rPr lang="zh-CN" altLang="en-US" sz="2400" dirty="0">
                <a:solidFill>
                  <a:schemeClr val="tx1">
                    <a:lumMod val="65000"/>
                    <a:lumOff val="35000"/>
                  </a:schemeClr>
                </a:solidFill>
                <a:latin typeface="微软雅黑" pitchFamily="34" charset="-122"/>
                <a:ea typeface="微软雅黑" pitchFamily="34" charset="-122"/>
              </a:rPr>
              <a:t>，段描述符中的</a:t>
            </a:r>
            <a:r>
              <a:rPr lang="en-US" altLang="zh-CN" sz="2400" dirty="0">
                <a:solidFill>
                  <a:schemeClr val="tx1">
                    <a:lumMod val="65000"/>
                    <a:lumOff val="35000"/>
                  </a:schemeClr>
                </a:solidFill>
                <a:latin typeface="微软雅黑" pitchFamily="34" charset="-122"/>
                <a:ea typeface="微软雅黑" pitchFamily="34" charset="-122"/>
              </a:rPr>
              <a:t>20</a:t>
            </a:r>
            <a:r>
              <a:rPr lang="zh-CN" altLang="en-US" sz="2400" dirty="0">
                <a:solidFill>
                  <a:schemeClr val="tx1">
                    <a:lumMod val="65000"/>
                    <a:lumOff val="35000"/>
                  </a:schemeClr>
                </a:solidFill>
                <a:latin typeface="微软雅黑" pitchFamily="34" charset="-122"/>
                <a:ea typeface="微软雅黑" pitchFamily="34" charset="-122"/>
              </a:rPr>
              <a:t>位限长为</a:t>
            </a:r>
            <a:r>
              <a:rPr lang="en-US" altLang="zh-CN" sz="2400" dirty="0">
                <a:solidFill>
                  <a:schemeClr val="tx1">
                    <a:lumMod val="65000"/>
                    <a:lumOff val="35000"/>
                  </a:schemeClr>
                </a:solidFill>
                <a:latin typeface="微软雅黑" pitchFamily="34" charset="-122"/>
                <a:ea typeface="微软雅黑" pitchFamily="34" charset="-122"/>
              </a:rPr>
              <a:t>0FFFFFH </a:t>
            </a:r>
            <a:r>
              <a:rPr lang="zh-CN" altLang="en-US" sz="2400" dirty="0">
                <a:solidFill>
                  <a:schemeClr val="tx1">
                    <a:lumMod val="65000"/>
                    <a:lumOff val="35000"/>
                  </a:schemeClr>
                </a:solidFill>
                <a:latin typeface="微软雅黑" pitchFamily="34" charset="-122"/>
                <a:ea typeface="微软雅黑" pitchFamily="34" charset="-122"/>
              </a:rPr>
              <a:t>。当描述符中的</a:t>
            </a:r>
            <a:r>
              <a:rPr lang="en-US" altLang="zh-CN" sz="2400" dirty="0">
                <a:solidFill>
                  <a:schemeClr val="tx1">
                    <a:lumMod val="65000"/>
                    <a:lumOff val="35000"/>
                  </a:schemeClr>
                </a:solidFill>
                <a:latin typeface="微软雅黑" pitchFamily="34" charset="-122"/>
                <a:ea typeface="微软雅黑" pitchFamily="34" charset="-122"/>
              </a:rPr>
              <a:t>G</a:t>
            </a:r>
            <a:r>
              <a:rPr lang="zh-CN" altLang="en-US" sz="2400" dirty="0">
                <a:solidFill>
                  <a:schemeClr val="tx1">
                    <a:lumMod val="65000"/>
                    <a:lumOff val="35000"/>
                  </a:schemeClr>
                </a:solidFill>
                <a:latin typeface="微软雅黑" pitchFamily="34" charset="-122"/>
                <a:ea typeface="微软雅黑" pitchFamily="34" charset="-122"/>
              </a:rPr>
              <a:t>＝</a:t>
            </a:r>
            <a:r>
              <a:rPr lang="en-US" altLang="zh-CN" sz="2400" dirty="0">
                <a:solidFill>
                  <a:schemeClr val="tx1">
                    <a:lumMod val="65000"/>
                    <a:lumOff val="35000"/>
                  </a:schemeClr>
                </a:solidFill>
                <a:latin typeface="微软雅黑" pitchFamily="34" charset="-122"/>
                <a:ea typeface="微软雅黑" pitchFamily="34" charset="-122"/>
              </a:rPr>
              <a:t>0</a:t>
            </a:r>
            <a:r>
              <a:rPr lang="zh-CN" altLang="en-US" sz="2400" dirty="0">
                <a:solidFill>
                  <a:schemeClr val="tx1">
                    <a:lumMod val="65000"/>
                    <a:lumOff val="35000"/>
                  </a:schemeClr>
                </a:solidFill>
                <a:latin typeface="微软雅黑" pitchFamily="34" charset="-122"/>
                <a:ea typeface="微软雅黑" pitchFamily="34" charset="-122"/>
              </a:rPr>
              <a:t>时，此段的范围？</a:t>
            </a:r>
          </a:p>
        </p:txBody>
      </p:sp>
      <p:sp>
        <p:nvSpPr>
          <p:cNvPr id="8" name="矩形 3"/>
          <p:cNvSpPr>
            <a:spLocks noChangeArrowheads="1"/>
          </p:cNvSpPr>
          <p:nvPr/>
        </p:nvSpPr>
        <p:spPr bwMode="auto">
          <a:xfrm>
            <a:off x="683568" y="3945772"/>
            <a:ext cx="3665058" cy="1680460"/>
          </a:xfrm>
          <a:prstGeom prst="rect">
            <a:avLst/>
          </a:prstGeom>
          <a:noFill/>
          <a:ln w="9525">
            <a:solidFill>
              <a:srgbClr val="FB9F4B"/>
            </a:solidFill>
            <a:prstDash val="dash"/>
            <a:miter lim="800000"/>
            <a:headEnd/>
            <a:tailEnd/>
          </a:ln>
        </p:spPr>
        <p:txBody>
          <a:bodyPr wrap="square">
            <a:spAutoFit/>
          </a:bodyPr>
          <a:lstStyle/>
          <a:p>
            <a:pPr>
              <a:lnSpc>
                <a:spcPct val="129000"/>
              </a:lnSpc>
              <a:defRPr/>
            </a:pPr>
            <a:r>
              <a:rPr lang="en-US" altLang="zh-CN" sz="2000" b="1" dirty="0">
                <a:solidFill>
                  <a:srgbClr val="FF0066"/>
                </a:solidFill>
                <a:latin typeface="微软雅黑" pitchFamily="34" charset="-122"/>
                <a:ea typeface="微软雅黑" pitchFamily="34" charset="-122"/>
              </a:rPr>
              <a:t>G=0</a:t>
            </a:r>
            <a:r>
              <a:rPr lang="zh-CN" altLang="en-US" sz="2000" b="1" dirty="0">
                <a:solidFill>
                  <a:srgbClr val="FF0066"/>
                </a:solidFill>
                <a:latin typeface="微软雅黑" pitchFamily="34" charset="-122"/>
                <a:ea typeface="微软雅黑" pitchFamily="34" charset="-122"/>
              </a:rPr>
              <a:t>：</a:t>
            </a:r>
            <a:endParaRPr lang="en-US" altLang="zh-CN" sz="2000" b="1" dirty="0">
              <a:solidFill>
                <a:srgbClr val="FF0066"/>
              </a:solidFill>
              <a:latin typeface="微软雅黑" pitchFamily="34" charset="-122"/>
              <a:ea typeface="微软雅黑" pitchFamily="34" charset="-122"/>
            </a:endParaRPr>
          </a:p>
          <a:p>
            <a:pPr>
              <a:lnSpc>
                <a:spcPct val="129000"/>
              </a:lnSpc>
              <a:defRPr/>
            </a:pPr>
            <a:r>
              <a:rPr lang="en-US" altLang="zh-CN" sz="2000" b="1" dirty="0">
                <a:solidFill>
                  <a:srgbClr val="1D8DE5"/>
                </a:solidFill>
                <a:latin typeface="微软雅黑" pitchFamily="34" charset="-122"/>
                <a:ea typeface="微软雅黑" pitchFamily="34" charset="-122"/>
              </a:rPr>
              <a:t>20000000H~200FFFFFH</a:t>
            </a:r>
          </a:p>
          <a:p>
            <a:pPr>
              <a:lnSpc>
                <a:spcPct val="129000"/>
              </a:lnSpc>
              <a:defRPr/>
            </a:pPr>
            <a:r>
              <a:rPr lang="en-US" altLang="zh-CN" sz="2000" b="1" dirty="0">
                <a:solidFill>
                  <a:srgbClr val="FF0066"/>
                </a:solidFill>
                <a:latin typeface="微软雅黑" pitchFamily="34" charset="-122"/>
                <a:ea typeface="微软雅黑" pitchFamily="34" charset="-122"/>
              </a:rPr>
              <a:t>1MB</a:t>
            </a:r>
          </a:p>
          <a:p>
            <a:pPr>
              <a:lnSpc>
                <a:spcPct val="129000"/>
              </a:lnSpc>
              <a:defRPr/>
            </a:pPr>
            <a:endParaRPr lang="en-US" altLang="zh-CN" sz="2000" b="1" dirty="0">
              <a:solidFill>
                <a:srgbClr val="FF0000"/>
              </a:solidFill>
              <a:latin typeface="微软雅黑" pitchFamily="34" charset="-122"/>
              <a:ea typeface="微软雅黑" pitchFamily="34" charset="-122"/>
            </a:endParaRPr>
          </a:p>
        </p:txBody>
      </p:sp>
      <p:sp>
        <p:nvSpPr>
          <p:cNvPr id="11" name="矩形 3"/>
          <p:cNvSpPr>
            <a:spLocks noChangeArrowheads="1"/>
          </p:cNvSpPr>
          <p:nvPr/>
        </p:nvSpPr>
        <p:spPr bwMode="auto">
          <a:xfrm>
            <a:off x="4873319" y="1499308"/>
            <a:ext cx="3665058" cy="2145716"/>
          </a:xfrm>
          <a:prstGeom prst="rect">
            <a:avLst/>
          </a:prstGeom>
          <a:noFill/>
          <a:ln w="9525">
            <a:solidFill>
              <a:srgbClr val="FB9F4B"/>
            </a:solidFill>
            <a:prstDash val="solid"/>
            <a:miter lim="800000"/>
            <a:headEnd/>
            <a:tailEnd/>
          </a:ln>
        </p:spPr>
        <p:txBody>
          <a:bodyPr wrap="square">
            <a:spAutoFit/>
          </a:bodyPr>
          <a:lstStyle/>
          <a:p>
            <a:pPr>
              <a:lnSpc>
                <a:spcPct val="139000"/>
              </a:lnSpc>
              <a:spcAft>
                <a:spcPts val="600"/>
              </a:spcAft>
              <a:defRPr/>
            </a:pPr>
            <a:r>
              <a:rPr lang="zh-CN" altLang="en-US" sz="2400" dirty="0">
                <a:solidFill>
                  <a:schemeClr val="tx1">
                    <a:lumMod val="65000"/>
                    <a:lumOff val="35000"/>
                  </a:schemeClr>
                </a:solidFill>
                <a:latin typeface="微软雅黑" pitchFamily="34" charset="-122"/>
                <a:ea typeface="微软雅黑" pitchFamily="34" charset="-122"/>
              </a:rPr>
              <a:t>段基地址为</a:t>
            </a:r>
            <a:r>
              <a:rPr lang="en-US" altLang="zh-CN" sz="2400" dirty="0">
                <a:solidFill>
                  <a:schemeClr val="tx1">
                    <a:lumMod val="65000"/>
                    <a:lumOff val="35000"/>
                  </a:schemeClr>
                </a:solidFill>
                <a:latin typeface="微软雅黑" pitchFamily="34" charset="-122"/>
                <a:ea typeface="微软雅黑" pitchFamily="34" charset="-122"/>
              </a:rPr>
              <a:t>00000000H</a:t>
            </a:r>
            <a:r>
              <a:rPr lang="zh-CN" altLang="en-US" sz="2400" dirty="0">
                <a:solidFill>
                  <a:schemeClr val="tx1">
                    <a:lumMod val="65000"/>
                    <a:lumOff val="35000"/>
                  </a:schemeClr>
                </a:solidFill>
                <a:latin typeface="微软雅黑" pitchFamily="34" charset="-122"/>
                <a:ea typeface="微软雅黑" pitchFamily="34" charset="-122"/>
              </a:rPr>
              <a:t>，段描述符中的</a:t>
            </a:r>
            <a:r>
              <a:rPr lang="en-US" altLang="zh-CN" sz="2400" dirty="0">
                <a:solidFill>
                  <a:schemeClr val="tx1">
                    <a:lumMod val="65000"/>
                    <a:lumOff val="35000"/>
                  </a:schemeClr>
                </a:solidFill>
                <a:latin typeface="微软雅黑" pitchFamily="34" charset="-122"/>
                <a:ea typeface="微软雅黑" pitchFamily="34" charset="-122"/>
              </a:rPr>
              <a:t>20</a:t>
            </a:r>
            <a:r>
              <a:rPr lang="zh-CN" altLang="en-US" sz="2400" dirty="0">
                <a:solidFill>
                  <a:schemeClr val="tx1">
                    <a:lumMod val="65000"/>
                    <a:lumOff val="35000"/>
                  </a:schemeClr>
                </a:solidFill>
                <a:latin typeface="微软雅黑" pitchFamily="34" charset="-122"/>
                <a:ea typeface="微软雅黑" pitchFamily="34" charset="-122"/>
              </a:rPr>
              <a:t>位限长为</a:t>
            </a:r>
            <a:r>
              <a:rPr lang="en-US" altLang="zh-CN" sz="2400" dirty="0">
                <a:solidFill>
                  <a:schemeClr val="tx1">
                    <a:lumMod val="65000"/>
                    <a:lumOff val="35000"/>
                  </a:schemeClr>
                </a:solidFill>
                <a:latin typeface="微软雅黑" pitchFamily="34" charset="-122"/>
                <a:ea typeface="微软雅黑" pitchFamily="34" charset="-122"/>
              </a:rPr>
              <a:t>0FFFFFH </a:t>
            </a:r>
            <a:r>
              <a:rPr lang="zh-CN" altLang="en-US" sz="2400" dirty="0">
                <a:solidFill>
                  <a:schemeClr val="tx1">
                    <a:lumMod val="65000"/>
                    <a:lumOff val="35000"/>
                  </a:schemeClr>
                </a:solidFill>
                <a:latin typeface="微软雅黑" pitchFamily="34" charset="-122"/>
                <a:ea typeface="微软雅黑" pitchFamily="34" charset="-122"/>
              </a:rPr>
              <a:t>。当描述符中的</a:t>
            </a:r>
            <a:r>
              <a:rPr lang="en-US" altLang="zh-CN" sz="2400" dirty="0">
                <a:solidFill>
                  <a:schemeClr val="tx1">
                    <a:lumMod val="65000"/>
                    <a:lumOff val="35000"/>
                  </a:schemeClr>
                </a:solidFill>
                <a:latin typeface="微软雅黑" pitchFamily="34" charset="-122"/>
                <a:ea typeface="微软雅黑" pitchFamily="34" charset="-122"/>
              </a:rPr>
              <a:t>G</a:t>
            </a:r>
            <a:r>
              <a:rPr lang="zh-CN" altLang="en-US" sz="2400" dirty="0">
                <a:solidFill>
                  <a:schemeClr val="tx1">
                    <a:lumMod val="65000"/>
                    <a:lumOff val="35000"/>
                  </a:schemeClr>
                </a:solidFill>
                <a:latin typeface="微软雅黑" pitchFamily="34" charset="-122"/>
                <a:ea typeface="微软雅黑" pitchFamily="34" charset="-122"/>
              </a:rPr>
              <a:t>＝</a:t>
            </a:r>
            <a:r>
              <a:rPr lang="en-US" altLang="zh-CN" sz="2400" dirty="0">
                <a:solidFill>
                  <a:schemeClr val="tx1">
                    <a:lumMod val="65000"/>
                    <a:lumOff val="35000"/>
                  </a:schemeClr>
                </a:solidFill>
                <a:latin typeface="微软雅黑" pitchFamily="34" charset="-122"/>
                <a:ea typeface="微软雅黑" pitchFamily="34" charset="-122"/>
              </a:rPr>
              <a:t>1</a:t>
            </a:r>
            <a:r>
              <a:rPr lang="zh-CN" altLang="en-US" sz="2400" dirty="0">
                <a:solidFill>
                  <a:schemeClr val="tx1">
                    <a:lumMod val="65000"/>
                    <a:lumOff val="35000"/>
                  </a:schemeClr>
                </a:solidFill>
                <a:latin typeface="微软雅黑" pitchFamily="34" charset="-122"/>
                <a:ea typeface="微软雅黑" pitchFamily="34" charset="-122"/>
              </a:rPr>
              <a:t>时，此段的范围？</a:t>
            </a:r>
          </a:p>
        </p:txBody>
      </p:sp>
      <p:sp>
        <p:nvSpPr>
          <p:cNvPr id="12" name="矩形 3"/>
          <p:cNvSpPr>
            <a:spLocks noChangeArrowheads="1"/>
          </p:cNvSpPr>
          <p:nvPr/>
        </p:nvSpPr>
        <p:spPr bwMode="auto">
          <a:xfrm>
            <a:off x="4873319" y="3945772"/>
            <a:ext cx="3665058" cy="1680460"/>
          </a:xfrm>
          <a:prstGeom prst="rect">
            <a:avLst/>
          </a:prstGeom>
          <a:noFill/>
          <a:ln w="9525">
            <a:solidFill>
              <a:srgbClr val="FB9F4B"/>
            </a:solidFill>
            <a:prstDash val="dash"/>
            <a:miter lim="800000"/>
            <a:headEnd/>
            <a:tailEnd/>
          </a:ln>
        </p:spPr>
        <p:txBody>
          <a:bodyPr wrap="square">
            <a:spAutoFit/>
          </a:bodyPr>
          <a:lstStyle/>
          <a:p>
            <a:pPr>
              <a:lnSpc>
                <a:spcPct val="129000"/>
              </a:lnSpc>
              <a:defRPr/>
            </a:pPr>
            <a:r>
              <a:rPr lang="en-US" altLang="zh-CN" sz="2000" b="1" dirty="0">
                <a:solidFill>
                  <a:srgbClr val="FF0066"/>
                </a:solidFill>
                <a:latin typeface="微软雅黑" pitchFamily="34" charset="-122"/>
                <a:ea typeface="微软雅黑" pitchFamily="34" charset="-122"/>
              </a:rPr>
              <a:t>G=1</a:t>
            </a:r>
            <a:r>
              <a:rPr lang="zh-CN" altLang="en-US" sz="2000" b="1" dirty="0">
                <a:solidFill>
                  <a:srgbClr val="FF0066"/>
                </a:solidFill>
                <a:latin typeface="微软雅黑" pitchFamily="34" charset="-122"/>
                <a:ea typeface="微软雅黑" pitchFamily="34" charset="-122"/>
              </a:rPr>
              <a:t>：</a:t>
            </a:r>
            <a:endParaRPr lang="en-US" altLang="zh-CN" sz="2000" b="1" dirty="0">
              <a:solidFill>
                <a:srgbClr val="FF0066"/>
              </a:solidFill>
              <a:latin typeface="微软雅黑" pitchFamily="34" charset="-122"/>
              <a:ea typeface="微软雅黑" pitchFamily="34" charset="-122"/>
            </a:endParaRPr>
          </a:p>
          <a:p>
            <a:pPr>
              <a:lnSpc>
                <a:spcPct val="129000"/>
              </a:lnSpc>
              <a:defRPr/>
            </a:pPr>
            <a:r>
              <a:rPr lang="en-US" altLang="zh-CN" sz="2000" b="1" dirty="0">
                <a:solidFill>
                  <a:srgbClr val="1D8DE5"/>
                </a:solidFill>
                <a:latin typeface="微软雅黑" pitchFamily="34" charset="-122"/>
                <a:ea typeface="微软雅黑" pitchFamily="34" charset="-122"/>
              </a:rPr>
              <a:t>0FFFFFH</a:t>
            </a:r>
            <a:r>
              <a:rPr lang="zh-CN" altLang="en-US" sz="2000" b="1" dirty="0">
                <a:solidFill>
                  <a:srgbClr val="1D8DE5"/>
                </a:solidFill>
                <a:latin typeface="微软雅黑" pitchFamily="34" charset="-122"/>
                <a:ea typeface="微软雅黑" pitchFamily="34" charset="-122"/>
              </a:rPr>
              <a:t>左移</a:t>
            </a:r>
            <a:r>
              <a:rPr lang="en-US" altLang="zh-CN" sz="2000" b="1" dirty="0">
                <a:solidFill>
                  <a:srgbClr val="1D8DE5"/>
                </a:solidFill>
                <a:latin typeface="微软雅黑" pitchFamily="34" charset="-122"/>
                <a:ea typeface="微软雅黑" pitchFamily="34" charset="-122"/>
              </a:rPr>
              <a:t>12</a:t>
            </a:r>
            <a:r>
              <a:rPr lang="zh-CN" altLang="en-US" sz="2000" b="1" dirty="0">
                <a:solidFill>
                  <a:srgbClr val="1D8DE5"/>
                </a:solidFill>
                <a:latin typeface="微软雅黑" pitchFamily="34" charset="-122"/>
                <a:ea typeface="微软雅黑" pitchFamily="34" charset="-122"/>
              </a:rPr>
              <a:t>位</a:t>
            </a:r>
            <a:r>
              <a:rPr lang="en-US" altLang="zh-CN" sz="2000" b="1" dirty="0">
                <a:solidFill>
                  <a:srgbClr val="1D8DE5"/>
                </a:solidFill>
                <a:latin typeface="微软雅黑" pitchFamily="34" charset="-122"/>
                <a:ea typeface="微软雅黑" pitchFamily="34" charset="-122"/>
              </a:rPr>
              <a:t>+0FFFH</a:t>
            </a:r>
          </a:p>
          <a:p>
            <a:pPr>
              <a:lnSpc>
                <a:spcPct val="129000"/>
              </a:lnSpc>
              <a:defRPr/>
            </a:pPr>
            <a:r>
              <a:rPr lang="zh-CN" altLang="en-US" sz="2000" b="1" dirty="0">
                <a:solidFill>
                  <a:srgbClr val="1D8DE5"/>
                </a:solidFill>
                <a:latin typeface="微软雅黑" pitchFamily="34" charset="-122"/>
                <a:ea typeface="微软雅黑" pitchFamily="34" charset="-122"/>
              </a:rPr>
              <a:t>段界限为：</a:t>
            </a:r>
            <a:r>
              <a:rPr lang="en-US" altLang="zh-CN" sz="2000" b="1" dirty="0">
                <a:solidFill>
                  <a:srgbClr val="1D8DE5"/>
                </a:solidFill>
                <a:latin typeface="微软雅黑" pitchFamily="34" charset="-122"/>
                <a:ea typeface="微软雅黑" pitchFamily="34" charset="-122"/>
              </a:rPr>
              <a:t>0FFFFFFFFH</a:t>
            </a:r>
          </a:p>
          <a:p>
            <a:pPr>
              <a:lnSpc>
                <a:spcPct val="129000"/>
              </a:lnSpc>
              <a:defRPr/>
            </a:pPr>
            <a:r>
              <a:rPr lang="en-US" altLang="zh-CN" sz="2000" b="1" dirty="0">
                <a:solidFill>
                  <a:srgbClr val="1D8DE5"/>
                </a:solidFill>
                <a:latin typeface="微软雅黑" pitchFamily="34" charset="-122"/>
                <a:ea typeface="微软雅黑" pitchFamily="34" charset="-122"/>
              </a:rPr>
              <a:t>0~ 0FFFFFFFFH</a:t>
            </a:r>
            <a:r>
              <a:rPr lang="zh-CN" altLang="en-US" sz="2000" b="1" dirty="0" smtClean="0">
                <a:solidFill>
                  <a:srgbClr val="1D8DE5"/>
                </a:solidFill>
                <a:latin typeface="微软雅黑" pitchFamily="34" charset="-122"/>
                <a:ea typeface="微软雅黑" pitchFamily="34" charset="-122"/>
              </a:rPr>
              <a:t>，</a:t>
            </a:r>
            <a:r>
              <a:rPr lang="en-US" altLang="zh-CN" sz="2000" b="1" dirty="0" smtClean="0">
                <a:solidFill>
                  <a:srgbClr val="FF0066"/>
                </a:solidFill>
                <a:latin typeface="微软雅黑" pitchFamily="34" charset="-122"/>
                <a:ea typeface="微软雅黑" pitchFamily="34" charset="-122"/>
              </a:rPr>
              <a:t>4GB</a:t>
            </a:r>
            <a:endParaRPr lang="en-US" altLang="zh-CN" sz="2000" b="1" dirty="0">
              <a:solidFill>
                <a:srgbClr val="FF0066"/>
              </a:solidFill>
              <a:latin typeface="微软雅黑" pitchFamily="34" charset="-122"/>
              <a:ea typeface="微软雅黑" pitchFamily="34" charset="-122"/>
            </a:endParaRPr>
          </a:p>
        </p:txBody>
      </p:sp>
      <p:cxnSp>
        <p:nvCxnSpPr>
          <p:cNvPr id="13" name="直接连接符 1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4"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存储段的段界</a:t>
            </a:r>
            <a:endParaRPr lang="zh-CN" altLang="en-US" sz="3200" b="1" dirty="0">
              <a:solidFill>
                <a:srgbClr val="00C4F0"/>
              </a:solidFill>
              <a:latin typeface="微软雅黑" pitchFamily="34" charset="-122"/>
              <a:ea typeface="微软雅黑" pitchFamily="34" charset="-122"/>
            </a:endParaRPr>
          </a:p>
        </p:txBody>
      </p:sp>
      <p:cxnSp>
        <p:nvCxnSpPr>
          <p:cNvPr id="15" name="直接连接符 14"/>
          <p:cNvCxnSpPr/>
          <p:nvPr/>
        </p:nvCxnSpPr>
        <p:spPr bwMode="auto">
          <a:xfrm>
            <a:off x="1619250" y="1123963"/>
            <a:ext cx="5905500" cy="0"/>
          </a:xfrm>
          <a:prstGeom prst="line">
            <a:avLst/>
          </a:prstGeom>
          <a:noFill/>
          <a:ln w="28575" cap="flat" cmpd="sng" algn="ctr">
            <a:solidFill>
              <a:srgbClr val="FFC000"/>
            </a:solidFill>
            <a:prstDash val="sysDot"/>
          </a:ln>
          <a:effectLst/>
        </p:spPr>
      </p:cxnSp>
    </p:spTree>
    <p:extLst>
      <p:ext uri="{BB962C8B-B14F-4D97-AF65-F5344CB8AC3E}">
        <p14:creationId xmlns:p14="http://schemas.microsoft.com/office/powerpoint/2010/main" val="1646338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3" name="直接连接符 10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04"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en-US" altLang="zh-CN" sz="3200" b="1" dirty="0">
                <a:solidFill>
                  <a:srgbClr val="00B0F0"/>
                </a:solidFill>
                <a:latin typeface="微软雅黑" pitchFamily="34" charset="-122"/>
                <a:ea typeface="微软雅黑" pitchFamily="34" charset="-122"/>
              </a:rPr>
              <a:t>LDT</a:t>
            </a:r>
            <a:r>
              <a:rPr lang="zh-CN" altLang="en-US" sz="3200" b="1" dirty="0">
                <a:solidFill>
                  <a:srgbClr val="00B0F0"/>
                </a:solidFill>
                <a:latin typeface="微软雅黑" pitchFamily="34" charset="-122"/>
                <a:ea typeface="微软雅黑" pitchFamily="34" charset="-122"/>
              </a:rPr>
              <a:t>描述符</a:t>
            </a:r>
            <a:endParaRPr lang="zh-CN" altLang="en-US" sz="3200" b="1" dirty="0">
              <a:solidFill>
                <a:srgbClr val="00C4F0"/>
              </a:solidFill>
              <a:latin typeface="微软雅黑" pitchFamily="34" charset="-122"/>
              <a:ea typeface="微软雅黑" pitchFamily="34" charset="-122"/>
            </a:endParaRPr>
          </a:p>
        </p:txBody>
      </p:sp>
      <p:cxnSp>
        <p:nvCxnSpPr>
          <p:cNvPr id="105" name="直接连接符 104"/>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07" name="矩形 106"/>
          <p:cNvSpPr/>
          <p:nvPr/>
        </p:nvSpPr>
        <p:spPr>
          <a:xfrm>
            <a:off x="2023831" y="1864458"/>
            <a:ext cx="5040560" cy="720080"/>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段界限值的</a:t>
            </a:r>
            <a:r>
              <a:rPr lang="en-US" altLang="zh-CN" sz="2000" dirty="0">
                <a:latin typeface="微软雅黑" panose="020B0503020204020204" pitchFamily="34" charset="-122"/>
                <a:ea typeface="微软雅黑" panose="020B0503020204020204" pitchFamily="34" charset="-122"/>
              </a:rPr>
              <a:t>15~0</a:t>
            </a:r>
            <a:r>
              <a:rPr lang="zh-CN" altLang="en-US" sz="2000" dirty="0">
                <a:latin typeface="微软雅黑" panose="020B0503020204020204" pitchFamily="34" charset="-122"/>
                <a:ea typeface="微软雅黑" panose="020B0503020204020204" pitchFamily="34" charset="-122"/>
              </a:rPr>
              <a:t>位</a:t>
            </a:r>
          </a:p>
        </p:txBody>
      </p:sp>
      <p:sp>
        <p:nvSpPr>
          <p:cNvPr id="108" name="矩形 107"/>
          <p:cNvSpPr/>
          <p:nvPr/>
        </p:nvSpPr>
        <p:spPr>
          <a:xfrm>
            <a:off x="2023831" y="2597031"/>
            <a:ext cx="5040560" cy="72008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段基址的</a:t>
            </a:r>
            <a:r>
              <a:rPr lang="en-US" altLang="zh-CN" sz="2000" dirty="0">
                <a:latin typeface="微软雅黑" panose="020B0503020204020204" pitchFamily="34" charset="-122"/>
                <a:ea typeface="微软雅黑" panose="020B0503020204020204" pitchFamily="34" charset="-122"/>
              </a:rPr>
              <a:t>15~0</a:t>
            </a:r>
            <a:r>
              <a:rPr lang="zh-CN" altLang="en-US" sz="2000" dirty="0">
                <a:latin typeface="微软雅黑" panose="020B0503020204020204" pitchFamily="34" charset="-122"/>
                <a:ea typeface="微软雅黑" panose="020B0503020204020204" pitchFamily="34" charset="-122"/>
              </a:rPr>
              <a:t>位</a:t>
            </a:r>
          </a:p>
        </p:txBody>
      </p:sp>
      <p:sp>
        <p:nvSpPr>
          <p:cNvPr id="109" name="矩形 108"/>
          <p:cNvSpPr/>
          <p:nvPr/>
        </p:nvSpPr>
        <p:spPr>
          <a:xfrm>
            <a:off x="4544111" y="3334932"/>
            <a:ext cx="2520280" cy="72008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段基址的</a:t>
            </a:r>
            <a:r>
              <a:rPr lang="en-US" altLang="zh-CN" dirty="0">
                <a:latin typeface="微软雅黑" panose="020B0503020204020204" pitchFamily="34" charset="-122"/>
                <a:ea typeface="微软雅黑" panose="020B0503020204020204" pitchFamily="34" charset="-122"/>
              </a:rPr>
              <a:t>23~16</a:t>
            </a:r>
            <a:r>
              <a:rPr lang="zh-CN" altLang="en-US" dirty="0">
                <a:latin typeface="微软雅黑" panose="020B0503020204020204" pitchFamily="34" charset="-122"/>
                <a:ea typeface="微软雅黑" panose="020B0503020204020204" pitchFamily="34" charset="-122"/>
              </a:rPr>
              <a:t>位</a:t>
            </a:r>
          </a:p>
        </p:txBody>
      </p:sp>
      <p:sp>
        <p:nvSpPr>
          <p:cNvPr id="110" name="矩形 109"/>
          <p:cNvSpPr/>
          <p:nvPr/>
        </p:nvSpPr>
        <p:spPr>
          <a:xfrm>
            <a:off x="2023831" y="4073329"/>
            <a:ext cx="2520280" cy="72008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段基址的</a:t>
            </a:r>
            <a:r>
              <a:rPr lang="en-US" altLang="zh-CN" sz="2000" dirty="0">
                <a:latin typeface="微软雅黑" panose="020B0503020204020204" pitchFamily="34" charset="-122"/>
                <a:ea typeface="微软雅黑" panose="020B0503020204020204" pitchFamily="34" charset="-122"/>
              </a:rPr>
              <a:t>31~24</a:t>
            </a:r>
            <a:r>
              <a:rPr lang="zh-CN" altLang="en-US" sz="2000" dirty="0">
                <a:latin typeface="微软雅黑" panose="020B0503020204020204" pitchFamily="34" charset="-122"/>
                <a:ea typeface="微软雅黑" panose="020B0503020204020204" pitchFamily="34" charset="-122"/>
              </a:rPr>
              <a:t>位</a:t>
            </a:r>
          </a:p>
        </p:txBody>
      </p:sp>
      <p:sp>
        <p:nvSpPr>
          <p:cNvPr id="111" name="矩形 110"/>
          <p:cNvSpPr/>
          <p:nvPr/>
        </p:nvSpPr>
        <p:spPr>
          <a:xfrm>
            <a:off x="5797344" y="4073329"/>
            <a:ext cx="1267048" cy="720080"/>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段界限值</a:t>
            </a:r>
            <a:r>
              <a:rPr lang="en-US" altLang="zh-CN" dirty="0">
                <a:latin typeface="微软雅黑" panose="020B0503020204020204" pitchFamily="34" charset="-122"/>
                <a:ea typeface="微软雅黑" panose="020B0503020204020204" pitchFamily="34" charset="-122"/>
              </a:rPr>
              <a:t>19~16</a:t>
            </a:r>
            <a:r>
              <a:rPr lang="zh-CN" altLang="en-US" dirty="0">
                <a:latin typeface="微软雅黑" panose="020B0503020204020204" pitchFamily="34" charset="-122"/>
                <a:ea typeface="微软雅黑" panose="020B0503020204020204" pitchFamily="34" charset="-122"/>
              </a:rPr>
              <a:t>位</a:t>
            </a:r>
          </a:p>
        </p:txBody>
      </p:sp>
      <p:sp>
        <p:nvSpPr>
          <p:cNvPr id="112" name="矩形 111"/>
          <p:cNvSpPr/>
          <p:nvPr/>
        </p:nvSpPr>
        <p:spPr>
          <a:xfrm>
            <a:off x="7108067" y="1993665"/>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0</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3" name="矩形 112"/>
          <p:cNvSpPr/>
          <p:nvPr/>
        </p:nvSpPr>
        <p:spPr>
          <a:xfrm>
            <a:off x="7108067" y="2726238"/>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2</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4" name="矩形 113"/>
          <p:cNvSpPr/>
          <p:nvPr/>
        </p:nvSpPr>
        <p:spPr>
          <a:xfrm>
            <a:off x="7108067" y="3464139"/>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4</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5" name="矩形 114"/>
          <p:cNvSpPr/>
          <p:nvPr/>
        </p:nvSpPr>
        <p:spPr>
          <a:xfrm>
            <a:off x="7108067" y="4202040"/>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6</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6" name="矩形 115"/>
          <p:cNvSpPr/>
          <p:nvPr/>
        </p:nvSpPr>
        <p:spPr>
          <a:xfrm>
            <a:off x="1038414" y="1993665"/>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1</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7" name="矩形 116"/>
          <p:cNvSpPr/>
          <p:nvPr/>
        </p:nvSpPr>
        <p:spPr>
          <a:xfrm>
            <a:off x="1038414" y="2726238"/>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3</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8" name="矩形 117"/>
          <p:cNvSpPr/>
          <p:nvPr/>
        </p:nvSpPr>
        <p:spPr>
          <a:xfrm>
            <a:off x="1038414" y="3464139"/>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5</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9" name="矩形 118"/>
          <p:cNvSpPr/>
          <p:nvPr/>
        </p:nvSpPr>
        <p:spPr>
          <a:xfrm>
            <a:off x="1038414" y="4202040"/>
            <a:ext cx="848309" cy="400110"/>
          </a:xfrm>
          <a:prstGeom prst="rect">
            <a:avLst/>
          </a:prstGeom>
        </p:spPr>
        <p:txBody>
          <a:bodyPr wrap="none">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字节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7</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20" name="Text Box 6"/>
          <p:cNvSpPr txBox="1">
            <a:spLocks noChangeArrowheads="1"/>
          </p:cNvSpPr>
          <p:nvPr/>
        </p:nvSpPr>
        <p:spPr bwMode="auto">
          <a:xfrm>
            <a:off x="2023831" y="1525904"/>
            <a:ext cx="5084236"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15                                8    7   6   5   4   3    2   1   0</a:t>
            </a:r>
            <a:endParaRPr lang="en-US" altLang="zh-CN" sz="1600" b="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21" name="矩形 120"/>
          <p:cNvSpPr/>
          <p:nvPr/>
        </p:nvSpPr>
        <p:spPr>
          <a:xfrm>
            <a:off x="2023831" y="3334932"/>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P</a:t>
            </a:r>
            <a:endParaRPr lang="zh-CN" altLang="en-US" sz="1400" dirty="0">
              <a:latin typeface="微软雅黑" panose="020B0503020204020204" pitchFamily="34" charset="-122"/>
              <a:ea typeface="微软雅黑" panose="020B0503020204020204" pitchFamily="34" charset="-122"/>
            </a:endParaRPr>
          </a:p>
        </p:txBody>
      </p:sp>
      <p:sp>
        <p:nvSpPr>
          <p:cNvPr id="122" name="矩形 121"/>
          <p:cNvSpPr/>
          <p:nvPr/>
        </p:nvSpPr>
        <p:spPr>
          <a:xfrm>
            <a:off x="2350597" y="3334932"/>
            <a:ext cx="552192"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DPL</a:t>
            </a:r>
            <a:endParaRPr lang="zh-CN" altLang="en-US" sz="1400" dirty="0">
              <a:latin typeface="微软雅黑" panose="020B0503020204020204" pitchFamily="34" charset="-122"/>
              <a:ea typeface="微软雅黑" panose="020B0503020204020204" pitchFamily="34" charset="-122"/>
            </a:endParaRPr>
          </a:p>
        </p:txBody>
      </p:sp>
      <p:sp>
        <p:nvSpPr>
          <p:cNvPr id="123" name="矩形 122"/>
          <p:cNvSpPr/>
          <p:nvPr/>
        </p:nvSpPr>
        <p:spPr>
          <a:xfrm>
            <a:off x="2922599" y="3334932"/>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DT</a:t>
            </a:r>
          </a:p>
          <a:p>
            <a:pPr algn="ctr"/>
            <a:r>
              <a:rPr lang="en-US" altLang="zh-CN" sz="1400" dirty="0">
                <a:solidFill>
                  <a:srgbClr val="FFFF00"/>
                </a:solidFill>
                <a:latin typeface="微软雅黑" panose="020B0503020204020204" pitchFamily="34" charset="-122"/>
                <a:ea typeface="微软雅黑" panose="020B0503020204020204" pitchFamily="34" charset="-122"/>
              </a:rPr>
              <a:t>0</a:t>
            </a:r>
            <a:endParaRPr lang="zh-CN" altLang="en-US" dirty="0">
              <a:solidFill>
                <a:srgbClr val="FFFF00"/>
              </a:solidFill>
              <a:latin typeface="微软雅黑" panose="020B0503020204020204" pitchFamily="34" charset="-122"/>
              <a:ea typeface="微软雅黑" panose="020B0503020204020204" pitchFamily="34" charset="-122"/>
            </a:endParaRPr>
          </a:p>
        </p:txBody>
      </p:sp>
      <p:sp>
        <p:nvSpPr>
          <p:cNvPr id="124" name="矩形 123"/>
          <p:cNvSpPr/>
          <p:nvPr/>
        </p:nvSpPr>
        <p:spPr>
          <a:xfrm>
            <a:off x="3249872" y="3334932"/>
            <a:ext cx="1277677"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0010</a:t>
            </a:r>
            <a:endParaRPr lang="zh-CN" altLang="en-US" sz="1600" dirty="0">
              <a:latin typeface="微软雅黑" panose="020B0503020204020204" pitchFamily="34" charset="-122"/>
              <a:ea typeface="微软雅黑" panose="020B0503020204020204" pitchFamily="34" charset="-122"/>
            </a:endParaRPr>
          </a:p>
        </p:txBody>
      </p:sp>
      <p:sp>
        <p:nvSpPr>
          <p:cNvPr id="128" name="矩形 127"/>
          <p:cNvSpPr/>
          <p:nvPr/>
        </p:nvSpPr>
        <p:spPr>
          <a:xfrm>
            <a:off x="4523609" y="4073329"/>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G</a:t>
            </a:r>
            <a:endParaRPr lang="zh-CN" altLang="en-US" sz="1600" dirty="0">
              <a:latin typeface="微软雅黑" panose="020B0503020204020204" pitchFamily="34" charset="-122"/>
              <a:ea typeface="微软雅黑" panose="020B0503020204020204" pitchFamily="34" charset="-122"/>
            </a:endParaRPr>
          </a:p>
        </p:txBody>
      </p:sp>
      <p:sp>
        <p:nvSpPr>
          <p:cNvPr id="129" name="矩形 128"/>
          <p:cNvSpPr/>
          <p:nvPr/>
        </p:nvSpPr>
        <p:spPr>
          <a:xfrm>
            <a:off x="4850375" y="4073329"/>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p:txBody>
      </p:sp>
      <p:sp>
        <p:nvSpPr>
          <p:cNvPr id="130" name="矩形 129"/>
          <p:cNvSpPr/>
          <p:nvPr/>
        </p:nvSpPr>
        <p:spPr>
          <a:xfrm>
            <a:off x="5179935" y="4073329"/>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p:txBody>
      </p:sp>
      <p:sp>
        <p:nvSpPr>
          <p:cNvPr id="131" name="矩形 130"/>
          <p:cNvSpPr/>
          <p:nvPr/>
        </p:nvSpPr>
        <p:spPr>
          <a:xfrm>
            <a:off x="5510383" y="4073329"/>
            <a:ext cx="307464"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AVL</a:t>
            </a:r>
            <a:endParaRPr lang="zh-CN" altLang="en-US" dirty="0">
              <a:latin typeface="微软雅黑" panose="020B0503020204020204" pitchFamily="34" charset="-122"/>
              <a:ea typeface="微软雅黑" panose="020B0503020204020204" pitchFamily="34" charset="-122"/>
            </a:endParaRPr>
          </a:p>
        </p:txBody>
      </p:sp>
      <p:sp>
        <p:nvSpPr>
          <p:cNvPr id="27" name="矩形 26"/>
          <p:cNvSpPr/>
          <p:nvPr/>
        </p:nvSpPr>
        <p:spPr>
          <a:xfrm>
            <a:off x="1038414" y="5157192"/>
            <a:ext cx="6845954" cy="576064"/>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LDT</a:t>
            </a:r>
            <a:r>
              <a:rPr lang="zh-CN" altLang="en-US" sz="2000" b="1" dirty="0">
                <a:ea typeface="微软雅黑" panose="020B0503020204020204" pitchFamily="34" charset="-122"/>
              </a:rPr>
              <a:t>描述符存放</a:t>
            </a:r>
            <a:r>
              <a:rPr lang="en-US" altLang="zh-CN" sz="2000" b="1" dirty="0">
                <a:ea typeface="微软雅黑" panose="020B0503020204020204" pitchFamily="34" charset="-122"/>
              </a:rPr>
              <a:t>LDT</a:t>
            </a:r>
            <a:r>
              <a:rPr lang="zh-CN" altLang="en-US" sz="2000" b="1" dirty="0">
                <a:ea typeface="微软雅黑" panose="020B0503020204020204" pitchFamily="34" charset="-122"/>
              </a:rPr>
              <a:t>的基地址、界限、属性等信息。</a:t>
            </a:r>
          </a:p>
        </p:txBody>
      </p:sp>
    </p:spTree>
    <p:extLst>
      <p:ext uri="{BB962C8B-B14F-4D97-AF65-F5344CB8AC3E}">
        <p14:creationId xmlns:p14="http://schemas.microsoft.com/office/powerpoint/2010/main" val="282815894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9"/>
          <p:cNvSpPr/>
          <p:nvPr/>
        </p:nvSpPr>
        <p:spPr bwMode="auto">
          <a:xfrm>
            <a:off x="4719564" y="3450892"/>
            <a:ext cx="4028899" cy="991621"/>
          </a:xfrm>
          <a:prstGeom prst="rect">
            <a:avLst/>
          </a:prstGeom>
          <a:solidFill>
            <a:schemeClr val="tx1">
              <a:lumMod val="50000"/>
              <a:lumOff val="50000"/>
              <a:alpha val="75000"/>
            </a:schemeClr>
          </a:solidFill>
          <a:ln>
            <a:noFill/>
            <a:headEnd type="none" w="med" len="med"/>
            <a:tailEnd type="none" w="med" len="med"/>
          </a:ln>
          <a:effectLst/>
          <a:scene3d>
            <a:camera prst="orthographicFront" fov="0">
              <a:rot lat="0" lon="0" rev="0"/>
            </a:camera>
            <a:lightRig rig="soft" dir="tl">
              <a:rot lat="0" lon="0" rev="20000000"/>
            </a:lightRig>
          </a:scene3d>
          <a:sp3d prstMaterial="matte"/>
        </p:spPr>
        <p:txBody>
          <a:bodyPr vert="horz" wrap="square" lIns="91428" tIns="45714" rIns="91428" bIns="45714" numCol="1" rtlCol="0" anchor="ctr" anchorCtr="0" compatLnSpc="1">
            <a:prstTxWarp prst="textNoShape">
              <a:avLst/>
            </a:prstTxWarp>
          </a:bodyPr>
          <a:lstStyle/>
          <a:p>
            <a:pPr algn="ctr" defTabSz="914023"/>
            <a:endParaRPr lang="en-US" sz="2400" kern="0" dirty="0">
              <a:gradFill>
                <a:gsLst>
                  <a:gs pos="0">
                    <a:srgbClr val="000000"/>
                  </a:gs>
                  <a:gs pos="100000">
                    <a:srgbClr val="000000"/>
                  </a:gs>
                </a:gsLst>
                <a:lin ang="5400000" scaled="0"/>
              </a:gradFill>
              <a:latin typeface="Segoe"/>
            </a:endParaRPr>
          </a:p>
        </p:txBody>
      </p:sp>
      <p:sp>
        <p:nvSpPr>
          <p:cNvPr id="3" name="Rectangle 57"/>
          <p:cNvSpPr/>
          <p:nvPr/>
        </p:nvSpPr>
        <p:spPr bwMode="auto">
          <a:xfrm>
            <a:off x="4719565" y="2461313"/>
            <a:ext cx="4028898" cy="950133"/>
          </a:xfrm>
          <a:prstGeom prst="rect">
            <a:avLst/>
          </a:prstGeom>
          <a:solidFill>
            <a:schemeClr val="tx1">
              <a:lumMod val="50000"/>
              <a:lumOff val="50000"/>
              <a:alpha val="75000"/>
            </a:schemeClr>
          </a:solidFill>
          <a:ln>
            <a:noFill/>
            <a:headEnd type="none" w="med" len="med"/>
            <a:tailEnd type="none" w="med" len="med"/>
          </a:ln>
          <a:effectLst/>
          <a:scene3d>
            <a:camera prst="orthographicFront" fov="0">
              <a:rot lat="0" lon="0" rev="0"/>
            </a:camera>
            <a:lightRig rig="soft" dir="tl">
              <a:rot lat="0" lon="0" rev="20000000"/>
            </a:lightRig>
          </a:scene3d>
          <a:sp3d prstMaterial="matte"/>
        </p:spPr>
        <p:txBody>
          <a:bodyPr vert="horz" wrap="square" lIns="91428" tIns="45714" rIns="91428" bIns="45714" numCol="1" rtlCol="0" anchor="ctr" anchorCtr="0" compatLnSpc="1">
            <a:prstTxWarp prst="textNoShape">
              <a:avLst/>
            </a:prstTxWarp>
          </a:bodyPr>
          <a:lstStyle/>
          <a:p>
            <a:pPr algn="ctr" defTabSz="914023"/>
            <a:endParaRPr lang="en-US" sz="2400" kern="0" dirty="0">
              <a:gradFill>
                <a:gsLst>
                  <a:gs pos="0">
                    <a:srgbClr val="000000"/>
                  </a:gs>
                  <a:gs pos="100000">
                    <a:srgbClr val="000000"/>
                  </a:gs>
                </a:gsLst>
                <a:lin ang="5400000" scaled="0"/>
              </a:gradFill>
              <a:latin typeface="Segoe"/>
            </a:endParaRPr>
          </a:p>
        </p:txBody>
      </p:sp>
      <p:sp>
        <p:nvSpPr>
          <p:cNvPr id="4" name="Rectangle 58"/>
          <p:cNvSpPr/>
          <p:nvPr/>
        </p:nvSpPr>
        <p:spPr bwMode="auto">
          <a:xfrm>
            <a:off x="507380" y="2461313"/>
            <a:ext cx="3896004" cy="950133"/>
          </a:xfrm>
          <a:prstGeom prst="rect">
            <a:avLst/>
          </a:prstGeom>
          <a:solidFill>
            <a:schemeClr val="tx1">
              <a:lumMod val="50000"/>
              <a:lumOff val="50000"/>
              <a:alpha val="75000"/>
            </a:schemeClr>
          </a:solidFill>
          <a:ln>
            <a:noFill/>
            <a:headEnd type="none" w="med" len="med"/>
            <a:tailEnd type="none" w="med" len="med"/>
          </a:ln>
          <a:effectLst/>
          <a:scene3d>
            <a:camera prst="orthographicFront" fov="0">
              <a:rot lat="0" lon="0" rev="0"/>
            </a:camera>
            <a:lightRig rig="soft" dir="tl">
              <a:rot lat="0" lon="0" rev="20000000"/>
            </a:lightRig>
          </a:scene3d>
          <a:sp3d prstMaterial="matte"/>
        </p:spPr>
        <p:txBody>
          <a:bodyPr vert="horz" wrap="square" lIns="91428" tIns="45714" rIns="91428" bIns="45714" numCol="1" rtlCol="0" anchor="ctr" anchorCtr="0" compatLnSpc="1">
            <a:prstTxWarp prst="textNoShape">
              <a:avLst/>
            </a:prstTxWarp>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defTabSz="914023">
              <a:defRPr/>
            </a:pPr>
            <a:endParaRPr lang="en-US" sz="2400" kern="0" dirty="0">
              <a:gradFill>
                <a:gsLst>
                  <a:gs pos="0">
                    <a:srgbClr val="000000"/>
                  </a:gs>
                  <a:gs pos="100000">
                    <a:srgbClr val="000000"/>
                  </a:gs>
                </a:gsLst>
                <a:lin ang="5400000" scaled="0"/>
              </a:gradFill>
              <a:latin typeface="Segoe"/>
            </a:endParaRPr>
          </a:p>
        </p:txBody>
      </p:sp>
      <p:sp>
        <p:nvSpPr>
          <p:cNvPr id="6" name="Rectangle 60"/>
          <p:cNvSpPr/>
          <p:nvPr/>
        </p:nvSpPr>
        <p:spPr bwMode="auto">
          <a:xfrm>
            <a:off x="507380" y="3450890"/>
            <a:ext cx="3896004" cy="991620"/>
          </a:xfrm>
          <a:prstGeom prst="rect">
            <a:avLst/>
          </a:prstGeom>
          <a:solidFill>
            <a:schemeClr val="tx1">
              <a:lumMod val="50000"/>
              <a:lumOff val="50000"/>
              <a:alpha val="75000"/>
            </a:schemeClr>
          </a:solidFill>
          <a:ln>
            <a:noFill/>
            <a:headEnd type="none" w="med" len="med"/>
            <a:tailEnd type="none" w="med" len="med"/>
          </a:ln>
          <a:effectLst/>
          <a:scene3d>
            <a:camera prst="orthographicFront" fov="0">
              <a:rot lat="0" lon="0" rev="0"/>
            </a:camera>
            <a:lightRig rig="soft" dir="tl">
              <a:rot lat="0" lon="0" rev="20000000"/>
            </a:lightRig>
          </a:scene3d>
          <a:sp3d prstMaterial="matte"/>
        </p:spPr>
        <p:txBody>
          <a:bodyPr vert="horz" wrap="square" lIns="91428" tIns="45714" rIns="91428" bIns="45714" numCol="1" rtlCol="0" anchor="ctr" anchorCtr="0" compatLnSpc="1">
            <a:prstTxWarp prst="textNoShape">
              <a:avLst/>
            </a:prstTxWarp>
          </a:bodyPr>
          <a:lstStyle/>
          <a:p>
            <a:pPr algn="ctr" defTabSz="914023"/>
            <a:endParaRPr lang="en-US" sz="2400" kern="0" dirty="0">
              <a:gradFill>
                <a:gsLst>
                  <a:gs pos="0">
                    <a:srgbClr val="000000"/>
                  </a:gs>
                  <a:gs pos="100000">
                    <a:srgbClr val="000000"/>
                  </a:gs>
                </a:gsLst>
                <a:lin ang="5400000" scaled="0"/>
              </a:gradFill>
              <a:latin typeface="Segoe"/>
            </a:endParaRPr>
          </a:p>
        </p:txBody>
      </p:sp>
      <p:sp>
        <p:nvSpPr>
          <p:cNvPr id="2" name="Freeform 55"/>
          <p:cNvSpPr>
            <a:spLocks/>
          </p:cNvSpPr>
          <p:nvPr/>
        </p:nvSpPr>
        <p:spPr bwMode="auto">
          <a:xfrm>
            <a:off x="2843808" y="1700808"/>
            <a:ext cx="3446832" cy="3448356"/>
          </a:xfrm>
          <a:custGeom>
            <a:avLst/>
            <a:gdLst>
              <a:gd name="T0" fmla="*/ 889 w 956"/>
              <a:gd name="T1" fmla="*/ 357 h 956"/>
              <a:gd name="T2" fmla="*/ 599 w 956"/>
              <a:gd name="T3" fmla="*/ 889 h 956"/>
              <a:gd name="T4" fmla="*/ 67 w 956"/>
              <a:gd name="T5" fmla="*/ 599 h 956"/>
              <a:gd name="T6" fmla="*/ 357 w 956"/>
              <a:gd name="T7" fmla="*/ 67 h 956"/>
              <a:gd name="T8" fmla="*/ 889 w 956"/>
              <a:gd name="T9" fmla="*/ 357 h 956"/>
            </a:gdLst>
            <a:ahLst/>
            <a:cxnLst>
              <a:cxn ang="0">
                <a:pos x="T0" y="T1"/>
              </a:cxn>
              <a:cxn ang="0">
                <a:pos x="T2" y="T3"/>
              </a:cxn>
              <a:cxn ang="0">
                <a:pos x="T4" y="T5"/>
              </a:cxn>
              <a:cxn ang="0">
                <a:pos x="T6" y="T7"/>
              </a:cxn>
              <a:cxn ang="0">
                <a:pos x="T8" y="T9"/>
              </a:cxn>
            </a:cxnLst>
            <a:rect l="0" t="0" r="r" b="b"/>
            <a:pathLst>
              <a:path w="956" h="956">
                <a:moveTo>
                  <a:pt x="889" y="357"/>
                </a:moveTo>
                <a:cubicBezTo>
                  <a:pt x="956" y="584"/>
                  <a:pt x="826" y="822"/>
                  <a:pt x="599" y="889"/>
                </a:cubicBezTo>
                <a:cubicBezTo>
                  <a:pt x="372" y="956"/>
                  <a:pt x="134" y="826"/>
                  <a:pt x="67" y="599"/>
                </a:cubicBezTo>
                <a:cubicBezTo>
                  <a:pt x="0" y="372"/>
                  <a:pt x="130" y="134"/>
                  <a:pt x="357" y="67"/>
                </a:cubicBezTo>
                <a:cubicBezTo>
                  <a:pt x="584" y="0"/>
                  <a:pt x="822" y="130"/>
                  <a:pt x="889" y="357"/>
                </a:cubicBezTo>
                <a:close/>
              </a:path>
            </a:pathLst>
          </a:custGeom>
          <a:solidFill>
            <a:srgbClr val="80C634">
              <a:alpha val="65000"/>
            </a:srgbClr>
          </a:solidFill>
          <a:ln>
            <a:noFill/>
          </a:ln>
        </p:spPr>
        <p:txBody>
          <a:bodyPr vert="horz" wrap="square" lIns="91432" tIns="45716" rIns="91432" bIns="45716" numCol="1" anchor="t" anchorCtr="0" compatLnSpc="1">
            <a:prstTxWarp prst="textNoShape">
              <a:avLst/>
            </a:prstTxWarp>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defTabSz="685835">
              <a:defRPr/>
            </a:pPr>
            <a:endParaRPr lang="en-US" sz="1400" dirty="0">
              <a:solidFill>
                <a:srgbClr val="FFFFFF"/>
              </a:solidFill>
              <a:latin typeface="Segoe UI"/>
            </a:endParaRPr>
          </a:p>
        </p:txBody>
      </p:sp>
      <p:sp>
        <p:nvSpPr>
          <p:cNvPr id="7" name="Pie 61"/>
          <p:cNvSpPr/>
          <p:nvPr/>
        </p:nvSpPr>
        <p:spPr>
          <a:xfrm>
            <a:off x="3329131" y="2194058"/>
            <a:ext cx="1225441" cy="1225441"/>
          </a:xfrm>
          <a:prstGeom prst="pieWedge">
            <a:avLst/>
          </a:prstGeom>
          <a:solidFill>
            <a:srgbClr val="DFB003"/>
          </a:solidFill>
          <a:ln w="6350">
            <a:solidFill>
              <a:srgbClr val="000000">
                <a:alpha val="31000"/>
              </a:srgbClr>
            </a:solidFill>
            <a:round/>
            <a:headEnd/>
            <a:tailEnd/>
          </a:ln>
        </p:spPr>
        <p:txBody>
          <a:bodyPr lIns="68586" tIns="34294" rIns="68586" bIns="34294"/>
          <a:lstStyle/>
          <a:p>
            <a:pPr defTabSz="685862">
              <a:defRPr/>
            </a:pPr>
            <a:endParaRPr lang="en-US" kern="0">
              <a:solidFill>
                <a:sysClr val="windowText" lastClr="000000"/>
              </a:solidFill>
            </a:endParaRPr>
          </a:p>
        </p:txBody>
      </p:sp>
      <p:sp>
        <p:nvSpPr>
          <p:cNvPr id="8" name="Pie 62"/>
          <p:cNvSpPr/>
          <p:nvPr/>
        </p:nvSpPr>
        <p:spPr>
          <a:xfrm rot="5400000">
            <a:off x="4573077" y="2194057"/>
            <a:ext cx="1225441" cy="1225441"/>
          </a:xfrm>
          <a:prstGeom prst="pieWedge">
            <a:avLst/>
          </a:prstGeom>
          <a:solidFill>
            <a:srgbClr val="006A8C"/>
          </a:solidFill>
          <a:ln w="6350" cap="flat">
            <a:solidFill>
              <a:srgbClr val="000000">
                <a:alpha val="31000"/>
              </a:srgbClr>
            </a:solidFill>
            <a:prstDash val="solid"/>
            <a:miter lim="800000"/>
            <a:headEnd/>
            <a:tailEnd/>
          </a:ln>
        </p:spPr>
        <p:txBody>
          <a:bodyPr lIns="68586" tIns="34294" rIns="68586" bIns="34294"/>
          <a:lstStyle/>
          <a:p>
            <a:pPr defTabSz="685862">
              <a:defRPr/>
            </a:pPr>
            <a:endParaRPr lang="en-US" kern="0">
              <a:solidFill>
                <a:sysClr val="windowText" lastClr="000000"/>
              </a:solidFill>
            </a:endParaRPr>
          </a:p>
        </p:txBody>
      </p:sp>
      <p:sp>
        <p:nvSpPr>
          <p:cNvPr id="9" name="Pie 67"/>
          <p:cNvSpPr/>
          <p:nvPr/>
        </p:nvSpPr>
        <p:spPr>
          <a:xfrm rot="10800000">
            <a:off x="4573075" y="3441368"/>
            <a:ext cx="1225441" cy="1225441"/>
          </a:xfrm>
          <a:prstGeom prst="pieWedge">
            <a:avLst/>
          </a:prstGeom>
          <a:solidFill>
            <a:srgbClr val="AA4B5C"/>
          </a:solidFill>
          <a:ln w="6350" cap="flat">
            <a:solidFill>
              <a:srgbClr val="000000">
                <a:alpha val="31000"/>
              </a:srgbClr>
            </a:solidFill>
            <a:prstDash val="solid"/>
            <a:miter lim="800000"/>
            <a:headEnd/>
            <a:tailEnd/>
          </a:ln>
        </p:spPr>
        <p:txBody>
          <a:bodyPr lIns="68586" tIns="34294" rIns="68586" bIns="34294"/>
          <a:lstStyle/>
          <a:p>
            <a:pPr defTabSz="685862">
              <a:defRPr/>
            </a:pPr>
            <a:endParaRPr lang="en-US" kern="0">
              <a:solidFill>
                <a:sysClr val="windowText" lastClr="000000"/>
              </a:solidFill>
            </a:endParaRPr>
          </a:p>
        </p:txBody>
      </p:sp>
      <p:sp>
        <p:nvSpPr>
          <p:cNvPr id="10" name="Pie 69"/>
          <p:cNvSpPr/>
          <p:nvPr/>
        </p:nvSpPr>
        <p:spPr>
          <a:xfrm rot="16200000">
            <a:off x="3329132" y="3441367"/>
            <a:ext cx="1225441" cy="1225441"/>
          </a:xfrm>
          <a:prstGeom prst="pieWedge">
            <a:avLst/>
          </a:prstGeom>
          <a:solidFill>
            <a:srgbClr val="A0CD4F"/>
          </a:solidFill>
          <a:ln w="6350">
            <a:solidFill>
              <a:srgbClr val="000000">
                <a:alpha val="31000"/>
              </a:srgbClr>
            </a:solidFill>
            <a:round/>
            <a:headEnd/>
            <a:tailEnd/>
          </a:ln>
        </p:spPr>
        <p:txBody>
          <a:bodyPr lIns="68586" tIns="34294" rIns="68586" bIns="34294"/>
          <a:lstStyle/>
          <a:p>
            <a:pPr defTabSz="685862">
              <a:defRPr/>
            </a:pPr>
            <a:endParaRPr lang="en-US" kern="0">
              <a:solidFill>
                <a:sysClr val="windowText" lastClr="000000"/>
              </a:solidFill>
            </a:endParaRPr>
          </a:p>
        </p:txBody>
      </p:sp>
      <p:sp>
        <p:nvSpPr>
          <p:cNvPr id="11" name="TextBox 45"/>
          <p:cNvSpPr txBox="1"/>
          <p:nvPr/>
        </p:nvSpPr>
        <p:spPr>
          <a:xfrm>
            <a:off x="3690565" y="2533228"/>
            <a:ext cx="640023" cy="347851"/>
          </a:xfrm>
          <a:prstGeom prst="rect">
            <a:avLst/>
          </a:prstGeom>
          <a:noFill/>
        </p:spPr>
        <p:txBody>
          <a:bodyPr wrap="none" lIns="0" tIns="0" rIns="0" bIns="0" rtlCol="0">
            <a:no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r">
              <a:lnSpc>
                <a:spcPct val="125000"/>
              </a:lnSpc>
            </a:pPr>
            <a:r>
              <a:rPr lang="zh-CN" altLang="en-US" sz="1600" dirty="0">
                <a:solidFill>
                  <a:schemeClr val="bg1"/>
                </a:solidFill>
                <a:latin typeface="微软雅黑" panose="020B0503020204020204" pitchFamily="34" charset="-122"/>
                <a:ea typeface="微软雅黑" panose="020B0503020204020204" pitchFamily="34" charset="-122"/>
              </a:rPr>
              <a:t>任务</a:t>
            </a:r>
            <a:endParaRPr lang="en-US" altLang="zh-CN" sz="1600" dirty="0">
              <a:solidFill>
                <a:schemeClr val="bg1"/>
              </a:solidFill>
              <a:latin typeface="微软雅黑" panose="020B0503020204020204" pitchFamily="34" charset="-122"/>
              <a:ea typeface="微软雅黑" panose="020B0503020204020204" pitchFamily="34" charset="-122"/>
            </a:endParaRPr>
          </a:p>
          <a:p>
            <a:pPr algn="r">
              <a:lnSpc>
                <a:spcPct val="125000"/>
              </a:lnSpc>
            </a:pPr>
            <a:r>
              <a:rPr lang="zh-CN" altLang="en-US" sz="1600" dirty="0">
                <a:solidFill>
                  <a:schemeClr val="bg1"/>
                </a:solidFill>
                <a:latin typeface="微软雅黑" panose="020B0503020204020204" pitchFamily="34" charset="-122"/>
                <a:ea typeface="微软雅黑" panose="020B0503020204020204" pitchFamily="34" charset="-122"/>
              </a:rPr>
              <a:t>特权</a:t>
            </a:r>
            <a:endParaRPr lang="en-US" sz="1600" dirty="0">
              <a:solidFill>
                <a:schemeClr val="bg1"/>
              </a:solidFill>
              <a:latin typeface="微软雅黑" panose="020B0503020204020204" pitchFamily="34" charset="-122"/>
              <a:ea typeface="微软雅黑" panose="020B0503020204020204" pitchFamily="34" charset="-122"/>
            </a:endParaRPr>
          </a:p>
        </p:txBody>
      </p:sp>
      <p:sp>
        <p:nvSpPr>
          <p:cNvPr id="12" name="TextBox 46"/>
          <p:cNvSpPr txBox="1"/>
          <p:nvPr/>
        </p:nvSpPr>
        <p:spPr>
          <a:xfrm>
            <a:off x="4835428" y="2533227"/>
            <a:ext cx="765623" cy="263428"/>
          </a:xfrm>
          <a:prstGeom prst="rect">
            <a:avLst/>
          </a:prstGeom>
          <a:noFill/>
        </p:spPr>
        <p:txBody>
          <a:bodyPr wrap="none" lIns="0" tIns="0" rIns="0" bIns="0" rtlCol="0">
            <a:no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nSpc>
                <a:spcPct val="125000"/>
              </a:lnSpc>
            </a:pPr>
            <a:r>
              <a:rPr lang="zh-CN" altLang="en-US" sz="1600" dirty="0">
                <a:solidFill>
                  <a:schemeClr val="bg1"/>
                </a:solidFill>
                <a:latin typeface="微软雅黑" panose="020B0503020204020204" pitchFamily="34" charset="-122"/>
                <a:ea typeface="微软雅黑" panose="020B0503020204020204" pitchFamily="34" charset="-122"/>
              </a:rPr>
              <a:t>描述符</a:t>
            </a:r>
            <a:endParaRPr lang="en-US" altLang="zh-CN" sz="1600" dirty="0">
              <a:solidFill>
                <a:schemeClr val="bg1"/>
              </a:solidFill>
              <a:latin typeface="微软雅黑" panose="020B0503020204020204" pitchFamily="34" charset="-122"/>
              <a:ea typeface="微软雅黑" panose="020B0503020204020204" pitchFamily="34" charset="-122"/>
            </a:endParaRPr>
          </a:p>
          <a:p>
            <a:pPr>
              <a:lnSpc>
                <a:spcPct val="125000"/>
              </a:lnSpc>
            </a:pPr>
            <a:r>
              <a:rPr lang="zh-CN" altLang="en-US" sz="1600" dirty="0">
                <a:solidFill>
                  <a:schemeClr val="bg1"/>
                </a:solidFill>
                <a:latin typeface="微软雅黑" panose="020B0503020204020204" pitchFamily="34" charset="-122"/>
                <a:ea typeface="微软雅黑" panose="020B0503020204020204" pitchFamily="34" charset="-122"/>
              </a:rPr>
              <a:t>特权</a:t>
            </a:r>
            <a:endParaRPr lang="en-US" sz="1600" dirty="0">
              <a:solidFill>
                <a:schemeClr val="bg1"/>
              </a:solidFill>
              <a:latin typeface="微软雅黑" panose="020B0503020204020204" pitchFamily="34" charset="-122"/>
              <a:ea typeface="微软雅黑" panose="020B0503020204020204" pitchFamily="34" charset="-122"/>
            </a:endParaRPr>
          </a:p>
        </p:txBody>
      </p:sp>
      <p:sp>
        <p:nvSpPr>
          <p:cNvPr id="13" name="TextBox 47"/>
          <p:cNvSpPr txBox="1"/>
          <p:nvPr/>
        </p:nvSpPr>
        <p:spPr>
          <a:xfrm>
            <a:off x="3564965" y="3699153"/>
            <a:ext cx="765623" cy="263428"/>
          </a:xfrm>
          <a:prstGeom prst="rect">
            <a:avLst/>
          </a:prstGeom>
          <a:noFill/>
        </p:spPr>
        <p:txBody>
          <a:bodyPr wrap="none" lIns="0" tIns="0" rIns="0" bIns="0" rtlCol="0">
            <a:no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r">
              <a:lnSpc>
                <a:spcPct val="125000"/>
              </a:lnSpc>
            </a:pPr>
            <a:r>
              <a:rPr lang="zh-CN" altLang="en-US" sz="1600" dirty="0">
                <a:solidFill>
                  <a:schemeClr val="bg1"/>
                </a:solidFill>
                <a:latin typeface="微软雅黑" panose="020B0503020204020204" pitchFamily="34" charset="-122"/>
                <a:ea typeface="微软雅黑" panose="020B0503020204020204" pitchFamily="34" charset="-122"/>
              </a:rPr>
              <a:t>选择子</a:t>
            </a:r>
            <a:endParaRPr lang="en-US" altLang="zh-CN" sz="1600" dirty="0">
              <a:solidFill>
                <a:schemeClr val="bg1"/>
              </a:solidFill>
              <a:latin typeface="微软雅黑" panose="020B0503020204020204" pitchFamily="34" charset="-122"/>
              <a:ea typeface="微软雅黑" panose="020B0503020204020204" pitchFamily="34" charset="-122"/>
            </a:endParaRPr>
          </a:p>
          <a:p>
            <a:pPr algn="r">
              <a:lnSpc>
                <a:spcPct val="125000"/>
              </a:lnSpc>
            </a:pPr>
            <a:r>
              <a:rPr lang="zh-CN" altLang="en-US" sz="1600" dirty="0">
                <a:solidFill>
                  <a:schemeClr val="bg1"/>
                </a:solidFill>
                <a:latin typeface="微软雅黑" panose="020B0503020204020204" pitchFamily="34" charset="-122"/>
                <a:ea typeface="微软雅黑" panose="020B0503020204020204" pitchFamily="34" charset="-122"/>
              </a:rPr>
              <a:t>特权</a:t>
            </a:r>
            <a:endParaRPr lang="en-US" sz="1600" dirty="0">
              <a:solidFill>
                <a:schemeClr val="bg1"/>
              </a:solidFill>
              <a:latin typeface="微软雅黑" panose="020B0503020204020204" pitchFamily="34" charset="-122"/>
              <a:ea typeface="微软雅黑" panose="020B0503020204020204" pitchFamily="34" charset="-122"/>
            </a:endParaRPr>
          </a:p>
        </p:txBody>
      </p:sp>
      <p:sp>
        <p:nvSpPr>
          <p:cNvPr id="14" name="TextBox 48"/>
          <p:cNvSpPr txBox="1"/>
          <p:nvPr/>
        </p:nvSpPr>
        <p:spPr>
          <a:xfrm>
            <a:off x="4835428" y="3699154"/>
            <a:ext cx="864019" cy="249299"/>
          </a:xfrm>
          <a:prstGeom prst="rect">
            <a:avLst/>
          </a:prstGeom>
          <a:noFill/>
        </p:spPr>
        <p:txBody>
          <a:bodyPr wrap="none" lIns="0" tIns="0" rIns="0" bIns="0" rtlCol="0">
            <a:no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nSpc>
                <a:spcPct val="125000"/>
              </a:lnSpc>
            </a:pPr>
            <a:r>
              <a:rPr lang="zh-CN" altLang="en-US" sz="1600" dirty="0">
                <a:solidFill>
                  <a:schemeClr val="bg1"/>
                </a:solidFill>
                <a:latin typeface="微软雅黑" panose="020B0503020204020204" pitchFamily="34" charset="-122"/>
                <a:ea typeface="微软雅黑" panose="020B0503020204020204" pitchFamily="34" charset="-122"/>
              </a:rPr>
              <a:t>有效特</a:t>
            </a:r>
            <a:endParaRPr lang="en-US" altLang="zh-CN" sz="1600" dirty="0">
              <a:solidFill>
                <a:schemeClr val="bg1"/>
              </a:solidFill>
              <a:latin typeface="微软雅黑" panose="020B0503020204020204" pitchFamily="34" charset="-122"/>
              <a:ea typeface="微软雅黑" panose="020B0503020204020204" pitchFamily="34" charset="-122"/>
            </a:endParaRPr>
          </a:p>
          <a:p>
            <a:pPr>
              <a:lnSpc>
                <a:spcPct val="125000"/>
              </a:lnSpc>
            </a:pPr>
            <a:r>
              <a:rPr lang="zh-CN" altLang="en-US" sz="1600" dirty="0">
                <a:solidFill>
                  <a:schemeClr val="bg1"/>
                </a:solidFill>
                <a:latin typeface="微软雅黑" panose="020B0503020204020204" pitchFamily="34" charset="-122"/>
                <a:ea typeface="微软雅黑" panose="020B0503020204020204" pitchFamily="34" charset="-122"/>
              </a:rPr>
              <a:t>权级</a:t>
            </a:r>
            <a:endParaRPr lang="en-US" sz="1600" dirty="0">
              <a:solidFill>
                <a:schemeClr val="bg1"/>
              </a:solidFill>
              <a:latin typeface="微软雅黑" panose="020B0503020204020204" pitchFamily="34" charset="-122"/>
              <a:ea typeface="微软雅黑" panose="020B0503020204020204" pitchFamily="34" charset="-122"/>
            </a:endParaRPr>
          </a:p>
        </p:txBody>
      </p:sp>
      <p:sp>
        <p:nvSpPr>
          <p:cNvPr id="15" name="Freeform 76"/>
          <p:cNvSpPr>
            <a:spLocks/>
          </p:cNvSpPr>
          <p:nvPr/>
        </p:nvSpPr>
        <p:spPr bwMode="auto">
          <a:xfrm>
            <a:off x="4126722" y="2998618"/>
            <a:ext cx="874203" cy="873150"/>
          </a:xfrm>
          <a:custGeom>
            <a:avLst/>
            <a:gdLst>
              <a:gd name="T0" fmla="*/ 327 w 352"/>
              <a:gd name="T1" fmla="*/ 131 h 352"/>
              <a:gd name="T2" fmla="*/ 221 w 352"/>
              <a:gd name="T3" fmla="*/ 327 h 352"/>
              <a:gd name="T4" fmla="*/ 25 w 352"/>
              <a:gd name="T5" fmla="*/ 221 h 352"/>
              <a:gd name="T6" fmla="*/ 131 w 352"/>
              <a:gd name="T7" fmla="*/ 25 h 352"/>
              <a:gd name="T8" fmla="*/ 327 w 352"/>
              <a:gd name="T9" fmla="*/ 131 h 352"/>
            </a:gdLst>
            <a:ahLst/>
            <a:cxnLst>
              <a:cxn ang="0">
                <a:pos x="T0" y="T1"/>
              </a:cxn>
              <a:cxn ang="0">
                <a:pos x="T2" y="T3"/>
              </a:cxn>
              <a:cxn ang="0">
                <a:pos x="T4" y="T5"/>
              </a:cxn>
              <a:cxn ang="0">
                <a:pos x="T6" y="T7"/>
              </a:cxn>
              <a:cxn ang="0">
                <a:pos x="T8" y="T9"/>
              </a:cxn>
            </a:cxnLst>
            <a:rect l="0" t="0" r="r" b="b"/>
            <a:pathLst>
              <a:path w="352" h="352">
                <a:moveTo>
                  <a:pt x="327" y="131"/>
                </a:moveTo>
                <a:cubicBezTo>
                  <a:pt x="352" y="215"/>
                  <a:pt x="304" y="303"/>
                  <a:pt x="221" y="327"/>
                </a:cubicBezTo>
                <a:cubicBezTo>
                  <a:pt x="137" y="352"/>
                  <a:pt x="49" y="304"/>
                  <a:pt x="25" y="221"/>
                </a:cubicBezTo>
                <a:cubicBezTo>
                  <a:pt x="0" y="137"/>
                  <a:pt x="48" y="49"/>
                  <a:pt x="131" y="25"/>
                </a:cubicBezTo>
                <a:cubicBezTo>
                  <a:pt x="215" y="0"/>
                  <a:pt x="303" y="48"/>
                  <a:pt x="327" y="131"/>
                </a:cubicBezTo>
                <a:close/>
              </a:path>
            </a:pathLst>
          </a:custGeom>
          <a:ln>
            <a:solidFill>
              <a:srgbClr val="99CC00"/>
            </a:solidFill>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28" tIns="45714" rIns="91428" bIns="45714" numCol="1" rtlCol="0" anchor="ctr" anchorCtr="0" compatLnSpc="1">
            <a:prstTxWarp prst="textNoShape">
              <a:avLst/>
            </a:prstTxWarp>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defTabSz="914023"/>
            <a:r>
              <a:rPr lang="zh-CN" altLang="en-US" b="1" kern="0" dirty="0">
                <a:solidFill>
                  <a:srgbClr val="FF3C00"/>
                </a:solidFill>
                <a:latin typeface="微软雅黑" panose="020B0503020204020204" pitchFamily="34" charset="-122"/>
                <a:ea typeface="微软雅黑" panose="020B0503020204020204" pitchFamily="34" charset="-122"/>
              </a:rPr>
              <a:t>特权</a:t>
            </a:r>
            <a:endParaRPr lang="en-US" b="1" kern="0" dirty="0">
              <a:solidFill>
                <a:srgbClr val="FF3C00"/>
              </a:solidFill>
              <a:latin typeface="微软雅黑" panose="020B0503020204020204" pitchFamily="34" charset="-122"/>
              <a:ea typeface="微软雅黑" panose="020B0503020204020204" pitchFamily="34" charset="-122"/>
            </a:endParaRPr>
          </a:p>
        </p:txBody>
      </p:sp>
      <p:sp>
        <p:nvSpPr>
          <p:cNvPr id="16" name="Text Box 4"/>
          <p:cNvSpPr txBox="1">
            <a:spLocks noChangeArrowheads="1"/>
          </p:cNvSpPr>
          <p:nvPr/>
        </p:nvSpPr>
        <p:spPr bwMode="auto">
          <a:xfrm>
            <a:off x="525830" y="2574522"/>
            <a:ext cx="2685061" cy="732622"/>
          </a:xfrm>
          <a:prstGeom prst="rect">
            <a:avLst/>
          </a:prstGeom>
          <a:noFill/>
          <a:ln w="9525" algn="ctr">
            <a:noFill/>
            <a:miter lim="800000"/>
            <a:headEnd/>
            <a:tailEnd/>
          </a:ln>
          <a:effectLst/>
        </p:spPr>
        <p:txBody>
          <a:bodyPr wrap="square" lIns="69059" tIns="34531" rIns="69059" bIns="34531" anchor="ctr">
            <a:no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defTabSz="914400" fontAlgn="base">
              <a:lnSpc>
                <a:spcPct val="150000"/>
              </a:lnSpc>
              <a:buClr>
                <a:srgbClr val="000000"/>
              </a:buClr>
              <a:buSzPct val="100000"/>
              <a:defRPr/>
            </a:pPr>
            <a:r>
              <a:rPr lang="zh-CN" altLang="en-US" sz="1400" dirty="0">
                <a:solidFill>
                  <a:schemeClr val="bg1"/>
                </a:solidFill>
                <a:latin typeface="微软雅黑" pitchFamily="34" charset="-122"/>
                <a:ea typeface="微软雅黑" pitchFamily="34" charset="-122"/>
              </a:rPr>
              <a:t>任务当前特权级</a:t>
            </a:r>
            <a:r>
              <a:rPr lang="en-US" altLang="zh-CN" sz="1400" dirty="0">
                <a:solidFill>
                  <a:schemeClr val="bg1"/>
                </a:solidFill>
                <a:latin typeface="微软雅黑" pitchFamily="34" charset="-122"/>
                <a:ea typeface="微软雅黑" pitchFamily="34" charset="-122"/>
              </a:rPr>
              <a:t>CPL</a:t>
            </a:r>
            <a:r>
              <a:rPr lang="zh-CN" altLang="en-US" sz="1400" dirty="0">
                <a:solidFill>
                  <a:schemeClr val="bg1"/>
                </a:solidFill>
                <a:latin typeface="微软雅黑" pitchFamily="34" charset="-122"/>
                <a:ea typeface="微软雅黑" pitchFamily="34" charset="-122"/>
              </a:rPr>
              <a:t>，由</a:t>
            </a:r>
            <a:r>
              <a:rPr lang="en-US" altLang="zh-CN" sz="1400" dirty="0">
                <a:solidFill>
                  <a:schemeClr val="bg1"/>
                </a:solidFill>
                <a:latin typeface="微软雅黑" pitchFamily="34" charset="-122"/>
                <a:ea typeface="微软雅黑" pitchFamily="34" charset="-122"/>
              </a:rPr>
              <a:t>CS</a:t>
            </a:r>
            <a:r>
              <a:rPr lang="zh-CN" altLang="en-US" sz="1400" dirty="0">
                <a:solidFill>
                  <a:schemeClr val="bg1"/>
                </a:solidFill>
                <a:latin typeface="微软雅黑" pitchFamily="34" charset="-122"/>
                <a:ea typeface="微软雅黑" pitchFamily="34" charset="-122"/>
              </a:rPr>
              <a:t>的最低两位来定。</a:t>
            </a:r>
            <a:endParaRPr lang="en-US" sz="1400" dirty="0">
              <a:solidFill>
                <a:schemeClr val="bg1"/>
              </a:solidFill>
              <a:latin typeface="微软雅黑" pitchFamily="34" charset="-122"/>
              <a:ea typeface="微软雅黑" pitchFamily="34" charset="-122"/>
            </a:endParaRPr>
          </a:p>
        </p:txBody>
      </p:sp>
      <p:sp>
        <p:nvSpPr>
          <p:cNvPr id="17" name="Text Box 4"/>
          <p:cNvSpPr txBox="1">
            <a:spLocks noChangeArrowheads="1"/>
          </p:cNvSpPr>
          <p:nvPr/>
        </p:nvSpPr>
        <p:spPr bwMode="auto">
          <a:xfrm>
            <a:off x="6132653" y="2603116"/>
            <a:ext cx="2615810" cy="666524"/>
          </a:xfrm>
          <a:prstGeom prst="rect">
            <a:avLst/>
          </a:prstGeom>
          <a:noFill/>
          <a:ln w="9525" algn="ctr">
            <a:noFill/>
            <a:miter lim="800000"/>
            <a:headEnd/>
            <a:tailEnd/>
          </a:ln>
          <a:effectLst/>
        </p:spPr>
        <p:txBody>
          <a:bodyPr wrap="square" lIns="69059" tIns="34531" rIns="69059" bIns="34531" anchor="ctr">
            <a:no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defTabSz="914400" fontAlgn="base">
              <a:lnSpc>
                <a:spcPct val="150000"/>
              </a:lnSpc>
              <a:buClr>
                <a:srgbClr val="000000"/>
              </a:buClr>
              <a:buSzPct val="100000"/>
              <a:defRPr/>
            </a:pPr>
            <a:r>
              <a:rPr lang="zh-CN" altLang="en-US" sz="1400" dirty="0">
                <a:solidFill>
                  <a:schemeClr val="bg1"/>
                </a:solidFill>
                <a:latin typeface="微软雅黑" pitchFamily="34" charset="-122"/>
                <a:ea typeface="微软雅黑" pitchFamily="34" charset="-122"/>
              </a:rPr>
              <a:t>访问该描述符任务最低特权级。</a:t>
            </a:r>
            <a:endParaRPr lang="en-US" sz="1400" dirty="0">
              <a:solidFill>
                <a:schemeClr val="bg1"/>
              </a:solidFill>
              <a:latin typeface="微软雅黑" pitchFamily="34" charset="-122"/>
              <a:ea typeface="微软雅黑" pitchFamily="34" charset="-122"/>
            </a:endParaRPr>
          </a:p>
        </p:txBody>
      </p:sp>
      <p:sp>
        <p:nvSpPr>
          <p:cNvPr id="18" name="Text Box 4"/>
          <p:cNvSpPr txBox="1">
            <a:spLocks noChangeArrowheads="1"/>
          </p:cNvSpPr>
          <p:nvPr/>
        </p:nvSpPr>
        <p:spPr bwMode="auto">
          <a:xfrm>
            <a:off x="6132650" y="3535551"/>
            <a:ext cx="2615813" cy="757545"/>
          </a:xfrm>
          <a:prstGeom prst="rect">
            <a:avLst/>
          </a:prstGeom>
          <a:noFill/>
          <a:ln w="9525" algn="ctr">
            <a:noFill/>
            <a:miter lim="800000"/>
            <a:headEnd/>
            <a:tailEnd/>
          </a:ln>
          <a:effectLst/>
        </p:spPr>
        <p:txBody>
          <a:bodyPr wrap="square" lIns="69059" tIns="34531" rIns="69059" bIns="34531" anchor="ctr">
            <a:no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defTabSz="914400" fontAlgn="base">
              <a:lnSpc>
                <a:spcPct val="150000"/>
              </a:lnSpc>
              <a:buClr>
                <a:srgbClr val="000000"/>
              </a:buClr>
              <a:buSzPct val="100000"/>
              <a:defRPr/>
            </a:pPr>
            <a:r>
              <a:rPr lang="zh-CN" altLang="en-US" sz="1400" dirty="0">
                <a:solidFill>
                  <a:schemeClr val="bg1"/>
                </a:solidFill>
                <a:latin typeface="微软雅黑" pitchFamily="34" charset="-122"/>
                <a:ea typeface="微软雅黑" pitchFamily="34" charset="-122"/>
              </a:rPr>
              <a:t>任务</a:t>
            </a:r>
            <a:r>
              <a:rPr lang="en-US" altLang="zh-CN" sz="1400" dirty="0">
                <a:solidFill>
                  <a:schemeClr val="bg1"/>
                </a:solidFill>
                <a:latin typeface="微软雅黑" pitchFamily="34" charset="-122"/>
                <a:ea typeface="微软雅黑" pitchFamily="34" charset="-122"/>
              </a:rPr>
              <a:t>EPL=max(RPL, CPL)</a:t>
            </a:r>
            <a:r>
              <a:rPr lang="zh-CN" altLang="en-US" sz="1400" dirty="0">
                <a:solidFill>
                  <a:schemeClr val="bg1"/>
                </a:solidFill>
                <a:latin typeface="微软雅黑" pitchFamily="34" charset="-122"/>
                <a:ea typeface="微软雅黑" pitchFamily="34" charset="-122"/>
              </a:rPr>
              <a:t>，当</a:t>
            </a:r>
            <a:r>
              <a:rPr lang="en-US" altLang="zh-CN" sz="1400" dirty="0">
                <a:solidFill>
                  <a:schemeClr val="bg1"/>
                </a:solidFill>
                <a:latin typeface="微软雅黑" pitchFamily="34" charset="-122"/>
                <a:ea typeface="微软雅黑" pitchFamily="34" charset="-122"/>
              </a:rPr>
              <a:t>EPL&lt;=DPL</a:t>
            </a:r>
            <a:r>
              <a:rPr lang="zh-CN" altLang="en-US" sz="1400" dirty="0">
                <a:solidFill>
                  <a:schemeClr val="bg1"/>
                </a:solidFill>
                <a:latin typeface="微软雅黑" pitchFamily="34" charset="-122"/>
                <a:ea typeface="微软雅黑" pitchFamily="34" charset="-122"/>
              </a:rPr>
              <a:t>，允许访问描述符。</a:t>
            </a:r>
            <a:endParaRPr lang="en-US" sz="1400" dirty="0">
              <a:solidFill>
                <a:schemeClr val="bg1"/>
              </a:solidFill>
              <a:latin typeface="微软雅黑" pitchFamily="34" charset="-122"/>
              <a:ea typeface="微软雅黑" pitchFamily="34" charset="-122"/>
            </a:endParaRPr>
          </a:p>
        </p:txBody>
      </p:sp>
      <p:sp>
        <p:nvSpPr>
          <p:cNvPr id="19" name="Text Box 4"/>
          <p:cNvSpPr txBox="1">
            <a:spLocks noChangeArrowheads="1"/>
          </p:cNvSpPr>
          <p:nvPr/>
        </p:nvSpPr>
        <p:spPr bwMode="auto">
          <a:xfrm>
            <a:off x="525830" y="3539427"/>
            <a:ext cx="2652113" cy="668560"/>
          </a:xfrm>
          <a:prstGeom prst="rect">
            <a:avLst/>
          </a:prstGeom>
          <a:noFill/>
          <a:ln w="9525" algn="ctr">
            <a:noFill/>
            <a:miter lim="800000"/>
            <a:headEnd/>
            <a:tailEnd/>
          </a:ln>
          <a:effectLst/>
        </p:spPr>
        <p:txBody>
          <a:bodyPr wrap="square" lIns="69059" tIns="34531" rIns="69059" bIns="34531" anchor="ctr">
            <a:no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defTabSz="914400" fontAlgn="base">
              <a:lnSpc>
                <a:spcPct val="150000"/>
              </a:lnSpc>
              <a:buClr>
                <a:srgbClr val="000000"/>
              </a:buClr>
              <a:buSzPct val="100000"/>
              <a:defRPr/>
            </a:pPr>
            <a:r>
              <a:rPr lang="zh-CN" altLang="en-US" sz="1400" dirty="0">
                <a:solidFill>
                  <a:schemeClr val="bg1"/>
                </a:solidFill>
                <a:latin typeface="微软雅黑" pitchFamily="34" charset="-122"/>
                <a:ea typeface="微软雅黑" pitchFamily="34" charset="-122"/>
              </a:rPr>
              <a:t>由选择子的</a:t>
            </a:r>
            <a:r>
              <a:rPr lang="en-US" altLang="zh-CN" sz="1400" dirty="0">
                <a:solidFill>
                  <a:schemeClr val="bg1"/>
                </a:solidFill>
                <a:latin typeface="微软雅黑" pitchFamily="34" charset="-122"/>
                <a:ea typeface="微软雅黑" pitchFamily="34" charset="-122"/>
              </a:rPr>
              <a:t>RPL</a:t>
            </a:r>
            <a:r>
              <a:rPr lang="zh-CN" altLang="en-US" sz="1400" dirty="0">
                <a:solidFill>
                  <a:schemeClr val="bg1"/>
                </a:solidFill>
                <a:latin typeface="微软雅黑" pitchFamily="34" charset="-122"/>
                <a:ea typeface="微软雅黑" pitchFamily="34" charset="-122"/>
              </a:rPr>
              <a:t>所确定。</a:t>
            </a:r>
            <a:endParaRPr lang="en-US" sz="1400" dirty="0">
              <a:solidFill>
                <a:schemeClr val="bg1"/>
              </a:solidFill>
              <a:latin typeface="微软雅黑" pitchFamily="34" charset="-122"/>
              <a:ea typeface="微软雅黑" pitchFamily="34" charset="-122"/>
            </a:endParaRPr>
          </a:p>
        </p:txBody>
      </p:sp>
      <p:cxnSp>
        <p:nvCxnSpPr>
          <p:cNvPr id="24" name="直接连接符 2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25"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en-US" altLang="zh-CN" sz="3200" b="1" dirty="0">
                <a:solidFill>
                  <a:srgbClr val="00B0F0"/>
                </a:solidFill>
                <a:latin typeface="微软雅黑" pitchFamily="34" charset="-122"/>
                <a:ea typeface="微软雅黑" pitchFamily="34" charset="-122"/>
              </a:rPr>
              <a:t>80386</a:t>
            </a:r>
            <a:r>
              <a:rPr lang="zh-CN" altLang="en-US" sz="3200" b="1" dirty="0">
                <a:solidFill>
                  <a:srgbClr val="00B0F0"/>
                </a:solidFill>
                <a:latin typeface="微软雅黑" pitchFamily="34" charset="-122"/>
                <a:ea typeface="微软雅黑" pitchFamily="34" charset="-122"/>
              </a:rPr>
              <a:t>的一些有关特权的概念</a:t>
            </a:r>
            <a:endParaRPr lang="en-US" altLang="zh-CN" sz="3200" b="1" dirty="0">
              <a:solidFill>
                <a:srgbClr val="00B0F0"/>
              </a:solidFill>
              <a:latin typeface="微软雅黑" pitchFamily="34" charset="-122"/>
              <a:ea typeface="微软雅黑" pitchFamily="34" charset="-122"/>
            </a:endParaRPr>
          </a:p>
        </p:txBody>
      </p:sp>
      <p:cxnSp>
        <p:nvCxnSpPr>
          <p:cNvPr id="26" name="直接连接符 25"/>
          <p:cNvCxnSpPr/>
          <p:nvPr/>
        </p:nvCxnSpPr>
        <p:spPr bwMode="auto">
          <a:xfrm>
            <a:off x="1619250" y="1123963"/>
            <a:ext cx="5905500" cy="0"/>
          </a:xfrm>
          <a:prstGeom prst="line">
            <a:avLst/>
          </a:prstGeom>
          <a:noFill/>
          <a:ln w="28575" cap="flat" cmpd="sng" algn="ctr">
            <a:solidFill>
              <a:srgbClr val="FFC000"/>
            </a:solidFill>
            <a:prstDash val="sysDot"/>
          </a:ln>
          <a:effectLst/>
        </p:spPr>
      </p:cxnSp>
    </p:spTree>
    <p:extLst>
      <p:ext uri="{BB962C8B-B14F-4D97-AF65-F5344CB8AC3E}">
        <p14:creationId xmlns:p14="http://schemas.microsoft.com/office/powerpoint/2010/main" val="1511240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decel="10000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9" decel="10000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0-#ppt_w/2"/>
                                          </p:val>
                                        </p:tav>
                                        <p:tav tm="100000">
                                          <p:val>
                                            <p:strVal val="#ppt_x"/>
                                          </p:val>
                                        </p:tav>
                                      </p:tavLst>
                                    </p:anim>
                                    <p:anim calcmode="lin" valueType="num">
                                      <p:cBhvr additive="base">
                                        <p:cTn id="12" dur="500" fill="hold"/>
                                        <p:tgtEl>
                                          <p:spTgt spid="16"/>
                                        </p:tgtEl>
                                        <p:attrNameLst>
                                          <p:attrName>ppt_y</p:attrName>
                                        </p:attrNameLst>
                                      </p:cBhvr>
                                      <p:tavLst>
                                        <p:tav tm="0">
                                          <p:val>
                                            <p:strVal val="0-#ppt_h/2"/>
                                          </p:val>
                                        </p:tav>
                                        <p:tav tm="100000">
                                          <p:val>
                                            <p:strVal val="#ppt_y"/>
                                          </p:val>
                                        </p:tav>
                                      </p:tavLst>
                                    </p:anim>
                                  </p:childTnLst>
                                </p:cTn>
                              </p:par>
                              <p:par>
                                <p:cTn id="13" presetID="2" presetClass="entr" presetSubtype="3" decel="10000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1+#ppt_w/2"/>
                                          </p:val>
                                        </p:tav>
                                        <p:tav tm="100000">
                                          <p:val>
                                            <p:strVal val="#ppt_x"/>
                                          </p:val>
                                        </p:tav>
                                      </p:tavLst>
                                    </p:anim>
                                    <p:anim calcmode="lin" valueType="num">
                                      <p:cBhvr additive="base">
                                        <p:cTn id="16" dur="500" fill="hold"/>
                                        <p:tgtEl>
                                          <p:spTgt spid="17"/>
                                        </p:tgtEl>
                                        <p:attrNameLst>
                                          <p:attrName>ppt_y</p:attrName>
                                        </p:attrNameLst>
                                      </p:cBhvr>
                                      <p:tavLst>
                                        <p:tav tm="0">
                                          <p:val>
                                            <p:strVal val="0-#ppt_h/2"/>
                                          </p:val>
                                        </p:tav>
                                        <p:tav tm="100000">
                                          <p:val>
                                            <p:strVal val="#ppt_y"/>
                                          </p:val>
                                        </p:tav>
                                      </p:tavLst>
                                    </p:anim>
                                  </p:childTnLst>
                                </p:cTn>
                              </p:par>
                              <p:par>
                                <p:cTn id="17" presetID="2" presetClass="entr" presetSubtype="6" decel="10000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1+#ppt_w/2"/>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558373" y="1814566"/>
            <a:ext cx="6533908" cy="3295443"/>
          </a:xfrm>
          <a:prstGeom prst="rect">
            <a:avLst/>
          </a:prstGeom>
          <a:ln w="19050">
            <a:solidFill>
              <a:srgbClr val="92D050"/>
            </a:solidFill>
            <a:prstDash val="solid"/>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dirty="0">
              <a:ea typeface="微软雅黑" panose="020B0503020204020204" pitchFamily="34" charset="-122"/>
            </a:endParaRPr>
          </a:p>
        </p:txBody>
      </p:sp>
      <p:pic>
        <p:nvPicPr>
          <p:cNvPr id="5" name="Picture 8" descr="E:\仝德志文件，勿删！\03-参考文档\！PPT图片及版面资源\06-PPT精选插图\12-标签\绿色边角.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43367" y="1700808"/>
            <a:ext cx="1314261" cy="126445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6"/>
          <p:cNvSpPr txBox="1"/>
          <p:nvPr/>
        </p:nvSpPr>
        <p:spPr>
          <a:xfrm rot="18928564">
            <a:off x="425264" y="1630686"/>
            <a:ext cx="920661" cy="461665"/>
          </a:xfrm>
          <a:prstGeom prst="rect">
            <a:avLst/>
          </a:prstGeom>
          <a:noFill/>
        </p:spPr>
        <p:txBody>
          <a:bodyPr wrap="square" rtlCol="0">
            <a:spAutoFit/>
          </a:bodyPr>
          <a:lstStyle/>
          <a:p>
            <a:r>
              <a:rPr lang="zh-CN" altLang="en-US" sz="2400" dirty="0">
                <a:solidFill>
                  <a:prstClr val="white"/>
                </a:solidFill>
                <a:latin typeface="微软雅黑" pitchFamily="34" charset="-122"/>
                <a:ea typeface="微软雅黑" pitchFamily="34" charset="-122"/>
              </a:rPr>
              <a:t>门</a:t>
            </a:r>
          </a:p>
        </p:txBody>
      </p:sp>
      <p:sp>
        <p:nvSpPr>
          <p:cNvPr id="7" name="椭圆 6"/>
          <p:cNvSpPr/>
          <p:nvPr/>
        </p:nvSpPr>
        <p:spPr>
          <a:xfrm>
            <a:off x="5291676" y="1484784"/>
            <a:ext cx="3600804" cy="3625225"/>
          </a:xfrm>
          <a:prstGeom prst="ellipse">
            <a:avLst/>
          </a:prstGeom>
          <a:solidFill>
            <a:schemeClr val="bg1"/>
          </a:solidFill>
          <a:ln>
            <a:solidFill>
              <a:srgbClr val="FD7A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8" name="TextBox 10"/>
          <p:cNvSpPr txBox="1">
            <a:spLocks noChangeArrowheads="1"/>
          </p:cNvSpPr>
          <p:nvPr/>
        </p:nvSpPr>
        <p:spPr bwMode="auto">
          <a:xfrm>
            <a:off x="6113454" y="2115770"/>
            <a:ext cx="1882720" cy="232916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a:lnSpc>
                <a:spcPct val="114000"/>
              </a:lnSpc>
            </a:pPr>
            <a:r>
              <a:rPr lang="zh-CN" altLang="en-US" sz="13800" b="1" dirty="0">
                <a:solidFill>
                  <a:srgbClr val="00C4F0"/>
                </a:solidFill>
                <a:latin typeface="微软雅黑" pitchFamily="34" charset="-122"/>
                <a:ea typeface="微软雅黑" pitchFamily="34" charset="-122"/>
              </a:rPr>
              <a:t>门</a:t>
            </a:r>
            <a:endParaRPr lang="zh-CN" altLang="en-US" sz="6000" b="1" dirty="0">
              <a:solidFill>
                <a:srgbClr val="00C4F0"/>
              </a:solidFill>
              <a:latin typeface="微软雅黑" pitchFamily="34" charset="-122"/>
              <a:ea typeface="微软雅黑" pitchFamily="34" charset="-122"/>
            </a:endParaRPr>
          </a:p>
        </p:txBody>
      </p:sp>
      <p:cxnSp>
        <p:nvCxnSpPr>
          <p:cNvPr id="9" name="直接连接符 8"/>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0"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C4F0"/>
                </a:solidFill>
                <a:latin typeface="微软雅黑" pitchFamily="34" charset="-122"/>
                <a:ea typeface="微软雅黑" pitchFamily="34" charset="-122"/>
              </a:rPr>
              <a:t>门的概念</a:t>
            </a:r>
          </a:p>
        </p:txBody>
      </p:sp>
      <p:cxnSp>
        <p:nvCxnSpPr>
          <p:cNvPr id="11" name="直接连接符 10"/>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2" name="Text Box 44"/>
          <p:cNvSpPr txBox="1">
            <a:spLocks noChangeArrowheads="1"/>
          </p:cNvSpPr>
          <p:nvPr/>
        </p:nvSpPr>
        <p:spPr bwMode="auto">
          <a:xfrm>
            <a:off x="827584" y="2018164"/>
            <a:ext cx="4478557" cy="133882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r>
              <a:rPr lang="en-US" altLang="zh-CN" sz="2000" dirty="0">
                <a:solidFill>
                  <a:schemeClr val="tx1">
                    <a:lumMod val="65000"/>
                    <a:lumOff val="35000"/>
                  </a:schemeClr>
                </a:solidFill>
              </a:rPr>
              <a:t>80386</a:t>
            </a:r>
            <a:r>
              <a:rPr lang="zh-CN" altLang="en-US" sz="2000" dirty="0">
                <a:solidFill>
                  <a:schemeClr val="tx1">
                    <a:lumMod val="65000"/>
                    <a:lumOff val="35000"/>
                  </a:schemeClr>
                </a:solidFill>
              </a:rPr>
              <a:t>允许低权限任务调用内核级代码，但是需要通过门调用。通过门调用可实现特权级的转变和任务切换。</a:t>
            </a:r>
            <a:endParaRPr lang="en-US" altLang="zh-CN" sz="2000" b="1" dirty="0">
              <a:solidFill>
                <a:schemeClr val="tx1">
                  <a:lumMod val="65000"/>
                  <a:lumOff val="35000"/>
                </a:schemeClr>
              </a:solidFill>
            </a:endParaRPr>
          </a:p>
        </p:txBody>
      </p:sp>
      <p:sp>
        <p:nvSpPr>
          <p:cNvPr id="13" name="Text Box 44"/>
          <p:cNvSpPr txBox="1">
            <a:spLocks noChangeArrowheads="1"/>
          </p:cNvSpPr>
          <p:nvPr/>
        </p:nvSpPr>
        <p:spPr bwMode="auto">
          <a:xfrm>
            <a:off x="755576" y="3635418"/>
            <a:ext cx="4550565" cy="133882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indent="0"/>
            <a:r>
              <a:rPr lang="zh-CN" altLang="en-US" sz="2000" dirty="0">
                <a:solidFill>
                  <a:schemeClr val="tx1">
                    <a:lumMod val="65000"/>
                    <a:lumOff val="35000"/>
                  </a:schemeClr>
                </a:solidFill>
              </a:rPr>
              <a:t>       门描述符并不描述某种内存段，而是描述控制转移的入口点，即目标代码的门。</a:t>
            </a:r>
            <a:endParaRPr lang="en-US" sz="2000" dirty="0">
              <a:solidFill>
                <a:schemeClr val="tx1">
                  <a:lumMod val="65000"/>
                  <a:lumOff val="35000"/>
                </a:schemeClr>
              </a:solidFill>
            </a:endParaRPr>
          </a:p>
        </p:txBody>
      </p:sp>
    </p:spTree>
    <p:extLst>
      <p:ext uri="{BB962C8B-B14F-4D97-AF65-F5344CB8AC3E}">
        <p14:creationId xmlns:p14="http://schemas.microsoft.com/office/powerpoint/2010/main" val="369498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6387" y="2420888"/>
            <a:ext cx="2727181" cy="3116491"/>
          </a:xfrm>
          <a:prstGeom prst="rect">
            <a:avLst/>
          </a:prstGeom>
          <a:solidFill>
            <a:schemeClr val="accent1">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51520" y="2420888"/>
            <a:ext cx="2727181" cy="3116492"/>
          </a:xfrm>
          <a:prstGeom prst="rect">
            <a:avLst/>
          </a:prstGeom>
          <a:solidFill>
            <a:schemeClr val="accent1">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6165299" y="2420888"/>
            <a:ext cx="2727181" cy="3116491"/>
          </a:xfrm>
          <a:prstGeom prst="rect">
            <a:avLst/>
          </a:prstGeom>
          <a:solidFill>
            <a:schemeClr val="accent1">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5"/>
          <p:cNvSpPr/>
          <p:nvPr/>
        </p:nvSpPr>
        <p:spPr>
          <a:xfrm>
            <a:off x="251521" y="3053651"/>
            <a:ext cx="2727181" cy="2483728"/>
          </a:xfrm>
          <a:custGeom>
            <a:avLst/>
            <a:gdLst>
              <a:gd name="connsiteX0" fmla="*/ 1175287 w 2356338"/>
              <a:gd name="connsiteY0" fmla="*/ 0 h 2856024"/>
              <a:gd name="connsiteX1" fmla="*/ 1474827 w 2356338"/>
              <a:gd name="connsiteY1" fmla="*/ 140960 h 2856024"/>
              <a:gd name="connsiteX2" fmla="*/ 2356338 w 2356338"/>
              <a:gd name="connsiteY2" fmla="*/ 140960 h 2856024"/>
              <a:gd name="connsiteX3" fmla="*/ 2356338 w 2356338"/>
              <a:gd name="connsiteY3" fmla="*/ 2856024 h 2856024"/>
              <a:gd name="connsiteX4" fmla="*/ 0 w 2356338"/>
              <a:gd name="connsiteY4" fmla="*/ 2856024 h 2856024"/>
              <a:gd name="connsiteX5" fmla="*/ 0 w 2356338"/>
              <a:gd name="connsiteY5" fmla="*/ 140960 h 2856024"/>
              <a:gd name="connsiteX6" fmla="*/ 875747 w 2356338"/>
              <a:gd name="connsiteY6" fmla="*/ 140960 h 285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6338" h="2856024">
                <a:moveTo>
                  <a:pt x="1175287" y="0"/>
                </a:moveTo>
                <a:lnTo>
                  <a:pt x="1474827" y="140960"/>
                </a:lnTo>
                <a:lnTo>
                  <a:pt x="2356338" y="140960"/>
                </a:lnTo>
                <a:lnTo>
                  <a:pt x="2356338" y="2856024"/>
                </a:lnTo>
                <a:lnTo>
                  <a:pt x="0" y="2856024"/>
                </a:lnTo>
                <a:lnTo>
                  <a:pt x="0" y="140960"/>
                </a:lnTo>
                <a:lnTo>
                  <a:pt x="875747" y="14096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marL="285750" indent="-285750">
              <a:lnSpc>
                <a:spcPct val="120000"/>
              </a:lnSpc>
              <a:buFont typeface="Wingdings" panose="05000000000000000000" pitchFamily="2" charset="2"/>
              <a:buChar char="n"/>
            </a:pPr>
            <a:r>
              <a:rPr lang="zh-CN" altLang="en-US" sz="2000" dirty="0">
                <a:solidFill>
                  <a:schemeClr val="bg1"/>
                </a:solidFill>
                <a:latin typeface="微软雅黑" panose="020B0503020204020204" pitchFamily="34" charset="-122"/>
                <a:ea typeface="微软雅黑" panose="020B0503020204020204" pitchFamily="34" charset="-122"/>
              </a:rPr>
              <a:t>用于特权级切换。</a:t>
            </a:r>
            <a:endParaRPr lang="en-US" altLang="zh-CN" sz="2000" dirty="0">
              <a:solidFill>
                <a:schemeClr val="bg1"/>
              </a:solidFill>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n"/>
            </a:pPr>
            <a:r>
              <a:rPr lang="zh-CN" altLang="en-US" sz="2000" dirty="0">
                <a:solidFill>
                  <a:schemeClr val="bg1"/>
                </a:solidFill>
                <a:latin typeface="微软雅黑" panose="020B0503020204020204" pitchFamily="34" charset="-122"/>
                <a:ea typeface="微软雅黑" panose="020B0503020204020204" pitchFamily="34" charset="-122"/>
              </a:rPr>
              <a:t>存在于</a:t>
            </a:r>
            <a:r>
              <a:rPr lang="en-US" altLang="zh-CN" sz="2000" dirty="0">
                <a:solidFill>
                  <a:schemeClr val="bg1"/>
                </a:solidFill>
                <a:latin typeface="微软雅黑" panose="020B0503020204020204" pitchFamily="34" charset="-122"/>
                <a:ea typeface="微软雅黑" panose="020B0503020204020204" pitchFamily="34" charset="-122"/>
              </a:rPr>
              <a:t>GDT</a:t>
            </a:r>
            <a:r>
              <a:rPr lang="zh-CN" altLang="en-US" sz="2000" dirty="0">
                <a:solidFill>
                  <a:schemeClr val="bg1"/>
                </a:solidFill>
                <a:latin typeface="微软雅黑" panose="020B0503020204020204" pitchFamily="34" charset="-122"/>
                <a:ea typeface="微软雅黑" panose="020B0503020204020204" pitchFamily="34" charset="-122"/>
              </a:rPr>
              <a:t>或</a:t>
            </a:r>
            <a:r>
              <a:rPr lang="en-US" altLang="zh-CN" sz="2000" dirty="0">
                <a:solidFill>
                  <a:schemeClr val="bg1"/>
                </a:solidFill>
                <a:latin typeface="微软雅黑" panose="020B0503020204020204" pitchFamily="34" charset="-122"/>
                <a:ea typeface="微软雅黑" panose="020B0503020204020204" pitchFamily="34" charset="-122"/>
              </a:rPr>
              <a:t>LDT</a:t>
            </a:r>
          </a:p>
          <a:p>
            <a:pPr marL="285750" indent="-285750">
              <a:lnSpc>
                <a:spcPct val="120000"/>
              </a:lnSpc>
              <a:buFont typeface="Wingdings" panose="05000000000000000000" pitchFamily="2" charset="2"/>
              <a:buChar char="n"/>
            </a:pPr>
            <a:r>
              <a:rPr lang="zh-CN" altLang="en-US" sz="2000" dirty="0">
                <a:solidFill>
                  <a:schemeClr val="bg1"/>
                </a:solidFill>
                <a:latin typeface="微软雅黑" panose="020B0503020204020204" pitchFamily="34" charset="-122"/>
                <a:ea typeface="微软雅黑" panose="020B0503020204020204" pitchFamily="34" charset="-122"/>
              </a:rPr>
              <a:t>其选择子指向代码，段偏移地址对应代码段中偏移量。</a:t>
            </a:r>
          </a:p>
        </p:txBody>
      </p:sp>
      <p:sp>
        <p:nvSpPr>
          <p:cNvPr id="7" name="任意多边形 6"/>
          <p:cNvSpPr/>
          <p:nvPr/>
        </p:nvSpPr>
        <p:spPr>
          <a:xfrm>
            <a:off x="3236387" y="3053651"/>
            <a:ext cx="2727181" cy="2483728"/>
          </a:xfrm>
          <a:custGeom>
            <a:avLst/>
            <a:gdLst>
              <a:gd name="connsiteX0" fmla="*/ 1175287 w 2356338"/>
              <a:gd name="connsiteY0" fmla="*/ 0 h 2856024"/>
              <a:gd name="connsiteX1" fmla="*/ 1474827 w 2356338"/>
              <a:gd name="connsiteY1" fmla="*/ 140960 h 2856024"/>
              <a:gd name="connsiteX2" fmla="*/ 2356338 w 2356338"/>
              <a:gd name="connsiteY2" fmla="*/ 140960 h 2856024"/>
              <a:gd name="connsiteX3" fmla="*/ 2356338 w 2356338"/>
              <a:gd name="connsiteY3" fmla="*/ 2856024 h 2856024"/>
              <a:gd name="connsiteX4" fmla="*/ 0 w 2356338"/>
              <a:gd name="connsiteY4" fmla="*/ 2856024 h 2856024"/>
              <a:gd name="connsiteX5" fmla="*/ 0 w 2356338"/>
              <a:gd name="connsiteY5" fmla="*/ 140960 h 2856024"/>
              <a:gd name="connsiteX6" fmla="*/ 875747 w 2356338"/>
              <a:gd name="connsiteY6" fmla="*/ 140960 h 285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6338" h="2856024">
                <a:moveTo>
                  <a:pt x="1175287" y="0"/>
                </a:moveTo>
                <a:lnTo>
                  <a:pt x="1474827" y="140960"/>
                </a:lnTo>
                <a:lnTo>
                  <a:pt x="2356338" y="140960"/>
                </a:lnTo>
                <a:lnTo>
                  <a:pt x="2356338" y="2856024"/>
                </a:lnTo>
                <a:lnTo>
                  <a:pt x="0" y="2856024"/>
                </a:lnTo>
                <a:lnTo>
                  <a:pt x="0" y="140960"/>
                </a:lnTo>
                <a:lnTo>
                  <a:pt x="875747" y="14096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marL="285750" indent="-285750">
              <a:lnSpc>
                <a:spcPct val="120000"/>
              </a:lnSpc>
              <a:buFont typeface="Wingdings" panose="05000000000000000000" pitchFamily="2" charset="2"/>
              <a:buChar char="n"/>
            </a:pPr>
            <a:r>
              <a:rPr lang="zh-CN" altLang="en-US" sz="2000" dirty="0">
                <a:solidFill>
                  <a:schemeClr val="bg1"/>
                </a:solidFill>
                <a:latin typeface="微软雅黑" panose="020B0503020204020204" pitchFamily="34" charset="-122"/>
                <a:ea typeface="微软雅黑" panose="020B0503020204020204" pitchFamily="34" charset="-122"/>
              </a:rPr>
              <a:t>用于任务切换。</a:t>
            </a:r>
            <a:endParaRPr lang="en-US" altLang="zh-CN" sz="2000" dirty="0">
              <a:solidFill>
                <a:schemeClr val="bg1"/>
              </a:solidFill>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n"/>
            </a:pPr>
            <a:r>
              <a:rPr lang="zh-CN" altLang="en-US" sz="2000" dirty="0">
                <a:solidFill>
                  <a:schemeClr val="bg1"/>
                </a:solidFill>
                <a:latin typeface="微软雅黑" panose="020B0503020204020204" pitchFamily="34" charset="-122"/>
                <a:ea typeface="微软雅黑" panose="020B0503020204020204" pitchFamily="34" charset="-122"/>
              </a:rPr>
              <a:t>在</a:t>
            </a:r>
            <a:r>
              <a:rPr lang="en-US" altLang="zh-CN" sz="2000" dirty="0">
                <a:solidFill>
                  <a:schemeClr val="bg1"/>
                </a:solidFill>
                <a:latin typeface="微软雅黑" panose="020B0503020204020204" pitchFamily="34" charset="-122"/>
                <a:ea typeface="微软雅黑" panose="020B0503020204020204" pitchFamily="34" charset="-122"/>
              </a:rPr>
              <a:t>GDT</a:t>
            </a:r>
            <a:r>
              <a:rPr lang="zh-CN" altLang="en-US" sz="2000" dirty="0">
                <a:solidFill>
                  <a:schemeClr val="bg1"/>
                </a:solidFill>
                <a:latin typeface="微软雅黑" panose="020B0503020204020204" pitchFamily="34" charset="-122"/>
                <a:ea typeface="微软雅黑" panose="020B0503020204020204" pitchFamily="34" charset="-122"/>
              </a:rPr>
              <a:t>、</a:t>
            </a:r>
            <a:r>
              <a:rPr lang="en-US" altLang="zh-CN" sz="2000" dirty="0">
                <a:solidFill>
                  <a:schemeClr val="bg1"/>
                </a:solidFill>
                <a:latin typeface="微软雅黑" panose="020B0503020204020204" pitchFamily="34" charset="-122"/>
                <a:ea typeface="微软雅黑" panose="020B0503020204020204" pitchFamily="34" charset="-122"/>
              </a:rPr>
              <a:t>LDT</a:t>
            </a:r>
            <a:r>
              <a:rPr lang="zh-CN" altLang="en-US" sz="2000" dirty="0">
                <a:solidFill>
                  <a:schemeClr val="bg1"/>
                </a:solidFill>
                <a:latin typeface="微软雅黑" panose="020B0503020204020204" pitchFamily="34" charset="-122"/>
                <a:ea typeface="微软雅黑" panose="020B0503020204020204" pitchFamily="34" charset="-122"/>
              </a:rPr>
              <a:t>、</a:t>
            </a:r>
            <a:r>
              <a:rPr lang="en-US" altLang="zh-CN" sz="2000" dirty="0">
                <a:solidFill>
                  <a:schemeClr val="bg1"/>
                </a:solidFill>
                <a:latin typeface="微软雅黑" panose="020B0503020204020204" pitchFamily="34" charset="-122"/>
                <a:ea typeface="微软雅黑" panose="020B0503020204020204" pitchFamily="34" charset="-122"/>
              </a:rPr>
              <a:t>IDT</a:t>
            </a:r>
          </a:p>
          <a:p>
            <a:pPr marL="285750" indent="-285750">
              <a:lnSpc>
                <a:spcPct val="120000"/>
              </a:lnSpc>
              <a:buFont typeface="Wingdings" panose="05000000000000000000" pitchFamily="2" charset="2"/>
              <a:buChar char="n"/>
            </a:pPr>
            <a:r>
              <a:rPr lang="zh-CN" altLang="en-US" sz="2000" dirty="0">
                <a:solidFill>
                  <a:schemeClr val="bg1"/>
                </a:solidFill>
                <a:latin typeface="微软雅黑" panose="020B0503020204020204" pitchFamily="34" charset="-122"/>
                <a:ea typeface="微软雅黑" panose="020B0503020204020204" pitchFamily="34" charset="-122"/>
              </a:rPr>
              <a:t>选择子指向</a:t>
            </a:r>
            <a:r>
              <a:rPr lang="en-US" altLang="zh-CN" sz="2000" dirty="0">
                <a:solidFill>
                  <a:schemeClr val="bg1"/>
                </a:solidFill>
                <a:latin typeface="微软雅黑" panose="020B0503020204020204" pitchFamily="34" charset="-122"/>
                <a:ea typeface="微软雅黑" panose="020B0503020204020204" pitchFamily="34" charset="-122"/>
              </a:rPr>
              <a:t>GDT</a:t>
            </a:r>
            <a:r>
              <a:rPr lang="zh-CN" altLang="en-US" sz="2000" dirty="0">
                <a:solidFill>
                  <a:schemeClr val="bg1"/>
                </a:solidFill>
                <a:latin typeface="微软雅黑" panose="020B0503020204020204" pitchFamily="34" charset="-122"/>
                <a:ea typeface="微软雅黑" panose="020B0503020204020204" pitchFamily="34" charset="-122"/>
              </a:rPr>
              <a:t>中的</a:t>
            </a:r>
            <a:r>
              <a:rPr lang="en-US" altLang="zh-CN" sz="2000" dirty="0">
                <a:solidFill>
                  <a:srgbClr val="FFFF00"/>
                </a:solidFill>
                <a:latin typeface="微软雅黑" panose="020B0503020204020204" pitchFamily="34" charset="-122"/>
                <a:ea typeface="微软雅黑" panose="020B0503020204020204" pitchFamily="34" charset="-122"/>
              </a:rPr>
              <a:t>TSS</a:t>
            </a:r>
            <a:r>
              <a:rPr lang="zh-CN" altLang="en-US" sz="2000" dirty="0">
                <a:solidFill>
                  <a:srgbClr val="FFFF00"/>
                </a:solidFill>
                <a:latin typeface="微软雅黑" panose="020B0503020204020204" pitchFamily="34" charset="-122"/>
                <a:ea typeface="微软雅黑" panose="020B0503020204020204" pitchFamily="34" charset="-122"/>
              </a:rPr>
              <a:t>描述符。</a:t>
            </a:r>
            <a:endParaRPr lang="en-US" altLang="zh-CN" sz="2000" dirty="0">
              <a:solidFill>
                <a:srgbClr val="FFFF00"/>
              </a:solidFill>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n"/>
            </a:pPr>
            <a:r>
              <a:rPr lang="zh-CN" altLang="en-US" sz="2000" dirty="0">
                <a:solidFill>
                  <a:schemeClr val="bg1"/>
                </a:solidFill>
                <a:latin typeface="微软雅黑" panose="020B0503020204020204" pitchFamily="34" charset="-122"/>
                <a:ea typeface="微软雅黑" panose="020B0503020204020204" pitchFamily="34" charset="-122"/>
              </a:rPr>
              <a:t>偏移地址无意义。</a:t>
            </a:r>
          </a:p>
        </p:txBody>
      </p:sp>
      <p:sp>
        <p:nvSpPr>
          <p:cNvPr id="8" name="任意多边形 7"/>
          <p:cNvSpPr/>
          <p:nvPr/>
        </p:nvSpPr>
        <p:spPr>
          <a:xfrm>
            <a:off x="6165299" y="3053650"/>
            <a:ext cx="2727181" cy="2483729"/>
          </a:xfrm>
          <a:custGeom>
            <a:avLst/>
            <a:gdLst>
              <a:gd name="connsiteX0" fmla="*/ 1175287 w 2356338"/>
              <a:gd name="connsiteY0" fmla="*/ 0 h 2856024"/>
              <a:gd name="connsiteX1" fmla="*/ 1474827 w 2356338"/>
              <a:gd name="connsiteY1" fmla="*/ 140960 h 2856024"/>
              <a:gd name="connsiteX2" fmla="*/ 2356338 w 2356338"/>
              <a:gd name="connsiteY2" fmla="*/ 140960 h 2856024"/>
              <a:gd name="connsiteX3" fmla="*/ 2356338 w 2356338"/>
              <a:gd name="connsiteY3" fmla="*/ 2856024 h 2856024"/>
              <a:gd name="connsiteX4" fmla="*/ 0 w 2356338"/>
              <a:gd name="connsiteY4" fmla="*/ 2856024 h 2856024"/>
              <a:gd name="connsiteX5" fmla="*/ 0 w 2356338"/>
              <a:gd name="connsiteY5" fmla="*/ 140960 h 2856024"/>
              <a:gd name="connsiteX6" fmla="*/ 875747 w 2356338"/>
              <a:gd name="connsiteY6" fmla="*/ 140960 h 285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6338" h="2856024">
                <a:moveTo>
                  <a:pt x="1175287" y="0"/>
                </a:moveTo>
                <a:lnTo>
                  <a:pt x="1474827" y="140960"/>
                </a:lnTo>
                <a:lnTo>
                  <a:pt x="2356338" y="140960"/>
                </a:lnTo>
                <a:lnTo>
                  <a:pt x="2356338" y="2856024"/>
                </a:lnTo>
                <a:lnTo>
                  <a:pt x="0" y="2856024"/>
                </a:lnTo>
                <a:lnTo>
                  <a:pt x="0" y="140960"/>
                </a:lnTo>
                <a:lnTo>
                  <a:pt x="875747" y="14096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marL="285750" indent="-285750">
              <a:lnSpc>
                <a:spcPct val="120000"/>
              </a:lnSpc>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中断处理程序入口。</a:t>
            </a:r>
            <a:endParaRPr lang="en-US" altLang="zh-CN" sz="2000" dirty="0">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存在于</a:t>
            </a:r>
            <a:r>
              <a:rPr lang="en-US" altLang="zh-CN" sz="2000" dirty="0">
                <a:latin typeface="微软雅黑" panose="020B0503020204020204" pitchFamily="34" charset="-122"/>
                <a:ea typeface="微软雅黑" panose="020B0503020204020204" pitchFamily="34" charset="-122"/>
              </a:rPr>
              <a:t>IDT</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选择子指向代码段选择符、偏移地址指向代码段中。</a:t>
            </a:r>
          </a:p>
        </p:txBody>
      </p:sp>
      <p:sp>
        <p:nvSpPr>
          <p:cNvPr id="10" name="文本框 9"/>
          <p:cNvSpPr txBox="1"/>
          <p:nvPr/>
        </p:nvSpPr>
        <p:spPr>
          <a:xfrm>
            <a:off x="251520" y="2567343"/>
            <a:ext cx="2727182" cy="400110"/>
          </a:xfrm>
          <a:prstGeom prst="rect">
            <a:avLst/>
          </a:prstGeom>
          <a:noFill/>
        </p:spPr>
        <p:txBody>
          <a:bodyPr wrap="square" rtlCol="0">
            <a:spAutoFit/>
          </a:bodyPr>
          <a:lstStyle/>
          <a:p>
            <a:pPr algn="ctr"/>
            <a:r>
              <a:rPr lang="zh-CN" altLang="en-US" sz="2000" dirty="0">
                <a:solidFill>
                  <a:srgbClr val="3E3D4F"/>
                </a:solidFill>
                <a:latin typeface="微软雅黑" panose="020B0503020204020204" pitchFamily="34" charset="-122"/>
                <a:ea typeface="微软雅黑" panose="020B0503020204020204" pitchFamily="34" charset="-122"/>
              </a:rPr>
              <a:t>调用门描述符</a:t>
            </a:r>
          </a:p>
        </p:txBody>
      </p:sp>
      <p:sp>
        <p:nvSpPr>
          <p:cNvPr id="11" name="文本框 10"/>
          <p:cNvSpPr txBox="1"/>
          <p:nvPr/>
        </p:nvSpPr>
        <p:spPr>
          <a:xfrm>
            <a:off x="3236386" y="2567343"/>
            <a:ext cx="2727182" cy="400110"/>
          </a:xfrm>
          <a:prstGeom prst="rect">
            <a:avLst/>
          </a:prstGeom>
          <a:noFill/>
        </p:spPr>
        <p:txBody>
          <a:bodyPr wrap="square" rtlCol="0">
            <a:spAutoFit/>
          </a:bodyPr>
          <a:lstStyle/>
          <a:p>
            <a:pPr algn="ctr"/>
            <a:r>
              <a:rPr lang="zh-CN" altLang="en-US" sz="2000" dirty="0">
                <a:solidFill>
                  <a:srgbClr val="3E3D4F"/>
                </a:solidFill>
                <a:latin typeface="微软雅黑" panose="020B0503020204020204" pitchFamily="34" charset="-122"/>
                <a:ea typeface="微软雅黑" panose="020B0503020204020204" pitchFamily="34" charset="-122"/>
              </a:rPr>
              <a:t>任务门描述符</a:t>
            </a:r>
          </a:p>
        </p:txBody>
      </p:sp>
      <p:sp>
        <p:nvSpPr>
          <p:cNvPr id="12" name="文本框 11"/>
          <p:cNvSpPr txBox="1"/>
          <p:nvPr/>
        </p:nvSpPr>
        <p:spPr>
          <a:xfrm>
            <a:off x="6165298" y="2567343"/>
            <a:ext cx="2727182" cy="400110"/>
          </a:xfrm>
          <a:prstGeom prst="rect">
            <a:avLst/>
          </a:prstGeom>
          <a:noFill/>
        </p:spPr>
        <p:txBody>
          <a:bodyPr wrap="square" rtlCol="0">
            <a:spAutoFit/>
          </a:bodyPr>
          <a:lstStyle/>
          <a:p>
            <a:pPr algn="ctr"/>
            <a:r>
              <a:rPr lang="zh-CN" altLang="en-US" sz="2000" dirty="0">
                <a:solidFill>
                  <a:srgbClr val="3E3D4F"/>
                </a:solidFill>
                <a:latin typeface="微软雅黑" panose="020B0503020204020204" pitchFamily="34" charset="-122"/>
                <a:ea typeface="微软雅黑" panose="020B0503020204020204" pitchFamily="34" charset="-122"/>
              </a:rPr>
              <a:t>中断门和陷阱门描述符</a:t>
            </a:r>
          </a:p>
        </p:txBody>
      </p:sp>
      <p:cxnSp>
        <p:nvCxnSpPr>
          <p:cNvPr id="14" name="直接连接符 1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5"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门描述符</a:t>
            </a:r>
            <a:endParaRPr lang="zh-CN" altLang="en-US" sz="3200" b="1" dirty="0">
              <a:solidFill>
                <a:srgbClr val="00C4F0"/>
              </a:solidFill>
              <a:latin typeface="微软雅黑" pitchFamily="34" charset="-122"/>
              <a:ea typeface="微软雅黑" pitchFamily="34" charset="-122"/>
            </a:endParaRPr>
          </a:p>
        </p:txBody>
      </p:sp>
      <p:cxnSp>
        <p:nvCxnSpPr>
          <p:cNvPr id="16" name="直接连接符 15"/>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7" name="矩形 16"/>
          <p:cNvSpPr/>
          <p:nvPr/>
        </p:nvSpPr>
        <p:spPr>
          <a:xfrm>
            <a:off x="251520" y="1700808"/>
            <a:ext cx="8640960" cy="491187"/>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64</a:t>
            </a:r>
            <a:r>
              <a:rPr lang="zh-CN" altLang="en-US" sz="2000" b="1" dirty="0">
                <a:ea typeface="微软雅黑" panose="020B0503020204020204" pitchFamily="34" charset="-122"/>
              </a:rPr>
              <a:t>位的门描述符由三部分组成：</a:t>
            </a:r>
            <a:r>
              <a:rPr lang="en-US" altLang="zh-CN" sz="2000" b="1" dirty="0">
                <a:ea typeface="微软雅黑" panose="020B0503020204020204" pitchFamily="34" charset="-122"/>
              </a:rPr>
              <a:t>16</a:t>
            </a:r>
            <a:r>
              <a:rPr lang="zh-CN" altLang="en-US" sz="2000" b="1" dirty="0">
                <a:ea typeface="微软雅黑" panose="020B0503020204020204" pitchFamily="34" charset="-122"/>
              </a:rPr>
              <a:t>位选择子、</a:t>
            </a:r>
            <a:r>
              <a:rPr lang="en-US" altLang="zh-CN" sz="2000" b="1" dirty="0">
                <a:ea typeface="微软雅黑" panose="020B0503020204020204" pitchFamily="34" charset="-122"/>
              </a:rPr>
              <a:t>32</a:t>
            </a:r>
            <a:r>
              <a:rPr lang="zh-CN" altLang="en-US" sz="2000" b="1" dirty="0">
                <a:ea typeface="微软雅黑" panose="020B0503020204020204" pitchFamily="34" charset="-122"/>
              </a:rPr>
              <a:t>位偏移地址及</a:t>
            </a:r>
            <a:r>
              <a:rPr lang="en-US" altLang="zh-CN" sz="2000" b="1" dirty="0">
                <a:ea typeface="微软雅黑" panose="020B0503020204020204" pitchFamily="34" charset="-122"/>
              </a:rPr>
              <a:t>DPL</a:t>
            </a:r>
            <a:r>
              <a:rPr lang="zh-CN" altLang="en-US" sz="2000" b="1" dirty="0">
                <a:ea typeface="微软雅黑" panose="020B0503020204020204" pitchFamily="34" charset="-122"/>
              </a:rPr>
              <a:t>。</a:t>
            </a:r>
          </a:p>
        </p:txBody>
      </p:sp>
    </p:spTree>
    <p:extLst>
      <p:ext uri="{BB962C8B-B14F-4D97-AF65-F5344CB8AC3E}">
        <p14:creationId xmlns:p14="http://schemas.microsoft.com/office/powerpoint/2010/main" val="160391615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5628456" y="1317773"/>
            <a:ext cx="1676400" cy="5135563"/>
          </a:xfrm>
          <a:prstGeom prst="rect">
            <a:avLst/>
          </a:prstGeom>
          <a:solidFill>
            <a:srgbClr val="1D8DE5"/>
          </a:solidFill>
          <a:ln w="9525">
            <a:noFill/>
            <a:miter lim="800000"/>
            <a:headEnd/>
            <a:tailEnd/>
          </a:ln>
          <a:effectLst/>
        </p:spPr>
        <p:txBody>
          <a:bodyP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30000"/>
              </a:spcBef>
            </a:pPr>
            <a:endParaRPr lang="en-US" altLang="zh-CN" sz="2400" b="0" dirty="0">
              <a:latin typeface="Times New Roman" panose="02020603050405020304" pitchFamily="18" charset="0"/>
            </a:endParaRPr>
          </a:p>
          <a:p>
            <a:pPr algn="ctr" eaLnBrk="1" hangingPunct="1">
              <a:spcBef>
                <a:spcPct val="30000"/>
              </a:spcBef>
            </a:pPr>
            <a:r>
              <a:rPr lang="en-US" altLang="zh-CN" dirty="0">
                <a:latin typeface="Times New Roman" panose="02020603050405020304" pitchFamily="18" charset="0"/>
                <a:ea typeface="楷体_GB2312" pitchFamily="49" charset="-122"/>
              </a:rPr>
              <a:t>LDT</a:t>
            </a:r>
            <a:r>
              <a:rPr lang="zh-CN" altLang="en-US" dirty="0">
                <a:latin typeface="Times New Roman" panose="02020603050405020304" pitchFamily="18" charset="0"/>
                <a:ea typeface="楷体_GB2312" pitchFamily="49" charset="-122"/>
              </a:rPr>
              <a:t>描述符</a:t>
            </a:r>
            <a:endParaRPr lang="zh-CN" altLang="en-US" sz="2400" b="0" dirty="0">
              <a:latin typeface="Times New Roman" panose="02020603050405020304" pitchFamily="18" charset="0"/>
            </a:endParaRPr>
          </a:p>
          <a:p>
            <a:pPr algn="ctr" eaLnBrk="1" hangingPunct="1">
              <a:spcBef>
                <a:spcPct val="30000"/>
              </a:spcBef>
            </a:pPr>
            <a:endParaRPr lang="zh-CN" altLang="en-US" sz="2400" dirty="0">
              <a:latin typeface="Times New Roman" panose="02020603050405020304" pitchFamily="18" charset="0"/>
              <a:ea typeface="楷体_GB2312" pitchFamily="49" charset="-122"/>
            </a:endParaRPr>
          </a:p>
          <a:p>
            <a:pPr algn="ctr" eaLnBrk="1" hangingPunct="1">
              <a:spcBef>
                <a:spcPct val="30000"/>
              </a:spcBef>
            </a:pPr>
            <a:r>
              <a:rPr lang="en-US" altLang="zh-CN" sz="2400" dirty="0">
                <a:latin typeface="Times New Roman" panose="02020603050405020304" pitchFamily="18" charset="0"/>
                <a:ea typeface="楷体_GB2312" pitchFamily="49" charset="-122"/>
              </a:rPr>
              <a:t>……</a:t>
            </a:r>
          </a:p>
          <a:p>
            <a:pPr algn="ctr" eaLnBrk="1" hangingPunct="1">
              <a:spcBef>
                <a:spcPct val="30000"/>
              </a:spcBef>
            </a:pPr>
            <a:endParaRPr lang="en-US" altLang="zh-CN" sz="2400" b="0" dirty="0">
              <a:latin typeface="Times New Roman" panose="02020603050405020304" pitchFamily="18" charset="0"/>
            </a:endParaRPr>
          </a:p>
          <a:p>
            <a:pPr algn="ctr" eaLnBrk="1" hangingPunct="1">
              <a:spcBef>
                <a:spcPct val="30000"/>
              </a:spcBef>
            </a:pPr>
            <a:endParaRPr lang="en-US" altLang="zh-CN" sz="2400" b="0" dirty="0">
              <a:latin typeface="Times New Roman" panose="02020603050405020304" pitchFamily="18" charset="0"/>
            </a:endParaRPr>
          </a:p>
          <a:p>
            <a:pPr algn="ctr" eaLnBrk="1" hangingPunct="1">
              <a:spcBef>
                <a:spcPct val="30000"/>
              </a:spcBef>
            </a:pPr>
            <a:endParaRPr lang="en-US" altLang="zh-CN" sz="2400" b="0" dirty="0">
              <a:latin typeface="Times New Roman" panose="02020603050405020304" pitchFamily="18" charset="0"/>
            </a:endParaRPr>
          </a:p>
          <a:p>
            <a:pPr algn="ctr" eaLnBrk="1" hangingPunct="1">
              <a:spcBef>
                <a:spcPct val="30000"/>
              </a:spcBef>
            </a:pPr>
            <a:endParaRPr lang="en-US" altLang="zh-CN" sz="2400" b="0" dirty="0">
              <a:latin typeface="Times New Roman" panose="02020603050405020304" pitchFamily="18" charset="0"/>
            </a:endParaRPr>
          </a:p>
          <a:p>
            <a:pPr algn="ctr" eaLnBrk="1" hangingPunct="1">
              <a:spcBef>
                <a:spcPct val="30000"/>
              </a:spcBef>
            </a:pPr>
            <a:endParaRPr lang="en-US" altLang="zh-CN" sz="2400" b="0" dirty="0">
              <a:latin typeface="Times New Roman" panose="02020603050405020304" pitchFamily="18" charset="0"/>
            </a:endParaRPr>
          </a:p>
          <a:p>
            <a:pPr algn="ctr" eaLnBrk="1" hangingPunct="1">
              <a:spcBef>
                <a:spcPct val="30000"/>
              </a:spcBef>
            </a:pPr>
            <a:endParaRPr lang="en-US" altLang="zh-CN" sz="2400" b="0" dirty="0">
              <a:latin typeface="Times New Roman" panose="02020603050405020304" pitchFamily="18" charset="0"/>
            </a:endParaRPr>
          </a:p>
          <a:p>
            <a:pPr algn="ctr" eaLnBrk="1" hangingPunct="1">
              <a:spcBef>
                <a:spcPct val="30000"/>
              </a:spcBef>
            </a:pPr>
            <a:endParaRPr lang="en-US" altLang="zh-CN" sz="2400" b="0" dirty="0">
              <a:latin typeface="Times New Roman" panose="02020603050405020304" pitchFamily="18" charset="0"/>
            </a:endParaRPr>
          </a:p>
        </p:txBody>
      </p:sp>
      <p:sp>
        <p:nvSpPr>
          <p:cNvPr id="3" name="Line 6"/>
          <p:cNvSpPr>
            <a:spLocks noChangeShapeType="1"/>
          </p:cNvSpPr>
          <p:nvPr/>
        </p:nvSpPr>
        <p:spPr bwMode="auto">
          <a:xfrm>
            <a:off x="5626869" y="5127773"/>
            <a:ext cx="16764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 name="Line 7"/>
          <p:cNvSpPr>
            <a:spLocks noChangeShapeType="1"/>
          </p:cNvSpPr>
          <p:nvPr/>
        </p:nvSpPr>
        <p:spPr bwMode="auto">
          <a:xfrm>
            <a:off x="5626869" y="4670573"/>
            <a:ext cx="16764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 name="Line 8"/>
          <p:cNvSpPr>
            <a:spLocks noChangeShapeType="1"/>
          </p:cNvSpPr>
          <p:nvPr/>
        </p:nvSpPr>
        <p:spPr bwMode="auto">
          <a:xfrm>
            <a:off x="5626869" y="4213373"/>
            <a:ext cx="16764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 name="Line 9"/>
          <p:cNvSpPr>
            <a:spLocks noChangeShapeType="1"/>
          </p:cNvSpPr>
          <p:nvPr/>
        </p:nvSpPr>
        <p:spPr bwMode="auto">
          <a:xfrm>
            <a:off x="5626869" y="3679973"/>
            <a:ext cx="16764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 name="Line 10"/>
          <p:cNvSpPr>
            <a:spLocks noChangeShapeType="1"/>
          </p:cNvSpPr>
          <p:nvPr/>
        </p:nvSpPr>
        <p:spPr bwMode="auto">
          <a:xfrm>
            <a:off x="5626869" y="3679973"/>
            <a:ext cx="16764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 name="Line 11"/>
          <p:cNvSpPr>
            <a:spLocks noChangeShapeType="1"/>
          </p:cNvSpPr>
          <p:nvPr/>
        </p:nvSpPr>
        <p:spPr bwMode="auto">
          <a:xfrm>
            <a:off x="5626869" y="3222773"/>
            <a:ext cx="16764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 name="Line 12"/>
          <p:cNvSpPr>
            <a:spLocks noChangeShapeType="1"/>
          </p:cNvSpPr>
          <p:nvPr/>
        </p:nvSpPr>
        <p:spPr bwMode="auto">
          <a:xfrm>
            <a:off x="5626869" y="2924944"/>
            <a:ext cx="16764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 name="Line 13"/>
          <p:cNvSpPr>
            <a:spLocks noChangeShapeType="1"/>
          </p:cNvSpPr>
          <p:nvPr/>
        </p:nvSpPr>
        <p:spPr bwMode="auto">
          <a:xfrm>
            <a:off x="5626869" y="2543944"/>
            <a:ext cx="16764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 name="AutoShape 15"/>
          <p:cNvSpPr>
            <a:spLocks/>
          </p:cNvSpPr>
          <p:nvPr/>
        </p:nvSpPr>
        <p:spPr bwMode="auto">
          <a:xfrm>
            <a:off x="7304856" y="1650392"/>
            <a:ext cx="219894" cy="1789868"/>
          </a:xfrm>
          <a:prstGeom prst="rightBrace">
            <a:avLst>
              <a:gd name="adj1" fmla="val 88421"/>
              <a:gd name="adj2" fmla="val 50000"/>
            </a:avLst>
          </a:prstGeom>
          <a:noFill/>
          <a:ln w="9525">
            <a:solidFill>
              <a:srgbClr val="00B85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 name="Text Box 16"/>
          <p:cNvSpPr txBox="1">
            <a:spLocks noChangeArrowheads="1"/>
          </p:cNvSpPr>
          <p:nvPr/>
        </p:nvSpPr>
        <p:spPr bwMode="auto">
          <a:xfrm>
            <a:off x="7381056" y="2413118"/>
            <a:ext cx="129540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FF3255"/>
                </a:solidFill>
                <a:latin typeface="Times New Roman" panose="02020603050405020304" pitchFamily="18" charset="0"/>
                <a:ea typeface="楷体_GB2312" pitchFamily="49" charset="-122"/>
              </a:rPr>
              <a:t>GDT</a:t>
            </a:r>
            <a:endParaRPr lang="en-US" altLang="zh-CN" sz="2400" b="0" dirty="0">
              <a:solidFill>
                <a:srgbClr val="FF3255"/>
              </a:solidFill>
              <a:latin typeface="Times New Roman" panose="02020603050405020304" pitchFamily="18" charset="0"/>
            </a:endParaRPr>
          </a:p>
        </p:txBody>
      </p:sp>
      <p:sp>
        <p:nvSpPr>
          <p:cNvPr id="13" name="Text Box 17"/>
          <p:cNvSpPr txBox="1">
            <a:spLocks noChangeArrowheads="1"/>
          </p:cNvSpPr>
          <p:nvPr/>
        </p:nvSpPr>
        <p:spPr bwMode="auto">
          <a:xfrm>
            <a:off x="1722365" y="5915173"/>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FF3255"/>
                </a:solidFill>
                <a:latin typeface="Times New Roman" panose="02020603050405020304" pitchFamily="18" charset="0"/>
              </a:rPr>
              <a:t>LDTR</a:t>
            </a:r>
            <a:r>
              <a:rPr lang="zh-CN" altLang="en-US" dirty="0">
                <a:solidFill>
                  <a:srgbClr val="FF3255"/>
                </a:solidFill>
                <a:latin typeface="Times New Roman" panose="02020603050405020304" pitchFamily="18" charset="0"/>
              </a:rPr>
              <a:t>高速缓存器</a:t>
            </a:r>
            <a:endParaRPr lang="zh-CN" altLang="en-US" dirty="0">
              <a:solidFill>
                <a:srgbClr val="FF3255"/>
              </a:solidFill>
              <a:latin typeface="Times New Roman" panose="02020603050405020304" pitchFamily="18" charset="0"/>
              <a:ea typeface="楷体_GB2312" pitchFamily="49" charset="-122"/>
            </a:endParaRPr>
          </a:p>
        </p:txBody>
      </p:sp>
      <p:sp>
        <p:nvSpPr>
          <p:cNvPr id="15" name="Text Box 19"/>
          <p:cNvSpPr txBox="1">
            <a:spLocks noChangeArrowheads="1"/>
          </p:cNvSpPr>
          <p:nvPr/>
        </p:nvSpPr>
        <p:spPr bwMode="auto">
          <a:xfrm>
            <a:off x="1075095" y="5569098"/>
            <a:ext cx="2210380" cy="347676"/>
          </a:xfrm>
          <a:prstGeom prst="rect">
            <a:avLst/>
          </a:prstGeom>
          <a:solidFill>
            <a:srgbClr val="FD7A2A"/>
          </a:solidFill>
          <a:ln w="9525">
            <a:noFill/>
            <a:miter lim="800000"/>
            <a:headEnd/>
            <a:tailEnd/>
          </a:ln>
          <a:effectLst/>
        </p:spPr>
        <p:txBody>
          <a:bodyPr wrap="square" t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1800">
              <a:solidFill>
                <a:schemeClr val="bg1"/>
              </a:solidFill>
              <a:latin typeface="Times New Roman" panose="02020603050405020304" pitchFamily="18" charset="0"/>
            </a:endParaRPr>
          </a:p>
        </p:txBody>
      </p:sp>
      <p:sp>
        <p:nvSpPr>
          <p:cNvPr id="16" name="Text Box 20"/>
          <p:cNvSpPr txBox="1">
            <a:spLocks noChangeArrowheads="1"/>
          </p:cNvSpPr>
          <p:nvPr/>
        </p:nvSpPr>
        <p:spPr bwMode="auto">
          <a:xfrm>
            <a:off x="3244577" y="5569098"/>
            <a:ext cx="1105773" cy="347676"/>
          </a:xfrm>
          <a:prstGeom prst="rect">
            <a:avLst/>
          </a:prstGeom>
          <a:solidFill>
            <a:srgbClr val="1D8DE5"/>
          </a:solidFill>
          <a:ln w="9525">
            <a:noFill/>
            <a:miter lim="800000"/>
            <a:headEnd/>
            <a:tailEnd/>
          </a:ln>
          <a:effectLst/>
        </p:spPr>
        <p:txBody>
          <a:bodyPr wrap="square" t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1800" dirty="0">
              <a:solidFill>
                <a:schemeClr val="bg1"/>
              </a:solidFill>
              <a:latin typeface="Times New Roman" panose="02020603050405020304" pitchFamily="18" charset="0"/>
            </a:endParaRPr>
          </a:p>
        </p:txBody>
      </p:sp>
      <p:sp>
        <p:nvSpPr>
          <p:cNvPr id="18" name="Text Box 22"/>
          <p:cNvSpPr txBox="1">
            <a:spLocks noChangeArrowheads="1"/>
          </p:cNvSpPr>
          <p:nvPr/>
        </p:nvSpPr>
        <p:spPr bwMode="auto">
          <a:xfrm>
            <a:off x="1314619" y="5611974"/>
            <a:ext cx="2037090"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lang="en-US" altLang="zh-CN" sz="1800" dirty="0">
                <a:solidFill>
                  <a:schemeClr val="bg1"/>
                </a:solidFill>
                <a:latin typeface="Times New Roman" panose="02020603050405020304" pitchFamily="18" charset="0"/>
                <a:ea typeface="楷体_GB2312" pitchFamily="49" charset="-122"/>
              </a:rPr>
              <a:t>32</a:t>
            </a:r>
            <a:r>
              <a:rPr lang="zh-CN" altLang="en-US" sz="1800" dirty="0">
                <a:solidFill>
                  <a:schemeClr val="bg1"/>
                </a:solidFill>
                <a:latin typeface="Times New Roman" panose="02020603050405020304" pitchFamily="18" charset="0"/>
                <a:ea typeface="楷体_GB2312" pitchFamily="49" charset="-122"/>
              </a:rPr>
              <a:t>位线性基地址</a:t>
            </a:r>
          </a:p>
        </p:txBody>
      </p:sp>
      <p:sp>
        <p:nvSpPr>
          <p:cNvPr id="21" name="Line 25"/>
          <p:cNvSpPr>
            <a:spLocks noChangeShapeType="1"/>
          </p:cNvSpPr>
          <p:nvPr/>
        </p:nvSpPr>
        <p:spPr bwMode="auto">
          <a:xfrm>
            <a:off x="2843808" y="4197498"/>
            <a:ext cx="0" cy="1371600"/>
          </a:xfrm>
          <a:prstGeom prst="line">
            <a:avLst/>
          </a:prstGeom>
          <a:noFill/>
          <a:ln w="9525">
            <a:solidFill>
              <a:srgbClr val="00B8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Line 26"/>
          <p:cNvSpPr>
            <a:spLocks noChangeShapeType="1"/>
          </p:cNvSpPr>
          <p:nvPr/>
        </p:nvSpPr>
        <p:spPr bwMode="auto">
          <a:xfrm>
            <a:off x="2843808" y="4213373"/>
            <a:ext cx="2784648" cy="0"/>
          </a:xfrm>
          <a:prstGeom prst="line">
            <a:avLst/>
          </a:prstGeom>
          <a:noFill/>
          <a:ln w="9525">
            <a:solidFill>
              <a:srgbClr val="00B85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Text Box 30"/>
          <p:cNvSpPr txBox="1">
            <a:spLocks noChangeArrowheads="1"/>
          </p:cNvSpPr>
          <p:nvPr/>
        </p:nvSpPr>
        <p:spPr bwMode="auto">
          <a:xfrm>
            <a:off x="5628456" y="1317773"/>
            <a:ext cx="1676400" cy="4142673"/>
          </a:xfrm>
          <a:prstGeom prst="rect">
            <a:avLst/>
          </a:prstGeom>
          <a:solidFill>
            <a:srgbClr val="1D8DE5"/>
          </a:solidFill>
          <a:ln w="9525">
            <a:solidFill>
              <a:schemeClr val="bg1"/>
            </a:solidFill>
            <a:miter lim="800000"/>
            <a:headEnd/>
            <a:tailEnd/>
          </a:ln>
          <a:effec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30000"/>
              </a:spcBef>
            </a:pPr>
            <a:endParaRPr lang="en-US" altLang="zh-CN" sz="2400" b="0" dirty="0">
              <a:latin typeface="Times New Roman" panose="02020603050405020304" pitchFamily="18" charset="0"/>
            </a:endParaRPr>
          </a:p>
          <a:p>
            <a:pPr algn="ctr" eaLnBrk="1" hangingPunct="1">
              <a:spcBef>
                <a:spcPct val="30000"/>
              </a:spcBef>
            </a:pPr>
            <a:endParaRPr lang="en-US" altLang="zh-CN" sz="2400" b="0" dirty="0">
              <a:latin typeface="Times New Roman" panose="02020603050405020304" pitchFamily="18" charset="0"/>
            </a:endParaRPr>
          </a:p>
          <a:p>
            <a:pPr algn="ctr" eaLnBrk="1" hangingPunct="1">
              <a:spcBef>
                <a:spcPct val="30000"/>
              </a:spcBef>
            </a:pPr>
            <a:endParaRPr lang="en-US" altLang="zh-CN" dirty="0">
              <a:solidFill>
                <a:schemeClr val="bg1"/>
              </a:solidFill>
              <a:latin typeface="Times New Roman" panose="02020603050405020304" pitchFamily="18" charset="0"/>
              <a:ea typeface="楷体_GB2312" pitchFamily="49" charset="-122"/>
            </a:endParaRPr>
          </a:p>
          <a:p>
            <a:pPr algn="ctr" eaLnBrk="1" hangingPunct="1">
              <a:spcBef>
                <a:spcPct val="30000"/>
              </a:spcBef>
            </a:pPr>
            <a:endParaRPr lang="zh-CN" altLang="en-US" dirty="0">
              <a:latin typeface="Times New Roman" panose="02020603050405020304" pitchFamily="18" charset="0"/>
              <a:ea typeface="楷体_GB2312" pitchFamily="49" charset="-122"/>
            </a:endParaRPr>
          </a:p>
          <a:p>
            <a:pPr algn="ctr" eaLnBrk="1" hangingPunct="1">
              <a:spcBef>
                <a:spcPct val="30000"/>
              </a:spcBef>
            </a:pPr>
            <a:endParaRPr lang="en-US" altLang="zh-CN" sz="2400" dirty="0">
              <a:latin typeface="Times New Roman" panose="02020603050405020304" pitchFamily="18" charset="0"/>
              <a:ea typeface="楷体_GB2312" pitchFamily="49" charset="-122"/>
            </a:endParaRPr>
          </a:p>
          <a:p>
            <a:pPr algn="ctr" eaLnBrk="1" hangingPunct="1">
              <a:spcBef>
                <a:spcPct val="30000"/>
              </a:spcBef>
            </a:pPr>
            <a:endParaRPr lang="en-US" altLang="zh-CN" sz="2400" dirty="0">
              <a:latin typeface="Times New Roman" panose="02020603050405020304" pitchFamily="18" charset="0"/>
              <a:ea typeface="楷体_GB2312" pitchFamily="49" charset="-122"/>
            </a:endParaRPr>
          </a:p>
          <a:p>
            <a:pPr algn="ctr" eaLnBrk="1" hangingPunct="1">
              <a:spcBef>
                <a:spcPct val="30000"/>
              </a:spcBef>
            </a:pPr>
            <a:endParaRPr lang="zh-CN" altLang="en-US" sz="2400" dirty="0">
              <a:latin typeface="Times New Roman" panose="02020603050405020304" pitchFamily="18" charset="0"/>
              <a:ea typeface="楷体_GB2312" pitchFamily="49" charset="-122"/>
            </a:endParaRPr>
          </a:p>
          <a:p>
            <a:pPr algn="ctr" eaLnBrk="1" hangingPunct="1">
              <a:spcBef>
                <a:spcPct val="30000"/>
              </a:spcBef>
            </a:pPr>
            <a:r>
              <a:rPr lang="en-US" altLang="zh-CN" sz="2400" dirty="0">
                <a:solidFill>
                  <a:schemeClr val="bg1"/>
                </a:solidFill>
                <a:latin typeface="Times New Roman" panose="02020603050405020304" pitchFamily="18" charset="0"/>
                <a:ea typeface="楷体_GB2312" pitchFamily="49" charset="-122"/>
              </a:rPr>
              <a:t>……</a:t>
            </a:r>
          </a:p>
          <a:p>
            <a:pPr algn="ctr" eaLnBrk="1" hangingPunct="1">
              <a:spcBef>
                <a:spcPct val="30000"/>
              </a:spcBef>
            </a:pPr>
            <a:endParaRPr lang="en-US" altLang="zh-CN" sz="2400" b="0" dirty="0">
              <a:latin typeface="Times New Roman" panose="02020603050405020304" pitchFamily="18" charset="0"/>
            </a:endParaRPr>
          </a:p>
        </p:txBody>
      </p:sp>
      <p:sp>
        <p:nvSpPr>
          <p:cNvPr id="27" name="Line 31"/>
          <p:cNvSpPr>
            <a:spLocks noChangeShapeType="1"/>
          </p:cNvSpPr>
          <p:nvPr/>
        </p:nvSpPr>
        <p:spPr bwMode="auto">
          <a:xfrm>
            <a:off x="5628456" y="4213373"/>
            <a:ext cx="16764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Line 33"/>
          <p:cNvSpPr>
            <a:spLocks noChangeShapeType="1"/>
          </p:cNvSpPr>
          <p:nvPr/>
        </p:nvSpPr>
        <p:spPr bwMode="auto">
          <a:xfrm>
            <a:off x="5628455" y="1628800"/>
            <a:ext cx="16764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 name="Line 35"/>
          <p:cNvSpPr>
            <a:spLocks noChangeShapeType="1"/>
          </p:cNvSpPr>
          <p:nvPr/>
        </p:nvSpPr>
        <p:spPr bwMode="auto">
          <a:xfrm>
            <a:off x="5628456" y="3451373"/>
            <a:ext cx="16764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 name="Line 37"/>
          <p:cNvSpPr>
            <a:spLocks noChangeShapeType="1"/>
          </p:cNvSpPr>
          <p:nvPr/>
        </p:nvSpPr>
        <p:spPr bwMode="auto">
          <a:xfrm>
            <a:off x="4104456" y="2835027"/>
            <a:ext cx="1524000" cy="0"/>
          </a:xfrm>
          <a:prstGeom prst="line">
            <a:avLst/>
          </a:prstGeom>
          <a:noFill/>
          <a:ln w="9525">
            <a:solidFill>
              <a:srgbClr val="00B85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5" name="Line 39"/>
          <p:cNvSpPr>
            <a:spLocks noChangeShapeType="1"/>
          </p:cNvSpPr>
          <p:nvPr/>
        </p:nvSpPr>
        <p:spPr bwMode="auto">
          <a:xfrm>
            <a:off x="5626868" y="3212976"/>
            <a:ext cx="839787"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 name="Line 40"/>
          <p:cNvSpPr>
            <a:spLocks noChangeShapeType="1"/>
          </p:cNvSpPr>
          <p:nvPr/>
        </p:nvSpPr>
        <p:spPr bwMode="auto">
          <a:xfrm>
            <a:off x="6466655" y="2996951"/>
            <a:ext cx="0" cy="225821"/>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7" name="Line 41"/>
          <p:cNvSpPr>
            <a:spLocks noChangeShapeType="1"/>
          </p:cNvSpPr>
          <p:nvPr/>
        </p:nvSpPr>
        <p:spPr bwMode="auto">
          <a:xfrm>
            <a:off x="1970856" y="3212976"/>
            <a:ext cx="0" cy="2325960"/>
          </a:xfrm>
          <a:prstGeom prst="line">
            <a:avLst/>
          </a:prstGeom>
          <a:noFill/>
          <a:ln w="9525">
            <a:solidFill>
              <a:srgbClr val="00B85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 name="Text Box 42"/>
          <p:cNvSpPr txBox="1">
            <a:spLocks noChangeArrowheads="1"/>
          </p:cNvSpPr>
          <p:nvPr/>
        </p:nvSpPr>
        <p:spPr bwMode="auto">
          <a:xfrm>
            <a:off x="7381056" y="4670573"/>
            <a:ext cx="129540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FF3255"/>
                </a:solidFill>
                <a:latin typeface="Times New Roman" panose="02020603050405020304" pitchFamily="18" charset="0"/>
                <a:ea typeface="楷体_GB2312" pitchFamily="49" charset="-122"/>
              </a:rPr>
              <a:t>LDT</a:t>
            </a:r>
            <a:endParaRPr lang="en-US" altLang="zh-CN" sz="2400" b="0" dirty="0">
              <a:solidFill>
                <a:srgbClr val="FF3255"/>
              </a:solidFill>
              <a:latin typeface="Times New Roman" panose="02020603050405020304" pitchFamily="18" charset="0"/>
            </a:endParaRPr>
          </a:p>
        </p:txBody>
      </p:sp>
      <p:cxnSp>
        <p:nvCxnSpPr>
          <p:cNvPr id="41" name="直接连接符 40"/>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42"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en-US" altLang="zh-CN" sz="3200" b="1" dirty="0">
                <a:solidFill>
                  <a:srgbClr val="00B0F0"/>
                </a:solidFill>
                <a:latin typeface="微软雅黑" pitchFamily="34" charset="-122"/>
                <a:ea typeface="微软雅黑" pitchFamily="34" charset="-122"/>
              </a:rPr>
              <a:t>LDTR</a:t>
            </a:r>
            <a:r>
              <a:rPr lang="zh-CN" altLang="en-US" sz="3200" b="1" dirty="0">
                <a:solidFill>
                  <a:srgbClr val="00C4F0"/>
                </a:solidFill>
                <a:latin typeface="微软雅黑" pitchFamily="34" charset="-122"/>
                <a:ea typeface="微软雅黑" pitchFamily="34" charset="-122"/>
              </a:rPr>
              <a:t>、</a:t>
            </a:r>
            <a:r>
              <a:rPr lang="en-US" altLang="zh-CN" sz="3200" b="1" dirty="0">
                <a:solidFill>
                  <a:srgbClr val="00B0F0"/>
                </a:solidFill>
                <a:latin typeface="微软雅黑" pitchFamily="34" charset="-122"/>
                <a:ea typeface="微软雅黑" pitchFamily="34" charset="-122"/>
              </a:rPr>
              <a:t>LDT</a:t>
            </a:r>
            <a:r>
              <a:rPr lang="zh-CN" altLang="en-US" sz="3200" b="1" dirty="0">
                <a:solidFill>
                  <a:srgbClr val="00B0F0"/>
                </a:solidFill>
                <a:latin typeface="微软雅黑" pitchFamily="34" charset="-122"/>
                <a:ea typeface="微软雅黑" pitchFamily="34" charset="-122"/>
              </a:rPr>
              <a:t>与</a:t>
            </a:r>
            <a:r>
              <a:rPr lang="en-US" altLang="zh-CN" sz="3200" b="1" dirty="0">
                <a:solidFill>
                  <a:srgbClr val="00B0F0"/>
                </a:solidFill>
                <a:latin typeface="微软雅黑" pitchFamily="34" charset="-122"/>
                <a:ea typeface="微软雅黑" pitchFamily="34" charset="-122"/>
              </a:rPr>
              <a:t>GDT</a:t>
            </a:r>
            <a:r>
              <a:rPr lang="zh-CN" altLang="en-US" sz="3200" b="1" dirty="0">
                <a:solidFill>
                  <a:srgbClr val="00B0F0"/>
                </a:solidFill>
                <a:latin typeface="微软雅黑" pitchFamily="34" charset="-122"/>
                <a:ea typeface="微软雅黑" pitchFamily="34" charset="-122"/>
              </a:rPr>
              <a:t>、</a:t>
            </a:r>
            <a:r>
              <a:rPr lang="en-US" altLang="zh-CN" sz="3200" b="1" dirty="0">
                <a:solidFill>
                  <a:srgbClr val="00B0F0"/>
                </a:solidFill>
                <a:latin typeface="微软雅黑" pitchFamily="34" charset="-122"/>
                <a:ea typeface="微软雅黑" pitchFamily="34" charset="-122"/>
              </a:rPr>
              <a:t>GDTR</a:t>
            </a:r>
            <a:r>
              <a:rPr lang="zh-CN" altLang="en-US" sz="3200" b="1" dirty="0">
                <a:solidFill>
                  <a:srgbClr val="00B0F0"/>
                </a:solidFill>
                <a:latin typeface="微软雅黑" pitchFamily="34" charset="-122"/>
                <a:ea typeface="微软雅黑" pitchFamily="34" charset="-122"/>
              </a:rPr>
              <a:t>的关系</a:t>
            </a:r>
            <a:endParaRPr lang="en-US" altLang="zh-CN" sz="3200" b="1" dirty="0">
              <a:solidFill>
                <a:srgbClr val="00B0F0"/>
              </a:solidFill>
              <a:latin typeface="微软雅黑" pitchFamily="34" charset="-122"/>
              <a:ea typeface="微软雅黑" pitchFamily="34" charset="-122"/>
            </a:endParaRPr>
          </a:p>
        </p:txBody>
      </p:sp>
      <p:cxnSp>
        <p:nvCxnSpPr>
          <p:cNvPr id="43" name="直接连接符 4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44" name="Line 39"/>
          <p:cNvSpPr>
            <a:spLocks noChangeShapeType="1"/>
          </p:cNvSpPr>
          <p:nvPr/>
        </p:nvSpPr>
        <p:spPr bwMode="auto">
          <a:xfrm>
            <a:off x="1970855" y="3212976"/>
            <a:ext cx="3663781" cy="0"/>
          </a:xfrm>
          <a:prstGeom prst="line">
            <a:avLst/>
          </a:prstGeom>
          <a:noFill/>
          <a:ln w="9525">
            <a:solidFill>
              <a:srgbClr val="00B8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Text Box 21"/>
          <p:cNvSpPr txBox="1">
            <a:spLocks noChangeArrowheads="1"/>
          </p:cNvSpPr>
          <p:nvPr/>
        </p:nvSpPr>
        <p:spPr bwMode="auto">
          <a:xfrm>
            <a:off x="3353183" y="5600273"/>
            <a:ext cx="997167" cy="276999"/>
          </a:xfrm>
          <a:prstGeom prst="rect">
            <a:avLst/>
          </a:prstGeom>
          <a:solidFill>
            <a:srgbClr val="1D8DE5"/>
          </a:solidFill>
          <a:ln>
            <a:noFill/>
          </a:ln>
          <a:effectLst/>
        </p:spPr>
        <p:txBody>
          <a:bodyPr wrap="square" lIns="0" tIns="0" r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dirty="0">
                <a:solidFill>
                  <a:schemeClr val="bg1"/>
                </a:solidFill>
                <a:latin typeface="Times New Roman" panose="02020603050405020304" pitchFamily="18" charset="0"/>
                <a:ea typeface="楷体_GB2312" pitchFamily="49" charset="-122"/>
              </a:rPr>
              <a:t>20</a:t>
            </a:r>
            <a:r>
              <a:rPr lang="zh-CN" altLang="en-US" sz="1800" dirty="0">
                <a:solidFill>
                  <a:schemeClr val="bg1"/>
                </a:solidFill>
                <a:latin typeface="Times New Roman" panose="02020603050405020304" pitchFamily="18" charset="0"/>
                <a:ea typeface="楷体_GB2312" pitchFamily="49" charset="-122"/>
              </a:rPr>
              <a:t>位界限</a:t>
            </a:r>
            <a:endParaRPr lang="zh-CN" altLang="en-US" b="0" dirty="0">
              <a:solidFill>
                <a:schemeClr val="bg1"/>
              </a:solidFill>
              <a:latin typeface="Times New Roman" panose="02020603050405020304" pitchFamily="18" charset="0"/>
            </a:endParaRPr>
          </a:p>
        </p:txBody>
      </p:sp>
      <p:sp>
        <p:nvSpPr>
          <p:cNvPr id="47" name="Line 37"/>
          <p:cNvSpPr>
            <a:spLocks noChangeShapeType="1"/>
          </p:cNvSpPr>
          <p:nvPr/>
        </p:nvSpPr>
        <p:spPr bwMode="auto">
          <a:xfrm>
            <a:off x="2301825" y="1628800"/>
            <a:ext cx="3325043" cy="0"/>
          </a:xfrm>
          <a:prstGeom prst="line">
            <a:avLst/>
          </a:prstGeom>
          <a:noFill/>
          <a:ln w="9525">
            <a:solidFill>
              <a:srgbClr val="00B85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7" name="Text Box 16"/>
          <p:cNvSpPr txBox="1">
            <a:spLocks noChangeArrowheads="1"/>
          </p:cNvSpPr>
          <p:nvPr/>
        </p:nvSpPr>
        <p:spPr bwMode="auto">
          <a:xfrm>
            <a:off x="-182488" y="1911276"/>
            <a:ext cx="129540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FF3255"/>
                </a:solidFill>
                <a:latin typeface="Times New Roman" panose="02020603050405020304" pitchFamily="18" charset="0"/>
                <a:ea typeface="楷体_GB2312" pitchFamily="49" charset="-122"/>
              </a:rPr>
              <a:t>GDTR</a:t>
            </a:r>
            <a:endParaRPr lang="en-US" altLang="zh-CN" sz="2400" b="0" dirty="0">
              <a:solidFill>
                <a:srgbClr val="FF3255"/>
              </a:solidFill>
              <a:latin typeface="Times New Roman" panose="02020603050405020304" pitchFamily="18" charset="0"/>
            </a:endParaRPr>
          </a:p>
        </p:txBody>
      </p:sp>
      <p:sp>
        <p:nvSpPr>
          <p:cNvPr id="14" name="矩形 13"/>
          <p:cNvSpPr/>
          <p:nvPr/>
        </p:nvSpPr>
        <p:spPr>
          <a:xfrm>
            <a:off x="5643363" y="2615150"/>
            <a:ext cx="1659906" cy="369332"/>
          </a:xfrm>
          <a:prstGeom prst="rect">
            <a:avLst/>
          </a:prstGeom>
          <a:solidFill>
            <a:srgbClr val="FD7A2A"/>
          </a:solidFill>
        </p:spPr>
        <p:txBody>
          <a:bodyPr wrap="square">
            <a:spAutoFit/>
          </a:bodyPr>
          <a:lstStyle/>
          <a:p>
            <a:pPr algn="ctr">
              <a:spcBef>
                <a:spcPct val="30000"/>
              </a:spcBef>
            </a:pPr>
            <a:r>
              <a:rPr lang="en-US" altLang="zh-CN" dirty="0">
                <a:solidFill>
                  <a:schemeClr val="bg1"/>
                </a:solidFill>
                <a:latin typeface="Times New Roman" panose="02020603050405020304" pitchFamily="18" charset="0"/>
                <a:ea typeface="楷体_GB2312" pitchFamily="49" charset="-122"/>
              </a:rPr>
              <a:t>LDT</a:t>
            </a:r>
            <a:r>
              <a:rPr lang="zh-CN" altLang="en-US" dirty="0">
                <a:solidFill>
                  <a:schemeClr val="bg1"/>
                </a:solidFill>
                <a:latin typeface="Times New Roman" panose="02020603050405020304" pitchFamily="18" charset="0"/>
                <a:ea typeface="楷体_GB2312" pitchFamily="49" charset="-122"/>
              </a:rPr>
              <a:t>段描述符</a:t>
            </a:r>
          </a:p>
        </p:txBody>
      </p:sp>
      <p:sp>
        <p:nvSpPr>
          <p:cNvPr id="58" name="AutoShape 15"/>
          <p:cNvSpPr>
            <a:spLocks/>
          </p:cNvSpPr>
          <p:nvPr/>
        </p:nvSpPr>
        <p:spPr bwMode="auto">
          <a:xfrm>
            <a:off x="7333838" y="4220919"/>
            <a:ext cx="190912" cy="1248922"/>
          </a:xfrm>
          <a:prstGeom prst="rightBrace">
            <a:avLst>
              <a:gd name="adj1" fmla="val 88421"/>
              <a:gd name="adj2" fmla="val 50000"/>
            </a:avLst>
          </a:prstGeom>
          <a:noFill/>
          <a:ln w="9525">
            <a:solidFill>
              <a:srgbClr val="00B85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0" name="Line 25"/>
          <p:cNvSpPr>
            <a:spLocks noChangeShapeType="1"/>
          </p:cNvSpPr>
          <p:nvPr/>
        </p:nvSpPr>
        <p:spPr bwMode="auto">
          <a:xfrm>
            <a:off x="2301825" y="1628799"/>
            <a:ext cx="0" cy="284373"/>
          </a:xfrm>
          <a:prstGeom prst="line">
            <a:avLst/>
          </a:prstGeom>
          <a:noFill/>
          <a:ln w="9525">
            <a:solidFill>
              <a:srgbClr val="00B8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1" name="Text Box 19"/>
          <p:cNvSpPr txBox="1">
            <a:spLocks noChangeArrowheads="1"/>
          </p:cNvSpPr>
          <p:nvPr/>
        </p:nvSpPr>
        <p:spPr bwMode="auto">
          <a:xfrm>
            <a:off x="952215" y="1929956"/>
            <a:ext cx="2210380" cy="347676"/>
          </a:xfrm>
          <a:prstGeom prst="rect">
            <a:avLst/>
          </a:prstGeom>
          <a:solidFill>
            <a:srgbClr val="FD7A2A"/>
          </a:solidFill>
          <a:ln w="9525">
            <a:noFill/>
            <a:miter lim="800000"/>
            <a:headEnd/>
            <a:tailEnd/>
          </a:ln>
          <a:effectLst/>
        </p:spPr>
        <p:txBody>
          <a:bodyPr wrap="square" t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1800">
              <a:solidFill>
                <a:schemeClr val="bg1"/>
              </a:solidFill>
              <a:latin typeface="Times New Roman" panose="02020603050405020304" pitchFamily="18" charset="0"/>
            </a:endParaRPr>
          </a:p>
        </p:txBody>
      </p:sp>
      <p:sp>
        <p:nvSpPr>
          <p:cNvPr id="62" name="Text Box 20"/>
          <p:cNvSpPr txBox="1">
            <a:spLocks noChangeArrowheads="1"/>
          </p:cNvSpPr>
          <p:nvPr/>
        </p:nvSpPr>
        <p:spPr bwMode="auto">
          <a:xfrm>
            <a:off x="3121697" y="1929956"/>
            <a:ext cx="1105773" cy="347676"/>
          </a:xfrm>
          <a:prstGeom prst="rect">
            <a:avLst/>
          </a:prstGeom>
          <a:solidFill>
            <a:srgbClr val="1D8DE5"/>
          </a:solidFill>
          <a:ln w="9525">
            <a:noFill/>
            <a:miter lim="800000"/>
            <a:headEnd/>
            <a:tailEnd/>
          </a:ln>
          <a:effectLst/>
        </p:spPr>
        <p:txBody>
          <a:bodyPr wrap="square" t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1800" dirty="0">
              <a:solidFill>
                <a:schemeClr val="bg1"/>
              </a:solidFill>
              <a:latin typeface="Times New Roman" panose="02020603050405020304" pitchFamily="18" charset="0"/>
            </a:endParaRPr>
          </a:p>
        </p:txBody>
      </p:sp>
      <p:sp>
        <p:nvSpPr>
          <p:cNvPr id="63" name="Text Box 22"/>
          <p:cNvSpPr txBox="1">
            <a:spLocks noChangeArrowheads="1"/>
          </p:cNvSpPr>
          <p:nvPr/>
        </p:nvSpPr>
        <p:spPr bwMode="auto">
          <a:xfrm>
            <a:off x="1191739" y="1972832"/>
            <a:ext cx="2037090"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lang="en-US" altLang="zh-CN" sz="1800" dirty="0">
                <a:solidFill>
                  <a:schemeClr val="bg1"/>
                </a:solidFill>
                <a:latin typeface="Times New Roman" panose="02020603050405020304" pitchFamily="18" charset="0"/>
                <a:ea typeface="楷体_GB2312" pitchFamily="49" charset="-122"/>
              </a:rPr>
              <a:t>32</a:t>
            </a:r>
            <a:r>
              <a:rPr lang="zh-CN" altLang="en-US" sz="1800" dirty="0">
                <a:solidFill>
                  <a:schemeClr val="bg1"/>
                </a:solidFill>
                <a:latin typeface="Times New Roman" panose="02020603050405020304" pitchFamily="18" charset="0"/>
                <a:ea typeface="楷体_GB2312" pitchFamily="49" charset="-122"/>
              </a:rPr>
              <a:t>位线性基地址</a:t>
            </a:r>
          </a:p>
        </p:txBody>
      </p:sp>
      <p:sp>
        <p:nvSpPr>
          <p:cNvPr id="64" name="Text Box 21"/>
          <p:cNvSpPr txBox="1">
            <a:spLocks noChangeArrowheads="1"/>
          </p:cNvSpPr>
          <p:nvPr/>
        </p:nvSpPr>
        <p:spPr bwMode="auto">
          <a:xfrm>
            <a:off x="3230303" y="1961131"/>
            <a:ext cx="997167" cy="276999"/>
          </a:xfrm>
          <a:prstGeom prst="rect">
            <a:avLst/>
          </a:prstGeom>
          <a:solidFill>
            <a:srgbClr val="1D8DE5"/>
          </a:solidFill>
          <a:ln>
            <a:noFill/>
          </a:ln>
          <a:effectLst/>
        </p:spPr>
        <p:txBody>
          <a:bodyPr wrap="square" lIns="0" tIns="0" r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dirty="0">
                <a:solidFill>
                  <a:schemeClr val="bg1"/>
                </a:solidFill>
                <a:latin typeface="Times New Roman" panose="02020603050405020304" pitchFamily="18" charset="0"/>
                <a:ea typeface="楷体_GB2312" pitchFamily="49" charset="-122"/>
              </a:rPr>
              <a:t>16</a:t>
            </a:r>
            <a:r>
              <a:rPr lang="zh-CN" altLang="en-US" sz="1800" dirty="0">
                <a:solidFill>
                  <a:schemeClr val="bg1"/>
                </a:solidFill>
                <a:latin typeface="Times New Roman" panose="02020603050405020304" pitchFamily="18" charset="0"/>
                <a:ea typeface="楷体_GB2312" pitchFamily="49" charset="-122"/>
              </a:rPr>
              <a:t>位界限</a:t>
            </a:r>
            <a:endParaRPr lang="zh-CN" altLang="en-US" b="0" dirty="0">
              <a:solidFill>
                <a:schemeClr val="bg1"/>
              </a:solidFill>
              <a:latin typeface="Times New Roman" panose="02020603050405020304" pitchFamily="18" charset="0"/>
            </a:endParaRPr>
          </a:p>
        </p:txBody>
      </p:sp>
      <p:sp>
        <p:nvSpPr>
          <p:cNvPr id="65" name="Text Box 16"/>
          <p:cNvSpPr txBox="1">
            <a:spLocks noChangeArrowheads="1"/>
          </p:cNvSpPr>
          <p:nvPr/>
        </p:nvSpPr>
        <p:spPr bwMode="auto">
          <a:xfrm>
            <a:off x="1616224" y="2613173"/>
            <a:ext cx="129540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FF3255"/>
                </a:solidFill>
                <a:latin typeface="Times New Roman" panose="02020603050405020304" pitchFamily="18" charset="0"/>
                <a:ea typeface="楷体_GB2312" pitchFamily="49" charset="-122"/>
              </a:rPr>
              <a:t>LDTR</a:t>
            </a:r>
            <a:endParaRPr lang="en-US" altLang="zh-CN" sz="2400" b="0" dirty="0">
              <a:solidFill>
                <a:srgbClr val="FF3255"/>
              </a:solidFill>
              <a:latin typeface="Times New Roman" panose="02020603050405020304" pitchFamily="18" charset="0"/>
            </a:endParaRPr>
          </a:p>
        </p:txBody>
      </p:sp>
      <p:sp>
        <p:nvSpPr>
          <p:cNvPr id="66" name="Text Box 20"/>
          <p:cNvSpPr txBox="1">
            <a:spLocks noChangeArrowheads="1"/>
          </p:cNvSpPr>
          <p:nvPr/>
        </p:nvSpPr>
        <p:spPr bwMode="auto">
          <a:xfrm>
            <a:off x="2911625" y="2636912"/>
            <a:ext cx="1192038" cy="400099"/>
          </a:xfrm>
          <a:prstGeom prst="rect">
            <a:avLst/>
          </a:prstGeom>
          <a:solidFill>
            <a:srgbClr val="00B853"/>
          </a:solidFill>
          <a:ln w="9525">
            <a:noFill/>
            <a:miter lim="800000"/>
            <a:headEnd/>
            <a:tailEnd/>
          </a:ln>
          <a:effectLst/>
        </p:spPr>
        <p:txBody>
          <a:bodyPr wrap="square" t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1800" dirty="0">
              <a:solidFill>
                <a:schemeClr val="bg1"/>
              </a:solidFill>
              <a:latin typeface="Times New Roman" panose="02020603050405020304" pitchFamily="18" charset="0"/>
            </a:endParaRPr>
          </a:p>
        </p:txBody>
      </p:sp>
      <p:sp>
        <p:nvSpPr>
          <p:cNvPr id="67" name="Text Box 21"/>
          <p:cNvSpPr txBox="1">
            <a:spLocks noChangeArrowheads="1"/>
          </p:cNvSpPr>
          <p:nvPr/>
        </p:nvSpPr>
        <p:spPr bwMode="auto">
          <a:xfrm>
            <a:off x="2940698" y="2699368"/>
            <a:ext cx="1150912" cy="276999"/>
          </a:xfrm>
          <a:prstGeom prst="rect">
            <a:avLst/>
          </a:prstGeom>
          <a:solidFill>
            <a:srgbClr val="00B853"/>
          </a:solidFill>
          <a:ln>
            <a:noFill/>
          </a:ln>
          <a:effectLst/>
        </p:spPr>
        <p:txBody>
          <a:bodyPr wrap="square" lIns="0" tIns="0" r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dirty="0">
                <a:solidFill>
                  <a:schemeClr val="bg1"/>
                </a:solidFill>
                <a:latin typeface="Times New Roman" panose="02020603050405020304" pitchFamily="18" charset="0"/>
                <a:ea typeface="楷体_GB2312" pitchFamily="49" charset="-122"/>
              </a:rPr>
              <a:t>16</a:t>
            </a:r>
            <a:r>
              <a:rPr lang="zh-CN" altLang="en-US" sz="1800" dirty="0">
                <a:solidFill>
                  <a:schemeClr val="bg1"/>
                </a:solidFill>
                <a:latin typeface="Times New Roman" panose="02020603050405020304" pitchFamily="18" charset="0"/>
                <a:ea typeface="楷体_GB2312" pitchFamily="49" charset="-122"/>
              </a:rPr>
              <a:t>位选择子</a:t>
            </a:r>
            <a:endParaRPr lang="zh-CN" altLang="en-US" b="0" dirty="0">
              <a:solidFill>
                <a:schemeClr val="bg1"/>
              </a:solidFill>
              <a:latin typeface="Times New Roman" panose="02020603050405020304" pitchFamily="18" charset="0"/>
            </a:endParaRPr>
          </a:p>
        </p:txBody>
      </p:sp>
      <p:sp>
        <p:nvSpPr>
          <p:cNvPr id="68" name="Text Box 20"/>
          <p:cNvSpPr txBox="1">
            <a:spLocks noChangeArrowheads="1"/>
          </p:cNvSpPr>
          <p:nvPr/>
        </p:nvSpPr>
        <p:spPr bwMode="auto">
          <a:xfrm>
            <a:off x="4330323" y="5569098"/>
            <a:ext cx="1105773" cy="347676"/>
          </a:xfrm>
          <a:prstGeom prst="rect">
            <a:avLst/>
          </a:prstGeom>
          <a:solidFill>
            <a:srgbClr val="1D8DE5"/>
          </a:solidFill>
          <a:ln w="9525">
            <a:noFill/>
            <a:miter lim="800000"/>
            <a:headEnd/>
            <a:tailEnd/>
          </a:ln>
          <a:effectLst/>
        </p:spPr>
        <p:txBody>
          <a:bodyPr wrap="square" t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1800" dirty="0">
              <a:solidFill>
                <a:schemeClr val="bg1"/>
              </a:solidFill>
              <a:latin typeface="Times New Roman" panose="02020603050405020304" pitchFamily="18" charset="0"/>
            </a:endParaRPr>
          </a:p>
        </p:txBody>
      </p:sp>
      <p:sp>
        <p:nvSpPr>
          <p:cNvPr id="69" name="Text Box 21"/>
          <p:cNvSpPr txBox="1">
            <a:spLocks noChangeArrowheads="1"/>
          </p:cNvSpPr>
          <p:nvPr/>
        </p:nvSpPr>
        <p:spPr bwMode="auto">
          <a:xfrm>
            <a:off x="4438929" y="5600273"/>
            <a:ext cx="997167" cy="276999"/>
          </a:xfrm>
          <a:prstGeom prst="rect">
            <a:avLst/>
          </a:prstGeom>
          <a:solidFill>
            <a:srgbClr val="1D8DE5"/>
          </a:solidFill>
          <a:ln>
            <a:noFill/>
          </a:ln>
          <a:effectLst/>
        </p:spPr>
        <p:txBody>
          <a:bodyPr wrap="square" lIns="0" tIns="0" r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dirty="0">
                <a:solidFill>
                  <a:schemeClr val="bg1"/>
                </a:solidFill>
                <a:latin typeface="Times New Roman" panose="02020603050405020304" pitchFamily="18" charset="0"/>
                <a:ea typeface="楷体_GB2312" pitchFamily="49" charset="-122"/>
              </a:rPr>
              <a:t>12</a:t>
            </a:r>
            <a:r>
              <a:rPr lang="zh-CN" altLang="en-US" sz="1800" dirty="0">
                <a:solidFill>
                  <a:schemeClr val="bg1"/>
                </a:solidFill>
                <a:latin typeface="Times New Roman" panose="02020603050405020304" pitchFamily="18" charset="0"/>
                <a:ea typeface="楷体_GB2312" pitchFamily="49" charset="-122"/>
              </a:rPr>
              <a:t>位属性</a:t>
            </a:r>
            <a:endParaRPr lang="zh-CN" altLang="en-US" b="0" dirty="0">
              <a:solidFill>
                <a:schemeClr val="bg1"/>
              </a:solidFill>
              <a:latin typeface="Times New Roman" panose="02020603050405020304" pitchFamily="18" charset="0"/>
            </a:endParaRPr>
          </a:p>
        </p:txBody>
      </p:sp>
    </p:spTree>
    <p:extLst>
      <p:ext uri="{BB962C8B-B14F-4D97-AF65-F5344CB8AC3E}">
        <p14:creationId xmlns:p14="http://schemas.microsoft.com/office/powerpoint/2010/main" val="130921281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逻辑地址转换为线性地址</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grpSp>
        <p:nvGrpSpPr>
          <p:cNvPr id="5" name="Group 4"/>
          <p:cNvGrpSpPr>
            <a:grpSpLocks/>
          </p:cNvGrpSpPr>
          <p:nvPr/>
        </p:nvGrpSpPr>
        <p:grpSpPr bwMode="auto">
          <a:xfrm>
            <a:off x="260350" y="2716560"/>
            <a:ext cx="6934200" cy="1143000"/>
            <a:chOff x="96" y="1344"/>
            <a:chExt cx="4368" cy="720"/>
          </a:xfrm>
        </p:grpSpPr>
        <p:sp>
          <p:nvSpPr>
            <p:cNvPr id="6" name="Line 5"/>
            <p:cNvSpPr>
              <a:spLocks noChangeShapeType="1"/>
            </p:cNvSpPr>
            <p:nvPr/>
          </p:nvSpPr>
          <p:spPr bwMode="auto">
            <a:xfrm>
              <a:off x="1104" y="1481"/>
              <a:ext cx="336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 name="Line 6"/>
            <p:cNvSpPr>
              <a:spLocks noChangeShapeType="1"/>
            </p:cNvSpPr>
            <p:nvPr/>
          </p:nvSpPr>
          <p:spPr bwMode="auto">
            <a:xfrm>
              <a:off x="1776" y="1577"/>
              <a:ext cx="268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8" name="Group 7"/>
            <p:cNvGrpSpPr>
              <a:grpSpLocks/>
            </p:cNvGrpSpPr>
            <p:nvPr/>
          </p:nvGrpSpPr>
          <p:grpSpPr bwMode="auto">
            <a:xfrm>
              <a:off x="96" y="1808"/>
              <a:ext cx="3120" cy="256"/>
              <a:chOff x="384" y="1623"/>
              <a:chExt cx="3120" cy="256"/>
            </a:xfrm>
          </p:grpSpPr>
          <p:sp>
            <p:nvSpPr>
              <p:cNvPr id="11" name="Text Box 8"/>
              <p:cNvSpPr txBox="1">
                <a:spLocks noChangeArrowheads="1"/>
              </p:cNvSpPr>
              <p:nvPr/>
            </p:nvSpPr>
            <p:spPr bwMode="auto">
              <a:xfrm>
                <a:off x="384" y="1623"/>
                <a:ext cx="1200" cy="256"/>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solidFill>
                      <a:schemeClr val="tx1">
                        <a:lumMod val="75000"/>
                        <a:lumOff val="25000"/>
                      </a:schemeClr>
                    </a:solidFill>
                    <a:latin typeface="Times New Roman" panose="02020603050405020304" pitchFamily="18" charset="0"/>
                    <a:ea typeface="楷体_GB2312" pitchFamily="49" charset="-122"/>
                  </a:rPr>
                  <a:t>32</a:t>
                </a:r>
                <a:r>
                  <a:rPr lang="zh-CN" altLang="en-US">
                    <a:solidFill>
                      <a:schemeClr val="tx1">
                        <a:lumMod val="75000"/>
                        <a:lumOff val="25000"/>
                      </a:schemeClr>
                    </a:solidFill>
                    <a:latin typeface="Times New Roman" panose="02020603050405020304" pitchFamily="18" charset="0"/>
                    <a:ea typeface="楷体_GB2312" pitchFamily="49" charset="-122"/>
                  </a:rPr>
                  <a:t>位段基地址</a:t>
                </a:r>
                <a:endParaRPr lang="zh-CN" altLang="en-US" sz="2400">
                  <a:solidFill>
                    <a:schemeClr val="tx1">
                      <a:lumMod val="75000"/>
                      <a:lumOff val="25000"/>
                    </a:schemeClr>
                  </a:solidFill>
                  <a:latin typeface="Times New Roman" panose="02020603050405020304" pitchFamily="18" charset="0"/>
                </a:endParaRPr>
              </a:p>
            </p:txBody>
          </p:sp>
          <p:sp>
            <p:nvSpPr>
              <p:cNvPr id="12" name="Text Box 9"/>
              <p:cNvSpPr txBox="1">
                <a:spLocks noChangeArrowheads="1"/>
              </p:cNvSpPr>
              <p:nvPr/>
            </p:nvSpPr>
            <p:spPr bwMode="auto">
              <a:xfrm>
                <a:off x="1584" y="1623"/>
                <a:ext cx="1200" cy="256"/>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dirty="0">
                    <a:solidFill>
                      <a:schemeClr val="tx1">
                        <a:lumMod val="75000"/>
                        <a:lumOff val="25000"/>
                      </a:schemeClr>
                    </a:solidFill>
                    <a:latin typeface="Times New Roman" panose="02020603050405020304" pitchFamily="18" charset="0"/>
                    <a:ea typeface="楷体_GB2312" pitchFamily="49" charset="-122"/>
                  </a:rPr>
                  <a:t>20</a:t>
                </a:r>
                <a:r>
                  <a:rPr lang="zh-CN" altLang="en-US" dirty="0">
                    <a:solidFill>
                      <a:schemeClr val="tx1">
                        <a:lumMod val="75000"/>
                        <a:lumOff val="25000"/>
                      </a:schemeClr>
                    </a:solidFill>
                    <a:latin typeface="Times New Roman" panose="02020603050405020304" pitchFamily="18" charset="0"/>
                    <a:ea typeface="楷体_GB2312" pitchFamily="49" charset="-122"/>
                  </a:rPr>
                  <a:t>位段界限</a:t>
                </a:r>
                <a:endParaRPr lang="zh-CN" altLang="en-US" sz="2400" dirty="0">
                  <a:solidFill>
                    <a:schemeClr val="tx1">
                      <a:lumMod val="75000"/>
                      <a:lumOff val="25000"/>
                    </a:schemeClr>
                  </a:solidFill>
                  <a:latin typeface="Times New Roman" panose="02020603050405020304" pitchFamily="18" charset="0"/>
                </a:endParaRPr>
              </a:p>
            </p:txBody>
          </p:sp>
          <p:sp>
            <p:nvSpPr>
              <p:cNvPr id="13" name="Text Box 10"/>
              <p:cNvSpPr txBox="1">
                <a:spLocks noChangeArrowheads="1"/>
              </p:cNvSpPr>
              <p:nvPr/>
            </p:nvSpPr>
            <p:spPr bwMode="auto">
              <a:xfrm>
                <a:off x="2784" y="1623"/>
                <a:ext cx="720" cy="256"/>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a:solidFill>
                      <a:schemeClr val="tx1">
                        <a:lumMod val="75000"/>
                        <a:lumOff val="25000"/>
                      </a:schemeClr>
                    </a:solidFill>
                    <a:latin typeface="Times New Roman" panose="02020603050405020304" pitchFamily="18" charset="0"/>
                    <a:ea typeface="楷体_GB2312" pitchFamily="49" charset="-122"/>
                  </a:rPr>
                  <a:t>段属性</a:t>
                </a:r>
                <a:endParaRPr lang="zh-CN" altLang="en-US" sz="2400">
                  <a:solidFill>
                    <a:schemeClr val="tx1">
                      <a:lumMod val="75000"/>
                      <a:lumOff val="25000"/>
                    </a:schemeClr>
                  </a:solidFill>
                  <a:latin typeface="Times New Roman" panose="02020603050405020304" pitchFamily="18" charset="0"/>
                </a:endParaRPr>
              </a:p>
            </p:txBody>
          </p:sp>
        </p:grpSp>
        <p:sp>
          <p:nvSpPr>
            <p:cNvPr id="9" name="Line 11"/>
            <p:cNvSpPr>
              <a:spLocks noChangeShapeType="1"/>
            </p:cNvSpPr>
            <p:nvPr/>
          </p:nvSpPr>
          <p:spPr bwMode="auto">
            <a:xfrm>
              <a:off x="1104" y="1344"/>
              <a:ext cx="0" cy="14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 name="Line 12"/>
            <p:cNvSpPr>
              <a:spLocks noChangeShapeType="1"/>
            </p:cNvSpPr>
            <p:nvPr/>
          </p:nvSpPr>
          <p:spPr bwMode="auto">
            <a:xfrm>
              <a:off x="1776" y="1584"/>
              <a:ext cx="0" cy="24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4" name="Group 13"/>
          <p:cNvGrpSpPr>
            <a:grpSpLocks/>
          </p:cNvGrpSpPr>
          <p:nvPr/>
        </p:nvGrpSpPr>
        <p:grpSpPr bwMode="auto">
          <a:xfrm>
            <a:off x="946150" y="2675285"/>
            <a:ext cx="5334000" cy="2555875"/>
            <a:chOff x="528" y="1318"/>
            <a:chExt cx="3360" cy="1610"/>
          </a:xfrm>
        </p:grpSpPr>
        <p:sp>
          <p:nvSpPr>
            <p:cNvPr id="15" name="Text Box 14"/>
            <p:cNvSpPr txBox="1">
              <a:spLocks noChangeArrowheads="1"/>
            </p:cNvSpPr>
            <p:nvPr/>
          </p:nvSpPr>
          <p:spPr bwMode="auto">
            <a:xfrm>
              <a:off x="1776" y="2352"/>
              <a:ext cx="6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400">
                  <a:latin typeface="Times New Roman" panose="02020603050405020304" pitchFamily="18" charset="0"/>
                </a:rPr>
                <a:t>+</a:t>
              </a:r>
              <a:endParaRPr lang="en-US" altLang="zh-CN" sz="2400" b="0">
                <a:latin typeface="Times New Roman" panose="02020603050405020304" pitchFamily="18" charset="0"/>
              </a:endParaRPr>
            </a:p>
          </p:txBody>
        </p:sp>
        <p:sp>
          <p:nvSpPr>
            <p:cNvPr id="16" name="Text Box 15"/>
            <p:cNvSpPr txBox="1">
              <a:spLocks noChangeArrowheads="1"/>
            </p:cNvSpPr>
            <p:nvPr/>
          </p:nvSpPr>
          <p:spPr bwMode="auto">
            <a:xfrm>
              <a:off x="528" y="2634"/>
              <a:ext cx="3360" cy="294"/>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400" dirty="0">
                  <a:solidFill>
                    <a:schemeClr val="tx1">
                      <a:lumMod val="75000"/>
                      <a:lumOff val="25000"/>
                    </a:schemeClr>
                  </a:solidFill>
                  <a:latin typeface="Times New Roman" panose="02020603050405020304" pitchFamily="18" charset="0"/>
                </a:rPr>
                <a:t>32  </a:t>
              </a:r>
              <a:r>
                <a:rPr lang="zh-CN" altLang="en-US" sz="2400" dirty="0">
                  <a:solidFill>
                    <a:schemeClr val="tx1">
                      <a:lumMod val="75000"/>
                      <a:lumOff val="25000"/>
                    </a:schemeClr>
                  </a:solidFill>
                  <a:latin typeface="楷体_GB2312" pitchFamily="49" charset="-122"/>
                  <a:ea typeface="楷体_GB2312" pitchFamily="49" charset="-122"/>
                </a:rPr>
                <a:t>位  线  性  地  址</a:t>
              </a:r>
              <a:endParaRPr lang="zh-CN" altLang="en-US" sz="2400" b="0" dirty="0">
                <a:solidFill>
                  <a:schemeClr val="tx1">
                    <a:lumMod val="75000"/>
                    <a:lumOff val="25000"/>
                  </a:schemeClr>
                </a:solidFill>
                <a:latin typeface="Times New Roman" panose="02020603050405020304" pitchFamily="18" charset="0"/>
              </a:endParaRPr>
            </a:p>
          </p:txBody>
        </p:sp>
        <p:sp>
          <p:nvSpPr>
            <p:cNvPr id="17" name="AutoShape 16"/>
            <p:cNvSpPr>
              <a:spLocks noChangeArrowheads="1"/>
            </p:cNvSpPr>
            <p:nvPr/>
          </p:nvSpPr>
          <p:spPr bwMode="auto">
            <a:xfrm>
              <a:off x="624" y="2064"/>
              <a:ext cx="192" cy="569"/>
            </a:xfrm>
            <a:prstGeom prst="downArrow">
              <a:avLst>
                <a:gd name="adj1" fmla="val 50000"/>
                <a:gd name="adj2" fmla="val 74089"/>
              </a:avLst>
            </a:prstGeom>
            <a:solidFill>
              <a:srgbClr val="0000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8" name="AutoShape 17"/>
            <p:cNvSpPr>
              <a:spLocks noChangeArrowheads="1"/>
            </p:cNvSpPr>
            <p:nvPr/>
          </p:nvSpPr>
          <p:spPr bwMode="auto">
            <a:xfrm>
              <a:off x="3408" y="1318"/>
              <a:ext cx="192" cy="1315"/>
            </a:xfrm>
            <a:prstGeom prst="downArrow">
              <a:avLst>
                <a:gd name="adj1" fmla="val 58333"/>
                <a:gd name="adj2" fmla="val 79080"/>
              </a:avLst>
            </a:prstGeom>
            <a:solidFill>
              <a:srgbClr val="0000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9" name="Text Box 20"/>
          <p:cNvSpPr txBox="1">
            <a:spLocks noChangeArrowheads="1"/>
          </p:cNvSpPr>
          <p:nvPr/>
        </p:nvSpPr>
        <p:spPr bwMode="auto">
          <a:xfrm>
            <a:off x="7194550" y="1268760"/>
            <a:ext cx="1403350" cy="4308475"/>
          </a:xfrm>
          <a:prstGeom prst="rect">
            <a:avLst/>
          </a:prstGeom>
          <a:solidFill>
            <a:srgbClr val="C0C0C0">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30000"/>
              </a:spcBef>
            </a:pPr>
            <a:endParaRPr lang="en-US" altLang="zh-CN" sz="2400" b="0" dirty="0">
              <a:solidFill>
                <a:schemeClr val="tx1">
                  <a:lumMod val="65000"/>
                  <a:lumOff val="35000"/>
                </a:schemeClr>
              </a:solidFill>
              <a:latin typeface="Times New Roman" panose="02020603050405020304" pitchFamily="18" charset="0"/>
            </a:endParaRPr>
          </a:p>
          <a:p>
            <a:pPr algn="ctr" eaLnBrk="1" hangingPunct="1"/>
            <a:r>
              <a:rPr lang="zh-CN" altLang="en-US" dirty="0">
                <a:solidFill>
                  <a:schemeClr val="tx1">
                    <a:lumMod val="65000"/>
                    <a:lumOff val="35000"/>
                  </a:schemeClr>
                </a:solidFill>
                <a:latin typeface="Times New Roman" panose="02020603050405020304" pitchFamily="18" charset="0"/>
                <a:ea typeface="楷体_GB2312" pitchFamily="49" charset="-122"/>
              </a:rPr>
              <a:t>描述符</a:t>
            </a:r>
            <a:r>
              <a:rPr lang="en-US" altLang="zh-CN" dirty="0">
                <a:solidFill>
                  <a:schemeClr val="tx1">
                    <a:lumMod val="65000"/>
                    <a:lumOff val="35000"/>
                  </a:schemeClr>
                </a:solidFill>
                <a:latin typeface="Times New Roman" panose="02020603050405020304" pitchFamily="18" charset="0"/>
                <a:ea typeface="楷体_GB2312" pitchFamily="49" charset="-122"/>
              </a:rPr>
              <a:t>0</a:t>
            </a:r>
          </a:p>
          <a:p>
            <a:pPr algn="ctr" eaLnBrk="1" hangingPunct="1"/>
            <a:r>
              <a:rPr lang="zh-CN" altLang="en-US" dirty="0">
                <a:solidFill>
                  <a:schemeClr val="tx1">
                    <a:lumMod val="65000"/>
                    <a:lumOff val="35000"/>
                  </a:schemeClr>
                </a:solidFill>
                <a:latin typeface="Times New Roman" panose="02020603050405020304" pitchFamily="18" charset="0"/>
                <a:ea typeface="楷体_GB2312" pitchFamily="49" charset="-122"/>
              </a:rPr>
              <a:t>描述符</a:t>
            </a:r>
            <a:r>
              <a:rPr lang="en-US" altLang="zh-CN" dirty="0">
                <a:solidFill>
                  <a:schemeClr val="tx1">
                    <a:lumMod val="65000"/>
                    <a:lumOff val="35000"/>
                  </a:schemeClr>
                </a:solidFill>
                <a:latin typeface="Times New Roman" panose="02020603050405020304" pitchFamily="18" charset="0"/>
                <a:ea typeface="楷体_GB2312" pitchFamily="49" charset="-122"/>
              </a:rPr>
              <a:t>1</a:t>
            </a:r>
          </a:p>
          <a:p>
            <a:pPr algn="ctr" eaLnBrk="1" hangingPunct="1"/>
            <a:r>
              <a:rPr lang="en-US" altLang="zh-CN" dirty="0">
                <a:solidFill>
                  <a:schemeClr val="tx1">
                    <a:lumMod val="65000"/>
                    <a:lumOff val="35000"/>
                  </a:schemeClr>
                </a:solidFill>
                <a:latin typeface="Times New Roman" panose="02020603050405020304" pitchFamily="18" charset="0"/>
                <a:ea typeface="楷体_GB2312" pitchFamily="49" charset="-122"/>
              </a:rPr>
              <a:t>……</a:t>
            </a:r>
          </a:p>
          <a:p>
            <a:pPr algn="ctr" eaLnBrk="1" hangingPunct="1"/>
            <a:endParaRPr lang="en-US" altLang="zh-CN" dirty="0">
              <a:solidFill>
                <a:schemeClr val="tx1">
                  <a:lumMod val="65000"/>
                  <a:lumOff val="35000"/>
                </a:schemeClr>
              </a:solidFill>
              <a:latin typeface="Times New Roman" panose="02020603050405020304" pitchFamily="18" charset="0"/>
              <a:ea typeface="楷体_GB2312" pitchFamily="49" charset="-122"/>
            </a:endParaRPr>
          </a:p>
          <a:p>
            <a:pPr algn="ctr" eaLnBrk="1" hangingPunct="1"/>
            <a:r>
              <a:rPr lang="zh-CN" altLang="en-US" dirty="0">
                <a:solidFill>
                  <a:srgbClr val="1D8DE5"/>
                </a:solidFill>
                <a:latin typeface="Times New Roman" panose="02020603050405020304" pitchFamily="18" charset="0"/>
                <a:ea typeface="楷体_GB2312" pitchFamily="49" charset="-122"/>
              </a:rPr>
              <a:t>描述符</a:t>
            </a:r>
            <a:r>
              <a:rPr lang="en-US" altLang="zh-CN" dirty="0">
                <a:solidFill>
                  <a:srgbClr val="1D8DE5"/>
                </a:solidFill>
                <a:latin typeface="Times New Roman" panose="02020603050405020304" pitchFamily="18" charset="0"/>
                <a:ea typeface="楷体_GB2312" pitchFamily="49" charset="-122"/>
              </a:rPr>
              <a:t>n</a:t>
            </a:r>
          </a:p>
          <a:p>
            <a:pPr algn="ctr" eaLnBrk="1" hangingPunct="1"/>
            <a:r>
              <a:rPr lang="en-US" altLang="zh-CN" dirty="0">
                <a:solidFill>
                  <a:schemeClr val="tx1">
                    <a:lumMod val="65000"/>
                    <a:lumOff val="35000"/>
                  </a:schemeClr>
                </a:solidFill>
                <a:latin typeface="Times New Roman" panose="02020603050405020304" pitchFamily="18" charset="0"/>
                <a:ea typeface="楷体_GB2312" pitchFamily="49" charset="-122"/>
              </a:rPr>
              <a:t>…...</a:t>
            </a:r>
          </a:p>
          <a:p>
            <a:pPr algn="ctr" eaLnBrk="1" hangingPunct="1"/>
            <a:endParaRPr lang="en-US" altLang="zh-CN" dirty="0">
              <a:solidFill>
                <a:schemeClr val="tx1">
                  <a:lumMod val="65000"/>
                  <a:lumOff val="35000"/>
                </a:schemeClr>
              </a:solidFill>
              <a:latin typeface="Times New Roman" panose="02020603050405020304" pitchFamily="18" charset="0"/>
              <a:ea typeface="楷体_GB2312" pitchFamily="49" charset="-122"/>
            </a:endParaRPr>
          </a:p>
          <a:p>
            <a:pPr algn="ctr" eaLnBrk="1" hangingPunct="1"/>
            <a:r>
              <a:rPr lang="zh-CN" altLang="en-US" dirty="0">
                <a:solidFill>
                  <a:schemeClr val="tx1">
                    <a:lumMod val="65000"/>
                    <a:lumOff val="35000"/>
                  </a:schemeClr>
                </a:solidFill>
                <a:latin typeface="Times New Roman" panose="02020603050405020304" pitchFamily="18" charset="0"/>
                <a:ea typeface="楷体_GB2312" pitchFamily="49" charset="-122"/>
              </a:rPr>
              <a:t>描述符</a:t>
            </a:r>
            <a:r>
              <a:rPr lang="en-US" altLang="zh-CN" dirty="0">
                <a:solidFill>
                  <a:schemeClr val="tx1">
                    <a:lumMod val="65000"/>
                    <a:lumOff val="35000"/>
                  </a:schemeClr>
                </a:solidFill>
                <a:latin typeface="Times New Roman" panose="02020603050405020304" pitchFamily="18" charset="0"/>
                <a:ea typeface="楷体_GB2312" pitchFamily="49" charset="-122"/>
              </a:rPr>
              <a:t>N-2   </a:t>
            </a:r>
          </a:p>
          <a:p>
            <a:pPr algn="ctr" eaLnBrk="1" hangingPunct="1"/>
            <a:r>
              <a:rPr lang="zh-CN" altLang="en-US" dirty="0">
                <a:solidFill>
                  <a:schemeClr val="tx1">
                    <a:lumMod val="65000"/>
                    <a:lumOff val="35000"/>
                  </a:schemeClr>
                </a:solidFill>
                <a:latin typeface="Times New Roman" panose="02020603050405020304" pitchFamily="18" charset="0"/>
                <a:ea typeface="楷体_GB2312" pitchFamily="49" charset="-122"/>
              </a:rPr>
              <a:t>描述符</a:t>
            </a:r>
            <a:r>
              <a:rPr lang="en-US" altLang="zh-CN" dirty="0">
                <a:solidFill>
                  <a:schemeClr val="tx1">
                    <a:lumMod val="65000"/>
                    <a:lumOff val="35000"/>
                  </a:schemeClr>
                </a:solidFill>
                <a:latin typeface="Times New Roman" panose="02020603050405020304" pitchFamily="18" charset="0"/>
                <a:ea typeface="楷体_GB2312" pitchFamily="49" charset="-122"/>
              </a:rPr>
              <a:t>N-1</a:t>
            </a:r>
          </a:p>
          <a:p>
            <a:pPr algn="ctr" eaLnBrk="1" hangingPunct="1"/>
            <a:endParaRPr lang="en-US" altLang="zh-CN" sz="1800" dirty="0">
              <a:solidFill>
                <a:schemeClr val="tx1">
                  <a:lumMod val="65000"/>
                  <a:lumOff val="35000"/>
                </a:schemeClr>
              </a:solidFill>
              <a:latin typeface="Times New Roman" panose="02020603050405020304" pitchFamily="18" charset="0"/>
              <a:ea typeface="楷体_GB2312" pitchFamily="49" charset="-122"/>
            </a:endParaRPr>
          </a:p>
          <a:p>
            <a:pPr algn="ctr" eaLnBrk="1" hangingPunct="1"/>
            <a:r>
              <a:rPr lang="en-US" altLang="zh-CN" sz="1800" b="0" dirty="0">
                <a:solidFill>
                  <a:schemeClr val="tx1">
                    <a:lumMod val="65000"/>
                    <a:lumOff val="35000"/>
                  </a:schemeClr>
                </a:solidFill>
                <a:latin typeface="Times New Roman" panose="02020603050405020304" pitchFamily="18" charset="0"/>
              </a:rPr>
              <a:t>……</a:t>
            </a:r>
          </a:p>
          <a:p>
            <a:pPr algn="ctr" eaLnBrk="1" hangingPunct="1"/>
            <a:endParaRPr lang="en-US" altLang="zh-CN" sz="1800" b="0" dirty="0">
              <a:solidFill>
                <a:schemeClr val="tx1">
                  <a:lumMod val="65000"/>
                  <a:lumOff val="35000"/>
                </a:schemeClr>
              </a:solidFill>
              <a:latin typeface="Times New Roman" panose="02020603050405020304" pitchFamily="18" charset="0"/>
            </a:endParaRPr>
          </a:p>
          <a:p>
            <a:pPr algn="ctr" eaLnBrk="1" hangingPunct="1"/>
            <a:endParaRPr lang="en-US" altLang="zh-CN" sz="1800" b="0" dirty="0">
              <a:solidFill>
                <a:schemeClr val="tx1">
                  <a:lumMod val="65000"/>
                  <a:lumOff val="35000"/>
                </a:schemeClr>
              </a:solidFill>
              <a:latin typeface="Times New Roman" panose="02020603050405020304" pitchFamily="18" charset="0"/>
            </a:endParaRPr>
          </a:p>
        </p:txBody>
      </p:sp>
      <p:sp>
        <p:nvSpPr>
          <p:cNvPr id="20" name="Line 21"/>
          <p:cNvSpPr>
            <a:spLocks noChangeShapeType="1"/>
          </p:cNvSpPr>
          <p:nvPr/>
        </p:nvSpPr>
        <p:spPr bwMode="auto">
          <a:xfrm>
            <a:off x="7194550" y="3173760"/>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65000"/>
                  <a:lumOff val="35000"/>
                </a:schemeClr>
              </a:solidFill>
            </a:endParaRPr>
          </a:p>
        </p:txBody>
      </p:sp>
      <p:sp>
        <p:nvSpPr>
          <p:cNvPr id="21" name="Line 22"/>
          <p:cNvSpPr>
            <a:spLocks noChangeShapeType="1"/>
          </p:cNvSpPr>
          <p:nvPr/>
        </p:nvSpPr>
        <p:spPr bwMode="auto">
          <a:xfrm>
            <a:off x="7194550" y="2868960"/>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65000"/>
                  <a:lumOff val="35000"/>
                </a:schemeClr>
              </a:solidFill>
            </a:endParaRPr>
          </a:p>
        </p:txBody>
      </p:sp>
      <p:sp>
        <p:nvSpPr>
          <p:cNvPr id="22" name="Line 23"/>
          <p:cNvSpPr>
            <a:spLocks noChangeShapeType="1"/>
          </p:cNvSpPr>
          <p:nvPr/>
        </p:nvSpPr>
        <p:spPr bwMode="auto">
          <a:xfrm>
            <a:off x="7194550" y="2564160"/>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65000"/>
                  <a:lumOff val="35000"/>
                </a:schemeClr>
              </a:solidFill>
            </a:endParaRPr>
          </a:p>
        </p:txBody>
      </p:sp>
      <p:sp>
        <p:nvSpPr>
          <p:cNvPr id="23" name="Line 24"/>
          <p:cNvSpPr>
            <a:spLocks noChangeShapeType="1"/>
          </p:cNvSpPr>
          <p:nvPr/>
        </p:nvSpPr>
        <p:spPr bwMode="auto">
          <a:xfrm>
            <a:off x="7194550" y="1954560"/>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65000"/>
                  <a:lumOff val="35000"/>
                </a:schemeClr>
              </a:solidFill>
            </a:endParaRPr>
          </a:p>
        </p:txBody>
      </p:sp>
      <p:sp>
        <p:nvSpPr>
          <p:cNvPr id="24" name="AutoShape 26"/>
          <p:cNvSpPr>
            <a:spLocks/>
          </p:cNvSpPr>
          <p:nvPr/>
        </p:nvSpPr>
        <p:spPr bwMode="auto">
          <a:xfrm>
            <a:off x="8689975" y="1684685"/>
            <a:ext cx="74613" cy="2784475"/>
          </a:xfrm>
          <a:prstGeom prst="rightBrace">
            <a:avLst>
              <a:gd name="adj1" fmla="val 310991"/>
              <a:gd name="adj2" fmla="val 50000"/>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lumMod val="65000"/>
                  <a:lumOff val="35000"/>
                </a:schemeClr>
              </a:solidFill>
            </a:endParaRPr>
          </a:p>
        </p:txBody>
      </p:sp>
      <p:sp>
        <p:nvSpPr>
          <p:cNvPr id="25" name="Text Box 27"/>
          <p:cNvSpPr txBox="1">
            <a:spLocks noChangeArrowheads="1"/>
          </p:cNvSpPr>
          <p:nvPr/>
        </p:nvSpPr>
        <p:spPr bwMode="auto">
          <a:xfrm>
            <a:off x="8701088" y="2106960"/>
            <a:ext cx="398462" cy="161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a:solidFill>
                <a:schemeClr val="tx1">
                  <a:lumMod val="65000"/>
                  <a:lumOff val="35000"/>
                </a:schemeClr>
              </a:solidFill>
              <a:latin typeface="Times New Roman" panose="02020603050405020304" pitchFamily="18" charset="0"/>
              <a:ea typeface="楷体_GB2312" pitchFamily="49" charset="-122"/>
            </a:endParaRPr>
          </a:p>
          <a:p>
            <a:pPr algn="ctr" eaLnBrk="1" hangingPunct="1"/>
            <a:r>
              <a:rPr lang="zh-CN" altLang="en-US">
                <a:solidFill>
                  <a:schemeClr val="tx1">
                    <a:lumMod val="65000"/>
                    <a:lumOff val="35000"/>
                  </a:schemeClr>
                </a:solidFill>
                <a:latin typeface="Times New Roman" panose="02020603050405020304" pitchFamily="18" charset="0"/>
                <a:ea typeface="楷体_GB2312" pitchFamily="49" charset="-122"/>
              </a:rPr>
              <a:t>描</a:t>
            </a:r>
          </a:p>
          <a:p>
            <a:pPr algn="ctr" eaLnBrk="1" hangingPunct="1"/>
            <a:r>
              <a:rPr lang="zh-CN" altLang="en-US">
                <a:solidFill>
                  <a:schemeClr val="tx1">
                    <a:lumMod val="65000"/>
                    <a:lumOff val="35000"/>
                  </a:schemeClr>
                </a:solidFill>
                <a:latin typeface="Times New Roman" panose="02020603050405020304" pitchFamily="18" charset="0"/>
                <a:ea typeface="楷体_GB2312" pitchFamily="49" charset="-122"/>
              </a:rPr>
              <a:t>述</a:t>
            </a:r>
          </a:p>
          <a:p>
            <a:pPr algn="ctr" eaLnBrk="1" hangingPunct="1"/>
            <a:r>
              <a:rPr lang="zh-CN" altLang="en-US">
                <a:solidFill>
                  <a:schemeClr val="tx1">
                    <a:lumMod val="65000"/>
                    <a:lumOff val="35000"/>
                  </a:schemeClr>
                </a:solidFill>
                <a:latin typeface="Times New Roman" panose="02020603050405020304" pitchFamily="18" charset="0"/>
                <a:ea typeface="楷体_GB2312" pitchFamily="49" charset="-122"/>
              </a:rPr>
              <a:t>符</a:t>
            </a:r>
          </a:p>
          <a:p>
            <a:pPr algn="ctr" eaLnBrk="1" hangingPunct="1"/>
            <a:r>
              <a:rPr lang="zh-CN" altLang="en-US">
                <a:solidFill>
                  <a:schemeClr val="tx1">
                    <a:lumMod val="65000"/>
                    <a:lumOff val="35000"/>
                  </a:schemeClr>
                </a:solidFill>
                <a:latin typeface="Times New Roman" panose="02020603050405020304" pitchFamily="18" charset="0"/>
                <a:ea typeface="楷体_GB2312" pitchFamily="49" charset="-122"/>
              </a:rPr>
              <a:t>表</a:t>
            </a:r>
            <a:endParaRPr lang="zh-CN" altLang="en-US" sz="2400" b="0">
              <a:solidFill>
                <a:schemeClr val="tx1">
                  <a:lumMod val="65000"/>
                  <a:lumOff val="35000"/>
                </a:schemeClr>
              </a:solidFill>
              <a:latin typeface="Times New Roman" panose="02020603050405020304" pitchFamily="18" charset="0"/>
            </a:endParaRPr>
          </a:p>
        </p:txBody>
      </p:sp>
      <p:sp>
        <p:nvSpPr>
          <p:cNvPr id="26" name="Line 28"/>
          <p:cNvSpPr>
            <a:spLocks noChangeShapeType="1"/>
          </p:cNvSpPr>
          <p:nvPr/>
        </p:nvSpPr>
        <p:spPr bwMode="auto">
          <a:xfrm>
            <a:off x="7194550" y="3478560"/>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65000"/>
                  <a:lumOff val="35000"/>
                </a:schemeClr>
              </a:solidFill>
            </a:endParaRPr>
          </a:p>
        </p:txBody>
      </p:sp>
      <p:sp>
        <p:nvSpPr>
          <p:cNvPr id="27" name="Line 29"/>
          <p:cNvSpPr>
            <a:spLocks noChangeShapeType="1"/>
          </p:cNvSpPr>
          <p:nvPr/>
        </p:nvSpPr>
        <p:spPr bwMode="auto">
          <a:xfrm>
            <a:off x="7194550" y="1649760"/>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65000"/>
                  <a:lumOff val="35000"/>
                </a:schemeClr>
              </a:solidFill>
            </a:endParaRPr>
          </a:p>
        </p:txBody>
      </p:sp>
      <p:sp>
        <p:nvSpPr>
          <p:cNvPr id="28" name="Line 30"/>
          <p:cNvSpPr>
            <a:spLocks noChangeShapeType="1"/>
          </p:cNvSpPr>
          <p:nvPr/>
        </p:nvSpPr>
        <p:spPr bwMode="auto">
          <a:xfrm>
            <a:off x="7194550" y="2259360"/>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65000"/>
                  <a:lumOff val="35000"/>
                </a:schemeClr>
              </a:solidFill>
            </a:endParaRPr>
          </a:p>
        </p:txBody>
      </p:sp>
      <p:sp>
        <p:nvSpPr>
          <p:cNvPr id="29" name="Line 31"/>
          <p:cNvSpPr>
            <a:spLocks noChangeShapeType="1"/>
          </p:cNvSpPr>
          <p:nvPr/>
        </p:nvSpPr>
        <p:spPr bwMode="auto">
          <a:xfrm>
            <a:off x="7194550" y="3783360"/>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65000"/>
                  <a:lumOff val="35000"/>
                </a:schemeClr>
              </a:solidFill>
            </a:endParaRPr>
          </a:p>
        </p:txBody>
      </p:sp>
      <p:sp>
        <p:nvSpPr>
          <p:cNvPr id="30" name="Line 32"/>
          <p:cNvSpPr>
            <a:spLocks noChangeShapeType="1"/>
          </p:cNvSpPr>
          <p:nvPr/>
        </p:nvSpPr>
        <p:spPr bwMode="auto">
          <a:xfrm>
            <a:off x="7194550" y="4164360"/>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65000"/>
                  <a:lumOff val="35000"/>
                </a:schemeClr>
              </a:solidFill>
            </a:endParaRPr>
          </a:p>
        </p:txBody>
      </p:sp>
      <p:sp>
        <p:nvSpPr>
          <p:cNvPr id="31" name="Line 33"/>
          <p:cNvSpPr>
            <a:spLocks noChangeShapeType="1"/>
          </p:cNvSpPr>
          <p:nvPr/>
        </p:nvSpPr>
        <p:spPr bwMode="auto">
          <a:xfrm>
            <a:off x="7194550" y="5078760"/>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65000"/>
                  <a:lumOff val="35000"/>
                </a:schemeClr>
              </a:solidFill>
            </a:endParaRPr>
          </a:p>
        </p:txBody>
      </p:sp>
      <p:sp>
        <p:nvSpPr>
          <p:cNvPr id="32" name="Line 35"/>
          <p:cNvSpPr>
            <a:spLocks noChangeShapeType="1"/>
          </p:cNvSpPr>
          <p:nvPr/>
        </p:nvSpPr>
        <p:spPr bwMode="auto">
          <a:xfrm>
            <a:off x="7194550" y="4469160"/>
            <a:ext cx="140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65000"/>
                  <a:lumOff val="35000"/>
                </a:schemeClr>
              </a:solidFill>
            </a:endParaRPr>
          </a:p>
        </p:txBody>
      </p:sp>
      <p:grpSp>
        <p:nvGrpSpPr>
          <p:cNvPr id="33" name="Group 36"/>
          <p:cNvGrpSpPr>
            <a:grpSpLocks/>
          </p:cNvGrpSpPr>
          <p:nvPr/>
        </p:nvGrpSpPr>
        <p:grpSpPr bwMode="auto">
          <a:xfrm>
            <a:off x="5899150" y="1405285"/>
            <a:ext cx="1295400" cy="396875"/>
            <a:chOff x="3648" y="518"/>
            <a:chExt cx="816" cy="250"/>
          </a:xfrm>
        </p:grpSpPr>
        <p:sp>
          <p:nvSpPr>
            <p:cNvPr id="34" name="Line 37"/>
            <p:cNvSpPr>
              <a:spLocks noChangeShapeType="1"/>
            </p:cNvSpPr>
            <p:nvPr/>
          </p:nvSpPr>
          <p:spPr bwMode="auto">
            <a:xfrm>
              <a:off x="4272" y="672"/>
              <a:ext cx="192"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5" name="Text Box 38"/>
            <p:cNvSpPr txBox="1">
              <a:spLocks noChangeArrowheads="1"/>
            </p:cNvSpPr>
            <p:nvPr/>
          </p:nvSpPr>
          <p:spPr bwMode="auto">
            <a:xfrm>
              <a:off x="3648" y="518"/>
              <a:ext cx="72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lang="zh-CN" altLang="en-US" dirty="0">
                  <a:solidFill>
                    <a:schemeClr val="tx1">
                      <a:lumMod val="65000"/>
                      <a:lumOff val="35000"/>
                    </a:schemeClr>
                  </a:solidFill>
                  <a:latin typeface="Times New Roman" panose="02020603050405020304" pitchFamily="18" charset="0"/>
                  <a:ea typeface="楷体_GB2312" pitchFamily="49" charset="-122"/>
                </a:rPr>
                <a:t>起始地址</a:t>
              </a:r>
              <a:endParaRPr lang="zh-CN" altLang="en-US" sz="2400" b="0" dirty="0">
                <a:solidFill>
                  <a:schemeClr val="tx1">
                    <a:lumMod val="65000"/>
                    <a:lumOff val="35000"/>
                  </a:schemeClr>
                </a:solidFill>
                <a:latin typeface="Times New Roman" panose="02020603050405020304" pitchFamily="18" charset="0"/>
              </a:endParaRPr>
            </a:p>
          </p:txBody>
        </p:sp>
      </p:grpSp>
      <p:sp>
        <p:nvSpPr>
          <p:cNvPr id="36" name="Rectangle 39"/>
          <p:cNvSpPr>
            <a:spLocks noChangeArrowheads="1"/>
          </p:cNvSpPr>
          <p:nvPr/>
        </p:nvSpPr>
        <p:spPr bwMode="auto">
          <a:xfrm>
            <a:off x="260350" y="1298923"/>
            <a:ext cx="4876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i="1" dirty="0">
                <a:solidFill>
                  <a:srgbClr val="0000FF"/>
                </a:solidFill>
                <a:latin typeface="Times New Roman" panose="02020603050405020304" pitchFamily="18" charset="0"/>
                <a:ea typeface="楷体_GB2312" pitchFamily="49" charset="-122"/>
              </a:rPr>
              <a:t>例   </a:t>
            </a:r>
            <a:r>
              <a:rPr lang="zh-CN" altLang="en-US" sz="2200" dirty="0">
                <a:latin typeface="Times New Roman" panose="02020603050405020304" pitchFamily="18" charset="0"/>
                <a:ea typeface="楷体_GB2312" pitchFamily="49" charset="-122"/>
              </a:rPr>
              <a:t> </a:t>
            </a:r>
            <a:r>
              <a:rPr lang="en-US" altLang="zh-CN" sz="2200" dirty="0">
                <a:solidFill>
                  <a:schemeClr val="tx1">
                    <a:lumMod val="65000"/>
                    <a:lumOff val="35000"/>
                  </a:schemeClr>
                </a:solidFill>
                <a:latin typeface="Times New Roman" panose="02020603050405020304" pitchFamily="18" charset="0"/>
                <a:ea typeface="楷体_GB2312" pitchFamily="49" charset="-122"/>
              </a:rPr>
              <a:t>MOV   AL, </a:t>
            </a:r>
            <a:r>
              <a:rPr lang="en-US" altLang="zh-CN" sz="2200" dirty="0">
                <a:solidFill>
                  <a:srgbClr val="FF0000"/>
                </a:solidFill>
                <a:latin typeface="Times New Roman" panose="02020603050405020304" pitchFamily="18" charset="0"/>
                <a:ea typeface="楷体_GB2312" pitchFamily="49" charset="-122"/>
              </a:rPr>
              <a:t>DS</a:t>
            </a:r>
            <a:r>
              <a:rPr lang="en-US" altLang="zh-CN" sz="2200" dirty="0">
                <a:latin typeface="Times New Roman" panose="02020603050405020304" pitchFamily="18" charset="0"/>
                <a:ea typeface="楷体_GB2312" pitchFamily="49" charset="-122"/>
              </a:rPr>
              <a:t>:[</a:t>
            </a:r>
            <a:r>
              <a:rPr lang="en-US" altLang="zh-CN" sz="2200" dirty="0">
                <a:solidFill>
                  <a:srgbClr val="FF0000"/>
                </a:solidFill>
                <a:latin typeface="Times New Roman" panose="02020603050405020304" pitchFamily="18" charset="0"/>
                <a:ea typeface="楷体_GB2312" pitchFamily="49" charset="-122"/>
              </a:rPr>
              <a:t>EBX</a:t>
            </a:r>
            <a:r>
              <a:rPr lang="en-US" altLang="zh-CN" sz="2200" dirty="0">
                <a:latin typeface="Times New Roman" panose="02020603050405020304" pitchFamily="18" charset="0"/>
                <a:ea typeface="楷体_GB2312" pitchFamily="49" charset="-122"/>
              </a:rPr>
              <a:t>]</a:t>
            </a:r>
            <a:r>
              <a:rPr lang="en-US" altLang="zh-CN" sz="2400" dirty="0">
                <a:latin typeface="Times New Roman" panose="02020603050405020304" pitchFamily="18" charset="0"/>
                <a:ea typeface="楷体_GB2312" pitchFamily="49" charset="-122"/>
              </a:rPr>
              <a:t> </a:t>
            </a:r>
          </a:p>
        </p:txBody>
      </p:sp>
      <p:grpSp>
        <p:nvGrpSpPr>
          <p:cNvPr id="37" name="Group 40"/>
          <p:cNvGrpSpPr>
            <a:grpSpLocks/>
          </p:cNvGrpSpPr>
          <p:nvPr/>
        </p:nvGrpSpPr>
        <p:grpSpPr bwMode="auto">
          <a:xfrm>
            <a:off x="3460750" y="5231160"/>
            <a:ext cx="3733800" cy="233363"/>
            <a:chOff x="2112" y="2928"/>
            <a:chExt cx="2352" cy="192"/>
          </a:xfrm>
        </p:grpSpPr>
        <p:sp>
          <p:nvSpPr>
            <p:cNvPr id="38" name="Line 41"/>
            <p:cNvSpPr>
              <a:spLocks noChangeShapeType="1"/>
            </p:cNvSpPr>
            <p:nvPr/>
          </p:nvSpPr>
          <p:spPr bwMode="auto">
            <a:xfrm>
              <a:off x="2112" y="2928"/>
              <a:ext cx="0" cy="192"/>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9" name="Line 42"/>
            <p:cNvSpPr>
              <a:spLocks noChangeShapeType="1"/>
            </p:cNvSpPr>
            <p:nvPr/>
          </p:nvSpPr>
          <p:spPr bwMode="auto">
            <a:xfrm>
              <a:off x="2112" y="3120"/>
              <a:ext cx="2352"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40" name="Group 43"/>
          <p:cNvGrpSpPr>
            <a:grpSpLocks/>
          </p:cNvGrpSpPr>
          <p:nvPr/>
        </p:nvGrpSpPr>
        <p:grpSpPr bwMode="auto">
          <a:xfrm>
            <a:off x="107950" y="1649760"/>
            <a:ext cx="6324600" cy="1128713"/>
            <a:chOff x="0" y="672"/>
            <a:chExt cx="3984" cy="711"/>
          </a:xfrm>
        </p:grpSpPr>
        <p:sp>
          <p:nvSpPr>
            <p:cNvPr id="41" name="Text Box 44"/>
            <p:cNvSpPr txBox="1">
              <a:spLocks noChangeArrowheads="1"/>
            </p:cNvSpPr>
            <p:nvPr/>
          </p:nvSpPr>
          <p:spPr bwMode="auto">
            <a:xfrm>
              <a:off x="0" y="816"/>
              <a:ext cx="244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dirty="0">
                  <a:solidFill>
                    <a:schemeClr val="tx1">
                      <a:lumMod val="75000"/>
                      <a:lumOff val="25000"/>
                    </a:schemeClr>
                  </a:solidFill>
                  <a:latin typeface="Times New Roman" panose="02020603050405020304" pitchFamily="18" charset="0"/>
                </a:rPr>
                <a:t>15                                                          0</a:t>
              </a:r>
              <a:r>
                <a:rPr lang="en-US" altLang="zh-CN" sz="1600" dirty="0">
                  <a:solidFill>
                    <a:schemeClr val="tx1">
                      <a:lumMod val="75000"/>
                      <a:lumOff val="25000"/>
                    </a:schemeClr>
                  </a:solidFill>
                  <a:latin typeface="Times New Roman" panose="02020603050405020304" pitchFamily="18" charset="0"/>
                </a:rPr>
                <a:t>     </a:t>
              </a:r>
              <a:endParaRPr lang="en-US" altLang="zh-CN" sz="2400" b="0" dirty="0">
                <a:solidFill>
                  <a:schemeClr val="tx1">
                    <a:lumMod val="75000"/>
                    <a:lumOff val="25000"/>
                  </a:schemeClr>
                </a:solidFill>
                <a:latin typeface="Times New Roman" panose="02020603050405020304" pitchFamily="18" charset="0"/>
              </a:endParaRPr>
            </a:p>
          </p:txBody>
        </p:sp>
        <p:grpSp>
          <p:nvGrpSpPr>
            <p:cNvPr id="42" name="Group 45"/>
            <p:cNvGrpSpPr>
              <a:grpSpLocks/>
            </p:cNvGrpSpPr>
            <p:nvPr/>
          </p:nvGrpSpPr>
          <p:grpSpPr bwMode="auto">
            <a:xfrm>
              <a:off x="96" y="1006"/>
              <a:ext cx="2256" cy="377"/>
              <a:chOff x="384" y="821"/>
              <a:chExt cx="2256" cy="377"/>
            </a:xfrm>
          </p:grpSpPr>
          <p:sp>
            <p:nvSpPr>
              <p:cNvPr id="46" name="Rectangle 46"/>
              <p:cNvSpPr>
                <a:spLocks noChangeArrowheads="1"/>
              </p:cNvSpPr>
              <p:nvPr/>
            </p:nvSpPr>
            <p:spPr bwMode="auto">
              <a:xfrm>
                <a:off x="2136" y="831"/>
                <a:ext cx="504" cy="346"/>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7" name="Line 47"/>
              <p:cNvSpPr>
                <a:spLocks noChangeShapeType="1"/>
              </p:cNvSpPr>
              <p:nvPr/>
            </p:nvSpPr>
            <p:spPr bwMode="auto">
              <a:xfrm>
                <a:off x="2304" y="831"/>
                <a:ext cx="0" cy="354"/>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48" name="Line 48"/>
              <p:cNvSpPr>
                <a:spLocks noChangeShapeType="1"/>
              </p:cNvSpPr>
              <p:nvPr/>
            </p:nvSpPr>
            <p:spPr bwMode="auto">
              <a:xfrm>
                <a:off x="2448" y="831"/>
                <a:ext cx="0" cy="354"/>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49" name="Text Box 49"/>
              <p:cNvSpPr txBox="1">
                <a:spLocks noChangeArrowheads="1"/>
              </p:cNvSpPr>
              <p:nvPr/>
            </p:nvSpPr>
            <p:spPr bwMode="auto">
              <a:xfrm>
                <a:off x="2179" y="852"/>
                <a:ext cx="130" cy="3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dirty="0">
                    <a:solidFill>
                      <a:schemeClr val="tx1">
                        <a:lumMod val="75000"/>
                        <a:lumOff val="25000"/>
                      </a:schemeClr>
                    </a:solidFill>
                    <a:latin typeface="Times New Roman" panose="02020603050405020304" pitchFamily="18" charset="0"/>
                  </a:rPr>
                  <a:t>T</a:t>
                </a:r>
              </a:p>
              <a:p>
                <a:pPr algn="ctr" eaLnBrk="1" hangingPunct="1"/>
                <a:r>
                  <a:rPr lang="en-US" altLang="zh-CN" sz="1800" dirty="0">
                    <a:solidFill>
                      <a:schemeClr val="tx1">
                        <a:lumMod val="75000"/>
                        <a:lumOff val="25000"/>
                      </a:schemeClr>
                    </a:solidFill>
                    <a:latin typeface="Times New Roman" panose="02020603050405020304" pitchFamily="18" charset="0"/>
                  </a:rPr>
                  <a:t>I</a:t>
                </a:r>
                <a:endParaRPr lang="en-US" altLang="zh-CN" b="0" dirty="0">
                  <a:solidFill>
                    <a:schemeClr val="tx1">
                      <a:lumMod val="75000"/>
                      <a:lumOff val="25000"/>
                    </a:schemeClr>
                  </a:solidFill>
                  <a:latin typeface="Times New Roman" panose="02020603050405020304" pitchFamily="18" charset="0"/>
                </a:endParaRPr>
              </a:p>
            </p:txBody>
          </p:sp>
          <p:sp>
            <p:nvSpPr>
              <p:cNvPr id="50" name="Text Box 50"/>
              <p:cNvSpPr txBox="1">
                <a:spLocks noChangeArrowheads="1"/>
              </p:cNvSpPr>
              <p:nvPr/>
            </p:nvSpPr>
            <p:spPr bwMode="auto">
              <a:xfrm>
                <a:off x="2326" y="958"/>
                <a:ext cx="288" cy="129"/>
              </a:xfrm>
              <a:prstGeom prst="rect">
                <a:avLst/>
              </a:prstGeom>
              <a:solidFill>
                <a:srgbClr val="CCFFFF"/>
              </a:solidFill>
              <a:ln w="9525">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pPr>
                <a:r>
                  <a:rPr lang="en-US" altLang="zh-CN" sz="1600" dirty="0">
                    <a:solidFill>
                      <a:schemeClr val="tx1">
                        <a:lumMod val="75000"/>
                        <a:lumOff val="25000"/>
                      </a:schemeClr>
                    </a:solidFill>
                    <a:latin typeface="Times New Roman" panose="02020603050405020304" pitchFamily="18" charset="0"/>
                  </a:rPr>
                  <a:t>RPL</a:t>
                </a:r>
                <a:endParaRPr lang="en-US" altLang="zh-CN" b="0" dirty="0">
                  <a:solidFill>
                    <a:schemeClr val="tx1">
                      <a:lumMod val="75000"/>
                      <a:lumOff val="25000"/>
                    </a:schemeClr>
                  </a:solidFill>
                  <a:latin typeface="Times New Roman" panose="02020603050405020304" pitchFamily="18" charset="0"/>
                </a:endParaRPr>
              </a:p>
            </p:txBody>
          </p:sp>
          <p:grpSp>
            <p:nvGrpSpPr>
              <p:cNvPr id="51" name="Group 51"/>
              <p:cNvGrpSpPr>
                <a:grpSpLocks/>
              </p:cNvGrpSpPr>
              <p:nvPr/>
            </p:nvGrpSpPr>
            <p:grpSpPr bwMode="auto">
              <a:xfrm>
                <a:off x="384" y="821"/>
                <a:ext cx="1752" cy="364"/>
                <a:chOff x="144" y="487"/>
                <a:chExt cx="2808" cy="364"/>
              </a:xfrm>
            </p:grpSpPr>
            <p:sp>
              <p:nvSpPr>
                <p:cNvPr id="52" name="Line 52"/>
                <p:cNvSpPr>
                  <a:spLocks noChangeShapeType="1"/>
                </p:cNvSpPr>
                <p:nvPr/>
              </p:nvSpPr>
              <p:spPr bwMode="auto">
                <a:xfrm>
                  <a:off x="2952" y="497"/>
                  <a:ext cx="0" cy="354"/>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53" name="Rectangle 53"/>
                <p:cNvSpPr>
                  <a:spLocks noChangeArrowheads="1"/>
                </p:cNvSpPr>
                <p:nvPr/>
              </p:nvSpPr>
              <p:spPr bwMode="auto">
                <a:xfrm>
                  <a:off x="144" y="496"/>
                  <a:ext cx="2808" cy="34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4" name="Line 54"/>
                <p:cNvSpPr>
                  <a:spLocks noChangeShapeType="1"/>
                </p:cNvSpPr>
                <p:nvPr/>
              </p:nvSpPr>
              <p:spPr bwMode="auto">
                <a:xfrm>
                  <a:off x="360" y="500"/>
                  <a:ext cx="0" cy="343"/>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55" name="Line 55"/>
                <p:cNvSpPr>
                  <a:spLocks noChangeShapeType="1"/>
                </p:cNvSpPr>
                <p:nvPr/>
              </p:nvSpPr>
              <p:spPr bwMode="auto">
                <a:xfrm>
                  <a:off x="1008" y="500"/>
                  <a:ext cx="0" cy="343"/>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56" name="Line 56"/>
                <p:cNvSpPr>
                  <a:spLocks noChangeShapeType="1"/>
                </p:cNvSpPr>
                <p:nvPr/>
              </p:nvSpPr>
              <p:spPr bwMode="auto">
                <a:xfrm>
                  <a:off x="576" y="500"/>
                  <a:ext cx="0" cy="343"/>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57" name="Line 57"/>
                <p:cNvSpPr>
                  <a:spLocks noChangeShapeType="1"/>
                </p:cNvSpPr>
                <p:nvPr/>
              </p:nvSpPr>
              <p:spPr bwMode="auto">
                <a:xfrm>
                  <a:off x="792" y="500"/>
                  <a:ext cx="0" cy="343"/>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58" name="Line 58"/>
                <p:cNvSpPr>
                  <a:spLocks noChangeShapeType="1"/>
                </p:cNvSpPr>
                <p:nvPr/>
              </p:nvSpPr>
              <p:spPr bwMode="auto">
                <a:xfrm>
                  <a:off x="1224" y="500"/>
                  <a:ext cx="0" cy="343"/>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59" name="Line 59"/>
                <p:cNvSpPr>
                  <a:spLocks noChangeShapeType="1"/>
                </p:cNvSpPr>
                <p:nvPr/>
              </p:nvSpPr>
              <p:spPr bwMode="auto">
                <a:xfrm>
                  <a:off x="1872" y="487"/>
                  <a:ext cx="0" cy="343"/>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60" name="Line 60"/>
                <p:cNvSpPr>
                  <a:spLocks noChangeShapeType="1"/>
                </p:cNvSpPr>
                <p:nvPr/>
              </p:nvSpPr>
              <p:spPr bwMode="auto">
                <a:xfrm>
                  <a:off x="1440" y="495"/>
                  <a:ext cx="0" cy="343"/>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61" name="Line 61"/>
                <p:cNvSpPr>
                  <a:spLocks noChangeShapeType="1"/>
                </p:cNvSpPr>
                <p:nvPr/>
              </p:nvSpPr>
              <p:spPr bwMode="auto">
                <a:xfrm>
                  <a:off x="1656" y="495"/>
                  <a:ext cx="0" cy="343"/>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62" name="Line 62"/>
                <p:cNvSpPr>
                  <a:spLocks noChangeShapeType="1"/>
                </p:cNvSpPr>
                <p:nvPr/>
              </p:nvSpPr>
              <p:spPr bwMode="auto">
                <a:xfrm>
                  <a:off x="2088" y="497"/>
                  <a:ext cx="0" cy="342"/>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63" name="Line 63"/>
                <p:cNvSpPr>
                  <a:spLocks noChangeShapeType="1"/>
                </p:cNvSpPr>
                <p:nvPr/>
              </p:nvSpPr>
              <p:spPr bwMode="auto">
                <a:xfrm>
                  <a:off x="2304" y="502"/>
                  <a:ext cx="0" cy="343"/>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64" name="Line 64"/>
                <p:cNvSpPr>
                  <a:spLocks noChangeShapeType="1"/>
                </p:cNvSpPr>
                <p:nvPr/>
              </p:nvSpPr>
              <p:spPr bwMode="auto">
                <a:xfrm>
                  <a:off x="2520" y="497"/>
                  <a:ext cx="0" cy="342"/>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65" name="Line 65"/>
                <p:cNvSpPr>
                  <a:spLocks noChangeShapeType="1"/>
                </p:cNvSpPr>
                <p:nvPr/>
              </p:nvSpPr>
              <p:spPr bwMode="auto">
                <a:xfrm>
                  <a:off x="2736" y="497"/>
                  <a:ext cx="0" cy="342"/>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66" name="Text Box 66"/>
                <p:cNvSpPr txBox="1">
                  <a:spLocks noChangeArrowheads="1"/>
                </p:cNvSpPr>
                <p:nvPr/>
              </p:nvSpPr>
              <p:spPr bwMode="auto">
                <a:xfrm>
                  <a:off x="816" y="601"/>
                  <a:ext cx="2050" cy="160"/>
                </a:xfrm>
                <a:prstGeom prst="rect">
                  <a:avLst/>
                </a:prstGeom>
                <a:solidFill>
                  <a:srgbClr val="FFFF99"/>
                </a:solidFill>
                <a:ln w="9525">
                  <a:solidFill>
                    <a:srgbClr val="FF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pPr>
                  <a:r>
                    <a:rPr lang="zh-CN" altLang="zh-CN" dirty="0">
                      <a:solidFill>
                        <a:schemeClr val="tx1">
                          <a:lumMod val="75000"/>
                          <a:lumOff val="25000"/>
                        </a:schemeClr>
                      </a:solidFill>
                      <a:latin typeface="Times New Roman" panose="02020603050405020304" pitchFamily="18" charset="0"/>
                      <a:ea typeface="楷体_GB2312" pitchFamily="49" charset="-122"/>
                    </a:rPr>
                    <a:t>描 述 符索引 </a:t>
                  </a:r>
                  <a:r>
                    <a:rPr lang="en-US" altLang="zh-CN" dirty="0">
                      <a:solidFill>
                        <a:schemeClr val="tx1">
                          <a:lumMod val="75000"/>
                          <a:lumOff val="25000"/>
                        </a:schemeClr>
                      </a:solidFill>
                      <a:latin typeface="Times New Roman" panose="02020603050405020304" pitchFamily="18" charset="0"/>
                      <a:ea typeface="楷体_GB2312" pitchFamily="49" charset="-122"/>
                    </a:rPr>
                    <a:t>n</a:t>
                  </a:r>
                  <a:endParaRPr lang="en-US" altLang="zh-CN" sz="2400" dirty="0">
                    <a:solidFill>
                      <a:schemeClr val="tx1">
                        <a:lumMod val="75000"/>
                        <a:lumOff val="25000"/>
                      </a:schemeClr>
                    </a:solidFill>
                    <a:latin typeface="Times New Roman" panose="02020603050405020304" pitchFamily="18" charset="0"/>
                    <a:ea typeface="楷体_GB2312" pitchFamily="49" charset="-122"/>
                  </a:endParaRPr>
                </a:p>
              </p:txBody>
            </p:sp>
          </p:grpSp>
        </p:grpSp>
        <p:sp>
          <p:nvSpPr>
            <p:cNvPr id="43" name="Text Box 67"/>
            <p:cNvSpPr txBox="1">
              <a:spLocks noChangeArrowheads="1"/>
            </p:cNvSpPr>
            <p:nvPr/>
          </p:nvSpPr>
          <p:spPr bwMode="auto">
            <a:xfrm>
              <a:off x="2592" y="1056"/>
              <a:ext cx="1392" cy="256"/>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dirty="0">
                  <a:solidFill>
                    <a:schemeClr val="tx1">
                      <a:lumMod val="75000"/>
                      <a:lumOff val="25000"/>
                    </a:schemeClr>
                  </a:solidFill>
                  <a:latin typeface="Times New Roman" panose="02020603050405020304" pitchFamily="18" charset="0"/>
                  <a:ea typeface="楷体_GB2312" pitchFamily="49" charset="-122"/>
                </a:rPr>
                <a:t>32</a:t>
              </a:r>
              <a:r>
                <a:rPr lang="zh-CN" altLang="en-US" dirty="0">
                  <a:solidFill>
                    <a:schemeClr val="tx1">
                      <a:lumMod val="75000"/>
                      <a:lumOff val="25000"/>
                    </a:schemeClr>
                  </a:solidFill>
                  <a:latin typeface="Times New Roman" panose="02020603050405020304" pitchFamily="18" charset="0"/>
                  <a:ea typeface="楷体_GB2312" pitchFamily="49" charset="-122"/>
                </a:rPr>
                <a:t>位偏移地址</a:t>
              </a:r>
              <a:endParaRPr lang="zh-CN" altLang="en-US" sz="2400" b="0" dirty="0">
                <a:solidFill>
                  <a:schemeClr val="tx1">
                    <a:lumMod val="75000"/>
                    <a:lumOff val="25000"/>
                  </a:schemeClr>
                </a:solidFill>
                <a:latin typeface="Times New Roman" panose="02020603050405020304" pitchFamily="18" charset="0"/>
              </a:endParaRPr>
            </a:p>
          </p:txBody>
        </p:sp>
        <p:sp>
          <p:nvSpPr>
            <p:cNvPr id="44" name="Line 68"/>
            <p:cNvSpPr>
              <a:spLocks noChangeShapeType="1"/>
            </p:cNvSpPr>
            <p:nvPr/>
          </p:nvSpPr>
          <p:spPr bwMode="auto">
            <a:xfrm flipH="1">
              <a:off x="1152" y="672"/>
              <a:ext cx="336" cy="28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Line 69"/>
            <p:cNvSpPr>
              <a:spLocks noChangeShapeType="1"/>
            </p:cNvSpPr>
            <p:nvPr/>
          </p:nvSpPr>
          <p:spPr bwMode="auto">
            <a:xfrm>
              <a:off x="1968" y="672"/>
              <a:ext cx="1392" cy="336"/>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67" name="Rectangle 71"/>
          <p:cNvSpPr>
            <a:spLocks noChangeArrowheads="1"/>
          </p:cNvSpPr>
          <p:nvPr/>
        </p:nvSpPr>
        <p:spPr bwMode="auto">
          <a:xfrm>
            <a:off x="899592" y="5817458"/>
            <a:ext cx="65786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b="1">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b="1">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b="1">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b="1">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lang="zh-CN" altLang="en-US" dirty="0">
                <a:solidFill>
                  <a:srgbClr val="FF0066"/>
                </a:solidFill>
              </a:rPr>
              <a:t>将段选择子指向的段描述符中</a:t>
            </a:r>
            <a:r>
              <a:rPr lang="en-US" altLang="zh-CN" dirty="0">
                <a:solidFill>
                  <a:srgbClr val="FF0066"/>
                </a:solidFill>
              </a:rPr>
              <a:t>32</a:t>
            </a:r>
            <a:r>
              <a:rPr lang="zh-CN" altLang="en-US" dirty="0">
                <a:solidFill>
                  <a:srgbClr val="FF0066"/>
                </a:solidFill>
              </a:rPr>
              <a:t>位基地址与</a:t>
            </a:r>
            <a:r>
              <a:rPr lang="en-US" altLang="zh-CN" dirty="0">
                <a:solidFill>
                  <a:srgbClr val="FF0066"/>
                </a:solidFill>
              </a:rPr>
              <a:t>32</a:t>
            </a:r>
            <a:r>
              <a:rPr lang="zh-CN" altLang="en-US" dirty="0">
                <a:solidFill>
                  <a:srgbClr val="FF0066"/>
                </a:solidFill>
              </a:rPr>
              <a:t>位偏移地址相加即得线性地址。</a:t>
            </a:r>
          </a:p>
        </p:txBody>
      </p:sp>
    </p:spTree>
    <p:extLst>
      <p:ext uri="{BB962C8B-B14F-4D97-AF65-F5344CB8AC3E}">
        <p14:creationId xmlns:p14="http://schemas.microsoft.com/office/powerpoint/2010/main" val="306877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blinds(horizontal)">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blinds(horizontal)">
                                      <p:cBhvr>
                                        <p:cTn id="2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525"/>
            <a:ext cx="9144000" cy="684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567379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分段管理的小结</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5" name="矩形 4"/>
          <p:cNvSpPr/>
          <p:nvPr/>
        </p:nvSpPr>
        <p:spPr>
          <a:xfrm>
            <a:off x="1475656" y="2864175"/>
            <a:ext cx="6769172" cy="873661"/>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微软雅黑" panose="020B0503020204020204" pitchFamily="34" charset="-122"/>
                <a:ea typeface="微软雅黑" panose="020B0503020204020204" pitchFamily="34" charset="-122"/>
              </a:rPr>
              <a:t>程序员只需要知道自己有</a:t>
            </a:r>
            <a:r>
              <a:rPr lang="en-US" altLang="zh-CN" b="1" dirty="0">
                <a:latin typeface="微软雅黑" panose="020B0503020204020204" pitchFamily="34" charset="-122"/>
                <a:ea typeface="微软雅黑" panose="020B0503020204020204" pitchFamily="34" charset="-122"/>
              </a:rPr>
              <a:t>4GB</a:t>
            </a:r>
            <a:r>
              <a:rPr lang="zh-CN" altLang="en-US" b="1" dirty="0">
                <a:latin typeface="微软雅黑" panose="020B0503020204020204" pitchFamily="34" charset="-122"/>
                <a:ea typeface="微软雅黑" panose="020B0503020204020204" pitchFamily="34" charset="-122"/>
              </a:rPr>
              <a:t>的线性空间使用即可。</a:t>
            </a:r>
          </a:p>
        </p:txBody>
      </p:sp>
      <p:sp>
        <p:nvSpPr>
          <p:cNvPr id="7" name="矩形 6"/>
          <p:cNvSpPr/>
          <p:nvPr/>
        </p:nvSpPr>
        <p:spPr>
          <a:xfrm>
            <a:off x="1475444" y="1675004"/>
            <a:ext cx="6769173" cy="873661"/>
          </a:xfrm>
          <a:prstGeom prst="rect">
            <a:avLst/>
          </a:prstGeom>
          <a:solidFill>
            <a:srgbClr val="FF3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latin typeface="微软雅黑" panose="020B0503020204020204" pitchFamily="34" charset="-122"/>
                <a:ea typeface="微软雅黑" panose="020B0503020204020204" pitchFamily="34" charset="-122"/>
              </a:rPr>
              <a:t>LDT</a:t>
            </a:r>
            <a:r>
              <a:rPr lang="zh-CN" altLang="en-US" b="1" dirty="0">
                <a:latin typeface="微软雅黑" panose="020B0503020204020204" pitchFamily="34" charset="-122"/>
                <a:ea typeface="微软雅黑" panose="020B0503020204020204" pitchFamily="34" charset="-122"/>
              </a:rPr>
              <a:t>和</a:t>
            </a:r>
            <a:r>
              <a:rPr lang="en-US" altLang="zh-CN" b="1" dirty="0">
                <a:latin typeface="微软雅黑" panose="020B0503020204020204" pitchFamily="34" charset="-122"/>
                <a:ea typeface="微软雅黑" panose="020B0503020204020204" pitchFamily="34" charset="-122"/>
              </a:rPr>
              <a:t>GDT</a:t>
            </a:r>
            <a:r>
              <a:rPr lang="zh-CN" altLang="en-US" b="1" dirty="0">
                <a:latin typeface="微软雅黑" panose="020B0503020204020204" pitchFamily="34" charset="-122"/>
                <a:ea typeface="微软雅黑" panose="020B0503020204020204" pitchFamily="34" charset="-122"/>
              </a:rPr>
              <a:t>实现进程的虚拟地址的隔离，每个进程有不同的</a:t>
            </a:r>
            <a:r>
              <a:rPr lang="en-US" altLang="zh-CN" b="1" dirty="0">
                <a:latin typeface="微软雅黑" panose="020B0503020204020204" pitchFamily="34" charset="-122"/>
                <a:ea typeface="微软雅黑" panose="020B0503020204020204" pitchFamily="34" charset="-122"/>
              </a:rPr>
              <a:t>LDT</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LDT</a:t>
            </a:r>
            <a:r>
              <a:rPr lang="zh-CN" altLang="en-US" b="1" dirty="0">
                <a:latin typeface="微软雅黑" panose="020B0503020204020204" pitchFamily="34" charset="-122"/>
                <a:ea typeface="微软雅黑" panose="020B0503020204020204" pitchFamily="34" charset="-122"/>
              </a:rPr>
              <a:t>规定了代码段，数据段，栈段。</a:t>
            </a:r>
            <a:endParaRPr lang="en-US" altLang="zh-CN" b="1" dirty="0">
              <a:latin typeface="微软雅黑" panose="020B0503020204020204" pitchFamily="34" charset="-122"/>
              <a:ea typeface="微软雅黑" panose="020B0503020204020204" pitchFamily="34" charset="-122"/>
            </a:endParaRPr>
          </a:p>
        </p:txBody>
      </p:sp>
      <p:sp>
        <p:nvSpPr>
          <p:cNvPr id="8" name="矩形 7"/>
          <p:cNvSpPr/>
          <p:nvPr/>
        </p:nvSpPr>
        <p:spPr>
          <a:xfrm>
            <a:off x="899592" y="1675004"/>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ea typeface="微软雅黑" panose="020B0503020204020204" pitchFamily="34" charset="-122"/>
              </a:rPr>
              <a:t>1</a:t>
            </a:r>
            <a:endParaRPr lang="zh-CN" altLang="en-US" sz="3200" dirty="0">
              <a:latin typeface="Impact" panose="020B0806030902050204" pitchFamily="34" charset="0"/>
              <a:ea typeface="微软雅黑" panose="020B0503020204020204" pitchFamily="34" charset="-122"/>
            </a:endParaRPr>
          </a:p>
        </p:txBody>
      </p:sp>
      <p:sp>
        <p:nvSpPr>
          <p:cNvPr id="9" name="矩形 8"/>
          <p:cNvSpPr/>
          <p:nvPr/>
        </p:nvSpPr>
        <p:spPr>
          <a:xfrm>
            <a:off x="899592" y="2864174"/>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ea typeface="微软雅黑" panose="020B0503020204020204" pitchFamily="34" charset="-122"/>
              </a:rPr>
              <a:t>2</a:t>
            </a:r>
            <a:endParaRPr lang="zh-CN" altLang="en-US" sz="3200" dirty="0">
              <a:latin typeface="Impact" panose="020B0806030902050204" pitchFamily="34" charset="0"/>
              <a:ea typeface="微软雅黑" panose="020B0503020204020204" pitchFamily="34" charset="-122"/>
            </a:endParaRPr>
          </a:p>
        </p:txBody>
      </p:sp>
    </p:spTree>
    <p:extLst>
      <p:ext uri="{BB962C8B-B14F-4D97-AF65-F5344CB8AC3E}">
        <p14:creationId xmlns:p14="http://schemas.microsoft.com/office/powerpoint/2010/main" val="199054493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anose="020B0503020204020204" pitchFamily="34" charset="-122"/>
              <a:ea typeface="微软雅黑" panose="020B0503020204020204" pitchFamily="34" charset="-122"/>
            </a:endParaRPr>
          </a:p>
        </p:txBody>
      </p:sp>
      <p:sp>
        <p:nvSpPr>
          <p:cNvPr id="10" name="TextBox 15"/>
          <p:cNvSpPr txBox="1"/>
          <p:nvPr/>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pPr algn="ctr"/>
              <a:t>71</a:t>
            </a:fld>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t> </a:t>
            </a:r>
            <a:endParaRPr lang="zh-CN" altLang="en-US" sz="1600" b="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2" name="TextBox 15"/>
          <p:cNvSpPr txBox="1">
            <a:spLocks noChangeArrowheads="1"/>
          </p:cNvSpPr>
          <p:nvPr/>
        </p:nvSpPr>
        <p:spPr bwMode="auto">
          <a:xfrm>
            <a:off x="3830340" y="4119885"/>
            <a:ext cx="1389732" cy="1884273"/>
          </a:xfrm>
          <a:prstGeom prst="rect">
            <a:avLst/>
          </a:prstGeom>
          <a:noFill/>
          <a:ln w="9525">
            <a:noFill/>
            <a:miter lim="800000"/>
            <a:headEnd/>
            <a:tailEnd/>
          </a:ln>
        </p:spPr>
        <p:txBody>
          <a:bodyPr wrap="square" lIns="67730" tIns="33865" rIns="67730" bIns="33865">
            <a:spAutoFit/>
          </a:bodyP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indent="-342900" defTabSz="762000">
              <a:lnSpc>
                <a:spcPct val="150000"/>
              </a:lnSpc>
              <a:spcAft>
                <a:spcPts val="600"/>
              </a:spcAft>
              <a:buFont typeface="Wingdings" pitchFamily="2" charset="2"/>
              <a:buChar char="u"/>
            </a:pPr>
            <a:r>
              <a:rPr lang="zh-CN" altLang="en-US" sz="2400" b="1" dirty="0">
                <a:solidFill>
                  <a:schemeClr val="tx1">
                    <a:lumMod val="65000"/>
                    <a:lumOff val="35000"/>
                  </a:schemeClr>
                </a:solidFill>
                <a:latin typeface="微软雅黑" pitchFamily="34" charset="-122"/>
                <a:ea typeface="微软雅黑" pitchFamily="34" charset="-122"/>
              </a:rPr>
              <a:t>分段</a:t>
            </a:r>
            <a:endParaRPr lang="en-US" altLang="zh-CN" sz="2400" b="1" dirty="0">
              <a:solidFill>
                <a:schemeClr val="tx1">
                  <a:lumMod val="65000"/>
                  <a:lumOff val="35000"/>
                </a:schemeClr>
              </a:solidFill>
              <a:latin typeface="微软雅黑" pitchFamily="34" charset="-122"/>
              <a:ea typeface="微软雅黑" pitchFamily="34" charset="-122"/>
            </a:endParaRPr>
          </a:p>
          <a:p>
            <a:pPr indent="-342900" defTabSz="762000">
              <a:lnSpc>
                <a:spcPct val="150000"/>
              </a:lnSpc>
              <a:spcAft>
                <a:spcPts val="600"/>
              </a:spcAft>
              <a:buFont typeface="Wingdings" pitchFamily="2" charset="2"/>
              <a:buChar char="u"/>
            </a:pPr>
            <a:r>
              <a:rPr lang="zh-CN" altLang="en-US" sz="2400" b="1" dirty="0">
                <a:solidFill>
                  <a:srgbClr val="FF3255"/>
                </a:solidFill>
                <a:latin typeface="微软雅黑" pitchFamily="34" charset="-122"/>
                <a:ea typeface="微软雅黑" pitchFamily="34" charset="-122"/>
              </a:rPr>
              <a:t>分页</a:t>
            </a:r>
          </a:p>
          <a:p>
            <a:pPr indent="-342900" defTabSz="762000">
              <a:lnSpc>
                <a:spcPct val="150000"/>
              </a:lnSpc>
              <a:spcAft>
                <a:spcPts val="600"/>
              </a:spcAft>
              <a:buFont typeface="Wingdings" pitchFamily="2" charset="2"/>
              <a:buChar char="u"/>
            </a:pPr>
            <a:r>
              <a:rPr lang="zh-CN" altLang="en-US" sz="2400" b="1" dirty="0">
                <a:solidFill>
                  <a:schemeClr val="tx1">
                    <a:lumMod val="65000"/>
                    <a:lumOff val="35000"/>
                  </a:schemeClr>
                </a:solidFill>
                <a:latin typeface="微软雅黑" pitchFamily="34" charset="-122"/>
                <a:ea typeface="微软雅黑" pitchFamily="34" charset="-122"/>
              </a:rPr>
              <a:t>举例</a:t>
            </a:r>
          </a:p>
        </p:txBody>
      </p:sp>
      <p:cxnSp>
        <p:nvCxnSpPr>
          <p:cNvPr id="14" name="直接连接符 13"/>
          <p:cNvCxnSpPr/>
          <p:nvPr/>
        </p:nvCxnSpPr>
        <p:spPr>
          <a:xfrm>
            <a:off x="1404144" y="2207419"/>
            <a:ext cx="6264275" cy="1587"/>
          </a:xfrm>
          <a:prstGeom prst="line">
            <a:avLst/>
          </a:prstGeom>
          <a:noFill/>
          <a:ln w="9525" cap="flat" cmpd="sng" algn="ctr">
            <a:solidFill>
              <a:sysClr val="window" lastClr="FFFFFF">
                <a:lumMod val="85000"/>
              </a:sysClr>
            </a:solidFill>
            <a:prstDash val="solid"/>
          </a:ln>
          <a:effectLst/>
        </p:spPr>
      </p:cxnSp>
      <p:cxnSp>
        <p:nvCxnSpPr>
          <p:cNvPr id="15" name="直接连接符 14"/>
          <p:cNvCxnSpPr/>
          <p:nvPr/>
        </p:nvCxnSpPr>
        <p:spPr>
          <a:xfrm>
            <a:off x="1475582" y="3936206"/>
            <a:ext cx="6264275" cy="1588"/>
          </a:xfrm>
          <a:prstGeom prst="line">
            <a:avLst/>
          </a:prstGeom>
          <a:noFill/>
          <a:ln w="9525" cap="flat" cmpd="sng" algn="ctr">
            <a:solidFill>
              <a:sysClr val="window" lastClr="FFFFFF">
                <a:lumMod val="85000"/>
              </a:sysClr>
            </a:solidFill>
            <a:prstDash val="solid"/>
          </a:ln>
          <a:effectLst/>
        </p:spPr>
      </p:cxnSp>
      <p:sp>
        <p:nvSpPr>
          <p:cNvPr id="16" name="TextBox 10"/>
          <p:cNvSpPr txBox="1">
            <a:spLocks noChangeArrowheads="1"/>
          </p:cNvSpPr>
          <p:nvPr/>
        </p:nvSpPr>
        <p:spPr bwMode="auto">
          <a:xfrm>
            <a:off x="1475697" y="2447499"/>
            <a:ext cx="6985934" cy="1250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algn="ctr">
              <a:lnSpc>
                <a:spcPct val="114000"/>
              </a:lnSpc>
            </a:pPr>
            <a:r>
              <a:rPr lang="en-US" altLang="zh-CN" sz="6600" b="1" dirty="0">
                <a:solidFill>
                  <a:srgbClr val="00C4F0"/>
                </a:solidFill>
                <a:latin typeface="微软雅黑" pitchFamily="34" charset="-122"/>
                <a:ea typeface="微软雅黑" pitchFamily="34" charset="-122"/>
              </a:rPr>
              <a:t>80386</a:t>
            </a:r>
            <a:r>
              <a:rPr lang="zh-CN" altLang="en-US" sz="6600" b="1" dirty="0">
                <a:solidFill>
                  <a:srgbClr val="00C4F0"/>
                </a:solidFill>
                <a:latin typeface="微软雅黑" pitchFamily="34" charset="-122"/>
                <a:ea typeface="微软雅黑" pitchFamily="34" charset="-122"/>
              </a:rPr>
              <a:t>存储器管理</a:t>
            </a:r>
            <a:endParaRPr lang="zh-CN" altLang="en-US" sz="8000" b="1" dirty="0">
              <a:solidFill>
                <a:srgbClr val="00C4F0"/>
              </a:solidFill>
              <a:latin typeface="微软雅黑" pitchFamily="34" charset="-122"/>
              <a:ea typeface="微软雅黑" pitchFamily="34" charset="-122"/>
            </a:endParaRPr>
          </a:p>
        </p:txBody>
      </p:sp>
    </p:spTree>
    <p:extLst>
      <p:ext uri="{BB962C8B-B14F-4D97-AF65-F5344CB8AC3E}">
        <p14:creationId xmlns:p14="http://schemas.microsoft.com/office/powerpoint/2010/main" val="8599040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500"/>
                                        <p:tgtEl>
                                          <p:spTgt spid="14"/>
                                        </p:tgtEl>
                                      </p:cBhvr>
                                    </p:animEffect>
                                  </p:childTnLst>
                                </p:cTn>
                              </p:par>
                              <p:par>
                                <p:cTn id="8" presetID="1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slide(fromBottom)">
                                      <p:cBhvr>
                                        <p:cTn id="10" dur="500"/>
                                        <p:tgtEl>
                                          <p:spTgt spid="15"/>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1000"/>
                                        <p:tgtEl>
                                          <p:spTgt spid="12"/>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1000" fill="hold"/>
                                        <p:tgtEl>
                                          <p:spTgt spid="16"/>
                                        </p:tgtEl>
                                        <p:attrNameLst>
                                          <p:attrName>ppt_w</p:attrName>
                                        </p:attrNameLst>
                                      </p:cBhvr>
                                      <p:tavLst>
                                        <p:tav tm="0">
                                          <p:val>
                                            <p:fltVal val="0"/>
                                          </p:val>
                                        </p:tav>
                                        <p:tav tm="100000">
                                          <p:val>
                                            <p:strVal val="#ppt_w"/>
                                          </p:val>
                                        </p:tav>
                                      </p:tavLst>
                                    </p:anim>
                                    <p:anim calcmode="lin" valueType="num">
                                      <p:cBhvr>
                                        <p:cTn id="18" dur="1000" fill="hold"/>
                                        <p:tgtEl>
                                          <p:spTgt spid="16"/>
                                        </p:tgtEl>
                                        <p:attrNameLst>
                                          <p:attrName>ppt_h</p:attrName>
                                        </p:attrNameLst>
                                      </p:cBhvr>
                                      <p:tavLst>
                                        <p:tav tm="0">
                                          <p:val>
                                            <p:fltVal val="0"/>
                                          </p:val>
                                        </p:tav>
                                        <p:tav tm="100000">
                                          <p:val>
                                            <p:strVal val="#ppt_h"/>
                                          </p:val>
                                        </p:tav>
                                      </p:tavLst>
                                    </p:anim>
                                    <p:animEffect transition="in" filter="fade">
                                      <p:cBhvr>
                                        <p:cTn id="19"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线性地址到物理地址</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25" name="矩形 24"/>
          <p:cNvSpPr/>
          <p:nvPr/>
        </p:nvSpPr>
        <p:spPr>
          <a:xfrm>
            <a:off x="1475656" y="2864175"/>
            <a:ext cx="6769172" cy="873661"/>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微软雅黑" panose="020B0503020204020204" pitchFamily="34" charset="-122"/>
                <a:ea typeface="微软雅黑" panose="020B0503020204020204" pitchFamily="34" charset="-122"/>
              </a:rPr>
              <a:t>页的基地址具有：“</a:t>
            </a:r>
            <a:r>
              <a:rPr lang="en-US" altLang="zh-CN" b="1" dirty="0">
                <a:latin typeface="微软雅黑" panose="020B0503020204020204" pitchFamily="34" charset="-122"/>
                <a:ea typeface="微软雅黑" panose="020B0503020204020204" pitchFamily="34" charset="-122"/>
              </a:rPr>
              <a:t>XXXXX000H” </a:t>
            </a:r>
            <a:r>
              <a:rPr lang="zh-CN" altLang="en-US" b="1" dirty="0">
                <a:latin typeface="微软雅黑" panose="020B0503020204020204" pitchFamily="34" charset="-122"/>
                <a:ea typeface="微软雅黑" panose="020B0503020204020204" pitchFamily="34" charset="-122"/>
              </a:rPr>
              <a:t>的形式，因此其高</a:t>
            </a:r>
            <a:r>
              <a:rPr lang="en-US" altLang="zh-CN" b="1" dirty="0">
                <a:latin typeface="微软雅黑" panose="020B0503020204020204" pitchFamily="34" charset="-122"/>
                <a:ea typeface="微软雅黑" panose="020B0503020204020204" pitchFamily="34" charset="-122"/>
              </a:rPr>
              <a:t>20</a:t>
            </a:r>
            <a:r>
              <a:rPr lang="zh-CN" altLang="en-US" b="1" dirty="0">
                <a:latin typeface="微软雅黑" panose="020B0503020204020204" pitchFamily="34" charset="-122"/>
                <a:ea typeface="微软雅黑" panose="020B0503020204020204" pitchFamily="34" charset="-122"/>
              </a:rPr>
              <a:t>位被称为页码。页码左移</a:t>
            </a:r>
            <a:r>
              <a:rPr lang="en-US" altLang="zh-CN" b="1" dirty="0">
                <a:latin typeface="微软雅黑" panose="020B0503020204020204" pitchFamily="34" charset="-122"/>
                <a:ea typeface="微软雅黑" panose="020B0503020204020204" pitchFamily="34" charset="-122"/>
              </a:rPr>
              <a:t>12</a:t>
            </a:r>
            <a:r>
              <a:rPr lang="zh-CN" altLang="en-US" b="1" dirty="0">
                <a:latin typeface="微软雅黑" panose="020B0503020204020204" pitchFamily="34" charset="-122"/>
                <a:ea typeface="微软雅黑" panose="020B0503020204020204" pitchFamily="34" charset="-122"/>
              </a:rPr>
              <a:t>位可得页物理基地址。</a:t>
            </a:r>
          </a:p>
        </p:txBody>
      </p:sp>
      <p:sp>
        <p:nvSpPr>
          <p:cNvPr id="26" name="矩形 25"/>
          <p:cNvSpPr/>
          <p:nvPr/>
        </p:nvSpPr>
        <p:spPr>
          <a:xfrm>
            <a:off x="1475656" y="4067507"/>
            <a:ext cx="6769173" cy="873661"/>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微软雅黑" panose="020B0503020204020204" pitchFamily="34" charset="-122"/>
                <a:ea typeface="微软雅黑" panose="020B0503020204020204" pitchFamily="34" charset="-122"/>
              </a:rPr>
              <a:t>页为</a:t>
            </a:r>
            <a:r>
              <a:rPr lang="en-US" altLang="zh-CN" b="1" dirty="0">
                <a:latin typeface="微软雅黑" panose="020B0503020204020204" pitchFamily="34" charset="-122"/>
                <a:ea typeface="微软雅黑" panose="020B0503020204020204" pitchFamily="34" charset="-122"/>
              </a:rPr>
              <a:t>4K</a:t>
            </a:r>
            <a:r>
              <a:rPr lang="zh-CN" altLang="en-US" b="1" dirty="0">
                <a:latin typeface="微软雅黑" panose="020B0503020204020204" pitchFamily="34" charset="-122"/>
                <a:ea typeface="微软雅黑" panose="020B0503020204020204" pitchFamily="34" charset="-122"/>
              </a:rPr>
              <a:t>字节且页边界是</a:t>
            </a:r>
            <a:r>
              <a:rPr lang="en-US" altLang="zh-CN" b="1" dirty="0">
                <a:latin typeface="微软雅黑" panose="020B0503020204020204" pitchFamily="34" charset="-122"/>
                <a:ea typeface="微软雅黑" panose="020B0503020204020204" pitchFamily="34" charset="-122"/>
              </a:rPr>
              <a:t>4K</a:t>
            </a:r>
            <a:r>
              <a:rPr lang="zh-CN" altLang="en-US" b="1" dirty="0">
                <a:latin typeface="微软雅黑" panose="020B0503020204020204" pitchFamily="34" charset="-122"/>
                <a:ea typeface="微软雅黑" panose="020B0503020204020204" pitchFamily="34" charset="-122"/>
              </a:rPr>
              <a:t>的倍数，所以把</a:t>
            </a:r>
            <a:r>
              <a:rPr lang="en-US" altLang="zh-CN" b="1" dirty="0">
                <a:latin typeface="微软雅黑" panose="020B0503020204020204" pitchFamily="34" charset="-122"/>
                <a:ea typeface="微软雅黑" panose="020B0503020204020204" pitchFamily="34" charset="-122"/>
              </a:rPr>
              <a:t>32</a:t>
            </a:r>
            <a:r>
              <a:rPr lang="zh-CN" altLang="en-US" b="1" dirty="0">
                <a:latin typeface="微软雅黑" panose="020B0503020204020204" pitchFamily="34" charset="-122"/>
                <a:ea typeface="微软雅黑" panose="020B0503020204020204" pitchFamily="34" charset="-122"/>
              </a:rPr>
              <a:t>位线性地址转换成</a:t>
            </a:r>
            <a:r>
              <a:rPr lang="en-US" altLang="zh-CN" b="1" dirty="0">
                <a:latin typeface="微软雅黑" panose="020B0503020204020204" pitchFamily="34" charset="-122"/>
                <a:ea typeface="微软雅黑" panose="020B0503020204020204" pitchFamily="34" charset="-122"/>
              </a:rPr>
              <a:t>32</a:t>
            </a:r>
            <a:r>
              <a:rPr lang="zh-CN" altLang="en-US" b="1" dirty="0">
                <a:latin typeface="微软雅黑" panose="020B0503020204020204" pitchFamily="34" charset="-122"/>
                <a:ea typeface="微软雅黑" panose="020B0503020204020204" pitchFamily="34" charset="-122"/>
              </a:rPr>
              <a:t>位物理地址的过程中，低</a:t>
            </a:r>
            <a:r>
              <a:rPr lang="en-US" altLang="zh-CN" b="1" dirty="0">
                <a:latin typeface="微软雅黑" panose="020B0503020204020204" pitchFamily="34" charset="-122"/>
                <a:ea typeface="微软雅黑" panose="020B0503020204020204" pitchFamily="34" charset="-122"/>
              </a:rPr>
              <a:t>12</a:t>
            </a:r>
            <a:r>
              <a:rPr lang="zh-CN" altLang="en-US" b="1" dirty="0">
                <a:latin typeface="微软雅黑" panose="020B0503020204020204" pitchFamily="34" charset="-122"/>
                <a:ea typeface="微软雅黑" panose="020B0503020204020204" pitchFamily="34" charset="-122"/>
              </a:rPr>
              <a:t>位地址保持不变。</a:t>
            </a:r>
            <a:endParaRPr lang="zh-CN" altLang="en-US" b="1" u="sng" dirty="0">
              <a:solidFill>
                <a:schemeClr val="bg1"/>
              </a:solidFill>
              <a:latin typeface="微软雅黑" panose="020B0503020204020204" pitchFamily="34" charset="-122"/>
              <a:ea typeface="微软雅黑" panose="020B0503020204020204" pitchFamily="34" charset="-122"/>
            </a:endParaRPr>
          </a:p>
        </p:txBody>
      </p:sp>
      <p:sp>
        <p:nvSpPr>
          <p:cNvPr id="28" name="矩形 27"/>
          <p:cNvSpPr/>
          <p:nvPr/>
        </p:nvSpPr>
        <p:spPr>
          <a:xfrm>
            <a:off x="1475444" y="1675004"/>
            <a:ext cx="6769173" cy="873661"/>
          </a:xfrm>
          <a:prstGeom prst="rect">
            <a:avLst/>
          </a:prstGeom>
          <a:solidFill>
            <a:srgbClr val="FF3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latin typeface="微软雅黑" panose="020B0503020204020204" pitchFamily="34" charset="-122"/>
                <a:ea typeface="微软雅黑" panose="020B0503020204020204" pitchFamily="34" charset="-122"/>
              </a:rPr>
              <a:t>80386</a:t>
            </a:r>
            <a:r>
              <a:rPr lang="zh-CN" altLang="en-US" b="1" dirty="0">
                <a:latin typeface="微软雅黑" panose="020B0503020204020204" pitchFamily="34" charset="-122"/>
                <a:ea typeface="微软雅黑" panose="020B0503020204020204" pitchFamily="34" charset="-122"/>
              </a:rPr>
              <a:t>按页使用内存，每个页</a:t>
            </a:r>
            <a:r>
              <a:rPr lang="en-US" altLang="zh-CN" b="1" dirty="0">
                <a:latin typeface="微软雅黑" panose="020B0503020204020204" pitchFamily="34" charset="-122"/>
                <a:ea typeface="微软雅黑" panose="020B0503020204020204" pitchFamily="34" charset="-122"/>
              </a:rPr>
              <a:t>4KB</a:t>
            </a:r>
            <a:r>
              <a:rPr lang="zh-CN" altLang="en-US" b="1" dirty="0">
                <a:latin typeface="微软雅黑" panose="020B0503020204020204" pitchFamily="34" charset="-122"/>
                <a:ea typeface="微软雅黑" panose="020B0503020204020204" pitchFamily="34" charset="-122"/>
              </a:rPr>
              <a:t>，索引该页的地址范围是：</a:t>
            </a:r>
            <a:r>
              <a:rPr lang="en-US" altLang="zh-CN" b="1" dirty="0">
                <a:latin typeface="微软雅黑" panose="020B0503020204020204" pitchFamily="34" charset="-122"/>
                <a:ea typeface="微软雅黑" panose="020B0503020204020204" pitchFamily="34" charset="-122"/>
              </a:rPr>
              <a:t>0~2</a:t>
            </a:r>
            <a:r>
              <a:rPr lang="en-US" altLang="zh-CN" b="1" baseline="30000" dirty="0">
                <a:latin typeface="微软雅黑" panose="020B0503020204020204" pitchFamily="34" charset="-122"/>
                <a:ea typeface="微软雅黑" panose="020B0503020204020204" pitchFamily="34" charset="-122"/>
              </a:rPr>
              <a:t>12</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4GB</a:t>
            </a:r>
            <a:r>
              <a:rPr lang="zh-CN" altLang="en-US" b="1" dirty="0">
                <a:latin typeface="微软雅黑" panose="020B0503020204020204" pitchFamily="34" charset="-122"/>
                <a:ea typeface="微软雅黑" panose="020B0503020204020204" pitchFamily="34" charset="-122"/>
              </a:rPr>
              <a:t>的线性地址空间，可以分为</a:t>
            </a:r>
            <a:r>
              <a:rPr lang="en-US" altLang="zh-CN" b="1" dirty="0">
                <a:latin typeface="微软雅黑" panose="020B0503020204020204" pitchFamily="34" charset="-122"/>
                <a:ea typeface="微软雅黑" panose="020B0503020204020204" pitchFamily="34" charset="-122"/>
              </a:rPr>
              <a:t>2</a:t>
            </a:r>
            <a:r>
              <a:rPr lang="en-US" altLang="zh-CN" b="1" baseline="30000" dirty="0">
                <a:latin typeface="微软雅黑" panose="020B0503020204020204" pitchFamily="34" charset="-122"/>
                <a:ea typeface="微软雅黑" panose="020B0503020204020204" pitchFamily="34" charset="-122"/>
              </a:rPr>
              <a:t>20</a:t>
            </a:r>
            <a:r>
              <a:rPr lang="zh-CN" altLang="en-US" b="1" dirty="0">
                <a:latin typeface="微软雅黑" panose="020B0503020204020204" pitchFamily="34" charset="-122"/>
                <a:ea typeface="微软雅黑" panose="020B0503020204020204" pitchFamily="34" charset="-122"/>
              </a:rPr>
              <a:t>个页。</a:t>
            </a:r>
            <a:endParaRPr lang="en-US" altLang="zh-CN" b="1" dirty="0">
              <a:latin typeface="微软雅黑" panose="020B0503020204020204" pitchFamily="34" charset="-122"/>
              <a:ea typeface="微软雅黑" panose="020B0503020204020204" pitchFamily="34" charset="-122"/>
            </a:endParaRPr>
          </a:p>
        </p:txBody>
      </p:sp>
      <p:sp>
        <p:nvSpPr>
          <p:cNvPr id="29" name="矩形 28"/>
          <p:cNvSpPr/>
          <p:nvPr/>
        </p:nvSpPr>
        <p:spPr>
          <a:xfrm>
            <a:off x="899592" y="1675004"/>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ea typeface="微软雅黑" panose="020B0503020204020204" pitchFamily="34" charset="-122"/>
              </a:rPr>
              <a:t>1</a:t>
            </a:r>
            <a:endParaRPr lang="zh-CN" altLang="en-US" sz="3200" dirty="0">
              <a:latin typeface="Impact" panose="020B0806030902050204" pitchFamily="34" charset="0"/>
              <a:ea typeface="微软雅黑" panose="020B0503020204020204" pitchFamily="34" charset="-122"/>
            </a:endParaRPr>
          </a:p>
        </p:txBody>
      </p:sp>
      <p:sp>
        <p:nvSpPr>
          <p:cNvPr id="30" name="矩形 29"/>
          <p:cNvSpPr/>
          <p:nvPr/>
        </p:nvSpPr>
        <p:spPr>
          <a:xfrm>
            <a:off x="899592" y="2864174"/>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ea typeface="微软雅黑" panose="020B0503020204020204" pitchFamily="34" charset="-122"/>
              </a:rPr>
              <a:t>2</a:t>
            </a:r>
            <a:endParaRPr lang="zh-CN" altLang="en-US" sz="3200" dirty="0">
              <a:latin typeface="Impact" panose="020B0806030902050204" pitchFamily="34" charset="0"/>
              <a:ea typeface="微软雅黑" panose="020B0503020204020204" pitchFamily="34" charset="-122"/>
            </a:endParaRPr>
          </a:p>
        </p:txBody>
      </p:sp>
      <p:sp>
        <p:nvSpPr>
          <p:cNvPr id="32" name="矩形 31"/>
          <p:cNvSpPr/>
          <p:nvPr/>
        </p:nvSpPr>
        <p:spPr>
          <a:xfrm>
            <a:off x="899592" y="4067506"/>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ea typeface="微软雅黑" panose="020B0503020204020204" pitchFamily="34" charset="-122"/>
              </a:rPr>
              <a:t>3</a:t>
            </a:r>
            <a:endParaRPr lang="zh-CN" altLang="en-US" sz="3200" dirty="0">
              <a:latin typeface="Impact" panose="020B0806030902050204" pitchFamily="34" charset="0"/>
              <a:ea typeface="微软雅黑" panose="020B0503020204020204" pitchFamily="34" charset="-122"/>
            </a:endParaRPr>
          </a:p>
        </p:txBody>
      </p:sp>
      <p:sp>
        <p:nvSpPr>
          <p:cNvPr id="34" name="矩形 4"/>
          <p:cNvSpPr>
            <a:spLocks noChangeArrowheads="1"/>
          </p:cNvSpPr>
          <p:nvPr/>
        </p:nvSpPr>
        <p:spPr bwMode="auto">
          <a:xfrm>
            <a:off x="1691258" y="5879306"/>
            <a:ext cx="5401022" cy="732508"/>
          </a:xfrm>
          <a:prstGeom prst="rect">
            <a:avLst/>
          </a:prstGeom>
          <a:noFill/>
          <a:ln w="9525">
            <a:noFill/>
            <a:miter lim="800000"/>
            <a:headEnd/>
            <a:tailEnd/>
          </a:ln>
        </p:spPr>
        <p:txBody>
          <a:bodyPr wrap="square">
            <a:spAutoFit/>
          </a:bodyPr>
          <a:lstStyle/>
          <a:p>
            <a:pPr>
              <a:lnSpc>
                <a:spcPct val="130000"/>
              </a:lnSpc>
              <a:spcBef>
                <a:spcPts val="200"/>
              </a:spcBef>
              <a:spcAft>
                <a:spcPts val="60"/>
              </a:spcAft>
            </a:pPr>
            <a:r>
              <a:rPr lang="zh-CN" altLang="en-US" sz="1600" b="1" dirty="0">
                <a:solidFill>
                  <a:schemeClr val="tx1">
                    <a:lumMod val="50000"/>
                    <a:lumOff val="50000"/>
                  </a:schemeClr>
                </a:solidFill>
                <a:latin typeface="微软雅黑" pitchFamily="34" charset="-122"/>
                <a:ea typeface="微软雅黑" pitchFamily="34" charset="-122"/>
              </a:rPr>
              <a:t>线性地址空间的</a:t>
            </a:r>
            <a:r>
              <a:rPr lang="en-US" altLang="zh-CN" sz="1600" b="1" dirty="0">
                <a:solidFill>
                  <a:schemeClr val="tx1">
                    <a:lumMod val="50000"/>
                    <a:lumOff val="50000"/>
                  </a:schemeClr>
                </a:solidFill>
                <a:latin typeface="微软雅黑" pitchFamily="34" charset="-122"/>
                <a:ea typeface="微软雅黑" pitchFamily="34" charset="-122"/>
              </a:rPr>
              <a:t>XXXXXH</a:t>
            </a:r>
            <a:r>
              <a:rPr lang="zh-CN" altLang="en-US" sz="1600" b="1" dirty="0">
                <a:solidFill>
                  <a:schemeClr val="tx1">
                    <a:lumMod val="50000"/>
                    <a:lumOff val="50000"/>
                  </a:schemeClr>
                </a:solidFill>
                <a:latin typeface="微软雅黑" pitchFamily="34" charset="-122"/>
                <a:ea typeface="微软雅黑" pitchFamily="34" charset="-122"/>
              </a:rPr>
              <a:t>页映射到物理地址空间</a:t>
            </a:r>
            <a:r>
              <a:rPr lang="en-US" altLang="zh-CN" sz="1600" b="1" dirty="0">
                <a:solidFill>
                  <a:schemeClr val="tx1">
                    <a:lumMod val="50000"/>
                    <a:lumOff val="50000"/>
                  </a:schemeClr>
                </a:solidFill>
                <a:latin typeface="微软雅黑" pitchFamily="34" charset="-122"/>
                <a:ea typeface="微软雅黑" pitchFamily="34" charset="-122"/>
              </a:rPr>
              <a:t>YYYYYH</a:t>
            </a:r>
            <a:r>
              <a:rPr lang="zh-CN" altLang="en-US" sz="1600" b="1" dirty="0">
                <a:solidFill>
                  <a:schemeClr val="tx1">
                    <a:lumMod val="50000"/>
                    <a:lumOff val="50000"/>
                  </a:schemeClr>
                </a:solidFill>
                <a:latin typeface="微软雅黑" pitchFamily="34" charset="-122"/>
                <a:ea typeface="微软雅黑" pitchFamily="34" charset="-122"/>
              </a:rPr>
              <a:t>页，那么线性地址</a:t>
            </a:r>
            <a:r>
              <a:rPr lang="en-US" altLang="zh-CN" sz="1600" b="1" dirty="0" err="1">
                <a:solidFill>
                  <a:schemeClr val="tx1">
                    <a:lumMod val="50000"/>
                    <a:lumOff val="50000"/>
                  </a:schemeClr>
                </a:solidFill>
                <a:latin typeface="微软雅黑" pitchFamily="34" charset="-122"/>
                <a:ea typeface="微软雅黑" pitchFamily="34" charset="-122"/>
              </a:rPr>
              <a:t>XXXXXxxxH</a:t>
            </a:r>
            <a:r>
              <a:rPr lang="zh-CN" altLang="en-US" sz="1600" b="1" dirty="0">
                <a:solidFill>
                  <a:schemeClr val="tx1">
                    <a:lumMod val="50000"/>
                    <a:lumOff val="50000"/>
                  </a:schemeClr>
                </a:solidFill>
                <a:latin typeface="微软雅黑" pitchFamily="34" charset="-122"/>
                <a:ea typeface="微软雅黑" pitchFamily="34" charset="-122"/>
              </a:rPr>
              <a:t>被转换为</a:t>
            </a:r>
            <a:r>
              <a:rPr lang="en-US" altLang="zh-CN" sz="1600" b="1" dirty="0" err="1">
                <a:solidFill>
                  <a:schemeClr val="tx1">
                    <a:lumMod val="50000"/>
                    <a:lumOff val="50000"/>
                  </a:schemeClr>
                </a:solidFill>
                <a:latin typeface="微软雅黑" pitchFamily="34" charset="-122"/>
                <a:ea typeface="微软雅黑" pitchFamily="34" charset="-122"/>
              </a:rPr>
              <a:t>YYYYYxxxH</a:t>
            </a:r>
            <a:r>
              <a:rPr lang="zh-CN" altLang="en-US" sz="1600" b="1" dirty="0">
                <a:solidFill>
                  <a:schemeClr val="tx1">
                    <a:lumMod val="50000"/>
                    <a:lumOff val="50000"/>
                  </a:schemeClr>
                </a:solidFill>
                <a:latin typeface="微软雅黑" pitchFamily="34" charset="-122"/>
                <a:ea typeface="微软雅黑" pitchFamily="34" charset="-122"/>
              </a:rPr>
              <a:t>。</a:t>
            </a:r>
          </a:p>
        </p:txBody>
      </p:sp>
      <p:pic>
        <p:nvPicPr>
          <p:cNvPr id="36" name="Picture 2" descr="C:\Documents and Settings\tdz\桌面\未标题-1 拷贝.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009955" y="5950297"/>
            <a:ext cx="629959" cy="590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103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par>
                                <p:cTn id="8" presetID="22" presetClass="entr" presetSubtype="4" fill="hold"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wipe(down)">
                                      <p:cBhvr>
                                        <p:cTn id="1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86205" y="1340768"/>
            <a:ext cx="7430211" cy="3096344"/>
            <a:chOff x="1846734" y="1456184"/>
            <a:chExt cx="9937104" cy="4095130"/>
          </a:xfrm>
        </p:grpSpPr>
        <p:sp>
          <p:nvSpPr>
            <p:cNvPr id="3" name="矩形 2"/>
            <p:cNvSpPr/>
            <p:nvPr/>
          </p:nvSpPr>
          <p:spPr>
            <a:xfrm>
              <a:off x="1846734" y="1512424"/>
              <a:ext cx="9937104" cy="4004808"/>
            </a:xfrm>
            <a:prstGeom prst="rect">
              <a:avLst/>
            </a:prstGeom>
            <a:ln>
              <a:solidFill>
                <a:srgbClr val="7BC143"/>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sz="1600" dirty="0">
                <a:solidFill>
                  <a:srgbClr val="7BC143"/>
                </a:solidFill>
                <a:ea typeface="微软雅黑" panose="020B0503020204020204" pitchFamily="34" charset="-122"/>
              </a:endParaRPr>
            </a:p>
          </p:txBody>
        </p:sp>
        <p:pic>
          <p:nvPicPr>
            <p:cNvPr id="4" name="Picture 8" descr="C:\Documents and Settings\tdz\桌面\绿色箭头标签01.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527109" y="1456184"/>
              <a:ext cx="100330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descr="C:\Documents and Settings\tdz\Local Settings\Temp\SoEasy\2ED57B32DAFDACEEB44B8E85F3D00E28.png"/>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0455101" y="4557600"/>
              <a:ext cx="1184721" cy="99371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30"/>
            <p:cNvSpPr txBox="1"/>
            <p:nvPr/>
          </p:nvSpPr>
          <p:spPr>
            <a:xfrm>
              <a:off x="10674474" y="1550373"/>
              <a:ext cx="617427" cy="1343285"/>
            </a:xfrm>
            <a:prstGeom prst="rect">
              <a:avLst/>
            </a:prstGeom>
            <a:noFill/>
          </p:spPr>
          <p:txBody>
            <a:bodyPr vert="eaVert" wrap="none" rtlCol="0">
              <a:spAutoFit/>
            </a:bodyPr>
            <a:lstStyle/>
            <a:p>
              <a:r>
                <a:rPr lang="zh-CN" altLang="en-US" dirty="0">
                  <a:solidFill>
                    <a:schemeClr val="bg1"/>
                  </a:solidFill>
                  <a:latin typeface="微软雅黑" pitchFamily="34" charset="-122"/>
                  <a:ea typeface="微软雅黑" pitchFamily="34" charset="-122"/>
                </a:rPr>
                <a:t>映射方法</a:t>
              </a:r>
            </a:p>
          </p:txBody>
        </p:sp>
      </p:grpSp>
      <p:pic>
        <p:nvPicPr>
          <p:cNvPr id="9" name="Picture 2" descr="http://pic2.sc.chinaz.com/files/pic/pic9/201203/xpic3867.jp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274473" y="1566605"/>
            <a:ext cx="3870076" cy="266142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32"/>
          <p:cNvSpPr txBox="1"/>
          <p:nvPr/>
        </p:nvSpPr>
        <p:spPr>
          <a:xfrm>
            <a:off x="1106967" y="1549088"/>
            <a:ext cx="2007025" cy="2712024"/>
          </a:xfrm>
          <a:prstGeom prst="rect">
            <a:avLst/>
          </a:prstGeom>
          <a:noFill/>
        </p:spPr>
        <p:txBody>
          <a:bodyPr wrap="square">
            <a:spAutoFit/>
          </a:bodyPr>
          <a:lstStyle/>
          <a:p>
            <a:pPr>
              <a:lnSpc>
                <a:spcPct val="133000"/>
              </a:lnSpc>
              <a:defRPr/>
            </a:pPr>
            <a:r>
              <a:rPr lang="zh-CN" altLang="en-US" sz="1600" dirty="0">
                <a:solidFill>
                  <a:schemeClr val="tx1">
                    <a:lumMod val="65000"/>
                    <a:lumOff val="35000"/>
                  </a:schemeClr>
                </a:solidFill>
                <a:latin typeface="微软雅黑" pitchFamily="34" charset="-122"/>
                <a:ea typeface="微软雅黑" pitchFamily="34" charset="-122"/>
              </a:rPr>
              <a:t>线性地址到物理地址的转换要解决的是线性地址空间的</a:t>
            </a:r>
            <a:r>
              <a:rPr lang="zh-CN" altLang="en-US" sz="1600" dirty="0">
                <a:solidFill>
                  <a:srgbClr val="FF0066"/>
                </a:solidFill>
                <a:latin typeface="微软雅黑" pitchFamily="34" charset="-122"/>
                <a:ea typeface="微软雅黑" pitchFamily="34" charset="-122"/>
              </a:rPr>
              <a:t>页</a:t>
            </a:r>
            <a:r>
              <a:rPr lang="zh-CN" altLang="en-US" sz="1600" dirty="0">
                <a:solidFill>
                  <a:schemeClr val="tx1">
                    <a:lumMod val="65000"/>
                    <a:lumOff val="35000"/>
                  </a:schemeClr>
                </a:solidFill>
                <a:latin typeface="微软雅黑" pitchFamily="34" charset="-122"/>
                <a:ea typeface="微软雅黑" pitchFamily="34" charset="-122"/>
              </a:rPr>
              <a:t>到物理地址空间的</a:t>
            </a:r>
            <a:r>
              <a:rPr lang="zh-CN" altLang="en-US" sz="1600" dirty="0">
                <a:solidFill>
                  <a:srgbClr val="FF0066"/>
                </a:solidFill>
                <a:latin typeface="微软雅黑" pitchFamily="34" charset="-122"/>
                <a:ea typeface="微软雅黑" pitchFamily="34" charset="-122"/>
              </a:rPr>
              <a:t>页</a:t>
            </a:r>
            <a:r>
              <a:rPr lang="zh-CN" altLang="en-US" sz="1600" dirty="0">
                <a:solidFill>
                  <a:schemeClr val="tx1">
                    <a:lumMod val="65000"/>
                    <a:lumOff val="35000"/>
                  </a:schemeClr>
                </a:solidFill>
                <a:latin typeface="微软雅黑" pitchFamily="34" charset="-122"/>
                <a:ea typeface="微软雅黑" pitchFamily="34" charset="-122"/>
              </a:rPr>
              <a:t>的映射，也就是线性地址高</a:t>
            </a:r>
            <a:r>
              <a:rPr lang="en-US" altLang="zh-CN" sz="1600" dirty="0">
                <a:solidFill>
                  <a:schemeClr val="tx1">
                    <a:lumMod val="65000"/>
                    <a:lumOff val="35000"/>
                  </a:schemeClr>
                </a:solidFill>
                <a:latin typeface="微软雅黑" pitchFamily="34" charset="-122"/>
                <a:ea typeface="微软雅黑" pitchFamily="34" charset="-122"/>
              </a:rPr>
              <a:t>20</a:t>
            </a:r>
            <a:r>
              <a:rPr lang="zh-CN" altLang="en-US" sz="1600" dirty="0">
                <a:solidFill>
                  <a:schemeClr val="tx1">
                    <a:lumMod val="65000"/>
                    <a:lumOff val="35000"/>
                  </a:schemeClr>
                </a:solidFill>
                <a:latin typeface="微软雅黑" pitchFamily="34" charset="-122"/>
                <a:ea typeface="微软雅黑" pitchFamily="34" charset="-122"/>
              </a:rPr>
              <a:t>位到物理地址高</a:t>
            </a:r>
            <a:r>
              <a:rPr lang="en-US" altLang="zh-CN" sz="1600" dirty="0">
                <a:solidFill>
                  <a:schemeClr val="tx1">
                    <a:lumMod val="65000"/>
                    <a:lumOff val="35000"/>
                  </a:schemeClr>
                </a:solidFill>
                <a:latin typeface="微软雅黑" pitchFamily="34" charset="-122"/>
                <a:ea typeface="微软雅黑" pitchFamily="34" charset="-122"/>
              </a:rPr>
              <a:t>20</a:t>
            </a:r>
            <a:r>
              <a:rPr lang="zh-CN" altLang="en-US" sz="1600" dirty="0">
                <a:solidFill>
                  <a:schemeClr val="tx1">
                    <a:lumMod val="65000"/>
                    <a:lumOff val="35000"/>
                  </a:schemeClr>
                </a:solidFill>
                <a:latin typeface="微软雅黑" pitchFamily="34" charset="-122"/>
                <a:ea typeface="微软雅黑" pitchFamily="34" charset="-122"/>
              </a:rPr>
              <a:t>位的转换。</a:t>
            </a:r>
            <a:endParaRPr lang="zh-CN" altLang="en-US" sz="1600" dirty="0">
              <a:solidFill>
                <a:schemeClr val="tx1">
                  <a:lumMod val="65000"/>
                  <a:lumOff val="35000"/>
                </a:schemeClr>
              </a:solidFill>
              <a:latin typeface="Times New Roman" panose="02020603050405020304" pitchFamily="18" charset="0"/>
              <a:ea typeface="微软雅黑" panose="020B0503020204020204" pitchFamily="34" charset="-122"/>
            </a:endParaRPr>
          </a:p>
        </p:txBody>
      </p:sp>
      <p:cxnSp>
        <p:nvCxnSpPr>
          <p:cNvPr id="11" name="直接连接符 10"/>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2"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线性地址如何映射为物理地址</a:t>
            </a:r>
            <a:endParaRPr lang="en-US" altLang="zh-CN" sz="3200" b="1" dirty="0">
              <a:solidFill>
                <a:srgbClr val="00B0F0"/>
              </a:solidFill>
              <a:latin typeface="微软雅黑" pitchFamily="34" charset="-122"/>
              <a:ea typeface="微软雅黑" pitchFamily="34" charset="-122"/>
            </a:endParaRPr>
          </a:p>
        </p:txBody>
      </p:sp>
      <p:cxnSp>
        <p:nvCxnSpPr>
          <p:cNvPr id="13" name="直接连接符 1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4" name="矩形 13"/>
          <p:cNvSpPr/>
          <p:nvPr/>
        </p:nvSpPr>
        <p:spPr>
          <a:xfrm>
            <a:off x="886205" y="4656577"/>
            <a:ext cx="7430211" cy="1349888"/>
          </a:xfrm>
          <a:prstGeom prst="rect">
            <a:avLst/>
          </a:prstGeom>
          <a:ln>
            <a:solidFill>
              <a:srgbClr val="36B2E6"/>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dirty="0">
              <a:ea typeface="微软雅黑" panose="020B0503020204020204" pitchFamily="34" charset="-122"/>
            </a:endParaRPr>
          </a:p>
        </p:txBody>
      </p:sp>
      <p:pic>
        <p:nvPicPr>
          <p:cNvPr id="15" name="Picture 2" descr="E:\仝德志文件，勿删！\03-参考文档\！PPT图片及版面资源\06-PPT精选插图\12-标签\右边角-蓝1.png"/>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7420590" y="4566305"/>
            <a:ext cx="1012736" cy="1008112"/>
          </a:xfrm>
          <a:prstGeom prst="rect">
            <a:avLst/>
          </a:prstGeom>
          <a:noFill/>
          <a:extLst>
            <a:ext uri="{909E8E84-426E-40DD-AFC4-6F175D3DCCD1}">
              <a14:hiddenFill xmlns:a14="http://schemas.microsoft.com/office/drawing/2010/main">
                <a:solidFill>
                  <a:srgbClr val="FFFFFF"/>
                </a:solidFill>
              </a14:hiddenFill>
            </a:ext>
          </a:extLst>
        </p:spPr>
      </p:pic>
      <p:sp>
        <p:nvSpPr>
          <p:cNvPr id="16" name="Text Box 44"/>
          <p:cNvSpPr txBox="1">
            <a:spLocks noChangeArrowheads="1"/>
          </p:cNvSpPr>
          <p:nvPr/>
        </p:nvSpPr>
        <p:spPr bwMode="auto">
          <a:xfrm>
            <a:off x="1084490" y="4710321"/>
            <a:ext cx="6658741" cy="74725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indent="0" defTabSz="914400">
              <a:lnSpc>
                <a:spcPct val="133000"/>
              </a:lnSpc>
              <a:defRPr/>
            </a:pPr>
            <a:r>
              <a:rPr lang="zh-CN" altLang="en-US" dirty="0">
                <a:solidFill>
                  <a:schemeClr val="tx1">
                    <a:lumMod val="65000"/>
                    <a:lumOff val="35000"/>
                  </a:schemeClr>
                </a:solidFill>
              </a:rPr>
              <a:t>采用表格来建立线性地址页到物理页的映射，</a:t>
            </a:r>
            <a:r>
              <a:rPr lang="en-US" altLang="zh-CN" dirty="0">
                <a:solidFill>
                  <a:schemeClr val="tx1">
                    <a:lumMod val="65000"/>
                    <a:lumOff val="35000"/>
                  </a:schemeClr>
                </a:solidFill>
              </a:rPr>
              <a:t>2</a:t>
            </a:r>
            <a:r>
              <a:rPr lang="en-US" altLang="zh-CN" baseline="30000" dirty="0">
                <a:solidFill>
                  <a:schemeClr val="tx1">
                    <a:lumMod val="65000"/>
                    <a:lumOff val="35000"/>
                  </a:schemeClr>
                </a:solidFill>
              </a:rPr>
              <a:t>20</a:t>
            </a:r>
            <a:r>
              <a:rPr lang="zh-CN" altLang="en-US" dirty="0">
                <a:solidFill>
                  <a:schemeClr val="tx1">
                    <a:lumMod val="65000"/>
                    <a:lumOff val="35000"/>
                  </a:schemeClr>
                </a:solidFill>
              </a:rPr>
              <a:t>个页，</a:t>
            </a:r>
            <a:r>
              <a:rPr lang="en-US" altLang="zh-CN" dirty="0">
                <a:solidFill>
                  <a:schemeClr val="tx1">
                    <a:lumMod val="65000"/>
                    <a:lumOff val="35000"/>
                  </a:schemeClr>
                </a:solidFill>
              </a:rPr>
              <a:t> 2</a:t>
            </a:r>
            <a:r>
              <a:rPr lang="en-US" altLang="zh-CN" baseline="30000" dirty="0">
                <a:solidFill>
                  <a:schemeClr val="tx1">
                    <a:lumMod val="65000"/>
                    <a:lumOff val="35000"/>
                  </a:schemeClr>
                </a:solidFill>
              </a:rPr>
              <a:t>20</a:t>
            </a:r>
            <a:r>
              <a:rPr lang="zh-CN" altLang="en-US" dirty="0">
                <a:solidFill>
                  <a:schemeClr val="tx1">
                    <a:lumMod val="65000"/>
                    <a:lumOff val="35000"/>
                  </a:schemeClr>
                </a:solidFill>
              </a:rPr>
              <a:t>个表项，如果每个</a:t>
            </a:r>
            <a:r>
              <a:rPr lang="en-US" altLang="zh-CN" dirty="0">
                <a:solidFill>
                  <a:schemeClr val="tx1">
                    <a:lumMod val="65000"/>
                    <a:lumOff val="35000"/>
                  </a:schemeClr>
                </a:solidFill>
              </a:rPr>
              <a:t>4</a:t>
            </a:r>
            <a:r>
              <a:rPr lang="zh-CN" altLang="en-US" dirty="0">
                <a:solidFill>
                  <a:schemeClr val="tx1">
                    <a:lumMod val="65000"/>
                    <a:lumOff val="35000"/>
                  </a:schemeClr>
                </a:solidFill>
              </a:rPr>
              <a:t>字节，占用</a:t>
            </a:r>
            <a:r>
              <a:rPr lang="en-US" altLang="zh-CN" dirty="0">
                <a:solidFill>
                  <a:schemeClr val="tx1">
                    <a:lumMod val="65000"/>
                    <a:lumOff val="35000"/>
                  </a:schemeClr>
                </a:solidFill>
              </a:rPr>
              <a:t>4MB</a:t>
            </a:r>
            <a:r>
              <a:rPr lang="zh-CN" altLang="en-US" dirty="0">
                <a:solidFill>
                  <a:schemeClr val="tx1">
                    <a:lumMod val="65000"/>
                    <a:lumOff val="35000"/>
                  </a:schemeClr>
                </a:solidFill>
              </a:rPr>
              <a:t>。开销大！</a:t>
            </a:r>
            <a:endParaRPr lang="en-US" dirty="0">
              <a:solidFill>
                <a:schemeClr val="tx1">
                  <a:lumMod val="65000"/>
                  <a:lumOff val="35000"/>
                </a:schemeClr>
              </a:solidFill>
            </a:endParaRPr>
          </a:p>
        </p:txBody>
      </p:sp>
      <p:sp>
        <p:nvSpPr>
          <p:cNvPr id="17" name="TextBox 15"/>
          <p:cNvSpPr txBox="1"/>
          <p:nvPr/>
        </p:nvSpPr>
        <p:spPr>
          <a:xfrm rot="2771384">
            <a:off x="7693868" y="4742710"/>
            <a:ext cx="646415" cy="369380"/>
          </a:xfrm>
          <a:prstGeom prst="rect">
            <a:avLst/>
          </a:prstGeom>
          <a:noFill/>
        </p:spPr>
        <p:txBody>
          <a:bodyPr wrap="none" rtlCol="0">
            <a:spAutoFit/>
          </a:bodyPr>
          <a:lstStyle/>
          <a:p>
            <a:r>
              <a:rPr lang="zh-CN" altLang="en-US" b="1" dirty="0">
                <a:solidFill>
                  <a:prstClr val="white"/>
                </a:solidFill>
                <a:latin typeface="微软雅黑" pitchFamily="34" charset="-122"/>
                <a:ea typeface="微软雅黑" pitchFamily="34" charset="-122"/>
              </a:rPr>
              <a:t>问题</a:t>
            </a:r>
          </a:p>
        </p:txBody>
      </p:sp>
      <p:sp>
        <p:nvSpPr>
          <p:cNvPr id="22" name="圆角矩形 21"/>
          <p:cNvSpPr/>
          <p:nvPr/>
        </p:nvSpPr>
        <p:spPr>
          <a:xfrm>
            <a:off x="3491880" y="5421431"/>
            <a:ext cx="2565368" cy="527849"/>
          </a:xfrm>
          <a:prstGeom prst="roundRect">
            <a:avLst>
              <a:gd name="adj" fmla="val 4375"/>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ea typeface="微软雅黑" panose="020B0503020204020204" pitchFamily="34" charset="-122"/>
              </a:rPr>
              <a:t>多级页映射表！</a:t>
            </a:r>
          </a:p>
        </p:txBody>
      </p:sp>
    </p:spTree>
    <p:extLst>
      <p:ext uri="{BB962C8B-B14F-4D97-AF65-F5344CB8AC3E}">
        <p14:creationId xmlns:p14="http://schemas.microsoft.com/office/powerpoint/2010/main" val="343878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6" name="直接箭头连接符 65"/>
          <p:cNvCxnSpPr/>
          <p:nvPr/>
        </p:nvCxnSpPr>
        <p:spPr>
          <a:xfrm>
            <a:off x="918423" y="3698779"/>
            <a:ext cx="4619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线性地址到物理地址：两级页表</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7" name="矩形 6"/>
          <p:cNvSpPr/>
          <p:nvPr/>
        </p:nvSpPr>
        <p:spPr>
          <a:xfrm>
            <a:off x="1380348" y="2529089"/>
            <a:ext cx="1973017" cy="1167687"/>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矩形 7"/>
          <p:cNvSpPr/>
          <p:nvPr/>
        </p:nvSpPr>
        <p:spPr>
          <a:xfrm>
            <a:off x="1386460" y="2743200"/>
            <a:ext cx="1973017" cy="361000"/>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页目录项</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矩形 10"/>
          <p:cNvSpPr/>
          <p:nvPr/>
        </p:nvSpPr>
        <p:spPr>
          <a:xfrm>
            <a:off x="4129417" y="2112289"/>
            <a:ext cx="1974722" cy="125543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cxnSp>
        <p:nvCxnSpPr>
          <p:cNvPr id="12" name="直接箭头连接符 11"/>
          <p:cNvCxnSpPr>
            <a:stCxn id="8" idx="3"/>
          </p:cNvCxnSpPr>
          <p:nvPr/>
        </p:nvCxnSpPr>
        <p:spPr>
          <a:xfrm flipV="1">
            <a:off x="3359477" y="2516232"/>
            <a:ext cx="679673" cy="407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4129417" y="2441232"/>
            <a:ext cx="1974722" cy="348535"/>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页表项</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4129417" y="2820257"/>
            <a:ext cx="1974722" cy="348535"/>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页表项</a:t>
            </a:r>
          </a:p>
        </p:txBody>
      </p:sp>
      <p:sp>
        <p:nvSpPr>
          <p:cNvPr id="15" name="矩形 14"/>
          <p:cNvSpPr/>
          <p:nvPr/>
        </p:nvSpPr>
        <p:spPr>
          <a:xfrm>
            <a:off x="1673211" y="2076291"/>
            <a:ext cx="1224136" cy="364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页目录表</a:t>
            </a:r>
          </a:p>
        </p:txBody>
      </p:sp>
      <p:sp>
        <p:nvSpPr>
          <p:cNvPr id="16" name="矩形 15"/>
          <p:cNvSpPr/>
          <p:nvPr/>
        </p:nvSpPr>
        <p:spPr>
          <a:xfrm>
            <a:off x="4016687" y="1700054"/>
            <a:ext cx="2200962" cy="3086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页表</a:t>
            </a:r>
          </a:p>
        </p:txBody>
      </p:sp>
      <p:cxnSp>
        <p:nvCxnSpPr>
          <p:cNvPr id="19" name="直接箭头连接符 18"/>
          <p:cNvCxnSpPr>
            <a:stCxn id="30" idx="3"/>
          </p:cNvCxnSpPr>
          <p:nvPr/>
        </p:nvCxnSpPr>
        <p:spPr>
          <a:xfrm>
            <a:off x="3359477" y="3294714"/>
            <a:ext cx="657210" cy="881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4129417" y="3625931"/>
            <a:ext cx="1974722" cy="11008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1" name="矩形 20"/>
          <p:cNvSpPr/>
          <p:nvPr/>
        </p:nvSpPr>
        <p:spPr>
          <a:xfrm>
            <a:off x="4129417" y="3800464"/>
            <a:ext cx="1974722" cy="348535"/>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页表项</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矩形 21"/>
          <p:cNvSpPr/>
          <p:nvPr/>
        </p:nvSpPr>
        <p:spPr>
          <a:xfrm>
            <a:off x="4129417" y="4179489"/>
            <a:ext cx="1974722" cy="348535"/>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页表项</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矩形 24"/>
          <p:cNvSpPr/>
          <p:nvPr/>
        </p:nvSpPr>
        <p:spPr>
          <a:xfrm>
            <a:off x="395536" y="5509558"/>
            <a:ext cx="8568951" cy="450081"/>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latin typeface="微软雅黑" panose="020B0503020204020204" pitchFamily="34" charset="-122"/>
                <a:ea typeface="微软雅黑" panose="020B0503020204020204" pitchFamily="34" charset="-122"/>
              </a:rPr>
              <a:t>每表格</a:t>
            </a:r>
            <a:r>
              <a:rPr lang="en-US" altLang="zh-CN" b="1" dirty="0">
                <a:solidFill>
                  <a:schemeClr val="bg1"/>
                </a:solidFill>
                <a:latin typeface="微软雅黑" panose="020B0503020204020204" pitchFamily="34" charset="-122"/>
                <a:ea typeface="微软雅黑" panose="020B0503020204020204" pitchFamily="34" charset="-122"/>
              </a:rPr>
              <a:t>4KB</a:t>
            </a:r>
            <a:r>
              <a:rPr lang="zh-CN" altLang="en-US" b="1" dirty="0">
                <a:solidFill>
                  <a:schemeClr val="bg1"/>
                </a:solidFill>
                <a:latin typeface="微软雅黑" panose="020B0503020204020204" pitchFamily="34" charset="-122"/>
                <a:ea typeface="微软雅黑" panose="020B0503020204020204" pitchFamily="34" charset="-122"/>
              </a:rPr>
              <a:t>，</a:t>
            </a:r>
            <a:r>
              <a:rPr lang="en-US" altLang="zh-CN" b="1" dirty="0">
                <a:solidFill>
                  <a:schemeClr val="bg1"/>
                </a:solidFill>
                <a:latin typeface="微软雅黑" panose="020B0503020204020204" pitchFamily="34" charset="-122"/>
                <a:ea typeface="微软雅黑" panose="020B0503020204020204" pitchFamily="34" charset="-122"/>
              </a:rPr>
              <a:t>CR3</a:t>
            </a:r>
            <a:r>
              <a:rPr lang="zh-CN" altLang="en-US" b="1" dirty="0">
                <a:solidFill>
                  <a:schemeClr val="bg1"/>
                </a:solidFill>
                <a:latin typeface="微软雅黑" panose="020B0503020204020204" pitchFamily="34" charset="-122"/>
                <a:ea typeface="微软雅黑" panose="020B0503020204020204" pitchFamily="34" charset="-122"/>
              </a:rPr>
              <a:t>放页目录表基地址，页目录项放页表基地址，页表项放页基地址。</a:t>
            </a:r>
          </a:p>
        </p:txBody>
      </p:sp>
      <p:sp>
        <p:nvSpPr>
          <p:cNvPr id="26" name="矩形 25"/>
          <p:cNvSpPr/>
          <p:nvPr/>
        </p:nvSpPr>
        <p:spPr>
          <a:xfrm>
            <a:off x="4016687" y="4864483"/>
            <a:ext cx="2200962" cy="3086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页表</a:t>
            </a:r>
          </a:p>
        </p:txBody>
      </p:sp>
      <p:sp>
        <p:nvSpPr>
          <p:cNvPr id="30" name="矩形 29"/>
          <p:cNvSpPr/>
          <p:nvPr/>
        </p:nvSpPr>
        <p:spPr>
          <a:xfrm>
            <a:off x="1386460" y="3116558"/>
            <a:ext cx="1973017" cy="356312"/>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页目录项</a:t>
            </a:r>
          </a:p>
        </p:txBody>
      </p:sp>
      <p:sp>
        <p:nvSpPr>
          <p:cNvPr id="31" name="矩形 30"/>
          <p:cNvSpPr/>
          <p:nvPr/>
        </p:nvSpPr>
        <p:spPr>
          <a:xfrm>
            <a:off x="6701734" y="1556792"/>
            <a:ext cx="1974722" cy="124822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5" name="矩形 34"/>
          <p:cNvSpPr/>
          <p:nvPr/>
        </p:nvSpPr>
        <p:spPr>
          <a:xfrm>
            <a:off x="6701734" y="3800465"/>
            <a:ext cx="1974721" cy="116935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cxnSp>
        <p:nvCxnSpPr>
          <p:cNvPr id="39" name="直接箭头连接符 38"/>
          <p:cNvCxnSpPr>
            <a:stCxn id="13" idx="3"/>
            <a:endCxn id="31" idx="1"/>
          </p:cNvCxnSpPr>
          <p:nvPr/>
        </p:nvCxnSpPr>
        <p:spPr>
          <a:xfrm flipV="1">
            <a:off x="6104139" y="2180902"/>
            <a:ext cx="597595" cy="434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endCxn id="35" idx="1"/>
          </p:cNvCxnSpPr>
          <p:nvPr/>
        </p:nvCxnSpPr>
        <p:spPr>
          <a:xfrm>
            <a:off x="6077990" y="4364686"/>
            <a:ext cx="623744" cy="204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矩形 59"/>
          <p:cNvSpPr/>
          <p:nvPr/>
        </p:nvSpPr>
        <p:spPr>
          <a:xfrm>
            <a:off x="6983959" y="2449419"/>
            <a:ext cx="1410271" cy="276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物理页</a:t>
            </a:r>
          </a:p>
        </p:txBody>
      </p:sp>
      <p:sp>
        <p:nvSpPr>
          <p:cNvPr id="61" name="矩形 60"/>
          <p:cNvSpPr/>
          <p:nvPr/>
        </p:nvSpPr>
        <p:spPr>
          <a:xfrm>
            <a:off x="6983959" y="4622530"/>
            <a:ext cx="1410271" cy="276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物理页</a:t>
            </a:r>
          </a:p>
        </p:txBody>
      </p:sp>
      <p:sp>
        <p:nvSpPr>
          <p:cNvPr id="62" name="矩形 61"/>
          <p:cNvSpPr/>
          <p:nvPr/>
        </p:nvSpPr>
        <p:spPr>
          <a:xfrm>
            <a:off x="265877" y="3472870"/>
            <a:ext cx="728104" cy="360041"/>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CR3</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8" name="矩形 4"/>
          <p:cNvSpPr>
            <a:spLocks noChangeArrowheads="1"/>
          </p:cNvSpPr>
          <p:nvPr/>
        </p:nvSpPr>
        <p:spPr bwMode="auto">
          <a:xfrm>
            <a:off x="790797" y="6125036"/>
            <a:ext cx="6589515" cy="412421"/>
          </a:xfrm>
          <a:prstGeom prst="rect">
            <a:avLst/>
          </a:prstGeom>
          <a:noFill/>
          <a:ln w="9525">
            <a:noFill/>
            <a:miter lim="800000"/>
            <a:headEnd/>
            <a:tailEnd/>
          </a:ln>
        </p:spPr>
        <p:txBody>
          <a:bodyPr wrap="square">
            <a:spAutoFit/>
          </a:bodyPr>
          <a:lstStyle/>
          <a:p>
            <a:pPr>
              <a:lnSpc>
                <a:spcPct val="130000"/>
              </a:lnSpc>
              <a:spcBef>
                <a:spcPts val="200"/>
              </a:spcBef>
              <a:spcAft>
                <a:spcPts val="60"/>
              </a:spcAft>
            </a:pPr>
            <a:r>
              <a:rPr lang="zh-CN" altLang="en-US" sz="1600" b="1" dirty="0">
                <a:solidFill>
                  <a:schemeClr val="tx1">
                    <a:lumMod val="50000"/>
                    <a:lumOff val="50000"/>
                  </a:schemeClr>
                </a:solidFill>
                <a:latin typeface="微软雅黑" pitchFamily="34" charset="-122"/>
                <a:ea typeface="微软雅黑" pitchFamily="34" charset="-122"/>
              </a:rPr>
              <a:t>系统为每个进程分配一个页目录表，只有被使用的页表才被分配到内存。</a:t>
            </a:r>
          </a:p>
        </p:txBody>
      </p:sp>
      <p:pic>
        <p:nvPicPr>
          <p:cNvPr id="29" name="Picture 2" descr="C:\Documents and Settings\tdz\桌面\未标题-1 拷贝.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79512" y="6000834"/>
            <a:ext cx="629959" cy="590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7492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left)">
                                      <p:cBhvr>
                                        <p:cTn id="7" dur="500"/>
                                        <p:tgtEl>
                                          <p:spTgt spid="6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wipe(left)">
                                      <p:cBhvr>
                                        <p:cTn id="10" dur="500"/>
                                        <p:tgtEl>
                                          <p:spTgt spid="6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linds(horizontal)">
                                      <p:cBhvr>
                                        <p:cTn id="21" dur="500"/>
                                        <p:tgtEl>
                                          <p:spTgt spid="1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blinds(horizontal)">
                                      <p:cBhvr>
                                        <p:cTn id="24" dur="500"/>
                                        <p:tgtEl>
                                          <p:spTgt spid="30"/>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linds(horizontal)">
                                      <p:cBhvr>
                                        <p:cTn id="29" dur="500"/>
                                        <p:tgtEl>
                                          <p:spTgt spid="11"/>
                                        </p:tgtEl>
                                      </p:cBhvr>
                                    </p:animEffect>
                                  </p:childTnLst>
                                </p:cTn>
                              </p:par>
                              <p:par>
                                <p:cTn id="30" presetID="3" presetClass="entr" presetSubtype="1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linds(horizontal)">
                                      <p:cBhvr>
                                        <p:cTn id="32" dur="500"/>
                                        <p:tgtEl>
                                          <p:spTgt spid="12"/>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blinds(horizontal)">
                                      <p:cBhvr>
                                        <p:cTn id="35" dur="500"/>
                                        <p:tgtEl>
                                          <p:spTgt spid="13"/>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blinds(horizontal)">
                                      <p:cBhvr>
                                        <p:cTn id="38" dur="500"/>
                                        <p:tgtEl>
                                          <p:spTgt spid="14"/>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blinds(horizontal)">
                                      <p:cBhvr>
                                        <p:cTn id="41" dur="50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blinds(horizontal)">
                                      <p:cBhvr>
                                        <p:cTn id="46" dur="500"/>
                                        <p:tgtEl>
                                          <p:spTgt spid="19"/>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blinds(horizontal)">
                                      <p:cBhvr>
                                        <p:cTn id="49" dur="500"/>
                                        <p:tgtEl>
                                          <p:spTgt spid="20"/>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blinds(horizontal)">
                                      <p:cBhvr>
                                        <p:cTn id="52" dur="500"/>
                                        <p:tgtEl>
                                          <p:spTgt spid="21"/>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blinds(horizontal)">
                                      <p:cBhvr>
                                        <p:cTn id="55" dur="500"/>
                                        <p:tgtEl>
                                          <p:spTgt spid="22"/>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blinds(horizontal)">
                                      <p:cBhvr>
                                        <p:cTn id="58" dur="500"/>
                                        <p:tgtEl>
                                          <p:spTgt spid="26"/>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blinds(horizontal)">
                                      <p:cBhvr>
                                        <p:cTn id="63" dur="500"/>
                                        <p:tgtEl>
                                          <p:spTgt spid="31"/>
                                        </p:tgtEl>
                                      </p:cBhvr>
                                    </p:animEffect>
                                  </p:childTnLst>
                                </p:cTn>
                              </p:par>
                              <p:par>
                                <p:cTn id="64" presetID="3" presetClass="entr" presetSubtype="10" fill="hold"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blinds(horizontal)">
                                      <p:cBhvr>
                                        <p:cTn id="66" dur="500"/>
                                        <p:tgtEl>
                                          <p:spTgt spid="39"/>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60"/>
                                        </p:tgtEl>
                                        <p:attrNameLst>
                                          <p:attrName>style.visibility</p:attrName>
                                        </p:attrNameLst>
                                      </p:cBhvr>
                                      <p:to>
                                        <p:strVal val="visible"/>
                                      </p:to>
                                    </p:set>
                                    <p:animEffect transition="in" filter="blinds(horizontal)">
                                      <p:cBhvr>
                                        <p:cTn id="69" dur="500"/>
                                        <p:tgtEl>
                                          <p:spTgt spid="60"/>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35"/>
                                        </p:tgtEl>
                                        <p:attrNameLst>
                                          <p:attrName>style.visibility</p:attrName>
                                        </p:attrNameLst>
                                      </p:cBhvr>
                                      <p:to>
                                        <p:strVal val="visible"/>
                                      </p:to>
                                    </p:set>
                                    <p:animEffect transition="in" filter="blinds(horizontal)">
                                      <p:cBhvr>
                                        <p:cTn id="74" dur="500"/>
                                        <p:tgtEl>
                                          <p:spTgt spid="35"/>
                                        </p:tgtEl>
                                      </p:cBhvr>
                                    </p:animEffect>
                                  </p:childTnLst>
                                </p:cTn>
                              </p:par>
                              <p:par>
                                <p:cTn id="75" presetID="3" presetClass="entr" presetSubtype="10" fill="hold" nodeType="with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blinds(horizontal)">
                                      <p:cBhvr>
                                        <p:cTn id="77" dur="500"/>
                                        <p:tgtEl>
                                          <p:spTgt spid="46"/>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61"/>
                                        </p:tgtEl>
                                        <p:attrNameLst>
                                          <p:attrName>style.visibility</p:attrName>
                                        </p:attrNameLst>
                                      </p:cBhvr>
                                      <p:to>
                                        <p:strVal val="visible"/>
                                      </p:to>
                                    </p:set>
                                    <p:animEffect transition="in" filter="blinds(horizontal)">
                                      <p:cBhvr>
                                        <p:cTn id="80" dur="500"/>
                                        <p:tgtEl>
                                          <p:spTgt spid="61"/>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25"/>
                                        </p:tgtEl>
                                        <p:attrNameLst>
                                          <p:attrName>style.visibility</p:attrName>
                                        </p:attrNameLst>
                                      </p:cBhvr>
                                      <p:to>
                                        <p:strVal val="visible"/>
                                      </p:to>
                                    </p:set>
                                    <p:animEffect transition="in" filter="wipe(left)">
                                      <p:cBhvr>
                                        <p:cTn id="85" dur="500"/>
                                        <p:tgtEl>
                                          <p:spTgt spid="25"/>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grpId="0" nodeType="click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wipe(down)">
                                      <p:cBhvr>
                                        <p:cTn id="90" dur="500"/>
                                        <p:tgtEl>
                                          <p:spTgt spid="28"/>
                                        </p:tgtEl>
                                      </p:cBhvr>
                                    </p:animEffect>
                                  </p:childTnLst>
                                </p:cTn>
                              </p:par>
                              <p:par>
                                <p:cTn id="91" presetID="22" presetClass="entr" presetSubtype="4" fill="hold" nodeType="with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wipe(down)">
                                      <p:cBhvr>
                                        <p:cTn id="9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3" grpId="0" animBg="1"/>
      <p:bldP spid="14" grpId="0" animBg="1"/>
      <p:bldP spid="15" grpId="0"/>
      <p:bldP spid="16" grpId="0"/>
      <p:bldP spid="20" grpId="0" animBg="1"/>
      <p:bldP spid="21" grpId="0" animBg="1"/>
      <p:bldP spid="22" grpId="0" animBg="1"/>
      <p:bldP spid="25" grpId="0" animBg="1"/>
      <p:bldP spid="26" grpId="0"/>
      <p:bldP spid="30" grpId="0" animBg="1"/>
      <p:bldP spid="31" grpId="0" animBg="1"/>
      <p:bldP spid="35" grpId="0" animBg="1"/>
      <p:bldP spid="60" grpId="0"/>
      <p:bldP spid="61" grpId="0"/>
      <p:bldP spid="62" grpId="0" animBg="1"/>
      <p:bldP spid="2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从线性地址转换成物理地址实例</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5" name="TextBox 17"/>
          <p:cNvSpPr txBox="1"/>
          <p:nvPr/>
        </p:nvSpPr>
        <p:spPr>
          <a:xfrm>
            <a:off x="557720" y="4944054"/>
            <a:ext cx="8180471" cy="1566070"/>
          </a:xfrm>
          <a:prstGeom prst="rect">
            <a:avLst/>
          </a:prstGeom>
          <a:noFill/>
          <a:ln>
            <a:solidFill>
              <a:srgbClr val="00B853"/>
            </a:solidFill>
            <a:prstDash val="dash"/>
          </a:ln>
        </p:spPr>
        <p:txBody>
          <a:bodyPr wrap="square">
            <a:spAutoFit/>
          </a:bodyPr>
          <a:lstStyle/>
          <a:p>
            <a:pPr marL="800100" lvl="1" indent="-342900">
              <a:lnSpc>
                <a:spcPct val="133000"/>
              </a:lnSpc>
              <a:buFont typeface="Wingdings" panose="05000000000000000000" pitchFamily="2" charset="2"/>
              <a:buChar char="n"/>
              <a:defRPr/>
            </a:pPr>
            <a:r>
              <a:rPr lang="zh-CN" altLang="en-US" b="1" dirty="0">
                <a:solidFill>
                  <a:schemeClr val="tx1">
                    <a:lumMod val="50000"/>
                    <a:lumOff val="50000"/>
                  </a:schemeClr>
                </a:solidFill>
                <a:latin typeface="微软雅黑" pitchFamily="34" charset="-122"/>
                <a:ea typeface="微软雅黑" pitchFamily="34" charset="-122"/>
              </a:rPr>
              <a:t>页</a:t>
            </a:r>
            <a:r>
              <a:rPr lang="zh-CN" altLang="en-US" b="1" dirty="0" smtClean="0">
                <a:solidFill>
                  <a:schemeClr val="tx1">
                    <a:lumMod val="50000"/>
                    <a:lumOff val="50000"/>
                  </a:schemeClr>
                </a:solidFill>
                <a:latin typeface="微软雅黑" pitchFamily="34" charset="-122"/>
                <a:ea typeface="微软雅黑" pitchFamily="34" charset="-122"/>
              </a:rPr>
              <a:t>目录项索引号</a:t>
            </a:r>
            <a:r>
              <a:rPr lang="zh-CN" altLang="en-US" b="1" dirty="0">
                <a:solidFill>
                  <a:schemeClr val="tx1">
                    <a:lumMod val="50000"/>
                    <a:lumOff val="50000"/>
                  </a:schemeClr>
                </a:solidFill>
                <a:latin typeface="微软雅黑" pitchFamily="34" charset="-122"/>
                <a:ea typeface="微软雅黑" pitchFamily="34" charset="-122"/>
              </a:rPr>
              <a:t>：线性地址第</a:t>
            </a:r>
            <a:r>
              <a:rPr lang="en-US" altLang="zh-CN" b="1" dirty="0">
                <a:solidFill>
                  <a:schemeClr val="tx1">
                    <a:lumMod val="50000"/>
                    <a:lumOff val="50000"/>
                  </a:schemeClr>
                </a:solidFill>
                <a:latin typeface="微软雅黑" pitchFamily="34" charset="-122"/>
                <a:ea typeface="微软雅黑" pitchFamily="34" charset="-122"/>
              </a:rPr>
              <a:t>31</a:t>
            </a:r>
            <a:r>
              <a:rPr lang="zh-CN" altLang="en-US" b="1" dirty="0">
                <a:solidFill>
                  <a:schemeClr val="tx1">
                    <a:lumMod val="50000"/>
                    <a:lumOff val="50000"/>
                  </a:schemeClr>
                </a:solidFill>
                <a:latin typeface="微软雅黑" pitchFamily="34" charset="-122"/>
                <a:ea typeface="微软雅黑" pitchFamily="34" charset="-122"/>
              </a:rPr>
              <a:t>～</a:t>
            </a:r>
            <a:r>
              <a:rPr lang="en-US" altLang="zh-CN" b="1" dirty="0">
                <a:solidFill>
                  <a:schemeClr val="tx1">
                    <a:lumMod val="50000"/>
                    <a:lumOff val="50000"/>
                  </a:schemeClr>
                </a:solidFill>
                <a:latin typeface="微软雅黑" pitchFamily="34" charset="-122"/>
                <a:ea typeface="微软雅黑" pitchFamily="34" charset="-122"/>
              </a:rPr>
              <a:t>22</a:t>
            </a:r>
            <a:r>
              <a:rPr lang="zh-CN" altLang="en-US" b="1" dirty="0">
                <a:solidFill>
                  <a:schemeClr val="tx1">
                    <a:lumMod val="50000"/>
                    <a:lumOff val="50000"/>
                  </a:schemeClr>
                </a:solidFill>
                <a:latin typeface="微软雅黑" pitchFamily="34" charset="-122"/>
                <a:ea typeface="微软雅黑" pitchFamily="34" charset="-122"/>
              </a:rPr>
              <a:t>共</a:t>
            </a:r>
            <a:r>
              <a:rPr lang="en-US" altLang="zh-CN" b="1" dirty="0">
                <a:solidFill>
                  <a:schemeClr val="tx1">
                    <a:lumMod val="50000"/>
                    <a:lumOff val="50000"/>
                  </a:schemeClr>
                </a:solidFill>
                <a:latin typeface="微软雅黑" pitchFamily="34" charset="-122"/>
                <a:ea typeface="微软雅黑" pitchFamily="34" charset="-122"/>
              </a:rPr>
              <a:t>10</a:t>
            </a:r>
            <a:r>
              <a:rPr lang="zh-CN" altLang="en-US" b="1" dirty="0">
                <a:solidFill>
                  <a:schemeClr val="tx1">
                    <a:lumMod val="50000"/>
                    <a:lumOff val="50000"/>
                  </a:schemeClr>
                </a:solidFill>
                <a:latin typeface="微软雅黑" pitchFamily="34" charset="-122"/>
                <a:ea typeface="微软雅黑" pitchFamily="34" charset="-122"/>
              </a:rPr>
              <a:t>位，页目录中页目录项的索引。</a:t>
            </a:r>
          </a:p>
          <a:p>
            <a:pPr marL="800100" lvl="1" indent="-342900">
              <a:lnSpc>
                <a:spcPct val="133000"/>
              </a:lnSpc>
              <a:buFont typeface="Wingdings" panose="05000000000000000000" pitchFamily="2" charset="2"/>
              <a:buChar char="n"/>
              <a:defRPr/>
            </a:pPr>
            <a:r>
              <a:rPr lang="zh-CN" altLang="en-US" b="1" dirty="0" smtClean="0">
                <a:solidFill>
                  <a:schemeClr val="tx1">
                    <a:lumMod val="50000"/>
                    <a:lumOff val="50000"/>
                  </a:schemeClr>
                </a:solidFill>
                <a:latin typeface="微软雅黑" pitchFamily="34" charset="-122"/>
                <a:ea typeface="微软雅黑" pitchFamily="34" charset="-122"/>
              </a:rPr>
              <a:t>页表项索引</a:t>
            </a:r>
            <a:r>
              <a:rPr lang="zh-CN" altLang="en-US" b="1" dirty="0">
                <a:solidFill>
                  <a:schemeClr val="tx1">
                    <a:lumMod val="50000"/>
                    <a:lumOff val="50000"/>
                  </a:schemeClr>
                </a:solidFill>
                <a:latin typeface="微软雅黑" pitchFamily="34" charset="-122"/>
                <a:ea typeface="微软雅黑" pitchFamily="34" charset="-122"/>
              </a:rPr>
              <a:t>号：线性地址第</a:t>
            </a:r>
            <a:r>
              <a:rPr lang="en-US" altLang="zh-CN" b="1" dirty="0">
                <a:solidFill>
                  <a:schemeClr val="tx1">
                    <a:lumMod val="50000"/>
                    <a:lumOff val="50000"/>
                  </a:schemeClr>
                </a:solidFill>
                <a:latin typeface="微软雅黑" pitchFamily="34" charset="-122"/>
                <a:ea typeface="微软雅黑" pitchFamily="34" charset="-122"/>
              </a:rPr>
              <a:t>21</a:t>
            </a:r>
            <a:r>
              <a:rPr lang="zh-CN" altLang="en-US" b="1" dirty="0">
                <a:solidFill>
                  <a:schemeClr val="tx1">
                    <a:lumMod val="50000"/>
                    <a:lumOff val="50000"/>
                  </a:schemeClr>
                </a:solidFill>
                <a:latin typeface="微软雅黑" pitchFamily="34" charset="-122"/>
                <a:ea typeface="微软雅黑" pitchFamily="34" charset="-122"/>
              </a:rPr>
              <a:t>～</a:t>
            </a:r>
            <a:r>
              <a:rPr lang="en-US" altLang="zh-CN" b="1" dirty="0">
                <a:solidFill>
                  <a:schemeClr val="tx1">
                    <a:lumMod val="50000"/>
                    <a:lumOff val="50000"/>
                  </a:schemeClr>
                </a:solidFill>
                <a:latin typeface="微软雅黑" pitchFamily="34" charset="-122"/>
                <a:ea typeface="微软雅黑" pitchFamily="34" charset="-122"/>
              </a:rPr>
              <a:t>12</a:t>
            </a:r>
            <a:r>
              <a:rPr lang="zh-CN" altLang="en-US" b="1" dirty="0">
                <a:solidFill>
                  <a:schemeClr val="tx1">
                    <a:lumMod val="50000"/>
                    <a:lumOff val="50000"/>
                  </a:schemeClr>
                </a:solidFill>
                <a:latin typeface="微软雅黑" pitchFamily="34" charset="-122"/>
                <a:ea typeface="微软雅黑" pitchFamily="34" charset="-122"/>
              </a:rPr>
              <a:t>共</a:t>
            </a:r>
            <a:r>
              <a:rPr lang="en-US" altLang="zh-CN" b="1" dirty="0">
                <a:solidFill>
                  <a:schemeClr val="tx1">
                    <a:lumMod val="50000"/>
                    <a:lumOff val="50000"/>
                  </a:schemeClr>
                </a:solidFill>
                <a:latin typeface="微软雅黑" pitchFamily="34" charset="-122"/>
                <a:ea typeface="微软雅黑" pitchFamily="34" charset="-122"/>
              </a:rPr>
              <a:t>10</a:t>
            </a:r>
            <a:r>
              <a:rPr lang="zh-CN" altLang="en-US" b="1" dirty="0">
                <a:solidFill>
                  <a:schemeClr val="tx1">
                    <a:lumMod val="50000"/>
                    <a:lumOff val="50000"/>
                  </a:schemeClr>
                </a:solidFill>
                <a:latin typeface="微软雅黑" pitchFamily="34" charset="-122"/>
                <a:ea typeface="微软雅黑" pitchFamily="34" charset="-122"/>
              </a:rPr>
              <a:t>位，页表中页表项的索引。</a:t>
            </a:r>
          </a:p>
          <a:p>
            <a:pPr marL="800100" lvl="1" indent="-342900">
              <a:lnSpc>
                <a:spcPct val="133000"/>
              </a:lnSpc>
              <a:buFont typeface="Wingdings" panose="05000000000000000000" pitchFamily="2" charset="2"/>
              <a:buChar char="n"/>
              <a:defRPr/>
            </a:pPr>
            <a:r>
              <a:rPr lang="zh-CN" altLang="en-US" b="1" dirty="0">
                <a:solidFill>
                  <a:schemeClr val="tx1">
                    <a:lumMod val="50000"/>
                    <a:lumOff val="50000"/>
                  </a:schemeClr>
                </a:solidFill>
                <a:latin typeface="微软雅黑" pitchFamily="34" charset="-122"/>
                <a:ea typeface="微软雅黑" pitchFamily="34" charset="-122"/>
              </a:rPr>
              <a:t>页内偏移量：线性地址第</a:t>
            </a:r>
            <a:r>
              <a:rPr lang="en-US" altLang="zh-CN" b="1" dirty="0">
                <a:solidFill>
                  <a:schemeClr val="tx1">
                    <a:lumMod val="50000"/>
                    <a:lumOff val="50000"/>
                  </a:schemeClr>
                </a:solidFill>
                <a:latin typeface="微软雅黑" pitchFamily="34" charset="-122"/>
                <a:ea typeface="微软雅黑" pitchFamily="34" charset="-122"/>
              </a:rPr>
              <a:t>11~0</a:t>
            </a:r>
            <a:r>
              <a:rPr lang="zh-CN" altLang="en-US" b="1" dirty="0">
                <a:solidFill>
                  <a:schemeClr val="tx1">
                    <a:lumMod val="50000"/>
                    <a:lumOff val="50000"/>
                  </a:schemeClr>
                </a:solidFill>
                <a:latin typeface="微软雅黑" pitchFamily="34" charset="-122"/>
                <a:ea typeface="微软雅黑" pitchFamily="34" charset="-122"/>
              </a:rPr>
              <a:t>共</a:t>
            </a:r>
            <a:r>
              <a:rPr lang="en-US" altLang="zh-CN" b="1" dirty="0">
                <a:solidFill>
                  <a:schemeClr val="tx1">
                    <a:lumMod val="50000"/>
                    <a:lumOff val="50000"/>
                  </a:schemeClr>
                </a:solidFill>
                <a:latin typeface="微软雅黑" pitchFamily="34" charset="-122"/>
                <a:ea typeface="微软雅黑" pitchFamily="34" charset="-122"/>
              </a:rPr>
              <a:t>12</a:t>
            </a:r>
            <a:r>
              <a:rPr lang="zh-CN" altLang="en-US" b="1" dirty="0">
                <a:solidFill>
                  <a:schemeClr val="tx1">
                    <a:lumMod val="50000"/>
                    <a:lumOff val="50000"/>
                  </a:schemeClr>
                </a:solidFill>
                <a:latin typeface="微软雅黑" pitchFamily="34" charset="-122"/>
                <a:ea typeface="微软雅黑" pitchFamily="34" charset="-122"/>
              </a:rPr>
              <a:t>位，寻址页内地址。</a:t>
            </a:r>
          </a:p>
        </p:txBody>
      </p:sp>
      <p:sp>
        <p:nvSpPr>
          <p:cNvPr id="6" name="AutoShape 1" descr="http://img.blog.csdn.net/20150123162516735?watermark/2/text/aHR0cDovL2Jsb2cuY3Nkbi5uZXQvWXVaaGlIdWlfTm8x/font/5a6L5L2T/fontsize/400/fill/I0JBQkFCMA==/dissolve/70/gravity/Cente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Arial" panose="020B0604020202020204" pitchFamily="34" charset="0"/>
              </a:rPr>
              <a:t/>
            </a:r>
            <a:br>
              <a:rPr kumimoji="0" lang="zh-CN" altLang="zh-CN" sz="1800" b="0" i="0" u="none" strike="noStrike" cap="none" normalizeH="0" baseline="0">
                <a:ln>
                  <a:noFill/>
                </a:ln>
                <a:solidFill>
                  <a:schemeClr val="tx1"/>
                </a:solidFill>
                <a:effectLst/>
                <a:latin typeface="Arial" panose="020B0604020202020204" pitchFamily="34" charset="0"/>
              </a:rPr>
            </a:b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8" name="AutoShape 3" descr="http://img.blog.csdn.net/20150123162516735?watermark/2/text/aHR0cDovL2Jsb2cuY3Nkbi5uZXQvWXVaaGlIdWlfTm8x/font/5a6L5L2T/fontsize/400/fill/I0JBQkFCMA==/dissolve/70/gravity/Center"/>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Rectangle 4"/>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Arial" panose="020B0604020202020204" pitchFamily="34" charset="0"/>
              </a:rPr>
              <a:t/>
            </a:r>
            <a:br>
              <a:rPr kumimoji="0" lang="zh-CN" altLang="zh-CN" sz="1800" b="0" i="0" u="none" strike="noStrike" cap="none" normalizeH="0" baseline="0">
                <a:ln>
                  <a:noFill/>
                </a:ln>
                <a:solidFill>
                  <a:schemeClr val="tx1"/>
                </a:solidFill>
                <a:effectLst/>
                <a:latin typeface="Arial" panose="020B0604020202020204" pitchFamily="34" charset="0"/>
              </a:rPr>
            </a:b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1" name="矩形 10"/>
          <p:cNvSpPr/>
          <p:nvPr/>
        </p:nvSpPr>
        <p:spPr>
          <a:xfrm>
            <a:off x="1707716" y="1702936"/>
            <a:ext cx="1973017" cy="356311"/>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页目录</a:t>
            </a:r>
            <a:r>
              <a:rPr lang="zh-CN" altLang="en-US" dirty="0" smtClean="0">
                <a:latin typeface="微软雅黑" panose="020B0503020204020204" pitchFamily="34" charset="-122"/>
                <a:ea typeface="微软雅黑" panose="020B0503020204020204" pitchFamily="34" charset="-122"/>
              </a:rPr>
              <a:t>项索引号</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3680733" y="1702936"/>
            <a:ext cx="1974722" cy="356311"/>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latin typeface="微软雅黑" panose="020B0503020204020204" pitchFamily="34" charset="-122"/>
                <a:ea typeface="微软雅黑" panose="020B0503020204020204" pitchFamily="34" charset="-122"/>
              </a:rPr>
              <a:t>页表项索引号</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矩形 12"/>
          <p:cNvSpPr/>
          <p:nvPr/>
        </p:nvSpPr>
        <p:spPr>
          <a:xfrm>
            <a:off x="5613336" y="1702936"/>
            <a:ext cx="2448272" cy="356311"/>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页内偏移</a:t>
            </a:r>
          </a:p>
        </p:txBody>
      </p:sp>
      <p:sp>
        <p:nvSpPr>
          <p:cNvPr id="15" name="矩形 14"/>
          <p:cNvSpPr/>
          <p:nvPr/>
        </p:nvSpPr>
        <p:spPr>
          <a:xfrm>
            <a:off x="1707715" y="3199129"/>
            <a:ext cx="1973017" cy="1167687"/>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7" name="矩形 16"/>
          <p:cNvSpPr/>
          <p:nvPr/>
        </p:nvSpPr>
        <p:spPr>
          <a:xfrm>
            <a:off x="2082155" y="2714039"/>
            <a:ext cx="1224136" cy="364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页目录表</a:t>
            </a:r>
          </a:p>
        </p:txBody>
      </p:sp>
      <p:sp>
        <p:nvSpPr>
          <p:cNvPr id="18" name="矩形 17"/>
          <p:cNvSpPr/>
          <p:nvPr/>
        </p:nvSpPr>
        <p:spPr>
          <a:xfrm>
            <a:off x="1713827" y="3786598"/>
            <a:ext cx="1973017" cy="356312"/>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页目录项</a:t>
            </a:r>
          </a:p>
        </p:txBody>
      </p:sp>
      <p:cxnSp>
        <p:nvCxnSpPr>
          <p:cNvPr id="22" name="直接连接符 21"/>
          <p:cNvCxnSpPr/>
          <p:nvPr/>
        </p:nvCxnSpPr>
        <p:spPr>
          <a:xfrm>
            <a:off x="2694223" y="2059247"/>
            <a:ext cx="0" cy="432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1220848" y="2491295"/>
            <a:ext cx="14733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1220848" y="2491295"/>
            <a:ext cx="0" cy="147345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220849" y="3969216"/>
            <a:ext cx="486866" cy="0"/>
          </a:xfrm>
          <a:prstGeom prst="line">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4302273" y="3188898"/>
            <a:ext cx="1973017" cy="116768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0" name="矩形 29"/>
          <p:cNvSpPr/>
          <p:nvPr/>
        </p:nvSpPr>
        <p:spPr>
          <a:xfrm>
            <a:off x="4676713" y="2703808"/>
            <a:ext cx="1224136" cy="364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页表</a:t>
            </a:r>
          </a:p>
        </p:txBody>
      </p:sp>
      <p:sp>
        <p:nvSpPr>
          <p:cNvPr id="31" name="矩形 30"/>
          <p:cNvSpPr/>
          <p:nvPr/>
        </p:nvSpPr>
        <p:spPr>
          <a:xfrm>
            <a:off x="4308385" y="3423413"/>
            <a:ext cx="1973017" cy="356312"/>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页表项</a:t>
            </a:r>
          </a:p>
        </p:txBody>
      </p:sp>
      <p:sp>
        <p:nvSpPr>
          <p:cNvPr id="32" name="矩形 31"/>
          <p:cNvSpPr/>
          <p:nvPr/>
        </p:nvSpPr>
        <p:spPr>
          <a:xfrm>
            <a:off x="6946575" y="3188898"/>
            <a:ext cx="1973017" cy="116768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3" name="矩形 32"/>
          <p:cNvSpPr/>
          <p:nvPr/>
        </p:nvSpPr>
        <p:spPr>
          <a:xfrm>
            <a:off x="7321015" y="2703808"/>
            <a:ext cx="1224136" cy="364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页</a:t>
            </a:r>
          </a:p>
        </p:txBody>
      </p:sp>
      <p:cxnSp>
        <p:nvCxnSpPr>
          <p:cNvPr id="35" name="直接连接符 34"/>
          <p:cNvCxnSpPr/>
          <p:nvPr/>
        </p:nvCxnSpPr>
        <p:spPr>
          <a:xfrm>
            <a:off x="4676713" y="2059247"/>
            <a:ext cx="0" cy="432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3984677" y="2491295"/>
            <a:ext cx="6920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3984677" y="2481064"/>
            <a:ext cx="0" cy="1158373"/>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3984677" y="3639437"/>
            <a:ext cx="346018" cy="0"/>
          </a:xfrm>
          <a:prstGeom prst="line">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3680733" y="3964754"/>
            <a:ext cx="3039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3984677" y="3964754"/>
            <a:ext cx="0" cy="377205"/>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3984677" y="4341959"/>
            <a:ext cx="346018" cy="0"/>
          </a:xfrm>
          <a:prstGeom prst="line">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6275291" y="3648648"/>
            <a:ext cx="1580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6433382" y="3639437"/>
            <a:ext cx="0" cy="696915"/>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6433382" y="4336352"/>
            <a:ext cx="513193" cy="0"/>
          </a:xfrm>
          <a:prstGeom prst="line">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6627643" y="2059247"/>
            <a:ext cx="0" cy="1652198"/>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6627643" y="3711445"/>
            <a:ext cx="318932" cy="0"/>
          </a:xfrm>
          <a:prstGeom prst="line">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8" name="矩形 67"/>
          <p:cNvSpPr/>
          <p:nvPr/>
        </p:nvSpPr>
        <p:spPr>
          <a:xfrm>
            <a:off x="7227401" y="4071485"/>
            <a:ext cx="1410271" cy="276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物理地址</a:t>
            </a:r>
          </a:p>
        </p:txBody>
      </p:sp>
      <p:cxnSp>
        <p:nvCxnSpPr>
          <p:cNvPr id="69" name="直接箭头连接符 68"/>
          <p:cNvCxnSpPr/>
          <p:nvPr/>
        </p:nvCxnSpPr>
        <p:spPr>
          <a:xfrm>
            <a:off x="1265049" y="4352003"/>
            <a:ext cx="4619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矩形 69"/>
          <p:cNvSpPr/>
          <p:nvPr/>
        </p:nvSpPr>
        <p:spPr>
          <a:xfrm>
            <a:off x="251520" y="4126094"/>
            <a:ext cx="1089087" cy="377439"/>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CR3</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1" name="矩形 70"/>
          <p:cNvSpPr/>
          <p:nvPr/>
        </p:nvSpPr>
        <p:spPr>
          <a:xfrm>
            <a:off x="284713" y="1722858"/>
            <a:ext cx="1410271" cy="276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线性地址</a:t>
            </a:r>
          </a:p>
        </p:txBody>
      </p:sp>
      <p:sp>
        <p:nvSpPr>
          <p:cNvPr id="73" name="矩形 72"/>
          <p:cNvSpPr/>
          <p:nvPr/>
        </p:nvSpPr>
        <p:spPr>
          <a:xfrm>
            <a:off x="1574776" y="1412776"/>
            <a:ext cx="2257929" cy="2415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31                    22</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4" name="矩形 73"/>
          <p:cNvSpPr/>
          <p:nvPr/>
        </p:nvSpPr>
        <p:spPr>
          <a:xfrm>
            <a:off x="3518992" y="1412776"/>
            <a:ext cx="2257929" cy="2415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21                   12</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5" name="矩形 74"/>
          <p:cNvSpPr/>
          <p:nvPr/>
        </p:nvSpPr>
        <p:spPr>
          <a:xfrm>
            <a:off x="5535216" y="1412776"/>
            <a:ext cx="2556596" cy="22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11                            0</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2103728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508975" y="2348880"/>
            <a:ext cx="492120"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D</a:t>
            </a:r>
            <a:endParaRPr lang="zh-CN" altLang="en-US" sz="1400" dirty="0">
              <a:latin typeface="微软雅黑" panose="020B0503020204020204" pitchFamily="34" charset="-122"/>
              <a:ea typeface="微软雅黑" panose="020B0503020204020204" pitchFamily="34" charset="-122"/>
            </a:endParaRPr>
          </a:p>
        </p:txBody>
      </p:sp>
      <p:sp>
        <p:nvSpPr>
          <p:cNvPr id="3" name="矩形 2"/>
          <p:cNvSpPr/>
          <p:nvPr/>
        </p:nvSpPr>
        <p:spPr>
          <a:xfrm>
            <a:off x="6018902" y="2348880"/>
            <a:ext cx="475380"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A</a:t>
            </a:r>
            <a:endParaRPr lang="zh-CN" altLang="en-US" sz="1400" dirty="0">
              <a:latin typeface="微软雅黑" panose="020B0503020204020204" pitchFamily="34" charset="-122"/>
              <a:ea typeface="微软雅黑" panose="020B0503020204020204" pitchFamily="34" charset="-122"/>
            </a:endParaRPr>
          </a:p>
        </p:txBody>
      </p:sp>
      <p:sp>
        <p:nvSpPr>
          <p:cNvPr id="4" name="矩形 3"/>
          <p:cNvSpPr/>
          <p:nvPr/>
        </p:nvSpPr>
        <p:spPr>
          <a:xfrm>
            <a:off x="6512089" y="2348880"/>
            <a:ext cx="850609"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00</a:t>
            </a:r>
            <a:endParaRPr lang="zh-CN" altLang="en-US" sz="1400" dirty="0">
              <a:latin typeface="微软雅黑" panose="020B0503020204020204" pitchFamily="34" charset="-122"/>
              <a:ea typeface="微软雅黑" panose="020B0503020204020204" pitchFamily="34" charset="-122"/>
            </a:endParaRPr>
          </a:p>
        </p:txBody>
      </p:sp>
      <p:sp>
        <p:nvSpPr>
          <p:cNvPr id="5" name="矩形 4"/>
          <p:cNvSpPr/>
          <p:nvPr/>
        </p:nvSpPr>
        <p:spPr>
          <a:xfrm>
            <a:off x="7380505" y="2348880"/>
            <a:ext cx="492120"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U/S</a:t>
            </a:r>
            <a:endParaRPr lang="zh-CN" altLang="en-US" sz="1400" dirty="0">
              <a:latin typeface="微软雅黑" panose="020B0503020204020204" pitchFamily="34" charset="-122"/>
              <a:ea typeface="微软雅黑" panose="020B0503020204020204" pitchFamily="34" charset="-122"/>
            </a:endParaRPr>
          </a:p>
        </p:txBody>
      </p:sp>
      <p:sp>
        <p:nvSpPr>
          <p:cNvPr id="6" name="矩形 5"/>
          <p:cNvSpPr/>
          <p:nvPr/>
        </p:nvSpPr>
        <p:spPr>
          <a:xfrm>
            <a:off x="7890432" y="2348880"/>
            <a:ext cx="492120"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R/W</a:t>
            </a:r>
            <a:endParaRPr lang="zh-CN" altLang="en-US" sz="1400" dirty="0">
              <a:latin typeface="微软雅黑" panose="020B0503020204020204" pitchFamily="34" charset="-122"/>
              <a:ea typeface="微软雅黑" panose="020B0503020204020204" pitchFamily="34" charset="-122"/>
            </a:endParaRPr>
          </a:p>
        </p:txBody>
      </p:sp>
      <p:sp>
        <p:nvSpPr>
          <p:cNvPr id="7" name="矩形 6"/>
          <p:cNvSpPr/>
          <p:nvPr/>
        </p:nvSpPr>
        <p:spPr>
          <a:xfrm>
            <a:off x="8400360" y="2348880"/>
            <a:ext cx="492120"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P</a:t>
            </a:r>
            <a:endParaRPr lang="zh-CN" altLang="en-US" sz="1400" dirty="0">
              <a:latin typeface="微软雅黑" panose="020B0503020204020204" pitchFamily="34" charset="-122"/>
              <a:ea typeface="微软雅黑" panose="020B0503020204020204" pitchFamily="34" charset="-122"/>
            </a:endParaRPr>
          </a:p>
        </p:txBody>
      </p:sp>
      <p:sp>
        <p:nvSpPr>
          <p:cNvPr id="8" name="矩形 7"/>
          <p:cNvSpPr/>
          <p:nvPr/>
        </p:nvSpPr>
        <p:spPr>
          <a:xfrm>
            <a:off x="4188893" y="2348880"/>
            <a:ext cx="492120"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AVL</a:t>
            </a:r>
          </a:p>
        </p:txBody>
      </p:sp>
      <p:sp>
        <p:nvSpPr>
          <p:cNvPr id="9" name="矩形 8"/>
          <p:cNvSpPr/>
          <p:nvPr/>
        </p:nvSpPr>
        <p:spPr>
          <a:xfrm>
            <a:off x="4698820" y="2348880"/>
            <a:ext cx="792348"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微软雅黑" panose="020B0503020204020204" pitchFamily="34" charset="-122"/>
                <a:ea typeface="微软雅黑" panose="020B0503020204020204" pitchFamily="34" charset="-122"/>
              </a:rPr>
              <a:t>00</a:t>
            </a:r>
            <a:endParaRPr lang="zh-CN" altLang="en-US" sz="1400" dirty="0">
              <a:latin typeface="微软雅黑" panose="020B0503020204020204" pitchFamily="34" charset="-122"/>
              <a:ea typeface="微软雅黑" panose="020B0503020204020204" pitchFamily="34" charset="-122"/>
            </a:endParaRPr>
          </a:p>
        </p:txBody>
      </p:sp>
      <p:sp>
        <p:nvSpPr>
          <p:cNvPr id="10" name="矩形 9"/>
          <p:cNvSpPr/>
          <p:nvPr/>
        </p:nvSpPr>
        <p:spPr>
          <a:xfrm>
            <a:off x="246027" y="2348880"/>
            <a:ext cx="3925059" cy="720080"/>
          </a:xfrm>
          <a:prstGeom prst="rect">
            <a:avLst/>
          </a:prstGeom>
          <a:solidFill>
            <a:srgbClr val="00B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位基地址</a:t>
            </a:r>
          </a:p>
        </p:txBody>
      </p:sp>
      <p:sp>
        <p:nvSpPr>
          <p:cNvPr id="11" name="圆角矩形 10"/>
          <p:cNvSpPr/>
          <p:nvPr/>
        </p:nvSpPr>
        <p:spPr>
          <a:xfrm>
            <a:off x="6763374" y="4420260"/>
            <a:ext cx="2129106" cy="736932"/>
          </a:xfrm>
          <a:prstGeom prst="roundRect">
            <a:avLst>
              <a:gd name="adj" fmla="val 4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ea typeface="微软雅黑" panose="020B0503020204020204" pitchFamily="34" charset="-122"/>
              </a:rPr>
              <a:t>存在标志，</a:t>
            </a:r>
            <a:r>
              <a:rPr lang="en-US" altLang="zh-CN" sz="1600" dirty="0">
                <a:ea typeface="微软雅黑" panose="020B0503020204020204" pitchFamily="34" charset="-122"/>
              </a:rPr>
              <a:t>1</a:t>
            </a:r>
            <a:r>
              <a:rPr lang="zh-CN" altLang="en-US" sz="1600" dirty="0">
                <a:ea typeface="微软雅黑" panose="020B0503020204020204" pitchFamily="34" charset="-122"/>
              </a:rPr>
              <a:t>：当前页已加载到物理内存</a:t>
            </a:r>
            <a:endParaRPr lang="en-US" altLang="zh-CN" sz="1600" dirty="0">
              <a:ea typeface="微软雅黑" panose="020B0503020204020204" pitchFamily="34" charset="-122"/>
            </a:endParaRPr>
          </a:p>
        </p:txBody>
      </p:sp>
      <p:cxnSp>
        <p:nvCxnSpPr>
          <p:cNvPr id="12" name="直接连接符 11"/>
          <p:cNvCxnSpPr/>
          <p:nvPr/>
        </p:nvCxnSpPr>
        <p:spPr>
          <a:xfrm>
            <a:off x="8760865" y="3047977"/>
            <a:ext cx="0" cy="1351300"/>
          </a:xfrm>
          <a:prstGeom prst="line">
            <a:avLst/>
          </a:prstGeom>
        </p:spPr>
        <p:style>
          <a:lnRef idx="1">
            <a:schemeClr val="accent1"/>
          </a:lnRef>
          <a:fillRef idx="0">
            <a:schemeClr val="accent1"/>
          </a:fillRef>
          <a:effectRef idx="0">
            <a:schemeClr val="accent1"/>
          </a:effectRef>
          <a:fontRef idx="minor">
            <a:schemeClr val="tx1"/>
          </a:fontRef>
        </p:style>
      </p:cxnSp>
      <p:sp>
        <p:nvSpPr>
          <p:cNvPr id="13" name="圆角矩形 12"/>
          <p:cNvSpPr/>
          <p:nvPr/>
        </p:nvSpPr>
        <p:spPr>
          <a:xfrm>
            <a:off x="5127093" y="4415307"/>
            <a:ext cx="1255883" cy="736932"/>
          </a:xfrm>
          <a:prstGeom prst="roundRect">
            <a:avLst>
              <a:gd name="adj" fmla="val 4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ea typeface="微软雅黑" panose="020B0503020204020204" pitchFamily="34" charset="-122"/>
              </a:rPr>
              <a:t>1</a:t>
            </a:r>
            <a:r>
              <a:rPr lang="zh-CN" altLang="en-US" sz="1600" dirty="0">
                <a:ea typeface="微软雅黑" panose="020B0503020204020204" pitchFamily="34" charset="-122"/>
              </a:rPr>
              <a:t>：访问过</a:t>
            </a:r>
            <a:endParaRPr lang="en-US" altLang="zh-CN" sz="1600" dirty="0">
              <a:ea typeface="微软雅黑" panose="020B0503020204020204" pitchFamily="34" charset="-122"/>
            </a:endParaRPr>
          </a:p>
        </p:txBody>
      </p:sp>
      <p:cxnSp>
        <p:nvCxnSpPr>
          <p:cNvPr id="14" name="直接连接符 13"/>
          <p:cNvCxnSpPr/>
          <p:nvPr/>
        </p:nvCxnSpPr>
        <p:spPr>
          <a:xfrm>
            <a:off x="6228184" y="3068960"/>
            <a:ext cx="0" cy="1351300"/>
          </a:xfrm>
          <a:prstGeom prst="line">
            <a:avLst/>
          </a:prstGeom>
        </p:spPr>
        <p:style>
          <a:lnRef idx="1">
            <a:schemeClr val="accent1"/>
          </a:lnRef>
          <a:fillRef idx="0">
            <a:schemeClr val="accent1"/>
          </a:fillRef>
          <a:effectRef idx="0">
            <a:schemeClr val="accent1"/>
          </a:effectRef>
          <a:fontRef idx="minor">
            <a:schemeClr val="tx1"/>
          </a:fontRef>
        </p:style>
      </p:cxnSp>
      <p:sp>
        <p:nvSpPr>
          <p:cNvPr id="15" name="圆角矩形 14"/>
          <p:cNvSpPr/>
          <p:nvPr/>
        </p:nvSpPr>
        <p:spPr>
          <a:xfrm>
            <a:off x="6729438" y="1494016"/>
            <a:ext cx="1831376" cy="486197"/>
          </a:xfrm>
          <a:prstGeom prst="roundRect">
            <a:avLst>
              <a:gd name="adj" fmla="val 4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ea typeface="微软雅黑" panose="020B0503020204020204" pitchFamily="34" charset="-122"/>
              </a:rPr>
              <a:t>1</a:t>
            </a:r>
            <a:r>
              <a:rPr lang="zh-CN" altLang="en-US" sz="1600" dirty="0">
                <a:ea typeface="微软雅黑" panose="020B0503020204020204" pitchFamily="34" charset="-122"/>
              </a:rPr>
              <a:t>用户，</a:t>
            </a:r>
            <a:r>
              <a:rPr lang="en-US" altLang="zh-CN" sz="1600" dirty="0">
                <a:ea typeface="微软雅黑" panose="020B0503020204020204" pitchFamily="34" charset="-122"/>
              </a:rPr>
              <a:t>0</a:t>
            </a:r>
            <a:r>
              <a:rPr lang="zh-CN" altLang="en-US" sz="1600" dirty="0">
                <a:ea typeface="微软雅黑" panose="020B0503020204020204" pitchFamily="34" charset="-122"/>
              </a:rPr>
              <a:t>超级用户</a:t>
            </a:r>
            <a:endParaRPr lang="en-US" altLang="zh-CN" sz="1600" dirty="0">
              <a:ea typeface="微软雅黑" panose="020B0503020204020204" pitchFamily="34" charset="-122"/>
            </a:endParaRPr>
          </a:p>
        </p:txBody>
      </p:sp>
      <p:cxnSp>
        <p:nvCxnSpPr>
          <p:cNvPr id="16" name="直接连接符 15"/>
          <p:cNvCxnSpPr/>
          <p:nvPr/>
        </p:nvCxnSpPr>
        <p:spPr>
          <a:xfrm>
            <a:off x="8122603" y="3047977"/>
            <a:ext cx="0" cy="508187"/>
          </a:xfrm>
          <a:prstGeom prst="line">
            <a:avLst/>
          </a:prstGeom>
        </p:spPr>
        <p:style>
          <a:lnRef idx="1">
            <a:schemeClr val="accent1"/>
          </a:lnRef>
          <a:fillRef idx="0">
            <a:schemeClr val="accent1"/>
          </a:fillRef>
          <a:effectRef idx="0">
            <a:schemeClr val="accent1"/>
          </a:effectRef>
          <a:fontRef idx="minor">
            <a:schemeClr val="tx1"/>
          </a:fontRef>
        </p:style>
      </p:cxnSp>
      <p:sp>
        <p:nvSpPr>
          <p:cNvPr id="17" name="圆角矩形 16"/>
          <p:cNvSpPr/>
          <p:nvPr/>
        </p:nvSpPr>
        <p:spPr>
          <a:xfrm>
            <a:off x="4828477" y="3558471"/>
            <a:ext cx="1223946" cy="592916"/>
          </a:xfrm>
          <a:prstGeom prst="roundRect">
            <a:avLst>
              <a:gd name="adj" fmla="val 4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ea typeface="微软雅黑" panose="020B0503020204020204" pitchFamily="34" charset="-122"/>
              </a:rPr>
              <a:t>对页写操作时置</a:t>
            </a:r>
            <a:r>
              <a:rPr lang="en-US" altLang="zh-CN" sz="1600" dirty="0">
                <a:ea typeface="微软雅黑" panose="020B0503020204020204" pitchFamily="34" charset="-122"/>
              </a:rPr>
              <a:t>D=1</a:t>
            </a:r>
          </a:p>
        </p:txBody>
      </p:sp>
      <p:cxnSp>
        <p:nvCxnSpPr>
          <p:cNvPr id="18" name="直接连接符 17"/>
          <p:cNvCxnSpPr/>
          <p:nvPr/>
        </p:nvCxnSpPr>
        <p:spPr>
          <a:xfrm>
            <a:off x="5755262" y="3047977"/>
            <a:ext cx="0" cy="5081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645126" y="1861676"/>
            <a:ext cx="0" cy="487204"/>
          </a:xfrm>
          <a:prstGeom prst="line">
            <a:avLst/>
          </a:prstGeom>
        </p:spPr>
        <p:style>
          <a:lnRef idx="1">
            <a:schemeClr val="accent1"/>
          </a:lnRef>
          <a:fillRef idx="0">
            <a:schemeClr val="accent1"/>
          </a:fillRef>
          <a:effectRef idx="0">
            <a:schemeClr val="accent1"/>
          </a:effectRef>
          <a:fontRef idx="minor">
            <a:schemeClr val="tx1"/>
          </a:fontRef>
        </p:style>
      </p:cxnSp>
      <p:sp>
        <p:nvSpPr>
          <p:cNvPr id="20" name="圆角矩形 19"/>
          <p:cNvSpPr/>
          <p:nvPr/>
        </p:nvSpPr>
        <p:spPr>
          <a:xfrm>
            <a:off x="6372200" y="3511282"/>
            <a:ext cx="2286940" cy="782593"/>
          </a:xfrm>
          <a:prstGeom prst="roundRect">
            <a:avLst>
              <a:gd name="adj" fmla="val 4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ea typeface="微软雅黑" panose="020B0503020204020204" pitchFamily="34" charset="-122"/>
              </a:rPr>
              <a:t>1</a:t>
            </a:r>
            <a:r>
              <a:rPr lang="zh-CN" altLang="en-US" sz="1600" dirty="0">
                <a:ea typeface="微软雅黑" panose="020B0503020204020204" pitchFamily="34" charset="-122"/>
              </a:rPr>
              <a:t>表示可读写或执行，</a:t>
            </a:r>
            <a:r>
              <a:rPr lang="en-US" altLang="zh-CN" sz="1600" dirty="0">
                <a:ea typeface="微软雅黑" panose="020B0503020204020204" pitchFamily="34" charset="-122"/>
              </a:rPr>
              <a:t>0</a:t>
            </a:r>
            <a:r>
              <a:rPr lang="zh-CN" altLang="en-US" sz="1600" dirty="0">
                <a:ea typeface="微软雅黑" panose="020B0503020204020204" pitchFamily="34" charset="-122"/>
              </a:rPr>
              <a:t>表示只读或可执行</a:t>
            </a:r>
            <a:endParaRPr lang="en-US" altLang="zh-CN" sz="1600" dirty="0">
              <a:ea typeface="微软雅黑" panose="020B0503020204020204" pitchFamily="34" charset="-122"/>
            </a:endParaRPr>
          </a:p>
        </p:txBody>
      </p:sp>
      <p:cxnSp>
        <p:nvCxnSpPr>
          <p:cNvPr id="21" name="直接连接符 20"/>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22"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页目录项和页表项</a:t>
            </a:r>
            <a:endParaRPr lang="en-US" altLang="zh-CN" sz="3200" b="1" dirty="0">
              <a:solidFill>
                <a:srgbClr val="00B0F0"/>
              </a:solidFill>
              <a:latin typeface="微软雅黑" pitchFamily="34" charset="-122"/>
              <a:ea typeface="微软雅黑" pitchFamily="34" charset="-122"/>
            </a:endParaRPr>
          </a:p>
        </p:txBody>
      </p:sp>
      <p:cxnSp>
        <p:nvCxnSpPr>
          <p:cNvPr id="23" name="直接连接符 22"/>
          <p:cNvCxnSpPr/>
          <p:nvPr/>
        </p:nvCxnSpPr>
        <p:spPr bwMode="auto">
          <a:xfrm>
            <a:off x="1619250" y="1123963"/>
            <a:ext cx="5905500" cy="0"/>
          </a:xfrm>
          <a:prstGeom prst="line">
            <a:avLst/>
          </a:prstGeom>
          <a:noFill/>
          <a:ln w="28575" cap="flat" cmpd="sng" algn="ctr">
            <a:solidFill>
              <a:srgbClr val="FFC000"/>
            </a:solidFill>
            <a:prstDash val="sysDot"/>
          </a:ln>
          <a:effectLst/>
        </p:spPr>
      </p:cxnSp>
    </p:spTree>
    <p:extLst>
      <p:ext uri="{BB962C8B-B14F-4D97-AF65-F5344CB8AC3E}">
        <p14:creationId xmlns:p14="http://schemas.microsoft.com/office/powerpoint/2010/main" val="2622558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up)">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up)">
                                      <p:cBhvr>
                                        <p:cTn id="15" dur="500"/>
                                        <p:tgtEl>
                                          <p:spTgt spid="14"/>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up)">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up)">
                                      <p:cBhvr>
                                        <p:cTn id="23" dur="500"/>
                                        <p:tgtEl>
                                          <p:spTgt spid="16"/>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up)">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up)">
                                      <p:cBhvr>
                                        <p:cTn id="31" dur="500"/>
                                        <p:tgtEl>
                                          <p:spTgt spid="19"/>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up)">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500"/>
                                        <p:tgtEl>
                                          <p:spTgt spid="18"/>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up)">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5" grpId="0" animBg="1"/>
      <p:bldP spid="17" grpId="0" animBg="1"/>
      <p:bldP spid="20"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4"/>
          <p:cNvGraphicFramePr>
            <a:graphicFrameLocks noChangeAspect="1"/>
          </p:cNvGraphicFramePr>
          <p:nvPr>
            <p:extLst>
              <p:ext uri="{D42A27DB-BD31-4B8C-83A1-F6EECF244321}">
                <p14:modId xmlns:p14="http://schemas.microsoft.com/office/powerpoint/2010/main" val="833840990"/>
              </p:ext>
            </p:extLst>
          </p:nvPr>
        </p:nvGraphicFramePr>
        <p:xfrm>
          <a:off x="107504" y="1268760"/>
          <a:ext cx="8805862" cy="4899025"/>
        </p:xfrm>
        <a:graphic>
          <a:graphicData uri="http://schemas.openxmlformats.org/presentationml/2006/ole">
            <mc:AlternateContent xmlns:mc="http://schemas.openxmlformats.org/markup-compatibility/2006">
              <mc:Choice xmlns:v="urn:schemas-microsoft-com:vml" Requires="v">
                <p:oleObj spid="_x0000_s4805" name="Visio" r:id="rId3" imgW="6850990" imgH="3811829" progId="Visio.Drawing.11">
                  <p:embed/>
                </p:oleObj>
              </mc:Choice>
              <mc:Fallback>
                <p:oleObj name="Visio" r:id="rId3" imgW="6850990" imgH="3811829" progId="Visio.Drawing.11">
                  <p:embed/>
                  <p:pic>
                    <p:nvPicPr>
                      <p:cNvPr id="6963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4" y="1268760"/>
                        <a:ext cx="8805862" cy="489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 name="直接连接符 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4"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从线性地址转换成物理地址实例</a:t>
            </a:r>
            <a:endParaRPr lang="en-US" altLang="zh-CN" sz="3200" b="1" dirty="0">
              <a:solidFill>
                <a:srgbClr val="00B0F0"/>
              </a:solidFill>
              <a:latin typeface="微软雅黑" pitchFamily="34" charset="-122"/>
              <a:ea typeface="微软雅黑" pitchFamily="34" charset="-122"/>
            </a:endParaRPr>
          </a:p>
        </p:txBody>
      </p:sp>
      <p:cxnSp>
        <p:nvCxnSpPr>
          <p:cNvPr id="5" name="直接连接符 4"/>
          <p:cNvCxnSpPr/>
          <p:nvPr/>
        </p:nvCxnSpPr>
        <p:spPr bwMode="auto">
          <a:xfrm>
            <a:off x="1619250" y="1123963"/>
            <a:ext cx="5905500" cy="0"/>
          </a:xfrm>
          <a:prstGeom prst="line">
            <a:avLst/>
          </a:prstGeom>
          <a:noFill/>
          <a:ln w="28575" cap="flat" cmpd="sng" algn="ctr">
            <a:solidFill>
              <a:srgbClr val="FFC000"/>
            </a:solidFill>
            <a:prstDash val="sysDot"/>
          </a:ln>
          <a:effectLst/>
        </p:spPr>
      </p:cxnSp>
    </p:spTree>
    <p:extLst>
      <p:ext uri="{BB962C8B-B14F-4D97-AF65-F5344CB8AC3E}">
        <p14:creationId xmlns:p14="http://schemas.microsoft.com/office/powerpoint/2010/main" val="407509861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1259210" y="551748"/>
            <a:ext cx="6625158"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分页管理的小结</a:t>
            </a:r>
            <a:endParaRPr lang="en-US" altLang="zh-CN" sz="3200" b="1" dirty="0">
              <a:solidFill>
                <a:srgbClr val="00B0F0"/>
              </a:solidFill>
              <a:latin typeface="微软雅黑" pitchFamily="34" charset="-122"/>
              <a:ea typeface="微软雅黑" pitchFamily="34" charset="-122"/>
            </a:endParaRPr>
          </a:p>
        </p:txBody>
      </p:sp>
      <p:cxnSp>
        <p:nvCxnSpPr>
          <p:cNvPr id="4" name="直接连接符 3"/>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5" name="矩形 4"/>
          <p:cNvSpPr/>
          <p:nvPr/>
        </p:nvSpPr>
        <p:spPr>
          <a:xfrm>
            <a:off x="1475656" y="2864175"/>
            <a:ext cx="6769172" cy="873661"/>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微软雅黑" panose="020B0503020204020204" pitchFamily="34" charset="-122"/>
                <a:ea typeface="微软雅黑" panose="020B0503020204020204" pitchFamily="34" charset="-122"/>
              </a:rPr>
              <a:t>同样的线性地址，会被映射到不同的物理地址。因此，二级页表实现了物理地址的隔离。</a:t>
            </a:r>
          </a:p>
        </p:txBody>
      </p:sp>
      <p:sp>
        <p:nvSpPr>
          <p:cNvPr id="7" name="矩形 6"/>
          <p:cNvSpPr/>
          <p:nvPr/>
        </p:nvSpPr>
        <p:spPr>
          <a:xfrm>
            <a:off x="1475444" y="1675004"/>
            <a:ext cx="6769173" cy="873661"/>
          </a:xfrm>
          <a:prstGeom prst="rect">
            <a:avLst/>
          </a:prstGeom>
          <a:solidFill>
            <a:srgbClr val="FF3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微软雅黑" panose="020B0503020204020204" pitchFamily="34" charset="-122"/>
                <a:ea typeface="微软雅黑" panose="020B0503020204020204" pitchFamily="34" charset="-122"/>
              </a:rPr>
              <a:t>每个进程都有自己的页目录表，即虚拟地址到物理地址的映射函数。</a:t>
            </a:r>
            <a:endParaRPr lang="en-US" altLang="zh-CN" b="1" dirty="0">
              <a:latin typeface="微软雅黑" panose="020B0503020204020204" pitchFamily="34" charset="-122"/>
              <a:ea typeface="微软雅黑" panose="020B0503020204020204" pitchFamily="34" charset="-122"/>
            </a:endParaRPr>
          </a:p>
        </p:txBody>
      </p:sp>
      <p:sp>
        <p:nvSpPr>
          <p:cNvPr id="8" name="矩形 7"/>
          <p:cNvSpPr/>
          <p:nvPr/>
        </p:nvSpPr>
        <p:spPr>
          <a:xfrm>
            <a:off x="899592" y="1675004"/>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ea typeface="微软雅黑" panose="020B0503020204020204" pitchFamily="34" charset="-122"/>
              </a:rPr>
              <a:t>1</a:t>
            </a:r>
            <a:endParaRPr lang="zh-CN" altLang="en-US" sz="3200" dirty="0">
              <a:latin typeface="Impact" panose="020B0806030902050204" pitchFamily="34" charset="0"/>
              <a:ea typeface="微软雅黑" panose="020B0503020204020204" pitchFamily="34" charset="-122"/>
            </a:endParaRPr>
          </a:p>
        </p:txBody>
      </p:sp>
      <p:sp>
        <p:nvSpPr>
          <p:cNvPr id="9" name="矩形 8"/>
          <p:cNvSpPr/>
          <p:nvPr/>
        </p:nvSpPr>
        <p:spPr>
          <a:xfrm>
            <a:off x="899592" y="2864174"/>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ea typeface="微软雅黑" panose="020B0503020204020204" pitchFamily="34" charset="-122"/>
              </a:rPr>
              <a:t>2</a:t>
            </a:r>
            <a:endParaRPr lang="zh-CN" altLang="en-US" sz="3200" dirty="0">
              <a:latin typeface="Impact" panose="020B0806030902050204" pitchFamily="34" charset="0"/>
              <a:ea typeface="微软雅黑" panose="020B0503020204020204" pitchFamily="34" charset="-122"/>
            </a:endParaRPr>
          </a:p>
        </p:txBody>
      </p:sp>
      <p:sp>
        <p:nvSpPr>
          <p:cNvPr id="10" name="矩形 9"/>
          <p:cNvSpPr/>
          <p:nvPr/>
        </p:nvSpPr>
        <p:spPr>
          <a:xfrm>
            <a:off x="1475445" y="4053344"/>
            <a:ext cx="6769172" cy="87366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微软雅黑" panose="020B0503020204020204" pitchFamily="34" charset="-122"/>
                <a:ea typeface="微软雅黑" panose="020B0503020204020204" pitchFamily="34" charset="-122"/>
              </a:rPr>
              <a:t>程序员不必关心实际物理存储区是否连续，可将不连续的物理内存块连在一起，在线性地址上视为连续，可更有效使用内存碎片。</a:t>
            </a:r>
          </a:p>
        </p:txBody>
      </p:sp>
      <p:sp>
        <p:nvSpPr>
          <p:cNvPr id="11" name="矩形 10"/>
          <p:cNvSpPr/>
          <p:nvPr/>
        </p:nvSpPr>
        <p:spPr>
          <a:xfrm>
            <a:off x="899381" y="4053343"/>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ea typeface="微软雅黑" panose="020B0503020204020204" pitchFamily="34" charset="-122"/>
              </a:rPr>
              <a:t>3</a:t>
            </a:r>
            <a:endParaRPr lang="zh-CN" altLang="en-US" sz="3200" dirty="0">
              <a:latin typeface="Impact" panose="020B0806030902050204" pitchFamily="34" charset="0"/>
              <a:ea typeface="微软雅黑" panose="020B0503020204020204" pitchFamily="34" charset="-122"/>
            </a:endParaRPr>
          </a:p>
        </p:txBody>
      </p:sp>
    </p:spTree>
    <p:extLst>
      <p:ext uri="{BB962C8B-B14F-4D97-AF65-F5344CB8AC3E}">
        <p14:creationId xmlns:p14="http://schemas.microsoft.com/office/powerpoint/2010/main" val="38360394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4"/>
          <p:cNvGraphicFramePr>
            <a:graphicFrameLocks noChangeAspect="1"/>
          </p:cNvGraphicFramePr>
          <p:nvPr>
            <p:extLst/>
          </p:nvPr>
        </p:nvGraphicFramePr>
        <p:xfrm>
          <a:off x="0" y="764704"/>
          <a:ext cx="8923338" cy="5427662"/>
        </p:xfrm>
        <a:graphic>
          <a:graphicData uri="http://schemas.openxmlformats.org/presentationml/2006/ole">
            <mc:AlternateContent xmlns:mc="http://schemas.openxmlformats.org/markup-compatibility/2006">
              <mc:Choice xmlns:v="urn:schemas-microsoft-com:vml" Requires="v">
                <p:oleObj spid="_x0000_s6213" name="Visio" r:id="rId3" imgW="7768876" imgH="4726682" progId="Visio.Drawing.11">
                  <p:embed/>
                </p:oleObj>
              </mc:Choice>
              <mc:Fallback>
                <p:oleObj name="Visio" r:id="rId3" imgW="7768876" imgH="4726682" progId="Visio.Drawing.11">
                  <p:embed/>
                  <p:pic>
                    <p:nvPicPr>
                      <p:cNvPr id="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764704"/>
                        <a:ext cx="8923338" cy="542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Rectangle 2"/>
          <p:cNvSpPr>
            <a:spLocks noChangeArrowheads="1"/>
          </p:cNvSpPr>
          <p:nvPr/>
        </p:nvSpPr>
        <p:spPr bwMode="auto">
          <a:xfrm>
            <a:off x="1979712" y="404664"/>
            <a:ext cx="5328592"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B0F0"/>
                </a:solidFill>
                <a:latin typeface="微软雅黑" pitchFamily="34" charset="-122"/>
                <a:ea typeface="微软雅黑" pitchFamily="34" charset="-122"/>
              </a:rPr>
              <a:t>从逻辑地址到物理地址</a:t>
            </a:r>
            <a:endParaRPr lang="en-US" altLang="zh-CN" sz="3200" b="1" dirty="0">
              <a:solidFill>
                <a:srgbClr val="00B0F0"/>
              </a:solidFill>
              <a:latin typeface="微软雅黑" pitchFamily="34" charset="-122"/>
              <a:ea typeface="微软雅黑" pitchFamily="34" charset="-122"/>
            </a:endParaRPr>
          </a:p>
        </p:txBody>
      </p:sp>
    </p:spTree>
    <p:extLst>
      <p:ext uri="{BB962C8B-B14F-4D97-AF65-F5344CB8AC3E}">
        <p14:creationId xmlns:p14="http://schemas.microsoft.com/office/powerpoint/2010/main" val="399795771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75656" y="3635459"/>
            <a:ext cx="6769172" cy="873661"/>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微软雅黑" panose="020B0503020204020204" pitchFamily="34" charset="-122"/>
                <a:ea typeface="微软雅黑" panose="020B0503020204020204" pitchFamily="34" charset="-122"/>
              </a:rPr>
              <a:t>虚拟地址并不是物理地址空间中的地址，不是数据在内存中真实存在的地址，操作系统会将进程的虚拟地址映射到物理内存地址。</a:t>
            </a:r>
          </a:p>
        </p:txBody>
      </p:sp>
      <p:sp>
        <p:nvSpPr>
          <p:cNvPr id="3" name="矩形 2"/>
          <p:cNvSpPr/>
          <p:nvPr/>
        </p:nvSpPr>
        <p:spPr>
          <a:xfrm>
            <a:off x="899381" y="1391972"/>
            <a:ext cx="7345236" cy="873661"/>
          </a:xfrm>
          <a:prstGeom prst="rect">
            <a:avLst/>
          </a:prstGeom>
          <a:solidFill>
            <a:srgbClr val="FD7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微软雅黑" panose="020B0503020204020204" pitchFamily="34" charset="-122"/>
                <a:ea typeface="微软雅黑" panose="020B0503020204020204" pitchFamily="34" charset="-122"/>
              </a:rPr>
              <a:t>在编写应用程序时，程序员不用过多地考虑系统底层是如何实现这种机制的。在进行应用程序开发时，程序员只需了解以下内容。 </a:t>
            </a:r>
            <a:endParaRPr lang="en-US" altLang="zh-CN" b="1" dirty="0">
              <a:latin typeface="微软雅黑" panose="020B0503020204020204" pitchFamily="34" charset="-122"/>
              <a:ea typeface="微软雅黑" panose="020B0503020204020204" pitchFamily="34" charset="-122"/>
            </a:endParaRPr>
          </a:p>
        </p:txBody>
      </p:sp>
      <p:sp>
        <p:nvSpPr>
          <p:cNvPr id="5" name="矩形 4"/>
          <p:cNvSpPr/>
          <p:nvPr/>
        </p:nvSpPr>
        <p:spPr>
          <a:xfrm>
            <a:off x="899592" y="3635458"/>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ea typeface="微软雅黑" panose="020B0503020204020204" pitchFamily="34" charset="-122"/>
              </a:rPr>
              <a:t>2</a:t>
            </a:r>
            <a:endParaRPr lang="zh-CN" altLang="en-US" sz="3200" dirty="0">
              <a:latin typeface="Impact" panose="020B0806030902050204" pitchFamily="34" charset="0"/>
              <a:ea typeface="微软雅黑" panose="020B0503020204020204" pitchFamily="34" charset="-122"/>
            </a:endParaRPr>
          </a:p>
        </p:txBody>
      </p:sp>
      <p:sp>
        <p:nvSpPr>
          <p:cNvPr id="9" name="矩形 8"/>
          <p:cNvSpPr/>
          <p:nvPr/>
        </p:nvSpPr>
        <p:spPr>
          <a:xfrm>
            <a:off x="1482630" y="2446288"/>
            <a:ext cx="6769172" cy="873661"/>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微软雅黑" panose="020B0503020204020204" pitchFamily="34" charset="-122"/>
                <a:ea typeface="微软雅黑" panose="020B0503020204020204" pitchFamily="34" charset="-122"/>
              </a:rPr>
              <a:t>虚拟地址空间中的数据是分页管理的。应用程序不用考虑系统中其他应用程序的内存使用情况，如占用多少或占用了哪些内存等。</a:t>
            </a:r>
          </a:p>
        </p:txBody>
      </p:sp>
      <p:sp>
        <p:nvSpPr>
          <p:cNvPr id="10" name="矩形 9"/>
          <p:cNvSpPr/>
          <p:nvPr/>
        </p:nvSpPr>
        <p:spPr>
          <a:xfrm>
            <a:off x="906566" y="2446287"/>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ea typeface="微软雅黑" panose="020B0503020204020204" pitchFamily="34" charset="-122"/>
              </a:rPr>
              <a:t>1</a:t>
            </a:r>
            <a:endParaRPr lang="zh-CN" altLang="en-US" sz="3200" dirty="0">
              <a:latin typeface="Impact" panose="020B0806030902050204" pitchFamily="34" charset="0"/>
              <a:ea typeface="微软雅黑" panose="020B0503020204020204" pitchFamily="34" charset="-122"/>
            </a:endParaRPr>
          </a:p>
        </p:txBody>
      </p:sp>
    </p:spTree>
    <p:extLst>
      <p:ext uri="{BB962C8B-B14F-4D97-AF65-F5344CB8AC3E}">
        <p14:creationId xmlns:p14="http://schemas.microsoft.com/office/powerpoint/2010/main" val="234370351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75445" y="1412777"/>
            <a:ext cx="6769172" cy="87366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微软雅黑" panose="020B0503020204020204" pitchFamily="34" charset="-122"/>
                <a:ea typeface="微软雅黑" panose="020B0503020204020204" pitchFamily="34" charset="-122"/>
              </a:rPr>
              <a:t>进程也不用考虑真实的物理内存有多大，只需要了解可以使用</a:t>
            </a:r>
            <a:r>
              <a:rPr lang="en-US" altLang="zh-CN" b="1" dirty="0">
                <a:latin typeface="微软雅黑" panose="020B0503020204020204" pitchFamily="34" charset="-122"/>
                <a:ea typeface="微软雅黑" panose="020B0503020204020204" pitchFamily="34" charset="-122"/>
              </a:rPr>
              <a:t>4GB</a:t>
            </a:r>
            <a:r>
              <a:rPr lang="zh-CN" altLang="en-US" b="1" dirty="0">
                <a:latin typeface="微软雅黑" panose="020B0503020204020204" pitchFamily="34" charset="-122"/>
                <a:ea typeface="微软雅黑" panose="020B0503020204020204" pitchFamily="34" charset="-122"/>
              </a:rPr>
              <a:t>（实际</a:t>
            </a:r>
            <a:r>
              <a:rPr lang="en-US" altLang="zh-CN" b="1" dirty="0">
                <a:latin typeface="微软雅黑" panose="020B0503020204020204" pitchFamily="34" charset="-122"/>
                <a:ea typeface="微软雅黑" panose="020B0503020204020204" pitchFamily="34" charset="-122"/>
              </a:rPr>
              <a:t>Linux 3GB</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Win 2~3GB</a:t>
            </a:r>
            <a:r>
              <a:rPr lang="zh-CN" altLang="en-US" b="1" dirty="0">
                <a:latin typeface="微软雅黑" panose="020B0503020204020204" pitchFamily="34" charset="-122"/>
                <a:ea typeface="微软雅黑" panose="020B0503020204020204" pitchFamily="34" charset="-122"/>
              </a:rPr>
              <a:t>）内存，</a:t>
            </a:r>
            <a:r>
              <a:rPr lang="en-US" altLang="zh-CN" b="1" dirty="0">
                <a:latin typeface="微软雅黑" panose="020B0503020204020204" pitchFamily="34" charset="-122"/>
                <a:ea typeface="微软雅黑" panose="020B0503020204020204" pitchFamily="34" charset="-122"/>
              </a:rPr>
              <a:t>OS</a:t>
            </a:r>
            <a:r>
              <a:rPr lang="zh-CN" altLang="en-US" b="1" dirty="0">
                <a:latin typeface="微软雅黑" panose="020B0503020204020204" pitchFamily="34" charset="-122"/>
                <a:ea typeface="微软雅黑" panose="020B0503020204020204" pitchFamily="34" charset="-122"/>
              </a:rPr>
              <a:t>负责转换。</a:t>
            </a:r>
          </a:p>
        </p:txBody>
      </p:sp>
      <p:sp>
        <p:nvSpPr>
          <p:cNvPr id="3" name="矩形 2"/>
          <p:cNvSpPr/>
          <p:nvPr/>
        </p:nvSpPr>
        <p:spPr>
          <a:xfrm>
            <a:off x="899381" y="1412776"/>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ea typeface="微软雅黑" panose="020B0503020204020204" pitchFamily="34" charset="-122"/>
              </a:rPr>
              <a:t>3</a:t>
            </a:r>
            <a:endParaRPr lang="zh-CN" altLang="en-US" sz="3200" dirty="0">
              <a:latin typeface="Impact" panose="020B0806030902050204" pitchFamily="34" charset="0"/>
              <a:ea typeface="微软雅黑" panose="020B0503020204020204" pitchFamily="34" charset="-122"/>
            </a:endParaRPr>
          </a:p>
        </p:txBody>
      </p:sp>
      <p:sp>
        <p:nvSpPr>
          <p:cNvPr id="4" name="矩形 3"/>
          <p:cNvSpPr/>
          <p:nvPr/>
        </p:nvSpPr>
        <p:spPr>
          <a:xfrm>
            <a:off x="1482630" y="2601944"/>
            <a:ext cx="6769172" cy="873661"/>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微软雅黑" panose="020B0503020204020204" pitchFamily="34" charset="-122"/>
                <a:ea typeface="微软雅黑" panose="020B0503020204020204" pitchFamily="34" charset="-122"/>
              </a:rPr>
              <a:t>如果系统中没有足够的物理内存供使用，那么</a:t>
            </a:r>
            <a:r>
              <a:rPr lang="en-US" altLang="zh-CN" b="1" dirty="0">
                <a:latin typeface="微软雅黑" panose="020B0503020204020204" pitchFamily="34" charset="-122"/>
                <a:ea typeface="微软雅黑" panose="020B0503020204020204" pitchFamily="34" charset="-122"/>
              </a:rPr>
              <a:t>OS</a:t>
            </a:r>
            <a:r>
              <a:rPr lang="zh-CN" altLang="en-US" b="1" dirty="0">
                <a:latin typeface="微软雅黑" panose="020B0503020204020204" pitchFamily="34" charset="-122"/>
                <a:ea typeface="微软雅黑" panose="020B0503020204020204" pitchFamily="34" charset="-122"/>
              </a:rPr>
              <a:t>会将当前没有使用的内存分页“调度”到硬盘上保存起来。</a:t>
            </a:r>
          </a:p>
        </p:txBody>
      </p:sp>
      <p:sp>
        <p:nvSpPr>
          <p:cNvPr id="5" name="矩形 4"/>
          <p:cNvSpPr/>
          <p:nvPr/>
        </p:nvSpPr>
        <p:spPr>
          <a:xfrm>
            <a:off x="906566" y="2601943"/>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ea typeface="微软雅黑" panose="020B0503020204020204" pitchFamily="34" charset="-122"/>
              </a:rPr>
              <a:t>4</a:t>
            </a:r>
            <a:endParaRPr lang="zh-CN" altLang="en-US" sz="3200" dirty="0">
              <a:latin typeface="Impact" panose="020B0806030902050204" pitchFamily="34" charset="0"/>
              <a:ea typeface="微软雅黑" panose="020B0503020204020204" pitchFamily="34" charset="-122"/>
            </a:endParaRPr>
          </a:p>
        </p:txBody>
      </p:sp>
      <p:sp>
        <p:nvSpPr>
          <p:cNvPr id="6" name="矩形 5"/>
          <p:cNvSpPr/>
          <p:nvPr/>
        </p:nvSpPr>
        <p:spPr>
          <a:xfrm>
            <a:off x="1482630" y="3791109"/>
            <a:ext cx="6769172" cy="1222067"/>
          </a:xfrm>
          <a:prstGeom prst="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微软雅黑" panose="020B0503020204020204" pitchFamily="34" charset="-122"/>
                <a:ea typeface="微软雅黑" panose="020B0503020204020204" pitchFamily="34" charset="-122"/>
              </a:rPr>
              <a:t>页面调度不会造成内存中的数据在虚拟地址空间中地址的改变，所以进程无需知道分页如何调度的，无需知道数据是在内存中还是在硬盘上，只需知道其虚拟地址即可。</a:t>
            </a:r>
          </a:p>
        </p:txBody>
      </p:sp>
      <p:sp>
        <p:nvSpPr>
          <p:cNvPr id="7" name="矩形 6"/>
          <p:cNvSpPr/>
          <p:nvPr/>
        </p:nvSpPr>
        <p:spPr>
          <a:xfrm>
            <a:off x="906566" y="3791108"/>
            <a:ext cx="575852" cy="1222067"/>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ea typeface="微软雅黑" panose="020B0503020204020204" pitchFamily="34" charset="-122"/>
              </a:rPr>
              <a:t>5</a:t>
            </a:r>
            <a:endParaRPr lang="zh-CN" altLang="en-US" sz="3200" dirty="0">
              <a:latin typeface="Impact" panose="020B0806030902050204" pitchFamily="34" charset="0"/>
              <a:ea typeface="微软雅黑" panose="020B0503020204020204" pitchFamily="34" charset="-122"/>
            </a:endParaRPr>
          </a:p>
        </p:txBody>
      </p:sp>
    </p:spTree>
    <p:extLst>
      <p:ext uri="{BB962C8B-B14F-4D97-AF65-F5344CB8AC3E}">
        <p14:creationId xmlns:p14="http://schemas.microsoft.com/office/powerpoint/2010/main" val="127741942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anose="020B0503020204020204" pitchFamily="34" charset="-122"/>
              <a:ea typeface="微软雅黑" panose="020B0503020204020204" pitchFamily="34" charset="-122"/>
            </a:endParaRPr>
          </a:p>
        </p:txBody>
      </p:sp>
      <p:sp>
        <p:nvSpPr>
          <p:cNvPr id="10" name="TextBox 15"/>
          <p:cNvSpPr txBox="1"/>
          <p:nvPr/>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pPr algn="ctr"/>
              <a:t>82</a:t>
            </a:fld>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rPr>
              <a:t> </a:t>
            </a:r>
            <a:endParaRPr lang="zh-CN" altLang="en-US" sz="1600" b="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2" name="TextBox 15"/>
          <p:cNvSpPr txBox="1">
            <a:spLocks noChangeArrowheads="1"/>
          </p:cNvSpPr>
          <p:nvPr/>
        </p:nvSpPr>
        <p:spPr bwMode="auto">
          <a:xfrm>
            <a:off x="3830340" y="4119885"/>
            <a:ext cx="1389732" cy="1884273"/>
          </a:xfrm>
          <a:prstGeom prst="rect">
            <a:avLst/>
          </a:prstGeom>
          <a:noFill/>
          <a:ln w="9525">
            <a:noFill/>
            <a:miter lim="800000"/>
            <a:headEnd/>
            <a:tailEnd/>
          </a:ln>
        </p:spPr>
        <p:txBody>
          <a:bodyPr wrap="square" lIns="67730" tIns="33865" rIns="67730" bIns="33865">
            <a:spAutoFit/>
          </a:bodyP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indent="-342900" defTabSz="762000">
              <a:lnSpc>
                <a:spcPct val="150000"/>
              </a:lnSpc>
              <a:spcAft>
                <a:spcPts val="600"/>
              </a:spcAft>
              <a:buFont typeface="Wingdings" pitchFamily="2" charset="2"/>
              <a:buChar char="u"/>
            </a:pPr>
            <a:r>
              <a:rPr lang="zh-CN" altLang="en-US" sz="2400" b="1" dirty="0">
                <a:solidFill>
                  <a:schemeClr val="tx1">
                    <a:lumMod val="65000"/>
                    <a:lumOff val="35000"/>
                  </a:schemeClr>
                </a:solidFill>
                <a:latin typeface="微软雅黑" pitchFamily="34" charset="-122"/>
                <a:ea typeface="微软雅黑" pitchFamily="34" charset="-122"/>
              </a:rPr>
              <a:t>分段</a:t>
            </a:r>
            <a:endParaRPr lang="en-US" altLang="zh-CN" sz="2400" b="1" dirty="0">
              <a:solidFill>
                <a:schemeClr val="tx1">
                  <a:lumMod val="65000"/>
                  <a:lumOff val="35000"/>
                </a:schemeClr>
              </a:solidFill>
              <a:latin typeface="微软雅黑" pitchFamily="34" charset="-122"/>
              <a:ea typeface="微软雅黑" pitchFamily="34" charset="-122"/>
            </a:endParaRPr>
          </a:p>
          <a:p>
            <a:pPr indent="-342900" defTabSz="762000">
              <a:lnSpc>
                <a:spcPct val="150000"/>
              </a:lnSpc>
              <a:spcAft>
                <a:spcPts val="600"/>
              </a:spcAft>
              <a:buFont typeface="Wingdings" pitchFamily="2" charset="2"/>
              <a:buChar char="u"/>
            </a:pPr>
            <a:r>
              <a:rPr lang="zh-CN" altLang="en-US" sz="2400" b="1" dirty="0">
                <a:solidFill>
                  <a:schemeClr val="tx1">
                    <a:lumMod val="65000"/>
                    <a:lumOff val="35000"/>
                  </a:schemeClr>
                </a:solidFill>
                <a:latin typeface="微软雅黑" pitchFamily="34" charset="-122"/>
                <a:ea typeface="微软雅黑" pitchFamily="34" charset="-122"/>
              </a:rPr>
              <a:t>分页</a:t>
            </a:r>
          </a:p>
          <a:p>
            <a:pPr indent="-342900" defTabSz="762000">
              <a:lnSpc>
                <a:spcPct val="150000"/>
              </a:lnSpc>
              <a:spcAft>
                <a:spcPts val="600"/>
              </a:spcAft>
              <a:buFont typeface="Wingdings" pitchFamily="2" charset="2"/>
              <a:buChar char="u"/>
            </a:pPr>
            <a:r>
              <a:rPr lang="zh-CN" altLang="en-US" sz="2400" b="1" dirty="0">
                <a:solidFill>
                  <a:srgbClr val="FF3255"/>
                </a:solidFill>
                <a:latin typeface="微软雅黑" pitchFamily="34" charset="-122"/>
                <a:ea typeface="微软雅黑" pitchFamily="34" charset="-122"/>
              </a:rPr>
              <a:t>举例</a:t>
            </a:r>
          </a:p>
        </p:txBody>
      </p:sp>
      <p:cxnSp>
        <p:nvCxnSpPr>
          <p:cNvPr id="14" name="直接连接符 13"/>
          <p:cNvCxnSpPr/>
          <p:nvPr/>
        </p:nvCxnSpPr>
        <p:spPr>
          <a:xfrm>
            <a:off x="1404144" y="2207419"/>
            <a:ext cx="6264275" cy="1587"/>
          </a:xfrm>
          <a:prstGeom prst="line">
            <a:avLst/>
          </a:prstGeom>
          <a:noFill/>
          <a:ln w="9525" cap="flat" cmpd="sng" algn="ctr">
            <a:solidFill>
              <a:sysClr val="window" lastClr="FFFFFF">
                <a:lumMod val="85000"/>
              </a:sysClr>
            </a:solidFill>
            <a:prstDash val="solid"/>
          </a:ln>
          <a:effectLst/>
        </p:spPr>
      </p:cxnSp>
      <p:cxnSp>
        <p:nvCxnSpPr>
          <p:cNvPr id="15" name="直接连接符 14"/>
          <p:cNvCxnSpPr/>
          <p:nvPr/>
        </p:nvCxnSpPr>
        <p:spPr>
          <a:xfrm>
            <a:off x="1475582" y="3936206"/>
            <a:ext cx="6264275" cy="1588"/>
          </a:xfrm>
          <a:prstGeom prst="line">
            <a:avLst/>
          </a:prstGeom>
          <a:noFill/>
          <a:ln w="9525" cap="flat" cmpd="sng" algn="ctr">
            <a:solidFill>
              <a:sysClr val="window" lastClr="FFFFFF">
                <a:lumMod val="85000"/>
              </a:sysClr>
            </a:solidFill>
            <a:prstDash val="solid"/>
          </a:ln>
          <a:effectLst/>
        </p:spPr>
      </p:cxnSp>
      <p:sp>
        <p:nvSpPr>
          <p:cNvPr id="16" name="TextBox 10"/>
          <p:cNvSpPr txBox="1">
            <a:spLocks noChangeArrowheads="1"/>
          </p:cNvSpPr>
          <p:nvPr/>
        </p:nvSpPr>
        <p:spPr bwMode="auto">
          <a:xfrm>
            <a:off x="1475697" y="2447499"/>
            <a:ext cx="6985934" cy="1250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algn="ctr">
              <a:lnSpc>
                <a:spcPct val="114000"/>
              </a:lnSpc>
            </a:pPr>
            <a:r>
              <a:rPr lang="en-US" altLang="zh-CN" sz="6600" b="1" dirty="0">
                <a:solidFill>
                  <a:srgbClr val="00C4F0"/>
                </a:solidFill>
                <a:latin typeface="微软雅黑" pitchFamily="34" charset="-122"/>
                <a:ea typeface="微软雅黑" pitchFamily="34" charset="-122"/>
              </a:rPr>
              <a:t>80386</a:t>
            </a:r>
            <a:r>
              <a:rPr lang="zh-CN" altLang="en-US" sz="6600" b="1" dirty="0">
                <a:solidFill>
                  <a:srgbClr val="00C4F0"/>
                </a:solidFill>
                <a:latin typeface="微软雅黑" pitchFamily="34" charset="-122"/>
                <a:ea typeface="微软雅黑" pitchFamily="34" charset="-122"/>
              </a:rPr>
              <a:t>存储器管理</a:t>
            </a:r>
            <a:endParaRPr lang="zh-CN" altLang="en-US" sz="8000" b="1" dirty="0">
              <a:solidFill>
                <a:srgbClr val="00C4F0"/>
              </a:solidFill>
              <a:latin typeface="微软雅黑" pitchFamily="34" charset="-122"/>
              <a:ea typeface="微软雅黑" pitchFamily="34" charset="-122"/>
            </a:endParaRPr>
          </a:p>
        </p:txBody>
      </p:sp>
    </p:spTree>
    <p:extLst>
      <p:ext uri="{BB962C8B-B14F-4D97-AF65-F5344CB8AC3E}">
        <p14:creationId xmlns:p14="http://schemas.microsoft.com/office/powerpoint/2010/main" val="11139816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500"/>
                                        <p:tgtEl>
                                          <p:spTgt spid="14"/>
                                        </p:tgtEl>
                                      </p:cBhvr>
                                    </p:animEffect>
                                  </p:childTnLst>
                                </p:cTn>
                              </p:par>
                              <p:par>
                                <p:cTn id="8" presetID="1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slide(fromBottom)">
                                      <p:cBhvr>
                                        <p:cTn id="10" dur="500"/>
                                        <p:tgtEl>
                                          <p:spTgt spid="15"/>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1000"/>
                                        <p:tgtEl>
                                          <p:spTgt spid="12"/>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1000" fill="hold"/>
                                        <p:tgtEl>
                                          <p:spTgt spid="16"/>
                                        </p:tgtEl>
                                        <p:attrNameLst>
                                          <p:attrName>ppt_w</p:attrName>
                                        </p:attrNameLst>
                                      </p:cBhvr>
                                      <p:tavLst>
                                        <p:tav tm="0">
                                          <p:val>
                                            <p:fltVal val="0"/>
                                          </p:val>
                                        </p:tav>
                                        <p:tav tm="100000">
                                          <p:val>
                                            <p:strVal val="#ppt_w"/>
                                          </p:val>
                                        </p:tav>
                                      </p:tavLst>
                                    </p:anim>
                                    <p:anim calcmode="lin" valueType="num">
                                      <p:cBhvr>
                                        <p:cTn id="18" dur="1000" fill="hold"/>
                                        <p:tgtEl>
                                          <p:spTgt spid="16"/>
                                        </p:tgtEl>
                                        <p:attrNameLst>
                                          <p:attrName>ppt_h</p:attrName>
                                        </p:attrNameLst>
                                      </p:cBhvr>
                                      <p:tavLst>
                                        <p:tav tm="0">
                                          <p:val>
                                            <p:fltVal val="0"/>
                                          </p:val>
                                        </p:tav>
                                        <p:tav tm="100000">
                                          <p:val>
                                            <p:strVal val="#ppt_h"/>
                                          </p:val>
                                        </p:tav>
                                      </p:tavLst>
                                    </p:anim>
                                    <p:animEffect transition="in" filter="fade">
                                      <p:cBhvr>
                                        <p:cTn id="19"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3"/>
          <p:cNvSpPr>
            <a:spLocks noChangeArrowheads="1"/>
          </p:cNvSpPr>
          <p:nvPr/>
        </p:nvSpPr>
        <p:spPr bwMode="auto">
          <a:xfrm>
            <a:off x="1191968" y="404664"/>
            <a:ext cx="6624736" cy="1024896"/>
          </a:xfrm>
          <a:prstGeom prst="rect">
            <a:avLst/>
          </a:prstGeom>
          <a:noFill/>
          <a:ln w="9525">
            <a:noFill/>
            <a:prstDash val="dash"/>
            <a:miter lim="800000"/>
            <a:headEnd/>
            <a:tailEnd/>
          </a:ln>
        </p:spPr>
        <p:txBody>
          <a:bodyPr wrap="square">
            <a:spAutoFit/>
          </a:bodyPr>
          <a:lstStyle/>
          <a:p>
            <a:pPr algn="just">
              <a:lnSpc>
                <a:spcPct val="139000"/>
              </a:lnSpc>
              <a:spcAft>
                <a:spcPts val="600"/>
              </a:spcAft>
              <a:defRPr/>
            </a:pPr>
            <a:r>
              <a:rPr lang="en-US" altLang="zh-CN" sz="2000" dirty="0">
                <a:solidFill>
                  <a:schemeClr val="tx1">
                    <a:lumMod val="65000"/>
                    <a:lumOff val="35000"/>
                  </a:schemeClr>
                </a:solidFill>
                <a:latin typeface="微软雅黑" pitchFamily="34" charset="-122"/>
                <a:ea typeface="微软雅黑" pitchFamily="34" charset="-122"/>
              </a:rPr>
              <a:t>80386</a:t>
            </a:r>
            <a:r>
              <a:rPr lang="zh-CN" altLang="en-US" sz="2000" dirty="0">
                <a:solidFill>
                  <a:schemeClr val="tx1">
                    <a:lumMod val="65000"/>
                    <a:lumOff val="35000"/>
                  </a:schemeClr>
                </a:solidFill>
                <a:latin typeface="微软雅黑" pitchFamily="34" charset="-122"/>
                <a:ea typeface="微软雅黑" pitchFamily="34" charset="-122"/>
              </a:rPr>
              <a:t>工作在保护方式下，</a:t>
            </a:r>
            <a:r>
              <a:rPr lang="en-US" altLang="zh-CN" sz="2000" dirty="0">
                <a:solidFill>
                  <a:schemeClr val="tx1">
                    <a:lumMod val="65000"/>
                    <a:lumOff val="35000"/>
                  </a:schemeClr>
                </a:solidFill>
                <a:latin typeface="微软雅黑" pitchFamily="34" charset="-122"/>
                <a:ea typeface="微软雅黑" pitchFamily="34" charset="-122"/>
              </a:rPr>
              <a:t>GDTR=0020,0000,7FFFH,</a:t>
            </a:r>
          </a:p>
          <a:p>
            <a:pPr algn="just">
              <a:lnSpc>
                <a:spcPct val="139000"/>
              </a:lnSpc>
              <a:spcAft>
                <a:spcPts val="600"/>
              </a:spcAft>
              <a:defRPr/>
            </a:pPr>
            <a:r>
              <a:rPr lang="en-US" altLang="zh-CN" sz="2000" dirty="0">
                <a:solidFill>
                  <a:schemeClr val="tx1">
                    <a:lumMod val="65000"/>
                    <a:lumOff val="35000"/>
                  </a:schemeClr>
                </a:solidFill>
                <a:latin typeface="微软雅黑" pitchFamily="34" charset="-122"/>
                <a:ea typeface="微软雅黑" pitchFamily="34" charset="-122"/>
              </a:rPr>
              <a:t>CS=4002H, </a:t>
            </a:r>
            <a:r>
              <a:rPr lang="zh-CN" altLang="en-US" sz="2000" dirty="0">
                <a:solidFill>
                  <a:schemeClr val="tx1">
                    <a:lumMod val="65000"/>
                    <a:lumOff val="35000"/>
                  </a:schemeClr>
                </a:solidFill>
                <a:latin typeface="微软雅黑" pitchFamily="34" charset="-122"/>
                <a:ea typeface="微软雅黑" pitchFamily="34" charset="-122"/>
              </a:rPr>
              <a:t>代码段描述符和数据段描述符如下： </a:t>
            </a:r>
            <a:endParaRPr lang="zh-CN" altLang="en-US" sz="2000" dirty="0">
              <a:solidFill>
                <a:srgbClr val="FF0000"/>
              </a:solidFill>
              <a:latin typeface="微软雅黑" pitchFamily="34" charset="-122"/>
              <a:ea typeface="微软雅黑" pitchFamily="34" charset="-122"/>
            </a:endParaRPr>
          </a:p>
        </p:txBody>
      </p:sp>
      <p:pic>
        <p:nvPicPr>
          <p:cNvPr id="10" name="Picture 1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940" y="1591074"/>
            <a:ext cx="6264275" cy="226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3"/>
          <p:cNvSpPr txBox="1">
            <a:spLocks noChangeArrowheads="1"/>
          </p:cNvSpPr>
          <p:nvPr/>
        </p:nvSpPr>
        <p:spPr>
          <a:xfrm>
            <a:off x="1115616" y="4077072"/>
            <a:ext cx="7056784" cy="2304256"/>
          </a:xfrm>
          <a:prstGeom prst="rect">
            <a:avLst/>
          </a:prstGeom>
        </p:spPr>
        <p:txBody>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buFont typeface="Wingdings" panose="05000000000000000000" pitchFamily="2" charset="2"/>
              <a:buNone/>
            </a:pP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1. GDT</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的起始地址为</a:t>
            </a:r>
            <a:r>
              <a:rPr lang="zh-CN" altLang="en-US" sz="2000" u="sng"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，结束地址为</a:t>
            </a:r>
            <a:r>
              <a:rPr lang="zh-CN" altLang="en-US" sz="2000" u="sng" dirty="0">
                <a:solidFill>
                  <a:schemeClr val="tx1">
                    <a:lumMod val="65000"/>
                    <a:lumOff val="35000"/>
                  </a:schemeClr>
                </a:solidFill>
                <a:latin typeface="微软雅黑" panose="020B0503020204020204" pitchFamily="34" charset="-122"/>
                <a:ea typeface="微软雅黑" panose="020B0503020204020204" pitchFamily="34" charset="-122"/>
              </a:rPr>
              <a:t>                   </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2.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代码段描述符的起始地址为</a:t>
            </a:r>
            <a:r>
              <a:rPr lang="zh-CN" altLang="en-US" sz="2000" u="sng"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，结束地址为</a:t>
            </a:r>
            <a:r>
              <a:rPr lang="zh-CN" altLang="en-US" sz="2000" u="sng" dirty="0">
                <a:solidFill>
                  <a:schemeClr val="tx1">
                    <a:lumMod val="65000"/>
                    <a:lumOff val="35000"/>
                  </a:schemeClr>
                </a:solidFill>
                <a:latin typeface="微软雅黑" panose="020B0503020204020204" pitchFamily="34" charset="-122"/>
                <a:ea typeface="微软雅黑" panose="020B0503020204020204" pitchFamily="34" charset="-122"/>
              </a:rPr>
              <a:t>              </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3.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代码段的起始地址为</a:t>
            </a:r>
            <a:r>
              <a:rPr lang="zh-CN" altLang="en-US" sz="2000" u="sng"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，结束地址为</a:t>
            </a:r>
            <a:r>
              <a:rPr lang="zh-CN" altLang="en-US" sz="2000" u="sng" dirty="0">
                <a:solidFill>
                  <a:schemeClr val="tx1">
                    <a:lumMod val="65000"/>
                    <a:lumOff val="35000"/>
                  </a:schemeClr>
                </a:solidFill>
                <a:latin typeface="微软雅黑" panose="020B0503020204020204" pitchFamily="34" charset="-122"/>
                <a:ea typeface="微软雅黑" panose="020B0503020204020204" pitchFamily="34" charset="-122"/>
              </a:rPr>
              <a:t>                  </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4.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数据段的起始地址为</a:t>
            </a:r>
            <a:r>
              <a:rPr lang="zh-CN" altLang="en-US" sz="2000" u="sng"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，结束地址为</a:t>
            </a:r>
            <a:r>
              <a:rPr lang="zh-CN" altLang="en-US" sz="2000" u="sng" dirty="0">
                <a:solidFill>
                  <a:schemeClr val="tx1">
                    <a:lumMod val="65000"/>
                    <a:lumOff val="35000"/>
                  </a:schemeClr>
                </a:solidFill>
                <a:latin typeface="微软雅黑" panose="020B0503020204020204" pitchFamily="34" charset="-122"/>
                <a:ea typeface="微软雅黑" panose="020B0503020204020204" pitchFamily="34" charset="-122"/>
              </a:rPr>
              <a:t>                  </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5.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代码段：是否可读</a:t>
            </a:r>
            <a:r>
              <a:rPr lang="zh-CN" altLang="en-US" sz="2000" u="sng"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，在内存中否</a:t>
            </a:r>
            <a:r>
              <a:rPr lang="zh-CN" altLang="en-US" sz="2000" u="sng"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，访问过否</a:t>
            </a:r>
            <a:r>
              <a:rPr lang="zh-CN" altLang="en-US" sz="2000" u="sng" dirty="0">
                <a:solidFill>
                  <a:schemeClr val="tx1">
                    <a:lumMod val="65000"/>
                    <a:lumOff val="35000"/>
                  </a:schemeClr>
                </a:solidFill>
                <a:latin typeface="微软雅黑" panose="020B0503020204020204" pitchFamily="34" charset="-122"/>
                <a:ea typeface="微软雅黑" panose="020B0503020204020204" pitchFamily="34" charset="-122"/>
              </a:rPr>
              <a:t>    </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6.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数据段：是否可写</a:t>
            </a:r>
            <a:r>
              <a:rPr lang="zh-CN" altLang="en-US" sz="2000" u="sng"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，在内存中否</a:t>
            </a:r>
            <a:r>
              <a:rPr lang="zh-CN" altLang="en-US" sz="2000" u="sng"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，访问过否</a:t>
            </a:r>
          </a:p>
        </p:txBody>
      </p:sp>
    </p:spTree>
    <p:extLst>
      <p:ext uri="{BB962C8B-B14F-4D97-AF65-F5344CB8AC3E}">
        <p14:creationId xmlns:p14="http://schemas.microsoft.com/office/powerpoint/2010/main" val="286721165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3"/>
          <p:cNvSpPr>
            <a:spLocks noChangeArrowheads="1"/>
          </p:cNvSpPr>
          <p:nvPr/>
        </p:nvSpPr>
        <p:spPr bwMode="auto">
          <a:xfrm>
            <a:off x="827584" y="260648"/>
            <a:ext cx="7940158" cy="1529650"/>
          </a:xfrm>
          <a:prstGeom prst="rect">
            <a:avLst/>
          </a:prstGeom>
          <a:noFill/>
          <a:ln w="9525">
            <a:noFill/>
            <a:prstDash val="dash"/>
            <a:miter lim="800000"/>
            <a:headEnd/>
            <a:tailEnd/>
          </a:ln>
        </p:spPr>
        <p:txBody>
          <a:bodyPr wrap="square">
            <a:spAutoFit/>
          </a:bodyPr>
          <a:lstStyle/>
          <a:p>
            <a:pPr algn="just">
              <a:lnSpc>
                <a:spcPct val="139000"/>
              </a:lnSpc>
              <a:spcAft>
                <a:spcPts val="600"/>
              </a:spcAft>
              <a:defRPr/>
            </a:pPr>
            <a:r>
              <a:rPr lang="zh-CN" altLang="en-US" sz="2000" dirty="0">
                <a:solidFill>
                  <a:schemeClr val="tx1">
                    <a:lumMod val="65000"/>
                    <a:lumOff val="35000"/>
                  </a:schemeClr>
                </a:solidFill>
                <a:latin typeface="微软雅黑" pitchFamily="34" charset="-122"/>
                <a:ea typeface="微软雅黑" pitchFamily="34" charset="-122"/>
              </a:rPr>
              <a:t>已知在</a:t>
            </a:r>
            <a:r>
              <a:rPr lang="en-US" altLang="zh-CN" sz="2000" dirty="0">
                <a:solidFill>
                  <a:schemeClr val="tx1">
                    <a:lumMod val="65000"/>
                    <a:lumOff val="35000"/>
                  </a:schemeClr>
                </a:solidFill>
                <a:latin typeface="微软雅黑" pitchFamily="34" charset="-122"/>
                <a:ea typeface="微软雅黑" pitchFamily="34" charset="-122"/>
              </a:rPr>
              <a:t>80386</a:t>
            </a:r>
            <a:r>
              <a:rPr lang="zh-CN" altLang="en-US" sz="2000" dirty="0">
                <a:solidFill>
                  <a:schemeClr val="tx1">
                    <a:lumMod val="65000"/>
                    <a:lumOff val="35000"/>
                  </a:schemeClr>
                </a:solidFill>
                <a:latin typeface="微软雅黑" pitchFamily="34" charset="-122"/>
                <a:ea typeface="微软雅黑" pitchFamily="34" charset="-122"/>
              </a:rPr>
              <a:t>系统中，页目录起始地址为</a:t>
            </a:r>
            <a:r>
              <a:rPr lang="en-US" altLang="zh-CN" sz="2000" dirty="0">
                <a:solidFill>
                  <a:schemeClr val="tx1">
                    <a:lumMod val="65000"/>
                    <a:lumOff val="35000"/>
                  </a:schemeClr>
                </a:solidFill>
                <a:latin typeface="微软雅黑" pitchFamily="34" charset="-122"/>
                <a:ea typeface="微软雅黑" pitchFamily="34" charset="-122"/>
              </a:rPr>
              <a:t>20 0000H</a:t>
            </a:r>
            <a:r>
              <a:rPr lang="zh-CN" altLang="en-US" sz="2000" dirty="0">
                <a:solidFill>
                  <a:schemeClr val="tx1">
                    <a:lumMod val="65000"/>
                    <a:lumOff val="35000"/>
                  </a:schemeClr>
                </a:solidFill>
                <a:latin typeface="微软雅黑" pitchFamily="34" charset="-122"/>
                <a:ea typeface="微软雅黑" pitchFamily="34" charset="-122"/>
              </a:rPr>
              <a:t>，页表起始地址</a:t>
            </a:r>
          </a:p>
          <a:p>
            <a:pPr algn="just">
              <a:lnSpc>
                <a:spcPct val="139000"/>
              </a:lnSpc>
              <a:spcAft>
                <a:spcPts val="600"/>
              </a:spcAft>
              <a:defRPr/>
            </a:pPr>
            <a:r>
              <a:rPr lang="zh-CN" altLang="en-US" sz="2000" dirty="0">
                <a:solidFill>
                  <a:schemeClr val="tx1">
                    <a:lumMod val="65000"/>
                    <a:lumOff val="35000"/>
                  </a:schemeClr>
                </a:solidFill>
                <a:latin typeface="微软雅黑" pitchFamily="34" charset="-122"/>
                <a:ea typeface="微软雅黑" pitchFamily="34" charset="-122"/>
              </a:rPr>
              <a:t>为</a:t>
            </a:r>
            <a:r>
              <a:rPr lang="en-US" altLang="zh-CN" sz="2000" dirty="0">
                <a:solidFill>
                  <a:schemeClr val="tx1">
                    <a:lumMod val="65000"/>
                    <a:lumOff val="35000"/>
                  </a:schemeClr>
                </a:solidFill>
                <a:latin typeface="微软雅黑" pitchFamily="34" charset="-122"/>
                <a:ea typeface="微软雅黑" pitchFamily="34" charset="-122"/>
              </a:rPr>
              <a:t>40 0000H</a:t>
            </a:r>
            <a:r>
              <a:rPr lang="zh-CN" altLang="en-US" sz="2000" dirty="0">
                <a:solidFill>
                  <a:schemeClr val="tx1">
                    <a:lumMod val="65000"/>
                    <a:lumOff val="35000"/>
                  </a:schemeClr>
                </a:solidFill>
                <a:latin typeface="微软雅黑" pitchFamily="34" charset="-122"/>
                <a:ea typeface="微软雅黑" pitchFamily="34" charset="-122"/>
              </a:rPr>
              <a:t>，页目录表内容如下图所示，已将线性地址</a:t>
            </a:r>
            <a:r>
              <a:rPr lang="en-US" altLang="zh-CN" sz="2000" dirty="0">
                <a:solidFill>
                  <a:schemeClr val="tx1">
                    <a:lumMod val="65000"/>
                    <a:lumOff val="35000"/>
                  </a:schemeClr>
                </a:solidFill>
                <a:latin typeface="微软雅黑" pitchFamily="34" charset="-122"/>
                <a:ea typeface="微软雅黑" pitchFamily="34" charset="-122"/>
              </a:rPr>
              <a:t>1684 0240</a:t>
            </a:r>
          </a:p>
          <a:p>
            <a:pPr algn="just">
              <a:lnSpc>
                <a:spcPct val="139000"/>
              </a:lnSpc>
              <a:spcAft>
                <a:spcPts val="600"/>
              </a:spcAft>
              <a:defRPr/>
            </a:pPr>
            <a:r>
              <a:rPr lang="zh-CN" altLang="en-US" sz="2000" dirty="0">
                <a:solidFill>
                  <a:schemeClr val="tx1">
                    <a:lumMod val="65000"/>
                    <a:lumOff val="35000"/>
                  </a:schemeClr>
                </a:solidFill>
                <a:latin typeface="微软雅黑" pitchFamily="34" charset="-122"/>
                <a:ea typeface="微软雅黑" pitchFamily="34" charset="-122"/>
              </a:rPr>
              <a:t>转换为物理地址</a:t>
            </a:r>
            <a:r>
              <a:rPr lang="en-US" altLang="zh-CN" sz="2000" dirty="0">
                <a:solidFill>
                  <a:schemeClr val="tx1">
                    <a:lumMod val="65000"/>
                    <a:lumOff val="35000"/>
                  </a:schemeClr>
                </a:solidFill>
                <a:latin typeface="微软雅黑" pitchFamily="34" charset="-122"/>
                <a:ea typeface="微软雅黑" pitchFamily="34" charset="-122"/>
              </a:rPr>
              <a:t>7000 0240H</a:t>
            </a:r>
            <a:r>
              <a:rPr lang="zh-CN" altLang="en-US" sz="2000" dirty="0">
                <a:solidFill>
                  <a:schemeClr val="tx1">
                    <a:lumMod val="65000"/>
                    <a:lumOff val="35000"/>
                  </a:schemeClr>
                </a:solidFill>
                <a:latin typeface="微软雅黑" pitchFamily="34" charset="-122"/>
                <a:ea typeface="微软雅黑" pitchFamily="34" charset="-122"/>
              </a:rPr>
              <a:t>。 </a:t>
            </a:r>
          </a:p>
        </p:txBody>
      </p:sp>
      <p:graphicFrame>
        <p:nvGraphicFramePr>
          <p:cNvPr id="5" name="Object 42"/>
          <p:cNvGraphicFramePr>
            <a:graphicFrameLocks noChangeAspect="1"/>
          </p:cNvGraphicFramePr>
          <p:nvPr>
            <p:extLst>
              <p:ext uri="{D42A27DB-BD31-4B8C-83A1-F6EECF244321}">
                <p14:modId xmlns:p14="http://schemas.microsoft.com/office/powerpoint/2010/main" val="3504686216"/>
              </p:ext>
            </p:extLst>
          </p:nvPr>
        </p:nvGraphicFramePr>
        <p:xfrm>
          <a:off x="1305163" y="2060848"/>
          <a:ext cx="6985000" cy="4090987"/>
        </p:xfrm>
        <a:graphic>
          <a:graphicData uri="http://schemas.openxmlformats.org/presentationml/2006/ole">
            <mc:AlternateContent xmlns:mc="http://schemas.openxmlformats.org/markup-compatibility/2006">
              <mc:Choice xmlns:v="urn:schemas-microsoft-com:vml" Requires="v">
                <p:oleObj spid="_x0000_s7225" name="Visio" r:id="rId3" imgW="5291039" imgH="3099116" progId="Visio.Drawing.11">
                  <p:embed/>
                </p:oleObj>
              </mc:Choice>
              <mc:Fallback>
                <p:oleObj name="Visio" r:id="rId3" imgW="5291039" imgH="3099116" progId="Visio.Drawing.11">
                  <p:embed/>
                  <p:pic>
                    <p:nvPicPr>
                      <p:cNvPr id="73735" name="Object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5163" y="2060848"/>
                        <a:ext cx="6985000" cy="4090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4877008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179512" y="1340768"/>
            <a:ext cx="8820472" cy="2304256"/>
          </a:xfrm>
          <a:prstGeom prst="rect">
            <a:avLst/>
          </a:prstGeom>
        </p:spPr>
        <p:txBody>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buFont typeface="Wingdings" panose="05000000000000000000" pitchFamily="2" charset="2"/>
              <a:buNone/>
            </a:pP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CR3=___________________________________________</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a:t>
            </a:r>
          </a:p>
          <a:p>
            <a:pPr eaLnBrk="1" hangingPunct="1">
              <a:buFont typeface="Wingdings" panose="05000000000000000000" pitchFamily="2" charset="2"/>
              <a:buNone/>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页表项偏移地址</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=____________________________</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a:t>
            </a:r>
          </a:p>
          <a:p>
            <a:pPr eaLnBrk="1" hangingPunct="1">
              <a:buFont typeface="Wingdings" panose="05000000000000000000" pitchFamily="2" charset="2"/>
              <a:buNone/>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页桢起始地址</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=____________________</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a:t>
            </a:r>
          </a:p>
          <a:p>
            <a:pPr eaLnBrk="1" hangingPunct="1">
              <a:buFont typeface="Wingdings" panose="05000000000000000000" pitchFamily="2" charset="2"/>
              <a:buNone/>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存放整个页目录表的内存地址范围：</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__________~____________</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a:t>
            </a:r>
          </a:p>
          <a:p>
            <a:pPr eaLnBrk="1" hangingPunct="1">
              <a:buFont typeface="Wingdings" panose="05000000000000000000" pitchFamily="2" charset="2"/>
              <a:buNone/>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如果页表项所描述的页桢用户方式是只读，则该页表项的内</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________________</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83994383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4250017"/>
      </p:ext>
    </p:extLst>
  </p:cSld>
  <p:clrMapOvr>
    <a:masterClrMapping/>
  </p:clrMapOvr>
  <p:timing>
    <p:tnLst>
      <p:par>
        <p:cTn id="1" dur="indefinite" restart="never" nodeType="tmRoot"/>
      </p:par>
    </p:tnLst>
  </p:timing>
</p:sld>
</file>

<file path=ppt/theme/theme1.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23273</TotalTime>
  <Words>4740</Words>
  <Application>Microsoft Office PowerPoint</Application>
  <PresentationFormat>全屏显示(4:3)</PresentationFormat>
  <Paragraphs>911</Paragraphs>
  <Slides>86</Slides>
  <Notes>27</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86</vt:i4>
      </vt:variant>
    </vt:vector>
  </HeadingPairs>
  <TitlesOfParts>
    <vt:vector size="88" baseType="lpstr">
      <vt:lpstr>2_Office 主题​​</vt:lpstr>
      <vt:lpstr>Visio</vt:lpstr>
      <vt:lpstr>PowerPoint 演示文稿</vt:lpstr>
      <vt:lpstr>本章目标• OBJECTIVE</vt:lpstr>
      <vt:lpstr>学习收获• GAINS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Wang</cp:lastModifiedBy>
  <cp:revision>5384</cp:revision>
  <dcterms:created xsi:type="dcterms:W3CDTF">2012-06-23T00:51:09Z</dcterms:created>
  <dcterms:modified xsi:type="dcterms:W3CDTF">2016-06-07T04:19:20Z</dcterms:modified>
</cp:coreProperties>
</file>