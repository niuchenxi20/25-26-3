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4" r:id="rId1"/>
  </p:sldMasterIdLst>
  <p:notesMasterIdLst>
    <p:notesMasterId r:id="rId54"/>
  </p:notesMasterIdLst>
  <p:sldIdLst>
    <p:sldId id="303" r:id="rId2"/>
    <p:sldId id="304" r:id="rId3"/>
    <p:sldId id="261" r:id="rId4"/>
    <p:sldId id="459" r:id="rId5"/>
    <p:sldId id="369" r:id="rId6"/>
    <p:sldId id="440" r:id="rId7"/>
    <p:sldId id="441" r:id="rId8"/>
    <p:sldId id="444" r:id="rId9"/>
    <p:sldId id="442" r:id="rId10"/>
    <p:sldId id="446" r:id="rId11"/>
    <p:sldId id="447" r:id="rId12"/>
    <p:sldId id="445" r:id="rId13"/>
    <p:sldId id="448" r:id="rId14"/>
    <p:sldId id="460" r:id="rId15"/>
    <p:sldId id="449" r:id="rId16"/>
    <p:sldId id="450" r:id="rId17"/>
    <p:sldId id="461" r:id="rId18"/>
    <p:sldId id="453" r:id="rId19"/>
    <p:sldId id="462" r:id="rId20"/>
    <p:sldId id="455" r:id="rId21"/>
    <p:sldId id="467" r:id="rId22"/>
    <p:sldId id="468" r:id="rId23"/>
    <p:sldId id="463" r:id="rId24"/>
    <p:sldId id="472" r:id="rId25"/>
    <p:sldId id="465" r:id="rId26"/>
    <p:sldId id="470" r:id="rId27"/>
    <p:sldId id="471" r:id="rId28"/>
    <p:sldId id="475" r:id="rId29"/>
    <p:sldId id="476" r:id="rId30"/>
    <p:sldId id="477" r:id="rId31"/>
    <p:sldId id="478" r:id="rId32"/>
    <p:sldId id="479" r:id="rId33"/>
    <p:sldId id="480" r:id="rId34"/>
    <p:sldId id="481" r:id="rId35"/>
    <p:sldId id="482" r:id="rId36"/>
    <p:sldId id="483" r:id="rId37"/>
    <p:sldId id="474" r:id="rId38"/>
    <p:sldId id="485" r:id="rId39"/>
    <p:sldId id="487" r:id="rId40"/>
    <p:sldId id="486" r:id="rId41"/>
    <p:sldId id="488" r:id="rId42"/>
    <p:sldId id="489" r:id="rId43"/>
    <p:sldId id="490" r:id="rId44"/>
    <p:sldId id="492" r:id="rId45"/>
    <p:sldId id="494" r:id="rId46"/>
    <p:sldId id="493" r:id="rId47"/>
    <p:sldId id="496" r:id="rId48"/>
    <p:sldId id="497" r:id="rId49"/>
    <p:sldId id="498" r:id="rId50"/>
    <p:sldId id="500" r:id="rId51"/>
    <p:sldId id="499" r:id="rId52"/>
    <p:sldId id="300" r:id="rId5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D8DE5"/>
    <a:srgbClr val="FF3255"/>
    <a:srgbClr val="FD7A2A"/>
    <a:srgbClr val="00B050"/>
    <a:srgbClr val="5DCB08"/>
    <a:srgbClr val="FF9300"/>
    <a:srgbClr val="FBFBFB"/>
    <a:srgbClr val="7F7F7F"/>
    <a:srgbClr val="DBEEF4"/>
    <a:srgbClr val="008DC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B1032C-EA38-4F05-BA0D-38AFFFC7BED3}" styleName="浅色样式 3 - 强调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495" autoAdjust="0"/>
    <p:restoredTop sz="72926" autoAdjust="0"/>
  </p:normalViewPr>
  <p:slideViewPr>
    <p:cSldViewPr>
      <p:cViewPr varScale="1">
        <p:scale>
          <a:sx n="63" d="100"/>
          <a:sy n="63" d="100"/>
        </p:scale>
        <p:origin x="1896" y="62"/>
      </p:cViewPr>
      <p:guideLst>
        <p:guide orient="horz" pos="2160"/>
        <p:guide pos="2880"/>
      </p:guideLst>
    </p:cSldViewPr>
  </p:slideViewPr>
  <p:notesTextViewPr>
    <p:cViewPr>
      <p:scale>
        <a:sx n="125" d="100"/>
        <a:sy n="12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84524F-5C8C-4CF8-964C-68B44E826FEE}" type="datetimeFigureOut">
              <a:rPr lang="en-US" smtClean="0"/>
              <a:t>3/8/2017</a:t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E00F3E-42E3-47B8-AD52-3484E0D8A9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2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微软雅黑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微软雅黑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微软雅黑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本章需要回答这几个非常重要的问题。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4688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1652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187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5214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13167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2215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6019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2770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6433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73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15525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46659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71721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508832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385983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92164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81141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99339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038901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09197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67476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6382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hyperlink" Target="http://www.eyefulpresentations.co.uk/" TargetMode="External"/><Relationship Id="rId7" Type="http://schemas.openxmlformats.org/officeDocument/2006/relationships/image" Target="../media/image7.png"/><Relationship Id="rId2" Type="http://schemas.openxmlformats.org/officeDocument/2006/relationships/hyperlink" Target="mailto:info@eyefulpresentations.co.uk" TargetMode="External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jpg"/><Relationship Id="rId5" Type="http://schemas.openxmlformats.org/officeDocument/2006/relationships/image" Target="../media/image5.jpg"/><Relationship Id="rId4" Type="http://schemas.openxmlformats.org/officeDocument/2006/relationships/image" Target="../media/image4.jpg"/><Relationship Id="rId9" Type="http://schemas.openxmlformats.org/officeDocument/2006/relationships/image" Target="../media/image9.png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1032"/>
          <p:cNvSpPr txBox="1">
            <a:spLocks noChangeArrowheads="1"/>
          </p:cNvSpPr>
          <p:nvPr userDrawn="1"/>
        </p:nvSpPr>
        <p:spPr bwMode="auto">
          <a:xfrm>
            <a:off x="539552" y="1187777"/>
            <a:ext cx="7488832" cy="8925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b" anchorCtr="1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9pPr>
          </a:lstStyle>
          <a:p>
            <a:pPr algn="l" eaLnBrk="1" hangingPunct="1">
              <a:lnSpc>
                <a:spcPct val="130000"/>
              </a:lnSpc>
              <a:defRPr/>
            </a:pPr>
            <a:r>
              <a:rPr lang="zh-CN" altLang="en-US" sz="40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第三章  </a:t>
            </a:r>
            <a:r>
              <a:rPr lang="en-US" altLang="zh-CN" sz="40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8086</a:t>
            </a:r>
            <a:r>
              <a:rPr lang="zh-CN" altLang="en-US" sz="40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微处理器及其系统</a:t>
            </a:r>
          </a:p>
        </p:txBody>
      </p:sp>
      <p:cxnSp>
        <p:nvCxnSpPr>
          <p:cNvPr id="8" name="直接连接符 7"/>
          <p:cNvCxnSpPr/>
          <p:nvPr userDrawn="1"/>
        </p:nvCxnSpPr>
        <p:spPr bwMode="auto">
          <a:xfrm>
            <a:off x="755576" y="2349500"/>
            <a:ext cx="7129288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algn="ctr" rotWithShape="0">
              <a:prstClr val="black">
                <a:alpha val="64000"/>
              </a:prstClr>
            </a:outerShdw>
          </a:effectLst>
        </p:spPr>
      </p:cxnSp>
      <p:sp>
        <p:nvSpPr>
          <p:cNvPr id="9" name="矩形 8"/>
          <p:cNvSpPr>
            <a:spLocks noChangeArrowheads="1"/>
          </p:cNvSpPr>
          <p:nvPr userDrawn="1"/>
        </p:nvSpPr>
        <p:spPr bwMode="auto">
          <a:xfrm>
            <a:off x="755576" y="549275"/>
            <a:ext cx="395922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微机系统与接口</a:t>
            </a:r>
            <a:r>
              <a:rPr lang="en-US" altLang="zh-CN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——</a:t>
            </a:r>
            <a:endParaRPr lang="zh-CN" altLang="en-US" b="1" dirty="0">
              <a:solidFill>
                <a:schemeClr val="tx1">
                  <a:lumMod val="65000"/>
                  <a:lumOff val="35000"/>
                </a:schemeClr>
              </a:solidFill>
              <a:ea typeface="微软雅黑" panose="020B0503020204020204" pitchFamily="34" charset="-122"/>
            </a:endParaRPr>
          </a:p>
        </p:txBody>
      </p:sp>
      <p:sp>
        <p:nvSpPr>
          <p:cNvPr id="10" name="TextBox 9"/>
          <p:cNvSpPr txBox="1">
            <a:spLocks noChangeArrowheads="1"/>
          </p:cNvSpPr>
          <p:nvPr userDrawn="1"/>
        </p:nvSpPr>
        <p:spPr bwMode="auto">
          <a:xfrm>
            <a:off x="827089" y="2508250"/>
            <a:ext cx="3096840" cy="354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1700" b="1" dirty="0">
                <a:solidFill>
                  <a:srgbClr val="FC6204"/>
                </a:solidFill>
                <a:latin typeface="微软雅黑" pitchFamily="34" charset="-122"/>
                <a:ea typeface="微软雅黑" pitchFamily="34" charset="-122"/>
                <a:cs typeface="Tahoma" pitchFamily="34" charset="0"/>
              </a:rPr>
              <a:t>东南大学信息科学与工程学院</a:t>
            </a:r>
            <a:endParaRPr lang="en-US" altLang="zh-CN" sz="1700" b="1" dirty="0">
              <a:solidFill>
                <a:srgbClr val="FC6204"/>
              </a:solidFill>
              <a:latin typeface="微软雅黑" pitchFamily="34" charset="-122"/>
              <a:ea typeface="微软雅黑" pitchFamily="34" charset="-122"/>
              <a:cs typeface="Tahoma" pitchFamily="34" charset="0"/>
            </a:endParaRPr>
          </a:p>
        </p:txBody>
      </p:sp>
      <p:sp>
        <p:nvSpPr>
          <p:cNvPr id="17" name="TextBox 18"/>
          <p:cNvSpPr txBox="1"/>
          <p:nvPr userDrawn="1"/>
        </p:nvSpPr>
        <p:spPr>
          <a:xfrm>
            <a:off x="7235825" y="5733256"/>
            <a:ext cx="1152599" cy="46166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  <a:latin typeface="Broadway" pitchFamily="82" charset="0"/>
                <a:ea typeface="微软雅黑" panose="020B0503020204020204" pitchFamily="34" charset="-122"/>
                <a:cs typeface="经典繁仿黑" pitchFamily="49" charset="-122"/>
              </a:rPr>
              <a:t>王东明</a:t>
            </a:r>
          </a:p>
        </p:txBody>
      </p:sp>
      <p:pic>
        <p:nvPicPr>
          <p:cNvPr id="18" name="Picture 2" descr="D:\Teliss_Tong\Copy\定期备份\工作备份\！PPT图片及版面资源\06-PPT精选插图\04-图标\59E394F1F59BE1688CBD1D9A59D1E886.png"/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555776" y="2986582"/>
            <a:ext cx="2885504" cy="3138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81214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7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2" presetClass="entr" presetSubtype="4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0" grpId="0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1043608" y="0"/>
            <a:ext cx="1080120" cy="1052736"/>
          </a:xfrm>
          <a:prstGeom prst="rect">
            <a:avLst/>
          </a:prstGeom>
          <a:solidFill>
            <a:srgbClr val="FF910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 userDrawn="1"/>
        </p:nvSpPr>
        <p:spPr>
          <a:xfrm>
            <a:off x="1043608" y="548680"/>
            <a:ext cx="10801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前言</a:t>
            </a:r>
          </a:p>
        </p:txBody>
      </p:sp>
      <p:sp>
        <p:nvSpPr>
          <p:cNvPr id="4" name="椭圆 3"/>
          <p:cNvSpPr/>
          <p:nvPr userDrawn="1"/>
        </p:nvSpPr>
        <p:spPr>
          <a:xfrm>
            <a:off x="8461631" y="6348095"/>
            <a:ext cx="360000" cy="360000"/>
          </a:xfrm>
          <a:prstGeom prst="ellipse">
            <a:avLst/>
          </a:prstGeom>
          <a:solidFill>
            <a:schemeClr val="bg1">
              <a:lumMod val="75000"/>
              <a:alpha val="3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TextBox 15"/>
          <p:cNvSpPr txBox="1"/>
          <p:nvPr userDrawn="1"/>
        </p:nvSpPr>
        <p:spPr>
          <a:xfrm>
            <a:off x="8316416" y="6358818"/>
            <a:ext cx="6504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2EEF1883-7A0E-4F66-9932-E581691AD397}" type="slidenum">
              <a:rPr lang="zh-CN" altLang="en-US" sz="160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pPr algn="ctr"/>
              <a:t>‹#›</a:t>
            </a:fld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</a:t>
            </a:r>
            <a:endParaRPr lang="zh-CN" altLang="en-US" sz="1600" b="0" dirty="0">
              <a:solidFill>
                <a:schemeClr val="tx1">
                  <a:lumMod val="65000"/>
                  <a:lumOff val="3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37416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1043608" y="0"/>
            <a:ext cx="1080120" cy="1052736"/>
          </a:xfrm>
          <a:prstGeom prst="rect">
            <a:avLst/>
          </a:prstGeom>
          <a:solidFill>
            <a:srgbClr val="FF910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 userDrawn="1"/>
        </p:nvSpPr>
        <p:spPr>
          <a:xfrm>
            <a:off x="1043608" y="526368"/>
            <a:ext cx="10801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目录页</a:t>
            </a:r>
          </a:p>
        </p:txBody>
      </p:sp>
      <p:sp>
        <p:nvSpPr>
          <p:cNvPr id="6" name="椭圆 5"/>
          <p:cNvSpPr/>
          <p:nvPr userDrawn="1"/>
        </p:nvSpPr>
        <p:spPr>
          <a:xfrm>
            <a:off x="8461631" y="6348095"/>
            <a:ext cx="360000" cy="360000"/>
          </a:xfrm>
          <a:prstGeom prst="ellipse">
            <a:avLst/>
          </a:prstGeom>
          <a:solidFill>
            <a:schemeClr val="bg1">
              <a:lumMod val="75000"/>
              <a:alpha val="3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TextBox 15"/>
          <p:cNvSpPr txBox="1"/>
          <p:nvPr userDrawn="1"/>
        </p:nvSpPr>
        <p:spPr>
          <a:xfrm>
            <a:off x="8316416" y="6358818"/>
            <a:ext cx="6504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2EEF1883-7A0E-4F66-9932-E581691AD397}" type="slidenum">
              <a:rPr lang="zh-CN" altLang="en-US" sz="160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pPr algn="ctr"/>
              <a:t>‹#›</a:t>
            </a:fld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</a:t>
            </a:r>
            <a:endParaRPr lang="zh-CN" altLang="en-US" sz="1600" b="0" dirty="0">
              <a:solidFill>
                <a:schemeClr val="tx1">
                  <a:lumMod val="65000"/>
                  <a:lumOff val="3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pic>
        <p:nvPicPr>
          <p:cNvPr id="18" name="Picture 3" descr="D:\Teliss_Tong\Copy\定期备份\工作备份\！PPT图片及版面资源\06-PPT精选插图\04-图标\西装小人.png"/>
          <p:cNvPicPr>
            <a:picLocks noChangeAspect="1" noChangeArrowheads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043608" y="1852068"/>
            <a:ext cx="2210937" cy="3098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107665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1043608" y="0"/>
            <a:ext cx="1080120" cy="1052736"/>
          </a:xfrm>
          <a:prstGeom prst="rect">
            <a:avLst/>
          </a:prstGeom>
          <a:solidFill>
            <a:srgbClr val="FF910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 userDrawn="1"/>
        </p:nvSpPr>
        <p:spPr>
          <a:xfrm>
            <a:off x="1043608" y="526368"/>
            <a:ext cx="10801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过渡页</a:t>
            </a:r>
          </a:p>
        </p:txBody>
      </p:sp>
      <p:sp>
        <p:nvSpPr>
          <p:cNvPr id="6" name="椭圆 5"/>
          <p:cNvSpPr/>
          <p:nvPr userDrawn="1"/>
        </p:nvSpPr>
        <p:spPr>
          <a:xfrm>
            <a:off x="8461631" y="6348095"/>
            <a:ext cx="360000" cy="360000"/>
          </a:xfrm>
          <a:prstGeom prst="ellipse">
            <a:avLst/>
          </a:prstGeom>
          <a:solidFill>
            <a:schemeClr val="bg1">
              <a:lumMod val="75000"/>
              <a:alpha val="3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TextBox 15"/>
          <p:cNvSpPr txBox="1"/>
          <p:nvPr userDrawn="1"/>
        </p:nvSpPr>
        <p:spPr>
          <a:xfrm>
            <a:off x="8316416" y="6358818"/>
            <a:ext cx="6504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2EEF1883-7A0E-4F66-9932-E581691AD397}" type="slidenum">
              <a:rPr lang="zh-CN" altLang="en-US" sz="160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pPr algn="ctr"/>
              <a:t>‹#›</a:t>
            </a:fld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</a:t>
            </a:r>
            <a:endParaRPr lang="zh-CN" altLang="en-US" sz="1600" b="0" dirty="0">
              <a:solidFill>
                <a:schemeClr val="tx1">
                  <a:lumMod val="65000"/>
                  <a:lumOff val="3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461693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43541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 userDrawn="1"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3" name="Rectangle 2"/>
          <p:cNvSpPr>
            <a:spLocks noChangeArrowheads="1"/>
          </p:cNvSpPr>
          <p:nvPr userDrawn="1"/>
        </p:nvSpPr>
        <p:spPr bwMode="auto">
          <a:xfrm>
            <a:off x="1619251" y="548680"/>
            <a:ext cx="5905499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eaLnBrk="0" hangingPunct="0">
              <a:buFont typeface="Wingdings" pitchFamily="2" charset="2"/>
              <a:buNone/>
            </a:pPr>
            <a:endParaRPr lang="zh-CN" altLang="en-US" sz="3200" b="1" dirty="0">
              <a:solidFill>
                <a:prstClr val="white">
                  <a:lumMod val="65000"/>
                </a:prstClr>
              </a:solidFill>
              <a:latin typeface="Times New Roman" panose="02020603050405020304" pitchFamily="18" charset="0"/>
              <a:ea typeface="微软雅黑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2349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60">
            <a:hlinkClick r:id="rId2"/>
          </p:cNvPr>
          <p:cNvSpPr>
            <a:spLocks noChangeArrowheads="1"/>
          </p:cNvSpPr>
          <p:nvPr userDrawn="1"/>
        </p:nvSpPr>
        <p:spPr bwMode="auto">
          <a:xfrm>
            <a:off x="5004049" y="2757241"/>
            <a:ext cx="444010" cy="523875"/>
          </a:xfrm>
          <a:prstGeom prst="ellipse">
            <a:avLst/>
          </a:prstGeom>
          <a:solidFill>
            <a:srgbClr val="0079C5">
              <a:alpha val="0"/>
            </a:srgbClr>
          </a:solidFill>
          <a:ln w="33338">
            <a:noFill/>
            <a:miter lim="800000"/>
            <a:headEnd/>
            <a:tailEnd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rgbClr val="000000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3" name="Oval 61">
            <a:hlinkClick r:id="rId3"/>
          </p:cNvPr>
          <p:cNvSpPr>
            <a:spLocks noChangeArrowheads="1"/>
          </p:cNvSpPr>
          <p:nvPr userDrawn="1"/>
        </p:nvSpPr>
        <p:spPr bwMode="auto">
          <a:xfrm>
            <a:off x="5016011" y="3565675"/>
            <a:ext cx="420086" cy="521494"/>
          </a:xfrm>
          <a:prstGeom prst="ellipse">
            <a:avLst/>
          </a:prstGeom>
          <a:solidFill>
            <a:srgbClr val="0079C5">
              <a:alpha val="0"/>
            </a:srgbClr>
          </a:solidFill>
          <a:ln w="33338">
            <a:noFill/>
            <a:miter lim="800000"/>
            <a:headEnd/>
            <a:tailEnd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rgbClr val="000000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4" name="矩形​​ 5"/>
          <p:cNvSpPr>
            <a:spLocks noChangeArrowheads="1"/>
          </p:cNvSpPr>
          <p:nvPr userDrawn="1"/>
        </p:nvSpPr>
        <p:spPr bwMode="auto">
          <a:xfrm>
            <a:off x="98301" y="538162"/>
            <a:ext cx="8964613" cy="3946525"/>
          </a:xfrm>
          <a:prstGeom prst="rect">
            <a:avLst/>
          </a:prstGeom>
          <a:solidFill>
            <a:srgbClr val="00ADDC"/>
          </a:solidFill>
          <a:ln w="9525" cmpd="sng">
            <a:noFill/>
            <a:miter lim="800000"/>
            <a:headEnd/>
            <a:tailEnd/>
          </a:ln>
        </p:spPr>
        <p:txBody>
          <a:bodyPr lIns="288000" anchor="b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 sz="2800" dirty="0">
              <a:solidFill>
                <a:prstClr val="white"/>
              </a:solidFill>
              <a:ea typeface="微软雅黑" panose="020B0503020204020204" pitchFamily="34" charset="-122"/>
              <a:sym typeface="Arial" pitchFamily="34" charset="0"/>
            </a:endParaRPr>
          </a:p>
        </p:txBody>
      </p:sp>
      <p:sp>
        <p:nvSpPr>
          <p:cNvPr id="6" name="Line 33"/>
          <p:cNvSpPr>
            <a:spLocks noChangeShapeType="1"/>
          </p:cNvSpPr>
          <p:nvPr userDrawn="1"/>
        </p:nvSpPr>
        <p:spPr bwMode="auto">
          <a:xfrm flipV="1">
            <a:off x="5224465" y="1671390"/>
            <a:ext cx="1587" cy="2700338"/>
          </a:xfrm>
          <a:prstGeom prst="line">
            <a:avLst/>
          </a:prstGeom>
          <a:noFill/>
          <a:ln w="33338">
            <a:solidFill>
              <a:srgbClr val="FFFFFF"/>
            </a:solidFill>
            <a:miter lim="800000"/>
            <a:headEnd/>
            <a:tailEnd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rgbClr val="FFFFFF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7" name="Line 5"/>
          <p:cNvSpPr>
            <a:spLocks noChangeShapeType="1"/>
          </p:cNvSpPr>
          <p:nvPr userDrawn="1"/>
        </p:nvSpPr>
        <p:spPr bwMode="auto">
          <a:xfrm>
            <a:off x="0" y="3913338"/>
            <a:ext cx="1384300" cy="2381"/>
          </a:xfrm>
          <a:prstGeom prst="line">
            <a:avLst/>
          </a:prstGeom>
          <a:noFill/>
          <a:ln w="33338">
            <a:solidFill>
              <a:srgbClr val="FFFFFF"/>
            </a:solidFill>
            <a:miter lim="800000"/>
            <a:headEnd/>
            <a:tailEnd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rgbClr val="FFFFFF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8" name="Freeform 18"/>
          <p:cNvSpPr>
            <a:spLocks/>
          </p:cNvSpPr>
          <p:nvPr userDrawn="1"/>
        </p:nvSpPr>
        <p:spPr bwMode="auto">
          <a:xfrm>
            <a:off x="1366838" y="2767956"/>
            <a:ext cx="201612" cy="1279922"/>
          </a:xfrm>
          <a:custGeom>
            <a:avLst/>
            <a:gdLst>
              <a:gd name="T0" fmla="*/ 127 w 127"/>
              <a:gd name="T1" fmla="*/ 0 h 1075"/>
              <a:gd name="T2" fmla="*/ 0 w 127"/>
              <a:gd name="T3" fmla="*/ 1075 h 1075"/>
              <a:gd name="T4" fmla="*/ 127 w 127"/>
              <a:gd name="T5" fmla="*/ 0 h 1075"/>
              <a:gd name="T6" fmla="*/ 0 60000 65536"/>
              <a:gd name="T7" fmla="*/ 0 60000 65536"/>
              <a:gd name="T8" fmla="*/ 0 60000 65536"/>
              <a:gd name="T9" fmla="*/ 0 w 127"/>
              <a:gd name="T10" fmla="*/ 0 h 1075"/>
              <a:gd name="T11" fmla="*/ 127 w 127"/>
              <a:gd name="T12" fmla="*/ 1075 h 107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27" h="1075">
                <a:moveTo>
                  <a:pt x="127" y="0"/>
                </a:moveTo>
                <a:lnTo>
                  <a:pt x="0" y="1075"/>
                </a:lnTo>
                <a:lnTo>
                  <a:pt x="127" y="0"/>
                </a:lnTo>
                <a:close/>
              </a:path>
            </a:pathLst>
          </a:cu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rgbClr val="FFFFFF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9" name="Line 19"/>
          <p:cNvSpPr>
            <a:spLocks noChangeShapeType="1"/>
          </p:cNvSpPr>
          <p:nvPr userDrawn="1"/>
        </p:nvSpPr>
        <p:spPr bwMode="auto">
          <a:xfrm flipH="1">
            <a:off x="1374778" y="2740571"/>
            <a:ext cx="200025" cy="1188244"/>
          </a:xfrm>
          <a:prstGeom prst="line">
            <a:avLst/>
          </a:prstGeom>
          <a:noFill/>
          <a:ln w="33338">
            <a:solidFill>
              <a:schemeClr val="bg1"/>
            </a:solidFill>
            <a:miter lim="800000"/>
            <a:headEnd/>
            <a:tailEnd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rgbClr val="FFFFFF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10" name="Freeform 20"/>
          <p:cNvSpPr>
            <a:spLocks/>
          </p:cNvSpPr>
          <p:nvPr userDrawn="1"/>
        </p:nvSpPr>
        <p:spPr bwMode="auto">
          <a:xfrm>
            <a:off x="2717800" y="2561978"/>
            <a:ext cx="7938" cy="1806178"/>
          </a:xfrm>
          <a:custGeom>
            <a:avLst/>
            <a:gdLst>
              <a:gd name="T0" fmla="*/ 0 w 5"/>
              <a:gd name="T1" fmla="*/ 0 h 1517"/>
              <a:gd name="T2" fmla="*/ 5 w 5"/>
              <a:gd name="T3" fmla="*/ 1517 h 1517"/>
              <a:gd name="T4" fmla="*/ 0 w 5"/>
              <a:gd name="T5" fmla="*/ 0 h 1517"/>
              <a:gd name="T6" fmla="*/ 0 60000 65536"/>
              <a:gd name="T7" fmla="*/ 0 60000 65536"/>
              <a:gd name="T8" fmla="*/ 0 60000 65536"/>
              <a:gd name="T9" fmla="*/ 0 w 5"/>
              <a:gd name="T10" fmla="*/ 0 h 1517"/>
              <a:gd name="T11" fmla="*/ 5 w 5"/>
              <a:gd name="T12" fmla="*/ 1517 h 151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" h="1517">
                <a:moveTo>
                  <a:pt x="0" y="0"/>
                </a:moveTo>
                <a:lnTo>
                  <a:pt x="5" y="151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rgbClr val="FFFFFF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11" name="Line 21"/>
          <p:cNvSpPr>
            <a:spLocks noChangeShapeType="1"/>
          </p:cNvSpPr>
          <p:nvPr userDrawn="1"/>
        </p:nvSpPr>
        <p:spPr bwMode="auto">
          <a:xfrm>
            <a:off x="2587625" y="2561978"/>
            <a:ext cx="7938" cy="1806178"/>
          </a:xfrm>
          <a:prstGeom prst="line">
            <a:avLst/>
          </a:prstGeom>
          <a:noFill/>
          <a:ln w="33338">
            <a:solidFill>
              <a:schemeClr val="bg1"/>
            </a:solidFill>
            <a:miter lim="800000"/>
            <a:headEnd/>
            <a:tailEnd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rgbClr val="FFFFFF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12" name="Oval 22"/>
          <p:cNvSpPr>
            <a:spLocks noChangeArrowheads="1"/>
          </p:cNvSpPr>
          <p:nvPr userDrawn="1"/>
        </p:nvSpPr>
        <p:spPr bwMode="auto">
          <a:xfrm>
            <a:off x="4716019" y="692696"/>
            <a:ext cx="1008109" cy="978694"/>
          </a:xfrm>
          <a:prstGeom prst="ellipse">
            <a:avLst/>
          </a:prstGeom>
          <a:noFill/>
          <a:ln w="33338">
            <a:solidFill>
              <a:srgbClr val="FFFFFF"/>
            </a:solidFill>
            <a:miter lim="800000"/>
            <a:headEnd/>
            <a:tailEnd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prstClr val="white"/>
                </a:solidFill>
                <a:ea typeface="微软雅黑" panose="020B0503020204020204" pitchFamily="34" charset="-122"/>
              </a:rPr>
              <a:t>授课教师</a:t>
            </a:r>
          </a:p>
        </p:txBody>
      </p:sp>
      <p:sp>
        <p:nvSpPr>
          <p:cNvPr id="14" name="Oval 25"/>
          <p:cNvSpPr>
            <a:spLocks noChangeArrowheads="1"/>
          </p:cNvSpPr>
          <p:nvPr userDrawn="1"/>
        </p:nvSpPr>
        <p:spPr bwMode="auto">
          <a:xfrm>
            <a:off x="4944003" y="1965479"/>
            <a:ext cx="564102" cy="523876"/>
          </a:xfrm>
          <a:prstGeom prst="ellipse">
            <a:avLst/>
          </a:prstGeom>
          <a:solidFill>
            <a:schemeClr val="accent1"/>
          </a:solidFill>
          <a:ln w="33338">
            <a:solidFill>
              <a:srgbClr val="FFFFFF"/>
            </a:solidFill>
            <a:miter lim="800000"/>
            <a:headEnd/>
            <a:tailEnd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rgbClr val="000000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grpSp>
        <p:nvGrpSpPr>
          <p:cNvPr id="16" name="Group 63"/>
          <p:cNvGrpSpPr>
            <a:grpSpLocks/>
          </p:cNvGrpSpPr>
          <p:nvPr userDrawn="1"/>
        </p:nvGrpSpPr>
        <p:grpSpPr bwMode="auto">
          <a:xfrm>
            <a:off x="4944004" y="2757241"/>
            <a:ext cx="564100" cy="523875"/>
            <a:chOff x="3073" y="2610"/>
            <a:chExt cx="438" cy="440"/>
          </a:xfrm>
        </p:grpSpPr>
        <p:sp>
          <p:nvSpPr>
            <p:cNvPr id="17" name="Rectangle 28"/>
            <p:cNvSpPr>
              <a:spLocks noChangeArrowheads="1"/>
            </p:cNvSpPr>
            <p:nvPr/>
          </p:nvSpPr>
          <p:spPr bwMode="auto">
            <a:xfrm>
              <a:off x="3181" y="2748"/>
              <a:ext cx="222" cy="164"/>
            </a:xfrm>
            <a:prstGeom prst="rect">
              <a:avLst/>
            </a:prstGeom>
            <a:solidFill>
              <a:srgbClr val="FFFFFF"/>
            </a:solidFill>
            <a:ln w="11113">
              <a:noFill/>
              <a:miter lim="800000"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endParaRPr>
            </a:p>
          </p:txBody>
        </p:sp>
        <p:sp>
          <p:nvSpPr>
            <p:cNvPr id="18" name="Freeform 29"/>
            <p:cNvSpPr>
              <a:spLocks/>
            </p:cNvSpPr>
            <p:nvPr/>
          </p:nvSpPr>
          <p:spPr bwMode="auto">
            <a:xfrm>
              <a:off x="3182" y="2748"/>
              <a:ext cx="220" cy="110"/>
            </a:xfrm>
            <a:custGeom>
              <a:avLst/>
              <a:gdLst>
                <a:gd name="T0" fmla="*/ 0 w 278"/>
                <a:gd name="T1" fmla="*/ 0 h 140"/>
                <a:gd name="T2" fmla="*/ 138 w 278"/>
                <a:gd name="T3" fmla="*/ 140 h 140"/>
                <a:gd name="T4" fmla="*/ 278 w 278"/>
                <a:gd name="T5" fmla="*/ 0 h 140"/>
                <a:gd name="T6" fmla="*/ 0 w 278"/>
                <a:gd name="T7" fmla="*/ 0 h 14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78"/>
                <a:gd name="T13" fmla="*/ 0 h 140"/>
                <a:gd name="T14" fmla="*/ 278 w 278"/>
                <a:gd name="T15" fmla="*/ 140 h 14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78" h="140">
                  <a:moveTo>
                    <a:pt x="0" y="0"/>
                  </a:moveTo>
                  <a:lnTo>
                    <a:pt x="138" y="140"/>
                  </a:lnTo>
                  <a:lnTo>
                    <a:pt x="27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19050" cap="flat" cmpd="sng">
              <a:solidFill>
                <a:schemeClr val="accent1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dirty="0">
                <a:solidFill>
                  <a:srgbClr val="FFFFFF"/>
                </a:solidFill>
                <a:latin typeface="Times New Roman" panose="02020603050405020304" pitchFamily="18" charset="0"/>
                <a:ea typeface="微软雅黑" panose="020B0503020204020204" pitchFamily="34" charset="-122"/>
              </a:endParaRPr>
            </a:p>
          </p:txBody>
        </p:sp>
        <p:sp>
          <p:nvSpPr>
            <p:cNvPr id="19" name="Oval 27"/>
            <p:cNvSpPr>
              <a:spLocks noChangeArrowheads="1"/>
            </p:cNvSpPr>
            <p:nvPr/>
          </p:nvSpPr>
          <p:spPr bwMode="auto">
            <a:xfrm>
              <a:off x="3073" y="2610"/>
              <a:ext cx="438" cy="440"/>
            </a:xfrm>
            <a:prstGeom prst="ellipse">
              <a:avLst/>
            </a:prstGeom>
            <a:solidFill>
              <a:schemeClr val="accent1"/>
            </a:solidFill>
            <a:ln w="33338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0" name="Group 64"/>
          <p:cNvGrpSpPr>
            <a:grpSpLocks/>
          </p:cNvGrpSpPr>
          <p:nvPr userDrawn="1"/>
        </p:nvGrpSpPr>
        <p:grpSpPr bwMode="auto">
          <a:xfrm>
            <a:off x="4944004" y="3565675"/>
            <a:ext cx="564100" cy="521494"/>
            <a:chOff x="3073" y="3289"/>
            <a:chExt cx="438" cy="438"/>
          </a:xfrm>
        </p:grpSpPr>
        <p:sp>
          <p:nvSpPr>
            <p:cNvPr id="21" name="Freeform 32"/>
            <p:cNvSpPr>
              <a:spLocks/>
            </p:cNvSpPr>
            <p:nvPr/>
          </p:nvSpPr>
          <p:spPr bwMode="auto">
            <a:xfrm>
              <a:off x="3173" y="3389"/>
              <a:ext cx="240" cy="241"/>
            </a:xfrm>
            <a:custGeom>
              <a:avLst/>
              <a:gdLst>
                <a:gd name="T0" fmla="*/ 303 w 303"/>
                <a:gd name="T1" fmla="*/ 263 h 305"/>
                <a:gd name="T2" fmla="*/ 171 w 303"/>
                <a:gd name="T3" fmla="*/ 131 h 305"/>
                <a:gd name="T4" fmla="*/ 223 w 303"/>
                <a:gd name="T5" fmla="*/ 77 h 305"/>
                <a:gd name="T6" fmla="*/ 0 w 303"/>
                <a:gd name="T7" fmla="*/ 0 h 305"/>
                <a:gd name="T8" fmla="*/ 76 w 303"/>
                <a:gd name="T9" fmla="*/ 224 h 305"/>
                <a:gd name="T10" fmla="*/ 129 w 303"/>
                <a:gd name="T11" fmla="*/ 170 h 305"/>
                <a:gd name="T12" fmla="*/ 262 w 303"/>
                <a:gd name="T13" fmla="*/ 305 h 305"/>
                <a:gd name="T14" fmla="*/ 303 w 303"/>
                <a:gd name="T15" fmla="*/ 263 h 30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303"/>
                <a:gd name="T25" fmla="*/ 0 h 305"/>
                <a:gd name="T26" fmla="*/ 303 w 303"/>
                <a:gd name="T27" fmla="*/ 305 h 305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303" h="305">
                  <a:moveTo>
                    <a:pt x="303" y="263"/>
                  </a:moveTo>
                  <a:lnTo>
                    <a:pt x="171" y="131"/>
                  </a:lnTo>
                  <a:lnTo>
                    <a:pt x="223" y="77"/>
                  </a:lnTo>
                  <a:lnTo>
                    <a:pt x="0" y="0"/>
                  </a:lnTo>
                  <a:lnTo>
                    <a:pt x="76" y="224"/>
                  </a:lnTo>
                  <a:lnTo>
                    <a:pt x="129" y="170"/>
                  </a:lnTo>
                  <a:lnTo>
                    <a:pt x="262" y="305"/>
                  </a:lnTo>
                  <a:lnTo>
                    <a:pt x="303" y="263"/>
                  </a:lnTo>
                  <a:close/>
                </a:path>
              </a:pathLst>
            </a:custGeom>
            <a:solidFill>
              <a:schemeClr val="bg1"/>
            </a:solidFill>
            <a:ln w="11113" cap="flat">
              <a:noFill/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dirty="0">
                <a:solidFill>
                  <a:srgbClr val="FFFFFF"/>
                </a:solidFill>
                <a:latin typeface="Times New Roman" panose="02020603050405020304" pitchFamily="18" charset="0"/>
                <a:ea typeface="微软雅黑" panose="020B0503020204020204" pitchFamily="34" charset="-122"/>
              </a:endParaRPr>
            </a:p>
          </p:txBody>
        </p:sp>
        <p:sp>
          <p:nvSpPr>
            <p:cNvPr id="22" name="Oval 30"/>
            <p:cNvSpPr>
              <a:spLocks noChangeArrowheads="1"/>
            </p:cNvSpPr>
            <p:nvPr/>
          </p:nvSpPr>
          <p:spPr bwMode="auto">
            <a:xfrm>
              <a:off x="3073" y="3289"/>
              <a:ext cx="438" cy="438"/>
            </a:xfrm>
            <a:prstGeom prst="ellipse">
              <a:avLst/>
            </a:prstGeom>
            <a:solidFill>
              <a:schemeClr val="accent1"/>
            </a:solidFill>
            <a:ln w="33338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endParaRPr>
            </a:p>
          </p:txBody>
        </p:sp>
      </p:grpSp>
      <p:sp>
        <p:nvSpPr>
          <p:cNvPr id="23" name="Line 43"/>
          <p:cNvSpPr>
            <a:spLocks noChangeShapeType="1"/>
          </p:cNvSpPr>
          <p:nvPr userDrawn="1"/>
        </p:nvSpPr>
        <p:spPr bwMode="auto">
          <a:xfrm>
            <a:off x="774700" y="2878685"/>
            <a:ext cx="1588" cy="1190"/>
          </a:xfrm>
          <a:prstGeom prst="line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rgbClr val="FFFFFF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24" name="Line 45"/>
          <p:cNvSpPr>
            <a:spLocks noChangeShapeType="1"/>
          </p:cNvSpPr>
          <p:nvPr userDrawn="1"/>
        </p:nvSpPr>
        <p:spPr bwMode="auto">
          <a:xfrm>
            <a:off x="3741739" y="910581"/>
            <a:ext cx="1587" cy="1191"/>
          </a:xfrm>
          <a:prstGeom prst="line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rgbClr val="FFFFFF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25" name="Freeform 11"/>
          <p:cNvSpPr>
            <a:spLocks/>
          </p:cNvSpPr>
          <p:nvPr userDrawn="1"/>
        </p:nvSpPr>
        <p:spPr bwMode="auto">
          <a:xfrm>
            <a:off x="606428" y="2738190"/>
            <a:ext cx="981075" cy="198834"/>
          </a:xfrm>
          <a:custGeom>
            <a:avLst/>
            <a:gdLst>
              <a:gd name="T0" fmla="*/ 0 w 618"/>
              <a:gd name="T1" fmla="*/ 167 h 167"/>
              <a:gd name="T2" fmla="*/ 616 w 618"/>
              <a:gd name="T3" fmla="*/ 20 h 167"/>
              <a:gd name="T4" fmla="*/ 618 w 618"/>
              <a:gd name="T5" fmla="*/ 0 h 167"/>
              <a:gd name="T6" fmla="*/ 2 w 618"/>
              <a:gd name="T7" fmla="*/ 153 h 167"/>
              <a:gd name="T8" fmla="*/ 0 60000 65536"/>
              <a:gd name="T9" fmla="*/ 0 60000 65536"/>
              <a:gd name="T10" fmla="*/ 0 60000 65536"/>
              <a:gd name="T11" fmla="*/ 0 60000 65536"/>
              <a:gd name="T12" fmla="*/ 0 w 618"/>
              <a:gd name="T13" fmla="*/ 0 h 167"/>
              <a:gd name="T14" fmla="*/ 618 w 618"/>
              <a:gd name="T15" fmla="*/ 167 h 167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18" h="167">
                <a:moveTo>
                  <a:pt x="0" y="167"/>
                </a:moveTo>
                <a:lnTo>
                  <a:pt x="616" y="20"/>
                </a:lnTo>
                <a:lnTo>
                  <a:pt x="618" y="0"/>
                </a:lnTo>
                <a:lnTo>
                  <a:pt x="2" y="153"/>
                </a:lnTo>
              </a:path>
            </a:pathLst>
          </a:custGeom>
          <a:solidFill>
            <a:schemeClr val="bg1"/>
          </a:solidFill>
          <a:ln w="11113" cap="flat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rgbClr val="FFFFFF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26" name="Freeform 13"/>
          <p:cNvSpPr>
            <a:spLocks/>
          </p:cNvSpPr>
          <p:nvPr userDrawn="1"/>
        </p:nvSpPr>
        <p:spPr bwMode="auto">
          <a:xfrm>
            <a:off x="1555750" y="2459584"/>
            <a:ext cx="1566863" cy="309563"/>
          </a:xfrm>
          <a:custGeom>
            <a:avLst/>
            <a:gdLst>
              <a:gd name="T0" fmla="*/ 0 w 987"/>
              <a:gd name="T1" fmla="*/ 260 h 260"/>
              <a:gd name="T2" fmla="*/ 985 w 987"/>
              <a:gd name="T3" fmla="*/ 19 h 260"/>
              <a:gd name="T4" fmla="*/ 987 w 987"/>
              <a:gd name="T5" fmla="*/ 0 h 260"/>
              <a:gd name="T6" fmla="*/ 8 w 987"/>
              <a:gd name="T7" fmla="*/ 238 h 260"/>
              <a:gd name="T8" fmla="*/ 0 60000 65536"/>
              <a:gd name="T9" fmla="*/ 0 60000 65536"/>
              <a:gd name="T10" fmla="*/ 0 60000 65536"/>
              <a:gd name="T11" fmla="*/ 0 60000 65536"/>
              <a:gd name="T12" fmla="*/ 0 w 987"/>
              <a:gd name="T13" fmla="*/ 0 h 260"/>
              <a:gd name="T14" fmla="*/ 987 w 987"/>
              <a:gd name="T15" fmla="*/ 260 h 26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987" h="260">
                <a:moveTo>
                  <a:pt x="0" y="260"/>
                </a:moveTo>
                <a:lnTo>
                  <a:pt x="985" y="19"/>
                </a:lnTo>
                <a:lnTo>
                  <a:pt x="987" y="0"/>
                </a:lnTo>
                <a:lnTo>
                  <a:pt x="8" y="238"/>
                </a:lnTo>
              </a:path>
            </a:pathLst>
          </a:custGeom>
          <a:solidFill>
            <a:schemeClr val="bg1"/>
          </a:solidFill>
          <a:ln w="11113" cap="flat" cmpd="sng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rgbClr val="FFFFFF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27" name="Freeform 15"/>
          <p:cNvSpPr>
            <a:spLocks/>
          </p:cNvSpPr>
          <p:nvPr userDrawn="1"/>
        </p:nvSpPr>
        <p:spPr bwMode="auto">
          <a:xfrm>
            <a:off x="712791" y="946300"/>
            <a:ext cx="2541587" cy="845344"/>
          </a:xfrm>
          <a:custGeom>
            <a:avLst/>
            <a:gdLst>
              <a:gd name="T0" fmla="*/ 1002 w 1002"/>
              <a:gd name="T1" fmla="*/ 3 h 396"/>
              <a:gd name="T2" fmla="*/ 997 w 1002"/>
              <a:gd name="T3" fmla="*/ 12 h 396"/>
              <a:gd name="T4" fmla="*/ 993 w 1002"/>
              <a:gd name="T5" fmla="*/ 11 h 396"/>
              <a:gd name="T6" fmla="*/ 982 w 1002"/>
              <a:gd name="T7" fmla="*/ 9 h 396"/>
              <a:gd name="T8" fmla="*/ 967 w 1002"/>
              <a:gd name="T9" fmla="*/ 9 h 396"/>
              <a:gd name="T10" fmla="*/ 953 w 1002"/>
              <a:gd name="T11" fmla="*/ 11 h 396"/>
              <a:gd name="T12" fmla="*/ 939 w 1002"/>
              <a:gd name="T13" fmla="*/ 16 h 396"/>
              <a:gd name="T14" fmla="*/ 424 w 1002"/>
              <a:gd name="T15" fmla="*/ 224 h 396"/>
              <a:gd name="T16" fmla="*/ 376 w 1002"/>
              <a:gd name="T17" fmla="*/ 244 h 396"/>
              <a:gd name="T18" fmla="*/ 1 w 1002"/>
              <a:gd name="T19" fmla="*/ 396 h 396"/>
              <a:gd name="T20" fmla="*/ 0 w 1002"/>
              <a:gd name="T21" fmla="*/ 390 h 396"/>
              <a:gd name="T22" fmla="*/ 377 w 1002"/>
              <a:gd name="T23" fmla="*/ 237 h 396"/>
              <a:gd name="T24" fmla="*/ 424 w 1002"/>
              <a:gd name="T25" fmla="*/ 218 h 396"/>
              <a:gd name="T26" fmla="*/ 938 w 1002"/>
              <a:gd name="T27" fmla="*/ 8 h 396"/>
              <a:gd name="T28" fmla="*/ 954 w 1002"/>
              <a:gd name="T29" fmla="*/ 3 h 396"/>
              <a:gd name="T30" fmla="*/ 971 w 1002"/>
              <a:gd name="T31" fmla="*/ 1 h 396"/>
              <a:gd name="T32" fmla="*/ 987 w 1002"/>
              <a:gd name="T33" fmla="*/ 0 h 396"/>
              <a:gd name="T34" fmla="*/ 1000 w 1002"/>
              <a:gd name="T35" fmla="*/ 3 h 396"/>
              <a:gd name="T36" fmla="*/ 1002 w 1002"/>
              <a:gd name="T37" fmla="*/ 3 h 39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w 1002"/>
              <a:gd name="T58" fmla="*/ 0 h 396"/>
              <a:gd name="T59" fmla="*/ 1002 w 1002"/>
              <a:gd name="T60" fmla="*/ 396 h 396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T57" t="T58" r="T59" b="T60"/>
            <a:pathLst>
              <a:path w="1002" h="396">
                <a:moveTo>
                  <a:pt x="1002" y="3"/>
                </a:moveTo>
                <a:cubicBezTo>
                  <a:pt x="997" y="12"/>
                  <a:pt x="997" y="12"/>
                  <a:pt x="997" y="12"/>
                </a:cubicBezTo>
                <a:cubicBezTo>
                  <a:pt x="993" y="11"/>
                  <a:pt x="993" y="11"/>
                  <a:pt x="993" y="11"/>
                </a:cubicBezTo>
                <a:cubicBezTo>
                  <a:pt x="990" y="10"/>
                  <a:pt x="986" y="9"/>
                  <a:pt x="982" y="9"/>
                </a:cubicBezTo>
                <a:cubicBezTo>
                  <a:pt x="977" y="9"/>
                  <a:pt x="972" y="9"/>
                  <a:pt x="967" y="9"/>
                </a:cubicBezTo>
                <a:cubicBezTo>
                  <a:pt x="962" y="10"/>
                  <a:pt x="957" y="10"/>
                  <a:pt x="953" y="11"/>
                </a:cubicBezTo>
                <a:cubicBezTo>
                  <a:pt x="948" y="13"/>
                  <a:pt x="943" y="14"/>
                  <a:pt x="939" y="16"/>
                </a:cubicBezTo>
                <a:cubicBezTo>
                  <a:pt x="424" y="224"/>
                  <a:pt x="424" y="224"/>
                  <a:pt x="424" y="224"/>
                </a:cubicBezTo>
                <a:cubicBezTo>
                  <a:pt x="376" y="244"/>
                  <a:pt x="376" y="244"/>
                  <a:pt x="376" y="244"/>
                </a:cubicBezTo>
                <a:cubicBezTo>
                  <a:pt x="1" y="396"/>
                  <a:pt x="1" y="396"/>
                  <a:pt x="1" y="396"/>
                </a:cubicBezTo>
                <a:cubicBezTo>
                  <a:pt x="0" y="390"/>
                  <a:pt x="0" y="390"/>
                  <a:pt x="0" y="390"/>
                </a:cubicBezTo>
                <a:cubicBezTo>
                  <a:pt x="377" y="237"/>
                  <a:pt x="377" y="237"/>
                  <a:pt x="377" y="237"/>
                </a:cubicBezTo>
                <a:cubicBezTo>
                  <a:pt x="424" y="218"/>
                  <a:pt x="424" y="218"/>
                  <a:pt x="424" y="218"/>
                </a:cubicBezTo>
                <a:cubicBezTo>
                  <a:pt x="938" y="8"/>
                  <a:pt x="938" y="8"/>
                  <a:pt x="938" y="8"/>
                </a:cubicBezTo>
                <a:cubicBezTo>
                  <a:pt x="943" y="6"/>
                  <a:pt x="948" y="5"/>
                  <a:pt x="954" y="3"/>
                </a:cubicBezTo>
                <a:cubicBezTo>
                  <a:pt x="959" y="2"/>
                  <a:pt x="965" y="1"/>
                  <a:pt x="971" y="1"/>
                </a:cubicBezTo>
                <a:cubicBezTo>
                  <a:pt x="976" y="0"/>
                  <a:pt x="982" y="0"/>
                  <a:pt x="987" y="0"/>
                </a:cubicBezTo>
                <a:cubicBezTo>
                  <a:pt x="992" y="1"/>
                  <a:pt x="996" y="1"/>
                  <a:pt x="1000" y="3"/>
                </a:cubicBezTo>
                <a:cubicBezTo>
                  <a:pt x="1002" y="3"/>
                  <a:pt x="1002" y="3"/>
                  <a:pt x="1002" y="3"/>
                </a:cubicBezTo>
              </a:path>
            </a:pathLst>
          </a:custGeom>
          <a:solidFill>
            <a:schemeClr val="bg1"/>
          </a:solidFill>
          <a:ln w="11113" cap="flat" cmpd="sng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rgbClr val="FFFFFF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28" name="Freeform 16"/>
          <p:cNvSpPr>
            <a:spLocks/>
          </p:cNvSpPr>
          <p:nvPr userDrawn="1"/>
        </p:nvSpPr>
        <p:spPr bwMode="auto">
          <a:xfrm>
            <a:off x="390525" y="1778547"/>
            <a:ext cx="325438" cy="1190625"/>
          </a:xfrm>
          <a:custGeom>
            <a:avLst/>
            <a:gdLst>
              <a:gd name="T0" fmla="*/ 128 w 128"/>
              <a:gd name="T1" fmla="*/ 6 h 558"/>
              <a:gd name="T2" fmla="*/ 124 w 128"/>
              <a:gd name="T3" fmla="*/ 7 h 558"/>
              <a:gd name="T4" fmla="*/ 118 w 128"/>
              <a:gd name="T5" fmla="*/ 11 h 558"/>
              <a:gd name="T6" fmla="*/ 112 w 128"/>
              <a:gd name="T7" fmla="*/ 17 h 558"/>
              <a:gd name="T8" fmla="*/ 108 w 128"/>
              <a:gd name="T9" fmla="*/ 24 h 558"/>
              <a:gd name="T10" fmla="*/ 106 w 128"/>
              <a:gd name="T11" fmla="*/ 31 h 558"/>
              <a:gd name="T12" fmla="*/ 64 w 128"/>
              <a:gd name="T13" fmla="*/ 240 h 558"/>
              <a:gd name="T14" fmla="*/ 55 w 128"/>
              <a:gd name="T15" fmla="*/ 287 h 558"/>
              <a:gd name="T16" fmla="*/ 7 w 128"/>
              <a:gd name="T17" fmla="*/ 530 h 558"/>
              <a:gd name="T18" fmla="*/ 6 w 128"/>
              <a:gd name="T19" fmla="*/ 539 h 558"/>
              <a:gd name="T20" fmla="*/ 8 w 128"/>
              <a:gd name="T21" fmla="*/ 545 h 558"/>
              <a:gd name="T22" fmla="*/ 13 w 128"/>
              <a:gd name="T23" fmla="*/ 549 h 558"/>
              <a:gd name="T24" fmla="*/ 19 w 128"/>
              <a:gd name="T25" fmla="*/ 550 h 558"/>
              <a:gd name="T26" fmla="*/ 86 w 128"/>
              <a:gd name="T27" fmla="*/ 535 h 558"/>
              <a:gd name="T28" fmla="*/ 85 w 128"/>
              <a:gd name="T29" fmla="*/ 543 h 558"/>
              <a:gd name="T30" fmla="*/ 17 w 128"/>
              <a:gd name="T31" fmla="*/ 558 h 558"/>
              <a:gd name="T32" fmla="*/ 9 w 128"/>
              <a:gd name="T33" fmla="*/ 557 h 558"/>
              <a:gd name="T34" fmla="*/ 3 w 128"/>
              <a:gd name="T35" fmla="*/ 552 h 558"/>
              <a:gd name="T36" fmla="*/ 0 w 128"/>
              <a:gd name="T37" fmla="*/ 543 h 558"/>
              <a:gd name="T38" fmla="*/ 1 w 128"/>
              <a:gd name="T39" fmla="*/ 531 h 558"/>
              <a:gd name="T40" fmla="*/ 49 w 128"/>
              <a:gd name="T41" fmla="*/ 289 h 558"/>
              <a:gd name="T42" fmla="*/ 58 w 128"/>
              <a:gd name="T43" fmla="*/ 242 h 558"/>
              <a:gd name="T44" fmla="*/ 100 w 128"/>
              <a:gd name="T45" fmla="*/ 33 h 558"/>
              <a:gd name="T46" fmla="*/ 104 w 128"/>
              <a:gd name="T47" fmla="*/ 23 h 558"/>
              <a:gd name="T48" fmla="*/ 110 w 128"/>
              <a:gd name="T49" fmla="*/ 14 h 558"/>
              <a:gd name="T50" fmla="*/ 117 w 128"/>
              <a:gd name="T51" fmla="*/ 6 h 558"/>
              <a:gd name="T52" fmla="*/ 126 w 128"/>
              <a:gd name="T53" fmla="*/ 1 h 558"/>
              <a:gd name="T54" fmla="*/ 127 w 128"/>
              <a:gd name="T55" fmla="*/ 0 h 558"/>
              <a:gd name="T56" fmla="*/ 128 w 128"/>
              <a:gd name="T57" fmla="*/ 6 h 558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w 128"/>
              <a:gd name="T88" fmla="*/ 0 h 558"/>
              <a:gd name="T89" fmla="*/ 128 w 128"/>
              <a:gd name="T90" fmla="*/ 558 h 558"/>
            </a:gdLst>
            <a:ahLst/>
            <a:cxnLst>
              <a:cxn ang="T58">
                <a:pos x="T0" y="T1"/>
              </a:cxn>
              <a:cxn ang="T59">
                <a:pos x="T2" y="T3"/>
              </a:cxn>
              <a:cxn ang="T60">
                <a:pos x="T4" y="T5"/>
              </a:cxn>
              <a:cxn ang="T61">
                <a:pos x="T6" y="T7"/>
              </a:cxn>
              <a:cxn ang="T62">
                <a:pos x="T8" y="T9"/>
              </a:cxn>
              <a:cxn ang="T63">
                <a:pos x="T10" y="T11"/>
              </a:cxn>
              <a:cxn ang="T64">
                <a:pos x="T12" y="T13"/>
              </a:cxn>
              <a:cxn ang="T65">
                <a:pos x="T14" y="T15"/>
              </a:cxn>
              <a:cxn ang="T66">
                <a:pos x="T16" y="T17"/>
              </a:cxn>
              <a:cxn ang="T67">
                <a:pos x="T18" y="T19"/>
              </a:cxn>
              <a:cxn ang="T68">
                <a:pos x="T20" y="T21"/>
              </a:cxn>
              <a:cxn ang="T69">
                <a:pos x="T22" y="T23"/>
              </a:cxn>
              <a:cxn ang="T70">
                <a:pos x="T24" y="T25"/>
              </a:cxn>
              <a:cxn ang="T71">
                <a:pos x="T26" y="T27"/>
              </a:cxn>
              <a:cxn ang="T72">
                <a:pos x="T28" y="T29"/>
              </a:cxn>
              <a:cxn ang="T73">
                <a:pos x="T30" y="T31"/>
              </a:cxn>
              <a:cxn ang="T74">
                <a:pos x="T32" y="T33"/>
              </a:cxn>
              <a:cxn ang="T75">
                <a:pos x="T34" y="T35"/>
              </a:cxn>
              <a:cxn ang="T76">
                <a:pos x="T36" y="T37"/>
              </a:cxn>
              <a:cxn ang="T77">
                <a:pos x="T38" y="T39"/>
              </a:cxn>
              <a:cxn ang="T78">
                <a:pos x="T40" y="T41"/>
              </a:cxn>
              <a:cxn ang="T79">
                <a:pos x="T42" y="T43"/>
              </a:cxn>
              <a:cxn ang="T80">
                <a:pos x="T44" y="T45"/>
              </a:cxn>
              <a:cxn ang="T81">
                <a:pos x="T46" y="T47"/>
              </a:cxn>
              <a:cxn ang="T82">
                <a:pos x="T48" y="T49"/>
              </a:cxn>
              <a:cxn ang="T83">
                <a:pos x="T50" y="T51"/>
              </a:cxn>
              <a:cxn ang="T84">
                <a:pos x="T52" y="T53"/>
              </a:cxn>
              <a:cxn ang="T85">
                <a:pos x="T54" y="T55"/>
              </a:cxn>
              <a:cxn ang="T86">
                <a:pos x="T56" y="T57"/>
              </a:cxn>
            </a:cxnLst>
            <a:rect l="T87" t="T88" r="T89" b="T90"/>
            <a:pathLst>
              <a:path w="128" h="558">
                <a:moveTo>
                  <a:pt x="128" y="6"/>
                </a:moveTo>
                <a:cubicBezTo>
                  <a:pt x="124" y="7"/>
                  <a:pt x="124" y="7"/>
                  <a:pt x="124" y="7"/>
                </a:cubicBezTo>
                <a:cubicBezTo>
                  <a:pt x="122" y="8"/>
                  <a:pt x="120" y="9"/>
                  <a:pt x="118" y="11"/>
                </a:cubicBezTo>
                <a:cubicBezTo>
                  <a:pt x="116" y="13"/>
                  <a:pt x="114" y="15"/>
                  <a:pt x="112" y="17"/>
                </a:cubicBezTo>
                <a:cubicBezTo>
                  <a:pt x="111" y="19"/>
                  <a:pt x="109" y="21"/>
                  <a:pt x="108" y="24"/>
                </a:cubicBezTo>
                <a:cubicBezTo>
                  <a:pt x="107" y="26"/>
                  <a:pt x="106" y="28"/>
                  <a:pt x="106" y="31"/>
                </a:cubicBezTo>
                <a:cubicBezTo>
                  <a:pt x="64" y="240"/>
                  <a:pt x="64" y="240"/>
                  <a:pt x="64" y="240"/>
                </a:cubicBezTo>
                <a:cubicBezTo>
                  <a:pt x="55" y="287"/>
                  <a:pt x="55" y="287"/>
                  <a:pt x="55" y="287"/>
                </a:cubicBezTo>
                <a:cubicBezTo>
                  <a:pt x="7" y="530"/>
                  <a:pt x="7" y="530"/>
                  <a:pt x="7" y="530"/>
                </a:cubicBezTo>
                <a:cubicBezTo>
                  <a:pt x="6" y="533"/>
                  <a:pt x="6" y="536"/>
                  <a:pt x="6" y="539"/>
                </a:cubicBezTo>
                <a:cubicBezTo>
                  <a:pt x="6" y="541"/>
                  <a:pt x="7" y="544"/>
                  <a:pt x="8" y="545"/>
                </a:cubicBezTo>
                <a:cubicBezTo>
                  <a:pt x="9" y="547"/>
                  <a:pt x="11" y="548"/>
                  <a:pt x="13" y="549"/>
                </a:cubicBezTo>
                <a:cubicBezTo>
                  <a:pt x="14" y="550"/>
                  <a:pt x="17" y="550"/>
                  <a:pt x="19" y="550"/>
                </a:cubicBezTo>
                <a:cubicBezTo>
                  <a:pt x="86" y="535"/>
                  <a:pt x="86" y="535"/>
                  <a:pt x="86" y="535"/>
                </a:cubicBezTo>
                <a:cubicBezTo>
                  <a:pt x="85" y="543"/>
                  <a:pt x="85" y="543"/>
                  <a:pt x="85" y="543"/>
                </a:cubicBezTo>
                <a:cubicBezTo>
                  <a:pt x="17" y="558"/>
                  <a:pt x="17" y="558"/>
                  <a:pt x="17" y="558"/>
                </a:cubicBezTo>
                <a:cubicBezTo>
                  <a:pt x="14" y="558"/>
                  <a:pt x="11" y="558"/>
                  <a:pt x="9" y="557"/>
                </a:cubicBezTo>
                <a:cubicBezTo>
                  <a:pt x="6" y="556"/>
                  <a:pt x="4" y="554"/>
                  <a:pt x="3" y="552"/>
                </a:cubicBezTo>
                <a:cubicBezTo>
                  <a:pt x="1" y="550"/>
                  <a:pt x="0" y="547"/>
                  <a:pt x="0" y="543"/>
                </a:cubicBezTo>
                <a:cubicBezTo>
                  <a:pt x="0" y="540"/>
                  <a:pt x="0" y="536"/>
                  <a:pt x="1" y="531"/>
                </a:cubicBezTo>
                <a:cubicBezTo>
                  <a:pt x="49" y="289"/>
                  <a:pt x="49" y="289"/>
                  <a:pt x="49" y="289"/>
                </a:cubicBezTo>
                <a:cubicBezTo>
                  <a:pt x="58" y="242"/>
                  <a:pt x="58" y="242"/>
                  <a:pt x="58" y="242"/>
                </a:cubicBezTo>
                <a:cubicBezTo>
                  <a:pt x="100" y="33"/>
                  <a:pt x="100" y="33"/>
                  <a:pt x="100" y="33"/>
                </a:cubicBezTo>
                <a:cubicBezTo>
                  <a:pt x="101" y="30"/>
                  <a:pt x="102" y="26"/>
                  <a:pt x="104" y="23"/>
                </a:cubicBezTo>
                <a:cubicBezTo>
                  <a:pt x="105" y="20"/>
                  <a:pt x="107" y="17"/>
                  <a:pt x="110" y="14"/>
                </a:cubicBezTo>
                <a:cubicBezTo>
                  <a:pt x="112" y="11"/>
                  <a:pt x="114" y="8"/>
                  <a:pt x="117" y="6"/>
                </a:cubicBezTo>
                <a:cubicBezTo>
                  <a:pt x="120" y="4"/>
                  <a:pt x="123" y="2"/>
                  <a:pt x="126" y="1"/>
                </a:cubicBezTo>
                <a:cubicBezTo>
                  <a:pt x="127" y="0"/>
                  <a:pt x="127" y="0"/>
                  <a:pt x="127" y="0"/>
                </a:cubicBezTo>
                <a:lnTo>
                  <a:pt x="128" y="6"/>
                </a:lnTo>
                <a:close/>
              </a:path>
            </a:pathLst>
          </a:custGeom>
          <a:solidFill>
            <a:schemeClr val="bg1"/>
          </a:solidFill>
          <a:ln w="11113" cap="flat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rgbClr val="FFFFFF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29" name="Freeform 17"/>
          <p:cNvSpPr>
            <a:spLocks/>
          </p:cNvSpPr>
          <p:nvPr userDrawn="1"/>
        </p:nvSpPr>
        <p:spPr bwMode="auto">
          <a:xfrm>
            <a:off x="3125788" y="952253"/>
            <a:ext cx="1308100" cy="1528763"/>
          </a:xfrm>
          <a:custGeom>
            <a:avLst/>
            <a:gdLst>
              <a:gd name="T0" fmla="*/ 46 w 516"/>
              <a:gd name="T1" fmla="*/ 9 h 716"/>
              <a:gd name="T2" fmla="*/ 485 w 516"/>
              <a:gd name="T3" fmla="*/ 148 h 716"/>
              <a:gd name="T4" fmla="*/ 496 w 516"/>
              <a:gd name="T5" fmla="*/ 154 h 716"/>
              <a:gd name="T6" fmla="*/ 501 w 516"/>
              <a:gd name="T7" fmla="*/ 164 h 716"/>
              <a:gd name="T8" fmla="*/ 501 w 516"/>
              <a:gd name="T9" fmla="*/ 175 h 716"/>
              <a:gd name="T10" fmla="*/ 494 w 516"/>
              <a:gd name="T11" fmla="*/ 187 h 716"/>
              <a:gd name="T12" fmla="*/ 113 w 516"/>
              <a:gd name="T13" fmla="*/ 656 h 716"/>
              <a:gd name="T14" fmla="*/ 100 w 516"/>
              <a:gd name="T15" fmla="*/ 668 h 716"/>
              <a:gd name="T16" fmla="*/ 84 w 516"/>
              <a:gd name="T17" fmla="*/ 679 h 716"/>
              <a:gd name="T18" fmla="*/ 66 w 516"/>
              <a:gd name="T19" fmla="*/ 689 h 716"/>
              <a:gd name="T20" fmla="*/ 49 w 516"/>
              <a:gd name="T21" fmla="*/ 694 h 716"/>
              <a:gd name="T22" fmla="*/ 0 w 516"/>
              <a:gd name="T23" fmla="*/ 705 h 716"/>
              <a:gd name="T24" fmla="*/ 0 w 516"/>
              <a:gd name="T25" fmla="*/ 716 h 716"/>
              <a:gd name="T26" fmla="*/ 50 w 516"/>
              <a:gd name="T27" fmla="*/ 705 h 716"/>
              <a:gd name="T28" fmla="*/ 69 w 516"/>
              <a:gd name="T29" fmla="*/ 699 h 716"/>
              <a:gd name="T30" fmla="*/ 89 w 516"/>
              <a:gd name="T31" fmla="*/ 689 h 716"/>
              <a:gd name="T32" fmla="*/ 108 w 516"/>
              <a:gd name="T33" fmla="*/ 676 h 716"/>
              <a:gd name="T34" fmla="*/ 122 w 516"/>
              <a:gd name="T35" fmla="*/ 661 h 716"/>
              <a:gd name="T36" fmla="*/ 506 w 516"/>
              <a:gd name="T37" fmla="*/ 190 h 716"/>
              <a:gd name="T38" fmla="*/ 515 w 516"/>
              <a:gd name="T39" fmla="*/ 174 h 716"/>
              <a:gd name="T40" fmla="*/ 515 w 516"/>
              <a:gd name="T41" fmla="*/ 159 h 716"/>
              <a:gd name="T42" fmla="*/ 508 w 516"/>
              <a:gd name="T43" fmla="*/ 147 h 716"/>
              <a:gd name="T44" fmla="*/ 493 w 516"/>
              <a:gd name="T45" fmla="*/ 138 h 716"/>
              <a:gd name="T46" fmla="*/ 51 w 516"/>
              <a:gd name="T47" fmla="*/ 0 h 716"/>
              <a:gd name="T48" fmla="*/ 46 w 516"/>
              <a:gd name="T49" fmla="*/ 9 h 71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516"/>
              <a:gd name="T76" fmla="*/ 0 h 716"/>
              <a:gd name="T77" fmla="*/ 516 w 516"/>
              <a:gd name="T78" fmla="*/ 716 h 716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516" h="716">
                <a:moveTo>
                  <a:pt x="46" y="9"/>
                </a:moveTo>
                <a:cubicBezTo>
                  <a:pt x="485" y="148"/>
                  <a:pt x="485" y="148"/>
                  <a:pt x="485" y="148"/>
                </a:cubicBezTo>
                <a:cubicBezTo>
                  <a:pt x="490" y="150"/>
                  <a:pt x="493" y="152"/>
                  <a:pt x="496" y="154"/>
                </a:cubicBezTo>
                <a:cubicBezTo>
                  <a:pt x="499" y="157"/>
                  <a:pt x="500" y="160"/>
                  <a:pt x="501" y="164"/>
                </a:cubicBezTo>
                <a:cubicBezTo>
                  <a:pt x="502" y="167"/>
                  <a:pt x="502" y="171"/>
                  <a:pt x="501" y="175"/>
                </a:cubicBezTo>
                <a:cubicBezTo>
                  <a:pt x="500" y="179"/>
                  <a:pt x="498" y="183"/>
                  <a:pt x="494" y="187"/>
                </a:cubicBezTo>
                <a:cubicBezTo>
                  <a:pt x="113" y="656"/>
                  <a:pt x="113" y="656"/>
                  <a:pt x="113" y="656"/>
                </a:cubicBezTo>
                <a:cubicBezTo>
                  <a:pt x="109" y="660"/>
                  <a:pt x="105" y="664"/>
                  <a:pt x="100" y="668"/>
                </a:cubicBezTo>
                <a:cubicBezTo>
                  <a:pt x="95" y="672"/>
                  <a:pt x="89" y="676"/>
                  <a:pt x="84" y="679"/>
                </a:cubicBezTo>
                <a:cubicBezTo>
                  <a:pt x="78" y="683"/>
                  <a:pt x="72" y="686"/>
                  <a:pt x="66" y="689"/>
                </a:cubicBezTo>
                <a:cubicBezTo>
                  <a:pt x="60" y="691"/>
                  <a:pt x="55" y="693"/>
                  <a:pt x="49" y="694"/>
                </a:cubicBezTo>
                <a:cubicBezTo>
                  <a:pt x="0" y="705"/>
                  <a:pt x="0" y="705"/>
                  <a:pt x="0" y="705"/>
                </a:cubicBezTo>
                <a:cubicBezTo>
                  <a:pt x="0" y="716"/>
                  <a:pt x="0" y="716"/>
                  <a:pt x="0" y="716"/>
                </a:cubicBezTo>
                <a:cubicBezTo>
                  <a:pt x="50" y="705"/>
                  <a:pt x="50" y="705"/>
                  <a:pt x="50" y="705"/>
                </a:cubicBezTo>
                <a:cubicBezTo>
                  <a:pt x="56" y="704"/>
                  <a:pt x="63" y="702"/>
                  <a:pt x="69" y="699"/>
                </a:cubicBezTo>
                <a:cubicBezTo>
                  <a:pt x="76" y="696"/>
                  <a:pt x="83" y="693"/>
                  <a:pt x="89" y="689"/>
                </a:cubicBezTo>
                <a:cubicBezTo>
                  <a:pt x="96" y="685"/>
                  <a:pt x="102" y="680"/>
                  <a:pt x="108" y="676"/>
                </a:cubicBezTo>
                <a:cubicBezTo>
                  <a:pt x="113" y="671"/>
                  <a:pt x="118" y="666"/>
                  <a:pt x="122" y="661"/>
                </a:cubicBezTo>
                <a:cubicBezTo>
                  <a:pt x="506" y="190"/>
                  <a:pt x="506" y="190"/>
                  <a:pt x="506" y="190"/>
                </a:cubicBezTo>
                <a:cubicBezTo>
                  <a:pt x="510" y="185"/>
                  <a:pt x="513" y="180"/>
                  <a:pt x="515" y="174"/>
                </a:cubicBezTo>
                <a:cubicBezTo>
                  <a:pt x="516" y="169"/>
                  <a:pt x="516" y="164"/>
                  <a:pt x="515" y="159"/>
                </a:cubicBezTo>
                <a:cubicBezTo>
                  <a:pt x="514" y="154"/>
                  <a:pt x="511" y="150"/>
                  <a:pt x="508" y="147"/>
                </a:cubicBezTo>
                <a:cubicBezTo>
                  <a:pt x="504" y="143"/>
                  <a:pt x="499" y="140"/>
                  <a:pt x="493" y="138"/>
                </a:cubicBezTo>
                <a:cubicBezTo>
                  <a:pt x="51" y="0"/>
                  <a:pt x="51" y="0"/>
                  <a:pt x="51" y="0"/>
                </a:cubicBezTo>
                <a:lnTo>
                  <a:pt x="46" y="9"/>
                </a:lnTo>
                <a:close/>
              </a:path>
            </a:pathLst>
          </a:custGeom>
          <a:solidFill>
            <a:schemeClr val="bg1"/>
          </a:solidFill>
          <a:ln w="11113" cap="flat" cmpd="sng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rgbClr val="FFFFFF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30" name="Line 51"/>
          <p:cNvSpPr>
            <a:spLocks noChangeShapeType="1"/>
          </p:cNvSpPr>
          <p:nvPr userDrawn="1"/>
        </p:nvSpPr>
        <p:spPr bwMode="auto">
          <a:xfrm>
            <a:off x="2603557" y="4378989"/>
            <a:ext cx="2659063" cy="4763"/>
          </a:xfrm>
          <a:prstGeom prst="line">
            <a:avLst/>
          </a:prstGeom>
          <a:noFill/>
          <a:ln w="33338">
            <a:solidFill>
              <a:srgbClr val="FFFFFF"/>
            </a:solidFill>
            <a:miter lim="800000"/>
            <a:headEnd/>
            <a:tailEnd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rgbClr val="FFFFFF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31" name="Text Box 52"/>
          <p:cNvSpPr txBox="1">
            <a:spLocks noChangeArrowheads="1"/>
          </p:cNvSpPr>
          <p:nvPr userDrawn="1"/>
        </p:nvSpPr>
        <p:spPr bwMode="auto">
          <a:xfrm>
            <a:off x="5802759" y="2051200"/>
            <a:ext cx="3233737" cy="3512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dirty="0">
                <a:solidFill>
                  <a:srgbClr val="FFFFFF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Tel</a:t>
            </a:r>
            <a:r>
              <a:rPr lang="zh-CN" altLang="en-US" dirty="0">
                <a:solidFill>
                  <a:srgbClr val="FFFFFF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：</a:t>
            </a:r>
            <a:r>
              <a:rPr lang="en-US" altLang="zh-CN" dirty="0">
                <a:solidFill>
                  <a:srgbClr val="FFFFFF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13915982595</a:t>
            </a:r>
            <a:endParaRPr lang="en-GB" altLang="zh-CN" dirty="0">
              <a:solidFill>
                <a:srgbClr val="FFFFFF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32" name="Text Box 54"/>
          <p:cNvSpPr txBox="1">
            <a:spLocks noChangeArrowheads="1"/>
          </p:cNvSpPr>
          <p:nvPr userDrawn="1"/>
        </p:nvSpPr>
        <p:spPr bwMode="auto">
          <a:xfrm>
            <a:off x="5796136" y="2842965"/>
            <a:ext cx="2952328" cy="3512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dirty="0">
                <a:solidFill>
                  <a:srgbClr val="FFFFFF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wangdm@seu.edu.cn</a:t>
            </a:r>
          </a:p>
        </p:txBody>
      </p:sp>
      <p:sp>
        <p:nvSpPr>
          <p:cNvPr id="33" name="Text Box 59"/>
          <p:cNvSpPr txBox="1">
            <a:spLocks noChangeArrowheads="1"/>
          </p:cNvSpPr>
          <p:nvPr userDrawn="1"/>
        </p:nvSpPr>
        <p:spPr bwMode="auto">
          <a:xfrm>
            <a:off x="5796136" y="3668617"/>
            <a:ext cx="1728192" cy="3512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1600" b="1" dirty="0">
                <a:solidFill>
                  <a:srgbClr val="FFFFFF"/>
                </a:solidFill>
                <a:ea typeface="微软雅黑" panose="020B0503020204020204" pitchFamily="34" charset="-122"/>
              </a:rPr>
              <a:t>无线谷</a:t>
            </a:r>
            <a:r>
              <a:rPr lang="en-US" altLang="zh-CN" sz="1600" b="1" dirty="0">
                <a:solidFill>
                  <a:srgbClr val="FFFFFF"/>
                </a:solidFill>
                <a:ea typeface="微软雅黑" panose="020B0503020204020204" pitchFamily="34" charset="-122"/>
              </a:rPr>
              <a:t>1-205</a:t>
            </a:r>
            <a:endParaRPr lang="en-US" altLang="zh-CN" sz="1600" b="1" dirty="0">
              <a:solidFill>
                <a:srgbClr val="FFFFFF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34" name="Text Box 62"/>
          <p:cNvSpPr txBox="1">
            <a:spLocks noChangeArrowheads="1"/>
          </p:cNvSpPr>
          <p:nvPr userDrawn="1"/>
        </p:nvSpPr>
        <p:spPr bwMode="auto">
          <a:xfrm>
            <a:off x="5796136" y="764704"/>
            <a:ext cx="3252000" cy="919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1600" b="1" dirty="0">
                <a:solidFill>
                  <a:srgbClr val="FFFFFF"/>
                </a:solidFill>
                <a:ea typeface="微软雅黑" panose="020B0503020204020204" pitchFamily="34" charset="-122"/>
              </a:rPr>
              <a:t>王东明</a:t>
            </a:r>
            <a:endParaRPr lang="en-US" altLang="zh-CN" sz="1600" b="1" dirty="0">
              <a:solidFill>
                <a:srgbClr val="FFFFFF"/>
              </a:solidFill>
              <a:ea typeface="微软雅黑" panose="020B0503020204020204" pitchFamily="34" charset="-122"/>
            </a:endParaRPr>
          </a:p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1400" b="1" dirty="0">
                <a:solidFill>
                  <a:srgbClr val="FFFFFF"/>
                </a:solidFill>
                <a:ea typeface="微软雅黑" panose="020B0503020204020204" pitchFamily="34" charset="-122"/>
              </a:rPr>
              <a:t>移动通信国家重点实验室</a:t>
            </a:r>
            <a:endParaRPr lang="en-GB" altLang="zh-CN" sz="1100" b="1" dirty="0">
              <a:solidFill>
                <a:srgbClr val="FFFFFF"/>
              </a:solidFill>
              <a:ea typeface="微软雅黑" panose="020B0503020204020204" pitchFamily="34" charset="-122"/>
            </a:endParaRPr>
          </a:p>
        </p:txBody>
      </p:sp>
      <p:sp>
        <p:nvSpPr>
          <p:cNvPr id="35" name="TextBox 34"/>
          <p:cNvSpPr txBox="1"/>
          <p:nvPr userDrawn="1"/>
        </p:nvSpPr>
        <p:spPr>
          <a:xfrm rot="20445248">
            <a:off x="842805" y="1491904"/>
            <a:ext cx="2954655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5400" b="1" dirty="0">
                <a:solidFill>
                  <a:srgbClr val="FFFFFF"/>
                </a:solidFill>
                <a:ea typeface="微软雅黑" panose="020B0503020204020204" pitchFamily="34" charset="-122"/>
              </a:rPr>
              <a:t>谢谢听讲</a:t>
            </a:r>
          </a:p>
        </p:txBody>
      </p:sp>
      <p:pic>
        <p:nvPicPr>
          <p:cNvPr id="37" name="图片 36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1699" y="4609838"/>
            <a:ext cx="2889201" cy="1909115"/>
          </a:xfrm>
          <a:prstGeom prst="rect">
            <a:avLst/>
          </a:prstGeom>
        </p:spPr>
      </p:pic>
      <p:pic>
        <p:nvPicPr>
          <p:cNvPr id="38" name="图片 37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9579" y="4609838"/>
            <a:ext cx="3024336" cy="1921895"/>
          </a:xfrm>
          <a:prstGeom prst="rect">
            <a:avLst/>
          </a:prstGeom>
        </p:spPr>
      </p:pic>
      <p:pic>
        <p:nvPicPr>
          <p:cNvPr id="46" name="图片 45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4603449"/>
            <a:ext cx="2863673" cy="1909115"/>
          </a:xfrm>
          <a:prstGeom prst="rect">
            <a:avLst/>
          </a:prstGeom>
        </p:spPr>
      </p:pic>
      <p:pic>
        <p:nvPicPr>
          <p:cNvPr id="40" name="图片 39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40742" y="2823944"/>
            <a:ext cx="402490" cy="402490"/>
          </a:xfrm>
          <a:prstGeom prst="rect">
            <a:avLst/>
          </a:prstGeom>
        </p:spPr>
      </p:pic>
      <p:pic>
        <p:nvPicPr>
          <p:cNvPr id="41" name="Picture 4" descr="E:\仝德志文件，勿删！\03-参考文档\！PPT图片及版面资源\06-PPT精选插图\04-图标\home256.png"/>
          <p:cNvPicPr>
            <a:picLocks noChangeAspect="1" noChangeArrowheads="1"/>
          </p:cNvPicPr>
          <p:nvPr userDrawn="1"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063037" y="3651103"/>
            <a:ext cx="357899" cy="3578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" name="Picture 5" descr="E:\仝德志文件，勿删！\03-参考文档\！PPT图片及版面资源\06-PPT精选插图\04-图标\png-0030.png"/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055260" y="2054293"/>
            <a:ext cx="348142" cy="3481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46169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6" presetClass="entr" presetSubtype="21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7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6" presetClass="entr" presetSubtype="21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7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23" grpId="0"/>
      <p:bldP spid="24" grpId="0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/>
      <p:bldP spid="32" grpId="0"/>
      <p:bldP spid="33" grpId="0"/>
      <p:bldP spid="34" grpId="0"/>
      <p:bldP spid="35" grpId="0"/>
    </p:bld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1043608" y="0"/>
            <a:ext cx="1080120" cy="1052736"/>
          </a:xfrm>
          <a:prstGeom prst="rect">
            <a:avLst/>
          </a:prstGeom>
          <a:solidFill>
            <a:srgbClr val="FF910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 userDrawn="1"/>
        </p:nvSpPr>
        <p:spPr>
          <a:xfrm>
            <a:off x="1043608" y="548680"/>
            <a:ext cx="10801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作业</a:t>
            </a:r>
          </a:p>
        </p:txBody>
      </p:sp>
      <p:sp>
        <p:nvSpPr>
          <p:cNvPr id="4" name="椭圆 3"/>
          <p:cNvSpPr/>
          <p:nvPr userDrawn="1"/>
        </p:nvSpPr>
        <p:spPr>
          <a:xfrm>
            <a:off x="8461631" y="6348095"/>
            <a:ext cx="360000" cy="360000"/>
          </a:xfrm>
          <a:prstGeom prst="ellipse">
            <a:avLst/>
          </a:prstGeom>
          <a:solidFill>
            <a:schemeClr val="bg1">
              <a:lumMod val="75000"/>
              <a:alpha val="3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TextBox 15"/>
          <p:cNvSpPr txBox="1"/>
          <p:nvPr userDrawn="1"/>
        </p:nvSpPr>
        <p:spPr>
          <a:xfrm>
            <a:off x="8316416" y="6358818"/>
            <a:ext cx="6504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2EEF1883-7A0E-4F66-9932-E581691AD397}" type="slidenum">
              <a:rPr lang="zh-CN" altLang="en-US" sz="160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pPr algn="ctr"/>
              <a:t>‹#›</a:t>
            </a:fld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</a:t>
            </a:r>
            <a:endParaRPr lang="zh-CN" altLang="en-US" sz="1600" b="0" dirty="0">
              <a:solidFill>
                <a:schemeClr val="tx1">
                  <a:lumMod val="65000"/>
                  <a:lumOff val="3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713676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/>
        </p:nvCxnSpPr>
        <p:spPr>
          <a:xfrm>
            <a:off x="-32" y="6599238"/>
            <a:ext cx="7307263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 flipV="1">
            <a:off x="7367588" y="6165850"/>
            <a:ext cx="0" cy="431800"/>
          </a:xfrm>
          <a:prstGeom prst="line">
            <a:avLst/>
          </a:prstGeom>
          <a:ln w="381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 flipV="1">
            <a:off x="7451725" y="6308725"/>
            <a:ext cx="0" cy="288925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 flipV="1">
            <a:off x="611188" y="-26988"/>
            <a:ext cx="0" cy="431801"/>
          </a:xfrm>
          <a:prstGeom prst="line">
            <a:avLst/>
          </a:prstGeom>
          <a:ln w="762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768350" y="0"/>
            <a:ext cx="0" cy="287338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椭圆 8"/>
          <p:cNvSpPr/>
          <p:nvPr userDrawn="1"/>
        </p:nvSpPr>
        <p:spPr>
          <a:xfrm>
            <a:off x="431188" y="6201750"/>
            <a:ext cx="360000" cy="360000"/>
          </a:xfrm>
          <a:prstGeom prst="ellipse">
            <a:avLst/>
          </a:prstGeom>
          <a:solidFill>
            <a:schemeClr val="bg1">
              <a:lumMod val="75000"/>
              <a:alpha val="3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" name="TextBox 15"/>
          <p:cNvSpPr txBox="1"/>
          <p:nvPr userDrawn="1"/>
        </p:nvSpPr>
        <p:spPr>
          <a:xfrm>
            <a:off x="285973" y="6212473"/>
            <a:ext cx="6504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2EEF1883-7A0E-4F66-9932-E581691AD397}" type="slidenum">
              <a:rPr lang="zh-CN" altLang="en-US" sz="160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pPr algn="ctr"/>
              <a:t>‹#›</a:t>
            </a:fld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</a:t>
            </a:r>
            <a:endParaRPr lang="zh-CN" altLang="en-US" sz="1600" b="0" dirty="0">
              <a:solidFill>
                <a:schemeClr val="tx1">
                  <a:lumMod val="65000"/>
                  <a:lumOff val="3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0569" y="6043193"/>
            <a:ext cx="705847" cy="698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06697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66" r:id="rId2"/>
    <p:sldLayoutId id="2147483671" r:id="rId3"/>
    <p:sldLayoutId id="2147483676" r:id="rId4"/>
    <p:sldLayoutId id="2147483677" r:id="rId5"/>
    <p:sldLayoutId id="2147483681" r:id="rId6"/>
    <p:sldLayoutId id="2147483678" r:id="rId7"/>
    <p:sldLayoutId id="2147483682" r:id="rId8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5.png"/><Relationship Id="rId4" Type="http://schemas.openxmlformats.org/officeDocument/2006/relationships/image" Target="../media/image18.jpe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1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8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78047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问号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616" y="5253127"/>
            <a:ext cx="1728439" cy="1343740"/>
          </a:xfrm>
          <a:prstGeom prst="rect">
            <a:avLst/>
          </a:prstGeom>
        </p:spPr>
      </p:pic>
      <p:sp>
        <p:nvSpPr>
          <p:cNvPr id="5" name="流程图: 可选过程 4"/>
          <p:cNvSpPr/>
          <p:nvPr/>
        </p:nvSpPr>
        <p:spPr>
          <a:xfrm>
            <a:off x="2278872" y="1628800"/>
            <a:ext cx="6397584" cy="902445"/>
          </a:xfrm>
          <a:prstGeom prst="flowChartAlternateProcess">
            <a:avLst/>
          </a:prstGeom>
          <a:solidFill>
            <a:srgbClr val="1D8D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8086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的寄存器有哪些？它们的功能有哪些？怎么使用这些寄存器？</a:t>
            </a:r>
          </a:p>
        </p:txBody>
      </p:sp>
      <p:sp>
        <p:nvSpPr>
          <p:cNvPr id="19" name="流程图: 可选过程 18"/>
          <p:cNvSpPr/>
          <p:nvPr/>
        </p:nvSpPr>
        <p:spPr>
          <a:xfrm>
            <a:off x="2267744" y="2780928"/>
            <a:ext cx="6397584" cy="902445"/>
          </a:xfrm>
          <a:prstGeom prst="flowChartAlternateProcess">
            <a:avLst/>
          </a:prstGeom>
          <a:solidFill>
            <a:srgbClr val="5DCB0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8086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的存储器的是怎么使用的？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是如何访问、寻址存储器的？</a:t>
            </a:r>
          </a:p>
        </p:txBody>
      </p:sp>
      <p:sp>
        <p:nvSpPr>
          <p:cNvPr id="21" name="流程图: 可选过程 20"/>
          <p:cNvSpPr/>
          <p:nvPr/>
        </p:nvSpPr>
        <p:spPr>
          <a:xfrm>
            <a:off x="2267744" y="3894707"/>
            <a:ext cx="6397584" cy="902445"/>
          </a:xfrm>
          <a:prstGeom prst="flowChartAlternateProcess">
            <a:avLst/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8086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的指令分几类？主要指令的用法？</a:t>
            </a:r>
          </a:p>
        </p:txBody>
      </p:sp>
      <p:sp>
        <p:nvSpPr>
          <p:cNvPr id="33" name="椭圆 32"/>
          <p:cNvSpPr/>
          <p:nvPr/>
        </p:nvSpPr>
        <p:spPr>
          <a:xfrm>
            <a:off x="1259632" y="1767902"/>
            <a:ext cx="624239" cy="624239"/>
          </a:xfrm>
          <a:prstGeom prst="ellipse">
            <a:avLst/>
          </a:prstGeom>
          <a:solidFill>
            <a:srgbClr val="6969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1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34" name="椭圆 33"/>
          <p:cNvSpPr/>
          <p:nvPr/>
        </p:nvSpPr>
        <p:spPr>
          <a:xfrm>
            <a:off x="1259632" y="2948777"/>
            <a:ext cx="624239" cy="624239"/>
          </a:xfrm>
          <a:prstGeom prst="ellipse">
            <a:avLst/>
          </a:prstGeom>
          <a:solidFill>
            <a:srgbClr val="6969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2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35" name="椭圆 34"/>
          <p:cNvSpPr/>
          <p:nvPr/>
        </p:nvSpPr>
        <p:spPr>
          <a:xfrm>
            <a:off x="1259632" y="4028897"/>
            <a:ext cx="624239" cy="624239"/>
          </a:xfrm>
          <a:prstGeom prst="ellipse">
            <a:avLst/>
          </a:prstGeom>
          <a:solidFill>
            <a:srgbClr val="6969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3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8959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7"/>
          <p:cNvSpPr txBox="1"/>
          <p:nvPr/>
        </p:nvSpPr>
        <p:spPr>
          <a:xfrm>
            <a:off x="4292127" y="2011784"/>
            <a:ext cx="3240137" cy="841375"/>
          </a:xfrm>
          <a:prstGeom prst="roundRect">
            <a:avLst>
              <a:gd name="adj" fmla="val 8176"/>
            </a:avLst>
          </a:prstGeom>
          <a:noFill/>
          <a:ln w="19050">
            <a:solidFill>
              <a:schemeClr val="bg1">
                <a:lumMod val="65000"/>
              </a:schemeClr>
            </a:solidFill>
          </a:ln>
        </p:spPr>
        <p:txBody>
          <a:bodyPr wrap="none" anchor="ctr"/>
          <a:lstStyle/>
          <a:p>
            <a:pPr algn="ctr">
              <a:defRPr/>
            </a:pPr>
            <a:r>
              <a:rPr lang="zh-CN" altLang="en-US" sz="2800" b="1" dirty="0">
                <a:solidFill>
                  <a:srgbClr val="A6A6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微处理器</a:t>
            </a:r>
          </a:p>
        </p:txBody>
      </p:sp>
      <p:sp>
        <p:nvSpPr>
          <p:cNvPr id="3" name="椭圆 2"/>
          <p:cNvSpPr/>
          <p:nvPr/>
        </p:nvSpPr>
        <p:spPr>
          <a:xfrm>
            <a:off x="3859857" y="2060848"/>
            <a:ext cx="745008" cy="733425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bg1">
                <a:lumMod val="65000"/>
              </a:schemeClr>
            </a:solidFill>
          </a:ln>
        </p:spPr>
        <p:txBody>
          <a:bodyPr wrap="none" anchor="ctr"/>
          <a:lstStyle/>
          <a:p>
            <a:pPr algn="ctr">
              <a:defRPr/>
            </a:pPr>
            <a:r>
              <a:rPr lang="en-US" altLang="zh-CN" sz="2800" b="1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itchFamily="34" charset="-122"/>
              </a:rPr>
              <a:t>1</a:t>
            </a:r>
            <a:endParaRPr lang="zh-CN" altLang="en-US" sz="2800" b="1" dirty="0">
              <a:solidFill>
                <a:srgbClr val="FFC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 Unicode MS" pitchFamily="34" charset="-122"/>
            </a:endParaRPr>
          </a:p>
        </p:txBody>
      </p:sp>
      <p:sp>
        <p:nvSpPr>
          <p:cNvPr id="4" name="TextBox 9"/>
          <p:cNvSpPr txBox="1"/>
          <p:nvPr/>
        </p:nvSpPr>
        <p:spPr>
          <a:xfrm>
            <a:off x="4292127" y="3164309"/>
            <a:ext cx="3240137" cy="841375"/>
          </a:xfrm>
          <a:prstGeom prst="roundRect">
            <a:avLst>
              <a:gd name="adj" fmla="val 8176"/>
            </a:avLst>
          </a:prstGeom>
          <a:noFill/>
          <a:ln w="19050">
            <a:solidFill>
              <a:schemeClr val="bg1">
                <a:lumMod val="65000"/>
              </a:schemeClr>
            </a:solidFill>
          </a:ln>
        </p:spPr>
        <p:txBody>
          <a:bodyPr wrap="none" anchor="ctr"/>
          <a:lstStyle>
            <a:defPPr>
              <a:defRPr lang="en-US"/>
            </a:defPPr>
            <a:lvl1pPr algn="ctr">
              <a:defRPr sz="2800" b="1">
                <a:solidFill>
                  <a:srgbClr val="A6A6A6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存储器及寻址</a:t>
            </a:r>
          </a:p>
        </p:txBody>
      </p:sp>
      <p:sp>
        <p:nvSpPr>
          <p:cNvPr id="5" name="椭圆 4"/>
          <p:cNvSpPr/>
          <p:nvPr/>
        </p:nvSpPr>
        <p:spPr>
          <a:xfrm>
            <a:off x="3859857" y="3213373"/>
            <a:ext cx="745008" cy="733425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bg1">
                <a:lumMod val="65000"/>
              </a:schemeClr>
            </a:solidFill>
          </a:ln>
        </p:spPr>
        <p:txBody>
          <a:bodyPr wrap="none" anchor="ctr"/>
          <a:lstStyle/>
          <a:p>
            <a:pPr algn="ctr">
              <a:defRPr/>
            </a:pPr>
            <a:r>
              <a:rPr lang="en-US" altLang="zh-CN" sz="2800" b="1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itchFamily="34" charset="-122"/>
              </a:rPr>
              <a:t>2</a:t>
            </a:r>
            <a:endParaRPr lang="zh-CN" altLang="en-US" sz="2800" b="1" dirty="0">
              <a:solidFill>
                <a:srgbClr val="FFC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 Unicode MS" pitchFamily="34" charset="-122"/>
            </a:endParaRPr>
          </a:p>
        </p:txBody>
      </p:sp>
      <p:sp>
        <p:nvSpPr>
          <p:cNvPr id="6" name="TextBox 11"/>
          <p:cNvSpPr txBox="1"/>
          <p:nvPr/>
        </p:nvSpPr>
        <p:spPr>
          <a:xfrm>
            <a:off x="4284189" y="4243809"/>
            <a:ext cx="3240137" cy="841375"/>
          </a:xfrm>
          <a:prstGeom prst="roundRect">
            <a:avLst>
              <a:gd name="adj" fmla="val 8176"/>
            </a:avLst>
          </a:prstGeom>
          <a:solidFill>
            <a:srgbClr val="5DCB08"/>
          </a:solidFill>
          <a:ln w="19050">
            <a:solidFill>
              <a:schemeClr val="bg1">
                <a:lumMod val="65000"/>
              </a:schemeClr>
            </a:solidFill>
          </a:ln>
        </p:spPr>
        <p:txBody>
          <a:bodyPr wrap="none" anchor="ctr"/>
          <a:lstStyle/>
          <a:p>
            <a:pPr algn="ctr">
              <a:defRPr/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指令系统</a:t>
            </a:r>
          </a:p>
        </p:txBody>
      </p:sp>
      <p:sp>
        <p:nvSpPr>
          <p:cNvPr id="7" name="椭圆 6"/>
          <p:cNvSpPr/>
          <p:nvPr/>
        </p:nvSpPr>
        <p:spPr>
          <a:xfrm>
            <a:off x="3851920" y="4292873"/>
            <a:ext cx="745008" cy="733425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bg1">
                <a:lumMod val="65000"/>
              </a:schemeClr>
            </a:solidFill>
          </a:ln>
        </p:spPr>
        <p:txBody>
          <a:bodyPr wrap="none" anchor="ctr"/>
          <a:lstStyle/>
          <a:p>
            <a:pPr algn="ctr">
              <a:defRPr/>
            </a:pPr>
            <a:r>
              <a:rPr lang="en-US" altLang="zh-CN" sz="2800" b="1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itchFamily="34" charset="-122"/>
              </a:rPr>
              <a:t>3</a:t>
            </a:r>
            <a:endParaRPr lang="zh-CN" altLang="en-US" sz="2800" b="1" dirty="0">
              <a:solidFill>
                <a:srgbClr val="FFC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 Unicode MS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24005816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867"/>
          <p:cNvSpPr>
            <a:spLocks/>
          </p:cNvSpPr>
          <p:nvPr/>
        </p:nvSpPr>
        <p:spPr bwMode="auto">
          <a:xfrm>
            <a:off x="3516095" y="2229961"/>
            <a:ext cx="2082783" cy="2331127"/>
          </a:xfrm>
          <a:custGeom>
            <a:avLst/>
            <a:gdLst>
              <a:gd name="T0" fmla="*/ 154 w 159"/>
              <a:gd name="T1" fmla="*/ 124 h 178"/>
              <a:gd name="T2" fmla="*/ 150 w 159"/>
              <a:gd name="T3" fmla="*/ 123 h 178"/>
              <a:gd name="T4" fmla="*/ 150 w 159"/>
              <a:gd name="T5" fmla="*/ 123 h 178"/>
              <a:gd name="T6" fmla="*/ 141 w 159"/>
              <a:gd name="T7" fmla="*/ 122 h 178"/>
              <a:gd name="T8" fmla="*/ 159 w 159"/>
              <a:gd name="T9" fmla="*/ 90 h 178"/>
              <a:gd name="T10" fmla="*/ 140 w 159"/>
              <a:gd name="T11" fmla="*/ 56 h 178"/>
              <a:gd name="T12" fmla="*/ 150 w 159"/>
              <a:gd name="T13" fmla="*/ 55 h 178"/>
              <a:gd name="T14" fmla="*/ 150 w 159"/>
              <a:gd name="T15" fmla="*/ 55 h 178"/>
              <a:gd name="T16" fmla="*/ 154 w 159"/>
              <a:gd name="T17" fmla="*/ 54 h 178"/>
              <a:gd name="T18" fmla="*/ 157 w 159"/>
              <a:gd name="T19" fmla="*/ 44 h 178"/>
              <a:gd name="T20" fmla="*/ 147 w 159"/>
              <a:gd name="T21" fmla="*/ 42 h 178"/>
              <a:gd name="T22" fmla="*/ 144 w 159"/>
              <a:gd name="T23" fmla="*/ 45 h 178"/>
              <a:gd name="T24" fmla="*/ 144 w 159"/>
              <a:gd name="T25" fmla="*/ 45 h 178"/>
              <a:gd name="T26" fmla="*/ 138 w 159"/>
              <a:gd name="T27" fmla="*/ 53 h 178"/>
              <a:gd name="T28" fmla="*/ 119 w 159"/>
              <a:gd name="T29" fmla="*/ 20 h 178"/>
              <a:gd name="T30" fmla="*/ 81 w 159"/>
              <a:gd name="T31" fmla="*/ 20 h 178"/>
              <a:gd name="T32" fmla="*/ 85 w 159"/>
              <a:gd name="T33" fmla="*/ 11 h 178"/>
              <a:gd name="T34" fmla="*/ 85 w 159"/>
              <a:gd name="T35" fmla="*/ 11 h 178"/>
              <a:gd name="T36" fmla="*/ 86 w 159"/>
              <a:gd name="T37" fmla="*/ 7 h 178"/>
              <a:gd name="T38" fmla="*/ 79 w 159"/>
              <a:gd name="T39" fmla="*/ 0 h 178"/>
              <a:gd name="T40" fmla="*/ 72 w 159"/>
              <a:gd name="T41" fmla="*/ 7 h 178"/>
              <a:gd name="T42" fmla="*/ 74 w 159"/>
              <a:gd name="T43" fmla="*/ 11 h 178"/>
              <a:gd name="T44" fmla="*/ 74 w 159"/>
              <a:gd name="T45" fmla="*/ 11 h 178"/>
              <a:gd name="T46" fmla="*/ 77 w 159"/>
              <a:gd name="T47" fmla="*/ 20 h 178"/>
              <a:gd name="T48" fmla="*/ 40 w 159"/>
              <a:gd name="T49" fmla="*/ 20 h 178"/>
              <a:gd name="T50" fmla="*/ 21 w 159"/>
              <a:gd name="T51" fmla="*/ 53 h 178"/>
              <a:gd name="T52" fmla="*/ 14 w 159"/>
              <a:gd name="T53" fmla="*/ 45 h 178"/>
              <a:gd name="T54" fmla="*/ 14 w 159"/>
              <a:gd name="T55" fmla="*/ 45 h 178"/>
              <a:gd name="T56" fmla="*/ 12 w 159"/>
              <a:gd name="T57" fmla="*/ 42 h 178"/>
              <a:gd name="T58" fmla="*/ 2 w 159"/>
              <a:gd name="T59" fmla="*/ 44 h 178"/>
              <a:gd name="T60" fmla="*/ 5 w 159"/>
              <a:gd name="T61" fmla="*/ 54 h 178"/>
              <a:gd name="T62" fmla="*/ 9 w 159"/>
              <a:gd name="T63" fmla="*/ 55 h 178"/>
              <a:gd name="T64" fmla="*/ 9 w 159"/>
              <a:gd name="T65" fmla="*/ 55 h 178"/>
              <a:gd name="T66" fmla="*/ 19 w 159"/>
              <a:gd name="T67" fmla="*/ 56 h 178"/>
              <a:gd name="T68" fmla="*/ 0 w 159"/>
              <a:gd name="T69" fmla="*/ 90 h 178"/>
              <a:gd name="T70" fmla="*/ 18 w 159"/>
              <a:gd name="T71" fmla="*/ 122 h 178"/>
              <a:gd name="T72" fmla="*/ 9 w 159"/>
              <a:gd name="T73" fmla="*/ 123 h 178"/>
              <a:gd name="T74" fmla="*/ 9 w 159"/>
              <a:gd name="T75" fmla="*/ 123 h 178"/>
              <a:gd name="T76" fmla="*/ 5 w 159"/>
              <a:gd name="T77" fmla="*/ 124 h 178"/>
              <a:gd name="T78" fmla="*/ 2 w 159"/>
              <a:gd name="T79" fmla="*/ 134 h 178"/>
              <a:gd name="T80" fmla="*/ 12 w 159"/>
              <a:gd name="T81" fmla="*/ 136 h 178"/>
              <a:gd name="T82" fmla="*/ 14 w 159"/>
              <a:gd name="T83" fmla="*/ 133 h 178"/>
              <a:gd name="T84" fmla="*/ 14 w 159"/>
              <a:gd name="T85" fmla="*/ 133 h 178"/>
              <a:gd name="T86" fmla="*/ 20 w 159"/>
              <a:gd name="T87" fmla="*/ 125 h 178"/>
              <a:gd name="T88" fmla="*/ 40 w 159"/>
              <a:gd name="T89" fmla="*/ 159 h 178"/>
              <a:gd name="T90" fmla="*/ 77 w 159"/>
              <a:gd name="T91" fmla="*/ 159 h 178"/>
              <a:gd name="T92" fmla="*/ 74 w 159"/>
              <a:gd name="T93" fmla="*/ 167 h 178"/>
              <a:gd name="T94" fmla="*/ 74 w 159"/>
              <a:gd name="T95" fmla="*/ 167 h 178"/>
              <a:gd name="T96" fmla="*/ 72 w 159"/>
              <a:gd name="T97" fmla="*/ 171 h 178"/>
              <a:gd name="T98" fmla="*/ 79 w 159"/>
              <a:gd name="T99" fmla="*/ 178 h 178"/>
              <a:gd name="T100" fmla="*/ 86 w 159"/>
              <a:gd name="T101" fmla="*/ 171 h 178"/>
              <a:gd name="T102" fmla="*/ 85 w 159"/>
              <a:gd name="T103" fmla="*/ 167 h 178"/>
              <a:gd name="T104" fmla="*/ 85 w 159"/>
              <a:gd name="T105" fmla="*/ 167 h 178"/>
              <a:gd name="T106" fmla="*/ 81 w 159"/>
              <a:gd name="T107" fmla="*/ 159 h 178"/>
              <a:gd name="T108" fmla="*/ 119 w 159"/>
              <a:gd name="T109" fmla="*/ 159 h 178"/>
              <a:gd name="T110" fmla="*/ 139 w 159"/>
              <a:gd name="T111" fmla="*/ 126 h 178"/>
              <a:gd name="T112" fmla="*/ 144 w 159"/>
              <a:gd name="T113" fmla="*/ 133 h 178"/>
              <a:gd name="T114" fmla="*/ 144 w 159"/>
              <a:gd name="T115" fmla="*/ 133 h 178"/>
              <a:gd name="T116" fmla="*/ 147 w 159"/>
              <a:gd name="T117" fmla="*/ 136 h 178"/>
              <a:gd name="T118" fmla="*/ 157 w 159"/>
              <a:gd name="T119" fmla="*/ 134 h 178"/>
              <a:gd name="T120" fmla="*/ 154 w 159"/>
              <a:gd name="T121" fmla="*/ 124 h 1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59" h="178">
                <a:moveTo>
                  <a:pt x="154" y="124"/>
                </a:moveTo>
                <a:cubicBezTo>
                  <a:pt x="153" y="123"/>
                  <a:pt x="151" y="123"/>
                  <a:pt x="150" y="123"/>
                </a:cubicBezTo>
                <a:cubicBezTo>
                  <a:pt x="150" y="123"/>
                  <a:pt x="150" y="123"/>
                  <a:pt x="150" y="123"/>
                </a:cubicBezTo>
                <a:cubicBezTo>
                  <a:pt x="146" y="124"/>
                  <a:pt x="143" y="123"/>
                  <a:pt x="141" y="122"/>
                </a:cubicBezTo>
                <a:cubicBezTo>
                  <a:pt x="159" y="90"/>
                  <a:pt x="159" y="90"/>
                  <a:pt x="159" y="90"/>
                </a:cubicBezTo>
                <a:cubicBezTo>
                  <a:pt x="140" y="56"/>
                  <a:pt x="140" y="56"/>
                  <a:pt x="140" y="56"/>
                </a:cubicBezTo>
                <a:cubicBezTo>
                  <a:pt x="143" y="55"/>
                  <a:pt x="146" y="54"/>
                  <a:pt x="150" y="55"/>
                </a:cubicBezTo>
                <a:cubicBezTo>
                  <a:pt x="150" y="55"/>
                  <a:pt x="150" y="55"/>
                  <a:pt x="150" y="55"/>
                </a:cubicBezTo>
                <a:cubicBezTo>
                  <a:pt x="151" y="55"/>
                  <a:pt x="153" y="55"/>
                  <a:pt x="154" y="54"/>
                </a:cubicBezTo>
                <a:cubicBezTo>
                  <a:pt x="157" y="52"/>
                  <a:pt x="159" y="48"/>
                  <a:pt x="157" y="44"/>
                </a:cubicBezTo>
                <a:cubicBezTo>
                  <a:pt x="155" y="41"/>
                  <a:pt x="150" y="40"/>
                  <a:pt x="147" y="42"/>
                </a:cubicBezTo>
                <a:cubicBezTo>
                  <a:pt x="146" y="43"/>
                  <a:pt x="145" y="44"/>
                  <a:pt x="144" y="45"/>
                </a:cubicBezTo>
                <a:cubicBezTo>
                  <a:pt x="144" y="45"/>
                  <a:pt x="144" y="45"/>
                  <a:pt x="144" y="45"/>
                </a:cubicBezTo>
                <a:cubicBezTo>
                  <a:pt x="143" y="49"/>
                  <a:pt x="141" y="51"/>
                  <a:pt x="138" y="53"/>
                </a:cubicBezTo>
                <a:cubicBezTo>
                  <a:pt x="119" y="20"/>
                  <a:pt x="119" y="20"/>
                  <a:pt x="119" y="20"/>
                </a:cubicBezTo>
                <a:cubicBezTo>
                  <a:pt x="81" y="20"/>
                  <a:pt x="81" y="20"/>
                  <a:pt x="81" y="20"/>
                </a:cubicBezTo>
                <a:cubicBezTo>
                  <a:pt x="81" y="17"/>
                  <a:pt x="83" y="14"/>
                  <a:pt x="85" y="11"/>
                </a:cubicBezTo>
                <a:cubicBezTo>
                  <a:pt x="85" y="11"/>
                  <a:pt x="85" y="11"/>
                  <a:pt x="85" y="11"/>
                </a:cubicBezTo>
                <a:cubicBezTo>
                  <a:pt x="86" y="10"/>
                  <a:pt x="86" y="8"/>
                  <a:pt x="86" y="7"/>
                </a:cubicBezTo>
                <a:cubicBezTo>
                  <a:pt x="86" y="3"/>
                  <a:pt x="83" y="0"/>
                  <a:pt x="79" y="0"/>
                </a:cubicBezTo>
                <a:cubicBezTo>
                  <a:pt x="76" y="0"/>
                  <a:pt x="72" y="3"/>
                  <a:pt x="72" y="7"/>
                </a:cubicBezTo>
                <a:cubicBezTo>
                  <a:pt x="72" y="8"/>
                  <a:pt x="73" y="10"/>
                  <a:pt x="74" y="11"/>
                </a:cubicBezTo>
                <a:cubicBezTo>
                  <a:pt x="74" y="11"/>
                  <a:pt x="74" y="11"/>
                  <a:pt x="74" y="11"/>
                </a:cubicBezTo>
                <a:cubicBezTo>
                  <a:pt x="76" y="14"/>
                  <a:pt x="77" y="17"/>
                  <a:pt x="77" y="20"/>
                </a:cubicBezTo>
                <a:cubicBezTo>
                  <a:pt x="40" y="20"/>
                  <a:pt x="40" y="20"/>
                  <a:pt x="40" y="20"/>
                </a:cubicBezTo>
                <a:cubicBezTo>
                  <a:pt x="21" y="53"/>
                  <a:pt x="21" y="53"/>
                  <a:pt x="21" y="53"/>
                </a:cubicBezTo>
                <a:cubicBezTo>
                  <a:pt x="18" y="51"/>
                  <a:pt x="16" y="49"/>
                  <a:pt x="14" y="45"/>
                </a:cubicBezTo>
                <a:cubicBezTo>
                  <a:pt x="14" y="45"/>
                  <a:pt x="14" y="45"/>
                  <a:pt x="14" y="45"/>
                </a:cubicBezTo>
                <a:cubicBezTo>
                  <a:pt x="14" y="44"/>
                  <a:pt x="13" y="43"/>
                  <a:pt x="12" y="42"/>
                </a:cubicBezTo>
                <a:cubicBezTo>
                  <a:pt x="8" y="40"/>
                  <a:pt x="4" y="41"/>
                  <a:pt x="2" y="44"/>
                </a:cubicBezTo>
                <a:cubicBezTo>
                  <a:pt x="0" y="48"/>
                  <a:pt x="1" y="52"/>
                  <a:pt x="5" y="54"/>
                </a:cubicBezTo>
                <a:cubicBezTo>
                  <a:pt x="6" y="55"/>
                  <a:pt x="7" y="55"/>
                  <a:pt x="9" y="55"/>
                </a:cubicBezTo>
                <a:cubicBezTo>
                  <a:pt x="9" y="55"/>
                  <a:pt x="9" y="55"/>
                  <a:pt x="9" y="55"/>
                </a:cubicBezTo>
                <a:cubicBezTo>
                  <a:pt x="13" y="54"/>
                  <a:pt x="16" y="55"/>
                  <a:pt x="19" y="56"/>
                </a:cubicBezTo>
                <a:cubicBezTo>
                  <a:pt x="0" y="90"/>
                  <a:pt x="0" y="90"/>
                  <a:pt x="0" y="90"/>
                </a:cubicBezTo>
                <a:cubicBezTo>
                  <a:pt x="18" y="122"/>
                  <a:pt x="18" y="122"/>
                  <a:pt x="18" y="122"/>
                </a:cubicBezTo>
                <a:cubicBezTo>
                  <a:pt x="16" y="123"/>
                  <a:pt x="13" y="124"/>
                  <a:pt x="9" y="123"/>
                </a:cubicBezTo>
                <a:cubicBezTo>
                  <a:pt x="9" y="123"/>
                  <a:pt x="9" y="123"/>
                  <a:pt x="9" y="123"/>
                </a:cubicBezTo>
                <a:cubicBezTo>
                  <a:pt x="7" y="123"/>
                  <a:pt x="6" y="123"/>
                  <a:pt x="5" y="124"/>
                </a:cubicBezTo>
                <a:cubicBezTo>
                  <a:pt x="1" y="126"/>
                  <a:pt x="0" y="130"/>
                  <a:pt x="2" y="134"/>
                </a:cubicBezTo>
                <a:cubicBezTo>
                  <a:pt x="4" y="137"/>
                  <a:pt x="8" y="138"/>
                  <a:pt x="12" y="136"/>
                </a:cubicBezTo>
                <a:cubicBezTo>
                  <a:pt x="13" y="135"/>
                  <a:pt x="14" y="134"/>
                  <a:pt x="14" y="133"/>
                </a:cubicBezTo>
                <a:cubicBezTo>
                  <a:pt x="14" y="133"/>
                  <a:pt x="14" y="133"/>
                  <a:pt x="14" y="133"/>
                </a:cubicBezTo>
                <a:cubicBezTo>
                  <a:pt x="16" y="129"/>
                  <a:pt x="18" y="127"/>
                  <a:pt x="20" y="125"/>
                </a:cubicBezTo>
                <a:cubicBezTo>
                  <a:pt x="40" y="159"/>
                  <a:pt x="40" y="159"/>
                  <a:pt x="40" y="159"/>
                </a:cubicBezTo>
                <a:cubicBezTo>
                  <a:pt x="77" y="159"/>
                  <a:pt x="77" y="159"/>
                  <a:pt x="77" y="159"/>
                </a:cubicBezTo>
                <a:cubicBezTo>
                  <a:pt x="77" y="162"/>
                  <a:pt x="76" y="164"/>
                  <a:pt x="74" y="167"/>
                </a:cubicBezTo>
                <a:cubicBezTo>
                  <a:pt x="74" y="167"/>
                  <a:pt x="74" y="167"/>
                  <a:pt x="74" y="167"/>
                </a:cubicBezTo>
                <a:cubicBezTo>
                  <a:pt x="73" y="168"/>
                  <a:pt x="72" y="170"/>
                  <a:pt x="72" y="171"/>
                </a:cubicBezTo>
                <a:cubicBezTo>
                  <a:pt x="72" y="175"/>
                  <a:pt x="75" y="178"/>
                  <a:pt x="79" y="178"/>
                </a:cubicBezTo>
                <a:cubicBezTo>
                  <a:pt x="83" y="178"/>
                  <a:pt x="86" y="175"/>
                  <a:pt x="86" y="171"/>
                </a:cubicBezTo>
                <a:cubicBezTo>
                  <a:pt x="86" y="170"/>
                  <a:pt x="86" y="168"/>
                  <a:pt x="85" y="167"/>
                </a:cubicBezTo>
                <a:cubicBezTo>
                  <a:pt x="85" y="167"/>
                  <a:pt x="85" y="167"/>
                  <a:pt x="85" y="167"/>
                </a:cubicBezTo>
                <a:cubicBezTo>
                  <a:pt x="83" y="164"/>
                  <a:pt x="82" y="162"/>
                  <a:pt x="81" y="159"/>
                </a:cubicBezTo>
                <a:cubicBezTo>
                  <a:pt x="119" y="159"/>
                  <a:pt x="119" y="159"/>
                  <a:pt x="119" y="159"/>
                </a:cubicBezTo>
                <a:cubicBezTo>
                  <a:pt x="139" y="126"/>
                  <a:pt x="139" y="126"/>
                  <a:pt x="139" y="126"/>
                </a:cubicBezTo>
                <a:cubicBezTo>
                  <a:pt x="141" y="127"/>
                  <a:pt x="143" y="130"/>
                  <a:pt x="144" y="133"/>
                </a:cubicBezTo>
                <a:cubicBezTo>
                  <a:pt x="144" y="133"/>
                  <a:pt x="144" y="133"/>
                  <a:pt x="144" y="133"/>
                </a:cubicBezTo>
                <a:cubicBezTo>
                  <a:pt x="145" y="134"/>
                  <a:pt x="146" y="135"/>
                  <a:pt x="147" y="136"/>
                </a:cubicBezTo>
                <a:cubicBezTo>
                  <a:pt x="150" y="138"/>
                  <a:pt x="155" y="137"/>
                  <a:pt x="157" y="134"/>
                </a:cubicBezTo>
                <a:cubicBezTo>
                  <a:pt x="159" y="130"/>
                  <a:pt x="157" y="126"/>
                  <a:pt x="154" y="124"/>
                </a:cubicBezTo>
                <a:close/>
              </a:path>
            </a:pathLst>
          </a:custGeom>
          <a:gradFill flip="none" rotWithShape="1">
            <a:gsLst>
              <a:gs pos="100000">
                <a:srgbClr val="FFFFFF">
                  <a:lumMod val="100000"/>
                </a:srgbClr>
              </a:gs>
              <a:gs pos="0">
                <a:srgbClr val="D9D9DA"/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rgbClr val="FFFFFF"/>
                </a:gs>
                <a:gs pos="0">
                  <a:srgbClr val="D9D9DA"/>
                </a:gs>
              </a:gsLst>
              <a:lin ang="13500000" scaled="1"/>
              <a:tileRect/>
            </a:gra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solidFill>
                <a:schemeClr val="lt1"/>
              </a:solidFill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Freeform 1877"/>
          <p:cNvSpPr>
            <a:spLocks/>
          </p:cNvSpPr>
          <p:nvPr/>
        </p:nvSpPr>
        <p:spPr bwMode="auto">
          <a:xfrm>
            <a:off x="1880333" y="1562742"/>
            <a:ext cx="2107617" cy="1819538"/>
          </a:xfrm>
          <a:custGeom>
            <a:avLst/>
            <a:gdLst>
              <a:gd name="T0" fmla="*/ 141 w 161"/>
              <a:gd name="T1" fmla="*/ 37 h 139"/>
              <a:gd name="T2" fmla="*/ 152 w 161"/>
              <a:gd name="T3" fmla="*/ 36 h 139"/>
              <a:gd name="T4" fmla="*/ 152 w 161"/>
              <a:gd name="T5" fmla="*/ 36 h 139"/>
              <a:gd name="T6" fmla="*/ 156 w 161"/>
              <a:gd name="T7" fmla="*/ 35 h 139"/>
              <a:gd name="T8" fmla="*/ 159 w 161"/>
              <a:gd name="T9" fmla="*/ 25 h 139"/>
              <a:gd name="T10" fmla="*/ 149 w 161"/>
              <a:gd name="T11" fmla="*/ 23 h 139"/>
              <a:gd name="T12" fmla="*/ 146 w 161"/>
              <a:gd name="T13" fmla="*/ 26 h 139"/>
              <a:gd name="T14" fmla="*/ 146 w 161"/>
              <a:gd name="T15" fmla="*/ 26 h 139"/>
              <a:gd name="T16" fmla="*/ 139 w 161"/>
              <a:gd name="T17" fmla="*/ 34 h 139"/>
              <a:gd name="T18" fmla="*/ 120 w 161"/>
              <a:gd name="T19" fmla="*/ 0 h 139"/>
              <a:gd name="T20" fmla="*/ 40 w 161"/>
              <a:gd name="T21" fmla="*/ 0 h 139"/>
              <a:gd name="T22" fmla="*/ 0 w 161"/>
              <a:gd name="T23" fmla="*/ 70 h 139"/>
              <a:gd name="T24" fmla="*/ 40 w 161"/>
              <a:gd name="T25" fmla="*/ 139 h 139"/>
              <a:gd name="T26" fmla="*/ 76 w 161"/>
              <a:gd name="T27" fmla="*/ 139 h 139"/>
              <a:gd name="T28" fmla="*/ 74 w 161"/>
              <a:gd name="T29" fmla="*/ 135 h 139"/>
              <a:gd name="T30" fmla="*/ 73 w 161"/>
              <a:gd name="T31" fmla="*/ 133 h 139"/>
              <a:gd name="T32" fmla="*/ 72 w 161"/>
              <a:gd name="T33" fmla="*/ 132 h 139"/>
              <a:gd name="T34" fmla="*/ 72 w 161"/>
              <a:gd name="T35" fmla="*/ 129 h 139"/>
              <a:gd name="T36" fmla="*/ 81 w 161"/>
              <a:gd name="T37" fmla="*/ 120 h 139"/>
              <a:gd name="T38" fmla="*/ 90 w 161"/>
              <a:gd name="T39" fmla="*/ 129 h 139"/>
              <a:gd name="T40" fmla="*/ 90 w 161"/>
              <a:gd name="T41" fmla="*/ 132 h 139"/>
              <a:gd name="T42" fmla="*/ 89 w 161"/>
              <a:gd name="T43" fmla="*/ 133 h 139"/>
              <a:gd name="T44" fmla="*/ 88 w 161"/>
              <a:gd name="T45" fmla="*/ 135 h 139"/>
              <a:gd name="T46" fmla="*/ 86 w 161"/>
              <a:gd name="T47" fmla="*/ 139 h 139"/>
              <a:gd name="T48" fmla="*/ 120 w 161"/>
              <a:gd name="T49" fmla="*/ 139 h 139"/>
              <a:gd name="T50" fmla="*/ 138 w 161"/>
              <a:gd name="T51" fmla="*/ 108 h 139"/>
              <a:gd name="T52" fmla="*/ 137 w 161"/>
              <a:gd name="T53" fmla="*/ 108 h 139"/>
              <a:gd name="T54" fmla="*/ 134 w 161"/>
              <a:gd name="T55" fmla="*/ 108 h 139"/>
              <a:gd name="T56" fmla="*/ 132 w 161"/>
              <a:gd name="T57" fmla="*/ 108 h 139"/>
              <a:gd name="T58" fmla="*/ 131 w 161"/>
              <a:gd name="T59" fmla="*/ 107 h 139"/>
              <a:gd name="T60" fmla="*/ 129 w 161"/>
              <a:gd name="T61" fmla="*/ 107 h 139"/>
              <a:gd name="T62" fmla="*/ 125 w 161"/>
              <a:gd name="T63" fmla="*/ 94 h 139"/>
              <a:gd name="T64" fmla="*/ 133 w 161"/>
              <a:gd name="T65" fmla="*/ 90 h 139"/>
              <a:gd name="T66" fmla="*/ 138 w 161"/>
              <a:gd name="T67" fmla="*/ 91 h 139"/>
              <a:gd name="T68" fmla="*/ 139 w 161"/>
              <a:gd name="T69" fmla="*/ 92 h 139"/>
              <a:gd name="T70" fmla="*/ 140 w 161"/>
              <a:gd name="T71" fmla="*/ 93 h 139"/>
              <a:gd name="T72" fmla="*/ 141 w 161"/>
              <a:gd name="T73" fmla="*/ 95 h 139"/>
              <a:gd name="T74" fmla="*/ 143 w 161"/>
              <a:gd name="T75" fmla="*/ 99 h 139"/>
              <a:gd name="T76" fmla="*/ 160 w 161"/>
              <a:gd name="T77" fmla="*/ 70 h 139"/>
              <a:gd name="T78" fmla="*/ 141 w 161"/>
              <a:gd name="T79" fmla="*/ 37 h 1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161" h="139">
                <a:moveTo>
                  <a:pt x="141" y="37"/>
                </a:moveTo>
                <a:cubicBezTo>
                  <a:pt x="144" y="36"/>
                  <a:pt x="147" y="35"/>
                  <a:pt x="152" y="36"/>
                </a:cubicBezTo>
                <a:cubicBezTo>
                  <a:pt x="152" y="36"/>
                  <a:pt x="152" y="36"/>
                  <a:pt x="152" y="36"/>
                </a:cubicBezTo>
                <a:cubicBezTo>
                  <a:pt x="153" y="36"/>
                  <a:pt x="155" y="35"/>
                  <a:pt x="156" y="35"/>
                </a:cubicBezTo>
                <a:cubicBezTo>
                  <a:pt x="159" y="33"/>
                  <a:pt x="161" y="28"/>
                  <a:pt x="159" y="25"/>
                </a:cubicBezTo>
                <a:cubicBezTo>
                  <a:pt x="157" y="22"/>
                  <a:pt x="152" y="21"/>
                  <a:pt x="149" y="23"/>
                </a:cubicBezTo>
                <a:cubicBezTo>
                  <a:pt x="148" y="23"/>
                  <a:pt x="147" y="24"/>
                  <a:pt x="146" y="26"/>
                </a:cubicBezTo>
                <a:cubicBezTo>
                  <a:pt x="146" y="26"/>
                  <a:pt x="146" y="26"/>
                  <a:pt x="146" y="26"/>
                </a:cubicBezTo>
                <a:cubicBezTo>
                  <a:pt x="144" y="30"/>
                  <a:pt x="142" y="32"/>
                  <a:pt x="139" y="34"/>
                </a:cubicBezTo>
                <a:cubicBezTo>
                  <a:pt x="120" y="0"/>
                  <a:pt x="120" y="0"/>
                  <a:pt x="120" y="0"/>
                </a:cubicBezTo>
                <a:cubicBezTo>
                  <a:pt x="40" y="0"/>
                  <a:pt x="40" y="0"/>
                  <a:pt x="40" y="0"/>
                </a:cubicBezTo>
                <a:cubicBezTo>
                  <a:pt x="0" y="70"/>
                  <a:pt x="0" y="70"/>
                  <a:pt x="0" y="70"/>
                </a:cubicBezTo>
                <a:cubicBezTo>
                  <a:pt x="40" y="139"/>
                  <a:pt x="40" y="139"/>
                  <a:pt x="40" y="139"/>
                </a:cubicBezTo>
                <a:cubicBezTo>
                  <a:pt x="76" y="139"/>
                  <a:pt x="76" y="139"/>
                  <a:pt x="76" y="139"/>
                </a:cubicBezTo>
                <a:cubicBezTo>
                  <a:pt x="76" y="138"/>
                  <a:pt x="75" y="136"/>
                  <a:pt x="74" y="135"/>
                </a:cubicBezTo>
                <a:cubicBezTo>
                  <a:pt x="73" y="133"/>
                  <a:pt x="73" y="133"/>
                  <a:pt x="73" y="133"/>
                </a:cubicBezTo>
                <a:cubicBezTo>
                  <a:pt x="72" y="132"/>
                  <a:pt x="72" y="132"/>
                  <a:pt x="72" y="132"/>
                </a:cubicBezTo>
                <a:cubicBezTo>
                  <a:pt x="72" y="131"/>
                  <a:pt x="72" y="130"/>
                  <a:pt x="72" y="129"/>
                </a:cubicBezTo>
                <a:cubicBezTo>
                  <a:pt x="72" y="124"/>
                  <a:pt x="76" y="120"/>
                  <a:pt x="81" y="120"/>
                </a:cubicBezTo>
                <a:cubicBezTo>
                  <a:pt x="86" y="120"/>
                  <a:pt x="90" y="124"/>
                  <a:pt x="90" y="129"/>
                </a:cubicBezTo>
                <a:cubicBezTo>
                  <a:pt x="90" y="130"/>
                  <a:pt x="90" y="131"/>
                  <a:pt x="90" y="132"/>
                </a:cubicBezTo>
                <a:cubicBezTo>
                  <a:pt x="89" y="133"/>
                  <a:pt x="89" y="133"/>
                  <a:pt x="89" y="133"/>
                </a:cubicBezTo>
                <a:cubicBezTo>
                  <a:pt x="88" y="135"/>
                  <a:pt x="88" y="135"/>
                  <a:pt x="88" y="135"/>
                </a:cubicBezTo>
                <a:cubicBezTo>
                  <a:pt x="87" y="136"/>
                  <a:pt x="86" y="138"/>
                  <a:pt x="86" y="139"/>
                </a:cubicBezTo>
                <a:cubicBezTo>
                  <a:pt x="120" y="139"/>
                  <a:pt x="120" y="139"/>
                  <a:pt x="120" y="139"/>
                </a:cubicBezTo>
                <a:cubicBezTo>
                  <a:pt x="138" y="108"/>
                  <a:pt x="138" y="108"/>
                  <a:pt x="138" y="108"/>
                </a:cubicBezTo>
                <a:cubicBezTo>
                  <a:pt x="138" y="108"/>
                  <a:pt x="137" y="108"/>
                  <a:pt x="137" y="108"/>
                </a:cubicBezTo>
                <a:cubicBezTo>
                  <a:pt x="136" y="108"/>
                  <a:pt x="135" y="108"/>
                  <a:pt x="134" y="108"/>
                </a:cubicBezTo>
                <a:cubicBezTo>
                  <a:pt x="132" y="108"/>
                  <a:pt x="132" y="108"/>
                  <a:pt x="132" y="108"/>
                </a:cubicBezTo>
                <a:cubicBezTo>
                  <a:pt x="131" y="107"/>
                  <a:pt x="131" y="107"/>
                  <a:pt x="131" y="107"/>
                </a:cubicBezTo>
                <a:cubicBezTo>
                  <a:pt x="130" y="107"/>
                  <a:pt x="129" y="107"/>
                  <a:pt x="129" y="107"/>
                </a:cubicBezTo>
                <a:cubicBezTo>
                  <a:pt x="124" y="104"/>
                  <a:pt x="123" y="99"/>
                  <a:pt x="125" y="94"/>
                </a:cubicBezTo>
                <a:cubicBezTo>
                  <a:pt x="127" y="92"/>
                  <a:pt x="130" y="90"/>
                  <a:pt x="133" y="90"/>
                </a:cubicBezTo>
                <a:cubicBezTo>
                  <a:pt x="135" y="90"/>
                  <a:pt x="136" y="90"/>
                  <a:pt x="138" y="91"/>
                </a:cubicBezTo>
                <a:cubicBezTo>
                  <a:pt x="138" y="91"/>
                  <a:pt x="139" y="92"/>
                  <a:pt x="139" y="92"/>
                </a:cubicBezTo>
                <a:cubicBezTo>
                  <a:pt x="140" y="93"/>
                  <a:pt x="140" y="93"/>
                  <a:pt x="140" y="93"/>
                </a:cubicBezTo>
                <a:cubicBezTo>
                  <a:pt x="141" y="95"/>
                  <a:pt x="141" y="95"/>
                  <a:pt x="141" y="95"/>
                </a:cubicBezTo>
                <a:cubicBezTo>
                  <a:pt x="142" y="97"/>
                  <a:pt x="143" y="98"/>
                  <a:pt x="143" y="99"/>
                </a:cubicBezTo>
                <a:cubicBezTo>
                  <a:pt x="160" y="70"/>
                  <a:pt x="160" y="70"/>
                  <a:pt x="160" y="70"/>
                </a:cubicBezTo>
                <a:lnTo>
                  <a:pt x="141" y="37"/>
                </a:lnTo>
                <a:close/>
              </a:path>
            </a:pathLst>
          </a:custGeom>
          <a:gradFill flip="none" rotWithShape="1">
            <a:gsLst>
              <a:gs pos="100000">
                <a:srgbClr val="FFFFFF">
                  <a:lumMod val="100000"/>
                </a:srgbClr>
              </a:gs>
              <a:gs pos="0">
                <a:srgbClr val="D9D9DA"/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rgbClr val="FFFFFF"/>
                </a:gs>
                <a:gs pos="0">
                  <a:srgbClr val="D9D9DA"/>
                </a:gs>
              </a:gsLst>
              <a:lin ang="13500000" scaled="1"/>
              <a:tileRect/>
            </a:gra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chemeClr val="lt1"/>
              </a:solidFill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Freeform 1887"/>
          <p:cNvSpPr>
            <a:spLocks/>
          </p:cNvSpPr>
          <p:nvPr/>
        </p:nvSpPr>
        <p:spPr bwMode="auto">
          <a:xfrm>
            <a:off x="1893578" y="3160425"/>
            <a:ext cx="2094372" cy="2094372"/>
          </a:xfrm>
          <a:custGeom>
            <a:avLst/>
            <a:gdLst>
              <a:gd name="T0" fmla="*/ 142 w 160"/>
              <a:gd name="T1" fmla="*/ 60 h 160"/>
              <a:gd name="T2" fmla="*/ 140 w 160"/>
              <a:gd name="T3" fmla="*/ 63 h 160"/>
              <a:gd name="T4" fmla="*/ 139 w 160"/>
              <a:gd name="T5" fmla="*/ 65 h 160"/>
              <a:gd name="T6" fmla="*/ 138 w 160"/>
              <a:gd name="T7" fmla="*/ 66 h 160"/>
              <a:gd name="T8" fmla="*/ 137 w 160"/>
              <a:gd name="T9" fmla="*/ 67 h 160"/>
              <a:gd name="T10" fmla="*/ 132 w 160"/>
              <a:gd name="T11" fmla="*/ 68 h 160"/>
              <a:gd name="T12" fmla="*/ 124 w 160"/>
              <a:gd name="T13" fmla="*/ 64 h 160"/>
              <a:gd name="T14" fmla="*/ 128 w 160"/>
              <a:gd name="T15" fmla="*/ 51 h 160"/>
              <a:gd name="T16" fmla="*/ 129 w 160"/>
              <a:gd name="T17" fmla="*/ 51 h 160"/>
              <a:gd name="T18" fmla="*/ 131 w 160"/>
              <a:gd name="T19" fmla="*/ 50 h 160"/>
              <a:gd name="T20" fmla="*/ 133 w 160"/>
              <a:gd name="T21" fmla="*/ 50 h 160"/>
              <a:gd name="T22" fmla="*/ 136 w 160"/>
              <a:gd name="T23" fmla="*/ 50 h 160"/>
              <a:gd name="T24" fmla="*/ 136 w 160"/>
              <a:gd name="T25" fmla="*/ 50 h 160"/>
              <a:gd name="T26" fmla="*/ 120 w 160"/>
              <a:gd name="T27" fmla="*/ 22 h 160"/>
              <a:gd name="T28" fmla="*/ 82 w 160"/>
              <a:gd name="T29" fmla="*/ 22 h 160"/>
              <a:gd name="T30" fmla="*/ 86 w 160"/>
              <a:gd name="T31" fmla="*/ 12 h 160"/>
              <a:gd name="T32" fmla="*/ 86 w 160"/>
              <a:gd name="T33" fmla="*/ 12 h 160"/>
              <a:gd name="T34" fmla="*/ 87 w 160"/>
              <a:gd name="T35" fmla="*/ 7 h 160"/>
              <a:gd name="T36" fmla="*/ 80 w 160"/>
              <a:gd name="T37" fmla="*/ 0 h 160"/>
              <a:gd name="T38" fmla="*/ 73 w 160"/>
              <a:gd name="T39" fmla="*/ 7 h 160"/>
              <a:gd name="T40" fmla="*/ 74 w 160"/>
              <a:gd name="T41" fmla="*/ 12 h 160"/>
              <a:gd name="T42" fmla="*/ 74 w 160"/>
              <a:gd name="T43" fmla="*/ 12 h 160"/>
              <a:gd name="T44" fmla="*/ 78 w 160"/>
              <a:gd name="T45" fmla="*/ 22 h 160"/>
              <a:gd name="T46" fmla="*/ 40 w 160"/>
              <a:gd name="T47" fmla="*/ 22 h 160"/>
              <a:gd name="T48" fmla="*/ 0 w 160"/>
              <a:gd name="T49" fmla="*/ 91 h 160"/>
              <a:gd name="T50" fmla="*/ 40 w 160"/>
              <a:gd name="T51" fmla="*/ 160 h 160"/>
              <a:gd name="T52" fmla="*/ 120 w 160"/>
              <a:gd name="T53" fmla="*/ 160 h 160"/>
              <a:gd name="T54" fmla="*/ 138 w 160"/>
              <a:gd name="T55" fmla="*/ 129 h 160"/>
              <a:gd name="T56" fmla="*/ 135 w 160"/>
              <a:gd name="T57" fmla="*/ 129 h 160"/>
              <a:gd name="T58" fmla="*/ 132 w 160"/>
              <a:gd name="T59" fmla="*/ 129 h 160"/>
              <a:gd name="T60" fmla="*/ 130 w 160"/>
              <a:gd name="T61" fmla="*/ 129 h 160"/>
              <a:gd name="T62" fmla="*/ 129 w 160"/>
              <a:gd name="T63" fmla="*/ 128 h 160"/>
              <a:gd name="T64" fmla="*/ 127 w 160"/>
              <a:gd name="T65" fmla="*/ 128 h 160"/>
              <a:gd name="T66" fmla="*/ 123 w 160"/>
              <a:gd name="T67" fmla="*/ 122 h 160"/>
              <a:gd name="T68" fmla="*/ 124 w 160"/>
              <a:gd name="T69" fmla="*/ 115 h 160"/>
              <a:gd name="T70" fmla="*/ 131 w 160"/>
              <a:gd name="T71" fmla="*/ 111 h 160"/>
              <a:gd name="T72" fmla="*/ 136 w 160"/>
              <a:gd name="T73" fmla="*/ 112 h 160"/>
              <a:gd name="T74" fmla="*/ 138 w 160"/>
              <a:gd name="T75" fmla="*/ 113 h 160"/>
              <a:gd name="T76" fmla="*/ 139 w 160"/>
              <a:gd name="T77" fmla="*/ 115 h 160"/>
              <a:gd name="T78" fmla="*/ 140 w 160"/>
              <a:gd name="T79" fmla="*/ 116 h 160"/>
              <a:gd name="T80" fmla="*/ 142 w 160"/>
              <a:gd name="T81" fmla="*/ 121 h 160"/>
              <a:gd name="T82" fmla="*/ 160 w 160"/>
              <a:gd name="T83" fmla="*/ 91 h 160"/>
              <a:gd name="T84" fmla="*/ 142 w 160"/>
              <a:gd name="T85" fmla="*/ 60 h 1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160" h="160">
                <a:moveTo>
                  <a:pt x="142" y="60"/>
                </a:moveTo>
                <a:cubicBezTo>
                  <a:pt x="141" y="61"/>
                  <a:pt x="141" y="62"/>
                  <a:pt x="140" y="63"/>
                </a:cubicBezTo>
                <a:cubicBezTo>
                  <a:pt x="139" y="65"/>
                  <a:pt x="139" y="65"/>
                  <a:pt x="139" y="65"/>
                </a:cubicBezTo>
                <a:cubicBezTo>
                  <a:pt x="138" y="66"/>
                  <a:pt x="138" y="66"/>
                  <a:pt x="138" y="66"/>
                </a:cubicBezTo>
                <a:cubicBezTo>
                  <a:pt x="138" y="66"/>
                  <a:pt x="137" y="67"/>
                  <a:pt x="137" y="67"/>
                </a:cubicBezTo>
                <a:cubicBezTo>
                  <a:pt x="135" y="68"/>
                  <a:pt x="134" y="68"/>
                  <a:pt x="132" y="68"/>
                </a:cubicBezTo>
                <a:cubicBezTo>
                  <a:pt x="129" y="68"/>
                  <a:pt x="126" y="66"/>
                  <a:pt x="124" y="64"/>
                </a:cubicBezTo>
                <a:cubicBezTo>
                  <a:pt x="122" y="59"/>
                  <a:pt x="123" y="54"/>
                  <a:pt x="128" y="51"/>
                </a:cubicBezTo>
                <a:cubicBezTo>
                  <a:pt x="128" y="51"/>
                  <a:pt x="129" y="51"/>
                  <a:pt x="129" y="51"/>
                </a:cubicBezTo>
                <a:cubicBezTo>
                  <a:pt x="131" y="50"/>
                  <a:pt x="131" y="50"/>
                  <a:pt x="131" y="50"/>
                </a:cubicBezTo>
                <a:cubicBezTo>
                  <a:pt x="133" y="50"/>
                  <a:pt x="133" y="50"/>
                  <a:pt x="133" y="50"/>
                </a:cubicBezTo>
                <a:cubicBezTo>
                  <a:pt x="134" y="50"/>
                  <a:pt x="135" y="50"/>
                  <a:pt x="136" y="50"/>
                </a:cubicBezTo>
                <a:cubicBezTo>
                  <a:pt x="136" y="50"/>
                  <a:pt x="136" y="50"/>
                  <a:pt x="136" y="50"/>
                </a:cubicBezTo>
                <a:cubicBezTo>
                  <a:pt x="120" y="22"/>
                  <a:pt x="120" y="22"/>
                  <a:pt x="120" y="22"/>
                </a:cubicBezTo>
                <a:cubicBezTo>
                  <a:pt x="82" y="22"/>
                  <a:pt x="82" y="22"/>
                  <a:pt x="82" y="22"/>
                </a:cubicBezTo>
                <a:cubicBezTo>
                  <a:pt x="82" y="18"/>
                  <a:pt x="83" y="15"/>
                  <a:pt x="86" y="12"/>
                </a:cubicBezTo>
                <a:cubicBezTo>
                  <a:pt x="86" y="12"/>
                  <a:pt x="86" y="12"/>
                  <a:pt x="86" y="12"/>
                </a:cubicBezTo>
                <a:cubicBezTo>
                  <a:pt x="86" y="10"/>
                  <a:pt x="87" y="9"/>
                  <a:pt x="87" y="7"/>
                </a:cubicBezTo>
                <a:cubicBezTo>
                  <a:pt x="87" y="4"/>
                  <a:pt x="84" y="0"/>
                  <a:pt x="80" y="0"/>
                </a:cubicBezTo>
                <a:cubicBezTo>
                  <a:pt x="76" y="0"/>
                  <a:pt x="73" y="4"/>
                  <a:pt x="73" y="7"/>
                </a:cubicBezTo>
                <a:cubicBezTo>
                  <a:pt x="73" y="9"/>
                  <a:pt x="73" y="10"/>
                  <a:pt x="74" y="12"/>
                </a:cubicBezTo>
                <a:cubicBezTo>
                  <a:pt x="74" y="12"/>
                  <a:pt x="74" y="12"/>
                  <a:pt x="74" y="12"/>
                </a:cubicBezTo>
                <a:cubicBezTo>
                  <a:pt x="77" y="15"/>
                  <a:pt x="78" y="18"/>
                  <a:pt x="78" y="22"/>
                </a:cubicBezTo>
                <a:cubicBezTo>
                  <a:pt x="40" y="22"/>
                  <a:pt x="40" y="22"/>
                  <a:pt x="40" y="22"/>
                </a:cubicBezTo>
                <a:cubicBezTo>
                  <a:pt x="0" y="91"/>
                  <a:pt x="0" y="91"/>
                  <a:pt x="0" y="91"/>
                </a:cubicBezTo>
                <a:cubicBezTo>
                  <a:pt x="40" y="160"/>
                  <a:pt x="40" y="160"/>
                  <a:pt x="40" y="160"/>
                </a:cubicBezTo>
                <a:cubicBezTo>
                  <a:pt x="120" y="160"/>
                  <a:pt x="120" y="160"/>
                  <a:pt x="120" y="160"/>
                </a:cubicBezTo>
                <a:cubicBezTo>
                  <a:pt x="138" y="129"/>
                  <a:pt x="138" y="129"/>
                  <a:pt x="138" y="129"/>
                </a:cubicBezTo>
                <a:cubicBezTo>
                  <a:pt x="137" y="129"/>
                  <a:pt x="136" y="129"/>
                  <a:pt x="135" y="129"/>
                </a:cubicBezTo>
                <a:cubicBezTo>
                  <a:pt x="134" y="129"/>
                  <a:pt x="133" y="129"/>
                  <a:pt x="132" y="129"/>
                </a:cubicBezTo>
                <a:cubicBezTo>
                  <a:pt x="130" y="129"/>
                  <a:pt x="130" y="129"/>
                  <a:pt x="130" y="129"/>
                </a:cubicBezTo>
                <a:cubicBezTo>
                  <a:pt x="129" y="128"/>
                  <a:pt x="129" y="128"/>
                  <a:pt x="129" y="128"/>
                </a:cubicBezTo>
                <a:cubicBezTo>
                  <a:pt x="128" y="128"/>
                  <a:pt x="128" y="128"/>
                  <a:pt x="127" y="128"/>
                </a:cubicBezTo>
                <a:cubicBezTo>
                  <a:pt x="125" y="126"/>
                  <a:pt x="123" y="124"/>
                  <a:pt x="123" y="122"/>
                </a:cubicBezTo>
                <a:cubicBezTo>
                  <a:pt x="122" y="120"/>
                  <a:pt x="122" y="117"/>
                  <a:pt x="124" y="115"/>
                </a:cubicBezTo>
                <a:cubicBezTo>
                  <a:pt x="125" y="113"/>
                  <a:pt x="128" y="111"/>
                  <a:pt x="131" y="111"/>
                </a:cubicBezTo>
                <a:cubicBezTo>
                  <a:pt x="133" y="111"/>
                  <a:pt x="135" y="111"/>
                  <a:pt x="136" y="112"/>
                </a:cubicBezTo>
                <a:cubicBezTo>
                  <a:pt x="137" y="112"/>
                  <a:pt x="137" y="113"/>
                  <a:pt x="138" y="113"/>
                </a:cubicBezTo>
                <a:cubicBezTo>
                  <a:pt x="139" y="115"/>
                  <a:pt x="139" y="115"/>
                  <a:pt x="139" y="115"/>
                </a:cubicBezTo>
                <a:cubicBezTo>
                  <a:pt x="140" y="116"/>
                  <a:pt x="140" y="116"/>
                  <a:pt x="140" y="116"/>
                </a:cubicBezTo>
                <a:cubicBezTo>
                  <a:pt x="140" y="118"/>
                  <a:pt x="141" y="120"/>
                  <a:pt x="142" y="121"/>
                </a:cubicBezTo>
                <a:cubicBezTo>
                  <a:pt x="160" y="91"/>
                  <a:pt x="160" y="91"/>
                  <a:pt x="160" y="91"/>
                </a:cubicBezTo>
                <a:lnTo>
                  <a:pt x="142" y="60"/>
                </a:lnTo>
                <a:close/>
              </a:path>
            </a:pathLst>
          </a:custGeom>
          <a:gradFill flip="none" rotWithShape="1">
            <a:gsLst>
              <a:gs pos="100000">
                <a:srgbClr val="1D8DE5"/>
              </a:gs>
              <a:gs pos="0">
                <a:srgbClr val="007BB5"/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rgbClr val="1D8DE5"/>
                </a:gs>
                <a:gs pos="0">
                  <a:srgbClr val="007BB5"/>
                </a:gs>
              </a:gsLst>
              <a:lin ang="13500000" scaled="1"/>
              <a:tileRect/>
            </a:gra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  <p:sp>
        <p:nvSpPr>
          <p:cNvPr id="5" name="Freeform 1897"/>
          <p:cNvSpPr>
            <a:spLocks/>
          </p:cNvSpPr>
          <p:nvPr/>
        </p:nvSpPr>
        <p:spPr bwMode="auto">
          <a:xfrm>
            <a:off x="3502850" y="4377313"/>
            <a:ext cx="2109273" cy="1807948"/>
          </a:xfrm>
          <a:custGeom>
            <a:avLst/>
            <a:gdLst>
              <a:gd name="T0" fmla="*/ 143 w 161"/>
              <a:gd name="T1" fmla="*/ 37 h 138"/>
              <a:gd name="T2" fmla="*/ 140 w 161"/>
              <a:gd name="T3" fmla="*/ 42 h 138"/>
              <a:gd name="T4" fmla="*/ 139 w 161"/>
              <a:gd name="T5" fmla="*/ 44 h 138"/>
              <a:gd name="T6" fmla="*/ 138 w 161"/>
              <a:gd name="T7" fmla="*/ 45 h 138"/>
              <a:gd name="T8" fmla="*/ 136 w 161"/>
              <a:gd name="T9" fmla="*/ 46 h 138"/>
              <a:gd name="T10" fmla="*/ 131 w 161"/>
              <a:gd name="T11" fmla="*/ 47 h 138"/>
              <a:gd name="T12" fmla="*/ 124 w 161"/>
              <a:gd name="T13" fmla="*/ 43 h 138"/>
              <a:gd name="T14" fmla="*/ 123 w 161"/>
              <a:gd name="T15" fmla="*/ 36 h 138"/>
              <a:gd name="T16" fmla="*/ 127 w 161"/>
              <a:gd name="T17" fmla="*/ 31 h 138"/>
              <a:gd name="T18" fmla="*/ 129 w 161"/>
              <a:gd name="T19" fmla="*/ 30 h 138"/>
              <a:gd name="T20" fmla="*/ 130 w 161"/>
              <a:gd name="T21" fmla="*/ 30 h 138"/>
              <a:gd name="T22" fmla="*/ 132 w 161"/>
              <a:gd name="T23" fmla="*/ 29 h 138"/>
              <a:gd name="T24" fmla="*/ 135 w 161"/>
              <a:gd name="T25" fmla="*/ 30 h 138"/>
              <a:gd name="T26" fmla="*/ 138 w 161"/>
              <a:gd name="T27" fmla="*/ 29 h 138"/>
              <a:gd name="T28" fmla="*/ 121 w 161"/>
              <a:gd name="T29" fmla="*/ 0 h 138"/>
              <a:gd name="T30" fmla="*/ 86 w 161"/>
              <a:gd name="T31" fmla="*/ 0 h 138"/>
              <a:gd name="T32" fmla="*/ 88 w 161"/>
              <a:gd name="T33" fmla="*/ 2 h 138"/>
              <a:gd name="T34" fmla="*/ 88 w 161"/>
              <a:gd name="T35" fmla="*/ 4 h 138"/>
              <a:gd name="T36" fmla="*/ 89 w 161"/>
              <a:gd name="T37" fmla="*/ 5 h 138"/>
              <a:gd name="T38" fmla="*/ 89 w 161"/>
              <a:gd name="T39" fmla="*/ 7 h 138"/>
              <a:gd name="T40" fmla="*/ 80 w 161"/>
              <a:gd name="T41" fmla="*/ 16 h 138"/>
              <a:gd name="T42" fmla="*/ 71 w 161"/>
              <a:gd name="T43" fmla="*/ 7 h 138"/>
              <a:gd name="T44" fmla="*/ 71 w 161"/>
              <a:gd name="T45" fmla="*/ 6 h 138"/>
              <a:gd name="T46" fmla="*/ 72 w 161"/>
              <a:gd name="T47" fmla="*/ 4 h 138"/>
              <a:gd name="T48" fmla="*/ 73 w 161"/>
              <a:gd name="T49" fmla="*/ 2 h 138"/>
              <a:gd name="T50" fmla="*/ 75 w 161"/>
              <a:gd name="T51" fmla="*/ 0 h 138"/>
              <a:gd name="T52" fmla="*/ 41 w 161"/>
              <a:gd name="T53" fmla="*/ 0 h 138"/>
              <a:gd name="T54" fmla="*/ 22 w 161"/>
              <a:gd name="T55" fmla="*/ 32 h 138"/>
              <a:gd name="T56" fmla="*/ 15 w 161"/>
              <a:gd name="T57" fmla="*/ 24 h 138"/>
              <a:gd name="T58" fmla="*/ 15 w 161"/>
              <a:gd name="T59" fmla="*/ 24 h 138"/>
              <a:gd name="T60" fmla="*/ 12 w 161"/>
              <a:gd name="T61" fmla="*/ 21 h 138"/>
              <a:gd name="T62" fmla="*/ 2 w 161"/>
              <a:gd name="T63" fmla="*/ 23 h 138"/>
              <a:gd name="T64" fmla="*/ 5 w 161"/>
              <a:gd name="T65" fmla="*/ 33 h 138"/>
              <a:gd name="T66" fmla="*/ 9 w 161"/>
              <a:gd name="T67" fmla="*/ 34 h 138"/>
              <a:gd name="T68" fmla="*/ 9 w 161"/>
              <a:gd name="T69" fmla="*/ 34 h 138"/>
              <a:gd name="T70" fmla="*/ 20 w 161"/>
              <a:gd name="T71" fmla="*/ 36 h 138"/>
              <a:gd name="T72" fmla="*/ 1 w 161"/>
              <a:gd name="T73" fmla="*/ 69 h 138"/>
              <a:gd name="T74" fmla="*/ 41 w 161"/>
              <a:gd name="T75" fmla="*/ 138 h 138"/>
              <a:gd name="T76" fmla="*/ 121 w 161"/>
              <a:gd name="T77" fmla="*/ 138 h 138"/>
              <a:gd name="T78" fmla="*/ 161 w 161"/>
              <a:gd name="T79" fmla="*/ 69 h 138"/>
              <a:gd name="T80" fmla="*/ 143 w 161"/>
              <a:gd name="T81" fmla="*/ 37 h 1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161" h="138">
                <a:moveTo>
                  <a:pt x="143" y="37"/>
                </a:moveTo>
                <a:cubicBezTo>
                  <a:pt x="142" y="38"/>
                  <a:pt x="141" y="40"/>
                  <a:pt x="140" y="42"/>
                </a:cubicBezTo>
                <a:cubicBezTo>
                  <a:pt x="139" y="44"/>
                  <a:pt x="139" y="44"/>
                  <a:pt x="139" y="44"/>
                </a:cubicBezTo>
                <a:cubicBezTo>
                  <a:pt x="138" y="45"/>
                  <a:pt x="138" y="45"/>
                  <a:pt x="138" y="45"/>
                </a:cubicBezTo>
                <a:cubicBezTo>
                  <a:pt x="137" y="45"/>
                  <a:pt x="137" y="46"/>
                  <a:pt x="136" y="46"/>
                </a:cubicBezTo>
                <a:cubicBezTo>
                  <a:pt x="135" y="47"/>
                  <a:pt x="133" y="47"/>
                  <a:pt x="131" y="47"/>
                </a:cubicBezTo>
                <a:cubicBezTo>
                  <a:pt x="128" y="47"/>
                  <a:pt x="125" y="46"/>
                  <a:pt x="124" y="43"/>
                </a:cubicBezTo>
                <a:cubicBezTo>
                  <a:pt x="122" y="41"/>
                  <a:pt x="122" y="38"/>
                  <a:pt x="123" y="36"/>
                </a:cubicBezTo>
                <a:cubicBezTo>
                  <a:pt x="123" y="34"/>
                  <a:pt x="125" y="32"/>
                  <a:pt x="127" y="31"/>
                </a:cubicBezTo>
                <a:cubicBezTo>
                  <a:pt x="128" y="30"/>
                  <a:pt x="128" y="30"/>
                  <a:pt x="129" y="30"/>
                </a:cubicBezTo>
                <a:cubicBezTo>
                  <a:pt x="130" y="30"/>
                  <a:pt x="130" y="30"/>
                  <a:pt x="130" y="30"/>
                </a:cubicBezTo>
                <a:cubicBezTo>
                  <a:pt x="132" y="29"/>
                  <a:pt x="132" y="29"/>
                  <a:pt x="132" y="29"/>
                </a:cubicBezTo>
                <a:cubicBezTo>
                  <a:pt x="133" y="30"/>
                  <a:pt x="134" y="30"/>
                  <a:pt x="135" y="30"/>
                </a:cubicBezTo>
                <a:cubicBezTo>
                  <a:pt x="136" y="30"/>
                  <a:pt x="137" y="29"/>
                  <a:pt x="138" y="29"/>
                </a:cubicBezTo>
                <a:cubicBezTo>
                  <a:pt x="121" y="0"/>
                  <a:pt x="121" y="0"/>
                  <a:pt x="121" y="0"/>
                </a:cubicBezTo>
                <a:cubicBezTo>
                  <a:pt x="86" y="0"/>
                  <a:pt x="86" y="0"/>
                  <a:pt x="86" y="0"/>
                </a:cubicBezTo>
                <a:cubicBezTo>
                  <a:pt x="87" y="0"/>
                  <a:pt x="87" y="1"/>
                  <a:pt x="88" y="2"/>
                </a:cubicBezTo>
                <a:cubicBezTo>
                  <a:pt x="88" y="4"/>
                  <a:pt x="88" y="4"/>
                  <a:pt x="88" y="4"/>
                </a:cubicBezTo>
                <a:cubicBezTo>
                  <a:pt x="89" y="5"/>
                  <a:pt x="89" y="5"/>
                  <a:pt x="89" y="5"/>
                </a:cubicBezTo>
                <a:cubicBezTo>
                  <a:pt x="89" y="6"/>
                  <a:pt x="89" y="7"/>
                  <a:pt x="89" y="7"/>
                </a:cubicBezTo>
                <a:cubicBezTo>
                  <a:pt x="89" y="12"/>
                  <a:pt x="85" y="16"/>
                  <a:pt x="80" y="16"/>
                </a:cubicBezTo>
                <a:cubicBezTo>
                  <a:pt x="75" y="16"/>
                  <a:pt x="71" y="12"/>
                  <a:pt x="71" y="7"/>
                </a:cubicBezTo>
                <a:cubicBezTo>
                  <a:pt x="71" y="7"/>
                  <a:pt x="71" y="6"/>
                  <a:pt x="71" y="6"/>
                </a:cubicBezTo>
                <a:cubicBezTo>
                  <a:pt x="72" y="4"/>
                  <a:pt x="72" y="4"/>
                  <a:pt x="72" y="4"/>
                </a:cubicBezTo>
                <a:cubicBezTo>
                  <a:pt x="73" y="2"/>
                  <a:pt x="73" y="2"/>
                  <a:pt x="73" y="2"/>
                </a:cubicBezTo>
                <a:cubicBezTo>
                  <a:pt x="74" y="1"/>
                  <a:pt x="74" y="0"/>
                  <a:pt x="75" y="0"/>
                </a:cubicBezTo>
                <a:cubicBezTo>
                  <a:pt x="41" y="0"/>
                  <a:pt x="41" y="0"/>
                  <a:pt x="41" y="0"/>
                </a:cubicBezTo>
                <a:cubicBezTo>
                  <a:pt x="22" y="32"/>
                  <a:pt x="22" y="32"/>
                  <a:pt x="22" y="32"/>
                </a:cubicBezTo>
                <a:cubicBezTo>
                  <a:pt x="19" y="31"/>
                  <a:pt x="17" y="28"/>
                  <a:pt x="15" y="24"/>
                </a:cubicBezTo>
                <a:cubicBezTo>
                  <a:pt x="15" y="24"/>
                  <a:pt x="15" y="24"/>
                  <a:pt x="15" y="24"/>
                </a:cubicBezTo>
                <a:cubicBezTo>
                  <a:pt x="14" y="23"/>
                  <a:pt x="13" y="22"/>
                  <a:pt x="12" y="21"/>
                </a:cubicBezTo>
                <a:cubicBezTo>
                  <a:pt x="9" y="19"/>
                  <a:pt x="4" y="20"/>
                  <a:pt x="2" y="23"/>
                </a:cubicBezTo>
                <a:cubicBezTo>
                  <a:pt x="0" y="27"/>
                  <a:pt x="2" y="31"/>
                  <a:pt x="5" y="33"/>
                </a:cubicBezTo>
                <a:cubicBezTo>
                  <a:pt x="6" y="34"/>
                  <a:pt x="8" y="34"/>
                  <a:pt x="9" y="34"/>
                </a:cubicBezTo>
                <a:cubicBezTo>
                  <a:pt x="9" y="34"/>
                  <a:pt x="9" y="34"/>
                  <a:pt x="9" y="34"/>
                </a:cubicBezTo>
                <a:cubicBezTo>
                  <a:pt x="14" y="33"/>
                  <a:pt x="17" y="34"/>
                  <a:pt x="20" y="36"/>
                </a:cubicBezTo>
                <a:cubicBezTo>
                  <a:pt x="1" y="69"/>
                  <a:pt x="1" y="69"/>
                  <a:pt x="1" y="69"/>
                </a:cubicBezTo>
                <a:cubicBezTo>
                  <a:pt x="41" y="138"/>
                  <a:pt x="41" y="138"/>
                  <a:pt x="41" y="138"/>
                </a:cubicBezTo>
                <a:cubicBezTo>
                  <a:pt x="121" y="138"/>
                  <a:pt x="121" y="138"/>
                  <a:pt x="121" y="138"/>
                </a:cubicBezTo>
                <a:cubicBezTo>
                  <a:pt x="161" y="69"/>
                  <a:pt x="161" y="69"/>
                  <a:pt x="161" y="69"/>
                </a:cubicBezTo>
                <a:lnTo>
                  <a:pt x="143" y="37"/>
                </a:lnTo>
                <a:close/>
              </a:path>
            </a:pathLst>
          </a:custGeom>
          <a:gradFill flip="none" rotWithShape="1">
            <a:gsLst>
              <a:gs pos="100000">
                <a:srgbClr val="FFFFFF">
                  <a:lumMod val="100000"/>
                </a:srgbClr>
              </a:gs>
              <a:gs pos="0">
                <a:srgbClr val="D9D9DA"/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rgbClr val="FFFFFF"/>
                </a:gs>
                <a:gs pos="0">
                  <a:srgbClr val="D9D9DA"/>
                </a:gs>
              </a:gsLst>
              <a:lin ang="13500000" scaled="1"/>
              <a:tileRect/>
            </a:gra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chemeClr val="lt1"/>
              </a:solidFill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  <p:sp>
        <p:nvSpPr>
          <p:cNvPr id="6" name="Freeform 1907"/>
          <p:cNvSpPr>
            <a:spLocks/>
          </p:cNvSpPr>
          <p:nvPr/>
        </p:nvSpPr>
        <p:spPr bwMode="auto">
          <a:xfrm>
            <a:off x="5113778" y="3422014"/>
            <a:ext cx="2122518" cy="1819538"/>
          </a:xfrm>
          <a:custGeom>
            <a:avLst/>
            <a:gdLst>
              <a:gd name="T0" fmla="*/ 122 w 162"/>
              <a:gd name="T1" fmla="*/ 0 h 139"/>
              <a:gd name="T2" fmla="*/ 85 w 162"/>
              <a:gd name="T3" fmla="*/ 0 h 139"/>
              <a:gd name="T4" fmla="*/ 87 w 162"/>
              <a:gd name="T5" fmla="*/ 5 h 139"/>
              <a:gd name="T6" fmla="*/ 88 w 162"/>
              <a:gd name="T7" fmla="*/ 7 h 139"/>
              <a:gd name="T8" fmla="*/ 89 w 162"/>
              <a:gd name="T9" fmla="*/ 8 h 139"/>
              <a:gd name="T10" fmla="*/ 89 w 162"/>
              <a:gd name="T11" fmla="*/ 11 h 139"/>
              <a:gd name="T12" fmla="*/ 80 w 162"/>
              <a:gd name="T13" fmla="*/ 20 h 139"/>
              <a:gd name="T14" fmla="*/ 71 w 162"/>
              <a:gd name="T15" fmla="*/ 11 h 139"/>
              <a:gd name="T16" fmla="*/ 71 w 162"/>
              <a:gd name="T17" fmla="*/ 9 h 139"/>
              <a:gd name="T18" fmla="*/ 72 w 162"/>
              <a:gd name="T19" fmla="*/ 7 h 139"/>
              <a:gd name="T20" fmla="*/ 73 w 162"/>
              <a:gd name="T21" fmla="*/ 5 h 139"/>
              <a:gd name="T22" fmla="*/ 75 w 162"/>
              <a:gd name="T23" fmla="*/ 0 h 139"/>
              <a:gd name="T24" fmla="*/ 42 w 162"/>
              <a:gd name="T25" fmla="*/ 0 h 139"/>
              <a:gd name="T26" fmla="*/ 25 w 162"/>
              <a:gd name="T27" fmla="*/ 30 h 139"/>
              <a:gd name="T28" fmla="*/ 25 w 162"/>
              <a:gd name="T29" fmla="*/ 30 h 139"/>
              <a:gd name="T30" fmla="*/ 28 w 162"/>
              <a:gd name="T31" fmla="*/ 30 h 139"/>
              <a:gd name="T32" fmla="*/ 30 w 162"/>
              <a:gd name="T33" fmla="*/ 30 h 139"/>
              <a:gd name="T34" fmla="*/ 31 w 162"/>
              <a:gd name="T35" fmla="*/ 31 h 139"/>
              <a:gd name="T36" fmla="*/ 33 w 162"/>
              <a:gd name="T37" fmla="*/ 31 h 139"/>
              <a:gd name="T38" fmla="*/ 37 w 162"/>
              <a:gd name="T39" fmla="*/ 37 h 139"/>
              <a:gd name="T40" fmla="*/ 36 w 162"/>
              <a:gd name="T41" fmla="*/ 44 h 139"/>
              <a:gd name="T42" fmla="*/ 29 w 162"/>
              <a:gd name="T43" fmla="*/ 48 h 139"/>
              <a:gd name="T44" fmla="*/ 24 w 162"/>
              <a:gd name="T45" fmla="*/ 47 h 139"/>
              <a:gd name="T46" fmla="*/ 23 w 162"/>
              <a:gd name="T47" fmla="*/ 46 h 139"/>
              <a:gd name="T48" fmla="*/ 22 w 162"/>
              <a:gd name="T49" fmla="*/ 45 h 139"/>
              <a:gd name="T50" fmla="*/ 20 w 162"/>
              <a:gd name="T51" fmla="*/ 43 h 139"/>
              <a:gd name="T52" fmla="*/ 19 w 162"/>
              <a:gd name="T53" fmla="*/ 40 h 139"/>
              <a:gd name="T54" fmla="*/ 2 w 162"/>
              <a:gd name="T55" fmla="*/ 70 h 139"/>
              <a:gd name="T56" fmla="*/ 21 w 162"/>
              <a:gd name="T57" fmla="*/ 102 h 139"/>
              <a:gd name="T58" fmla="*/ 9 w 162"/>
              <a:gd name="T59" fmla="*/ 104 h 139"/>
              <a:gd name="T60" fmla="*/ 9 w 162"/>
              <a:gd name="T61" fmla="*/ 104 h 139"/>
              <a:gd name="T62" fmla="*/ 5 w 162"/>
              <a:gd name="T63" fmla="*/ 105 h 139"/>
              <a:gd name="T64" fmla="*/ 2 w 162"/>
              <a:gd name="T65" fmla="*/ 115 h 139"/>
              <a:gd name="T66" fmla="*/ 12 w 162"/>
              <a:gd name="T67" fmla="*/ 117 h 139"/>
              <a:gd name="T68" fmla="*/ 15 w 162"/>
              <a:gd name="T69" fmla="*/ 114 h 139"/>
              <a:gd name="T70" fmla="*/ 15 w 162"/>
              <a:gd name="T71" fmla="*/ 114 h 139"/>
              <a:gd name="T72" fmla="*/ 23 w 162"/>
              <a:gd name="T73" fmla="*/ 106 h 139"/>
              <a:gd name="T74" fmla="*/ 42 w 162"/>
              <a:gd name="T75" fmla="*/ 139 h 139"/>
              <a:gd name="T76" fmla="*/ 122 w 162"/>
              <a:gd name="T77" fmla="*/ 139 h 139"/>
              <a:gd name="T78" fmla="*/ 162 w 162"/>
              <a:gd name="T79" fmla="*/ 70 h 139"/>
              <a:gd name="T80" fmla="*/ 122 w 162"/>
              <a:gd name="T81" fmla="*/ 0 h 1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162" h="139">
                <a:moveTo>
                  <a:pt x="122" y="0"/>
                </a:moveTo>
                <a:cubicBezTo>
                  <a:pt x="85" y="0"/>
                  <a:pt x="85" y="0"/>
                  <a:pt x="85" y="0"/>
                </a:cubicBezTo>
                <a:cubicBezTo>
                  <a:pt x="85" y="2"/>
                  <a:pt x="86" y="4"/>
                  <a:pt x="87" y="5"/>
                </a:cubicBezTo>
                <a:cubicBezTo>
                  <a:pt x="88" y="7"/>
                  <a:pt x="88" y="7"/>
                  <a:pt x="88" y="7"/>
                </a:cubicBezTo>
                <a:cubicBezTo>
                  <a:pt x="89" y="8"/>
                  <a:pt x="89" y="8"/>
                  <a:pt x="89" y="8"/>
                </a:cubicBezTo>
                <a:cubicBezTo>
                  <a:pt x="89" y="9"/>
                  <a:pt x="89" y="10"/>
                  <a:pt x="89" y="11"/>
                </a:cubicBezTo>
                <a:cubicBezTo>
                  <a:pt x="89" y="16"/>
                  <a:pt x="85" y="20"/>
                  <a:pt x="80" y="20"/>
                </a:cubicBezTo>
                <a:cubicBezTo>
                  <a:pt x="75" y="20"/>
                  <a:pt x="71" y="16"/>
                  <a:pt x="71" y="11"/>
                </a:cubicBezTo>
                <a:cubicBezTo>
                  <a:pt x="71" y="10"/>
                  <a:pt x="71" y="9"/>
                  <a:pt x="71" y="9"/>
                </a:cubicBezTo>
                <a:cubicBezTo>
                  <a:pt x="72" y="7"/>
                  <a:pt x="72" y="7"/>
                  <a:pt x="72" y="7"/>
                </a:cubicBezTo>
                <a:cubicBezTo>
                  <a:pt x="73" y="5"/>
                  <a:pt x="73" y="5"/>
                  <a:pt x="73" y="5"/>
                </a:cubicBezTo>
                <a:cubicBezTo>
                  <a:pt x="74" y="4"/>
                  <a:pt x="75" y="2"/>
                  <a:pt x="75" y="0"/>
                </a:cubicBezTo>
                <a:cubicBezTo>
                  <a:pt x="42" y="0"/>
                  <a:pt x="42" y="0"/>
                  <a:pt x="42" y="0"/>
                </a:cubicBezTo>
                <a:cubicBezTo>
                  <a:pt x="25" y="30"/>
                  <a:pt x="25" y="30"/>
                  <a:pt x="25" y="30"/>
                </a:cubicBezTo>
                <a:cubicBezTo>
                  <a:pt x="25" y="30"/>
                  <a:pt x="25" y="30"/>
                  <a:pt x="25" y="30"/>
                </a:cubicBezTo>
                <a:cubicBezTo>
                  <a:pt x="26" y="30"/>
                  <a:pt x="27" y="30"/>
                  <a:pt x="28" y="30"/>
                </a:cubicBezTo>
                <a:cubicBezTo>
                  <a:pt x="30" y="30"/>
                  <a:pt x="30" y="30"/>
                  <a:pt x="30" y="30"/>
                </a:cubicBezTo>
                <a:cubicBezTo>
                  <a:pt x="31" y="31"/>
                  <a:pt x="31" y="31"/>
                  <a:pt x="31" y="31"/>
                </a:cubicBezTo>
                <a:cubicBezTo>
                  <a:pt x="32" y="31"/>
                  <a:pt x="32" y="31"/>
                  <a:pt x="33" y="31"/>
                </a:cubicBezTo>
                <a:cubicBezTo>
                  <a:pt x="35" y="33"/>
                  <a:pt x="37" y="35"/>
                  <a:pt x="37" y="37"/>
                </a:cubicBezTo>
                <a:cubicBezTo>
                  <a:pt x="38" y="39"/>
                  <a:pt x="38" y="42"/>
                  <a:pt x="36" y="44"/>
                </a:cubicBezTo>
                <a:cubicBezTo>
                  <a:pt x="35" y="46"/>
                  <a:pt x="32" y="48"/>
                  <a:pt x="29" y="48"/>
                </a:cubicBezTo>
                <a:cubicBezTo>
                  <a:pt x="27" y="48"/>
                  <a:pt x="25" y="48"/>
                  <a:pt x="24" y="47"/>
                </a:cubicBezTo>
                <a:cubicBezTo>
                  <a:pt x="24" y="47"/>
                  <a:pt x="23" y="46"/>
                  <a:pt x="23" y="46"/>
                </a:cubicBezTo>
                <a:cubicBezTo>
                  <a:pt x="22" y="45"/>
                  <a:pt x="22" y="45"/>
                  <a:pt x="22" y="45"/>
                </a:cubicBezTo>
                <a:cubicBezTo>
                  <a:pt x="20" y="43"/>
                  <a:pt x="20" y="43"/>
                  <a:pt x="20" y="43"/>
                </a:cubicBezTo>
                <a:cubicBezTo>
                  <a:pt x="20" y="42"/>
                  <a:pt x="19" y="41"/>
                  <a:pt x="19" y="40"/>
                </a:cubicBezTo>
                <a:cubicBezTo>
                  <a:pt x="2" y="70"/>
                  <a:pt x="2" y="70"/>
                  <a:pt x="2" y="70"/>
                </a:cubicBezTo>
                <a:cubicBezTo>
                  <a:pt x="21" y="102"/>
                  <a:pt x="21" y="102"/>
                  <a:pt x="21" y="102"/>
                </a:cubicBezTo>
                <a:cubicBezTo>
                  <a:pt x="18" y="104"/>
                  <a:pt x="14" y="105"/>
                  <a:pt x="9" y="104"/>
                </a:cubicBezTo>
                <a:cubicBezTo>
                  <a:pt x="9" y="104"/>
                  <a:pt x="9" y="104"/>
                  <a:pt x="9" y="104"/>
                </a:cubicBezTo>
                <a:cubicBezTo>
                  <a:pt x="8" y="104"/>
                  <a:pt x="6" y="105"/>
                  <a:pt x="5" y="105"/>
                </a:cubicBezTo>
                <a:cubicBezTo>
                  <a:pt x="2" y="107"/>
                  <a:pt x="0" y="112"/>
                  <a:pt x="2" y="115"/>
                </a:cubicBezTo>
                <a:cubicBezTo>
                  <a:pt x="4" y="118"/>
                  <a:pt x="9" y="119"/>
                  <a:pt x="12" y="117"/>
                </a:cubicBezTo>
                <a:cubicBezTo>
                  <a:pt x="13" y="117"/>
                  <a:pt x="14" y="116"/>
                  <a:pt x="15" y="114"/>
                </a:cubicBezTo>
                <a:cubicBezTo>
                  <a:pt x="15" y="114"/>
                  <a:pt x="15" y="114"/>
                  <a:pt x="15" y="114"/>
                </a:cubicBezTo>
                <a:cubicBezTo>
                  <a:pt x="17" y="110"/>
                  <a:pt x="19" y="107"/>
                  <a:pt x="23" y="106"/>
                </a:cubicBezTo>
                <a:cubicBezTo>
                  <a:pt x="42" y="139"/>
                  <a:pt x="42" y="139"/>
                  <a:pt x="42" y="139"/>
                </a:cubicBezTo>
                <a:cubicBezTo>
                  <a:pt x="122" y="139"/>
                  <a:pt x="122" y="139"/>
                  <a:pt x="122" y="139"/>
                </a:cubicBezTo>
                <a:cubicBezTo>
                  <a:pt x="162" y="70"/>
                  <a:pt x="162" y="70"/>
                  <a:pt x="162" y="70"/>
                </a:cubicBezTo>
                <a:lnTo>
                  <a:pt x="122" y="0"/>
                </a:lnTo>
                <a:close/>
              </a:path>
            </a:pathLst>
          </a:custGeom>
          <a:gradFill flip="none" rotWithShape="1">
            <a:gsLst>
              <a:gs pos="100000">
                <a:srgbClr val="1D8DE5"/>
              </a:gs>
              <a:gs pos="0">
                <a:srgbClr val="007BB5"/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rgbClr val="1D8DE5"/>
                </a:gs>
                <a:gs pos="0">
                  <a:srgbClr val="007BB5"/>
                </a:gs>
              </a:gsLst>
              <a:lin ang="13500000" scaled="1"/>
              <a:tileRect/>
            </a:gra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  <p:sp>
        <p:nvSpPr>
          <p:cNvPr id="7" name="Freeform 1917"/>
          <p:cNvSpPr>
            <a:spLocks/>
          </p:cNvSpPr>
          <p:nvPr/>
        </p:nvSpPr>
        <p:spPr bwMode="auto">
          <a:xfrm>
            <a:off x="5127023" y="1549496"/>
            <a:ext cx="2096028" cy="2107617"/>
          </a:xfrm>
          <a:custGeom>
            <a:avLst/>
            <a:gdLst>
              <a:gd name="T0" fmla="*/ 120 w 160"/>
              <a:gd name="T1" fmla="*/ 139 h 161"/>
              <a:gd name="T2" fmla="*/ 160 w 160"/>
              <a:gd name="T3" fmla="*/ 69 h 161"/>
              <a:gd name="T4" fmla="*/ 120 w 160"/>
              <a:gd name="T5" fmla="*/ 0 h 161"/>
              <a:gd name="T6" fmla="*/ 40 w 160"/>
              <a:gd name="T7" fmla="*/ 0 h 161"/>
              <a:gd name="T8" fmla="*/ 22 w 160"/>
              <a:gd name="T9" fmla="*/ 32 h 161"/>
              <a:gd name="T10" fmla="*/ 24 w 160"/>
              <a:gd name="T11" fmla="*/ 32 h 161"/>
              <a:gd name="T12" fmla="*/ 27 w 160"/>
              <a:gd name="T13" fmla="*/ 32 h 161"/>
              <a:gd name="T14" fmla="*/ 28 w 160"/>
              <a:gd name="T15" fmla="*/ 32 h 161"/>
              <a:gd name="T16" fmla="*/ 30 w 160"/>
              <a:gd name="T17" fmla="*/ 33 h 161"/>
              <a:gd name="T18" fmla="*/ 32 w 160"/>
              <a:gd name="T19" fmla="*/ 33 h 161"/>
              <a:gd name="T20" fmla="*/ 36 w 160"/>
              <a:gd name="T21" fmla="*/ 39 h 161"/>
              <a:gd name="T22" fmla="*/ 35 w 160"/>
              <a:gd name="T23" fmla="*/ 46 h 161"/>
              <a:gd name="T24" fmla="*/ 28 w 160"/>
              <a:gd name="T25" fmla="*/ 50 h 161"/>
              <a:gd name="T26" fmla="*/ 23 w 160"/>
              <a:gd name="T27" fmla="*/ 49 h 161"/>
              <a:gd name="T28" fmla="*/ 21 w 160"/>
              <a:gd name="T29" fmla="*/ 48 h 161"/>
              <a:gd name="T30" fmla="*/ 20 w 160"/>
              <a:gd name="T31" fmla="*/ 47 h 161"/>
              <a:gd name="T32" fmla="*/ 19 w 160"/>
              <a:gd name="T33" fmla="*/ 45 h 161"/>
              <a:gd name="T34" fmla="*/ 17 w 160"/>
              <a:gd name="T35" fmla="*/ 41 h 161"/>
              <a:gd name="T36" fmla="*/ 0 w 160"/>
              <a:gd name="T37" fmla="*/ 69 h 161"/>
              <a:gd name="T38" fmla="*/ 18 w 160"/>
              <a:gd name="T39" fmla="*/ 99 h 161"/>
              <a:gd name="T40" fmla="*/ 19 w 160"/>
              <a:gd name="T41" fmla="*/ 96 h 161"/>
              <a:gd name="T42" fmla="*/ 21 w 160"/>
              <a:gd name="T43" fmla="*/ 94 h 161"/>
              <a:gd name="T44" fmla="*/ 21 w 160"/>
              <a:gd name="T45" fmla="*/ 93 h 161"/>
              <a:gd name="T46" fmla="*/ 23 w 160"/>
              <a:gd name="T47" fmla="*/ 92 h 161"/>
              <a:gd name="T48" fmla="*/ 28 w 160"/>
              <a:gd name="T49" fmla="*/ 91 h 161"/>
              <a:gd name="T50" fmla="*/ 35 w 160"/>
              <a:gd name="T51" fmla="*/ 95 h 161"/>
              <a:gd name="T52" fmla="*/ 36 w 160"/>
              <a:gd name="T53" fmla="*/ 102 h 161"/>
              <a:gd name="T54" fmla="*/ 32 w 160"/>
              <a:gd name="T55" fmla="*/ 108 h 161"/>
              <a:gd name="T56" fmla="*/ 31 w 160"/>
              <a:gd name="T57" fmla="*/ 108 h 161"/>
              <a:gd name="T58" fmla="*/ 29 w 160"/>
              <a:gd name="T59" fmla="*/ 109 h 161"/>
              <a:gd name="T60" fmla="*/ 27 w 160"/>
              <a:gd name="T61" fmla="*/ 109 h 161"/>
              <a:gd name="T62" fmla="*/ 24 w 160"/>
              <a:gd name="T63" fmla="*/ 109 h 161"/>
              <a:gd name="T64" fmla="*/ 23 w 160"/>
              <a:gd name="T65" fmla="*/ 109 h 161"/>
              <a:gd name="T66" fmla="*/ 40 w 160"/>
              <a:gd name="T67" fmla="*/ 139 h 161"/>
              <a:gd name="T68" fmla="*/ 77 w 160"/>
              <a:gd name="T69" fmla="*/ 139 h 161"/>
              <a:gd name="T70" fmla="*/ 73 w 160"/>
              <a:gd name="T71" fmla="*/ 150 h 161"/>
              <a:gd name="T72" fmla="*/ 73 w 160"/>
              <a:gd name="T73" fmla="*/ 150 h 161"/>
              <a:gd name="T74" fmla="*/ 72 w 160"/>
              <a:gd name="T75" fmla="*/ 154 h 161"/>
              <a:gd name="T76" fmla="*/ 79 w 160"/>
              <a:gd name="T77" fmla="*/ 161 h 161"/>
              <a:gd name="T78" fmla="*/ 86 w 160"/>
              <a:gd name="T79" fmla="*/ 154 h 161"/>
              <a:gd name="T80" fmla="*/ 85 w 160"/>
              <a:gd name="T81" fmla="*/ 150 h 161"/>
              <a:gd name="T82" fmla="*/ 85 w 160"/>
              <a:gd name="T83" fmla="*/ 150 h 161"/>
              <a:gd name="T84" fmla="*/ 81 w 160"/>
              <a:gd name="T85" fmla="*/ 139 h 161"/>
              <a:gd name="T86" fmla="*/ 120 w 160"/>
              <a:gd name="T87" fmla="*/ 139 h 1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160" h="161">
                <a:moveTo>
                  <a:pt x="120" y="139"/>
                </a:moveTo>
                <a:cubicBezTo>
                  <a:pt x="160" y="69"/>
                  <a:pt x="160" y="69"/>
                  <a:pt x="160" y="69"/>
                </a:cubicBezTo>
                <a:cubicBezTo>
                  <a:pt x="120" y="0"/>
                  <a:pt x="120" y="0"/>
                  <a:pt x="120" y="0"/>
                </a:cubicBezTo>
                <a:cubicBezTo>
                  <a:pt x="40" y="0"/>
                  <a:pt x="40" y="0"/>
                  <a:pt x="40" y="0"/>
                </a:cubicBezTo>
                <a:cubicBezTo>
                  <a:pt x="22" y="32"/>
                  <a:pt x="22" y="32"/>
                  <a:pt x="22" y="32"/>
                </a:cubicBezTo>
                <a:cubicBezTo>
                  <a:pt x="22" y="32"/>
                  <a:pt x="23" y="32"/>
                  <a:pt x="24" y="32"/>
                </a:cubicBezTo>
                <a:cubicBezTo>
                  <a:pt x="25" y="32"/>
                  <a:pt x="26" y="32"/>
                  <a:pt x="27" y="32"/>
                </a:cubicBezTo>
                <a:cubicBezTo>
                  <a:pt x="28" y="32"/>
                  <a:pt x="28" y="32"/>
                  <a:pt x="28" y="32"/>
                </a:cubicBezTo>
                <a:cubicBezTo>
                  <a:pt x="30" y="33"/>
                  <a:pt x="30" y="33"/>
                  <a:pt x="30" y="33"/>
                </a:cubicBezTo>
                <a:cubicBezTo>
                  <a:pt x="31" y="33"/>
                  <a:pt x="31" y="33"/>
                  <a:pt x="32" y="33"/>
                </a:cubicBezTo>
                <a:cubicBezTo>
                  <a:pt x="34" y="35"/>
                  <a:pt x="36" y="37"/>
                  <a:pt x="36" y="39"/>
                </a:cubicBezTo>
                <a:cubicBezTo>
                  <a:pt x="37" y="41"/>
                  <a:pt x="37" y="44"/>
                  <a:pt x="35" y="46"/>
                </a:cubicBezTo>
                <a:cubicBezTo>
                  <a:pt x="34" y="49"/>
                  <a:pt x="31" y="50"/>
                  <a:pt x="28" y="50"/>
                </a:cubicBezTo>
                <a:cubicBezTo>
                  <a:pt x="26" y="50"/>
                  <a:pt x="24" y="50"/>
                  <a:pt x="23" y="49"/>
                </a:cubicBezTo>
                <a:cubicBezTo>
                  <a:pt x="22" y="49"/>
                  <a:pt x="22" y="48"/>
                  <a:pt x="21" y="48"/>
                </a:cubicBezTo>
                <a:cubicBezTo>
                  <a:pt x="20" y="47"/>
                  <a:pt x="20" y="47"/>
                  <a:pt x="20" y="47"/>
                </a:cubicBezTo>
                <a:cubicBezTo>
                  <a:pt x="19" y="45"/>
                  <a:pt x="19" y="45"/>
                  <a:pt x="19" y="45"/>
                </a:cubicBezTo>
                <a:cubicBezTo>
                  <a:pt x="19" y="43"/>
                  <a:pt x="18" y="42"/>
                  <a:pt x="17" y="41"/>
                </a:cubicBezTo>
                <a:cubicBezTo>
                  <a:pt x="0" y="69"/>
                  <a:pt x="0" y="69"/>
                  <a:pt x="0" y="69"/>
                </a:cubicBezTo>
                <a:cubicBezTo>
                  <a:pt x="18" y="99"/>
                  <a:pt x="18" y="99"/>
                  <a:pt x="18" y="99"/>
                </a:cubicBezTo>
                <a:cubicBezTo>
                  <a:pt x="18" y="99"/>
                  <a:pt x="19" y="97"/>
                  <a:pt x="19" y="96"/>
                </a:cubicBezTo>
                <a:cubicBezTo>
                  <a:pt x="21" y="94"/>
                  <a:pt x="21" y="94"/>
                  <a:pt x="21" y="94"/>
                </a:cubicBezTo>
                <a:cubicBezTo>
                  <a:pt x="21" y="93"/>
                  <a:pt x="21" y="93"/>
                  <a:pt x="21" y="93"/>
                </a:cubicBezTo>
                <a:cubicBezTo>
                  <a:pt x="22" y="93"/>
                  <a:pt x="23" y="92"/>
                  <a:pt x="23" y="92"/>
                </a:cubicBezTo>
                <a:cubicBezTo>
                  <a:pt x="24" y="91"/>
                  <a:pt x="26" y="91"/>
                  <a:pt x="28" y="91"/>
                </a:cubicBezTo>
                <a:cubicBezTo>
                  <a:pt x="31" y="91"/>
                  <a:pt x="34" y="93"/>
                  <a:pt x="35" y="95"/>
                </a:cubicBezTo>
                <a:cubicBezTo>
                  <a:pt x="37" y="97"/>
                  <a:pt x="37" y="100"/>
                  <a:pt x="36" y="102"/>
                </a:cubicBezTo>
                <a:cubicBezTo>
                  <a:pt x="36" y="105"/>
                  <a:pt x="34" y="107"/>
                  <a:pt x="32" y="108"/>
                </a:cubicBezTo>
                <a:cubicBezTo>
                  <a:pt x="32" y="108"/>
                  <a:pt x="31" y="108"/>
                  <a:pt x="31" y="108"/>
                </a:cubicBezTo>
                <a:cubicBezTo>
                  <a:pt x="29" y="109"/>
                  <a:pt x="29" y="109"/>
                  <a:pt x="29" y="109"/>
                </a:cubicBezTo>
                <a:cubicBezTo>
                  <a:pt x="27" y="109"/>
                  <a:pt x="27" y="109"/>
                  <a:pt x="27" y="109"/>
                </a:cubicBezTo>
                <a:cubicBezTo>
                  <a:pt x="26" y="109"/>
                  <a:pt x="25" y="109"/>
                  <a:pt x="24" y="109"/>
                </a:cubicBezTo>
                <a:cubicBezTo>
                  <a:pt x="24" y="109"/>
                  <a:pt x="23" y="109"/>
                  <a:pt x="23" y="109"/>
                </a:cubicBezTo>
                <a:cubicBezTo>
                  <a:pt x="40" y="139"/>
                  <a:pt x="40" y="139"/>
                  <a:pt x="40" y="139"/>
                </a:cubicBezTo>
                <a:cubicBezTo>
                  <a:pt x="77" y="139"/>
                  <a:pt x="77" y="139"/>
                  <a:pt x="77" y="139"/>
                </a:cubicBezTo>
                <a:cubicBezTo>
                  <a:pt x="77" y="142"/>
                  <a:pt x="76" y="146"/>
                  <a:pt x="73" y="150"/>
                </a:cubicBezTo>
                <a:cubicBezTo>
                  <a:pt x="73" y="150"/>
                  <a:pt x="73" y="150"/>
                  <a:pt x="73" y="150"/>
                </a:cubicBezTo>
                <a:cubicBezTo>
                  <a:pt x="73" y="151"/>
                  <a:pt x="72" y="152"/>
                  <a:pt x="72" y="154"/>
                </a:cubicBezTo>
                <a:cubicBezTo>
                  <a:pt x="72" y="157"/>
                  <a:pt x="75" y="161"/>
                  <a:pt x="79" y="161"/>
                </a:cubicBezTo>
                <a:cubicBezTo>
                  <a:pt x="83" y="161"/>
                  <a:pt x="86" y="157"/>
                  <a:pt x="86" y="154"/>
                </a:cubicBezTo>
                <a:cubicBezTo>
                  <a:pt x="86" y="152"/>
                  <a:pt x="86" y="151"/>
                  <a:pt x="85" y="150"/>
                </a:cubicBezTo>
                <a:cubicBezTo>
                  <a:pt x="85" y="150"/>
                  <a:pt x="85" y="150"/>
                  <a:pt x="85" y="150"/>
                </a:cubicBezTo>
                <a:cubicBezTo>
                  <a:pt x="82" y="146"/>
                  <a:pt x="81" y="142"/>
                  <a:pt x="81" y="139"/>
                </a:cubicBezTo>
                <a:lnTo>
                  <a:pt x="120" y="139"/>
                </a:lnTo>
                <a:close/>
              </a:path>
            </a:pathLst>
          </a:custGeom>
          <a:gradFill flip="none" rotWithShape="1">
            <a:gsLst>
              <a:gs pos="100000">
                <a:srgbClr val="FFFFFF">
                  <a:lumMod val="100000"/>
                </a:srgbClr>
              </a:gs>
              <a:gs pos="0">
                <a:srgbClr val="D9D9DA"/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rgbClr val="FFFFFF"/>
                </a:gs>
                <a:gs pos="0">
                  <a:srgbClr val="D9D9DA"/>
                </a:gs>
              </a:gsLst>
              <a:lin ang="13500000" scaled="1"/>
              <a:tileRect/>
            </a:gra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chemeClr val="lt1"/>
              </a:solidFill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  <p:sp>
        <p:nvSpPr>
          <p:cNvPr id="8" name="Freeform 1927"/>
          <p:cNvSpPr>
            <a:spLocks/>
          </p:cNvSpPr>
          <p:nvPr/>
        </p:nvSpPr>
        <p:spPr bwMode="auto">
          <a:xfrm>
            <a:off x="3502850" y="620688"/>
            <a:ext cx="2096028" cy="1819538"/>
          </a:xfrm>
          <a:custGeom>
            <a:avLst/>
            <a:gdLst>
              <a:gd name="T0" fmla="*/ 155 w 160"/>
              <a:gd name="T1" fmla="*/ 106 h 139"/>
              <a:gd name="T2" fmla="*/ 151 w 160"/>
              <a:gd name="T3" fmla="*/ 105 h 139"/>
              <a:gd name="T4" fmla="*/ 151 w 160"/>
              <a:gd name="T5" fmla="*/ 105 h 139"/>
              <a:gd name="T6" fmla="*/ 140 w 160"/>
              <a:gd name="T7" fmla="*/ 103 h 139"/>
              <a:gd name="T8" fmla="*/ 160 w 160"/>
              <a:gd name="T9" fmla="*/ 69 h 139"/>
              <a:gd name="T10" fmla="*/ 120 w 160"/>
              <a:gd name="T11" fmla="*/ 0 h 139"/>
              <a:gd name="T12" fmla="*/ 40 w 160"/>
              <a:gd name="T13" fmla="*/ 0 h 139"/>
              <a:gd name="T14" fmla="*/ 0 w 160"/>
              <a:gd name="T15" fmla="*/ 69 h 139"/>
              <a:gd name="T16" fmla="*/ 18 w 160"/>
              <a:gd name="T17" fmla="*/ 101 h 139"/>
              <a:gd name="T18" fmla="*/ 20 w 160"/>
              <a:gd name="T19" fmla="*/ 97 h 139"/>
              <a:gd name="T20" fmla="*/ 21 w 160"/>
              <a:gd name="T21" fmla="*/ 95 h 139"/>
              <a:gd name="T22" fmla="*/ 22 w 160"/>
              <a:gd name="T23" fmla="*/ 94 h 139"/>
              <a:gd name="T24" fmla="*/ 24 w 160"/>
              <a:gd name="T25" fmla="*/ 93 h 139"/>
              <a:gd name="T26" fmla="*/ 29 w 160"/>
              <a:gd name="T27" fmla="*/ 92 h 139"/>
              <a:gd name="T28" fmla="*/ 36 w 160"/>
              <a:gd name="T29" fmla="*/ 96 h 139"/>
              <a:gd name="T30" fmla="*/ 37 w 160"/>
              <a:gd name="T31" fmla="*/ 103 h 139"/>
              <a:gd name="T32" fmla="*/ 33 w 160"/>
              <a:gd name="T33" fmla="*/ 108 h 139"/>
              <a:gd name="T34" fmla="*/ 31 w 160"/>
              <a:gd name="T35" fmla="*/ 109 h 139"/>
              <a:gd name="T36" fmla="*/ 30 w 160"/>
              <a:gd name="T37" fmla="*/ 110 h 139"/>
              <a:gd name="T38" fmla="*/ 28 w 160"/>
              <a:gd name="T39" fmla="*/ 110 h 139"/>
              <a:gd name="T40" fmla="*/ 25 w 160"/>
              <a:gd name="T41" fmla="*/ 109 h 139"/>
              <a:gd name="T42" fmla="*/ 23 w 160"/>
              <a:gd name="T43" fmla="*/ 110 h 139"/>
              <a:gd name="T44" fmla="*/ 40 w 160"/>
              <a:gd name="T45" fmla="*/ 139 h 139"/>
              <a:gd name="T46" fmla="*/ 75 w 160"/>
              <a:gd name="T47" fmla="*/ 139 h 139"/>
              <a:gd name="T48" fmla="*/ 73 w 160"/>
              <a:gd name="T49" fmla="*/ 135 h 139"/>
              <a:gd name="T50" fmla="*/ 72 w 160"/>
              <a:gd name="T51" fmla="*/ 133 h 139"/>
              <a:gd name="T52" fmla="*/ 72 w 160"/>
              <a:gd name="T53" fmla="*/ 132 h 139"/>
              <a:gd name="T54" fmla="*/ 71 w 160"/>
              <a:gd name="T55" fmla="*/ 130 h 139"/>
              <a:gd name="T56" fmla="*/ 80 w 160"/>
              <a:gd name="T57" fmla="*/ 121 h 139"/>
              <a:gd name="T58" fmla="*/ 89 w 160"/>
              <a:gd name="T59" fmla="*/ 130 h 139"/>
              <a:gd name="T60" fmla="*/ 89 w 160"/>
              <a:gd name="T61" fmla="*/ 132 h 139"/>
              <a:gd name="T62" fmla="*/ 89 w 160"/>
              <a:gd name="T63" fmla="*/ 133 h 139"/>
              <a:gd name="T64" fmla="*/ 88 w 160"/>
              <a:gd name="T65" fmla="*/ 135 h 139"/>
              <a:gd name="T66" fmla="*/ 85 w 160"/>
              <a:gd name="T67" fmla="*/ 139 h 139"/>
              <a:gd name="T68" fmla="*/ 120 w 160"/>
              <a:gd name="T69" fmla="*/ 139 h 139"/>
              <a:gd name="T70" fmla="*/ 138 w 160"/>
              <a:gd name="T71" fmla="*/ 107 h 139"/>
              <a:gd name="T72" fmla="*/ 145 w 160"/>
              <a:gd name="T73" fmla="*/ 115 h 139"/>
              <a:gd name="T74" fmla="*/ 145 w 160"/>
              <a:gd name="T75" fmla="*/ 115 h 139"/>
              <a:gd name="T76" fmla="*/ 148 w 160"/>
              <a:gd name="T77" fmla="*/ 118 h 139"/>
              <a:gd name="T78" fmla="*/ 158 w 160"/>
              <a:gd name="T79" fmla="*/ 116 h 139"/>
              <a:gd name="T80" fmla="*/ 155 w 160"/>
              <a:gd name="T81" fmla="*/ 106 h 1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160" h="139">
                <a:moveTo>
                  <a:pt x="155" y="106"/>
                </a:moveTo>
                <a:cubicBezTo>
                  <a:pt x="154" y="105"/>
                  <a:pt x="152" y="105"/>
                  <a:pt x="151" y="105"/>
                </a:cubicBezTo>
                <a:cubicBezTo>
                  <a:pt x="151" y="105"/>
                  <a:pt x="151" y="105"/>
                  <a:pt x="151" y="105"/>
                </a:cubicBezTo>
                <a:cubicBezTo>
                  <a:pt x="146" y="106"/>
                  <a:pt x="143" y="105"/>
                  <a:pt x="140" y="103"/>
                </a:cubicBezTo>
                <a:cubicBezTo>
                  <a:pt x="160" y="69"/>
                  <a:pt x="160" y="69"/>
                  <a:pt x="160" y="69"/>
                </a:cubicBezTo>
                <a:cubicBezTo>
                  <a:pt x="120" y="0"/>
                  <a:pt x="120" y="0"/>
                  <a:pt x="120" y="0"/>
                </a:cubicBezTo>
                <a:cubicBezTo>
                  <a:pt x="40" y="0"/>
                  <a:pt x="40" y="0"/>
                  <a:pt x="40" y="0"/>
                </a:cubicBezTo>
                <a:cubicBezTo>
                  <a:pt x="0" y="69"/>
                  <a:pt x="0" y="69"/>
                  <a:pt x="0" y="69"/>
                </a:cubicBezTo>
                <a:cubicBezTo>
                  <a:pt x="18" y="101"/>
                  <a:pt x="18" y="101"/>
                  <a:pt x="18" y="101"/>
                </a:cubicBezTo>
                <a:cubicBezTo>
                  <a:pt x="19" y="100"/>
                  <a:pt x="20" y="99"/>
                  <a:pt x="20" y="97"/>
                </a:cubicBezTo>
                <a:cubicBezTo>
                  <a:pt x="21" y="95"/>
                  <a:pt x="21" y="95"/>
                  <a:pt x="21" y="95"/>
                </a:cubicBezTo>
                <a:cubicBezTo>
                  <a:pt x="22" y="94"/>
                  <a:pt x="22" y="94"/>
                  <a:pt x="22" y="94"/>
                </a:cubicBezTo>
                <a:cubicBezTo>
                  <a:pt x="23" y="94"/>
                  <a:pt x="23" y="93"/>
                  <a:pt x="24" y="93"/>
                </a:cubicBezTo>
                <a:cubicBezTo>
                  <a:pt x="25" y="92"/>
                  <a:pt x="27" y="92"/>
                  <a:pt x="29" y="92"/>
                </a:cubicBezTo>
                <a:cubicBezTo>
                  <a:pt x="32" y="92"/>
                  <a:pt x="35" y="93"/>
                  <a:pt x="36" y="96"/>
                </a:cubicBezTo>
                <a:cubicBezTo>
                  <a:pt x="38" y="98"/>
                  <a:pt x="38" y="101"/>
                  <a:pt x="37" y="103"/>
                </a:cubicBezTo>
                <a:cubicBezTo>
                  <a:pt x="37" y="105"/>
                  <a:pt x="35" y="107"/>
                  <a:pt x="33" y="108"/>
                </a:cubicBezTo>
                <a:cubicBezTo>
                  <a:pt x="32" y="109"/>
                  <a:pt x="32" y="109"/>
                  <a:pt x="31" y="109"/>
                </a:cubicBezTo>
                <a:cubicBezTo>
                  <a:pt x="30" y="110"/>
                  <a:pt x="30" y="110"/>
                  <a:pt x="30" y="110"/>
                </a:cubicBezTo>
                <a:cubicBezTo>
                  <a:pt x="28" y="110"/>
                  <a:pt x="28" y="110"/>
                  <a:pt x="28" y="110"/>
                </a:cubicBezTo>
                <a:cubicBezTo>
                  <a:pt x="27" y="109"/>
                  <a:pt x="26" y="109"/>
                  <a:pt x="25" y="109"/>
                </a:cubicBezTo>
                <a:cubicBezTo>
                  <a:pt x="24" y="109"/>
                  <a:pt x="24" y="109"/>
                  <a:pt x="23" y="110"/>
                </a:cubicBezTo>
                <a:cubicBezTo>
                  <a:pt x="40" y="139"/>
                  <a:pt x="40" y="139"/>
                  <a:pt x="40" y="139"/>
                </a:cubicBezTo>
                <a:cubicBezTo>
                  <a:pt x="75" y="139"/>
                  <a:pt x="75" y="139"/>
                  <a:pt x="75" y="139"/>
                </a:cubicBezTo>
                <a:cubicBezTo>
                  <a:pt x="75" y="137"/>
                  <a:pt x="74" y="136"/>
                  <a:pt x="73" y="135"/>
                </a:cubicBezTo>
                <a:cubicBezTo>
                  <a:pt x="72" y="133"/>
                  <a:pt x="72" y="133"/>
                  <a:pt x="72" y="133"/>
                </a:cubicBezTo>
                <a:cubicBezTo>
                  <a:pt x="72" y="132"/>
                  <a:pt x="72" y="132"/>
                  <a:pt x="72" y="132"/>
                </a:cubicBezTo>
                <a:cubicBezTo>
                  <a:pt x="71" y="131"/>
                  <a:pt x="71" y="130"/>
                  <a:pt x="71" y="130"/>
                </a:cubicBezTo>
                <a:cubicBezTo>
                  <a:pt x="71" y="125"/>
                  <a:pt x="75" y="121"/>
                  <a:pt x="80" y="121"/>
                </a:cubicBezTo>
                <a:cubicBezTo>
                  <a:pt x="85" y="121"/>
                  <a:pt x="89" y="125"/>
                  <a:pt x="89" y="130"/>
                </a:cubicBezTo>
                <a:cubicBezTo>
                  <a:pt x="89" y="130"/>
                  <a:pt x="89" y="131"/>
                  <a:pt x="89" y="132"/>
                </a:cubicBezTo>
                <a:cubicBezTo>
                  <a:pt x="89" y="133"/>
                  <a:pt x="89" y="133"/>
                  <a:pt x="89" y="133"/>
                </a:cubicBezTo>
                <a:cubicBezTo>
                  <a:pt x="88" y="135"/>
                  <a:pt x="88" y="135"/>
                  <a:pt x="88" y="135"/>
                </a:cubicBezTo>
                <a:cubicBezTo>
                  <a:pt x="87" y="136"/>
                  <a:pt x="86" y="137"/>
                  <a:pt x="85" y="139"/>
                </a:cubicBezTo>
                <a:cubicBezTo>
                  <a:pt x="120" y="139"/>
                  <a:pt x="120" y="139"/>
                  <a:pt x="120" y="139"/>
                </a:cubicBezTo>
                <a:cubicBezTo>
                  <a:pt x="138" y="107"/>
                  <a:pt x="138" y="107"/>
                  <a:pt x="138" y="107"/>
                </a:cubicBezTo>
                <a:cubicBezTo>
                  <a:pt x="141" y="108"/>
                  <a:pt x="143" y="111"/>
                  <a:pt x="145" y="115"/>
                </a:cubicBezTo>
                <a:cubicBezTo>
                  <a:pt x="145" y="115"/>
                  <a:pt x="145" y="115"/>
                  <a:pt x="145" y="115"/>
                </a:cubicBezTo>
                <a:cubicBezTo>
                  <a:pt x="146" y="116"/>
                  <a:pt x="147" y="118"/>
                  <a:pt x="148" y="118"/>
                </a:cubicBezTo>
                <a:cubicBezTo>
                  <a:pt x="151" y="120"/>
                  <a:pt x="156" y="119"/>
                  <a:pt x="158" y="116"/>
                </a:cubicBezTo>
                <a:cubicBezTo>
                  <a:pt x="160" y="112"/>
                  <a:pt x="158" y="108"/>
                  <a:pt x="155" y="106"/>
                </a:cubicBezTo>
                <a:close/>
              </a:path>
            </a:pathLst>
          </a:custGeom>
          <a:gradFill flip="none" rotWithShape="1">
            <a:gsLst>
              <a:gs pos="100000">
                <a:srgbClr val="1D8DE5"/>
              </a:gs>
              <a:gs pos="0">
                <a:srgbClr val="007BB5"/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rgbClr val="1D8DE5"/>
                </a:gs>
                <a:gs pos="0">
                  <a:srgbClr val="007BB5"/>
                </a:gs>
              </a:gsLst>
              <a:lin ang="13500000" scaled="1"/>
              <a:tileRect/>
            </a:gra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chemeClr val="lt1"/>
              </a:solidFill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670286" y="1824606"/>
            <a:ext cx="5164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1D8DE5"/>
                </a:solidFill>
                <a:latin typeface="Impact" panose="020B0806030902050204" pitchFamily="34" charset="0"/>
                <a:ea typeface="微软雅黑" panose="020B0503020204020204" pitchFamily="34" charset="-122"/>
                <a:cs typeface="Arial Unicode MS" panose="020B0604020202020204" pitchFamily="34" charset="-122"/>
              </a:rPr>
              <a:t>06</a:t>
            </a:r>
            <a:endParaRPr lang="zh-CN" altLang="en-US" sz="2400" dirty="0">
              <a:solidFill>
                <a:srgbClr val="1D8DE5"/>
              </a:solidFill>
              <a:latin typeface="Impact" panose="020B0806030902050204" pitchFamily="34" charset="0"/>
              <a:ea typeface="微软雅黑" panose="020B0503020204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170365" y="2277181"/>
            <a:ext cx="1582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1D8DE5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CPU</a:t>
            </a:r>
            <a:r>
              <a:rPr lang="zh-CN" altLang="en-US" b="1" dirty="0">
                <a:solidFill>
                  <a:srgbClr val="1D8DE5"/>
                </a:solidFill>
                <a:latin typeface="Impact" panose="020B0806030902050204" pitchFamily="34" charset="0"/>
                <a:ea typeface="微软雅黑" panose="020B0503020204020204" pitchFamily="34" charset="-122"/>
                <a:cs typeface="Arial Unicode MS" panose="020B0604020202020204" pitchFamily="34" charset="-122"/>
              </a:rPr>
              <a:t>控制指令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5938516" y="1824606"/>
            <a:ext cx="5036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1D8DE5"/>
                </a:solidFill>
                <a:latin typeface="Impact" panose="020B0806030902050204" pitchFamily="34" charset="0"/>
                <a:ea typeface="微软雅黑" panose="020B0503020204020204" pitchFamily="34" charset="-122"/>
                <a:cs typeface="Arial Unicode MS" panose="020B0604020202020204" pitchFamily="34" charset="-122"/>
              </a:rPr>
              <a:t>02</a:t>
            </a:r>
            <a:endParaRPr lang="zh-CN" altLang="en-US" sz="2400" dirty="0">
              <a:solidFill>
                <a:srgbClr val="1D8DE5"/>
              </a:solidFill>
              <a:latin typeface="Impact" panose="020B0806030902050204" pitchFamily="34" charset="0"/>
              <a:ea typeface="微软雅黑" panose="020B0503020204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417540" y="2253906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1D8DE5"/>
                </a:solidFill>
                <a:latin typeface="Impact" panose="020B0806030902050204" pitchFamily="34" charset="0"/>
                <a:ea typeface="微软雅黑" panose="020B0503020204020204" pitchFamily="34" charset="-122"/>
                <a:cs typeface="Arial Unicode MS" panose="020B0604020202020204" pitchFamily="34" charset="-122"/>
              </a:rPr>
              <a:t>算术运算指令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4332106" y="4658788"/>
            <a:ext cx="5036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rgbClr val="1D8DE5"/>
                </a:solidFill>
                <a:latin typeface="Impact" panose="020B0806030902050204" pitchFamily="34" charset="0"/>
                <a:ea typeface="微软雅黑" panose="020B0503020204020204" pitchFamily="34" charset="-122"/>
                <a:cs typeface="Arial Unicode MS" panose="020B0604020202020204" pitchFamily="34" charset="-122"/>
              </a:rPr>
              <a:t>04</a:t>
            </a:r>
            <a:endParaRPr lang="zh-CN" altLang="en-US" sz="2400" b="1" dirty="0">
              <a:solidFill>
                <a:srgbClr val="1D8DE5"/>
              </a:solidFill>
              <a:latin typeface="Impact" panose="020B0806030902050204" pitchFamily="34" charset="0"/>
              <a:ea typeface="微软雅黑" panose="020B0503020204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3881450" y="5098238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1D8DE5"/>
                </a:solidFill>
                <a:latin typeface="Impact" panose="020B0806030902050204" pitchFamily="34" charset="0"/>
                <a:ea typeface="微软雅黑" panose="020B0503020204020204" pitchFamily="34" charset="-122"/>
                <a:cs typeface="Arial Unicode MS" panose="020B0604020202020204" pitchFamily="34" charset="-122"/>
              </a:rPr>
              <a:t>串操作指令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2704166" y="3743876"/>
            <a:ext cx="5148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chemeClr val="bg1"/>
                </a:solidFill>
                <a:latin typeface="Impact" panose="020B0806030902050204" pitchFamily="34" charset="0"/>
                <a:ea typeface="微软雅黑" panose="020B0503020204020204" pitchFamily="34" charset="-122"/>
                <a:cs typeface="Arial Unicode MS" panose="020B0604020202020204" pitchFamily="34" charset="-122"/>
              </a:rPr>
              <a:t>05</a:t>
            </a:r>
            <a:endParaRPr lang="zh-CN" altLang="en-US" sz="2400" dirty="0">
              <a:solidFill>
                <a:schemeClr val="bg1"/>
              </a:solidFill>
              <a:latin typeface="Impact" panose="020B0806030902050204" pitchFamily="34" charset="0"/>
              <a:ea typeface="微软雅黑" panose="020B0503020204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2155934" y="4148514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  <a:latin typeface="Impact" panose="020B0806030902050204" pitchFamily="34" charset="0"/>
                <a:ea typeface="微软雅黑" panose="020B0503020204020204" pitchFamily="34" charset="-122"/>
                <a:cs typeface="Arial Unicode MS" panose="020B0604020202020204" pitchFamily="34" charset="-122"/>
              </a:rPr>
              <a:t>程序控制指令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5896343" y="3743876"/>
            <a:ext cx="5132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chemeClr val="bg1"/>
                </a:solidFill>
                <a:latin typeface="Impact" panose="020B0806030902050204" pitchFamily="34" charset="0"/>
                <a:ea typeface="微软雅黑" panose="020B0503020204020204" pitchFamily="34" charset="-122"/>
                <a:cs typeface="Arial Unicode MS" panose="020B0604020202020204" pitchFamily="34" charset="-122"/>
              </a:rPr>
              <a:t>03</a:t>
            </a:r>
            <a:endParaRPr lang="zh-CN" altLang="en-US" sz="2400" dirty="0">
              <a:solidFill>
                <a:schemeClr val="bg1"/>
              </a:solidFill>
              <a:latin typeface="Impact" panose="020B0806030902050204" pitchFamily="34" charset="0"/>
              <a:ea typeface="微软雅黑" panose="020B0503020204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5254939" y="4183339"/>
            <a:ext cx="18517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  <a:latin typeface="Impact" panose="020B0806030902050204" pitchFamily="34" charset="0"/>
                <a:ea typeface="微软雅黑" panose="020B0503020204020204" pitchFamily="34" charset="-122"/>
                <a:cs typeface="Arial Unicode MS" panose="020B0604020202020204" pitchFamily="34" charset="-122"/>
              </a:rPr>
              <a:t>逻辑和移位指令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4292805" y="926980"/>
            <a:ext cx="4667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chemeClr val="bg1"/>
                </a:solidFill>
                <a:latin typeface="Impact" panose="020B0806030902050204" pitchFamily="34" charset="0"/>
                <a:ea typeface="微软雅黑" panose="020B0503020204020204" pitchFamily="34" charset="-122"/>
                <a:cs typeface="Arial Unicode MS" panose="020B0604020202020204" pitchFamily="34" charset="-122"/>
              </a:rPr>
              <a:t>01</a:t>
            </a:r>
            <a:endParaRPr lang="zh-CN" altLang="en-US" sz="2400" dirty="0">
              <a:solidFill>
                <a:schemeClr val="bg1"/>
              </a:solidFill>
              <a:latin typeface="Impact" panose="020B0806030902050204" pitchFamily="34" charset="0"/>
              <a:ea typeface="微软雅黑" panose="020B0503020204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3811129" y="1366167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Impact" panose="020B0806030902050204" pitchFamily="34" charset="0"/>
                <a:ea typeface="微软雅黑" panose="020B0503020204020204" pitchFamily="34" charset="-122"/>
                <a:cs typeface="Arial Unicode MS" panose="020B0604020202020204" pitchFamily="34" charset="-122"/>
              </a:rPr>
              <a:t>数据传送指令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3794297" y="3193746"/>
            <a:ext cx="16033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FD7A2A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8086</a:t>
            </a:r>
            <a:r>
              <a:rPr lang="zh-CN" altLang="en-US" b="1" dirty="0">
                <a:solidFill>
                  <a:srgbClr val="FD7A2A"/>
                </a:solidFill>
                <a:latin typeface="Impact" panose="020B0806030902050204" pitchFamily="34" charset="0"/>
                <a:ea typeface="微软雅黑" panose="020B0503020204020204" pitchFamily="34" charset="-122"/>
                <a:cs typeface="Arial Unicode MS" panose="020B0604020202020204" pitchFamily="34" charset="-122"/>
              </a:rPr>
              <a:t>指令系统</a:t>
            </a:r>
          </a:p>
        </p:txBody>
      </p:sp>
    </p:spTree>
    <p:extLst>
      <p:ext uri="{BB962C8B-B14F-4D97-AF65-F5344CB8AC3E}">
        <p14:creationId xmlns:p14="http://schemas.microsoft.com/office/powerpoint/2010/main" val="14759878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8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1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6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9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2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0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3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8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1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4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9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2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5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0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3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6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椭圆 8"/>
          <p:cNvSpPr/>
          <p:nvPr/>
        </p:nvSpPr>
        <p:spPr>
          <a:xfrm>
            <a:off x="8461631" y="6348095"/>
            <a:ext cx="360000" cy="360000"/>
          </a:xfrm>
          <a:prstGeom prst="ellipse">
            <a:avLst/>
          </a:prstGeom>
          <a:solidFill>
            <a:schemeClr val="bg1">
              <a:lumMod val="75000"/>
              <a:alpha val="3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Box 15"/>
          <p:cNvSpPr txBox="1"/>
          <p:nvPr/>
        </p:nvSpPr>
        <p:spPr>
          <a:xfrm>
            <a:off x="8316416" y="6358818"/>
            <a:ext cx="6504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2EEF1883-7A0E-4F66-9932-E581691AD397}" type="slidenum">
              <a:rPr lang="zh-CN" altLang="en-US" sz="160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pPr algn="ctr"/>
              <a:t>5</a:t>
            </a:fld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 </a:t>
            </a:r>
            <a:endParaRPr lang="zh-CN" altLang="en-US" sz="1600" b="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2" name="TextBox 15"/>
          <p:cNvSpPr txBox="1">
            <a:spLocks noChangeArrowheads="1"/>
          </p:cNvSpPr>
          <p:nvPr/>
        </p:nvSpPr>
        <p:spPr bwMode="auto">
          <a:xfrm>
            <a:off x="2966244" y="4005064"/>
            <a:ext cx="3405956" cy="24499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67730" tIns="33865" rIns="67730" bIns="33865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9pPr>
          </a:lstStyle>
          <a:p>
            <a:pPr defTabSz="762000">
              <a:lnSpc>
                <a:spcPct val="150000"/>
              </a:lnSpc>
              <a:spcAft>
                <a:spcPts val="600"/>
              </a:spcAft>
              <a:buFont typeface="Wingdings" pitchFamily="2" charset="2"/>
              <a:buChar char="u"/>
            </a:pPr>
            <a:r>
              <a:rPr lang="zh-CN" altLang="en-US" sz="24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 通用数据传送指令</a:t>
            </a:r>
            <a:endParaRPr lang="en-US" altLang="zh-CN" sz="2400" b="1" dirty="0">
              <a:solidFill>
                <a:srgbClr val="FF3255"/>
              </a:solidFill>
              <a:latin typeface="微软雅黑" pitchFamily="34" charset="-122"/>
              <a:ea typeface="微软雅黑" pitchFamily="34" charset="-122"/>
            </a:endParaRPr>
          </a:p>
          <a:p>
            <a:pPr defTabSz="762000">
              <a:lnSpc>
                <a:spcPct val="150000"/>
              </a:lnSpc>
              <a:spcAft>
                <a:spcPts val="600"/>
              </a:spcAft>
              <a:buFont typeface="Wingdings" pitchFamily="2" charset="2"/>
              <a:buChar char="u"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目标地址传送指令</a:t>
            </a:r>
            <a:endParaRPr lang="en-US" altLang="zh-CN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defTabSz="762000">
              <a:lnSpc>
                <a:spcPct val="150000"/>
              </a:lnSpc>
              <a:spcAft>
                <a:spcPts val="600"/>
              </a:spcAft>
              <a:buFont typeface="Wingdings" pitchFamily="2" charset="2"/>
              <a:buChar char="u"/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标志寄存器传送指令</a:t>
            </a:r>
            <a:endParaRPr lang="en-US" altLang="zh-CN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defTabSz="762000">
              <a:lnSpc>
                <a:spcPct val="150000"/>
              </a:lnSpc>
              <a:spcAft>
                <a:spcPts val="600"/>
              </a:spcAft>
              <a:buFont typeface="Wingdings" pitchFamily="2" charset="2"/>
              <a:buChar char="u"/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I/O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数据传送指令</a:t>
            </a:r>
            <a:endParaRPr lang="en-US" altLang="zh-CN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" name="TextBox 2"/>
          <p:cNvSpPr txBox="1"/>
          <p:nvPr/>
        </p:nvSpPr>
        <p:spPr>
          <a:xfrm>
            <a:off x="1620044" y="1848644"/>
            <a:ext cx="1107996" cy="369332"/>
          </a:xfrm>
          <a:prstGeom prst="rect">
            <a:avLst/>
          </a:prstGeom>
          <a:solidFill>
            <a:sysClr val="window" lastClr="FFFFFF">
              <a:lumMod val="85000"/>
            </a:sysClr>
          </a:solidFill>
        </p:spPr>
        <p:txBody>
          <a:bodyPr wrap="non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9pPr>
          </a:lstStyle>
          <a:p>
            <a:pPr>
              <a:defRPr/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第一小节</a:t>
            </a:r>
          </a:p>
        </p:txBody>
      </p:sp>
      <p:cxnSp>
        <p:nvCxnSpPr>
          <p:cNvPr id="14" name="直接连接符 13"/>
          <p:cNvCxnSpPr/>
          <p:nvPr/>
        </p:nvCxnSpPr>
        <p:spPr>
          <a:xfrm>
            <a:off x="1404144" y="2207419"/>
            <a:ext cx="6264275" cy="1587"/>
          </a:xfrm>
          <a:prstGeom prst="line">
            <a:avLst/>
          </a:prstGeom>
          <a:noFill/>
          <a:ln w="9525" cap="flat" cmpd="sng" algn="ctr">
            <a:solidFill>
              <a:sysClr val="window" lastClr="FFFFFF">
                <a:lumMod val="85000"/>
              </a:sysClr>
            </a:solidFill>
            <a:prstDash val="solid"/>
          </a:ln>
          <a:effectLst/>
        </p:spPr>
      </p:cxnSp>
      <p:cxnSp>
        <p:nvCxnSpPr>
          <p:cNvPr id="15" name="直接连接符 14"/>
          <p:cNvCxnSpPr/>
          <p:nvPr/>
        </p:nvCxnSpPr>
        <p:spPr>
          <a:xfrm>
            <a:off x="1475582" y="3936206"/>
            <a:ext cx="6264275" cy="1588"/>
          </a:xfrm>
          <a:prstGeom prst="line">
            <a:avLst/>
          </a:prstGeom>
          <a:noFill/>
          <a:ln w="9525" cap="flat" cmpd="sng" algn="ctr">
            <a:solidFill>
              <a:sysClr val="window" lastClr="FFFFFF">
                <a:lumMod val="85000"/>
              </a:sysClr>
            </a:solidFill>
            <a:prstDash val="solid"/>
          </a:ln>
          <a:effectLst/>
        </p:spPr>
      </p:cxnSp>
      <p:sp>
        <p:nvSpPr>
          <p:cNvPr id="16" name="TextBox 10"/>
          <p:cNvSpPr txBox="1">
            <a:spLocks noChangeArrowheads="1"/>
          </p:cNvSpPr>
          <p:nvPr/>
        </p:nvSpPr>
        <p:spPr bwMode="auto">
          <a:xfrm>
            <a:off x="1835697" y="2514157"/>
            <a:ext cx="6985934" cy="11621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>
              <a:lnSpc>
                <a:spcPct val="114000"/>
              </a:lnSpc>
            </a:pPr>
            <a:r>
              <a:rPr lang="zh-CN" altLang="en-US" sz="6600" b="1" dirty="0">
                <a:solidFill>
                  <a:srgbClr val="00C4F0"/>
                </a:solidFill>
                <a:latin typeface="微软雅黑" pitchFamily="34" charset="-122"/>
                <a:ea typeface="微软雅黑" pitchFamily="34" charset="-122"/>
              </a:rPr>
              <a:t>数据传送指令</a:t>
            </a:r>
            <a:endParaRPr lang="zh-CN" altLang="en-US" sz="80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02824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426054" y="2256724"/>
            <a:ext cx="2001929" cy="3116491"/>
          </a:xfrm>
          <a:prstGeom prst="rect">
            <a:avLst/>
          </a:prstGeom>
          <a:solidFill>
            <a:schemeClr val="accent1">
              <a:lumMod val="60000"/>
              <a:lumOff val="4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265814" y="2256724"/>
            <a:ext cx="2001929" cy="3116492"/>
          </a:xfrm>
          <a:prstGeom prst="rect">
            <a:avLst/>
          </a:prstGeom>
          <a:solidFill>
            <a:schemeClr val="accent1">
              <a:lumMod val="60000"/>
              <a:lumOff val="4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4658302" y="2256724"/>
            <a:ext cx="2001929" cy="3116491"/>
          </a:xfrm>
          <a:prstGeom prst="rect">
            <a:avLst/>
          </a:prstGeom>
          <a:solidFill>
            <a:schemeClr val="accent1">
              <a:lumMod val="60000"/>
              <a:lumOff val="4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6890551" y="2256724"/>
            <a:ext cx="2001929" cy="3116491"/>
          </a:xfrm>
          <a:prstGeom prst="rect">
            <a:avLst/>
          </a:prstGeom>
          <a:solidFill>
            <a:schemeClr val="accent1">
              <a:lumMod val="60000"/>
              <a:lumOff val="4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265813" y="1159444"/>
            <a:ext cx="8626665" cy="787790"/>
          </a:xfrm>
          <a:prstGeom prst="rect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数据传送指令分类</a:t>
            </a:r>
          </a:p>
        </p:txBody>
      </p:sp>
      <p:sp>
        <p:nvSpPr>
          <p:cNvPr id="7" name="任意多边形 6"/>
          <p:cNvSpPr/>
          <p:nvPr/>
        </p:nvSpPr>
        <p:spPr>
          <a:xfrm>
            <a:off x="265815" y="2889487"/>
            <a:ext cx="2001929" cy="2483728"/>
          </a:xfrm>
          <a:custGeom>
            <a:avLst/>
            <a:gdLst>
              <a:gd name="connsiteX0" fmla="*/ 1175287 w 2356338"/>
              <a:gd name="connsiteY0" fmla="*/ 0 h 2856024"/>
              <a:gd name="connsiteX1" fmla="*/ 1474827 w 2356338"/>
              <a:gd name="connsiteY1" fmla="*/ 140960 h 2856024"/>
              <a:gd name="connsiteX2" fmla="*/ 2356338 w 2356338"/>
              <a:gd name="connsiteY2" fmla="*/ 140960 h 2856024"/>
              <a:gd name="connsiteX3" fmla="*/ 2356338 w 2356338"/>
              <a:gd name="connsiteY3" fmla="*/ 2856024 h 2856024"/>
              <a:gd name="connsiteX4" fmla="*/ 0 w 2356338"/>
              <a:gd name="connsiteY4" fmla="*/ 2856024 h 2856024"/>
              <a:gd name="connsiteX5" fmla="*/ 0 w 2356338"/>
              <a:gd name="connsiteY5" fmla="*/ 140960 h 2856024"/>
              <a:gd name="connsiteX6" fmla="*/ 875747 w 2356338"/>
              <a:gd name="connsiteY6" fmla="*/ 140960 h 2856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56338" h="2856024">
                <a:moveTo>
                  <a:pt x="1175287" y="0"/>
                </a:moveTo>
                <a:lnTo>
                  <a:pt x="1474827" y="140960"/>
                </a:lnTo>
                <a:lnTo>
                  <a:pt x="2356338" y="140960"/>
                </a:lnTo>
                <a:lnTo>
                  <a:pt x="2356338" y="2856024"/>
                </a:lnTo>
                <a:lnTo>
                  <a:pt x="0" y="2856024"/>
                </a:lnTo>
                <a:lnTo>
                  <a:pt x="0" y="140960"/>
                </a:lnTo>
                <a:lnTo>
                  <a:pt x="875747" y="140960"/>
                </a:lnTo>
                <a:close/>
              </a:path>
            </a:pathLst>
          </a:cu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Ins="144000" rtlCol="0" anchor="ctr"/>
          <a:lstStyle/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en-US" altLang="zh-CN" sz="20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MOV</a:t>
            </a: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en-US" altLang="zh-CN" sz="20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PUSH</a:t>
            </a: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en-US" altLang="zh-CN" sz="20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POP</a:t>
            </a: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en-US" altLang="zh-CN" sz="20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XCHG</a:t>
            </a: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en-US" altLang="zh-CN" sz="20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XLAT</a:t>
            </a:r>
            <a:endParaRPr lang="zh-CN" altLang="en-US" sz="200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任意多边形 7"/>
          <p:cNvSpPr/>
          <p:nvPr/>
        </p:nvSpPr>
        <p:spPr>
          <a:xfrm>
            <a:off x="2426054" y="2889487"/>
            <a:ext cx="2001929" cy="2483728"/>
          </a:xfrm>
          <a:custGeom>
            <a:avLst/>
            <a:gdLst>
              <a:gd name="connsiteX0" fmla="*/ 1175287 w 2356338"/>
              <a:gd name="connsiteY0" fmla="*/ 0 h 2856024"/>
              <a:gd name="connsiteX1" fmla="*/ 1474827 w 2356338"/>
              <a:gd name="connsiteY1" fmla="*/ 140960 h 2856024"/>
              <a:gd name="connsiteX2" fmla="*/ 2356338 w 2356338"/>
              <a:gd name="connsiteY2" fmla="*/ 140960 h 2856024"/>
              <a:gd name="connsiteX3" fmla="*/ 2356338 w 2356338"/>
              <a:gd name="connsiteY3" fmla="*/ 2856024 h 2856024"/>
              <a:gd name="connsiteX4" fmla="*/ 0 w 2356338"/>
              <a:gd name="connsiteY4" fmla="*/ 2856024 h 2856024"/>
              <a:gd name="connsiteX5" fmla="*/ 0 w 2356338"/>
              <a:gd name="connsiteY5" fmla="*/ 140960 h 2856024"/>
              <a:gd name="connsiteX6" fmla="*/ 875747 w 2356338"/>
              <a:gd name="connsiteY6" fmla="*/ 140960 h 2856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56338" h="2856024">
                <a:moveTo>
                  <a:pt x="1175287" y="0"/>
                </a:moveTo>
                <a:lnTo>
                  <a:pt x="1474827" y="140960"/>
                </a:lnTo>
                <a:lnTo>
                  <a:pt x="2356338" y="140960"/>
                </a:lnTo>
                <a:lnTo>
                  <a:pt x="2356338" y="2856024"/>
                </a:lnTo>
                <a:lnTo>
                  <a:pt x="0" y="2856024"/>
                </a:lnTo>
                <a:lnTo>
                  <a:pt x="0" y="140960"/>
                </a:lnTo>
                <a:lnTo>
                  <a:pt x="875747" y="140960"/>
                </a:lnTo>
                <a:close/>
              </a:path>
            </a:pathLst>
          </a:cu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Ins="144000" rtlCol="0" anchor="ctr"/>
          <a:lstStyle/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en-US" altLang="zh-CN" sz="20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LEA</a:t>
            </a: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LDS</a:t>
            </a: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LES</a:t>
            </a: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n"/>
            </a:pP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n"/>
            </a:pP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任意多边形 8"/>
          <p:cNvSpPr/>
          <p:nvPr/>
        </p:nvSpPr>
        <p:spPr>
          <a:xfrm>
            <a:off x="4658302" y="2889486"/>
            <a:ext cx="2001929" cy="2483729"/>
          </a:xfrm>
          <a:custGeom>
            <a:avLst/>
            <a:gdLst>
              <a:gd name="connsiteX0" fmla="*/ 1175287 w 2356338"/>
              <a:gd name="connsiteY0" fmla="*/ 0 h 2856024"/>
              <a:gd name="connsiteX1" fmla="*/ 1474827 w 2356338"/>
              <a:gd name="connsiteY1" fmla="*/ 140960 h 2856024"/>
              <a:gd name="connsiteX2" fmla="*/ 2356338 w 2356338"/>
              <a:gd name="connsiteY2" fmla="*/ 140960 h 2856024"/>
              <a:gd name="connsiteX3" fmla="*/ 2356338 w 2356338"/>
              <a:gd name="connsiteY3" fmla="*/ 2856024 h 2856024"/>
              <a:gd name="connsiteX4" fmla="*/ 0 w 2356338"/>
              <a:gd name="connsiteY4" fmla="*/ 2856024 h 2856024"/>
              <a:gd name="connsiteX5" fmla="*/ 0 w 2356338"/>
              <a:gd name="connsiteY5" fmla="*/ 140960 h 2856024"/>
              <a:gd name="connsiteX6" fmla="*/ 875747 w 2356338"/>
              <a:gd name="connsiteY6" fmla="*/ 140960 h 2856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56338" h="2856024">
                <a:moveTo>
                  <a:pt x="1175287" y="0"/>
                </a:moveTo>
                <a:lnTo>
                  <a:pt x="1474827" y="140960"/>
                </a:lnTo>
                <a:lnTo>
                  <a:pt x="2356338" y="140960"/>
                </a:lnTo>
                <a:lnTo>
                  <a:pt x="2356338" y="2856024"/>
                </a:lnTo>
                <a:lnTo>
                  <a:pt x="0" y="2856024"/>
                </a:lnTo>
                <a:lnTo>
                  <a:pt x="0" y="140960"/>
                </a:lnTo>
                <a:lnTo>
                  <a:pt x="875747" y="140960"/>
                </a:lnTo>
                <a:close/>
              </a:path>
            </a:pathLst>
          </a:cu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Ins="144000" rtlCol="0" anchor="ctr"/>
          <a:lstStyle/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LAHF</a:t>
            </a: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SAHF</a:t>
            </a: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PUSHF</a:t>
            </a: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POPF</a:t>
            </a: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n"/>
            </a:pP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任意多边形 9"/>
          <p:cNvSpPr/>
          <p:nvPr/>
        </p:nvSpPr>
        <p:spPr>
          <a:xfrm>
            <a:off x="6890550" y="2889486"/>
            <a:ext cx="2001929" cy="2483729"/>
          </a:xfrm>
          <a:custGeom>
            <a:avLst/>
            <a:gdLst>
              <a:gd name="connsiteX0" fmla="*/ 1175287 w 2356338"/>
              <a:gd name="connsiteY0" fmla="*/ 0 h 2856024"/>
              <a:gd name="connsiteX1" fmla="*/ 1474827 w 2356338"/>
              <a:gd name="connsiteY1" fmla="*/ 140960 h 2856024"/>
              <a:gd name="connsiteX2" fmla="*/ 2356338 w 2356338"/>
              <a:gd name="connsiteY2" fmla="*/ 140960 h 2856024"/>
              <a:gd name="connsiteX3" fmla="*/ 2356338 w 2356338"/>
              <a:gd name="connsiteY3" fmla="*/ 2856024 h 2856024"/>
              <a:gd name="connsiteX4" fmla="*/ 0 w 2356338"/>
              <a:gd name="connsiteY4" fmla="*/ 2856024 h 2856024"/>
              <a:gd name="connsiteX5" fmla="*/ 0 w 2356338"/>
              <a:gd name="connsiteY5" fmla="*/ 140960 h 2856024"/>
              <a:gd name="connsiteX6" fmla="*/ 875747 w 2356338"/>
              <a:gd name="connsiteY6" fmla="*/ 140960 h 2856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56338" h="2856024">
                <a:moveTo>
                  <a:pt x="1175287" y="0"/>
                </a:moveTo>
                <a:lnTo>
                  <a:pt x="1474827" y="140960"/>
                </a:lnTo>
                <a:lnTo>
                  <a:pt x="2356338" y="140960"/>
                </a:lnTo>
                <a:lnTo>
                  <a:pt x="2356338" y="2856024"/>
                </a:lnTo>
                <a:lnTo>
                  <a:pt x="0" y="2856024"/>
                </a:lnTo>
                <a:lnTo>
                  <a:pt x="0" y="140960"/>
                </a:lnTo>
                <a:lnTo>
                  <a:pt x="875747" y="140960"/>
                </a:lnTo>
                <a:close/>
              </a:path>
            </a:pathLst>
          </a:cu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44000" tIns="45720" rIns="144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en-US" altLang="zh-CN" sz="20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</a:t>
            </a: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en-US" altLang="zh-CN" sz="20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OUT</a:t>
            </a: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n"/>
            </a:pP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n"/>
            </a:pP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n"/>
            </a:pP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65814" y="2403179"/>
            <a:ext cx="20019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rgbClr val="3E3D4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通用数据传送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2426053" y="2403179"/>
            <a:ext cx="20019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rgbClr val="3E3D4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目标地址传送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4658301" y="2403179"/>
            <a:ext cx="20019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rgbClr val="3E3D4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标志寄存器传送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6890549" y="2403179"/>
            <a:ext cx="20019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rgbClr val="3E3D4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I/O</a:t>
            </a:r>
            <a:r>
              <a:rPr lang="zh-CN" altLang="en-US" sz="2000" dirty="0">
                <a:solidFill>
                  <a:srgbClr val="3E3D4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数据传送</a:t>
            </a:r>
          </a:p>
        </p:txBody>
      </p:sp>
    </p:spTree>
    <p:extLst>
      <p:ext uri="{BB962C8B-B14F-4D97-AF65-F5344CB8AC3E}">
        <p14:creationId xmlns:p14="http://schemas.microsoft.com/office/powerpoint/2010/main" val="42505445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971600" y="1700808"/>
            <a:ext cx="4752528" cy="504367"/>
            <a:chOff x="3711527" y="2082923"/>
            <a:chExt cx="6704159" cy="504301"/>
          </a:xfrm>
        </p:grpSpPr>
        <p:sp>
          <p:nvSpPr>
            <p:cNvPr id="3" name="矩形 2"/>
            <p:cNvSpPr/>
            <p:nvPr/>
          </p:nvSpPr>
          <p:spPr>
            <a:xfrm>
              <a:off x="4038583" y="2082923"/>
              <a:ext cx="6355394" cy="430317"/>
            </a:xfrm>
            <a:prstGeom prst="rect">
              <a:avLst/>
            </a:prstGeom>
            <a:solidFill>
              <a:srgbClr val="FF3255"/>
            </a:solidFill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200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目标和源不能同时为存储器</a:t>
              </a:r>
            </a:p>
          </p:txBody>
        </p:sp>
        <p:cxnSp>
          <p:nvCxnSpPr>
            <p:cNvPr id="4" name="直接连接符 3"/>
            <p:cNvCxnSpPr/>
            <p:nvPr/>
          </p:nvCxnSpPr>
          <p:spPr>
            <a:xfrm>
              <a:off x="3711527" y="2587224"/>
              <a:ext cx="6704159" cy="0"/>
            </a:xfrm>
            <a:prstGeom prst="line">
              <a:avLst/>
            </a:prstGeom>
            <a:ln>
              <a:solidFill>
                <a:srgbClr val="FF0064"/>
              </a:solidFill>
              <a:prstDash val="dash"/>
              <a:headEnd type="oval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组合 4"/>
          <p:cNvGrpSpPr/>
          <p:nvPr/>
        </p:nvGrpSpPr>
        <p:grpSpPr>
          <a:xfrm>
            <a:off x="978984" y="2399240"/>
            <a:ext cx="4752528" cy="504366"/>
            <a:chOff x="3711527" y="2082923"/>
            <a:chExt cx="6704159" cy="504301"/>
          </a:xfrm>
        </p:grpSpPr>
        <p:sp>
          <p:nvSpPr>
            <p:cNvPr id="6" name="矩形 5"/>
            <p:cNvSpPr/>
            <p:nvPr/>
          </p:nvSpPr>
          <p:spPr>
            <a:xfrm>
              <a:off x="4030210" y="2082923"/>
              <a:ext cx="6363766" cy="43031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目标和源的字长一致</a:t>
              </a:r>
            </a:p>
          </p:txBody>
        </p:sp>
        <p:cxnSp>
          <p:nvCxnSpPr>
            <p:cNvPr id="7" name="直接连接符 6"/>
            <p:cNvCxnSpPr/>
            <p:nvPr/>
          </p:nvCxnSpPr>
          <p:spPr>
            <a:xfrm>
              <a:off x="3711527" y="2587224"/>
              <a:ext cx="6704159" cy="0"/>
            </a:xfrm>
            <a:prstGeom prst="line">
              <a:avLst/>
            </a:prstGeom>
            <a:ln>
              <a:solidFill>
                <a:srgbClr val="FF0064"/>
              </a:solidFill>
              <a:prstDash val="dash"/>
              <a:headEnd type="oval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组合 7"/>
          <p:cNvGrpSpPr/>
          <p:nvPr/>
        </p:nvGrpSpPr>
        <p:grpSpPr>
          <a:xfrm>
            <a:off x="971600" y="3071699"/>
            <a:ext cx="4752528" cy="504367"/>
            <a:chOff x="3711527" y="2082923"/>
            <a:chExt cx="6704159" cy="504301"/>
          </a:xfrm>
        </p:grpSpPr>
        <p:sp>
          <p:nvSpPr>
            <p:cNvPr id="9" name="矩形 8"/>
            <p:cNvSpPr/>
            <p:nvPr/>
          </p:nvSpPr>
          <p:spPr>
            <a:xfrm>
              <a:off x="4038583" y="2082923"/>
              <a:ext cx="6355394" cy="430318"/>
            </a:xfrm>
            <a:prstGeom prst="rect">
              <a:avLst/>
            </a:prstGeom>
            <a:solidFill>
              <a:srgbClr val="1D8DE5"/>
            </a:solidFill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200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目标不能是</a:t>
              </a:r>
              <a:r>
                <a:rPr lang="en-US" altLang="zh-CN" sz="200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CS</a:t>
              </a:r>
              <a:r>
                <a:rPr lang="zh-CN" altLang="en-US" sz="200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，也不能用立即数</a:t>
              </a:r>
            </a:p>
          </p:txBody>
        </p:sp>
        <p:cxnSp>
          <p:nvCxnSpPr>
            <p:cNvPr id="10" name="直接连接符 9"/>
            <p:cNvCxnSpPr/>
            <p:nvPr/>
          </p:nvCxnSpPr>
          <p:spPr>
            <a:xfrm>
              <a:off x="3711527" y="2587224"/>
              <a:ext cx="6704159" cy="0"/>
            </a:xfrm>
            <a:prstGeom prst="line">
              <a:avLst/>
            </a:prstGeom>
            <a:ln>
              <a:solidFill>
                <a:srgbClr val="FF0064"/>
              </a:solidFill>
              <a:prstDash val="dash"/>
              <a:headEnd type="oval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组合 10"/>
          <p:cNvGrpSpPr/>
          <p:nvPr/>
        </p:nvGrpSpPr>
        <p:grpSpPr>
          <a:xfrm>
            <a:off x="978984" y="3770134"/>
            <a:ext cx="4752528" cy="504367"/>
            <a:chOff x="3711527" y="2082923"/>
            <a:chExt cx="6704159" cy="504301"/>
          </a:xfrm>
        </p:grpSpPr>
        <p:sp>
          <p:nvSpPr>
            <p:cNvPr id="12" name="矩形 11"/>
            <p:cNvSpPr/>
            <p:nvPr/>
          </p:nvSpPr>
          <p:spPr>
            <a:xfrm>
              <a:off x="4030210" y="2082923"/>
              <a:ext cx="6363766" cy="43031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立即数不能直接送到段寄存器</a:t>
              </a:r>
            </a:p>
          </p:txBody>
        </p:sp>
        <p:cxnSp>
          <p:nvCxnSpPr>
            <p:cNvPr id="13" name="直接连接符 12"/>
            <p:cNvCxnSpPr/>
            <p:nvPr/>
          </p:nvCxnSpPr>
          <p:spPr>
            <a:xfrm>
              <a:off x="3711527" y="2587224"/>
              <a:ext cx="6704159" cy="0"/>
            </a:xfrm>
            <a:prstGeom prst="line">
              <a:avLst/>
            </a:prstGeom>
            <a:ln>
              <a:solidFill>
                <a:srgbClr val="FF0064"/>
              </a:solidFill>
              <a:prstDash val="dash"/>
              <a:headEnd type="oval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组合 13"/>
          <p:cNvGrpSpPr/>
          <p:nvPr/>
        </p:nvGrpSpPr>
        <p:grpSpPr>
          <a:xfrm>
            <a:off x="974048" y="4396897"/>
            <a:ext cx="4752528" cy="504367"/>
            <a:chOff x="3711527" y="2082923"/>
            <a:chExt cx="6704159" cy="504301"/>
          </a:xfrm>
        </p:grpSpPr>
        <p:sp>
          <p:nvSpPr>
            <p:cNvPr id="15" name="矩形 14"/>
            <p:cNvSpPr/>
            <p:nvPr/>
          </p:nvSpPr>
          <p:spPr>
            <a:xfrm>
              <a:off x="4035807" y="2082923"/>
              <a:ext cx="6358170" cy="461605"/>
            </a:xfrm>
            <a:prstGeom prst="rect">
              <a:avLst/>
            </a:prstGeom>
            <a:solidFill>
              <a:srgbClr val="FD7A2A"/>
            </a:solidFill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200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目标和源不允许同时为段寄存器</a:t>
              </a:r>
            </a:p>
          </p:txBody>
        </p:sp>
        <p:cxnSp>
          <p:nvCxnSpPr>
            <p:cNvPr id="16" name="直接连接符 15"/>
            <p:cNvCxnSpPr/>
            <p:nvPr/>
          </p:nvCxnSpPr>
          <p:spPr>
            <a:xfrm>
              <a:off x="3711527" y="2587224"/>
              <a:ext cx="6704159" cy="0"/>
            </a:xfrm>
            <a:prstGeom prst="line">
              <a:avLst/>
            </a:prstGeom>
            <a:ln>
              <a:solidFill>
                <a:srgbClr val="FF0064"/>
              </a:solidFill>
              <a:prstDash val="dash"/>
              <a:headEnd type="oval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组合 16"/>
          <p:cNvGrpSpPr/>
          <p:nvPr/>
        </p:nvGrpSpPr>
        <p:grpSpPr>
          <a:xfrm>
            <a:off x="981432" y="5095333"/>
            <a:ext cx="4752528" cy="504367"/>
            <a:chOff x="3711527" y="2082923"/>
            <a:chExt cx="6704159" cy="504301"/>
          </a:xfrm>
        </p:grpSpPr>
        <p:sp>
          <p:nvSpPr>
            <p:cNvPr id="18" name="矩形 17"/>
            <p:cNvSpPr/>
            <p:nvPr/>
          </p:nvSpPr>
          <p:spPr>
            <a:xfrm>
              <a:off x="4027435" y="2082923"/>
              <a:ext cx="6355394" cy="43031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2000" dirty="0">
                  <a:latin typeface="微软雅黑" pitchFamily="34" charset="-122"/>
                  <a:ea typeface="微软雅黑" pitchFamily="34" charset="-122"/>
                </a:rPr>
                <a:t>MOV</a:t>
              </a:r>
              <a:r>
                <a:rPr lang="zh-CN" altLang="en-US" sz="2000" dirty="0">
                  <a:latin typeface="微软雅黑" pitchFamily="34" charset="-122"/>
                  <a:ea typeface="微软雅黑" pitchFamily="34" charset="-122"/>
                </a:rPr>
                <a:t>指令不影响标志位</a:t>
              </a:r>
            </a:p>
          </p:txBody>
        </p:sp>
        <p:cxnSp>
          <p:nvCxnSpPr>
            <p:cNvPr id="19" name="直接连接符 18"/>
            <p:cNvCxnSpPr/>
            <p:nvPr/>
          </p:nvCxnSpPr>
          <p:spPr>
            <a:xfrm>
              <a:off x="3711527" y="2587224"/>
              <a:ext cx="6704159" cy="0"/>
            </a:xfrm>
            <a:prstGeom prst="line">
              <a:avLst/>
            </a:prstGeom>
            <a:ln>
              <a:solidFill>
                <a:srgbClr val="FF0064"/>
              </a:solidFill>
              <a:prstDash val="dash"/>
              <a:headEnd type="oval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1" name="直接连接符 20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22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en-US" altLang="zh-CN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MOV   </a:t>
            </a:r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目标</a:t>
            </a:r>
            <a:r>
              <a:rPr lang="en-US" altLang="zh-CN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,  </a:t>
            </a:r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源</a:t>
            </a:r>
            <a:endParaRPr lang="zh-CN" altLang="en-US" sz="32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23" name="直接连接符 22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26" name="TextBox 10"/>
          <p:cNvSpPr txBox="1">
            <a:spLocks noChangeArrowheads="1"/>
          </p:cNvSpPr>
          <p:nvPr/>
        </p:nvSpPr>
        <p:spPr bwMode="auto">
          <a:xfrm>
            <a:off x="6068257" y="1719884"/>
            <a:ext cx="3225299" cy="4431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lnSpc>
                <a:spcPct val="114000"/>
              </a:lnSpc>
            </a:pPr>
            <a:r>
              <a:rPr lang="en-US" altLang="zh-CN" sz="20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MOV [SI],  [BX+10H]</a:t>
            </a:r>
            <a:endParaRPr lang="zh-CN" altLang="en-US" sz="6000" b="1" dirty="0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7" name="TextBox 10"/>
          <p:cNvSpPr txBox="1">
            <a:spLocks noChangeArrowheads="1"/>
          </p:cNvSpPr>
          <p:nvPr/>
        </p:nvSpPr>
        <p:spPr bwMode="auto">
          <a:xfrm>
            <a:off x="6068257" y="2375420"/>
            <a:ext cx="3225299" cy="4431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lnSpc>
                <a:spcPct val="114000"/>
              </a:lnSpc>
            </a:pPr>
            <a:r>
              <a:rPr lang="en-US" altLang="zh-CN" sz="20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MOV AX,  BL</a:t>
            </a:r>
            <a:endParaRPr lang="zh-CN" altLang="en-US" sz="6000" b="1" dirty="0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8" name="TextBox 10"/>
          <p:cNvSpPr txBox="1">
            <a:spLocks noChangeArrowheads="1"/>
          </p:cNvSpPr>
          <p:nvPr/>
        </p:nvSpPr>
        <p:spPr bwMode="auto">
          <a:xfrm>
            <a:off x="6062806" y="3077090"/>
            <a:ext cx="3225299" cy="4431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lnSpc>
                <a:spcPct val="114000"/>
              </a:lnSpc>
            </a:pPr>
            <a:r>
              <a:rPr lang="en-US" altLang="zh-CN" sz="20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MOV CS,  AX</a:t>
            </a:r>
            <a:endParaRPr lang="zh-CN" altLang="en-US" sz="6000" b="1" dirty="0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9" name="TextBox 10"/>
          <p:cNvSpPr txBox="1">
            <a:spLocks noChangeArrowheads="1"/>
          </p:cNvSpPr>
          <p:nvPr/>
        </p:nvSpPr>
        <p:spPr bwMode="auto">
          <a:xfrm>
            <a:off x="6099229" y="3770134"/>
            <a:ext cx="3225299" cy="4431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lnSpc>
                <a:spcPct val="114000"/>
              </a:lnSpc>
            </a:pPr>
            <a:r>
              <a:rPr lang="en-US" altLang="zh-CN" sz="20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MOV DS, 2000H</a:t>
            </a:r>
            <a:endParaRPr lang="zh-CN" altLang="en-US" sz="6000" b="1" dirty="0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0" name="TextBox 10"/>
          <p:cNvSpPr txBox="1">
            <a:spLocks noChangeArrowheads="1"/>
          </p:cNvSpPr>
          <p:nvPr/>
        </p:nvSpPr>
        <p:spPr bwMode="auto">
          <a:xfrm>
            <a:off x="6099229" y="4425837"/>
            <a:ext cx="3225299" cy="4431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lnSpc>
                <a:spcPct val="114000"/>
              </a:lnSpc>
            </a:pPr>
            <a:r>
              <a:rPr lang="en-US" altLang="zh-CN" sz="20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MOV DS, CS</a:t>
            </a:r>
            <a:endParaRPr lang="zh-CN" altLang="en-US" sz="6000" b="1" dirty="0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2692408" y="6021288"/>
            <a:ext cx="3679792" cy="424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第一条适用于所有双操作数指令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2" name="Picture 2" descr="C:\Documents and Settings\tdz\桌面\未标题-1 拷贝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576932" y="5820672"/>
            <a:ext cx="834828" cy="782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8" descr="D:\hd-white-132\handdrawn-white131.png"/>
          <p:cNvPicPr>
            <a:picLocks noChangeAspect="1" noChangeArrowheads="1"/>
          </p:cNvPicPr>
          <p:nvPr/>
        </p:nvPicPr>
        <p:blipFill>
          <a:blip r:embed="rId3" cstate="screen">
            <a:duotone>
              <a:prstClr val="black"/>
              <a:srgbClr val="FF00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728116" y="1675212"/>
            <a:ext cx="415884" cy="532541"/>
          </a:xfrm>
          <a:prstGeom prst="rect">
            <a:avLst/>
          </a:prstGeom>
          <a:noFill/>
        </p:spPr>
      </p:pic>
      <p:pic>
        <p:nvPicPr>
          <p:cNvPr id="34" name="Picture 8" descr="D:\hd-white-132\handdrawn-white131.png"/>
          <p:cNvPicPr>
            <a:picLocks noChangeAspect="1" noChangeArrowheads="1"/>
          </p:cNvPicPr>
          <p:nvPr/>
        </p:nvPicPr>
        <p:blipFill>
          <a:blip r:embed="rId3" cstate="screen">
            <a:duotone>
              <a:prstClr val="black"/>
              <a:srgbClr val="FF00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892425" y="2294703"/>
            <a:ext cx="415884" cy="532541"/>
          </a:xfrm>
          <a:prstGeom prst="rect">
            <a:avLst/>
          </a:prstGeom>
          <a:noFill/>
        </p:spPr>
      </p:pic>
      <p:pic>
        <p:nvPicPr>
          <p:cNvPr id="35" name="Picture 8" descr="D:\hd-white-132\handdrawn-white131.png"/>
          <p:cNvPicPr>
            <a:picLocks noChangeAspect="1" noChangeArrowheads="1"/>
          </p:cNvPicPr>
          <p:nvPr/>
        </p:nvPicPr>
        <p:blipFill>
          <a:blip r:embed="rId3" cstate="screen">
            <a:duotone>
              <a:prstClr val="black"/>
              <a:srgbClr val="FF00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267912" y="3660748"/>
            <a:ext cx="415884" cy="532541"/>
          </a:xfrm>
          <a:prstGeom prst="rect">
            <a:avLst/>
          </a:prstGeom>
          <a:noFill/>
        </p:spPr>
      </p:pic>
      <p:pic>
        <p:nvPicPr>
          <p:cNvPr id="36" name="Picture 8" descr="D:\hd-white-132\handdrawn-white131.png"/>
          <p:cNvPicPr>
            <a:picLocks noChangeAspect="1" noChangeArrowheads="1"/>
          </p:cNvPicPr>
          <p:nvPr/>
        </p:nvPicPr>
        <p:blipFill>
          <a:blip r:embed="rId3" cstate="screen">
            <a:duotone>
              <a:prstClr val="black"/>
              <a:srgbClr val="FF00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852028" y="4361458"/>
            <a:ext cx="415884" cy="532541"/>
          </a:xfrm>
          <a:prstGeom prst="rect">
            <a:avLst/>
          </a:prstGeom>
          <a:noFill/>
        </p:spPr>
      </p:pic>
      <p:pic>
        <p:nvPicPr>
          <p:cNvPr id="37" name="Picture 8" descr="D:\hd-white-132\handdrawn-white131.png"/>
          <p:cNvPicPr>
            <a:picLocks noChangeAspect="1" noChangeArrowheads="1"/>
          </p:cNvPicPr>
          <p:nvPr/>
        </p:nvPicPr>
        <p:blipFill>
          <a:blip r:embed="rId3" cstate="screen">
            <a:duotone>
              <a:prstClr val="black"/>
              <a:srgbClr val="FF00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892425" y="3020615"/>
            <a:ext cx="415884" cy="53254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654594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8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7" grpId="0"/>
      <p:bldP spid="28" grpId="0"/>
      <p:bldP spid="29" grpId="0"/>
      <p:bldP spid="30" grpId="0"/>
      <p:bldP spid="3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827584" y="1656455"/>
            <a:ext cx="7491982" cy="2420617"/>
          </a:xfrm>
          <a:prstGeom prst="rect">
            <a:avLst/>
          </a:prstGeom>
          <a:ln>
            <a:solidFill>
              <a:srgbClr val="0883C8"/>
            </a:solidFill>
            <a:prstDash val="dash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Box 17"/>
          <p:cNvSpPr txBox="1"/>
          <p:nvPr/>
        </p:nvSpPr>
        <p:spPr>
          <a:xfrm>
            <a:off x="1043608" y="1769403"/>
            <a:ext cx="6696743" cy="2139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若立即数没有明确的类型，汇编负责将立即数扩展为与目的操作数位数相同。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汇编不能确定内存操作数的类型时，需要用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BYTE PTR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或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WORD PTR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明确指出是字节或字类型。只要其中一个操作数的类型确定即可。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4" name="Picture 2" descr="E:\仝德志文件，勿删！\03-参考文档\！PPT图片及版面资源\06-PPT精选插图\12-标签\右边角-蓝1.png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284869" y="1556792"/>
            <a:ext cx="1103555" cy="10985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15"/>
          <p:cNvSpPr txBox="1"/>
          <p:nvPr/>
        </p:nvSpPr>
        <p:spPr>
          <a:xfrm rot="2771384">
            <a:off x="7653805" y="1763329"/>
            <a:ext cx="646415" cy="3693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</a:t>
            </a:r>
          </a:p>
        </p:txBody>
      </p:sp>
      <p:cxnSp>
        <p:nvCxnSpPr>
          <p:cNvPr id="6" name="直接连接符 5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en-US" altLang="zh-CN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MOV   </a:t>
            </a:r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目标</a:t>
            </a:r>
            <a:r>
              <a:rPr lang="en-US" altLang="zh-CN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,  </a:t>
            </a:r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源</a:t>
            </a:r>
            <a:endParaRPr lang="zh-CN" altLang="en-US" sz="32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9" name="TextBox 10"/>
          <p:cNvSpPr txBox="1">
            <a:spLocks noChangeArrowheads="1"/>
          </p:cNvSpPr>
          <p:nvPr/>
        </p:nvSpPr>
        <p:spPr bwMode="auto">
          <a:xfrm>
            <a:off x="1619672" y="4442532"/>
            <a:ext cx="5904656" cy="6537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lnSpc>
                <a:spcPct val="114000"/>
              </a:lnSpc>
            </a:pPr>
            <a:r>
              <a:rPr lang="en-US" altLang="zh-CN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MOV                      [SI],  12H</a:t>
            </a:r>
            <a:endParaRPr lang="zh-CN" altLang="en-US" sz="8000" b="1" dirty="0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2843808" y="4476996"/>
            <a:ext cx="251062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WORD PTR</a:t>
            </a:r>
            <a:endParaRPr lang="zh-CN" altLang="en-US" sz="3200" dirty="0"/>
          </a:p>
        </p:txBody>
      </p:sp>
      <p:pic>
        <p:nvPicPr>
          <p:cNvPr id="11" name="Picture 8" descr="D:\hd-white-132\handdrawn-white131.png"/>
          <p:cNvPicPr>
            <a:picLocks noChangeAspect="1" noChangeArrowheads="1"/>
          </p:cNvPicPr>
          <p:nvPr/>
        </p:nvPicPr>
        <p:blipFill>
          <a:blip r:embed="rId3" cstate="screen">
            <a:duotone>
              <a:prstClr val="black"/>
              <a:srgbClr val="FF00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545134" y="4267189"/>
            <a:ext cx="699274" cy="895423"/>
          </a:xfrm>
          <a:prstGeom prst="rect">
            <a:avLst/>
          </a:prstGeom>
          <a:noFill/>
        </p:spPr>
      </p:pic>
      <p:pic>
        <p:nvPicPr>
          <p:cNvPr id="13" name="Picture 113" descr="D:\hd-white-132\handdrawn-white71.png"/>
          <p:cNvPicPr>
            <a:picLocks noChangeAspect="1" noChangeArrowheads="1"/>
          </p:cNvPicPr>
          <p:nvPr/>
        </p:nvPicPr>
        <p:blipFill>
          <a:blip r:embed="rId4" cstate="screen">
            <a:duotone>
              <a:prstClr val="black"/>
              <a:srgbClr val="FF00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668344" y="4221088"/>
            <a:ext cx="671567" cy="869516"/>
          </a:xfrm>
          <a:prstGeom prst="rect">
            <a:avLst/>
          </a:prstGeom>
          <a:noFill/>
        </p:spPr>
      </p:pic>
      <p:sp>
        <p:nvSpPr>
          <p:cNvPr id="14" name="TextBox 10"/>
          <p:cNvSpPr txBox="1">
            <a:spLocks noChangeArrowheads="1"/>
          </p:cNvSpPr>
          <p:nvPr/>
        </p:nvSpPr>
        <p:spPr bwMode="auto">
          <a:xfrm>
            <a:off x="1619672" y="5378636"/>
            <a:ext cx="5904656" cy="6537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lnSpc>
                <a:spcPct val="114000"/>
              </a:lnSpc>
            </a:pPr>
            <a:r>
              <a:rPr lang="en-US" altLang="zh-CN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MOV                      [SI],  12H</a:t>
            </a:r>
            <a:endParaRPr lang="zh-CN" altLang="en-US" sz="8000" b="1" dirty="0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2843808" y="5413100"/>
            <a:ext cx="215353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BYTE PTR</a:t>
            </a:r>
            <a:endParaRPr lang="zh-CN" altLang="en-US" sz="3200" dirty="0"/>
          </a:p>
        </p:txBody>
      </p:sp>
      <p:pic>
        <p:nvPicPr>
          <p:cNvPr id="18" name="Picture 113" descr="D:\hd-white-132\handdrawn-white71.png"/>
          <p:cNvPicPr>
            <a:picLocks noChangeAspect="1" noChangeArrowheads="1"/>
          </p:cNvPicPr>
          <p:nvPr/>
        </p:nvPicPr>
        <p:blipFill>
          <a:blip r:embed="rId4" cstate="screen">
            <a:duotone>
              <a:prstClr val="black"/>
              <a:srgbClr val="FF00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668344" y="5157192"/>
            <a:ext cx="671567" cy="86951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1446368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4" grpId="0"/>
      <p:bldP spid="1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0"/>
          <p:cNvSpPr txBox="1">
            <a:spLocks noChangeArrowheads="1"/>
          </p:cNvSpPr>
          <p:nvPr/>
        </p:nvSpPr>
        <p:spPr bwMode="auto">
          <a:xfrm>
            <a:off x="4442623" y="1836245"/>
            <a:ext cx="2989279" cy="4431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lnSpc>
                <a:spcPct val="114000"/>
              </a:lnSpc>
            </a:pPr>
            <a:r>
              <a:rPr lang="en-US" altLang="zh-CN" sz="20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MOV AX,  [1000H]</a:t>
            </a:r>
            <a:endParaRPr lang="zh-CN" altLang="en-US" sz="6000" b="1" dirty="0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TextBox 10"/>
          <p:cNvSpPr txBox="1">
            <a:spLocks noChangeArrowheads="1"/>
          </p:cNvSpPr>
          <p:nvPr/>
        </p:nvSpPr>
        <p:spPr bwMode="auto">
          <a:xfrm>
            <a:off x="4442623" y="2491781"/>
            <a:ext cx="2989279" cy="4431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lnSpc>
                <a:spcPct val="114000"/>
              </a:lnSpc>
            </a:pPr>
            <a:r>
              <a:rPr lang="en-US" altLang="zh-CN" sz="20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MOV [2000H], AX</a:t>
            </a:r>
            <a:endParaRPr lang="zh-CN" altLang="en-US" sz="6000" b="1" dirty="0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矩形 3"/>
          <p:cNvSpPr>
            <a:spLocks noChangeAspect="1"/>
          </p:cNvSpPr>
          <p:nvPr/>
        </p:nvSpPr>
        <p:spPr>
          <a:xfrm>
            <a:off x="4283546" y="1772816"/>
            <a:ext cx="3168774" cy="1210817"/>
          </a:xfrm>
          <a:prstGeom prst="rect">
            <a:avLst/>
          </a:prstGeom>
          <a:ln>
            <a:solidFill>
              <a:srgbClr val="0883C8"/>
            </a:solidFill>
            <a:prstDash val="dash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extBox 10"/>
          <p:cNvSpPr txBox="1">
            <a:spLocks noChangeArrowheads="1"/>
          </p:cNvSpPr>
          <p:nvPr/>
        </p:nvSpPr>
        <p:spPr bwMode="auto">
          <a:xfrm>
            <a:off x="4442623" y="3276405"/>
            <a:ext cx="2583026" cy="4431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lnSpc>
                <a:spcPct val="114000"/>
              </a:lnSpc>
            </a:pPr>
            <a:r>
              <a:rPr lang="en-US" altLang="zh-CN" sz="20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MOV AX,  DS</a:t>
            </a:r>
            <a:endParaRPr lang="zh-CN" altLang="en-US" sz="6000" b="1" dirty="0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TextBox 10"/>
          <p:cNvSpPr txBox="1">
            <a:spLocks noChangeArrowheads="1"/>
          </p:cNvSpPr>
          <p:nvPr/>
        </p:nvSpPr>
        <p:spPr bwMode="auto">
          <a:xfrm>
            <a:off x="4442623" y="3931941"/>
            <a:ext cx="2583026" cy="4431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lnSpc>
                <a:spcPct val="114000"/>
              </a:lnSpc>
            </a:pPr>
            <a:r>
              <a:rPr lang="en-US" altLang="zh-CN" sz="20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MOV ES,   AX</a:t>
            </a:r>
            <a:endParaRPr lang="zh-CN" altLang="en-US" sz="6000" b="1" dirty="0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矩形 6"/>
          <p:cNvSpPr>
            <a:spLocks noChangeAspect="1"/>
          </p:cNvSpPr>
          <p:nvPr/>
        </p:nvSpPr>
        <p:spPr>
          <a:xfrm>
            <a:off x="4283546" y="3212976"/>
            <a:ext cx="3168774" cy="1210817"/>
          </a:xfrm>
          <a:prstGeom prst="rect">
            <a:avLst/>
          </a:prstGeom>
          <a:ln>
            <a:solidFill>
              <a:srgbClr val="0883C8"/>
            </a:solidFill>
            <a:prstDash val="dash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Box 10"/>
          <p:cNvSpPr txBox="1">
            <a:spLocks noChangeArrowheads="1"/>
          </p:cNvSpPr>
          <p:nvPr/>
        </p:nvSpPr>
        <p:spPr bwMode="auto">
          <a:xfrm>
            <a:off x="4442623" y="4729884"/>
            <a:ext cx="2583026" cy="4431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lnSpc>
                <a:spcPct val="114000"/>
              </a:lnSpc>
            </a:pPr>
            <a:r>
              <a:rPr lang="en-US" altLang="zh-CN" sz="20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MOV AX, 1000H</a:t>
            </a:r>
            <a:endParaRPr lang="zh-CN" altLang="en-US" sz="6000" b="1" dirty="0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" name="TextBox 10"/>
          <p:cNvSpPr txBox="1">
            <a:spLocks noChangeArrowheads="1"/>
          </p:cNvSpPr>
          <p:nvPr/>
        </p:nvSpPr>
        <p:spPr bwMode="auto">
          <a:xfrm>
            <a:off x="4442623" y="5385420"/>
            <a:ext cx="2583026" cy="4431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lnSpc>
                <a:spcPct val="114000"/>
              </a:lnSpc>
            </a:pPr>
            <a:r>
              <a:rPr lang="en-US" altLang="zh-CN" sz="20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MOV DS,   AX</a:t>
            </a:r>
            <a:endParaRPr lang="zh-CN" altLang="en-US" sz="6000" b="1" dirty="0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" name="矩形 9"/>
          <p:cNvSpPr>
            <a:spLocks noChangeAspect="1"/>
          </p:cNvSpPr>
          <p:nvPr/>
        </p:nvSpPr>
        <p:spPr>
          <a:xfrm>
            <a:off x="4283546" y="4666455"/>
            <a:ext cx="3168774" cy="1210817"/>
          </a:xfrm>
          <a:prstGeom prst="rect">
            <a:avLst/>
          </a:prstGeom>
          <a:ln>
            <a:solidFill>
              <a:srgbClr val="0883C8"/>
            </a:solidFill>
            <a:prstDash val="dash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547242" y="1772817"/>
            <a:ext cx="2430766" cy="1210816"/>
          </a:xfrm>
          <a:prstGeom prst="rect">
            <a:avLst/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存储器与存储器之间的数据交换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[1000H]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[2000H]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547242" y="3226296"/>
            <a:ext cx="2430766" cy="1210816"/>
          </a:xfrm>
          <a:prstGeom prst="rect">
            <a:avLst/>
          </a:prstGeom>
          <a:solidFill>
            <a:srgbClr val="5DCB0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段寄存器之间的数据交换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DS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ES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547242" y="4666456"/>
            <a:ext cx="2430766" cy="1210816"/>
          </a:xfrm>
          <a:prstGeom prst="rect">
            <a:avLst/>
          </a:prstGeom>
          <a:solidFill>
            <a:srgbClr val="1D8D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传递立即数到段寄存器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1000H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DS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7" name="直接连接符 16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18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解决不能直接传递的方法</a:t>
            </a:r>
            <a:endParaRPr lang="zh-CN" altLang="en-US" sz="32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19" name="直接连接符 18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</p:spTree>
    <p:extLst>
      <p:ext uri="{BB962C8B-B14F-4D97-AF65-F5344CB8AC3E}">
        <p14:creationId xmlns:p14="http://schemas.microsoft.com/office/powerpoint/2010/main" val="844582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5" grpId="0"/>
      <p:bldP spid="6" grpId="0"/>
      <p:bldP spid="8" grpId="0"/>
      <p:bldP spid="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755576" y="1340768"/>
            <a:ext cx="7704856" cy="2189437"/>
          </a:xfrm>
          <a:prstGeom prst="rect">
            <a:avLst/>
          </a:prstGeom>
          <a:ln>
            <a:solidFill>
              <a:srgbClr val="0883C8"/>
            </a:solidFill>
            <a:prstDash val="dash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Box 17"/>
          <p:cNvSpPr txBox="1"/>
          <p:nvPr/>
        </p:nvSpPr>
        <p:spPr>
          <a:xfrm>
            <a:off x="1043608" y="1385121"/>
            <a:ext cx="7200800" cy="2139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PUSH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常用来暂存某些数据，而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POP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可将这些数据恢复。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PUSH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：先 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SP=SP-2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，然后把源操作数传递到如下逻辑地址对应的存储单元 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SS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SP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POP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：先把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SS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SP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对应的存储单元传递到目标，然后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SP=SP+2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6" name="直接连接符 5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en-US" altLang="zh-CN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PUSH/POP  </a:t>
            </a:r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源</a:t>
            </a:r>
            <a:r>
              <a:rPr lang="en-US" altLang="zh-CN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/</a:t>
            </a:r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目标</a:t>
            </a:r>
            <a:endParaRPr lang="zh-CN" altLang="en-US" sz="32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14" name="矩形 13"/>
          <p:cNvSpPr>
            <a:spLocks noChangeAspect="1"/>
          </p:cNvSpPr>
          <p:nvPr/>
        </p:nvSpPr>
        <p:spPr>
          <a:xfrm>
            <a:off x="755576" y="3727466"/>
            <a:ext cx="7704856" cy="2293822"/>
          </a:xfrm>
          <a:prstGeom prst="rect">
            <a:avLst/>
          </a:prstGeom>
          <a:ln>
            <a:solidFill>
              <a:srgbClr val="0883C8"/>
            </a:solidFill>
            <a:prstDash val="soli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Picture 2" descr="E:\仝德志文件，勿删！\03-参考文档\！PPT图片及版面资源\06-PPT精选插图\12-标签\蓝色燕尾01.png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rot="16200000">
            <a:off x="589004" y="3883605"/>
            <a:ext cx="1152129" cy="674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9"/>
          <p:cNvSpPr txBox="1"/>
          <p:nvPr/>
        </p:nvSpPr>
        <p:spPr>
          <a:xfrm>
            <a:off x="930958" y="3908737"/>
            <a:ext cx="461665" cy="63533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注 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47663" y="3839159"/>
            <a:ext cx="6579027" cy="2139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两指令</a:t>
            </a:r>
            <a:r>
              <a:rPr lang="zh-CN" altLang="en-US" sz="20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只能是字操作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，因此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SP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的修改必须是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+2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或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-2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PUSH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和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POP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指令</a:t>
            </a:r>
            <a:r>
              <a:rPr lang="zh-CN" altLang="en-US" sz="20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不能使用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立即数寻址方式。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PUSH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和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POP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指令的操作数</a:t>
            </a:r>
            <a:r>
              <a:rPr lang="zh-CN" altLang="en-US" sz="20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可以是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存储器。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POP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指令的目标操作数</a:t>
            </a:r>
            <a:r>
              <a:rPr lang="zh-CN" altLang="en-US" sz="20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不允许是</a:t>
            </a:r>
            <a:r>
              <a:rPr lang="en-US" altLang="zh-CN" sz="20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CS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寄存器。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PUSH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和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POP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指令都不影响标志位。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9" name="TextBox 10"/>
          <p:cNvSpPr txBox="1">
            <a:spLocks noChangeArrowheads="1"/>
          </p:cNvSpPr>
          <p:nvPr/>
        </p:nvSpPr>
        <p:spPr bwMode="auto">
          <a:xfrm>
            <a:off x="6938270" y="5049836"/>
            <a:ext cx="1168433" cy="4431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lnSpc>
                <a:spcPct val="114000"/>
              </a:lnSpc>
            </a:pPr>
            <a:r>
              <a:rPr lang="en-US" altLang="zh-CN" sz="20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POP CS</a:t>
            </a:r>
            <a:endParaRPr lang="zh-CN" altLang="en-US" sz="6000" b="1" dirty="0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0" name="TextBox 10"/>
          <p:cNvSpPr txBox="1">
            <a:spLocks noChangeArrowheads="1"/>
          </p:cNvSpPr>
          <p:nvPr/>
        </p:nvSpPr>
        <p:spPr bwMode="auto">
          <a:xfrm>
            <a:off x="6938270" y="4603969"/>
            <a:ext cx="1306138" cy="4431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lnSpc>
                <a:spcPct val="114000"/>
              </a:lnSpc>
            </a:pPr>
            <a:r>
              <a:rPr lang="en-US" altLang="zh-CN" sz="20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POP [SI]</a:t>
            </a:r>
            <a:endParaRPr lang="zh-CN" altLang="en-US" sz="6000" b="1" dirty="0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1" name="TextBox 10"/>
          <p:cNvSpPr txBox="1">
            <a:spLocks noChangeArrowheads="1"/>
          </p:cNvSpPr>
          <p:nvPr/>
        </p:nvSpPr>
        <p:spPr bwMode="auto">
          <a:xfrm>
            <a:off x="6948264" y="4206753"/>
            <a:ext cx="1168433" cy="4431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lnSpc>
                <a:spcPct val="114000"/>
              </a:lnSpc>
            </a:pPr>
            <a:r>
              <a:rPr lang="en-US" altLang="zh-CN" sz="20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POP 10</a:t>
            </a:r>
            <a:endParaRPr lang="zh-CN" altLang="en-US" sz="6000" b="1" dirty="0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22" name="Picture 8" descr="D:\hd-white-132\handdrawn-white131.png"/>
          <p:cNvPicPr>
            <a:picLocks noChangeAspect="1" noChangeArrowheads="1"/>
          </p:cNvPicPr>
          <p:nvPr/>
        </p:nvPicPr>
        <p:blipFill>
          <a:blip r:embed="rId3" cstate="screen">
            <a:duotone>
              <a:prstClr val="black"/>
              <a:srgbClr val="FF00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086752" y="4162561"/>
            <a:ext cx="373680" cy="478498"/>
          </a:xfrm>
          <a:prstGeom prst="rect">
            <a:avLst/>
          </a:prstGeom>
          <a:noFill/>
        </p:spPr>
      </p:pic>
      <p:pic>
        <p:nvPicPr>
          <p:cNvPr id="23" name="Picture 113" descr="D:\hd-white-132\handdrawn-white71.png"/>
          <p:cNvPicPr>
            <a:picLocks noChangeAspect="1" noChangeArrowheads="1"/>
          </p:cNvPicPr>
          <p:nvPr/>
        </p:nvPicPr>
        <p:blipFill>
          <a:blip r:embed="rId4" cstate="screen">
            <a:duotone>
              <a:prstClr val="black"/>
              <a:srgbClr val="FF00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086752" y="4575018"/>
            <a:ext cx="371441" cy="480926"/>
          </a:xfrm>
          <a:prstGeom prst="rect">
            <a:avLst/>
          </a:prstGeom>
          <a:noFill/>
        </p:spPr>
      </p:pic>
      <p:pic>
        <p:nvPicPr>
          <p:cNvPr id="24" name="Picture 8" descr="D:\hd-white-132\handdrawn-white131.png"/>
          <p:cNvPicPr>
            <a:picLocks noChangeAspect="1" noChangeArrowheads="1"/>
          </p:cNvPicPr>
          <p:nvPr/>
        </p:nvPicPr>
        <p:blipFill>
          <a:blip r:embed="rId3" cstate="screen">
            <a:duotone>
              <a:prstClr val="black"/>
              <a:srgbClr val="FF00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086752" y="5018216"/>
            <a:ext cx="373680" cy="47849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422600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2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755576" y="1700808"/>
            <a:ext cx="7704856" cy="1584176"/>
          </a:xfrm>
          <a:prstGeom prst="rect">
            <a:avLst/>
          </a:prstGeom>
          <a:ln>
            <a:solidFill>
              <a:srgbClr val="0883C8"/>
            </a:solidFill>
            <a:prstDash val="dash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Box 17"/>
          <p:cNvSpPr txBox="1"/>
          <p:nvPr/>
        </p:nvSpPr>
        <p:spPr>
          <a:xfrm>
            <a:off x="1043608" y="1745160"/>
            <a:ext cx="7200800" cy="13203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XCHG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指令使两个操作数互相交换，其中一个操作数必须在寄存器中，另一个操作数可以在寄存器或存储器中。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不允许使用段寄存器，不影响标志位。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6" name="直接连接符 5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cxnSp>
        <p:nvCxnSpPr>
          <p:cNvPr id="8" name="直接连接符 7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25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en-US" altLang="zh-CN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XCHG   </a:t>
            </a:r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目标</a:t>
            </a:r>
            <a:r>
              <a:rPr lang="en-US" altLang="zh-CN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,  </a:t>
            </a:r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源</a:t>
            </a:r>
            <a:endParaRPr lang="zh-CN" altLang="en-US" sz="32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6" name="TextBox 10"/>
          <p:cNvSpPr txBox="1">
            <a:spLocks noChangeArrowheads="1"/>
          </p:cNvSpPr>
          <p:nvPr/>
        </p:nvSpPr>
        <p:spPr bwMode="auto">
          <a:xfrm>
            <a:off x="2555565" y="4077072"/>
            <a:ext cx="4032448" cy="6537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lnSpc>
                <a:spcPct val="114000"/>
              </a:lnSpc>
            </a:pPr>
            <a:r>
              <a:rPr lang="en-US" altLang="zh-CN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XCHG [SI+BP], BX</a:t>
            </a:r>
            <a:endParaRPr lang="zh-CN" altLang="en-US" sz="8000" b="1" dirty="0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62152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cxnSp>
        <p:nvCxnSpPr>
          <p:cNvPr id="3" name="直接连接符 2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换码指令：</a:t>
            </a:r>
            <a:r>
              <a:rPr lang="en-US" altLang="zh-CN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XLAT</a:t>
            </a:r>
            <a:endParaRPr lang="zh-CN" altLang="en-US" sz="32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矩形 4"/>
          <p:cNvSpPr>
            <a:spLocks noChangeAspect="1"/>
          </p:cNvSpPr>
          <p:nvPr/>
        </p:nvSpPr>
        <p:spPr>
          <a:xfrm>
            <a:off x="755576" y="1383579"/>
            <a:ext cx="7704856" cy="2189437"/>
          </a:xfrm>
          <a:prstGeom prst="rect">
            <a:avLst/>
          </a:prstGeom>
          <a:ln>
            <a:solidFill>
              <a:srgbClr val="0883C8"/>
            </a:solidFill>
            <a:prstDash val="dash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Box 17"/>
          <p:cNvSpPr txBox="1"/>
          <p:nvPr/>
        </p:nvSpPr>
        <p:spPr>
          <a:xfrm>
            <a:off x="1043608" y="1427932"/>
            <a:ext cx="7200800" cy="2139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执行操作：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AL ← 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  <a:sym typeface="Wingdings" panose="05000000000000000000" pitchFamily="2" charset="2"/>
              </a:rPr>
              <a:t>[ DS*16 + BX + AL ]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使用方法：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914400" lvl="1" indent="-457200">
              <a:lnSpc>
                <a:spcPct val="133000"/>
              </a:lnSpc>
              <a:buFont typeface="+mj-lt"/>
              <a:buAutoNum type="arabicPeriod"/>
              <a:defRPr/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建立字节表格，字节表格的首地址放到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BX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中。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914400" lvl="1" indent="-457200">
              <a:lnSpc>
                <a:spcPct val="133000"/>
              </a:lnSpc>
              <a:buFont typeface="+mj-lt"/>
              <a:buAutoNum type="arabicPeriod"/>
              <a:defRPr/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把要转换的码存入 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AL 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寄存器。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914400" lvl="1" indent="-457200">
              <a:lnSpc>
                <a:spcPct val="133000"/>
              </a:lnSpc>
              <a:buFont typeface="+mj-lt"/>
              <a:buAutoNum type="arabicPeriod"/>
              <a:defRPr/>
            </a:pP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XLAT</a:t>
            </a:r>
          </a:p>
        </p:txBody>
      </p:sp>
      <p:sp>
        <p:nvSpPr>
          <p:cNvPr id="7" name="矩形 6"/>
          <p:cNvSpPr>
            <a:spLocks noChangeAspect="1"/>
          </p:cNvSpPr>
          <p:nvPr/>
        </p:nvSpPr>
        <p:spPr>
          <a:xfrm>
            <a:off x="755576" y="3914564"/>
            <a:ext cx="7704856" cy="1674676"/>
          </a:xfrm>
          <a:prstGeom prst="rect">
            <a:avLst/>
          </a:prstGeom>
          <a:ln>
            <a:solidFill>
              <a:srgbClr val="0883C8"/>
            </a:solidFill>
            <a:prstDash val="soli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Picture 2" descr="E:\仝德志文件，勿删！\03-参考文档\！PPT图片及版面资源\06-PPT精选插图\12-标签\蓝色燕尾01.png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rot="16200000">
            <a:off x="733021" y="4027620"/>
            <a:ext cx="1008111" cy="674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19"/>
          <p:cNvSpPr txBox="1"/>
          <p:nvPr/>
        </p:nvSpPr>
        <p:spPr>
          <a:xfrm>
            <a:off x="1002966" y="3980743"/>
            <a:ext cx="461665" cy="1061714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注 意</a:t>
            </a:r>
          </a:p>
        </p:txBody>
      </p:sp>
      <p:sp>
        <p:nvSpPr>
          <p:cNvPr id="10" name="TextBox 17"/>
          <p:cNvSpPr txBox="1"/>
          <p:nvPr/>
        </p:nvSpPr>
        <p:spPr>
          <a:xfrm>
            <a:off x="1729359" y="3954249"/>
            <a:ext cx="6377344" cy="13203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因为存放位移量的是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8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位寄存器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AL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，所建字节表格的长度不能超过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256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字节。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XLAT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指令不影响标志位。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767733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3"/>
          <p:cNvSpPr>
            <a:spLocks noChangeArrowheads="1"/>
          </p:cNvSpPr>
          <p:nvPr/>
        </p:nvSpPr>
        <p:spPr bwMode="auto">
          <a:xfrm>
            <a:off x="611382" y="1340768"/>
            <a:ext cx="3964385" cy="3172407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lnSpc>
                <a:spcPct val="139000"/>
              </a:lnSpc>
              <a:spcAft>
                <a:spcPts val="600"/>
              </a:spcAft>
              <a:defRPr/>
            </a:pP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内存数据段有一张</a:t>
            </a:r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16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进制数的</a:t>
            </a:r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ASCII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码表，首地址为</a:t>
            </a:r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2000H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，如欲查出表中第</a:t>
            </a:r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11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个代码，即十六进制数</a:t>
            </a:r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B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的</a:t>
            </a:r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ASCII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码。</a:t>
            </a:r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ASCII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表在</a:t>
            </a:r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DS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段中， </a:t>
            </a:r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DS=4000H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。</a:t>
            </a:r>
          </a:p>
        </p:txBody>
      </p:sp>
      <p:cxnSp>
        <p:nvCxnSpPr>
          <p:cNvPr id="4" name="直接连接符 3"/>
          <p:cNvCxnSpPr/>
          <p:nvPr/>
        </p:nvCxnSpPr>
        <p:spPr>
          <a:xfrm>
            <a:off x="611560" y="1121909"/>
            <a:ext cx="7992888" cy="0"/>
          </a:xfrm>
          <a:prstGeom prst="line">
            <a:avLst/>
          </a:prstGeom>
          <a:ln w="28575">
            <a:solidFill>
              <a:srgbClr val="1D8D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611560" y="631563"/>
            <a:ext cx="500110" cy="490346"/>
          </a:xfrm>
          <a:prstGeom prst="rect">
            <a:avLst/>
          </a:prstGeom>
          <a:solidFill>
            <a:srgbClr val="1D8DE5"/>
          </a:solidFill>
          <a:ln w="9525" cap="rnd">
            <a:solidFill>
              <a:srgbClr val="1D8DE5"/>
            </a:solidFill>
            <a:prstDash val="solid"/>
            <a:round/>
            <a:headEnd/>
            <a:tailEnd/>
          </a:ln>
        </p:spPr>
        <p:txBody>
          <a:bodyPr anchor="ctr"/>
          <a:lstStyle/>
          <a:p>
            <a:pPr algn="ctr"/>
            <a:r>
              <a:rPr lang="en-US" altLang="zh-CN" sz="2800" b="1" kern="0" dirty="0">
                <a:solidFill>
                  <a:sysClr val="window" lastClr="FFFFFF">
                    <a:lumMod val="95000"/>
                  </a:sys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800" b="1" kern="0" dirty="0">
              <a:solidFill>
                <a:sysClr val="window" lastClr="FFFFFF">
                  <a:lumMod val="95000"/>
                </a:sys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Box 11"/>
          <p:cNvSpPr txBox="1"/>
          <p:nvPr/>
        </p:nvSpPr>
        <p:spPr>
          <a:xfrm>
            <a:off x="1119384" y="620688"/>
            <a:ext cx="72613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1D8DE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例题</a:t>
            </a:r>
          </a:p>
        </p:txBody>
      </p:sp>
      <p:sp>
        <p:nvSpPr>
          <p:cNvPr id="7" name="矩形 6"/>
          <p:cNvSpPr/>
          <p:nvPr/>
        </p:nvSpPr>
        <p:spPr>
          <a:xfrm>
            <a:off x="8380710" y="620688"/>
            <a:ext cx="223738" cy="490346"/>
          </a:xfrm>
          <a:prstGeom prst="rect">
            <a:avLst/>
          </a:prstGeom>
          <a:solidFill>
            <a:srgbClr val="1D8DE5"/>
          </a:solidFill>
          <a:ln w="9525" cap="rnd">
            <a:solidFill>
              <a:srgbClr val="1D8DE5"/>
            </a:solidFill>
            <a:prstDash val="solid"/>
            <a:round/>
            <a:headEnd/>
            <a:tailEnd/>
          </a:ln>
        </p:spPr>
        <p:txBody>
          <a:bodyPr/>
          <a:lstStyle/>
          <a:p>
            <a:pPr algn="ctr">
              <a:lnSpc>
                <a:spcPct val="120000"/>
              </a:lnSpc>
            </a:pPr>
            <a:endParaRPr lang="zh-CN" altLang="en-US" b="1" kern="0" dirty="0">
              <a:solidFill>
                <a:sysClr val="window" lastClr="FFFFFF">
                  <a:lumMod val="95000"/>
                </a:sys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611560" y="631563"/>
            <a:ext cx="7992888" cy="0"/>
          </a:xfrm>
          <a:prstGeom prst="line">
            <a:avLst/>
          </a:prstGeom>
          <a:ln w="28575">
            <a:solidFill>
              <a:srgbClr val="1D8D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609349" y="4651813"/>
            <a:ext cx="8000448" cy="1354432"/>
          </a:xfrm>
          <a:prstGeom prst="rect">
            <a:avLst/>
          </a:prstGeom>
          <a:noFill/>
          <a:ln>
            <a:solidFill>
              <a:srgbClr val="1D8D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3"/>
          <p:cNvSpPr>
            <a:spLocks noChangeArrowheads="1"/>
          </p:cNvSpPr>
          <p:nvPr/>
        </p:nvSpPr>
        <p:spPr bwMode="auto">
          <a:xfrm>
            <a:off x="611382" y="4704518"/>
            <a:ext cx="7993066" cy="1283428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             </a:t>
            </a:r>
            <a:r>
              <a:rPr lang="en-US" altLang="zh-CN" sz="2000" b="1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MOV</a:t>
            </a:r>
            <a:r>
              <a:rPr lang="en-US" altLang="zh-CN" sz="20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  </a:t>
            </a:r>
            <a:r>
              <a:rPr lang="en-US" altLang="zh-CN" sz="20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BX</a:t>
            </a:r>
            <a:r>
              <a:rPr lang="en-US" altLang="zh-CN" sz="20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, 2000H</a:t>
            </a:r>
            <a:r>
              <a:rPr lang="zh-CN" altLang="en-US" sz="20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                     </a:t>
            </a:r>
            <a:r>
              <a:rPr lang="en-US" altLang="zh-CN" sz="2000" b="1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MOV</a:t>
            </a:r>
            <a:r>
              <a:rPr lang="en-US" altLang="zh-CN" sz="20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  </a:t>
            </a:r>
            <a:r>
              <a:rPr lang="en-US" altLang="zh-CN" sz="20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BX</a:t>
            </a:r>
            <a:r>
              <a:rPr lang="en-US" altLang="zh-CN" sz="20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, 2000H</a:t>
            </a:r>
          </a:p>
          <a:p>
            <a:pPr>
              <a:lnSpc>
                <a:spcPct val="129000"/>
              </a:lnSpc>
              <a:defRPr/>
            </a:pPr>
            <a:r>
              <a:rPr lang="zh-CN" altLang="en-US" sz="20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             </a:t>
            </a:r>
            <a:r>
              <a:rPr lang="en-US" altLang="zh-CN" sz="2000" b="1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MOV</a:t>
            </a:r>
            <a:r>
              <a:rPr lang="en-US" altLang="zh-CN" sz="20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  </a:t>
            </a:r>
            <a:r>
              <a:rPr lang="en-US" altLang="zh-CN" sz="20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AL</a:t>
            </a:r>
            <a:r>
              <a:rPr lang="en-US" altLang="zh-CN" sz="20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, 0BH                         </a:t>
            </a:r>
            <a:r>
              <a:rPr lang="en-US" altLang="zh-CN" sz="2000" b="1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MOV</a:t>
            </a:r>
            <a:r>
              <a:rPr lang="en-US" altLang="zh-CN" sz="20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   </a:t>
            </a:r>
            <a:r>
              <a:rPr lang="en-US" altLang="zh-CN" sz="20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SI</a:t>
            </a:r>
            <a:r>
              <a:rPr lang="en-US" altLang="zh-CN" sz="20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,  0BH</a:t>
            </a:r>
          </a:p>
          <a:p>
            <a:pPr>
              <a:lnSpc>
                <a:spcPct val="129000"/>
              </a:lnSpc>
              <a:defRPr/>
            </a:pPr>
            <a:r>
              <a:rPr lang="zh-CN" altLang="en-US" sz="20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             </a:t>
            </a:r>
            <a:r>
              <a:rPr lang="en-US" altLang="zh-CN" sz="2000" b="1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XLAT</a:t>
            </a:r>
            <a:r>
              <a:rPr lang="en-US" altLang="zh-CN" sz="20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                                        </a:t>
            </a:r>
            <a:r>
              <a:rPr lang="en-US" altLang="zh-CN" sz="2000" b="1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MOV</a:t>
            </a:r>
            <a:r>
              <a:rPr lang="en-US" altLang="zh-CN" sz="20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   </a:t>
            </a:r>
            <a:r>
              <a:rPr lang="en-US" altLang="zh-CN" sz="20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AL</a:t>
            </a:r>
            <a:r>
              <a:rPr lang="en-US" altLang="zh-CN" sz="20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, [BX][SI]</a:t>
            </a:r>
            <a:endParaRPr lang="zh-CN" altLang="en-US" sz="20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11" name="直接连接符 10"/>
          <p:cNvCxnSpPr/>
          <p:nvPr/>
        </p:nvCxnSpPr>
        <p:spPr>
          <a:xfrm>
            <a:off x="4719784" y="1181038"/>
            <a:ext cx="0" cy="3328082"/>
          </a:xfrm>
          <a:prstGeom prst="line">
            <a:avLst/>
          </a:prstGeom>
          <a:ln w="12700">
            <a:solidFill>
              <a:srgbClr val="1D8D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/>
          <p:cNvSpPr/>
          <p:nvPr/>
        </p:nvSpPr>
        <p:spPr>
          <a:xfrm>
            <a:off x="6300436" y="3295097"/>
            <a:ext cx="1152128" cy="40743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D7A2A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</a:rPr>
              <a:t>42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/>
              <a:ea typeface="微软雅黑" panose="020B0503020204020204" pitchFamily="3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6300436" y="2881706"/>
            <a:ext cx="1152128" cy="40743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D7A2A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</a:rPr>
              <a:t>41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/>
              <a:ea typeface="微软雅黑" panose="020B0503020204020204" pitchFamily="3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6300436" y="2474131"/>
            <a:ext cx="1152128" cy="40743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D7A2A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</a:rPr>
              <a:t>39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/>
              <a:ea typeface="微软雅黑" panose="020B0503020204020204" pitchFamily="34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6299992" y="2063721"/>
            <a:ext cx="1152128" cy="40743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D7A2A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</a:rPr>
              <a:t>…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299992" y="1650622"/>
            <a:ext cx="1152128" cy="40743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D7A2A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</a:rPr>
              <a:t>31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/>
              <a:ea typeface="微软雅黑" panose="020B0503020204020204" pitchFamily="34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6300440" y="3696209"/>
            <a:ext cx="1152128" cy="40743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D7A2A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</a:rPr>
              <a:t>…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/>
              <a:ea typeface="微软雅黑" panose="020B0503020204020204" pitchFamily="34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6300436" y="4101690"/>
            <a:ext cx="1152128" cy="40743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D7A2A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</a:rPr>
              <a:t>46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/>
              <a:ea typeface="微软雅黑" panose="020B0503020204020204" pitchFamily="34" charset="-122"/>
            </a:endParaRPr>
          </a:p>
        </p:txBody>
      </p:sp>
      <p:sp>
        <p:nvSpPr>
          <p:cNvPr id="25" name="矩形 4"/>
          <p:cNvSpPr>
            <a:spLocks noChangeArrowheads="1"/>
          </p:cNvSpPr>
          <p:nvPr/>
        </p:nvSpPr>
        <p:spPr bwMode="auto">
          <a:xfrm>
            <a:off x="5220072" y="1247200"/>
            <a:ext cx="1212522" cy="4173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42000H</a:t>
            </a:r>
            <a:endParaRPr lang="zh-CN" altLang="en-US" sz="2000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6299992" y="1251975"/>
            <a:ext cx="1152128" cy="40743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D7A2A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</a:rPr>
              <a:t>30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/>
              <a:ea typeface="微软雅黑" panose="020B0503020204020204" pitchFamily="34" charset="-122"/>
            </a:endParaRPr>
          </a:p>
        </p:txBody>
      </p:sp>
      <p:sp>
        <p:nvSpPr>
          <p:cNvPr id="27" name="矩形 4"/>
          <p:cNvSpPr>
            <a:spLocks noChangeArrowheads="1"/>
          </p:cNvSpPr>
          <p:nvPr/>
        </p:nvSpPr>
        <p:spPr bwMode="auto">
          <a:xfrm>
            <a:off x="5220072" y="3275871"/>
            <a:ext cx="1212522" cy="4173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4200BH</a:t>
            </a:r>
            <a:endParaRPr lang="zh-CN" altLang="en-US" sz="2000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8" name="矩形 4"/>
          <p:cNvSpPr>
            <a:spLocks noChangeArrowheads="1"/>
          </p:cNvSpPr>
          <p:nvPr/>
        </p:nvSpPr>
        <p:spPr bwMode="auto">
          <a:xfrm>
            <a:off x="7485547" y="1247011"/>
            <a:ext cx="1212522" cy="4524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‘0’</a:t>
            </a:r>
            <a:endParaRPr lang="zh-CN" altLang="en-US" sz="2000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9" name="矩形 4"/>
          <p:cNvSpPr>
            <a:spLocks noChangeArrowheads="1"/>
          </p:cNvSpPr>
          <p:nvPr/>
        </p:nvSpPr>
        <p:spPr bwMode="auto">
          <a:xfrm>
            <a:off x="7452120" y="3275871"/>
            <a:ext cx="1212522" cy="4524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‘B’</a:t>
            </a:r>
            <a:endParaRPr lang="zh-CN" altLang="en-US" sz="2000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左右箭头 2"/>
          <p:cNvSpPr/>
          <p:nvPr/>
        </p:nvSpPr>
        <p:spPr>
          <a:xfrm>
            <a:off x="4467756" y="5077769"/>
            <a:ext cx="504056" cy="288032"/>
          </a:xfrm>
          <a:prstGeom prst="leftRightArrow">
            <a:avLst/>
          </a:prstGeom>
          <a:solidFill>
            <a:srgbClr val="FF9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64829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/>
      <p:bldP spid="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椭圆 8"/>
          <p:cNvSpPr/>
          <p:nvPr/>
        </p:nvSpPr>
        <p:spPr>
          <a:xfrm>
            <a:off x="8461631" y="6348095"/>
            <a:ext cx="360000" cy="360000"/>
          </a:xfrm>
          <a:prstGeom prst="ellipse">
            <a:avLst/>
          </a:prstGeom>
          <a:solidFill>
            <a:schemeClr val="bg1">
              <a:lumMod val="75000"/>
              <a:alpha val="3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Box 15"/>
          <p:cNvSpPr txBox="1"/>
          <p:nvPr/>
        </p:nvSpPr>
        <p:spPr>
          <a:xfrm>
            <a:off x="8316416" y="6358818"/>
            <a:ext cx="6504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2EEF1883-7A0E-4F66-9932-E581691AD397}" type="slidenum">
              <a:rPr lang="zh-CN" altLang="en-US" sz="160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pPr algn="ctr"/>
              <a:t>14</a:t>
            </a:fld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 </a:t>
            </a:r>
            <a:endParaRPr lang="zh-CN" altLang="en-US" sz="1600" b="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2" name="TextBox 15"/>
          <p:cNvSpPr txBox="1">
            <a:spLocks noChangeArrowheads="1"/>
          </p:cNvSpPr>
          <p:nvPr/>
        </p:nvSpPr>
        <p:spPr bwMode="auto">
          <a:xfrm>
            <a:off x="2966244" y="4005064"/>
            <a:ext cx="3405956" cy="25152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67730" tIns="33865" rIns="67730" bIns="33865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9pPr>
          </a:lstStyle>
          <a:p>
            <a:pPr defTabSz="762000">
              <a:lnSpc>
                <a:spcPct val="150000"/>
              </a:lnSpc>
              <a:spcAft>
                <a:spcPts val="600"/>
              </a:spcAft>
              <a:buFont typeface="Wingdings" pitchFamily="2" charset="2"/>
              <a:buChar char="u"/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通用数据传送指令</a:t>
            </a:r>
            <a:endParaRPr lang="en-US" altLang="zh-CN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defTabSz="762000">
              <a:lnSpc>
                <a:spcPct val="150000"/>
              </a:lnSpc>
              <a:spcAft>
                <a:spcPts val="600"/>
              </a:spcAft>
              <a:buFont typeface="Wingdings" pitchFamily="2" charset="2"/>
              <a:buChar char="u"/>
            </a:pPr>
            <a:r>
              <a:rPr lang="en-US" altLang="zh-CN" sz="24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4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目标地址传送指令</a:t>
            </a:r>
            <a:endParaRPr lang="en-US" altLang="zh-CN" sz="2400" b="1" dirty="0">
              <a:solidFill>
                <a:srgbClr val="FF3255"/>
              </a:solidFill>
              <a:latin typeface="微软雅黑" pitchFamily="34" charset="-122"/>
              <a:ea typeface="微软雅黑" pitchFamily="34" charset="-122"/>
            </a:endParaRPr>
          </a:p>
          <a:p>
            <a:pPr defTabSz="762000">
              <a:lnSpc>
                <a:spcPct val="150000"/>
              </a:lnSpc>
              <a:spcAft>
                <a:spcPts val="600"/>
              </a:spcAft>
              <a:buFont typeface="Wingdings" pitchFamily="2" charset="2"/>
              <a:buChar char="u"/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标志寄存器传送指令</a:t>
            </a:r>
            <a:endParaRPr lang="en-US" altLang="zh-CN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defTabSz="762000">
              <a:lnSpc>
                <a:spcPct val="150000"/>
              </a:lnSpc>
              <a:spcAft>
                <a:spcPts val="600"/>
              </a:spcAft>
              <a:buFont typeface="Wingdings" pitchFamily="2" charset="2"/>
              <a:buChar char="u"/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I/O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数据传送指令</a:t>
            </a:r>
            <a:endParaRPr lang="en-US" altLang="zh-CN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" name="TextBox 2"/>
          <p:cNvSpPr txBox="1"/>
          <p:nvPr/>
        </p:nvSpPr>
        <p:spPr>
          <a:xfrm>
            <a:off x="1620044" y="1848644"/>
            <a:ext cx="1107996" cy="369332"/>
          </a:xfrm>
          <a:prstGeom prst="rect">
            <a:avLst/>
          </a:prstGeom>
          <a:solidFill>
            <a:sysClr val="window" lastClr="FFFFFF">
              <a:lumMod val="85000"/>
            </a:sysClr>
          </a:solidFill>
        </p:spPr>
        <p:txBody>
          <a:bodyPr wrap="non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9pPr>
          </a:lstStyle>
          <a:p>
            <a:pPr>
              <a:defRPr/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第一小节</a:t>
            </a:r>
          </a:p>
        </p:txBody>
      </p:sp>
      <p:cxnSp>
        <p:nvCxnSpPr>
          <p:cNvPr id="14" name="直接连接符 13"/>
          <p:cNvCxnSpPr/>
          <p:nvPr/>
        </p:nvCxnSpPr>
        <p:spPr>
          <a:xfrm>
            <a:off x="1404144" y="2207419"/>
            <a:ext cx="6264275" cy="1587"/>
          </a:xfrm>
          <a:prstGeom prst="line">
            <a:avLst/>
          </a:prstGeom>
          <a:noFill/>
          <a:ln w="9525" cap="flat" cmpd="sng" algn="ctr">
            <a:solidFill>
              <a:sysClr val="window" lastClr="FFFFFF">
                <a:lumMod val="85000"/>
              </a:sysClr>
            </a:solidFill>
            <a:prstDash val="solid"/>
          </a:ln>
          <a:effectLst/>
        </p:spPr>
      </p:cxnSp>
      <p:cxnSp>
        <p:nvCxnSpPr>
          <p:cNvPr id="15" name="直接连接符 14"/>
          <p:cNvCxnSpPr/>
          <p:nvPr/>
        </p:nvCxnSpPr>
        <p:spPr>
          <a:xfrm>
            <a:off x="1475582" y="3936206"/>
            <a:ext cx="6264275" cy="1588"/>
          </a:xfrm>
          <a:prstGeom prst="line">
            <a:avLst/>
          </a:prstGeom>
          <a:noFill/>
          <a:ln w="9525" cap="flat" cmpd="sng" algn="ctr">
            <a:solidFill>
              <a:sysClr val="window" lastClr="FFFFFF">
                <a:lumMod val="85000"/>
              </a:sysClr>
            </a:solidFill>
            <a:prstDash val="solid"/>
          </a:ln>
          <a:effectLst/>
        </p:spPr>
      </p:cxnSp>
      <p:sp>
        <p:nvSpPr>
          <p:cNvPr id="16" name="TextBox 10"/>
          <p:cNvSpPr txBox="1">
            <a:spLocks noChangeArrowheads="1"/>
          </p:cNvSpPr>
          <p:nvPr/>
        </p:nvSpPr>
        <p:spPr bwMode="auto">
          <a:xfrm>
            <a:off x="1835697" y="2514157"/>
            <a:ext cx="6985934" cy="11621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>
              <a:lnSpc>
                <a:spcPct val="114000"/>
              </a:lnSpc>
            </a:pPr>
            <a:r>
              <a:rPr lang="zh-CN" altLang="en-US" sz="6600" b="1" dirty="0">
                <a:solidFill>
                  <a:srgbClr val="00C4F0"/>
                </a:solidFill>
                <a:latin typeface="微软雅黑" pitchFamily="34" charset="-122"/>
                <a:ea typeface="微软雅黑" pitchFamily="34" charset="-122"/>
              </a:rPr>
              <a:t>数据传送指令</a:t>
            </a:r>
            <a:endParaRPr lang="zh-CN" altLang="en-US" sz="80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78111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 animBg="1"/>
      <p:bldP spid="1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467544" y="1412776"/>
            <a:ext cx="8424936" cy="3672408"/>
          </a:xfrm>
          <a:prstGeom prst="rect">
            <a:avLst/>
          </a:prstGeom>
          <a:ln>
            <a:solidFill>
              <a:srgbClr val="0883C8"/>
            </a:solidFill>
            <a:prstDash val="dash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Box 17"/>
          <p:cNvSpPr txBox="1"/>
          <p:nvPr/>
        </p:nvSpPr>
        <p:spPr>
          <a:xfrm>
            <a:off x="683568" y="1457128"/>
            <a:ext cx="8280920" cy="35309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en-US" altLang="zh-CN" sz="24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LEA </a:t>
            </a:r>
            <a:r>
              <a:rPr lang="en-US" altLang="zh-CN" sz="2400" b="1" dirty="0" err="1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reg</a:t>
            </a:r>
            <a:r>
              <a:rPr lang="en-US" altLang="zh-CN" sz="24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,  </a:t>
            </a:r>
            <a:r>
              <a:rPr lang="en-US" altLang="zh-CN" sz="2400" b="1" dirty="0" err="1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src</a:t>
            </a:r>
            <a:r>
              <a:rPr lang="zh-CN" alt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：取源操作数的偏移地址送至目标操作数（寄存器）。</a:t>
            </a:r>
            <a:endParaRPr lang="en-US" altLang="zh-CN" sz="24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每个进程都有自己的页表，即虚拟地址到物理地址的映射函数。所以同样的线性地址，被映射到不同的物理地址</a:t>
            </a:r>
            <a:endParaRPr lang="en-US" altLang="zh-CN" sz="24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en-US" altLang="zh-CN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LES  </a:t>
            </a:r>
            <a:r>
              <a:rPr lang="en-US" altLang="zh-CN" sz="2400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reg</a:t>
            </a:r>
            <a:r>
              <a:rPr lang="en-US" altLang="zh-CN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,  </a:t>
            </a:r>
            <a:r>
              <a:rPr lang="en-US" altLang="zh-CN" sz="2400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src</a:t>
            </a:r>
            <a:r>
              <a:rPr lang="zh-CN" alt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：指针送寄存器和</a:t>
            </a:r>
            <a:r>
              <a:rPr lang="en-US" altLang="zh-CN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ES</a:t>
            </a:r>
            <a:r>
              <a:rPr lang="zh-CN" alt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， </a:t>
            </a:r>
            <a:r>
              <a:rPr lang="en-US" altLang="zh-CN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[</a:t>
            </a:r>
            <a:r>
              <a:rPr lang="en-US" altLang="zh-CN" sz="2400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src</a:t>
            </a:r>
            <a:r>
              <a:rPr lang="en-US" altLang="zh-CN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]</a:t>
            </a:r>
            <a:r>
              <a:rPr lang="en-US" altLang="zh-CN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  <a:sym typeface="Wingdings" panose="05000000000000000000" pitchFamily="2" charset="2"/>
              </a:rPr>
              <a:t></a:t>
            </a:r>
            <a:r>
              <a:rPr lang="en-US" altLang="zh-CN" sz="2400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  <a:sym typeface="Wingdings" panose="05000000000000000000" pitchFamily="2" charset="2"/>
              </a:rPr>
              <a:t>reg</a:t>
            </a:r>
            <a:r>
              <a:rPr lang="en-US" altLang="zh-CN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  <a:sym typeface="Wingdings" panose="05000000000000000000" pitchFamily="2" charset="2"/>
              </a:rPr>
              <a:t>, [src+2]ES</a:t>
            </a: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  <a:sym typeface="Wingdings" panose="05000000000000000000" pitchFamily="2" charset="2"/>
              </a:rPr>
              <a:t>三个指令的目标操作数必须是寄存器。</a:t>
            </a:r>
            <a:endParaRPr lang="en-US" altLang="zh-CN" sz="24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6" name="直接连接符 5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目标地址传送指令</a:t>
            </a:r>
            <a:endParaRPr lang="zh-CN" altLang="en-US" sz="32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25" name="TextBox 10"/>
          <p:cNvSpPr txBox="1">
            <a:spLocks noChangeArrowheads="1"/>
          </p:cNvSpPr>
          <p:nvPr/>
        </p:nvSpPr>
        <p:spPr bwMode="auto">
          <a:xfrm>
            <a:off x="1331640" y="5157192"/>
            <a:ext cx="6696744" cy="1074781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lnSpc>
                <a:spcPct val="114000"/>
              </a:lnSpc>
            </a:pPr>
            <a:r>
              <a:rPr lang="en-US" altLang="zh-CN" sz="28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              LEA BX, [SI+10H]</a:t>
            </a:r>
            <a:endParaRPr lang="en-US" altLang="zh-CN" sz="2800" b="1" dirty="0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14000"/>
              </a:lnSpc>
            </a:pPr>
            <a:r>
              <a:rPr lang="zh-CN" altLang="en-US" sz="28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如果 </a:t>
            </a:r>
            <a:r>
              <a:rPr lang="en-US" altLang="zh-CN" sz="28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SI=1000H</a:t>
            </a:r>
            <a:r>
              <a:rPr lang="zh-CN" altLang="en-US" sz="28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，执行后：</a:t>
            </a:r>
            <a:r>
              <a:rPr lang="en-US" altLang="zh-CN" sz="28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BX=1010H</a:t>
            </a:r>
            <a:endParaRPr lang="zh-CN" altLang="en-US" sz="7200" b="1" dirty="0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75190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3538175" y="3017136"/>
            <a:ext cx="211" cy="23762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/>
        </p:nvCxnSpPr>
        <p:spPr>
          <a:xfrm>
            <a:off x="4690303" y="3017136"/>
            <a:ext cx="633" cy="23762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>
            <a:off x="3538175" y="3901951"/>
            <a:ext cx="1152128" cy="50405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D7A2A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538175" y="3402916"/>
            <a:ext cx="1152128" cy="50405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D7A2A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994633" y="2996952"/>
            <a:ext cx="2159818" cy="66825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D7A2A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/>
              <a:ea typeface="微软雅黑" panose="020B0503020204020204" pitchFamily="34" charset="-122"/>
            </a:endParaRPr>
          </a:p>
        </p:txBody>
      </p:sp>
      <p:sp>
        <p:nvSpPr>
          <p:cNvPr id="7" name="矩形 4"/>
          <p:cNvSpPr>
            <a:spLocks noChangeArrowheads="1"/>
          </p:cNvSpPr>
          <p:nvPr/>
        </p:nvSpPr>
        <p:spPr bwMode="auto">
          <a:xfrm>
            <a:off x="5198241" y="3009445"/>
            <a:ext cx="795969" cy="5979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28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 SI</a:t>
            </a:r>
            <a:endParaRPr lang="zh-CN" altLang="en-US" sz="2800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3538179" y="4400986"/>
            <a:ext cx="1152128" cy="50405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D7A2A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/>
              <a:ea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538175" y="4903093"/>
            <a:ext cx="1152128" cy="50405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D7A2A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/>
              <a:ea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012581" y="3717032"/>
            <a:ext cx="2159818" cy="66825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D7A2A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/>
              <a:ea typeface="微软雅黑" panose="020B0503020204020204" pitchFamily="34" charset="-122"/>
            </a:endParaRPr>
          </a:p>
        </p:txBody>
      </p:sp>
      <p:sp>
        <p:nvSpPr>
          <p:cNvPr id="11" name="矩形 4"/>
          <p:cNvSpPr>
            <a:spLocks noChangeArrowheads="1"/>
          </p:cNvSpPr>
          <p:nvPr/>
        </p:nvSpPr>
        <p:spPr bwMode="auto">
          <a:xfrm>
            <a:off x="5216189" y="3729525"/>
            <a:ext cx="795969" cy="5979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28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DS</a:t>
            </a:r>
            <a:endParaRPr lang="zh-CN" altLang="en-US" sz="2800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" name="矩形 4"/>
          <p:cNvSpPr>
            <a:spLocks noChangeArrowheads="1"/>
          </p:cNvSpPr>
          <p:nvPr/>
        </p:nvSpPr>
        <p:spPr bwMode="auto">
          <a:xfrm>
            <a:off x="1907704" y="4434882"/>
            <a:ext cx="1656183" cy="4534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20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DS</a:t>
            </a:r>
            <a:r>
              <a:rPr lang="zh-CN" altLang="en-US" sz="20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en-US" altLang="zh-CN" sz="20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2482H</a:t>
            </a:r>
            <a:endParaRPr lang="zh-CN" altLang="en-US" sz="2000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" name="矩形 4"/>
          <p:cNvSpPr>
            <a:spLocks noChangeArrowheads="1"/>
          </p:cNvSpPr>
          <p:nvPr/>
        </p:nvSpPr>
        <p:spPr bwMode="auto">
          <a:xfrm>
            <a:off x="1907704" y="3426452"/>
            <a:ext cx="1653026" cy="4924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20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DS</a:t>
            </a:r>
            <a:r>
              <a:rPr lang="zh-CN" altLang="en-US" sz="20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en-US" altLang="zh-CN" sz="20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2480H</a:t>
            </a:r>
            <a:endParaRPr lang="zh-CN" altLang="en-US" sz="2000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" name="矩形 4"/>
          <p:cNvSpPr>
            <a:spLocks noChangeArrowheads="1"/>
          </p:cNvSpPr>
          <p:nvPr/>
        </p:nvSpPr>
        <p:spPr bwMode="auto">
          <a:xfrm>
            <a:off x="3898215" y="4872760"/>
            <a:ext cx="576064" cy="5724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24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24</a:t>
            </a:r>
            <a:endParaRPr lang="zh-CN" altLang="en-US" sz="2000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5" name="矩形 4"/>
          <p:cNvSpPr>
            <a:spLocks noChangeArrowheads="1"/>
          </p:cNvSpPr>
          <p:nvPr/>
        </p:nvSpPr>
        <p:spPr bwMode="auto">
          <a:xfrm>
            <a:off x="3898215" y="4872760"/>
            <a:ext cx="576064" cy="5724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24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24</a:t>
            </a:r>
            <a:endParaRPr lang="zh-CN" altLang="en-US" sz="2000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6" name="矩形 15"/>
          <p:cNvSpPr>
            <a:spLocks noChangeArrowheads="1"/>
          </p:cNvSpPr>
          <p:nvPr/>
        </p:nvSpPr>
        <p:spPr bwMode="auto">
          <a:xfrm>
            <a:off x="3898215" y="4415511"/>
            <a:ext cx="576064" cy="5256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24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68</a:t>
            </a:r>
            <a:endParaRPr lang="zh-CN" altLang="en-US" sz="2000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7" name="矩形 4"/>
          <p:cNvSpPr>
            <a:spLocks noChangeArrowheads="1"/>
          </p:cNvSpPr>
          <p:nvPr/>
        </p:nvSpPr>
        <p:spPr bwMode="auto">
          <a:xfrm>
            <a:off x="3898215" y="4408311"/>
            <a:ext cx="576064" cy="5256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24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68</a:t>
            </a:r>
            <a:endParaRPr lang="zh-CN" altLang="en-US" sz="2000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8" name="矩形 17"/>
          <p:cNvSpPr>
            <a:spLocks noChangeArrowheads="1"/>
          </p:cNvSpPr>
          <p:nvPr/>
        </p:nvSpPr>
        <p:spPr bwMode="auto">
          <a:xfrm>
            <a:off x="3898215" y="3911455"/>
            <a:ext cx="576064" cy="5256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24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13</a:t>
            </a:r>
            <a:endParaRPr lang="zh-CN" altLang="en-US" sz="2000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9" name="矩形 4"/>
          <p:cNvSpPr>
            <a:spLocks noChangeArrowheads="1"/>
          </p:cNvSpPr>
          <p:nvPr/>
        </p:nvSpPr>
        <p:spPr bwMode="auto">
          <a:xfrm>
            <a:off x="3898215" y="3907855"/>
            <a:ext cx="576064" cy="5256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24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13</a:t>
            </a:r>
            <a:endParaRPr lang="zh-CN" altLang="en-US" sz="2000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0" name="矩形 19"/>
          <p:cNvSpPr>
            <a:spLocks noChangeArrowheads="1"/>
          </p:cNvSpPr>
          <p:nvPr/>
        </p:nvSpPr>
        <p:spPr bwMode="auto">
          <a:xfrm>
            <a:off x="3898215" y="3432600"/>
            <a:ext cx="576064" cy="5724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24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57</a:t>
            </a:r>
            <a:endParaRPr lang="zh-CN" altLang="en-US" sz="2000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1" name="矩形 4"/>
          <p:cNvSpPr>
            <a:spLocks noChangeArrowheads="1"/>
          </p:cNvSpPr>
          <p:nvPr/>
        </p:nvSpPr>
        <p:spPr bwMode="auto">
          <a:xfrm>
            <a:off x="3898215" y="3403799"/>
            <a:ext cx="576064" cy="5724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24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57</a:t>
            </a:r>
            <a:endParaRPr lang="zh-CN" altLang="en-US" sz="2000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2" name="TextBox 10"/>
          <p:cNvSpPr txBox="1">
            <a:spLocks noChangeArrowheads="1"/>
          </p:cNvSpPr>
          <p:nvPr/>
        </p:nvSpPr>
        <p:spPr bwMode="auto">
          <a:xfrm>
            <a:off x="1619250" y="1451508"/>
            <a:ext cx="5905500" cy="723916"/>
          </a:xfrm>
          <a:prstGeom prst="rect">
            <a:avLst/>
          </a:prstGeom>
          <a:noFill/>
          <a:ln w="9525">
            <a:solidFill>
              <a:srgbClr val="1D8DE5"/>
            </a:solidFill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>
              <a:lnSpc>
                <a:spcPct val="114000"/>
              </a:lnSpc>
            </a:pPr>
            <a:r>
              <a:rPr lang="en-US" altLang="zh-CN" sz="36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LDS SI, [2480]</a:t>
            </a:r>
            <a:endParaRPr lang="zh-CN" altLang="en-US" sz="8800" b="1" dirty="0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23" name="直接连接符 22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24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目标地址传送指令</a:t>
            </a:r>
            <a:endParaRPr lang="zh-CN" altLang="en-US" sz="32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25" name="直接连接符 24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</p:spTree>
    <p:extLst>
      <p:ext uri="{BB962C8B-B14F-4D97-AF65-F5344CB8AC3E}">
        <p14:creationId xmlns:p14="http://schemas.microsoft.com/office/powerpoint/2010/main" val="1381358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7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2222E-6 1.48148E-6 L -4.72222E-6 -0.02708 C -4.72222E-6 -0.03935 0.10625 -0.05417 0.19289 -0.05417 L 0.38594 -0.05417 " pathEditMode="relative" rAng="0" ptsTypes="AAAA">
                                      <p:cBhvr>
                                        <p:cTn id="6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288" y="-270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7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2222E-6 2.59259E-6 L -4.72222E-6 -0.06482 C -4.72222E-6 -0.09398 0.08021 -0.12963 0.14566 -0.12963 L 0.29132 -0.12963 " pathEditMode="relative" rAng="0" ptsTypes="AAAA">
                                      <p:cBhvr>
                                        <p:cTn id="10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566" y="-648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7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2222E-6 -4.07407E-6 L -4.72222E-6 -0.04513 C -4.72222E-6 -0.06551 0.10625 -0.09027 0.19289 -0.09027 L 0.38594 -0.09027 " pathEditMode="relative" rAng="0" ptsTypes="AAAA">
                                      <p:cBhvr>
                                        <p:cTn id="14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288" y="-451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7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2222E-6 1.11111E-6 L -4.72222E-6 -0.07894 C -4.72222E-6 -0.11435 0.08021 -0.15764 0.14549 -0.15764 L 0.29132 -0.15764 " pathEditMode="relative" rAng="0" ptsTypes="AAAA">
                                      <p:cBhvr>
                                        <p:cTn id="18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566" y="-789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7" grpId="0"/>
      <p:bldP spid="19" grpId="0"/>
      <p:bldP spid="2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椭圆 8"/>
          <p:cNvSpPr/>
          <p:nvPr/>
        </p:nvSpPr>
        <p:spPr>
          <a:xfrm>
            <a:off x="8461631" y="6348095"/>
            <a:ext cx="360000" cy="360000"/>
          </a:xfrm>
          <a:prstGeom prst="ellipse">
            <a:avLst/>
          </a:prstGeom>
          <a:solidFill>
            <a:schemeClr val="bg1">
              <a:lumMod val="75000"/>
              <a:alpha val="3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Box 15"/>
          <p:cNvSpPr txBox="1"/>
          <p:nvPr/>
        </p:nvSpPr>
        <p:spPr>
          <a:xfrm>
            <a:off x="8316416" y="6358818"/>
            <a:ext cx="6504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2EEF1883-7A0E-4F66-9932-E581691AD397}" type="slidenum">
              <a:rPr lang="zh-CN" altLang="en-US" sz="160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pPr algn="ctr"/>
              <a:t>17</a:t>
            </a:fld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 </a:t>
            </a:r>
            <a:endParaRPr lang="zh-CN" altLang="en-US" sz="1600" b="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2" name="TextBox 15"/>
          <p:cNvSpPr txBox="1">
            <a:spLocks noChangeArrowheads="1"/>
          </p:cNvSpPr>
          <p:nvPr/>
        </p:nvSpPr>
        <p:spPr bwMode="auto">
          <a:xfrm>
            <a:off x="2966244" y="4005064"/>
            <a:ext cx="3405956" cy="25152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67730" tIns="33865" rIns="67730" bIns="33865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9pPr>
          </a:lstStyle>
          <a:p>
            <a:pPr defTabSz="762000">
              <a:lnSpc>
                <a:spcPct val="150000"/>
              </a:lnSpc>
              <a:spcAft>
                <a:spcPts val="600"/>
              </a:spcAft>
              <a:buFont typeface="Wingdings" pitchFamily="2" charset="2"/>
              <a:buChar char="u"/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通用数据传送指令</a:t>
            </a:r>
            <a:endParaRPr lang="en-US" altLang="zh-CN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defTabSz="762000">
              <a:lnSpc>
                <a:spcPct val="150000"/>
              </a:lnSpc>
              <a:spcAft>
                <a:spcPts val="600"/>
              </a:spcAft>
              <a:buFont typeface="Wingdings" pitchFamily="2" charset="2"/>
              <a:buChar char="u"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目标地址传送指令</a:t>
            </a:r>
            <a:endParaRPr lang="en-US" altLang="zh-CN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defTabSz="762000">
              <a:lnSpc>
                <a:spcPct val="150000"/>
              </a:lnSpc>
              <a:spcAft>
                <a:spcPts val="600"/>
              </a:spcAft>
              <a:buFont typeface="Wingdings" pitchFamily="2" charset="2"/>
              <a:buChar char="u"/>
            </a:pPr>
            <a:r>
              <a:rPr lang="zh-CN" altLang="en-US" sz="24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 标志寄存器传送指令</a:t>
            </a:r>
            <a:endParaRPr lang="en-US" altLang="zh-CN" sz="2400" b="1" dirty="0">
              <a:solidFill>
                <a:srgbClr val="FF3255"/>
              </a:solidFill>
              <a:latin typeface="微软雅黑" pitchFamily="34" charset="-122"/>
              <a:ea typeface="微软雅黑" pitchFamily="34" charset="-122"/>
            </a:endParaRPr>
          </a:p>
          <a:p>
            <a:pPr defTabSz="762000">
              <a:lnSpc>
                <a:spcPct val="150000"/>
              </a:lnSpc>
              <a:spcAft>
                <a:spcPts val="600"/>
              </a:spcAft>
              <a:buFont typeface="Wingdings" pitchFamily="2" charset="2"/>
              <a:buChar char="u"/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I/O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数据传送指令</a:t>
            </a:r>
            <a:endParaRPr lang="en-US" altLang="zh-CN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" name="TextBox 2"/>
          <p:cNvSpPr txBox="1"/>
          <p:nvPr/>
        </p:nvSpPr>
        <p:spPr>
          <a:xfrm>
            <a:off x="1620044" y="1848644"/>
            <a:ext cx="1107996" cy="369332"/>
          </a:xfrm>
          <a:prstGeom prst="rect">
            <a:avLst/>
          </a:prstGeom>
          <a:solidFill>
            <a:sysClr val="window" lastClr="FFFFFF">
              <a:lumMod val="85000"/>
            </a:sysClr>
          </a:solidFill>
        </p:spPr>
        <p:txBody>
          <a:bodyPr wrap="non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9pPr>
          </a:lstStyle>
          <a:p>
            <a:pPr>
              <a:defRPr/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第一小节</a:t>
            </a:r>
          </a:p>
        </p:txBody>
      </p:sp>
      <p:cxnSp>
        <p:nvCxnSpPr>
          <p:cNvPr id="14" name="直接连接符 13"/>
          <p:cNvCxnSpPr/>
          <p:nvPr/>
        </p:nvCxnSpPr>
        <p:spPr>
          <a:xfrm>
            <a:off x="1404144" y="2207419"/>
            <a:ext cx="6264275" cy="1587"/>
          </a:xfrm>
          <a:prstGeom prst="line">
            <a:avLst/>
          </a:prstGeom>
          <a:noFill/>
          <a:ln w="9525" cap="flat" cmpd="sng" algn="ctr">
            <a:solidFill>
              <a:sysClr val="window" lastClr="FFFFFF">
                <a:lumMod val="85000"/>
              </a:sysClr>
            </a:solidFill>
            <a:prstDash val="solid"/>
          </a:ln>
          <a:effectLst/>
        </p:spPr>
      </p:cxnSp>
      <p:cxnSp>
        <p:nvCxnSpPr>
          <p:cNvPr id="15" name="直接连接符 14"/>
          <p:cNvCxnSpPr/>
          <p:nvPr/>
        </p:nvCxnSpPr>
        <p:spPr>
          <a:xfrm>
            <a:off x="1475582" y="3936206"/>
            <a:ext cx="6264275" cy="1588"/>
          </a:xfrm>
          <a:prstGeom prst="line">
            <a:avLst/>
          </a:prstGeom>
          <a:noFill/>
          <a:ln w="9525" cap="flat" cmpd="sng" algn="ctr">
            <a:solidFill>
              <a:sysClr val="window" lastClr="FFFFFF">
                <a:lumMod val="85000"/>
              </a:sysClr>
            </a:solidFill>
            <a:prstDash val="solid"/>
          </a:ln>
          <a:effectLst/>
        </p:spPr>
      </p:cxnSp>
      <p:sp>
        <p:nvSpPr>
          <p:cNvPr id="16" name="TextBox 10"/>
          <p:cNvSpPr txBox="1">
            <a:spLocks noChangeArrowheads="1"/>
          </p:cNvSpPr>
          <p:nvPr/>
        </p:nvSpPr>
        <p:spPr bwMode="auto">
          <a:xfrm>
            <a:off x="1835697" y="2514157"/>
            <a:ext cx="6985934" cy="11621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>
              <a:lnSpc>
                <a:spcPct val="114000"/>
              </a:lnSpc>
            </a:pPr>
            <a:r>
              <a:rPr lang="zh-CN" altLang="en-US" sz="6600" b="1" dirty="0">
                <a:solidFill>
                  <a:srgbClr val="00C4F0"/>
                </a:solidFill>
                <a:latin typeface="微软雅黑" pitchFamily="34" charset="-122"/>
                <a:ea typeface="微软雅黑" pitchFamily="34" charset="-122"/>
              </a:rPr>
              <a:t>数据传送指令</a:t>
            </a:r>
            <a:endParaRPr lang="zh-CN" altLang="en-US" sz="80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447597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 animBg="1"/>
      <p:bldP spid="1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683568" y="1772816"/>
            <a:ext cx="7920880" cy="2232248"/>
          </a:xfrm>
          <a:prstGeom prst="rect">
            <a:avLst/>
          </a:prstGeom>
          <a:ln>
            <a:solidFill>
              <a:srgbClr val="0883C8"/>
            </a:solidFill>
            <a:prstDash val="dash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Box 17"/>
          <p:cNvSpPr txBox="1"/>
          <p:nvPr/>
        </p:nvSpPr>
        <p:spPr>
          <a:xfrm>
            <a:off x="827584" y="1817168"/>
            <a:ext cx="7671880" cy="20572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en-US" altLang="zh-CN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LAHF  </a:t>
            </a:r>
            <a:r>
              <a:rPr lang="zh-CN" alt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： 加载标志寄存器的低</a:t>
            </a:r>
            <a:r>
              <a:rPr lang="en-US" altLang="zh-CN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8</a:t>
            </a:r>
            <a:r>
              <a:rPr lang="zh-CN" alt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位到</a:t>
            </a:r>
            <a:r>
              <a:rPr lang="en-US" altLang="zh-CN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AH</a:t>
            </a:r>
            <a:r>
              <a:rPr lang="zh-CN" alt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寄存器。</a:t>
            </a:r>
            <a:endParaRPr lang="en-US" altLang="zh-CN" sz="24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en-US" altLang="zh-CN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SAHF  </a:t>
            </a:r>
            <a:r>
              <a:rPr lang="zh-CN" alt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： 将</a:t>
            </a:r>
            <a:r>
              <a:rPr lang="en-US" altLang="zh-CN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AH</a:t>
            </a:r>
            <a:r>
              <a:rPr lang="zh-CN" alt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寄存器传递给标志寄存器的低</a:t>
            </a:r>
            <a:r>
              <a:rPr lang="en-US" altLang="zh-CN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8</a:t>
            </a:r>
            <a:r>
              <a:rPr lang="zh-CN" alt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位。</a:t>
            </a:r>
            <a:endParaRPr lang="en-US" altLang="zh-CN" sz="24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en-US" altLang="zh-CN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  <a:sym typeface="Wingdings" panose="05000000000000000000" pitchFamily="2" charset="2"/>
              </a:rPr>
              <a:t>PUSHF</a:t>
            </a:r>
            <a:r>
              <a:rPr lang="zh-CN" alt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  <a:sym typeface="Wingdings" panose="05000000000000000000" pitchFamily="2" charset="2"/>
              </a:rPr>
              <a:t>： 将标志寄存器压栈。</a:t>
            </a:r>
            <a:endParaRPr lang="en-US" altLang="zh-CN" sz="24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  <a:sym typeface="Wingdings" panose="05000000000000000000" pitchFamily="2" charset="2"/>
            </a:endParaRP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en-US" altLang="zh-CN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  <a:sym typeface="Wingdings" panose="05000000000000000000" pitchFamily="2" charset="2"/>
              </a:rPr>
              <a:t>POPF  </a:t>
            </a:r>
            <a:r>
              <a:rPr lang="zh-CN" alt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  <a:sym typeface="Wingdings" panose="05000000000000000000" pitchFamily="2" charset="2"/>
              </a:rPr>
              <a:t>： 将栈顶弹出至标志寄存器。</a:t>
            </a:r>
            <a:endParaRPr lang="en-US" altLang="zh-CN" sz="24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6" name="直接连接符 5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标志寄存器传送</a:t>
            </a:r>
            <a:endParaRPr lang="zh-CN" altLang="en-US" sz="32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</p:spTree>
    <p:extLst>
      <p:ext uri="{BB962C8B-B14F-4D97-AF65-F5344CB8AC3E}">
        <p14:creationId xmlns:p14="http://schemas.microsoft.com/office/powerpoint/2010/main" val="39851214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椭圆 8"/>
          <p:cNvSpPr/>
          <p:nvPr/>
        </p:nvSpPr>
        <p:spPr>
          <a:xfrm>
            <a:off x="8461631" y="6348095"/>
            <a:ext cx="360000" cy="360000"/>
          </a:xfrm>
          <a:prstGeom prst="ellipse">
            <a:avLst/>
          </a:prstGeom>
          <a:solidFill>
            <a:schemeClr val="bg1">
              <a:lumMod val="75000"/>
              <a:alpha val="3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Box 15"/>
          <p:cNvSpPr txBox="1"/>
          <p:nvPr/>
        </p:nvSpPr>
        <p:spPr>
          <a:xfrm>
            <a:off x="8316416" y="6358818"/>
            <a:ext cx="6504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2EEF1883-7A0E-4F66-9932-E581691AD397}" type="slidenum">
              <a:rPr lang="zh-CN" altLang="en-US" sz="160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pPr algn="ctr"/>
              <a:t>19</a:t>
            </a:fld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 </a:t>
            </a:r>
            <a:endParaRPr lang="zh-CN" altLang="en-US" sz="1600" b="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2" name="TextBox 15"/>
          <p:cNvSpPr txBox="1">
            <a:spLocks noChangeArrowheads="1"/>
          </p:cNvSpPr>
          <p:nvPr/>
        </p:nvSpPr>
        <p:spPr bwMode="auto">
          <a:xfrm>
            <a:off x="2966244" y="4005064"/>
            <a:ext cx="3405956" cy="25152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67730" tIns="33865" rIns="67730" bIns="33865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9pPr>
          </a:lstStyle>
          <a:p>
            <a:pPr defTabSz="762000">
              <a:lnSpc>
                <a:spcPct val="150000"/>
              </a:lnSpc>
              <a:spcAft>
                <a:spcPts val="600"/>
              </a:spcAft>
              <a:buFont typeface="Wingdings" pitchFamily="2" charset="2"/>
              <a:buChar char="u"/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通用数据传送指令</a:t>
            </a:r>
            <a:endParaRPr lang="en-US" altLang="zh-CN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defTabSz="762000">
              <a:lnSpc>
                <a:spcPct val="150000"/>
              </a:lnSpc>
              <a:spcAft>
                <a:spcPts val="600"/>
              </a:spcAft>
              <a:buFont typeface="Wingdings" pitchFamily="2" charset="2"/>
              <a:buChar char="u"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目标地址传送指令</a:t>
            </a:r>
            <a:endParaRPr lang="en-US" altLang="zh-CN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defTabSz="762000">
              <a:lnSpc>
                <a:spcPct val="150000"/>
              </a:lnSpc>
              <a:spcAft>
                <a:spcPts val="600"/>
              </a:spcAft>
              <a:buFont typeface="Wingdings" pitchFamily="2" charset="2"/>
              <a:buChar char="u"/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标志寄存器传送指令</a:t>
            </a:r>
            <a:endParaRPr lang="en-US" altLang="zh-CN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defTabSz="762000">
              <a:lnSpc>
                <a:spcPct val="150000"/>
              </a:lnSpc>
              <a:spcAft>
                <a:spcPts val="600"/>
              </a:spcAft>
              <a:buFont typeface="Wingdings" pitchFamily="2" charset="2"/>
              <a:buChar char="u"/>
            </a:pPr>
            <a:r>
              <a:rPr lang="zh-CN" altLang="en-US" sz="24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4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I/O</a:t>
            </a:r>
            <a:r>
              <a:rPr lang="zh-CN" altLang="en-US" sz="24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数据传送指令</a:t>
            </a:r>
            <a:endParaRPr lang="en-US" altLang="zh-CN" sz="2400" b="1" dirty="0">
              <a:solidFill>
                <a:srgbClr val="FF325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" name="TextBox 2"/>
          <p:cNvSpPr txBox="1"/>
          <p:nvPr/>
        </p:nvSpPr>
        <p:spPr>
          <a:xfrm>
            <a:off x="1620044" y="1848644"/>
            <a:ext cx="1107996" cy="369332"/>
          </a:xfrm>
          <a:prstGeom prst="rect">
            <a:avLst/>
          </a:prstGeom>
          <a:solidFill>
            <a:sysClr val="window" lastClr="FFFFFF">
              <a:lumMod val="85000"/>
            </a:sysClr>
          </a:solidFill>
        </p:spPr>
        <p:txBody>
          <a:bodyPr wrap="non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9pPr>
          </a:lstStyle>
          <a:p>
            <a:pPr>
              <a:defRPr/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第一小节</a:t>
            </a:r>
          </a:p>
        </p:txBody>
      </p:sp>
      <p:cxnSp>
        <p:nvCxnSpPr>
          <p:cNvPr id="14" name="直接连接符 13"/>
          <p:cNvCxnSpPr/>
          <p:nvPr/>
        </p:nvCxnSpPr>
        <p:spPr>
          <a:xfrm>
            <a:off x="1404144" y="2207419"/>
            <a:ext cx="6264275" cy="1587"/>
          </a:xfrm>
          <a:prstGeom prst="line">
            <a:avLst/>
          </a:prstGeom>
          <a:noFill/>
          <a:ln w="9525" cap="flat" cmpd="sng" algn="ctr">
            <a:solidFill>
              <a:sysClr val="window" lastClr="FFFFFF">
                <a:lumMod val="85000"/>
              </a:sysClr>
            </a:solidFill>
            <a:prstDash val="solid"/>
          </a:ln>
          <a:effectLst/>
        </p:spPr>
      </p:cxnSp>
      <p:cxnSp>
        <p:nvCxnSpPr>
          <p:cNvPr id="15" name="直接连接符 14"/>
          <p:cNvCxnSpPr/>
          <p:nvPr/>
        </p:nvCxnSpPr>
        <p:spPr>
          <a:xfrm>
            <a:off x="1475582" y="3936206"/>
            <a:ext cx="6264275" cy="1588"/>
          </a:xfrm>
          <a:prstGeom prst="line">
            <a:avLst/>
          </a:prstGeom>
          <a:noFill/>
          <a:ln w="9525" cap="flat" cmpd="sng" algn="ctr">
            <a:solidFill>
              <a:sysClr val="window" lastClr="FFFFFF">
                <a:lumMod val="85000"/>
              </a:sysClr>
            </a:solidFill>
            <a:prstDash val="solid"/>
          </a:ln>
          <a:effectLst/>
        </p:spPr>
      </p:cxnSp>
      <p:sp>
        <p:nvSpPr>
          <p:cNvPr id="16" name="TextBox 10"/>
          <p:cNvSpPr txBox="1">
            <a:spLocks noChangeArrowheads="1"/>
          </p:cNvSpPr>
          <p:nvPr/>
        </p:nvSpPr>
        <p:spPr bwMode="auto">
          <a:xfrm>
            <a:off x="1835697" y="2514157"/>
            <a:ext cx="6985934" cy="11621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>
              <a:lnSpc>
                <a:spcPct val="114000"/>
              </a:lnSpc>
            </a:pPr>
            <a:r>
              <a:rPr lang="zh-CN" altLang="en-US" sz="6600" b="1" dirty="0">
                <a:solidFill>
                  <a:srgbClr val="00C4F0"/>
                </a:solidFill>
                <a:latin typeface="微软雅黑" pitchFamily="34" charset="-122"/>
                <a:ea typeface="微软雅黑" pitchFamily="34" charset="-122"/>
              </a:rPr>
              <a:t>数据传送指令</a:t>
            </a:r>
            <a:endParaRPr lang="zh-CN" altLang="en-US" sz="80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08014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 animBg="1"/>
      <p:bldP spid="1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899592" y="1556792"/>
            <a:ext cx="3240360" cy="2232249"/>
          </a:xfrm>
          <a:prstGeom prst="rect">
            <a:avLst/>
          </a:prstGeom>
          <a:ln>
            <a:solidFill>
              <a:srgbClr val="0883C8"/>
            </a:solidFill>
            <a:prstDash val="dash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Box 17"/>
          <p:cNvSpPr txBox="1"/>
          <p:nvPr/>
        </p:nvSpPr>
        <p:spPr>
          <a:xfrm>
            <a:off x="1115616" y="1601144"/>
            <a:ext cx="3024336" cy="20572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en-US" altLang="zh-CN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IN AL, PORT</a:t>
            </a: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en-US" altLang="zh-CN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IN AX, PORT</a:t>
            </a: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en-US" altLang="zh-CN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IN AL, DX</a:t>
            </a: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en-US" altLang="zh-CN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IN AX, DX</a:t>
            </a:r>
          </a:p>
        </p:txBody>
      </p:sp>
      <p:cxnSp>
        <p:nvCxnSpPr>
          <p:cNvPr id="6" name="直接连接符 5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en-US" altLang="zh-CN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I/O</a:t>
            </a:r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数据传送</a:t>
            </a:r>
            <a:endParaRPr lang="zh-CN" altLang="en-US" sz="32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9" name="矩形 8"/>
          <p:cNvSpPr>
            <a:spLocks noChangeAspect="1"/>
          </p:cNvSpPr>
          <p:nvPr/>
        </p:nvSpPr>
        <p:spPr>
          <a:xfrm>
            <a:off x="4788024" y="1556792"/>
            <a:ext cx="3240360" cy="2232249"/>
          </a:xfrm>
          <a:prstGeom prst="rect">
            <a:avLst/>
          </a:prstGeom>
          <a:ln>
            <a:solidFill>
              <a:srgbClr val="0883C8"/>
            </a:solidFill>
            <a:prstDash val="dash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Box 17"/>
          <p:cNvSpPr txBox="1"/>
          <p:nvPr/>
        </p:nvSpPr>
        <p:spPr>
          <a:xfrm>
            <a:off x="5004048" y="1601144"/>
            <a:ext cx="3024336" cy="20572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en-US" altLang="zh-CN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OUT PORT, AL</a:t>
            </a: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en-US" altLang="zh-CN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OUT PORT, AX</a:t>
            </a: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en-US" altLang="zh-CN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OUT DX, AL</a:t>
            </a: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en-US" altLang="zh-CN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OUT DX, AX</a:t>
            </a:r>
          </a:p>
        </p:txBody>
      </p:sp>
      <p:sp>
        <p:nvSpPr>
          <p:cNvPr id="11" name="矩形 10"/>
          <p:cNvSpPr>
            <a:spLocks noChangeAspect="1"/>
          </p:cNvSpPr>
          <p:nvPr/>
        </p:nvSpPr>
        <p:spPr>
          <a:xfrm>
            <a:off x="899592" y="4077072"/>
            <a:ext cx="7128792" cy="1610358"/>
          </a:xfrm>
          <a:prstGeom prst="rect">
            <a:avLst/>
          </a:prstGeom>
          <a:ln>
            <a:solidFill>
              <a:srgbClr val="0883C8"/>
            </a:solidFill>
            <a:prstDash val="soli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TextBox 17"/>
          <p:cNvSpPr txBox="1"/>
          <p:nvPr/>
        </p:nvSpPr>
        <p:spPr>
          <a:xfrm>
            <a:off x="1036817" y="4121424"/>
            <a:ext cx="6974436" cy="15660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sz="24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只限于在</a:t>
            </a:r>
            <a:r>
              <a:rPr lang="en-US" altLang="zh-CN" sz="24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AL</a:t>
            </a:r>
            <a:r>
              <a:rPr lang="zh-CN" altLang="en-US" sz="24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或</a:t>
            </a:r>
            <a:r>
              <a:rPr lang="en-US" altLang="zh-CN" sz="24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AX</a:t>
            </a:r>
            <a:r>
              <a:rPr lang="zh-CN" altLang="en-US" sz="24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与</a:t>
            </a:r>
            <a:r>
              <a:rPr lang="en-US" altLang="zh-CN" sz="24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I/O</a:t>
            </a:r>
            <a:r>
              <a:rPr lang="zh-CN" altLang="en-US" sz="24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端口之间传送信息。</a:t>
            </a:r>
            <a:endParaRPr lang="en-US" altLang="zh-CN" sz="2400" b="1" dirty="0">
              <a:solidFill>
                <a:srgbClr val="FF3255"/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端口号大于</a:t>
            </a:r>
            <a:r>
              <a:rPr lang="en-US" altLang="zh-CN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255</a:t>
            </a:r>
            <a:r>
              <a:rPr lang="zh-CN" alt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zh-CN" altLang="en-US" sz="24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必须使用间接端口寻址</a:t>
            </a:r>
            <a:r>
              <a:rPr lang="zh-CN" alt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（端口号必须放在</a:t>
            </a:r>
            <a:r>
              <a:rPr lang="en-US" altLang="zh-CN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DX</a:t>
            </a:r>
            <a:r>
              <a:rPr lang="zh-CN" alt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中）。</a:t>
            </a:r>
            <a:endParaRPr lang="en-US" altLang="zh-CN" sz="24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142285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979712" y="2745963"/>
            <a:ext cx="5832859" cy="873661"/>
          </a:xfrm>
          <a:prstGeom prst="rect">
            <a:avLst/>
          </a:prstGeom>
          <a:solidFill>
            <a:srgbClr val="1D8D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源、目操作数不能同时是段寄存器。</a:t>
            </a:r>
          </a:p>
        </p:txBody>
      </p:sp>
      <p:sp>
        <p:nvSpPr>
          <p:cNvPr id="3" name="矩形 2"/>
          <p:cNvSpPr/>
          <p:nvPr/>
        </p:nvSpPr>
        <p:spPr>
          <a:xfrm>
            <a:off x="1979713" y="3877287"/>
            <a:ext cx="5832860" cy="873661"/>
          </a:xfrm>
          <a:prstGeom prst="rect">
            <a:avLst/>
          </a:prstGeom>
          <a:solidFill>
            <a:srgbClr val="5DCB0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立即数和代码段寄存器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CS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不能作目操作数。</a:t>
            </a:r>
            <a:endParaRPr lang="zh-CN" altLang="en-US" b="1" u="sng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979712" y="5003611"/>
            <a:ext cx="5832859" cy="873661"/>
          </a:xfrm>
          <a:prstGeom prst="rect">
            <a:avLst/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当目操作数是段寄存器时，源操作数不能是立即数。</a:t>
            </a:r>
            <a:endParaRPr lang="zh-CN" altLang="en-US" b="1" u="sng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979501" y="1628800"/>
            <a:ext cx="5832860" cy="873661"/>
          </a:xfrm>
          <a:prstGeom prst="rect">
            <a:avLst/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源、目操作数不能同时是存储器操作数。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483512" y="1628800"/>
            <a:ext cx="496200" cy="87366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Impact" panose="020B0806030902050204" pitchFamily="34" charset="0"/>
                <a:ea typeface="微软雅黑" panose="020B0503020204020204" pitchFamily="34" charset="-122"/>
              </a:rPr>
              <a:t>1</a:t>
            </a:r>
            <a:endParaRPr lang="zh-CN" altLang="en-US" sz="3200" dirty="0"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483512" y="2745962"/>
            <a:ext cx="496200" cy="87366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Impact" panose="020B0806030902050204" pitchFamily="34" charset="0"/>
                <a:ea typeface="微软雅黑" panose="020B0503020204020204" pitchFamily="34" charset="-122"/>
              </a:rPr>
              <a:t>2</a:t>
            </a:r>
            <a:endParaRPr lang="zh-CN" altLang="en-US" sz="3200" dirty="0"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483512" y="3877286"/>
            <a:ext cx="496200" cy="87366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Impact" panose="020B0806030902050204" pitchFamily="34" charset="0"/>
                <a:ea typeface="微软雅黑" panose="020B0503020204020204" pitchFamily="34" charset="-122"/>
              </a:rPr>
              <a:t>3</a:t>
            </a:r>
            <a:endParaRPr lang="zh-CN" altLang="en-US" sz="3200" dirty="0"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483512" y="5003609"/>
            <a:ext cx="496200" cy="87366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Impact" panose="020B0806030902050204" pitchFamily="34" charset="0"/>
                <a:ea typeface="微软雅黑" panose="020B0503020204020204" pitchFamily="34" charset="-122"/>
              </a:rPr>
              <a:t>4</a:t>
            </a:r>
            <a:endParaRPr lang="zh-CN" altLang="en-US" sz="3200" dirty="0"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13" name="直接连接符 12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14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数据传送指令小结</a:t>
            </a:r>
            <a:endParaRPr lang="zh-CN" altLang="en-US" sz="32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15" name="直接连接符 14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</p:spTree>
    <p:extLst>
      <p:ext uri="{BB962C8B-B14F-4D97-AF65-F5344CB8AC3E}">
        <p14:creationId xmlns:p14="http://schemas.microsoft.com/office/powerpoint/2010/main" val="21988206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979712" y="2745963"/>
            <a:ext cx="5832859" cy="873661"/>
          </a:xfrm>
          <a:prstGeom prst="rect">
            <a:avLst/>
          </a:prstGeom>
          <a:solidFill>
            <a:srgbClr val="1D8D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除了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XCHG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，其它数传指令仅改变目，源保持不变。</a:t>
            </a:r>
          </a:p>
        </p:txBody>
      </p:sp>
      <p:sp>
        <p:nvSpPr>
          <p:cNvPr id="3" name="矩形 2"/>
          <p:cNvSpPr/>
          <p:nvPr/>
        </p:nvSpPr>
        <p:spPr>
          <a:xfrm>
            <a:off x="1979713" y="3877287"/>
            <a:ext cx="5832860" cy="873661"/>
          </a:xfrm>
          <a:prstGeom prst="rect">
            <a:avLst/>
          </a:prstGeom>
          <a:solidFill>
            <a:srgbClr val="5DCB0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除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SAHF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POPF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指令外，其它数传指令不影响标志位。</a:t>
            </a:r>
            <a:endParaRPr lang="zh-CN" altLang="en-US" b="1" u="sng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979501" y="1628800"/>
            <a:ext cx="5832860" cy="873661"/>
          </a:xfrm>
          <a:prstGeom prst="rect">
            <a:avLst/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可以使用段寄存器的指令：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MOV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PUSH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POP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483512" y="1628800"/>
            <a:ext cx="496200" cy="87366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Impact" panose="020B0806030902050204" pitchFamily="34" charset="0"/>
                <a:ea typeface="微软雅黑" panose="020B0503020204020204" pitchFamily="34" charset="-122"/>
              </a:rPr>
              <a:t>5</a:t>
            </a:r>
            <a:endParaRPr lang="zh-CN" altLang="en-US" sz="3200" dirty="0"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483512" y="2745962"/>
            <a:ext cx="496200" cy="87366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Impact" panose="020B0806030902050204" pitchFamily="34" charset="0"/>
                <a:ea typeface="微软雅黑" panose="020B0503020204020204" pitchFamily="34" charset="-122"/>
              </a:rPr>
              <a:t>6</a:t>
            </a:r>
            <a:endParaRPr lang="zh-CN" altLang="en-US" sz="3200" dirty="0"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483512" y="3877286"/>
            <a:ext cx="496200" cy="87366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Impact" panose="020B0806030902050204" pitchFamily="34" charset="0"/>
                <a:ea typeface="微软雅黑" panose="020B0503020204020204" pitchFamily="34" charset="-122"/>
              </a:rPr>
              <a:t>7</a:t>
            </a:r>
            <a:endParaRPr lang="zh-CN" altLang="en-US" sz="3200" dirty="0"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13" name="直接连接符 12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14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数据传送指令小结</a:t>
            </a:r>
            <a:endParaRPr lang="zh-CN" altLang="en-US" sz="32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15" name="直接连接符 14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</p:spTree>
    <p:extLst>
      <p:ext uri="{BB962C8B-B14F-4D97-AF65-F5344CB8AC3E}">
        <p14:creationId xmlns:p14="http://schemas.microsoft.com/office/powerpoint/2010/main" val="26667373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椭圆 8"/>
          <p:cNvSpPr/>
          <p:nvPr/>
        </p:nvSpPr>
        <p:spPr>
          <a:xfrm>
            <a:off x="8461631" y="6348095"/>
            <a:ext cx="360000" cy="360000"/>
          </a:xfrm>
          <a:prstGeom prst="ellipse">
            <a:avLst/>
          </a:prstGeom>
          <a:solidFill>
            <a:schemeClr val="bg1">
              <a:lumMod val="75000"/>
              <a:alpha val="3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Box 15"/>
          <p:cNvSpPr txBox="1"/>
          <p:nvPr/>
        </p:nvSpPr>
        <p:spPr>
          <a:xfrm>
            <a:off x="8316416" y="6358818"/>
            <a:ext cx="6504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2EEF1883-7A0E-4F66-9932-E581691AD397}" type="slidenum">
              <a:rPr lang="zh-CN" altLang="en-US" sz="160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pPr algn="ctr"/>
              <a:t>23</a:t>
            </a:fld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 </a:t>
            </a:r>
            <a:endParaRPr lang="zh-CN" altLang="en-US" sz="1600" b="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2" name="TextBox 15"/>
          <p:cNvSpPr txBox="1">
            <a:spLocks noChangeArrowheads="1"/>
          </p:cNvSpPr>
          <p:nvPr/>
        </p:nvSpPr>
        <p:spPr bwMode="auto">
          <a:xfrm>
            <a:off x="2966244" y="4005064"/>
            <a:ext cx="3405956" cy="25152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67730" tIns="33865" rIns="67730" bIns="33865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9pPr>
          </a:lstStyle>
          <a:p>
            <a:pPr defTabSz="762000">
              <a:lnSpc>
                <a:spcPct val="150000"/>
              </a:lnSpc>
              <a:spcAft>
                <a:spcPts val="600"/>
              </a:spcAft>
              <a:buFont typeface="Wingdings" pitchFamily="2" charset="2"/>
              <a:buChar char="u"/>
            </a:pPr>
            <a:r>
              <a:rPr lang="zh-CN" altLang="en-US" sz="24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 加减法指令</a:t>
            </a:r>
            <a:endParaRPr lang="en-US" altLang="zh-CN" sz="2400" b="1" dirty="0">
              <a:solidFill>
                <a:srgbClr val="FF3255"/>
              </a:solidFill>
              <a:latin typeface="微软雅黑" pitchFamily="34" charset="-122"/>
              <a:ea typeface="微软雅黑" pitchFamily="34" charset="-122"/>
            </a:endParaRPr>
          </a:p>
          <a:p>
            <a:pPr defTabSz="762000">
              <a:lnSpc>
                <a:spcPct val="150000"/>
              </a:lnSpc>
              <a:spcAft>
                <a:spcPts val="600"/>
              </a:spcAft>
              <a:buFont typeface="Wingdings" pitchFamily="2" charset="2"/>
              <a:buChar char="u"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乘除法指令</a:t>
            </a:r>
            <a:endParaRPr lang="en-US" altLang="zh-CN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defTabSz="762000">
              <a:lnSpc>
                <a:spcPct val="150000"/>
              </a:lnSpc>
              <a:spcAft>
                <a:spcPts val="600"/>
              </a:spcAft>
              <a:buFont typeface="Wingdings" pitchFamily="2" charset="2"/>
              <a:buChar char="u"/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符号扩展指令</a:t>
            </a:r>
            <a:endParaRPr lang="en-US" altLang="zh-CN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defTabSz="762000">
              <a:lnSpc>
                <a:spcPct val="150000"/>
              </a:lnSpc>
              <a:spcAft>
                <a:spcPts val="600"/>
              </a:spcAft>
              <a:buFont typeface="Wingdings" pitchFamily="2" charset="2"/>
              <a:buChar char="u"/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十进制调整指令</a:t>
            </a:r>
            <a:endParaRPr lang="en-US" altLang="zh-CN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" name="TextBox 2"/>
          <p:cNvSpPr txBox="1"/>
          <p:nvPr/>
        </p:nvSpPr>
        <p:spPr>
          <a:xfrm>
            <a:off x="1620044" y="1848644"/>
            <a:ext cx="1107996" cy="369332"/>
          </a:xfrm>
          <a:prstGeom prst="rect">
            <a:avLst/>
          </a:prstGeom>
          <a:solidFill>
            <a:sysClr val="window" lastClr="FFFFFF">
              <a:lumMod val="85000"/>
            </a:sysClr>
          </a:solidFill>
        </p:spPr>
        <p:txBody>
          <a:bodyPr wrap="non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9pPr>
          </a:lstStyle>
          <a:p>
            <a:pPr>
              <a:defRPr/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第二小节</a:t>
            </a:r>
          </a:p>
        </p:txBody>
      </p:sp>
      <p:cxnSp>
        <p:nvCxnSpPr>
          <p:cNvPr id="14" name="直接连接符 13"/>
          <p:cNvCxnSpPr/>
          <p:nvPr/>
        </p:nvCxnSpPr>
        <p:spPr>
          <a:xfrm>
            <a:off x="1404144" y="2207419"/>
            <a:ext cx="6264275" cy="1587"/>
          </a:xfrm>
          <a:prstGeom prst="line">
            <a:avLst/>
          </a:prstGeom>
          <a:noFill/>
          <a:ln w="9525" cap="flat" cmpd="sng" algn="ctr">
            <a:solidFill>
              <a:sysClr val="window" lastClr="FFFFFF">
                <a:lumMod val="85000"/>
              </a:sysClr>
            </a:solidFill>
            <a:prstDash val="solid"/>
          </a:ln>
          <a:effectLst/>
        </p:spPr>
      </p:cxnSp>
      <p:cxnSp>
        <p:nvCxnSpPr>
          <p:cNvPr id="15" name="直接连接符 14"/>
          <p:cNvCxnSpPr/>
          <p:nvPr/>
        </p:nvCxnSpPr>
        <p:spPr>
          <a:xfrm>
            <a:off x="1475582" y="3936206"/>
            <a:ext cx="6264275" cy="1588"/>
          </a:xfrm>
          <a:prstGeom prst="line">
            <a:avLst/>
          </a:prstGeom>
          <a:noFill/>
          <a:ln w="9525" cap="flat" cmpd="sng" algn="ctr">
            <a:solidFill>
              <a:sysClr val="window" lastClr="FFFFFF">
                <a:lumMod val="85000"/>
              </a:sysClr>
            </a:solidFill>
            <a:prstDash val="solid"/>
          </a:ln>
          <a:effectLst/>
        </p:spPr>
      </p:cxnSp>
      <p:sp>
        <p:nvSpPr>
          <p:cNvPr id="16" name="TextBox 10"/>
          <p:cNvSpPr txBox="1">
            <a:spLocks noChangeArrowheads="1"/>
          </p:cNvSpPr>
          <p:nvPr/>
        </p:nvSpPr>
        <p:spPr bwMode="auto">
          <a:xfrm>
            <a:off x="1835697" y="2514157"/>
            <a:ext cx="6985934" cy="11621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>
              <a:lnSpc>
                <a:spcPct val="114000"/>
              </a:lnSpc>
            </a:pPr>
            <a:r>
              <a:rPr lang="zh-CN" altLang="en-US" sz="6600" b="1" dirty="0">
                <a:solidFill>
                  <a:srgbClr val="00C4F0"/>
                </a:solidFill>
                <a:latin typeface="微软雅黑" pitchFamily="34" charset="-122"/>
                <a:ea typeface="微软雅黑" pitchFamily="34" charset="-122"/>
              </a:rPr>
              <a:t>算术运算指令</a:t>
            </a:r>
            <a:endParaRPr lang="zh-CN" altLang="en-US" sz="80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69846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 animBg="1"/>
      <p:bldP spid="16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570070" y="2256724"/>
            <a:ext cx="2001930" cy="3116491"/>
          </a:xfrm>
          <a:prstGeom prst="rect">
            <a:avLst/>
          </a:prstGeom>
          <a:solidFill>
            <a:schemeClr val="accent1">
              <a:lumMod val="60000"/>
              <a:lumOff val="4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265814" y="2256724"/>
            <a:ext cx="2145946" cy="3116492"/>
          </a:xfrm>
          <a:prstGeom prst="rect">
            <a:avLst/>
          </a:prstGeom>
          <a:solidFill>
            <a:schemeClr val="accent1">
              <a:lumMod val="60000"/>
              <a:lumOff val="4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4730309" y="2256724"/>
            <a:ext cx="2001931" cy="3116491"/>
          </a:xfrm>
          <a:prstGeom prst="rect">
            <a:avLst/>
          </a:prstGeom>
          <a:solidFill>
            <a:schemeClr val="accent1">
              <a:lumMod val="60000"/>
              <a:lumOff val="4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6890551" y="2256724"/>
            <a:ext cx="2001929" cy="3116491"/>
          </a:xfrm>
          <a:prstGeom prst="rect">
            <a:avLst/>
          </a:prstGeom>
          <a:solidFill>
            <a:schemeClr val="accent1">
              <a:lumMod val="60000"/>
              <a:lumOff val="4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265813" y="1159444"/>
            <a:ext cx="8626665" cy="787790"/>
          </a:xfrm>
          <a:prstGeom prst="rect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算术运算指令分类</a:t>
            </a:r>
          </a:p>
        </p:txBody>
      </p:sp>
      <p:sp>
        <p:nvSpPr>
          <p:cNvPr id="7" name="任意多边形 6"/>
          <p:cNvSpPr/>
          <p:nvPr/>
        </p:nvSpPr>
        <p:spPr>
          <a:xfrm>
            <a:off x="265815" y="2889487"/>
            <a:ext cx="2145946" cy="2483728"/>
          </a:xfrm>
          <a:custGeom>
            <a:avLst/>
            <a:gdLst>
              <a:gd name="connsiteX0" fmla="*/ 1175287 w 2356338"/>
              <a:gd name="connsiteY0" fmla="*/ 0 h 2856024"/>
              <a:gd name="connsiteX1" fmla="*/ 1474827 w 2356338"/>
              <a:gd name="connsiteY1" fmla="*/ 140960 h 2856024"/>
              <a:gd name="connsiteX2" fmla="*/ 2356338 w 2356338"/>
              <a:gd name="connsiteY2" fmla="*/ 140960 h 2856024"/>
              <a:gd name="connsiteX3" fmla="*/ 2356338 w 2356338"/>
              <a:gd name="connsiteY3" fmla="*/ 2856024 h 2856024"/>
              <a:gd name="connsiteX4" fmla="*/ 0 w 2356338"/>
              <a:gd name="connsiteY4" fmla="*/ 2856024 h 2856024"/>
              <a:gd name="connsiteX5" fmla="*/ 0 w 2356338"/>
              <a:gd name="connsiteY5" fmla="*/ 140960 h 2856024"/>
              <a:gd name="connsiteX6" fmla="*/ 875747 w 2356338"/>
              <a:gd name="connsiteY6" fmla="*/ 140960 h 2856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56338" h="2856024">
                <a:moveTo>
                  <a:pt x="1175287" y="0"/>
                </a:moveTo>
                <a:lnTo>
                  <a:pt x="1474827" y="140960"/>
                </a:lnTo>
                <a:lnTo>
                  <a:pt x="2356338" y="140960"/>
                </a:lnTo>
                <a:lnTo>
                  <a:pt x="2356338" y="2856024"/>
                </a:lnTo>
                <a:lnTo>
                  <a:pt x="0" y="2856024"/>
                </a:lnTo>
                <a:lnTo>
                  <a:pt x="0" y="140960"/>
                </a:lnTo>
                <a:lnTo>
                  <a:pt x="875747" y="140960"/>
                </a:lnTo>
                <a:close/>
              </a:path>
            </a:pathLst>
          </a:cu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Ins="144000" rtlCol="0" anchor="ctr"/>
          <a:lstStyle/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en-US" altLang="zh-CN" sz="20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ADD</a:t>
            </a:r>
            <a:r>
              <a:rPr lang="zh-CN" altLang="en-US" sz="20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ADC</a:t>
            </a: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en-US" altLang="zh-CN" sz="20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INC  </a:t>
            </a:r>
            <a:r>
              <a:rPr lang="zh-CN" altLang="en-US" sz="20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DEC</a:t>
            </a: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en-US" altLang="zh-CN" sz="20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SUB </a:t>
            </a:r>
            <a:r>
              <a:rPr lang="zh-CN" altLang="en-US" sz="20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SBB</a:t>
            </a: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NEG</a:t>
            </a: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en-US" altLang="zh-CN" sz="20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CMP</a:t>
            </a:r>
          </a:p>
        </p:txBody>
      </p:sp>
      <p:sp>
        <p:nvSpPr>
          <p:cNvPr id="8" name="任意多边形 7"/>
          <p:cNvSpPr/>
          <p:nvPr/>
        </p:nvSpPr>
        <p:spPr>
          <a:xfrm>
            <a:off x="2570070" y="2889487"/>
            <a:ext cx="2001930" cy="2483728"/>
          </a:xfrm>
          <a:custGeom>
            <a:avLst/>
            <a:gdLst>
              <a:gd name="connsiteX0" fmla="*/ 1175287 w 2356338"/>
              <a:gd name="connsiteY0" fmla="*/ 0 h 2856024"/>
              <a:gd name="connsiteX1" fmla="*/ 1474827 w 2356338"/>
              <a:gd name="connsiteY1" fmla="*/ 140960 h 2856024"/>
              <a:gd name="connsiteX2" fmla="*/ 2356338 w 2356338"/>
              <a:gd name="connsiteY2" fmla="*/ 140960 h 2856024"/>
              <a:gd name="connsiteX3" fmla="*/ 2356338 w 2356338"/>
              <a:gd name="connsiteY3" fmla="*/ 2856024 h 2856024"/>
              <a:gd name="connsiteX4" fmla="*/ 0 w 2356338"/>
              <a:gd name="connsiteY4" fmla="*/ 2856024 h 2856024"/>
              <a:gd name="connsiteX5" fmla="*/ 0 w 2356338"/>
              <a:gd name="connsiteY5" fmla="*/ 140960 h 2856024"/>
              <a:gd name="connsiteX6" fmla="*/ 875747 w 2356338"/>
              <a:gd name="connsiteY6" fmla="*/ 140960 h 2856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56338" h="2856024">
                <a:moveTo>
                  <a:pt x="1175287" y="0"/>
                </a:moveTo>
                <a:lnTo>
                  <a:pt x="1474827" y="140960"/>
                </a:lnTo>
                <a:lnTo>
                  <a:pt x="2356338" y="140960"/>
                </a:lnTo>
                <a:lnTo>
                  <a:pt x="2356338" y="2856024"/>
                </a:lnTo>
                <a:lnTo>
                  <a:pt x="0" y="2856024"/>
                </a:lnTo>
                <a:lnTo>
                  <a:pt x="0" y="140960"/>
                </a:lnTo>
                <a:lnTo>
                  <a:pt x="875747" y="140960"/>
                </a:lnTo>
                <a:close/>
              </a:path>
            </a:pathLst>
          </a:cu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Ins="144000" rtlCol="0" anchor="ctr"/>
          <a:lstStyle/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en-US" altLang="zh-CN" sz="20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MUL</a:t>
            </a: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IMUL</a:t>
            </a: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en-US" altLang="zh-CN" sz="20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DIV</a:t>
            </a: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IDIV</a:t>
            </a: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n"/>
            </a:pP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任意多边形 8"/>
          <p:cNvSpPr/>
          <p:nvPr/>
        </p:nvSpPr>
        <p:spPr>
          <a:xfrm>
            <a:off x="4730309" y="2889486"/>
            <a:ext cx="2001931" cy="2483729"/>
          </a:xfrm>
          <a:custGeom>
            <a:avLst/>
            <a:gdLst>
              <a:gd name="connsiteX0" fmla="*/ 1175287 w 2356338"/>
              <a:gd name="connsiteY0" fmla="*/ 0 h 2856024"/>
              <a:gd name="connsiteX1" fmla="*/ 1474827 w 2356338"/>
              <a:gd name="connsiteY1" fmla="*/ 140960 h 2856024"/>
              <a:gd name="connsiteX2" fmla="*/ 2356338 w 2356338"/>
              <a:gd name="connsiteY2" fmla="*/ 140960 h 2856024"/>
              <a:gd name="connsiteX3" fmla="*/ 2356338 w 2356338"/>
              <a:gd name="connsiteY3" fmla="*/ 2856024 h 2856024"/>
              <a:gd name="connsiteX4" fmla="*/ 0 w 2356338"/>
              <a:gd name="connsiteY4" fmla="*/ 2856024 h 2856024"/>
              <a:gd name="connsiteX5" fmla="*/ 0 w 2356338"/>
              <a:gd name="connsiteY5" fmla="*/ 140960 h 2856024"/>
              <a:gd name="connsiteX6" fmla="*/ 875747 w 2356338"/>
              <a:gd name="connsiteY6" fmla="*/ 140960 h 2856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56338" h="2856024">
                <a:moveTo>
                  <a:pt x="1175287" y="0"/>
                </a:moveTo>
                <a:lnTo>
                  <a:pt x="1474827" y="140960"/>
                </a:lnTo>
                <a:lnTo>
                  <a:pt x="2356338" y="140960"/>
                </a:lnTo>
                <a:lnTo>
                  <a:pt x="2356338" y="2856024"/>
                </a:lnTo>
                <a:lnTo>
                  <a:pt x="0" y="2856024"/>
                </a:lnTo>
                <a:lnTo>
                  <a:pt x="0" y="140960"/>
                </a:lnTo>
                <a:lnTo>
                  <a:pt x="875747" y="140960"/>
                </a:lnTo>
                <a:close/>
              </a:path>
            </a:pathLst>
          </a:cu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Ins="144000" rtlCol="0" anchor="ctr"/>
          <a:lstStyle/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CBW</a:t>
            </a: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CWD</a:t>
            </a: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n"/>
            </a:pP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n"/>
            </a:pP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n"/>
            </a:pP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任意多边形 9"/>
          <p:cNvSpPr/>
          <p:nvPr/>
        </p:nvSpPr>
        <p:spPr>
          <a:xfrm>
            <a:off x="6890550" y="2889486"/>
            <a:ext cx="2001929" cy="2483729"/>
          </a:xfrm>
          <a:custGeom>
            <a:avLst/>
            <a:gdLst>
              <a:gd name="connsiteX0" fmla="*/ 1175287 w 2356338"/>
              <a:gd name="connsiteY0" fmla="*/ 0 h 2856024"/>
              <a:gd name="connsiteX1" fmla="*/ 1474827 w 2356338"/>
              <a:gd name="connsiteY1" fmla="*/ 140960 h 2856024"/>
              <a:gd name="connsiteX2" fmla="*/ 2356338 w 2356338"/>
              <a:gd name="connsiteY2" fmla="*/ 140960 h 2856024"/>
              <a:gd name="connsiteX3" fmla="*/ 2356338 w 2356338"/>
              <a:gd name="connsiteY3" fmla="*/ 2856024 h 2856024"/>
              <a:gd name="connsiteX4" fmla="*/ 0 w 2356338"/>
              <a:gd name="connsiteY4" fmla="*/ 2856024 h 2856024"/>
              <a:gd name="connsiteX5" fmla="*/ 0 w 2356338"/>
              <a:gd name="connsiteY5" fmla="*/ 140960 h 2856024"/>
              <a:gd name="connsiteX6" fmla="*/ 875747 w 2356338"/>
              <a:gd name="connsiteY6" fmla="*/ 140960 h 2856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56338" h="2856024">
                <a:moveTo>
                  <a:pt x="1175287" y="0"/>
                </a:moveTo>
                <a:lnTo>
                  <a:pt x="1474827" y="140960"/>
                </a:lnTo>
                <a:lnTo>
                  <a:pt x="2356338" y="140960"/>
                </a:lnTo>
                <a:lnTo>
                  <a:pt x="2356338" y="2856024"/>
                </a:lnTo>
                <a:lnTo>
                  <a:pt x="0" y="2856024"/>
                </a:lnTo>
                <a:lnTo>
                  <a:pt x="0" y="140960"/>
                </a:lnTo>
                <a:lnTo>
                  <a:pt x="875747" y="140960"/>
                </a:lnTo>
                <a:close/>
              </a:path>
            </a:pathLst>
          </a:cu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44000" tIns="45720" rIns="144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en-US" altLang="zh-CN" sz="20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DAA</a:t>
            </a:r>
            <a:r>
              <a:rPr lang="zh-CN" altLang="en-US" sz="20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DAS</a:t>
            </a: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en-US" altLang="zh-CN" sz="20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AAA</a:t>
            </a:r>
            <a:r>
              <a:rPr lang="zh-CN" altLang="en-US" sz="20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AAS</a:t>
            </a: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AAM</a:t>
            </a: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AAD</a:t>
            </a: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n"/>
            </a:pP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65813" y="2403179"/>
            <a:ext cx="21459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rgbClr val="3E3D4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加减法指令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2570068" y="2403179"/>
            <a:ext cx="20019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rgbClr val="3E3D4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乘除法指令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4730308" y="2403179"/>
            <a:ext cx="20019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rgbClr val="3E3D4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符号扩展指令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6890549" y="2403179"/>
            <a:ext cx="20019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rgbClr val="3E3D4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十进制调整指令</a:t>
            </a:r>
          </a:p>
        </p:txBody>
      </p:sp>
    </p:spTree>
    <p:extLst>
      <p:ext uri="{BB962C8B-B14F-4D97-AF65-F5344CB8AC3E}">
        <p14:creationId xmlns:p14="http://schemas.microsoft.com/office/powerpoint/2010/main" val="325367961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1335171" y="1723927"/>
            <a:ext cx="2725755" cy="565604"/>
          </a:xfrm>
          <a:prstGeom prst="rect">
            <a:avLst/>
          </a:prstGeom>
          <a:solidFill>
            <a:srgbClr val="FF3255"/>
          </a:solidFill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28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ADD </a:t>
            </a:r>
            <a:r>
              <a:rPr lang="zh-CN" altLang="en-US" sz="28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目，源</a:t>
            </a:r>
          </a:p>
        </p:txBody>
      </p:sp>
      <p:sp>
        <p:nvSpPr>
          <p:cNvPr id="6" name="矩形 5"/>
          <p:cNvSpPr/>
          <p:nvPr/>
        </p:nvSpPr>
        <p:spPr>
          <a:xfrm>
            <a:off x="1338598" y="2565153"/>
            <a:ext cx="2729346" cy="565604"/>
          </a:xfrm>
          <a:prstGeom prst="rect">
            <a:avLst/>
          </a:prstGeom>
          <a:solidFill>
            <a:srgbClr val="5DCB08"/>
          </a:solidFill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28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SUB  </a:t>
            </a:r>
            <a:r>
              <a:rPr lang="zh-CN" altLang="en-US" sz="28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目，源</a:t>
            </a:r>
          </a:p>
        </p:txBody>
      </p:sp>
      <p:sp>
        <p:nvSpPr>
          <p:cNvPr id="16" name="TextBox 10"/>
          <p:cNvSpPr txBox="1">
            <a:spLocks noChangeArrowheads="1"/>
          </p:cNvSpPr>
          <p:nvPr/>
        </p:nvSpPr>
        <p:spPr bwMode="auto">
          <a:xfrm>
            <a:off x="5189343" y="1761940"/>
            <a:ext cx="2941778" cy="1355371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just">
              <a:lnSpc>
                <a:spcPct val="114000"/>
              </a:lnSpc>
            </a:pPr>
            <a:r>
              <a:rPr lang="zh-CN" altLang="en-US" sz="24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目标操作数</a:t>
            </a:r>
            <a:r>
              <a:rPr lang="zh-CN" altLang="en-US" sz="2400" b="1" dirty="0">
                <a:solidFill>
                  <a:srgbClr val="FD7A2A"/>
                </a:solidFill>
                <a:latin typeface="微软雅黑" pitchFamily="34" charset="-122"/>
                <a:ea typeface="微软雅黑" pitchFamily="34" charset="-122"/>
              </a:rPr>
              <a:t>加</a:t>
            </a:r>
            <a:r>
              <a:rPr lang="en-US" altLang="zh-CN" sz="2400" b="1" dirty="0">
                <a:solidFill>
                  <a:srgbClr val="FD7A2A"/>
                </a:solidFill>
                <a:latin typeface="微软雅黑" pitchFamily="34" charset="-122"/>
                <a:ea typeface="微软雅黑" pitchFamily="34" charset="-122"/>
              </a:rPr>
              <a:t>/</a:t>
            </a:r>
            <a:r>
              <a:rPr lang="zh-CN" altLang="en-US" sz="2400" b="1" dirty="0">
                <a:solidFill>
                  <a:srgbClr val="FD7A2A"/>
                </a:solidFill>
                <a:latin typeface="微软雅黑" pitchFamily="34" charset="-122"/>
                <a:ea typeface="微软雅黑" pitchFamily="34" charset="-122"/>
              </a:rPr>
              <a:t>减</a:t>
            </a:r>
            <a:r>
              <a:rPr lang="zh-CN" altLang="en-US" sz="24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源操作数，结果保留在目标操作数中。</a:t>
            </a:r>
            <a:endParaRPr lang="zh-CN" altLang="en-US" sz="6600" b="1" dirty="0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5004048" y="1522261"/>
            <a:ext cx="3312368" cy="1834731"/>
          </a:xfrm>
          <a:prstGeom prst="rect">
            <a:avLst/>
          </a:prstGeom>
          <a:noFill/>
          <a:ln w="12700">
            <a:solidFill>
              <a:srgbClr val="1D8DE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899592" y="1522261"/>
            <a:ext cx="3600400" cy="1834731"/>
          </a:xfrm>
          <a:prstGeom prst="rect">
            <a:avLst/>
          </a:prstGeom>
          <a:noFill/>
          <a:ln w="12700">
            <a:solidFill>
              <a:srgbClr val="1D8DE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9" name="直接连接符 18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cxnSp>
        <p:nvCxnSpPr>
          <p:cNvPr id="20" name="直接连接符 19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21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en-US" altLang="zh-CN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ADD</a:t>
            </a:r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和</a:t>
            </a:r>
            <a:r>
              <a:rPr lang="en-US" altLang="zh-CN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SUB</a:t>
            </a:r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指令</a:t>
            </a:r>
            <a:endParaRPr lang="zh-CN" altLang="en-US" sz="32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" name="矩形 9"/>
          <p:cNvSpPr>
            <a:spLocks noChangeAspect="1"/>
          </p:cNvSpPr>
          <p:nvPr/>
        </p:nvSpPr>
        <p:spPr>
          <a:xfrm>
            <a:off x="899592" y="3914564"/>
            <a:ext cx="7416824" cy="1962708"/>
          </a:xfrm>
          <a:prstGeom prst="rect">
            <a:avLst/>
          </a:prstGeom>
          <a:ln>
            <a:solidFill>
              <a:srgbClr val="0883C8"/>
            </a:solidFill>
            <a:prstDash val="soli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Picture 2" descr="E:\仝德志文件，勿删！\03-参考文档\！PPT图片及版面资源\06-PPT精选插图\12-标签\蓝色燕尾01.png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rot="16200000">
            <a:off x="877037" y="4027620"/>
            <a:ext cx="1008111" cy="674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9"/>
          <p:cNvSpPr txBox="1"/>
          <p:nvPr/>
        </p:nvSpPr>
        <p:spPr>
          <a:xfrm>
            <a:off x="1146982" y="3980743"/>
            <a:ext cx="461665" cy="1061714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注 意</a:t>
            </a:r>
          </a:p>
        </p:txBody>
      </p:sp>
      <p:sp>
        <p:nvSpPr>
          <p:cNvPr id="13" name="TextBox 17"/>
          <p:cNvSpPr txBox="1"/>
          <p:nvPr/>
        </p:nvSpPr>
        <p:spPr>
          <a:xfrm>
            <a:off x="1729359" y="4005064"/>
            <a:ext cx="6377344" cy="1729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寻址方式的使用类似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MOV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目标操作数不允许是立即数。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源和目标操作数不能同时为存储器操作数。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影响状态标志位。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5287264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335171" y="1723927"/>
            <a:ext cx="2725755" cy="609398"/>
          </a:xfrm>
          <a:prstGeom prst="rect">
            <a:avLst/>
          </a:prstGeom>
          <a:solidFill>
            <a:srgbClr val="FF3255"/>
          </a:solidFill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28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ADC </a:t>
            </a:r>
            <a:r>
              <a:rPr lang="zh-CN" altLang="en-US" sz="28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目，源</a:t>
            </a:r>
          </a:p>
        </p:txBody>
      </p:sp>
      <p:sp>
        <p:nvSpPr>
          <p:cNvPr id="3" name="矩形 2"/>
          <p:cNvSpPr/>
          <p:nvPr/>
        </p:nvSpPr>
        <p:spPr>
          <a:xfrm>
            <a:off x="1338598" y="2565153"/>
            <a:ext cx="2729346" cy="609398"/>
          </a:xfrm>
          <a:prstGeom prst="rect">
            <a:avLst/>
          </a:prstGeom>
          <a:solidFill>
            <a:srgbClr val="5DCB08"/>
          </a:solidFill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28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SBB  </a:t>
            </a:r>
            <a:r>
              <a:rPr lang="zh-CN" altLang="en-US" sz="28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目，源</a:t>
            </a:r>
          </a:p>
        </p:txBody>
      </p:sp>
      <p:sp>
        <p:nvSpPr>
          <p:cNvPr id="4" name="TextBox 10"/>
          <p:cNvSpPr txBox="1">
            <a:spLocks noChangeArrowheads="1"/>
          </p:cNvSpPr>
          <p:nvPr/>
        </p:nvSpPr>
        <p:spPr bwMode="auto">
          <a:xfrm>
            <a:off x="4860032" y="1761940"/>
            <a:ext cx="3261536" cy="1355371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just">
              <a:lnSpc>
                <a:spcPct val="114000"/>
              </a:lnSpc>
            </a:pPr>
            <a:r>
              <a:rPr lang="zh-CN" altLang="en-US" sz="24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目标操作数</a:t>
            </a:r>
            <a:r>
              <a:rPr lang="zh-CN" altLang="en-US" sz="2400" b="1" dirty="0">
                <a:solidFill>
                  <a:srgbClr val="FD7A2A"/>
                </a:solidFill>
                <a:latin typeface="微软雅黑" pitchFamily="34" charset="-122"/>
                <a:ea typeface="微软雅黑" pitchFamily="34" charset="-122"/>
              </a:rPr>
              <a:t>加</a:t>
            </a:r>
            <a:r>
              <a:rPr lang="en-US" altLang="zh-CN" sz="2400" b="1" dirty="0">
                <a:solidFill>
                  <a:srgbClr val="FD7A2A"/>
                </a:solidFill>
                <a:latin typeface="微软雅黑" pitchFamily="34" charset="-122"/>
                <a:ea typeface="微软雅黑" pitchFamily="34" charset="-122"/>
              </a:rPr>
              <a:t>/</a:t>
            </a:r>
            <a:r>
              <a:rPr lang="zh-CN" altLang="en-US" sz="2400" b="1" dirty="0">
                <a:solidFill>
                  <a:srgbClr val="FD7A2A"/>
                </a:solidFill>
                <a:latin typeface="微软雅黑" pitchFamily="34" charset="-122"/>
                <a:ea typeface="微软雅黑" pitchFamily="34" charset="-122"/>
              </a:rPr>
              <a:t>减</a:t>
            </a:r>
            <a:r>
              <a:rPr lang="zh-CN" altLang="en-US" sz="24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源操作数，并</a:t>
            </a:r>
            <a:r>
              <a:rPr lang="zh-CN" altLang="en-US" sz="2400" b="1" dirty="0">
                <a:solidFill>
                  <a:srgbClr val="FD7A2A"/>
                </a:solidFill>
                <a:latin typeface="微软雅黑" pitchFamily="34" charset="-122"/>
                <a:ea typeface="微软雅黑" pitchFamily="34" charset="-122"/>
              </a:rPr>
              <a:t>加</a:t>
            </a:r>
            <a:r>
              <a:rPr lang="en-US" altLang="zh-CN" sz="2400" b="1" dirty="0">
                <a:solidFill>
                  <a:srgbClr val="FD7A2A"/>
                </a:solidFill>
                <a:latin typeface="微软雅黑" pitchFamily="34" charset="-122"/>
                <a:ea typeface="微软雅黑" pitchFamily="34" charset="-122"/>
              </a:rPr>
              <a:t>/</a:t>
            </a:r>
            <a:r>
              <a:rPr lang="zh-CN" altLang="en-US" sz="2400" b="1" dirty="0">
                <a:solidFill>
                  <a:srgbClr val="FD7A2A"/>
                </a:solidFill>
                <a:latin typeface="微软雅黑" pitchFamily="34" charset="-122"/>
                <a:ea typeface="微软雅黑" pitchFamily="34" charset="-122"/>
              </a:rPr>
              <a:t>减</a:t>
            </a:r>
            <a:r>
              <a:rPr lang="en-US" altLang="zh-CN" sz="24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CF</a:t>
            </a:r>
            <a:r>
              <a:rPr lang="zh-CN" altLang="en-US" sz="24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，结果保留在目标操作数中。</a:t>
            </a:r>
            <a:endParaRPr lang="zh-CN" altLang="en-US" sz="6600" b="1" dirty="0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788024" y="1522261"/>
            <a:ext cx="3528392" cy="1834731"/>
          </a:xfrm>
          <a:prstGeom prst="rect">
            <a:avLst/>
          </a:prstGeom>
          <a:noFill/>
          <a:ln w="12700">
            <a:solidFill>
              <a:srgbClr val="1D8DE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899592" y="1522261"/>
            <a:ext cx="3600400" cy="1834731"/>
          </a:xfrm>
          <a:prstGeom prst="rect">
            <a:avLst/>
          </a:prstGeom>
          <a:noFill/>
          <a:ln w="12700">
            <a:solidFill>
              <a:srgbClr val="1D8DE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cxnSp>
        <p:nvCxnSpPr>
          <p:cNvPr id="8" name="直接连接符 7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en-US" altLang="zh-CN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ADC</a:t>
            </a:r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和</a:t>
            </a:r>
            <a:r>
              <a:rPr lang="en-US" altLang="zh-CN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SBB</a:t>
            </a:r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指令</a:t>
            </a:r>
            <a:endParaRPr lang="zh-CN" altLang="en-US" sz="32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" name="矩形 9"/>
          <p:cNvSpPr>
            <a:spLocks noChangeAspect="1"/>
          </p:cNvSpPr>
          <p:nvPr/>
        </p:nvSpPr>
        <p:spPr>
          <a:xfrm>
            <a:off x="899592" y="3914564"/>
            <a:ext cx="7416824" cy="1674676"/>
          </a:xfrm>
          <a:prstGeom prst="rect">
            <a:avLst/>
          </a:prstGeom>
          <a:ln>
            <a:solidFill>
              <a:srgbClr val="0883C8"/>
            </a:solidFill>
            <a:prstDash val="soli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Picture 2" descr="E:\仝德志文件，勿删！\03-参考文档\！PPT图片及版面资源\06-PPT精选插图\12-标签\蓝色燕尾01.png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rot="16200000">
            <a:off x="877037" y="4027620"/>
            <a:ext cx="1008111" cy="674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9"/>
          <p:cNvSpPr txBox="1"/>
          <p:nvPr/>
        </p:nvSpPr>
        <p:spPr>
          <a:xfrm>
            <a:off x="1146982" y="3980743"/>
            <a:ext cx="461665" cy="1061714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注 意</a:t>
            </a:r>
          </a:p>
        </p:txBody>
      </p:sp>
      <p:sp>
        <p:nvSpPr>
          <p:cNvPr id="13" name="TextBox 17"/>
          <p:cNvSpPr txBox="1"/>
          <p:nvPr/>
        </p:nvSpPr>
        <p:spPr>
          <a:xfrm>
            <a:off x="1729359" y="4030149"/>
            <a:ext cx="6377344" cy="13203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寻址方式的使用类似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MOV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针对无符号数的运算。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一般不单独使用，注意执行该指令前影响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CF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的指令。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1131426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3"/>
          <p:cNvSpPr>
            <a:spLocks noChangeArrowheads="1"/>
          </p:cNvSpPr>
          <p:nvPr/>
        </p:nvSpPr>
        <p:spPr bwMode="auto">
          <a:xfrm>
            <a:off x="1111670" y="1468238"/>
            <a:ext cx="3240538" cy="2659061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lnSpc>
                <a:spcPct val="139000"/>
              </a:lnSpc>
              <a:spcAft>
                <a:spcPts val="600"/>
              </a:spcAft>
              <a:defRPr/>
            </a:pP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编写指令，完成以存储单元</a:t>
            </a:r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ARRAY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开始的三个单字节无符号数相加，结果存放在字存储单元</a:t>
            </a:r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SUM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中。</a:t>
            </a:r>
          </a:p>
        </p:txBody>
      </p:sp>
      <p:cxnSp>
        <p:nvCxnSpPr>
          <p:cNvPr id="4" name="直接连接符 3"/>
          <p:cNvCxnSpPr/>
          <p:nvPr/>
        </p:nvCxnSpPr>
        <p:spPr>
          <a:xfrm>
            <a:off x="907306" y="1121909"/>
            <a:ext cx="7488832" cy="0"/>
          </a:xfrm>
          <a:prstGeom prst="line">
            <a:avLst/>
          </a:prstGeom>
          <a:ln w="28575">
            <a:solidFill>
              <a:srgbClr val="1D8D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907306" y="631563"/>
            <a:ext cx="500110" cy="490346"/>
          </a:xfrm>
          <a:prstGeom prst="rect">
            <a:avLst/>
          </a:prstGeom>
          <a:solidFill>
            <a:srgbClr val="1D8DE5"/>
          </a:solidFill>
          <a:ln w="9525" cap="rnd">
            <a:solidFill>
              <a:srgbClr val="1D8DE5"/>
            </a:solidFill>
            <a:prstDash val="solid"/>
            <a:round/>
            <a:headEnd/>
            <a:tailEnd/>
          </a:ln>
        </p:spPr>
        <p:txBody>
          <a:bodyPr anchor="ctr"/>
          <a:lstStyle/>
          <a:p>
            <a:pPr algn="ctr"/>
            <a:r>
              <a:rPr lang="en-US" altLang="zh-CN" sz="2800" b="1" kern="0" dirty="0">
                <a:solidFill>
                  <a:sysClr val="window" lastClr="FFFFFF">
                    <a:lumMod val="95000"/>
                  </a:sys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2800" b="1" kern="0" dirty="0">
              <a:solidFill>
                <a:sysClr val="window" lastClr="FFFFFF">
                  <a:lumMod val="95000"/>
                </a:sys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Box 11"/>
          <p:cNvSpPr txBox="1"/>
          <p:nvPr/>
        </p:nvSpPr>
        <p:spPr>
          <a:xfrm>
            <a:off x="1415130" y="620688"/>
            <a:ext cx="66132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1D8DE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例题</a:t>
            </a:r>
          </a:p>
        </p:txBody>
      </p:sp>
      <p:sp>
        <p:nvSpPr>
          <p:cNvPr id="7" name="矩形 6"/>
          <p:cNvSpPr/>
          <p:nvPr/>
        </p:nvSpPr>
        <p:spPr>
          <a:xfrm>
            <a:off x="8180114" y="620688"/>
            <a:ext cx="223738" cy="490346"/>
          </a:xfrm>
          <a:prstGeom prst="rect">
            <a:avLst/>
          </a:prstGeom>
          <a:solidFill>
            <a:srgbClr val="1D8DE5"/>
          </a:solidFill>
          <a:ln w="9525" cap="rnd">
            <a:solidFill>
              <a:srgbClr val="1D8DE5"/>
            </a:solidFill>
            <a:prstDash val="solid"/>
            <a:round/>
            <a:headEnd/>
            <a:tailEnd/>
          </a:ln>
        </p:spPr>
        <p:txBody>
          <a:bodyPr/>
          <a:lstStyle/>
          <a:p>
            <a:pPr algn="ctr">
              <a:lnSpc>
                <a:spcPct val="120000"/>
              </a:lnSpc>
            </a:pPr>
            <a:endParaRPr lang="zh-CN" altLang="en-US" b="1" kern="0" dirty="0">
              <a:solidFill>
                <a:sysClr val="window" lastClr="FFFFFF">
                  <a:lumMod val="95000"/>
                </a:sys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907306" y="631563"/>
            <a:ext cx="7488832" cy="0"/>
          </a:xfrm>
          <a:prstGeom prst="line">
            <a:avLst/>
          </a:prstGeom>
          <a:ln w="28575">
            <a:solidFill>
              <a:srgbClr val="1D8D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3"/>
          <p:cNvSpPr>
            <a:spLocks noChangeArrowheads="1"/>
          </p:cNvSpPr>
          <p:nvPr/>
        </p:nvSpPr>
        <p:spPr bwMode="auto">
          <a:xfrm>
            <a:off x="4990761" y="1268760"/>
            <a:ext cx="3389949" cy="338137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MOV</a:t>
            </a:r>
            <a:r>
              <a:rPr lang="en-US" altLang="zh-CN" sz="24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400" b="1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AH</a:t>
            </a:r>
            <a:r>
              <a:rPr lang="en-US" altLang="zh-CN" sz="24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, 0</a:t>
            </a:r>
          </a:p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MOV</a:t>
            </a:r>
            <a:r>
              <a:rPr lang="en-US" altLang="zh-CN" sz="24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400" b="1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AL</a:t>
            </a:r>
            <a:r>
              <a:rPr lang="en-US" altLang="zh-CN" sz="24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, ARRAY</a:t>
            </a:r>
          </a:p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ADD</a:t>
            </a:r>
            <a:r>
              <a:rPr lang="en-US" altLang="zh-CN" sz="24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  </a:t>
            </a:r>
            <a:r>
              <a:rPr lang="en-US" altLang="zh-CN" sz="2400" b="1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AL</a:t>
            </a:r>
            <a:r>
              <a:rPr lang="en-US" altLang="zh-CN" sz="24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, ARRAY[1]</a:t>
            </a:r>
          </a:p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ADC</a:t>
            </a:r>
            <a:r>
              <a:rPr lang="en-US" altLang="zh-CN" sz="24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  </a:t>
            </a:r>
            <a:r>
              <a:rPr lang="en-US" altLang="zh-CN" sz="2400" b="1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AH</a:t>
            </a:r>
            <a:r>
              <a:rPr lang="en-US" altLang="zh-CN" sz="24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, 0</a:t>
            </a:r>
          </a:p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ADD</a:t>
            </a:r>
            <a:r>
              <a:rPr lang="en-US" altLang="zh-CN" sz="24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  </a:t>
            </a:r>
            <a:r>
              <a:rPr lang="en-US" altLang="zh-CN" sz="2400" b="1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AL</a:t>
            </a:r>
            <a:r>
              <a:rPr lang="en-US" altLang="zh-CN" sz="24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, ARRAY[2]</a:t>
            </a:r>
          </a:p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ADC</a:t>
            </a:r>
            <a:r>
              <a:rPr lang="en-US" altLang="zh-CN" sz="24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  </a:t>
            </a:r>
            <a:r>
              <a:rPr lang="en-US" altLang="zh-CN" sz="2400" b="1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AH</a:t>
            </a:r>
            <a:r>
              <a:rPr lang="en-US" altLang="zh-CN" sz="24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, 0</a:t>
            </a:r>
          </a:p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MOV</a:t>
            </a:r>
            <a:r>
              <a:rPr lang="en-US" altLang="zh-CN" sz="24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 SUM, </a:t>
            </a:r>
            <a:r>
              <a:rPr lang="en-US" altLang="zh-CN" sz="2400" b="1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AX</a:t>
            </a:r>
          </a:p>
        </p:txBody>
      </p:sp>
      <p:cxnSp>
        <p:nvCxnSpPr>
          <p:cNvPr id="11" name="直接连接符 10"/>
          <p:cNvCxnSpPr/>
          <p:nvPr/>
        </p:nvCxnSpPr>
        <p:spPr>
          <a:xfrm>
            <a:off x="4719784" y="1181038"/>
            <a:ext cx="0" cy="3613113"/>
          </a:xfrm>
          <a:prstGeom prst="line">
            <a:avLst/>
          </a:prstGeom>
          <a:ln w="12700">
            <a:solidFill>
              <a:srgbClr val="1D8D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矩形 24"/>
          <p:cNvSpPr/>
          <p:nvPr/>
        </p:nvSpPr>
        <p:spPr>
          <a:xfrm>
            <a:off x="907306" y="4797152"/>
            <a:ext cx="7473404" cy="1354432"/>
          </a:xfrm>
          <a:prstGeom prst="rect">
            <a:avLst/>
          </a:prstGeom>
          <a:noFill/>
          <a:ln>
            <a:solidFill>
              <a:srgbClr val="1D8D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TextBox 10"/>
          <p:cNvSpPr txBox="1">
            <a:spLocks noChangeArrowheads="1"/>
          </p:cNvSpPr>
          <p:nvPr/>
        </p:nvSpPr>
        <p:spPr bwMode="auto">
          <a:xfrm>
            <a:off x="2051720" y="4869160"/>
            <a:ext cx="4968552" cy="5835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lnSpc>
                <a:spcPct val="114000"/>
              </a:lnSpc>
            </a:pPr>
            <a:r>
              <a:rPr lang="en-US" altLang="zh-CN" sz="28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ADD WORD PTR [SI], 12H</a:t>
            </a:r>
            <a:endParaRPr lang="zh-CN" altLang="en-US" sz="7200" b="1" dirty="0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0" name="TextBox 10"/>
          <p:cNvSpPr txBox="1">
            <a:spLocks noChangeArrowheads="1"/>
          </p:cNvSpPr>
          <p:nvPr/>
        </p:nvSpPr>
        <p:spPr bwMode="auto">
          <a:xfrm>
            <a:off x="2051720" y="5549187"/>
            <a:ext cx="4968552" cy="5835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>
              <a:lnSpc>
                <a:spcPct val="114000"/>
              </a:lnSpc>
            </a:pPr>
            <a:r>
              <a:rPr lang="en-US" altLang="zh-CN" sz="28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ADD BYTE PTR    [SI], 12H</a:t>
            </a:r>
            <a:endParaRPr lang="zh-CN" altLang="en-US" sz="7200" b="1" dirty="0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33" name="Picture 2" descr="E:\仝德志文件，勿删！\03-参考文档\！PPT图片及版面资源\06-PPT精选插图\12-标签\蓝色燕尾01.png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rot="16200000">
            <a:off x="922149" y="4891716"/>
            <a:ext cx="1008111" cy="674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TextBox 19"/>
          <p:cNvSpPr txBox="1"/>
          <p:nvPr/>
        </p:nvSpPr>
        <p:spPr>
          <a:xfrm>
            <a:off x="1192094" y="4844839"/>
            <a:ext cx="461665" cy="1061714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注 意</a:t>
            </a:r>
          </a:p>
        </p:txBody>
      </p:sp>
      <p:sp>
        <p:nvSpPr>
          <p:cNvPr id="35" name="爆炸形 2 34"/>
          <p:cNvSpPr/>
          <p:nvPr/>
        </p:nvSpPr>
        <p:spPr>
          <a:xfrm>
            <a:off x="6948264" y="4780775"/>
            <a:ext cx="1409327" cy="1169341"/>
          </a:xfrm>
          <a:prstGeom prst="irregularSeal2">
            <a:avLst/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/>
              <a:t>区别</a:t>
            </a:r>
          </a:p>
        </p:txBody>
      </p:sp>
    </p:spTree>
    <p:extLst>
      <p:ext uri="{BB962C8B-B14F-4D97-AF65-F5344CB8AC3E}">
        <p14:creationId xmlns:p14="http://schemas.microsoft.com/office/powerpoint/2010/main" val="3048347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5" grpId="0" animBg="1"/>
      <p:bldP spid="28" grpId="0"/>
      <p:bldP spid="30" grpId="0"/>
      <p:bldP spid="34" grpId="0"/>
      <p:bldP spid="35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535419" y="1670411"/>
            <a:ext cx="2453499" cy="609398"/>
          </a:xfrm>
          <a:prstGeom prst="rect">
            <a:avLst/>
          </a:prstGeom>
          <a:solidFill>
            <a:srgbClr val="FF3255"/>
          </a:solidFill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28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INC </a:t>
            </a:r>
            <a:r>
              <a:rPr lang="zh-CN" altLang="en-US" sz="28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目</a:t>
            </a:r>
          </a:p>
        </p:txBody>
      </p:sp>
      <p:sp>
        <p:nvSpPr>
          <p:cNvPr id="3" name="矩形 2"/>
          <p:cNvSpPr/>
          <p:nvPr/>
        </p:nvSpPr>
        <p:spPr>
          <a:xfrm>
            <a:off x="1539204" y="2511637"/>
            <a:ext cx="2456731" cy="609398"/>
          </a:xfrm>
          <a:prstGeom prst="rect">
            <a:avLst/>
          </a:prstGeom>
          <a:solidFill>
            <a:srgbClr val="5DCB08"/>
          </a:solidFill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28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DEC </a:t>
            </a:r>
            <a:r>
              <a:rPr lang="zh-CN" altLang="en-US" sz="28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目</a:t>
            </a:r>
          </a:p>
        </p:txBody>
      </p:sp>
      <p:sp>
        <p:nvSpPr>
          <p:cNvPr id="4" name="TextBox 10"/>
          <p:cNvSpPr txBox="1">
            <a:spLocks noChangeArrowheads="1"/>
          </p:cNvSpPr>
          <p:nvPr/>
        </p:nvSpPr>
        <p:spPr bwMode="auto">
          <a:xfrm>
            <a:off x="4788024" y="1708424"/>
            <a:ext cx="2880320" cy="1355371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just">
              <a:lnSpc>
                <a:spcPct val="114000"/>
              </a:lnSpc>
            </a:pPr>
            <a:r>
              <a:rPr lang="zh-CN" altLang="en-US" sz="24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目标操作数</a:t>
            </a:r>
            <a:r>
              <a:rPr lang="zh-CN" altLang="en-US" sz="2400" b="1" dirty="0">
                <a:solidFill>
                  <a:srgbClr val="FD7A2A"/>
                </a:solidFill>
                <a:latin typeface="微软雅黑" pitchFamily="34" charset="-122"/>
                <a:ea typeface="微软雅黑" pitchFamily="34" charset="-122"/>
              </a:rPr>
              <a:t>加</a:t>
            </a:r>
            <a:r>
              <a:rPr lang="en-US" altLang="zh-CN" sz="2400" b="1" dirty="0">
                <a:solidFill>
                  <a:srgbClr val="FD7A2A"/>
                </a:solidFill>
                <a:latin typeface="微软雅黑" pitchFamily="34" charset="-122"/>
                <a:ea typeface="微软雅黑" pitchFamily="34" charset="-122"/>
              </a:rPr>
              <a:t>/</a:t>
            </a:r>
            <a:r>
              <a:rPr lang="zh-CN" altLang="en-US" sz="2400" b="1" dirty="0">
                <a:solidFill>
                  <a:srgbClr val="FD7A2A"/>
                </a:solidFill>
                <a:latin typeface="微软雅黑" pitchFamily="34" charset="-122"/>
                <a:ea typeface="微软雅黑" pitchFamily="34" charset="-122"/>
              </a:rPr>
              <a:t>减</a:t>
            </a:r>
            <a:r>
              <a:rPr lang="en-US" altLang="zh-CN" sz="24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 1</a:t>
            </a:r>
            <a:r>
              <a:rPr lang="zh-CN" altLang="en-US" sz="24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，结果保留在目标操作数中。</a:t>
            </a:r>
            <a:endParaRPr lang="zh-CN" altLang="en-US" sz="6600" b="1" dirty="0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716016" y="1468745"/>
            <a:ext cx="3168352" cy="1834731"/>
          </a:xfrm>
          <a:prstGeom prst="rect">
            <a:avLst/>
          </a:prstGeom>
          <a:noFill/>
          <a:ln w="12700">
            <a:solidFill>
              <a:srgbClr val="1D8DE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1187202" y="1468745"/>
            <a:ext cx="3240782" cy="1834731"/>
          </a:xfrm>
          <a:prstGeom prst="rect">
            <a:avLst/>
          </a:prstGeom>
          <a:noFill/>
          <a:ln w="12700">
            <a:solidFill>
              <a:srgbClr val="1D8DE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cxnSp>
        <p:nvCxnSpPr>
          <p:cNvPr id="8" name="直接连接符 7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295214" y="550657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en-US" altLang="zh-CN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INC</a:t>
            </a:r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和</a:t>
            </a:r>
            <a:r>
              <a:rPr lang="en-US" altLang="zh-CN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DEC</a:t>
            </a:r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指令</a:t>
            </a:r>
            <a:endParaRPr lang="zh-CN" altLang="en-US" sz="32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" name="矩形 9"/>
          <p:cNvSpPr>
            <a:spLocks noChangeAspect="1"/>
          </p:cNvSpPr>
          <p:nvPr/>
        </p:nvSpPr>
        <p:spPr>
          <a:xfrm>
            <a:off x="1187202" y="3626532"/>
            <a:ext cx="6697166" cy="1962708"/>
          </a:xfrm>
          <a:prstGeom prst="rect">
            <a:avLst/>
          </a:prstGeom>
          <a:ln>
            <a:solidFill>
              <a:srgbClr val="0883C8"/>
            </a:solidFill>
            <a:prstDash val="soli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Picture 2" descr="E:\仝德志文件，勿删！\03-参考文档\！PPT图片及版面资源\06-PPT精选插图\12-标签\蓝色燕尾01.png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rot="16200000">
            <a:off x="1165069" y="3739588"/>
            <a:ext cx="1008111" cy="674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9"/>
          <p:cNvSpPr txBox="1"/>
          <p:nvPr/>
        </p:nvSpPr>
        <p:spPr>
          <a:xfrm>
            <a:off x="1435014" y="3692711"/>
            <a:ext cx="461665" cy="1061714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注 意</a:t>
            </a:r>
          </a:p>
        </p:txBody>
      </p:sp>
      <p:sp>
        <p:nvSpPr>
          <p:cNvPr id="13" name="TextBox 17"/>
          <p:cNvSpPr txBox="1"/>
          <p:nvPr/>
        </p:nvSpPr>
        <p:spPr>
          <a:xfrm>
            <a:off x="2023680" y="3721873"/>
            <a:ext cx="5788680" cy="1729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针对</a:t>
            </a:r>
            <a:r>
              <a:rPr lang="zh-CN" altLang="en-US" sz="20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无符号数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的运算，常用于修改地址指针。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对于间接寻址，必须用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BYTE PTR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WORD PTR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等伪指令指定存储单元类型。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INC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指令不影响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CF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，影响其它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5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位状态标志位。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5" name="TextBox 10"/>
          <p:cNvSpPr txBox="1">
            <a:spLocks noChangeArrowheads="1"/>
          </p:cNvSpPr>
          <p:nvPr/>
        </p:nvSpPr>
        <p:spPr bwMode="auto">
          <a:xfrm>
            <a:off x="2746788" y="5669296"/>
            <a:ext cx="3650424" cy="9343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>
              <a:lnSpc>
                <a:spcPct val="114000"/>
              </a:lnSpc>
            </a:pPr>
            <a:r>
              <a:rPr lang="en-US" altLang="zh-CN" sz="24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INC</a:t>
            </a:r>
            <a:r>
              <a:rPr lang="en-US" altLang="zh-CN" sz="24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400" b="1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WORD PTR </a:t>
            </a:r>
            <a:r>
              <a:rPr lang="en-US" altLang="zh-CN" sz="24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[SI]</a:t>
            </a:r>
          </a:p>
          <a:p>
            <a:pPr algn="ctr">
              <a:lnSpc>
                <a:spcPct val="114000"/>
              </a:lnSpc>
            </a:pPr>
            <a:r>
              <a:rPr lang="en-US" altLang="zh-CN" sz="24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DEC</a:t>
            </a:r>
            <a:r>
              <a:rPr lang="en-US" altLang="zh-CN" sz="24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 SI</a:t>
            </a:r>
          </a:p>
        </p:txBody>
      </p:sp>
    </p:spTree>
    <p:extLst>
      <p:ext uri="{BB962C8B-B14F-4D97-AF65-F5344CB8AC3E}">
        <p14:creationId xmlns:p14="http://schemas.microsoft.com/office/powerpoint/2010/main" val="183940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683568" y="1511746"/>
            <a:ext cx="7920880" cy="1845246"/>
          </a:xfrm>
          <a:prstGeom prst="rect">
            <a:avLst/>
          </a:prstGeom>
          <a:ln>
            <a:solidFill>
              <a:srgbClr val="0883C8"/>
            </a:solidFill>
            <a:prstDash val="dash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Box 17"/>
          <p:cNvSpPr txBox="1"/>
          <p:nvPr/>
        </p:nvSpPr>
        <p:spPr>
          <a:xfrm>
            <a:off x="827584" y="1556098"/>
            <a:ext cx="7671880" cy="15660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将目标操作数当做有符号数，取负后送回目标。</a:t>
            </a:r>
            <a:endParaRPr lang="en-US" altLang="zh-CN" sz="24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实质上，</a:t>
            </a:r>
            <a:r>
              <a:rPr lang="en-US" altLang="zh-CN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NEG</a:t>
            </a:r>
            <a:r>
              <a:rPr lang="zh-CN" alt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指令相当于将目操作数固定为</a:t>
            </a:r>
            <a:r>
              <a:rPr lang="en-US" altLang="zh-CN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0</a:t>
            </a:r>
            <a:r>
              <a:rPr lang="zh-CN" alt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值的</a:t>
            </a:r>
            <a:r>
              <a:rPr lang="en-US" altLang="zh-CN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SUB</a:t>
            </a:r>
            <a:r>
              <a:rPr lang="zh-CN" alt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指令。</a:t>
            </a:r>
            <a:endParaRPr lang="en-US" altLang="zh-CN" sz="24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6" name="直接连接符 5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en-US" altLang="zh-CN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NEG </a:t>
            </a:r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目标操作数</a:t>
            </a:r>
            <a:endParaRPr lang="zh-CN" altLang="en-US" sz="32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</p:spTree>
    <p:extLst>
      <p:ext uri="{BB962C8B-B14F-4D97-AF65-F5344CB8AC3E}">
        <p14:creationId xmlns:p14="http://schemas.microsoft.com/office/powerpoint/2010/main" val="190925254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cxnSp>
        <p:nvCxnSpPr>
          <p:cNvPr id="3" name="直接连接符 2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en-US" altLang="zh-CN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CMP   </a:t>
            </a:r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目标</a:t>
            </a:r>
            <a:r>
              <a:rPr lang="en-US" altLang="zh-CN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,  </a:t>
            </a:r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源</a:t>
            </a:r>
            <a:endParaRPr lang="zh-CN" altLang="en-US" sz="32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矩形 4"/>
          <p:cNvSpPr>
            <a:spLocks noChangeAspect="1"/>
          </p:cNvSpPr>
          <p:nvPr/>
        </p:nvSpPr>
        <p:spPr>
          <a:xfrm>
            <a:off x="755576" y="1383579"/>
            <a:ext cx="7704856" cy="2333453"/>
          </a:xfrm>
          <a:prstGeom prst="rect">
            <a:avLst/>
          </a:prstGeom>
          <a:ln>
            <a:solidFill>
              <a:srgbClr val="0883C8"/>
            </a:solidFill>
            <a:prstDash val="dash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Box 17"/>
          <p:cNvSpPr txBox="1"/>
          <p:nvPr/>
        </p:nvSpPr>
        <p:spPr>
          <a:xfrm>
            <a:off x="1043608" y="1427932"/>
            <a:ext cx="7200800" cy="20572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目标操作数</a:t>
            </a:r>
            <a:r>
              <a:rPr lang="zh-CN" altLang="en-US" sz="24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减去</a:t>
            </a:r>
            <a:r>
              <a:rPr lang="zh-CN" alt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源操作数，但</a:t>
            </a:r>
            <a:r>
              <a:rPr lang="zh-CN" altLang="en-US" sz="24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不送回结果</a:t>
            </a:r>
            <a:r>
              <a:rPr lang="zh-CN" alt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，只根据结果置标志位。</a:t>
            </a:r>
            <a:endParaRPr lang="en-US" altLang="zh-CN" sz="24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寻址方式的使用类似</a:t>
            </a:r>
            <a:r>
              <a:rPr lang="en-US" altLang="zh-CN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MOV</a:t>
            </a:r>
            <a:r>
              <a:rPr lang="zh-CN" alt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24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en-US" altLang="zh-CN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CMP</a:t>
            </a:r>
            <a:r>
              <a:rPr lang="zh-CN" alt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后一般紧跟着条件转移指令以实现分支处理。</a:t>
            </a:r>
            <a:endParaRPr lang="en-US" altLang="zh-CN" sz="24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" name="矩形 10"/>
          <p:cNvSpPr>
            <a:spLocks noChangeAspect="1"/>
          </p:cNvSpPr>
          <p:nvPr/>
        </p:nvSpPr>
        <p:spPr>
          <a:xfrm>
            <a:off x="755576" y="4130588"/>
            <a:ext cx="7704856" cy="1674676"/>
          </a:xfrm>
          <a:prstGeom prst="rect">
            <a:avLst/>
          </a:prstGeom>
          <a:ln>
            <a:solidFill>
              <a:srgbClr val="0883C8"/>
            </a:solidFill>
            <a:prstDash val="soli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Picture 2" descr="E:\仝德志文件，勿删！\03-参考文档\！PPT图片及版面资源\06-PPT精选插图\12-标签\蓝色燕尾01.png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rot="16200000">
            <a:off x="733020" y="4243644"/>
            <a:ext cx="1008111" cy="674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9"/>
          <p:cNvSpPr txBox="1"/>
          <p:nvPr/>
        </p:nvSpPr>
        <p:spPr>
          <a:xfrm>
            <a:off x="1002965" y="4196767"/>
            <a:ext cx="461665" cy="1061714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注 意</a:t>
            </a:r>
          </a:p>
        </p:txBody>
      </p:sp>
      <p:sp>
        <p:nvSpPr>
          <p:cNvPr id="14" name="TextBox 17"/>
          <p:cNvSpPr txBox="1"/>
          <p:nvPr/>
        </p:nvSpPr>
        <p:spPr>
          <a:xfrm>
            <a:off x="1729359" y="4167250"/>
            <a:ext cx="6377344" cy="15660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en-US" altLang="zh-CN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CMP</a:t>
            </a:r>
            <a:r>
              <a:rPr lang="zh-CN" alt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影响所有状态标志位。</a:t>
            </a:r>
            <a:endParaRPr lang="en-US" altLang="zh-CN" sz="24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en-US" altLang="zh-CN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CMP</a:t>
            </a:r>
            <a:r>
              <a:rPr lang="zh-CN" alt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的学习需要跟转移指令结合，跳转指令</a:t>
            </a:r>
            <a:r>
              <a:rPr lang="zh-CN" altLang="en-US" sz="2400" b="1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帮你搞定状态的组合</a:t>
            </a:r>
            <a:r>
              <a:rPr lang="zh-CN" alt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判断。</a:t>
            </a:r>
            <a:endParaRPr lang="en-US" altLang="zh-CN" sz="24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3666307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cxnSp>
        <p:nvCxnSpPr>
          <p:cNvPr id="3" name="直接连接符 2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关于加减法指令你必须知道的</a:t>
            </a:r>
            <a:endParaRPr lang="zh-CN" altLang="en-US" sz="32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979712" y="2745963"/>
            <a:ext cx="5832859" cy="873661"/>
          </a:xfrm>
          <a:prstGeom prst="rect">
            <a:avLst/>
          </a:prstGeom>
          <a:solidFill>
            <a:srgbClr val="1D8D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有符号数，看溢出标志。无符号数，看进位标志。</a:t>
            </a:r>
          </a:p>
        </p:txBody>
      </p:sp>
      <p:sp>
        <p:nvSpPr>
          <p:cNvPr id="14" name="矩形 13"/>
          <p:cNvSpPr/>
          <p:nvPr/>
        </p:nvSpPr>
        <p:spPr>
          <a:xfrm>
            <a:off x="1979713" y="3877287"/>
            <a:ext cx="5832860" cy="873661"/>
          </a:xfrm>
          <a:prstGeom prst="rect">
            <a:avLst/>
          </a:prstGeom>
          <a:solidFill>
            <a:srgbClr val="5DCB0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对于比较指令，程序员根据情况选择跳转指令。</a:t>
            </a:r>
            <a:endParaRPr lang="zh-CN" altLang="en-US" b="1" u="sng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979501" y="1628800"/>
            <a:ext cx="5832860" cy="873661"/>
          </a:xfrm>
          <a:prstGeom prst="rect">
            <a:avLst/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指令不区分有符号数和无符号数，这是程序员的事！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483512" y="1628800"/>
            <a:ext cx="496200" cy="87366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Impact" panose="020B0806030902050204" pitchFamily="34" charset="0"/>
                <a:ea typeface="微软雅黑" panose="020B0503020204020204" pitchFamily="34" charset="-122"/>
              </a:rPr>
              <a:t>1</a:t>
            </a:r>
            <a:endParaRPr lang="zh-CN" altLang="en-US" sz="3200" dirty="0"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483512" y="2745962"/>
            <a:ext cx="496200" cy="87366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Impact" panose="020B0806030902050204" pitchFamily="34" charset="0"/>
                <a:ea typeface="微软雅黑" panose="020B0503020204020204" pitchFamily="34" charset="-122"/>
              </a:rPr>
              <a:t>2</a:t>
            </a:r>
            <a:endParaRPr lang="zh-CN" altLang="en-US" sz="3200" dirty="0"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1483512" y="3877286"/>
            <a:ext cx="496200" cy="87366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Impact" panose="020B0806030902050204" pitchFamily="34" charset="0"/>
                <a:ea typeface="微软雅黑" panose="020B0503020204020204" pitchFamily="34" charset="-122"/>
              </a:rPr>
              <a:t>3</a:t>
            </a:r>
            <a:endParaRPr lang="zh-CN" altLang="en-US" sz="3200" dirty="0"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1547663" y="6021288"/>
            <a:ext cx="5976665" cy="424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</a:t>
            </a:r>
            <a:r>
              <a:rPr lang="zh-CN" altLang="en-US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语言通过编译器区分有符号和无符号数。</a:t>
            </a:r>
            <a:r>
              <a:rPr lang="en-US" altLang="zh-CN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unsigned </a:t>
            </a:r>
            <a:r>
              <a:rPr lang="en-US" altLang="zh-CN" kern="1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int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0" name="Picture 2" descr="C:\Documents and Settings\tdz\桌面\未标题-1 拷贝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84844" y="5589240"/>
            <a:ext cx="834828" cy="782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664726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椭圆 8"/>
          <p:cNvSpPr/>
          <p:nvPr/>
        </p:nvSpPr>
        <p:spPr>
          <a:xfrm>
            <a:off x="8461631" y="6348095"/>
            <a:ext cx="360000" cy="360000"/>
          </a:xfrm>
          <a:prstGeom prst="ellipse">
            <a:avLst/>
          </a:prstGeom>
          <a:solidFill>
            <a:schemeClr val="bg1">
              <a:lumMod val="75000"/>
              <a:alpha val="3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Box 15"/>
          <p:cNvSpPr txBox="1"/>
          <p:nvPr/>
        </p:nvSpPr>
        <p:spPr>
          <a:xfrm>
            <a:off x="8316416" y="6358818"/>
            <a:ext cx="6504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2EEF1883-7A0E-4F66-9932-E581691AD397}" type="slidenum">
              <a:rPr lang="zh-CN" altLang="en-US" sz="160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pPr algn="ctr"/>
              <a:t>32</a:t>
            </a:fld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 </a:t>
            </a:r>
            <a:endParaRPr lang="zh-CN" altLang="en-US" sz="1600" b="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2" name="TextBox 15"/>
          <p:cNvSpPr txBox="1">
            <a:spLocks noChangeArrowheads="1"/>
          </p:cNvSpPr>
          <p:nvPr/>
        </p:nvSpPr>
        <p:spPr bwMode="auto">
          <a:xfrm>
            <a:off x="2966244" y="4005064"/>
            <a:ext cx="3405956" cy="25152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67730" tIns="33865" rIns="67730" bIns="33865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9pPr>
          </a:lstStyle>
          <a:p>
            <a:pPr defTabSz="762000">
              <a:lnSpc>
                <a:spcPct val="150000"/>
              </a:lnSpc>
              <a:spcAft>
                <a:spcPts val="600"/>
              </a:spcAft>
              <a:buFont typeface="Wingdings" pitchFamily="2" charset="2"/>
              <a:buChar char="u"/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加减法指令</a:t>
            </a:r>
            <a:endParaRPr lang="en-US" altLang="zh-CN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defTabSz="762000">
              <a:lnSpc>
                <a:spcPct val="150000"/>
              </a:lnSpc>
              <a:spcAft>
                <a:spcPts val="600"/>
              </a:spcAft>
              <a:buFont typeface="Wingdings" pitchFamily="2" charset="2"/>
              <a:buChar char="u"/>
            </a:pPr>
            <a:r>
              <a:rPr lang="en-US" altLang="zh-CN" sz="24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4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乘除法指令</a:t>
            </a:r>
            <a:endParaRPr lang="en-US" altLang="zh-CN" sz="2400" b="1" dirty="0">
              <a:solidFill>
                <a:srgbClr val="FF3255"/>
              </a:solidFill>
              <a:latin typeface="微软雅黑" pitchFamily="34" charset="-122"/>
              <a:ea typeface="微软雅黑" pitchFamily="34" charset="-122"/>
            </a:endParaRPr>
          </a:p>
          <a:p>
            <a:pPr defTabSz="762000">
              <a:lnSpc>
                <a:spcPct val="150000"/>
              </a:lnSpc>
              <a:spcAft>
                <a:spcPts val="600"/>
              </a:spcAft>
              <a:buFont typeface="Wingdings" pitchFamily="2" charset="2"/>
              <a:buChar char="u"/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符号扩展指令</a:t>
            </a:r>
            <a:endParaRPr lang="en-US" altLang="zh-CN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defTabSz="762000">
              <a:lnSpc>
                <a:spcPct val="150000"/>
              </a:lnSpc>
              <a:spcAft>
                <a:spcPts val="600"/>
              </a:spcAft>
              <a:buFont typeface="Wingdings" pitchFamily="2" charset="2"/>
              <a:buChar char="u"/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十进制调整指令</a:t>
            </a:r>
            <a:endParaRPr lang="en-US" altLang="zh-CN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" name="TextBox 2"/>
          <p:cNvSpPr txBox="1"/>
          <p:nvPr/>
        </p:nvSpPr>
        <p:spPr>
          <a:xfrm>
            <a:off x="1620044" y="1848644"/>
            <a:ext cx="1107996" cy="369332"/>
          </a:xfrm>
          <a:prstGeom prst="rect">
            <a:avLst/>
          </a:prstGeom>
          <a:solidFill>
            <a:sysClr val="window" lastClr="FFFFFF">
              <a:lumMod val="85000"/>
            </a:sysClr>
          </a:solidFill>
        </p:spPr>
        <p:txBody>
          <a:bodyPr wrap="non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9pPr>
          </a:lstStyle>
          <a:p>
            <a:pPr>
              <a:defRPr/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第二小节</a:t>
            </a:r>
          </a:p>
        </p:txBody>
      </p:sp>
      <p:cxnSp>
        <p:nvCxnSpPr>
          <p:cNvPr id="14" name="直接连接符 13"/>
          <p:cNvCxnSpPr/>
          <p:nvPr/>
        </p:nvCxnSpPr>
        <p:spPr>
          <a:xfrm>
            <a:off x="1404144" y="2207419"/>
            <a:ext cx="6264275" cy="1587"/>
          </a:xfrm>
          <a:prstGeom prst="line">
            <a:avLst/>
          </a:prstGeom>
          <a:noFill/>
          <a:ln w="9525" cap="flat" cmpd="sng" algn="ctr">
            <a:solidFill>
              <a:sysClr val="window" lastClr="FFFFFF">
                <a:lumMod val="85000"/>
              </a:sysClr>
            </a:solidFill>
            <a:prstDash val="solid"/>
          </a:ln>
          <a:effectLst/>
        </p:spPr>
      </p:cxnSp>
      <p:cxnSp>
        <p:nvCxnSpPr>
          <p:cNvPr id="15" name="直接连接符 14"/>
          <p:cNvCxnSpPr/>
          <p:nvPr/>
        </p:nvCxnSpPr>
        <p:spPr>
          <a:xfrm>
            <a:off x="1475582" y="3936206"/>
            <a:ext cx="6264275" cy="1588"/>
          </a:xfrm>
          <a:prstGeom prst="line">
            <a:avLst/>
          </a:prstGeom>
          <a:noFill/>
          <a:ln w="9525" cap="flat" cmpd="sng" algn="ctr">
            <a:solidFill>
              <a:sysClr val="window" lastClr="FFFFFF">
                <a:lumMod val="85000"/>
              </a:sysClr>
            </a:solidFill>
            <a:prstDash val="solid"/>
          </a:ln>
          <a:effectLst/>
        </p:spPr>
      </p:cxnSp>
      <p:sp>
        <p:nvSpPr>
          <p:cNvPr id="16" name="TextBox 10"/>
          <p:cNvSpPr txBox="1">
            <a:spLocks noChangeArrowheads="1"/>
          </p:cNvSpPr>
          <p:nvPr/>
        </p:nvSpPr>
        <p:spPr bwMode="auto">
          <a:xfrm>
            <a:off x="1835697" y="2514157"/>
            <a:ext cx="6985934" cy="11621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>
              <a:lnSpc>
                <a:spcPct val="114000"/>
              </a:lnSpc>
            </a:pPr>
            <a:r>
              <a:rPr lang="zh-CN" altLang="en-US" sz="6600" b="1" dirty="0">
                <a:solidFill>
                  <a:srgbClr val="00C4F0"/>
                </a:solidFill>
                <a:latin typeface="微软雅黑" pitchFamily="34" charset="-122"/>
                <a:ea typeface="微软雅黑" pitchFamily="34" charset="-122"/>
              </a:rPr>
              <a:t>算术运算指令</a:t>
            </a:r>
            <a:endParaRPr lang="zh-CN" altLang="en-US" sz="80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134223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 animBg="1"/>
      <p:bldP spid="16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59355" y="1686450"/>
            <a:ext cx="2172485" cy="609398"/>
          </a:xfrm>
          <a:prstGeom prst="rect">
            <a:avLst/>
          </a:prstGeom>
          <a:solidFill>
            <a:srgbClr val="FF3255"/>
          </a:solidFill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28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MUL  </a:t>
            </a:r>
            <a:r>
              <a:rPr lang="zh-CN" altLang="en-US" sz="28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源</a:t>
            </a:r>
          </a:p>
        </p:txBody>
      </p:sp>
      <p:sp>
        <p:nvSpPr>
          <p:cNvPr id="3" name="矩形 2"/>
          <p:cNvSpPr/>
          <p:nvPr/>
        </p:nvSpPr>
        <p:spPr>
          <a:xfrm>
            <a:off x="963140" y="2527676"/>
            <a:ext cx="2175347" cy="609398"/>
          </a:xfrm>
          <a:prstGeom prst="rect">
            <a:avLst/>
          </a:prstGeom>
          <a:solidFill>
            <a:srgbClr val="5DCB08"/>
          </a:solidFill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28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IMUL </a:t>
            </a:r>
            <a:r>
              <a:rPr lang="zh-CN" altLang="en-US" sz="28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源</a:t>
            </a:r>
          </a:p>
        </p:txBody>
      </p:sp>
      <p:sp>
        <p:nvSpPr>
          <p:cNvPr id="4" name="TextBox 10"/>
          <p:cNvSpPr txBox="1">
            <a:spLocks noChangeArrowheads="1"/>
          </p:cNvSpPr>
          <p:nvPr/>
        </p:nvSpPr>
        <p:spPr bwMode="auto">
          <a:xfrm>
            <a:off x="3779912" y="1724462"/>
            <a:ext cx="4536504" cy="1355371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342900" indent="-342900" algn="just">
              <a:lnSpc>
                <a:spcPct val="114000"/>
              </a:lnSpc>
              <a:buFont typeface="Wingdings" panose="05000000000000000000" pitchFamily="2" charset="2"/>
              <a:buChar char="n"/>
            </a:pPr>
            <a:r>
              <a:rPr lang="zh-CN" altLang="en-US" sz="24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字节乘法：</a:t>
            </a:r>
            <a:r>
              <a:rPr lang="en-US" altLang="zh-CN" sz="24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AL</a:t>
            </a:r>
            <a:r>
              <a:rPr lang="zh-CN" altLang="en-US" sz="24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乘以源</a:t>
            </a:r>
            <a:r>
              <a:rPr lang="en-US" altLang="zh-CN" sz="24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sym typeface="Wingdings" panose="05000000000000000000" pitchFamily="2" charset="2"/>
              </a:rPr>
              <a:t>AX</a:t>
            </a:r>
          </a:p>
          <a:p>
            <a:pPr marL="342900" indent="-342900" algn="just">
              <a:lnSpc>
                <a:spcPct val="114000"/>
              </a:lnSpc>
              <a:buFont typeface="Wingdings" panose="05000000000000000000" pitchFamily="2" charset="2"/>
              <a:buChar char="n"/>
            </a:pPr>
            <a:endParaRPr lang="en-US" altLang="zh-CN" sz="2400" b="1" dirty="0">
              <a:solidFill>
                <a:srgbClr val="00B0F0"/>
              </a:solidFill>
              <a:latin typeface="微软雅黑" pitchFamily="34" charset="-122"/>
              <a:ea typeface="微软雅黑" pitchFamily="34" charset="-122"/>
              <a:sym typeface="Wingdings" panose="05000000000000000000" pitchFamily="2" charset="2"/>
            </a:endParaRPr>
          </a:p>
          <a:p>
            <a:pPr marL="342900" indent="-342900" algn="just">
              <a:lnSpc>
                <a:spcPct val="114000"/>
              </a:lnSpc>
              <a:buFont typeface="Wingdings" panose="05000000000000000000" pitchFamily="2" charset="2"/>
              <a:buChar char="n"/>
            </a:pPr>
            <a:r>
              <a:rPr lang="zh-CN" altLang="en-US" sz="24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字乘法：</a:t>
            </a:r>
            <a:r>
              <a:rPr lang="en-US" altLang="zh-CN" sz="24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AX</a:t>
            </a:r>
            <a:r>
              <a:rPr lang="zh-CN" altLang="en-US" sz="24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乘以源</a:t>
            </a:r>
            <a:r>
              <a:rPr lang="en-US" altLang="zh-CN" sz="24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sym typeface="Wingdings" panose="05000000000000000000" pitchFamily="2" charset="2"/>
              </a:rPr>
              <a:t>DX, AX</a:t>
            </a:r>
          </a:p>
        </p:txBody>
      </p:sp>
      <p:sp>
        <p:nvSpPr>
          <p:cNvPr id="5" name="矩形 4"/>
          <p:cNvSpPr/>
          <p:nvPr/>
        </p:nvSpPr>
        <p:spPr>
          <a:xfrm>
            <a:off x="3707904" y="1484784"/>
            <a:ext cx="4608512" cy="1834731"/>
          </a:xfrm>
          <a:prstGeom prst="rect">
            <a:avLst/>
          </a:prstGeom>
          <a:noFill/>
          <a:ln w="12700">
            <a:solidFill>
              <a:srgbClr val="1D8DE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683568" y="1484784"/>
            <a:ext cx="2736726" cy="1834731"/>
          </a:xfrm>
          <a:prstGeom prst="rect">
            <a:avLst/>
          </a:prstGeom>
          <a:noFill/>
          <a:ln w="12700">
            <a:solidFill>
              <a:srgbClr val="1D8DE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cxnSp>
        <p:nvCxnSpPr>
          <p:cNvPr id="8" name="直接连接符 7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295214" y="550657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无符号乘法</a:t>
            </a:r>
            <a:r>
              <a:rPr lang="en-US" altLang="zh-CN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MUL</a:t>
            </a:r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和有符号乘法</a:t>
            </a:r>
            <a:r>
              <a:rPr lang="en-US" altLang="zh-CN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IMUL</a:t>
            </a:r>
            <a:endParaRPr lang="zh-CN" altLang="en-US" sz="32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" name="矩形 9"/>
          <p:cNvSpPr>
            <a:spLocks noChangeAspect="1"/>
          </p:cNvSpPr>
          <p:nvPr/>
        </p:nvSpPr>
        <p:spPr>
          <a:xfrm>
            <a:off x="683568" y="3626531"/>
            <a:ext cx="7668344" cy="1962709"/>
          </a:xfrm>
          <a:prstGeom prst="rect">
            <a:avLst/>
          </a:prstGeom>
          <a:ln>
            <a:solidFill>
              <a:srgbClr val="0883C8"/>
            </a:solidFill>
            <a:prstDash val="soli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Picture 2" descr="E:\仝德志文件，勿删！\03-参考文档\！PPT图片及版面资源\06-PPT精选插图\12-标签\蓝色燕尾01.png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rot="16200000">
            <a:off x="706125" y="3739588"/>
            <a:ext cx="1008111" cy="674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9"/>
          <p:cNvSpPr txBox="1"/>
          <p:nvPr/>
        </p:nvSpPr>
        <p:spPr>
          <a:xfrm>
            <a:off x="976070" y="3692711"/>
            <a:ext cx="461665" cy="1061714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注 意</a:t>
            </a:r>
          </a:p>
        </p:txBody>
      </p:sp>
      <p:sp>
        <p:nvSpPr>
          <p:cNvPr id="13" name="TextBox 17"/>
          <p:cNvSpPr txBox="1"/>
          <p:nvPr/>
        </p:nvSpPr>
        <p:spPr>
          <a:xfrm>
            <a:off x="1619672" y="3721873"/>
            <a:ext cx="6489828" cy="1729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sz="20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字节运算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时，目标操作数必须是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AL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，结果放在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AX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中。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sz="20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字运算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时，目标操作数必须是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AX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，结果在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DX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AX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中。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sz="20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源操作数不能是立即数。</a:t>
            </a:r>
            <a:endParaRPr lang="en-US" altLang="zh-CN" sz="2000" b="1" dirty="0">
              <a:solidFill>
                <a:srgbClr val="FF3255"/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除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CF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和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OF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外，对其它状态标志位无意义（见书）。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" name="TextBox 10"/>
          <p:cNvSpPr txBox="1">
            <a:spLocks noChangeArrowheads="1"/>
          </p:cNvSpPr>
          <p:nvPr/>
        </p:nvSpPr>
        <p:spPr bwMode="auto">
          <a:xfrm>
            <a:off x="3995936" y="5669296"/>
            <a:ext cx="2257260" cy="9343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>
              <a:lnSpc>
                <a:spcPct val="114000"/>
              </a:lnSpc>
            </a:pPr>
            <a:r>
              <a:rPr lang="en-US" altLang="zh-CN" sz="24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MUL</a:t>
            </a:r>
            <a:r>
              <a:rPr lang="en-US" altLang="zh-CN" sz="24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400" b="1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BL</a:t>
            </a:r>
            <a:endParaRPr lang="en-US" altLang="zh-CN" sz="2400" b="1" dirty="0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>
              <a:lnSpc>
                <a:spcPct val="114000"/>
              </a:lnSpc>
            </a:pPr>
            <a:r>
              <a:rPr lang="en-US" altLang="zh-CN" sz="24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IMUL</a:t>
            </a:r>
            <a:r>
              <a:rPr lang="en-US" altLang="zh-CN" sz="24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400" b="1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BL</a:t>
            </a:r>
            <a:endParaRPr lang="en-US" altLang="zh-CN" sz="2400" b="1" dirty="0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5" name="TextBox 10"/>
          <p:cNvSpPr txBox="1">
            <a:spLocks noChangeArrowheads="1"/>
          </p:cNvSpPr>
          <p:nvPr/>
        </p:nvSpPr>
        <p:spPr bwMode="auto">
          <a:xfrm>
            <a:off x="1898996" y="5669296"/>
            <a:ext cx="1736900" cy="9343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>
              <a:lnSpc>
                <a:spcPct val="114000"/>
              </a:lnSpc>
            </a:pPr>
            <a:r>
              <a:rPr lang="en-US" altLang="zh-CN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AL=0FFH</a:t>
            </a:r>
          </a:p>
          <a:p>
            <a:pPr algn="ctr">
              <a:lnSpc>
                <a:spcPct val="114000"/>
              </a:lnSpc>
            </a:pPr>
            <a:r>
              <a:rPr lang="en-US" altLang="zh-CN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BL=0FFH</a:t>
            </a:r>
          </a:p>
        </p:txBody>
      </p:sp>
      <p:sp>
        <p:nvSpPr>
          <p:cNvPr id="16" name="爆炸形 2 15"/>
          <p:cNvSpPr/>
          <p:nvPr/>
        </p:nvSpPr>
        <p:spPr>
          <a:xfrm>
            <a:off x="6081742" y="5451577"/>
            <a:ext cx="1409327" cy="1169341"/>
          </a:xfrm>
          <a:prstGeom prst="irregularSeal2">
            <a:avLst/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/>
              <a:t>区别</a:t>
            </a:r>
          </a:p>
        </p:txBody>
      </p:sp>
    </p:spTree>
    <p:extLst>
      <p:ext uri="{BB962C8B-B14F-4D97-AF65-F5344CB8AC3E}">
        <p14:creationId xmlns:p14="http://schemas.microsoft.com/office/powerpoint/2010/main" val="3787993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815339" y="1762352"/>
            <a:ext cx="2172485" cy="609398"/>
          </a:xfrm>
          <a:prstGeom prst="rect">
            <a:avLst/>
          </a:prstGeom>
          <a:solidFill>
            <a:srgbClr val="FF3255"/>
          </a:solidFill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28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DIV  </a:t>
            </a:r>
            <a:r>
              <a:rPr lang="zh-CN" altLang="en-US" sz="28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源</a:t>
            </a:r>
          </a:p>
        </p:txBody>
      </p:sp>
      <p:sp>
        <p:nvSpPr>
          <p:cNvPr id="3" name="矩形 2"/>
          <p:cNvSpPr/>
          <p:nvPr/>
        </p:nvSpPr>
        <p:spPr>
          <a:xfrm>
            <a:off x="819124" y="2603578"/>
            <a:ext cx="2175347" cy="609398"/>
          </a:xfrm>
          <a:prstGeom prst="rect">
            <a:avLst/>
          </a:prstGeom>
          <a:solidFill>
            <a:srgbClr val="5DCB08"/>
          </a:solidFill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28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IDIV </a:t>
            </a:r>
            <a:r>
              <a:rPr lang="zh-CN" altLang="en-US" sz="28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源</a:t>
            </a:r>
          </a:p>
        </p:txBody>
      </p:sp>
      <p:sp>
        <p:nvSpPr>
          <p:cNvPr id="4" name="TextBox 10"/>
          <p:cNvSpPr txBox="1">
            <a:spLocks noChangeArrowheads="1"/>
          </p:cNvSpPr>
          <p:nvPr/>
        </p:nvSpPr>
        <p:spPr bwMode="auto">
          <a:xfrm>
            <a:off x="3635896" y="1583451"/>
            <a:ext cx="4824114" cy="1776384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342900" indent="-342900" algn="just">
              <a:lnSpc>
                <a:spcPct val="114000"/>
              </a:lnSpc>
              <a:buFont typeface="Wingdings" panose="05000000000000000000" pitchFamily="2" charset="2"/>
              <a:buChar char="n"/>
            </a:pPr>
            <a:r>
              <a:rPr lang="zh-CN" altLang="en-US" sz="24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字节除法：</a:t>
            </a:r>
            <a:r>
              <a:rPr lang="en-US" altLang="zh-CN" sz="24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AX/</a:t>
            </a:r>
            <a:r>
              <a:rPr lang="zh-CN" altLang="en-US" sz="24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源的商</a:t>
            </a:r>
            <a:r>
              <a:rPr lang="en-US" altLang="zh-CN" sz="24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sym typeface="Wingdings" panose="05000000000000000000" pitchFamily="2" charset="2"/>
              </a:rPr>
              <a:t>AL</a:t>
            </a:r>
          </a:p>
          <a:p>
            <a:pPr algn="just">
              <a:lnSpc>
                <a:spcPct val="114000"/>
              </a:lnSpc>
            </a:pPr>
            <a:r>
              <a:rPr lang="en-US" altLang="zh-CN" sz="24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sym typeface="Wingdings" panose="05000000000000000000" pitchFamily="2" charset="2"/>
              </a:rPr>
              <a:t>                    </a:t>
            </a:r>
            <a:r>
              <a:rPr lang="zh-CN" altLang="en-US" sz="24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sym typeface="Wingdings" panose="05000000000000000000" pitchFamily="2" charset="2"/>
              </a:rPr>
              <a:t>余数</a:t>
            </a:r>
            <a:r>
              <a:rPr lang="en-US" altLang="zh-CN" sz="24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sym typeface="Wingdings" panose="05000000000000000000" pitchFamily="2" charset="2"/>
              </a:rPr>
              <a:t>AH</a:t>
            </a:r>
          </a:p>
          <a:p>
            <a:pPr marL="342900" indent="-342900" algn="just">
              <a:lnSpc>
                <a:spcPct val="114000"/>
              </a:lnSpc>
              <a:buFont typeface="Wingdings" panose="05000000000000000000" pitchFamily="2" charset="2"/>
              <a:buChar char="n"/>
            </a:pPr>
            <a:r>
              <a:rPr lang="zh-CN" altLang="en-US" sz="24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字除法：</a:t>
            </a:r>
            <a:r>
              <a:rPr lang="en-US" altLang="zh-CN" sz="24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(DX,AX)/</a:t>
            </a:r>
            <a:r>
              <a:rPr lang="zh-CN" altLang="en-US" sz="24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源的商</a:t>
            </a:r>
            <a:r>
              <a:rPr lang="en-US" altLang="zh-CN" sz="24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sym typeface="Wingdings" panose="05000000000000000000" pitchFamily="2" charset="2"/>
              </a:rPr>
              <a:t>AX</a:t>
            </a:r>
          </a:p>
          <a:p>
            <a:pPr algn="just">
              <a:lnSpc>
                <a:spcPct val="114000"/>
              </a:lnSpc>
            </a:pPr>
            <a:r>
              <a:rPr lang="zh-CN" altLang="en-US" sz="24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sym typeface="Wingdings" panose="05000000000000000000" pitchFamily="2" charset="2"/>
              </a:rPr>
              <a:t>                    余数</a:t>
            </a:r>
            <a:r>
              <a:rPr lang="en-US" altLang="zh-CN" sz="24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sym typeface="Wingdings" panose="05000000000000000000" pitchFamily="2" charset="2"/>
              </a:rPr>
              <a:t>DX</a:t>
            </a:r>
          </a:p>
        </p:txBody>
      </p:sp>
      <p:sp>
        <p:nvSpPr>
          <p:cNvPr id="5" name="矩形 4"/>
          <p:cNvSpPr/>
          <p:nvPr/>
        </p:nvSpPr>
        <p:spPr>
          <a:xfrm>
            <a:off x="3563888" y="1484784"/>
            <a:ext cx="4896122" cy="2016224"/>
          </a:xfrm>
          <a:prstGeom prst="rect">
            <a:avLst/>
          </a:prstGeom>
          <a:noFill/>
          <a:ln w="12700">
            <a:solidFill>
              <a:srgbClr val="1D8DE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539552" y="1484784"/>
            <a:ext cx="2736726" cy="2016224"/>
          </a:xfrm>
          <a:prstGeom prst="rect">
            <a:avLst/>
          </a:prstGeom>
          <a:noFill/>
          <a:ln w="12700">
            <a:solidFill>
              <a:srgbClr val="1D8DE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cxnSp>
        <p:nvCxnSpPr>
          <p:cNvPr id="8" name="直接连接符 7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295214" y="550657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无符号除法</a:t>
            </a:r>
            <a:r>
              <a:rPr lang="en-US" altLang="zh-CN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DIV</a:t>
            </a:r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和有符号除法</a:t>
            </a:r>
            <a:r>
              <a:rPr lang="en-US" altLang="zh-CN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IDIV</a:t>
            </a:r>
            <a:endParaRPr lang="zh-CN" altLang="en-US" sz="32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" name="矩形 9"/>
          <p:cNvSpPr>
            <a:spLocks noChangeAspect="1"/>
          </p:cNvSpPr>
          <p:nvPr/>
        </p:nvSpPr>
        <p:spPr>
          <a:xfrm>
            <a:off x="539552" y="3770547"/>
            <a:ext cx="7920458" cy="2234389"/>
          </a:xfrm>
          <a:prstGeom prst="rect">
            <a:avLst/>
          </a:prstGeom>
          <a:ln>
            <a:solidFill>
              <a:srgbClr val="0883C8"/>
            </a:solidFill>
            <a:prstDash val="soli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Picture 2" descr="E:\仝德志文件，勿删！\03-参考文档\！PPT图片及版面资源\06-PPT精选插图\12-标签\蓝色燕尾01.png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rot="16200000">
            <a:off x="589005" y="3883604"/>
            <a:ext cx="1008111" cy="674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9"/>
          <p:cNvSpPr txBox="1"/>
          <p:nvPr/>
        </p:nvSpPr>
        <p:spPr>
          <a:xfrm>
            <a:off x="858950" y="3836727"/>
            <a:ext cx="461665" cy="1061714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注 意</a:t>
            </a:r>
          </a:p>
        </p:txBody>
      </p:sp>
      <p:sp>
        <p:nvSpPr>
          <p:cNvPr id="13" name="TextBox 17"/>
          <p:cNvSpPr txBox="1"/>
          <p:nvPr/>
        </p:nvSpPr>
        <p:spPr>
          <a:xfrm>
            <a:off x="1619672" y="3865889"/>
            <a:ext cx="6696744" cy="2139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若除数为零或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AL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中商大于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FFH(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或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AX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中商大于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FFFFH)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，则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CPU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产生一个类型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0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的内部中断。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IDIV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操作数必须是有符号数，商和余数也均为有符号数，而且余数的符号与被除数的符号相同。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en-US" altLang="zh-CN" sz="20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SRC</a:t>
            </a:r>
            <a:r>
              <a:rPr lang="zh-CN" altLang="en-US" sz="20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不能为立即数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，对所有状态标志位均无定义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1194129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cxnSp>
        <p:nvCxnSpPr>
          <p:cNvPr id="3" name="直接连接符 2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关于除法指令你必须知道的</a:t>
            </a:r>
            <a:endParaRPr lang="zh-CN" altLang="en-US" sz="32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979712" y="3789041"/>
            <a:ext cx="5832859" cy="873661"/>
          </a:xfrm>
          <a:prstGeom prst="rect">
            <a:avLst/>
          </a:prstGeom>
          <a:solidFill>
            <a:srgbClr val="1D8D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AX(DX,AX)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为隐含的被除数寄存器。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AL(AX)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为隐含的商寄存器，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AH(DX)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为隐含的余数寄存器。</a:t>
            </a:r>
          </a:p>
        </p:txBody>
      </p:sp>
      <p:sp>
        <p:nvSpPr>
          <p:cNvPr id="14" name="矩形 13"/>
          <p:cNvSpPr/>
          <p:nvPr/>
        </p:nvSpPr>
        <p:spPr>
          <a:xfrm>
            <a:off x="1979713" y="2708921"/>
            <a:ext cx="5832860" cy="873661"/>
          </a:xfrm>
          <a:prstGeom prst="rect">
            <a:avLst/>
          </a:prstGeom>
          <a:solidFill>
            <a:srgbClr val="5DCB0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字操作时，被除数必须为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32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位，除数是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16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位，商和余数是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16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位的。</a:t>
            </a:r>
            <a:endParaRPr lang="zh-CN" altLang="en-US" b="1" u="sng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979501" y="1628800"/>
            <a:ext cx="5832860" cy="873661"/>
          </a:xfrm>
          <a:prstGeom prst="rect">
            <a:avLst/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字节操作时，被除数必须为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16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位，除数是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位，得到的商和余数是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位的。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483512" y="1628800"/>
            <a:ext cx="496200" cy="87366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Impact" panose="020B0806030902050204" pitchFamily="34" charset="0"/>
                <a:ea typeface="微软雅黑" panose="020B0503020204020204" pitchFamily="34" charset="-122"/>
              </a:rPr>
              <a:t>1</a:t>
            </a:r>
            <a:endParaRPr lang="zh-CN" altLang="en-US" sz="3200" dirty="0"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483512" y="3789040"/>
            <a:ext cx="496200" cy="87366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Impact" panose="020B0806030902050204" pitchFamily="34" charset="0"/>
                <a:ea typeface="微软雅黑" panose="020B0503020204020204" pitchFamily="34" charset="-122"/>
              </a:rPr>
              <a:t>3</a:t>
            </a:r>
            <a:endParaRPr lang="zh-CN" altLang="en-US" sz="3200" dirty="0"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1483512" y="2708920"/>
            <a:ext cx="496200" cy="87366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Impact" panose="020B0806030902050204" pitchFamily="34" charset="0"/>
                <a:ea typeface="微软雅黑" panose="020B0503020204020204" pitchFamily="34" charset="-122"/>
              </a:rPr>
              <a:t>2</a:t>
            </a:r>
            <a:endParaRPr lang="zh-CN" altLang="en-US" sz="3200" dirty="0"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3957708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椭圆 8"/>
          <p:cNvSpPr/>
          <p:nvPr/>
        </p:nvSpPr>
        <p:spPr>
          <a:xfrm>
            <a:off x="8461631" y="6348095"/>
            <a:ext cx="360000" cy="360000"/>
          </a:xfrm>
          <a:prstGeom prst="ellipse">
            <a:avLst/>
          </a:prstGeom>
          <a:solidFill>
            <a:schemeClr val="bg1">
              <a:lumMod val="75000"/>
              <a:alpha val="3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Box 15"/>
          <p:cNvSpPr txBox="1"/>
          <p:nvPr/>
        </p:nvSpPr>
        <p:spPr>
          <a:xfrm>
            <a:off x="8316416" y="6358818"/>
            <a:ext cx="6504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2EEF1883-7A0E-4F66-9932-E581691AD397}" type="slidenum">
              <a:rPr lang="zh-CN" altLang="en-US" sz="160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pPr algn="ctr"/>
              <a:t>36</a:t>
            </a:fld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 </a:t>
            </a:r>
            <a:endParaRPr lang="zh-CN" altLang="en-US" sz="1600" b="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2" name="TextBox 15"/>
          <p:cNvSpPr txBox="1">
            <a:spLocks noChangeArrowheads="1"/>
          </p:cNvSpPr>
          <p:nvPr/>
        </p:nvSpPr>
        <p:spPr bwMode="auto">
          <a:xfrm>
            <a:off x="2966244" y="4005064"/>
            <a:ext cx="3405956" cy="25152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67730" tIns="33865" rIns="67730" bIns="33865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9pPr>
          </a:lstStyle>
          <a:p>
            <a:pPr defTabSz="762000">
              <a:lnSpc>
                <a:spcPct val="150000"/>
              </a:lnSpc>
              <a:spcAft>
                <a:spcPts val="600"/>
              </a:spcAft>
              <a:buFont typeface="Wingdings" pitchFamily="2" charset="2"/>
              <a:buChar char="u"/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加减法指令</a:t>
            </a:r>
            <a:endParaRPr lang="en-US" altLang="zh-CN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defTabSz="762000">
              <a:lnSpc>
                <a:spcPct val="150000"/>
              </a:lnSpc>
              <a:spcAft>
                <a:spcPts val="600"/>
              </a:spcAft>
              <a:buFont typeface="Wingdings" pitchFamily="2" charset="2"/>
              <a:buChar char="u"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乘除法指令</a:t>
            </a:r>
            <a:endParaRPr lang="en-US" altLang="zh-CN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defTabSz="762000">
              <a:lnSpc>
                <a:spcPct val="150000"/>
              </a:lnSpc>
              <a:spcAft>
                <a:spcPts val="600"/>
              </a:spcAft>
              <a:buFont typeface="Wingdings" pitchFamily="2" charset="2"/>
              <a:buChar char="u"/>
            </a:pPr>
            <a:r>
              <a:rPr lang="zh-CN" altLang="en-US" sz="24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 符号扩展指令</a:t>
            </a:r>
            <a:endParaRPr lang="en-US" altLang="zh-CN" sz="2400" b="1" dirty="0">
              <a:solidFill>
                <a:srgbClr val="FF3255"/>
              </a:solidFill>
              <a:latin typeface="微软雅黑" pitchFamily="34" charset="-122"/>
              <a:ea typeface="微软雅黑" pitchFamily="34" charset="-122"/>
            </a:endParaRPr>
          </a:p>
          <a:p>
            <a:pPr defTabSz="762000">
              <a:lnSpc>
                <a:spcPct val="150000"/>
              </a:lnSpc>
              <a:spcAft>
                <a:spcPts val="600"/>
              </a:spcAft>
              <a:buFont typeface="Wingdings" pitchFamily="2" charset="2"/>
              <a:buChar char="u"/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十进制调整指令</a:t>
            </a:r>
            <a:endParaRPr lang="en-US" altLang="zh-CN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" name="TextBox 2"/>
          <p:cNvSpPr txBox="1"/>
          <p:nvPr/>
        </p:nvSpPr>
        <p:spPr>
          <a:xfrm>
            <a:off x="1620044" y="1848644"/>
            <a:ext cx="1107996" cy="369332"/>
          </a:xfrm>
          <a:prstGeom prst="rect">
            <a:avLst/>
          </a:prstGeom>
          <a:solidFill>
            <a:sysClr val="window" lastClr="FFFFFF">
              <a:lumMod val="85000"/>
            </a:sysClr>
          </a:solidFill>
        </p:spPr>
        <p:txBody>
          <a:bodyPr wrap="non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9pPr>
          </a:lstStyle>
          <a:p>
            <a:pPr>
              <a:defRPr/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第二小节</a:t>
            </a:r>
          </a:p>
        </p:txBody>
      </p:sp>
      <p:cxnSp>
        <p:nvCxnSpPr>
          <p:cNvPr id="14" name="直接连接符 13"/>
          <p:cNvCxnSpPr/>
          <p:nvPr/>
        </p:nvCxnSpPr>
        <p:spPr>
          <a:xfrm>
            <a:off x="1404144" y="2207419"/>
            <a:ext cx="6264275" cy="1587"/>
          </a:xfrm>
          <a:prstGeom prst="line">
            <a:avLst/>
          </a:prstGeom>
          <a:noFill/>
          <a:ln w="9525" cap="flat" cmpd="sng" algn="ctr">
            <a:solidFill>
              <a:sysClr val="window" lastClr="FFFFFF">
                <a:lumMod val="85000"/>
              </a:sysClr>
            </a:solidFill>
            <a:prstDash val="solid"/>
          </a:ln>
          <a:effectLst/>
        </p:spPr>
      </p:cxnSp>
      <p:cxnSp>
        <p:nvCxnSpPr>
          <p:cNvPr id="15" name="直接连接符 14"/>
          <p:cNvCxnSpPr/>
          <p:nvPr/>
        </p:nvCxnSpPr>
        <p:spPr>
          <a:xfrm>
            <a:off x="1475582" y="3936206"/>
            <a:ext cx="6264275" cy="1588"/>
          </a:xfrm>
          <a:prstGeom prst="line">
            <a:avLst/>
          </a:prstGeom>
          <a:noFill/>
          <a:ln w="9525" cap="flat" cmpd="sng" algn="ctr">
            <a:solidFill>
              <a:sysClr val="window" lastClr="FFFFFF">
                <a:lumMod val="85000"/>
              </a:sysClr>
            </a:solidFill>
            <a:prstDash val="solid"/>
          </a:ln>
          <a:effectLst/>
        </p:spPr>
      </p:cxnSp>
      <p:sp>
        <p:nvSpPr>
          <p:cNvPr id="16" name="TextBox 10"/>
          <p:cNvSpPr txBox="1">
            <a:spLocks noChangeArrowheads="1"/>
          </p:cNvSpPr>
          <p:nvPr/>
        </p:nvSpPr>
        <p:spPr bwMode="auto">
          <a:xfrm>
            <a:off x="1835697" y="2514157"/>
            <a:ext cx="6985934" cy="11621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>
              <a:lnSpc>
                <a:spcPct val="114000"/>
              </a:lnSpc>
            </a:pPr>
            <a:r>
              <a:rPr lang="zh-CN" altLang="en-US" sz="6600" b="1" dirty="0">
                <a:solidFill>
                  <a:srgbClr val="00C4F0"/>
                </a:solidFill>
                <a:latin typeface="微软雅黑" pitchFamily="34" charset="-122"/>
                <a:ea typeface="微软雅黑" pitchFamily="34" charset="-122"/>
              </a:rPr>
              <a:t>算术运算指令</a:t>
            </a:r>
            <a:endParaRPr lang="zh-CN" altLang="en-US" sz="80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372943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 animBg="1"/>
      <p:bldP spid="16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769920" y="908720"/>
            <a:ext cx="7430211" cy="3096344"/>
            <a:chOff x="1846734" y="1456184"/>
            <a:chExt cx="9937104" cy="4095130"/>
          </a:xfrm>
        </p:grpSpPr>
        <p:sp>
          <p:nvSpPr>
            <p:cNvPr id="3" name="矩形 2"/>
            <p:cNvSpPr/>
            <p:nvPr/>
          </p:nvSpPr>
          <p:spPr>
            <a:xfrm>
              <a:off x="1846734" y="1512424"/>
              <a:ext cx="9937104" cy="4004808"/>
            </a:xfrm>
            <a:prstGeom prst="rect">
              <a:avLst/>
            </a:prstGeom>
            <a:ln>
              <a:solidFill>
                <a:srgbClr val="7BC143"/>
              </a:solidFill>
              <a:prstDash val="dash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1600" dirty="0">
                <a:solidFill>
                  <a:srgbClr val="7BC143"/>
                </a:solidFill>
                <a:ea typeface="微软雅黑" panose="020B0503020204020204" pitchFamily="34" charset="-122"/>
              </a:endParaRPr>
            </a:p>
          </p:txBody>
        </p:sp>
        <p:pic>
          <p:nvPicPr>
            <p:cNvPr id="4" name="Picture 8" descr="C:\Documents and Settings\tdz\桌面\绿色箭头标签01.png"/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527109" y="1456184"/>
              <a:ext cx="1003300" cy="1828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" name="Picture 10" descr="C:\Documents and Settings\tdz\Local Settings\Temp\SoEasy\2ED57B32DAFDACEEB44B8E85F3D00E28.png"/>
            <p:cNvPicPr>
              <a:picLocks noChangeAspect="1" noChangeArrowheads="1"/>
            </p:cNvPicPr>
            <p:nvPr/>
          </p:nvPicPr>
          <p:blipFill rotWithShape="1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10455101" y="4557600"/>
              <a:ext cx="1184721" cy="9937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TextBox 30"/>
            <p:cNvSpPr txBox="1"/>
            <p:nvPr/>
          </p:nvSpPr>
          <p:spPr>
            <a:xfrm>
              <a:off x="10702950" y="1550372"/>
              <a:ext cx="658589" cy="1048638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zh-CN" altLang="en-US" sz="200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问题</a:t>
              </a:r>
            </a:p>
          </p:txBody>
        </p:sp>
      </p:grpSp>
      <p:sp>
        <p:nvSpPr>
          <p:cNvPr id="7" name="TextBox 32"/>
          <p:cNvSpPr txBox="1"/>
          <p:nvPr/>
        </p:nvSpPr>
        <p:spPr>
          <a:xfrm>
            <a:off x="980799" y="1340973"/>
            <a:ext cx="2007025" cy="8292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3000"/>
              </a:lnSpc>
              <a:defRPr/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如何处理</a:t>
            </a:r>
            <a:r>
              <a:rPr lang="zh-CN" altLang="en-US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有符号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数的溢出问题？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8" name="TextBox 33"/>
          <p:cNvSpPr txBox="1"/>
          <p:nvPr/>
        </p:nvSpPr>
        <p:spPr>
          <a:xfrm>
            <a:off x="948770" y="2564904"/>
            <a:ext cx="2030568" cy="11605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3000"/>
              </a:lnSpc>
              <a:defRPr/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除法指令要求被除数的长度是除数的两倍，如何处理？</a:t>
            </a:r>
          </a:p>
        </p:txBody>
      </p:sp>
      <p:pic>
        <p:nvPicPr>
          <p:cNvPr id="9" name="Picture 2" descr="http://pic2.sc.chinaz.com/files/pic/pic9/201203/xpic3867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158188" y="1134557"/>
            <a:ext cx="3870076" cy="26614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矩形 13"/>
          <p:cNvSpPr>
            <a:spLocks noChangeAspect="1"/>
          </p:cNvSpPr>
          <p:nvPr/>
        </p:nvSpPr>
        <p:spPr>
          <a:xfrm>
            <a:off x="769919" y="4372042"/>
            <a:ext cx="7430211" cy="1649246"/>
          </a:xfrm>
          <a:prstGeom prst="rect">
            <a:avLst/>
          </a:prstGeom>
          <a:ln>
            <a:solidFill>
              <a:srgbClr val="0883C8"/>
            </a:solidFill>
            <a:prstDash val="soli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5" name="Picture 2" descr="E:\仝德志文件，勿删！\03-参考文档\！PPT图片及版面资源\06-PPT精选插图\12-标签\蓝色燕尾01.png"/>
          <p:cNvPicPr>
            <a:picLocks noChangeAspect="1" noChangeArrowheads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rot="16200000">
            <a:off x="661012" y="4603685"/>
            <a:ext cx="1296144" cy="674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9"/>
          <p:cNvSpPr txBox="1"/>
          <p:nvPr/>
        </p:nvSpPr>
        <p:spPr>
          <a:xfrm>
            <a:off x="1074973" y="4412793"/>
            <a:ext cx="461665" cy="1061714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符号扩展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023680" y="4657977"/>
            <a:ext cx="5788680" cy="9110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sz="20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无符号数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的符号位扩展只需将扩展位清零。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sz="20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有符号数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的符号位扩展只需将符号位重复。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09905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0"/>
          <p:cNvSpPr txBox="1">
            <a:spLocks noChangeArrowheads="1"/>
          </p:cNvSpPr>
          <p:nvPr/>
        </p:nvSpPr>
        <p:spPr bwMode="auto">
          <a:xfrm>
            <a:off x="1072149" y="1652606"/>
            <a:ext cx="6900771" cy="1776384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342900" indent="-342900" algn="just">
              <a:lnSpc>
                <a:spcPct val="114000"/>
              </a:lnSpc>
              <a:buFont typeface="Wingdings" panose="05000000000000000000" pitchFamily="2" charset="2"/>
              <a:buChar char="n"/>
            </a:pPr>
            <a:r>
              <a:rPr lang="en-US" altLang="zh-CN" sz="24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CBW</a:t>
            </a:r>
            <a:r>
              <a:rPr lang="zh-CN" altLang="en-US" sz="24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：当</a:t>
            </a:r>
            <a:r>
              <a:rPr lang="en-US" altLang="zh-CN" sz="24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AL</a:t>
            </a:r>
            <a:r>
              <a:rPr lang="zh-CN" altLang="en-US" sz="24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的最高有效位为</a:t>
            </a:r>
            <a:r>
              <a:rPr lang="en-US" altLang="zh-CN" sz="24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0</a:t>
            </a:r>
            <a:r>
              <a:rPr lang="zh-CN" altLang="en-US" sz="24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时，</a:t>
            </a:r>
            <a:r>
              <a:rPr lang="en-US" altLang="zh-CN" sz="24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AH= 0</a:t>
            </a:r>
            <a:r>
              <a:rPr lang="zh-CN" altLang="en-US" sz="24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；当</a:t>
            </a:r>
            <a:r>
              <a:rPr lang="en-US" altLang="zh-CN" sz="24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AL</a:t>
            </a:r>
            <a:r>
              <a:rPr lang="zh-CN" altLang="en-US" sz="24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最高有效位为</a:t>
            </a:r>
            <a:r>
              <a:rPr lang="en-US" altLang="zh-CN" sz="24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24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时，</a:t>
            </a:r>
            <a:r>
              <a:rPr lang="en-US" altLang="zh-CN" sz="24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AH= FFH</a:t>
            </a:r>
            <a:r>
              <a:rPr lang="zh-CN" altLang="en-US" sz="24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2400" b="1" dirty="0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 algn="just">
              <a:lnSpc>
                <a:spcPct val="114000"/>
              </a:lnSpc>
              <a:buFont typeface="Wingdings" panose="05000000000000000000" pitchFamily="2" charset="2"/>
              <a:buChar char="n"/>
            </a:pPr>
            <a:r>
              <a:rPr lang="en-US" altLang="zh-CN" sz="24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CWD</a:t>
            </a:r>
            <a:r>
              <a:rPr lang="zh-CN" altLang="en-US" sz="24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：当</a:t>
            </a:r>
            <a:r>
              <a:rPr lang="en-US" altLang="zh-CN" sz="24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AX</a:t>
            </a:r>
            <a:r>
              <a:rPr lang="zh-CN" altLang="en-US" sz="24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最高有效位为</a:t>
            </a:r>
            <a:r>
              <a:rPr lang="en-US" altLang="zh-CN" sz="24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0</a:t>
            </a:r>
            <a:r>
              <a:rPr lang="zh-CN" altLang="en-US" sz="24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时，</a:t>
            </a:r>
            <a:r>
              <a:rPr lang="en-US" altLang="zh-CN" sz="24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DX= 0</a:t>
            </a:r>
            <a:r>
              <a:rPr lang="zh-CN" altLang="en-US" sz="24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；当</a:t>
            </a:r>
            <a:r>
              <a:rPr lang="en-US" altLang="zh-CN" sz="24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AX</a:t>
            </a:r>
            <a:r>
              <a:rPr lang="zh-CN" altLang="en-US" sz="24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的最高有效位为</a:t>
            </a:r>
            <a:r>
              <a:rPr lang="en-US" altLang="zh-CN" sz="24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24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时，</a:t>
            </a:r>
            <a:r>
              <a:rPr lang="en-US" altLang="zh-CN" sz="24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DX=FFFFH</a:t>
            </a:r>
            <a:r>
              <a:rPr lang="zh-CN" altLang="en-US" sz="24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2400" b="1" dirty="0">
              <a:solidFill>
                <a:srgbClr val="00B0F0"/>
              </a:solidFill>
              <a:latin typeface="微软雅黑" pitchFamily="34" charset="-122"/>
              <a:ea typeface="微软雅黑" pitchFamily="34" charset="-122"/>
              <a:sym typeface="Wingdings" panose="05000000000000000000" pitchFamily="2" charset="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900014" y="1484784"/>
            <a:ext cx="7416402" cy="2062366"/>
          </a:xfrm>
          <a:prstGeom prst="rect">
            <a:avLst/>
          </a:prstGeom>
          <a:noFill/>
          <a:ln w="12700">
            <a:solidFill>
              <a:srgbClr val="1D8DE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295214" y="550657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有符号数</a:t>
            </a:r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的符号位扩展指令</a:t>
            </a:r>
            <a:endParaRPr lang="zh-CN" altLang="en-US" sz="32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" name="矩形 9"/>
          <p:cNvSpPr>
            <a:spLocks noChangeAspect="1"/>
          </p:cNvSpPr>
          <p:nvPr/>
        </p:nvSpPr>
        <p:spPr>
          <a:xfrm>
            <a:off x="900014" y="3905054"/>
            <a:ext cx="7416402" cy="1547012"/>
          </a:xfrm>
          <a:prstGeom prst="rect">
            <a:avLst/>
          </a:prstGeom>
          <a:ln>
            <a:solidFill>
              <a:srgbClr val="0883C8"/>
            </a:solidFill>
            <a:prstDash val="soli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Picture 2" descr="E:\仝德志文件，勿删！\03-参考文档\！PPT图片及版面资源\06-PPT精选插图\12-标签\蓝色燕尾01.png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rot="16200000">
            <a:off x="872040" y="4039586"/>
            <a:ext cx="1008111" cy="632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9"/>
          <p:cNvSpPr txBox="1"/>
          <p:nvPr/>
        </p:nvSpPr>
        <p:spPr>
          <a:xfrm>
            <a:off x="1132780" y="3971233"/>
            <a:ext cx="461665" cy="1061714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注 意</a:t>
            </a:r>
          </a:p>
        </p:txBody>
      </p:sp>
      <p:sp>
        <p:nvSpPr>
          <p:cNvPr id="13" name="TextBox 17"/>
          <p:cNvSpPr txBox="1"/>
          <p:nvPr/>
        </p:nvSpPr>
        <p:spPr>
          <a:xfrm>
            <a:off x="1837002" y="3981456"/>
            <a:ext cx="6335398" cy="13203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sz="20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仅针对有符号数的操作。无操作数指令，隐含寻址。</a:t>
            </a:r>
            <a:endParaRPr lang="en-US" altLang="zh-CN" sz="2000" b="1" dirty="0">
              <a:solidFill>
                <a:srgbClr val="FF3255"/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CBW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仅根据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AL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最高位对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AH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操作，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CWD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根据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AX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最高位对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DX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操作。这两个指令主要为了配合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IDIV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指令。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619671" y="6021288"/>
            <a:ext cx="5688633" cy="424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如何对无符号数扩展？自己动手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直接置零！</a:t>
            </a:r>
          </a:p>
        </p:txBody>
      </p:sp>
      <p:pic>
        <p:nvPicPr>
          <p:cNvPr id="15" name="Picture 2" descr="C:\Documents and Settings\tdz\桌面\未标题-1 拷贝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84844" y="5589240"/>
            <a:ext cx="834828" cy="782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76060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3"/>
          <p:cNvSpPr>
            <a:spLocks noChangeArrowheads="1"/>
          </p:cNvSpPr>
          <p:nvPr/>
        </p:nvSpPr>
        <p:spPr bwMode="auto">
          <a:xfrm>
            <a:off x="1111670" y="1778051"/>
            <a:ext cx="3240538" cy="1709314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lnSpc>
                <a:spcPct val="139000"/>
              </a:lnSpc>
              <a:spcAft>
                <a:spcPts val="600"/>
              </a:spcAft>
              <a:defRPr/>
            </a:pP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编写指令，完成有符号数相除</a:t>
            </a:r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:</a:t>
            </a:r>
          </a:p>
          <a:p>
            <a:pPr algn="just">
              <a:lnSpc>
                <a:spcPct val="139000"/>
              </a:lnSpc>
              <a:spcAft>
                <a:spcPts val="600"/>
              </a:spcAft>
              <a:defRPr/>
            </a:pPr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34H 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除以 </a:t>
            </a:r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25H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。</a:t>
            </a:r>
          </a:p>
        </p:txBody>
      </p:sp>
      <p:cxnSp>
        <p:nvCxnSpPr>
          <p:cNvPr id="4" name="直接连接符 3"/>
          <p:cNvCxnSpPr/>
          <p:nvPr/>
        </p:nvCxnSpPr>
        <p:spPr>
          <a:xfrm>
            <a:off x="907306" y="1121909"/>
            <a:ext cx="7488832" cy="0"/>
          </a:xfrm>
          <a:prstGeom prst="line">
            <a:avLst/>
          </a:prstGeom>
          <a:ln w="28575">
            <a:solidFill>
              <a:srgbClr val="1D8D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907306" y="631563"/>
            <a:ext cx="500110" cy="490346"/>
          </a:xfrm>
          <a:prstGeom prst="rect">
            <a:avLst/>
          </a:prstGeom>
          <a:solidFill>
            <a:srgbClr val="1D8DE5"/>
          </a:solidFill>
          <a:ln w="9525" cap="rnd">
            <a:solidFill>
              <a:srgbClr val="1D8DE5"/>
            </a:solidFill>
            <a:prstDash val="solid"/>
            <a:round/>
            <a:headEnd/>
            <a:tailEnd/>
          </a:ln>
        </p:spPr>
        <p:txBody>
          <a:bodyPr anchor="ctr"/>
          <a:lstStyle/>
          <a:p>
            <a:pPr algn="ctr"/>
            <a:r>
              <a:rPr lang="en-US" altLang="zh-CN" sz="2800" b="1" kern="0" dirty="0">
                <a:solidFill>
                  <a:sysClr val="window" lastClr="FFFFFF">
                    <a:lumMod val="95000"/>
                  </a:sys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sz="2800" b="1" kern="0" dirty="0">
              <a:solidFill>
                <a:sysClr val="window" lastClr="FFFFFF">
                  <a:lumMod val="95000"/>
                </a:sys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Box 11"/>
          <p:cNvSpPr txBox="1"/>
          <p:nvPr/>
        </p:nvSpPr>
        <p:spPr>
          <a:xfrm>
            <a:off x="1415130" y="620688"/>
            <a:ext cx="66132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1D8DE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例题</a:t>
            </a:r>
          </a:p>
        </p:txBody>
      </p:sp>
      <p:sp>
        <p:nvSpPr>
          <p:cNvPr id="7" name="矩形 6"/>
          <p:cNvSpPr/>
          <p:nvPr/>
        </p:nvSpPr>
        <p:spPr>
          <a:xfrm>
            <a:off x="8180114" y="620688"/>
            <a:ext cx="223738" cy="490346"/>
          </a:xfrm>
          <a:prstGeom prst="rect">
            <a:avLst/>
          </a:prstGeom>
          <a:solidFill>
            <a:srgbClr val="1D8DE5"/>
          </a:solidFill>
          <a:ln w="9525" cap="rnd">
            <a:solidFill>
              <a:srgbClr val="1D8DE5"/>
            </a:solidFill>
            <a:prstDash val="solid"/>
            <a:round/>
            <a:headEnd/>
            <a:tailEnd/>
          </a:ln>
        </p:spPr>
        <p:txBody>
          <a:bodyPr/>
          <a:lstStyle/>
          <a:p>
            <a:pPr algn="ctr">
              <a:lnSpc>
                <a:spcPct val="120000"/>
              </a:lnSpc>
            </a:pPr>
            <a:endParaRPr lang="zh-CN" altLang="en-US" b="1" kern="0" dirty="0">
              <a:solidFill>
                <a:sysClr val="window" lastClr="FFFFFF">
                  <a:lumMod val="95000"/>
                </a:sys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907306" y="631563"/>
            <a:ext cx="7488832" cy="0"/>
          </a:xfrm>
          <a:prstGeom prst="line">
            <a:avLst/>
          </a:prstGeom>
          <a:ln w="28575">
            <a:solidFill>
              <a:srgbClr val="1D8D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3"/>
          <p:cNvSpPr>
            <a:spLocks noChangeArrowheads="1"/>
          </p:cNvSpPr>
          <p:nvPr/>
        </p:nvSpPr>
        <p:spPr bwMode="auto">
          <a:xfrm>
            <a:off x="5083592" y="1806905"/>
            <a:ext cx="3389949" cy="1680460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MOV</a:t>
            </a:r>
            <a:r>
              <a:rPr lang="en-US" altLang="zh-CN" sz="20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000" b="1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AL</a:t>
            </a:r>
            <a:r>
              <a:rPr lang="en-US" altLang="zh-CN" sz="20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, 34H</a:t>
            </a:r>
          </a:p>
          <a:p>
            <a:pPr>
              <a:lnSpc>
                <a:spcPct val="129000"/>
              </a:lnSpc>
              <a:defRPr/>
            </a:pPr>
            <a:r>
              <a:rPr lang="en-US" altLang="zh-CN" sz="20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CBW</a:t>
            </a:r>
          </a:p>
          <a:p>
            <a:pPr>
              <a:lnSpc>
                <a:spcPct val="129000"/>
              </a:lnSpc>
              <a:defRPr/>
            </a:pPr>
            <a:r>
              <a:rPr lang="en-US" altLang="zh-CN" sz="20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MOV</a:t>
            </a:r>
            <a:r>
              <a:rPr lang="en-US" altLang="zh-CN" sz="20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000" b="1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BL</a:t>
            </a:r>
            <a:r>
              <a:rPr lang="zh-CN" altLang="en-US" sz="2000" b="1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sz="2000" b="1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25H</a:t>
            </a:r>
          </a:p>
          <a:p>
            <a:pPr>
              <a:lnSpc>
                <a:spcPct val="129000"/>
              </a:lnSpc>
              <a:defRPr/>
            </a:pPr>
            <a:r>
              <a:rPr lang="en-US" altLang="zh-CN" sz="20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IDIV  BL</a:t>
            </a:r>
          </a:p>
        </p:txBody>
      </p:sp>
      <p:cxnSp>
        <p:nvCxnSpPr>
          <p:cNvPr id="11" name="直接连接符 10"/>
          <p:cNvCxnSpPr/>
          <p:nvPr/>
        </p:nvCxnSpPr>
        <p:spPr>
          <a:xfrm flipH="1">
            <a:off x="4716016" y="1181038"/>
            <a:ext cx="3768" cy="4048162"/>
          </a:xfrm>
          <a:prstGeom prst="line">
            <a:avLst/>
          </a:prstGeom>
          <a:ln w="12700">
            <a:solidFill>
              <a:srgbClr val="1D8D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05263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3"/>
          <p:cNvSpPr>
            <a:spLocks noChangeArrowheads="1"/>
          </p:cNvSpPr>
          <p:nvPr/>
        </p:nvSpPr>
        <p:spPr bwMode="auto">
          <a:xfrm>
            <a:off x="1111670" y="1778051"/>
            <a:ext cx="3240538" cy="2659061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lnSpc>
                <a:spcPct val="139000"/>
              </a:lnSpc>
              <a:spcAft>
                <a:spcPts val="600"/>
              </a:spcAft>
              <a:defRPr/>
            </a:pP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编写指令，完成以存储单元</a:t>
            </a:r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ARRAY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开始的三个单字节有符号数相加，结果存放在</a:t>
            </a:r>
            <a:r>
              <a:rPr lang="zh-CN" altLang="en-US" sz="2400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字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存储单元</a:t>
            </a:r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SUM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中。</a:t>
            </a:r>
          </a:p>
        </p:txBody>
      </p:sp>
      <p:cxnSp>
        <p:nvCxnSpPr>
          <p:cNvPr id="4" name="直接连接符 3"/>
          <p:cNvCxnSpPr/>
          <p:nvPr/>
        </p:nvCxnSpPr>
        <p:spPr>
          <a:xfrm>
            <a:off x="907306" y="1121909"/>
            <a:ext cx="7488832" cy="0"/>
          </a:xfrm>
          <a:prstGeom prst="line">
            <a:avLst/>
          </a:prstGeom>
          <a:ln w="28575">
            <a:solidFill>
              <a:srgbClr val="1D8D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907306" y="631563"/>
            <a:ext cx="500110" cy="490346"/>
          </a:xfrm>
          <a:prstGeom prst="rect">
            <a:avLst/>
          </a:prstGeom>
          <a:solidFill>
            <a:srgbClr val="1D8DE5"/>
          </a:solidFill>
          <a:ln w="9525" cap="rnd">
            <a:solidFill>
              <a:srgbClr val="1D8DE5"/>
            </a:solidFill>
            <a:prstDash val="solid"/>
            <a:round/>
            <a:headEnd/>
            <a:tailEnd/>
          </a:ln>
        </p:spPr>
        <p:txBody>
          <a:bodyPr anchor="ctr"/>
          <a:lstStyle/>
          <a:p>
            <a:pPr algn="ctr"/>
            <a:r>
              <a:rPr lang="en-US" altLang="zh-CN" sz="2800" b="1" kern="0" dirty="0">
                <a:solidFill>
                  <a:sysClr val="window" lastClr="FFFFFF">
                    <a:lumMod val="95000"/>
                  </a:sys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endParaRPr lang="zh-CN" altLang="en-US" sz="2800" b="1" kern="0" dirty="0">
              <a:solidFill>
                <a:sysClr val="window" lastClr="FFFFFF">
                  <a:lumMod val="95000"/>
                </a:sys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Box 11"/>
          <p:cNvSpPr txBox="1"/>
          <p:nvPr/>
        </p:nvSpPr>
        <p:spPr>
          <a:xfrm>
            <a:off x="1415130" y="620688"/>
            <a:ext cx="66132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1D8DE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例题</a:t>
            </a:r>
          </a:p>
        </p:txBody>
      </p:sp>
      <p:sp>
        <p:nvSpPr>
          <p:cNvPr id="7" name="矩形 6"/>
          <p:cNvSpPr/>
          <p:nvPr/>
        </p:nvSpPr>
        <p:spPr>
          <a:xfrm>
            <a:off x="8180114" y="620688"/>
            <a:ext cx="223738" cy="490346"/>
          </a:xfrm>
          <a:prstGeom prst="rect">
            <a:avLst/>
          </a:prstGeom>
          <a:solidFill>
            <a:srgbClr val="1D8DE5"/>
          </a:solidFill>
          <a:ln w="9525" cap="rnd">
            <a:solidFill>
              <a:srgbClr val="1D8DE5"/>
            </a:solidFill>
            <a:prstDash val="solid"/>
            <a:round/>
            <a:headEnd/>
            <a:tailEnd/>
          </a:ln>
        </p:spPr>
        <p:txBody>
          <a:bodyPr/>
          <a:lstStyle/>
          <a:p>
            <a:pPr algn="ctr">
              <a:lnSpc>
                <a:spcPct val="120000"/>
              </a:lnSpc>
            </a:pPr>
            <a:endParaRPr lang="zh-CN" altLang="en-US" b="1" kern="0" dirty="0">
              <a:solidFill>
                <a:sysClr val="window" lastClr="FFFFFF">
                  <a:lumMod val="95000"/>
                </a:sys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907306" y="631563"/>
            <a:ext cx="7488832" cy="0"/>
          </a:xfrm>
          <a:prstGeom prst="line">
            <a:avLst/>
          </a:prstGeom>
          <a:ln w="28575">
            <a:solidFill>
              <a:srgbClr val="1D8D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3"/>
          <p:cNvSpPr>
            <a:spLocks noChangeArrowheads="1"/>
          </p:cNvSpPr>
          <p:nvPr/>
        </p:nvSpPr>
        <p:spPr bwMode="auto">
          <a:xfrm>
            <a:off x="4990761" y="1268760"/>
            <a:ext cx="3389949" cy="4062651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MOV</a:t>
            </a:r>
            <a:r>
              <a:rPr lang="en-US" altLang="zh-CN" sz="20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000" b="1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AL</a:t>
            </a:r>
            <a:r>
              <a:rPr lang="en-US" altLang="zh-CN" sz="20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, ARRAY</a:t>
            </a:r>
          </a:p>
          <a:p>
            <a:pPr>
              <a:lnSpc>
                <a:spcPct val="129000"/>
              </a:lnSpc>
              <a:defRPr/>
            </a:pPr>
            <a:r>
              <a:rPr lang="en-US" altLang="zh-CN" sz="20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CBW</a:t>
            </a:r>
          </a:p>
          <a:p>
            <a:pPr>
              <a:lnSpc>
                <a:spcPct val="129000"/>
              </a:lnSpc>
              <a:defRPr/>
            </a:pPr>
            <a:r>
              <a:rPr lang="en-US" altLang="zh-CN" sz="20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MOV</a:t>
            </a:r>
            <a:r>
              <a:rPr lang="en-US" altLang="zh-CN" sz="20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000" b="1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BX</a:t>
            </a:r>
            <a:r>
              <a:rPr lang="zh-CN" altLang="en-US" sz="2000" b="1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sz="2000" b="1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AX</a:t>
            </a:r>
          </a:p>
          <a:p>
            <a:pPr>
              <a:lnSpc>
                <a:spcPct val="129000"/>
              </a:lnSpc>
              <a:defRPr/>
            </a:pPr>
            <a:r>
              <a:rPr lang="en-US" altLang="zh-CN" sz="20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MOV</a:t>
            </a:r>
            <a:r>
              <a:rPr lang="en-US" altLang="zh-CN" sz="20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000" b="1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AL</a:t>
            </a:r>
            <a:r>
              <a:rPr lang="en-US" altLang="zh-CN" sz="20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, ARRAY[1]</a:t>
            </a:r>
          </a:p>
          <a:p>
            <a:pPr>
              <a:lnSpc>
                <a:spcPct val="129000"/>
              </a:lnSpc>
              <a:defRPr/>
            </a:pPr>
            <a:r>
              <a:rPr lang="en-US" altLang="zh-CN" sz="20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CBW</a:t>
            </a:r>
          </a:p>
          <a:p>
            <a:pPr>
              <a:lnSpc>
                <a:spcPct val="129000"/>
              </a:lnSpc>
              <a:defRPr/>
            </a:pPr>
            <a:r>
              <a:rPr lang="en-US" altLang="zh-CN" sz="20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ADD  </a:t>
            </a:r>
            <a:r>
              <a:rPr lang="en-US" altLang="zh-CN" sz="2000" b="1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BX, AX</a:t>
            </a:r>
          </a:p>
          <a:p>
            <a:pPr>
              <a:lnSpc>
                <a:spcPct val="129000"/>
              </a:lnSpc>
              <a:defRPr/>
            </a:pPr>
            <a:r>
              <a:rPr lang="en-US" altLang="zh-CN" sz="20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MOV</a:t>
            </a:r>
            <a:r>
              <a:rPr lang="en-US" altLang="zh-CN" sz="20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000" b="1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AL</a:t>
            </a:r>
            <a:r>
              <a:rPr lang="en-US" altLang="zh-CN" sz="20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, ARRAY[2]</a:t>
            </a:r>
          </a:p>
          <a:p>
            <a:pPr>
              <a:lnSpc>
                <a:spcPct val="129000"/>
              </a:lnSpc>
              <a:defRPr/>
            </a:pPr>
            <a:r>
              <a:rPr lang="en-US" altLang="zh-CN" sz="20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CBW</a:t>
            </a:r>
          </a:p>
          <a:p>
            <a:pPr>
              <a:lnSpc>
                <a:spcPct val="129000"/>
              </a:lnSpc>
              <a:defRPr/>
            </a:pPr>
            <a:r>
              <a:rPr lang="en-US" altLang="zh-CN" sz="20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ADD  </a:t>
            </a:r>
            <a:r>
              <a:rPr lang="en-US" altLang="zh-CN" sz="2000" b="1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BX, AX</a:t>
            </a:r>
          </a:p>
          <a:p>
            <a:pPr>
              <a:lnSpc>
                <a:spcPct val="129000"/>
              </a:lnSpc>
              <a:defRPr/>
            </a:pPr>
            <a:r>
              <a:rPr lang="en-US" altLang="zh-CN" sz="20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MOV</a:t>
            </a:r>
            <a:r>
              <a:rPr lang="en-US" altLang="zh-CN" sz="2000" b="1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  </a:t>
            </a:r>
            <a:r>
              <a:rPr lang="en-US" altLang="zh-CN" sz="20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SUM</a:t>
            </a:r>
            <a:r>
              <a:rPr lang="en-US" altLang="zh-CN" sz="2000" b="1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, BX</a:t>
            </a:r>
          </a:p>
        </p:txBody>
      </p:sp>
      <p:cxnSp>
        <p:nvCxnSpPr>
          <p:cNvPr id="11" name="直接连接符 10"/>
          <p:cNvCxnSpPr/>
          <p:nvPr/>
        </p:nvCxnSpPr>
        <p:spPr>
          <a:xfrm flipH="1">
            <a:off x="4716016" y="1181038"/>
            <a:ext cx="3768" cy="4048162"/>
          </a:xfrm>
          <a:prstGeom prst="line">
            <a:avLst/>
          </a:prstGeom>
          <a:ln w="12700">
            <a:solidFill>
              <a:srgbClr val="1D8D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/>
          <p:cNvSpPr/>
          <p:nvPr/>
        </p:nvSpPr>
        <p:spPr>
          <a:xfrm>
            <a:off x="1619671" y="6021288"/>
            <a:ext cx="5688633" cy="3965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程序员需要自己预测自己计算结果是否会溢出。</a:t>
            </a:r>
          </a:p>
        </p:txBody>
      </p:sp>
      <p:pic>
        <p:nvPicPr>
          <p:cNvPr id="13" name="Picture 2" descr="C:\Documents and Settings\tdz\桌面\未标题-1 拷贝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84844" y="5589240"/>
            <a:ext cx="834828" cy="782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42912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椭圆 8"/>
          <p:cNvSpPr/>
          <p:nvPr/>
        </p:nvSpPr>
        <p:spPr>
          <a:xfrm>
            <a:off x="8461631" y="6348095"/>
            <a:ext cx="360000" cy="360000"/>
          </a:xfrm>
          <a:prstGeom prst="ellipse">
            <a:avLst/>
          </a:prstGeom>
          <a:solidFill>
            <a:schemeClr val="bg1">
              <a:lumMod val="75000"/>
              <a:alpha val="3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Box 15"/>
          <p:cNvSpPr txBox="1"/>
          <p:nvPr/>
        </p:nvSpPr>
        <p:spPr>
          <a:xfrm>
            <a:off x="8316416" y="6358818"/>
            <a:ext cx="6504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2EEF1883-7A0E-4F66-9932-E581691AD397}" type="slidenum">
              <a:rPr lang="zh-CN" altLang="en-US" sz="160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pPr algn="ctr"/>
              <a:t>41</a:t>
            </a:fld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 </a:t>
            </a:r>
            <a:endParaRPr lang="zh-CN" altLang="en-US" sz="1600" b="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2" name="TextBox 15"/>
          <p:cNvSpPr txBox="1">
            <a:spLocks noChangeArrowheads="1"/>
          </p:cNvSpPr>
          <p:nvPr/>
        </p:nvSpPr>
        <p:spPr bwMode="auto">
          <a:xfrm>
            <a:off x="2966244" y="4005064"/>
            <a:ext cx="3405956" cy="25152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67730" tIns="33865" rIns="67730" bIns="33865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9pPr>
          </a:lstStyle>
          <a:p>
            <a:pPr defTabSz="762000">
              <a:lnSpc>
                <a:spcPct val="150000"/>
              </a:lnSpc>
              <a:spcAft>
                <a:spcPts val="600"/>
              </a:spcAft>
              <a:buFont typeface="Wingdings" pitchFamily="2" charset="2"/>
              <a:buChar char="u"/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加减法指令</a:t>
            </a:r>
            <a:endParaRPr lang="en-US" altLang="zh-CN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defTabSz="762000">
              <a:lnSpc>
                <a:spcPct val="150000"/>
              </a:lnSpc>
              <a:spcAft>
                <a:spcPts val="600"/>
              </a:spcAft>
              <a:buFont typeface="Wingdings" pitchFamily="2" charset="2"/>
              <a:buChar char="u"/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乘除法指令</a:t>
            </a:r>
            <a:endParaRPr lang="en-US" altLang="zh-CN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defTabSz="762000">
              <a:lnSpc>
                <a:spcPct val="150000"/>
              </a:lnSpc>
              <a:spcAft>
                <a:spcPts val="600"/>
              </a:spcAft>
              <a:buFont typeface="Wingdings" pitchFamily="2" charset="2"/>
              <a:buChar char="u"/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符号扩展指令</a:t>
            </a:r>
            <a:endParaRPr lang="en-US" altLang="zh-CN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defTabSz="762000">
              <a:lnSpc>
                <a:spcPct val="150000"/>
              </a:lnSpc>
              <a:spcAft>
                <a:spcPts val="600"/>
              </a:spcAft>
              <a:buFont typeface="Wingdings" pitchFamily="2" charset="2"/>
              <a:buChar char="u"/>
            </a:pPr>
            <a:r>
              <a:rPr lang="zh-CN" altLang="en-US" sz="24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 十进制调整指令</a:t>
            </a:r>
            <a:endParaRPr lang="en-US" altLang="zh-CN" sz="2400" b="1" dirty="0">
              <a:solidFill>
                <a:srgbClr val="FF325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" name="TextBox 2"/>
          <p:cNvSpPr txBox="1"/>
          <p:nvPr/>
        </p:nvSpPr>
        <p:spPr>
          <a:xfrm>
            <a:off x="1620044" y="1848644"/>
            <a:ext cx="1107996" cy="369332"/>
          </a:xfrm>
          <a:prstGeom prst="rect">
            <a:avLst/>
          </a:prstGeom>
          <a:solidFill>
            <a:sysClr val="window" lastClr="FFFFFF">
              <a:lumMod val="85000"/>
            </a:sysClr>
          </a:solidFill>
        </p:spPr>
        <p:txBody>
          <a:bodyPr wrap="non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9pPr>
          </a:lstStyle>
          <a:p>
            <a:pPr>
              <a:defRPr/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第二小节</a:t>
            </a:r>
          </a:p>
        </p:txBody>
      </p:sp>
      <p:cxnSp>
        <p:nvCxnSpPr>
          <p:cNvPr id="14" name="直接连接符 13"/>
          <p:cNvCxnSpPr/>
          <p:nvPr/>
        </p:nvCxnSpPr>
        <p:spPr>
          <a:xfrm>
            <a:off x="1404144" y="2207419"/>
            <a:ext cx="6264275" cy="1587"/>
          </a:xfrm>
          <a:prstGeom prst="line">
            <a:avLst/>
          </a:prstGeom>
          <a:noFill/>
          <a:ln w="9525" cap="flat" cmpd="sng" algn="ctr">
            <a:solidFill>
              <a:sysClr val="window" lastClr="FFFFFF">
                <a:lumMod val="85000"/>
              </a:sysClr>
            </a:solidFill>
            <a:prstDash val="solid"/>
          </a:ln>
          <a:effectLst/>
        </p:spPr>
      </p:cxnSp>
      <p:cxnSp>
        <p:nvCxnSpPr>
          <p:cNvPr id="15" name="直接连接符 14"/>
          <p:cNvCxnSpPr/>
          <p:nvPr/>
        </p:nvCxnSpPr>
        <p:spPr>
          <a:xfrm>
            <a:off x="1475582" y="3936206"/>
            <a:ext cx="6264275" cy="1588"/>
          </a:xfrm>
          <a:prstGeom prst="line">
            <a:avLst/>
          </a:prstGeom>
          <a:noFill/>
          <a:ln w="9525" cap="flat" cmpd="sng" algn="ctr">
            <a:solidFill>
              <a:sysClr val="window" lastClr="FFFFFF">
                <a:lumMod val="85000"/>
              </a:sysClr>
            </a:solidFill>
            <a:prstDash val="solid"/>
          </a:ln>
          <a:effectLst/>
        </p:spPr>
      </p:cxnSp>
      <p:sp>
        <p:nvSpPr>
          <p:cNvPr id="16" name="TextBox 10"/>
          <p:cNvSpPr txBox="1">
            <a:spLocks noChangeArrowheads="1"/>
          </p:cNvSpPr>
          <p:nvPr/>
        </p:nvSpPr>
        <p:spPr bwMode="auto">
          <a:xfrm>
            <a:off x="1835697" y="2514157"/>
            <a:ext cx="6985934" cy="11621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>
              <a:lnSpc>
                <a:spcPct val="114000"/>
              </a:lnSpc>
            </a:pPr>
            <a:r>
              <a:rPr lang="zh-CN" altLang="en-US" sz="6600" b="1" dirty="0">
                <a:solidFill>
                  <a:srgbClr val="00C4F0"/>
                </a:solidFill>
                <a:latin typeface="微软雅黑" pitchFamily="34" charset="-122"/>
                <a:ea typeface="微软雅黑" pitchFamily="34" charset="-122"/>
              </a:rPr>
              <a:t>算术运算指令</a:t>
            </a:r>
            <a:endParaRPr lang="zh-CN" altLang="en-US" sz="80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409308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 animBg="1"/>
      <p:bldP spid="16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en-US" altLang="zh-CN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BCD</a:t>
            </a:r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码</a:t>
            </a:r>
            <a:endParaRPr lang="zh-CN" altLang="en-US" sz="32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2694902" y="2708920"/>
            <a:ext cx="5909546" cy="1080120"/>
          </a:xfrm>
          <a:prstGeom prst="rect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b="1" dirty="0">
                <a:ea typeface="微软雅黑" panose="020B0503020204020204" pitchFamily="34" charset="-122"/>
              </a:rPr>
              <a:t>压缩</a:t>
            </a:r>
            <a:r>
              <a:rPr lang="en-US" altLang="zh-CN" sz="2400" b="1" dirty="0">
                <a:ea typeface="微软雅黑" panose="020B0503020204020204" pitchFamily="34" charset="-122"/>
              </a:rPr>
              <a:t>BCD</a:t>
            </a:r>
            <a:r>
              <a:rPr lang="zh-CN" altLang="en-US" sz="2400" b="1" dirty="0">
                <a:ea typeface="微软雅黑" panose="020B0503020204020204" pitchFamily="34" charset="-122"/>
              </a:rPr>
              <a:t>码用</a:t>
            </a:r>
            <a:r>
              <a:rPr lang="en-US" altLang="zh-CN" sz="2400" b="1" dirty="0">
                <a:ea typeface="微软雅黑" panose="020B0503020204020204" pitchFamily="34" charset="-122"/>
              </a:rPr>
              <a:t>4</a:t>
            </a:r>
            <a:r>
              <a:rPr lang="zh-CN" altLang="en-US" sz="2400" b="1" dirty="0">
                <a:ea typeface="微软雅黑" panose="020B0503020204020204" pitchFamily="34" charset="-122"/>
              </a:rPr>
              <a:t>位二进制数表示一个十进制数位，整个十进制数用一串</a:t>
            </a:r>
            <a:r>
              <a:rPr lang="en-US" altLang="zh-CN" sz="2400" b="1" dirty="0">
                <a:ea typeface="微软雅黑" panose="020B0503020204020204" pitchFamily="34" charset="-122"/>
              </a:rPr>
              <a:t>BCD</a:t>
            </a:r>
            <a:r>
              <a:rPr lang="zh-CN" altLang="en-US" sz="2400" b="1" dirty="0">
                <a:ea typeface="微软雅黑" panose="020B0503020204020204" pitchFamily="34" charset="-122"/>
              </a:rPr>
              <a:t>码来表示。</a:t>
            </a:r>
          </a:p>
        </p:txBody>
      </p:sp>
      <p:sp>
        <p:nvSpPr>
          <p:cNvPr id="17" name="矩形 16"/>
          <p:cNvSpPr/>
          <p:nvPr/>
        </p:nvSpPr>
        <p:spPr>
          <a:xfrm>
            <a:off x="720080" y="2708920"/>
            <a:ext cx="1974822" cy="108012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ea typeface="微软雅黑" panose="020B0503020204020204" pitchFamily="34" charset="-122"/>
              </a:rPr>
              <a:t>压缩</a:t>
            </a:r>
            <a:r>
              <a:rPr lang="en-US" altLang="zh-CN" sz="2400" b="1" dirty="0">
                <a:ea typeface="微软雅黑" panose="020B0503020204020204" pitchFamily="34" charset="-122"/>
              </a:rPr>
              <a:t>BCD</a:t>
            </a:r>
            <a:r>
              <a:rPr lang="zh-CN" altLang="en-US" sz="2400" b="1" dirty="0">
                <a:ea typeface="微软雅黑" panose="020B0503020204020204" pitchFamily="34" charset="-122"/>
              </a:rPr>
              <a:t>码</a:t>
            </a:r>
            <a:endParaRPr lang="zh-CN" altLang="en-US" sz="2400" dirty="0">
              <a:latin typeface="Arial Black" pitchFamily="34" charset="0"/>
              <a:ea typeface="微软雅黑" panose="020B0503020204020204" pitchFamily="34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2694902" y="4005064"/>
            <a:ext cx="5909546" cy="1080120"/>
          </a:xfrm>
          <a:prstGeom prst="rect">
            <a:avLst/>
          </a:prstGeom>
          <a:solidFill>
            <a:srgbClr val="1D8D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b="1" dirty="0">
                <a:ea typeface="微软雅黑" panose="020B0503020204020204" pitchFamily="34" charset="-122"/>
              </a:rPr>
              <a:t>非压缩</a:t>
            </a:r>
            <a:r>
              <a:rPr lang="en-US" altLang="zh-CN" sz="2400" b="1" dirty="0">
                <a:ea typeface="微软雅黑" panose="020B0503020204020204" pitchFamily="34" charset="-122"/>
              </a:rPr>
              <a:t>BCD</a:t>
            </a:r>
            <a:r>
              <a:rPr lang="zh-CN" altLang="en-US" sz="2400" b="1" dirty="0">
                <a:ea typeface="微软雅黑" panose="020B0503020204020204" pitchFamily="34" charset="-122"/>
              </a:rPr>
              <a:t>码用</a:t>
            </a:r>
            <a:r>
              <a:rPr lang="en-US" altLang="zh-CN" sz="2400" b="1" dirty="0">
                <a:ea typeface="微软雅黑" panose="020B0503020204020204" pitchFamily="34" charset="-122"/>
              </a:rPr>
              <a:t>8</a:t>
            </a:r>
            <a:r>
              <a:rPr lang="zh-CN" altLang="en-US" sz="2400" b="1" dirty="0">
                <a:ea typeface="微软雅黑" panose="020B0503020204020204" pitchFamily="34" charset="-122"/>
              </a:rPr>
              <a:t>位二进制数表示一个十进制数位，其中低</a:t>
            </a:r>
            <a:r>
              <a:rPr lang="en-US" altLang="zh-CN" sz="2400" b="1" dirty="0">
                <a:ea typeface="微软雅黑" panose="020B0503020204020204" pitchFamily="34" charset="-122"/>
              </a:rPr>
              <a:t>4</a:t>
            </a:r>
            <a:r>
              <a:rPr lang="zh-CN" altLang="en-US" sz="2400" b="1" dirty="0">
                <a:ea typeface="微软雅黑" panose="020B0503020204020204" pitchFamily="34" charset="-122"/>
              </a:rPr>
              <a:t>位是</a:t>
            </a:r>
            <a:r>
              <a:rPr lang="en-US" altLang="zh-CN" sz="2400" b="1" dirty="0">
                <a:ea typeface="微软雅黑" panose="020B0503020204020204" pitchFamily="34" charset="-122"/>
              </a:rPr>
              <a:t>BCD</a:t>
            </a:r>
            <a:r>
              <a:rPr lang="zh-CN" altLang="en-US" sz="2400" b="1" dirty="0">
                <a:ea typeface="微软雅黑" panose="020B0503020204020204" pitchFamily="34" charset="-122"/>
              </a:rPr>
              <a:t>码，高</a:t>
            </a:r>
            <a:r>
              <a:rPr lang="en-US" altLang="zh-CN" sz="2400" b="1" dirty="0">
                <a:ea typeface="微软雅黑" panose="020B0503020204020204" pitchFamily="34" charset="-122"/>
              </a:rPr>
              <a:t>4</a:t>
            </a:r>
            <a:r>
              <a:rPr lang="zh-CN" altLang="en-US" sz="2400" b="1" dirty="0">
                <a:ea typeface="微软雅黑" panose="020B0503020204020204" pitchFamily="34" charset="-122"/>
              </a:rPr>
              <a:t>位是</a:t>
            </a:r>
            <a:r>
              <a:rPr lang="en-US" altLang="zh-CN" sz="2400" b="1" dirty="0">
                <a:ea typeface="微软雅黑" panose="020B0503020204020204" pitchFamily="34" charset="-122"/>
              </a:rPr>
              <a:t>0</a:t>
            </a:r>
            <a:r>
              <a:rPr lang="zh-CN" altLang="en-US" sz="2400" b="1" dirty="0"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20" name="矩形 19"/>
          <p:cNvSpPr/>
          <p:nvPr/>
        </p:nvSpPr>
        <p:spPr>
          <a:xfrm>
            <a:off x="720080" y="4005064"/>
            <a:ext cx="1974822" cy="108012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ea typeface="微软雅黑" panose="020B0503020204020204" pitchFamily="34" charset="-122"/>
              </a:rPr>
              <a:t>非压缩</a:t>
            </a:r>
            <a:r>
              <a:rPr lang="en-US" altLang="zh-CN" sz="2400" b="1" dirty="0">
                <a:ea typeface="微软雅黑" panose="020B0503020204020204" pitchFamily="34" charset="-122"/>
              </a:rPr>
              <a:t>BCD</a:t>
            </a:r>
            <a:r>
              <a:rPr lang="zh-CN" altLang="en-US" sz="2400" b="1" dirty="0">
                <a:ea typeface="微软雅黑" panose="020B0503020204020204" pitchFamily="34" charset="-122"/>
              </a:rPr>
              <a:t>码</a:t>
            </a:r>
            <a:endParaRPr lang="zh-CN" altLang="en-US" sz="2400" dirty="0">
              <a:latin typeface="Arial Black" pitchFamily="34" charset="0"/>
              <a:ea typeface="微软雅黑" panose="020B0503020204020204" pitchFamily="34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2694902" y="1412776"/>
            <a:ext cx="5909546" cy="1080120"/>
          </a:xfrm>
          <a:prstGeom prst="rect">
            <a:avLst/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400" b="1" dirty="0">
                <a:ea typeface="微软雅黑" panose="020B0503020204020204" pitchFamily="34" charset="-122"/>
              </a:rPr>
              <a:t>BCD</a:t>
            </a:r>
            <a:r>
              <a:rPr lang="zh-CN" altLang="en-US" sz="2400" b="1" dirty="0">
                <a:ea typeface="微软雅黑" panose="020B0503020204020204" pitchFamily="34" charset="-122"/>
              </a:rPr>
              <a:t>（</a:t>
            </a:r>
            <a:r>
              <a:rPr lang="en-US" altLang="zh-CN" sz="2400" b="1" dirty="0">
                <a:ea typeface="微软雅黑" panose="020B0503020204020204" pitchFamily="34" charset="-122"/>
              </a:rPr>
              <a:t>Binary Coded Decimal</a:t>
            </a:r>
            <a:r>
              <a:rPr lang="zh-CN" altLang="en-US" sz="2400" b="1" dirty="0">
                <a:ea typeface="微软雅黑" panose="020B0503020204020204" pitchFamily="34" charset="-122"/>
              </a:rPr>
              <a:t>）是用二进制编码表示的十进制数。用</a:t>
            </a:r>
            <a:r>
              <a:rPr lang="en-US" altLang="zh-CN" sz="2400" b="1" dirty="0">
                <a:ea typeface="微软雅黑" panose="020B0503020204020204" pitchFamily="34" charset="-122"/>
              </a:rPr>
              <a:t>0~9</a:t>
            </a:r>
            <a:r>
              <a:rPr lang="zh-CN" altLang="en-US" sz="2400" b="1" dirty="0">
                <a:ea typeface="微软雅黑" panose="020B0503020204020204" pitchFamily="34" charset="-122"/>
              </a:rPr>
              <a:t>十个数字。</a:t>
            </a:r>
          </a:p>
        </p:txBody>
      </p:sp>
      <p:sp>
        <p:nvSpPr>
          <p:cNvPr id="22" name="矩形 21"/>
          <p:cNvSpPr/>
          <p:nvPr/>
        </p:nvSpPr>
        <p:spPr>
          <a:xfrm>
            <a:off x="720080" y="1412776"/>
            <a:ext cx="1974822" cy="108012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ea typeface="微软雅黑" panose="020B0503020204020204" pitchFamily="34" charset="-122"/>
              </a:rPr>
              <a:t>BCD</a:t>
            </a:r>
            <a:r>
              <a:rPr lang="zh-CN" altLang="en-US" sz="2400" b="1" dirty="0">
                <a:ea typeface="微软雅黑" panose="020B0503020204020204" pitchFamily="34" charset="-122"/>
              </a:rPr>
              <a:t>码</a:t>
            </a:r>
            <a:endParaRPr lang="zh-CN" altLang="en-US" sz="2400" dirty="0">
              <a:latin typeface="Arial Black" pitchFamily="34" charset="0"/>
              <a:ea typeface="微软雅黑" panose="020B0503020204020204" pitchFamily="34" charset="-122"/>
            </a:endParaRPr>
          </a:p>
        </p:txBody>
      </p:sp>
      <p:sp>
        <p:nvSpPr>
          <p:cNvPr id="23" name="TextBox 10"/>
          <p:cNvSpPr txBox="1">
            <a:spLocks noChangeArrowheads="1"/>
          </p:cNvSpPr>
          <p:nvPr/>
        </p:nvSpPr>
        <p:spPr bwMode="auto">
          <a:xfrm>
            <a:off x="720081" y="5341833"/>
            <a:ext cx="7884368" cy="9343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just">
              <a:lnSpc>
                <a:spcPct val="114000"/>
              </a:lnSpc>
            </a:pPr>
            <a:r>
              <a:rPr lang="zh-CN" altLang="en-US" sz="24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十进制数</a:t>
            </a:r>
            <a:r>
              <a:rPr lang="en-US" altLang="zh-CN" sz="24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3590</a:t>
            </a:r>
            <a:r>
              <a:rPr lang="zh-CN" altLang="en-US" sz="24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的压缩</a:t>
            </a:r>
            <a:r>
              <a:rPr lang="en-US" altLang="zh-CN" sz="24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BCD</a:t>
            </a:r>
            <a:r>
              <a:rPr lang="zh-CN" altLang="en-US" sz="24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码和非压缩</a:t>
            </a:r>
            <a:r>
              <a:rPr lang="en-US" altLang="zh-CN" sz="24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BCD</a:t>
            </a:r>
            <a:r>
              <a:rPr lang="zh-CN" altLang="en-US" sz="24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码分别是</a:t>
            </a:r>
            <a:r>
              <a:rPr lang="en-US" altLang="zh-CN" sz="24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3590H</a:t>
            </a:r>
            <a:r>
              <a:rPr lang="zh-CN" altLang="en-US" sz="24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sz="24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03050900H</a:t>
            </a:r>
            <a:r>
              <a:rPr lang="zh-CN" altLang="en-US" sz="24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endParaRPr lang="zh-CN" altLang="en-US" sz="6600" b="1" dirty="0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14079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cxnSp>
        <p:nvCxnSpPr>
          <p:cNvPr id="8" name="直接连接符 7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295214" y="550657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en-US" altLang="zh-CN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BCD</a:t>
            </a:r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码运算与二进制运算</a:t>
            </a:r>
            <a:endParaRPr lang="zh-CN" altLang="en-US" sz="32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1" name="矩形 4"/>
          <p:cNvSpPr>
            <a:spLocks noChangeArrowheads="1"/>
          </p:cNvSpPr>
          <p:nvPr/>
        </p:nvSpPr>
        <p:spPr bwMode="auto">
          <a:xfrm>
            <a:off x="2061316" y="2208729"/>
            <a:ext cx="1632434" cy="652486"/>
          </a:xfrm>
          <a:prstGeom prst="rect">
            <a:avLst/>
          </a:prstGeom>
          <a:noFill/>
          <a:ln w="9525">
            <a:solidFill>
              <a:srgbClr val="FD7A2A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28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19</a:t>
            </a:r>
            <a:endParaRPr lang="zh-CN" altLang="en-US" sz="2800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2" name="矩形 4"/>
          <p:cNvSpPr>
            <a:spLocks noChangeArrowheads="1"/>
          </p:cNvSpPr>
          <p:nvPr/>
        </p:nvSpPr>
        <p:spPr bwMode="auto">
          <a:xfrm>
            <a:off x="2061316" y="2861215"/>
            <a:ext cx="1632434" cy="597921"/>
          </a:xfrm>
          <a:prstGeom prst="rect">
            <a:avLst/>
          </a:prstGeom>
          <a:noFill/>
          <a:ln w="9525">
            <a:solidFill>
              <a:srgbClr val="FD7A2A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28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  8</a:t>
            </a:r>
            <a:endParaRPr lang="zh-CN" altLang="en-US" sz="2800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3" name="矩形 4"/>
          <p:cNvSpPr>
            <a:spLocks noChangeArrowheads="1"/>
          </p:cNvSpPr>
          <p:nvPr/>
        </p:nvSpPr>
        <p:spPr bwMode="auto">
          <a:xfrm>
            <a:off x="1245478" y="2768765"/>
            <a:ext cx="547253" cy="8125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36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+</a:t>
            </a:r>
            <a:endParaRPr lang="zh-CN" altLang="en-US" sz="3600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4" name="矩形 4"/>
          <p:cNvSpPr>
            <a:spLocks noChangeArrowheads="1"/>
          </p:cNvSpPr>
          <p:nvPr/>
        </p:nvSpPr>
        <p:spPr bwMode="auto">
          <a:xfrm>
            <a:off x="2068393" y="3786649"/>
            <a:ext cx="1632434" cy="652486"/>
          </a:xfrm>
          <a:prstGeom prst="rect">
            <a:avLst/>
          </a:prstGeom>
          <a:noFill/>
          <a:ln w="9525">
            <a:solidFill>
              <a:srgbClr val="FD7A2A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28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27</a:t>
            </a:r>
            <a:endParaRPr lang="zh-CN" altLang="en-US" sz="2800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35" name="直接连接符 34"/>
          <p:cNvCxnSpPr/>
          <p:nvPr/>
        </p:nvCxnSpPr>
        <p:spPr>
          <a:xfrm>
            <a:off x="885438" y="3617299"/>
            <a:ext cx="28083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矩形 4"/>
          <p:cNvSpPr>
            <a:spLocks noChangeArrowheads="1"/>
          </p:cNvSpPr>
          <p:nvPr/>
        </p:nvSpPr>
        <p:spPr bwMode="auto">
          <a:xfrm>
            <a:off x="1254915" y="3720898"/>
            <a:ext cx="547253" cy="7423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36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=</a:t>
            </a:r>
            <a:endParaRPr lang="zh-CN" altLang="en-US" sz="3600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820507" y="2060848"/>
            <a:ext cx="3103421" cy="2582218"/>
          </a:xfrm>
          <a:prstGeom prst="rect">
            <a:avLst/>
          </a:prstGeom>
          <a:noFill/>
          <a:ln w="9525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TextBox 10"/>
          <p:cNvSpPr txBox="1">
            <a:spLocks noChangeArrowheads="1"/>
          </p:cNvSpPr>
          <p:nvPr/>
        </p:nvSpPr>
        <p:spPr bwMode="auto">
          <a:xfrm>
            <a:off x="1396263" y="1400149"/>
            <a:ext cx="1786662" cy="5133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just">
              <a:lnSpc>
                <a:spcPct val="114000"/>
              </a:lnSpc>
            </a:pPr>
            <a:r>
              <a:rPr lang="zh-CN" altLang="en-US" sz="24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十进制运算</a:t>
            </a:r>
            <a:endParaRPr lang="zh-CN" altLang="en-US" sz="6600" b="1" dirty="0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1" name="矩形 4"/>
          <p:cNvSpPr>
            <a:spLocks noChangeArrowheads="1"/>
          </p:cNvSpPr>
          <p:nvPr/>
        </p:nvSpPr>
        <p:spPr bwMode="auto">
          <a:xfrm>
            <a:off x="5803213" y="2222664"/>
            <a:ext cx="2006628" cy="652486"/>
          </a:xfrm>
          <a:prstGeom prst="rect">
            <a:avLst/>
          </a:prstGeom>
          <a:noFill/>
          <a:ln w="9525">
            <a:solidFill>
              <a:srgbClr val="FD7A2A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28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00011001</a:t>
            </a:r>
            <a:endParaRPr lang="zh-CN" altLang="en-US" sz="2800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2" name="矩形 4"/>
          <p:cNvSpPr>
            <a:spLocks noChangeArrowheads="1"/>
          </p:cNvSpPr>
          <p:nvPr/>
        </p:nvSpPr>
        <p:spPr bwMode="auto">
          <a:xfrm>
            <a:off x="5803213" y="2875150"/>
            <a:ext cx="2006628" cy="597921"/>
          </a:xfrm>
          <a:prstGeom prst="rect">
            <a:avLst/>
          </a:prstGeom>
          <a:noFill/>
          <a:ln w="9525">
            <a:solidFill>
              <a:srgbClr val="FD7A2A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28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00001000</a:t>
            </a:r>
            <a:endParaRPr lang="zh-CN" altLang="en-US" sz="2800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3" name="矩形 4"/>
          <p:cNvSpPr>
            <a:spLocks noChangeArrowheads="1"/>
          </p:cNvSpPr>
          <p:nvPr/>
        </p:nvSpPr>
        <p:spPr bwMode="auto">
          <a:xfrm>
            <a:off x="5039936" y="2782700"/>
            <a:ext cx="547253" cy="8125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36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+</a:t>
            </a:r>
            <a:endParaRPr lang="zh-CN" altLang="en-US" sz="3600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4" name="矩形 4"/>
          <p:cNvSpPr>
            <a:spLocks noChangeArrowheads="1"/>
          </p:cNvSpPr>
          <p:nvPr/>
        </p:nvSpPr>
        <p:spPr bwMode="auto">
          <a:xfrm>
            <a:off x="5803213" y="3800584"/>
            <a:ext cx="2009147" cy="652486"/>
          </a:xfrm>
          <a:prstGeom prst="rect">
            <a:avLst/>
          </a:prstGeom>
          <a:noFill/>
          <a:ln w="9525">
            <a:solidFill>
              <a:srgbClr val="FD7A2A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28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00100001</a:t>
            </a:r>
            <a:endParaRPr lang="zh-CN" altLang="en-US" sz="2800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45" name="直接连接符 44"/>
          <p:cNvCxnSpPr/>
          <p:nvPr/>
        </p:nvCxnSpPr>
        <p:spPr>
          <a:xfrm>
            <a:off x="4996971" y="3631234"/>
            <a:ext cx="28083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矩形 4"/>
          <p:cNvSpPr>
            <a:spLocks noChangeArrowheads="1"/>
          </p:cNvSpPr>
          <p:nvPr/>
        </p:nvSpPr>
        <p:spPr bwMode="auto">
          <a:xfrm>
            <a:off x="5011125" y="3734833"/>
            <a:ext cx="547253" cy="7423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  <a:spcAft>
                <a:spcPts val="60"/>
              </a:spcAft>
            </a:pPr>
            <a:r>
              <a:rPr lang="en-US" altLang="zh-CN" sz="36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=</a:t>
            </a:r>
            <a:endParaRPr lang="zh-CN" altLang="en-US" sz="3600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4932040" y="2074783"/>
            <a:ext cx="3103421" cy="2582218"/>
          </a:xfrm>
          <a:prstGeom prst="rect">
            <a:avLst/>
          </a:prstGeom>
          <a:noFill/>
          <a:ln w="9525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TextBox 10"/>
          <p:cNvSpPr txBox="1">
            <a:spLocks noChangeArrowheads="1"/>
          </p:cNvSpPr>
          <p:nvPr/>
        </p:nvSpPr>
        <p:spPr bwMode="auto">
          <a:xfrm>
            <a:off x="5178606" y="1440994"/>
            <a:ext cx="2445042" cy="5133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just">
              <a:lnSpc>
                <a:spcPct val="114000"/>
              </a:lnSpc>
            </a:pPr>
            <a:r>
              <a:rPr lang="zh-CN" altLang="en-US" sz="24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压缩</a:t>
            </a:r>
            <a:r>
              <a:rPr lang="en-US" altLang="zh-CN" sz="24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BCD</a:t>
            </a:r>
            <a:r>
              <a:rPr lang="zh-CN" altLang="en-US" sz="24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码运算</a:t>
            </a:r>
            <a:endParaRPr lang="zh-CN" altLang="en-US" sz="6600" b="1" dirty="0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9" name="TextBox 10"/>
          <p:cNvSpPr txBox="1">
            <a:spLocks noChangeArrowheads="1"/>
          </p:cNvSpPr>
          <p:nvPr/>
        </p:nvSpPr>
        <p:spPr bwMode="auto">
          <a:xfrm>
            <a:off x="611560" y="4941168"/>
            <a:ext cx="7884368" cy="9343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just">
              <a:lnSpc>
                <a:spcPct val="114000"/>
              </a:lnSpc>
            </a:pPr>
            <a:r>
              <a:rPr lang="zh-CN" alt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计算机相加为</a:t>
            </a:r>
            <a:r>
              <a:rPr lang="en-US" altLang="zh-CN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21H</a:t>
            </a:r>
            <a:r>
              <a:rPr lang="zh-CN" alt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，原因在于低</a:t>
            </a:r>
            <a:r>
              <a:rPr lang="en-US" altLang="zh-CN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4</a:t>
            </a:r>
            <a:r>
              <a:rPr lang="zh-CN" alt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位向高</a:t>
            </a:r>
            <a:r>
              <a:rPr lang="en-US" altLang="zh-CN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4</a:t>
            </a:r>
            <a:r>
              <a:rPr lang="zh-CN" alt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位产生进位（</a:t>
            </a:r>
            <a:r>
              <a:rPr lang="en-US" altLang="zh-CN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 AF=1 </a:t>
            </a:r>
            <a:r>
              <a:rPr lang="zh-CN" alt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）按逢</a:t>
            </a:r>
            <a:r>
              <a:rPr lang="en-US" altLang="zh-CN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16</a:t>
            </a:r>
            <a:r>
              <a:rPr lang="zh-CN" alt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进</a:t>
            </a:r>
            <a:r>
              <a:rPr lang="en-US" altLang="zh-CN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的规则，但</a:t>
            </a:r>
            <a:r>
              <a:rPr lang="en-US" altLang="zh-CN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BCD</a:t>
            </a:r>
            <a:r>
              <a:rPr lang="zh-CN" alt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码要求逢</a:t>
            </a:r>
            <a:r>
              <a:rPr lang="en-US" altLang="zh-CN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10</a:t>
            </a:r>
            <a:r>
              <a:rPr lang="zh-CN" alt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进</a:t>
            </a:r>
            <a:r>
              <a:rPr lang="en-US" altLang="zh-CN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endParaRPr lang="zh-CN" altLang="en-US" sz="66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2" name="TextBox 10"/>
          <p:cNvSpPr txBox="1">
            <a:spLocks noChangeArrowheads="1"/>
          </p:cNvSpPr>
          <p:nvPr/>
        </p:nvSpPr>
        <p:spPr bwMode="auto">
          <a:xfrm>
            <a:off x="1691680" y="5985084"/>
            <a:ext cx="5493895" cy="5835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just">
              <a:lnSpc>
                <a:spcPct val="114000"/>
              </a:lnSpc>
            </a:pPr>
            <a:r>
              <a:rPr lang="zh-CN" altLang="en-US" sz="28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相差</a:t>
            </a:r>
            <a:r>
              <a:rPr lang="en-US" altLang="zh-CN" sz="28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6</a:t>
            </a:r>
            <a:r>
              <a:rPr lang="zh-CN" altLang="en-US" sz="28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，需要</a:t>
            </a:r>
            <a:r>
              <a:rPr lang="en-US" altLang="zh-CN" sz="28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BCD</a:t>
            </a:r>
            <a:r>
              <a:rPr lang="zh-CN" altLang="en-US" sz="28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码运算调整指令。</a:t>
            </a:r>
          </a:p>
        </p:txBody>
      </p:sp>
    </p:spTree>
    <p:extLst>
      <p:ext uri="{BB962C8B-B14F-4D97-AF65-F5344CB8AC3E}">
        <p14:creationId xmlns:p14="http://schemas.microsoft.com/office/powerpoint/2010/main" val="16319474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2" grpId="0" animBg="1"/>
      <p:bldP spid="33" grpId="0"/>
      <p:bldP spid="34" grpId="0" animBg="1"/>
      <p:bldP spid="36" grpId="0"/>
      <p:bldP spid="39" grpId="0" animBg="1"/>
      <p:bldP spid="40" grpId="0"/>
      <p:bldP spid="41" grpId="0" animBg="1"/>
      <p:bldP spid="42" grpId="0" animBg="1"/>
      <p:bldP spid="43" grpId="0"/>
      <p:bldP spid="44" grpId="0" animBg="1"/>
      <p:bldP spid="46" grpId="0"/>
      <p:bldP spid="47" grpId="0" animBg="1"/>
      <p:bldP spid="48" grpId="0"/>
      <p:bldP spid="49" grpId="0"/>
      <p:bldP spid="22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0"/>
          <p:cNvSpPr txBox="1">
            <a:spLocks noChangeArrowheads="1"/>
          </p:cNvSpPr>
          <p:nvPr/>
        </p:nvSpPr>
        <p:spPr bwMode="auto">
          <a:xfrm>
            <a:off x="1072149" y="1724614"/>
            <a:ext cx="6900771" cy="1776384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342900" indent="-342900" algn="just">
              <a:lnSpc>
                <a:spcPct val="114000"/>
              </a:lnSpc>
              <a:buFont typeface="Wingdings" panose="05000000000000000000" pitchFamily="2" charset="2"/>
              <a:buChar char="n"/>
            </a:pPr>
            <a:r>
              <a:rPr lang="en-US" altLang="zh-CN" sz="24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DAA</a:t>
            </a:r>
            <a:r>
              <a:rPr lang="zh-CN" altLang="en-US" sz="24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：加法的十进制调整，把</a:t>
            </a:r>
            <a:r>
              <a:rPr lang="en-US" altLang="zh-CN" sz="24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AL</a:t>
            </a:r>
            <a:r>
              <a:rPr lang="zh-CN" altLang="en-US" sz="24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中的和调整为压缩的</a:t>
            </a:r>
            <a:r>
              <a:rPr lang="en-US" altLang="zh-CN" sz="24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BCD</a:t>
            </a:r>
            <a:r>
              <a:rPr lang="zh-CN" altLang="en-US" sz="24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格式，并将结果放在</a:t>
            </a:r>
            <a:r>
              <a:rPr lang="en-US" altLang="zh-CN" sz="24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AL</a:t>
            </a:r>
            <a:r>
              <a:rPr lang="zh-CN" altLang="en-US" sz="24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2400" b="1" dirty="0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 algn="just">
              <a:lnSpc>
                <a:spcPct val="114000"/>
              </a:lnSpc>
              <a:buFont typeface="Wingdings" panose="05000000000000000000" pitchFamily="2" charset="2"/>
              <a:buChar char="n"/>
            </a:pPr>
            <a:r>
              <a:rPr lang="en-US" altLang="zh-CN" sz="24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DAS</a:t>
            </a:r>
            <a:r>
              <a:rPr lang="zh-CN" altLang="en-US" sz="24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：减法的十进制调整，把</a:t>
            </a:r>
            <a:r>
              <a:rPr lang="en-US" altLang="zh-CN" sz="24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AL</a:t>
            </a:r>
            <a:r>
              <a:rPr lang="zh-CN" altLang="en-US" sz="24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中的差调整为压缩的</a:t>
            </a:r>
            <a:r>
              <a:rPr lang="en-US" altLang="zh-CN" sz="24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BCD</a:t>
            </a:r>
            <a:r>
              <a:rPr lang="zh-CN" altLang="en-US" sz="24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格式，并将结果放在</a:t>
            </a:r>
            <a:r>
              <a:rPr lang="en-US" altLang="zh-CN" sz="24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AL </a:t>
            </a:r>
            <a:r>
              <a:rPr lang="zh-CN" altLang="en-US" sz="24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2400" b="1" dirty="0">
              <a:solidFill>
                <a:srgbClr val="00B0F0"/>
              </a:solidFill>
              <a:latin typeface="微软雅黑" pitchFamily="34" charset="-122"/>
              <a:ea typeface="微软雅黑" pitchFamily="34" charset="-122"/>
              <a:sym typeface="Wingdings" panose="05000000000000000000" pitchFamily="2" charset="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900014" y="1556792"/>
            <a:ext cx="7416402" cy="2062366"/>
          </a:xfrm>
          <a:prstGeom prst="rect">
            <a:avLst/>
          </a:prstGeom>
          <a:noFill/>
          <a:ln w="12700">
            <a:solidFill>
              <a:srgbClr val="1D8DE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295214" y="550657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压缩</a:t>
            </a:r>
            <a:r>
              <a:rPr lang="en-US" altLang="zh-CN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BCD</a:t>
            </a:r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码调整指令</a:t>
            </a:r>
          </a:p>
        </p:txBody>
      </p:sp>
      <p:sp>
        <p:nvSpPr>
          <p:cNvPr id="18" name="矩形 17"/>
          <p:cNvSpPr>
            <a:spLocks noChangeAspect="1"/>
          </p:cNvSpPr>
          <p:nvPr/>
        </p:nvSpPr>
        <p:spPr>
          <a:xfrm>
            <a:off x="900014" y="3914566"/>
            <a:ext cx="7416402" cy="1806106"/>
          </a:xfrm>
          <a:prstGeom prst="rect">
            <a:avLst/>
          </a:prstGeom>
          <a:ln>
            <a:solidFill>
              <a:srgbClr val="0883C8"/>
            </a:solidFill>
            <a:prstDash val="soli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9" name="Picture 2" descr="E:\仝德志文件，勿删！\03-参考文档\！PPT图片及版面资源\06-PPT精选插图\12-标签\蓝色燕尾01.png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rot="16200000">
            <a:off x="872040" y="4049098"/>
            <a:ext cx="1008111" cy="632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1132780" y="3980745"/>
            <a:ext cx="461665" cy="1061714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注 意</a:t>
            </a:r>
          </a:p>
        </p:txBody>
      </p:sp>
      <p:sp>
        <p:nvSpPr>
          <p:cNvPr id="21" name="TextBox 17"/>
          <p:cNvSpPr txBox="1"/>
          <p:nvPr/>
        </p:nvSpPr>
        <p:spPr>
          <a:xfrm>
            <a:off x="1837002" y="3990968"/>
            <a:ext cx="6335398" cy="1729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调整指令跟在加法指令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ADD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ADC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或减法指令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SUB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SBB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后。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DAA/DAS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指令只能对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AL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中结果调整，因此多字节压缩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BCD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的加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/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减法，只能从低字节开始，逐个运算。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7796283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3"/>
          <p:cNvSpPr>
            <a:spLocks noChangeArrowheads="1"/>
          </p:cNvSpPr>
          <p:nvPr/>
        </p:nvSpPr>
        <p:spPr bwMode="auto">
          <a:xfrm>
            <a:off x="831352" y="1778051"/>
            <a:ext cx="3668640" cy="1632370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lnSpc>
                <a:spcPct val="139000"/>
              </a:lnSpc>
              <a:spcAft>
                <a:spcPts val="600"/>
              </a:spcAft>
              <a:defRPr/>
            </a:pP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有两个压缩</a:t>
            </a:r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BCD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码，</a:t>
            </a:r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AX=6698H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BX=2877H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，指令实现它们的相加。</a:t>
            </a:r>
          </a:p>
        </p:txBody>
      </p:sp>
      <p:cxnSp>
        <p:nvCxnSpPr>
          <p:cNvPr id="4" name="直接连接符 3"/>
          <p:cNvCxnSpPr/>
          <p:nvPr/>
        </p:nvCxnSpPr>
        <p:spPr>
          <a:xfrm>
            <a:off x="907306" y="1121909"/>
            <a:ext cx="7488832" cy="0"/>
          </a:xfrm>
          <a:prstGeom prst="line">
            <a:avLst/>
          </a:prstGeom>
          <a:ln w="28575">
            <a:solidFill>
              <a:srgbClr val="1D8D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907306" y="631563"/>
            <a:ext cx="500110" cy="490346"/>
          </a:xfrm>
          <a:prstGeom prst="rect">
            <a:avLst/>
          </a:prstGeom>
          <a:solidFill>
            <a:srgbClr val="1D8DE5"/>
          </a:solidFill>
          <a:ln w="9525" cap="rnd">
            <a:solidFill>
              <a:srgbClr val="1D8DE5"/>
            </a:solidFill>
            <a:prstDash val="solid"/>
            <a:round/>
            <a:headEnd/>
            <a:tailEnd/>
          </a:ln>
        </p:spPr>
        <p:txBody>
          <a:bodyPr anchor="ctr"/>
          <a:lstStyle/>
          <a:p>
            <a:pPr algn="ctr"/>
            <a:r>
              <a:rPr lang="en-US" altLang="zh-CN" sz="2800" b="1" kern="0" dirty="0">
                <a:solidFill>
                  <a:sysClr val="window" lastClr="FFFFFF">
                    <a:lumMod val="95000"/>
                  </a:sys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endParaRPr lang="zh-CN" altLang="en-US" sz="2800" b="1" kern="0" dirty="0">
              <a:solidFill>
                <a:sysClr val="window" lastClr="FFFFFF">
                  <a:lumMod val="95000"/>
                </a:sys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Box 11"/>
          <p:cNvSpPr txBox="1"/>
          <p:nvPr/>
        </p:nvSpPr>
        <p:spPr>
          <a:xfrm>
            <a:off x="1415130" y="620688"/>
            <a:ext cx="66132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1D8DE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例题</a:t>
            </a:r>
          </a:p>
        </p:txBody>
      </p:sp>
      <p:sp>
        <p:nvSpPr>
          <p:cNvPr id="7" name="矩形 6"/>
          <p:cNvSpPr/>
          <p:nvPr/>
        </p:nvSpPr>
        <p:spPr>
          <a:xfrm>
            <a:off x="8180114" y="620688"/>
            <a:ext cx="223738" cy="490346"/>
          </a:xfrm>
          <a:prstGeom prst="rect">
            <a:avLst/>
          </a:prstGeom>
          <a:solidFill>
            <a:srgbClr val="1D8DE5"/>
          </a:solidFill>
          <a:ln w="9525" cap="rnd">
            <a:solidFill>
              <a:srgbClr val="1D8DE5"/>
            </a:solidFill>
            <a:prstDash val="solid"/>
            <a:round/>
            <a:headEnd/>
            <a:tailEnd/>
          </a:ln>
        </p:spPr>
        <p:txBody>
          <a:bodyPr/>
          <a:lstStyle/>
          <a:p>
            <a:pPr algn="ctr">
              <a:lnSpc>
                <a:spcPct val="120000"/>
              </a:lnSpc>
            </a:pPr>
            <a:endParaRPr lang="zh-CN" altLang="en-US" b="1" kern="0" dirty="0">
              <a:solidFill>
                <a:sysClr val="window" lastClr="FFFFFF">
                  <a:lumMod val="95000"/>
                </a:sys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907306" y="631563"/>
            <a:ext cx="7488832" cy="0"/>
          </a:xfrm>
          <a:prstGeom prst="line">
            <a:avLst/>
          </a:prstGeom>
          <a:ln w="28575">
            <a:solidFill>
              <a:srgbClr val="1D8D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3"/>
          <p:cNvSpPr>
            <a:spLocks noChangeArrowheads="1"/>
          </p:cNvSpPr>
          <p:nvPr/>
        </p:nvSpPr>
        <p:spPr bwMode="auto">
          <a:xfrm>
            <a:off x="5076056" y="1484784"/>
            <a:ext cx="3168352" cy="3903633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ADD</a:t>
            </a:r>
            <a:r>
              <a:rPr lang="en-US" altLang="zh-CN" sz="24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AL, BL</a:t>
            </a:r>
          </a:p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DAA</a:t>
            </a:r>
          </a:p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MOV</a:t>
            </a:r>
            <a:r>
              <a:rPr lang="en-US" altLang="zh-CN" sz="24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CL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AL</a:t>
            </a:r>
          </a:p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MOV</a:t>
            </a:r>
            <a:r>
              <a:rPr lang="en-US" altLang="zh-CN" sz="24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AL,  AH</a:t>
            </a:r>
          </a:p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ADC  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AL,  BH</a:t>
            </a:r>
          </a:p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DAA</a:t>
            </a:r>
            <a:endParaRPr lang="en-US" altLang="zh-CN" sz="2400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MOV  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AH, AL</a:t>
            </a:r>
          </a:p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MOV</a:t>
            </a:r>
            <a:r>
              <a:rPr lang="en-US" altLang="zh-CN" sz="2400" b="1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  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AL, CL</a:t>
            </a:r>
          </a:p>
        </p:txBody>
      </p:sp>
      <p:cxnSp>
        <p:nvCxnSpPr>
          <p:cNvPr id="11" name="直接连接符 10"/>
          <p:cNvCxnSpPr/>
          <p:nvPr/>
        </p:nvCxnSpPr>
        <p:spPr>
          <a:xfrm flipH="1">
            <a:off x="4716016" y="1181038"/>
            <a:ext cx="3768" cy="4048162"/>
          </a:xfrm>
          <a:prstGeom prst="line">
            <a:avLst/>
          </a:prstGeom>
          <a:ln w="12700">
            <a:solidFill>
              <a:srgbClr val="1D8D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/>
          <p:cNvSpPr/>
          <p:nvPr/>
        </p:nvSpPr>
        <p:spPr>
          <a:xfrm>
            <a:off x="1619671" y="6021288"/>
            <a:ext cx="5688633" cy="424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程序员需要自己预测自己计算结果是否超出寄存器位宽。</a:t>
            </a:r>
          </a:p>
        </p:txBody>
      </p:sp>
      <p:pic>
        <p:nvPicPr>
          <p:cNvPr id="13" name="Picture 2" descr="C:\Documents and Settings\tdz\桌面\未标题-1 拷贝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84844" y="5589240"/>
            <a:ext cx="834828" cy="782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52070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295214" y="550657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非压缩</a:t>
            </a:r>
            <a:r>
              <a:rPr lang="en-US" altLang="zh-CN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BCD</a:t>
            </a:r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码加减法调整指令</a:t>
            </a:r>
          </a:p>
        </p:txBody>
      </p:sp>
      <p:sp>
        <p:nvSpPr>
          <p:cNvPr id="16" name="TextBox 10"/>
          <p:cNvSpPr txBox="1">
            <a:spLocks noChangeArrowheads="1"/>
          </p:cNvSpPr>
          <p:nvPr/>
        </p:nvSpPr>
        <p:spPr bwMode="auto">
          <a:xfrm>
            <a:off x="1071727" y="1606464"/>
            <a:ext cx="6900771" cy="1776384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342900" indent="-342900" algn="just">
              <a:lnSpc>
                <a:spcPct val="114000"/>
              </a:lnSpc>
              <a:buFont typeface="Wingdings" panose="05000000000000000000" pitchFamily="2" charset="2"/>
              <a:buChar char="n"/>
            </a:pPr>
            <a:r>
              <a:rPr lang="en-US" altLang="zh-CN" sz="24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AAA</a:t>
            </a:r>
            <a:r>
              <a:rPr lang="zh-CN" altLang="en-US" sz="24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：加法的</a:t>
            </a:r>
            <a:r>
              <a:rPr lang="en-US" altLang="zh-CN" sz="24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ASCII</a:t>
            </a:r>
            <a:r>
              <a:rPr lang="zh-CN" altLang="en-US" sz="24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调整，把</a:t>
            </a:r>
            <a:r>
              <a:rPr lang="en-US" altLang="zh-CN" sz="24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AL</a:t>
            </a:r>
            <a:r>
              <a:rPr lang="zh-CN" altLang="en-US" sz="24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中的和调整为非压缩的</a:t>
            </a:r>
            <a:r>
              <a:rPr lang="en-US" altLang="zh-CN" sz="24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BCD</a:t>
            </a:r>
            <a:r>
              <a:rPr lang="zh-CN" altLang="en-US" sz="24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格式，</a:t>
            </a:r>
            <a:r>
              <a:rPr lang="en-US" altLang="zh-CN" sz="24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AH</a:t>
            </a:r>
            <a:r>
              <a:rPr lang="zh-CN" altLang="en-US" sz="24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加上调整产生的进位值。</a:t>
            </a:r>
            <a:endParaRPr lang="en-US" altLang="zh-CN" sz="2400" b="1" dirty="0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 algn="just">
              <a:lnSpc>
                <a:spcPct val="114000"/>
              </a:lnSpc>
              <a:buFont typeface="Wingdings" panose="05000000000000000000" pitchFamily="2" charset="2"/>
              <a:buChar char="n"/>
            </a:pPr>
            <a:r>
              <a:rPr lang="en-US" altLang="zh-CN" sz="24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AAS</a:t>
            </a:r>
            <a:r>
              <a:rPr lang="zh-CN" altLang="en-US" sz="24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：减法的</a:t>
            </a:r>
            <a:r>
              <a:rPr lang="en-US" altLang="zh-CN" sz="24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ASCII</a:t>
            </a:r>
            <a:r>
              <a:rPr lang="zh-CN" altLang="en-US" sz="24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调整，把</a:t>
            </a:r>
            <a:r>
              <a:rPr lang="en-US" altLang="zh-CN" sz="24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AL</a:t>
            </a:r>
            <a:r>
              <a:rPr lang="zh-CN" altLang="en-US" sz="24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中的差调整为非压缩的</a:t>
            </a:r>
            <a:r>
              <a:rPr lang="en-US" altLang="zh-CN" sz="24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BCD</a:t>
            </a:r>
            <a:r>
              <a:rPr lang="zh-CN" altLang="en-US" sz="24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格式， </a:t>
            </a:r>
            <a:r>
              <a:rPr lang="en-US" altLang="zh-CN" sz="24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AH</a:t>
            </a:r>
            <a:r>
              <a:rPr lang="zh-CN" altLang="en-US" sz="24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减调整产生的借位值。</a:t>
            </a:r>
            <a:endParaRPr lang="en-US" altLang="zh-CN" sz="2400" b="1" dirty="0">
              <a:solidFill>
                <a:srgbClr val="00B0F0"/>
              </a:solidFill>
              <a:latin typeface="微软雅黑" pitchFamily="34" charset="-122"/>
              <a:ea typeface="微软雅黑" pitchFamily="34" charset="-122"/>
              <a:sym typeface="Wingdings" panose="05000000000000000000" pitchFamily="2" charset="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899592" y="1438642"/>
            <a:ext cx="7416402" cy="2062366"/>
          </a:xfrm>
          <a:prstGeom prst="rect">
            <a:avLst/>
          </a:prstGeom>
          <a:noFill/>
          <a:ln w="12700">
            <a:solidFill>
              <a:srgbClr val="1D8DE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>
            <a:spLocks noChangeAspect="1"/>
          </p:cNvSpPr>
          <p:nvPr/>
        </p:nvSpPr>
        <p:spPr>
          <a:xfrm>
            <a:off x="900014" y="3905054"/>
            <a:ext cx="7416402" cy="1972218"/>
          </a:xfrm>
          <a:prstGeom prst="rect">
            <a:avLst/>
          </a:prstGeom>
          <a:ln>
            <a:solidFill>
              <a:srgbClr val="0883C8"/>
            </a:solidFill>
            <a:prstDash val="soli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Picture 2" descr="E:\仝德志文件，勿删！\03-参考文档\！PPT图片及版面资源\06-PPT精选插图\12-标签\蓝色燕尾01.png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rot="16200000">
            <a:off x="872040" y="4039586"/>
            <a:ext cx="1008111" cy="632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9"/>
          <p:cNvSpPr txBox="1"/>
          <p:nvPr/>
        </p:nvSpPr>
        <p:spPr>
          <a:xfrm>
            <a:off x="1132780" y="3971233"/>
            <a:ext cx="461665" cy="1061714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注 意</a:t>
            </a:r>
          </a:p>
        </p:txBody>
      </p:sp>
      <p:sp>
        <p:nvSpPr>
          <p:cNvPr id="12" name="TextBox 17"/>
          <p:cNvSpPr txBox="1"/>
          <p:nvPr/>
        </p:nvSpPr>
        <p:spPr>
          <a:xfrm>
            <a:off x="1837002" y="3981456"/>
            <a:ext cx="6335398" cy="1729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AAA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和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AAS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指令就是专门为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ASCII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码操作数或非压缩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BCD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码操作数的加减法而设计的。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sz="20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加法和减法的操作数可以直接使用</a:t>
            </a:r>
            <a:r>
              <a:rPr lang="en-US" altLang="zh-CN" sz="20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ASCII</a:t>
            </a:r>
            <a:r>
              <a:rPr lang="zh-CN" altLang="en-US" sz="20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码，而不必把高位</a:t>
            </a:r>
            <a:r>
              <a:rPr lang="en-US" altLang="zh-CN" sz="20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0011</a:t>
            </a:r>
            <a:r>
              <a:rPr lang="zh-CN" altLang="en-US" sz="20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清为</a:t>
            </a:r>
            <a:r>
              <a:rPr lang="en-US" altLang="zh-CN" sz="20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0000 </a:t>
            </a:r>
            <a:r>
              <a:rPr lang="zh-CN" altLang="en-US" sz="20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2000" b="1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7698050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295214" y="550657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非压缩</a:t>
            </a:r>
            <a:r>
              <a:rPr lang="en-US" altLang="zh-CN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BCD</a:t>
            </a:r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码乘法调整指令</a:t>
            </a:r>
          </a:p>
        </p:txBody>
      </p:sp>
      <p:sp>
        <p:nvSpPr>
          <p:cNvPr id="13" name="TextBox 10"/>
          <p:cNvSpPr txBox="1">
            <a:spLocks noChangeArrowheads="1"/>
          </p:cNvSpPr>
          <p:nvPr/>
        </p:nvSpPr>
        <p:spPr bwMode="auto">
          <a:xfrm>
            <a:off x="1071727" y="1750480"/>
            <a:ext cx="6900771" cy="1776384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342900" indent="-342900" algn="just">
              <a:lnSpc>
                <a:spcPct val="114000"/>
              </a:lnSpc>
              <a:buFont typeface="Wingdings" panose="05000000000000000000" pitchFamily="2" charset="2"/>
              <a:buChar char="n"/>
            </a:pPr>
            <a:r>
              <a:rPr lang="en-US" altLang="zh-CN" sz="24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AAM</a:t>
            </a:r>
            <a:r>
              <a:rPr lang="zh-CN" altLang="en-US" sz="24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：乘法的</a:t>
            </a:r>
            <a:r>
              <a:rPr lang="en-US" altLang="zh-CN" sz="24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ASCII</a:t>
            </a:r>
            <a:r>
              <a:rPr lang="zh-CN" altLang="en-US" sz="24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调整，把</a:t>
            </a:r>
            <a:r>
              <a:rPr lang="en-US" altLang="zh-CN" sz="24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AL</a:t>
            </a:r>
            <a:r>
              <a:rPr lang="zh-CN" altLang="en-US" sz="24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中的积调整为两位非压缩的</a:t>
            </a:r>
            <a:r>
              <a:rPr lang="en-US" altLang="zh-CN" sz="24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BCD</a:t>
            </a:r>
            <a:r>
              <a:rPr lang="zh-CN" altLang="en-US" sz="24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码，高位在</a:t>
            </a:r>
            <a:r>
              <a:rPr lang="en-US" altLang="zh-CN" sz="24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AH</a:t>
            </a:r>
            <a:r>
              <a:rPr lang="zh-CN" altLang="en-US" sz="24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，低位在</a:t>
            </a:r>
            <a:r>
              <a:rPr lang="en-US" altLang="zh-CN" sz="24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AL</a:t>
            </a:r>
            <a:r>
              <a:rPr lang="zh-CN" altLang="en-US" sz="24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。</a:t>
            </a:r>
          </a:p>
          <a:p>
            <a:pPr marL="342900" indent="-342900" algn="just">
              <a:lnSpc>
                <a:spcPct val="114000"/>
              </a:lnSpc>
              <a:buFont typeface="Wingdings" panose="05000000000000000000" pitchFamily="2" charset="2"/>
              <a:buChar char="n"/>
            </a:pPr>
            <a:r>
              <a:rPr lang="en-US" altLang="zh-CN" sz="24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AAM</a:t>
            </a:r>
            <a:r>
              <a:rPr lang="zh-CN" altLang="en-US" sz="24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实质上执行如下操作：将</a:t>
            </a:r>
            <a:r>
              <a:rPr lang="en-US" altLang="zh-CN" sz="24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AL</a:t>
            </a:r>
            <a:r>
              <a:rPr lang="zh-CN" altLang="en-US" sz="24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除以</a:t>
            </a:r>
            <a:r>
              <a:rPr lang="en-US" altLang="zh-CN" sz="24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10</a:t>
            </a:r>
            <a:r>
              <a:rPr lang="zh-CN" altLang="en-US" sz="24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，商放到</a:t>
            </a:r>
            <a:r>
              <a:rPr lang="en-US" altLang="zh-CN" sz="24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AH</a:t>
            </a:r>
            <a:r>
              <a:rPr lang="zh-CN" altLang="en-US" sz="24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，余数放到</a:t>
            </a:r>
            <a:r>
              <a:rPr lang="en-US" altLang="zh-CN" sz="24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AL</a:t>
            </a:r>
            <a:r>
              <a:rPr lang="zh-CN" altLang="en-US" sz="24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2400" b="1" dirty="0">
              <a:solidFill>
                <a:srgbClr val="00B0F0"/>
              </a:solidFill>
              <a:latin typeface="微软雅黑" pitchFamily="34" charset="-122"/>
              <a:ea typeface="微软雅黑" pitchFamily="34" charset="-122"/>
              <a:sym typeface="Wingdings" panose="05000000000000000000" pitchFamily="2" charset="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899592" y="1582658"/>
            <a:ext cx="7416402" cy="2062366"/>
          </a:xfrm>
          <a:prstGeom prst="rect">
            <a:avLst/>
          </a:prstGeom>
          <a:noFill/>
          <a:ln w="12700">
            <a:solidFill>
              <a:srgbClr val="1D8DE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>
            <a:spLocks noChangeAspect="1"/>
          </p:cNvSpPr>
          <p:nvPr/>
        </p:nvSpPr>
        <p:spPr>
          <a:xfrm>
            <a:off x="900014" y="4049070"/>
            <a:ext cx="7416402" cy="1612178"/>
          </a:xfrm>
          <a:prstGeom prst="rect">
            <a:avLst/>
          </a:prstGeom>
          <a:ln>
            <a:solidFill>
              <a:srgbClr val="0883C8"/>
            </a:solidFill>
            <a:prstDash val="soli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8" name="Picture 2" descr="E:\仝德志文件，勿删！\03-参考文档\！PPT图片及版面资源\06-PPT精选插图\12-标签\蓝色燕尾01.png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rot="16200000">
            <a:off x="872040" y="4183602"/>
            <a:ext cx="1008111" cy="632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Box 19"/>
          <p:cNvSpPr txBox="1"/>
          <p:nvPr/>
        </p:nvSpPr>
        <p:spPr>
          <a:xfrm>
            <a:off x="1132780" y="4115249"/>
            <a:ext cx="461665" cy="1061714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注 意</a:t>
            </a:r>
          </a:p>
        </p:txBody>
      </p:sp>
      <p:sp>
        <p:nvSpPr>
          <p:cNvPr id="20" name="TextBox 17"/>
          <p:cNvSpPr txBox="1"/>
          <p:nvPr/>
        </p:nvSpPr>
        <p:spPr>
          <a:xfrm>
            <a:off x="1837002" y="4125472"/>
            <a:ext cx="6335398" cy="13203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8086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不允许采用压缩型十进制数乘法运算，如果是两个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ASCII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码数相乘，要先将其转换成非压缩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BCD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码。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sz="20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用法：先执行非压缩</a:t>
            </a:r>
            <a:r>
              <a:rPr lang="en-US" altLang="zh-CN" sz="20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BCD</a:t>
            </a:r>
            <a:r>
              <a:rPr lang="zh-CN" altLang="en-US" sz="20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码乘法，然后执行</a:t>
            </a:r>
            <a:r>
              <a:rPr lang="en-US" altLang="zh-CN" sz="20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AAM</a:t>
            </a:r>
            <a:r>
              <a:rPr lang="zh-CN" altLang="en-US" sz="20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2000" b="1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3416794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295214" y="550657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非压缩</a:t>
            </a:r>
            <a:r>
              <a:rPr lang="en-US" altLang="zh-CN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BCD</a:t>
            </a:r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码除法调整指令</a:t>
            </a:r>
          </a:p>
        </p:txBody>
      </p:sp>
      <p:sp>
        <p:nvSpPr>
          <p:cNvPr id="16" name="TextBox 10"/>
          <p:cNvSpPr txBox="1">
            <a:spLocks noChangeArrowheads="1"/>
          </p:cNvSpPr>
          <p:nvPr/>
        </p:nvSpPr>
        <p:spPr bwMode="auto">
          <a:xfrm>
            <a:off x="1071727" y="1681037"/>
            <a:ext cx="7100673" cy="1776384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342900" indent="-342900" algn="just">
              <a:lnSpc>
                <a:spcPct val="114000"/>
              </a:lnSpc>
              <a:buFont typeface="Wingdings" panose="05000000000000000000" pitchFamily="2" charset="2"/>
              <a:buChar char="n"/>
            </a:pPr>
            <a:r>
              <a:rPr lang="en-US" altLang="zh-CN" sz="24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AAD</a:t>
            </a:r>
            <a:r>
              <a:rPr lang="zh-CN" altLang="en-US" sz="24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en-US" altLang="zh-CN" sz="24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AAD</a:t>
            </a:r>
            <a:r>
              <a:rPr lang="zh-CN" altLang="en-US" sz="24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除法的</a:t>
            </a:r>
            <a:r>
              <a:rPr lang="en-US" altLang="zh-CN" sz="24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ASCII</a:t>
            </a:r>
            <a:r>
              <a:rPr lang="zh-CN" altLang="en-US" sz="24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调整，将</a:t>
            </a:r>
            <a:r>
              <a:rPr lang="en-US" altLang="zh-CN" sz="24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AX</a:t>
            </a:r>
            <a:r>
              <a:rPr lang="zh-CN" altLang="en-US" sz="24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中的被除数（非压缩</a:t>
            </a:r>
            <a:r>
              <a:rPr lang="en-US" altLang="zh-CN" sz="24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BCD</a:t>
            </a:r>
            <a:r>
              <a:rPr lang="zh-CN" altLang="en-US" sz="24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码）转化为二进制数</a:t>
            </a:r>
            <a:r>
              <a:rPr lang="zh-CN" altLang="en-US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，放在</a:t>
            </a:r>
            <a:r>
              <a:rPr lang="en-US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AL</a:t>
            </a:r>
            <a:r>
              <a:rPr lang="zh-CN" altLang="en-US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。</a:t>
            </a:r>
          </a:p>
          <a:p>
            <a:pPr marL="342900" indent="-342900" algn="just">
              <a:lnSpc>
                <a:spcPct val="114000"/>
              </a:lnSpc>
              <a:buFont typeface="Wingdings" panose="05000000000000000000" pitchFamily="2" charset="2"/>
              <a:buChar char="n"/>
            </a:pPr>
            <a:r>
              <a:rPr lang="zh-CN" altLang="en-US" sz="24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实质执行操作：</a:t>
            </a:r>
            <a:r>
              <a:rPr lang="en-US" altLang="zh-CN" sz="24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AX</a:t>
            </a:r>
            <a:r>
              <a:rPr lang="zh-CN" altLang="en-US" sz="24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中被除数是两位非压缩</a:t>
            </a:r>
            <a:r>
              <a:rPr lang="en-US" altLang="zh-CN" sz="24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BCD</a:t>
            </a:r>
            <a:r>
              <a:rPr lang="zh-CN" altLang="en-US" sz="24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码，</a:t>
            </a:r>
            <a:r>
              <a:rPr lang="en-US" altLang="zh-CN" sz="24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AH</a:t>
            </a:r>
            <a:r>
              <a:rPr lang="zh-CN" altLang="en-US" sz="24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乘</a:t>
            </a:r>
            <a:r>
              <a:rPr lang="en-US" altLang="zh-CN" sz="24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10</a:t>
            </a:r>
            <a:r>
              <a:rPr lang="zh-CN" altLang="en-US" sz="24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，再加</a:t>
            </a:r>
            <a:r>
              <a:rPr lang="en-US" altLang="zh-CN" sz="24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AL</a:t>
            </a:r>
            <a:r>
              <a:rPr lang="zh-CN" altLang="en-US" sz="24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，即转换为二进制数。</a:t>
            </a:r>
            <a:endParaRPr lang="en-US" altLang="zh-CN" sz="2400" b="1" dirty="0">
              <a:solidFill>
                <a:srgbClr val="00B0F0"/>
              </a:solidFill>
              <a:latin typeface="微软雅黑" pitchFamily="34" charset="-122"/>
              <a:ea typeface="微软雅黑" pitchFamily="34" charset="-122"/>
              <a:sym typeface="Wingdings" panose="05000000000000000000" pitchFamily="2" charset="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899592" y="1559909"/>
            <a:ext cx="7416402" cy="2075603"/>
          </a:xfrm>
          <a:prstGeom prst="rect">
            <a:avLst/>
          </a:prstGeom>
          <a:noFill/>
          <a:ln w="12700">
            <a:solidFill>
              <a:srgbClr val="1D8DE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>
            <a:spLocks noChangeAspect="1"/>
          </p:cNvSpPr>
          <p:nvPr/>
        </p:nvSpPr>
        <p:spPr>
          <a:xfrm>
            <a:off x="900014" y="4049070"/>
            <a:ext cx="7416402" cy="1612178"/>
          </a:xfrm>
          <a:prstGeom prst="rect">
            <a:avLst/>
          </a:prstGeom>
          <a:ln>
            <a:solidFill>
              <a:srgbClr val="0883C8"/>
            </a:solidFill>
            <a:prstDash val="soli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Picture 2" descr="E:\仝德志文件，勿删！\03-参考文档\！PPT图片及版面资源\06-PPT精选插图\12-标签\蓝色燕尾01.png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rot="16200000">
            <a:off x="872040" y="4183602"/>
            <a:ext cx="1008111" cy="632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9"/>
          <p:cNvSpPr txBox="1"/>
          <p:nvPr/>
        </p:nvSpPr>
        <p:spPr>
          <a:xfrm>
            <a:off x="1132780" y="4115249"/>
            <a:ext cx="461665" cy="1061714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注 意</a:t>
            </a:r>
          </a:p>
        </p:txBody>
      </p:sp>
      <p:sp>
        <p:nvSpPr>
          <p:cNvPr id="12" name="TextBox 17"/>
          <p:cNvSpPr txBox="1"/>
          <p:nvPr/>
        </p:nvSpPr>
        <p:spPr>
          <a:xfrm>
            <a:off x="1837002" y="4125472"/>
            <a:ext cx="6335398" cy="13203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与其它调整指令不同的是，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AAD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用在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DIV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指令之前。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先将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AX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中的被除数调整成二进制数，并存放在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AL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中，再用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DIV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指令作二进制数的除法。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9244442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3"/>
          <p:cNvSpPr>
            <a:spLocks noChangeArrowheads="1"/>
          </p:cNvSpPr>
          <p:nvPr/>
        </p:nvSpPr>
        <p:spPr bwMode="auto">
          <a:xfrm>
            <a:off x="1099825" y="1472780"/>
            <a:ext cx="3168352" cy="1119024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lnSpc>
                <a:spcPct val="139000"/>
              </a:lnSpc>
              <a:spcAft>
                <a:spcPts val="600"/>
              </a:spcAft>
              <a:defRPr/>
            </a:pP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两个</a:t>
            </a:r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ASCII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码相乘，</a:t>
            </a:r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5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*</a:t>
            </a:r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7=35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。</a:t>
            </a:r>
          </a:p>
        </p:txBody>
      </p:sp>
      <p:cxnSp>
        <p:nvCxnSpPr>
          <p:cNvPr id="4" name="直接连接符 3"/>
          <p:cNvCxnSpPr/>
          <p:nvPr/>
        </p:nvCxnSpPr>
        <p:spPr>
          <a:xfrm>
            <a:off x="907306" y="1121909"/>
            <a:ext cx="7488832" cy="0"/>
          </a:xfrm>
          <a:prstGeom prst="line">
            <a:avLst/>
          </a:prstGeom>
          <a:ln w="28575">
            <a:solidFill>
              <a:srgbClr val="1D8D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907306" y="631563"/>
            <a:ext cx="500110" cy="490346"/>
          </a:xfrm>
          <a:prstGeom prst="rect">
            <a:avLst/>
          </a:prstGeom>
          <a:solidFill>
            <a:srgbClr val="1D8DE5"/>
          </a:solidFill>
          <a:ln w="9525" cap="rnd">
            <a:solidFill>
              <a:srgbClr val="1D8DE5"/>
            </a:solidFill>
            <a:prstDash val="solid"/>
            <a:round/>
            <a:headEnd/>
            <a:tailEnd/>
          </a:ln>
        </p:spPr>
        <p:txBody>
          <a:bodyPr anchor="ctr"/>
          <a:lstStyle/>
          <a:p>
            <a:pPr algn="ctr"/>
            <a:r>
              <a:rPr lang="en-US" altLang="zh-CN" sz="2800" b="1" kern="0" dirty="0">
                <a:solidFill>
                  <a:sysClr val="window" lastClr="FFFFFF">
                    <a:lumMod val="95000"/>
                  </a:sys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endParaRPr lang="zh-CN" altLang="en-US" sz="2800" b="1" kern="0" dirty="0">
              <a:solidFill>
                <a:sysClr val="window" lastClr="FFFFFF">
                  <a:lumMod val="95000"/>
                </a:sys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Box 11"/>
          <p:cNvSpPr txBox="1"/>
          <p:nvPr/>
        </p:nvSpPr>
        <p:spPr>
          <a:xfrm>
            <a:off x="1415130" y="620688"/>
            <a:ext cx="66132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1D8DE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例题</a:t>
            </a:r>
          </a:p>
        </p:txBody>
      </p:sp>
      <p:sp>
        <p:nvSpPr>
          <p:cNvPr id="7" name="矩形 6"/>
          <p:cNvSpPr/>
          <p:nvPr/>
        </p:nvSpPr>
        <p:spPr>
          <a:xfrm>
            <a:off x="8180114" y="620688"/>
            <a:ext cx="223738" cy="490346"/>
          </a:xfrm>
          <a:prstGeom prst="rect">
            <a:avLst/>
          </a:prstGeom>
          <a:solidFill>
            <a:srgbClr val="1D8DE5"/>
          </a:solidFill>
          <a:ln w="9525" cap="rnd">
            <a:solidFill>
              <a:srgbClr val="1D8DE5"/>
            </a:solidFill>
            <a:prstDash val="solid"/>
            <a:round/>
            <a:headEnd/>
            <a:tailEnd/>
          </a:ln>
        </p:spPr>
        <p:txBody>
          <a:bodyPr/>
          <a:lstStyle/>
          <a:p>
            <a:pPr algn="ctr">
              <a:lnSpc>
                <a:spcPct val="120000"/>
              </a:lnSpc>
            </a:pPr>
            <a:endParaRPr lang="zh-CN" altLang="en-US" b="1" kern="0" dirty="0">
              <a:solidFill>
                <a:sysClr val="window" lastClr="FFFFFF">
                  <a:lumMod val="95000"/>
                </a:sys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907306" y="631563"/>
            <a:ext cx="7488832" cy="0"/>
          </a:xfrm>
          <a:prstGeom prst="line">
            <a:avLst/>
          </a:prstGeom>
          <a:ln w="28575">
            <a:solidFill>
              <a:srgbClr val="1D8D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3"/>
          <p:cNvSpPr>
            <a:spLocks noChangeArrowheads="1"/>
          </p:cNvSpPr>
          <p:nvPr/>
        </p:nvSpPr>
        <p:spPr bwMode="auto">
          <a:xfrm>
            <a:off x="1099825" y="2922033"/>
            <a:ext cx="3168352" cy="1997983"/>
          </a:xfrm>
          <a:prstGeom prst="rect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MOV</a:t>
            </a:r>
            <a:r>
              <a:rPr lang="en-US" altLang="zh-CN" sz="24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 AL, 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05H</a:t>
            </a:r>
          </a:p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MOV</a:t>
            </a:r>
            <a:r>
              <a:rPr lang="en-US" altLang="zh-CN" sz="24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 BL</a:t>
            </a:r>
            <a:r>
              <a:rPr lang="en-US" altLang="zh-CN" sz="2400" b="1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, 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07H</a:t>
            </a:r>
          </a:p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MUL  </a:t>
            </a:r>
            <a:r>
              <a:rPr lang="en-US" altLang="zh-CN" sz="24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BL</a:t>
            </a:r>
          </a:p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AAM</a:t>
            </a:r>
            <a:endParaRPr lang="en-US" altLang="zh-CN" sz="2400" b="1" dirty="0">
              <a:solidFill>
                <a:srgbClr val="00B05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11" name="直接连接符 10"/>
          <p:cNvCxnSpPr/>
          <p:nvPr/>
        </p:nvCxnSpPr>
        <p:spPr>
          <a:xfrm flipH="1">
            <a:off x="4716016" y="1181038"/>
            <a:ext cx="3768" cy="4048162"/>
          </a:xfrm>
          <a:prstGeom prst="line">
            <a:avLst/>
          </a:prstGeom>
          <a:ln w="12700">
            <a:solidFill>
              <a:srgbClr val="1D8D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3"/>
          <p:cNvSpPr>
            <a:spLocks noChangeArrowheads="1"/>
          </p:cNvSpPr>
          <p:nvPr/>
        </p:nvSpPr>
        <p:spPr bwMode="auto">
          <a:xfrm>
            <a:off x="5202561" y="2922033"/>
            <a:ext cx="3168352" cy="1997983"/>
          </a:xfrm>
          <a:prstGeom prst="rect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MOV</a:t>
            </a:r>
            <a:r>
              <a:rPr lang="en-US" altLang="zh-CN" sz="24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 AX, 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0304H</a:t>
            </a:r>
          </a:p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MOV</a:t>
            </a:r>
            <a:r>
              <a:rPr lang="en-US" altLang="zh-CN" sz="24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 BL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, 05H</a:t>
            </a:r>
          </a:p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AAD</a:t>
            </a:r>
          </a:p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DIV  </a:t>
            </a:r>
            <a:r>
              <a:rPr lang="en-US" altLang="zh-CN" sz="24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BL</a:t>
            </a:r>
          </a:p>
        </p:txBody>
      </p:sp>
      <p:sp>
        <p:nvSpPr>
          <p:cNvPr id="15" name="矩形 3"/>
          <p:cNvSpPr>
            <a:spLocks noChangeArrowheads="1"/>
          </p:cNvSpPr>
          <p:nvPr/>
        </p:nvSpPr>
        <p:spPr bwMode="auto">
          <a:xfrm>
            <a:off x="5145299" y="1479122"/>
            <a:ext cx="3168352" cy="1119024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lnSpc>
                <a:spcPct val="139000"/>
              </a:lnSpc>
              <a:spcAft>
                <a:spcPts val="600"/>
              </a:spcAft>
              <a:defRPr/>
            </a:pP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用非压缩</a:t>
            </a:r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BCD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码计算，</a:t>
            </a:r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34 / 5 = 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？</a:t>
            </a:r>
          </a:p>
        </p:txBody>
      </p:sp>
    </p:spTree>
    <p:extLst>
      <p:ext uri="{BB962C8B-B14F-4D97-AF65-F5344CB8AC3E}">
        <p14:creationId xmlns:p14="http://schemas.microsoft.com/office/powerpoint/2010/main" val="23265825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4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问号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5043" y="157306"/>
            <a:ext cx="1614899" cy="1255470"/>
          </a:xfrm>
          <a:prstGeom prst="rect">
            <a:avLst/>
          </a:prstGeom>
        </p:spPr>
      </p:pic>
      <p:cxnSp>
        <p:nvCxnSpPr>
          <p:cNvPr id="3" name="直接连接符 2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3702006" y="419266"/>
            <a:ext cx="1739987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eaLnBrk="0" hangingPunct="0">
              <a:buFont typeface="Wingdings" pitchFamily="2" charset="2"/>
              <a:buNone/>
            </a:pPr>
            <a:r>
              <a:rPr lang="zh-CN" altLang="en-US" sz="3800" b="1" dirty="0">
                <a:solidFill>
                  <a:srgbClr val="00C4F0"/>
                </a:solidFill>
                <a:latin typeface="微软雅黑" pitchFamily="34" charset="-122"/>
                <a:ea typeface="微软雅黑" pitchFamily="34" charset="-122"/>
              </a:rPr>
              <a:t>检测点</a:t>
            </a:r>
            <a:endParaRPr lang="zh-CN" altLang="en-US" sz="3200" b="1" dirty="0">
              <a:solidFill>
                <a:prstClr val="white">
                  <a:lumMod val="65000"/>
                </a:prstClr>
              </a:solidFill>
              <a:latin typeface="Times New Roman" panose="02020603050405020304" pitchFamily="18" charset="0"/>
              <a:ea typeface="微软雅黑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475656" y="2646478"/>
            <a:ext cx="6769172" cy="1142562"/>
          </a:xfrm>
          <a:prstGeom prst="rect">
            <a:avLst/>
          </a:prstGeom>
          <a:solidFill>
            <a:srgbClr val="1D8D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000" b="1" dirty="0">
                <a:ea typeface="微软雅黑" panose="020B0503020204020204" pitchFamily="34" charset="-122"/>
              </a:rPr>
              <a:t>判断对错：</a:t>
            </a:r>
            <a:r>
              <a:rPr lang="en-US" altLang="zh-CN" sz="2000" b="1" dirty="0">
                <a:ea typeface="微软雅黑" panose="020B0503020204020204" pitchFamily="34" charset="-122"/>
              </a:rPr>
              <a:t>XCHG  DS, ES     MUL -20H</a:t>
            </a:r>
            <a:r>
              <a:rPr lang="zh-CN" altLang="en-US" sz="2000" b="1" dirty="0">
                <a:ea typeface="微软雅黑" panose="020B0503020204020204" pitchFamily="34" charset="-122"/>
              </a:rPr>
              <a:t>    </a:t>
            </a:r>
            <a:r>
              <a:rPr lang="en-US" altLang="zh-CN" sz="2000" b="1" dirty="0">
                <a:ea typeface="微软雅黑" panose="020B0503020204020204" pitchFamily="34" charset="-122"/>
              </a:rPr>
              <a:t>IN  AL,  100H</a:t>
            </a:r>
          </a:p>
          <a:p>
            <a:r>
              <a:rPr lang="en-US" altLang="zh-CN" sz="2000" b="1" dirty="0">
                <a:ea typeface="微软雅黑" panose="020B0503020204020204" pitchFamily="34" charset="-122"/>
              </a:rPr>
              <a:t>                      INC  [SI]               DEC   [</a:t>
            </a:r>
            <a:r>
              <a:rPr lang="en-US" altLang="zh-CN" sz="2000" b="1">
                <a:ea typeface="微软雅黑" panose="020B0503020204020204" pitchFamily="34" charset="-122"/>
              </a:rPr>
              <a:t>SI]</a:t>
            </a:r>
            <a:endParaRPr lang="zh-CN" altLang="en-US" sz="2000" b="1" dirty="0">
              <a:ea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475444" y="1628800"/>
            <a:ext cx="6769173" cy="838667"/>
          </a:xfrm>
          <a:prstGeom prst="rect">
            <a:avLst/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000" b="1" dirty="0">
                <a:ea typeface="微软雅黑" panose="020B0503020204020204" pitchFamily="34" charset="-122"/>
              </a:rPr>
              <a:t>判断对错：</a:t>
            </a:r>
            <a:r>
              <a:rPr lang="en-US" altLang="zh-CN" sz="2000" b="1" dirty="0">
                <a:ea typeface="微软雅黑" panose="020B0503020204020204" pitchFamily="34" charset="-122"/>
              </a:rPr>
              <a:t>MOV DS, 20H      MOV CS, AX    ADD  200H, AX</a:t>
            </a:r>
          </a:p>
          <a:p>
            <a:r>
              <a:rPr lang="en-US" altLang="zh-CN" sz="2000" b="1" dirty="0">
                <a:solidFill>
                  <a:schemeClr val="bg1"/>
                </a:solidFill>
                <a:ea typeface="微软雅黑" panose="020B0503020204020204" pitchFamily="34" charset="-122"/>
              </a:rPr>
              <a:t>                      MOV [BX], [200H]    PUSH 2000H     POP CS</a:t>
            </a:r>
          </a:p>
        </p:txBody>
      </p:sp>
      <p:sp>
        <p:nvSpPr>
          <p:cNvPr id="10" name="矩形 9"/>
          <p:cNvSpPr/>
          <p:nvPr/>
        </p:nvSpPr>
        <p:spPr>
          <a:xfrm>
            <a:off x="899592" y="1628800"/>
            <a:ext cx="575852" cy="83866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Arial Black" pitchFamily="34" charset="0"/>
                <a:ea typeface="微软雅黑" panose="020B0503020204020204" pitchFamily="34" charset="-122"/>
              </a:rPr>
              <a:t>1</a:t>
            </a:r>
            <a:endParaRPr lang="zh-CN" altLang="en-US" sz="3200" dirty="0">
              <a:latin typeface="Arial Black" pitchFamily="34" charset="0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899592" y="2646477"/>
            <a:ext cx="575852" cy="114256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Arial Black" pitchFamily="34" charset="0"/>
                <a:ea typeface="微软雅黑" panose="020B0503020204020204" pitchFamily="34" charset="-122"/>
              </a:rPr>
              <a:t>2</a:t>
            </a:r>
            <a:endParaRPr lang="zh-CN" altLang="en-US" sz="3200" dirty="0">
              <a:latin typeface="Arial Black" pitchFamily="34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191856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5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9" grpId="0" animBg="1"/>
      <p:bldP spid="9" grpId="1" animBg="1"/>
      <p:bldP spid="10" grpId="0" animBg="1"/>
      <p:bldP spid="10" grpId="1" animBg="1"/>
      <p:bldP spid="12" grpId="0" animBg="1"/>
      <p:bldP spid="12" grpId="1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>
            <a:spLocks/>
          </p:cNvSpPr>
          <p:nvPr/>
        </p:nvSpPr>
        <p:spPr>
          <a:xfrm>
            <a:off x="3851274" y="1000116"/>
            <a:ext cx="5007006" cy="1143000"/>
          </a:xfrm>
          <a:prstGeom prst="rect">
            <a:avLst/>
          </a:prstGeom>
        </p:spPr>
        <p:txBody>
          <a:bodyPr rtlCol="0">
            <a:norm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5300" dirty="0">
                <a:solidFill>
                  <a:srgbClr val="00C4F0"/>
                </a:solidFill>
                <a:ea typeface="微软雅黑" panose="020B0503020204020204" pitchFamily="34" charset="-122"/>
                <a:cs typeface="+mn-cs"/>
              </a:rPr>
              <a:t>作业</a:t>
            </a:r>
            <a:r>
              <a:rPr lang="en-US" altLang="zh-CN" dirty="0">
                <a:latin typeface="Arial"/>
                <a:ea typeface="微软雅黑" panose="020B0503020204020204" pitchFamily="34" charset="-122"/>
                <a:cs typeface="Arial"/>
              </a:rPr>
              <a:t>• </a:t>
            </a:r>
            <a:r>
              <a:rPr lang="en-US" altLang="zh-CN" sz="2800" dirty="0">
                <a:solidFill>
                  <a:srgbClr val="FFC000"/>
                </a:solidFill>
                <a:latin typeface="Tahoma" pitchFamily="34" charset="0"/>
                <a:ea typeface="微软简综艺" pitchFamily="49" charset="-122"/>
                <a:cs typeface="Tahoma" pitchFamily="34" charset="0"/>
              </a:rPr>
              <a:t>HOMEWORK</a:t>
            </a:r>
            <a:endParaRPr lang="zh-CN" altLang="en-US" sz="1800" dirty="0">
              <a:solidFill>
                <a:srgbClr val="FFC000"/>
              </a:solidFill>
              <a:latin typeface="Tahoma" pitchFamily="34" charset="0"/>
              <a:ea typeface="微软简综艺" pitchFamily="49" charset="-122"/>
              <a:cs typeface="Tahoma" pitchFamily="34" charset="0"/>
            </a:endParaRPr>
          </a:p>
        </p:txBody>
      </p:sp>
      <p:sp>
        <p:nvSpPr>
          <p:cNvPr id="3" name="矩形 2"/>
          <p:cNvSpPr>
            <a:spLocks noChangeArrowheads="1"/>
          </p:cNvSpPr>
          <p:nvPr/>
        </p:nvSpPr>
        <p:spPr bwMode="auto">
          <a:xfrm>
            <a:off x="3744942" y="2615982"/>
            <a:ext cx="5113338" cy="19710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34000"/>
              </a:lnSpc>
              <a:spcBef>
                <a:spcPts val="400"/>
              </a:spcBef>
              <a:spcAft>
                <a:spcPts val="60"/>
              </a:spcAft>
            </a:pPr>
            <a:r>
              <a:rPr lang="zh-CN" altLang="en-US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习题：</a:t>
            </a:r>
            <a:r>
              <a:rPr lang="en-US" altLang="zh-CN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3.49</a:t>
            </a:r>
            <a:r>
              <a:rPr lang="zh-CN" altLang="en-US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3.58</a:t>
            </a:r>
            <a:r>
              <a:rPr lang="zh-CN" altLang="en-US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endParaRPr lang="en-US" altLang="zh-CN" sz="4400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34000"/>
              </a:lnSpc>
              <a:spcBef>
                <a:spcPts val="400"/>
              </a:spcBef>
              <a:spcAft>
                <a:spcPts val="60"/>
              </a:spcAft>
            </a:pPr>
            <a:r>
              <a:rPr lang="en-US" altLang="zh-CN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3.57(AX)</a:t>
            </a:r>
          </a:p>
        </p:txBody>
      </p:sp>
      <p:pic>
        <p:nvPicPr>
          <p:cNvPr id="4" name="Picture 2" descr="D:\Teliss_Tong\Copy\定期备份\工作备份\！PPT图片及版面资源\06-PPT精选插图\02-商务\GF0IEK51.jpg"/>
          <p:cNvPicPr>
            <a:picLocks noChangeAspect="1" noChangeArrowheads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045499" y="1901808"/>
            <a:ext cx="2158349" cy="3399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39709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4250017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10009</TotalTime>
  <Words>3104</Words>
  <Application>Microsoft Office PowerPoint</Application>
  <PresentationFormat>全屏显示(4:3)</PresentationFormat>
  <Paragraphs>485</Paragraphs>
  <Slides>52</Slides>
  <Notes>22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52</vt:i4>
      </vt:variant>
    </vt:vector>
  </HeadingPairs>
  <TitlesOfParts>
    <vt:vector size="66" baseType="lpstr">
      <vt:lpstr>Arial Unicode MS</vt:lpstr>
      <vt:lpstr>经典繁仿黑</vt:lpstr>
      <vt:lpstr>宋体</vt:lpstr>
      <vt:lpstr>微软简综艺</vt:lpstr>
      <vt:lpstr>微软雅黑</vt:lpstr>
      <vt:lpstr>Arial</vt:lpstr>
      <vt:lpstr>Arial Black</vt:lpstr>
      <vt:lpstr>Broadway</vt:lpstr>
      <vt:lpstr>Calibri</vt:lpstr>
      <vt:lpstr>Impact</vt:lpstr>
      <vt:lpstr>Tahoma</vt:lpstr>
      <vt:lpstr>Times New Roman</vt:lpstr>
      <vt:lpstr>Wingdings</vt:lpstr>
      <vt:lpstr>2_Office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user</dc:creator>
  <cp:lastModifiedBy>houxy</cp:lastModifiedBy>
  <cp:revision>1255</cp:revision>
  <dcterms:created xsi:type="dcterms:W3CDTF">2012-06-23T00:51:09Z</dcterms:created>
  <dcterms:modified xsi:type="dcterms:W3CDTF">2017-03-08T13:04:50Z</dcterms:modified>
</cp:coreProperties>
</file>