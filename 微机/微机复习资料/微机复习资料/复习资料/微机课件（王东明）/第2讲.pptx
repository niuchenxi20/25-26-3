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47"/>
  </p:notesMasterIdLst>
  <p:sldIdLst>
    <p:sldId id="303" r:id="rId2"/>
    <p:sldId id="398" r:id="rId3"/>
    <p:sldId id="261" r:id="rId4"/>
    <p:sldId id="369" r:id="rId5"/>
    <p:sldId id="317" r:id="rId6"/>
    <p:sldId id="318" r:id="rId7"/>
    <p:sldId id="319" r:id="rId8"/>
    <p:sldId id="351" r:id="rId9"/>
    <p:sldId id="352" r:id="rId10"/>
    <p:sldId id="354" r:id="rId11"/>
    <p:sldId id="356" r:id="rId12"/>
    <p:sldId id="357" r:id="rId13"/>
    <p:sldId id="359" r:id="rId14"/>
    <p:sldId id="361" r:id="rId15"/>
    <p:sldId id="399" r:id="rId16"/>
    <p:sldId id="365" r:id="rId17"/>
    <p:sldId id="362" r:id="rId18"/>
    <p:sldId id="355" r:id="rId19"/>
    <p:sldId id="364" r:id="rId20"/>
    <p:sldId id="358" r:id="rId21"/>
    <p:sldId id="370" r:id="rId22"/>
    <p:sldId id="371" r:id="rId23"/>
    <p:sldId id="372" r:id="rId24"/>
    <p:sldId id="373" r:id="rId25"/>
    <p:sldId id="374" r:id="rId26"/>
    <p:sldId id="375" r:id="rId27"/>
    <p:sldId id="384" r:id="rId28"/>
    <p:sldId id="376" r:id="rId29"/>
    <p:sldId id="377" r:id="rId30"/>
    <p:sldId id="379" r:id="rId31"/>
    <p:sldId id="395" r:id="rId32"/>
    <p:sldId id="394" r:id="rId33"/>
    <p:sldId id="397" r:id="rId34"/>
    <p:sldId id="396" r:id="rId35"/>
    <p:sldId id="386" r:id="rId36"/>
    <p:sldId id="380" r:id="rId37"/>
    <p:sldId id="382" r:id="rId38"/>
    <p:sldId id="383" r:id="rId39"/>
    <p:sldId id="385" r:id="rId40"/>
    <p:sldId id="387" r:id="rId41"/>
    <p:sldId id="388" r:id="rId42"/>
    <p:sldId id="389" r:id="rId43"/>
    <p:sldId id="390" r:id="rId44"/>
    <p:sldId id="393" r:id="rId45"/>
    <p:sldId id="300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8DE5"/>
    <a:srgbClr val="FD7A2A"/>
    <a:srgbClr val="ED7D31"/>
    <a:srgbClr val="FF910A"/>
    <a:srgbClr val="FF3255"/>
    <a:srgbClr val="7F7F7F"/>
    <a:srgbClr val="00B050"/>
    <a:srgbClr val="00AEDB"/>
    <a:srgbClr val="FF9300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05" autoAdjust="0"/>
    <p:restoredTop sz="72926" autoAdjust="0"/>
  </p:normalViewPr>
  <p:slideViewPr>
    <p:cSldViewPr>
      <p:cViewPr varScale="1">
        <p:scale>
          <a:sx n="49" d="100"/>
          <a:sy n="49" d="100"/>
        </p:scale>
        <p:origin x="1884" y="48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4524F-5C8C-4CF8-964C-68B44E826FEE}" type="datetimeFigureOut">
              <a:rPr lang="en-US" smtClean="0"/>
              <a:t>7/29/2016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00F3E-42E3-47B8-AD52-3484E0D8A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本章需要回答这几个非常重要的问题。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66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65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8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473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46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24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指令队列可存放多条指令，用于指令预取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090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4186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042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586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522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58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0115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</a:t>
            </a:r>
            <a:r>
              <a:rPr lang="en-US" altLang="zh-CN" dirty="0"/>
              <a:t>Debug</a:t>
            </a:r>
            <a:r>
              <a:rPr lang="zh-CN" altLang="en-US" dirty="0"/>
              <a:t>命令跟汇编的指令的区别，</a:t>
            </a:r>
            <a:r>
              <a:rPr lang="en-US" altLang="zh-CN" dirty="0"/>
              <a:t>debug</a:t>
            </a:r>
            <a:r>
              <a:rPr lang="zh-CN" altLang="en-US" dirty="0"/>
              <a:t>只是</a:t>
            </a:r>
            <a:r>
              <a:rPr lang="en-US" altLang="zh-CN" dirty="0"/>
              <a:t>dos</a:t>
            </a:r>
            <a:r>
              <a:rPr lang="zh-CN" altLang="en-US" dirty="0"/>
              <a:t>的一个程序。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410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678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2542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155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1619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850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8478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7739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7470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898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990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5006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220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4989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802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eyefulpresentations.co.uk/" TargetMode="External"/><Relationship Id="rId7" Type="http://schemas.openxmlformats.org/officeDocument/2006/relationships/image" Target="../media/image7.png"/><Relationship Id="rId2" Type="http://schemas.openxmlformats.org/officeDocument/2006/relationships/hyperlink" Target="mailto:info@eyefulpresentations.co.uk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32"/>
          <p:cNvSpPr txBox="1">
            <a:spLocks noChangeArrowheads="1"/>
          </p:cNvSpPr>
          <p:nvPr userDrawn="1"/>
        </p:nvSpPr>
        <p:spPr bwMode="auto">
          <a:xfrm>
            <a:off x="539552" y="1187777"/>
            <a:ext cx="748883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 anchorCtr="1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defRPr/>
            </a:pPr>
            <a:r>
              <a:rPr lang="zh-CN" alt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第三章  </a:t>
            </a:r>
            <a:r>
              <a:rPr lang="en-US" altLang="zh-CN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微处理器及其系统</a:t>
            </a:r>
          </a:p>
        </p:txBody>
      </p:sp>
      <p:cxnSp>
        <p:nvCxnSpPr>
          <p:cNvPr id="8" name="直接连接符 7"/>
          <p:cNvCxnSpPr/>
          <p:nvPr userDrawn="1"/>
        </p:nvCxnSpPr>
        <p:spPr bwMode="auto">
          <a:xfrm>
            <a:off x="755576" y="2349500"/>
            <a:ext cx="712928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algn="ctr" rotWithShape="0">
              <a:prstClr val="black">
                <a:alpha val="64000"/>
              </a:prstClr>
            </a:outerShdw>
          </a:effectLst>
        </p:spPr>
      </p:cxnSp>
      <p:sp>
        <p:nvSpPr>
          <p:cNvPr id="9" name="矩形 8"/>
          <p:cNvSpPr>
            <a:spLocks noChangeArrowheads="1"/>
          </p:cNvSpPr>
          <p:nvPr userDrawn="1"/>
        </p:nvSpPr>
        <p:spPr bwMode="auto">
          <a:xfrm>
            <a:off x="755576" y="549275"/>
            <a:ext cx="39592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微机系统与接口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827089" y="2508250"/>
            <a:ext cx="309684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700" b="1" dirty="0">
                <a:solidFill>
                  <a:srgbClr val="FC6204"/>
                </a:solidFill>
                <a:latin typeface="微软雅黑" pitchFamily="34" charset="-122"/>
                <a:ea typeface="微软雅黑" pitchFamily="34" charset="-122"/>
                <a:cs typeface="Tahoma" pitchFamily="34" charset="0"/>
              </a:rPr>
              <a:t>东南大学信息科学与工程学院</a:t>
            </a:r>
            <a:endParaRPr lang="en-US" altLang="zh-CN" sz="1700" b="1" dirty="0">
              <a:solidFill>
                <a:srgbClr val="FC6204"/>
              </a:solidFill>
              <a:latin typeface="微软雅黑" pitchFamily="34" charset="-122"/>
              <a:ea typeface="微软雅黑" pitchFamily="34" charset="-122"/>
              <a:cs typeface="Tahoma" pitchFamily="34" charset="0"/>
            </a:endParaRPr>
          </a:p>
        </p:txBody>
      </p:sp>
      <p:sp>
        <p:nvSpPr>
          <p:cNvPr id="17" name="TextBox 18"/>
          <p:cNvSpPr txBox="1"/>
          <p:nvPr userDrawn="1"/>
        </p:nvSpPr>
        <p:spPr>
          <a:xfrm>
            <a:off x="7235825" y="5733256"/>
            <a:ext cx="1152599" cy="4616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Broadway" pitchFamily="82" charset="0"/>
                <a:ea typeface="楷体" pitchFamily="49" charset="-122"/>
                <a:cs typeface="经典繁仿黑" pitchFamily="49" charset="-122"/>
              </a:rPr>
              <a:t>王东明</a:t>
            </a:r>
          </a:p>
        </p:txBody>
      </p:sp>
      <p:pic>
        <p:nvPicPr>
          <p:cNvPr id="18" name="Picture 2" descr="D:\Teliss_Tong\Copy\定期备份\工作备份\！PPT图片及版面资源\06-PPT精选插图\04-图标\59E394F1F59BE1688CBD1D9A59D1E886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55776" y="2986582"/>
            <a:ext cx="2885504" cy="313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121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7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48680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前言</a:t>
            </a:r>
          </a:p>
        </p:txBody>
      </p:sp>
      <p:sp>
        <p:nvSpPr>
          <p:cNvPr id="4" name="椭圆 3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741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48680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</a:p>
        </p:txBody>
      </p:sp>
      <p:sp>
        <p:nvSpPr>
          <p:cNvPr id="4" name="椭圆 3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5207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2636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目录页</a:t>
            </a:r>
          </a:p>
        </p:txBody>
      </p:sp>
      <p:sp>
        <p:nvSpPr>
          <p:cNvPr id="6" name="椭圆 5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8" name="Picture 3" descr="D:\Teliss_Tong\Copy\定期备份\工作备份\！PPT图片及版面资源\06-PPT精选插图\04-图标\西装小人.pn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3608" y="1852068"/>
            <a:ext cx="2210937" cy="309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76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2636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过渡页</a:t>
            </a:r>
          </a:p>
        </p:txBody>
      </p:sp>
      <p:sp>
        <p:nvSpPr>
          <p:cNvPr id="6" name="椭圆 5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6169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354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1619251" y="548680"/>
            <a:ext cx="5905499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Arial"/>
              <a:ea typeface="微软雅黑" pitchFamily="34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234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0">
            <a:hlinkClick r:id="rId2"/>
          </p:cNvPr>
          <p:cNvSpPr>
            <a:spLocks noChangeArrowheads="1"/>
          </p:cNvSpPr>
          <p:nvPr userDrawn="1"/>
        </p:nvSpPr>
        <p:spPr bwMode="auto">
          <a:xfrm>
            <a:off x="5004049" y="2757241"/>
            <a:ext cx="444010" cy="523875"/>
          </a:xfrm>
          <a:prstGeom prst="ellipse">
            <a:avLst/>
          </a:prstGeom>
          <a:solidFill>
            <a:srgbClr val="0079C5">
              <a:alpha val="0"/>
            </a:srgbClr>
          </a:solidFill>
          <a:ln w="33338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Arial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Oval 61">
            <a:hlinkClick r:id="rId3"/>
          </p:cNvPr>
          <p:cNvSpPr>
            <a:spLocks noChangeArrowheads="1"/>
          </p:cNvSpPr>
          <p:nvPr userDrawn="1"/>
        </p:nvSpPr>
        <p:spPr bwMode="auto">
          <a:xfrm>
            <a:off x="5016011" y="3565675"/>
            <a:ext cx="420086" cy="521494"/>
          </a:xfrm>
          <a:prstGeom prst="ellipse">
            <a:avLst/>
          </a:prstGeom>
          <a:solidFill>
            <a:srgbClr val="0079C5">
              <a:alpha val="0"/>
            </a:srgbClr>
          </a:solidFill>
          <a:ln w="33338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Arial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矩形​​ 5"/>
          <p:cNvSpPr>
            <a:spLocks noChangeArrowheads="1"/>
          </p:cNvSpPr>
          <p:nvPr userDrawn="1"/>
        </p:nvSpPr>
        <p:spPr bwMode="auto">
          <a:xfrm>
            <a:off x="98301" y="538162"/>
            <a:ext cx="8964613" cy="3946525"/>
          </a:xfrm>
          <a:prstGeom prst="rect">
            <a:avLst/>
          </a:prstGeom>
          <a:solidFill>
            <a:srgbClr val="00ADDC"/>
          </a:solidFill>
          <a:ln w="9525" cmpd="sng">
            <a:noFill/>
            <a:miter lim="800000"/>
            <a:headEnd/>
            <a:tailEnd/>
          </a:ln>
        </p:spPr>
        <p:txBody>
          <a:bodyPr lIns="288000" anchor="b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800" dirty="0">
              <a:solidFill>
                <a:prstClr val="white"/>
              </a:solidFill>
              <a:ea typeface="微软雅黑" panose="020B0503020204020204" pitchFamily="34" charset="-122"/>
              <a:sym typeface="Arial" pitchFamily="34" charset="0"/>
            </a:endParaRPr>
          </a:p>
        </p:txBody>
      </p:sp>
      <p:sp>
        <p:nvSpPr>
          <p:cNvPr id="6" name="Line 33"/>
          <p:cNvSpPr>
            <a:spLocks noChangeShapeType="1"/>
          </p:cNvSpPr>
          <p:nvPr userDrawn="1"/>
        </p:nvSpPr>
        <p:spPr bwMode="auto">
          <a:xfrm flipV="1">
            <a:off x="5224465" y="1671390"/>
            <a:ext cx="1587" cy="2700338"/>
          </a:xfrm>
          <a:prstGeom prst="lin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Arial" charset="0"/>
              <a:ea typeface="微软雅黑" panose="020B0503020204020204" pitchFamily="34" charset="-122"/>
            </a:endParaRPr>
          </a:p>
        </p:txBody>
      </p:sp>
      <p:sp>
        <p:nvSpPr>
          <p:cNvPr id="7" name="Line 5"/>
          <p:cNvSpPr>
            <a:spLocks noChangeShapeType="1"/>
          </p:cNvSpPr>
          <p:nvPr userDrawn="1"/>
        </p:nvSpPr>
        <p:spPr bwMode="auto">
          <a:xfrm>
            <a:off x="0" y="3913338"/>
            <a:ext cx="1384300" cy="2381"/>
          </a:xfrm>
          <a:prstGeom prst="lin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Arial" charset="0"/>
              <a:ea typeface="微软雅黑" panose="020B0503020204020204" pitchFamily="34" charset="-122"/>
            </a:endParaRPr>
          </a:p>
        </p:txBody>
      </p:sp>
      <p:sp>
        <p:nvSpPr>
          <p:cNvPr id="8" name="Freeform 18"/>
          <p:cNvSpPr>
            <a:spLocks/>
          </p:cNvSpPr>
          <p:nvPr userDrawn="1"/>
        </p:nvSpPr>
        <p:spPr bwMode="auto">
          <a:xfrm>
            <a:off x="1366838" y="2767956"/>
            <a:ext cx="201612" cy="1279922"/>
          </a:xfrm>
          <a:custGeom>
            <a:avLst/>
            <a:gdLst>
              <a:gd name="T0" fmla="*/ 127 w 127"/>
              <a:gd name="T1" fmla="*/ 0 h 1075"/>
              <a:gd name="T2" fmla="*/ 0 w 127"/>
              <a:gd name="T3" fmla="*/ 1075 h 1075"/>
              <a:gd name="T4" fmla="*/ 127 w 127"/>
              <a:gd name="T5" fmla="*/ 0 h 1075"/>
              <a:gd name="T6" fmla="*/ 0 60000 65536"/>
              <a:gd name="T7" fmla="*/ 0 60000 65536"/>
              <a:gd name="T8" fmla="*/ 0 60000 65536"/>
              <a:gd name="T9" fmla="*/ 0 w 127"/>
              <a:gd name="T10" fmla="*/ 0 h 1075"/>
              <a:gd name="T11" fmla="*/ 127 w 127"/>
              <a:gd name="T12" fmla="*/ 1075 h 10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7" h="1075">
                <a:moveTo>
                  <a:pt x="127" y="0"/>
                </a:moveTo>
                <a:lnTo>
                  <a:pt x="0" y="1075"/>
                </a:lnTo>
                <a:lnTo>
                  <a:pt x="127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Arial" charset="0"/>
              <a:ea typeface="微软雅黑" panose="020B0503020204020204" pitchFamily="34" charset="-122"/>
            </a:endParaRPr>
          </a:p>
        </p:txBody>
      </p:sp>
      <p:sp>
        <p:nvSpPr>
          <p:cNvPr id="9" name="Line 19"/>
          <p:cNvSpPr>
            <a:spLocks noChangeShapeType="1"/>
          </p:cNvSpPr>
          <p:nvPr userDrawn="1"/>
        </p:nvSpPr>
        <p:spPr bwMode="auto">
          <a:xfrm flipH="1">
            <a:off x="1374778" y="2740571"/>
            <a:ext cx="200025" cy="1188244"/>
          </a:xfrm>
          <a:prstGeom prst="line">
            <a:avLst/>
          </a:prstGeom>
          <a:noFill/>
          <a:ln w="33338"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Arial" charset="0"/>
              <a:ea typeface="微软雅黑" panose="020B0503020204020204" pitchFamily="34" charset="-122"/>
            </a:endParaRPr>
          </a:p>
        </p:txBody>
      </p:sp>
      <p:sp>
        <p:nvSpPr>
          <p:cNvPr id="10" name="Freeform 20"/>
          <p:cNvSpPr>
            <a:spLocks/>
          </p:cNvSpPr>
          <p:nvPr userDrawn="1"/>
        </p:nvSpPr>
        <p:spPr bwMode="auto">
          <a:xfrm>
            <a:off x="2717800" y="2561978"/>
            <a:ext cx="7938" cy="1806178"/>
          </a:xfrm>
          <a:custGeom>
            <a:avLst/>
            <a:gdLst>
              <a:gd name="T0" fmla="*/ 0 w 5"/>
              <a:gd name="T1" fmla="*/ 0 h 1517"/>
              <a:gd name="T2" fmla="*/ 5 w 5"/>
              <a:gd name="T3" fmla="*/ 1517 h 1517"/>
              <a:gd name="T4" fmla="*/ 0 w 5"/>
              <a:gd name="T5" fmla="*/ 0 h 1517"/>
              <a:gd name="T6" fmla="*/ 0 60000 65536"/>
              <a:gd name="T7" fmla="*/ 0 60000 65536"/>
              <a:gd name="T8" fmla="*/ 0 60000 65536"/>
              <a:gd name="T9" fmla="*/ 0 w 5"/>
              <a:gd name="T10" fmla="*/ 0 h 1517"/>
              <a:gd name="T11" fmla="*/ 5 w 5"/>
              <a:gd name="T12" fmla="*/ 1517 h 15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" h="1517">
                <a:moveTo>
                  <a:pt x="0" y="0"/>
                </a:moveTo>
                <a:lnTo>
                  <a:pt x="5" y="15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Arial" charset="0"/>
              <a:ea typeface="微软雅黑" panose="020B0503020204020204" pitchFamily="34" charset="-122"/>
            </a:endParaRPr>
          </a:p>
        </p:txBody>
      </p:sp>
      <p:sp>
        <p:nvSpPr>
          <p:cNvPr id="11" name="Line 21"/>
          <p:cNvSpPr>
            <a:spLocks noChangeShapeType="1"/>
          </p:cNvSpPr>
          <p:nvPr userDrawn="1"/>
        </p:nvSpPr>
        <p:spPr bwMode="auto">
          <a:xfrm>
            <a:off x="2587625" y="2561978"/>
            <a:ext cx="7938" cy="1806178"/>
          </a:xfrm>
          <a:prstGeom prst="line">
            <a:avLst/>
          </a:prstGeom>
          <a:noFill/>
          <a:ln w="33338"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Arial" charset="0"/>
              <a:ea typeface="微软雅黑" panose="020B0503020204020204" pitchFamily="34" charset="-122"/>
            </a:endParaRPr>
          </a:p>
        </p:txBody>
      </p:sp>
      <p:sp>
        <p:nvSpPr>
          <p:cNvPr id="12" name="Oval 22"/>
          <p:cNvSpPr>
            <a:spLocks noChangeArrowheads="1"/>
          </p:cNvSpPr>
          <p:nvPr userDrawn="1"/>
        </p:nvSpPr>
        <p:spPr bwMode="auto">
          <a:xfrm>
            <a:off x="4716019" y="692696"/>
            <a:ext cx="1008109" cy="978694"/>
          </a:xfrm>
          <a:prstGeom prst="ellips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white"/>
                </a:solidFill>
                <a:ea typeface="微软雅黑" panose="020B0503020204020204" pitchFamily="34" charset="-122"/>
              </a:rPr>
              <a:t>授课教师</a:t>
            </a:r>
          </a:p>
        </p:txBody>
      </p:sp>
      <p:sp>
        <p:nvSpPr>
          <p:cNvPr id="14" name="Oval 25"/>
          <p:cNvSpPr>
            <a:spLocks noChangeArrowheads="1"/>
          </p:cNvSpPr>
          <p:nvPr userDrawn="1"/>
        </p:nvSpPr>
        <p:spPr bwMode="auto">
          <a:xfrm>
            <a:off x="4944003" y="1965479"/>
            <a:ext cx="564102" cy="523876"/>
          </a:xfrm>
          <a:prstGeom prst="ellipse">
            <a:avLst/>
          </a:prstGeom>
          <a:solidFill>
            <a:schemeClr val="accent1"/>
          </a:solidFill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Arial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6" name="Group 63"/>
          <p:cNvGrpSpPr>
            <a:grpSpLocks/>
          </p:cNvGrpSpPr>
          <p:nvPr userDrawn="1"/>
        </p:nvGrpSpPr>
        <p:grpSpPr bwMode="auto">
          <a:xfrm>
            <a:off x="4944004" y="2757241"/>
            <a:ext cx="564100" cy="523875"/>
            <a:chOff x="3073" y="2610"/>
            <a:chExt cx="438" cy="440"/>
          </a:xfrm>
        </p:grpSpPr>
        <p:sp>
          <p:nvSpPr>
            <p:cNvPr id="17" name="Rectangle 28"/>
            <p:cNvSpPr>
              <a:spLocks noChangeArrowheads="1"/>
            </p:cNvSpPr>
            <p:nvPr/>
          </p:nvSpPr>
          <p:spPr bwMode="auto">
            <a:xfrm>
              <a:off x="3181" y="2748"/>
              <a:ext cx="222" cy="164"/>
            </a:xfrm>
            <a:prstGeom prst="rect">
              <a:avLst/>
            </a:prstGeom>
            <a:solidFill>
              <a:srgbClr val="FFFFFF"/>
            </a:solidFill>
            <a:ln w="11113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Arial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29"/>
            <p:cNvSpPr>
              <a:spLocks/>
            </p:cNvSpPr>
            <p:nvPr/>
          </p:nvSpPr>
          <p:spPr bwMode="auto">
            <a:xfrm>
              <a:off x="3182" y="2748"/>
              <a:ext cx="220" cy="110"/>
            </a:xfrm>
            <a:custGeom>
              <a:avLst/>
              <a:gdLst>
                <a:gd name="T0" fmla="*/ 0 w 278"/>
                <a:gd name="T1" fmla="*/ 0 h 140"/>
                <a:gd name="T2" fmla="*/ 138 w 278"/>
                <a:gd name="T3" fmla="*/ 140 h 140"/>
                <a:gd name="T4" fmla="*/ 278 w 278"/>
                <a:gd name="T5" fmla="*/ 0 h 140"/>
                <a:gd name="T6" fmla="*/ 0 w 278"/>
                <a:gd name="T7" fmla="*/ 0 h 1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78"/>
                <a:gd name="T13" fmla="*/ 0 h 140"/>
                <a:gd name="T14" fmla="*/ 278 w 278"/>
                <a:gd name="T15" fmla="*/ 140 h 1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78" h="140">
                  <a:moveTo>
                    <a:pt x="0" y="0"/>
                  </a:moveTo>
                  <a:lnTo>
                    <a:pt x="138" y="140"/>
                  </a:lnTo>
                  <a:lnTo>
                    <a:pt x="2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FFFFFF"/>
                </a:solidFill>
                <a:latin typeface="Arial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Oval 27"/>
            <p:cNvSpPr>
              <a:spLocks noChangeArrowheads="1"/>
            </p:cNvSpPr>
            <p:nvPr/>
          </p:nvSpPr>
          <p:spPr bwMode="auto">
            <a:xfrm>
              <a:off x="3073" y="2610"/>
              <a:ext cx="438" cy="440"/>
            </a:xfrm>
            <a:prstGeom prst="ellipse">
              <a:avLst/>
            </a:prstGeom>
            <a:solidFill>
              <a:schemeClr val="accent1"/>
            </a:solidFill>
            <a:ln w="333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Arial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Group 64"/>
          <p:cNvGrpSpPr>
            <a:grpSpLocks/>
          </p:cNvGrpSpPr>
          <p:nvPr userDrawn="1"/>
        </p:nvGrpSpPr>
        <p:grpSpPr bwMode="auto">
          <a:xfrm>
            <a:off x="4944004" y="3565675"/>
            <a:ext cx="564100" cy="521494"/>
            <a:chOff x="3073" y="3289"/>
            <a:chExt cx="438" cy="438"/>
          </a:xfrm>
        </p:grpSpPr>
        <p:sp>
          <p:nvSpPr>
            <p:cNvPr id="21" name="Freeform 32"/>
            <p:cNvSpPr>
              <a:spLocks/>
            </p:cNvSpPr>
            <p:nvPr/>
          </p:nvSpPr>
          <p:spPr bwMode="auto">
            <a:xfrm>
              <a:off x="3173" y="3389"/>
              <a:ext cx="240" cy="241"/>
            </a:xfrm>
            <a:custGeom>
              <a:avLst/>
              <a:gdLst>
                <a:gd name="T0" fmla="*/ 303 w 303"/>
                <a:gd name="T1" fmla="*/ 263 h 305"/>
                <a:gd name="T2" fmla="*/ 171 w 303"/>
                <a:gd name="T3" fmla="*/ 131 h 305"/>
                <a:gd name="T4" fmla="*/ 223 w 303"/>
                <a:gd name="T5" fmla="*/ 77 h 305"/>
                <a:gd name="T6" fmla="*/ 0 w 303"/>
                <a:gd name="T7" fmla="*/ 0 h 305"/>
                <a:gd name="T8" fmla="*/ 76 w 303"/>
                <a:gd name="T9" fmla="*/ 224 h 305"/>
                <a:gd name="T10" fmla="*/ 129 w 303"/>
                <a:gd name="T11" fmla="*/ 170 h 305"/>
                <a:gd name="T12" fmla="*/ 262 w 303"/>
                <a:gd name="T13" fmla="*/ 305 h 305"/>
                <a:gd name="T14" fmla="*/ 303 w 303"/>
                <a:gd name="T15" fmla="*/ 263 h 3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3"/>
                <a:gd name="T25" fmla="*/ 0 h 305"/>
                <a:gd name="T26" fmla="*/ 303 w 303"/>
                <a:gd name="T27" fmla="*/ 305 h 3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3" h="305">
                  <a:moveTo>
                    <a:pt x="303" y="263"/>
                  </a:moveTo>
                  <a:lnTo>
                    <a:pt x="171" y="131"/>
                  </a:lnTo>
                  <a:lnTo>
                    <a:pt x="223" y="77"/>
                  </a:lnTo>
                  <a:lnTo>
                    <a:pt x="0" y="0"/>
                  </a:lnTo>
                  <a:lnTo>
                    <a:pt x="76" y="224"/>
                  </a:lnTo>
                  <a:lnTo>
                    <a:pt x="129" y="170"/>
                  </a:lnTo>
                  <a:lnTo>
                    <a:pt x="262" y="305"/>
                  </a:lnTo>
                  <a:lnTo>
                    <a:pt x="303" y="263"/>
                  </a:lnTo>
                  <a:close/>
                </a:path>
              </a:pathLst>
            </a:custGeom>
            <a:solidFill>
              <a:schemeClr val="bg1"/>
            </a:solidFill>
            <a:ln w="11113" cap="flat">
              <a:noFill/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FFFFFF"/>
                </a:solidFill>
                <a:latin typeface="Arial" charset="0"/>
                <a:ea typeface="微软雅黑" panose="020B0503020204020204" pitchFamily="34" charset="-122"/>
              </a:endParaRPr>
            </a:p>
          </p:txBody>
        </p:sp>
        <p:sp>
          <p:nvSpPr>
            <p:cNvPr id="22" name="Oval 30"/>
            <p:cNvSpPr>
              <a:spLocks noChangeArrowheads="1"/>
            </p:cNvSpPr>
            <p:nvPr/>
          </p:nvSpPr>
          <p:spPr bwMode="auto">
            <a:xfrm>
              <a:off x="3073" y="3289"/>
              <a:ext cx="438" cy="438"/>
            </a:xfrm>
            <a:prstGeom prst="ellipse">
              <a:avLst/>
            </a:prstGeom>
            <a:solidFill>
              <a:schemeClr val="accent1"/>
            </a:solidFill>
            <a:ln w="333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Arial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Line 43"/>
          <p:cNvSpPr>
            <a:spLocks noChangeShapeType="1"/>
          </p:cNvSpPr>
          <p:nvPr userDrawn="1"/>
        </p:nvSpPr>
        <p:spPr bwMode="auto">
          <a:xfrm>
            <a:off x="774700" y="2878685"/>
            <a:ext cx="1588" cy="1190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Arial" charset="0"/>
              <a:ea typeface="微软雅黑" panose="020B0503020204020204" pitchFamily="34" charset="-122"/>
            </a:endParaRPr>
          </a:p>
        </p:txBody>
      </p:sp>
      <p:sp>
        <p:nvSpPr>
          <p:cNvPr id="24" name="Line 45"/>
          <p:cNvSpPr>
            <a:spLocks noChangeShapeType="1"/>
          </p:cNvSpPr>
          <p:nvPr userDrawn="1"/>
        </p:nvSpPr>
        <p:spPr bwMode="auto">
          <a:xfrm>
            <a:off x="3741739" y="910581"/>
            <a:ext cx="1587" cy="1191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Arial" charset="0"/>
              <a:ea typeface="微软雅黑" panose="020B0503020204020204" pitchFamily="34" charset="-122"/>
            </a:endParaRPr>
          </a:p>
        </p:txBody>
      </p:sp>
      <p:sp>
        <p:nvSpPr>
          <p:cNvPr id="25" name="Freeform 11"/>
          <p:cNvSpPr>
            <a:spLocks/>
          </p:cNvSpPr>
          <p:nvPr userDrawn="1"/>
        </p:nvSpPr>
        <p:spPr bwMode="auto">
          <a:xfrm>
            <a:off x="606428" y="2738190"/>
            <a:ext cx="981075" cy="198834"/>
          </a:xfrm>
          <a:custGeom>
            <a:avLst/>
            <a:gdLst>
              <a:gd name="T0" fmla="*/ 0 w 618"/>
              <a:gd name="T1" fmla="*/ 167 h 167"/>
              <a:gd name="T2" fmla="*/ 616 w 618"/>
              <a:gd name="T3" fmla="*/ 20 h 167"/>
              <a:gd name="T4" fmla="*/ 618 w 618"/>
              <a:gd name="T5" fmla="*/ 0 h 167"/>
              <a:gd name="T6" fmla="*/ 2 w 618"/>
              <a:gd name="T7" fmla="*/ 153 h 167"/>
              <a:gd name="T8" fmla="*/ 0 60000 65536"/>
              <a:gd name="T9" fmla="*/ 0 60000 65536"/>
              <a:gd name="T10" fmla="*/ 0 60000 65536"/>
              <a:gd name="T11" fmla="*/ 0 60000 65536"/>
              <a:gd name="T12" fmla="*/ 0 w 618"/>
              <a:gd name="T13" fmla="*/ 0 h 167"/>
              <a:gd name="T14" fmla="*/ 618 w 618"/>
              <a:gd name="T15" fmla="*/ 167 h 16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18" h="167">
                <a:moveTo>
                  <a:pt x="0" y="167"/>
                </a:moveTo>
                <a:lnTo>
                  <a:pt x="616" y="20"/>
                </a:lnTo>
                <a:lnTo>
                  <a:pt x="618" y="0"/>
                </a:lnTo>
                <a:lnTo>
                  <a:pt x="2" y="153"/>
                </a:lnTo>
              </a:path>
            </a:pathLst>
          </a:custGeom>
          <a:solidFill>
            <a:schemeClr val="bg1"/>
          </a:solidFill>
          <a:ln w="11113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Arial" charset="0"/>
              <a:ea typeface="微软雅黑" panose="020B0503020204020204" pitchFamily="34" charset="-122"/>
            </a:endParaRPr>
          </a:p>
        </p:txBody>
      </p:sp>
      <p:sp>
        <p:nvSpPr>
          <p:cNvPr id="26" name="Freeform 13"/>
          <p:cNvSpPr>
            <a:spLocks/>
          </p:cNvSpPr>
          <p:nvPr userDrawn="1"/>
        </p:nvSpPr>
        <p:spPr bwMode="auto">
          <a:xfrm>
            <a:off x="1555750" y="2459584"/>
            <a:ext cx="1566863" cy="309563"/>
          </a:xfrm>
          <a:custGeom>
            <a:avLst/>
            <a:gdLst>
              <a:gd name="T0" fmla="*/ 0 w 987"/>
              <a:gd name="T1" fmla="*/ 260 h 260"/>
              <a:gd name="T2" fmla="*/ 985 w 987"/>
              <a:gd name="T3" fmla="*/ 19 h 260"/>
              <a:gd name="T4" fmla="*/ 987 w 987"/>
              <a:gd name="T5" fmla="*/ 0 h 260"/>
              <a:gd name="T6" fmla="*/ 8 w 987"/>
              <a:gd name="T7" fmla="*/ 238 h 260"/>
              <a:gd name="T8" fmla="*/ 0 60000 65536"/>
              <a:gd name="T9" fmla="*/ 0 60000 65536"/>
              <a:gd name="T10" fmla="*/ 0 60000 65536"/>
              <a:gd name="T11" fmla="*/ 0 60000 65536"/>
              <a:gd name="T12" fmla="*/ 0 w 987"/>
              <a:gd name="T13" fmla="*/ 0 h 260"/>
              <a:gd name="T14" fmla="*/ 987 w 987"/>
              <a:gd name="T15" fmla="*/ 260 h 2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87" h="260">
                <a:moveTo>
                  <a:pt x="0" y="260"/>
                </a:moveTo>
                <a:lnTo>
                  <a:pt x="985" y="19"/>
                </a:lnTo>
                <a:lnTo>
                  <a:pt x="987" y="0"/>
                </a:lnTo>
                <a:lnTo>
                  <a:pt x="8" y="238"/>
                </a:lnTo>
              </a:path>
            </a:pathLst>
          </a:custGeom>
          <a:solidFill>
            <a:schemeClr val="bg1"/>
          </a:solidFill>
          <a:ln w="11113" cap="flat" cmpd="sng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Arial" charset="0"/>
              <a:ea typeface="微软雅黑" panose="020B0503020204020204" pitchFamily="34" charset="-122"/>
            </a:endParaRPr>
          </a:p>
        </p:txBody>
      </p:sp>
      <p:sp>
        <p:nvSpPr>
          <p:cNvPr id="27" name="Freeform 15"/>
          <p:cNvSpPr>
            <a:spLocks/>
          </p:cNvSpPr>
          <p:nvPr userDrawn="1"/>
        </p:nvSpPr>
        <p:spPr bwMode="auto">
          <a:xfrm>
            <a:off x="712791" y="946300"/>
            <a:ext cx="2541587" cy="845344"/>
          </a:xfrm>
          <a:custGeom>
            <a:avLst/>
            <a:gdLst>
              <a:gd name="T0" fmla="*/ 1002 w 1002"/>
              <a:gd name="T1" fmla="*/ 3 h 396"/>
              <a:gd name="T2" fmla="*/ 997 w 1002"/>
              <a:gd name="T3" fmla="*/ 12 h 396"/>
              <a:gd name="T4" fmla="*/ 993 w 1002"/>
              <a:gd name="T5" fmla="*/ 11 h 396"/>
              <a:gd name="T6" fmla="*/ 982 w 1002"/>
              <a:gd name="T7" fmla="*/ 9 h 396"/>
              <a:gd name="T8" fmla="*/ 967 w 1002"/>
              <a:gd name="T9" fmla="*/ 9 h 396"/>
              <a:gd name="T10" fmla="*/ 953 w 1002"/>
              <a:gd name="T11" fmla="*/ 11 h 396"/>
              <a:gd name="T12" fmla="*/ 939 w 1002"/>
              <a:gd name="T13" fmla="*/ 16 h 396"/>
              <a:gd name="T14" fmla="*/ 424 w 1002"/>
              <a:gd name="T15" fmla="*/ 224 h 396"/>
              <a:gd name="T16" fmla="*/ 376 w 1002"/>
              <a:gd name="T17" fmla="*/ 244 h 396"/>
              <a:gd name="T18" fmla="*/ 1 w 1002"/>
              <a:gd name="T19" fmla="*/ 396 h 396"/>
              <a:gd name="T20" fmla="*/ 0 w 1002"/>
              <a:gd name="T21" fmla="*/ 390 h 396"/>
              <a:gd name="T22" fmla="*/ 377 w 1002"/>
              <a:gd name="T23" fmla="*/ 237 h 396"/>
              <a:gd name="T24" fmla="*/ 424 w 1002"/>
              <a:gd name="T25" fmla="*/ 218 h 396"/>
              <a:gd name="T26" fmla="*/ 938 w 1002"/>
              <a:gd name="T27" fmla="*/ 8 h 396"/>
              <a:gd name="T28" fmla="*/ 954 w 1002"/>
              <a:gd name="T29" fmla="*/ 3 h 396"/>
              <a:gd name="T30" fmla="*/ 971 w 1002"/>
              <a:gd name="T31" fmla="*/ 1 h 396"/>
              <a:gd name="T32" fmla="*/ 987 w 1002"/>
              <a:gd name="T33" fmla="*/ 0 h 396"/>
              <a:gd name="T34" fmla="*/ 1000 w 1002"/>
              <a:gd name="T35" fmla="*/ 3 h 396"/>
              <a:gd name="T36" fmla="*/ 1002 w 1002"/>
              <a:gd name="T37" fmla="*/ 3 h 39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002"/>
              <a:gd name="T58" fmla="*/ 0 h 396"/>
              <a:gd name="T59" fmla="*/ 1002 w 1002"/>
              <a:gd name="T60" fmla="*/ 396 h 39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002" h="396">
                <a:moveTo>
                  <a:pt x="1002" y="3"/>
                </a:moveTo>
                <a:cubicBezTo>
                  <a:pt x="997" y="12"/>
                  <a:pt x="997" y="12"/>
                  <a:pt x="997" y="12"/>
                </a:cubicBezTo>
                <a:cubicBezTo>
                  <a:pt x="993" y="11"/>
                  <a:pt x="993" y="11"/>
                  <a:pt x="993" y="11"/>
                </a:cubicBezTo>
                <a:cubicBezTo>
                  <a:pt x="990" y="10"/>
                  <a:pt x="986" y="9"/>
                  <a:pt x="982" y="9"/>
                </a:cubicBezTo>
                <a:cubicBezTo>
                  <a:pt x="977" y="9"/>
                  <a:pt x="972" y="9"/>
                  <a:pt x="967" y="9"/>
                </a:cubicBezTo>
                <a:cubicBezTo>
                  <a:pt x="962" y="10"/>
                  <a:pt x="957" y="10"/>
                  <a:pt x="953" y="11"/>
                </a:cubicBezTo>
                <a:cubicBezTo>
                  <a:pt x="948" y="13"/>
                  <a:pt x="943" y="14"/>
                  <a:pt x="939" y="16"/>
                </a:cubicBezTo>
                <a:cubicBezTo>
                  <a:pt x="424" y="224"/>
                  <a:pt x="424" y="224"/>
                  <a:pt x="424" y="224"/>
                </a:cubicBezTo>
                <a:cubicBezTo>
                  <a:pt x="376" y="244"/>
                  <a:pt x="376" y="244"/>
                  <a:pt x="376" y="244"/>
                </a:cubicBezTo>
                <a:cubicBezTo>
                  <a:pt x="1" y="396"/>
                  <a:pt x="1" y="396"/>
                  <a:pt x="1" y="396"/>
                </a:cubicBezTo>
                <a:cubicBezTo>
                  <a:pt x="0" y="390"/>
                  <a:pt x="0" y="390"/>
                  <a:pt x="0" y="390"/>
                </a:cubicBezTo>
                <a:cubicBezTo>
                  <a:pt x="377" y="237"/>
                  <a:pt x="377" y="237"/>
                  <a:pt x="377" y="237"/>
                </a:cubicBezTo>
                <a:cubicBezTo>
                  <a:pt x="424" y="218"/>
                  <a:pt x="424" y="218"/>
                  <a:pt x="424" y="218"/>
                </a:cubicBezTo>
                <a:cubicBezTo>
                  <a:pt x="938" y="8"/>
                  <a:pt x="938" y="8"/>
                  <a:pt x="938" y="8"/>
                </a:cubicBezTo>
                <a:cubicBezTo>
                  <a:pt x="943" y="6"/>
                  <a:pt x="948" y="5"/>
                  <a:pt x="954" y="3"/>
                </a:cubicBezTo>
                <a:cubicBezTo>
                  <a:pt x="959" y="2"/>
                  <a:pt x="965" y="1"/>
                  <a:pt x="971" y="1"/>
                </a:cubicBezTo>
                <a:cubicBezTo>
                  <a:pt x="976" y="0"/>
                  <a:pt x="982" y="0"/>
                  <a:pt x="987" y="0"/>
                </a:cubicBezTo>
                <a:cubicBezTo>
                  <a:pt x="992" y="1"/>
                  <a:pt x="996" y="1"/>
                  <a:pt x="1000" y="3"/>
                </a:cubicBezTo>
                <a:cubicBezTo>
                  <a:pt x="1002" y="3"/>
                  <a:pt x="1002" y="3"/>
                  <a:pt x="1002" y="3"/>
                </a:cubicBezTo>
              </a:path>
            </a:pathLst>
          </a:custGeom>
          <a:solidFill>
            <a:schemeClr val="bg1"/>
          </a:solidFill>
          <a:ln w="11113" cap="flat" cmpd="sng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Arial" charset="0"/>
              <a:ea typeface="微软雅黑" panose="020B0503020204020204" pitchFamily="34" charset="-122"/>
            </a:endParaRPr>
          </a:p>
        </p:txBody>
      </p:sp>
      <p:sp>
        <p:nvSpPr>
          <p:cNvPr id="28" name="Freeform 16"/>
          <p:cNvSpPr>
            <a:spLocks/>
          </p:cNvSpPr>
          <p:nvPr userDrawn="1"/>
        </p:nvSpPr>
        <p:spPr bwMode="auto">
          <a:xfrm>
            <a:off x="390525" y="1778547"/>
            <a:ext cx="325438" cy="1190625"/>
          </a:xfrm>
          <a:custGeom>
            <a:avLst/>
            <a:gdLst>
              <a:gd name="T0" fmla="*/ 128 w 128"/>
              <a:gd name="T1" fmla="*/ 6 h 558"/>
              <a:gd name="T2" fmla="*/ 124 w 128"/>
              <a:gd name="T3" fmla="*/ 7 h 558"/>
              <a:gd name="T4" fmla="*/ 118 w 128"/>
              <a:gd name="T5" fmla="*/ 11 h 558"/>
              <a:gd name="T6" fmla="*/ 112 w 128"/>
              <a:gd name="T7" fmla="*/ 17 h 558"/>
              <a:gd name="T8" fmla="*/ 108 w 128"/>
              <a:gd name="T9" fmla="*/ 24 h 558"/>
              <a:gd name="T10" fmla="*/ 106 w 128"/>
              <a:gd name="T11" fmla="*/ 31 h 558"/>
              <a:gd name="T12" fmla="*/ 64 w 128"/>
              <a:gd name="T13" fmla="*/ 240 h 558"/>
              <a:gd name="T14" fmla="*/ 55 w 128"/>
              <a:gd name="T15" fmla="*/ 287 h 558"/>
              <a:gd name="T16" fmla="*/ 7 w 128"/>
              <a:gd name="T17" fmla="*/ 530 h 558"/>
              <a:gd name="T18" fmla="*/ 6 w 128"/>
              <a:gd name="T19" fmla="*/ 539 h 558"/>
              <a:gd name="T20" fmla="*/ 8 w 128"/>
              <a:gd name="T21" fmla="*/ 545 h 558"/>
              <a:gd name="T22" fmla="*/ 13 w 128"/>
              <a:gd name="T23" fmla="*/ 549 h 558"/>
              <a:gd name="T24" fmla="*/ 19 w 128"/>
              <a:gd name="T25" fmla="*/ 550 h 558"/>
              <a:gd name="T26" fmla="*/ 86 w 128"/>
              <a:gd name="T27" fmla="*/ 535 h 558"/>
              <a:gd name="T28" fmla="*/ 85 w 128"/>
              <a:gd name="T29" fmla="*/ 543 h 558"/>
              <a:gd name="T30" fmla="*/ 17 w 128"/>
              <a:gd name="T31" fmla="*/ 558 h 558"/>
              <a:gd name="T32" fmla="*/ 9 w 128"/>
              <a:gd name="T33" fmla="*/ 557 h 558"/>
              <a:gd name="T34" fmla="*/ 3 w 128"/>
              <a:gd name="T35" fmla="*/ 552 h 558"/>
              <a:gd name="T36" fmla="*/ 0 w 128"/>
              <a:gd name="T37" fmla="*/ 543 h 558"/>
              <a:gd name="T38" fmla="*/ 1 w 128"/>
              <a:gd name="T39" fmla="*/ 531 h 558"/>
              <a:gd name="T40" fmla="*/ 49 w 128"/>
              <a:gd name="T41" fmla="*/ 289 h 558"/>
              <a:gd name="T42" fmla="*/ 58 w 128"/>
              <a:gd name="T43" fmla="*/ 242 h 558"/>
              <a:gd name="T44" fmla="*/ 100 w 128"/>
              <a:gd name="T45" fmla="*/ 33 h 558"/>
              <a:gd name="T46" fmla="*/ 104 w 128"/>
              <a:gd name="T47" fmla="*/ 23 h 558"/>
              <a:gd name="T48" fmla="*/ 110 w 128"/>
              <a:gd name="T49" fmla="*/ 14 h 558"/>
              <a:gd name="T50" fmla="*/ 117 w 128"/>
              <a:gd name="T51" fmla="*/ 6 h 558"/>
              <a:gd name="T52" fmla="*/ 126 w 128"/>
              <a:gd name="T53" fmla="*/ 1 h 558"/>
              <a:gd name="T54" fmla="*/ 127 w 128"/>
              <a:gd name="T55" fmla="*/ 0 h 558"/>
              <a:gd name="T56" fmla="*/ 128 w 128"/>
              <a:gd name="T57" fmla="*/ 6 h 558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128"/>
              <a:gd name="T88" fmla="*/ 0 h 558"/>
              <a:gd name="T89" fmla="*/ 128 w 128"/>
              <a:gd name="T90" fmla="*/ 558 h 558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128" h="558">
                <a:moveTo>
                  <a:pt x="128" y="6"/>
                </a:moveTo>
                <a:cubicBezTo>
                  <a:pt x="124" y="7"/>
                  <a:pt x="124" y="7"/>
                  <a:pt x="124" y="7"/>
                </a:cubicBezTo>
                <a:cubicBezTo>
                  <a:pt x="122" y="8"/>
                  <a:pt x="120" y="9"/>
                  <a:pt x="118" y="11"/>
                </a:cubicBezTo>
                <a:cubicBezTo>
                  <a:pt x="116" y="13"/>
                  <a:pt x="114" y="15"/>
                  <a:pt x="112" y="17"/>
                </a:cubicBezTo>
                <a:cubicBezTo>
                  <a:pt x="111" y="19"/>
                  <a:pt x="109" y="21"/>
                  <a:pt x="108" y="24"/>
                </a:cubicBezTo>
                <a:cubicBezTo>
                  <a:pt x="107" y="26"/>
                  <a:pt x="106" y="28"/>
                  <a:pt x="106" y="31"/>
                </a:cubicBezTo>
                <a:cubicBezTo>
                  <a:pt x="64" y="240"/>
                  <a:pt x="64" y="240"/>
                  <a:pt x="64" y="240"/>
                </a:cubicBezTo>
                <a:cubicBezTo>
                  <a:pt x="55" y="287"/>
                  <a:pt x="55" y="287"/>
                  <a:pt x="55" y="287"/>
                </a:cubicBezTo>
                <a:cubicBezTo>
                  <a:pt x="7" y="530"/>
                  <a:pt x="7" y="530"/>
                  <a:pt x="7" y="530"/>
                </a:cubicBezTo>
                <a:cubicBezTo>
                  <a:pt x="6" y="533"/>
                  <a:pt x="6" y="536"/>
                  <a:pt x="6" y="539"/>
                </a:cubicBezTo>
                <a:cubicBezTo>
                  <a:pt x="6" y="541"/>
                  <a:pt x="7" y="544"/>
                  <a:pt x="8" y="545"/>
                </a:cubicBezTo>
                <a:cubicBezTo>
                  <a:pt x="9" y="547"/>
                  <a:pt x="11" y="548"/>
                  <a:pt x="13" y="549"/>
                </a:cubicBezTo>
                <a:cubicBezTo>
                  <a:pt x="14" y="550"/>
                  <a:pt x="17" y="550"/>
                  <a:pt x="19" y="550"/>
                </a:cubicBezTo>
                <a:cubicBezTo>
                  <a:pt x="86" y="535"/>
                  <a:pt x="86" y="535"/>
                  <a:pt x="86" y="535"/>
                </a:cubicBezTo>
                <a:cubicBezTo>
                  <a:pt x="85" y="543"/>
                  <a:pt x="85" y="543"/>
                  <a:pt x="85" y="543"/>
                </a:cubicBezTo>
                <a:cubicBezTo>
                  <a:pt x="17" y="558"/>
                  <a:pt x="17" y="558"/>
                  <a:pt x="17" y="558"/>
                </a:cubicBezTo>
                <a:cubicBezTo>
                  <a:pt x="14" y="558"/>
                  <a:pt x="11" y="558"/>
                  <a:pt x="9" y="557"/>
                </a:cubicBezTo>
                <a:cubicBezTo>
                  <a:pt x="6" y="556"/>
                  <a:pt x="4" y="554"/>
                  <a:pt x="3" y="552"/>
                </a:cubicBezTo>
                <a:cubicBezTo>
                  <a:pt x="1" y="550"/>
                  <a:pt x="0" y="547"/>
                  <a:pt x="0" y="543"/>
                </a:cubicBezTo>
                <a:cubicBezTo>
                  <a:pt x="0" y="540"/>
                  <a:pt x="0" y="536"/>
                  <a:pt x="1" y="531"/>
                </a:cubicBezTo>
                <a:cubicBezTo>
                  <a:pt x="49" y="289"/>
                  <a:pt x="49" y="289"/>
                  <a:pt x="49" y="289"/>
                </a:cubicBezTo>
                <a:cubicBezTo>
                  <a:pt x="58" y="242"/>
                  <a:pt x="58" y="242"/>
                  <a:pt x="58" y="242"/>
                </a:cubicBezTo>
                <a:cubicBezTo>
                  <a:pt x="100" y="33"/>
                  <a:pt x="100" y="33"/>
                  <a:pt x="100" y="33"/>
                </a:cubicBezTo>
                <a:cubicBezTo>
                  <a:pt x="101" y="30"/>
                  <a:pt x="102" y="26"/>
                  <a:pt x="104" y="23"/>
                </a:cubicBezTo>
                <a:cubicBezTo>
                  <a:pt x="105" y="20"/>
                  <a:pt x="107" y="17"/>
                  <a:pt x="110" y="14"/>
                </a:cubicBezTo>
                <a:cubicBezTo>
                  <a:pt x="112" y="11"/>
                  <a:pt x="114" y="8"/>
                  <a:pt x="117" y="6"/>
                </a:cubicBezTo>
                <a:cubicBezTo>
                  <a:pt x="120" y="4"/>
                  <a:pt x="123" y="2"/>
                  <a:pt x="126" y="1"/>
                </a:cubicBezTo>
                <a:cubicBezTo>
                  <a:pt x="127" y="0"/>
                  <a:pt x="127" y="0"/>
                  <a:pt x="127" y="0"/>
                </a:cubicBezTo>
                <a:lnTo>
                  <a:pt x="128" y="6"/>
                </a:lnTo>
                <a:close/>
              </a:path>
            </a:pathLst>
          </a:custGeom>
          <a:solidFill>
            <a:schemeClr val="bg1"/>
          </a:solidFill>
          <a:ln w="11113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Arial" charset="0"/>
              <a:ea typeface="微软雅黑" panose="020B0503020204020204" pitchFamily="34" charset="-122"/>
            </a:endParaRPr>
          </a:p>
        </p:txBody>
      </p:sp>
      <p:sp>
        <p:nvSpPr>
          <p:cNvPr id="29" name="Freeform 17"/>
          <p:cNvSpPr>
            <a:spLocks/>
          </p:cNvSpPr>
          <p:nvPr userDrawn="1"/>
        </p:nvSpPr>
        <p:spPr bwMode="auto">
          <a:xfrm>
            <a:off x="3125788" y="952253"/>
            <a:ext cx="1308100" cy="1528763"/>
          </a:xfrm>
          <a:custGeom>
            <a:avLst/>
            <a:gdLst>
              <a:gd name="T0" fmla="*/ 46 w 516"/>
              <a:gd name="T1" fmla="*/ 9 h 716"/>
              <a:gd name="T2" fmla="*/ 485 w 516"/>
              <a:gd name="T3" fmla="*/ 148 h 716"/>
              <a:gd name="T4" fmla="*/ 496 w 516"/>
              <a:gd name="T5" fmla="*/ 154 h 716"/>
              <a:gd name="T6" fmla="*/ 501 w 516"/>
              <a:gd name="T7" fmla="*/ 164 h 716"/>
              <a:gd name="T8" fmla="*/ 501 w 516"/>
              <a:gd name="T9" fmla="*/ 175 h 716"/>
              <a:gd name="T10" fmla="*/ 494 w 516"/>
              <a:gd name="T11" fmla="*/ 187 h 716"/>
              <a:gd name="T12" fmla="*/ 113 w 516"/>
              <a:gd name="T13" fmla="*/ 656 h 716"/>
              <a:gd name="T14" fmla="*/ 100 w 516"/>
              <a:gd name="T15" fmla="*/ 668 h 716"/>
              <a:gd name="T16" fmla="*/ 84 w 516"/>
              <a:gd name="T17" fmla="*/ 679 h 716"/>
              <a:gd name="T18" fmla="*/ 66 w 516"/>
              <a:gd name="T19" fmla="*/ 689 h 716"/>
              <a:gd name="T20" fmla="*/ 49 w 516"/>
              <a:gd name="T21" fmla="*/ 694 h 716"/>
              <a:gd name="T22" fmla="*/ 0 w 516"/>
              <a:gd name="T23" fmla="*/ 705 h 716"/>
              <a:gd name="T24" fmla="*/ 0 w 516"/>
              <a:gd name="T25" fmla="*/ 716 h 716"/>
              <a:gd name="T26" fmla="*/ 50 w 516"/>
              <a:gd name="T27" fmla="*/ 705 h 716"/>
              <a:gd name="T28" fmla="*/ 69 w 516"/>
              <a:gd name="T29" fmla="*/ 699 h 716"/>
              <a:gd name="T30" fmla="*/ 89 w 516"/>
              <a:gd name="T31" fmla="*/ 689 h 716"/>
              <a:gd name="T32" fmla="*/ 108 w 516"/>
              <a:gd name="T33" fmla="*/ 676 h 716"/>
              <a:gd name="T34" fmla="*/ 122 w 516"/>
              <a:gd name="T35" fmla="*/ 661 h 716"/>
              <a:gd name="T36" fmla="*/ 506 w 516"/>
              <a:gd name="T37" fmla="*/ 190 h 716"/>
              <a:gd name="T38" fmla="*/ 515 w 516"/>
              <a:gd name="T39" fmla="*/ 174 h 716"/>
              <a:gd name="T40" fmla="*/ 515 w 516"/>
              <a:gd name="T41" fmla="*/ 159 h 716"/>
              <a:gd name="T42" fmla="*/ 508 w 516"/>
              <a:gd name="T43" fmla="*/ 147 h 716"/>
              <a:gd name="T44" fmla="*/ 493 w 516"/>
              <a:gd name="T45" fmla="*/ 138 h 716"/>
              <a:gd name="T46" fmla="*/ 51 w 516"/>
              <a:gd name="T47" fmla="*/ 0 h 716"/>
              <a:gd name="T48" fmla="*/ 46 w 516"/>
              <a:gd name="T49" fmla="*/ 9 h 71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16"/>
              <a:gd name="T76" fmla="*/ 0 h 716"/>
              <a:gd name="T77" fmla="*/ 516 w 516"/>
              <a:gd name="T78" fmla="*/ 716 h 71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16" h="716">
                <a:moveTo>
                  <a:pt x="46" y="9"/>
                </a:moveTo>
                <a:cubicBezTo>
                  <a:pt x="485" y="148"/>
                  <a:pt x="485" y="148"/>
                  <a:pt x="485" y="148"/>
                </a:cubicBezTo>
                <a:cubicBezTo>
                  <a:pt x="490" y="150"/>
                  <a:pt x="493" y="152"/>
                  <a:pt x="496" y="154"/>
                </a:cubicBezTo>
                <a:cubicBezTo>
                  <a:pt x="499" y="157"/>
                  <a:pt x="500" y="160"/>
                  <a:pt x="501" y="164"/>
                </a:cubicBezTo>
                <a:cubicBezTo>
                  <a:pt x="502" y="167"/>
                  <a:pt x="502" y="171"/>
                  <a:pt x="501" y="175"/>
                </a:cubicBezTo>
                <a:cubicBezTo>
                  <a:pt x="500" y="179"/>
                  <a:pt x="498" y="183"/>
                  <a:pt x="494" y="187"/>
                </a:cubicBezTo>
                <a:cubicBezTo>
                  <a:pt x="113" y="656"/>
                  <a:pt x="113" y="656"/>
                  <a:pt x="113" y="656"/>
                </a:cubicBezTo>
                <a:cubicBezTo>
                  <a:pt x="109" y="660"/>
                  <a:pt x="105" y="664"/>
                  <a:pt x="100" y="668"/>
                </a:cubicBezTo>
                <a:cubicBezTo>
                  <a:pt x="95" y="672"/>
                  <a:pt x="89" y="676"/>
                  <a:pt x="84" y="679"/>
                </a:cubicBezTo>
                <a:cubicBezTo>
                  <a:pt x="78" y="683"/>
                  <a:pt x="72" y="686"/>
                  <a:pt x="66" y="689"/>
                </a:cubicBezTo>
                <a:cubicBezTo>
                  <a:pt x="60" y="691"/>
                  <a:pt x="55" y="693"/>
                  <a:pt x="49" y="694"/>
                </a:cubicBezTo>
                <a:cubicBezTo>
                  <a:pt x="0" y="705"/>
                  <a:pt x="0" y="705"/>
                  <a:pt x="0" y="705"/>
                </a:cubicBezTo>
                <a:cubicBezTo>
                  <a:pt x="0" y="716"/>
                  <a:pt x="0" y="716"/>
                  <a:pt x="0" y="716"/>
                </a:cubicBezTo>
                <a:cubicBezTo>
                  <a:pt x="50" y="705"/>
                  <a:pt x="50" y="705"/>
                  <a:pt x="50" y="705"/>
                </a:cubicBezTo>
                <a:cubicBezTo>
                  <a:pt x="56" y="704"/>
                  <a:pt x="63" y="702"/>
                  <a:pt x="69" y="699"/>
                </a:cubicBezTo>
                <a:cubicBezTo>
                  <a:pt x="76" y="696"/>
                  <a:pt x="83" y="693"/>
                  <a:pt x="89" y="689"/>
                </a:cubicBezTo>
                <a:cubicBezTo>
                  <a:pt x="96" y="685"/>
                  <a:pt x="102" y="680"/>
                  <a:pt x="108" y="676"/>
                </a:cubicBezTo>
                <a:cubicBezTo>
                  <a:pt x="113" y="671"/>
                  <a:pt x="118" y="666"/>
                  <a:pt x="122" y="661"/>
                </a:cubicBezTo>
                <a:cubicBezTo>
                  <a:pt x="506" y="190"/>
                  <a:pt x="506" y="190"/>
                  <a:pt x="506" y="190"/>
                </a:cubicBezTo>
                <a:cubicBezTo>
                  <a:pt x="510" y="185"/>
                  <a:pt x="513" y="180"/>
                  <a:pt x="515" y="174"/>
                </a:cubicBezTo>
                <a:cubicBezTo>
                  <a:pt x="516" y="169"/>
                  <a:pt x="516" y="164"/>
                  <a:pt x="515" y="159"/>
                </a:cubicBezTo>
                <a:cubicBezTo>
                  <a:pt x="514" y="154"/>
                  <a:pt x="511" y="150"/>
                  <a:pt x="508" y="147"/>
                </a:cubicBezTo>
                <a:cubicBezTo>
                  <a:pt x="504" y="143"/>
                  <a:pt x="499" y="140"/>
                  <a:pt x="493" y="138"/>
                </a:cubicBezTo>
                <a:cubicBezTo>
                  <a:pt x="51" y="0"/>
                  <a:pt x="51" y="0"/>
                  <a:pt x="51" y="0"/>
                </a:cubicBezTo>
                <a:lnTo>
                  <a:pt x="46" y="9"/>
                </a:lnTo>
                <a:close/>
              </a:path>
            </a:pathLst>
          </a:custGeom>
          <a:solidFill>
            <a:schemeClr val="bg1"/>
          </a:solidFill>
          <a:ln w="11113" cap="flat" cmpd="sng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Arial" charset="0"/>
              <a:ea typeface="微软雅黑" panose="020B0503020204020204" pitchFamily="34" charset="-122"/>
            </a:endParaRPr>
          </a:p>
        </p:txBody>
      </p:sp>
      <p:sp>
        <p:nvSpPr>
          <p:cNvPr id="30" name="Line 51"/>
          <p:cNvSpPr>
            <a:spLocks noChangeShapeType="1"/>
          </p:cNvSpPr>
          <p:nvPr userDrawn="1"/>
        </p:nvSpPr>
        <p:spPr bwMode="auto">
          <a:xfrm>
            <a:off x="2603557" y="4378989"/>
            <a:ext cx="2659063" cy="4763"/>
          </a:xfrm>
          <a:prstGeom prst="lin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Arial" charset="0"/>
              <a:ea typeface="微软雅黑" panose="020B0503020204020204" pitchFamily="34" charset="-122"/>
            </a:endParaRPr>
          </a:p>
        </p:txBody>
      </p:sp>
      <p:sp>
        <p:nvSpPr>
          <p:cNvPr id="31" name="Text Box 52"/>
          <p:cNvSpPr txBox="1">
            <a:spLocks noChangeArrowheads="1"/>
          </p:cNvSpPr>
          <p:nvPr userDrawn="1"/>
        </p:nvSpPr>
        <p:spPr bwMode="auto">
          <a:xfrm>
            <a:off x="5802759" y="2051200"/>
            <a:ext cx="3233737" cy="351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FFFF"/>
                </a:solidFill>
                <a:latin typeface="Arial" pitchFamily="34" charset="0"/>
                <a:ea typeface="微软雅黑" panose="020B0503020204020204" pitchFamily="34" charset="-122"/>
              </a:rPr>
              <a:t>Tel</a:t>
            </a:r>
            <a:r>
              <a:rPr lang="zh-CN" altLang="en-US" dirty="0">
                <a:solidFill>
                  <a:srgbClr val="FFFFFF"/>
                </a:solidFill>
                <a:latin typeface="Arial" pitchFamily="34" charset="0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rgbClr val="FFFFFF"/>
                </a:solidFill>
                <a:latin typeface="Arial" pitchFamily="34" charset="0"/>
                <a:ea typeface="微软雅黑" panose="020B0503020204020204" pitchFamily="34" charset="-122"/>
              </a:rPr>
              <a:t>13915982595</a:t>
            </a:r>
            <a:endParaRPr lang="en-GB" altLang="zh-CN" dirty="0">
              <a:solidFill>
                <a:srgbClr val="FFFFFF"/>
              </a:solidFill>
              <a:latin typeface="Arial" pitchFamily="34" charset="0"/>
              <a:ea typeface="微软雅黑" panose="020B0503020204020204" pitchFamily="34" charset="-122"/>
            </a:endParaRPr>
          </a:p>
        </p:txBody>
      </p:sp>
      <p:sp>
        <p:nvSpPr>
          <p:cNvPr id="32" name="Text Box 54"/>
          <p:cNvSpPr txBox="1">
            <a:spLocks noChangeArrowheads="1"/>
          </p:cNvSpPr>
          <p:nvPr userDrawn="1"/>
        </p:nvSpPr>
        <p:spPr bwMode="auto">
          <a:xfrm>
            <a:off x="5796136" y="2842965"/>
            <a:ext cx="2952328" cy="351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FFFF"/>
                </a:solidFill>
                <a:latin typeface="Arial" pitchFamily="34" charset="0"/>
                <a:ea typeface="微软雅黑" panose="020B0503020204020204" pitchFamily="34" charset="-122"/>
              </a:rPr>
              <a:t>wangdm@seu.edu.cn</a:t>
            </a:r>
          </a:p>
        </p:txBody>
      </p:sp>
      <p:sp>
        <p:nvSpPr>
          <p:cNvPr id="33" name="Text Box 59"/>
          <p:cNvSpPr txBox="1">
            <a:spLocks noChangeArrowheads="1"/>
          </p:cNvSpPr>
          <p:nvPr userDrawn="1"/>
        </p:nvSpPr>
        <p:spPr bwMode="auto">
          <a:xfrm>
            <a:off x="5796136" y="3668617"/>
            <a:ext cx="1728192" cy="351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无线谷</a:t>
            </a:r>
            <a:r>
              <a:rPr lang="en-US" altLang="zh-CN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1-205</a:t>
            </a:r>
            <a:endParaRPr lang="en-US" altLang="zh-CN" sz="1600" b="1" dirty="0">
              <a:solidFill>
                <a:srgbClr val="FFFFFF"/>
              </a:solidFill>
              <a:latin typeface="Arial" pitchFamily="34" charset="0"/>
              <a:ea typeface="微软雅黑" panose="020B0503020204020204" pitchFamily="34" charset="-122"/>
            </a:endParaRPr>
          </a:p>
        </p:txBody>
      </p:sp>
      <p:sp>
        <p:nvSpPr>
          <p:cNvPr id="34" name="Text Box 62"/>
          <p:cNvSpPr txBox="1">
            <a:spLocks noChangeArrowheads="1"/>
          </p:cNvSpPr>
          <p:nvPr userDrawn="1"/>
        </p:nvSpPr>
        <p:spPr bwMode="auto">
          <a:xfrm>
            <a:off x="5796136" y="764704"/>
            <a:ext cx="3252000" cy="91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王东明</a:t>
            </a:r>
            <a:endParaRPr lang="en-US" altLang="zh-CN" sz="1600" b="1" dirty="0">
              <a:solidFill>
                <a:srgbClr val="FFFFFF"/>
              </a:solidFill>
              <a:ea typeface="微软雅黑" panose="020B0503020204020204" pitchFamily="34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FFFF"/>
                </a:solidFill>
                <a:ea typeface="微软雅黑" panose="020B0503020204020204" pitchFamily="34" charset="-122"/>
              </a:rPr>
              <a:t>移动通信国家重点实验室</a:t>
            </a:r>
            <a:endParaRPr lang="en-GB" altLang="zh-CN" sz="1100" b="1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 userDrawn="1"/>
        </p:nvSpPr>
        <p:spPr>
          <a:xfrm rot="20445248">
            <a:off x="842805" y="1491904"/>
            <a:ext cx="295465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5400" b="1" dirty="0">
                <a:solidFill>
                  <a:srgbClr val="FFFFFF"/>
                </a:solidFill>
                <a:ea typeface="微软雅黑" panose="020B0503020204020204" pitchFamily="34" charset="-122"/>
              </a:rPr>
              <a:t>谢谢听讲</a:t>
            </a:r>
          </a:p>
        </p:txBody>
      </p: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699" y="4609838"/>
            <a:ext cx="2889201" cy="190911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579" y="4609838"/>
            <a:ext cx="3024336" cy="1921895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603449"/>
            <a:ext cx="2863673" cy="1909115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742" y="2823944"/>
            <a:ext cx="402490" cy="402490"/>
          </a:xfrm>
          <a:prstGeom prst="rect">
            <a:avLst/>
          </a:prstGeom>
        </p:spPr>
      </p:pic>
      <p:pic>
        <p:nvPicPr>
          <p:cNvPr id="41" name="Picture 4" descr="E:\仝德志文件，勿删！\03-参考文档\！PPT图片及版面资源\06-PPT精选插图\04-图标\home256.png"/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63037" y="3651103"/>
            <a:ext cx="357899" cy="35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5" descr="E:\仝德志文件，勿删！\03-参考文档\！PPT图片及版面资源\06-PPT精选插图\04-图标\png-0030.png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55260" y="2054293"/>
            <a:ext cx="348142" cy="34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16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3" grpId="0"/>
      <p:bldP spid="24" grpId="0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33" grpId="0"/>
      <p:bldP spid="34" grpId="0"/>
      <p:bldP spid="35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-32" y="6599238"/>
            <a:ext cx="730726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7367588" y="6165850"/>
            <a:ext cx="0" cy="43180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7451725" y="6308725"/>
            <a:ext cx="0" cy="28892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611188" y="-26988"/>
            <a:ext cx="0" cy="431801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68350" y="0"/>
            <a:ext cx="0" cy="287338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 userDrawn="1"/>
        </p:nvSpPr>
        <p:spPr>
          <a:xfrm>
            <a:off x="431188" y="6201750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5"/>
          <p:cNvSpPr txBox="1"/>
          <p:nvPr userDrawn="1"/>
        </p:nvSpPr>
        <p:spPr>
          <a:xfrm>
            <a:off x="285973" y="6212473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569" y="6043193"/>
            <a:ext cx="705847" cy="69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6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6" r:id="rId2"/>
    <p:sldLayoutId id="2147483682" r:id="rId3"/>
    <p:sldLayoutId id="2147483671" r:id="rId4"/>
    <p:sldLayoutId id="2147483676" r:id="rId5"/>
    <p:sldLayoutId id="2147483677" r:id="rId6"/>
    <p:sldLayoutId id="2147483681" r:id="rId7"/>
    <p:sldLayoutId id="2147483678" r:id="rId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2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Visio___2.vsdx"/><Relationship Id="rId5" Type="http://schemas.openxmlformats.org/officeDocument/2006/relationships/image" Target="../media/image11.emf"/><Relationship Id="rId4" Type="http://schemas.openxmlformats.org/officeDocument/2006/relationships/package" Target="../embeddings/Microsoft_Visio___1.vsd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__3.vsdx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804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问号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5253127"/>
            <a:ext cx="1728439" cy="1343740"/>
          </a:xfrm>
          <a:prstGeom prst="rect">
            <a:avLst/>
          </a:prstGeom>
        </p:spPr>
      </p:pic>
      <p:sp>
        <p:nvSpPr>
          <p:cNvPr id="5" name="流程图: 可选过程 4"/>
          <p:cNvSpPr/>
          <p:nvPr/>
        </p:nvSpPr>
        <p:spPr>
          <a:xfrm>
            <a:off x="2278872" y="1628800"/>
            <a:ext cx="6397584" cy="902445"/>
          </a:xfrm>
          <a:prstGeom prst="flowChartAlternateProcess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8086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的寄存器有哪些？它们的功能有哪些？怎么使用这些寄存器？</a:t>
            </a:r>
          </a:p>
        </p:txBody>
      </p:sp>
      <p:sp>
        <p:nvSpPr>
          <p:cNvPr id="19" name="流程图: 可选过程 18"/>
          <p:cNvSpPr/>
          <p:nvPr/>
        </p:nvSpPr>
        <p:spPr>
          <a:xfrm>
            <a:off x="2267744" y="2780928"/>
            <a:ext cx="6397584" cy="902445"/>
          </a:xfrm>
          <a:prstGeom prst="flowChartAlternateProcess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8086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的存储器的是怎么使用的？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是如何访问、寻址存储器的？</a:t>
            </a:r>
          </a:p>
        </p:txBody>
      </p:sp>
      <p:sp>
        <p:nvSpPr>
          <p:cNvPr id="21" name="流程图: 可选过程 20"/>
          <p:cNvSpPr/>
          <p:nvPr/>
        </p:nvSpPr>
        <p:spPr>
          <a:xfrm>
            <a:off x="2267744" y="3894707"/>
            <a:ext cx="6397584" cy="902445"/>
          </a:xfrm>
          <a:prstGeom prst="flowChartAlternateProcess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8086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的指令分几类？主要指令的用法？</a:t>
            </a:r>
          </a:p>
        </p:txBody>
      </p:sp>
      <p:sp>
        <p:nvSpPr>
          <p:cNvPr id="33" name="椭圆 32"/>
          <p:cNvSpPr/>
          <p:nvPr/>
        </p:nvSpPr>
        <p:spPr>
          <a:xfrm>
            <a:off x="1259632" y="1767902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1259632" y="2948777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1259632" y="4028897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471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4292127" y="2011784"/>
            <a:ext cx="3240137" cy="841375"/>
          </a:xfrm>
          <a:prstGeom prst="roundRect">
            <a:avLst>
              <a:gd name="adj" fmla="val 8176"/>
            </a:avLst>
          </a:prstGeom>
          <a:solidFill>
            <a:srgbClr val="5DCB08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微处理器</a:t>
            </a:r>
            <a:endParaRPr lang="zh-CN" altLang="en-US" sz="5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3859857" y="2060848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</a:t>
            </a:r>
            <a:endParaRPr lang="zh-CN" altLang="en-US" sz="2800" b="1" dirty="0">
              <a:solidFill>
                <a:srgbClr val="FFC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4292127" y="3164309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rgbClr val="A6A6A6"/>
                </a:solidFill>
                <a:latin typeface="微软雅黑" pitchFamily="34" charset="-122"/>
                <a:ea typeface="微软雅黑" pitchFamily="34" charset="-122"/>
              </a:rPr>
              <a:t>存储器及寻址</a:t>
            </a:r>
            <a:endParaRPr lang="zh-CN" altLang="en-US" sz="36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859857" y="3213373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2</a:t>
            </a:r>
            <a:endParaRPr lang="zh-CN" altLang="en-US" sz="2800" b="1" dirty="0">
              <a:solidFill>
                <a:srgbClr val="FFC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4284189" y="4243809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rgbClr val="A6A6A6"/>
                </a:solidFill>
                <a:latin typeface="微软雅黑" pitchFamily="34" charset="-122"/>
                <a:ea typeface="微软雅黑" pitchFamily="34" charset="-122"/>
              </a:rPr>
              <a:t>指令系统</a:t>
            </a:r>
          </a:p>
        </p:txBody>
      </p:sp>
      <p:sp>
        <p:nvSpPr>
          <p:cNvPr id="7" name="椭圆 6"/>
          <p:cNvSpPr/>
          <p:nvPr/>
        </p:nvSpPr>
        <p:spPr>
          <a:xfrm>
            <a:off x="3851920" y="4292873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3</a:t>
            </a:r>
            <a:endParaRPr lang="zh-CN" altLang="en-US" sz="2800" b="1" dirty="0">
              <a:solidFill>
                <a:srgbClr val="FFC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400581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4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915816" y="2514157"/>
            <a:ext cx="5040560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微处理器</a:t>
            </a: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8769"/>
            <a:ext cx="3177392" cy="154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结构</a:t>
            </a:r>
          </a:p>
          <a:p>
            <a:pPr defTabSz="762000"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总线周期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引脚功能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时序分析</a:t>
            </a: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390282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直接连接符 7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7" name="Rectangle 2"/>
          <p:cNvSpPr>
            <a:spLocks noChangeArrowheads="1"/>
          </p:cNvSpPr>
          <p:nvPr/>
        </p:nvSpPr>
        <p:spPr bwMode="auto">
          <a:xfrm>
            <a:off x="2465840" y="551748"/>
            <a:ext cx="4198695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为什么要学习</a:t>
            </a:r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微处理器</a:t>
            </a:r>
          </a:p>
        </p:txBody>
      </p:sp>
      <p:sp>
        <p:nvSpPr>
          <p:cNvPr id="22" name="矩形 21"/>
          <p:cNvSpPr/>
          <p:nvPr/>
        </p:nvSpPr>
        <p:spPr>
          <a:xfrm>
            <a:off x="2465840" y="3094764"/>
            <a:ext cx="5185209" cy="792088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很多其它流行的</a:t>
            </a:r>
            <a:r>
              <a:rPr lang="en-US" altLang="zh-CN" sz="2000" b="1" dirty="0">
                <a:ea typeface="微软雅黑" panose="020B0503020204020204" pitchFamily="34" charset="-122"/>
              </a:rPr>
              <a:t>CPU</a:t>
            </a:r>
            <a:r>
              <a:rPr lang="zh-CN" altLang="en-US" sz="2000" b="1" dirty="0">
                <a:ea typeface="微软雅黑" panose="020B0503020204020204" pitchFamily="34" charset="-122"/>
              </a:rPr>
              <a:t>包括最新的</a:t>
            </a:r>
            <a:r>
              <a:rPr lang="en-US" altLang="zh-CN" sz="2000" b="1" dirty="0">
                <a:ea typeface="微软雅黑" panose="020B0503020204020204" pitchFamily="34" charset="-122"/>
              </a:rPr>
              <a:t>64</a:t>
            </a:r>
            <a:r>
              <a:rPr lang="zh-CN" altLang="en-US" sz="2000" b="1" dirty="0">
                <a:ea typeface="微软雅黑" panose="020B0503020204020204" pitchFamily="34" charset="-122"/>
              </a:rPr>
              <a:t>位</a:t>
            </a:r>
            <a:r>
              <a:rPr lang="en-US" altLang="zh-CN" sz="2000" b="1" dirty="0">
                <a:ea typeface="微软雅黑" panose="020B0503020204020204" pitchFamily="34" charset="-122"/>
              </a:rPr>
              <a:t>CPU</a:t>
            </a:r>
            <a:r>
              <a:rPr lang="zh-CN" altLang="en-US" sz="2000" b="1" dirty="0">
                <a:ea typeface="微软雅黑" panose="020B0503020204020204" pitchFamily="34" charset="-122"/>
              </a:rPr>
              <a:t>，也与</a:t>
            </a:r>
            <a:r>
              <a:rPr lang="en-US" altLang="zh-CN" sz="2000" b="1" dirty="0">
                <a:ea typeface="微软雅黑" panose="020B0503020204020204" pitchFamily="34" charset="-122"/>
              </a:rPr>
              <a:t>80x86</a:t>
            </a:r>
            <a:r>
              <a:rPr lang="zh-CN" altLang="en-US" sz="2000" b="1" dirty="0">
                <a:ea typeface="微软雅黑" panose="020B0503020204020204" pitchFamily="34" charset="-122"/>
              </a:rPr>
              <a:t>兼容；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465840" y="4149080"/>
            <a:ext cx="5185208" cy="79208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学习</a:t>
            </a:r>
            <a:r>
              <a:rPr lang="en-US" altLang="zh-CN" sz="2000" b="1" dirty="0">
                <a:ea typeface="微软雅黑" panose="020B0503020204020204" pitchFamily="34" charset="-122"/>
              </a:rPr>
              <a:t>8086</a:t>
            </a:r>
            <a:r>
              <a:rPr lang="zh-CN" altLang="en-US" sz="2000" b="1" dirty="0">
                <a:ea typeface="微软雅黑" panose="020B0503020204020204" pitchFamily="34" charset="-122"/>
              </a:rPr>
              <a:t>微处理器可以触类旁通，很容易掌握其他不同类型的单片机。</a:t>
            </a:r>
          </a:p>
        </p:txBody>
      </p:sp>
      <p:sp>
        <p:nvSpPr>
          <p:cNvPr id="24" name="矩形 23"/>
          <p:cNvSpPr/>
          <p:nvPr/>
        </p:nvSpPr>
        <p:spPr>
          <a:xfrm>
            <a:off x="2465628" y="2062833"/>
            <a:ext cx="5185209" cy="792088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从基本概念及指令结构上来讲，后续</a:t>
            </a:r>
            <a:r>
              <a:rPr lang="en-US" altLang="zh-CN" sz="2000" b="1" dirty="0">
                <a:ea typeface="微软雅黑" panose="020B0503020204020204" pitchFamily="34" charset="-122"/>
              </a:rPr>
              <a:t>80x86</a:t>
            </a:r>
            <a:r>
              <a:rPr lang="zh-CN" altLang="en-US" sz="2000" b="1" dirty="0">
                <a:ea typeface="微软雅黑" panose="020B0503020204020204" pitchFamily="34" charset="-122"/>
              </a:rPr>
              <a:t>产品仍然是</a:t>
            </a:r>
            <a:r>
              <a:rPr lang="en-US" altLang="zh-CN" sz="2000" b="1" dirty="0">
                <a:ea typeface="微软雅黑" panose="020B0503020204020204" pitchFamily="34" charset="-122"/>
              </a:rPr>
              <a:t>8086 CPU</a:t>
            </a:r>
            <a:r>
              <a:rPr lang="zh-CN" altLang="en-US" sz="2000" b="1" dirty="0">
                <a:ea typeface="微软雅黑" panose="020B0503020204020204" pitchFamily="34" charset="-122"/>
              </a:rPr>
              <a:t>的延续和提升；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458148" y="2062833"/>
            <a:ext cx="1007479" cy="79208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ea typeface="微软雅黑" panose="020B0503020204020204" pitchFamily="34" charset="-122"/>
              </a:rPr>
              <a:t>经典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458148" y="3094763"/>
            <a:ext cx="1007479" cy="79208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ea typeface="微软雅黑" panose="020B0503020204020204" pitchFamily="34" charset="-122"/>
              </a:rPr>
              <a:t>兼容</a:t>
            </a:r>
          </a:p>
        </p:txBody>
      </p:sp>
      <p:sp>
        <p:nvSpPr>
          <p:cNvPr id="27" name="矩形 26"/>
          <p:cNvSpPr/>
          <p:nvPr/>
        </p:nvSpPr>
        <p:spPr>
          <a:xfrm>
            <a:off x="1458148" y="4149079"/>
            <a:ext cx="1007479" cy="79208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ea typeface="微软雅黑" panose="020B0503020204020204" pitchFamily="34" charset="-122"/>
              </a:rPr>
              <a:t>基础</a:t>
            </a:r>
          </a:p>
        </p:txBody>
      </p:sp>
    </p:spTree>
    <p:extLst>
      <p:ext uri="{BB962C8B-B14F-4D97-AF65-F5344CB8AC3E}">
        <p14:creationId xmlns:p14="http://schemas.microsoft.com/office/powerpoint/2010/main" val="1758590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直接连接符 7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7" name="Rectangle 2"/>
          <p:cNvSpPr>
            <a:spLocks noChangeArrowheads="1"/>
          </p:cNvSpPr>
          <p:nvPr/>
        </p:nvSpPr>
        <p:spPr bwMode="auto">
          <a:xfrm>
            <a:off x="2465840" y="551748"/>
            <a:ext cx="4198695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8086/8088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微处理器的特点</a:t>
            </a:r>
          </a:p>
        </p:txBody>
      </p:sp>
      <p:sp>
        <p:nvSpPr>
          <p:cNvPr id="11" name="矩形 10"/>
          <p:cNvSpPr/>
          <p:nvPr/>
        </p:nvSpPr>
        <p:spPr>
          <a:xfrm>
            <a:off x="2166714" y="2936183"/>
            <a:ext cx="5429832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8086</a:t>
            </a:r>
            <a:r>
              <a:rPr lang="zh-CN" altLang="en-US" sz="2000" b="1" dirty="0">
                <a:ea typeface="微软雅黑" panose="020B0503020204020204" pitchFamily="34" charset="-122"/>
              </a:rPr>
              <a:t>有</a:t>
            </a:r>
            <a:r>
              <a:rPr lang="en-US" altLang="zh-CN" sz="2000" b="1" dirty="0">
                <a:ea typeface="微软雅黑" panose="020B0503020204020204" pitchFamily="34" charset="-122"/>
              </a:rPr>
              <a:t>16</a:t>
            </a:r>
            <a:r>
              <a:rPr lang="zh-CN" altLang="en-US" sz="2000" b="1" dirty="0">
                <a:ea typeface="微软雅黑" panose="020B0503020204020204" pitchFamily="34" charset="-122"/>
              </a:rPr>
              <a:t>位数据线（</a:t>
            </a:r>
            <a:r>
              <a:rPr lang="en-US" altLang="zh-CN" sz="2000" b="1" dirty="0">
                <a:ea typeface="微软雅黑" panose="020B0503020204020204" pitchFamily="34" charset="-122"/>
              </a:rPr>
              <a:t>8088</a:t>
            </a:r>
            <a:r>
              <a:rPr lang="zh-CN" altLang="en-US" sz="2000" b="1" dirty="0">
                <a:ea typeface="微软雅黑" panose="020B0503020204020204" pitchFamily="34" charset="-122"/>
              </a:rPr>
              <a:t>有</a:t>
            </a:r>
            <a:r>
              <a:rPr lang="en-US" altLang="zh-CN" sz="2000" b="1" dirty="0">
                <a:ea typeface="微软雅黑" panose="020B0503020204020204" pitchFamily="34" charset="-122"/>
              </a:rPr>
              <a:t>8</a:t>
            </a:r>
            <a:r>
              <a:rPr lang="zh-CN" altLang="en-US" sz="2000" b="1" dirty="0">
                <a:ea typeface="微软雅黑" panose="020B0503020204020204" pitchFamily="34" charset="-122"/>
              </a:rPr>
              <a:t>位外部数据总线）和</a:t>
            </a:r>
            <a:r>
              <a:rPr lang="en-US" altLang="zh-CN" sz="2000" b="1" dirty="0">
                <a:ea typeface="微软雅黑" panose="020B0503020204020204" pitchFamily="34" charset="-122"/>
              </a:rPr>
              <a:t>20</a:t>
            </a:r>
            <a:r>
              <a:rPr lang="zh-CN" altLang="en-US" sz="2000" b="1" dirty="0">
                <a:ea typeface="微软雅黑" panose="020B0503020204020204" pitchFamily="34" charset="-122"/>
              </a:rPr>
              <a:t>位地址线。</a:t>
            </a:r>
          </a:p>
        </p:txBody>
      </p:sp>
      <p:sp>
        <p:nvSpPr>
          <p:cNvPr id="12" name="矩形 11"/>
          <p:cNvSpPr/>
          <p:nvPr/>
        </p:nvSpPr>
        <p:spPr>
          <a:xfrm>
            <a:off x="2166714" y="3995499"/>
            <a:ext cx="5429833" cy="87366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8086</a:t>
            </a:r>
            <a:r>
              <a:rPr lang="zh-CN" altLang="en-US" sz="2000" b="1" dirty="0">
                <a:ea typeface="微软雅黑" panose="020B0503020204020204" pitchFamily="34" charset="-122"/>
              </a:rPr>
              <a:t>由单一</a:t>
            </a:r>
            <a:r>
              <a:rPr lang="en-US" altLang="zh-CN" sz="2000" b="1" dirty="0">
                <a:ea typeface="微软雅黑" panose="020B0503020204020204" pitchFamily="34" charset="-122"/>
              </a:rPr>
              <a:t>+5V</a:t>
            </a:r>
            <a:r>
              <a:rPr lang="zh-CN" altLang="en-US" sz="2000" b="1" dirty="0">
                <a:ea typeface="微软雅黑" panose="020B0503020204020204" pitchFamily="34" charset="-122"/>
              </a:rPr>
              <a:t>电源供电，时钟频率</a:t>
            </a:r>
            <a:r>
              <a:rPr lang="en-US" altLang="zh-CN" sz="2000" b="1" dirty="0">
                <a:ea typeface="微软雅黑" panose="020B0503020204020204" pitchFamily="34" charset="-122"/>
              </a:rPr>
              <a:t>5</a:t>
            </a:r>
            <a:r>
              <a:rPr lang="zh-CN" altLang="en-US" sz="2000" b="1" dirty="0">
                <a:ea typeface="微软雅黑" panose="020B0503020204020204" pitchFamily="34" charset="-122"/>
              </a:rPr>
              <a:t>～</a:t>
            </a:r>
            <a:r>
              <a:rPr lang="en-US" altLang="zh-CN" sz="2000" b="1" dirty="0">
                <a:ea typeface="微软雅黑" panose="020B0503020204020204" pitchFamily="34" charset="-122"/>
              </a:rPr>
              <a:t>10MHz</a:t>
            </a:r>
            <a:r>
              <a:rPr lang="zh-CN" altLang="en-US" sz="2000" b="1" dirty="0">
                <a:ea typeface="微软雅黑" panose="020B0503020204020204" pitchFamily="34" charset="-122"/>
              </a:rPr>
              <a:t>。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166502" y="1844824"/>
            <a:ext cx="5429833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Intel x86</a:t>
            </a:r>
            <a:r>
              <a:rPr lang="zh-CN" altLang="en-US" sz="2000" b="1" dirty="0">
                <a:ea typeface="微软雅黑" panose="020B0503020204020204" pitchFamily="34" charset="-122"/>
              </a:rPr>
              <a:t>系列中第一代产品，</a:t>
            </a:r>
            <a:r>
              <a:rPr lang="en-US" altLang="zh-CN" sz="2000" b="1" dirty="0">
                <a:ea typeface="微软雅黑" panose="020B0503020204020204" pitchFamily="34" charset="-122"/>
              </a:rPr>
              <a:t>16</a:t>
            </a:r>
            <a:r>
              <a:rPr lang="zh-CN" altLang="en-US" sz="2000" b="1" dirty="0">
                <a:ea typeface="微软雅黑" panose="020B0503020204020204" pitchFamily="34" charset="-122"/>
              </a:rPr>
              <a:t>位处理器。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90650" y="1844824"/>
            <a:ext cx="575852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1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90650" y="2936182"/>
            <a:ext cx="575852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2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590650" y="3995498"/>
            <a:ext cx="575852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3</a:t>
            </a:r>
            <a:endParaRPr lang="zh-CN" altLang="en-US" sz="32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264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直接连接符 7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7" name="Rectangle 2"/>
          <p:cNvSpPr>
            <a:spLocks noChangeArrowheads="1"/>
          </p:cNvSpPr>
          <p:nvPr/>
        </p:nvSpPr>
        <p:spPr bwMode="auto">
          <a:xfrm>
            <a:off x="2465840" y="551748"/>
            <a:ext cx="4198695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微处理器内部结构</a:t>
            </a: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1923540"/>
              </p:ext>
            </p:extLst>
          </p:nvPr>
        </p:nvGraphicFramePr>
        <p:xfrm>
          <a:off x="1278162" y="1292606"/>
          <a:ext cx="3358741" cy="4055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4" name="Visio" r:id="rId4" imgW="4362377" imgH="5267430" progId="Visio.Drawing.15">
                  <p:embed/>
                </p:oleObj>
              </mc:Choice>
              <mc:Fallback>
                <p:oleObj name="Visio" r:id="rId4" imgW="4362377" imgH="5267430" progId="Visio.Drawing.15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8162" y="1292606"/>
                        <a:ext cx="3358741" cy="40552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140507"/>
              </p:ext>
            </p:extLst>
          </p:nvPr>
        </p:nvGraphicFramePr>
        <p:xfrm>
          <a:off x="4086474" y="1196752"/>
          <a:ext cx="2808312" cy="333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5" name="Visio" r:id="rId6" imgW="3667055" imgH="4362390" progId="Visio.Drawing.15">
                  <p:embed/>
                </p:oleObj>
              </mc:Choice>
              <mc:Fallback>
                <p:oleObj name="Visio" r:id="rId6" imgW="3667055" imgH="4362390" progId="Visio.Drawing.15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6474" y="1196752"/>
                        <a:ext cx="2808312" cy="3336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直接连接符 24"/>
          <p:cNvCxnSpPr/>
          <p:nvPr/>
        </p:nvCxnSpPr>
        <p:spPr>
          <a:xfrm>
            <a:off x="4158482" y="1220598"/>
            <a:ext cx="0" cy="4248472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6678762" y="1219817"/>
            <a:ext cx="0" cy="4249253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2716046" y="5064800"/>
            <a:ext cx="1423906" cy="452432"/>
          </a:xfrm>
          <a:prstGeom prst="rect">
            <a:avLst/>
          </a:prstGeom>
          <a:solidFill>
            <a:srgbClr val="FF8500"/>
          </a:solidFill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执行单元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EU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359561" y="5064800"/>
            <a:ext cx="2180034" cy="452432"/>
          </a:xfrm>
          <a:prstGeom prst="rect">
            <a:avLst/>
          </a:prstGeom>
          <a:solidFill>
            <a:srgbClr val="FF8500"/>
          </a:solidFill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总线接口单元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BIU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矩形 4"/>
          <p:cNvSpPr>
            <a:spLocks noChangeArrowheads="1"/>
          </p:cNvSpPr>
          <p:nvPr/>
        </p:nvSpPr>
        <p:spPr bwMode="auto">
          <a:xfrm>
            <a:off x="1187625" y="5616764"/>
            <a:ext cx="6192688" cy="1052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BIU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负责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与存储器或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I/O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设备之间的数据传送。</a:t>
            </a:r>
            <a:r>
              <a:rPr lang="en-US" altLang="zh-CN" sz="1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EU</a:t>
            </a:r>
            <a:r>
              <a:rPr lang="zh-CN" altLang="en-US" sz="1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负责执行指令，</a:t>
            </a:r>
            <a:r>
              <a:rPr lang="zh-CN" altLang="en-US" sz="1600" b="1" dirty="0">
                <a:solidFill>
                  <a:srgbClr val="ED7D31"/>
                </a:solidFill>
                <a:latin typeface="微软雅黑" pitchFamily="34" charset="-122"/>
                <a:ea typeface="微软雅黑" pitchFamily="34" charset="-122"/>
              </a:rPr>
              <a:t>指令从</a:t>
            </a:r>
            <a:r>
              <a:rPr lang="en-US" altLang="zh-CN" sz="1600" b="1" dirty="0">
                <a:solidFill>
                  <a:srgbClr val="ED7D31"/>
                </a:solidFill>
                <a:latin typeface="微软雅黑" pitchFamily="34" charset="-122"/>
                <a:ea typeface="微软雅黑" pitchFamily="34" charset="-122"/>
              </a:rPr>
              <a:t>BIU</a:t>
            </a:r>
            <a:r>
              <a:rPr lang="zh-CN" altLang="en-US" sz="1600" b="1" dirty="0">
                <a:solidFill>
                  <a:srgbClr val="ED7D31"/>
                </a:solidFill>
                <a:latin typeface="微软雅黑" pitchFamily="34" charset="-122"/>
                <a:ea typeface="微软雅黑" pitchFamily="34" charset="-122"/>
              </a:rPr>
              <a:t>的指令队列中获得，执行结果或所需数据，都由</a:t>
            </a:r>
            <a:r>
              <a:rPr lang="en-US" altLang="zh-CN" sz="1600" b="1" dirty="0">
                <a:solidFill>
                  <a:srgbClr val="ED7D31"/>
                </a:solidFill>
                <a:latin typeface="微软雅黑" pitchFamily="34" charset="-122"/>
                <a:ea typeface="微软雅黑" pitchFamily="34" charset="-122"/>
              </a:rPr>
              <a:t>EU</a:t>
            </a:r>
            <a:r>
              <a:rPr lang="zh-CN" altLang="en-US" sz="1600" b="1" dirty="0">
                <a:solidFill>
                  <a:srgbClr val="ED7D31"/>
                </a:solidFill>
                <a:latin typeface="微软雅黑" pitchFamily="34" charset="-122"/>
                <a:ea typeface="微软雅黑" pitchFamily="34" charset="-122"/>
              </a:rPr>
              <a:t>向</a:t>
            </a:r>
            <a:r>
              <a:rPr lang="en-US" altLang="zh-CN" sz="1600" b="1" dirty="0">
                <a:solidFill>
                  <a:srgbClr val="ED7D31"/>
                </a:solidFill>
                <a:latin typeface="微软雅黑" pitchFamily="34" charset="-122"/>
                <a:ea typeface="微软雅黑" pitchFamily="34" charset="-122"/>
              </a:rPr>
              <a:t>BIU</a:t>
            </a:r>
            <a:r>
              <a:rPr lang="zh-CN" altLang="en-US" sz="1600" b="1" dirty="0">
                <a:solidFill>
                  <a:srgbClr val="ED7D31"/>
                </a:solidFill>
                <a:latin typeface="微软雅黑" pitchFamily="34" charset="-122"/>
                <a:ea typeface="微软雅黑" pitchFamily="34" charset="-122"/>
              </a:rPr>
              <a:t>发出请求，再由</a:t>
            </a:r>
            <a:r>
              <a:rPr lang="en-US" altLang="zh-CN" sz="1600" b="1" dirty="0">
                <a:solidFill>
                  <a:srgbClr val="ED7D31"/>
                </a:solidFill>
                <a:latin typeface="微软雅黑" pitchFamily="34" charset="-122"/>
                <a:ea typeface="微软雅黑" pitchFamily="34" charset="-122"/>
              </a:rPr>
              <a:t>BIU</a:t>
            </a:r>
            <a:r>
              <a:rPr lang="zh-CN" altLang="en-US" sz="1600" b="1" dirty="0">
                <a:solidFill>
                  <a:srgbClr val="ED7D31"/>
                </a:solidFill>
                <a:latin typeface="微软雅黑" pitchFamily="34" charset="-122"/>
                <a:ea typeface="微软雅黑" pitchFamily="34" charset="-122"/>
              </a:rPr>
              <a:t>从存储器或外设存取。</a:t>
            </a:r>
          </a:p>
        </p:txBody>
      </p:sp>
      <p:sp>
        <p:nvSpPr>
          <p:cNvPr id="35" name="圆角矩形 34"/>
          <p:cNvSpPr/>
          <p:nvPr/>
        </p:nvSpPr>
        <p:spPr>
          <a:xfrm>
            <a:off x="6880752" y="1743815"/>
            <a:ext cx="1128926" cy="2520280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ea typeface="微软雅黑" panose="020B0503020204020204" pitchFamily="34" charset="-122"/>
            </a:endParaRPr>
          </a:p>
        </p:txBody>
      </p:sp>
      <p:sp>
        <p:nvSpPr>
          <p:cNvPr id="36" name="流程图: 过程 35"/>
          <p:cNvSpPr/>
          <p:nvPr/>
        </p:nvSpPr>
        <p:spPr>
          <a:xfrm>
            <a:off x="6790038" y="2510412"/>
            <a:ext cx="1310354" cy="987086"/>
          </a:xfrm>
          <a:prstGeom prst="flowChartProcess">
            <a:avLst/>
          </a:prstGeom>
          <a:noFill/>
          <a:ln w="9525" cap="rnd">
            <a:noFill/>
            <a:prstDash val="solid"/>
            <a:round/>
            <a:headEnd/>
            <a:tailEnd/>
          </a:ln>
        </p:spPr>
        <p:txBody>
          <a:bodyPr/>
          <a:lstStyle/>
          <a:p>
            <a:pPr lvl="0" algn="ctr">
              <a:lnSpc>
                <a:spcPct val="120000"/>
              </a:lnSpc>
              <a:defRPr/>
            </a:pPr>
            <a:r>
              <a:rPr lang="zh-CN" altLang="en-US" sz="2400" b="1" kern="0" dirty="0">
                <a:solidFill>
                  <a:sysClr val="window" lastClr="FFFFFF">
                    <a:lumMod val="95000"/>
                  </a:sysClr>
                </a:solidFill>
                <a:latin typeface="微软雅黑" pitchFamily="34" charset="-122"/>
                <a:ea typeface="微软雅黑" pitchFamily="34" charset="-122"/>
              </a:rPr>
              <a:t>存储器</a:t>
            </a:r>
            <a:endParaRPr lang="en-US" altLang="zh-CN" sz="2400" b="1" kern="0" dirty="0">
              <a:solidFill>
                <a:sysClr val="window" lastClr="FFFFFF">
                  <a:lumMod val="95000"/>
                </a:sysClr>
              </a:solidFill>
              <a:latin typeface="微软雅黑" pitchFamily="34" charset="-122"/>
              <a:ea typeface="微软雅黑" pitchFamily="34" charset="-122"/>
            </a:endParaRPr>
          </a:p>
          <a:p>
            <a:pPr lvl="0" algn="ctr">
              <a:lnSpc>
                <a:spcPct val="120000"/>
              </a:lnSpc>
              <a:defRPr/>
            </a:pPr>
            <a:r>
              <a:rPr lang="zh-CN" altLang="en-US" sz="2400" b="1" kern="0" dirty="0">
                <a:solidFill>
                  <a:sysClr val="window" lastClr="FFFFFF">
                    <a:lumMod val="95000"/>
                  </a:sysClr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400" b="1" kern="0" dirty="0">
                <a:solidFill>
                  <a:sysClr val="window" lastClr="FFFFFF">
                    <a:lumMod val="95000"/>
                  </a:sysClr>
                </a:solidFill>
                <a:latin typeface="微软雅黑" pitchFamily="34" charset="-122"/>
                <a:ea typeface="微软雅黑" pitchFamily="34" charset="-122"/>
              </a:rPr>
              <a:t>I/O</a:t>
            </a:r>
            <a:endParaRPr lang="zh-CN" altLang="en-US" sz="2400" b="1" kern="0" dirty="0">
              <a:solidFill>
                <a:sysClr val="window" lastClr="FFFFFF">
                  <a:lumMod val="95000"/>
                </a:sys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390784" y="4420895"/>
            <a:ext cx="864096" cy="298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16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位</a:t>
            </a:r>
          </a:p>
        </p:txBody>
      </p:sp>
    </p:spTree>
    <p:extLst>
      <p:ext uri="{BB962C8B-B14F-4D97-AF65-F5344CB8AC3E}">
        <p14:creationId xmlns:p14="http://schemas.microsoft.com/office/powerpoint/2010/main" val="417085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直接连接符 7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7" name="Rectangle 2"/>
          <p:cNvSpPr>
            <a:spLocks noChangeArrowheads="1"/>
          </p:cNvSpPr>
          <p:nvPr/>
        </p:nvSpPr>
        <p:spPr bwMode="auto">
          <a:xfrm>
            <a:off x="2465840" y="551748"/>
            <a:ext cx="4198695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EU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BIU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结构的优点</a:t>
            </a:r>
          </a:p>
        </p:txBody>
      </p:sp>
      <p:pic>
        <p:nvPicPr>
          <p:cNvPr id="13" name="图片 12" descr="E:\Kuaipan\学生\13级课表及学生名单\Week1\Lecture2\ZhilingLiushui_mask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843" y="3920862"/>
            <a:ext cx="6192688" cy="187220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矩形 13"/>
          <p:cNvSpPr>
            <a:spLocks noChangeAspect="1"/>
          </p:cNvSpPr>
          <p:nvPr/>
        </p:nvSpPr>
        <p:spPr>
          <a:xfrm>
            <a:off x="755576" y="1525724"/>
            <a:ext cx="7491982" cy="1975284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5" name="TextBox 17"/>
          <p:cNvSpPr txBox="1"/>
          <p:nvPr/>
        </p:nvSpPr>
        <p:spPr>
          <a:xfrm>
            <a:off x="1689269" y="1638672"/>
            <a:ext cx="6486281" cy="1647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并发工作：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取指和执行指令是分开的，这样执行过程中可以取出下一条指令到指令队列中排队。减少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为取指令而等待的时间，提高了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的效率。</a:t>
            </a:r>
            <a:endParaRPr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速度匹配：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降低与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相配的存储器的存取速度的要求。 </a:t>
            </a:r>
            <a:endParaRPr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6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528541" y="1766012"/>
            <a:ext cx="1354865" cy="67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9"/>
          <p:cNvSpPr txBox="1"/>
          <p:nvPr/>
        </p:nvSpPr>
        <p:spPr>
          <a:xfrm>
            <a:off x="971865" y="1722874"/>
            <a:ext cx="461665" cy="55399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优点</a:t>
            </a:r>
          </a:p>
        </p:txBody>
      </p:sp>
      <p:sp>
        <p:nvSpPr>
          <p:cNvPr id="28" name="矩形 27"/>
          <p:cNvSpPr>
            <a:spLocks noChangeAspect="1"/>
          </p:cNvSpPr>
          <p:nvPr/>
        </p:nvSpPr>
        <p:spPr>
          <a:xfrm>
            <a:off x="772766" y="3817786"/>
            <a:ext cx="7491982" cy="1975284"/>
          </a:xfrm>
          <a:prstGeom prst="rect">
            <a:avLst/>
          </a:prstGeom>
          <a:ln>
            <a:solidFill>
              <a:srgbClr val="F5A7FB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6028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直接连接符 7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7" name="Rectangle 2"/>
          <p:cNvSpPr>
            <a:spLocks noChangeArrowheads="1"/>
          </p:cNvSpPr>
          <p:nvPr/>
        </p:nvSpPr>
        <p:spPr bwMode="auto">
          <a:xfrm>
            <a:off x="2465840" y="551748"/>
            <a:ext cx="4198695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BIU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的基本功能单元：指令队列</a:t>
            </a:r>
          </a:p>
        </p:txBody>
      </p:sp>
      <p:sp>
        <p:nvSpPr>
          <p:cNvPr id="19" name="文本1"/>
          <p:cNvSpPr/>
          <p:nvPr/>
        </p:nvSpPr>
        <p:spPr>
          <a:xfrm>
            <a:off x="1878502" y="1638594"/>
            <a:ext cx="5471419" cy="693179"/>
          </a:xfrm>
          <a:prstGeom prst="rect">
            <a:avLst/>
          </a:prstGeom>
          <a:solidFill>
            <a:srgbClr val="FF3255"/>
          </a:solidFill>
          <a:ln w="3175" cap="flat" cmpd="sng" algn="ctr">
            <a:solidFill>
              <a:srgbClr val="D7D7D7"/>
            </a:solidFill>
            <a:prstDash val="solid"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anchor="ctr"/>
          <a:lstStyle/>
          <a:p>
            <a:pPr lvl="0" algn="ctr">
              <a:lnSpc>
                <a:spcPct val="120000"/>
              </a:lnSpc>
              <a:defRPr/>
            </a:pPr>
            <a:r>
              <a:rPr lang="zh-CN" altLang="en-US" sz="2000" kern="0" dirty="0">
                <a:solidFill>
                  <a:srgbClr val="F9F9F9"/>
                </a:solidFill>
                <a:latin typeface="微软雅黑" pitchFamily="34" charset="-122"/>
                <a:ea typeface="微软雅黑" pitchFamily="34" charset="-122"/>
              </a:rPr>
              <a:t>指令预取遵循以下原则</a:t>
            </a:r>
          </a:p>
        </p:txBody>
      </p:sp>
      <p:sp>
        <p:nvSpPr>
          <p:cNvPr id="20" name="深色1"/>
          <p:cNvSpPr>
            <a:spLocks noChangeArrowheads="1"/>
          </p:cNvSpPr>
          <p:nvPr/>
        </p:nvSpPr>
        <p:spPr bwMode="ltGray">
          <a:xfrm>
            <a:off x="1593500" y="1630642"/>
            <a:ext cx="570004" cy="687624"/>
          </a:xfrm>
          <a:prstGeom prst="homePlate">
            <a:avLst>
              <a:gd name="adj" fmla="val 25000"/>
            </a:avLst>
          </a:prstGeom>
          <a:solidFill>
            <a:srgbClr val="FF3255"/>
          </a:solidFill>
          <a:ln w="3175" cap="flat" cmpd="sng" algn="ctr">
            <a:solidFill>
              <a:srgbClr val="D7D7D7"/>
            </a:solidFill>
            <a:prstDash val="solid"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  <a:extLst/>
        </p:spPr>
        <p:txBody>
          <a:bodyPr anchor="ctr"/>
          <a:lstStyle/>
          <a:p>
            <a:pPr algn="ctr" defTabSz="914491">
              <a:lnSpc>
                <a:spcPct val="120000"/>
              </a:lnSpc>
              <a:defRPr/>
            </a:pPr>
            <a:endParaRPr lang="zh-CN" altLang="zh-CN" sz="2000" kern="0">
              <a:solidFill>
                <a:srgbClr val="F9F9F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文本2"/>
          <p:cNvSpPr/>
          <p:nvPr/>
        </p:nvSpPr>
        <p:spPr>
          <a:xfrm>
            <a:off x="2019300" y="2331773"/>
            <a:ext cx="5330621" cy="661122"/>
          </a:xfrm>
          <a:prstGeom prst="rect">
            <a:avLst/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D7D7D7"/>
            </a:solidFill>
            <a:prstDash val="solid"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anchor="ctr"/>
          <a:lstStyle/>
          <a:p>
            <a:pPr lvl="0">
              <a:lnSpc>
                <a:spcPct val="120000"/>
              </a:lnSpc>
              <a:defRPr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先进先出。</a:t>
            </a:r>
          </a:p>
        </p:txBody>
      </p:sp>
      <p:sp>
        <p:nvSpPr>
          <p:cNvPr id="22" name="深色2"/>
          <p:cNvSpPr/>
          <p:nvPr/>
        </p:nvSpPr>
        <p:spPr>
          <a:xfrm>
            <a:off x="1593500" y="2330447"/>
            <a:ext cx="431514" cy="663773"/>
          </a:xfrm>
          <a:prstGeom prst="rect">
            <a:avLst/>
          </a:prstGeom>
          <a:solidFill>
            <a:srgbClr val="FF3255"/>
          </a:solidFill>
          <a:ln w="3175" cap="flat" cmpd="sng" algn="ctr">
            <a:solidFill>
              <a:srgbClr val="D7D7D7"/>
            </a:solidFill>
            <a:prstDash val="solid"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anchor="ctr"/>
          <a:lstStyle/>
          <a:p>
            <a:pPr algn="ctr" defTabSz="914491">
              <a:lnSpc>
                <a:spcPct val="120000"/>
              </a:lnSpc>
              <a:defRPr/>
            </a:pPr>
            <a:r>
              <a:rPr lang="en-US" altLang="zh-CN" sz="200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200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文本3"/>
          <p:cNvSpPr/>
          <p:nvPr/>
        </p:nvSpPr>
        <p:spPr>
          <a:xfrm>
            <a:off x="2019300" y="2995546"/>
            <a:ext cx="5330621" cy="661122"/>
          </a:xfrm>
          <a:prstGeom prst="rect">
            <a:avLst/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D7D7D7"/>
            </a:solidFill>
            <a:prstDash val="solid"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anchor="ctr"/>
          <a:lstStyle/>
          <a:p>
            <a:pPr lvl="0">
              <a:lnSpc>
                <a:spcPct val="120000"/>
              </a:lnSpc>
              <a:defRPr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存满一条指令后就立即执行</a:t>
            </a:r>
            <a:r>
              <a:rPr lang="zh-CN" altLang="en-US" sz="1600" kern="0" dirty="0">
                <a:solidFill>
                  <a:srgbClr val="4D4D4D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24" name="深色3"/>
          <p:cNvSpPr/>
          <p:nvPr/>
        </p:nvSpPr>
        <p:spPr>
          <a:xfrm>
            <a:off x="1593500" y="2994221"/>
            <a:ext cx="431514" cy="663773"/>
          </a:xfrm>
          <a:prstGeom prst="rect">
            <a:avLst/>
          </a:prstGeom>
          <a:solidFill>
            <a:srgbClr val="FF3255"/>
          </a:solidFill>
          <a:ln w="3175" cap="flat" cmpd="sng" algn="ctr">
            <a:solidFill>
              <a:srgbClr val="D7D7D7"/>
            </a:solidFill>
            <a:prstDash val="solid"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anchor="ctr"/>
          <a:lstStyle/>
          <a:p>
            <a:pPr algn="ctr" defTabSz="914491">
              <a:lnSpc>
                <a:spcPct val="120000"/>
              </a:lnSpc>
              <a:defRPr/>
            </a:pPr>
            <a:r>
              <a:rPr lang="en-US" altLang="zh-CN" sz="200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00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文本4"/>
          <p:cNvSpPr/>
          <p:nvPr/>
        </p:nvSpPr>
        <p:spPr>
          <a:xfrm>
            <a:off x="2019300" y="3659320"/>
            <a:ext cx="5330621" cy="661122"/>
          </a:xfrm>
          <a:prstGeom prst="rect">
            <a:avLst/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D7D7D7"/>
            </a:solidFill>
            <a:prstDash val="solid"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anchor="ctr"/>
          <a:lstStyle/>
          <a:p>
            <a:pPr lvl="0">
              <a:lnSpc>
                <a:spcPct val="120000"/>
              </a:lnSpc>
              <a:defRPr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只要空出两个字节，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BIU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便自动执行取指操作。</a:t>
            </a:r>
            <a:endParaRPr lang="zh-CN" altLang="en-US" sz="1600" kern="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深色4"/>
          <p:cNvSpPr/>
          <p:nvPr/>
        </p:nvSpPr>
        <p:spPr>
          <a:xfrm>
            <a:off x="1593500" y="3657994"/>
            <a:ext cx="431514" cy="663773"/>
          </a:xfrm>
          <a:prstGeom prst="rect">
            <a:avLst/>
          </a:prstGeom>
          <a:solidFill>
            <a:srgbClr val="FF3255"/>
          </a:solidFill>
          <a:ln w="3175" cap="flat" cmpd="sng" algn="ctr">
            <a:solidFill>
              <a:srgbClr val="D7D7D7"/>
            </a:solidFill>
            <a:prstDash val="solid"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anchor="ctr"/>
          <a:lstStyle/>
          <a:p>
            <a:pPr algn="ctr" defTabSz="914491">
              <a:lnSpc>
                <a:spcPct val="120000"/>
              </a:lnSpc>
              <a:defRPr/>
            </a:pPr>
            <a:r>
              <a:rPr lang="en-US" altLang="zh-CN" sz="200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200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文本5"/>
          <p:cNvSpPr/>
          <p:nvPr/>
        </p:nvSpPr>
        <p:spPr>
          <a:xfrm>
            <a:off x="2019300" y="4310525"/>
            <a:ext cx="5330621" cy="661122"/>
          </a:xfrm>
          <a:prstGeom prst="rect">
            <a:avLst/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D7D7D7"/>
            </a:solidFill>
            <a:prstDash val="solid"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anchor="ctr"/>
          <a:lstStyle/>
          <a:p>
            <a:pPr lvl="0"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EU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执行完转移、调用和返回指令时，需要清空指令队列缓冲器，并要求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BIU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从新地址取指。</a:t>
            </a:r>
          </a:p>
        </p:txBody>
      </p:sp>
      <p:sp>
        <p:nvSpPr>
          <p:cNvPr id="29" name="深色5"/>
          <p:cNvSpPr/>
          <p:nvPr/>
        </p:nvSpPr>
        <p:spPr>
          <a:xfrm>
            <a:off x="1593500" y="4309200"/>
            <a:ext cx="431514" cy="663773"/>
          </a:xfrm>
          <a:prstGeom prst="rect">
            <a:avLst/>
          </a:prstGeom>
          <a:solidFill>
            <a:srgbClr val="FF3255"/>
          </a:solidFill>
          <a:ln w="3175" cap="flat" cmpd="sng" algn="ctr">
            <a:solidFill>
              <a:srgbClr val="D7D7D7"/>
            </a:solidFill>
            <a:prstDash val="solid"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anchor="ctr"/>
          <a:lstStyle/>
          <a:p>
            <a:pPr algn="ctr" defTabSz="914491">
              <a:lnSpc>
                <a:spcPct val="120000"/>
              </a:lnSpc>
              <a:defRPr/>
            </a:pPr>
            <a:r>
              <a:rPr lang="en-US" altLang="zh-CN" sz="200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200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757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直接连接符 7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7" name="Rectangle 2"/>
          <p:cNvSpPr>
            <a:spLocks noChangeArrowheads="1"/>
          </p:cNvSpPr>
          <p:nvPr/>
        </p:nvSpPr>
        <p:spPr bwMode="auto">
          <a:xfrm>
            <a:off x="1187624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BIU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中的寄存器</a:t>
            </a:r>
          </a:p>
        </p:txBody>
      </p:sp>
      <p:sp>
        <p:nvSpPr>
          <p:cNvPr id="41" name="矩形 40"/>
          <p:cNvSpPr/>
          <p:nvPr/>
        </p:nvSpPr>
        <p:spPr>
          <a:xfrm>
            <a:off x="772765" y="1539746"/>
            <a:ext cx="7483489" cy="2073954"/>
          </a:xfrm>
          <a:prstGeom prst="rect">
            <a:avLst/>
          </a:prstGeom>
          <a:ln>
            <a:solidFill>
              <a:srgbClr val="36B2E6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2" name="Picture 3" descr="E:\仝德志文件，勿删！\03-参考文档\！PPT图片及版面资源\06-PPT精选插图\12-标签\蓝色上顶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7745" y="1340768"/>
            <a:ext cx="1355360" cy="1114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"/>
          <p:cNvSpPr txBox="1"/>
          <p:nvPr/>
        </p:nvSpPr>
        <p:spPr>
          <a:xfrm>
            <a:off x="1018968" y="1510425"/>
            <a:ext cx="1080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指令指针</a:t>
            </a:r>
            <a:endParaRPr lang="en-US" altLang="zh-CN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寄存器</a:t>
            </a:r>
          </a:p>
        </p:txBody>
      </p:sp>
      <p:sp>
        <p:nvSpPr>
          <p:cNvPr id="44" name="TextBox 16"/>
          <p:cNvSpPr txBox="1"/>
          <p:nvPr/>
        </p:nvSpPr>
        <p:spPr>
          <a:xfrm>
            <a:off x="2350829" y="1484784"/>
            <a:ext cx="5905425" cy="1238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指针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位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）存放下一条指令在代码段的偏移地址。通常不能被直接访问，也不能直接赋值，指令中不会出现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3000"/>
              </a:lnSpc>
              <a:defRPr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顺序执行：每次输出后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自动加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，指向下一字节。</a:t>
            </a:r>
          </a:p>
        </p:txBody>
      </p:sp>
      <p:sp>
        <p:nvSpPr>
          <p:cNvPr id="45" name="TextBox 17"/>
          <p:cNvSpPr txBox="1"/>
          <p:nvPr/>
        </p:nvSpPr>
        <p:spPr>
          <a:xfrm>
            <a:off x="887745" y="2708920"/>
            <a:ext cx="7368510" cy="747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执行转移指令：将指令提供的转移地址送入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，同时清除指令队列，下一条指令从新地址开始执行。</a:t>
            </a:r>
          </a:p>
        </p:txBody>
      </p:sp>
      <p:sp>
        <p:nvSpPr>
          <p:cNvPr id="46" name="矩形 45"/>
          <p:cNvSpPr/>
          <p:nvPr/>
        </p:nvSpPr>
        <p:spPr>
          <a:xfrm>
            <a:off x="887745" y="4335389"/>
            <a:ext cx="7356662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个段寄存器：</a:t>
            </a:r>
            <a:r>
              <a:rPr lang="en-US" altLang="zh-CN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CS</a:t>
            </a:r>
            <a:r>
              <a:rPr lang="zh-CN" altLang="en-US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DS</a:t>
            </a:r>
            <a:r>
              <a:rPr lang="zh-CN" altLang="en-US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ES</a:t>
            </a:r>
            <a:r>
              <a:rPr lang="zh-CN" altLang="en-US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SS</a:t>
            </a:r>
            <a:r>
              <a:rPr lang="zh-CN" altLang="en-US" sz="1600" b="1" dirty="0">
                <a:solidFill>
                  <a:srgbClr val="36B2E6"/>
                </a:solidFill>
                <a:latin typeface="微软雅黑" pitchFamily="34" charset="-122"/>
                <a:ea typeface="微软雅黑" pitchFamily="34" charset="-122"/>
              </a:rPr>
              <a:t>，存放</a:t>
            </a:r>
            <a:r>
              <a:rPr lang="en-US" altLang="zh-CN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位</a:t>
            </a:r>
            <a:r>
              <a:rPr lang="zh-CN" altLang="en-US" sz="1600" b="1" dirty="0">
                <a:solidFill>
                  <a:srgbClr val="36B2E6"/>
                </a:solidFill>
                <a:latin typeface="微软雅黑" pitchFamily="34" charset="-122"/>
                <a:ea typeface="微软雅黑" pitchFamily="34" charset="-122"/>
              </a:rPr>
              <a:t>段地址的寄存器</a:t>
            </a:r>
            <a:r>
              <a:rPr lang="zh-CN" altLang="zh-CN" sz="1600" b="1" dirty="0">
                <a:solidFill>
                  <a:srgbClr val="36B2E6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矩形 46"/>
          <p:cNvSpPr>
            <a:spLocks noChangeAspect="1"/>
          </p:cNvSpPr>
          <p:nvPr/>
        </p:nvSpPr>
        <p:spPr>
          <a:xfrm>
            <a:off x="772765" y="3973122"/>
            <a:ext cx="7491982" cy="1135614"/>
          </a:xfrm>
          <a:prstGeom prst="rect">
            <a:avLst/>
          </a:prstGeom>
          <a:ln>
            <a:solidFill>
              <a:srgbClr val="F5A7FB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547664" y="5951021"/>
            <a:ext cx="590465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2000" b="1" dirty="0">
                <a:ln w="17780" cmpd="sng">
                  <a:noFill/>
                  <a:prstDash val="solid"/>
                  <a:miter lim="800000"/>
                </a:ln>
                <a:solidFill>
                  <a:srgbClr val="E81A30"/>
                </a:solidFill>
                <a:latin typeface="微软雅黑" pitchFamily="34" charset="-122"/>
                <a:ea typeface="微软雅黑" pitchFamily="34" charset="-122"/>
              </a:rPr>
              <a:t>指针：</a:t>
            </a:r>
            <a:r>
              <a:rPr lang="zh-CN" altLang="en-US" sz="1600" b="1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用来指示一个内存地址的计算机语言的变量或</a:t>
            </a:r>
            <a:r>
              <a:rPr lang="en-US" altLang="zh-CN" sz="1600" b="1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1600" b="1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中的寄存器。一般出现在比较近机器语言的语言，如汇编或</a:t>
            </a:r>
            <a:r>
              <a:rPr lang="en-US" altLang="zh-CN" sz="1600" b="1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1600" b="1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语言。</a:t>
            </a:r>
          </a:p>
        </p:txBody>
      </p:sp>
      <p:pic>
        <p:nvPicPr>
          <p:cNvPr id="50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2765" y="5524698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8" descr="C:\Documents and Settings\tdz\桌面\绿色箭头标签01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36296" y="3861048"/>
            <a:ext cx="940856" cy="1714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17"/>
          <p:cNvSpPr txBox="1"/>
          <p:nvPr/>
        </p:nvSpPr>
        <p:spPr>
          <a:xfrm>
            <a:off x="7483098" y="3889905"/>
            <a:ext cx="430887" cy="132343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且听下回分解</a:t>
            </a:r>
          </a:p>
        </p:txBody>
      </p:sp>
    </p:spTree>
    <p:extLst>
      <p:ext uri="{BB962C8B-B14F-4D97-AF65-F5344CB8AC3E}">
        <p14:creationId xmlns:p14="http://schemas.microsoft.com/office/powerpoint/2010/main" val="3952270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 animBg="1"/>
      <p:bldP spid="49" grpId="0"/>
      <p:bldP spid="5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直接连接符 7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EU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中的寄存器</a:t>
            </a:r>
          </a:p>
        </p:txBody>
      </p:sp>
      <p:sp>
        <p:nvSpPr>
          <p:cNvPr id="47" name="矩形 46"/>
          <p:cNvSpPr>
            <a:spLocks noChangeAspect="1"/>
          </p:cNvSpPr>
          <p:nvPr/>
        </p:nvSpPr>
        <p:spPr>
          <a:xfrm>
            <a:off x="971600" y="4312074"/>
            <a:ext cx="7257239" cy="1499690"/>
          </a:xfrm>
          <a:prstGeom prst="rect">
            <a:avLst/>
          </a:prstGeom>
          <a:ln>
            <a:solidFill>
              <a:srgbClr val="F5A7FB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53" name="Picture 8" descr="C:\Documents and Settings\tdz\桌面\绿色箭头标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3287" y="4241036"/>
            <a:ext cx="940856" cy="1714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17"/>
          <p:cNvSpPr txBox="1"/>
          <p:nvPr/>
        </p:nvSpPr>
        <p:spPr>
          <a:xfrm>
            <a:off x="1270089" y="4269893"/>
            <a:ext cx="430887" cy="132343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且听下回分解</a:t>
            </a:r>
          </a:p>
        </p:txBody>
      </p:sp>
      <p:sp>
        <p:nvSpPr>
          <p:cNvPr id="40" name="圆角矩形 39"/>
          <p:cNvSpPr/>
          <p:nvPr/>
        </p:nvSpPr>
        <p:spPr>
          <a:xfrm>
            <a:off x="2077593" y="2632604"/>
            <a:ext cx="1234597" cy="507464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ea typeface="微软雅黑" panose="020B0503020204020204" pitchFamily="34" charset="-122"/>
              </a:rPr>
              <a:t>AH</a:t>
            </a:r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2077593" y="3230346"/>
            <a:ext cx="1234597" cy="507464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ea typeface="微软雅黑" panose="020B0503020204020204" pitchFamily="34" charset="-122"/>
              </a:rPr>
              <a:t>CH</a:t>
            </a:r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4628335" y="2632604"/>
            <a:ext cx="1234597" cy="507464"/>
          </a:xfrm>
          <a:prstGeom prst="roundRect">
            <a:avLst>
              <a:gd name="adj" fmla="val 435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ea typeface="微软雅黑" panose="020B0503020204020204" pitchFamily="34" charset="-122"/>
              </a:rPr>
              <a:t>BH</a:t>
            </a:r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3253323" y="2632604"/>
            <a:ext cx="1234597" cy="507464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ea typeface="微软雅黑" panose="020B0503020204020204" pitchFamily="34" charset="-122"/>
              </a:rPr>
              <a:t>AL</a:t>
            </a:r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3253323" y="3230346"/>
            <a:ext cx="1234597" cy="507464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ea typeface="微软雅黑" panose="020B0503020204020204" pitchFamily="34" charset="-122"/>
              </a:rPr>
              <a:t>CL</a:t>
            </a:r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5852893" y="2632604"/>
            <a:ext cx="1234597" cy="507464"/>
          </a:xfrm>
          <a:prstGeom prst="roundRect">
            <a:avLst>
              <a:gd name="adj" fmla="val 435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ea typeface="微软雅黑" panose="020B0503020204020204" pitchFamily="34" charset="-122"/>
              </a:rPr>
              <a:t>BL</a:t>
            </a:r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4628335" y="3224335"/>
            <a:ext cx="1234597" cy="507464"/>
          </a:xfrm>
          <a:prstGeom prst="roundRect">
            <a:avLst>
              <a:gd name="adj" fmla="val 4357"/>
            </a:avLst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ea typeface="微软雅黑" panose="020B0503020204020204" pitchFamily="34" charset="-122"/>
              </a:rPr>
              <a:t>DH</a:t>
            </a:r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5852893" y="3224335"/>
            <a:ext cx="1234597" cy="507464"/>
          </a:xfrm>
          <a:prstGeom prst="roundRect">
            <a:avLst>
              <a:gd name="adj" fmla="val 4357"/>
            </a:avLst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ea typeface="微软雅黑" panose="020B0503020204020204" pitchFamily="34" charset="-122"/>
              </a:rPr>
              <a:t>DL</a:t>
            </a:r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87975" y="2598990"/>
            <a:ext cx="6591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1D8DE5"/>
                </a:solidFill>
                <a:ea typeface="微软雅黑" panose="020B0503020204020204" pitchFamily="34" charset="-122"/>
              </a:rPr>
              <a:t>AX</a:t>
            </a:r>
            <a:endParaRPr lang="zh-CN" altLang="en-US" b="1" dirty="0">
              <a:solidFill>
                <a:srgbClr val="1D8DE5"/>
              </a:solidFill>
              <a:ea typeface="微软雅黑" panose="020B0503020204020204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403204" y="3183765"/>
            <a:ext cx="6286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ED7D31"/>
                </a:solidFill>
                <a:ea typeface="微软雅黑" panose="020B0503020204020204" pitchFamily="34" charset="-122"/>
              </a:rPr>
              <a:t>CX</a:t>
            </a:r>
            <a:endParaRPr lang="zh-CN" altLang="en-US" b="1" dirty="0">
              <a:solidFill>
                <a:srgbClr val="ED7D31"/>
              </a:solidFill>
              <a:ea typeface="微软雅黑" panose="020B0503020204020204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7151349" y="2585682"/>
            <a:ext cx="6315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00B050"/>
                </a:solidFill>
                <a:ea typeface="微软雅黑" panose="020B0503020204020204" pitchFamily="34" charset="-122"/>
              </a:rPr>
              <a:t>BX</a:t>
            </a:r>
            <a:endParaRPr lang="zh-CN" altLang="en-US" b="1" dirty="0">
              <a:solidFill>
                <a:srgbClr val="00B050"/>
              </a:solidFill>
              <a:ea typeface="微软雅黑" panose="020B0503020204020204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137820" y="3170457"/>
            <a:ext cx="6585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rPr>
              <a:t>DX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971600" y="2315470"/>
            <a:ext cx="7257239" cy="1696093"/>
          </a:xfrm>
          <a:prstGeom prst="rect">
            <a:avLst/>
          </a:prstGeom>
          <a:ln>
            <a:solidFill>
              <a:srgbClr val="36B2E6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2464220" y="4529068"/>
            <a:ext cx="2520280" cy="507464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SP</a:t>
            </a:r>
            <a:r>
              <a:rPr lang="zh-CN" altLang="en-US" sz="2000" b="1" dirty="0">
                <a:ea typeface="微软雅黑" panose="020B0503020204020204" pitchFamily="34" charset="-122"/>
              </a:rPr>
              <a:t>：栈指针寄存器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2464220" y="5126810"/>
            <a:ext cx="2520280" cy="507464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SI</a:t>
            </a:r>
            <a:r>
              <a:rPr lang="zh-CN" altLang="en-US" sz="2000" b="1" dirty="0">
                <a:ea typeface="微软雅黑" panose="020B0503020204020204" pitchFamily="34" charset="-122"/>
              </a:rPr>
              <a:t>：源变址寄存器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5128515" y="4529068"/>
            <a:ext cx="2520280" cy="507464"/>
          </a:xfrm>
          <a:prstGeom prst="roundRect">
            <a:avLst>
              <a:gd name="adj" fmla="val 435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BP</a:t>
            </a:r>
            <a:r>
              <a:rPr lang="zh-CN" altLang="en-US" sz="2000" b="1" dirty="0">
                <a:ea typeface="微软雅黑" panose="020B0503020204020204" pitchFamily="34" charset="-122"/>
              </a:rPr>
              <a:t>：基址指针寄存器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5128515" y="5120799"/>
            <a:ext cx="2520280" cy="507464"/>
          </a:xfrm>
          <a:prstGeom prst="roundRect">
            <a:avLst>
              <a:gd name="adj" fmla="val 4357"/>
            </a:avLst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DI</a:t>
            </a:r>
            <a:r>
              <a:rPr lang="zh-CN" altLang="en-US" sz="2000" b="1" dirty="0">
                <a:ea typeface="微软雅黑" panose="020B0503020204020204" pitchFamily="34" charset="-122"/>
              </a:rPr>
              <a:t>：目的变址寄存器</a:t>
            </a:r>
          </a:p>
        </p:txBody>
      </p:sp>
      <p:sp>
        <p:nvSpPr>
          <p:cNvPr id="50" name="Rectangle 7"/>
          <p:cNvSpPr>
            <a:spLocks noChangeArrowheads="1"/>
          </p:cNvSpPr>
          <p:nvPr/>
        </p:nvSpPr>
        <p:spPr bwMode="auto">
          <a:xfrm>
            <a:off x="971600" y="1484784"/>
            <a:ext cx="7257239" cy="612254"/>
          </a:xfrm>
          <a:prstGeom prst="rect">
            <a:avLst/>
          </a:prstGeom>
          <a:solidFill>
            <a:srgbClr val="FD7A2A"/>
          </a:solidFill>
          <a:ln>
            <a:noFill/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位数据寄存器（可分为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位寄存器）和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个指针寄存器</a:t>
            </a:r>
          </a:p>
        </p:txBody>
      </p:sp>
    </p:spTree>
    <p:extLst>
      <p:ext uri="{BB962C8B-B14F-4D97-AF65-F5344CB8AC3E}">
        <p14:creationId xmlns:p14="http://schemas.microsoft.com/office/powerpoint/2010/main" val="1727631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直接连接符 7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数据寄存器</a:t>
            </a:r>
          </a:p>
        </p:txBody>
      </p:sp>
      <p:sp>
        <p:nvSpPr>
          <p:cNvPr id="4" name="矩形 3"/>
          <p:cNvSpPr/>
          <p:nvPr/>
        </p:nvSpPr>
        <p:spPr>
          <a:xfrm>
            <a:off x="4306558" y="2588723"/>
            <a:ext cx="3042476" cy="79208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多用作基址寄存器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06557" y="3643039"/>
            <a:ext cx="3042475" cy="792088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多作为计数器</a:t>
            </a:r>
          </a:p>
        </p:txBody>
      </p:sp>
      <p:sp>
        <p:nvSpPr>
          <p:cNvPr id="6" name="矩形 5"/>
          <p:cNvSpPr/>
          <p:nvPr/>
        </p:nvSpPr>
        <p:spPr>
          <a:xfrm>
            <a:off x="4306346" y="1556792"/>
            <a:ext cx="3042476" cy="792088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多用作累加器</a:t>
            </a:r>
          </a:p>
        </p:txBody>
      </p:sp>
      <p:sp>
        <p:nvSpPr>
          <p:cNvPr id="7" name="矩形 6"/>
          <p:cNvSpPr/>
          <p:nvPr/>
        </p:nvSpPr>
        <p:spPr>
          <a:xfrm>
            <a:off x="2782462" y="1556792"/>
            <a:ext cx="1523882" cy="79208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ea typeface="微软雅黑" panose="020B0503020204020204" pitchFamily="34" charset="-122"/>
              </a:rPr>
              <a:t>AH  AL</a:t>
            </a:r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82462" y="2588722"/>
            <a:ext cx="1523882" cy="79208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ea typeface="微软雅黑" panose="020B0503020204020204" pitchFamily="34" charset="-122"/>
              </a:rPr>
              <a:t>BH  BL</a:t>
            </a:r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82462" y="3643038"/>
            <a:ext cx="1523882" cy="79208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ea typeface="微软雅黑" panose="020B0503020204020204" pitchFamily="34" charset="-122"/>
              </a:rPr>
              <a:t>CH  CL</a:t>
            </a:r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323853" y="4723160"/>
            <a:ext cx="3042475" cy="79208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多用作辅助累加器</a:t>
            </a:r>
          </a:p>
        </p:txBody>
      </p:sp>
      <p:sp>
        <p:nvSpPr>
          <p:cNvPr id="11" name="矩形 10"/>
          <p:cNvSpPr/>
          <p:nvPr/>
        </p:nvSpPr>
        <p:spPr>
          <a:xfrm>
            <a:off x="2799758" y="4723159"/>
            <a:ext cx="1523882" cy="79208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ea typeface="微软雅黑" panose="020B0503020204020204" pitchFamily="34" charset="-122"/>
              </a:rPr>
              <a:t>DH  DL</a:t>
            </a:r>
            <a:endParaRPr lang="zh-CN" altLang="en-US" sz="3200" b="1" dirty="0"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907704" y="1660448"/>
            <a:ext cx="6591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1D8DE5"/>
                </a:solidFill>
                <a:ea typeface="微软雅黑" panose="020B0503020204020204" pitchFamily="34" charset="-122"/>
              </a:rPr>
              <a:t>AX</a:t>
            </a:r>
            <a:endParaRPr lang="zh-CN" altLang="en-US" b="1" dirty="0">
              <a:solidFill>
                <a:srgbClr val="1D8DE5"/>
              </a:solidFill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924344" y="3746694"/>
            <a:ext cx="6286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FF3255"/>
                </a:solidFill>
                <a:ea typeface="微软雅黑" panose="020B0503020204020204" pitchFamily="34" charset="-122"/>
              </a:rPr>
              <a:t>CX</a:t>
            </a:r>
            <a:endParaRPr lang="zh-CN" altLang="en-US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921522" y="2663379"/>
            <a:ext cx="6315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00B050"/>
                </a:solidFill>
                <a:ea typeface="微软雅黑" panose="020B0503020204020204" pitchFamily="34" charset="-122"/>
              </a:rPr>
              <a:t>BX</a:t>
            </a:r>
            <a:endParaRPr lang="zh-CN" altLang="en-US" b="1" dirty="0">
              <a:solidFill>
                <a:srgbClr val="00B050"/>
              </a:solidFill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907704" y="4830009"/>
            <a:ext cx="6585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FD7A2A"/>
                </a:solidFill>
                <a:ea typeface="微软雅黑" panose="020B0503020204020204" pitchFamily="34" charset="-122"/>
              </a:rPr>
              <a:t>DX</a:t>
            </a:r>
            <a:endParaRPr lang="zh-CN" altLang="en-US" b="1" dirty="0">
              <a:solidFill>
                <a:srgbClr val="FD7A2A"/>
              </a:solidFill>
              <a:ea typeface="微软雅黑" panose="020B0503020204020204" pitchFamily="34" charset="-122"/>
            </a:endParaRPr>
          </a:p>
        </p:txBody>
      </p:sp>
      <p:sp>
        <p:nvSpPr>
          <p:cNvPr id="25" name="矩形 4"/>
          <p:cNvSpPr>
            <a:spLocks noChangeArrowheads="1"/>
          </p:cNvSpPr>
          <p:nvPr/>
        </p:nvSpPr>
        <p:spPr bwMode="auto">
          <a:xfrm>
            <a:off x="755576" y="6165304"/>
            <a:ext cx="6984775" cy="412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高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位和低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位分别与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AH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zh-CN" altLang="en-US" sz="16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物理上相同的寄存器，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其它三个类似。</a:t>
            </a:r>
          </a:p>
        </p:txBody>
      </p:sp>
      <p:pic>
        <p:nvPicPr>
          <p:cNvPr id="26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8724" y="5382733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2956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EU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中的标志寄存器</a:t>
            </a:r>
          </a:p>
        </p:txBody>
      </p:sp>
      <p:pic>
        <p:nvPicPr>
          <p:cNvPr id="19" name="图片 1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3655855"/>
            <a:ext cx="7848872" cy="2232248"/>
          </a:xfrm>
          <a:prstGeom prst="rect">
            <a:avLst/>
          </a:prstGeom>
          <a:noFill/>
          <a:ln>
            <a:solidFill>
              <a:schemeClr val="accent1"/>
            </a:solidFill>
            <a:prstDash val="sysDot"/>
          </a:ln>
        </p:spPr>
      </p:pic>
      <p:sp>
        <p:nvSpPr>
          <p:cNvPr id="24" name="矩形 23"/>
          <p:cNvSpPr/>
          <p:nvPr/>
        </p:nvSpPr>
        <p:spPr>
          <a:xfrm>
            <a:off x="4831331" y="2176132"/>
            <a:ext cx="3456385" cy="1280178"/>
          </a:xfrm>
          <a:prstGeom prst="rect">
            <a:avLst/>
          </a:prstGeom>
          <a:ln>
            <a:solidFill>
              <a:srgbClr val="36B2E6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TextBox 16"/>
          <p:cNvSpPr txBox="1"/>
          <p:nvPr/>
        </p:nvSpPr>
        <p:spPr>
          <a:xfrm>
            <a:off x="467543" y="1556792"/>
            <a:ext cx="7846417" cy="419795"/>
          </a:xfrm>
          <a:prstGeom prst="rect">
            <a:avLst/>
          </a:prstGeom>
          <a:solidFill>
            <a:srgbClr val="FD7A2A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位标志寄存器，按位使用，其中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位为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标志位，其它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位未用，按功能分为：</a:t>
            </a:r>
          </a:p>
        </p:txBody>
      </p:sp>
      <p:sp>
        <p:nvSpPr>
          <p:cNvPr id="30" name="TextBox 17"/>
          <p:cNvSpPr txBox="1"/>
          <p:nvPr/>
        </p:nvSpPr>
        <p:spPr>
          <a:xfrm>
            <a:off x="5004613" y="2300617"/>
            <a:ext cx="2917917" cy="1074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控制标志：指示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控制某种特定的功能，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位控制标志分别为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DF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IF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TF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cxnSp>
        <p:nvCxnSpPr>
          <p:cNvPr id="31" name="直接连接符 30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4" name="矩形 33"/>
          <p:cNvSpPr/>
          <p:nvPr/>
        </p:nvSpPr>
        <p:spPr>
          <a:xfrm>
            <a:off x="463351" y="2176132"/>
            <a:ext cx="3741960" cy="1280178"/>
          </a:xfrm>
          <a:prstGeom prst="rect">
            <a:avLst/>
          </a:prstGeom>
          <a:ln>
            <a:solidFill>
              <a:srgbClr val="36B2E6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Box 17"/>
          <p:cNvSpPr txBox="1"/>
          <p:nvPr/>
        </p:nvSpPr>
        <p:spPr>
          <a:xfrm>
            <a:off x="755576" y="2294828"/>
            <a:ext cx="3193444" cy="1074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状态标志：指令执行后算逻部件的状态，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CF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PF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AF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ZF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SF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OF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864699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03436" y="692696"/>
            <a:ext cx="1442637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进位标志</a:t>
            </a:r>
          </a:p>
        </p:txBody>
      </p:sp>
      <p:sp>
        <p:nvSpPr>
          <p:cNvPr id="3" name="矩形 2"/>
          <p:cNvSpPr/>
          <p:nvPr/>
        </p:nvSpPr>
        <p:spPr>
          <a:xfrm>
            <a:off x="2379488" y="692696"/>
            <a:ext cx="62249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CF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：当结果的最高位（字节操作时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D7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，字操作时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D15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）产生了进位或借位，则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CF=1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 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379488" y="1356040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703436" y="1556792"/>
            <a:ext cx="1442637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辅助标志</a:t>
            </a:r>
          </a:p>
        </p:txBody>
      </p:sp>
      <p:sp>
        <p:nvSpPr>
          <p:cNvPr id="6" name="矩形 5"/>
          <p:cNvSpPr/>
          <p:nvPr/>
        </p:nvSpPr>
        <p:spPr>
          <a:xfrm>
            <a:off x="683568" y="2443607"/>
            <a:ext cx="1442637" cy="65602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溢出标志</a:t>
            </a:r>
          </a:p>
        </p:txBody>
      </p:sp>
      <p:sp>
        <p:nvSpPr>
          <p:cNvPr id="7" name="矩形 6"/>
          <p:cNvSpPr/>
          <p:nvPr/>
        </p:nvSpPr>
        <p:spPr>
          <a:xfrm>
            <a:off x="703436" y="3349044"/>
            <a:ext cx="1442637" cy="65602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符号标志</a:t>
            </a:r>
          </a:p>
        </p:txBody>
      </p:sp>
      <p:sp>
        <p:nvSpPr>
          <p:cNvPr id="8" name="矩形 7"/>
          <p:cNvSpPr/>
          <p:nvPr/>
        </p:nvSpPr>
        <p:spPr>
          <a:xfrm>
            <a:off x="683568" y="4200266"/>
            <a:ext cx="1442637" cy="65602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奇偶标志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379488" y="2220136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379488" y="3078957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2379488" y="3962514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379488" y="1564116"/>
            <a:ext cx="62249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AF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：字节操作时，由低半字节向高半字节有进位或借位，则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AF=1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。用于十进制算术运算指令。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79488" y="2420888"/>
            <a:ext cx="62249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：算术运算中，带符号数运算结果超出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位带符号数的表达范围。</a:t>
            </a:r>
            <a:r>
              <a:rPr lang="en-US" altLang="zh-CN" sz="16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OF=1: </a:t>
            </a:r>
            <a:r>
              <a:rPr lang="zh-CN" altLang="en-US" sz="16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</a:t>
            </a:r>
            <a:r>
              <a:rPr lang="en-US" altLang="zh-CN" sz="16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</a:t>
            </a:r>
            <a:r>
              <a:rPr lang="en-US" altLang="zh-CN" sz="16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6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负；正</a:t>
            </a:r>
            <a:r>
              <a:rPr lang="en-US" altLang="zh-CN" sz="16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</a:t>
            </a:r>
            <a:r>
              <a:rPr lang="en-US" altLang="zh-CN" sz="16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6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负；负</a:t>
            </a:r>
            <a:r>
              <a:rPr lang="en-US" altLang="zh-CN" sz="16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</a:t>
            </a:r>
            <a:r>
              <a:rPr lang="en-US" altLang="zh-CN" sz="16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6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正；负</a:t>
            </a:r>
            <a:r>
              <a:rPr lang="en-US" altLang="zh-CN" sz="16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</a:t>
            </a:r>
            <a:r>
              <a:rPr lang="en-US" altLang="zh-CN" sz="16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6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正。</a:t>
            </a:r>
          </a:p>
        </p:txBody>
      </p:sp>
      <p:sp>
        <p:nvSpPr>
          <p:cNvPr id="14" name="矩形 13"/>
          <p:cNvSpPr/>
          <p:nvPr/>
        </p:nvSpPr>
        <p:spPr>
          <a:xfrm>
            <a:off x="2379488" y="3321800"/>
            <a:ext cx="62249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SF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：和运算结果的最高位相同。当数据用补码表示时，负数的最高位为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，符号标志指出了所执行运算结果的正负。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379488" y="4149080"/>
            <a:ext cx="62249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PF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：运算结果的低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位中所含的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的个数为偶数，则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PF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的个数为奇数时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PF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03436" y="5105703"/>
            <a:ext cx="1442637" cy="65602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零标志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2379488" y="4813271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379488" y="5105703"/>
            <a:ext cx="62249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ZF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：表示一个算术或逻辑运算的结果是否为零。若结果为零，则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ZF=1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；否则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ZF=0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146072" y="5975305"/>
            <a:ext cx="5050487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状态标志，通过测试它们可以执行一些跳转指令，只有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CF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可以用指令直接进行修改。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5616" y="5820672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182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 animBg="1"/>
      <p:bldP spid="6" grpId="0" animBg="1"/>
      <p:bldP spid="7" grpId="0" animBg="1"/>
      <p:bldP spid="8" grpId="0" animBg="1"/>
      <p:bldP spid="12" grpId="0"/>
      <p:bldP spid="13" grpId="0"/>
      <p:bldP spid="14" grpId="0"/>
      <p:bldP spid="15" grpId="0"/>
      <p:bldP spid="16" grpId="0" animBg="1"/>
      <p:bldP spid="18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关于进位标志和溢出标志</a:t>
            </a:r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grpSp>
        <p:nvGrpSpPr>
          <p:cNvPr id="4" name="组合 3"/>
          <p:cNvGrpSpPr/>
          <p:nvPr/>
        </p:nvGrpSpPr>
        <p:grpSpPr>
          <a:xfrm>
            <a:off x="769920" y="1311911"/>
            <a:ext cx="7430211" cy="3096344"/>
            <a:chOff x="1846734" y="1456184"/>
            <a:chExt cx="9937104" cy="4095130"/>
          </a:xfrm>
        </p:grpSpPr>
        <p:sp>
          <p:nvSpPr>
            <p:cNvPr id="5" name="矩形 4"/>
            <p:cNvSpPr/>
            <p:nvPr/>
          </p:nvSpPr>
          <p:spPr>
            <a:xfrm>
              <a:off x="1846734" y="1512424"/>
              <a:ext cx="9937104" cy="4004808"/>
            </a:xfrm>
            <a:prstGeom prst="rect">
              <a:avLst/>
            </a:prstGeom>
            <a:ln>
              <a:solidFill>
                <a:srgbClr val="7BC143"/>
              </a:solidFill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rgbClr val="7BC143"/>
                </a:solidFill>
                <a:ea typeface="微软雅黑" panose="020B0503020204020204" pitchFamily="34" charset="-122"/>
              </a:endParaRPr>
            </a:p>
          </p:txBody>
        </p:sp>
        <p:pic>
          <p:nvPicPr>
            <p:cNvPr id="6" name="Picture 8" descr="C:\Documents and Settings\tdz\桌面\绿色箭头标签01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27109" y="1456184"/>
              <a:ext cx="10033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0" descr="C:\Documents and Settings\tdz\Local Settings\Temp\SoEasy\2ED57B32DAFDACEEB44B8E85F3D00E28.png"/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0455101" y="4557600"/>
              <a:ext cx="1184721" cy="9937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30"/>
            <p:cNvSpPr txBox="1"/>
            <p:nvPr/>
          </p:nvSpPr>
          <p:spPr>
            <a:xfrm>
              <a:off x="10674474" y="1550373"/>
              <a:ext cx="617427" cy="770693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Joke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9" name="TextBox 32"/>
          <p:cNvSpPr txBox="1"/>
          <p:nvPr/>
        </p:nvSpPr>
        <p:spPr>
          <a:xfrm>
            <a:off x="964529" y="1771367"/>
            <a:ext cx="3342490" cy="1729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小明去食堂买馒头，馒头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毛钱一个，小明的卡上有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毛钱，打算买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个馒头，但是他不小心按到了“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6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”键上，结果机器里面滚出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65535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个滚烫的馒头，把小明埋在里面。</a:t>
            </a:r>
          </a:p>
        </p:txBody>
      </p:sp>
      <p:sp>
        <p:nvSpPr>
          <p:cNvPr id="11" name="矩形 10"/>
          <p:cNvSpPr/>
          <p:nvPr/>
        </p:nvSpPr>
        <p:spPr>
          <a:xfrm>
            <a:off x="769919" y="4671400"/>
            <a:ext cx="7430211" cy="1349888"/>
          </a:xfrm>
          <a:prstGeom prst="rect">
            <a:avLst/>
          </a:prstGeom>
          <a:ln>
            <a:solidFill>
              <a:srgbClr val="36B2E6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12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84870" y="4581128"/>
            <a:ext cx="1012736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948770" y="4725144"/>
            <a:ext cx="6658741" cy="1074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pPr marL="285750" indent="-285750" defTabSz="9144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有符号数看溢出标志；无符号数看进位标志。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defTabSz="9144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对于加减运算，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CPU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不区分有符号数和无符号数。有符号数和无符号数的区分是程序员的任务。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TextBox 15"/>
          <p:cNvSpPr txBox="1"/>
          <p:nvPr/>
        </p:nvSpPr>
        <p:spPr>
          <a:xfrm rot="2771384">
            <a:off x="7558148" y="4757533"/>
            <a:ext cx="646415" cy="369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点评</a:t>
            </a:r>
          </a:p>
        </p:txBody>
      </p:sp>
      <p:pic>
        <p:nvPicPr>
          <p:cNvPr id="20" name="图片 19" descr="D:\u=247363437,2902909005&amp;fm=21&amp;gp=0.jpg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627" y="1556792"/>
            <a:ext cx="2639695" cy="209931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6"/>
          <p:cNvSpPr txBox="1"/>
          <p:nvPr/>
        </p:nvSpPr>
        <p:spPr>
          <a:xfrm>
            <a:off x="877598" y="3789040"/>
            <a:ext cx="6192688" cy="419795"/>
          </a:xfrm>
          <a:prstGeom prst="rect">
            <a:avLst/>
          </a:prstGeom>
          <a:solidFill>
            <a:srgbClr val="FD7A2A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仔细分析一下笑话：应该是滚出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个馒头，余额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65535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毛钱。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^_^</a:t>
            </a:r>
            <a:endParaRPr lang="zh-CN" altLang="en-US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6067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3" grpId="0"/>
      <p:bldP spid="14" grpId="0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8913584"/>
              </p:ext>
            </p:extLst>
          </p:nvPr>
        </p:nvGraphicFramePr>
        <p:xfrm>
          <a:off x="1115616" y="1628800"/>
          <a:ext cx="6618654" cy="439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7" name="Visio" r:id="rId3" imgW="7368739" imgH="4891864" progId="Visio.Drawing.15">
                  <p:embed/>
                </p:oleObj>
              </mc:Choice>
              <mc:Fallback>
                <p:oleObj name="Visio" r:id="rId3" imgW="7368739" imgH="4891864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1628800"/>
                        <a:ext cx="6618654" cy="43924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标志寄存器：举例</a:t>
            </a: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矩形 6"/>
          <p:cNvSpPr/>
          <p:nvPr/>
        </p:nvSpPr>
        <p:spPr>
          <a:xfrm>
            <a:off x="6948263" y="1574244"/>
            <a:ext cx="266429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3255"/>
                </a:solidFill>
                <a:ea typeface="微软雅黑" panose="020B0503020204020204" pitchFamily="34" charset="-122"/>
              </a:rPr>
              <a:t>634DH</a:t>
            </a:r>
            <a:endParaRPr lang="zh-CN" altLang="en-US" sz="16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48263" y="2099539"/>
            <a:ext cx="266429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3255"/>
                </a:solidFill>
                <a:ea typeface="微软雅黑" panose="020B0503020204020204" pitchFamily="34" charset="-122"/>
              </a:rPr>
              <a:t>3219H</a:t>
            </a:r>
            <a:endParaRPr lang="zh-CN" altLang="en-US" sz="16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948263" y="2865985"/>
            <a:ext cx="266429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3255"/>
                </a:solidFill>
                <a:ea typeface="微软雅黑" panose="020B0503020204020204" pitchFamily="34" charset="-122"/>
              </a:rPr>
              <a:t>9566H</a:t>
            </a:r>
            <a:endParaRPr lang="zh-CN" altLang="en-US" sz="16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242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03436" y="1521600"/>
            <a:ext cx="1442637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方向标志</a:t>
            </a:r>
          </a:p>
        </p:txBody>
      </p:sp>
      <p:sp>
        <p:nvSpPr>
          <p:cNvPr id="3" name="矩形 2"/>
          <p:cNvSpPr/>
          <p:nvPr/>
        </p:nvSpPr>
        <p:spPr>
          <a:xfrm>
            <a:off x="2379488" y="1521600"/>
            <a:ext cx="62249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：控制串操作指令执行过程中地址的增量或减量。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DF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标志由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（置位方向）和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CLD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（清除方向）指令控制。 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379488" y="2184944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703436" y="2385696"/>
            <a:ext cx="1442637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中断标志</a:t>
            </a:r>
          </a:p>
        </p:txBody>
      </p:sp>
      <p:sp>
        <p:nvSpPr>
          <p:cNvPr id="6" name="矩形 5"/>
          <p:cNvSpPr/>
          <p:nvPr/>
        </p:nvSpPr>
        <p:spPr>
          <a:xfrm>
            <a:off x="683568" y="3272511"/>
            <a:ext cx="1442637" cy="65602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跟踪标志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379488" y="3049040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379488" y="3907861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379488" y="2393020"/>
            <a:ext cx="62249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IF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：中断标志。对可屏蔽中断的控制标志。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表示允许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外部可屏蔽中断。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IF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标志由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STI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IF=1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）和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CLI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IF=0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）指令来控制。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79488" y="3249792"/>
            <a:ext cx="62249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：或称单步标志。如果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设定为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，指示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按照单步方式执行指令。</a:t>
            </a:r>
            <a:endParaRPr lang="zh-CN" altLang="en-US" sz="1600" dirty="0">
              <a:solidFill>
                <a:srgbClr val="1D8DE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146072" y="5975305"/>
            <a:ext cx="5050487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控制标志指示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控制某种特定的功能，通常通过指令来设定与清除。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5616" y="5820672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937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 animBg="1"/>
      <p:bldP spid="6" grpId="0" animBg="1"/>
      <p:bldP spid="12" grpId="0"/>
      <p:bldP spid="13" grpId="0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工欲善其事，必先利其器：</a:t>
            </a:r>
            <a:r>
              <a:rPr lang="en-US" altLang="zh-CN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DEBUG</a:t>
            </a:r>
            <a:endParaRPr lang="zh-CN" altLang="en-US" sz="32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TextBox 17"/>
          <p:cNvSpPr txBox="1"/>
          <p:nvPr/>
        </p:nvSpPr>
        <p:spPr>
          <a:xfrm>
            <a:off x="1043608" y="5813343"/>
            <a:ext cx="6252001" cy="829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Debug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DOS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Windows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提供的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程序调试工具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，使用它可查看</a:t>
            </a:r>
            <a:r>
              <a:rPr lang="en-US" altLang="zh-CN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寄存器、内存的情况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，并能跟踪程序的运行。</a:t>
            </a:r>
            <a:endParaRPr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601612" y="1546332"/>
            <a:ext cx="5912884" cy="504367"/>
            <a:chOff x="3711527" y="2082923"/>
            <a:chExt cx="6704159" cy="504301"/>
          </a:xfrm>
        </p:grpSpPr>
        <p:sp>
          <p:nvSpPr>
            <p:cNvPr id="25" name="矩形 24"/>
            <p:cNvSpPr/>
            <p:nvPr/>
          </p:nvSpPr>
          <p:spPr>
            <a:xfrm>
              <a:off x="4038583" y="2082923"/>
              <a:ext cx="6355394" cy="430318"/>
            </a:xfrm>
            <a:prstGeom prst="rect">
              <a:avLst/>
            </a:prstGeom>
            <a:solidFill>
              <a:srgbClr val="FF3255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-R 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命令，查看、改变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CPU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寄存器的内容</a:t>
              </a: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1608996" y="2244764"/>
            <a:ext cx="5912884" cy="504366"/>
            <a:chOff x="3711527" y="2082923"/>
            <a:chExt cx="6704159" cy="504301"/>
          </a:xfrm>
        </p:grpSpPr>
        <p:sp>
          <p:nvSpPr>
            <p:cNvPr id="30" name="矩形 29"/>
            <p:cNvSpPr/>
            <p:nvPr/>
          </p:nvSpPr>
          <p:spPr>
            <a:xfrm>
              <a:off x="4030210" y="2082923"/>
              <a:ext cx="6363766" cy="4616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-D 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命令，查看内存的内容</a:t>
              </a: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/>
        </p:nvGrpSpPr>
        <p:grpSpPr>
          <a:xfrm>
            <a:off x="1601612" y="2917223"/>
            <a:ext cx="5912884" cy="504367"/>
            <a:chOff x="3711527" y="2082923"/>
            <a:chExt cx="6704159" cy="504301"/>
          </a:xfrm>
        </p:grpSpPr>
        <p:sp>
          <p:nvSpPr>
            <p:cNvPr id="35" name="矩形 34"/>
            <p:cNvSpPr/>
            <p:nvPr/>
          </p:nvSpPr>
          <p:spPr>
            <a:xfrm>
              <a:off x="4038583" y="2082923"/>
              <a:ext cx="6355394" cy="4616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-E 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命令，改写内存的内容</a:t>
              </a: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/>
        </p:nvGrpSpPr>
        <p:grpSpPr>
          <a:xfrm>
            <a:off x="1608996" y="3615658"/>
            <a:ext cx="5912884" cy="504367"/>
            <a:chOff x="3711527" y="2082923"/>
            <a:chExt cx="6704159" cy="504301"/>
          </a:xfrm>
        </p:grpSpPr>
        <p:sp>
          <p:nvSpPr>
            <p:cNvPr id="40" name="矩形 39"/>
            <p:cNvSpPr/>
            <p:nvPr/>
          </p:nvSpPr>
          <p:spPr>
            <a:xfrm>
              <a:off x="4030210" y="2082923"/>
              <a:ext cx="6363766" cy="4616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-U 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命令，将内存中机器指令翻译成汇编指令</a:t>
              </a:r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/>
          <p:cNvGrpSpPr/>
          <p:nvPr/>
        </p:nvGrpSpPr>
        <p:grpSpPr>
          <a:xfrm>
            <a:off x="1604060" y="4242421"/>
            <a:ext cx="5912884" cy="504367"/>
            <a:chOff x="3711527" y="2082923"/>
            <a:chExt cx="6704159" cy="504301"/>
          </a:xfrm>
        </p:grpSpPr>
        <p:sp>
          <p:nvSpPr>
            <p:cNvPr id="45" name="矩形 44"/>
            <p:cNvSpPr/>
            <p:nvPr/>
          </p:nvSpPr>
          <p:spPr>
            <a:xfrm>
              <a:off x="4035807" y="2082923"/>
              <a:ext cx="6358170" cy="430318"/>
            </a:xfrm>
            <a:prstGeom prst="rect">
              <a:avLst/>
            </a:prstGeom>
            <a:solidFill>
              <a:srgbClr val="1D8DE5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-T 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命令，执行一条机器指令</a:t>
              </a:r>
            </a:p>
          </p:txBody>
        </p:sp>
        <p:cxnSp>
          <p:nvCxnSpPr>
            <p:cNvPr id="43" name="直接连接符 42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/>
          <p:cNvGrpSpPr/>
          <p:nvPr/>
        </p:nvGrpSpPr>
        <p:grpSpPr>
          <a:xfrm>
            <a:off x="1611444" y="4940857"/>
            <a:ext cx="5912884" cy="504367"/>
            <a:chOff x="3711527" y="2082923"/>
            <a:chExt cx="6704159" cy="504301"/>
          </a:xfrm>
        </p:grpSpPr>
        <p:sp>
          <p:nvSpPr>
            <p:cNvPr id="50" name="矩形 49"/>
            <p:cNvSpPr/>
            <p:nvPr/>
          </p:nvSpPr>
          <p:spPr>
            <a:xfrm>
              <a:off x="4027435" y="2082923"/>
              <a:ext cx="6355394" cy="430318"/>
            </a:xfrm>
            <a:prstGeom prst="rect">
              <a:avLst/>
            </a:prstGeom>
            <a:solidFill>
              <a:srgbClr val="FD7A2A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-A 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命令，用汇编指令格式在内存中写入指令</a:t>
              </a:r>
            </a:p>
          </p:txBody>
        </p:sp>
        <p:cxnSp>
          <p:nvCxnSpPr>
            <p:cNvPr id="48" name="直接连接符 47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5347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5576" y="1484784"/>
            <a:ext cx="7344816" cy="4392488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CN" altLang="en-US" kern="0">
              <a:solidFill>
                <a:sysClr val="window" lastClr="FFFFFF"/>
              </a:solidFill>
              <a:latin typeface="Tahoma"/>
              <a:ea typeface="微软雅黑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623814"/>
              </p:ext>
            </p:extLst>
          </p:nvPr>
        </p:nvGraphicFramePr>
        <p:xfrm>
          <a:off x="971600" y="1610769"/>
          <a:ext cx="6908322" cy="4010435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3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标志名</a:t>
                      </a:r>
                      <a:endParaRPr lang="zh-CN" sz="18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标志为</a:t>
                      </a:r>
                      <a:r>
                        <a:rPr lang="en-US" altLang="zh-CN" sz="20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标志为</a:t>
                      </a:r>
                      <a:r>
                        <a:rPr lang="en-US" altLang="zh-CN" sz="20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zh-CN" sz="20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17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OF</a:t>
                      </a:r>
                      <a:r>
                        <a:rPr lang="zh-CN" altLang="en-US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溢出（是</a:t>
                      </a: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否）</a:t>
                      </a:r>
                      <a:endParaRPr lang="zh-CN" sz="1700" b="1" kern="100" dirty="0">
                        <a:solidFill>
                          <a:schemeClr val="lt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500" b="1" kern="100" dirty="0">
                          <a:solidFill>
                            <a:srgbClr val="5F5E5C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OV</a:t>
                      </a:r>
                      <a:endParaRPr lang="zh-CN" sz="1500" b="1" kern="100" dirty="0">
                        <a:solidFill>
                          <a:srgbClr val="5F5E5C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500" b="1" kern="100" dirty="0">
                          <a:solidFill>
                            <a:srgbClr val="5F5E5C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NV</a:t>
                      </a:r>
                      <a:endParaRPr lang="zh-CN" sz="1500" b="1" kern="100" dirty="0">
                        <a:solidFill>
                          <a:srgbClr val="5F5E5C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55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DF</a:t>
                      </a:r>
                      <a:r>
                        <a:rPr lang="zh-CN" altLang="en-US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方向（减量</a:t>
                      </a: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加量</a:t>
                      </a: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)</a:t>
                      </a:r>
                      <a:endParaRPr lang="zh-CN" sz="1700" b="1" kern="100" dirty="0">
                        <a:solidFill>
                          <a:schemeClr val="lt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500" b="1" kern="100" dirty="0">
                          <a:solidFill>
                            <a:srgbClr val="5F5E5C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DN</a:t>
                      </a:r>
                      <a:endParaRPr lang="zh-CN" sz="1500" b="1" kern="100" dirty="0">
                        <a:solidFill>
                          <a:srgbClr val="5F5E5C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500" b="1" kern="100" dirty="0">
                          <a:solidFill>
                            <a:srgbClr val="5F5E5C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UP</a:t>
                      </a:r>
                      <a:endParaRPr lang="zh-CN" sz="1500" b="1" kern="100" dirty="0">
                        <a:solidFill>
                          <a:srgbClr val="5F5E5C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55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IF</a:t>
                      </a:r>
                      <a:r>
                        <a:rPr lang="zh-CN" altLang="en-US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中断</a:t>
                      </a: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(</a:t>
                      </a:r>
                      <a:r>
                        <a:rPr lang="zh-CN" altLang="en-US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允许</a:t>
                      </a: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关闭</a:t>
                      </a: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)</a:t>
                      </a:r>
                      <a:endParaRPr lang="zh-CN" sz="1700" b="1" kern="100" dirty="0">
                        <a:solidFill>
                          <a:schemeClr val="lt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500" b="1" kern="100" dirty="0">
                          <a:solidFill>
                            <a:srgbClr val="5F5E5C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EI</a:t>
                      </a:r>
                      <a:endParaRPr lang="zh-CN" sz="1500" b="1" kern="100" dirty="0">
                        <a:solidFill>
                          <a:srgbClr val="5F5E5C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500" b="1" kern="100" dirty="0">
                          <a:solidFill>
                            <a:srgbClr val="5F5E5C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DI</a:t>
                      </a:r>
                      <a:endParaRPr lang="zh-CN" sz="1500" b="1" kern="100" dirty="0">
                        <a:solidFill>
                          <a:srgbClr val="5F5E5C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55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SF</a:t>
                      </a:r>
                      <a:r>
                        <a:rPr lang="zh-CN" altLang="en-US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符号</a:t>
                      </a: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(</a:t>
                      </a:r>
                      <a:r>
                        <a:rPr lang="zh-CN" altLang="en-US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负</a:t>
                      </a: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正</a:t>
                      </a: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)</a:t>
                      </a:r>
                      <a:endParaRPr lang="zh-CN" sz="1700" b="1" kern="100" dirty="0">
                        <a:solidFill>
                          <a:schemeClr val="lt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500" b="1" kern="100" dirty="0">
                          <a:solidFill>
                            <a:srgbClr val="5F5E5C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NG</a:t>
                      </a:r>
                      <a:endParaRPr lang="zh-CN" sz="1500" b="1" kern="100" dirty="0">
                        <a:solidFill>
                          <a:srgbClr val="5F5E5C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500" b="1" kern="100" dirty="0">
                          <a:solidFill>
                            <a:srgbClr val="5F5E5C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PL</a:t>
                      </a:r>
                      <a:endParaRPr lang="zh-CN" sz="1500" b="1" kern="100" dirty="0">
                        <a:solidFill>
                          <a:srgbClr val="5F5E5C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55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ZF</a:t>
                      </a:r>
                      <a:r>
                        <a:rPr lang="zh-CN" altLang="en-US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零</a:t>
                      </a: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(</a:t>
                      </a:r>
                      <a:r>
                        <a:rPr lang="zh-CN" altLang="en-US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是</a:t>
                      </a: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否）</a:t>
                      </a:r>
                      <a:endParaRPr lang="zh-CN" sz="1700" b="1" kern="100" dirty="0">
                        <a:solidFill>
                          <a:schemeClr val="lt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500" b="1" kern="100" dirty="0">
                          <a:solidFill>
                            <a:srgbClr val="5F5E5C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ZR</a:t>
                      </a:r>
                      <a:endParaRPr lang="zh-CN" sz="1500" b="1" kern="100" dirty="0">
                        <a:solidFill>
                          <a:srgbClr val="5F5E5C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500" b="1" kern="100" dirty="0">
                          <a:solidFill>
                            <a:srgbClr val="5F5E5C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NZ</a:t>
                      </a:r>
                      <a:endParaRPr lang="zh-CN" sz="1500" b="1" kern="100" dirty="0">
                        <a:solidFill>
                          <a:srgbClr val="5F5E5C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355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AF</a:t>
                      </a:r>
                      <a:r>
                        <a:rPr lang="zh-CN" altLang="en-US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辅助进位</a:t>
                      </a: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(</a:t>
                      </a:r>
                      <a:r>
                        <a:rPr lang="zh-CN" altLang="en-US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是</a:t>
                      </a: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否）</a:t>
                      </a:r>
                      <a:endParaRPr lang="zh-CN" sz="1700" b="1" kern="100" dirty="0">
                        <a:solidFill>
                          <a:schemeClr val="lt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500" b="1" kern="100" dirty="0">
                          <a:solidFill>
                            <a:srgbClr val="5F5E5C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AC</a:t>
                      </a:r>
                      <a:endParaRPr lang="zh-CN" sz="1500" b="1" kern="100" dirty="0">
                        <a:solidFill>
                          <a:srgbClr val="5F5E5C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500" b="1" kern="100" dirty="0">
                          <a:solidFill>
                            <a:srgbClr val="5F5E5C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NA</a:t>
                      </a:r>
                      <a:endParaRPr lang="zh-CN" sz="1500" b="1" kern="100" dirty="0">
                        <a:solidFill>
                          <a:srgbClr val="5F5E5C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355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PF</a:t>
                      </a:r>
                      <a:r>
                        <a:rPr lang="zh-CN" altLang="en-US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奇偶标志</a:t>
                      </a: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( </a:t>
                      </a:r>
                      <a:r>
                        <a:rPr lang="zh-CN" altLang="en-US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偶</a:t>
                      </a: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奇</a:t>
                      </a: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)</a:t>
                      </a:r>
                      <a:endParaRPr lang="zh-CN" sz="1700" b="1" kern="100" dirty="0">
                        <a:solidFill>
                          <a:schemeClr val="lt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500" b="1" kern="100" dirty="0">
                          <a:solidFill>
                            <a:srgbClr val="5F5E5C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PE</a:t>
                      </a:r>
                      <a:endParaRPr lang="zh-CN" sz="1500" b="1" kern="100" dirty="0">
                        <a:solidFill>
                          <a:srgbClr val="5F5E5C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500" b="1" kern="100" dirty="0">
                          <a:solidFill>
                            <a:srgbClr val="5F5E5C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PO</a:t>
                      </a:r>
                      <a:endParaRPr lang="zh-CN" sz="1500" b="1" kern="100" dirty="0">
                        <a:solidFill>
                          <a:srgbClr val="5F5E5C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355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CF</a:t>
                      </a:r>
                      <a:r>
                        <a:rPr lang="zh-CN" altLang="en-US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进位标志</a:t>
                      </a: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(</a:t>
                      </a:r>
                      <a:r>
                        <a:rPr lang="zh-CN" altLang="en-US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是</a:t>
                      </a:r>
                      <a:r>
                        <a:rPr lang="en-US" altLang="zh-CN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700" b="1" kern="100" dirty="0">
                          <a:solidFill>
                            <a:schemeClr val="lt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否）</a:t>
                      </a:r>
                      <a:endParaRPr lang="zh-CN" sz="1700" b="1" kern="100" dirty="0">
                        <a:solidFill>
                          <a:schemeClr val="lt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500" b="1" kern="100" dirty="0">
                          <a:solidFill>
                            <a:srgbClr val="5F5E5C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CY</a:t>
                      </a:r>
                      <a:endParaRPr lang="zh-CN" sz="1500" b="1" kern="100" dirty="0">
                        <a:solidFill>
                          <a:srgbClr val="5F5E5C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500" b="1" kern="100" dirty="0">
                          <a:solidFill>
                            <a:srgbClr val="5F5E5C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NC</a:t>
                      </a:r>
                      <a:endParaRPr lang="zh-CN" sz="1500" b="1" kern="100" dirty="0">
                        <a:solidFill>
                          <a:srgbClr val="5F5E5C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DEBUG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中标志寄存器状态</a:t>
            </a: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</p:spTree>
    <p:extLst>
      <p:ext uri="{BB962C8B-B14F-4D97-AF65-F5344CB8AC3E}">
        <p14:creationId xmlns:p14="http://schemas.microsoft.com/office/powerpoint/2010/main" val="2689934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实验</a:t>
            </a:r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：数据寄存器的使用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83568" y="1916832"/>
            <a:ext cx="2952919" cy="341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MOV 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指令和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指令简单用法：</a:t>
            </a: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传递方向，源操作数和目的操作数的变化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位数据寄存器的使用，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位寄存器的使用，以及</a:t>
            </a: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它们和</a:t>
            </a: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位寄存器的关系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Debug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查看寄存器结果。</a:t>
            </a:r>
          </a:p>
        </p:txBody>
      </p:sp>
      <p:pic>
        <p:nvPicPr>
          <p:cNvPr id="9" name="图片 8" descr="未标题-1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6482" y="171750"/>
            <a:ext cx="1490425" cy="1346351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4326692" y="1831289"/>
            <a:ext cx="1757228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0AH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629476" y="1812556"/>
            <a:ext cx="1757228" cy="386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AX =  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326692" y="2259922"/>
            <a:ext cx="1757228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0CH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629476" y="2241189"/>
            <a:ext cx="1757228" cy="386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AX =  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326692" y="2799662"/>
            <a:ext cx="1757228" cy="386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AH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,0BH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629476" y="2780929"/>
            <a:ext cx="1757228" cy="386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AX =  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326692" y="3228295"/>
            <a:ext cx="1870736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8226H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629476" y="3209562"/>
            <a:ext cx="1757228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AH =  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326692" y="3772794"/>
            <a:ext cx="1985468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BX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82AAH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629476" y="3754061"/>
            <a:ext cx="1757228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BX =  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326692" y="4201427"/>
            <a:ext cx="1757228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16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BX</a:t>
            </a:r>
          </a:p>
        </p:txBody>
      </p:sp>
      <p:sp>
        <p:nvSpPr>
          <p:cNvPr id="24" name="矩形 23"/>
          <p:cNvSpPr/>
          <p:nvPr/>
        </p:nvSpPr>
        <p:spPr>
          <a:xfrm>
            <a:off x="6629476" y="4182694"/>
            <a:ext cx="1757228" cy="386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AX =  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326940" y="4812820"/>
            <a:ext cx="1757228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BL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0FFH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629724" y="4794087"/>
            <a:ext cx="1757228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BX =  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326940" y="5241453"/>
            <a:ext cx="1757228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AH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16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AL</a:t>
            </a:r>
          </a:p>
        </p:txBody>
      </p:sp>
      <p:sp>
        <p:nvSpPr>
          <p:cNvPr id="28" name="矩形 27"/>
          <p:cNvSpPr/>
          <p:nvPr/>
        </p:nvSpPr>
        <p:spPr>
          <a:xfrm>
            <a:off x="6629724" y="5222720"/>
            <a:ext cx="1757228" cy="386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AX =  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97878" y="1636636"/>
            <a:ext cx="3210026" cy="4312645"/>
          </a:xfrm>
          <a:prstGeom prst="rect">
            <a:avLst/>
          </a:prstGeom>
          <a:ln>
            <a:solidFill>
              <a:srgbClr val="36B2E6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4139952" y="1636637"/>
            <a:ext cx="3929684" cy="4312644"/>
          </a:xfrm>
          <a:prstGeom prst="rect">
            <a:avLst/>
          </a:prstGeom>
          <a:ln>
            <a:solidFill>
              <a:srgbClr val="36B2E6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72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21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915816" y="2514157"/>
            <a:ext cx="5040560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微处理器</a:t>
            </a: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8769"/>
            <a:ext cx="3177392" cy="154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结构</a:t>
            </a:r>
          </a:p>
          <a:p>
            <a:pPr indent="-285750" defTabSz="762000"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引脚功能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-285750" defTabSz="762000"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总线周期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时序分析</a:t>
            </a: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263063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755576" y="1556792"/>
            <a:ext cx="7581456" cy="1219200"/>
            <a:chOff x="2278782" y="2763954"/>
            <a:chExt cx="7581456" cy="1219200"/>
          </a:xfrm>
        </p:grpSpPr>
        <p:sp>
          <p:nvSpPr>
            <p:cNvPr id="32" name="矩形 31"/>
            <p:cNvSpPr/>
            <p:nvPr/>
          </p:nvSpPr>
          <p:spPr>
            <a:xfrm>
              <a:off x="4331564" y="3047831"/>
              <a:ext cx="5312649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指引脚信号的定义、作用，注意按功能分类记忆，通常采用英文单词或其缩写表示。</a:t>
              </a: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2911704" y="2809886"/>
              <a:ext cx="6948534" cy="1165275"/>
              <a:chOff x="1026388" y="1623428"/>
              <a:chExt cx="6948534" cy="1165275"/>
            </a:xfrm>
          </p:grpSpPr>
          <p:sp>
            <p:nvSpPr>
              <p:cNvPr id="35" name="圆角矩形 34"/>
              <p:cNvSpPr/>
              <p:nvPr/>
            </p:nvSpPr>
            <p:spPr>
              <a:xfrm>
                <a:off x="1026388" y="1623428"/>
                <a:ext cx="6948534" cy="1165275"/>
              </a:xfrm>
              <a:prstGeom prst="roundRect">
                <a:avLst/>
              </a:prstGeom>
              <a:ln w="6350">
                <a:solidFill>
                  <a:srgbClr val="FF3255"/>
                </a:solidFill>
                <a:prstDash val="dash"/>
                <a:headEnd type="oval"/>
                <a:tailEnd type="diamond" w="lg" len="lg"/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r"/>
                <a:endParaRPr lang="zh-CN" altLang="en-US" b="1" dirty="0">
                  <a:solidFill>
                    <a:srgbClr val="00B05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1552337" y="2076817"/>
                <a:ext cx="810456" cy="40011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FF9900"/>
                    </a:solidFill>
                    <a:latin typeface="微软雅黑" pitchFamily="34" charset="-122"/>
                    <a:ea typeface="微软雅黑" pitchFamily="34" charset="-122"/>
                  </a:rPr>
                  <a:t>功能</a:t>
                </a:r>
              </a:p>
            </p:txBody>
          </p:sp>
        </p:grpSp>
        <p:pic>
          <p:nvPicPr>
            <p:cNvPr id="34" name="Picture 3" descr="D:\Teliss_Tong\Copy\定期备份\工作备份\！PPT图片及版面资源\06-PPT精选插图\04-图标\D0C2FD8C30CAF0FEB811E39CE16A31D5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8782" y="2763954"/>
              <a:ext cx="1219200" cy="1219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组合 37"/>
          <p:cNvGrpSpPr/>
          <p:nvPr/>
        </p:nvGrpSpPr>
        <p:grpSpPr>
          <a:xfrm>
            <a:off x="1276722" y="3213091"/>
            <a:ext cx="7060310" cy="1153089"/>
            <a:chOff x="2911704" y="2822072"/>
            <a:chExt cx="7060310" cy="1153089"/>
          </a:xfrm>
        </p:grpSpPr>
        <p:sp>
          <p:nvSpPr>
            <p:cNvPr id="40" name="矩形 39"/>
            <p:cNvSpPr/>
            <p:nvPr/>
          </p:nvSpPr>
          <p:spPr>
            <a:xfrm>
              <a:off x="4387452" y="3071278"/>
              <a:ext cx="5368537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信号从芯片向外输出，还是从外部输入芯片，或者是双向的。</a:t>
              </a: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2911704" y="2822072"/>
              <a:ext cx="7060310" cy="1153089"/>
              <a:chOff x="1026388" y="1635614"/>
              <a:chExt cx="7060310" cy="1153089"/>
            </a:xfrm>
          </p:grpSpPr>
          <p:sp>
            <p:nvSpPr>
              <p:cNvPr id="42" name="圆角矩形 41"/>
              <p:cNvSpPr/>
              <p:nvPr/>
            </p:nvSpPr>
            <p:spPr>
              <a:xfrm>
                <a:off x="1026388" y="1635614"/>
                <a:ext cx="7060310" cy="1153089"/>
              </a:xfrm>
              <a:prstGeom prst="roundRect">
                <a:avLst/>
              </a:prstGeom>
              <a:ln w="3175">
                <a:solidFill>
                  <a:srgbClr val="FF3255"/>
                </a:solidFill>
                <a:prstDash val="dash"/>
                <a:headEnd type="oval"/>
                <a:tailEnd type="diamond" w="lg" len="lg"/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r"/>
                <a:endParaRPr lang="zh-CN" altLang="en-US" b="1" dirty="0">
                  <a:solidFill>
                    <a:srgbClr val="00B05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3" name="矩形 42"/>
              <p:cNvSpPr/>
              <p:nvPr/>
            </p:nvSpPr>
            <p:spPr>
              <a:xfrm>
                <a:off x="1691680" y="2012103"/>
                <a:ext cx="810456" cy="40011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FF9900"/>
                    </a:solidFill>
                    <a:latin typeface="微软雅黑" pitchFamily="34" charset="-122"/>
                    <a:ea typeface="微软雅黑" pitchFamily="34" charset="-122"/>
                  </a:rPr>
                  <a:t>方向</a:t>
                </a:r>
              </a:p>
            </p:txBody>
          </p:sp>
        </p:grpSp>
      </p:grpSp>
      <p:grpSp>
        <p:nvGrpSpPr>
          <p:cNvPr id="45" name="组合 44"/>
          <p:cNvGrpSpPr/>
          <p:nvPr/>
        </p:nvGrpSpPr>
        <p:grpSpPr>
          <a:xfrm>
            <a:off x="1405484" y="4733702"/>
            <a:ext cx="6931548" cy="1178950"/>
            <a:chOff x="2911704" y="2796211"/>
            <a:chExt cx="6931548" cy="1178950"/>
          </a:xfrm>
        </p:grpSpPr>
        <p:sp>
          <p:nvSpPr>
            <p:cNvPr id="47" name="矩形 46"/>
            <p:cNvSpPr/>
            <p:nvPr/>
          </p:nvSpPr>
          <p:spPr>
            <a:xfrm>
              <a:off x="4231123" y="2970187"/>
              <a:ext cx="5396104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起作用的逻辑电平高、低电平有效，或高阻的第三态，上升、下降边沿有效。</a:t>
              </a:r>
            </a:p>
          </p:txBody>
        </p:sp>
        <p:grpSp>
          <p:nvGrpSpPr>
            <p:cNvPr id="48" name="组合 47"/>
            <p:cNvGrpSpPr/>
            <p:nvPr/>
          </p:nvGrpSpPr>
          <p:grpSpPr>
            <a:xfrm>
              <a:off x="2911704" y="2796211"/>
              <a:ext cx="6931548" cy="1178950"/>
              <a:chOff x="1026388" y="1609753"/>
              <a:chExt cx="6931548" cy="1178950"/>
            </a:xfrm>
          </p:grpSpPr>
          <p:sp>
            <p:nvSpPr>
              <p:cNvPr id="49" name="圆角矩形 48"/>
              <p:cNvSpPr/>
              <p:nvPr/>
            </p:nvSpPr>
            <p:spPr>
              <a:xfrm>
                <a:off x="1026388" y="1609753"/>
                <a:ext cx="6931548" cy="1178950"/>
              </a:xfrm>
              <a:prstGeom prst="roundRect">
                <a:avLst/>
              </a:prstGeom>
              <a:ln w="3175">
                <a:solidFill>
                  <a:srgbClr val="FF3255"/>
                </a:solidFill>
                <a:prstDash val="dash"/>
                <a:headEnd type="oval"/>
                <a:tailEnd type="diamond" w="lg" len="lg"/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r"/>
                <a:endParaRPr lang="zh-CN" altLang="en-US" b="1" dirty="0">
                  <a:solidFill>
                    <a:srgbClr val="00B05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1393117" y="1999172"/>
                <a:ext cx="1150058" cy="40011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FF9900"/>
                    </a:solidFill>
                    <a:latin typeface="微软雅黑" pitchFamily="34" charset="-122"/>
                    <a:ea typeface="微软雅黑" pitchFamily="34" charset="-122"/>
                  </a:rPr>
                  <a:t>电平</a:t>
                </a:r>
              </a:p>
            </p:txBody>
          </p:sp>
        </p:grpSp>
      </p:grpSp>
      <p:cxnSp>
        <p:nvCxnSpPr>
          <p:cNvPr id="58" name="直接连接符 5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9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学习</a:t>
            </a:r>
            <a:r>
              <a:rPr lang="zh-CN" altLang="en-US" sz="32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芯片引脚功能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的方法</a:t>
            </a:r>
          </a:p>
        </p:txBody>
      </p:sp>
      <p:cxnSp>
        <p:nvCxnSpPr>
          <p:cNvPr id="60" name="直接连接符 59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pic>
        <p:nvPicPr>
          <p:cNvPr id="26" name="Picture 10" descr="Private_to_Partner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295" y="3106685"/>
            <a:ext cx="1053195" cy="1495758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65424" y="5123121"/>
            <a:ext cx="1008066" cy="475158"/>
            <a:chOff x="-2340768" y="2640374"/>
            <a:chExt cx="2217364" cy="716617"/>
          </a:xfrm>
        </p:grpSpPr>
        <p:cxnSp>
          <p:nvCxnSpPr>
            <p:cNvPr id="3" name="肘形连接符 2"/>
            <p:cNvCxnSpPr/>
            <p:nvPr/>
          </p:nvCxnSpPr>
          <p:spPr>
            <a:xfrm rot="10800000" flipV="1">
              <a:off x="-2340768" y="2640374"/>
              <a:ext cx="1224136" cy="716617"/>
            </a:xfrm>
            <a:prstGeom prst="bentConnector3">
              <a:avLst/>
            </a:prstGeom>
            <a:ln w="76200">
              <a:solidFill>
                <a:srgbClr val="00AEDB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" name="肘形连接符 4"/>
            <p:cNvCxnSpPr/>
            <p:nvPr/>
          </p:nvCxnSpPr>
          <p:spPr>
            <a:xfrm>
              <a:off x="-1149525" y="2640375"/>
              <a:ext cx="1026121" cy="716616"/>
            </a:xfrm>
            <a:prstGeom prst="bentConnector3">
              <a:avLst/>
            </a:prstGeom>
            <a:ln w="76200">
              <a:solidFill>
                <a:srgbClr val="00AEDB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12533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引脚功能</a:t>
            </a:r>
          </a:p>
        </p:txBody>
      </p:sp>
      <p:cxnSp>
        <p:nvCxnSpPr>
          <p:cNvPr id="16" name="直接连接符 1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225" y="1567531"/>
            <a:ext cx="2799049" cy="4378278"/>
          </a:xfrm>
          <a:prstGeom prst="rect">
            <a:avLst/>
          </a:prstGeom>
        </p:spPr>
      </p:pic>
      <p:sp>
        <p:nvSpPr>
          <p:cNvPr id="11" name="矩形 4"/>
          <p:cNvSpPr>
            <a:spLocks noChangeArrowheads="1"/>
          </p:cNvSpPr>
          <p:nvPr/>
        </p:nvSpPr>
        <p:spPr bwMode="auto">
          <a:xfrm>
            <a:off x="1284195" y="2060848"/>
            <a:ext cx="4447836" cy="232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芯片共有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40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个引脚，双列直插式芯片。</a:t>
            </a:r>
            <a:endParaRPr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部分引脚复用：地址、数据线分时复用；高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位地址和状态线分时复用</a:t>
            </a: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最大、最小模式下，部分引脚意义有所不同。</a:t>
            </a:r>
            <a:endParaRPr lang="zh-CN" altLang="en-US" sz="1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1043608" y="1855832"/>
            <a:ext cx="0" cy="493048"/>
          </a:xfrm>
          <a:prstGeom prst="line">
            <a:avLst/>
          </a:prstGeom>
          <a:ln>
            <a:solidFill>
              <a:srgbClr val="1D8DE5"/>
            </a:solidFill>
            <a:prstDash val="sysDash"/>
            <a:headEnd type="oval"/>
            <a:tailEnd type="oval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 flipV="1">
            <a:off x="1043609" y="1705095"/>
            <a:ext cx="4872280" cy="10738"/>
          </a:xfrm>
          <a:prstGeom prst="line">
            <a:avLst/>
          </a:prstGeom>
          <a:ln>
            <a:solidFill>
              <a:srgbClr val="1D8DE5"/>
            </a:solidFill>
            <a:prstDash val="sysDash"/>
            <a:headEnd type="oval"/>
            <a:tailEnd type="oval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072281" y="5877272"/>
            <a:ext cx="4871665" cy="18496"/>
          </a:xfrm>
          <a:prstGeom prst="line">
            <a:avLst/>
          </a:prstGeom>
          <a:ln>
            <a:solidFill>
              <a:srgbClr val="1D8DE5"/>
            </a:solidFill>
            <a:prstDash val="sysDash"/>
            <a:headEnd type="oval"/>
            <a:tailEnd type="oval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1175377" y="4759080"/>
            <a:ext cx="47116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什么是分时复用？为什么要分时复用？减少对外引脚个数！</a:t>
            </a:r>
            <a:endParaRPr lang="zh-CN" altLang="en-US" sz="2000" dirty="0">
              <a:solidFill>
                <a:srgbClr val="FF32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98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最小模式下的引脚信号分类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Freeform 8"/>
          <p:cNvSpPr>
            <a:spLocks/>
          </p:cNvSpPr>
          <p:nvPr/>
        </p:nvSpPr>
        <p:spPr bwMode="auto">
          <a:xfrm>
            <a:off x="2239537" y="5230693"/>
            <a:ext cx="4566032" cy="950897"/>
          </a:xfrm>
          <a:custGeom>
            <a:avLst/>
            <a:gdLst>
              <a:gd name="T0" fmla="*/ 2907 w 3244"/>
              <a:gd name="T1" fmla="*/ 675 h 675"/>
              <a:gd name="T2" fmla="*/ 3244 w 3244"/>
              <a:gd name="T3" fmla="*/ 337 h 675"/>
              <a:gd name="T4" fmla="*/ 2907 w 3244"/>
              <a:gd name="T5" fmla="*/ 0 h 675"/>
              <a:gd name="T6" fmla="*/ 337 w 3244"/>
              <a:gd name="T7" fmla="*/ 0 h 675"/>
              <a:gd name="T8" fmla="*/ 0 w 3244"/>
              <a:gd name="T9" fmla="*/ 337 h 675"/>
              <a:gd name="T10" fmla="*/ 337 w 3244"/>
              <a:gd name="T11" fmla="*/ 675 h 675"/>
              <a:gd name="T12" fmla="*/ 2907 w 3244"/>
              <a:gd name="T13" fmla="*/ 675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4" h="675">
                <a:moveTo>
                  <a:pt x="2907" y="675"/>
                </a:moveTo>
                <a:cubicBezTo>
                  <a:pt x="3093" y="675"/>
                  <a:pt x="3244" y="523"/>
                  <a:pt x="3244" y="337"/>
                </a:cubicBezTo>
                <a:cubicBezTo>
                  <a:pt x="3244" y="151"/>
                  <a:pt x="3093" y="0"/>
                  <a:pt x="2907" y="0"/>
                </a:cubicBezTo>
                <a:cubicBezTo>
                  <a:pt x="337" y="0"/>
                  <a:pt x="337" y="0"/>
                  <a:pt x="337" y="0"/>
                </a:cubicBezTo>
                <a:cubicBezTo>
                  <a:pt x="151" y="0"/>
                  <a:pt x="0" y="151"/>
                  <a:pt x="0" y="337"/>
                </a:cubicBezTo>
                <a:cubicBezTo>
                  <a:pt x="0" y="523"/>
                  <a:pt x="151" y="675"/>
                  <a:pt x="337" y="675"/>
                </a:cubicBezTo>
                <a:lnTo>
                  <a:pt x="2907" y="675"/>
                </a:lnTo>
                <a:close/>
              </a:path>
            </a:pathLst>
          </a:custGeom>
          <a:solidFill>
            <a:srgbClr val="F1891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Freeform 7"/>
          <p:cNvSpPr>
            <a:spLocks/>
          </p:cNvSpPr>
          <p:nvPr/>
        </p:nvSpPr>
        <p:spPr bwMode="auto">
          <a:xfrm>
            <a:off x="2239537" y="3989918"/>
            <a:ext cx="4566032" cy="949168"/>
          </a:xfrm>
          <a:custGeom>
            <a:avLst/>
            <a:gdLst>
              <a:gd name="T0" fmla="*/ 2907 w 3244"/>
              <a:gd name="T1" fmla="*/ 674 h 674"/>
              <a:gd name="T2" fmla="*/ 3244 w 3244"/>
              <a:gd name="T3" fmla="*/ 337 h 674"/>
              <a:gd name="T4" fmla="*/ 2907 w 3244"/>
              <a:gd name="T5" fmla="*/ 0 h 674"/>
              <a:gd name="T6" fmla="*/ 337 w 3244"/>
              <a:gd name="T7" fmla="*/ 0 h 674"/>
              <a:gd name="T8" fmla="*/ 0 w 3244"/>
              <a:gd name="T9" fmla="*/ 337 h 674"/>
              <a:gd name="T10" fmla="*/ 337 w 3244"/>
              <a:gd name="T11" fmla="*/ 674 h 674"/>
              <a:gd name="T12" fmla="*/ 2907 w 3244"/>
              <a:gd name="T13" fmla="*/ 674 h 6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4" h="674">
                <a:moveTo>
                  <a:pt x="2907" y="674"/>
                </a:moveTo>
                <a:cubicBezTo>
                  <a:pt x="3093" y="674"/>
                  <a:pt x="3244" y="523"/>
                  <a:pt x="3244" y="337"/>
                </a:cubicBezTo>
                <a:cubicBezTo>
                  <a:pt x="3244" y="151"/>
                  <a:pt x="3093" y="0"/>
                  <a:pt x="2907" y="0"/>
                </a:cubicBezTo>
                <a:cubicBezTo>
                  <a:pt x="337" y="0"/>
                  <a:pt x="337" y="0"/>
                  <a:pt x="337" y="0"/>
                </a:cubicBezTo>
                <a:cubicBezTo>
                  <a:pt x="151" y="0"/>
                  <a:pt x="0" y="151"/>
                  <a:pt x="0" y="337"/>
                </a:cubicBezTo>
                <a:cubicBezTo>
                  <a:pt x="0" y="523"/>
                  <a:pt x="151" y="674"/>
                  <a:pt x="337" y="674"/>
                </a:cubicBezTo>
                <a:lnTo>
                  <a:pt x="2907" y="674"/>
                </a:lnTo>
                <a:close/>
              </a:path>
            </a:pathLst>
          </a:custGeom>
          <a:solidFill>
            <a:srgbClr val="76A42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2239537" y="2749142"/>
            <a:ext cx="4566032" cy="949168"/>
          </a:xfrm>
          <a:custGeom>
            <a:avLst/>
            <a:gdLst>
              <a:gd name="T0" fmla="*/ 2907 w 3244"/>
              <a:gd name="T1" fmla="*/ 675 h 675"/>
              <a:gd name="T2" fmla="*/ 3244 w 3244"/>
              <a:gd name="T3" fmla="*/ 337 h 675"/>
              <a:gd name="T4" fmla="*/ 2907 w 3244"/>
              <a:gd name="T5" fmla="*/ 0 h 675"/>
              <a:gd name="T6" fmla="*/ 337 w 3244"/>
              <a:gd name="T7" fmla="*/ 0 h 675"/>
              <a:gd name="T8" fmla="*/ 0 w 3244"/>
              <a:gd name="T9" fmla="*/ 337 h 675"/>
              <a:gd name="T10" fmla="*/ 337 w 3244"/>
              <a:gd name="T11" fmla="*/ 675 h 675"/>
              <a:gd name="T12" fmla="*/ 2907 w 3244"/>
              <a:gd name="T13" fmla="*/ 675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4" h="675">
                <a:moveTo>
                  <a:pt x="2907" y="675"/>
                </a:moveTo>
                <a:cubicBezTo>
                  <a:pt x="3093" y="675"/>
                  <a:pt x="3244" y="523"/>
                  <a:pt x="3244" y="337"/>
                </a:cubicBezTo>
                <a:cubicBezTo>
                  <a:pt x="3244" y="151"/>
                  <a:pt x="3093" y="0"/>
                  <a:pt x="2907" y="0"/>
                </a:cubicBezTo>
                <a:cubicBezTo>
                  <a:pt x="337" y="0"/>
                  <a:pt x="337" y="0"/>
                  <a:pt x="337" y="0"/>
                </a:cubicBezTo>
                <a:cubicBezTo>
                  <a:pt x="151" y="0"/>
                  <a:pt x="0" y="151"/>
                  <a:pt x="0" y="337"/>
                </a:cubicBezTo>
                <a:cubicBezTo>
                  <a:pt x="0" y="523"/>
                  <a:pt x="151" y="675"/>
                  <a:pt x="337" y="675"/>
                </a:cubicBezTo>
                <a:lnTo>
                  <a:pt x="2907" y="675"/>
                </a:lnTo>
                <a:close/>
              </a:path>
            </a:pathLst>
          </a:custGeom>
          <a:solidFill>
            <a:srgbClr val="20A0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5"/>
          <p:cNvSpPr>
            <a:spLocks/>
          </p:cNvSpPr>
          <p:nvPr/>
        </p:nvSpPr>
        <p:spPr bwMode="auto">
          <a:xfrm>
            <a:off x="2239537" y="1508366"/>
            <a:ext cx="4566032" cy="949168"/>
          </a:xfrm>
          <a:custGeom>
            <a:avLst/>
            <a:gdLst>
              <a:gd name="T0" fmla="*/ 2907 w 3244"/>
              <a:gd name="T1" fmla="*/ 674 h 674"/>
              <a:gd name="T2" fmla="*/ 3244 w 3244"/>
              <a:gd name="T3" fmla="*/ 337 h 674"/>
              <a:gd name="T4" fmla="*/ 2907 w 3244"/>
              <a:gd name="T5" fmla="*/ 0 h 674"/>
              <a:gd name="T6" fmla="*/ 337 w 3244"/>
              <a:gd name="T7" fmla="*/ 0 h 674"/>
              <a:gd name="T8" fmla="*/ 0 w 3244"/>
              <a:gd name="T9" fmla="*/ 337 h 674"/>
              <a:gd name="T10" fmla="*/ 337 w 3244"/>
              <a:gd name="T11" fmla="*/ 674 h 674"/>
              <a:gd name="T12" fmla="*/ 2907 w 3244"/>
              <a:gd name="T13" fmla="*/ 674 h 6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4" h="674">
                <a:moveTo>
                  <a:pt x="2907" y="674"/>
                </a:moveTo>
                <a:cubicBezTo>
                  <a:pt x="3093" y="674"/>
                  <a:pt x="3244" y="523"/>
                  <a:pt x="3244" y="337"/>
                </a:cubicBezTo>
                <a:cubicBezTo>
                  <a:pt x="3244" y="151"/>
                  <a:pt x="3093" y="0"/>
                  <a:pt x="2907" y="0"/>
                </a:cubicBezTo>
                <a:cubicBezTo>
                  <a:pt x="337" y="0"/>
                  <a:pt x="337" y="0"/>
                  <a:pt x="337" y="0"/>
                </a:cubicBezTo>
                <a:cubicBezTo>
                  <a:pt x="151" y="0"/>
                  <a:pt x="0" y="151"/>
                  <a:pt x="0" y="337"/>
                </a:cubicBezTo>
                <a:cubicBezTo>
                  <a:pt x="0" y="523"/>
                  <a:pt x="151" y="674"/>
                  <a:pt x="337" y="674"/>
                </a:cubicBezTo>
                <a:lnTo>
                  <a:pt x="2907" y="674"/>
                </a:lnTo>
                <a:close/>
              </a:path>
            </a:pathLst>
          </a:custGeom>
          <a:solidFill>
            <a:srgbClr val="8F7EB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360" y="1306963"/>
            <a:ext cx="5119200" cy="149129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360" y="2549326"/>
            <a:ext cx="5119200" cy="149129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360" y="3791689"/>
            <a:ext cx="5119200" cy="149129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360" y="5034051"/>
            <a:ext cx="5119200" cy="1491293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2549006" y="5537866"/>
            <a:ext cx="344487" cy="336550"/>
            <a:chOff x="4503738" y="9809163"/>
            <a:chExt cx="344487" cy="336550"/>
          </a:xfrm>
        </p:grpSpPr>
        <p:sp>
          <p:nvSpPr>
            <p:cNvPr id="14" name="Freeform 23"/>
            <p:cNvSpPr>
              <a:spLocks noEditPoints="1"/>
            </p:cNvSpPr>
            <p:nvPr/>
          </p:nvSpPr>
          <p:spPr bwMode="auto">
            <a:xfrm>
              <a:off x="4503738" y="9809163"/>
              <a:ext cx="344487" cy="336550"/>
            </a:xfrm>
            <a:custGeom>
              <a:avLst/>
              <a:gdLst>
                <a:gd name="T0" fmla="*/ 105 w 108"/>
                <a:gd name="T1" fmla="*/ 95 h 107"/>
                <a:gd name="T2" fmla="*/ 76 w 108"/>
                <a:gd name="T3" fmla="*/ 66 h 107"/>
                <a:gd name="T4" fmla="*/ 83 w 108"/>
                <a:gd name="T5" fmla="*/ 42 h 107"/>
                <a:gd name="T6" fmla="*/ 42 w 108"/>
                <a:gd name="T7" fmla="*/ 0 h 107"/>
                <a:gd name="T8" fmla="*/ 0 w 108"/>
                <a:gd name="T9" fmla="*/ 42 h 107"/>
                <a:gd name="T10" fmla="*/ 42 w 108"/>
                <a:gd name="T11" fmla="*/ 83 h 107"/>
                <a:gd name="T12" fmla="*/ 66 w 108"/>
                <a:gd name="T13" fmla="*/ 76 h 107"/>
                <a:gd name="T14" fmla="*/ 95 w 108"/>
                <a:gd name="T15" fmla="*/ 105 h 107"/>
                <a:gd name="T16" fmla="*/ 100 w 108"/>
                <a:gd name="T17" fmla="*/ 107 h 107"/>
                <a:gd name="T18" fmla="*/ 105 w 108"/>
                <a:gd name="T19" fmla="*/ 105 h 107"/>
                <a:gd name="T20" fmla="*/ 105 w 108"/>
                <a:gd name="T21" fmla="*/ 95 h 107"/>
                <a:gd name="T22" fmla="*/ 7 w 108"/>
                <a:gd name="T23" fmla="*/ 42 h 107"/>
                <a:gd name="T24" fmla="*/ 42 w 108"/>
                <a:gd name="T25" fmla="*/ 7 h 107"/>
                <a:gd name="T26" fmla="*/ 76 w 108"/>
                <a:gd name="T27" fmla="*/ 42 h 107"/>
                <a:gd name="T28" fmla="*/ 42 w 108"/>
                <a:gd name="T29" fmla="*/ 76 h 107"/>
                <a:gd name="T30" fmla="*/ 7 w 108"/>
                <a:gd name="T31" fmla="*/ 4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8" h="107">
                  <a:moveTo>
                    <a:pt x="105" y="95"/>
                  </a:moveTo>
                  <a:cubicBezTo>
                    <a:pt x="76" y="66"/>
                    <a:pt x="76" y="66"/>
                    <a:pt x="76" y="66"/>
                  </a:cubicBezTo>
                  <a:cubicBezTo>
                    <a:pt x="81" y="59"/>
                    <a:pt x="83" y="51"/>
                    <a:pt x="83" y="42"/>
                  </a:cubicBezTo>
                  <a:cubicBezTo>
                    <a:pt x="83" y="19"/>
                    <a:pt x="65" y="0"/>
                    <a:pt x="42" y="0"/>
                  </a:cubicBezTo>
                  <a:cubicBezTo>
                    <a:pt x="19" y="0"/>
                    <a:pt x="0" y="19"/>
                    <a:pt x="0" y="42"/>
                  </a:cubicBezTo>
                  <a:cubicBezTo>
                    <a:pt x="0" y="65"/>
                    <a:pt x="19" y="83"/>
                    <a:pt x="42" y="83"/>
                  </a:cubicBezTo>
                  <a:cubicBezTo>
                    <a:pt x="51" y="83"/>
                    <a:pt x="59" y="81"/>
                    <a:pt x="66" y="76"/>
                  </a:cubicBezTo>
                  <a:cubicBezTo>
                    <a:pt x="95" y="105"/>
                    <a:pt x="95" y="105"/>
                    <a:pt x="95" y="105"/>
                  </a:cubicBezTo>
                  <a:cubicBezTo>
                    <a:pt x="96" y="106"/>
                    <a:pt x="98" y="107"/>
                    <a:pt x="100" y="107"/>
                  </a:cubicBezTo>
                  <a:cubicBezTo>
                    <a:pt x="101" y="107"/>
                    <a:pt x="103" y="106"/>
                    <a:pt x="105" y="105"/>
                  </a:cubicBezTo>
                  <a:cubicBezTo>
                    <a:pt x="108" y="102"/>
                    <a:pt x="108" y="97"/>
                    <a:pt x="105" y="95"/>
                  </a:cubicBezTo>
                  <a:moveTo>
                    <a:pt x="7" y="42"/>
                  </a:moveTo>
                  <a:cubicBezTo>
                    <a:pt x="7" y="23"/>
                    <a:pt x="23" y="7"/>
                    <a:pt x="42" y="7"/>
                  </a:cubicBezTo>
                  <a:cubicBezTo>
                    <a:pt x="61" y="7"/>
                    <a:pt x="76" y="23"/>
                    <a:pt x="76" y="42"/>
                  </a:cubicBezTo>
                  <a:cubicBezTo>
                    <a:pt x="76" y="61"/>
                    <a:pt x="61" y="76"/>
                    <a:pt x="42" y="76"/>
                  </a:cubicBezTo>
                  <a:cubicBezTo>
                    <a:pt x="23" y="76"/>
                    <a:pt x="7" y="61"/>
                    <a:pt x="7" y="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24"/>
            <p:cNvSpPr>
              <a:spLocks/>
            </p:cNvSpPr>
            <p:nvPr/>
          </p:nvSpPr>
          <p:spPr bwMode="auto">
            <a:xfrm>
              <a:off x="4567238" y="9869488"/>
              <a:ext cx="138112" cy="138113"/>
            </a:xfrm>
            <a:custGeom>
              <a:avLst/>
              <a:gdLst>
                <a:gd name="T0" fmla="*/ 39 w 43"/>
                <a:gd name="T1" fmla="*/ 18 h 44"/>
                <a:gd name="T2" fmla="*/ 25 w 43"/>
                <a:gd name="T3" fmla="*/ 18 h 44"/>
                <a:gd name="T4" fmla="*/ 25 w 43"/>
                <a:gd name="T5" fmla="*/ 4 h 44"/>
                <a:gd name="T6" fmla="*/ 21 w 43"/>
                <a:gd name="T7" fmla="*/ 0 h 44"/>
                <a:gd name="T8" fmla="*/ 18 w 43"/>
                <a:gd name="T9" fmla="*/ 4 h 44"/>
                <a:gd name="T10" fmla="*/ 18 w 43"/>
                <a:gd name="T11" fmla="*/ 18 h 44"/>
                <a:gd name="T12" fmla="*/ 3 w 43"/>
                <a:gd name="T13" fmla="*/ 18 h 44"/>
                <a:gd name="T14" fmla="*/ 0 w 43"/>
                <a:gd name="T15" fmla="*/ 22 h 44"/>
                <a:gd name="T16" fmla="*/ 3 w 43"/>
                <a:gd name="T17" fmla="*/ 26 h 44"/>
                <a:gd name="T18" fmla="*/ 18 w 43"/>
                <a:gd name="T19" fmla="*/ 26 h 44"/>
                <a:gd name="T20" fmla="*/ 18 w 43"/>
                <a:gd name="T21" fmla="*/ 40 h 44"/>
                <a:gd name="T22" fmla="*/ 21 w 43"/>
                <a:gd name="T23" fmla="*/ 44 h 44"/>
                <a:gd name="T24" fmla="*/ 25 w 43"/>
                <a:gd name="T25" fmla="*/ 40 h 44"/>
                <a:gd name="T26" fmla="*/ 25 w 43"/>
                <a:gd name="T27" fmla="*/ 26 h 44"/>
                <a:gd name="T28" fmla="*/ 39 w 43"/>
                <a:gd name="T29" fmla="*/ 26 h 44"/>
                <a:gd name="T30" fmla="*/ 43 w 43"/>
                <a:gd name="T31" fmla="*/ 22 h 44"/>
                <a:gd name="T32" fmla="*/ 39 w 43"/>
                <a:gd name="T33" fmla="*/ 1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" h="44">
                  <a:moveTo>
                    <a:pt x="39" y="18"/>
                  </a:moveTo>
                  <a:cubicBezTo>
                    <a:pt x="25" y="18"/>
                    <a:pt x="25" y="18"/>
                    <a:pt x="25" y="18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"/>
                    <a:pt x="23" y="0"/>
                    <a:pt x="21" y="0"/>
                  </a:cubicBezTo>
                  <a:cubicBezTo>
                    <a:pt x="19" y="0"/>
                    <a:pt x="18" y="2"/>
                    <a:pt x="18" y="4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1" y="18"/>
                    <a:pt x="0" y="20"/>
                    <a:pt x="0" y="22"/>
                  </a:cubicBezTo>
                  <a:cubicBezTo>
                    <a:pt x="0" y="24"/>
                    <a:pt x="1" y="26"/>
                    <a:pt x="3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8" y="42"/>
                    <a:pt x="19" y="44"/>
                    <a:pt x="21" y="44"/>
                  </a:cubicBezTo>
                  <a:cubicBezTo>
                    <a:pt x="23" y="44"/>
                    <a:pt x="25" y="42"/>
                    <a:pt x="25" y="40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41" y="26"/>
                    <a:pt x="43" y="24"/>
                    <a:pt x="43" y="22"/>
                  </a:cubicBezTo>
                  <a:cubicBezTo>
                    <a:pt x="43" y="20"/>
                    <a:pt x="41" y="18"/>
                    <a:pt x="39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415656" y="1734127"/>
            <a:ext cx="608012" cy="365125"/>
            <a:chOff x="4370388" y="1439863"/>
            <a:chExt cx="608012" cy="365125"/>
          </a:xfrm>
        </p:grpSpPr>
        <p:sp>
          <p:nvSpPr>
            <p:cNvPr id="17" name="Freeform 25"/>
            <p:cNvSpPr>
              <a:spLocks noEditPoints="1"/>
            </p:cNvSpPr>
            <p:nvPr/>
          </p:nvSpPr>
          <p:spPr bwMode="auto">
            <a:xfrm>
              <a:off x="4605338" y="1439863"/>
              <a:ext cx="373062" cy="365125"/>
            </a:xfrm>
            <a:custGeom>
              <a:avLst/>
              <a:gdLst>
                <a:gd name="T0" fmla="*/ 117 w 117"/>
                <a:gd name="T1" fmla="*/ 58 h 116"/>
                <a:gd name="T2" fmla="*/ 101 w 117"/>
                <a:gd name="T3" fmla="*/ 51 h 116"/>
                <a:gd name="T4" fmla="*/ 106 w 117"/>
                <a:gd name="T5" fmla="*/ 39 h 116"/>
                <a:gd name="T6" fmla="*/ 99 w 117"/>
                <a:gd name="T7" fmla="*/ 26 h 116"/>
                <a:gd name="T8" fmla="*/ 86 w 117"/>
                <a:gd name="T9" fmla="*/ 24 h 116"/>
                <a:gd name="T10" fmla="*/ 87 w 117"/>
                <a:gd name="T11" fmla="*/ 7 h 116"/>
                <a:gd name="T12" fmla="*/ 74 w 117"/>
                <a:gd name="T13" fmla="*/ 17 h 116"/>
                <a:gd name="T14" fmla="*/ 65 w 117"/>
                <a:gd name="T15" fmla="*/ 7 h 116"/>
                <a:gd name="T16" fmla="*/ 51 w 117"/>
                <a:gd name="T17" fmla="*/ 7 h 116"/>
                <a:gd name="T18" fmla="*/ 43 w 117"/>
                <a:gd name="T19" fmla="*/ 17 h 116"/>
                <a:gd name="T20" fmla="*/ 29 w 117"/>
                <a:gd name="T21" fmla="*/ 7 h 116"/>
                <a:gd name="T22" fmla="*/ 30 w 117"/>
                <a:gd name="T23" fmla="*/ 24 h 116"/>
                <a:gd name="T24" fmla="*/ 18 w 117"/>
                <a:gd name="T25" fmla="*/ 26 h 116"/>
                <a:gd name="T26" fmla="*/ 10 w 117"/>
                <a:gd name="T27" fmla="*/ 39 h 116"/>
                <a:gd name="T28" fmla="*/ 15 w 117"/>
                <a:gd name="T29" fmla="*/ 51 h 116"/>
                <a:gd name="T30" fmla="*/ 0 w 117"/>
                <a:gd name="T31" fmla="*/ 58 h 116"/>
                <a:gd name="T32" fmla="*/ 15 w 117"/>
                <a:gd name="T33" fmla="*/ 65 h 116"/>
                <a:gd name="T34" fmla="*/ 10 w 117"/>
                <a:gd name="T35" fmla="*/ 77 h 116"/>
                <a:gd name="T36" fmla="*/ 18 w 117"/>
                <a:gd name="T37" fmla="*/ 90 h 116"/>
                <a:gd name="T38" fmla="*/ 30 w 117"/>
                <a:gd name="T39" fmla="*/ 92 h 116"/>
                <a:gd name="T40" fmla="*/ 29 w 117"/>
                <a:gd name="T41" fmla="*/ 108 h 116"/>
                <a:gd name="T42" fmla="*/ 43 w 117"/>
                <a:gd name="T43" fmla="*/ 99 h 116"/>
                <a:gd name="T44" fmla="*/ 51 w 117"/>
                <a:gd name="T45" fmla="*/ 109 h 116"/>
                <a:gd name="T46" fmla="*/ 65 w 117"/>
                <a:gd name="T47" fmla="*/ 109 h 116"/>
                <a:gd name="T48" fmla="*/ 74 w 117"/>
                <a:gd name="T49" fmla="*/ 99 h 116"/>
                <a:gd name="T50" fmla="*/ 87 w 117"/>
                <a:gd name="T51" fmla="*/ 108 h 116"/>
                <a:gd name="T52" fmla="*/ 86 w 117"/>
                <a:gd name="T53" fmla="*/ 92 h 116"/>
                <a:gd name="T54" fmla="*/ 99 w 117"/>
                <a:gd name="T55" fmla="*/ 90 h 116"/>
                <a:gd name="T56" fmla="*/ 106 w 117"/>
                <a:gd name="T57" fmla="*/ 77 h 116"/>
                <a:gd name="T58" fmla="*/ 101 w 117"/>
                <a:gd name="T59" fmla="*/ 65 h 116"/>
                <a:gd name="T60" fmla="*/ 58 w 117"/>
                <a:gd name="T61" fmla="*/ 94 h 116"/>
                <a:gd name="T62" fmla="*/ 58 w 117"/>
                <a:gd name="T63" fmla="*/ 21 h 116"/>
                <a:gd name="T64" fmla="*/ 58 w 117"/>
                <a:gd name="T65" fmla="*/ 94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7" h="116">
                  <a:moveTo>
                    <a:pt x="109" y="65"/>
                  </a:moveTo>
                  <a:cubicBezTo>
                    <a:pt x="113" y="65"/>
                    <a:pt x="117" y="62"/>
                    <a:pt x="117" y="58"/>
                  </a:cubicBezTo>
                  <a:cubicBezTo>
                    <a:pt x="117" y="54"/>
                    <a:pt x="113" y="51"/>
                    <a:pt x="109" y="51"/>
                  </a:cubicBezTo>
                  <a:cubicBezTo>
                    <a:pt x="101" y="51"/>
                    <a:pt x="101" y="51"/>
                    <a:pt x="101" y="51"/>
                  </a:cubicBezTo>
                  <a:cubicBezTo>
                    <a:pt x="101" y="48"/>
                    <a:pt x="100" y="45"/>
                    <a:pt x="99" y="43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10" y="37"/>
                    <a:pt x="111" y="32"/>
                    <a:pt x="109" y="29"/>
                  </a:cubicBezTo>
                  <a:cubicBezTo>
                    <a:pt x="107" y="25"/>
                    <a:pt x="102" y="24"/>
                    <a:pt x="99" y="26"/>
                  </a:cubicBezTo>
                  <a:cubicBezTo>
                    <a:pt x="92" y="30"/>
                    <a:pt x="92" y="30"/>
                    <a:pt x="92" y="30"/>
                  </a:cubicBezTo>
                  <a:cubicBezTo>
                    <a:pt x="90" y="28"/>
                    <a:pt x="88" y="26"/>
                    <a:pt x="86" y="24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2" y="14"/>
                    <a:pt x="91" y="9"/>
                    <a:pt x="87" y="7"/>
                  </a:cubicBezTo>
                  <a:cubicBezTo>
                    <a:pt x="84" y="5"/>
                    <a:pt x="80" y="7"/>
                    <a:pt x="78" y="10"/>
                  </a:cubicBezTo>
                  <a:cubicBezTo>
                    <a:pt x="74" y="17"/>
                    <a:pt x="74" y="17"/>
                    <a:pt x="74" y="17"/>
                  </a:cubicBezTo>
                  <a:cubicBezTo>
                    <a:pt x="71" y="16"/>
                    <a:pt x="68" y="15"/>
                    <a:pt x="65" y="15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5" y="3"/>
                    <a:pt x="62" y="0"/>
                    <a:pt x="58" y="0"/>
                  </a:cubicBezTo>
                  <a:cubicBezTo>
                    <a:pt x="54" y="0"/>
                    <a:pt x="51" y="3"/>
                    <a:pt x="51" y="7"/>
                  </a:cubicBezTo>
                  <a:cubicBezTo>
                    <a:pt x="51" y="15"/>
                    <a:pt x="51" y="15"/>
                    <a:pt x="51" y="15"/>
                  </a:cubicBezTo>
                  <a:cubicBezTo>
                    <a:pt x="48" y="15"/>
                    <a:pt x="46" y="16"/>
                    <a:pt x="43" y="17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7" y="7"/>
                    <a:pt x="33" y="5"/>
                    <a:pt x="29" y="7"/>
                  </a:cubicBezTo>
                  <a:cubicBezTo>
                    <a:pt x="26" y="9"/>
                    <a:pt x="24" y="14"/>
                    <a:pt x="26" y="17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28" y="26"/>
                    <a:pt x="26" y="28"/>
                    <a:pt x="25" y="30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4" y="24"/>
                    <a:pt x="10" y="25"/>
                    <a:pt x="8" y="29"/>
                  </a:cubicBezTo>
                  <a:cubicBezTo>
                    <a:pt x="6" y="32"/>
                    <a:pt x="7" y="37"/>
                    <a:pt x="10" y="39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5"/>
                    <a:pt x="16" y="48"/>
                    <a:pt x="15" y="5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3" y="51"/>
                    <a:pt x="0" y="54"/>
                    <a:pt x="0" y="58"/>
                  </a:cubicBezTo>
                  <a:cubicBezTo>
                    <a:pt x="0" y="62"/>
                    <a:pt x="3" y="65"/>
                    <a:pt x="7" y="65"/>
                  </a:cubicBezTo>
                  <a:cubicBezTo>
                    <a:pt x="15" y="65"/>
                    <a:pt x="15" y="65"/>
                    <a:pt x="15" y="65"/>
                  </a:cubicBezTo>
                  <a:cubicBezTo>
                    <a:pt x="16" y="68"/>
                    <a:pt x="16" y="71"/>
                    <a:pt x="17" y="73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7" y="79"/>
                    <a:pt x="6" y="84"/>
                    <a:pt x="8" y="87"/>
                  </a:cubicBezTo>
                  <a:cubicBezTo>
                    <a:pt x="10" y="91"/>
                    <a:pt x="14" y="92"/>
                    <a:pt x="18" y="90"/>
                  </a:cubicBezTo>
                  <a:cubicBezTo>
                    <a:pt x="25" y="86"/>
                    <a:pt x="25" y="86"/>
                    <a:pt x="25" y="86"/>
                  </a:cubicBezTo>
                  <a:cubicBezTo>
                    <a:pt x="26" y="88"/>
                    <a:pt x="28" y="90"/>
                    <a:pt x="30" y="92"/>
                  </a:cubicBezTo>
                  <a:cubicBezTo>
                    <a:pt x="26" y="99"/>
                    <a:pt x="26" y="99"/>
                    <a:pt x="26" y="99"/>
                  </a:cubicBezTo>
                  <a:cubicBezTo>
                    <a:pt x="24" y="102"/>
                    <a:pt x="26" y="106"/>
                    <a:pt x="29" y="108"/>
                  </a:cubicBezTo>
                  <a:cubicBezTo>
                    <a:pt x="33" y="110"/>
                    <a:pt x="37" y="109"/>
                    <a:pt x="39" y="106"/>
                  </a:cubicBezTo>
                  <a:cubicBezTo>
                    <a:pt x="43" y="99"/>
                    <a:pt x="43" y="99"/>
                    <a:pt x="43" y="99"/>
                  </a:cubicBezTo>
                  <a:cubicBezTo>
                    <a:pt x="46" y="100"/>
                    <a:pt x="48" y="101"/>
                    <a:pt x="51" y="101"/>
                  </a:cubicBezTo>
                  <a:cubicBezTo>
                    <a:pt x="51" y="109"/>
                    <a:pt x="51" y="109"/>
                    <a:pt x="51" y="109"/>
                  </a:cubicBezTo>
                  <a:cubicBezTo>
                    <a:pt x="51" y="113"/>
                    <a:pt x="54" y="116"/>
                    <a:pt x="58" y="116"/>
                  </a:cubicBezTo>
                  <a:cubicBezTo>
                    <a:pt x="62" y="116"/>
                    <a:pt x="65" y="113"/>
                    <a:pt x="65" y="109"/>
                  </a:cubicBezTo>
                  <a:cubicBezTo>
                    <a:pt x="65" y="101"/>
                    <a:pt x="65" y="101"/>
                    <a:pt x="65" y="101"/>
                  </a:cubicBezTo>
                  <a:cubicBezTo>
                    <a:pt x="68" y="101"/>
                    <a:pt x="71" y="100"/>
                    <a:pt x="74" y="99"/>
                  </a:cubicBezTo>
                  <a:cubicBezTo>
                    <a:pt x="78" y="106"/>
                    <a:pt x="78" y="106"/>
                    <a:pt x="78" y="106"/>
                  </a:cubicBezTo>
                  <a:cubicBezTo>
                    <a:pt x="80" y="109"/>
                    <a:pt x="84" y="110"/>
                    <a:pt x="87" y="108"/>
                  </a:cubicBezTo>
                  <a:cubicBezTo>
                    <a:pt x="91" y="106"/>
                    <a:pt x="92" y="102"/>
                    <a:pt x="90" y="99"/>
                  </a:cubicBezTo>
                  <a:cubicBezTo>
                    <a:pt x="86" y="92"/>
                    <a:pt x="86" y="92"/>
                    <a:pt x="86" y="92"/>
                  </a:cubicBezTo>
                  <a:cubicBezTo>
                    <a:pt x="88" y="90"/>
                    <a:pt x="90" y="88"/>
                    <a:pt x="92" y="86"/>
                  </a:cubicBezTo>
                  <a:cubicBezTo>
                    <a:pt x="99" y="90"/>
                    <a:pt x="99" y="90"/>
                    <a:pt x="99" y="90"/>
                  </a:cubicBezTo>
                  <a:cubicBezTo>
                    <a:pt x="102" y="92"/>
                    <a:pt x="107" y="91"/>
                    <a:pt x="109" y="87"/>
                  </a:cubicBezTo>
                  <a:cubicBezTo>
                    <a:pt x="111" y="84"/>
                    <a:pt x="110" y="79"/>
                    <a:pt x="106" y="77"/>
                  </a:cubicBezTo>
                  <a:cubicBezTo>
                    <a:pt x="99" y="73"/>
                    <a:pt x="99" y="73"/>
                    <a:pt x="99" y="73"/>
                  </a:cubicBezTo>
                  <a:cubicBezTo>
                    <a:pt x="100" y="71"/>
                    <a:pt x="101" y="68"/>
                    <a:pt x="101" y="65"/>
                  </a:cubicBezTo>
                  <a:lnTo>
                    <a:pt x="109" y="65"/>
                  </a:lnTo>
                  <a:close/>
                  <a:moveTo>
                    <a:pt x="58" y="94"/>
                  </a:moveTo>
                  <a:cubicBezTo>
                    <a:pt x="38" y="94"/>
                    <a:pt x="22" y="78"/>
                    <a:pt x="22" y="58"/>
                  </a:cubicBezTo>
                  <a:cubicBezTo>
                    <a:pt x="22" y="38"/>
                    <a:pt x="38" y="21"/>
                    <a:pt x="58" y="21"/>
                  </a:cubicBezTo>
                  <a:cubicBezTo>
                    <a:pt x="78" y="21"/>
                    <a:pt x="95" y="38"/>
                    <a:pt x="95" y="58"/>
                  </a:cubicBezTo>
                  <a:cubicBezTo>
                    <a:pt x="95" y="78"/>
                    <a:pt x="78" y="94"/>
                    <a:pt x="58" y="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26"/>
            <p:cNvSpPr>
              <a:spLocks noEditPoints="1"/>
            </p:cNvSpPr>
            <p:nvPr/>
          </p:nvSpPr>
          <p:spPr bwMode="auto">
            <a:xfrm>
              <a:off x="4370388" y="1552576"/>
              <a:ext cx="244475" cy="242888"/>
            </a:xfrm>
            <a:custGeom>
              <a:avLst/>
              <a:gdLst>
                <a:gd name="T0" fmla="*/ 70 w 77"/>
                <a:gd name="T1" fmla="*/ 31 h 77"/>
                <a:gd name="T2" fmla="*/ 64 w 77"/>
                <a:gd name="T3" fmla="*/ 31 h 77"/>
                <a:gd name="T4" fmla="*/ 61 w 77"/>
                <a:gd name="T5" fmla="*/ 26 h 77"/>
                <a:gd name="T6" fmla="*/ 66 w 77"/>
                <a:gd name="T7" fmla="*/ 21 h 77"/>
                <a:gd name="T8" fmla="*/ 66 w 77"/>
                <a:gd name="T9" fmla="*/ 11 h 77"/>
                <a:gd name="T10" fmla="*/ 56 w 77"/>
                <a:gd name="T11" fmla="*/ 11 h 77"/>
                <a:gd name="T12" fmla="*/ 51 w 77"/>
                <a:gd name="T13" fmla="*/ 16 h 77"/>
                <a:gd name="T14" fmla="*/ 46 w 77"/>
                <a:gd name="T15" fmla="*/ 14 h 77"/>
                <a:gd name="T16" fmla="*/ 46 w 77"/>
                <a:gd name="T17" fmla="*/ 7 h 77"/>
                <a:gd name="T18" fmla="*/ 39 w 77"/>
                <a:gd name="T19" fmla="*/ 0 h 77"/>
                <a:gd name="T20" fmla="*/ 32 w 77"/>
                <a:gd name="T21" fmla="*/ 7 h 77"/>
                <a:gd name="T22" fmla="*/ 32 w 77"/>
                <a:gd name="T23" fmla="*/ 14 h 77"/>
                <a:gd name="T24" fmla="*/ 26 w 77"/>
                <a:gd name="T25" fmla="*/ 16 h 77"/>
                <a:gd name="T26" fmla="*/ 22 w 77"/>
                <a:gd name="T27" fmla="*/ 11 h 77"/>
                <a:gd name="T28" fmla="*/ 11 w 77"/>
                <a:gd name="T29" fmla="*/ 11 h 77"/>
                <a:gd name="T30" fmla="*/ 11 w 77"/>
                <a:gd name="T31" fmla="*/ 21 h 77"/>
                <a:gd name="T32" fmla="*/ 16 w 77"/>
                <a:gd name="T33" fmla="*/ 26 h 77"/>
                <a:gd name="T34" fmla="*/ 14 w 77"/>
                <a:gd name="T35" fmla="*/ 31 h 77"/>
                <a:gd name="T36" fmla="*/ 7 w 77"/>
                <a:gd name="T37" fmla="*/ 31 h 77"/>
                <a:gd name="T38" fmla="*/ 0 w 77"/>
                <a:gd name="T39" fmla="*/ 38 h 77"/>
                <a:gd name="T40" fmla="*/ 7 w 77"/>
                <a:gd name="T41" fmla="*/ 46 h 77"/>
                <a:gd name="T42" fmla="*/ 14 w 77"/>
                <a:gd name="T43" fmla="*/ 46 h 77"/>
                <a:gd name="T44" fmla="*/ 16 w 77"/>
                <a:gd name="T45" fmla="*/ 51 h 77"/>
                <a:gd name="T46" fmla="*/ 11 w 77"/>
                <a:gd name="T47" fmla="*/ 56 h 77"/>
                <a:gd name="T48" fmla="*/ 11 w 77"/>
                <a:gd name="T49" fmla="*/ 66 h 77"/>
                <a:gd name="T50" fmla="*/ 22 w 77"/>
                <a:gd name="T51" fmla="*/ 66 h 77"/>
                <a:gd name="T52" fmla="*/ 26 w 77"/>
                <a:gd name="T53" fmla="*/ 61 h 77"/>
                <a:gd name="T54" fmla="*/ 32 w 77"/>
                <a:gd name="T55" fmla="*/ 63 h 77"/>
                <a:gd name="T56" fmla="*/ 32 w 77"/>
                <a:gd name="T57" fmla="*/ 70 h 77"/>
                <a:gd name="T58" fmla="*/ 39 w 77"/>
                <a:gd name="T59" fmla="*/ 77 h 77"/>
                <a:gd name="T60" fmla="*/ 46 w 77"/>
                <a:gd name="T61" fmla="*/ 70 h 77"/>
                <a:gd name="T62" fmla="*/ 46 w 77"/>
                <a:gd name="T63" fmla="*/ 63 h 77"/>
                <a:gd name="T64" fmla="*/ 51 w 77"/>
                <a:gd name="T65" fmla="*/ 61 h 77"/>
                <a:gd name="T66" fmla="*/ 56 w 77"/>
                <a:gd name="T67" fmla="*/ 66 h 77"/>
                <a:gd name="T68" fmla="*/ 66 w 77"/>
                <a:gd name="T69" fmla="*/ 66 h 77"/>
                <a:gd name="T70" fmla="*/ 66 w 77"/>
                <a:gd name="T71" fmla="*/ 56 h 77"/>
                <a:gd name="T72" fmla="*/ 61 w 77"/>
                <a:gd name="T73" fmla="*/ 51 h 77"/>
                <a:gd name="T74" fmla="*/ 64 w 77"/>
                <a:gd name="T75" fmla="*/ 46 h 77"/>
                <a:gd name="T76" fmla="*/ 70 w 77"/>
                <a:gd name="T77" fmla="*/ 46 h 77"/>
                <a:gd name="T78" fmla="*/ 77 w 77"/>
                <a:gd name="T79" fmla="*/ 38 h 77"/>
                <a:gd name="T80" fmla="*/ 70 w 77"/>
                <a:gd name="T81" fmla="*/ 31 h 77"/>
                <a:gd name="T82" fmla="*/ 39 w 77"/>
                <a:gd name="T83" fmla="*/ 57 h 77"/>
                <a:gd name="T84" fmla="*/ 20 w 77"/>
                <a:gd name="T85" fmla="*/ 38 h 77"/>
                <a:gd name="T86" fmla="*/ 39 w 77"/>
                <a:gd name="T87" fmla="*/ 20 h 77"/>
                <a:gd name="T88" fmla="*/ 57 w 77"/>
                <a:gd name="T89" fmla="*/ 38 h 77"/>
                <a:gd name="T90" fmla="*/ 39 w 77"/>
                <a:gd name="T91" fmla="*/ 5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7" h="77">
                  <a:moveTo>
                    <a:pt x="70" y="31"/>
                  </a:moveTo>
                  <a:cubicBezTo>
                    <a:pt x="64" y="31"/>
                    <a:pt x="64" y="31"/>
                    <a:pt x="64" y="31"/>
                  </a:cubicBezTo>
                  <a:cubicBezTo>
                    <a:pt x="63" y="29"/>
                    <a:pt x="62" y="28"/>
                    <a:pt x="61" y="26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69" y="18"/>
                    <a:pt x="69" y="14"/>
                    <a:pt x="66" y="11"/>
                  </a:cubicBezTo>
                  <a:cubicBezTo>
                    <a:pt x="63" y="8"/>
                    <a:pt x="59" y="8"/>
                    <a:pt x="56" y="11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0" y="15"/>
                    <a:pt x="48" y="14"/>
                    <a:pt x="46" y="14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3"/>
                    <a:pt x="43" y="0"/>
                    <a:pt x="39" y="0"/>
                  </a:cubicBezTo>
                  <a:cubicBezTo>
                    <a:pt x="35" y="0"/>
                    <a:pt x="32" y="3"/>
                    <a:pt x="32" y="7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4"/>
                    <a:pt x="28" y="15"/>
                    <a:pt x="26" y="16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19" y="8"/>
                    <a:pt x="14" y="8"/>
                    <a:pt x="11" y="11"/>
                  </a:cubicBezTo>
                  <a:cubicBezTo>
                    <a:pt x="9" y="14"/>
                    <a:pt x="9" y="18"/>
                    <a:pt x="11" y="21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5" y="28"/>
                    <a:pt x="15" y="29"/>
                    <a:pt x="14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34"/>
                    <a:pt x="0" y="38"/>
                  </a:cubicBezTo>
                  <a:cubicBezTo>
                    <a:pt x="0" y="42"/>
                    <a:pt x="3" y="46"/>
                    <a:pt x="7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7"/>
                    <a:pt x="15" y="49"/>
                    <a:pt x="16" y="51"/>
                  </a:cubicBezTo>
                  <a:cubicBezTo>
                    <a:pt x="11" y="56"/>
                    <a:pt x="11" y="56"/>
                    <a:pt x="11" y="56"/>
                  </a:cubicBezTo>
                  <a:cubicBezTo>
                    <a:pt x="9" y="58"/>
                    <a:pt x="9" y="63"/>
                    <a:pt x="11" y="66"/>
                  </a:cubicBezTo>
                  <a:cubicBezTo>
                    <a:pt x="14" y="69"/>
                    <a:pt x="19" y="69"/>
                    <a:pt x="22" y="66"/>
                  </a:cubicBezTo>
                  <a:cubicBezTo>
                    <a:pt x="26" y="61"/>
                    <a:pt x="26" y="61"/>
                    <a:pt x="26" y="61"/>
                  </a:cubicBezTo>
                  <a:cubicBezTo>
                    <a:pt x="28" y="62"/>
                    <a:pt x="30" y="63"/>
                    <a:pt x="32" y="63"/>
                  </a:cubicBezTo>
                  <a:cubicBezTo>
                    <a:pt x="32" y="70"/>
                    <a:pt x="32" y="70"/>
                    <a:pt x="32" y="70"/>
                  </a:cubicBezTo>
                  <a:cubicBezTo>
                    <a:pt x="32" y="74"/>
                    <a:pt x="35" y="77"/>
                    <a:pt x="39" y="77"/>
                  </a:cubicBezTo>
                  <a:cubicBezTo>
                    <a:pt x="43" y="77"/>
                    <a:pt x="46" y="74"/>
                    <a:pt x="46" y="70"/>
                  </a:cubicBezTo>
                  <a:cubicBezTo>
                    <a:pt x="46" y="63"/>
                    <a:pt x="46" y="63"/>
                    <a:pt x="46" y="63"/>
                  </a:cubicBezTo>
                  <a:cubicBezTo>
                    <a:pt x="48" y="63"/>
                    <a:pt x="50" y="62"/>
                    <a:pt x="51" y="61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9" y="69"/>
                    <a:pt x="63" y="69"/>
                    <a:pt x="66" y="66"/>
                  </a:cubicBezTo>
                  <a:cubicBezTo>
                    <a:pt x="69" y="63"/>
                    <a:pt x="69" y="58"/>
                    <a:pt x="66" y="56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2" y="49"/>
                    <a:pt x="63" y="47"/>
                    <a:pt x="64" y="46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74" y="46"/>
                    <a:pt x="77" y="42"/>
                    <a:pt x="77" y="38"/>
                  </a:cubicBezTo>
                  <a:cubicBezTo>
                    <a:pt x="77" y="34"/>
                    <a:pt x="74" y="31"/>
                    <a:pt x="70" y="31"/>
                  </a:cubicBezTo>
                  <a:moveTo>
                    <a:pt x="39" y="57"/>
                  </a:moveTo>
                  <a:cubicBezTo>
                    <a:pt x="29" y="57"/>
                    <a:pt x="20" y="49"/>
                    <a:pt x="20" y="38"/>
                  </a:cubicBezTo>
                  <a:cubicBezTo>
                    <a:pt x="20" y="28"/>
                    <a:pt x="29" y="20"/>
                    <a:pt x="39" y="20"/>
                  </a:cubicBezTo>
                  <a:cubicBezTo>
                    <a:pt x="49" y="20"/>
                    <a:pt x="57" y="28"/>
                    <a:pt x="57" y="38"/>
                  </a:cubicBezTo>
                  <a:cubicBezTo>
                    <a:pt x="57" y="49"/>
                    <a:pt x="49" y="57"/>
                    <a:pt x="39" y="5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501381" y="4278330"/>
            <a:ext cx="433387" cy="374650"/>
            <a:chOff x="4456113" y="6981826"/>
            <a:chExt cx="433387" cy="374650"/>
          </a:xfrm>
        </p:grpSpPr>
        <p:sp>
          <p:nvSpPr>
            <p:cNvPr id="20" name="Freeform 27"/>
            <p:cNvSpPr>
              <a:spLocks noEditPoints="1"/>
            </p:cNvSpPr>
            <p:nvPr/>
          </p:nvSpPr>
          <p:spPr bwMode="auto">
            <a:xfrm>
              <a:off x="4456113" y="6981826"/>
              <a:ext cx="306387" cy="374650"/>
            </a:xfrm>
            <a:custGeom>
              <a:avLst/>
              <a:gdLst>
                <a:gd name="T0" fmla="*/ 67 w 96"/>
                <a:gd name="T1" fmla="*/ 48 h 119"/>
                <a:gd name="T2" fmla="*/ 76 w 96"/>
                <a:gd name="T3" fmla="*/ 28 h 119"/>
                <a:gd name="T4" fmla="*/ 48 w 96"/>
                <a:gd name="T5" fmla="*/ 0 h 119"/>
                <a:gd name="T6" fmla="*/ 20 w 96"/>
                <a:gd name="T7" fmla="*/ 28 h 119"/>
                <a:gd name="T8" fmla="*/ 29 w 96"/>
                <a:gd name="T9" fmla="*/ 48 h 119"/>
                <a:gd name="T10" fmla="*/ 0 w 96"/>
                <a:gd name="T11" fmla="*/ 92 h 119"/>
                <a:gd name="T12" fmla="*/ 0 w 96"/>
                <a:gd name="T13" fmla="*/ 119 h 119"/>
                <a:gd name="T14" fmla="*/ 96 w 96"/>
                <a:gd name="T15" fmla="*/ 119 h 119"/>
                <a:gd name="T16" fmla="*/ 96 w 96"/>
                <a:gd name="T17" fmla="*/ 92 h 119"/>
                <a:gd name="T18" fmla="*/ 67 w 96"/>
                <a:gd name="T19" fmla="*/ 48 h 119"/>
                <a:gd name="T20" fmla="*/ 27 w 96"/>
                <a:gd name="T21" fmla="*/ 28 h 119"/>
                <a:gd name="T22" fmla="*/ 48 w 96"/>
                <a:gd name="T23" fmla="*/ 8 h 119"/>
                <a:gd name="T24" fmla="*/ 69 w 96"/>
                <a:gd name="T25" fmla="*/ 28 h 119"/>
                <a:gd name="T26" fmla="*/ 59 w 96"/>
                <a:gd name="T27" fmla="*/ 46 h 119"/>
                <a:gd name="T28" fmla="*/ 48 w 96"/>
                <a:gd name="T29" fmla="*/ 49 h 119"/>
                <a:gd name="T30" fmla="*/ 37 w 96"/>
                <a:gd name="T31" fmla="*/ 46 h 119"/>
                <a:gd name="T32" fmla="*/ 27 w 96"/>
                <a:gd name="T33" fmla="*/ 28 h 119"/>
                <a:gd name="T34" fmla="*/ 83 w 96"/>
                <a:gd name="T35" fmla="*/ 107 h 119"/>
                <a:gd name="T36" fmla="*/ 13 w 96"/>
                <a:gd name="T37" fmla="*/ 107 h 119"/>
                <a:gd name="T38" fmla="*/ 13 w 96"/>
                <a:gd name="T39" fmla="*/ 92 h 119"/>
                <a:gd name="T40" fmla="*/ 48 w 96"/>
                <a:gd name="T41" fmla="*/ 57 h 119"/>
                <a:gd name="T42" fmla="*/ 83 w 96"/>
                <a:gd name="T43" fmla="*/ 92 h 119"/>
                <a:gd name="T44" fmla="*/ 83 w 96"/>
                <a:gd name="T45" fmla="*/ 10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6" h="119">
                  <a:moveTo>
                    <a:pt x="67" y="48"/>
                  </a:moveTo>
                  <a:cubicBezTo>
                    <a:pt x="73" y="43"/>
                    <a:pt x="76" y="36"/>
                    <a:pt x="76" y="28"/>
                  </a:cubicBezTo>
                  <a:cubicBezTo>
                    <a:pt x="76" y="13"/>
                    <a:pt x="63" y="0"/>
                    <a:pt x="48" y="0"/>
                  </a:cubicBezTo>
                  <a:cubicBezTo>
                    <a:pt x="33" y="0"/>
                    <a:pt x="20" y="13"/>
                    <a:pt x="20" y="28"/>
                  </a:cubicBezTo>
                  <a:cubicBezTo>
                    <a:pt x="20" y="36"/>
                    <a:pt x="24" y="43"/>
                    <a:pt x="29" y="48"/>
                  </a:cubicBezTo>
                  <a:cubicBezTo>
                    <a:pt x="12" y="56"/>
                    <a:pt x="0" y="73"/>
                    <a:pt x="0" y="92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96" y="119"/>
                    <a:pt x="96" y="119"/>
                    <a:pt x="96" y="119"/>
                  </a:cubicBezTo>
                  <a:cubicBezTo>
                    <a:pt x="96" y="92"/>
                    <a:pt x="96" y="92"/>
                    <a:pt x="96" y="92"/>
                  </a:cubicBezTo>
                  <a:cubicBezTo>
                    <a:pt x="96" y="73"/>
                    <a:pt x="84" y="56"/>
                    <a:pt x="67" y="48"/>
                  </a:cubicBezTo>
                  <a:moveTo>
                    <a:pt x="27" y="28"/>
                  </a:moveTo>
                  <a:cubicBezTo>
                    <a:pt x="27" y="17"/>
                    <a:pt x="37" y="8"/>
                    <a:pt x="48" y="8"/>
                  </a:cubicBezTo>
                  <a:cubicBezTo>
                    <a:pt x="59" y="8"/>
                    <a:pt x="69" y="17"/>
                    <a:pt x="69" y="28"/>
                  </a:cubicBezTo>
                  <a:cubicBezTo>
                    <a:pt x="69" y="36"/>
                    <a:pt x="65" y="42"/>
                    <a:pt x="59" y="46"/>
                  </a:cubicBezTo>
                  <a:cubicBezTo>
                    <a:pt x="56" y="48"/>
                    <a:pt x="52" y="49"/>
                    <a:pt x="48" y="49"/>
                  </a:cubicBezTo>
                  <a:cubicBezTo>
                    <a:pt x="44" y="49"/>
                    <a:pt x="40" y="48"/>
                    <a:pt x="37" y="46"/>
                  </a:cubicBezTo>
                  <a:cubicBezTo>
                    <a:pt x="31" y="42"/>
                    <a:pt x="27" y="36"/>
                    <a:pt x="27" y="28"/>
                  </a:cubicBezTo>
                  <a:moveTo>
                    <a:pt x="83" y="107"/>
                  </a:moveTo>
                  <a:cubicBezTo>
                    <a:pt x="13" y="107"/>
                    <a:pt x="13" y="107"/>
                    <a:pt x="13" y="107"/>
                  </a:cubicBezTo>
                  <a:cubicBezTo>
                    <a:pt x="13" y="92"/>
                    <a:pt x="13" y="92"/>
                    <a:pt x="13" y="92"/>
                  </a:cubicBezTo>
                  <a:cubicBezTo>
                    <a:pt x="13" y="73"/>
                    <a:pt x="29" y="57"/>
                    <a:pt x="48" y="57"/>
                  </a:cubicBezTo>
                  <a:cubicBezTo>
                    <a:pt x="68" y="57"/>
                    <a:pt x="83" y="73"/>
                    <a:pt x="83" y="92"/>
                  </a:cubicBezTo>
                  <a:lnTo>
                    <a:pt x="83" y="10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28"/>
            <p:cNvSpPr>
              <a:spLocks/>
            </p:cNvSpPr>
            <p:nvPr/>
          </p:nvSpPr>
          <p:spPr bwMode="auto">
            <a:xfrm>
              <a:off x="4749800" y="6988176"/>
              <a:ext cx="139700" cy="195263"/>
            </a:xfrm>
            <a:custGeom>
              <a:avLst/>
              <a:gdLst>
                <a:gd name="T0" fmla="*/ 22 w 44"/>
                <a:gd name="T1" fmla="*/ 62 h 62"/>
                <a:gd name="T2" fmla="*/ 19 w 44"/>
                <a:gd name="T3" fmla="*/ 58 h 62"/>
                <a:gd name="T4" fmla="*/ 19 w 44"/>
                <a:gd name="T5" fmla="*/ 37 h 62"/>
                <a:gd name="T6" fmla="*/ 22 w 44"/>
                <a:gd name="T7" fmla="*/ 37 h 62"/>
                <a:gd name="T8" fmla="*/ 37 w 44"/>
                <a:gd name="T9" fmla="*/ 22 h 62"/>
                <a:gd name="T10" fmla="*/ 22 w 44"/>
                <a:gd name="T11" fmla="*/ 7 h 62"/>
                <a:gd name="T12" fmla="*/ 8 w 44"/>
                <a:gd name="T13" fmla="*/ 22 h 62"/>
                <a:gd name="T14" fmla="*/ 4 w 44"/>
                <a:gd name="T15" fmla="*/ 26 h 62"/>
                <a:gd name="T16" fmla="*/ 0 w 44"/>
                <a:gd name="T17" fmla="*/ 22 h 62"/>
                <a:gd name="T18" fmla="*/ 22 w 44"/>
                <a:gd name="T19" fmla="*/ 0 h 62"/>
                <a:gd name="T20" fmla="*/ 44 w 44"/>
                <a:gd name="T21" fmla="*/ 22 h 62"/>
                <a:gd name="T22" fmla="*/ 26 w 44"/>
                <a:gd name="T23" fmla="*/ 44 h 62"/>
                <a:gd name="T24" fmla="*/ 26 w 44"/>
                <a:gd name="T25" fmla="*/ 58 h 62"/>
                <a:gd name="T26" fmla="*/ 22 w 44"/>
                <a:gd name="T27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4" h="62">
                  <a:moveTo>
                    <a:pt x="22" y="62"/>
                  </a:moveTo>
                  <a:cubicBezTo>
                    <a:pt x="20" y="62"/>
                    <a:pt x="19" y="60"/>
                    <a:pt x="19" y="5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31" y="37"/>
                    <a:pt x="37" y="30"/>
                    <a:pt x="37" y="22"/>
                  </a:cubicBezTo>
                  <a:cubicBezTo>
                    <a:pt x="37" y="14"/>
                    <a:pt x="31" y="7"/>
                    <a:pt x="22" y="7"/>
                  </a:cubicBezTo>
                  <a:cubicBezTo>
                    <a:pt x="14" y="7"/>
                    <a:pt x="8" y="14"/>
                    <a:pt x="8" y="22"/>
                  </a:cubicBezTo>
                  <a:cubicBezTo>
                    <a:pt x="8" y="24"/>
                    <a:pt x="6" y="26"/>
                    <a:pt x="4" y="26"/>
                  </a:cubicBezTo>
                  <a:cubicBezTo>
                    <a:pt x="2" y="26"/>
                    <a:pt x="0" y="24"/>
                    <a:pt x="0" y="22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34" y="0"/>
                    <a:pt x="44" y="10"/>
                    <a:pt x="44" y="22"/>
                  </a:cubicBezTo>
                  <a:cubicBezTo>
                    <a:pt x="44" y="33"/>
                    <a:pt x="36" y="42"/>
                    <a:pt x="26" y="44"/>
                  </a:cubicBezTo>
                  <a:cubicBezTo>
                    <a:pt x="26" y="58"/>
                    <a:pt x="26" y="58"/>
                    <a:pt x="26" y="58"/>
                  </a:cubicBezTo>
                  <a:cubicBezTo>
                    <a:pt x="26" y="60"/>
                    <a:pt x="24" y="62"/>
                    <a:pt x="22" y="6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Oval 29"/>
            <p:cNvSpPr>
              <a:spLocks noChangeArrowheads="1"/>
            </p:cNvSpPr>
            <p:nvPr/>
          </p:nvSpPr>
          <p:spPr bwMode="auto">
            <a:xfrm>
              <a:off x="4803775" y="7196138"/>
              <a:ext cx="34925" cy="333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3" name="Freeform 30"/>
          <p:cNvSpPr>
            <a:spLocks noEditPoints="1"/>
          </p:cNvSpPr>
          <p:nvPr/>
        </p:nvSpPr>
        <p:spPr bwMode="auto">
          <a:xfrm>
            <a:off x="2458518" y="3032700"/>
            <a:ext cx="525462" cy="379413"/>
          </a:xfrm>
          <a:custGeom>
            <a:avLst/>
            <a:gdLst>
              <a:gd name="T0" fmla="*/ 47 w 165"/>
              <a:gd name="T1" fmla="*/ 57 h 121"/>
              <a:gd name="T2" fmla="*/ 60 w 165"/>
              <a:gd name="T3" fmla="*/ 82 h 121"/>
              <a:gd name="T4" fmla="*/ 98 w 165"/>
              <a:gd name="T5" fmla="*/ 78 h 121"/>
              <a:gd name="T6" fmla="*/ 104 w 165"/>
              <a:gd name="T7" fmla="*/ 68 h 121"/>
              <a:gd name="T8" fmla="*/ 77 w 165"/>
              <a:gd name="T9" fmla="*/ 28 h 121"/>
              <a:gd name="T10" fmla="*/ 141 w 165"/>
              <a:gd name="T11" fmla="*/ 121 h 121"/>
              <a:gd name="T12" fmla="*/ 117 w 165"/>
              <a:gd name="T13" fmla="*/ 91 h 121"/>
              <a:gd name="T14" fmla="*/ 77 w 165"/>
              <a:gd name="T15" fmla="*/ 94 h 121"/>
              <a:gd name="T16" fmla="*/ 30 w 165"/>
              <a:gd name="T17" fmla="*/ 115 h 121"/>
              <a:gd name="T18" fmla="*/ 30 w 165"/>
              <a:gd name="T19" fmla="*/ 55 h 121"/>
              <a:gd name="T20" fmla="*/ 43 w 165"/>
              <a:gd name="T21" fmla="*/ 45 h 121"/>
              <a:gd name="T22" fmla="*/ 34 w 165"/>
              <a:gd name="T23" fmla="*/ 39 h 121"/>
              <a:gd name="T24" fmla="*/ 5 w 165"/>
              <a:gd name="T25" fmla="*/ 24 h 121"/>
              <a:gd name="T26" fmla="*/ 42 w 165"/>
              <a:gd name="T27" fmla="*/ 24 h 121"/>
              <a:gd name="T28" fmla="*/ 50 w 165"/>
              <a:gd name="T29" fmla="*/ 32 h 121"/>
              <a:gd name="T30" fmla="*/ 104 w 165"/>
              <a:gd name="T31" fmla="*/ 33 h 121"/>
              <a:gd name="T32" fmla="*/ 110 w 165"/>
              <a:gd name="T33" fmla="*/ 24 h 121"/>
              <a:gd name="T34" fmla="*/ 159 w 165"/>
              <a:gd name="T35" fmla="*/ 24 h 121"/>
              <a:gd name="T36" fmla="*/ 118 w 165"/>
              <a:gd name="T37" fmla="*/ 42 h 121"/>
              <a:gd name="T38" fmla="*/ 113 w 165"/>
              <a:gd name="T39" fmla="*/ 57 h 121"/>
              <a:gd name="T40" fmla="*/ 125 w 165"/>
              <a:gd name="T41" fmla="*/ 79 h 121"/>
              <a:gd name="T42" fmla="*/ 165 w 165"/>
              <a:gd name="T43" fmla="*/ 97 h 121"/>
              <a:gd name="T44" fmla="*/ 41 w 165"/>
              <a:gd name="T45" fmla="*/ 64 h 121"/>
              <a:gd name="T46" fmla="*/ 7 w 165"/>
              <a:gd name="T47" fmla="*/ 85 h 121"/>
              <a:gd name="T48" fmla="*/ 53 w 165"/>
              <a:gd name="T49" fmla="*/ 85 h 121"/>
              <a:gd name="T50" fmla="*/ 116 w 165"/>
              <a:gd name="T51" fmla="*/ 27 h 121"/>
              <a:gd name="T52" fmla="*/ 123 w 165"/>
              <a:gd name="T53" fmla="*/ 39 h 121"/>
              <a:gd name="T54" fmla="*/ 153 w 165"/>
              <a:gd name="T55" fmla="*/ 24 h 121"/>
              <a:gd name="T56" fmla="*/ 116 w 165"/>
              <a:gd name="T57" fmla="*/ 24 h 121"/>
              <a:gd name="T58" fmla="*/ 23 w 165"/>
              <a:gd name="T59" fmla="*/ 12 h 121"/>
              <a:gd name="T60" fmla="*/ 23 w 165"/>
              <a:gd name="T61" fmla="*/ 37 h 121"/>
              <a:gd name="T62" fmla="*/ 28 w 165"/>
              <a:gd name="T63" fmla="*/ 27 h 121"/>
              <a:gd name="T64" fmla="*/ 158 w 165"/>
              <a:gd name="T65" fmla="*/ 97 h 121"/>
              <a:gd name="T66" fmla="*/ 123 w 165"/>
              <a:gd name="T67" fmla="*/ 97 h 121"/>
              <a:gd name="T68" fmla="*/ 158 w 165"/>
              <a:gd name="T69" fmla="*/ 97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65" h="121">
                <a:moveTo>
                  <a:pt x="77" y="28"/>
                </a:moveTo>
                <a:cubicBezTo>
                  <a:pt x="61" y="28"/>
                  <a:pt x="47" y="41"/>
                  <a:pt x="47" y="57"/>
                </a:cubicBezTo>
                <a:cubicBezTo>
                  <a:pt x="47" y="58"/>
                  <a:pt x="47" y="59"/>
                  <a:pt x="48" y="60"/>
                </a:cubicBezTo>
                <a:cubicBezTo>
                  <a:pt x="55" y="65"/>
                  <a:pt x="59" y="73"/>
                  <a:pt x="60" y="82"/>
                </a:cubicBezTo>
                <a:cubicBezTo>
                  <a:pt x="65" y="85"/>
                  <a:pt x="71" y="87"/>
                  <a:pt x="77" y="87"/>
                </a:cubicBezTo>
                <a:cubicBezTo>
                  <a:pt x="85" y="87"/>
                  <a:pt x="92" y="83"/>
                  <a:pt x="98" y="78"/>
                </a:cubicBezTo>
                <a:cubicBezTo>
                  <a:pt x="97" y="76"/>
                  <a:pt x="97" y="73"/>
                  <a:pt x="98" y="71"/>
                </a:cubicBezTo>
                <a:cubicBezTo>
                  <a:pt x="100" y="69"/>
                  <a:pt x="102" y="68"/>
                  <a:pt x="104" y="68"/>
                </a:cubicBezTo>
                <a:cubicBezTo>
                  <a:pt x="105" y="65"/>
                  <a:pt x="106" y="61"/>
                  <a:pt x="106" y="57"/>
                </a:cubicBezTo>
                <a:cubicBezTo>
                  <a:pt x="106" y="41"/>
                  <a:pt x="93" y="28"/>
                  <a:pt x="77" y="28"/>
                </a:cubicBezTo>
                <a:moveTo>
                  <a:pt x="165" y="97"/>
                </a:moveTo>
                <a:cubicBezTo>
                  <a:pt x="165" y="111"/>
                  <a:pt x="154" y="121"/>
                  <a:pt x="141" y="121"/>
                </a:cubicBezTo>
                <a:cubicBezTo>
                  <a:pt x="127" y="121"/>
                  <a:pt x="116" y="111"/>
                  <a:pt x="116" y="97"/>
                </a:cubicBezTo>
                <a:cubicBezTo>
                  <a:pt x="116" y="95"/>
                  <a:pt x="117" y="93"/>
                  <a:pt x="117" y="91"/>
                </a:cubicBezTo>
                <a:cubicBezTo>
                  <a:pt x="115" y="90"/>
                  <a:pt x="106" y="84"/>
                  <a:pt x="103" y="83"/>
                </a:cubicBezTo>
                <a:cubicBezTo>
                  <a:pt x="96" y="90"/>
                  <a:pt x="87" y="94"/>
                  <a:pt x="77" y="94"/>
                </a:cubicBezTo>
                <a:cubicBezTo>
                  <a:pt x="71" y="94"/>
                  <a:pt x="65" y="92"/>
                  <a:pt x="60" y="90"/>
                </a:cubicBezTo>
                <a:cubicBezTo>
                  <a:pt x="58" y="104"/>
                  <a:pt x="45" y="115"/>
                  <a:pt x="30" y="115"/>
                </a:cubicBezTo>
                <a:cubicBezTo>
                  <a:pt x="13" y="115"/>
                  <a:pt x="0" y="102"/>
                  <a:pt x="0" y="85"/>
                </a:cubicBezTo>
                <a:cubicBezTo>
                  <a:pt x="0" y="68"/>
                  <a:pt x="13" y="55"/>
                  <a:pt x="30" y="55"/>
                </a:cubicBezTo>
                <a:cubicBezTo>
                  <a:pt x="34" y="55"/>
                  <a:pt x="37" y="55"/>
                  <a:pt x="40" y="56"/>
                </a:cubicBezTo>
                <a:cubicBezTo>
                  <a:pt x="40" y="52"/>
                  <a:pt x="41" y="48"/>
                  <a:pt x="43" y="45"/>
                </a:cubicBezTo>
                <a:cubicBezTo>
                  <a:pt x="42" y="45"/>
                  <a:pt x="42" y="45"/>
                  <a:pt x="42" y="45"/>
                </a:cubicBezTo>
                <a:cubicBezTo>
                  <a:pt x="34" y="39"/>
                  <a:pt x="34" y="39"/>
                  <a:pt x="34" y="39"/>
                </a:cubicBezTo>
                <a:cubicBezTo>
                  <a:pt x="31" y="41"/>
                  <a:pt x="27" y="43"/>
                  <a:pt x="23" y="43"/>
                </a:cubicBezTo>
                <a:cubicBezTo>
                  <a:pt x="13" y="43"/>
                  <a:pt x="5" y="34"/>
                  <a:pt x="5" y="24"/>
                </a:cubicBezTo>
                <a:cubicBezTo>
                  <a:pt x="5" y="14"/>
                  <a:pt x="13" y="6"/>
                  <a:pt x="23" y="6"/>
                </a:cubicBezTo>
                <a:cubicBezTo>
                  <a:pt x="34" y="6"/>
                  <a:pt x="42" y="14"/>
                  <a:pt x="42" y="24"/>
                </a:cubicBezTo>
                <a:cubicBezTo>
                  <a:pt x="42" y="25"/>
                  <a:pt x="42" y="26"/>
                  <a:pt x="42" y="27"/>
                </a:cubicBezTo>
                <a:cubicBezTo>
                  <a:pt x="50" y="32"/>
                  <a:pt x="50" y="32"/>
                  <a:pt x="50" y="32"/>
                </a:cubicBezTo>
                <a:cubicBezTo>
                  <a:pt x="57" y="25"/>
                  <a:pt x="66" y="21"/>
                  <a:pt x="77" y="21"/>
                </a:cubicBezTo>
                <a:cubicBezTo>
                  <a:pt x="88" y="21"/>
                  <a:pt x="98" y="26"/>
                  <a:pt x="104" y="33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10" y="28"/>
                  <a:pt x="110" y="26"/>
                  <a:pt x="110" y="24"/>
                </a:cubicBezTo>
                <a:cubicBezTo>
                  <a:pt x="110" y="11"/>
                  <a:pt x="121" y="0"/>
                  <a:pt x="135" y="0"/>
                </a:cubicBezTo>
                <a:cubicBezTo>
                  <a:pt x="148" y="0"/>
                  <a:pt x="159" y="11"/>
                  <a:pt x="159" y="24"/>
                </a:cubicBezTo>
                <a:cubicBezTo>
                  <a:pt x="159" y="38"/>
                  <a:pt x="148" y="49"/>
                  <a:pt x="135" y="49"/>
                </a:cubicBezTo>
                <a:cubicBezTo>
                  <a:pt x="128" y="49"/>
                  <a:pt x="122" y="46"/>
                  <a:pt x="118" y="42"/>
                </a:cubicBezTo>
                <a:cubicBezTo>
                  <a:pt x="111" y="46"/>
                  <a:pt x="111" y="46"/>
                  <a:pt x="111" y="46"/>
                </a:cubicBezTo>
                <a:cubicBezTo>
                  <a:pt x="113" y="49"/>
                  <a:pt x="113" y="53"/>
                  <a:pt x="113" y="57"/>
                </a:cubicBezTo>
                <a:cubicBezTo>
                  <a:pt x="113" y="62"/>
                  <a:pt x="112" y="66"/>
                  <a:pt x="111" y="70"/>
                </a:cubicBezTo>
                <a:cubicBezTo>
                  <a:pt x="125" y="79"/>
                  <a:pt x="125" y="79"/>
                  <a:pt x="125" y="79"/>
                </a:cubicBezTo>
                <a:cubicBezTo>
                  <a:pt x="129" y="75"/>
                  <a:pt x="135" y="73"/>
                  <a:pt x="141" y="73"/>
                </a:cubicBezTo>
                <a:cubicBezTo>
                  <a:pt x="154" y="73"/>
                  <a:pt x="165" y="84"/>
                  <a:pt x="165" y="97"/>
                </a:cubicBezTo>
                <a:moveTo>
                  <a:pt x="53" y="85"/>
                </a:moveTo>
                <a:cubicBezTo>
                  <a:pt x="53" y="76"/>
                  <a:pt x="48" y="68"/>
                  <a:pt x="41" y="64"/>
                </a:cubicBezTo>
                <a:cubicBezTo>
                  <a:pt x="38" y="63"/>
                  <a:pt x="34" y="62"/>
                  <a:pt x="30" y="62"/>
                </a:cubicBezTo>
                <a:cubicBezTo>
                  <a:pt x="17" y="62"/>
                  <a:pt x="7" y="72"/>
                  <a:pt x="7" y="85"/>
                </a:cubicBezTo>
                <a:cubicBezTo>
                  <a:pt x="7" y="98"/>
                  <a:pt x="17" y="108"/>
                  <a:pt x="30" y="108"/>
                </a:cubicBezTo>
                <a:cubicBezTo>
                  <a:pt x="43" y="108"/>
                  <a:pt x="53" y="98"/>
                  <a:pt x="53" y="85"/>
                </a:cubicBezTo>
                <a:close/>
                <a:moveTo>
                  <a:pt x="116" y="24"/>
                </a:moveTo>
                <a:cubicBezTo>
                  <a:pt x="116" y="25"/>
                  <a:pt x="116" y="26"/>
                  <a:pt x="116" y="27"/>
                </a:cubicBezTo>
                <a:cubicBezTo>
                  <a:pt x="119" y="26"/>
                  <a:pt x="123" y="27"/>
                  <a:pt x="125" y="30"/>
                </a:cubicBezTo>
                <a:cubicBezTo>
                  <a:pt x="126" y="33"/>
                  <a:pt x="126" y="37"/>
                  <a:pt x="123" y="39"/>
                </a:cubicBezTo>
                <a:cubicBezTo>
                  <a:pt x="126" y="41"/>
                  <a:pt x="130" y="43"/>
                  <a:pt x="135" y="43"/>
                </a:cubicBezTo>
                <a:cubicBezTo>
                  <a:pt x="145" y="43"/>
                  <a:pt x="153" y="35"/>
                  <a:pt x="153" y="24"/>
                </a:cubicBezTo>
                <a:cubicBezTo>
                  <a:pt x="153" y="14"/>
                  <a:pt x="145" y="6"/>
                  <a:pt x="135" y="6"/>
                </a:cubicBezTo>
                <a:cubicBezTo>
                  <a:pt x="124" y="6"/>
                  <a:pt x="116" y="14"/>
                  <a:pt x="116" y="24"/>
                </a:cubicBezTo>
                <a:moveTo>
                  <a:pt x="36" y="24"/>
                </a:moveTo>
                <a:cubicBezTo>
                  <a:pt x="36" y="17"/>
                  <a:pt x="30" y="12"/>
                  <a:pt x="23" y="12"/>
                </a:cubicBezTo>
                <a:cubicBezTo>
                  <a:pt x="17" y="12"/>
                  <a:pt x="11" y="17"/>
                  <a:pt x="11" y="24"/>
                </a:cubicBezTo>
                <a:cubicBezTo>
                  <a:pt x="11" y="31"/>
                  <a:pt x="17" y="37"/>
                  <a:pt x="23" y="37"/>
                </a:cubicBezTo>
                <a:cubicBezTo>
                  <a:pt x="25" y="37"/>
                  <a:pt x="27" y="36"/>
                  <a:pt x="29" y="36"/>
                </a:cubicBezTo>
                <a:cubicBezTo>
                  <a:pt x="27" y="33"/>
                  <a:pt x="27" y="30"/>
                  <a:pt x="28" y="27"/>
                </a:cubicBezTo>
                <a:cubicBezTo>
                  <a:pt x="30" y="25"/>
                  <a:pt x="33" y="24"/>
                  <a:pt x="36" y="24"/>
                </a:cubicBezTo>
                <a:moveTo>
                  <a:pt x="158" y="97"/>
                </a:moveTo>
                <a:cubicBezTo>
                  <a:pt x="158" y="87"/>
                  <a:pt x="150" y="79"/>
                  <a:pt x="141" y="79"/>
                </a:cubicBezTo>
                <a:cubicBezTo>
                  <a:pt x="131" y="79"/>
                  <a:pt x="123" y="87"/>
                  <a:pt x="123" y="97"/>
                </a:cubicBezTo>
                <a:cubicBezTo>
                  <a:pt x="123" y="107"/>
                  <a:pt x="131" y="115"/>
                  <a:pt x="141" y="115"/>
                </a:cubicBezTo>
                <a:cubicBezTo>
                  <a:pt x="150" y="115"/>
                  <a:pt x="158" y="107"/>
                  <a:pt x="158" y="97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108492" y="1764474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8F7EB9"/>
                </a:solidFill>
                <a:latin typeface="Agency FB" panose="020B0503020202020204" pitchFamily="34" charset="0"/>
              </a:rPr>
              <a:t>01</a:t>
            </a:r>
            <a:endParaRPr lang="zh-CN" altLang="en-US" sz="2400" dirty="0">
              <a:solidFill>
                <a:srgbClr val="8F7EB9"/>
              </a:solidFill>
              <a:latin typeface="Agency FB" panose="020B0503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108492" y="4246602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76A42D"/>
                </a:solidFill>
                <a:latin typeface="Agency FB" panose="020B0503020202020204" pitchFamily="34" charset="0"/>
              </a:rPr>
              <a:t>03</a:t>
            </a:r>
            <a:endParaRPr lang="zh-CN" altLang="en-US" sz="2400" dirty="0">
              <a:solidFill>
                <a:srgbClr val="76A42D"/>
              </a:solidFill>
              <a:latin typeface="Agency FB" panose="020B0503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108492" y="3005538"/>
            <a:ext cx="437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20A0D5"/>
                </a:solidFill>
                <a:latin typeface="Agency FB" panose="020B0503020202020204" pitchFamily="34" charset="0"/>
              </a:rPr>
              <a:t>02</a:t>
            </a:r>
            <a:endParaRPr lang="zh-CN" altLang="en-US" sz="2400" dirty="0">
              <a:solidFill>
                <a:srgbClr val="20A0D5"/>
              </a:solidFill>
              <a:latin typeface="Agency FB" panose="020B0503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108492" y="5487665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1891A"/>
                </a:solidFill>
                <a:latin typeface="Agency FB" panose="020B0503020202020204" pitchFamily="34" charset="0"/>
              </a:rPr>
              <a:t>04</a:t>
            </a:r>
            <a:endParaRPr lang="zh-CN" altLang="en-US" sz="2400" dirty="0">
              <a:solidFill>
                <a:srgbClr val="F1891A"/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842943" y="1810640"/>
            <a:ext cx="17940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地址</a:t>
            </a:r>
            <a:r>
              <a:rPr lang="en-US" altLang="zh-CN" sz="2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/</a:t>
            </a:r>
            <a:r>
              <a:rPr lang="zh-CN" altLang="en-US" sz="2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数据总线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842943" y="3047585"/>
            <a:ext cx="17940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地址</a:t>
            </a:r>
            <a:r>
              <a:rPr lang="en-US" altLang="zh-CN" sz="2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/</a:t>
            </a:r>
            <a:r>
              <a:rPr lang="zh-CN" altLang="en-US" sz="2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状态总线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842943" y="428453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控制总线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3842943" y="5521475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电源及其它控制线</a:t>
            </a:r>
          </a:p>
        </p:txBody>
      </p:sp>
    </p:spTree>
    <p:extLst>
      <p:ext uri="{BB962C8B-B14F-4D97-AF65-F5344CB8AC3E}">
        <p14:creationId xmlns:p14="http://schemas.microsoft.com/office/powerpoint/2010/main" val="11301680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83568" y="2127136"/>
            <a:ext cx="3906435" cy="2958048"/>
            <a:chOff x="841001" y="1516287"/>
            <a:chExt cx="3330371" cy="1998222"/>
          </a:xfrm>
        </p:grpSpPr>
        <p:sp>
          <p:nvSpPr>
            <p:cNvPr id="3" name="任意多边形 2"/>
            <p:cNvSpPr/>
            <p:nvPr/>
          </p:nvSpPr>
          <p:spPr>
            <a:xfrm>
              <a:off x="841003" y="1516287"/>
              <a:ext cx="3330369" cy="1998222"/>
            </a:xfrm>
            <a:custGeom>
              <a:avLst/>
              <a:gdLst>
                <a:gd name="connsiteX0" fmla="*/ 0 w 3330369"/>
                <a:gd name="connsiteY0" fmla="*/ 0 h 1998222"/>
                <a:gd name="connsiteX1" fmla="*/ 3330369 w 3330369"/>
                <a:gd name="connsiteY1" fmla="*/ 0 h 1998222"/>
                <a:gd name="connsiteX2" fmla="*/ 3330369 w 3330369"/>
                <a:gd name="connsiteY2" fmla="*/ 1998222 h 1998222"/>
                <a:gd name="connsiteX3" fmla="*/ 0 w 3330369"/>
                <a:gd name="connsiteY3" fmla="*/ 1998222 h 1998222"/>
                <a:gd name="connsiteX4" fmla="*/ 0 w 3330369"/>
                <a:gd name="connsiteY4" fmla="*/ 0 h 199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0369" h="1998222">
                  <a:moveTo>
                    <a:pt x="0" y="0"/>
                  </a:moveTo>
                  <a:lnTo>
                    <a:pt x="3330369" y="0"/>
                  </a:lnTo>
                  <a:lnTo>
                    <a:pt x="3330369" y="1998222"/>
                  </a:lnTo>
                  <a:lnTo>
                    <a:pt x="0" y="1998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anchor="ctr" anchorCtr="0">
              <a:noAutofit/>
            </a:bodyPr>
            <a:lstStyle/>
            <a:p>
              <a:pPr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841001" y="1628800"/>
              <a:ext cx="3330370" cy="432048"/>
              <a:chOff x="841001" y="1628800"/>
              <a:chExt cx="3330370" cy="43204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841002" y="1628800"/>
                <a:ext cx="3330369" cy="432048"/>
              </a:xfrm>
              <a:prstGeom prst="rect">
                <a:avLst/>
              </a:prstGeom>
              <a:solidFill>
                <a:schemeClr val="bg1">
                  <a:lumMod val="95000"/>
                  <a:alpha val="8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841001" y="1638614"/>
                <a:ext cx="3330370" cy="412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一、地址</a:t>
                </a:r>
                <a:r>
                  <a:rPr lang="en-US" altLang="zh-CN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/</a:t>
                </a:r>
                <a:r>
                  <a:rPr lang="zh-CN" alt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数据分时复用引脚</a:t>
                </a:r>
              </a:p>
            </p:txBody>
          </p:sp>
        </p:grpSp>
        <p:sp>
          <p:nvSpPr>
            <p:cNvPr id="5" name="TextBox 6"/>
            <p:cNvSpPr txBox="1"/>
            <p:nvPr/>
          </p:nvSpPr>
          <p:spPr>
            <a:xfrm>
              <a:off x="913011" y="2109731"/>
              <a:ext cx="3186352" cy="13386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p"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在访问存储器或外设的总线操作周期中，这些引脚在总线周期的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T1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状态输出存储器或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I/O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端口的低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16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位地址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A15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～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A0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；</a:t>
              </a:r>
              <a:endPara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p"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其它时间与存储器和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I/O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设备交换数据信息。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932040" y="2127136"/>
            <a:ext cx="3906434" cy="2955085"/>
            <a:chOff x="4504410" y="1516287"/>
            <a:chExt cx="3330370" cy="1998222"/>
          </a:xfrm>
        </p:grpSpPr>
        <p:sp>
          <p:nvSpPr>
            <p:cNvPr id="9" name="任意多边形 8"/>
            <p:cNvSpPr/>
            <p:nvPr/>
          </p:nvSpPr>
          <p:spPr>
            <a:xfrm>
              <a:off x="4504410" y="1516287"/>
              <a:ext cx="3330369" cy="1998222"/>
            </a:xfrm>
            <a:custGeom>
              <a:avLst/>
              <a:gdLst>
                <a:gd name="connsiteX0" fmla="*/ 0 w 3330369"/>
                <a:gd name="connsiteY0" fmla="*/ 0 h 1998222"/>
                <a:gd name="connsiteX1" fmla="*/ 3330369 w 3330369"/>
                <a:gd name="connsiteY1" fmla="*/ 0 h 1998222"/>
                <a:gd name="connsiteX2" fmla="*/ 3330369 w 3330369"/>
                <a:gd name="connsiteY2" fmla="*/ 1998222 h 1998222"/>
                <a:gd name="connsiteX3" fmla="*/ 0 w 3330369"/>
                <a:gd name="connsiteY3" fmla="*/ 1998222 h 1998222"/>
                <a:gd name="connsiteX4" fmla="*/ 0 w 3330369"/>
                <a:gd name="connsiteY4" fmla="*/ 0 h 199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0369" h="1998222">
                  <a:moveTo>
                    <a:pt x="0" y="0"/>
                  </a:moveTo>
                  <a:lnTo>
                    <a:pt x="3330369" y="0"/>
                  </a:lnTo>
                  <a:lnTo>
                    <a:pt x="3330369" y="1998222"/>
                  </a:lnTo>
                  <a:lnTo>
                    <a:pt x="0" y="1998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anchor="ctr" anchorCtr="0">
              <a:noAutofit/>
            </a:bodyPr>
            <a:lstStyle/>
            <a:p>
              <a:pPr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dirty="0">
                <a:solidFill>
                  <a:srgbClr val="FFFFFF"/>
                </a:solidFill>
                <a:latin typeface="Segoe UI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4504410" y="1628800"/>
              <a:ext cx="3330370" cy="432048"/>
              <a:chOff x="841001" y="1628800"/>
              <a:chExt cx="3330370" cy="432048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841002" y="1628800"/>
                <a:ext cx="3330369" cy="432048"/>
              </a:xfrm>
              <a:prstGeom prst="rect">
                <a:avLst/>
              </a:prstGeom>
              <a:solidFill>
                <a:schemeClr val="bg1">
                  <a:lumMod val="95000"/>
                  <a:alpha val="8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3" name="TextBox 6"/>
              <p:cNvSpPr txBox="1"/>
              <p:nvPr/>
            </p:nvSpPr>
            <p:spPr>
              <a:xfrm>
                <a:off x="841001" y="1638614"/>
                <a:ext cx="3330370" cy="412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二、地址</a:t>
                </a:r>
                <a:r>
                  <a:rPr lang="en-US" altLang="zh-CN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/</a:t>
                </a:r>
                <a:r>
                  <a:rPr lang="zh-CN" alt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状态分时复用引脚</a:t>
                </a:r>
              </a:p>
            </p:txBody>
          </p:sp>
        </p:grpSp>
        <p:sp>
          <p:nvSpPr>
            <p:cNvPr id="11" name="TextBox 6"/>
            <p:cNvSpPr txBox="1"/>
            <p:nvPr/>
          </p:nvSpPr>
          <p:spPr>
            <a:xfrm>
              <a:off x="4576419" y="2109731"/>
              <a:ext cx="3186352" cy="1361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p"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在访问存储器的总线周期的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T1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状态输出高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位地址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A19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～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A16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，与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AD15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～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AD0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组成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20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位地址；</a:t>
              </a:r>
              <a:endPara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p"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在访问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IO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的总线周期的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T1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状态全部输出低电平无效；</a:t>
              </a:r>
              <a:endPara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p"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其他时间输出状态信号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S6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～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S3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。</a:t>
              </a:r>
            </a:p>
          </p:txBody>
        </p:sp>
      </p:grpSp>
      <p:cxnSp>
        <p:nvCxnSpPr>
          <p:cNvPr id="14" name="直接连接符 1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最小模式下的引脚信号</a:t>
            </a:r>
          </a:p>
        </p:txBody>
      </p:sp>
      <p:cxnSp>
        <p:nvCxnSpPr>
          <p:cNvPr id="16" name="直接连接符 1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9" name="矩形 4"/>
          <p:cNvSpPr>
            <a:spLocks noChangeArrowheads="1"/>
          </p:cNvSpPr>
          <p:nvPr/>
        </p:nvSpPr>
        <p:spPr bwMode="auto">
          <a:xfrm>
            <a:off x="2195736" y="6085393"/>
            <a:ext cx="4680520" cy="45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8088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种，只有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AD7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～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AD0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用于传数据。</a:t>
            </a:r>
          </a:p>
        </p:txBody>
      </p:sp>
      <p:pic>
        <p:nvPicPr>
          <p:cNvPr id="20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2876" y="5769855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48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控制总线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/>
          <p:nvPr/>
        </p:nvSpPr>
        <p:spPr>
          <a:xfrm>
            <a:off x="703436" y="1558416"/>
            <a:ext cx="1442637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BHE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79488" y="1558416"/>
            <a:ext cx="62249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位数据总线允许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状态复用引脚。在总线周期的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T1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状态，此引脚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输出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低电平信号，表示高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位数据线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D15-D8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上的数据有效。 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379488" y="2221760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03436" y="2599322"/>
            <a:ext cx="1442637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379488" y="3262666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2379488" y="2606646"/>
            <a:ext cx="62249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读信号，三态输出，低电平有效。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输出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低电平信号表示当前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正在对存储器或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I/O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进行读操作。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214334" y="1761566"/>
            <a:ext cx="431626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246545" y="2802472"/>
            <a:ext cx="31668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703436" y="3711332"/>
            <a:ext cx="1442637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2379488" y="4374676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2379488" y="3718656"/>
            <a:ext cx="62249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写信号，三态输出。低电平有效，表示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对存储器或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I/O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写操作。在写操作总线周期中，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WR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T2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～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T3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状态中有效，为低电平。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1246545" y="3914482"/>
            <a:ext cx="31668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191423" y="4066882"/>
            <a:ext cx="31668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83568" y="4833968"/>
            <a:ext cx="1442637" cy="755272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M/IO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2379488" y="5589240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2379488" y="4833968"/>
            <a:ext cx="62249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存储器或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端口访问信号，三态输出。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M/IO=0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正在访问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端口；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M/IO=1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正在访问存储器。</a:t>
            </a:r>
            <a:endParaRPr lang="zh-CN" altLang="en-US" sz="1600" dirty="0">
              <a:solidFill>
                <a:srgbClr val="1D8DE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1424905" y="5085184"/>
            <a:ext cx="194767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2146072" y="5975305"/>
            <a:ext cx="5306248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8088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决定存储器和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端口访问的电平与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8086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不同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M/IO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5616" y="5820672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直接连接符 29"/>
          <p:cNvCxnSpPr/>
          <p:nvPr/>
        </p:nvCxnSpPr>
        <p:spPr>
          <a:xfrm>
            <a:off x="6670059" y="6046053"/>
            <a:ext cx="1947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824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 animBg="1"/>
      <p:bldP spid="15" grpId="0"/>
      <p:bldP spid="40" grpId="0" animBg="1"/>
      <p:bldP spid="42" grpId="0"/>
      <p:bldP spid="24" grpId="0" animBg="1"/>
      <p:bldP spid="26" grpId="0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216853"/>
              </p:ext>
            </p:extLst>
          </p:nvPr>
        </p:nvGraphicFramePr>
        <p:xfrm>
          <a:off x="1043608" y="1479464"/>
          <a:ext cx="7200800" cy="4037768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0842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                    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引脚</a:t>
                      </a:r>
                      <a:endParaRPr lang="en-US" altLang="zh-CN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altLang="zh-CN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总线周期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IO/M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WR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RD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84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 读存储器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84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   </a:t>
                      </a:r>
                      <a:r>
                        <a:rPr lang="zh-CN" altLang="en-US" dirty="0"/>
                        <a:t>写存储器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84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读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IO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084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写</a:t>
                      </a:r>
                      <a:r>
                        <a:rPr lang="en-US" altLang="zh-CN" dirty="0"/>
                        <a:t>IO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8" name="直接连接符 7"/>
          <p:cNvCxnSpPr/>
          <p:nvPr/>
        </p:nvCxnSpPr>
        <p:spPr>
          <a:xfrm>
            <a:off x="3615318" y="1802322"/>
            <a:ext cx="1722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364088" y="1806132"/>
            <a:ext cx="3600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7187148" y="1815300"/>
            <a:ext cx="28803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控制总线组合与四种基本总线周期</a:t>
            </a:r>
          </a:p>
        </p:txBody>
      </p:sp>
      <p:cxnSp>
        <p:nvCxnSpPr>
          <p:cNvPr id="14" name="直接连接符 1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5" name="矩形 14"/>
          <p:cNvSpPr/>
          <p:nvPr/>
        </p:nvSpPr>
        <p:spPr>
          <a:xfrm>
            <a:off x="1763688" y="6058861"/>
            <a:ext cx="57179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8086</a:t>
            </a:r>
            <a:r>
              <a:rPr lang="zh-CN" altLang="en-US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en-US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地址线最大</a:t>
            </a:r>
            <a:r>
              <a:rPr lang="en-US" altLang="zh-CN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lang="zh-CN" altLang="en-US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位，可以访问多少个</a:t>
            </a:r>
            <a:r>
              <a:rPr lang="en-US" altLang="zh-CN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en-US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端口？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9592" y="5820672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83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控制总线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矩形 8"/>
          <p:cNvSpPr/>
          <p:nvPr/>
        </p:nvSpPr>
        <p:spPr>
          <a:xfrm>
            <a:off x="683568" y="2708920"/>
            <a:ext cx="1442637" cy="99523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NMI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2379488" y="3704158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2379488" y="2708920"/>
            <a:ext cx="6224960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不可屏蔽中断请求信号，输入，上升沿触发。该请求信号不受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状态的影响，也不能用软件屏蔽，一旦该信号有效，则执行完当前指令后立即响应中断。</a:t>
            </a:r>
            <a:endParaRPr lang="zh-CN" altLang="en-US" sz="1600" dirty="0">
              <a:solidFill>
                <a:srgbClr val="1D8DE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83568" y="4005064"/>
            <a:ext cx="1442637" cy="99523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READY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03436" y="1420390"/>
            <a:ext cx="1442637" cy="100049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2379488" y="5000302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379488" y="2420888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2379488" y="4005064"/>
            <a:ext cx="6224960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准备就绪信号，输入。高电平表示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访问的存储器或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准备好传送数据。若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在总线周期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T3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状态检测到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READY=0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，表示未准备好，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自动插入一个或多个等待状态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Tw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，直到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READY=1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solidFill>
                <a:srgbClr val="1D8DE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379488" y="1412776"/>
            <a:ext cx="6224960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INTR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：可屏蔽中断请求信号，输入，高电平有效。当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INTR=1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，表示外设向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发出中断请求，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在当前指令周期的最后一个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状态去采样该信号，若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IF=1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响应中断，执行中断服务。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83568" y="5301208"/>
            <a:ext cx="1442637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2359620" y="5964552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2359620" y="5397548"/>
            <a:ext cx="6224960" cy="36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测试信号，输入，低电平有效。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585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/>
      <p:bldP spid="19" grpId="0" animBg="1"/>
      <p:bldP spid="20" grpId="0" animBg="1"/>
      <p:bldP spid="24" grpId="0"/>
      <p:bldP spid="25" grpId="0"/>
      <p:bldP spid="26" grpId="0" animBg="1"/>
      <p:bldP spid="2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控制总线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矩形 8"/>
          <p:cNvSpPr/>
          <p:nvPr/>
        </p:nvSpPr>
        <p:spPr>
          <a:xfrm>
            <a:off x="683568" y="2852936"/>
            <a:ext cx="1442637" cy="99523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ALE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2379488" y="3848174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2379488" y="2852936"/>
            <a:ext cx="6224960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Address Latch Enable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）：地址锁存允许信号（标号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），输出，高电平有效。用来锁存地址信号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A15-A0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，分时使用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AD15-AD0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数据总线。</a:t>
            </a:r>
            <a:endParaRPr lang="zh-CN" altLang="en-US" sz="1600" dirty="0">
              <a:solidFill>
                <a:srgbClr val="1D8DE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03436" y="1564406"/>
            <a:ext cx="1442637" cy="100049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INTA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2379488" y="2564904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2379488" y="1556792"/>
            <a:ext cx="6224960" cy="658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中断响应信号，输出，低电平有效。表示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响应了外设发来的中断申请信号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INTR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83568" y="4133808"/>
            <a:ext cx="1442637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HOLD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2359620" y="4797152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2359620" y="4230148"/>
            <a:ext cx="6224960" cy="36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HOLD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：总线请求信号，输入，高电平有效。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1187624" y="1916832"/>
            <a:ext cx="431626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032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/>
      <p:bldP spid="20" grpId="0" animBg="1"/>
      <p:bldP spid="25" grpId="0"/>
      <p:bldP spid="26" grpId="0" animBg="1"/>
      <p:bldP spid="2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其它总线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3" name="矩形 22"/>
          <p:cNvSpPr/>
          <p:nvPr/>
        </p:nvSpPr>
        <p:spPr>
          <a:xfrm>
            <a:off x="703436" y="2477624"/>
            <a:ext cx="1442637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RESET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2379488" y="3140968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2379488" y="2573964"/>
            <a:ext cx="6224960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复位信号，输入，高电平有效。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CS=FFFFH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，其它为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03436" y="1484784"/>
            <a:ext cx="1442637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379488" y="1602438"/>
            <a:ext cx="6224960" cy="36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主时钟信号，输入。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8086/8088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的时钟频率为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5MHz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2379488" y="2148128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683568" y="3429000"/>
            <a:ext cx="1442637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MN/MX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2359620" y="4092344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2359620" y="3525340"/>
            <a:ext cx="6224960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模式选择。高电平最小模式，低电平为最大模式。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1475656" y="3588288"/>
            <a:ext cx="33878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703436" y="4365104"/>
            <a:ext cx="1442637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GND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79488" y="5028448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2379488" y="4461444"/>
            <a:ext cx="6224960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接地。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83568" y="5357944"/>
            <a:ext cx="1442637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Vcc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2359620" y="6021288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2359620" y="5454284"/>
            <a:ext cx="6224960" cy="36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电源输入。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1417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0" grpId="0"/>
      <p:bldP spid="17" grpId="0" animBg="1"/>
      <p:bldP spid="18" grpId="0"/>
      <p:bldP spid="35" grpId="0" animBg="1"/>
      <p:bldP spid="37" grpId="0"/>
      <p:bldP spid="39" grpId="0" animBg="1"/>
      <p:bldP spid="41" grpId="0"/>
      <p:bldP spid="42" grpId="0" animBg="1"/>
      <p:bldP spid="4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31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915816" y="2514157"/>
            <a:ext cx="5040560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微处理器</a:t>
            </a: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8769"/>
            <a:ext cx="3177392" cy="154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结构</a:t>
            </a:r>
          </a:p>
          <a:p>
            <a:pPr indent="-285750" defTabSz="762000"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引脚功能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-285750" defTabSz="762000"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总线周期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时序分析</a:t>
            </a: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3997923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03436" y="1737624"/>
            <a:ext cx="1442637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时钟周期</a:t>
            </a:r>
          </a:p>
        </p:txBody>
      </p:sp>
      <p:sp>
        <p:nvSpPr>
          <p:cNvPr id="3" name="矩形 2"/>
          <p:cNvSpPr/>
          <p:nvPr/>
        </p:nvSpPr>
        <p:spPr>
          <a:xfrm>
            <a:off x="2379488" y="1737624"/>
            <a:ext cx="62249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b="1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时钟周期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的时间基准，是其处理定时的最小单位，由主频决定。执行指令的一系列操作是在时钟脉冲的统一控制下进行的。 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379488" y="2400968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703436" y="2601720"/>
            <a:ext cx="1442637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总线周期</a:t>
            </a:r>
          </a:p>
        </p:txBody>
      </p:sp>
      <p:sp>
        <p:nvSpPr>
          <p:cNvPr id="6" name="矩形 5"/>
          <p:cNvSpPr/>
          <p:nvPr/>
        </p:nvSpPr>
        <p:spPr>
          <a:xfrm>
            <a:off x="683568" y="3488535"/>
            <a:ext cx="1442637" cy="65602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指令周期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379488" y="3265064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379488" y="4123885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379488" y="2609044"/>
            <a:ext cx="62249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通过总线对微处理器外部进行一次访问所需时间称为一个</a:t>
            </a:r>
            <a:r>
              <a:rPr lang="zh-CN" altLang="en-US" sz="1600" b="1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总线周期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。总线周期至少由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个时钟周期组成，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T1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T2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T3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T4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79488" y="3465816"/>
            <a:ext cx="62249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每条指令包括取指令、译码和执行等操作，执行一条指令所需时间称为</a:t>
            </a:r>
            <a:r>
              <a:rPr lang="zh-CN" altLang="en-US" sz="16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指令周期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。一个指令周期由一个或若干个总线周期组成。</a:t>
            </a:r>
            <a:endParaRPr lang="zh-CN" altLang="en-US" sz="1600" dirty="0">
              <a:solidFill>
                <a:srgbClr val="1D8DE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总线周期</a:t>
            </a:r>
          </a:p>
        </p:txBody>
      </p:sp>
      <p:cxnSp>
        <p:nvCxnSpPr>
          <p:cNvPr id="16" name="直接连接符 1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pic>
        <p:nvPicPr>
          <p:cNvPr id="17" name="图片 16" descr="未标题-1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6482" y="171750"/>
            <a:ext cx="1490425" cy="134635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3567" y="4785714"/>
            <a:ext cx="7920881" cy="460767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指令周期通常用若干总线周期表示，而总线周期时间又包含若干个时钟周期。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579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 animBg="1"/>
      <p:bldP spid="6" grpId="0" animBg="1"/>
      <p:bldP spid="12" grpId="0"/>
      <p:bldP spid="13" grpId="0"/>
      <p:bldP spid="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03436" y="1737623"/>
            <a:ext cx="1442637" cy="978729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等待周期</a:t>
            </a:r>
          </a:p>
        </p:txBody>
      </p:sp>
      <p:sp>
        <p:nvSpPr>
          <p:cNvPr id="3" name="矩形 2"/>
          <p:cNvSpPr/>
          <p:nvPr/>
        </p:nvSpPr>
        <p:spPr>
          <a:xfrm>
            <a:off x="2379488" y="1737624"/>
            <a:ext cx="6224960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慢速设备在三个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周期内无法完成数据读写时，它向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READY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引脚发出低电平信号，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检测到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READY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为低时，</a:t>
            </a:r>
            <a:r>
              <a:rPr lang="zh-CN" altLang="en-US" sz="16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T3</a:t>
            </a:r>
            <a:r>
              <a:rPr lang="zh-CN" altLang="en-US" sz="16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T4</a:t>
            </a:r>
            <a:r>
              <a:rPr lang="zh-CN" altLang="en-US" sz="16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之间插入</a:t>
            </a:r>
            <a:r>
              <a:rPr lang="en-US" altLang="zh-CN" sz="16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Tw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，即等待周期。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379488" y="2708920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703436" y="3242468"/>
            <a:ext cx="1442637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空闲周期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379488" y="3905812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379488" y="3249792"/>
            <a:ext cx="62249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如果在一个总线周期结束后不立即执行下一个总线周期，系统总线处于空闲状态，这时，执行空闲周期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Ti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总线周期中等待周期和空闲周期</a:t>
            </a:r>
          </a:p>
        </p:txBody>
      </p:sp>
      <p:cxnSp>
        <p:nvCxnSpPr>
          <p:cNvPr id="16" name="直接连接符 1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pic>
        <p:nvPicPr>
          <p:cNvPr id="17" name="图片 16" descr="未标题-1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6482" y="171750"/>
            <a:ext cx="1490425" cy="134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80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 animBg="1"/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34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915816" y="2514157"/>
            <a:ext cx="5040560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微处理器</a:t>
            </a: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8769"/>
            <a:ext cx="3177392" cy="154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结构</a:t>
            </a:r>
          </a:p>
          <a:p>
            <a:pPr indent="-285750" defTabSz="762000"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总线周期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引脚功能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时序分析</a:t>
            </a: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3488440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465840" y="551748"/>
            <a:ext cx="4198695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时序的概念</a:t>
            </a:r>
          </a:p>
        </p:txBody>
      </p:sp>
      <p:sp>
        <p:nvSpPr>
          <p:cNvPr id="4" name="矩形 3"/>
          <p:cNvSpPr/>
          <p:nvPr/>
        </p:nvSpPr>
        <p:spPr>
          <a:xfrm>
            <a:off x="3041904" y="3020771"/>
            <a:ext cx="5185209" cy="792088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描述</a:t>
            </a:r>
            <a:r>
              <a:rPr lang="en-US" altLang="zh-CN" sz="2000" b="1" dirty="0">
                <a:ea typeface="微软雅黑" panose="020B0503020204020204" pitchFamily="34" charset="-122"/>
              </a:rPr>
              <a:t>CPU</a:t>
            </a:r>
            <a:r>
              <a:rPr lang="zh-CN" altLang="en-US" sz="2000" b="1" dirty="0">
                <a:ea typeface="微软雅黑" panose="020B0503020204020204" pitchFamily="34" charset="-122"/>
              </a:rPr>
              <a:t>引脚如何实现总线操作。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41904" y="4075087"/>
            <a:ext cx="5185208" cy="79208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决定系统各部件间的同步和定时。</a:t>
            </a:r>
          </a:p>
        </p:txBody>
      </p:sp>
      <p:sp>
        <p:nvSpPr>
          <p:cNvPr id="6" name="矩形 5"/>
          <p:cNvSpPr/>
          <p:nvPr/>
        </p:nvSpPr>
        <p:spPr>
          <a:xfrm>
            <a:off x="3041692" y="1988840"/>
            <a:ext cx="5185209" cy="792088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信号高低电平（有效或无效）变化及相互间的时间顺序关系。</a:t>
            </a:r>
          </a:p>
        </p:txBody>
      </p:sp>
      <p:sp>
        <p:nvSpPr>
          <p:cNvPr id="7" name="矩形 6"/>
          <p:cNvSpPr/>
          <p:nvPr/>
        </p:nvSpPr>
        <p:spPr>
          <a:xfrm>
            <a:off x="1115616" y="1988840"/>
            <a:ext cx="1926075" cy="79208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ea typeface="微软雅黑" panose="020B0503020204020204" pitchFamily="34" charset="-122"/>
              </a:rPr>
              <a:t>时序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15616" y="3020770"/>
            <a:ext cx="1926075" cy="79208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ea typeface="微软雅黑" panose="020B0503020204020204" pitchFamily="34" charset="-122"/>
              </a:rPr>
              <a:t>总线时序</a:t>
            </a:r>
          </a:p>
        </p:txBody>
      </p:sp>
      <p:sp>
        <p:nvSpPr>
          <p:cNvPr id="9" name="矩形 8"/>
          <p:cNvSpPr/>
          <p:nvPr/>
        </p:nvSpPr>
        <p:spPr>
          <a:xfrm>
            <a:off x="1115616" y="4075086"/>
            <a:ext cx="1926075" cy="79208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ea typeface="微软雅黑" panose="020B0503020204020204" pitchFamily="34" charset="-122"/>
              </a:rPr>
              <a:t>CPU</a:t>
            </a:r>
            <a:r>
              <a:rPr lang="zh-CN" altLang="en-US" sz="3200" b="1" dirty="0">
                <a:ea typeface="微软雅黑" panose="020B0503020204020204" pitchFamily="34" charset="-122"/>
              </a:rPr>
              <a:t>时序</a:t>
            </a:r>
          </a:p>
        </p:txBody>
      </p:sp>
    </p:spTree>
    <p:extLst>
      <p:ext uri="{BB962C8B-B14F-4D97-AF65-F5344CB8AC3E}">
        <p14:creationId xmlns:p14="http://schemas.microsoft.com/office/powerpoint/2010/main" val="3246426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-180528" y="1282154"/>
            <a:ext cx="9423401" cy="4883150"/>
            <a:chOff x="0" y="864"/>
            <a:chExt cx="5936" cy="3076"/>
          </a:xfrm>
        </p:grpSpPr>
        <p:sp>
          <p:nvSpPr>
            <p:cNvPr id="3" name="Line 6"/>
            <p:cNvSpPr>
              <a:spLocks noChangeShapeType="1"/>
            </p:cNvSpPr>
            <p:nvPr/>
          </p:nvSpPr>
          <p:spPr bwMode="auto">
            <a:xfrm flipV="1">
              <a:off x="1584" y="3157"/>
              <a:ext cx="347" cy="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Line 7"/>
            <p:cNvSpPr>
              <a:spLocks noChangeShapeType="1"/>
            </p:cNvSpPr>
            <p:nvPr/>
          </p:nvSpPr>
          <p:spPr bwMode="auto">
            <a:xfrm flipV="1">
              <a:off x="1931" y="2955"/>
              <a:ext cx="0" cy="204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Line 8"/>
            <p:cNvSpPr>
              <a:spLocks noChangeShapeType="1"/>
            </p:cNvSpPr>
            <p:nvPr/>
          </p:nvSpPr>
          <p:spPr bwMode="auto">
            <a:xfrm>
              <a:off x="1931" y="2952"/>
              <a:ext cx="514" cy="3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Line 9"/>
            <p:cNvSpPr>
              <a:spLocks noChangeShapeType="1"/>
            </p:cNvSpPr>
            <p:nvPr/>
          </p:nvSpPr>
          <p:spPr bwMode="auto">
            <a:xfrm flipV="1">
              <a:off x="2436" y="2955"/>
              <a:ext cx="0" cy="204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Line 10"/>
            <p:cNvSpPr>
              <a:spLocks noChangeShapeType="1"/>
            </p:cNvSpPr>
            <p:nvPr/>
          </p:nvSpPr>
          <p:spPr bwMode="auto">
            <a:xfrm>
              <a:off x="2448" y="3159"/>
              <a:ext cx="2475" cy="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11"/>
            <p:cNvSpPr>
              <a:spLocks noChangeArrowheads="1"/>
            </p:cNvSpPr>
            <p:nvPr/>
          </p:nvSpPr>
          <p:spPr bwMode="auto">
            <a:xfrm>
              <a:off x="4148" y="864"/>
              <a:ext cx="545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b="1">
                  <a:solidFill>
                    <a:srgbClr val="0066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400" b="1" baseline="-25000">
                  <a:solidFill>
                    <a:srgbClr val="0066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0" lang="en-US" altLang="zh-CN" sz="2400" b="1">
                <a:solidFill>
                  <a:srgbClr val="0066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12"/>
            <p:cNvSpPr>
              <a:spLocks noChangeArrowheads="1"/>
            </p:cNvSpPr>
            <p:nvPr/>
          </p:nvSpPr>
          <p:spPr bwMode="auto">
            <a:xfrm>
              <a:off x="3393" y="864"/>
              <a:ext cx="545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b="1">
                  <a:solidFill>
                    <a:srgbClr val="0066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400" b="1" baseline="-25000">
                  <a:solidFill>
                    <a:srgbClr val="0066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0" lang="en-US" altLang="zh-CN" sz="2400" b="1">
                <a:solidFill>
                  <a:srgbClr val="0066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13"/>
            <p:cNvSpPr>
              <a:spLocks noChangeArrowheads="1"/>
            </p:cNvSpPr>
            <p:nvPr/>
          </p:nvSpPr>
          <p:spPr bwMode="auto">
            <a:xfrm>
              <a:off x="2657" y="864"/>
              <a:ext cx="545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b="1">
                  <a:solidFill>
                    <a:srgbClr val="0066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400" b="1" baseline="-25000">
                  <a:solidFill>
                    <a:srgbClr val="0066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en-US" altLang="zh-CN" sz="2400" b="1">
                <a:solidFill>
                  <a:srgbClr val="0066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1901" y="864"/>
              <a:ext cx="545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b="1">
                  <a:solidFill>
                    <a:srgbClr val="0066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400" b="1" baseline="-25000">
                  <a:solidFill>
                    <a:srgbClr val="0066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en-US" altLang="zh-CN" sz="2400" b="1">
                <a:solidFill>
                  <a:srgbClr val="0066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Line 15"/>
            <p:cNvSpPr>
              <a:spLocks noChangeShapeType="1"/>
            </p:cNvSpPr>
            <p:nvPr/>
          </p:nvSpPr>
          <p:spPr bwMode="auto">
            <a:xfrm>
              <a:off x="1532" y="1089"/>
              <a:ext cx="245" cy="2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reeform 16"/>
            <p:cNvSpPr>
              <a:spLocks/>
            </p:cNvSpPr>
            <p:nvPr/>
          </p:nvSpPr>
          <p:spPr bwMode="auto">
            <a:xfrm>
              <a:off x="1777" y="1085"/>
              <a:ext cx="6" cy="197"/>
            </a:xfrm>
            <a:custGeom>
              <a:avLst/>
              <a:gdLst>
                <a:gd name="T0" fmla="*/ 4 w 4"/>
                <a:gd name="T1" fmla="*/ 0 h 215"/>
                <a:gd name="T2" fmla="*/ 0 w 4"/>
                <a:gd name="T3" fmla="*/ 215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15">
                  <a:moveTo>
                    <a:pt x="4" y="0"/>
                  </a:moveTo>
                  <a:lnTo>
                    <a:pt x="0" y="215"/>
                  </a:lnTo>
                </a:path>
              </a:pathLst>
            </a:custGeom>
            <a:solidFill>
              <a:srgbClr val="FFFFFF"/>
            </a:solidFill>
            <a:ln w="28575" cap="flat">
              <a:solidFill>
                <a:schemeClr val="hlink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17"/>
            <p:cNvSpPr>
              <a:spLocks/>
            </p:cNvSpPr>
            <p:nvPr/>
          </p:nvSpPr>
          <p:spPr bwMode="auto">
            <a:xfrm>
              <a:off x="1786" y="1284"/>
              <a:ext cx="354" cy="3"/>
            </a:xfrm>
            <a:custGeom>
              <a:avLst/>
              <a:gdLst>
                <a:gd name="T0" fmla="*/ 0 w 293"/>
                <a:gd name="T1" fmla="*/ 3 h 3"/>
                <a:gd name="T2" fmla="*/ 293 w 293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93" h="3">
                  <a:moveTo>
                    <a:pt x="0" y="3"/>
                  </a:moveTo>
                  <a:lnTo>
                    <a:pt x="293" y="0"/>
                  </a:lnTo>
                </a:path>
              </a:pathLst>
            </a:custGeom>
            <a:solidFill>
              <a:srgbClr val="FFFFFF"/>
            </a:solidFill>
            <a:ln w="28575" cap="flat">
              <a:solidFill>
                <a:schemeClr val="hlink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Line 18"/>
            <p:cNvSpPr>
              <a:spLocks noChangeShapeType="1"/>
            </p:cNvSpPr>
            <p:nvPr/>
          </p:nvSpPr>
          <p:spPr bwMode="auto">
            <a:xfrm>
              <a:off x="2137" y="1091"/>
              <a:ext cx="0" cy="191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Line 19"/>
            <p:cNvSpPr>
              <a:spLocks noChangeShapeType="1"/>
            </p:cNvSpPr>
            <p:nvPr/>
          </p:nvSpPr>
          <p:spPr bwMode="auto">
            <a:xfrm>
              <a:off x="2137" y="1091"/>
              <a:ext cx="38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Line 20"/>
            <p:cNvSpPr>
              <a:spLocks noChangeShapeType="1"/>
            </p:cNvSpPr>
            <p:nvPr/>
          </p:nvSpPr>
          <p:spPr bwMode="auto">
            <a:xfrm>
              <a:off x="2529" y="1094"/>
              <a:ext cx="0" cy="188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Line 21"/>
            <p:cNvSpPr>
              <a:spLocks noChangeShapeType="1"/>
            </p:cNvSpPr>
            <p:nvPr/>
          </p:nvSpPr>
          <p:spPr bwMode="auto">
            <a:xfrm>
              <a:off x="2529" y="1287"/>
              <a:ext cx="366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Line 22"/>
            <p:cNvSpPr>
              <a:spLocks noChangeShapeType="1"/>
            </p:cNvSpPr>
            <p:nvPr/>
          </p:nvSpPr>
          <p:spPr bwMode="auto">
            <a:xfrm>
              <a:off x="2895" y="1091"/>
              <a:ext cx="0" cy="191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Line 23"/>
            <p:cNvSpPr>
              <a:spLocks noChangeShapeType="1"/>
            </p:cNvSpPr>
            <p:nvPr/>
          </p:nvSpPr>
          <p:spPr bwMode="auto">
            <a:xfrm>
              <a:off x="2895" y="1091"/>
              <a:ext cx="384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Line 24"/>
            <p:cNvSpPr>
              <a:spLocks noChangeShapeType="1"/>
            </p:cNvSpPr>
            <p:nvPr/>
          </p:nvSpPr>
          <p:spPr bwMode="auto">
            <a:xfrm>
              <a:off x="3285" y="1091"/>
              <a:ext cx="0" cy="191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Line 25"/>
            <p:cNvSpPr>
              <a:spLocks noChangeShapeType="1"/>
            </p:cNvSpPr>
            <p:nvPr/>
          </p:nvSpPr>
          <p:spPr bwMode="auto">
            <a:xfrm>
              <a:off x="3276" y="1287"/>
              <a:ext cx="39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Line 26"/>
            <p:cNvSpPr>
              <a:spLocks noChangeShapeType="1"/>
            </p:cNvSpPr>
            <p:nvPr/>
          </p:nvSpPr>
          <p:spPr bwMode="auto">
            <a:xfrm>
              <a:off x="3666" y="1091"/>
              <a:ext cx="0" cy="191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Line 27"/>
            <p:cNvSpPr>
              <a:spLocks noChangeShapeType="1"/>
            </p:cNvSpPr>
            <p:nvPr/>
          </p:nvSpPr>
          <p:spPr bwMode="auto">
            <a:xfrm>
              <a:off x="3666" y="1091"/>
              <a:ext cx="38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Line 28"/>
            <p:cNvSpPr>
              <a:spLocks noChangeShapeType="1"/>
            </p:cNvSpPr>
            <p:nvPr/>
          </p:nvSpPr>
          <p:spPr bwMode="auto">
            <a:xfrm>
              <a:off x="4047" y="1091"/>
              <a:ext cx="0" cy="191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Line 29"/>
            <p:cNvSpPr>
              <a:spLocks noChangeShapeType="1"/>
            </p:cNvSpPr>
            <p:nvPr/>
          </p:nvSpPr>
          <p:spPr bwMode="auto">
            <a:xfrm>
              <a:off x="4047" y="1287"/>
              <a:ext cx="374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Line 30"/>
            <p:cNvSpPr>
              <a:spLocks noChangeShapeType="1"/>
            </p:cNvSpPr>
            <p:nvPr/>
          </p:nvSpPr>
          <p:spPr bwMode="auto">
            <a:xfrm>
              <a:off x="4421" y="1091"/>
              <a:ext cx="3" cy="191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Line 31"/>
            <p:cNvSpPr>
              <a:spLocks noChangeShapeType="1"/>
            </p:cNvSpPr>
            <p:nvPr/>
          </p:nvSpPr>
          <p:spPr bwMode="auto">
            <a:xfrm>
              <a:off x="4430" y="1091"/>
              <a:ext cx="354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Freeform 32"/>
            <p:cNvSpPr>
              <a:spLocks/>
            </p:cNvSpPr>
            <p:nvPr/>
          </p:nvSpPr>
          <p:spPr bwMode="auto">
            <a:xfrm>
              <a:off x="4790" y="1078"/>
              <a:ext cx="0" cy="213"/>
            </a:xfrm>
            <a:custGeom>
              <a:avLst/>
              <a:gdLst>
                <a:gd name="T0" fmla="*/ 0 w 1"/>
                <a:gd name="T1" fmla="*/ 0 h 232"/>
                <a:gd name="T2" fmla="*/ 0 w 1"/>
                <a:gd name="T3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32">
                  <a:moveTo>
                    <a:pt x="0" y="0"/>
                  </a:moveTo>
                  <a:lnTo>
                    <a:pt x="0" y="232"/>
                  </a:lnTo>
                </a:path>
              </a:pathLst>
            </a:custGeom>
            <a:solidFill>
              <a:srgbClr val="FFFFFF"/>
            </a:solidFill>
            <a:ln w="28575" cap="flat">
              <a:solidFill>
                <a:schemeClr val="hlink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Freeform 33"/>
            <p:cNvSpPr>
              <a:spLocks/>
            </p:cNvSpPr>
            <p:nvPr/>
          </p:nvSpPr>
          <p:spPr bwMode="auto">
            <a:xfrm>
              <a:off x="4796" y="1284"/>
              <a:ext cx="372" cy="3"/>
            </a:xfrm>
            <a:custGeom>
              <a:avLst/>
              <a:gdLst>
                <a:gd name="T0" fmla="*/ 0 w 308"/>
                <a:gd name="T1" fmla="*/ 3 h 3"/>
                <a:gd name="T2" fmla="*/ 308 w 308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08" h="3">
                  <a:moveTo>
                    <a:pt x="0" y="3"/>
                  </a:moveTo>
                  <a:lnTo>
                    <a:pt x="308" y="0"/>
                  </a:lnTo>
                </a:path>
              </a:pathLst>
            </a:custGeom>
            <a:solidFill>
              <a:srgbClr val="FFFFFF"/>
            </a:solidFill>
            <a:ln w="28575" cap="flat">
              <a:solidFill>
                <a:schemeClr val="hlink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Line 34"/>
            <p:cNvSpPr>
              <a:spLocks noChangeShapeType="1"/>
            </p:cNvSpPr>
            <p:nvPr/>
          </p:nvSpPr>
          <p:spPr bwMode="auto">
            <a:xfrm>
              <a:off x="1584" y="3325"/>
              <a:ext cx="1118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Line 35"/>
            <p:cNvSpPr>
              <a:spLocks noChangeShapeType="1"/>
            </p:cNvSpPr>
            <p:nvPr/>
          </p:nvSpPr>
          <p:spPr bwMode="auto">
            <a:xfrm>
              <a:off x="2711" y="3329"/>
              <a:ext cx="0" cy="189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Line 36"/>
            <p:cNvSpPr>
              <a:spLocks noChangeShapeType="1"/>
            </p:cNvSpPr>
            <p:nvPr/>
          </p:nvSpPr>
          <p:spPr bwMode="auto">
            <a:xfrm>
              <a:off x="2711" y="3518"/>
              <a:ext cx="1529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Line 37"/>
            <p:cNvSpPr>
              <a:spLocks noChangeShapeType="1"/>
            </p:cNvSpPr>
            <p:nvPr/>
          </p:nvSpPr>
          <p:spPr bwMode="auto">
            <a:xfrm>
              <a:off x="4234" y="3313"/>
              <a:ext cx="3" cy="205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Line 38"/>
            <p:cNvSpPr>
              <a:spLocks noChangeShapeType="1"/>
            </p:cNvSpPr>
            <p:nvPr/>
          </p:nvSpPr>
          <p:spPr bwMode="auto">
            <a:xfrm>
              <a:off x="4246" y="3313"/>
              <a:ext cx="780" cy="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 39"/>
            <p:cNvSpPr>
              <a:spLocks noChangeArrowheads="1"/>
            </p:cNvSpPr>
            <p:nvPr/>
          </p:nvSpPr>
          <p:spPr bwMode="auto">
            <a:xfrm>
              <a:off x="762" y="2952"/>
              <a:ext cx="689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algn="r"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b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ALE</a:t>
              </a:r>
            </a:p>
          </p:txBody>
        </p:sp>
        <p:sp>
          <p:nvSpPr>
            <p:cNvPr id="37" name="Rectangle 40"/>
            <p:cNvSpPr>
              <a:spLocks noChangeArrowheads="1"/>
            </p:cNvSpPr>
            <p:nvPr/>
          </p:nvSpPr>
          <p:spPr bwMode="auto">
            <a:xfrm>
              <a:off x="762" y="1091"/>
              <a:ext cx="689" cy="2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algn="r"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b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CLK</a:t>
              </a:r>
            </a:p>
          </p:txBody>
        </p:sp>
        <p:sp>
          <p:nvSpPr>
            <p:cNvPr id="38" name="Rectangle 41"/>
            <p:cNvSpPr>
              <a:spLocks noChangeArrowheads="1"/>
            </p:cNvSpPr>
            <p:nvPr/>
          </p:nvSpPr>
          <p:spPr bwMode="auto">
            <a:xfrm>
              <a:off x="0" y="1824"/>
              <a:ext cx="1451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algn="r"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b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2400" b="1" baseline="-2500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19</a:t>
              </a:r>
              <a:r>
                <a:rPr kumimoji="0" lang="en-US" altLang="zh-CN" sz="2400" b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/S</a:t>
              </a:r>
              <a:r>
                <a:rPr kumimoji="0" lang="en-US" altLang="zh-CN" sz="2400" b="1" baseline="-2500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kumimoji="0" lang="en-US" altLang="zh-CN" sz="2400" b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～A</a:t>
              </a:r>
              <a:r>
                <a:rPr kumimoji="0" lang="en-US" altLang="zh-CN" sz="2400" b="1" baseline="-2500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r>
                <a:rPr kumimoji="0" lang="en-US" altLang="zh-CN" sz="2400" b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/S</a:t>
              </a:r>
              <a:r>
                <a:rPr kumimoji="0" lang="en-US" altLang="zh-CN" sz="2400" b="1" baseline="-2500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0" lang="en-US" altLang="zh-CN" sz="24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Rectangle 42"/>
            <p:cNvSpPr>
              <a:spLocks noChangeArrowheads="1"/>
            </p:cNvSpPr>
            <p:nvPr/>
          </p:nvSpPr>
          <p:spPr bwMode="auto">
            <a:xfrm>
              <a:off x="218" y="2183"/>
              <a:ext cx="1233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algn="r"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b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2400" b="1" baseline="-2500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r>
                <a:rPr kumimoji="0" lang="en-US" altLang="zh-CN" sz="2400" b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～A</a:t>
              </a:r>
              <a:r>
                <a:rPr kumimoji="0" lang="en-US" altLang="zh-CN" sz="2400" b="1" baseline="-2500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0" lang="en-US" altLang="zh-CN" sz="24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Rectangle 43"/>
            <p:cNvSpPr>
              <a:spLocks noChangeArrowheads="1"/>
            </p:cNvSpPr>
            <p:nvPr/>
          </p:nvSpPr>
          <p:spPr bwMode="auto">
            <a:xfrm>
              <a:off x="218" y="2555"/>
              <a:ext cx="1233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algn="r"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b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</a:t>
              </a:r>
              <a:r>
                <a:rPr kumimoji="0" lang="en-US" altLang="zh-CN" sz="2400" b="1" baseline="-2500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kumimoji="0" lang="en-US" altLang="zh-CN" sz="2400" b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～AD</a:t>
              </a:r>
              <a:r>
                <a:rPr kumimoji="0" lang="en-US" altLang="zh-CN" sz="2400" b="1" baseline="-2500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kumimoji="0" lang="en-US" altLang="zh-CN" sz="24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1" name="Group 44"/>
            <p:cNvGrpSpPr>
              <a:grpSpLocks/>
            </p:cNvGrpSpPr>
            <p:nvPr/>
          </p:nvGrpSpPr>
          <p:grpSpPr bwMode="auto">
            <a:xfrm>
              <a:off x="1985" y="2162"/>
              <a:ext cx="91" cy="237"/>
              <a:chOff x="0" y="0"/>
              <a:chExt cx="20000" cy="20001"/>
            </a:xfrm>
          </p:grpSpPr>
          <p:sp>
            <p:nvSpPr>
              <p:cNvPr id="130" name="Line 45"/>
              <p:cNvSpPr>
                <a:spLocks noChangeShapeType="1"/>
              </p:cNvSpPr>
              <p:nvPr/>
            </p:nvSpPr>
            <p:spPr bwMode="auto">
              <a:xfrm flipH="1">
                <a:off x="0" y="0"/>
                <a:ext cx="20000" cy="10074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1" name="Line 46"/>
              <p:cNvSpPr>
                <a:spLocks noChangeShapeType="1"/>
              </p:cNvSpPr>
              <p:nvPr/>
            </p:nvSpPr>
            <p:spPr bwMode="auto">
              <a:xfrm flipH="1" flipV="1">
                <a:off x="0" y="9927"/>
                <a:ext cx="20000" cy="10074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2" name="Group 47"/>
            <p:cNvGrpSpPr>
              <a:grpSpLocks/>
            </p:cNvGrpSpPr>
            <p:nvPr/>
          </p:nvGrpSpPr>
          <p:grpSpPr bwMode="auto">
            <a:xfrm>
              <a:off x="1898" y="2162"/>
              <a:ext cx="91" cy="237"/>
              <a:chOff x="0" y="0"/>
              <a:chExt cx="20000" cy="19999"/>
            </a:xfrm>
          </p:grpSpPr>
          <p:sp>
            <p:nvSpPr>
              <p:cNvPr id="128" name="Line 48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10073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9" name="Line 49"/>
              <p:cNvSpPr>
                <a:spLocks noChangeShapeType="1"/>
              </p:cNvSpPr>
              <p:nvPr/>
            </p:nvSpPr>
            <p:spPr bwMode="auto">
              <a:xfrm flipV="1">
                <a:off x="0" y="9926"/>
                <a:ext cx="20000" cy="10073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3" name="Line 50"/>
            <p:cNvSpPr>
              <a:spLocks noChangeShapeType="1"/>
            </p:cNvSpPr>
            <p:nvPr/>
          </p:nvSpPr>
          <p:spPr bwMode="auto">
            <a:xfrm flipV="1">
              <a:off x="1641" y="2162"/>
              <a:ext cx="248" cy="7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Line 51"/>
            <p:cNvSpPr>
              <a:spLocks noChangeShapeType="1"/>
            </p:cNvSpPr>
            <p:nvPr/>
          </p:nvSpPr>
          <p:spPr bwMode="auto">
            <a:xfrm>
              <a:off x="1623" y="2399"/>
              <a:ext cx="27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Line 52"/>
            <p:cNvSpPr>
              <a:spLocks noChangeShapeType="1"/>
            </p:cNvSpPr>
            <p:nvPr/>
          </p:nvSpPr>
          <p:spPr bwMode="auto">
            <a:xfrm>
              <a:off x="2073" y="2162"/>
              <a:ext cx="2814" cy="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Line 53"/>
            <p:cNvSpPr>
              <a:spLocks noChangeShapeType="1"/>
            </p:cNvSpPr>
            <p:nvPr/>
          </p:nvSpPr>
          <p:spPr bwMode="auto">
            <a:xfrm>
              <a:off x="2073" y="2399"/>
              <a:ext cx="28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Rectangle 54"/>
            <p:cNvSpPr>
              <a:spLocks noChangeArrowheads="1"/>
            </p:cNvSpPr>
            <p:nvPr/>
          </p:nvSpPr>
          <p:spPr bwMode="auto">
            <a:xfrm>
              <a:off x="3049" y="2176"/>
              <a:ext cx="877" cy="2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2000" b="1" baseline="-2500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r>
                <a:rPr kumimoji="0" lang="en-US" altLang="zh-CN" sz="2000" b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～A</a:t>
              </a:r>
              <a:r>
                <a:rPr kumimoji="0" lang="en-US" altLang="zh-CN" sz="2000" b="1" baseline="-2500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0" lang="en-US" altLang="zh-CN" sz="20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Line 55"/>
            <p:cNvSpPr>
              <a:spLocks noChangeShapeType="1"/>
            </p:cNvSpPr>
            <p:nvPr/>
          </p:nvSpPr>
          <p:spPr bwMode="auto">
            <a:xfrm flipH="1">
              <a:off x="4992" y="2171"/>
              <a:ext cx="94" cy="115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Line 56"/>
            <p:cNvSpPr>
              <a:spLocks noChangeShapeType="1"/>
            </p:cNvSpPr>
            <p:nvPr/>
          </p:nvSpPr>
          <p:spPr bwMode="auto">
            <a:xfrm flipH="1" flipV="1">
              <a:off x="4992" y="2284"/>
              <a:ext cx="94" cy="115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Line 57"/>
            <p:cNvSpPr>
              <a:spLocks noChangeShapeType="1"/>
            </p:cNvSpPr>
            <p:nvPr/>
          </p:nvSpPr>
          <p:spPr bwMode="auto">
            <a:xfrm>
              <a:off x="4902" y="2171"/>
              <a:ext cx="93" cy="115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Line 58"/>
            <p:cNvSpPr>
              <a:spLocks noChangeShapeType="1"/>
            </p:cNvSpPr>
            <p:nvPr/>
          </p:nvSpPr>
          <p:spPr bwMode="auto">
            <a:xfrm flipV="1">
              <a:off x="4902" y="2284"/>
              <a:ext cx="93" cy="115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Line 59"/>
            <p:cNvSpPr>
              <a:spLocks noChangeShapeType="1"/>
            </p:cNvSpPr>
            <p:nvPr/>
          </p:nvSpPr>
          <p:spPr bwMode="auto">
            <a:xfrm>
              <a:off x="5101" y="2169"/>
              <a:ext cx="27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Line 60"/>
            <p:cNvSpPr>
              <a:spLocks noChangeShapeType="1"/>
            </p:cNvSpPr>
            <p:nvPr/>
          </p:nvSpPr>
          <p:spPr bwMode="auto">
            <a:xfrm>
              <a:off x="5080" y="2399"/>
              <a:ext cx="27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4" name="Group 61"/>
            <p:cNvGrpSpPr>
              <a:grpSpLocks/>
            </p:cNvGrpSpPr>
            <p:nvPr/>
          </p:nvGrpSpPr>
          <p:grpSpPr bwMode="auto">
            <a:xfrm>
              <a:off x="1983" y="2541"/>
              <a:ext cx="93" cy="230"/>
              <a:chOff x="0" y="0"/>
              <a:chExt cx="20000" cy="20001"/>
            </a:xfrm>
          </p:grpSpPr>
          <p:sp>
            <p:nvSpPr>
              <p:cNvPr id="126" name="Line 62"/>
              <p:cNvSpPr>
                <a:spLocks noChangeShapeType="1"/>
              </p:cNvSpPr>
              <p:nvPr/>
            </p:nvSpPr>
            <p:spPr bwMode="auto">
              <a:xfrm flipH="1">
                <a:off x="0" y="0"/>
                <a:ext cx="20000" cy="10013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7" name="Line 63"/>
              <p:cNvSpPr>
                <a:spLocks noChangeShapeType="1"/>
              </p:cNvSpPr>
              <p:nvPr/>
            </p:nvSpPr>
            <p:spPr bwMode="auto">
              <a:xfrm flipH="1" flipV="1">
                <a:off x="0" y="10013"/>
                <a:ext cx="20000" cy="9988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5" name="Group 64"/>
            <p:cNvGrpSpPr>
              <a:grpSpLocks/>
            </p:cNvGrpSpPr>
            <p:nvPr/>
          </p:nvGrpSpPr>
          <p:grpSpPr bwMode="auto">
            <a:xfrm>
              <a:off x="1892" y="2541"/>
              <a:ext cx="93" cy="230"/>
              <a:chOff x="0" y="0"/>
              <a:chExt cx="20000" cy="19999"/>
            </a:xfrm>
          </p:grpSpPr>
          <p:sp>
            <p:nvSpPr>
              <p:cNvPr id="124" name="Line 65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10012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" name="Line 66"/>
              <p:cNvSpPr>
                <a:spLocks noChangeShapeType="1"/>
              </p:cNvSpPr>
              <p:nvPr/>
            </p:nvSpPr>
            <p:spPr bwMode="auto">
              <a:xfrm flipV="1">
                <a:off x="0" y="10012"/>
                <a:ext cx="20000" cy="9987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6" name="Line 67"/>
            <p:cNvSpPr>
              <a:spLocks noChangeShapeType="1"/>
            </p:cNvSpPr>
            <p:nvPr/>
          </p:nvSpPr>
          <p:spPr bwMode="auto">
            <a:xfrm>
              <a:off x="1617" y="2532"/>
              <a:ext cx="27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Line 68"/>
            <p:cNvSpPr>
              <a:spLocks noChangeShapeType="1"/>
            </p:cNvSpPr>
            <p:nvPr/>
          </p:nvSpPr>
          <p:spPr bwMode="auto">
            <a:xfrm>
              <a:off x="1623" y="2771"/>
              <a:ext cx="27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8" name="Group 69"/>
            <p:cNvGrpSpPr>
              <a:grpSpLocks/>
            </p:cNvGrpSpPr>
            <p:nvPr/>
          </p:nvGrpSpPr>
          <p:grpSpPr bwMode="auto">
            <a:xfrm>
              <a:off x="2835" y="2541"/>
              <a:ext cx="93" cy="230"/>
              <a:chOff x="0" y="0"/>
              <a:chExt cx="20000" cy="20001"/>
            </a:xfrm>
          </p:grpSpPr>
          <p:sp>
            <p:nvSpPr>
              <p:cNvPr id="122" name="Line 70"/>
              <p:cNvSpPr>
                <a:spLocks noChangeShapeType="1"/>
              </p:cNvSpPr>
              <p:nvPr/>
            </p:nvSpPr>
            <p:spPr bwMode="auto">
              <a:xfrm flipH="1">
                <a:off x="0" y="0"/>
                <a:ext cx="20000" cy="10013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3" name="Line 71"/>
              <p:cNvSpPr>
                <a:spLocks noChangeShapeType="1"/>
              </p:cNvSpPr>
              <p:nvPr/>
            </p:nvSpPr>
            <p:spPr bwMode="auto">
              <a:xfrm flipH="1" flipV="1">
                <a:off x="0" y="10013"/>
                <a:ext cx="20000" cy="9988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9" name="Group 72"/>
            <p:cNvGrpSpPr>
              <a:grpSpLocks/>
            </p:cNvGrpSpPr>
            <p:nvPr/>
          </p:nvGrpSpPr>
          <p:grpSpPr bwMode="auto">
            <a:xfrm>
              <a:off x="2744" y="2541"/>
              <a:ext cx="93" cy="230"/>
              <a:chOff x="0" y="0"/>
              <a:chExt cx="20000" cy="19999"/>
            </a:xfrm>
          </p:grpSpPr>
          <p:sp>
            <p:nvSpPr>
              <p:cNvPr id="120" name="Line 73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10012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" name="Line 74"/>
              <p:cNvSpPr>
                <a:spLocks noChangeShapeType="1"/>
              </p:cNvSpPr>
              <p:nvPr/>
            </p:nvSpPr>
            <p:spPr bwMode="auto">
              <a:xfrm flipV="1">
                <a:off x="0" y="10012"/>
                <a:ext cx="20000" cy="9987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0" name="Group 75"/>
            <p:cNvGrpSpPr>
              <a:grpSpLocks/>
            </p:cNvGrpSpPr>
            <p:nvPr/>
          </p:nvGrpSpPr>
          <p:grpSpPr bwMode="auto">
            <a:xfrm>
              <a:off x="4975" y="2541"/>
              <a:ext cx="93" cy="230"/>
              <a:chOff x="0" y="0"/>
              <a:chExt cx="20000" cy="20001"/>
            </a:xfrm>
          </p:grpSpPr>
          <p:sp>
            <p:nvSpPr>
              <p:cNvPr id="118" name="Line 76"/>
              <p:cNvSpPr>
                <a:spLocks noChangeShapeType="1"/>
              </p:cNvSpPr>
              <p:nvPr/>
            </p:nvSpPr>
            <p:spPr bwMode="auto">
              <a:xfrm flipH="1">
                <a:off x="0" y="0"/>
                <a:ext cx="20000" cy="10013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9" name="Line 77"/>
              <p:cNvSpPr>
                <a:spLocks noChangeShapeType="1"/>
              </p:cNvSpPr>
              <p:nvPr/>
            </p:nvSpPr>
            <p:spPr bwMode="auto">
              <a:xfrm flipH="1" flipV="1">
                <a:off x="0" y="10013"/>
                <a:ext cx="20000" cy="9988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1" name="Group 78"/>
            <p:cNvGrpSpPr>
              <a:grpSpLocks/>
            </p:cNvGrpSpPr>
            <p:nvPr/>
          </p:nvGrpSpPr>
          <p:grpSpPr bwMode="auto">
            <a:xfrm>
              <a:off x="4884" y="2541"/>
              <a:ext cx="93" cy="230"/>
              <a:chOff x="0" y="0"/>
              <a:chExt cx="20000" cy="19999"/>
            </a:xfrm>
          </p:grpSpPr>
          <p:sp>
            <p:nvSpPr>
              <p:cNvPr id="116" name="Line 79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10012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7" name="Line 80"/>
              <p:cNvSpPr>
                <a:spLocks noChangeShapeType="1"/>
              </p:cNvSpPr>
              <p:nvPr/>
            </p:nvSpPr>
            <p:spPr bwMode="auto">
              <a:xfrm flipV="1">
                <a:off x="0" y="10012"/>
                <a:ext cx="20000" cy="9987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2" name="Line 81"/>
            <p:cNvSpPr>
              <a:spLocks noChangeShapeType="1"/>
            </p:cNvSpPr>
            <p:nvPr/>
          </p:nvSpPr>
          <p:spPr bwMode="auto">
            <a:xfrm>
              <a:off x="5074" y="2532"/>
              <a:ext cx="251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Line 82"/>
            <p:cNvSpPr>
              <a:spLocks noChangeShapeType="1"/>
            </p:cNvSpPr>
            <p:nvPr/>
          </p:nvSpPr>
          <p:spPr bwMode="auto">
            <a:xfrm>
              <a:off x="5068" y="2771"/>
              <a:ext cx="27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Line 83"/>
            <p:cNvSpPr>
              <a:spLocks noChangeShapeType="1"/>
            </p:cNvSpPr>
            <p:nvPr/>
          </p:nvSpPr>
          <p:spPr bwMode="auto">
            <a:xfrm>
              <a:off x="2073" y="2532"/>
              <a:ext cx="668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Line 84"/>
            <p:cNvSpPr>
              <a:spLocks noChangeShapeType="1"/>
            </p:cNvSpPr>
            <p:nvPr/>
          </p:nvSpPr>
          <p:spPr bwMode="auto">
            <a:xfrm>
              <a:off x="2073" y="2771"/>
              <a:ext cx="674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Line 85"/>
            <p:cNvSpPr>
              <a:spLocks noChangeShapeType="1"/>
            </p:cNvSpPr>
            <p:nvPr/>
          </p:nvSpPr>
          <p:spPr bwMode="auto">
            <a:xfrm>
              <a:off x="2931" y="2532"/>
              <a:ext cx="1956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Line 86"/>
            <p:cNvSpPr>
              <a:spLocks noChangeShapeType="1"/>
            </p:cNvSpPr>
            <p:nvPr/>
          </p:nvSpPr>
          <p:spPr bwMode="auto">
            <a:xfrm>
              <a:off x="2931" y="2771"/>
              <a:ext cx="1956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Rectangle 87"/>
            <p:cNvSpPr>
              <a:spLocks noChangeArrowheads="1"/>
            </p:cNvSpPr>
            <p:nvPr/>
          </p:nvSpPr>
          <p:spPr bwMode="auto">
            <a:xfrm>
              <a:off x="2088" y="2543"/>
              <a:ext cx="644" cy="2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2000" b="1" baseline="-2500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kumimoji="0" lang="en-US" altLang="zh-CN" sz="2000" b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～A</a:t>
              </a:r>
              <a:r>
                <a:rPr kumimoji="0" lang="en-US" altLang="zh-CN" sz="2000" b="1" baseline="-2500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kumimoji="0" lang="en-US" altLang="zh-CN" sz="20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 88"/>
            <p:cNvSpPr>
              <a:spLocks noChangeArrowheads="1"/>
            </p:cNvSpPr>
            <p:nvPr/>
          </p:nvSpPr>
          <p:spPr bwMode="auto">
            <a:xfrm>
              <a:off x="3357" y="2557"/>
              <a:ext cx="1076" cy="1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20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输出数据</a:t>
              </a:r>
            </a:p>
          </p:txBody>
        </p:sp>
        <p:grpSp>
          <p:nvGrpSpPr>
            <p:cNvPr id="70" name="Group 89"/>
            <p:cNvGrpSpPr>
              <a:grpSpLocks/>
            </p:cNvGrpSpPr>
            <p:nvPr/>
          </p:nvGrpSpPr>
          <p:grpSpPr bwMode="auto">
            <a:xfrm>
              <a:off x="2000" y="1785"/>
              <a:ext cx="82" cy="232"/>
              <a:chOff x="0" y="0"/>
              <a:chExt cx="20000" cy="20001"/>
            </a:xfrm>
          </p:grpSpPr>
          <p:sp>
            <p:nvSpPr>
              <p:cNvPr id="114" name="Line 90"/>
              <p:cNvSpPr>
                <a:spLocks noChangeShapeType="1"/>
              </p:cNvSpPr>
              <p:nvPr/>
            </p:nvSpPr>
            <p:spPr bwMode="auto">
              <a:xfrm flipH="1">
                <a:off x="0" y="0"/>
                <a:ext cx="20000" cy="10038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" name="Line 91"/>
              <p:cNvSpPr>
                <a:spLocks noChangeShapeType="1"/>
              </p:cNvSpPr>
              <p:nvPr/>
            </p:nvSpPr>
            <p:spPr bwMode="auto">
              <a:xfrm flipH="1" flipV="1">
                <a:off x="0" y="9963"/>
                <a:ext cx="20000" cy="10038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1" name="Group 92"/>
            <p:cNvGrpSpPr>
              <a:grpSpLocks/>
            </p:cNvGrpSpPr>
            <p:nvPr/>
          </p:nvGrpSpPr>
          <p:grpSpPr bwMode="auto">
            <a:xfrm>
              <a:off x="1919" y="1785"/>
              <a:ext cx="82" cy="232"/>
              <a:chOff x="0" y="0"/>
              <a:chExt cx="20000" cy="19999"/>
            </a:xfrm>
          </p:grpSpPr>
          <p:sp>
            <p:nvSpPr>
              <p:cNvPr id="112" name="Line 93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10037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" name="Line 94"/>
              <p:cNvSpPr>
                <a:spLocks noChangeShapeType="1"/>
              </p:cNvSpPr>
              <p:nvPr/>
            </p:nvSpPr>
            <p:spPr bwMode="auto">
              <a:xfrm flipV="1">
                <a:off x="0" y="9962"/>
                <a:ext cx="20000" cy="10037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2" name="Line 95"/>
            <p:cNvSpPr>
              <a:spLocks noChangeShapeType="1"/>
            </p:cNvSpPr>
            <p:nvPr/>
          </p:nvSpPr>
          <p:spPr bwMode="auto">
            <a:xfrm>
              <a:off x="1617" y="1788"/>
              <a:ext cx="272" cy="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Line 96"/>
            <p:cNvSpPr>
              <a:spLocks noChangeShapeType="1"/>
            </p:cNvSpPr>
            <p:nvPr/>
          </p:nvSpPr>
          <p:spPr bwMode="auto">
            <a:xfrm>
              <a:off x="1623" y="2027"/>
              <a:ext cx="27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4" name="Group 97"/>
            <p:cNvGrpSpPr>
              <a:grpSpLocks/>
            </p:cNvGrpSpPr>
            <p:nvPr/>
          </p:nvGrpSpPr>
          <p:grpSpPr bwMode="auto">
            <a:xfrm>
              <a:off x="2856" y="1790"/>
              <a:ext cx="90" cy="237"/>
              <a:chOff x="0" y="0"/>
              <a:chExt cx="20000" cy="20000"/>
            </a:xfrm>
          </p:grpSpPr>
          <p:sp>
            <p:nvSpPr>
              <p:cNvPr id="110" name="Line 98"/>
              <p:cNvSpPr>
                <a:spLocks noChangeShapeType="1"/>
              </p:cNvSpPr>
              <p:nvPr/>
            </p:nvSpPr>
            <p:spPr bwMode="auto">
              <a:xfrm flipH="1">
                <a:off x="0" y="0"/>
                <a:ext cx="20000" cy="10086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" name="Line 99"/>
              <p:cNvSpPr>
                <a:spLocks noChangeShapeType="1"/>
              </p:cNvSpPr>
              <p:nvPr/>
            </p:nvSpPr>
            <p:spPr bwMode="auto">
              <a:xfrm flipH="1" flipV="1">
                <a:off x="0" y="9914"/>
                <a:ext cx="20000" cy="10086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5" name="Group 100"/>
            <p:cNvGrpSpPr>
              <a:grpSpLocks/>
            </p:cNvGrpSpPr>
            <p:nvPr/>
          </p:nvGrpSpPr>
          <p:grpSpPr bwMode="auto">
            <a:xfrm>
              <a:off x="2768" y="1790"/>
              <a:ext cx="90" cy="237"/>
              <a:chOff x="0" y="0"/>
              <a:chExt cx="20000" cy="20000"/>
            </a:xfrm>
          </p:grpSpPr>
          <p:sp>
            <p:nvSpPr>
              <p:cNvPr id="108" name="Line 101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10086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9" name="Line 102"/>
              <p:cNvSpPr>
                <a:spLocks noChangeShapeType="1"/>
              </p:cNvSpPr>
              <p:nvPr/>
            </p:nvSpPr>
            <p:spPr bwMode="auto">
              <a:xfrm flipV="1">
                <a:off x="0" y="9914"/>
                <a:ext cx="20000" cy="10086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6" name="Group 103"/>
            <p:cNvGrpSpPr>
              <a:grpSpLocks/>
            </p:cNvGrpSpPr>
            <p:nvPr/>
          </p:nvGrpSpPr>
          <p:grpSpPr bwMode="auto">
            <a:xfrm>
              <a:off x="4986" y="1790"/>
              <a:ext cx="100" cy="237"/>
              <a:chOff x="0" y="0"/>
              <a:chExt cx="20000" cy="20000"/>
            </a:xfrm>
          </p:grpSpPr>
          <p:sp>
            <p:nvSpPr>
              <p:cNvPr id="106" name="Line 104"/>
              <p:cNvSpPr>
                <a:spLocks noChangeShapeType="1"/>
              </p:cNvSpPr>
              <p:nvPr/>
            </p:nvSpPr>
            <p:spPr bwMode="auto">
              <a:xfrm flipH="1">
                <a:off x="0" y="0"/>
                <a:ext cx="20000" cy="10086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7" name="Line 105"/>
              <p:cNvSpPr>
                <a:spLocks noChangeShapeType="1"/>
              </p:cNvSpPr>
              <p:nvPr/>
            </p:nvSpPr>
            <p:spPr bwMode="auto">
              <a:xfrm flipH="1" flipV="1">
                <a:off x="0" y="9914"/>
                <a:ext cx="20000" cy="10086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7" name="Group 106"/>
            <p:cNvGrpSpPr>
              <a:grpSpLocks/>
            </p:cNvGrpSpPr>
            <p:nvPr/>
          </p:nvGrpSpPr>
          <p:grpSpPr bwMode="auto">
            <a:xfrm>
              <a:off x="4890" y="1790"/>
              <a:ext cx="100" cy="237"/>
              <a:chOff x="0" y="0"/>
              <a:chExt cx="20000" cy="20000"/>
            </a:xfrm>
          </p:grpSpPr>
          <p:sp>
            <p:nvSpPr>
              <p:cNvPr id="104" name="Line 107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10086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5" name="Line 108"/>
              <p:cNvSpPr>
                <a:spLocks noChangeShapeType="1"/>
              </p:cNvSpPr>
              <p:nvPr/>
            </p:nvSpPr>
            <p:spPr bwMode="auto">
              <a:xfrm flipV="1">
                <a:off x="0" y="9914"/>
                <a:ext cx="20000" cy="10086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8" name="Line 109"/>
            <p:cNvSpPr>
              <a:spLocks noChangeShapeType="1"/>
            </p:cNvSpPr>
            <p:nvPr/>
          </p:nvSpPr>
          <p:spPr bwMode="auto">
            <a:xfrm>
              <a:off x="5083" y="1790"/>
              <a:ext cx="27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Line 110"/>
            <p:cNvSpPr>
              <a:spLocks noChangeShapeType="1"/>
            </p:cNvSpPr>
            <p:nvPr/>
          </p:nvSpPr>
          <p:spPr bwMode="auto">
            <a:xfrm>
              <a:off x="5071" y="2027"/>
              <a:ext cx="27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Line 111"/>
            <p:cNvSpPr>
              <a:spLocks noChangeShapeType="1"/>
            </p:cNvSpPr>
            <p:nvPr/>
          </p:nvSpPr>
          <p:spPr bwMode="auto">
            <a:xfrm>
              <a:off x="2073" y="1790"/>
              <a:ext cx="689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Line 112"/>
            <p:cNvSpPr>
              <a:spLocks noChangeShapeType="1"/>
            </p:cNvSpPr>
            <p:nvPr/>
          </p:nvSpPr>
          <p:spPr bwMode="auto">
            <a:xfrm>
              <a:off x="2073" y="2027"/>
              <a:ext cx="674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AutoShape 113"/>
            <p:cNvSpPr>
              <a:spLocks noChangeArrowheads="1"/>
            </p:cNvSpPr>
            <p:nvPr/>
          </p:nvSpPr>
          <p:spPr bwMode="auto">
            <a:xfrm>
              <a:off x="2079" y="1812"/>
              <a:ext cx="728" cy="223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2000" b="1" baseline="-250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19</a:t>
              </a:r>
              <a:r>
                <a:rPr kumimoji="0" lang="en-US" altLang="zh-CN" sz="20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～A</a:t>
              </a:r>
              <a:r>
                <a:rPr kumimoji="0" lang="en-US" altLang="zh-CN" sz="2000" b="1" baseline="-250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kumimoji="0" lang="en-US" altLang="zh-CN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Line 114"/>
            <p:cNvSpPr>
              <a:spLocks noChangeShapeType="1"/>
            </p:cNvSpPr>
            <p:nvPr/>
          </p:nvSpPr>
          <p:spPr bwMode="auto">
            <a:xfrm>
              <a:off x="2950" y="1790"/>
              <a:ext cx="1937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Line 115"/>
            <p:cNvSpPr>
              <a:spLocks noChangeShapeType="1"/>
            </p:cNvSpPr>
            <p:nvPr/>
          </p:nvSpPr>
          <p:spPr bwMode="auto">
            <a:xfrm>
              <a:off x="2950" y="2027"/>
              <a:ext cx="1937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Rectangle 116"/>
            <p:cNvSpPr>
              <a:spLocks noChangeArrowheads="1"/>
            </p:cNvSpPr>
            <p:nvPr/>
          </p:nvSpPr>
          <p:spPr bwMode="auto">
            <a:xfrm>
              <a:off x="3391" y="1799"/>
              <a:ext cx="994" cy="1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kumimoji="0" lang="en-US" altLang="zh-CN" sz="2000" b="1" baseline="-2500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kumimoji="0" lang="en-US" altLang="zh-CN" sz="2000" b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～S</a:t>
              </a:r>
              <a:r>
                <a:rPr kumimoji="0" lang="en-US" altLang="zh-CN" sz="2000" b="1" baseline="-2500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0" lang="en-US" altLang="zh-CN" sz="20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Rectangle 117"/>
            <p:cNvSpPr>
              <a:spLocks noChangeArrowheads="1"/>
            </p:cNvSpPr>
            <p:nvPr/>
          </p:nvSpPr>
          <p:spPr bwMode="auto">
            <a:xfrm>
              <a:off x="341" y="3653"/>
              <a:ext cx="1038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algn="r"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b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READY</a:t>
              </a:r>
            </a:p>
          </p:txBody>
        </p:sp>
        <p:sp>
          <p:nvSpPr>
            <p:cNvPr id="87" name="Line 118"/>
            <p:cNvSpPr>
              <a:spLocks noChangeShapeType="1"/>
            </p:cNvSpPr>
            <p:nvPr/>
          </p:nvSpPr>
          <p:spPr bwMode="auto">
            <a:xfrm>
              <a:off x="1584" y="3675"/>
              <a:ext cx="3404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Rectangle 119"/>
            <p:cNvSpPr>
              <a:spLocks noChangeArrowheads="1"/>
            </p:cNvSpPr>
            <p:nvPr/>
          </p:nvSpPr>
          <p:spPr bwMode="auto">
            <a:xfrm>
              <a:off x="4898" y="3561"/>
              <a:ext cx="1038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24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（高电平）</a:t>
              </a:r>
            </a:p>
          </p:txBody>
        </p:sp>
        <p:sp>
          <p:nvSpPr>
            <p:cNvPr id="89" name="Line 120"/>
            <p:cNvSpPr>
              <a:spLocks noChangeShapeType="1"/>
            </p:cNvSpPr>
            <p:nvPr/>
          </p:nvSpPr>
          <p:spPr bwMode="auto">
            <a:xfrm>
              <a:off x="4995" y="1440"/>
              <a:ext cx="290" cy="1"/>
            </a:xfrm>
            <a:prstGeom prst="line">
              <a:avLst/>
            </a:prstGeom>
            <a:noFill/>
            <a:ln w="28575" cap="rnd">
              <a:solidFill>
                <a:schemeClr val="folHlink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Line 121"/>
            <p:cNvSpPr>
              <a:spLocks noChangeShapeType="1"/>
            </p:cNvSpPr>
            <p:nvPr/>
          </p:nvSpPr>
          <p:spPr bwMode="auto">
            <a:xfrm>
              <a:off x="4995" y="1676"/>
              <a:ext cx="272" cy="1"/>
            </a:xfrm>
            <a:prstGeom prst="line">
              <a:avLst/>
            </a:prstGeom>
            <a:noFill/>
            <a:ln w="28575" cap="rnd">
              <a:solidFill>
                <a:schemeClr val="folHlink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Line 122"/>
            <p:cNvSpPr>
              <a:spLocks noChangeShapeType="1"/>
            </p:cNvSpPr>
            <p:nvPr/>
          </p:nvSpPr>
          <p:spPr bwMode="auto">
            <a:xfrm>
              <a:off x="1646" y="1440"/>
              <a:ext cx="272" cy="1"/>
            </a:xfrm>
            <a:prstGeom prst="line">
              <a:avLst/>
            </a:prstGeom>
            <a:noFill/>
            <a:ln w="28575" cap="rnd">
              <a:solidFill>
                <a:schemeClr val="folHlink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Line 123"/>
            <p:cNvSpPr>
              <a:spLocks noChangeShapeType="1"/>
            </p:cNvSpPr>
            <p:nvPr/>
          </p:nvSpPr>
          <p:spPr bwMode="auto">
            <a:xfrm>
              <a:off x="1646" y="1676"/>
              <a:ext cx="272" cy="1"/>
            </a:xfrm>
            <a:prstGeom prst="line">
              <a:avLst/>
            </a:prstGeom>
            <a:noFill/>
            <a:ln w="28575" cap="rnd">
              <a:solidFill>
                <a:schemeClr val="folHlink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Line 124"/>
            <p:cNvSpPr>
              <a:spLocks noChangeShapeType="1"/>
            </p:cNvSpPr>
            <p:nvPr/>
          </p:nvSpPr>
          <p:spPr bwMode="auto">
            <a:xfrm>
              <a:off x="1941" y="1445"/>
              <a:ext cx="3042" cy="1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Rectangle 125"/>
            <p:cNvSpPr>
              <a:spLocks noChangeArrowheads="1"/>
            </p:cNvSpPr>
            <p:nvPr/>
          </p:nvSpPr>
          <p:spPr bwMode="auto">
            <a:xfrm>
              <a:off x="480" y="1440"/>
              <a:ext cx="960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algn="r"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IO</a:t>
              </a:r>
              <a:r>
                <a:rPr kumimoji="0" lang="zh-CN" altLang="en-US" sz="24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kumimoji="0" lang="en-US" altLang="zh-CN" sz="24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/M</a:t>
              </a:r>
            </a:p>
          </p:txBody>
        </p:sp>
        <p:sp>
          <p:nvSpPr>
            <p:cNvPr id="95" name="Line 126"/>
            <p:cNvSpPr>
              <a:spLocks noChangeShapeType="1"/>
            </p:cNvSpPr>
            <p:nvPr/>
          </p:nvSpPr>
          <p:spPr bwMode="auto">
            <a:xfrm>
              <a:off x="1940" y="1445"/>
              <a:ext cx="0" cy="243"/>
            </a:xfrm>
            <a:prstGeom prst="line">
              <a:avLst/>
            </a:prstGeom>
            <a:noFill/>
            <a:ln w="2857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Line 127"/>
            <p:cNvSpPr>
              <a:spLocks noChangeShapeType="1"/>
            </p:cNvSpPr>
            <p:nvPr/>
          </p:nvSpPr>
          <p:spPr bwMode="auto">
            <a:xfrm>
              <a:off x="4986" y="1445"/>
              <a:ext cx="0" cy="243"/>
            </a:xfrm>
            <a:prstGeom prst="line">
              <a:avLst/>
            </a:prstGeom>
            <a:noFill/>
            <a:ln w="2857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Rectangle 128"/>
            <p:cNvSpPr>
              <a:spLocks noChangeArrowheads="1"/>
            </p:cNvSpPr>
            <p:nvPr/>
          </p:nvSpPr>
          <p:spPr bwMode="auto">
            <a:xfrm>
              <a:off x="655" y="3264"/>
              <a:ext cx="689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algn="r"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WR*</a:t>
              </a:r>
            </a:p>
          </p:txBody>
        </p:sp>
        <p:grpSp>
          <p:nvGrpSpPr>
            <p:cNvPr id="98" name="Group 129"/>
            <p:cNvGrpSpPr>
              <a:grpSpLocks/>
            </p:cNvGrpSpPr>
            <p:nvPr/>
          </p:nvGrpSpPr>
          <p:grpSpPr bwMode="auto">
            <a:xfrm>
              <a:off x="1776" y="1152"/>
              <a:ext cx="3024" cy="2736"/>
              <a:chOff x="3118" y="8080"/>
              <a:chExt cx="2491" cy="5791"/>
            </a:xfrm>
          </p:grpSpPr>
          <p:sp>
            <p:nvSpPr>
              <p:cNvPr id="99" name="Line 130"/>
              <p:cNvSpPr>
                <a:spLocks noChangeShapeType="1"/>
              </p:cNvSpPr>
              <p:nvPr/>
            </p:nvSpPr>
            <p:spPr bwMode="auto">
              <a:xfrm>
                <a:off x="3118" y="8080"/>
                <a:ext cx="1" cy="579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prstDash val="sysDot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0" name="Line 131"/>
              <p:cNvSpPr>
                <a:spLocks noChangeShapeType="1"/>
              </p:cNvSpPr>
              <p:nvPr/>
            </p:nvSpPr>
            <p:spPr bwMode="auto">
              <a:xfrm>
                <a:off x="3733" y="8080"/>
                <a:ext cx="1" cy="579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prstDash val="sysDot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1" name="Line 132"/>
              <p:cNvSpPr>
                <a:spLocks noChangeShapeType="1"/>
              </p:cNvSpPr>
              <p:nvPr/>
            </p:nvSpPr>
            <p:spPr bwMode="auto">
              <a:xfrm>
                <a:off x="4363" y="8080"/>
                <a:ext cx="1" cy="579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prstDash val="sysDot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2" name="Line 133"/>
              <p:cNvSpPr>
                <a:spLocks noChangeShapeType="1"/>
              </p:cNvSpPr>
              <p:nvPr/>
            </p:nvSpPr>
            <p:spPr bwMode="auto">
              <a:xfrm>
                <a:off x="4993" y="8080"/>
                <a:ext cx="1" cy="579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prstDash val="sysDot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3" name="Line 134"/>
              <p:cNvSpPr>
                <a:spLocks noChangeShapeType="1"/>
              </p:cNvSpPr>
              <p:nvPr/>
            </p:nvSpPr>
            <p:spPr bwMode="auto">
              <a:xfrm>
                <a:off x="5608" y="8080"/>
                <a:ext cx="1" cy="579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prstDash val="sysDot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cxnSp>
        <p:nvCxnSpPr>
          <p:cNvPr id="137" name="直接连接符 13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38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时序分析（存储器写）</a:t>
            </a:r>
          </a:p>
        </p:txBody>
      </p:sp>
      <p:cxnSp>
        <p:nvCxnSpPr>
          <p:cNvPr id="139" name="直接连接符 138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</p:spTree>
    <p:extLst>
      <p:ext uri="{BB962C8B-B14F-4D97-AF65-F5344CB8AC3E}">
        <p14:creationId xmlns:p14="http://schemas.microsoft.com/office/powerpoint/2010/main" val="414416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37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051720" y="2514157"/>
            <a:ext cx="6984776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8086 CPU</a:t>
            </a: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工作模式</a:t>
            </a: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第二小节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4010481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83568" y="2127136"/>
            <a:ext cx="3906435" cy="2958048"/>
            <a:chOff x="841001" y="1516287"/>
            <a:chExt cx="3330371" cy="1998222"/>
          </a:xfrm>
        </p:grpSpPr>
        <p:sp>
          <p:nvSpPr>
            <p:cNvPr id="3" name="任意多边形 2"/>
            <p:cNvSpPr/>
            <p:nvPr/>
          </p:nvSpPr>
          <p:spPr>
            <a:xfrm>
              <a:off x="841003" y="1516287"/>
              <a:ext cx="3330369" cy="1998222"/>
            </a:xfrm>
            <a:custGeom>
              <a:avLst/>
              <a:gdLst>
                <a:gd name="connsiteX0" fmla="*/ 0 w 3330369"/>
                <a:gd name="connsiteY0" fmla="*/ 0 h 1998222"/>
                <a:gd name="connsiteX1" fmla="*/ 3330369 w 3330369"/>
                <a:gd name="connsiteY1" fmla="*/ 0 h 1998222"/>
                <a:gd name="connsiteX2" fmla="*/ 3330369 w 3330369"/>
                <a:gd name="connsiteY2" fmla="*/ 1998222 h 1998222"/>
                <a:gd name="connsiteX3" fmla="*/ 0 w 3330369"/>
                <a:gd name="connsiteY3" fmla="*/ 1998222 h 1998222"/>
                <a:gd name="connsiteX4" fmla="*/ 0 w 3330369"/>
                <a:gd name="connsiteY4" fmla="*/ 0 h 199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0369" h="1998222">
                  <a:moveTo>
                    <a:pt x="0" y="0"/>
                  </a:moveTo>
                  <a:lnTo>
                    <a:pt x="3330369" y="0"/>
                  </a:lnTo>
                  <a:lnTo>
                    <a:pt x="3330369" y="1998222"/>
                  </a:lnTo>
                  <a:lnTo>
                    <a:pt x="0" y="1998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anchor="ctr" anchorCtr="0">
              <a:noAutofit/>
            </a:bodyPr>
            <a:lstStyle/>
            <a:p>
              <a:pPr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841001" y="1628800"/>
              <a:ext cx="3330370" cy="432048"/>
              <a:chOff x="841001" y="1628800"/>
              <a:chExt cx="3330370" cy="43204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841002" y="1628800"/>
                <a:ext cx="3330369" cy="432048"/>
              </a:xfrm>
              <a:prstGeom prst="rect">
                <a:avLst/>
              </a:prstGeom>
              <a:solidFill>
                <a:schemeClr val="bg1">
                  <a:lumMod val="95000"/>
                  <a:alpha val="8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841001" y="1638614"/>
                <a:ext cx="3330370" cy="332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一、最小模式</a:t>
                </a:r>
              </a:p>
            </p:txBody>
          </p:sp>
        </p:grpSp>
        <p:sp>
          <p:nvSpPr>
            <p:cNvPr id="5" name="TextBox 6"/>
            <p:cNvSpPr txBox="1"/>
            <p:nvPr/>
          </p:nvSpPr>
          <p:spPr>
            <a:xfrm>
              <a:off x="913011" y="2109731"/>
              <a:ext cx="3186352" cy="1143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p"/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单处理器系统，构成小规模的应用系统；</a:t>
              </a:r>
              <a:endPara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p"/>
              </a:pPr>
              <a:r>
                <a:rPr lang="en-US" altLang="zh-CN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8086/88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本身提供所有的系统总线信号。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932040" y="2127136"/>
            <a:ext cx="3906434" cy="2970501"/>
            <a:chOff x="4504410" y="1516287"/>
            <a:chExt cx="3330370" cy="2008646"/>
          </a:xfrm>
        </p:grpSpPr>
        <p:sp>
          <p:nvSpPr>
            <p:cNvPr id="9" name="任意多边形 8"/>
            <p:cNvSpPr/>
            <p:nvPr/>
          </p:nvSpPr>
          <p:spPr>
            <a:xfrm>
              <a:off x="4504410" y="1516287"/>
              <a:ext cx="3330369" cy="1998222"/>
            </a:xfrm>
            <a:custGeom>
              <a:avLst/>
              <a:gdLst>
                <a:gd name="connsiteX0" fmla="*/ 0 w 3330369"/>
                <a:gd name="connsiteY0" fmla="*/ 0 h 1998222"/>
                <a:gd name="connsiteX1" fmla="*/ 3330369 w 3330369"/>
                <a:gd name="connsiteY1" fmla="*/ 0 h 1998222"/>
                <a:gd name="connsiteX2" fmla="*/ 3330369 w 3330369"/>
                <a:gd name="connsiteY2" fmla="*/ 1998222 h 1998222"/>
                <a:gd name="connsiteX3" fmla="*/ 0 w 3330369"/>
                <a:gd name="connsiteY3" fmla="*/ 1998222 h 1998222"/>
                <a:gd name="connsiteX4" fmla="*/ 0 w 3330369"/>
                <a:gd name="connsiteY4" fmla="*/ 0 h 199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0369" h="1998222">
                  <a:moveTo>
                    <a:pt x="0" y="0"/>
                  </a:moveTo>
                  <a:lnTo>
                    <a:pt x="3330369" y="0"/>
                  </a:lnTo>
                  <a:lnTo>
                    <a:pt x="3330369" y="1998222"/>
                  </a:lnTo>
                  <a:lnTo>
                    <a:pt x="0" y="1998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anchor="ctr" anchorCtr="0">
              <a:noAutofit/>
            </a:bodyPr>
            <a:lstStyle/>
            <a:p>
              <a:pPr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dirty="0">
                <a:solidFill>
                  <a:srgbClr val="FFFFFF"/>
                </a:solidFill>
                <a:latin typeface="Segoe UI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4504410" y="1628800"/>
              <a:ext cx="3330370" cy="432048"/>
              <a:chOff x="841001" y="1628800"/>
              <a:chExt cx="3330370" cy="432048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841002" y="1628800"/>
                <a:ext cx="3330369" cy="432048"/>
              </a:xfrm>
              <a:prstGeom prst="rect">
                <a:avLst/>
              </a:prstGeom>
              <a:solidFill>
                <a:schemeClr val="bg1">
                  <a:lumMod val="95000"/>
                  <a:alpha val="8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/>
              </a:p>
            </p:txBody>
          </p:sp>
          <p:sp>
            <p:nvSpPr>
              <p:cNvPr id="13" name="TextBox 6"/>
              <p:cNvSpPr txBox="1"/>
              <p:nvPr/>
            </p:nvSpPr>
            <p:spPr>
              <a:xfrm>
                <a:off x="841001" y="1638614"/>
                <a:ext cx="3330370" cy="332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二、最大模式</a:t>
                </a:r>
              </a:p>
            </p:txBody>
          </p:sp>
        </p:grpSp>
        <p:sp>
          <p:nvSpPr>
            <p:cNvPr id="11" name="TextBox 6"/>
            <p:cNvSpPr txBox="1"/>
            <p:nvPr/>
          </p:nvSpPr>
          <p:spPr>
            <a:xfrm>
              <a:off x="4576419" y="2109731"/>
              <a:ext cx="3186352" cy="14152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p"/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多处理器系统，构成较大规模的应用系统，例如可接数值协处理器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8087 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；</a:t>
              </a:r>
              <a:endPara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p"/>
              </a:pPr>
              <a:r>
                <a:rPr lang="en-US" altLang="zh-CN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8086/88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和总线控制器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8288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共同形成系统总线信号。</a:t>
              </a:r>
            </a:p>
          </p:txBody>
        </p:sp>
      </p:grpSp>
      <p:cxnSp>
        <p:nvCxnSpPr>
          <p:cNvPr id="14" name="直接连接符 1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8086 CPU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的工作模式</a:t>
            </a:r>
          </a:p>
        </p:txBody>
      </p:sp>
      <p:cxnSp>
        <p:nvCxnSpPr>
          <p:cNvPr id="16" name="直接连接符 1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9" name="矩形 4"/>
          <p:cNvSpPr>
            <a:spLocks noChangeArrowheads="1"/>
          </p:cNvSpPr>
          <p:nvPr/>
        </p:nvSpPr>
        <p:spPr bwMode="auto">
          <a:xfrm>
            <a:off x="2195736" y="6085393"/>
            <a:ext cx="4680520" cy="45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MN/MX 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的管脚电平区分工作模式</a:t>
            </a:r>
          </a:p>
        </p:txBody>
      </p:sp>
      <p:pic>
        <p:nvPicPr>
          <p:cNvPr id="20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2876" y="5769855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直接连接符 20"/>
          <p:cNvCxnSpPr/>
          <p:nvPr/>
        </p:nvCxnSpPr>
        <p:spPr>
          <a:xfrm>
            <a:off x="2838728" y="6161256"/>
            <a:ext cx="3651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34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直接连接符 114"/>
          <p:cNvCxnSpPr/>
          <p:nvPr/>
        </p:nvCxnSpPr>
        <p:spPr>
          <a:xfrm>
            <a:off x="2564127" y="4718530"/>
            <a:ext cx="4348" cy="721270"/>
          </a:xfrm>
          <a:prstGeom prst="line">
            <a:avLst/>
          </a:prstGeom>
          <a:ln w="50800" cmpd="sng">
            <a:solidFill>
              <a:srgbClr val="FF32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最小模式总线（以</a:t>
            </a:r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8088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为例）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0" name="矩形 69"/>
          <p:cNvSpPr/>
          <p:nvPr/>
        </p:nvSpPr>
        <p:spPr>
          <a:xfrm>
            <a:off x="806144" y="1484784"/>
            <a:ext cx="1634902" cy="4564958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8088</a:t>
            </a:r>
            <a:endParaRPr lang="zh-CN" altLang="en-US" dirty="0"/>
          </a:p>
        </p:txBody>
      </p:sp>
      <p:sp>
        <p:nvSpPr>
          <p:cNvPr id="71" name="文本框 70"/>
          <p:cNvSpPr txBox="1"/>
          <p:nvPr/>
        </p:nvSpPr>
        <p:spPr>
          <a:xfrm>
            <a:off x="1480001" y="1603322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MN/MX*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630232" y="1934941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IO/M*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1699063" y="2266560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RD*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699063" y="2614146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WR*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78" name="直接连接符 77"/>
          <p:cNvCxnSpPr/>
          <p:nvPr/>
        </p:nvCxnSpPr>
        <p:spPr>
          <a:xfrm>
            <a:off x="2441046" y="1787988"/>
            <a:ext cx="72008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2459302" y="2119607"/>
            <a:ext cx="3125155" cy="0"/>
          </a:xfrm>
          <a:prstGeom prst="line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2459302" y="2475207"/>
            <a:ext cx="3125155" cy="0"/>
          </a:xfrm>
          <a:prstGeom prst="line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>
            <a:off x="2459302" y="2798812"/>
            <a:ext cx="3125155" cy="0"/>
          </a:xfrm>
          <a:prstGeom prst="line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/>
          <p:cNvSpPr/>
          <p:nvPr/>
        </p:nvSpPr>
        <p:spPr>
          <a:xfrm>
            <a:off x="3136185" y="3143323"/>
            <a:ext cx="1634902" cy="491362"/>
          </a:xfrm>
          <a:prstGeom prst="rect">
            <a:avLst/>
          </a:prstGeom>
          <a:solidFill>
            <a:srgbClr val="1D8DE5"/>
          </a:solidFill>
          <a:ln>
            <a:solidFill>
              <a:srgbClr val="1D8D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8282</a:t>
            </a:r>
            <a:endParaRPr lang="zh-CN" altLang="en-US" dirty="0"/>
          </a:p>
        </p:txBody>
      </p:sp>
      <p:sp>
        <p:nvSpPr>
          <p:cNvPr id="86" name="矩形 85"/>
          <p:cNvSpPr/>
          <p:nvPr/>
        </p:nvSpPr>
        <p:spPr>
          <a:xfrm>
            <a:off x="3136185" y="3889146"/>
            <a:ext cx="1634902" cy="491362"/>
          </a:xfrm>
          <a:prstGeom prst="rect">
            <a:avLst/>
          </a:prstGeom>
          <a:solidFill>
            <a:srgbClr val="1D8DE5"/>
          </a:solidFill>
          <a:ln>
            <a:solidFill>
              <a:srgbClr val="1D8D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8282</a:t>
            </a:r>
            <a:endParaRPr lang="zh-CN" altLang="en-US" dirty="0"/>
          </a:p>
        </p:txBody>
      </p:sp>
      <p:sp>
        <p:nvSpPr>
          <p:cNvPr id="87" name="矩形 86"/>
          <p:cNvSpPr/>
          <p:nvPr/>
        </p:nvSpPr>
        <p:spPr>
          <a:xfrm>
            <a:off x="3136185" y="4634970"/>
            <a:ext cx="1634902" cy="491362"/>
          </a:xfrm>
          <a:prstGeom prst="rect">
            <a:avLst/>
          </a:prstGeom>
          <a:solidFill>
            <a:srgbClr val="1D8DE5"/>
          </a:solidFill>
          <a:ln>
            <a:solidFill>
              <a:srgbClr val="1D8D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8282</a:t>
            </a:r>
            <a:endParaRPr lang="zh-CN" altLang="en-US" dirty="0"/>
          </a:p>
        </p:txBody>
      </p:sp>
      <p:sp>
        <p:nvSpPr>
          <p:cNvPr id="88" name="矩形 87"/>
          <p:cNvSpPr/>
          <p:nvPr/>
        </p:nvSpPr>
        <p:spPr>
          <a:xfrm>
            <a:off x="3136185" y="5295660"/>
            <a:ext cx="1634902" cy="754082"/>
          </a:xfrm>
          <a:prstGeom prst="rect">
            <a:avLst/>
          </a:prstGeom>
          <a:solidFill>
            <a:srgbClr val="FF3255"/>
          </a:solidFill>
          <a:ln>
            <a:solidFill>
              <a:srgbClr val="FF32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8286</a:t>
            </a:r>
            <a:endParaRPr lang="zh-CN" altLang="en-US" dirty="0"/>
          </a:p>
        </p:txBody>
      </p:sp>
      <p:cxnSp>
        <p:nvCxnSpPr>
          <p:cNvPr id="89" name="直接连接符 88"/>
          <p:cNvCxnSpPr/>
          <p:nvPr/>
        </p:nvCxnSpPr>
        <p:spPr>
          <a:xfrm>
            <a:off x="2459302" y="3972220"/>
            <a:ext cx="676883" cy="0"/>
          </a:xfrm>
          <a:prstGeom prst="line">
            <a:avLst/>
          </a:prstGeom>
          <a:ln w="50800" cmpd="sng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>
            <a:off x="2459302" y="3256257"/>
            <a:ext cx="676883" cy="0"/>
          </a:xfrm>
          <a:prstGeom prst="line">
            <a:avLst/>
          </a:prstGeom>
          <a:ln w="50800" cmpd="sng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>
            <a:off x="2441046" y="5617694"/>
            <a:ext cx="69513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>
            <a:off x="2459302" y="4721520"/>
            <a:ext cx="676883" cy="0"/>
          </a:xfrm>
          <a:prstGeom prst="line">
            <a:avLst/>
          </a:prstGeom>
          <a:ln w="50800" cmpd="sng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>
            <a:off x="2704137" y="3550484"/>
            <a:ext cx="0" cy="14911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2704137" y="3550484"/>
            <a:ext cx="43204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>
            <a:off x="2704137" y="4299371"/>
            <a:ext cx="43204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>
            <a:off x="2459302" y="5041630"/>
            <a:ext cx="67688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1706180" y="4823120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ALE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1650250" y="5401670"/>
            <a:ext cx="755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DT/R*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1662193" y="5752418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DEN*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3083407" y="3392719"/>
            <a:ext cx="489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</a:rPr>
              <a:t>STB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3083406" y="4117771"/>
            <a:ext cx="489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</a:rPr>
              <a:t>STB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3083405" y="4872353"/>
            <a:ext cx="489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</a:rPr>
              <a:t>STB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cxnSp>
        <p:nvCxnSpPr>
          <p:cNvPr id="113" name="直接连接符 112"/>
          <p:cNvCxnSpPr/>
          <p:nvPr/>
        </p:nvCxnSpPr>
        <p:spPr>
          <a:xfrm>
            <a:off x="2560121" y="5415258"/>
            <a:ext cx="578584" cy="412"/>
          </a:xfrm>
          <a:prstGeom prst="line">
            <a:avLst/>
          </a:prstGeom>
          <a:ln w="50800" cmpd="sng">
            <a:solidFill>
              <a:srgbClr val="FF32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>
            <a:off x="2441046" y="5905726"/>
            <a:ext cx="69513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文本框 124"/>
          <p:cNvSpPr txBox="1"/>
          <p:nvPr/>
        </p:nvSpPr>
        <p:spPr>
          <a:xfrm>
            <a:off x="3083405" y="5433028"/>
            <a:ext cx="2840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</a:rPr>
              <a:t>T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3106865" y="5736900"/>
            <a:ext cx="5245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</a:rPr>
              <a:t>OE*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cxnSp>
        <p:nvCxnSpPr>
          <p:cNvPr id="127" name="直接连接符 126"/>
          <p:cNvCxnSpPr/>
          <p:nvPr/>
        </p:nvCxnSpPr>
        <p:spPr>
          <a:xfrm flipV="1">
            <a:off x="4771087" y="3243859"/>
            <a:ext cx="809551" cy="12398"/>
          </a:xfrm>
          <a:prstGeom prst="line">
            <a:avLst/>
          </a:prstGeom>
          <a:ln w="50800" cmpd="sng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/>
          <p:cNvCxnSpPr/>
          <p:nvPr/>
        </p:nvCxnSpPr>
        <p:spPr>
          <a:xfrm flipV="1">
            <a:off x="4771086" y="3972220"/>
            <a:ext cx="809552" cy="17462"/>
          </a:xfrm>
          <a:prstGeom prst="line">
            <a:avLst/>
          </a:prstGeom>
          <a:ln w="50800" cmpd="sng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/>
          <p:cNvCxnSpPr/>
          <p:nvPr/>
        </p:nvCxnSpPr>
        <p:spPr>
          <a:xfrm>
            <a:off x="4760213" y="5429486"/>
            <a:ext cx="820425" cy="10314"/>
          </a:xfrm>
          <a:prstGeom prst="line">
            <a:avLst/>
          </a:prstGeom>
          <a:ln w="50800" cmpd="sng">
            <a:solidFill>
              <a:srgbClr val="FF3255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本框 131"/>
          <p:cNvSpPr txBox="1"/>
          <p:nvPr/>
        </p:nvSpPr>
        <p:spPr>
          <a:xfrm>
            <a:off x="3141939" y="1623172"/>
            <a:ext cx="5084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+5V</a:t>
            </a:r>
            <a:endParaRPr lang="zh-CN" altLang="en-US" sz="1600" dirty="0"/>
          </a:p>
        </p:txBody>
      </p:sp>
      <p:cxnSp>
        <p:nvCxnSpPr>
          <p:cNvPr id="147" name="直接连接符 146"/>
          <p:cNvCxnSpPr/>
          <p:nvPr/>
        </p:nvCxnSpPr>
        <p:spPr>
          <a:xfrm flipV="1">
            <a:off x="4771086" y="4708820"/>
            <a:ext cx="809552" cy="9710"/>
          </a:xfrm>
          <a:prstGeom prst="line">
            <a:avLst/>
          </a:prstGeom>
          <a:ln w="50800" cmpd="sng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文本框 150"/>
          <p:cNvSpPr txBox="1"/>
          <p:nvPr/>
        </p:nvSpPr>
        <p:spPr>
          <a:xfrm>
            <a:off x="5702638" y="3101853"/>
            <a:ext cx="9412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A19~A16</a:t>
            </a:r>
            <a:endParaRPr lang="zh-CN" altLang="en-US" sz="1600" dirty="0"/>
          </a:p>
        </p:txBody>
      </p:sp>
      <p:sp>
        <p:nvSpPr>
          <p:cNvPr id="152" name="文本框 151"/>
          <p:cNvSpPr txBox="1"/>
          <p:nvPr/>
        </p:nvSpPr>
        <p:spPr>
          <a:xfrm>
            <a:off x="5702638" y="3788329"/>
            <a:ext cx="837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A15~A8</a:t>
            </a:r>
            <a:endParaRPr lang="zh-CN" altLang="en-US" sz="1600" dirty="0"/>
          </a:p>
        </p:txBody>
      </p:sp>
      <p:sp>
        <p:nvSpPr>
          <p:cNvPr id="153" name="文本框 152"/>
          <p:cNvSpPr txBox="1"/>
          <p:nvPr/>
        </p:nvSpPr>
        <p:spPr>
          <a:xfrm>
            <a:off x="5691289" y="4517903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A7~A0</a:t>
            </a:r>
            <a:endParaRPr lang="zh-CN" altLang="en-US" sz="1600" dirty="0"/>
          </a:p>
        </p:txBody>
      </p:sp>
      <p:sp>
        <p:nvSpPr>
          <p:cNvPr id="154" name="文本框 153"/>
          <p:cNvSpPr txBox="1"/>
          <p:nvPr/>
        </p:nvSpPr>
        <p:spPr>
          <a:xfrm>
            <a:off x="5703235" y="5291110"/>
            <a:ext cx="7489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D7~D0</a:t>
            </a:r>
            <a:endParaRPr lang="zh-CN" altLang="en-US" sz="1600" dirty="0"/>
          </a:p>
        </p:txBody>
      </p:sp>
      <p:sp>
        <p:nvSpPr>
          <p:cNvPr id="155" name="文本框 154"/>
          <p:cNvSpPr txBox="1"/>
          <p:nvPr/>
        </p:nvSpPr>
        <p:spPr>
          <a:xfrm>
            <a:off x="5688074" y="2314776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RD*</a:t>
            </a:r>
            <a:endParaRPr lang="zh-CN" altLang="en-US" sz="1600" dirty="0"/>
          </a:p>
        </p:txBody>
      </p:sp>
      <p:sp>
        <p:nvSpPr>
          <p:cNvPr id="156" name="文本框 155"/>
          <p:cNvSpPr txBox="1"/>
          <p:nvPr/>
        </p:nvSpPr>
        <p:spPr>
          <a:xfrm>
            <a:off x="5675651" y="1965719"/>
            <a:ext cx="7280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IO/M*</a:t>
            </a:r>
            <a:endParaRPr lang="zh-CN" altLang="en-US" sz="1600" dirty="0"/>
          </a:p>
        </p:txBody>
      </p:sp>
      <p:sp>
        <p:nvSpPr>
          <p:cNvPr id="157" name="文本框 156"/>
          <p:cNvSpPr txBox="1"/>
          <p:nvPr/>
        </p:nvSpPr>
        <p:spPr>
          <a:xfrm>
            <a:off x="5672199" y="2615669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WR*</a:t>
            </a:r>
            <a:endParaRPr lang="zh-CN" altLang="en-US" sz="1600" dirty="0"/>
          </a:p>
        </p:txBody>
      </p:sp>
      <p:sp>
        <p:nvSpPr>
          <p:cNvPr id="158" name="矩形 157"/>
          <p:cNvSpPr/>
          <p:nvPr/>
        </p:nvSpPr>
        <p:spPr>
          <a:xfrm>
            <a:off x="6719527" y="1772816"/>
            <a:ext cx="1812913" cy="1093402"/>
          </a:xfrm>
          <a:prstGeom prst="rect">
            <a:avLst/>
          </a:prstGeom>
          <a:ln>
            <a:solidFill>
              <a:srgbClr val="36B2E6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TextBox 17"/>
          <p:cNvSpPr txBox="1"/>
          <p:nvPr/>
        </p:nvSpPr>
        <p:spPr>
          <a:xfrm>
            <a:off x="6881565" y="1772816"/>
            <a:ext cx="1506859" cy="1074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系统控制信号：由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8088cpu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引脚直接提供。</a:t>
            </a:r>
          </a:p>
        </p:txBody>
      </p:sp>
      <p:sp>
        <p:nvSpPr>
          <p:cNvPr id="167" name="矩形 166"/>
          <p:cNvSpPr/>
          <p:nvPr/>
        </p:nvSpPr>
        <p:spPr>
          <a:xfrm>
            <a:off x="6702115" y="3140968"/>
            <a:ext cx="1812913" cy="1441057"/>
          </a:xfrm>
          <a:prstGeom prst="rect">
            <a:avLst/>
          </a:prstGeom>
          <a:ln>
            <a:solidFill>
              <a:srgbClr val="36B2E6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TextBox 17"/>
          <p:cNvSpPr txBox="1"/>
          <p:nvPr/>
        </p:nvSpPr>
        <p:spPr>
          <a:xfrm>
            <a:off x="6864153" y="3140968"/>
            <a:ext cx="1506859" cy="1402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位地址总线：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个三态透明锁存器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8282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进行锁存和驱动。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9" name="矩形 168"/>
          <p:cNvSpPr/>
          <p:nvPr/>
        </p:nvSpPr>
        <p:spPr>
          <a:xfrm>
            <a:off x="6698087" y="4869160"/>
            <a:ext cx="1812913" cy="1036565"/>
          </a:xfrm>
          <a:prstGeom prst="rect">
            <a:avLst/>
          </a:prstGeom>
          <a:ln>
            <a:solidFill>
              <a:srgbClr val="36B2E6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TextBox 17"/>
          <p:cNvSpPr txBox="1"/>
          <p:nvPr/>
        </p:nvSpPr>
        <p:spPr>
          <a:xfrm>
            <a:off x="6860125" y="4869160"/>
            <a:ext cx="1506859" cy="1074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位数据总线：数据收发器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8286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驱动。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41651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2"/>
          <p:cNvGrpSpPr>
            <a:grpSpLocks/>
          </p:cNvGrpSpPr>
          <p:nvPr/>
        </p:nvGrpSpPr>
        <p:grpSpPr bwMode="auto">
          <a:xfrm>
            <a:off x="395536" y="332656"/>
            <a:ext cx="8201025" cy="6019800"/>
            <a:chOff x="507" y="255"/>
            <a:chExt cx="5166" cy="3792"/>
          </a:xfrm>
        </p:grpSpPr>
        <p:sp>
          <p:nvSpPr>
            <p:cNvPr id="56" name="Rectangle 3"/>
            <p:cNvSpPr>
              <a:spLocks noChangeArrowheads="1"/>
            </p:cNvSpPr>
            <p:nvPr/>
          </p:nvSpPr>
          <p:spPr bwMode="auto">
            <a:xfrm>
              <a:off x="1035" y="1695"/>
              <a:ext cx="768" cy="11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96969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7" name="Line 4"/>
            <p:cNvSpPr>
              <a:spLocks noChangeShapeType="1"/>
            </p:cNvSpPr>
            <p:nvPr/>
          </p:nvSpPr>
          <p:spPr bwMode="auto">
            <a:xfrm>
              <a:off x="603" y="2175"/>
              <a:ext cx="2592" cy="912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969696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8" name="Rectangle 5"/>
            <p:cNvSpPr>
              <a:spLocks noChangeArrowheads="1"/>
            </p:cNvSpPr>
            <p:nvPr/>
          </p:nvSpPr>
          <p:spPr bwMode="auto">
            <a:xfrm>
              <a:off x="1131" y="1119"/>
              <a:ext cx="864" cy="283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>
              <a:prstShdw prst="shdw17" dist="17961" dir="2700000">
                <a:schemeClr val="tx2">
                  <a:gamma/>
                  <a:shade val="60000"/>
                  <a:invGamma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969696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>
                <a:solidFill>
                  <a:schemeClr val="hlink"/>
                </a:solidFill>
                <a:effectLst/>
                <a:ea typeface="隶书" panose="02010509060101010101" pitchFamily="49" charset="-122"/>
              </a:endParaRPr>
            </a:p>
          </p:txBody>
        </p:sp>
        <p:sp>
          <p:nvSpPr>
            <p:cNvPr id="59" name="Rectangle 6"/>
            <p:cNvSpPr>
              <a:spLocks noChangeArrowheads="1"/>
            </p:cNvSpPr>
            <p:nvPr/>
          </p:nvSpPr>
          <p:spPr bwMode="auto">
            <a:xfrm>
              <a:off x="2715" y="2607"/>
              <a:ext cx="480" cy="576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969696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>
                <a:solidFill>
                  <a:schemeClr val="hlink"/>
                </a:solidFill>
                <a:effectLst/>
                <a:ea typeface="隶书" panose="02010509060101010101" pitchFamily="49" charset="-122"/>
              </a:endParaRPr>
            </a:p>
          </p:txBody>
        </p:sp>
        <p:sp>
          <p:nvSpPr>
            <p:cNvPr id="60" name="Rectangle 7"/>
            <p:cNvSpPr>
              <a:spLocks noChangeArrowheads="1"/>
            </p:cNvSpPr>
            <p:nvPr/>
          </p:nvSpPr>
          <p:spPr bwMode="auto">
            <a:xfrm>
              <a:off x="2619" y="2655"/>
              <a:ext cx="480" cy="576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969696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>
                <a:solidFill>
                  <a:schemeClr val="hlink"/>
                </a:solidFill>
                <a:effectLst/>
                <a:ea typeface="隶书" panose="02010509060101010101" pitchFamily="49" charset="-122"/>
              </a:endParaRPr>
            </a:p>
          </p:txBody>
        </p:sp>
        <p:sp>
          <p:nvSpPr>
            <p:cNvPr id="61" name="Rectangle 8"/>
            <p:cNvSpPr>
              <a:spLocks noChangeArrowheads="1"/>
            </p:cNvSpPr>
            <p:nvPr/>
          </p:nvSpPr>
          <p:spPr bwMode="auto">
            <a:xfrm>
              <a:off x="2523" y="2703"/>
              <a:ext cx="480" cy="576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969696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>
                <a:solidFill>
                  <a:schemeClr val="hlink"/>
                </a:solidFill>
                <a:effectLst/>
                <a:ea typeface="隶书" panose="02010509060101010101" pitchFamily="49" charset="-122"/>
              </a:endParaRPr>
            </a:p>
          </p:txBody>
        </p:sp>
        <p:sp>
          <p:nvSpPr>
            <p:cNvPr id="62" name="Rectangle 9"/>
            <p:cNvSpPr>
              <a:spLocks noChangeArrowheads="1"/>
            </p:cNvSpPr>
            <p:nvPr/>
          </p:nvSpPr>
          <p:spPr bwMode="auto">
            <a:xfrm>
              <a:off x="2619" y="3423"/>
              <a:ext cx="480" cy="576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969696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>
                <a:solidFill>
                  <a:schemeClr val="hlink"/>
                </a:solidFill>
                <a:effectLst/>
                <a:ea typeface="隶书" panose="02010509060101010101" pitchFamily="49" charset="-122"/>
              </a:endParaRPr>
            </a:p>
          </p:txBody>
        </p:sp>
        <p:sp>
          <p:nvSpPr>
            <p:cNvPr id="63" name="Rectangle 10"/>
            <p:cNvSpPr>
              <a:spLocks noChangeArrowheads="1"/>
            </p:cNvSpPr>
            <p:nvPr/>
          </p:nvSpPr>
          <p:spPr bwMode="auto">
            <a:xfrm>
              <a:off x="2523" y="3471"/>
              <a:ext cx="480" cy="576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969696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>
                <a:solidFill>
                  <a:schemeClr val="hlink"/>
                </a:solidFill>
                <a:effectLst/>
                <a:ea typeface="隶书" panose="02010509060101010101" pitchFamily="49" charset="-122"/>
              </a:endParaRPr>
            </a:p>
          </p:txBody>
        </p:sp>
        <p:sp>
          <p:nvSpPr>
            <p:cNvPr id="64" name="Line 11"/>
            <p:cNvSpPr>
              <a:spLocks noChangeShapeType="1"/>
            </p:cNvSpPr>
            <p:nvPr/>
          </p:nvSpPr>
          <p:spPr bwMode="auto">
            <a:xfrm>
              <a:off x="2667" y="3423"/>
              <a:ext cx="48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5" name="Line 12"/>
            <p:cNvSpPr>
              <a:spLocks noChangeShapeType="1"/>
            </p:cNvSpPr>
            <p:nvPr/>
          </p:nvSpPr>
          <p:spPr bwMode="auto">
            <a:xfrm>
              <a:off x="2475" y="3471"/>
              <a:ext cx="528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6" name="Line 13"/>
            <p:cNvSpPr>
              <a:spLocks noChangeShapeType="1"/>
            </p:cNvSpPr>
            <p:nvPr/>
          </p:nvSpPr>
          <p:spPr bwMode="auto">
            <a:xfrm>
              <a:off x="2619" y="2655"/>
              <a:ext cx="48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" name="Line 14"/>
            <p:cNvSpPr>
              <a:spLocks noChangeShapeType="1"/>
            </p:cNvSpPr>
            <p:nvPr/>
          </p:nvSpPr>
          <p:spPr bwMode="auto">
            <a:xfrm>
              <a:off x="2715" y="2607"/>
              <a:ext cx="48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8" name="Line 15"/>
            <p:cNvSpPr>
              <a:spLocks noChangeShapeType="1"/>
            </p:cNvSpPr>
            <p:nvPr/>
          </p:nvSpPr>
          <p:spPr bwMode="auto">
            <a:xfrm>
              <a:off x="2523" y="2703"/>
              <a:ext cx="48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9" name="Line 16"/>
            <p:cNvSpPr>
              <a:spLocks noChangeShapeType="1"/>
            </p:cNvSpPr>
            <p:nvPr/>
          </p:nvSpPr>
          <p:spPr bwMode="auto">
            <a:xfrm>
              <a:off x="1995" y="3183"/>
              <a:ext cx="528" cy="0"/>
            </a:xfrm>
            <a:prstGeom prst="line">
              <a:avLst/>
            </a:prstGeom>
            <a:noFill/>
            <a:ln w="101600">
              <a:solidFill>
                <a:schemeClr val="tx1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5" name="Line 17"/>
            <p:cNvSpPr>
              <a:spLocks noChangeShapeType="1"/>
            </p:cNvSpPr>
            <p:nvPr/>
          </p:nvSpPr>
          <p:spPr bwMode="auto">
            <a:xfrm>
              <a:off x="1995" y="2994"/>
              <a:ext cx="528" cy="0"/>
            </a:xfrm>
            <a:prstGeom prst="line">
              <a:avLst/>
            </a:prstGeom>
            <a:noFill/>
            <a:ln w="1016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6" name="Line 18"/>
            <p:cNvSpPr>
              <a:spLocks noChangeShapeType="1"/>
            </p:cNvSpPr>
            <p:nvPr/>
          </p:nvSpPr>
          <p:spPr bwMode="auto">
            <a:xfrm>
              <a:off x="2235" y="3183"/>
              <a:ext cx="0" cy="480"/>
            </a:xfrm>
            <a:prstGeom prst="line">
              <a:avLst/>
            </a:prstGeom>
            <a:noFill/>
            <a:ln w="1016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" name="Line 19"/>
            <p:cNvSpPr>
              <a:spLocks noChangeShapeType="1"/>
            </p:cNvSpPr>
            <p:nvPr/>
          </p:nvSpPr>
          <p:spPr bwMode="auto">
            <a:xfrm>
              <a:off x="2235" y="3615"/>
              <a:ext cx="288" cy="0"/>
            </a:xfrm>
            <a:prstGeom prst="line">
              <a:avLst/>
            </a:prstGeom>
            <a:noFill/>
            <a:ln w="1016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2" name="Line 20"/>
            <p:cNvSpPr>
              <a:spLocks noChangeShapeType="1"/>
            </p:cNvSpPr>
            <p:nvPr/>
          </p:nvSpPr>
          <p:spPr bwMode="auto">
            <a:xfrm>
              <a:off x="1995" y="2799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3" name="Line 21"/>
            <p:cNvSpPr>
              <a:spLocks noChangeShapeType="1"/>
            </p:cNvSpPr>
            <p:nvPr/>
          </p:nvSpPr>
          <p:spPr bwMode="auto">
            <a:xfrm>
              <a:off x="1995" y="3855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4" name="Line 22"/>
            <p:cNvSpPr>
              <a:spLocks noChangeShapeType="1"/>
            </p:cNvSpPr>
            <p:nvPr/>
          </p:nvSpPr>
          <p:spPr bwMode="auto">
            <a:xfrm>
              <a:off x="1995" y="3759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3" name="Text Box 23"/>
            <p:cNvSpPr txBox="1">
              <a:spLocks noChangeArrowheads="1"/>
            </p:cNvSpPr>
            <p:nvPr/>
          </p:nvSpPr>
          <p:spPr bwMode="auto">
            <a:xfrm>
              <a:off x="1563" y="1337"/>
              <a:ext cx="480" cy="1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RESET</a:t>
              </a:r>
            </a:p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   TEST</a:t>
              </a:r>
            </a:p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  HOLD</a:t>
              </a:r>
            </a:p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  HLDA</a:t>
              </a:r>
            </a:p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     NMI</a:t>
              </a:r>
            </a:p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    INTR</a:t>
              </a:r>
            </a:p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    INTA</a:t>
              </a:r>
            </a:p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  M / IO</a:t>
              </a:r>
            </a:p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      WR</a:t>
              </a:r>
            </a:p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       RD</a:t>
              </a:r>
            </a:p>
          </p:txBody>
        </p:sp>
        <p:sp>
          <p:nvSpPr>
            <p:cNvPr id="94" name="Rectangle 24"/>
            <p:cNvSpPr>
              <a:spLocks noChangeArrowheads="1"/>
            </p:cNvSpPr>
            <p:nvPr/>
          </p:nvSpPr>
          <p:spPr bwMode="auto">
            <a:xfrm>
              <a:off x="1227" y="495"/>
              <a:ext cx="624" cy="336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ffectLst>
              <a:prstShdw prst="shdw17" dist="17961" dir="2700000">
                <a:srgbClr val="FFCCCC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FFCCCC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5" name="Line 25"/>
            <p:cNvSpPr>
              <a:spLocks noChangeShapeType="1"/>
            </p:cNvSpPr>
            <p:nvPr/>
          </p:nvSpPr>
          <p:spPr bwMode="auto">
            <a:xfrm>
              <a:off x="1323" y="303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6" name="Line 26"/>
            <p:cNvSpPr>
              <a:spLocks noChangeShapeType="1"/>
            </p:cNvSpPr>
            <p:nvPr/>
          </p:nvSpPr>
          <p:spPr bwMode="auto">
            <a:xfrm>
              <a:off x="1755" y="303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7" name="Rectangle 27"/>
            <p:cNvSpPr>
              <a:spLocks noChangeArrowheads="1"/>
            </p:cNvSpPr>
            <p:nvPr/>
          </p:nvSpPr>
          <p:spPr bwMode="auto">
            <a:xfrm>
              <a:off x="1515" y="255"/>
              <a:ext cx="48" cy="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0" name="Line 28"/>
            <p:cNvSpPr>
              <a:spLocks noChangeShapeType="1"/>
            </p:cNvSpPr>
            <p:nvPr/>
          </p:nvSpPr>
          <p:spPr bwMode="auto">
            <a:xfrm>
              <a:off x="1323" y="303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01" name="Line 29"/>
            <p:cNvSpPr>
              <a:spLocks noChangeShapeType="1"/>
            </p:cNvSpPr>
            <p:nvPr/>
          </p:nvSpPr>
          <p:spPr bwMode="auto">
            <a:xfrm>
              <a:off x="1467" y="255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04" name="Line 30"/>
            <p:cNvSpPr>
              <a:spLocks noChangeShapeType="1"/>
            </p:cNvSpPr>
            <p:nvPr/>
          </p:nvSpPr>
          <p:spPr bwMode="auto">
            <a:xfrm>
              <a:off x="1611" y="255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05" name="Line 31"/>
            <p:cNvSpPr>
              <a:spLocks noChangeShapeType="1"/>
            </p:cNvSpPr>
            <p:nvPr/>
          </p:nvSpPr>
          <p:spPr bwMode="auto">
            <a:xfrm>
              <a:off x="1611" y="303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2" name="Line 32"/>
            <p:cNvSpPr>
              <a:spLocks noChangeShapeType="1"/>
            </p:cNvSpPr>
            <p:nvPr/>
          </p:nvSpPr>
          <p:spPr bwMode="auto">
            <a:xfrm>
              <a:off x="3243" y="2895"/>
              <a:ext cx="1392" cy="0"/>
            </a:xfrm>
            <a:prstGeom prst="line">
              <a:avLst/>
            </a:prstGeom>
            <a:noFill/>
            <a:ln w="317500">
              <a:solidFill>
                <a:srgbClr val="00FF99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4" name="Line 33"/>
            <p:cNvSpPr>
              <a:spLocks noChangeShapeType="1"/>
            </p:cNvSpPr>
            <p:nvPr/>
          </p:nvSpPr>
          <p:spPr bwMode="auto">
            <a:xfrm>
              <a:off x="1995" y="2367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6" name="Line 34"/>
            <p:cNvSpPr>
              <a:spLocks noChangeShapeType="1"/>
            </p:cNvSpPr>
            <p:nvPr/>
          </p:nvSpPr>
          <p:spPr bwMode="auto">
            <a:xfrm>
              <a:off x="1995" y="2511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7" name="Line 35"/>
            <p:cNvSpPr>
              <a:spLocks noChangeShapeType="1"/>
            </p:cNvSpPr>
            <p:nvPr/>
          </p:nvSpPr>
          <p:spPr bwMode="auto">
            <a:xfrm>
              <a:off x="1995" y="1743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8" name="Line 36"/>
            <p:cNvSpPr>
              <a:spLocks noChangeShapeType="1"/>
            </p:cNvSpPr>
            <p:nvPr/>
          </p:nvSpPr>
          <p:spPr bwMode="auto">
            <a:xfrm>
              <a:off x="1995" y="1503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9" name="Line 37"/>
            <p:cNvSpPr>
              <a:spLocks noChangeShapeType="1"/>
            </p:cNvSpPr>
            <p:nvPr/>
          </p:nvSpPr>
          <p:spPr bwMode="auto">
            <a:xfrm>
              <a:off x="1995" y="1599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0" name="Line 38"/>
            <p:cNvSpPr>
              <a:spLocks noChangeShapeType="1"/>
            </p:cNvSpPr>
            <p:nvPr/>
          </p:nvSpPr>
          <p:spPr bwMode="auto">
            <a:xfrm flipH="1">
              <a:off x="1995" y="1983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1" name="Line 39"/>
            <p:cNvSpPr>
              <a:spLocks noChangeShapeType="1"/>
            </p:cNvSpPr>
            <p:nvPr/>
          </p:nvSpPr>
          <p:spPr bwMode="auto">
            <a:xfrm>
              <a:off x="1995" y="2127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2" name="Line 40"/>
            <p:cNvSpPr>
              <a:spLocks noChangeShapeType="1"/>
            </p:cNvSpPr>
            <p:nvPr/>
          </p:nvSpPr>
          <p:spPr bwMode="auto">
            <a:xfrm>
              <a:off x="1995" y="2271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" name="Line 41"/>
            <p:cNvSpPr>
              <a:spLocks noChangeShapeType="1"/>
            </p:cNvSpPr>
            <p:nvPr/>
          </p:nvSpPr>
          <p:spPr bwMode="auto">
            <a:xfrm>
              <a:off x="1995" y="1887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9" name="Line 42"/>
            <p:cNvSpPr>
              <a:spLocks noChangeShapeType="1"/>
            </p:cNvSpPr>
            <p:nvPr/>
          </p:nvSpPr>
          <p:spPr bwMode="auto">
            <a:xfrm>
              <a:off x="1851" y="591"/>
              <a:ext cx="13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1" name="Text Box 43"/>
            <p:cNvSpPr txBox="1">
              <a:spLocks noChangeArrowheads="1"/>
            </p:cNvSpPr>
            <p:nvPr/>
          </p:nvSpPr>
          <p:spPr bwMode="auto">
            <a:xfrm>
              <a:off x="1131" y="1167"/>
              <a:ext cx="864" cy="1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READY</a:t>
              </a:r>
              <a:r>
                <a:rPr lang="en-US" altLang="zh-CN" sz="1200" b="1">
                  <a:effectLst/>
                  <a:ea typeface="隶书" panose="02010509060101010101" pitchFamily="49" charset="-122"/>
                </a:rPr>
                <a:t>     </a:t>
              </a:r>
              <a:r>
                <a:rPr lang="en-US" altLang="zh-CN" sz="1200" b="1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CLK</a:t>
              </a:r>
              <a:r>
                <a:rPr lang="en-US" altLang="zh-CN" sz="1200" b="1">
                  <a:effectLst/>
                  <a:ea typeface="隶书" panose="02010509060101010101" pitchFamily="49" charset="-122"/>
                </a:rPr>
                <a:t>     </a:t>
              </a:r>
            </a:p>
          </p:txBody>
        </p:sp>
        <p:sp>
          <p:nvSpPr>
            <p:cNvPr id="133" name="Line 44"/>
            <p:cNvSpPr>
              <a:spLocks noChangeShapeType="1"/>
            </p:cNvSpPr>
            <p:nvPr/>
          </p:nvSpPr>
          <p:spPr bwMode="auto">
            <a:xfrm>
              <a:off x="1851" y="783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4" name="Line 45"/>
            <p:cNvSpPr>
              <a:spLocks noChangeShapeType="1"/>
            </p:cNvSpPr>
            <p:nvPr/>
          </p:nvSpPr>
          <p:spPr bwMode="auto">
            <a:xfrm>
              <a:off x="2139" y="783"/>
              <a:ext cx="0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5" name="Line 46"/>
            <p:cNvSpPr>
              <a:spLocks noChangeShapeType="1"/>
            </p:cNvSpPr>
            <p:nvPr/>
          </p:nvSpPr>
          <p:spPr bwMode="auto">
            <a:xfrm>
              <a:off x="1995" y="1359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6" name="Text Box 47"/>
            <p:cNvSpPr txBox="1">
              <a:spLocks noChangeArrowheads="1"/>
            </p:cNvSpPr>
            <p:nvPr/>
          </p:nvSpPr>
          <p:spPr bwMode="auto">
            <a:xfrm>
              <a:off x="2523" y="639"/>
              <a:ext cx="576" cy="13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200" b="1" dirty="0">
                  <a:effectLst/>
                  <a:ea typeface="隶书" panose="02010509060101010101" pitchFamily="49" charset="-122"/>
                </a:rPr>
                <a:t>READY</a:t>
              </a:r>
            </a:p>
          </p:txBody>
        </p:sp>
        <p:sp>
          <p:nvSpPr>
            <p:cNvPr id="137" name="Line 48"/>
            <p:cNvSpPr>
              <a:spLocks noChangeShapeType="1"/>
            </p:cNvSpPr>
            <p:nvPr/>
          </p:nvSpPr>
          <p:spPr bwMode="auto">
            <a:xfrm>
              <a:off x="3099" y="3711"/>
              <a:ext cx="1488" cy="0"/>
            </a:xfrm>
            <a:prstGeom prst="line">
              <a:avLst/>
            </a:prstGeom>
            <a:noFill/>
            <a:ln w="317500">
              <a:solidFill>
                <a:srgbClr val="33CCCC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8" name="AutoShape 49"/>
            <p:cNvSpPr>
              <a:spLocks/>
            </p:cNvSpPr>
            <p:nvPr/>
          </p:nvSpPr>
          <p:spPr bwMode="auto">
            <a:xfrm>
              <a:off x="3291" y="543"/>
              <a:ext cx="96" cy="2016"/>
            </a:xfrm>
            <a:prstGeom prst="rightBrace">
              <a:avLst>
                <a:gd name="adj1" fmla="val 175000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" name="Line 50"/>
            <p:cNvSpPr>
              <a:spLocks noChangeShapeType="1"/>
            </p:cNvSpPr>
            <p:nvPr/>
          </p:nvSpPr>
          <p:spPr bwMode="auto">
            <a:xfrm>
              <a:off x="3435" y="1551"/>
              <a:ext cx="1104" cy="0"/>
            </a:xfrm>
            <a:prstGeom prst="line">
              <a:avLst/>
            </a:prstGeom>
            <a:noFill/>
            <a:ln w="317500">
              <a:solidFill>
                <a:srgbClr val="FF9900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0" name="Line 51"/>
            <p:cNvSpPr>
              <a:spLocks noChangeShapeType="1"/>
            </p:cNvSpPr>
            <p:nvPr/>
          </p:nvSpPr>
          <p:spPr bwMode="auto">
            <a:xfrm>
              <a:off x="795" y="1551"/>
              <a:ext cx="33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1" name="Line 52"/>
            <p:cNvSpPr>
              <a:spLocks noChangeShapeType="1"/>
            </p:cNvSpPr>
            <p:nvPr/>
          </p:nvSpPr>
          <p:spPr bwMode="auto">
            <a:xfrm>
              <a:off x="1371" y="831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2" name="Line 53"/>
            <p:cNvSpPr>
              <a:spLocks noChangeShapeType="1"/>
            </p:cNvSpPr>
            <p:nvPr/>
          </p:nvSpPr>
          <p:spPr bwMode="auto">
            <a:xfrm>
              <a:off x="1755" y="831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" name="Text Box 54"/>
            <p:cNvSpPr txBox="1">
              <a:spLocks noChangeArrowheads="1"/>
            </p:cNvSpPr>
            <p:nvPr/>
          </p:nvSpPr>
          <p:spPr bwMode="auto">
            <a:xfrm>
              <a:off x="1083" y="1520"/>
              <a:ext cx="624" cy="1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MN / MX</a:t>
              </a:r>
            </a:p>
          </p:txBody>
        </p:sp>
        <p:sp>
          <p:nvSpPr>
            <p:cNvPr id="144" name="Line 55"/>
            <p:cNvSpPr>
              <a:spLocks noChangeShapeType="1"/>
            </p:cNvSpPr>
            <p:nvPr/>
          </p:nvSpPr>
          <p:spPr bwMode="auto">
            <a:xfrm>
              <a:off x="1371" y="1509"/>
              <a:ext cx="144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5" name="Text Box 56"/>
            <p:cNvSpPr txBox="1">
              <a:spLocks noChangeArrowheads="1"/>
            </p:cNvSpPr>
            <p:nvPr/>
          </p:nvSpPr>
          <p:spPr bwMode="auto">
            <a:xfrm>
              <a:off x="507" y="1509"/>
              <a:ext cx="336" cy="14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400" b="1" dirty="0">
                  <a:effectLst/>
                  <a:ea typeface="隶书" panose="02010509060101010101" pitchFamily="49" charset="-122"/>
                </a:rPr>
                <a:t>+5</a:t>
              </a:r>
              <a:r>
                <a:rPr lang="en-US" altLang="zh-CN" sz="1400" b="1" dirty="0">
                  <a:effectLst/>
                  <a:ea typeface="隶书" panose="02010509060101010101" pitchFamily="49" charset="-122"/>
                </a:rPr>
                <a:t>V</a:t>
              </a:r>
            </a:p>
          </p:txBody>
        </p:sp>
        <p:sp>
          <p:nvSpPr>
            <p:cNvPr id="146" name="AutoShape 57"/>
            <p:cNvSpPr>
              <a:spLocks/>
            </p:cNvSpPr>
            <p:nvPr/>
          </p:nvSpPr>
          <p:spPr bwMode="auto">
            <a:xfrm>
              <a:off x="4635" y="1551"/>
              <a:ext cx="96" cy="2208"/>
            </a:xfrm>
            <a:prstGeom prst="rightBrace">
              <a:avLst>
                <a:gd name="adj1" fmla="val 191667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8" name="Text Box 58"/>
            <p:cNvSpPr txBox="1">
              <a:spLocks noChangeArrowheads="1"/>
            </p:cNvSpPr>
            <p:nvPr/>
          </p:nvSpPr>
          <p:spPr bwMode="auto">
            <a:xfrm>
              <a:off x="3675" y="1497"/>
              <a:ext cx="672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effectLst/>
                </a:rPr>
                <a:t>控制总线</a:t>
              </a:r>
            </a:p>
          </p:txBody>
        </p:sp>
        <p:sp>
          <p:nvSpPr>
            <p:cNvPr id="149" name="Text Box 59"/>
            <p:cNvSpPr txBox="1">
              <a:spLocks noChangeArrowheads="1"/>
            </p:cNvSpPr>
            <p:nvPr/>
          </p:nvSpPr>
          <p:spPr bwMode="auto">
            <a:xfrm>
              <a:off x="3339" y="2841"/>
              <a:ext cx="1248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600" b="1">
                  <a:effectLst/>
                </a:rPr>
                <a:t>地址总线</a:t>
              </a:r>
              <a:r>
                <a:rPr lang="en-US" altLang="zh-CN" sz="1600" b="1">
                  <a:effectLst/>
                </a:rPr>
                <a:t>A</a:t>
              </a:r>
              <a:r>
                <a:rPr lang="en-US" altLang="zh-CN" sz="1600" b="1" baseline="-16000">
                  <a:effectLst/>
                </a:rPr>
                <a:t>19</a:t>
              </a:r>
              <a:r>
                <a:rPr lang="en-US" altLang="zh-CN" sz="1600" b="1">
                  <a:effectLst/>
                </a:rPr>
                <a:t>～</a:t>
              </a:r>
              <a:r>
                <a:rPr lang="en-US" altLang="zh-CN" sz="1600" b="1" baseline="-16000">
                  <a:effectLst/>
                </a:rPr>
                <a:t> </a:t>
              </a:r>
              <a:r>
                <a:rPr lang="en-US" altLang="zh-CN" sz="1600" b="1">
                  <a:effectLst/>
                </a:rPr>
                <a:t>A</a:t>
              </a:r>
              <a:r>
                <a:rPr lang="en-US" altLang="zh-CN" sz="1600" b="1" baseline="-16000">
                  <a:effectLst/>
                </a:rPr>
                <a:t>0</a:t>
              </a:r>
            </a:p>
          </p:txBody>
        </p:sp>
        <p:sp>
          <p:nvSpPr>
            <p:cNvPr id="150" name="Text Box 60"/>
            <p:cNvSpPr txBox="1">
              <a:spLocks noChangeArrowheads="1"/>
            </p:cNvSpPr>
            <p:nvPr/>
          </p:nvSpPr>
          <p:spPr bwMode="auto">
            <a:xfrm>
              <a:off x="3291" y="3657"/>
              <a:ext cx="1296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600" b="1">
                  <a:effectLst/>
                </a:rPr>
                <a:t>数据总线</a:t>
              </a:r>
              <a:r>
                <a:rPr lang="en-US" altLang="zh-CN" sz="1600" b="1">
                  <a:effectLst/>
                </a:rPr>
                <a:t>D</a:t>
              </a:r>
              <a:r>
                <a:rPr lang="en-US" altLang="zh-CN" sz="1600" b="1" baseline="-16000">
                  <a:effectLst/>
                </a:rPr>
                <a:t>7</a:t>
              </a:r>
              <a:r>
                <a:rPr lang="en-US" altLang="zh-CN" sz="1600" b="1">
                  <a:effectLst/>
                </a:rPr>
                <a:t>～D</a:t>
              </a:r>
              <a:r>
                <a:rPr lang="en-US" altLang="zh-CN" sz="1600" b="1" baseline="-16000">
                  <a:effectLst/>
                </a:rPr>
                <a:t>0</a:t>
              </a:r>
            </a:p>
          </p:txBody>
        </p:sp>
        <p:sp>
          <p:nvSpPr>
            <p:cNvPr id="159" name="Line 61"/>
            <p:cNvSpPr>
              <a:spLocks noChangeShapeType="1"/>
            </p:cNvSpPr>
            <p:nvPr/>
          </p:nvSpPr>
          <p:spPr bwMode="auto">
            <a:xfrm flipV="1">
              <a:off x="1683" y="1455"/>
              <a:ext cx="185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161" name="Line 62"/>
            <p:cNvSpPr>
              <a:spLocks noChangeShapeType="1"/>
            </p:cNvSpPr>
            <p:nvPr/>
          </p:nvSpPr>
          <p:spPr bwMode="auto">
            <a:xfrm>
              <a:off x="1778" y="2477"/>
              <a:ext cx="108" cy="1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162" name="Line 63"/>
            <p:cNvSpPr>
              <a:spLocks noChangeShapeType="1"/>
            </p:cNvSpPr>
            <p:nvPr/>
          </p:nvSpPr>
          <p:spPr bwMode="auto">
            <a:xfrm>
              <a:off x="1755" y="2352"/>
              <a:ext cx="141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" name="Line 65"/>
            <p:cNvSpPr>
              <a:spLocks noChangeShapeType="1"/>
            </p:cNvSpPr>
            <p:nvPr/>
          </p:nvSpPr>
          <p:spPr bwMode="auto">
            <a:xfrm>
              <a:off x="1701" y="2092"/>
              <a:ext cx="195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165" name="Text Box 66"/>
            <p:cNvSpPr txBox="1">
              <a:spLocks noChangeArrowheads="1"/>
            </p:cNvSpPr>
            <p:nvPr/>
          </p:nvSpPr>
          <p:spPr bwMode="auto">
            <a:xfrm>
              <a:off x="1323" y="2737"/>
              <a:ext cx="816" cy="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200" b="1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              </a:t>
              </a:r>
              <a:r>
                <a:rPr lang="en-US" altLang="zh-CN" sz="1200" b="1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ALE</a:t>
              </a:r>
            </a:p>
            <a:p>
              <a:pPr algn="l" eaLnBrk="0" hangingPunct="0">
                <a:lnSpc>
                  <a:spcPct val="80000"/>
                </a:lnSpc>
                <a:spcBef>
                  <a:spcPct val="10000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 A</a:t>
              </a:r>
              <a:r>
                <a:rPr lang="en-US" altLang="zh-CN" sz="1600" b="1" baseline="-16000">
                  <a:solidFill>
                    <a:schemeClr val="bg2"/>
                  </a:solidFill>
                  <a:effectLst/>
                </a:rPr>
                <a:t>19</a:t>
              </a:r>
              <a:r>
                <a:rPr lang="en-US" altLang="zh-CN" sz="1200" b="1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~ A</a:t>
              </a:r>
              <a:r>
                <a:rPr lang="en-US" altLang="zh-CN" sz="1600" b="1" baseline="-16000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8</a:t>
              </a:r>
            </a:p>
            <a:p>
              <a:pPr algn="l" eaLnBrk="0" hangingPunct="0">
                <a:lnSpc>
                  <a:spcPct val="80000"/>
                </a:lnSpc>
                <a:spcBef>
                  <a:spcPct val="8000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 AD</a:t>
              </a:r>
              <a:r>
                <a:rPr lang="en-US" altLang="zh-CN" sz="1600" b="1" baseline="-16000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7  ~</a:t>
              </a:r>
              <a:r>
                <a:rPr lang="en-US" altLang="zh-CN" sz="1200" b="1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AD</a:t>
              </a:r>
              <a:r>
                <a:rPr lang="en-US" altLang="zh-CN" sz="1200" b="1" baseline="-2000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 </a:t>
              </a:r>
              <a:r>
                <a:rPr lang="en-US" altLang="zh-CN" sz="1600" b="1" baseline="-16000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0</a:t>
              </a:r>
            </a:p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zh-CN" sz="1400" b="1">
                <a:solidFill>
                  <a:schemeClr val="bg2"/>
                </a:solidFill>
                <a:effectLst/>
                <a:ea typeface="隶书" panose="02010509060101010101" pitchFamily="49" charset="-122"/>
              </a:endParaRPr>
            </a:p>
          </p:txBody>
        </p:sp>
        <p:sp>
          <p:nvSpPr>
            <p:cNvPr id="166" name="Text Box 67"/>
            <p:cNvSpPr txBox="1">
              <a:spLocks noChangeArrowheads="1"/>
            </p:cNvSpPr>
            <p:nvPr/>
          </p:nvSpPr>
          <p:spPr bwMode="auto">
            <a:xfrm>
              <a:off x="1563" y="3666"/>
              <a:ext cx="528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solidFill>
                    <a:schemeClr val="bg1"/>
                  </a:solidFill>
                  <a:effectLst/>
                  <a:ea typeface="隶书" panose="02010509060101010101" pitchFamily="49" charset="-122"/>
                </a:rPr>
                <a:t>DT / R</a:t>
              </a:r>
            </a:p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effectLst/>
                  <a:ea typeface="隶书" panose="02010509060101010101" pitchFamily="49" charset="-122"/>
                </a:rPr>
                <a:t>   </a:t>
              </a:r>
              <a:r>
                <a:rPr lang="en-US" altLang="zh-CN" sz="1400" b="1" dirty="0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DEN</a:t>
              </a:r>
            </a:p>
          </p:txBody>
        </p:sp>
        <p:sp>
          <p:nvSpPr>
            <p:cNvPr id="171" name="Line 68"/>
            <p:cNvSpPr>
              <a:spLocks noChangeShapeType="1"/>
            </p:cNvSpPr>
            <p:nvPr/>
          </p:nvSpPr>
          <p:spPr bwMode="auto">
            <a:xfrm>
              <a:off x="1850" y="3659"/>
              <a:ext cx="46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172" name="Text Box 69"/>
            <p:cNvSpPr txBox="1">
              <a:spLocks noChangeArrowheads="1"/>
            </p:cNvSpPr>
            <p:nvPr/>
          </p:nvSpPr>
          <p:spPr bwMode="auto">
            <a:xfrm>
              <a:off x="1179" y="2079"/>
              <a:ext cx="48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b="1" dirty="0">
                  <a:solidFill>
                    <a:schemeClr val="bg1"/>
                  </a:solidFill>
                  <a:effectLst/>
                  <a:ea typeface="隶书" panose="02010509060101010101" pitchFamily="49" charset="-122"/>
                </a:rPr>
                <a:t>8088</a:t>
              </a:r>
            </a:p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b="1" dirty="0">
                  <a:solidFill>
                    <a:schemeClr val="bg1"/>
                  </a:solidFill>
                  <a:effectLst/>
                  <a:ea typeface="隶书" panose="02010509060101010101" pitchFamily="49" charset="-122"/>
                </a:rPr>
                <a:t>CPU</a:t>
              </a:r>
            </a:p>
          </p:txBody>
        </p:sp>
        <p:sp>
          <p:nvSpPr>
            <p:cNvPr id="173" name="Text Box 70"/>
            <p:cNvSpPr txBox="1">
              <a:spLocks noChangeArrowheads="1"/>
            </p:cNvSpPr>
            <p:nvPr/>
          </p:nvSpPr>
          <p:spPr bwMode="auto">
            <a:xfrm>
              <a:off x="2523" y="2751"/>
              <a:ext cx="480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chemeClr val="bg2"/>
                  </a:solidFill>
                  <a:effectLst/>
                  <a:ea typeface="隶书" panose="02010509060101010101" pitchFamily="49" charset="-122"/>
                </a:rPr>
                <a:t>STB</a:t>
              </a:r>
            </a:p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chemeClr val="hlink"/>
                  </a:solidFill>
                  <a:effectLst/>
                  <a:ea typeface="隶书" panose="02010509060101010101" pitchFamily="49" charset="-122"/>
                </a:rPr>
                <a:t> </a:t>
              </a:r>
              <a:r>
                <a:rPr lang="en-US" altLang="zh-CN" sz="1600" b="1">
                  <a:solidFill>
                    <a:schemeClr val="hlink"/>
                  </a:solidFill>
                  <a:effectLst/>
                  <a:ea typeface="隶书" panose="02010509060101010101" pitchFamily="49" charset="-122"/>
                </a:rPr>
                <a:t>8282</a:t>
              </a:r>
              <a:endParaRPr lang="en-US" altLang="zh-CN" sz="1200" b="1">
                <a:solidFill>
                  <a:schemeClr val="hlink"/>
                </a:solidFill>
                <a:effectLst/>
                <a:ea typeface="隶书" panose="02010509060101010101" pitchFamily="49" charset="-122"/>
              </a:endParaRPr>
            </a:p>
          </p:txBody>
        </p:sp>
        <p:sp>
          <p:nvSpPr>
            <p:cNvPr id="174" name="Text Box 71"/>
            <p:cNvSpPr txBox="1">
              <a:spLocks noChangeArrowheads="1"/>
            </p:cNvSpPr>
            <p:nvPr/>
          </p:nvSpPr>
          <p:spPr bwMode="auto">
            <a:xfrm>
              <a:off x="2763" y="3152"/>
              <a:ext cx="288" cy="1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777777"/>
                  </a:solidFill>
                  <a:effectLst/>
                  <a:ea typeface="隶书" panose="02010509060101010101" pitchFamily="49" charset="-122"/>
                </a:rPr>
                <a:t>OE</a:t>
              </a:r>
            </a:p>
          </p:txBody>
        </p:sp>
        <p:sp>
          <p:nvSpPr>
            <p:cNvPr id="175" name="Text Box 72"/>
            <p:cNvSpPr txBox="1">
              <a:spLocks noChangeArrowheads="1"/>
            </p:cNvSpPr>
            <p:nvPr/>
          </p:nvSpPr>
          <p:spPr bwMode="auto">
            <a:xfrm>
              <a:off x="2523" y="3711"/>
              <a:ext cx="384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777777"/>
                  </a:solidFill>
                  <a:effectLst/>
                  <a:ea typeface="隶书" panose="02010509060101010101" pitchFamily="49" charset="-122"/>
                </a:rPr>
                <a:t>T</a:t>
              </a:r>
            </a:p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777777"/>
                  </a:solidFill>
                  <a:effectLst/>
                  <a:ea typeface="隶书" panose="02010509060101010101" pitchFamily="49" charset="-122"/>
                </a:rPr>
                <a:t>OE</a:t>
              </a:r>
            </a:p>
          </p:txBody>
        </p:sp>
        <p:sp>
          <p:nvSpPr>
            <p:cNvPr id="176" name="Text Box 73"/>
            <p:cNvSpPr txBox="1">
              <a:spLocks noChangeArrowheads="1"/>
            </p:cNvSpPr>
            <p:nvPr/>
          </p:nvSpPr>
          <p:spPr bwMode="auto">
            <a:xfrm>
              <a:off x="2619" y="3519"/>
              <a:ext cx="480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600" b="1">
                  <a:solidFill>
                    <a:schemeClr val="hlink"/>
                  </a:solidFill>
                  <a:effectLst/>
                  <a:ea typeface="隶书" panose="02010509060101010101" pitchFamily="49" charset="-122"/>
                </a:rPr>
                <a:t>8286</a:t>
              </a:r>
            </a:p>
          </p:txBody>
        </p:sp>
        <p:sp>
          <p:nvSpPr>
            <p:cNvPr id="177" name="Line 74"/>
            <p:cNvSpPr>
              <a:spLocks noChangeShapeType="1"/>
            </p:cNvSpPr>
            <p:nvPr/>
          </p:nvSpPr>
          <p:spPr bwMode="auto">
            <a:xfrm>
              <a:off x="2907" y="3279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78" name="Line 75"/>
            <p:cNvSpPr>
              <a:spLocks noChangeShapeType="1"/>
            </p:cNvSpPr>
            <p:nvPr/>
          </p:nvSpPr>
          <p:spPr bwMode="auto">
            <a:xfrm>
              <a:off x="2859" y="3375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79" name="Line 76"/>
            <p:cNvSpPr>
              <a:spLocks noChangeShapeType="1"/>
            </p:cNvSpPr>
            <p:nvPr/>
          </p:nvSpPr>
          <p:spPr bwMode="auto">
            <a:xfrm>
              <a:off x="2571" y="3807"/>
              <a:ext cx="1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80" name="Line 77"/>
            <p:cNvSpPr>
              <a:spLocks noChangeShapeType="1"/>
            </p:cNvSpPr>
            <p:nvPr/>
          </p:nvSpPr>
          <p:spPr bwMode="auto">
            <a:xfrm>
              <a:off x="2811" y="3135"/>
              <a:ext cx="14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81" name="Text Box 78"/>
            <p:cNvSpPr txBox="1">
              <a:spLocks noChangeArrowheads="1"/>
            </p:cNvSpPr>
            <p:nvPr/>
          </p:nvSpPr>
          <p:spPr bwMode="auto">
            <a:xfrm>
              <a:off x="1323" y="633"/>
              <a:ext cx="480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600" b="1">
                  <a:solidFill>
                    <a:schemeClr val="hlink"/>
                  </a:solidFill>
                  <a:effectLst/>
                  <a:ea typeface="隶书" panose="02010509060101010101" pitchFamily="49" charset="-122"/>
                </a:rPr>
                <a:t>8284</a:t>
              </a:r>
              <a:r>
                <a:rPr lang="en-US" altLang="zh-CN" sz="1600" b="1">
                  <a:solidFill>
                    <a:schemeClr val="hlink"/>
                  </a:solidFill>
                  <a:effectLst/>
                  <a:ea typeface="隶书" panose="02010509060101010101" pitchFamily="49" charset="-122"/>
                </a:rPr>
                <a:t>A</a:t>
              </a:r>
            </a:p>
          </p:txBody>
        </p:sp>
        <p:sp>
          <p:nvSpPr>
            <p:cNvPr id="182" name="Text Box 79"/>
            <p:cNvSpPr txBox="1">
              <a:spLocks noChangeArrowheads="1"/>
            </p:cNvSpPr>
            <p:nvPr/>
          </p:nvSpPr>
          <p:spPr bwMode="auto">
            <a:xfrm>
              <a:off x="4809" y="2574"/>
              <a:ext cx="864" cy="1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fontAlgn="ctr" hangingPunct="0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b="1">
                  <a:solidFill>
                    <a:schemeClr val="hlink"/>
                  </a:solidFill>
                  <a:effectLst/>
                </a:rPr>
                <a:t>系统总线</a:t>
              </a:r>
            </a:p>
          </p:txBody>
        </p:sp>
        <p:sp>
          <p:nvSpPr>
            <p:cNvPr id="183" name="Line 62"/>
            <p:cNvSpPr>
              <a:spLocks noChangeShapeType="1"/>
            </p:cNvSpPr>
            <p:nvPr/>
          </p:nvSpPr>
          <p:spPr bwMode="auto">
            <a:xfrm>
              <a:off x="1683" y="2222"/>
              <a:ext cx="45" cy="3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712146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本讲小结</a:t>
            </a:r>
          </a:p>
        </p:txBody>
      </p:sp>
      <p:cxnSp>
        <p:nvCxnSpPr>
          <p:cNvPr id="16" name="直接连接符 1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2" name="流程图: 可选过程 21"/>
          <p:cNvSpPr/>
          <p:nvPr/>
        </p:nvSpPr>
        <p:spPr>
          <a:xfrm>
            <a:off x="1990840" y="1806475"/>
            <a:ext cx="6397584" cy="902445"/>
          </a:xfrm>
          <a:prstGeom prst="flowChartAlternateProcess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8086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微处理器：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结构、 总线周期、 引脚功能、时序分析。</a:t>
            </a:r>
          </a:p>
        </p:txBody>
      </p:sp>
      <p:sp>
        <p:nvSpPr>
          <p:cNvPr id="23" name="流程图: 可选过程 22"/>
          <p:cNvSpPr/>
          <p:nvPr/>
        </p:nvSpPr>
        <p:spPr>
          <a:xfrm>
            <a:off x="1979712" y="2958603"/>
            <a:ext cx="6397584" cy="902445"/>
          </a:xfrm>
          <a:prstGeom prst="flowChartAlternateProcess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8086 CPU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的工作模式。</a:t>
            </a:r>
          </a:p>
        </p:txBody>
      </p:sp>
      <p:sp>
        <p:nvSpPr>
          <p:cNvPr id="25" name="椭圆 24"/>
          <p:cNvSpPr/>
          <p:nvPr/>
        </p:nvSpPr>
        <p:spPr>
          <a:xfrm>
            <a:off x="971600" y="1945577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971600" y="3126452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12517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问号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043" y="157306"/>
            <a:ext cx="1614899" cy="125547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702006" y="419266"/>
            <a:ext cx="1739987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检测点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Arial"/>
              <a:ea typeface="微软雅黑" pitchFamily="34" charset="-122"/>
              <a:cs typeface="Arial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43607" y="2439241"/>
            <a:ext cx="7849083" cy="73843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执行指令：</a:t>
            </a:r>
            <a:r>
              <a:rPr lang="en-US" altLang="zh-CN" sz="2000" b="1" dirty="0">
                <a:ea typeface="微软雅黑" panose="020B0503020204020204" pitchFamily="34" charset="-122"/>
              </a:rPr>
              <a:t>MOV AX, 0FFH</a:t>
            </a:r>
            <a:r>
              <a:rPr lang="zh-CN" altLang="en-US" sz="2000" b="1" dirty="0"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ea typeface="微软雅黑" panose="020B0503020204020204" pitchFamily="34" charset="-122"/>
              </a:rPr>
              <a:t>AH=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ea typeface="微软雅黑" panose="020B0503020204020204" pitchFamily="34" charset="-122"/>
              </a:rPr>
              <a:t>AL=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矩形 6"/>
          <p:cNvSpPr/>
          <p:nvPr/>
        </p:nvSpPr>
        <p:spPr>
          <a:xfrm>
            <a:off x="1043608" y="3303337"/>
            <a:ext cx="7849084" cy="94566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8086</a:t>
            </a:r>
            <a:r>
              <a:rPr lang="zh-CN" altLang="en-US" sz="2000" b="1" dirty="0">
                <a:ea typeface="微软雅黑" panose="020B0503020204020204" pitchFamily="34" charset="-122"/>
              </a:rPr>
              <a:t>的总线周期是指什么？它包括几个基本的时钟周期？为了适应慢速外设需要在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周期和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周期之间插入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周期。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43607" y="4336849"/>
            <a:ext cx="7849083" cy="83869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8086 CPU</a:t>
            </a:r>
            <a:r>
              <a:rPr lang="zh-CN" altLang="en-US" sz="2000" b="1" dirty="0">
                <a:ea typeface="微软雅黑" panose="020B0503020204020204" pitchFamily="34" charset="-122"/>
              </a:rPr>
              <a:t>的</a:t>
            </a:r>
            <a:r>
              <a:rPr lang="en-US" altLang="zh-CN" sz="2000" b="1" dirty="0">
                <a:ea typeface="微软雅黑" panose="020B0503020204020204" pitchFamily="34" charset="-122"/>
              </a:rPr>
              <a:t>MN/MX</a:t>
            </a:r>
            <a:r>
              <a:rPr lang="zh-CN" altLang="en-US" sz="2000" b="1" dirty="0">
                <a:ea typeface="微软雅黑" panose="020B0503020204020204" pitchFamily="34" charset="-122"/>
              </a:rPr>
              <a:t>管脚的功能是什么？</a:t>
            </a:r>
            <a:r>
              <a:rPr lang="en-US" altLang="zh-CN" sz="2000" b="1" dirty="0">
                <a:ea typeface="微软雅黑" panose="020B0503020204020204" pitchFamily="34" charset="-122"/>
              </a:rPr>
              <a:t>ALE</a:t>
            </a:r>
            <a:r>
              <a:rPr lang="zh-CN" altLang="en-US" sz="2000" b="1" dirty="0">
                <a:ea typeface="微软雅黑" panose="020B0503020204020204" pitchFamily="34" charset="-122"/>
              </a:rPr>
              <a:t>管脚的功能是什么？</a:t>
            </a:r>
            <a:r>
              <a:rPr lang="en-US" altLang="zh-CN" sz="2000" b="1" dirty="0">
                <a:ea typeface="微软雅黑" panose="020B0503020204020204" pitchFamily="34" charset="-122"/>
              </a:rPr>
              <a:t>DT/R</a:t>
            </a:r>
            <a:r>
              <a:rPr lang="zh-CN" altLang="en-US" sz="2000" b="1" dirty="0">
                <a:ea typeface="微软雅黑" panose="020B0503020204020204" pitchFamily="34" charset="-122"/>
              </a:rPr>
              <a:t>的作用是什么？</a:t>
            </a:r>
            <a:r>
              <a:rPr lang="en-US" altLang="zh-CN" sz="2000" b="1" dirty="0">
                <a:ea typeface="微软雅黑" panose="020B0503020204020204" pitchFamily="34" charset="-122"/>
              </a:rPr>
              <a:t>M/IO</a:t>
            </a:r>
            <a:r>
              <a:rPr lang="zh-CN" altLang="en-US" sz="2000" b="1" dirty="0">
                <a:ea typeface="微软雅黑" panose="020B0503020204020204" pitchFamily="34" charset="-122"/>
              </a:rPr>
              <a:t>的作用是什么？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43396" y="1412776"/>
            <a:ext cx="7849084" cy="882448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8086 CPU</a:t>
            </a:r>
            <a:r>
              <a:rPr lang="zh-CN" altLang="en-US" sz="2000" b="1" dirty="0">
                <a:ea typeface="微软雅黑" panose="020B0503020204020204" pitchFamily="34" charset="-122"/>
              </a:rPr>
              <a:t>内部按功能分为哪两大部分？ </a:t>
            </a:r>
            <a:r>
              <a:rPr lang="en-US" altLang="zh-CN" sz="2000" b="1" dirty="0">
                <a:ea typeface="微软雅黑" panose="020B0503020204020204" pitchFamily="34" charset="-122"/>
              </a:rPr>
              <a:t>8086 CPU</a:t>
            </a:r>
            <a:r>
              <a:rPr lang="zh-CN" altLang="en-US" sz="2000" b="1" dirty="0">
                <a:ea typeface="微软雅黑" panose="020B0503020204020204" pitchFamily="34" charset="-122"/>
              </a:rPr>
              <a:t>的地址位有</a:t>
            </a:r>
            <a:r>
              <a:rPr lang="zh-CN" altLang="en-US" sz="2000" b="1" u="sng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        </a:t>
            </a:r>
            <a:r>
              <a:rPr lang="zh-CN" altLang="en-US" sz="2000" b="1" dirty="0">
                <a:solidFill>
                  <a:schemeClr val="bg1"/>
                </a:solidFill>
                <a:ea typeface="微软雅黑" panose="020B0503020204020204" pitchFamily="34" charset="-122"/>
              </a:rPr>
              <a:t>位，数据位是</a:t>
            </a:r>
            <a:r>
              <a:rPr lang="zh-CN" altLang="en-US" sz="2000" b="1" u="sng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        </a:t>
            </a:r>
            <a:r>
              <a:rPr lang="zh-CN" altLang="en-US" sz="2000" b="1" dirty="0">
                <a:solidFill>
                  <a:schemeClr val="bg1"/>
                </a:solidFill>
                <a:ea typeface="微软雅黑" panose="020B0503020204020204" pitchFamily="34" charset="-122"/>
              </a:rPr>
              <a:t>位，</a:t>
            </a:r>
            <a:r>
              <a:rPr lang="en-US" altLang="zh-CN" sz="2000" b="1" dirty="0">
                <a:solidFill>
                  <a:schemeClr val="bg1"/>
                </a:solidFill>
                <a:ea typeface="微软雅黑" panose="020B0503020204020204" pitchFamily="34" charset="-122"/>
              </a:rPr>
              <a:t>8088</a:t>
            </a:r>
            <a:r>
              <a:rPr lang="zh-CN" altLang="en-US" sz="2000" b="1" dirty="0">
                <a:solidFill>
                  <a:schemeClr val="bg1"/>
                </a:solidFill>
                <a:ea typeface="微软雅黑" panose="020B0503020204020204" pitchFamily="34" charset="-122"/>
              </a:rPr>
              <a:t>的数据为是</a:t>
            </a:r>
            <a:r>
              <a:rPr lang="zh-CN" altLang="en-US" sz="2000" b="1" u="sng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        </a:t>
            </a:r>
            <a:r>
              <a:rPr lang="zh-CN" altLang="en-US" sz="2000" b="1" dirty="0">
                <a:solidFill>
                  <a:schemeClr val="bg1"/>
                </a:solidFill>
                <a:ea typeface="微软雅黑" panose="020B0503020204020204" pitchFamily="34" charset="-122"/>
              </a:rPr>
              <a:t>位 。</a:t>
            </a:r>
            <a:r>
              <a:rPr lang="zh-CN" altLang="en-US" sz="2000" b="1" u="sng" dirty="0">
                <a:solidFill>
                  <a:schemeClr val="bg1"/>
                </a:solidFill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0" name="矩形 9"/>
          <p:cNvSpPr/>
          <p:nvPr/>
        </p:nvSpPr>
        <p:spPr>
          <a:xfrm>
            <a:off x="467544" y="1412776"/>
            <a:ext cx="575852" cy="88244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1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67544" y="2439240"/>
            <a:ext cx="575852" cy="7384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2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7544" y="3303336"/>
            <a:ext cx="575852" cy="9456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3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67544" y="4336847"/>
            <a:ext cx="575852" cy="83869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4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43607" y="5309995"/>
            <a:ext cx="7849083" cy="729645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solidFill>
                  <a:schemeClr val="bg1"/>
                </a:solidFill>
                <a:ea typeface="微软雅黑" panose="020B0503020204020204" pitchFamily="34" charset="-122"/>
              </a:rPr>
              <a:t>AX = 0FFFFH. </a:t>
            </a:r>
            <a:r>
              <a:rPr lang="zh-CN" altLang="en-US" sz="2000" b="1" dirty="0">
                <a:solidFill>
                  <a:schemeClr val="bg1"/>
                </a:solidFill>
                <a:ea typeface="微软雅黑" panose="020B0503020204020204" pitchFamily="34" charset="-122"/>
              </a:rPr>
              <a:t>执行指令，</a:t>
            </a:r>
            <a:r>
              <a:rPr lang="en-US" altLang="zh-CN" sz="2000" b="1" dirty="0">
                <a:solidFill>
                  <a:schemeClr val="bg1"/>
                </a:solidFill>
                <a:ea typeface="微软雅黑" panose="020B0503020204020204" pitchFamily="34" charset="-122"/>
              </a:rPr>
              <a:t>ADD  AX, 01</a:t>
            </a:r>
            <a:r>
              <a:rPr lang="zh-CN" altLang="en-US" sz="2000" b="1" dirty="0">
                <a:solidFill>
                  <a:schemeClr val="bg1"/>
                </a:solidFill>
                <a:ea typeface="微软雅黑" panose="020B0503020204020204" pitchFamily="34" charset="-122"/>
              </a:rPr>
              <a:t>  各状态标志位是什么？</a:t>
            </a:r>
            <a:endParaRPr lang="en-US" altLang="zh-CN" sz="2000" b="1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67544" y="5309993"/>
            <a:ext cx="575852" cy="72964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5</a:t>
            </a:r>
            <a:endParaRPr lang="zh-CN" altLang="en-US" sz="32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34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7" grpId="0" animBg="1"/>
      <p:bldP spid="17" grpId="1" animBg="1"/>
      <p:bldP spid="18" grpId="0" animBg="1"/>
      <p:bldP spid="18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702006" y="419266"/>
            <a:ext cx="1739987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>
              <a:buFont typeface="Wingdings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检测点答案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Arial"/>
              <a:ea typeface="微软雅黑" pitchFamily="34" charset="-122"/>
              <a:cs typeface="Arial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43607" y="2311087"/>
            <a:ext cx="7884581" cy="839447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执行指令：</a:t>
            </a:r>
            <a:r>
              <a:rPr lang="en-US" altLang="zh-CN" sz="2000" b="1" dirty="0">
                <a:ea typeface="微软雅黑" panose="020B0503020204020204" pitchFamily="34" charset="-122"/>
              </a:rPr>
              <a:t>MOV AX, 0FFH</a:t>
            </a:r>
            <a:r>
              <a:rPr lang="zh-CN" altLang="en-US" sz="2000" b="1" dirty="0"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ea typeface="微软雅黑" panose="020B0503020204020204" pitchFamily="34" charset="-122"/>
              </a:rPr>
              <a:t>AH=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</a:t>
            </a:r>
            <a:r>
              <a:rPr lang="en-US" altLang="zh-CN" sz="2000" b="1" u="sng" dirty="0">
                <a:ea typeface="微软雅黑" panose="020B0503020204020204" pitchFamily="34" charset="-122"/>
              </a:rPr>
              <a:t>00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ea typeface="微软雅黑" panose="020B0503020204020204" pitchFamily="34" charset="-122"/>
              </a:rPr>
              <a:t>AL=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</a:t>
            </a:r>
            <a:r>
              <a:rPr lang="en-US" altLang="zh-CN" sz="2000" b="1" u="sng" dirty="0">
                <a:ea typeface="微软雅黑" panose="020B0503020204020204" pitchFamily="34" charset="-122"/>
              </a:rPr>
              <a:t>FF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矩形 6"/>
          <p:cNvSpPr/>
          <p:nvPr/>
        </p:nvSpPr>
        <p:spPr>
          <a:xfrm>
            <a:off x="1043608" y="3226387"/>
            <a:ext cx="7884582" cy="83944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8086</a:t>
            </a:r>
            <a:r>
              <a:rPr lang="zh-CN" altLang="en-US" sz="2000" b="1" dirty="0">
                <a:ea typeface="微软雅黑" panose="020B0503020204020204" pitchFamily="34" charset="-122"/>
              </a:rPr>
              <a:t>的总线周期是指什么？它包括几个基本的时钟周期？为了适应慢速外设需要在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</a:t>
            </a:r>
            <a:r>
              <a:rPr lang="en-US" altLang="zh-CN" sz="2000" b="1" u="sng" dirty="0">
                <a:ea typeface="微软雅黑" panose="020B0503020204020204" pitchFamily="34" charset="-122"/>
              </a:rPr>
              <a:t>T3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</a:t>
            </a:r>
            <a:r>
              <a:rPr lang="zh-CN" altLang="en-US" sz="2000" b="1" dirty="0">
                <a:ea typeface="微软雅黑" panose="020B0503020204020204" pitchFamily="34" charset="-122"/>
              </a:rPr>
              <a:t>周期和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</a:t>
            </a:r>
            <a:r>
              <a:rPr lang="en-US" altLang="zh-CN" sz="2000" b="1" u="sng" dirty="0">
                <a:ea typeface="微软雅黑" panose="020B0503020204020204" pitchFamily="34" charset="-122"/>
              </a:rPr>
              <a:t>T4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</a:t>
            </a:r>
            <a:r>
              <a:rPr lang="zh-CN" altLang="en-US" sz="2000" b="1" dirty="0">
                <a:ea typeface="微软雅黑" panose="020B0503020204020204" pitchFamily="34" charset="-122"/>
              </a:rPr>
              <a:t>周期之间插入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</a:t>
            </a:r>
            <a:r>
              <a:rPr lang="en-US" altLang="zh-CN" sz="2000" b="1" u="sng" dirty="0">
                <a:ea typeface="微软雅黑" panose="020B0503020204020204" pitchFamily="34" charset="-122"/>
              </a:rPr>
              <a:t>Tw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等待     </a:t>
            </a:r>
            <a:r>
              <a:rPr lang="zh-CN" altLang="en-US" sz="2000" b="1" dirty="0">
                <a:ea typeface="微软雅黑" panose="020B0503020204020204" pitchFamily="34" charset="-122"/>
              </a:rPr>
              <a:t>周期。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43607" y="4136687"/>
            <a:ext cx="7884581" cy="94110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8086 CPU</a:t>
            </a:r>
            <a:r>
              <a:rPr lang="zh-CN" altLang="en-US" sz="2000" b="1" dirty="0">
                <a:ea typeface="微软雅黑" panose="020B0503020204020204" pitchFamily="34" charset="-122"/>
              </a:rPr>
              <a:t>的</a:t>
            </a:r>
            <a:r>
              <a:rPr lang="en-US" altLang="zh-CN" sz="2000" b="1" dirty="0">
                <a:ea typeface="微软雅黑" panose="020B0503020204020204" pitchFamily="34" charset="-122"/>
              </a:rPr>
              <a:t>MN/MX</a:t>
            </a:r>
            <a:r>
              <a:rPr lang="zh-CN" altLang="en-US" sz="2000" b="1" dirty="0">
                <a:ea typeface="微软雅黑" panose="020B0503020204020204" pitchFamily="34" charset="-122"/>
              </a:rPr>
              <a:t>用于区分工作模式，即最小</a:t>
            </a:r>
            <a:r>
              <a:rPr lang="en-US" altLang="zh-CN" sz="2000" b="1" dirty="0">
                <a:ea typeface="微软雅黑" panose="020B0503020204020204" pitchFamily="34" charset="-122"/>
              </a:rPr>
              <a:t>/</a:t>
            </a:r>
            <a:r>
              <a:rPr lang="zh-CN" altLang="en-US" sz="2000" b="1" dirty="0">
                <a:ea typeface="微软雅黑" panose="020B0503020204020204" pitchFamily="34" charset="-122"/>
              </a:rPr>
              <a:t>最大模式，</a:t>
            </a:r>
            <a:r>
              <a:rPr lang="en-US" altLang="zh-CN" sz="2000" b="1" dirty="0">
                <a:ea typeface="微软雅黑" panose="020B0503020204020204" pitchFamily="34" charset="-122"/>
              </a:rPr>
              <a:t>ALE</a:t>
            </a:r>
            <a:r>
              <a:rPr lang="zh-CN" altLang="en-US" sz="2000" b="1" dirty="0">
                <a:ea typeface="微软雅黑" panose="020B0503020204020204" pitchFamily="34" charset="-122"/>
              </a:rPr>
              <a:t>是地址锁存使能信号，发送给地址锁存器，</a:t>
            </a:r>
            <a:r>
              <a:rPr lang="en-US" altLang="zh-CN" sz="2000" b="1" dirty="0">
                <a:ea typeface="微软雅黑" panose="020B0503020204020204" pitchFamily="34" charset="-122"/>
              </a:rPr>
              <a:t>DT/R</a:t>
            </a:r>
            <a:r>
              <a:rPr lang="zh-CN" altLang="en-US" sz="2000" b="1" dirty="0">
                <a:ea typeface="微软雅黑" panose="020B0503020204020204" pitchFamily="34" charset="-122"/>
              </a:rPr>
              <a:t>是数据传递方向控制管脚。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43396" y="1374982"/>
            <a:ext cx="7884582" cy="839447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8086 CPU</a:t>
            </a:r>
            <a:r>
              <a:rPr lang="zh-CN" altLang="en-US" sz="2000" b="1" dirty="0">
                <a:ea typeface="微软雅黑" panose="020B0503020204020204" pitchFamily="34" charset="-122"/>
              </a:rPr>
              <a:t>内部按功能分为哪两大部分？ </a:t>
            </a:r>
            <a:r>
              <a:rPr lang="en-US" altLang="zh-CN" sz="2000" b="1" dirty="0">
                <a:ea typeface="微软雅黑" panose="020B0503020204020204" pitchFamily="34" charset="-122"/>
              </a:rPr>
              <a:t>8086 CPU</a:t>
            </a:r>
            <a:r>
              <a:rPr lang="zh-CN" altLang="en-US" sz="2000" b="1" dirty="0">
                <a:ea typeface="微软雅黑" panose="020B0503020204020204" pitchFamily="34" charset="-122"/>
              </a:rPr>
              <a:t>的地址位有</a:t>
            </a:r>
            <a:r>
              <a:rPr lang="zh-CN" altLang="en-US" sz="2000" b="1" u="sng" dirty="0">
                <a:solidFill>
                  <a:schemeClr val="bg1"/>
                </a:solidFill>
                <a:ea typeface="微软雅黑" panose="020B0503020204020204" pitchFamily="34" charset="-122"/>
              </a:rPr>
              <a:t>    </a:t>
            </a:r>
            <a:r>
              <a:rPr lang="en-US" altLang="zh-CN" sz="2000" b="1" u="sng" dirty="0">
                <a:solidFill>
                  <a:schemeClr val="bg1"/>
                </a:solidFill>
                <a:ea typeface="微软雅黑" panose="020B0503020204020204" pitchFamily="34" charset="-122"/>
              </a:rPr>
              <a:t>20</a:t>
            </a:r>
            <a:r>
              <a:rPr lang="zh-CN" altLang="en-US" sz="2000" b="1" u="sng" dirty="0">
                <a:solidFill>
                  <a:schemeClr val="bg1"/>
                </a:solidFill>
                <a:ea typeface="微软雅黑" panose="020B0503020204020204" pitchFamily="34" charset="-122"/>
              </a:rPr>
              <a:t>      </a:t>
            </a:r>
            <a:r>
              <a:rPr lang="zh-CN" altLang="en-US" sz="2000" b="1" dirty="0">
                <a:solidFill>
                  <a:schemeClr val="bg1"/>
                </a:solidFill>
                <a:ea typeface="微软雅黑" panose="020B0503020204020204" pitchFamily="34" charset="-122"/>
              </a:rPr>
              <a:t>位，数据位是</a:t>
            </a:r>
            <a:r>
              <a:rPr lang="zh-CN" altLang="en-US" sz="2000" b="1" u="sng" dirty="0">
                <a:solidFill>
                  <a:schemeClr val="bg1"/>
                </a:solidFill>
                <a:ea typeface="微软雅黑" panose="020B0503020204020204" pitchFamily="34" charset="-122"/>
              </a:rPr>
              <a:t>    </a:t>
            </a:r>
            <a:r>
              <a:rPr lang="en-US" altLang="zh-CN" sz="2000" b="1" u="sng" dirty="0">
                <a:solidFill>
                  <a:schemeClr val="bg1"/>
                </a:solidFill>
                <a:ea typeface="微软雅黑" panose="020B0503020204020204" pitchFamily="34" charset="-122"/>
              </a:rPr>
              <a:t>16</a:t>
            </a:r>
            <a:r>
              <a:rPr lang="zh-CN" altLang="en-US" sz="2000" b="1" u="sng" dirty="0">
                <a:solidFill>
                  <a:schemeClr val="bg1"/>
                </a:solidFill>
                <a:ea typeface="微软雅黑" panose="020B0503020204020204" pitchFamily="34" charset="-122"/>
              </a:rPr>
              <a:t>     </a:t>
            </a:r>
            <a:r>
              <a:rPr lang="zh-CN" altLang="en-US" sz="2000" b="1" dirty="0">
                <a:solidFill>
                  <a:schemeClr val="bg1"/>
                </a:solidFill>
                <a:ea typeface="微软雅黑" panose="020B0503020204020204" pitchFamily="34" charset="-122"/>
              </a:rPr>
              <a:t>位，</a:t>
            </a:r>
            <a:r>
              <a:rPr lang="en-US" altLang="zh-CN" sz="2000" b="1" dirty="0">
                <a:solidFill>
                  <a:schemeClr val="bg1"/>
                </a:solidFill>
                <a:ea typeface="微软雅黑" panose="020B0503020204020204" pitchFamily="34" charset="-122"/>
              </a:rPr>
              <a:t>8088</a:t>
            </a:r>
            <a:r>
              <a:rPr lang="zh-CN" altLang="en-US" sz="2000" b="1" dirty="0">
                <a:solidFill>
                  <a:schemeClr val="bg1"/>
                </a:solidFill>
                <a:ea typeface="微软雅黑" panose="020B0503020204020204" pitchFamily="34" charset="-122"/>
              </a:rPr>
              <a:t>的数据总线是</a:t>
            </a:r>
            <a:r>
              <a:rPr lang="zh-CN" altLang="en-US" sz="2000" b="1" u="sng" dirty="0">
                <a:solidFill>
                  <a:schemeClr val="bg1"/>
                </a:solidFill>
                <a:ea typeface="微软雅黑" panose="020B0503020204020204" pitchFamily="34" charset="-122"/>
              </a:rPr>
              <a:t>       </a:t>
            </a:r>
            <a:r>
              <a:rPr lang="en-US" altLang="zh-CN" sz="2000" b="1" u="sng" dirty="0">
                <a:solidFill>
                  <a:schemeClr val="bg1"/>
                </a:solidFill>
                <a:ea typeface="微软雅黑" panose="020B0503020204020204" pitchFamily="34" charset="-122"/>
              </a:rPr>
              <a:t>8</a:t>
            </a:r>
            <a:r>
              <a:rPr lang="zh-CN" altLang="en-US" sz="2000" b="1" u="sng" dirty="0">
                <a:solidFill>
                  <a:schemeClr val="bg1"/>
                </a:solidFill>
                <a:ea typeface="微软雅黑" panose="020B0503020204020204" pitchFamily="34" charset="-122"/>
              </a:rPr>
              <a:t>       </a:t>
            </a:r>
            <a:r>
              <a:rPr lang="zh-CN" altLang="en-US" sz="2000" b="1" dirty="0">
                <a:solidFill>
                  <a:schemeClr val="bg1"/>
                </a:solidFill>
                <a:ea typeface="微软雅黑" panose="020B0503020204020204" pitchFamily="34" charset="-122"/>
              </a:rPr>
              <a:t>位 。</a:t>
            </a:r>
            <a:r>
              <a:rPr lang="zh-CN" altLang="en-US" sz="2000" b="1" u="sng" dirty="0">
                <a:solidFill>
                  <a:schemeClr val="bg1"/>
                </a:solidFill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0" name="矩形 9"/>
          <p:cNvSpPr/>
          <p:nvPr/>
        </p:nvSpPr>
        <p:spPr>
          <a:xfrm>
            <a:off x="467544" y="1374982"/>
            <a:ext cx="652362" cy="83944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latin typeface="Arial Black" pitchFamily="34" charset="0"/>
              </a:rPr>
              <a:t>1</a:t>
            </a:r>
            <a:endParaRPr lang="zh-CN" altLang="en-US" sz="3600" dirty="0">
              <a:latin typeface="Arial Black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67544" y="2311086"/>
            <a:ext cx="652362" cy="83944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latin typeface="Arial Black" pitchFamily="34" charset="0"/>
              </a:rPr>
              <a:t>2</a:t>
            </a:r>
            <a:endParaRPr lang="zh-CN" altLang="en-US" sz="3600" dirty="0">
              <a:latin typeface="Arial Black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7544" y="3226386"/>
            <a:ext cx="652362" cy="83944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latin typeface="Arial Black" pitchFamily="34" charset="0"/>
              </a:rPr>
              <a:t>3</a:t>
            </a:r>
            <a:endParaRPr lang="zh-CN" altLang="en-US" sz="3600" dirty="0">
              <a:latin typeface="Arial Black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67544" y="4136685"/>
            <a:ext cx="652362" cy="94110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latin typeface="Arial Black" pitchFamily="34" charset="0"/>
              </a:rPr>
              <a:t>4</a:t>
            </a:r>
            <a:endParaRPr lang="zh-CN" altLang="en-US" sz="3600" dirty="0">
              <a:latin typeface="Arial Black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43607" y="5181841"/>
            <a:ext cx="7884581" cy="839447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solidFill>
                  <a:schemeClr val="bg1"/>
                </a:solidFill>
                <a:ea typeface="微软雅黑" panose="020B0503020204020204" pitchFamily="34" charset="-122"/>
              </a:rPr>
              <a:t>ZF = 1, SF = 0, CF = 1, OF = 0.</a:t>
            </a:r>
          </a:p>
        </p:txBody>
      </p:sp>
      <p:sp>
        <p:nvSpPr>
          <p:cNvPr id="16" name="矩形 15"/>
          <p:cNvSpPr/>
          <p:nvPr/>
        </p:nvSpPr>
        <p:spPr>
          <a:xfrm>
            <a:off x="467544" y="5181839"/>
            <a:ext cx="652362" cy="83944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latin typeface="Arial Black" pitchFamily="34" charset="0"/>
              </a:rPr>
              <a:t>5</a:t>
            </a:r>
            <a:endParaRPr lang="zh-CN" altLang="en-US" sz="36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5343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3851274" y="1000116"/>
            <a:ext cx="5007006" cy="11430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300" dirty="0">
                <a:solidFill>
                  <a:srgbClr val="00C4F0"/>
                </a:solidFill>
                <a:ea typeface="微软雅黑" panose="020B0503020204020204" pitchFamily="34" charset="-122"/>
                <a:cs typeface="+mn-cs"/>
              </a:rPr>
              <a:t>作业</a:t>
            </a:r>
            <a:r>
              <a:rPr lang="en-US" altLang="zh-CN" dirty="0">
                <a:latin typeface="Arial"/>
                <a:ea typeface="微软雅黑" panose="020B0503020204020204" pitchFamily="34" charset="-122"/>
                <a:cs typeface="Arial"/>
              </a:rPr>
              <a:t>• </a:t>
            </a:r>
            <a:r>
              <a:rPr lang="en-US" altLang="zh-CN" sz="2800" dirty="0">
                <a:solidFill>
                  <a:srgbClr val="FFC000"/>
                </a:solidFill>
                <a:latin typeface="Tahoma" pitchFamily="34" charset="0"/>
                <a:ea typeface="微软简综艺" pitchFamily="49" charset="-122"/>
                <a:cs typeface="Tahoma" pitchFamily="34" charset="0"/>
              </a:rPr>
              <a:t>HOMEWORK</a:t>
            </a:r>
            <a:endParaRPr lang="zh-CN" altLang="en-US" sz="1800" dirty="0">
              <a:solidFill>
                <a:srgbClr val="FFC000"/>
              </a:solidFill>
              <a:latin typeface="Tahoma" pitchFamily="34" charset="0"/>
              <a:ea typeface="微软简综艺" pitchFamily="49" charset="-122"/>
              <a:cs typeface="Tahoma" pitchFamily="34" charset="0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744942" y="2615982"/>
            <a:ext cx="5113338" cy="1971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</a:pP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习题：</a:t>
            </a: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3.2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3.3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4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</a:pP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3.16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3.20</a:t>
            </a:r>
          </a:p>
        </p:txBody>
      </p:sp>
      <p:pic>
        <p:nvPicPr>
          <p:cNvPr id="4" name="Picture 2" descr="D:\Teliss_Tong\Copy\定期备份\工作备份\！PPT图片及版面资源\06-PPT精选插图\02-商务\GF0IEK51.jp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5499" y="1901808"/>
            <a:ext cx="2158349" cy="339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370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5001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4589</TotalTime>
  <Words>3166</Words>
  <Application>Microsoft Office PowerPoint</Application>
  <PresentationFormat>全屏显示(4:3)</PresentationFormat>
  <Paragraphs>471</Paragraphs>
  <Slides>45</Slides>
  <Notes>28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63" baseType="lpstr">
      <vt:lpstr>Arial Unicode MS</vt:lpstr>
      <vt:lpstr>经典繁仿黑</vt:lpstr>
      <vt:lpstr>楷体</vt:lpstr>
      <vt:lpstr>隶书</vt:lpstr>
      <vt:lpstr>宋体</vt:lpstr>
      <vt:lpstr>微软简综艺</vt:lpstr>
      <vt:lpstr>微软雅黑</vt:lpstr>
      <vt:lpstr>Agency FB</vt:lpstr>
      <vt:lpstr>Arial</vt:lpstr>
      <vt:lpstr>Arial Black</vt:lpstr>
      <vt:lpstr>Broadway</vt:lpstr>
      <vt:lpstr>Calibri</vt:lpstr>
      <vt:lpstr>Segoe UI</vt:lpstr>
      <vt:lpstr>Tahoma</vt:lpstr>
      <vt:lpstr>Times New Roman</vt:lpstr>
      <vt:lpstr>Wingdings</vt:lpstr>
      <vt:lpstr>2_Office 主题​​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houxy</cp:lastModifiedBy>
  <cp:revision>480</cp:revision>
  <dcterms:created xsi:type="dcterms:W3CDTF">2012-06-23T00:51:09Z</dcterms:created>
  <dcterms:modified xsi:type="dcterms:W3CDTF">2016-07-29T01:17:03Z</dcterms:modified>
</cp:coreProperties>
</file>