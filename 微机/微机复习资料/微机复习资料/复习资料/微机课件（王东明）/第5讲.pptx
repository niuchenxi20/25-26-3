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78"/>
  </p:notesMasterIdLst>
  <p:sldIdLst>
    <p:sldId id="303" r:id="rId2"/>
    <p:sldId id="261" r:id="rId3"/>
    <p:sldId id="369" r:id="rId4"/>
    <p:sldId id="440" r:id="rId5"/>
    <p:sldId id="441" r:id="rId6"/>
    <p:sldId id="444" r:id="rId7"/>
    <p:sldId id="499" r:id="rId8"/>
    <p:sldId id="500" r:id="rId9"/>
    <p:sldId id="501" r:id="rId10"/>
    <p:sldId id="502" r:id="rId11"/>
    <p:sldId id="503" r:id="rId12"/>
    <p:sldId id="504" r:id="rId13"/>
    <p:sldId id="505" r:id="rId14"/>
    <p:sldId id="446" r:id="rId15"/>
    <p:sldId id="506" r:id="rId16"/>
    <p:sldId id="507" r:id="rId17"/>
    <p:sldId id="508" r:id="rId18"/>
    <p:sldId id="509" r:id="rId19"/>
    <p:sldId id="510" r:id="rId20"/>
    <p:sldId id="460" r:id="rId21"/>
    <p:sldId id="515" r:id="rId22"/>
    <p:sldId id="513" r:id="rId23"/>
    <p:sldId id="514" r:id="rId24"/>
    <p:sldId id="516" r:id="rId25"/>
    <p:sldId id="517" r:id="rId26"/>
    <p:sldId id="518" r:id="rId27"/>
    <p:sldId id="519" r:id="rId28"/>
    <p:sldId id="520" r:id="rId29"/>
    <p:sldId id="521" r:id="rId30"/>
    <p:sldId id="522" r:id="rId31"/>
    <p:sldId id="523" r:id="rId32"/>
    <p:sldId id="524" r:id="rId33"/>
    <p:sldId id="512" r:id="rId34"/>
    <p:sldId id="526" r:id="rId35"/>
    <p:sldId id="572" r:id="rId36"/>
    <p:sldId id="527" r:id="rId37"/>
    <p:sldId id="529" r:id="rId38"/>
    <p:sldId id="531" r:id="rId39"/>
    <p:sldId id="530" r:id="rId40"/>
    <p:sldId id="532" r:id="rId41"/>
    <p:sldId id="533" r:id="rId42"/>
    <p:sldId id="536" r:id="rId43"/>
    <p:sldId id="535" r:id="rId44"/>
    <p:sldId id="537" r:id="rId45"/>
    <p:sldId id="544" r:id="rId46"/>
    <p:sldId id="541" r:id="rId47"/>
    <p:sldId id="540" r:id="rId48"/>
    <p:sldId id="539" r:id="rId49"/>
    <p:sldId id="542" r:id="rId50"/>
    <p:sldId id="543" r:id="rId51"/>
    <p:sldId id="538" r:id="rId52"/>
    <p:sldId id="545" r:id="rId53"/>
    <p:sldId id="546" r:id="rId54"/>
    <p:sldId id="547" r:id="rId55"/>
    <p:sldId id="549" r:id="rId56"/>
    <p:sldId id="552" r:id="rId57"/>
    <p:sldId id="551" r:id="rId58"/>
    <p:sldId id="574" r:id="rId59"/>
    <p:sldId id="553" r:id="rId60"/>
    <p:sldId id="554" r:id="rId61"/>
    <p:sldId id="555" r:id="rId62"/>
    <p:sldId id="556" r:id="rId63"/>
    <p:sldId id="557" r:id="rId64"/>
    <p:sldId id="568" r:id="rId65"/>
    <p:sldId id="559" r:id="rId66"/>
    <p:sldId id="560" r:id="rId67"/>
    <p:sldId id="561" r:id="rId68"/>
    <p:sldId id="562" r:id="rId69"/>
    <p:sldId id="563" r:id="rId70"/>
    <p:sldId id="565" r:id="rId71"/>
    <p:sldId id="564" r:id="rId72"/>
    <p:sldId id="567" r:id="rId73"/>
    <p:sldId id="570" r:id="rId74"/>
    <p:sldId id="571" r:id="rId75"/>
    <p:sldId id="573" r:id="rId76"/>
    <p:sldId id="300" r:id="rId7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8DE5"/>
    <a:srgbClr val="FF3255"/>
    <a:srgbClr val="FF9300"/>
    <a:srgbClr val="5DCB08"/>
    <a:srgbClr val="FD7A2A"/>
    <a:srgbClr val="00B050"/>
    <a:srgbClr val="FBFBFB"/>
    <a:srgbClr val="7F7F7F"/>
    <a:srgbClr val="DBEEF4"/>
    <a:srgbClr val="008D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47" autoAdjust="0"/>
    <p:restoredTop sz="72926" autoAdjust="0"/>
  </p:normalViewPr>
  <p:slideViewPr>
    <p:cSldViewPr>
      <p:cViewPr varScale="1">
        <p:scale>
          <a:sx n="49" d="100"/>
          <a:sy n="49" d="100"/>
        </p:scale>
        <p:origin x="1312" y="48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24F-5C8C-4CF8-964C-68B44E826FEE}" type="datetimeFigureOut">
              <a:rPr lang="en-US" smtClean="0"/>
              <a:t>4/4/2016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00F3E-42E3-47B8-AD52-3484E0D8A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8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30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16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7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45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84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6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54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61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12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书中没有讲</a:t>
            </a:r>
            <a:r>
              <a:rPr lang="en-US" altLang="zh-CN" dirty="0"/>
              <a:t>RETF</a:t>
            </a:r>
            <a:r>
              <a:rPr lang="zh-CN" altLang="en-US" dirty="0"/>
              <a:t>，可能是有误的。</a:t>
            </a:r>
            <a:r>
              <a:rPr lang="en-US" altLang="zh-CN" dirty="0"/>
              <a:t>RETF</a:t>
            </a:r>
            <a:r>
              <a:rPr lang="zh-CN" altLang="en-US" dirty="0"/>
              <a:t>专门用于进行远过程返回。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46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77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25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下面我们看，程序员可以利用的产生分支的标志位以及转移指令。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143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778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59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792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131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26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34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769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25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eyefulpresentations.co.uk/" TargetMode="External"/><Relationship Id="rId7" Type="http://schemas.openxmlformats.org/officeDocument/2006/relationships/image" Target="../media/image7.png"/><Relationship Id="rId2" Type="http://schemas.openxmlformats.org/officeDocument/2006/relationships/hyperlink" Target="mailto:info@eyefulpresentations.co.uk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2"/>
          <p:cNvSpPr txBox="1">
            <a:spLocks noChangeArrowheads="1"/>
          </p:cNvSpPr>
          <p:nvPr userDrawn="1"/>
        </p:nvSpPr>
        <p:spPr bwMode="auto">
          <a:xfrm>
            <a:off x="539552" y="1187777"/>
            <a:ext cx="748883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 anchorCtr="1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defRPr/>
            </a:pP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第三章  </a:t>
            </a:r>
            <a:r>
              <a:rPr lang="en-US" altLang="zh-CN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微处理器及其系统</a:t>
            </a:r>
          </a:p>
        </p:txBody>
      </p:sp>
      <p:cxnSp>
        <p:nvCxnSpPr>
          <p:cNvPr id="8" name="直接连接符 7"/>
          <p:cNvCxnSpPr/>
          <p:nvPr userDrawn="1"/>
        </p:nvCxnSpPr>
        <p:spPr bwMode="auto">
          <a:xfrm>
            <a:off x="755576" y="2349500"/>
            <a:ext cx="71292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algn="ctr" rotWithShape="0">
              <a:prstClr val="black">
                <a:alpha val="64000"/>
              </a:prstClr>
            </a:outerShdw>
          </a:effectLst>
        </p:spPr>
      </p:cxn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755576" y="549275"/>
            <a:ext cx="3959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微机系统与接口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827089" y="2508250"/>
            <a:ext cx="309684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700" b="1" dirty="0">
                <a:solidFill>
                  <a:srgbClr val="FC6204"/>
                </a:solidFill>
                <a:latin typeface="微软雅黑" pitchFamily="34" charset="-122"/>
                <a:ea typeface="微软雅黑" pitchFamily="34" charset="-122"/>
                <a:cs typeface="Tahoma" pitchFamily="34" charset="0"/>
              </a:rPr>
              <a:t>东南大学信息科学与工程学院</a:t>
            </a:r>
            <a:endParaRPr lang="en-US" altLang="zh-CN" sz="1700" b="1" dirty="0">
              <a:solidFill>
                <a:srgbClr val="FC6204"/>
              </a:solidFill>
              <a:latin typeface="微软雅黑" pitchFamily="34" charset="-122"/>
              <a:ea typeface="微软雅黑" pitchFamily="34" charset="-122"/>
              <a:cs typeface="Tahoma" pitchFamily="34" charset="0"/>
            </a:endParaRPr>
          </a:p>
        </p:txBody>
      </p:sp>
      <p:sp>
        <p:nvSpPr>
          <p:cNvPr id="17" name="TextBox 18"/>
          <p:cNvSpPr txBox="1"/>
          <p:nvPr userDrawn="1"/>
        </p:nvSpPr>
        <p:spPr>
          <a:xfrm>
            <a:off x="7235825" y="5733256"/>
            <a:ext cx="1152599" cy="4616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roadway" pitchFamily="82" charset="0"/>
                <a:ea typeface="微软雅黑" panose="020B0503020204020204" pitchFamily="34" charset="-122"/>
                <a:cs typeface="经典繁仿黑" pitchFamily="49" charset="-122"/>
              </a:rPr>
              <a:t>王东明</a:t>
            </a:r>
          </a:p>
        </p:txBody>
      </p:sp>
      <p:pic>
        <p:nvPicPr>
          <p:cNvPr id="18" name="Picture 2" descr="D:\Teliss_Tong\Copy\定期备份\工作备份\！PPT图片及版面资源\06-PPT精选插图\04-图标\59E394F1F59BE1688CBD1D9A59D1E886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5776" y="2986582"/>
            <a:ext cx="2885504" cy="313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2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7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41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Picture 3" descr="D:\Teliss_Tong\Copy\定期备份\工作备份\！PPT图片及版面资源\06-PPT精选插图\04-图标\西装小人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3608" y="1852068"/>
            <a:ext cx="2210937" cy="309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76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5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1619251" y="548680"/>
            <a:ext cx="5905499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34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0">
            <a:hlinkClick r:id="rId2"/>
          </p:cNvPr>
          <p:cNvSpPr>
            <a:spLocks noChangeArrowheads="1"/>
          </p:cNvSpPr>
          <p:nvPr userDrawn="1"/>
        </p:nvSpPr>
        <p:spPr bwMode="auto">
          <a:xfrm>
            <a:off x="5004049" y="2757241"/>
            <a:ext cx="444010" cy="523875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Oval 61">
            <a:hlinkClick r:id="rId3"/>
          </p:cNvPr>
          <p:cNvSpPr>
            <a:spLocks noChangeArrowheads="1"/>
          </p:cNvSpPr>
          <p:nvPr userDrawn="1"/>
        </p:nvSpPr>
        <p:spPr bwMode="auto">
          <a:xfrm>
            <a:off x="5016011" y="3565675"/>
            <a:ext cx="420086" cy="521494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​​ 5"/>
          <p:cNvSpPr>
            <a:spLocks noChangeArrowheads="1"/>
          </p:cNvSpPr>
          <p:nvPr userDrawn="1"/>
        </p:nvSpPr>
        <p:spPr bwMode="auto">
          <a:xfrm>
            <a:off x="98301" y="538162"/>
            <a:ext cx="8964613" cy="3946525"/>
          </a:xfrm>
          <a:prstGeom prst="rect">
            <a:avLst/>
          </a:prstGeom>
          <a:solidFill>
            <a:srgbClr val="00ADDC"/>
          </a:solidFill>
          <a:ln w="9525" cmpd="sng">
            <a:noFill/>
            <a:miter lim="800000"/>
            <a:headEnd/>
            <a:tailEnd/>
          </a:ln>
        </p:spPr>
        <p:txBody>
          <a:bodyPr lIns="288000" anchor="b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solidFill>
                <a:prstClr val="white"/>
              </a:solidFill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6" name="Line 33"/>
          <p:cNvSpPr>
            <a:spLocks noChangeShapeType="1"/>
          </p:cNvSpPr>
          <p:nvPr userDrawn="1"/>
        </p:nvSpPr>
        <p:spPr bwMode="auto">
          <a:xfrm flipV="1">
            <a:off x="5224465" y="1671390"/>
            <a:ext cx="1587" cy="2700338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Line 5"/>
          <p:cNvSpPr>
            <a:spLocks noChangeShapeType="1"/>
          </p:cNvSpPr>
          <p:nvPr userDrawn="1"/>
        </p:nvSpPr>
        <p:spPr bwMode="auto">
          <a:xfrm>
            <a:off x="0" y="3913338"/>
            <a:ext cx="1384300" cy="2381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Freeform 18"/>
          <p:cNvSpPr>
            <a:spLocks/>
          </p:cNvSpPr>
          <p:nvPr userDrawn="1"/>
        </p:nvSpPr>
        <p:spPr bwMode="auto">
          <a:xfrm>
            <a:off x="1366838" y="2767956"/>
            <a:ext cx="201612" cy="1279922"/>
          </a:xfrm>
          <a:custGeom>
            <a:avLst/>
            <a:gdLst>
              <a:gd name="T0" fmla="*/ 127 w 127"/>
              <a:gd name="T1" fmla="*/ 0 h 1075"/>
              <a:gd name="T2" fmla="*/ 0 w 127"/>
              <a:gd name="T3" fmla="*/ 1075 h 1075"/>
              <a:gd name="T4" fmla="*/ 127 w 127"/>
              <a:gd name="T5" fmla="*/ 0 h 1075"/>
              <a:gd name="T6" fmla="*/ 0 60000 65536"/>
              <a:gd name="T7" fmla="*/ 0 60000 65536"/>
              <a:gd name="T8" fmla="*/ 0 60000 65536"/>
              <a:gd name="T9" fmla="*/ 0 w 127"/>
              <a:gd name="T10" fmla="*/ 0 h 1075"/>
              <a:gd name="T11" fmla="*/ 127 w 127"/>
              <a:gd name="T12" fmla="*/ 1075 h 10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" h="1075">
                <a:moveTo>
                  <a:pt x="127" y="0"/>
                </a:moveTo>
                <a:lnTo>
                  <a:pt x="0" y="1075"/>
                </a:lnTo>
                <a:lnTo>
                  <a:pt x="127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Line 19"/>
          <p:cNvSpPr>
            <a:spLocks noChangeShapeType="1"/>
          </p:cNvSpPr>
          <p:nvPr userDrawn="1"/>
        </p:nvSpPr>
        <p:spPr bwMode="auto">
          <a:xfrm flipH="1">
            <a:off x="1374778" y="2740571"/>
            <a:ext cx="200025" cy="1188244"/>
          </a:xfrm>
          <a:prstGeom prst="line">
            <a:avLst/>
          </a:prstGeom>
          <a:noFill/>
          <a:ln w="33338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Freeform 20"/>
          <p:cNvSpPr>
            <a:spLocks/>
          </p:cNvSpPr>
          <p:nvPr userDrawn="1"/>
        </p:nvSpPr>
        <p:spPr bwMode="auto">
          <a:xfrm>
            <a:off x="2717800" y="2561978"/>
            <a:ext cx="7938" cy="1806178"/>
          </a:xfrm>
          <a:custGeom>
            <a:avLst/>
            <a:gdLst>
              <a:gd name="T0" fmla="*/ 0 w 5"/>
              <a:gd name="T1" fmla="*/ 0 h 1517"/>
              <a:gd name="T2" fmla="*/ 5 w 5"/>
              <a:gd name="T3" fmla="*/ 1517 h 1517"/>
              <a:gd name="T4" fmla="*/ 0 w 5"/>
              <a:gd name="T5" fmla="*/ 0 h 1517"/>
              <a:gd name="T6" fmla="*/ 0 60000 65536"/>
              <a:gd name="T7" fmla="*/ 0 60000 65536"/>
              <a:gd name="T8" fmla="*/ 0 60000 65536"/>
              <a:gd name="T9" fmla="*/ 0 w 5"/>
              <a:gd name="T10" fmla="*/ 0 h 1517"/>
              <a:gd name="T11" fmla="*/ 5 w 5"/>
              <a:gd name="T12" fmla="*/ 1517 h 1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" h="1517">
                <a:moveTo>
                  <a:pt x="0" y="0"/>
                </a:moveTo>
                <a:lnTo>
                  <a:pt x="5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Line 21"/>
          <p:cNvSpPr>
            <a:spLocks noChangeShapeType="1"/>
          </p:cNvSpPr>
          <p:nvPr userDrawn="1"/>
        </p:nvSpPr>
        <p:spPr bwMode="auto">
          <a:xfrm>
            <a:off x="2587625" y="2561978"/>
            <a:ext cx="7938" cy="1806178"/>
          </a:xfrm>
          <a:prstGeom prst="line">
            <a:avLst/>
          </a:prstGeom>
          <a:noFill/>
          <a:ln w="33338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Oval 22"/>
          <p:cNvSpPr>
            <a:spLocks noChangeArrowheads="1"/>
          </p:cNvSpPr>
          <p:nvPr userDrawn="1"/>
        </p:nvSpPr>
        <p:spPr bwMode="auto">
          <a:xfrm>
            <a:off x="4716019" y="692696"/>
            <a:ext cx="1008109" cy="978694"/>
          </a:xfrm>
          <a:prstGeom prst="ellips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white"/>
                </a:solidFill>
                <a:ea typeface="微软雅黑" panose="020B0503020204020204" pitchFamily="34" charset="-122"/>
              </a:rPr>
              <a:t>授课教师</a:t>
            </a:r>
          </a:p>
        </p:txBody>
      </p:sp>
      <p:sp>
        <p:nvSpPr>
          <p:cNvPr id="14" name="Oval 25"/>
          <p:cNvSpPr>
            <a:spLocks noChangeArrowheads="1"/>
          </p:cNvSpPr>
          <p:nvPr userDrawn="1"/>
        </p:nvSpPr>
        <p:spPr bwMode="auto">
          <a:xfrm>
            <a:off x="4944003" y="1965479"/>
            <a:ext cx="564102" cy="523876"/>
          </a:xfrm>
          <a:prstGeom prst="ellipse">
            <a:avLst/>
          </a:prstGeom>
          <a:solidFill>
            <a:schemeClr val="accent1"/>
          </a:solidFill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6" name="Group 63"/>
          <p:cNvGrpSpPr>
            <a:grpSpLocks/>
          </p:cNvGrpSpPr>
          <p:nvPr userDrawn="1"/>
        </p:nvGrpSpPr>
        <p:grpSpPr bwMode="auto">
          <a:xfrm>
            <a:off x="4944004" y="2757241"/>
            <a:ext cx="564100" cy="523875"/>
            <a:chOff x="3073" y="2610"/>
            <a:chExt cx="438" cy="440"/>
          </a:xfrm>
        </p:grpSpPr>
        <p:sp>
          <p:nvSpPr>
            <p:cNvPr id="17" name="Rectangle 28"/>
            <p:cNvSpPr>
              <a:spLocks noChangeArrowheads="1"/>
            </p:cNvSpPr>
            <p:nvPr/>
          </p:nvSpPr>
          <p:spPr bwMode="auto">
            <a:xfrm>
              <a:off x="3181" y="2748"/>
              <a:ext cx="222" cy="164"/>
            </a:xfrm>
            <a:prstGeom prst="rect">
              <a:avLst/>
            </a:prstGeom>
            <a:solidFill>
              <a:srgbClr val="FFFFFF"/>
            </a:solidFill>
            <a:ln w="11113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9"/>
            <p:cNvSpPr>
              <a:spLocks/>
            </p:cNvSpPr>
            <p:nvPr/>
          </p:nvSpPr>
          <p:spPr bwMode="auto">
            <a:xfrm>
              <a:off x="3182" y="2748"/>
              <a:ext cx="220" cy="110"/>
            </a:xfrm>
            <a:custGeom>
              <a:avLst/>
              <a:gdLst>
                <a:gd name="T0" fmla="*/ 0 w 278"/>
                <a:gd name="T1" fmla="*/ 0 h 140"/>
                <a:gd name="T2" fmla="*/ 138 w 278"/>
                <a:gd name="T3" fmla="*/ 140 h 140"/>
                <a:gd name="T4" fmla="*/ 278 w 278"/>
                <a:gd name="T5" fmla="*/ 0 h 140"/>
                <a:gd name="T6" fmla="*/ 0 w 278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8"/>
                <a:gd name="T13" fmla="*/ 0 h 140"/>
                <a:gd name="T14" fmla="*/ 278 w 278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8" h="140">
                  <a:moveTo>
                    <a:pt x="0" y="0"/>
                  </a:moveTo>
                  <a:lnTo>
                    <a:pt x="138" y="140"/>
                  </a:lnTo>
                  <a:lnTo>
                    <a:pt x="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Oval 27"/>
            <p:cNvSpPr>
              <a:spLocks noChangeArrowheads="1"/>
            </p:cNvSpPr>
            <p:nvPr/>
          </p:nvSpPr>
          <p:spPr bwMode="auto">
            <a:xfrm>
              <a:off x="3073" y="2610"/>
              <a:ext cx="438" cy="440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64"/>
          <p:cNvGrpSpPr>
            <a:grpSpLocks/>
          </p:cNvGrpSpPr>
          <p:nvPr userDrawn="1"/>
        </p:nvGrpSpPr>
        <p:grpSpPr bwMode="auto">
          <a:xfrm>
            <a:off x="4944004" y="3565675"/>
            <a:ext cx="564100" cy="521494"/>
            <a:chOff x="3073" y="3289"/>
            <a:chExt cx="438" cy="438"/>
          </a:xfrm>
        </p:grpSpPr>
        <p:sp>
          <p:nvSpPr>
            <p:cNvPr id="21" name="Freeform 32"/>
            <p:cNvSpPr>
              <a:spLocks/>
            </p:cNvSpPr>
            <p:nvPr/>
          </p:nvSpPr>
          <p:spPr bwMode="auto">
            <a:xfrm>
              <a:off x="3173" y="3389"/>
              <a:ext cx="240" cy="241"/>
            </a:xfrm>
            <a:custGeom>
              <a:avLst/>
              <a:gdLst>
                <a:gd name="T0" fmla="*/ 303 w 303"/>
                <a:gd name="T1" fmla="*/ 263 h 305"/>
                <a:gd name="T2" fmla="*/ 171 w 303"/>
                <a:gd name="T3" fmla="*/ 131 h 305"/>
                <a:gd name="T4" fmla="*/ 223 w 303"/>
                <a:gd name="T5" fmla="*/ 77 h 305"/>
                <a:gd name="T6" fmla="*/ 0 w 303"/>
                <a:gd name="T7" fmla="*/ 0 h 305"/>
                <a:gd name="T8" fmla="*/ 76 w 303"/>
                <a:gd name="T9" fmla="*/ 224 h 305"/>
                <a:gd name="T10" fmla="*/ 129 w 303"/>
                <a:gd name="T11" fmla="*/ 170 h 305"/>
                <a:gd name="T12" fmla="*/ 262 w 303"/>
                <a:gd name="T13" fmla="*/ 305 h 305"/>
                <a:gd name="T14" fmla="*/ 303 w 303"/>
                <a:gd name="T15" fmla="*/ 263 h 3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3"/>
                <a:gd name="T25" fmla="*/ 0 h 305"/>
                <a:gd name="T26" fmla="*/ 303 w 303"/>
                <a:gd name="T27" fmla="*/ 305 h 3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3" h="305">
                  <a:moveTo>
                    <a:pt x="303" y="263"/>
                  </a:moveTo>
                  <a:lnTo>
                    <a:pt x="171" y="131"/>
                  </a:lnTo>
                  <a:lnTo>
                    <a:pt x="223" y="77"/>
                  </a:lnTo>
                  <a:lnTo>
                    <a:pt x="0" y="0"/>
                  </a:lnTo>
                  <a:lnTo>
                    <a:pt x="76" y="224"/>
                  </a:lnTo>
                  <a:lnTo>
                    <a:pt x="129" y="170"/>
                  </a:lnTo>
                  <a:lnTo>
                    <a:pt x="262" y="305"/>
                  </a:lnTo>
                  <a:lnTo>
                    <a:pt x="303" y="263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3073" y="3289"/>
              <a:ext cx="438" cy="438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Line 43"/>
          <p:cNvSpPr>
            <a:spLocks noChangeShapeType="1"/>
          </p:cNvSpPr>
          <p:nvPr userDrawn="1"/>
        </p:nvSpPr>
        <p:spPr bwMode="auto">
          <a:xfrm>
            <a:off x="774700" y="2878685"/>
            <a:ext cx="1588" cy="119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Line 45"/>
          <p:cNvSpPr>
            <a:spLocks noChangeShapeType="1"/>
          </p:cNvSpPr>
          <p:nvPr userDrawn="1"/>
        </p:nvSpPr>
        <p:spPr bwMode="auto">
          <a:xfrm>
            <a:off x="3741739" y="910581"/>
            <a:ext cx="1587" cy="1191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5" name="Freeform 11"/>
          <p:cNvSpPr>
            <a:spLocks/>
          </p:cNvSpPr>
          <p:nvPr userDrawn="1"/>
        </p:nvSpPr>
        <p:spPr bwMode="auto">
          <a:xfrm>
            <a:off x="606428" y="2738190"/>
            <a:ext cx="981075" cy="198834"/>
          </a:xfrm>
          <a:custGeom>
            <a:avLst/>
            <a:gdLst>
              <a:gd name="T0" fmla="*/ 0 w 618"/>
              <a:gd name="T1" fmla="*/ 167 h 167"/>
              <a:gd name="T2" fmla="*/ 616 w 618"/>
              <a:gd name="T3" fmla="*/ 20 h 167"/>
              <a:gd name="T4" fmla="*/ 618 w 618"/>
              <a:gd name="T5" fmla="*/ 0 h 167"/>
              <a:gd name="T6" fmla="*/ 2 w 618"/>
              <a:gd name="T7" fmla="*/ 153 h 167"/>
              <a:gd name="T8" fmla="*/ 0 60000 65536"/>
              <a:gd name="T9" fmla="*/ 0 60000 65536"/>
              <a:gd name="T10" fmla="*/ 0 60000 65536"/>
              <a:gd name="T11" fmla="*/ 0 60000 65536"/>
              <a:gd name="T12" fmla="*/ 0 w 618"/>
              <a:gd name="T13" fmla="*/ 0 h 167"/>
              <a:gd name="T14" fmla="*/ 618 w 618"/>
              <a:gd name="T15" fmla="*/ 167 h 1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8" h="167">
                <a:moveTo>
                  <a:pt x="0" y="167"/>
                </a:moveTo>
                <a:lnTo>
                  <a:pt x="616" y="20"/>
                </a:lnTo>
                <a:lnTo>
                  <a:pt x="618" y="0"/>
                </a:lnTo>
                <a:lnTo>
                  <a:pt x="2" y="153"/>
                </a:lnTo>
              </a:path>
            </a:pathLst>
          </a:custGeom>
          <a:solidFill>
            <a:schemeClr val="bg1"/>
          </a:solidFill>
          <a:ln w="11113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6" name="Freeform 13"/>
          <p:cNvSpPr>
            <a:spLocks/>
          </p:cNvSpPr>
          <p:nvPr userDrawn="1"/>
        </p:nvSpPr>
        <p:spPr bwMode="auto">
          <a:xfrm>
            <a:off x="1555750" y="2459584"/>
            <a:ext cx="1566863" cy="309563"/>
          </a:xfrm>
          <a:custGeom>
            <a:avLst/>
            <a:gdLst>
              <a:gd name="T0" fmla="*/ 0 w 987"/>
              <a:gd name="T1" fmla="*/ 260 h 260"/>
              <a:gd name="T2" fmla="*/ 985 w 987"/>
              <a:gd name="T3" fmla="*/ 19 h 260"/>
              <a:gd name="T4" fmla="*/ 987 w 987"/>
              <a:gd name="T5" fmla="*/ 0 h 260"/>
              <a:gd name="T6" fmla="*/ 8 w 987"/>
              <a:gd name="T7" fmla="*/ 238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987"/>
              <a:gd name="T13" fmla="*/ 0 h 260"/>
              <a:gd name="T14" fmla="*/ 987 w 98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87" h="260">
                <a:moveTo>
                  <a:pt x="0" y="260"/>
                </a:moveTo>
                <a:lnTo>
                  <a:pt x="985" y="19"/>
                </a:lnTo>
                <a:lnTo>
                  <a:pt x="987" y="0"/>
                </a:lnTo>
                <a:lnTo>
                  <a:pt x="8" y="238"/>
                </a:lnTo>
              </a:path>
            </a:pathLst>
          </a:custGeom>
          <a:solidFill>
            <a:schemeClr val="bg1"/>
          </a:solidFill>
          <a:ln w="11113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7" name="Freeform 15"/>
          <p:cNvSpPr>
            <a:spLocks/>
          </p:cNvSpPr>
          <p:nvPr userDrawn="1"/>
        </p:nvSpPr>
        <p:spPr bwMode="auto">
          <a:xfrm>
            <a:off x="712791" y="946300"/>
            <a:ext cx="2541587" cy="845344"/>
          </a:xfrm>
          <a:custGeom>
            <a:avLst/>
            <a:gdLst>
              <a:gd name="T0" fmla="*/ 1002 w 1002"/>
              <a:gd name="T1" fmla="*/ 3 h 396"/>
              <a:gd name="T2" fmla="*/ 997 w 1002"/>
              <a:gd name="T3" fmla="*/ 12 h 396"/>
              <a:gd name="T4" fmla="*/ 993 w 1002"/>
              <a:gd name="T5" fmla="*/ 11 h 396"/>
              <a:gd name="T6" fmla="*/ 982 w 1002"/>
              <a:gd name="T7" fmla="*/ 9 h 396"/>
              <a:gd name="T8" fmla="*/ 967 w 1002"/>
              <a:gd name="T9" fmla="*/ 9 h 396"/>
              <a:gd name="T10" fmla="*/ 953 w 1002"/>
              <a:gd name="T11" fmla="*/ 11 h 396"/>
              <a:gd name="T12" fmla="*/ 939 w 1002"/>
              <a:gd name="T13" fmla="*/ 16 h 396"/>
              <a:gd name="T14" fmla="*/ 424 w 1002"/>
              <a:gd name="T15" fmla="*/ 224 h 396"/>
              <a:gd name="T16" fmla="*/ 376 w 1002"/>
              <a:gd name="T17" fmla="*/ 244 h 396"/>
              <a:gd name="T18" fmla="*/ 1 w 1002"/>
              <a:gd name="T19" fmla="*/ 396 h 396"/>
              <a:gd name="T20" fmla="*/ 0 w 1002"/>
              <a:gd name="T21" fmla="*/ 390 h 396"/>
              <a:gd name="T22" fmla="*/ 377 w 1002"/>
              <a:gd name="T23" fmla="*/ 237 h 396"/>
              <a:gd name="T24" fmla="*/ 424 w 1002"/>
              <a:gd name="T25" fmla="*/ 218 h 396"/>
              <a:gd name="T26" fmla="*/ 938 w 1002"/>
              <a:gd name="T27" fmla="*/ 8 h 396"/>
              <a:gd name="T28" fmla="*/ 954 w 1002"/>
              <a:gd name="T29" fmla="*/ 3 h 396"/>
              <a:gd name="T30" fmla="*/ 971 w 1002"/>
              <a:gd name="T31" fmla="*/ 1 h 396"/>
              <a:gd name="T32" fmla="*/ 987 w 1002"/>
              <a:gd name="T33" fmla="*/ 0 h 396"/>
              <a:gd name="T34" fmla="*/ 1000 w 1002"/>
              <a:gd name="T35" fmla="*/ 3 h 396"/>
              <a:gd name="T36" fmla="*/ 1002 w 1002"/>
              <a:gd name="T37" fmla="*/ 3 h 3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002"/>
              <a:gd name="T58" fmla="*/ 0 h 396"/>
              <a:gd name="T59" fmla="*/ 1002 w 1002"/>
              <a:gd name="T60" fmla="*/ 396 h 3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002" h="396">
                <a:moveTo>
                  <a:pt x="1002" y="3"/>
                </a:moveTo>
                <a:cubicBezTo>
                  <a:pt x="997" y="12"/>
                  <a:pt x="997" y="12"/>
                  <a:pt x="997" y="12"/>
                </a:cubicBezTo>
                <a:cubicBezTo>
                  <a:pt x="993" y="11"/>
                  <a:pt x="993" y="11"/>
                  <a:pt x="993" y="11"/>
                </a:cubicBezTo>
                <a:cubicBezTo>
                  <a:pt x="990" y="10"/>
                  <a:pt x="986" y="9"/>
                  <a:pt x="982" y="9"/>
                </a:cubicBezTo>
                <a:cubicBezTo>
                  <a:pt x="977" y="9"/>
                  <a:pt x="972" y="9"/>
                  <a:pt x="967" y="9"/>
                </a:cubicBezTo>
                <a:cubicBezTo>
                  <a:pt x="962" y="10"/>
                  <a:pt x="957" y="10"/>
                  <a:pt x="953" y="11"/>
                </a:cubicBezTo>
                <a:cubicBezTo>
                  <a:pt x="948" y="13"/>
                  <a:pt x="943" y="14"/>
                  <a:pt x="939" y="16"/>
                </a:cubicBezTo>
                <a:cubicBezTo>
                  <a:pt x="424" y="224"/>
                  <a:pt x="424" y="224"/>
                  <a:pt x="424" y="224"/>
                </a:cubicBezTo>
                <a:cubicBezTo>
                  <a:pt x="376" y="244"/>
                  <a:pt x="376" y="244"/>
                  <a:pt x="376" y="244"/>
                </a:cubicBezTo>
                <a:cubicBezTo>
                  <a:pt x="1" y="396"/>
                  <a:pt x="1" y="396"/>
                  <a:pt x="1" y="396"/>
                </a:cubicBezTo>
                <a:cubicBezTo>
                  <a:pt x="0" y="390"/>
                  <a:pt x="0" y="390"/>
                  <a:pt x="0" y="390"/>
                </a:cubicBezTo>
                <a:cubicBezTo>
                  <a:pt x="377" y="237"/>
                  <a:pt x="377" y="237"/>
                  <a:pt x="377" y="237"/>
                </a:cubicBezTo>
                <a:cubicBezTo>
                  <a:pt x="424" y="218"/>
                  <a:pt x="424" y="218"/>
                  <a:pt x="424" y="218"/>
                </a:cubicBezTo>
                <a:cubicBezTo>
                  <a:pt x="938" y="8"/>
                  <a:pt x="938" y="8"/>
                  <a:pt x="938" y="8"/>
                </a:cubicBezTo>
                <a:cubicBezTo>
                  <a:pt x="943" y="6"/>
                  <a:pt x="948" y="5"/>
                  <a:pt x="954" y="3"/>
                </a:cubicBezTo>
                <a:cubicBezTo>
                  <a:pt x="959" y="2"/>
                  <a:pt x="965" y="1"/>
                  <a:pt x="971" y="1"/>
                </a:cubicBezTo>
                <a:cubicBezTo>
                  <a:pt x="976" y="0"/>
                  <a:pt x="982" y="0"/>
                  <a:pt x="987" y="0"/>
                </a:cubicBezTo>
                <a:cubicBezTo>
                  <a:pt x="992" y="1"/>
                  <a:pt x="996" y="1"/>
                  <a:pt x="1000" y="3"/>
                </a:cubicBezTo>
                <a:cubicBezTo>
                  <a:pt x="1002" y="3"/>
                  <a:pt x="1002" y="3"/>
                  <a:pt x="1002" y="3"/>
                </a:cubicBezTo>
              </a:path>
            </a:pathLst>
          </a:custGeom>
          <a:solidFill>
            <a:schemeClr val="bg1"/>
          </a:solidFill>
          <a:ln w="11113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Freeform 16"/>
          <p:cNvSpPr>
            <a:spLocks/>
          </p:cNvSpPr>
          <p:nvPr userDrawn="1"/>
        </p:nvSpPr>
        <p:spPr bwMode="auto">
          <a:xfrm>
            <a:off x="390525" y="1778547"/>
            <a:ext cx="325438" cy="1190625"/>
          </a:xfrm>
          <a:custGeom>
            <a:avLst/>
            <a:gdLst>
              <a:gd name="T0" fmla="*/ 128 w 128"/>
              <a:gd name="T1" fmla="*/ 6 h 558"/>
              <a:gd name="T2" fmla="*/ 124 w 128"/>
              <a:gd name="T3" fmla="*/ 7 h 558"/>
              <a:gd name="T4" fmla="*/ 118 w 128"/>
              <a:gd name="T5" fmla="*/ 11 h 558"/>
              <a:gd name="T6" fmla="*/ 112 w 128"/>
              <a:gd name="T7" fmla="*/ 17 h 558"/>
              <a:gd name="T8" fmla="*/ 108 w 128"/>
              <a:gd name="T9" fmla="*/ 24 h 558"/>
              <a:gd name="T10" fmla="*/ 106 w 128"/>
              <a:gd name="T11" fmla="*/ 31 h 558"/>
              <a:gd name="T12" fmla="*/ 64 w 128"/>
              <a:gd name="T13" fmla="*/ 240 h 558"/>
              <a:gd name="T14" fmla="*/ 55 w 128"/>
              <a:gd name="T15" fmla="*/ 287 h 558"/>
              <a:gd name="T16" fmla="*/ 7 w 128"/>
              <a:gd name="T17" fmla="*/ 530 h 558"/>
              <a:gd name="T18" fmla="*/ 6 w 128"/>
              <a:gd name="T19" fmla="*/ 539 h 558"/>
              <a:gd name="T20" fmla="*/ 8 w 128"/>
              <a:gd name="T21" fmla="*/ 545 h 558"/>
              <a:gd name="T22" fmla="*/ 13 w 128"/>
              <a:gd name="T23" fmla="*/ 549 h 558"/>
              <a:gd name="T24" fmla="*/ 19 w 128"/>
              <a:gd name="T25" fmla="*/ 550 h 558"/>
              <a:gd name="T26" fmla="*/ 86 w 128"/>
              <a:gd name="T27" fmla="*/ 535 h 558"/>
              <a:gd name="T28" fmla="*/ 85 w 128"/>
              <a:gd name="T29" fmla="*/ 543 h 558"/>
              <a:gd name="T30" fmla="*/ 17 w 128"/>
              <a:gd name="T31" fmla="*/ 558 h 558"/>
              <a:gd name="T32" fmla="*/ 9 w 128"/>
              <a:gd name="T33" fmla="*/ 557 h 558"/>
              <a:gd name="T34" fmla="*/ 3 w 128"/>
              <a:gd name="T35" fmla="*/ 552 h 558"/>
              <a:gd name="T36" fmla="*/ 0 w 128"/>
              <a:gd name="T37" fmla="*/ 543 h 558"/>
              <a:gd name="T38" fmla="*/ 1 w 128"/>
              <a:gd name="T39" fmla="*/ 531 h 558"/>
              <a:gd name="T40" fmla="*/ 49 w 128"/>
              <a:gd name="T41" fmla="*/ 289 h 558"/>
              <a:gd name="T42" fmla="*/ 58 w 128"/>
              <a:gd name="T43" fmla="*/ 242 h 558"/>
              <a:gd name="T44" fmla="*/ 100 w 128"/>
              <a:gd name="T45" fmla="*/ 33 h 558"/>
              <a:gd name="T46" fmla="*/ 104 w 128"/>
              <a:gd name="T47" fmla="*/ 23 h 558"/>
              <a:gd name="T48" fmla="*/ 110 w 128"/>
              <a:gd name="T49" fmla="*/ 14 h 558"/>
              <a:gd name="T50" fmla="*/ 117 w 128"/>
              <a:gd name="T51" fmla="*/ 6 h 558"/>
              <a:gd name="T52" fmla="*/ 126 w 128"/>
              <a:gd name="T53" fmla="*/ 1 h 558"/>
              <a:gd name="T54" fmla="*/ 127 w 128"/>
              <a:gd name="T55" fmla="*/ 0 h 558"/>
              <a:gd name="T56" fmla="*/ 128 w 128"/>
              <a:gd name="T57" fmla="*/ 6 h 558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128"/>
              <a:gd name="T88" fmla="*/ 0 h 558"/>
              <a:gd name="T89" fmla="*/ 128 w 128"/>
              <a:gd name="T90" fmla="*/ 558 h 558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128" h="558">
                <a:moveTo>
                  <a:pt x="128" y="6"/>
                </a:moveTo>
                <a:cubicBezTo>
                  <a:pt x="124" y="7"/>
                  <a:pt x="124" y="7"/>
                  <a:pt x="124" y="7"/>
                </a:cubicBezTo>
                <a:cubicBezTo>
                  <a:pt x="122" y="8"/>
                  <a:pt x="120" y="9"/>
                  <a:pt x="118" y="11"/>
                </a:cubicBezTo>
                <a:cubicBezTo>
                  <a:pt x="116" y="13"/>
                  <a:pt x="114" y="15"/>
                  <a:pt x="112" y="17"/>
                </a:cubicBezTo>
                <a:cubicBezTo>
                  <a:pt x="111" y="19"/>
                  <a:pt x="109" y="21"/>
                  <a:pt x="108" y="24"/>
                </a:cubicBezTo>
                <a:cubicBezTo>
                  <a:pt x="107" y="26"/>
                  <a:pt x="106" y="28"/>
                  <a:pt x="106" y="31"/>
                </a:cubicBezTo>
                <a:cubicBezTo>
                  <a:pt x="64" y="240"/>
                  <a:pt x="64" y="240"/>
                  <a:pt x="64" y="240"/>
                </a:cubicBezTo>
                <a:cubicBezTo>
                  <a:pt x="55" y="287"/>
                  <a:pt x="55" y="287"/>
                  <a:pt x="55" y="287"/>
                </a:cubicBezTo>
                <a:cubicBezTo>
                  <a:pt x="7" y="530"/>
                  <a:pt x="7" y="530"/>
                  <a:pt x="7" y="530"/>
                </a:cubicBezTo>
                <a:cubicBezTo>
                  <a:pt x="6" y="533"/>
                  <a:pt x="6" y="536"/>
                  <a:pt x="6" y="539"/>
                </a:cubicBezTo>
                <a:cubicBezTo>
                  <a:pt x="6" y="541"/>
                  <a:pt x="7" y="544"/>
                  <a:pt x="8" y="545"/>
                </a:cubicBezTo>
                <a:cubicBezTo>
                  <a:pt x="9" y="547"/>
                  <a:pt x="11" y="548"/>
                  <a:pt x="13" y="549"/>
                </a:cubicBezTo>
                <a:cubicBezTo>
                  <a:pt x="14" y="550"/>
                  <a:pt x="17" y="550"/>
                  <a:pt x="19" y="550"/>
                </a:cubicBezTo>
                <a:cubicBezTo>
                  <a:pt x="86" y="535"/>
                  <a:pt x="86" y="535"/>
                  <a:pt x="86" y="535"/>
                </a:cubicBezTo>
                <a:cubicBezTo>
                  <a:pt x="85" y="543"/>
                  <a:pt x="85" y="543"/>
                  <a:pt x="85" y="543"/>
                </a:cubicBezTo>
                <a:cubicBezTo>
                  <a:pt x="17" y="558"/>
                  <a:pt x="17" y="558"/>
                  <a:pt x="17" y="558"/>
                </a:cubicBezTo>
                <a:cubicBezTo>
                  <a:pt x="14" y="558"/>
                  <a:pt x="11" y="558"/>
                  <a:pt x="9" y="557"/>
                </a:cubicBezTo>
                <a:cubicBezTo>
                  <a:pt x="6" y="556"/>
                  <a:pt x="4" y="554"/>
                  <a:pt x="3" y="552"/>
                </a:cubicBezTo>
                <a:cubicBezTo>
                  <a:pt x="1" y="550"/>
                  <a:pt x="0" y="547"/>
                  <a:pt x="0" y="543"/>
                </a:cubicBezTo>
                <a:cubicBezTo>
                  <a:pt x="0" y="540"/>
                  <a:pt x="0" y="536"/>
                  <a:pt x="1" y="531"/>
                </a:cubicBezTo>
                <a:cubicBezTo>
                  <a:pt x="49" y="289"/>
                  <a:pt x="49" y="289"/>
                  <a:pt x="49" y="289"/>
                </a:cubicBezTo>
                <a:cubicBezTo>
                  <a:pt x="58" y="242"/>
                  <a:pt x="58" y="242"/>
                  <a:pt x="58" y="242"/>
                </a:cubicBezTo>
                <a:cubicBezTo>
                  <a:pt x="100" y="33"/>
                  <a:pt x="100" y="33"/>
                  <a:pt x="100" y="33"/>
                </a:cubicBezTo>
                <a:cubicBezTo>
                  <a:pt x="101" y="30"/>
                  <a:pt x="102" y="26"/>
                  <a:pt x="104" y="23"/>
                </a:cubicBezTo>
                <a:cubicBezTo>
                  <a:pt x="105" y="20"/>
                  <a:pt x="107" y="17"/>
                  <a:pt x="110" y="14"/>
                </a:cubicBezTo>
                <a:cubicBezTo>
                  <a:pt x="112" y="11"/>
                  <a:pt x="114" y="8"/>
                  <a:pt x="117" y="6"/>
                </a:cubicBezTo>
                <a:cubicBezTo>
                  <a:pt x="120" y="4"/>
                  <a:pt x="123" y="2"/>
                  <a:pt x="126" y="1"/>
                </a:cubicBezTo>
                <a:cubicBezTo>
                  <a:pt x="127" y="0"/>
                  <a:pt x="127" y="0"/>
                  <a:pt x="127" y="0"/>
                </a:cubicBezTo>
                <a:lnTo>
                  <a:pt x="128" y="6"/>
                </a:lnTo>
                <a:close/>
              </a:path>
            </a:pathLst>
          </a:custGeom>
          <a:solidFill>
            <a:schemeClr val="bg1"/>
          </a:solidFill>
          <a:ln w="11113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Freeform 17"/>
          <p:cNvSpPr>
            <a:spLocks/>
          </p:cNvSpPr>
          <p:nvPr userDrawn="1"/>
        </p:nvSpPr>
        <p:spPr bwMode="auto">
          <a:xfrm>
            <a:off x="3125788" y="952253"/>
            <a:ext cx="1308100" cy="1528763"/>
          </a:xfrm>
          <a:custGeom>
            <a:avLst/>
            <a:gdLst>
              <a:gd name="T0" fmla="*/ 46 w 516"/>
              <a:gd name="T1" fmla="*/ 9 h 716"/>
              <a:gd name="T2" fmla="*/ 485 w 516"/>
              <a:gd name="T3" fmla="*/ 148 h 716"/>
              <a:gd name="T4" fmla="*/ 496 w 516"/>
              <a:gd name="T5" fmla="*/ 154 h 716"/>
              <a:gd name="T6" fmla="*/ 501 w 516"/>
              <a:gd name="T7" fmla="*/ 164 h 716"/>
              <a:gd name="T8" fmla="*/ 501 w 516"/>
              <a:gd name="T9" fmla="*/ 175 h 716"/>
              <a:gd name="T10" fmla="*/ 494 w 516"/>
              <a:gd name="T11" fmla="*/ 187 h 716"/>
              <a:gd name="T12" fmla="*/ 113 w 516"/>
              <a:gd name="T13" fmla="*/ 656 h 716"/>
              <a:gd name="T14" fmla="*/ 100 w 516"/>
              <a:gd name="T15" fmla="*/ 668 h 716"/>
              <a:gd name="T16" fmla="*/ 84 w 516"/>
              <a:gd name="T17" fmla="*/ 679 h 716"/>
              <a:gd name="T18" fmla="*/ 66 w 516"/>
              <a:gd name="T19" fmla="*/ 689 h 716"/>
              <a:gd name="T20" fmla="*/ 49 w 516"/>
              <a:gd name="T21" fmla="*/ 694 h 716"/>
              <a:gd name="T22" fmla="*/ 0 w 516"/>
              <a:gd name="T23" fmla="*/ 705 h 716"/>
              <a:gd name="T24" fmla="*/ 0 w 516"/>
              <a:gd name="T25" fmla="*/ 716 h 716"/>
              <a:gd name="T26" fmla="*/ 50 w 516"/>
              <a:gd name="T27" fmla="*/ 705 h 716"/>
              <a:gd name="T28" fmla="*/ 69 w 516"/>
              <a:gd name="T29" fmla="*/ 699 h 716"/>
              <a:gd name="T30" fmla="*/ 89 w 516"/>
              <a:gd name="T31" fmla="*/ 689 h 716"/>
              <a:gd name="T32" fmla="*/ 108 w 516"/>
              <a:gd name="T33" fmla="*/ 676 h 716"/>
              <a:gd name="T34" fmla="*/ 122 w 516"/>
              <a:gd name="T35" fmla="*/ 661 h 716"/>
              <a:gd name="T36" fmla="*/ 506 w 516"/>
              <a:gd name="T37" fmla="*/ 190 h 716"/>
              <a:gd name="T38" fmla="*/ 515 w 516"/>
              <a:gd name="T39" fmla="*/ 174 h 716"/>
              <a:gd name="T40" fmla="*/ 515 w 516"/>
              <a:gd name="T41" fmla="*/ 159 h 716"/>
              <a:gd name="T42" fmla="*/ 508 w 516"/>
              <a:gd name="T43" fmla="*/ 147 h 716"/>
              <a:gd name="T44" fmla="*/ 493 w 516"/>
              <a:gd name="T45" fmla="*/ 138 h 716"/>
              <a:gd name="T46" fmla="*/ 51 w 516"/>
              <a:gd name="T47" fmla="*/ 0 h 716"/>
              <a:gd name="T48" fmla="*/ 46 w 516"/>
              <a:gd name="T49" fmla="*/ 9 h 71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16"/>
              <a:gd name="T76" fmla="*/ 0 h 716"/>
              <a:gd name="T77" fmla="*/ 516 w 516"/>
              <a:gd name="T78" fmla="*/ 716 h 71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16" h="716">
                <a:moveTo>
                  <a:pt x="46" y="9"/>
                </a:moveTo>
                <a:cubicBezTo>
                  <a:pt x="485" y="148"/>
                  <a:pt x="485" y="148"/>
                  <a:pt x="485" y="148"/>
                </a:cubicBezTo>
                <a:cubicBezTo>
                  <a:pt x="490" y="150"/>
                  <a:pt x="493" y="152"/>
                  <a:pt x="496" y="154"/>
                </a:cubicBezTo>
                <a:cubicBezTo>
                  <a:pt x="499" y="157"/>
                  <a:pt x="500" y="160"/>
                  <a:pt x="501" y="164"/>
                </a:cubicBezTo>
                <a:cubicBezTo>
                  <a:pt x="502" y="167"/>
                  <a:pt x="502" y="171"/>
                  <a:pt x="501" y="175"/>
                </a:cubicBezTo>
                <a:cubicBezTo>
                  <a:pt x="500" y="179"/>
                  <a:pt x="498" y="183"/>
                  <a:pt x="494" y="187"/>
                </a:cubicBezTo>
                <a:cubicBezTo>
                  <a:pt x="113" y="656"/>
                  <a:pt x="113" y="656"/>
                  <a:pt x="113" y="656"/>
                </a:cubicBezTo>
                <a:cubicBezTo>
                  <a:pt x="109" y="660"/>
                  <a:pt x="105" y="664"/>
                  <a:pt x="100" y="668"/>
                </a:cubicBezTo>
                <a:cubicBezTo>
                  <a:pt x="95" y="672"/>
                  <a:pt x="89" y="676"/>
                  <a:pt x="84" y="679"/>
                </a:cubicBezTo>
                <a:cubicBezTo>
                  <a:pt x="78" y="683"/>
                  <a:pt x="72" y="686"/>
                  <a:pt x="66" y="689"/>
                </a:cubicBezTo>
                <a:cubicBezTo>
                  <a:pt x="60" y="691"/>
                  <a:pt x="55" y="693"/>
                  <a:pt x="49" y="694"/>
                </a:cubicBezTo>
                <a:cubicBezTo>
                  <a:pt x="0" y="705"/>
                  <a:pt x="0" y="705"/>
                  <a:pt x="0" y="705"/>
                </a:cubicBezTo>
                <a:cubicBezTo>
                  <a:pt x="0" y="716"/>
                  <a:pt x="0" y="716"/>
                  <a:pt x="0" y="716"/>
                </a:cubicBezTo>
                <a:cubicBezTo>
                  <a:pt x="50" y="705"/>
                  <a:pt x="50" y="705"/>
                  <a:pt x="50" y="705"/>
                </a:cubicBezTo>
                <a:cubicBezTo>
                  <a:pt x="56" y="704"/>
                  <a:pt x="63" y="702"/>
                  <a:pt x="69" y="699"/>
                </a:cubicBezTo>
                <a:cubicBezTo>
                  <a:pt x="76" y="696"/>
                  <a:pt x="83" y="693"/>
                  <a:pt x="89" y="689"/>
                </a:cubicBezTo>
                <a:cubicBezTo>
                  <a:pt x="96" y="685"/>
                  <a:pt x="102" y="680"/>
                  <a:pt x="108" y="676"/>
                </a:cubicBezTo>
                <a:cubicBezTo>
                  <a:pt x="113" y="671"/>
                  <a:pt x="118" y="666"/>
                  <a:pt x="122" y="661"/>
                </a:cubicBezTo>
                <a:cubicBezTo>
                  <a:pt x="506" y="190"/>
                  <a:pt x="506" y="190"/>
                  <a:pt x="506" y="190"/>
                </a:cubicBezTo>
                <a:cubicBezTo>
                  <a:pt x="510" y="185"/>
                  <a:pt x="513" y="180"/>
                  <a:pt x="515" y="174"/>
                </a:cubicBezTo>
                <a:cubicBezTo>
                  <a:pt x="516" y="169"/>
                  <a:pt x="516" y="164"/>
                  <a:pt x="515" y="159"/>
                </a:cubicBezTo>
                <a:cubicBezTo>
                  <a:pt x="514" y="154"/>
                  <a:pt x="511" y="150"/>
                  <a:pt x="508" y="147"/>
                </a:cubicBezTo>
                <a:cubicBezTo>
                  <a:pt x="504" y="143"/>
                  <a:pt x="499" y="140"/>
                  <a:pt x="493" y="138"/>
                </a:cubicBezTo>
                <a:cubicBezTo>
                  <a:pt x="51" y="0"/>
                  <a:pt x="51" y="0"/>
                  <a:pt x="51" y="0"/>
                </a:cubicBezTo>
                <a:lnTo>
                  <a:pt x="46" y="9"/>
                </a:lnTo>
                <a:close/>
              </a:path>
            </a:pathLst>
          </a:custGeom>
          <a:solidFill>
            <a:schemeClr val="bg1"/>
          </a:solidFill>
          <a:ln w="11113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Line 51"/>
          <p:cNvSpPr>
            <a:spLocks noChangeShapeType="1"/>
          </p:cNvSpPr>
          <p:nvPr userDrawn="1"/>
        </p:nvSpPr>
        <p:spPr bwMode="auto">
          <a:xfrm>
            <a:off x="2603557" y="4378989"/>
            <a:ext cx="2659063" cy="4763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Text Box 52"/>
          <p:cNvSpPr txBox="1">
            <a:spLocks noChangeArrowheads="1"/>
          </p:cNvSpPr>
          <p:nvPr userDrawn="1"/>
        </p:nvSpPr>
        <p:spPr bwMode="auto">
          <a:xfrm>
            <a:off x="5802759" y="2051200"/>
            <a:ext cx="3233737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Tel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13915982595</a:t>
            </a:r>
            <a:endParaRPr lang="en-GB" altLang="zh-CN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 userDrawn="1"/>
        </p:nvSpPr>
        <p:spPr bwMode="auto">
          <a:xfrm>
            <a:off x="5796136" y="2842965"/>
            <a:ext cx="2952328" cy="35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wangdm@seu.edu.cn</a:t>
            </a:r>
          </a:p>
        </p:txBody>
      </p:sp>
      <p:sp>
        <p:nvSpPr>
          <p:cNvPr id="33" name="Text Box 59"/>
          <p:cNvSpPr txBox="1">
            <a:spLocks noChangeArrowheads="1"/>
          </p:cNvSpPr>
          <p:nvPr userDrawn="1"/>
        </p:nvSpPr>
        <p:spPr bwMode="auto">
          <a:xfrm>
            <a:off x="5796136" y="3668617"/>
            <a:ext cx="1728192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无线谷</a:t>
            </a:r>
            <a:r>
              <a:rPr lang="en-US" altLang="zh-CN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1-205</a:t>
            </a:r>
            <a:endParaRPr lang="en-US" altLang="zh-CN" sz="16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Text Box 62"/>
          <p:cNvSpPr txBox="1">
            <a:spLocks noChangeArrowheads="1"/>
          </p:cNvSpPr>
          <p:nvPr userDrawn="1"/>
        </p:nvSpPr>
        <p:spPr bwMode="auto">
          <a:xfrm>
            <a:off x="5796136" y="764704"/>
            <a:ext cx="32520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王东明</a:t>
            </a:r>
            <a:endParaRPr lang="en-US" altLang="zh-CN" sz="16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ea typeface="微软雅黑" panose="020B0503020204020204" pitchFamily="34" charset="-122"/>
              </a:rPr>
              <a:t>移动通信国家重点实验室</a:t>
            </a:r>
            <a:endParaRPr lang="en-GB" altLang="zh-CN" sz="11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 rot="20445248">
            <a:off x="842805" y="1491904"/>
            <a:ext cx="295465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400" b="1" dirty="0">
                <a:solidFill>
                  <a:srgbClr val="FFFFFF"/>
                </a:solidFill>
                <a:ea typeface="微软雅黑" panose="020B0503020204020204" pitchFamily="34" charset="-122"/>
              </a:rPr>
              <a:t>谢谢听讲</a:t>
            </a: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699" y="4609838"/>
            <a:ext cx="2889201" cy="19091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579" y="4609838"/>
            <a:ext cx="3024336" cy="192189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603449"/>
            <a:ext cx="2863673" cy="190911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742" y="2823944"/>
            <a:ext cx="402490" cy="402490"/>
          </a:xfrm>
          <a:prstGeom prst="rect">
            <a:avLst/>
          </a:prstGeom>
        </p:spPr>
      </p:pic>
      <p:pic>
        <p:nvPicPr>
          <p:cNvPr id="41" name="Picture 4" descr="E:\仝德志文件，勿删！\03-参考文档\！PPT图片及版面资源\06-PPT精选插图\04-图标\home256.png"/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3037" y="3651103"/>
            <a:ext cx="357899" cy="35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E:\仝德志文件，勿删！\03-参考文档\！PPT图片及版面资源\06-PPT精选插图\04-图标\png-0030.pn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5260" y="2054293"/>
            <a:ext cx="348142" cy="34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0447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-32" y="6599238"/>
            <a:ext cx="73072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7367588" y="6165850"/>
            <a:ext cx="0" cy="43180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7451725" y="6308725"/>
            <a:ext cx="0" cy="2889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1188" y="-26988"/>
            <a:ext cx="0" cy="43180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68350" y="0"/>
            <a:ext cx="0" cy="28733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 userDrawn="1"/>
        </p:nvSpPr>
        <p:spPr>
          <a:xfrm>
            <a:off x="431188" y="6201750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5"/>
          <p:cNvSpPr txBox="1"/>
          <p:nvPr userDrawn="1"/>
        </p:nvSpPr>
        <p:spPr>
          <a:xfrm>
            <a:off x="285973" y="6212473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569" y="6043193"/>
            <a:ext cx="705847" cy="69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6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6" r:id="rId2"/>
    <p:sldLayoutId id="2147483671" r:id="rId3"/>
    <p:sldLayoutId id="2147483676" r:id="rId4"/>
    <p:sldLayoutId id="2147483677" r:id="rId5"/>
    <p:sldLayoutId id="2147483681" r:id="rId6"/>
    <p:sldLayoutId id="2147483678" r:id="rId7"/>
    <p:sldLayoutId id="2147483682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jpe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jpg"/><Relationship Id="rId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jpe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80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2011784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微处理器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2060848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164309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存储器及寻址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2133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4284189" y="4243809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928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0058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3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1884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逻辑运算指令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移位指令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循环移位指令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51415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逻辑和移位指令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282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34166" y="2222024"/>
            <a:ext cx="2361970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68138" y="2222024"/>
            <a:ext cx="2361970" cy="3116492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228186" y="2222024"/>
            <a:ext cx="2361970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68138" y="1124744"/>
            <a:ext cx="8022017" cy="78779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逻辑和移位指令分类</a:t>
            </a:r>
          </a:p>
        </p:txBody>
      </p:sp>
      <p:sp>
        <p:nvSpPr>
          <p:cNvPr id="7" name="任意多边形 6"/>
          <p:cNvSpPr/>
          <p:nvPr/>
        </p:nvSpPr>
        <p:spPr>
          <a:xfrm>
            <a:off x="568139" y="2854787"/>
            <a:ext cx="2361970" cy="248372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XOR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3434166" y="2854787"/>
            <a:ext cx="2361970" cy="248372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SAL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SAR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SHL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SHR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6228186" y="2854786"/>
            <a:ext cx="2361970" cy="2483729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ROL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ROR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RCL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RCR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8137" y="2368479"/>
            <a:ext cx="2361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434164" y="2368479"/>
            <a:ext cx="2361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移位指令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228184" y="2368479"/>
            <a:ext cx="2361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循环移位指令</a:t>
            </a:r>
          </a:p>
        </p:txBody>
      </p:sp>
      <p:sp>
        <p:nvSpPr>
          <p:cNvPr id="15" name="矩形 14"/>
          <p:cNvSpPr/>
          <p:nvPr/>
        </p:nvSpPr>
        <p:spPr>
          <a:xfrm>
            <a:off x="1547663" y="6021288"/>
            <a:ext cx="5976665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所有指令都是把操作数当做</a:t>
            </a:r>
            <a:r>
              <a:rPr lang="zh-CN" altLang="en-US" b="1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二进制的位串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4844" y="558924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54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71600" y="1812720"/>
            <a:ext cx="7632848" cy="504367"/>
            <a:chOff x="3711527" y="2082923"/>
            <a:chExt cx="10767286" cy="504301"/>
          </a:xfrm>
        </p:grpSpPr>
        <p:sp>
          <p:nvSpPr>
            <p:cNvPr id="3" name="矩形 2"/>
            <p:cNvSpPr/>
            <p:nvPr/>
          </p:nvSpPr>
          <p:spPr>
            <a:xfrm>
              <a:off x="4038584" y="2082923"/>
              <a:ext cx="6355394" cy="461605"/>
            </a:xfrm>
            <a:prstGeom prst="rect">
              <a:avLst/>
            </a:prstGeom>
            <a:solidFill>
              <a:srgbClr val="FF3255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AND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目，源</a:t>
              </a: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3711527" y="2587224"/>
              <a:ext cx="10767286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978984" y="2511152"/>
            <a:ext cx="7625464" cy="504366"/>
            <a:chOff x="3711527" y="2082923"/>
            <a:chExt cx="10756869" cy="504301"/>
          </a:xfrm>
        </p:grpSpPr>
        <p:sp>
          <p:nvSpPr>
            <p:cNvPr id="6" name="矩形 5"/>
            <p:cNvSpPr/>
            <p:nvPr/>
          </p:nvSpPr>
          <p:spPr>
            <a:xfrm>
              <a:off x="4030210" y="2082923"/>
              <a:ext cx="6363766" cy="4616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OR 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目，源</a:t>
              </a: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3711527" y="2587224"/>
              <a:ext cx="1075686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971600" y="3183611"/>
            <a:ext cx="7632848" cy="504367"/>
            <a:chOff x="3711527" y="2082923"/>
            <a:chExt cx="10767286" cy="504301"/>
          </a:xfrm>
        </p:grpSpPr>
        <p:sp>
          <p:nvSpPr>
            <p:cNvPr id="9" name="矩形 8"/>
            <p:cNvSpPr/>
            <p:nvPr/>
          </p:nvSpPr>
          <p:spPr>
            <a:xfrm>
              <a:off x="4038583" y="2082923"/>
              <a:ext cx="6355394" cy="430318"/>
            </a:xfrm>
            <a:prstGeom prst="rect">
              <a:avLst/>
            </a:prstGeom>
            <a:solidFill>
              <a:srgbClr val="1D8DE5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XOR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目，源</a:t>
              </a: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711527" y="2587224"/>
              <a:ext cx="10767286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978984" y="3882046"/>
            <a:ext cx="7625464" cy="504367"/>
            <a:chOff x="3711527" y="2082923"/>
            <a:chExt cx="10756869" cy="504301"/>
          </a:xfrm>
        </p:grpSpPr>
        <p:sp>
          <p:nvSpPr>
            <p:cNvPr id="12" name="矩形 11"/>
            <p:cNvSpPr/>
            <p:nvPr/>
          </p:nvSpPr>
          <p:spPr>
            <a:xfrm>
              <a:off x="4030210" y="2082923"/>
              <a:ext cx="6363766" cy="4303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NOT 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源</a:t>
              </a: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3711527" y="2587224"/>
              <a:ext cx="1075686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974048" y="4582800"/>
            <a:ext cx="7630400" cy="574389"/>
            <a:chOff x="3711527" y="2156909"/>
            <a:chExt cx="10763832" cy="574315"/>
          </a:xfrm>
        </p:grpSpPr>
        <p:sp>
          <p:nvSpPr>
            <p:cNvPr id="15" name="矩形 14"/>
            <p:cNvSpPr/>
            <p:nvPr/>
          </p:nvSpPr>
          <p:spPr>
            <a:xfrm>
              <a:off x="4035807" y="2156909"/>
              <a:ext cx="6358170" cy="430318"/>
            </a:xfrm>
            <a:prstGeom prst="rect">
              <a:avLst/>
            </a:prstGeom>
            <a:solidFill>
              <a:srgbClr val="FD7A2A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TEST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目，源</a:t>
              </a: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3711527" y="2731224"/>
              <a:ext cx="10763832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连接符 2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逻辑运算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6" name="TextBox 10"/>
          <p:cNvSpPr txBox="1">
            <a:spLocks noChangeArrowheads="1"/>
          </p:cNvSpPr>
          <p:nvPr/>
        </p:nvSpPr>
        <p:spPr bwMode="auto">
          <a:xfrm>
            <a:off x="5945603" y="1839061"/>
            <a:ext cx="322529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AND  AL, 0FH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10"/>
          <p:cNvSpPr txBox="1">
            <a:spLocks noChangeArrowheads="1"/>
          </p:cNvSpPr>
          <p:nvPr/>
        </p:nvSpPr>
        <p:spPr bwMode="auto">
          <a:xfrm>
            <a:off x="5945603" y="2494597"/>
            <a:ext cx="322529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OR  AL, 0FH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10"/>
          <p:cNvSpPr txBox="1">
            <a:spLocks noChangeArrowheads="1"/>
          </p:cNvSpPr>
          <p:nvPr/>
        </p:nvSpPr>
        <p:spPr bwMode="auto">
          <a:xfrm>
            <a:off x="5940152" y="3196267"/>
            <a:ext cx="322529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取反：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XOR  AL, 0FH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10"/>
          <p:cNvSpPr txBox="1">
            <a:spLocks noChangeArrowheads="1"/>
          </p:cNvSpPr>
          <p:nvPr/>
        </p:nvSpPr>
        <p:spPr bwMode="auto">
          <a:xfrm>
            <a:off x="5976575" y="3889311"/>
            <a:ext cx="322529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逻辑非：所有位取反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Box 10"/>
          <p:cNvSpPr txBox="1">
            <a:spLocks noChangeArrowheads="1"/>
          </p:cNvSpPr>
          <p:nvPr/>
        </p:nvSpPr>
        <p:spPr bwMode="auto">
          <a:xfrm>
            <a:off x="5976575" y="4363128"/>
            <a:ext cx="2721243" cy="794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运算，不保留结果，影响标志，用于跳转。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459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827584" y="1656455"/>
            <a:ext cx="7491982" cy="3212705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7"/>
          <p:cNvSpPr txBox="1"/>
          <p:nvPr/>
        </p:nvSpPr>
        <p:spPr>
          <a:xfrm>
            <a:off x="1043608" y="1769403"/>
            <a:ext cx="6696743" cy="295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逻辑运算指令是一组位操作指令，它们可以对字或字节按位执行逻辑操 作，因此，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源操作数经常是一个位串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以上五条指令除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NOT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不影响标志位外，其它四条指令执行后，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无定义，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SF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ZF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PF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根据运算结果设置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测试指令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TEST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AND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指令的区别仅在于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TEST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不改变目操作数，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其后常紧跟条件转移指令以实现判断分支。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4869" y="1556792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15"/>
          <p:cNvSpPr txBox="1"/>
          <p:nvPr/>
        </p:nvSpPr>
        <p:spPr>
          <a:xfrm rot="2771384">
            <a:off x="7653805" y="1763329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逻辑运算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214463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907306" y="1268760"/>
            <a:ext cx="3664693" cy="111902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寄存器第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位置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，其它位不变。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907306" y="1121909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07306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415130" y="620688"/>
            <a:ext cx="6613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7" name="矩形 6"/>
          <p:cNvSpPr/>
          <p:nvPr/>
        </p:nvSpPr>
        <p:spPr>
          <a:xfrm>
            <a:off x="8180114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07306" y="631563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907306" y="2492896"/>
            <a:ext cx="3664693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AND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01011011B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719784" y="1181038"/>
            <a:ext cx="0" cy="4264186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4867570" y="2492896"/>
            <a:ext cx="3560605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OR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01010001B</a:t>
            </a:r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4867570" y="1275102"/>
            <a:ext cx="3560605" cy="111902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寄存器第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位置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，其它位不变。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907306" y="3548538"/>
            <a:ext cx="3664693" cy="111902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寄存器第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位取反，其它位不变。</a:t>
            </a: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907306" y="4772674"/>
            <a:ext cx="3664693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XOR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10000000B</a:t>
            </a: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4867570" y="4772674"/>
            <a:ext cx="3560605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TEST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10000000B</a:t>
            </a: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4867570" y="3554880"/>
            <a:ext cx="3560605" cy="1063946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AL=80H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，测试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寄存器的第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位，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ZF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标志？</a:t>
            </a:r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907306" y="3429000"/>
            <a:ext cx="7520869" cy="0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0"/>
          <p:cNvSpPr txBox="1">
            <a:spLocks noChangeArrowheads="1"/>
          </p:cNvSpPr>
          <p:nvPr/>
        </p:nvSpPr>
        <p:spPr bwMode="auto">
          <a:xfrm>
            <a:off x="3846952" y="5503318"/>
            <a:ext cx="2041236" cy="114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XOR 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AX, BX</a:t>
            </a:r>
          </a:p>
          <a:p>
            <a:pPr algn="ctr">
              <a:lnSpc>
                <a:spcPct val="114000"/>
              </a:lnSpc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XOR 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BX, AX</a:t>
            </a:r>
          </a:p>
          <a:p>
            <a:pPr algn="ctr">
              <a:lnSpc>
                <a:spcPct val="114000"/>
              </a:lnSpc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XOR 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AX, BX</a:t>
            </a:r>
          </a:p>
        </p:txBody>
      </p:sp>
      <p:sp>
        <p:nvSpPr>
          <p:cNvPr id="27" name="矩形 3"/>
          <p:cNvSpPr>
            <a:spLocks noChangeArrowheads="1"/>
          </p:cNvSpPr>
          <p:nvPr/>
        </p:nvSpPr>
        <p:spPr bwMode="auto">
          <a:xfrm>
            <a:off x="1750684" y="5534077"/>
            <a:ext cx="1977936" cy="947952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思考这三条指令执行后的结果。</a:t>
            </a:r>
          </a:p>
        </p:txBody>
      </p:sp>
    </p:spTree>
    <p:extLst>
      <p:ext uri="{BB962C8B-B14F-4D97-AF65-F5344CB8AC3E}">
        <p14:creationId xmlns:p14="http://schemas.microsoft.com/office/powerpoint/2010/main" val="218011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9" grpId="0"/>
      <p:bldP spid="20" grpId="0"/>
      <p:bldP spid="25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8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1884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逻辑运算指令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移位指令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循环移位指令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51415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逻辑和移位指令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069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94902" y="2780928"/>
            <a:ext cx="5909546" cy="10801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逻辑移位是对无符号数移位，总是用</a:t>
            </a:r>
            <a:r>
              <a:rPr lang="en-US" altLang="zh-CN" sz="2400" b="1" dirty="0"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ea typeface="微软雅黑" panose="020B0503020204020204" pitchFamily="34" charset="-122"/>
              </a:rPr>
              <a:t>来填补已空出的位置。</a:t>
            </a:r>
          </a:p>
        </p:txBody>
      </p:sp>
      <p:sp>
        <p:nvSpPr>
          <p:cNvPr id="3" name="矩形 2"/>
          <p:cNvSpPr/>
          <p:nvPr/>
        </p:nvSpPr>
        <p:spPr>
          <a:xfrm>
            <a:off x="720080" y="2780928"/>
            <a:ext cx="1974822" cy="108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逻辑移位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94902" y="1484784"/>
            <a:ext cx="5909546" cy="1080120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算术右移是对带符号数进行右移，在移位过程中必须保持符号不变。</a:t>
            </a:r>
          </a:p>
        </p:txBody>
      </p:sp>
      <p:sp>
        <p:nvSpPr>
          <p:cNvPr id="5" name="矩形 4"/>
          <p:cNvSpPr/>
          <p:nvPr/>
        </p:nvSpPr>
        <p:spPr>
          <a:xfrm>
            <a:off x="720080" y="1484784"/>
            <a:ext cx="1974822" cy="108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算术右移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移位指令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1" name="矩形 10"/>
          <p:cNvSpPr>
            <a:spLocks noChangeAspect="1"/>
          </p:cNvSpPr>
          <p:nvPr/>
        </p:nvSpPr>
        <p:spPr>
          <a:xfrm>
            <a:off x="755576" y="4149080"/>
            <a:ext cx="4032448" cy="1584176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899592" y="4280987"/>
            <a:ext cx="3821390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：算术右移。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SHL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：逻辑左移，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SAL=SHL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SHR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：逻辑右移。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/>
        </p:nvSpPr>
        <p:spPr>
          <a:xfrm>
            <a:off x="5220072" y="4149080"/>
            <a:ext cx="3384376" cy="1584176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7"/>
          <p:cNvSpPr txBox="1"/>
          <p:nvPr/>
        </p:nvSpPr>
        <p:spPr>
          <a:xfrm>
            <a:off x="5364088" y="4280987"/>
            <a:ext cx="3083929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指令格式（以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为例）：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SAR 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1</a:t>
            </a:r>
          </a:p>
          <a:p>
            <a:pPr>
              <a:lnSpc>
                <a:spcPct val="133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SAR 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CL</a:t>
            </a:r>
          </a:p>
        </p:txBody>
      </p:sp>
      <p:sp>
        <p:nvSpPr>
          <p:cNvPr id="15" name="矩形 14"/>
          <p:cNvSpPr/>
          <p:nvPr/>
        </p:nvSpPr>
        <p:spPr>
          <a:xfrm>
            <a:off x="1950443" y="6172620"/>
            <a:ext cx="496855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移位位数超过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位，</a:t>
            </a:r>
            <a:r>
              <a:rPr lang="zh-CN" altLang="en-US" b="1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必须把移位位数放到</a:t>
            </a:r>
            <a:r>
              <a:rPr lang="en-US" altLang="zh-CN" b="1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608" y="5740572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80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圆角矩形 52"/>
          <p:cNvSpPr/>
          <p:nvPr/>
        </p:nvSpPr>
        <p:spPr>
          <a:xfrm>
            <a:off x="4001825" y="4146059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3001526" y="4151711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29" name="文本框 6"/>
          <p:cNvSpPr txBox="1"/>
          <p:nvPr/>
        </p:nvSpPr>
        <p:spPr>
          <a:xfrm>
            <a:off x="5020046" y="2492896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AL=6AH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001825" y="2996952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3001526" y="2996952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49" name="文本框 6"/>
          <p:cNvSpPr txBox="1"/>
          <p:nvPr/>
        </p:nvSpPr>
        <p:spPr>
          <a:xfrm>
            <a:off x="2713494" y="2492896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522404" y="4146059"/>
            <a:ext cx="432048" cy="507464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1051556" y="4140177"/>
            <a:ext cx="180020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SHL  AL, 1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文本框 6"/>
          <p:cNvSpPr txBox="1"/>
          <p:nvPr/>
        </p:nvSpPr>
        <p:spPr>
          <a:xfrm>
            <a:off x="4173330" y="4151711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5" name="文本框 6"/>
          <p:cNvSpPr txBox="1"/>
          <p:nvPr/>
        </p:nvSpPr>
        <p:spPr>
          <a:xfrm>
            <a:off x="4291916" y="3029303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1 1 0 1 0 1 0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6" name="文本框 6"/>
          <p:cNvSpPr txBox="1"/>
          <p:nvPr/>
        </p:nvSpPr>
        <p:spPr>
          <a:xfrm>
            <a:off x="4182938" y="3029303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8" name="文本框 6"/>
          <p:cNvSpPr txBox="1"/>
          <p:nvPr/>
        </p:nvSpPr>
        <p:spPr>
          <a:xfrm>
            <a:off x="2713494" y="3668780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9" name="文本框 6"/>
          <p:cNvSpPr txBox="1"/>
          <p:nvPr/>
        </p:nvSpPr>
        <p:spPr>
          <a:xfrm>
            <a:off x="7568640" y="4167311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0" name="文本框 6"/>
          <p:cNvSpPr txBox="1"/>
          <p:nvPr/>
        </p:nvSpPr>
        <p:spPr>
          <a:xfrm>
            <a:off x="4296925" y="4151711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1 1 0 1 0 1 0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4003749" y="5397264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3003450" y="5402916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7524328" y="5397264"/>
            <a:ext cx="432048" cy="507464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64" name="TextBox 10"/>
          <p:cNvSpPr txBox="1">
            <a:spLocks noChangeArrowheads="1"/>
          </p:cNvSpPr>
          <p:nvPr/>
        </p:nvSpPr>
        <p:spPr bwMode="auto">
          <a:xfrm>
            <a:off x="1053480" y="5391382"/>
            <a:ext cx="180020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SHL  AL, 1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文本框 6"/>
          <p:cNvSpPr txBox="1"/>
          <p:nvPr/>
        </p:nvSpPr>
        <p:spPr>
          <a:xfrm>
            <a:off x="4175254" y="5402916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6" name="文本框 6"/>
          <p:cNvSpPr txBox="1"/>
          <p:nvPr/>
        </p:nvSpPr>
        <p:spPr>
          <a:xfrm>
            <a:off x="2715418" y="4919985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7" name="文本框 6"/>
          <p:cNvSpPr txBox="1"/>
          <p:nvPr/>
        </p:nvSpPr>
        <p:spPr>
          <a:xfrm>
            <a:off x="7576660" y="5418516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8" name="文本框 6"/>
          <p:cNvSpPr txBox="1"/>
          <p:nvPr/>
        </p:nvSpPr>
        <p:spPr>
          <a:xfrm>
            <a:off x="4298849" y="5402916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1 0 1 0 1 0 0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69" name="直接连接符 68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0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移位指令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SHL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1" name="直接连接符 7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2" name="圆角矩形 71"/>
          <p:cNvSpPr/>
          <p:nvPr/>
        </p:nvSpPr>
        <p:spPr>
          <a:xfrm>
            <a:off x="4001825" y="1516684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cxnSp>
        <p:nvCxnSpPr>
          <p:cNvPr id="76" name="直接箭头连接符 75"/>
          <p:cNvCxnSpPr/>
          <p:nvPr/>
        </p:nvCxnSpPr>
        <p:spPr>
          <a:xfrm flipH="1">
            <a:off x="4715806" y="1770416"/>
            <a:ext cx="1368362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 flipH="1">
            <a:off x="6516217" y="1770416"/>
            <a:ext cx="648071" cy="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圆角矩形 79"/>
          <p:cNvSpPr/>
          <p:nvPr/>
        </p:nvSpPr>
        <p:spPr>
          <a:xfrm>
            <a:off x="7674804" y="1518581"/>
            <a:ext cx="432048" cy="507464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81" name="文本框 6"/>
          <p:cNvSpPr txBox="1"/>
          <p:nvPr/>
        </p:nvSpPr>
        <p:spPr>
          <a:xfrm>
            <a:off x="7556984" y="1539833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 flipH="1">
            <a:off x="3643845" y="1773867"/>
            <a:ext cx="648071" cy="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6"/>
          <p:cNvSpPr txBox="1"/>
          <p:nvPr/>
        </p:nvSpPr>
        <p:spPr>
          <a:xfrm>
            <a:off x="2699792" y="1533369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84" name="TextBox 10"/>
          <p:cNvSpPr txBox="1">
            <a:spLocks noChangeArrowheads="1"/>
          </p:cNvSpPr>
          <p:nvPr/>
        </p:nvSpPr>
        <p:spPr bwMode="auto">
          <a:xfrm>
            <a:off x="1004552" y="1479151"/>
            <a:ext cx="1800200" cy="65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32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SHL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729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7.40741E-7 L -0.12309 7.40741E-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6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7.40741E-7 L -0.03368 0.0025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4" y="11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4.07407E-6 L -0.13264 -4.07407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33333E-6 L -0.12309 3.33333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63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33333E-6 L -0.03368 0.0025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4" y="116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1.48148E-6 L -0.13264 -1.48148E-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9" grpId="0"/>
      <p:bldP spid="60" grpId="0"/>
      <p:bldP spid="61" grpId="0" animBg="1"/>
      <p:bldP spid="62" grpId="0" animBg="1"/>
      <p:bldP spid="63" grpId="0"/>
      <p:bldP spid="64" grpId="0"/>
      <p:bldP spid="65" grpId="0"/>
      <p:bldP spid="65" grpId="1"/>
      <p:bldP spid="66" grpId="0"/>
      <p:bldP spid="67" grpId="0"/>
      <p:bldP spid="67" grpId="1"/>
      <p:bldP spid="68" grpId="0"/>
      <p:bldP spid="6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圆角矩形 52"/>
          <p:cNvSpPr/>
          <p:nvPr/>
        </p:nvSpPr>
        <p:spPr>
          <a:xfrm>
            <a:off x="4001825" y="4079849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7810436" y="4085501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29" name="文本框 6"/>
          <p:cNvSpPr txBox="1"/>
          <p:nvPr/>
        </p:nvSpPr>
        <p:spPr>
          <a:xfrm>
            <a:off x="5020046" y="2426686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AL=6AH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001825" y="2930742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7810436" y="2930742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49" name="文本框 6"/>
          <p:cNvSpPr txBox="1"/>
          <p:nvPr/>
        </p:nvSpPr>
        <p:spPr>
          <a:xfrm>
            <a:off x="7522404" y="2426686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1051556" y="4073967"/>
            <a:ext cx="180020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SHR  AL, 1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文本框 6"/>
          <p:cNvSpPr txBox="1"/>
          <p:nvPr/>
        </p:nvSpPr>
        <p:spPr>
          <a:xfrm>
            <a:off x="6404856" y="4079901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5" name="文本框 6"/>
          <p:cNvSpPr txBox="1"/>
          <p:nvPr/>
        </p:nvSpPr>
        <p:spPr>
          <a:xfrm>
            <a:off x="3923928" y="2947853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0 1 1 0 1 0 1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6" name="文本框 6"/>
          <p:cNvSpPr txBox="1"/>
          <p:nvPr/>
        </p:nvSpPr>
        <p:spPr>
          <a:xfrm>
            <a:off x="6356960" y="2947853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8" name="文本框 6"/>
          <p:cNvSpPr txBox="1"/>
          <p:nvPr/>
        </p:nvSpPr>
        <p:spPr>
          <a:xfrm>
            <a:off x="7522404" y="3602570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0" name="文本框 6"/>
          <p:cNvSpPr txBox="1"/>
          <p:nvPr/>
        </p:nvSpPr>
        <p:spPr>
          <a:xfrm>
            <a:off x="3923928" y="4079901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0 1 1 0 1 0 1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69" name="直接连接符 68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0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移位指令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SHR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1" name="直接连接符 7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8" name="圆角矩形 27"/>
          <p:cNvSpPr/>
          <p:nvPr/>
        </p:nvSpPr>
        <p:spPr>
          <a:xfrm>
            <a:off x="3057908" y="4079849"/>
            <a:ext cx="432048" cy="507464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31" name="文本框 6"/>
          <p:cNvSpPr txBox="1"/>
          <p:nvPr/>
        </p:nvSpPr>
        <p:spPr>
          <a:xfrm>
            <a:off x="3096889" y="4079901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4001825" y="5292148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7810436" y="5297800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36" name="TextBox 10"/>
          <p:cNvSpPr txBox="1">
            <a:spLocks noChangeArrowheads="1"/>
          </p:cNvSpPr>
          <p:nvPr/>
        </p:nvSpPr>
        <p:spPr bwMode="auto">
          <a:xfrm>
            <a:off x="1051556" y="5286266"/>
            <a:ext cx="180020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SHR  AL, 1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文本框 6"/>
          <p:cNvSpPr txBox="1"/>
          <p:nvPr/>
        </p:nvSpPr>
        <p:spPr>
          <a:xfrm>
            <a:off x="6404856" y="5297800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8" name="文本框 6"/>
          <p:cNvSpPr txBox="1"/>
          <p:nvPr/>
        </p:nvSpPr>
        <p:spPr>
          <a:xfrm>
            <a:off x="7522404" y="4814869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9" name="文本框 6"/>
          <p:cNvSpPr txBox="1"/>
          <p:nvPr/>
        </p:nvSpPr>
        <p:spPr>
          <a:xfrm>
            <a:off x="3923928" y="5297800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0 0 1 1 0 1 0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3057908" y="5292148"/>
            <a:ext cx="432048" cy="507464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41" name="文本框 6"/>
          <p:cNvSpPr txBox="1"/>
          <p:nvPr/>
        </p:nvSpPr>
        <p:spPr>
          <a:xfrm>
            <a:off x="3096889" y="5292200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4001825" y="1516684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H="1">
            <a:off x="4787814" y="1770416"/>
            <a:ext cx="1368362" cy="0"/>
          </a:xfrm>
          <a:prstGeom prst="straightConnector1">
            <a:avLst/>
          </a:prstGeom>
          <a:ln w="57150">
            <a:solidFill>
              <a:schemeClr val="bg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H="1">
            <a:off x="6516217" y="1770416"/>
            <a:ext cx="648071" cy="0"/>
          </a:xfrm>
          <a:prstGeom prst="straightConnector1">
            <a:avLst/>
          </a:prstGeom>
          <a:ln w="571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圆角矩形 44"/>
          <p:cNvSpPr/>
          <p:nvPr/>
        </p:nvSpPr>
        <p:spPr>
          <a:xfrm>
            <a:off x="7674804" y="1518581"/>
            <a:ext cx="432048" cy="507464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46" name="文本框 6"/>
          <p:cNvSpPr txBox="1"/>
          <p:nvPr/>
        </p:nvSpPr>
        <p:spPr>
          <a:xfrm>
            <a:off x="3092488" y="1539833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47" name="直接箭头连接符 46"/>
          <p:cNvCxnSpPr/>
          <p:nvPr/>
        </p:nvCxnSpPr>
        <p:spPr>
          <a:xfrm flipH="1">
            <a:off x="3643845" y="1773867"/>
            <a:ext cx="648071" cy="0"/>
          </a:xfrm>
          <a:prstGeom prst="straightConnector1">
            <a:avLst/>
          </a:prstGeom>
          <a:ln w="571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10"/>
          <p:cNvSpPr txBox="1">
            <a:spLocks noChangeArrowheads="1"/>
          </p:cNvSpPr>
          <p:nvPr/>
        </p:nvSpPr>
        <p:spPr bwMode="auto">
          <a:xfrm>
            <a:off x="1004552" y="1500471"/>
            <a:ext cx="1800200" cy="61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32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SHR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文本框 6"/>
          <p:cNvSpPr txBox="1"/>
          <p:nvPr/>
        </p:nvSpPr>
        <p:spPr>
          <a:xfrm>
            <a:off x="7522404" y="1539833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090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59259E-6 L 0.15955 -2.59259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6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59259E-6 L 0.04097 0.000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9" y="2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59259E-6 L 0.11545 -0.0002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11111E-6 L 0.15955 1.11111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69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11111E-6 L 0.04305 0.0004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3" y="2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11545 -0.00023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0" grpId="0"/>
      <p:bldP spid="31" grpId="0"/>
      <p:bldP spid="34" grpId="0" animBg="1"/>
      <p:bldP spid="35" grpId="0" animBg="1"/>
      <p:bldP spid="36" grpId="0"/>
      <p:bldP spid="37" grpId="0"/>
      <p:bldP spid="37" grpId="1"/>
      <p:bldP spid="38" grpId="0"/>
      <p:bldP spid="39" grpId="0"/>
      <p:bldP spid="39" grpId="1"/>
      <p:bldP spid="40" grpId="0"/>
      <p:bldP spid="41" grpId="0"/>
      <p:bldP spid="4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圆角矩形 52"/>
          <p:cNvSpPr/>
          <p:nvPr/>
        </p:nvSpPr>
        <p:spPr>
          <a:xfrm>
            <a:off x="4001825" y="4111206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7810436" y="4116858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29" name="文本框 6"/>
          <p:cNvSpPr txBox="1"/>
          <p:nvPr/>
        </p:nvSpPr>
        <p:spPr>
          <a:xfrm>
            <a:off x="5020046" y="2458043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AL=EAH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001825" y="2962099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7810436" y="2962099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49" name="文本框 6"/>
          <p:cNvSpPr txBox="1"/>
          <p:nvPr/>
        </p:nvSpPr>
        <p:spPr>
          <a:xfrm>
            <a:off x="7522404" y="2458043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827584" y="4105324"/>
            <a:ext cx="180020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SAR  AL, 1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文本框 6"/>
          <p:cNvSpPr txBox="1"/>
          <p:nvPr/>
        </p:nvSpPr>
        <p:spPr>
          <a:xfrm>
            <a:off x="6404856" y="4116858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5" name="文本框 6"/>
          <p:cNvSpPr txBox="1"/>
          <p:nvPr/>
        </p:nvSpPr>
        <p:spPr>
          <a:xfrm>
            <a:off x="3923928" y="2976464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1 1 1 0 1 0 1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6" name="文本框 6"/>
          <p:cNvSpPr txBox="1"/>
          <p:nvPr/>
        </p:nvSpPr>
        <p:spPr>
          <a:xfrm>
            <a:off x="6356960" y="2976464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8" name="文本框 6"/>
          <p:cNvSpPr txBox="1"/>
          <p:nvPr/>
        </p:nvSpPr>
        <p:spPr>
          <a:xfrm>
            <a:off x="7522404" y="3633927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0" name="文本框 6"/>
          <p:cNvSpPr txBox="1"/>
          <p:nvPr/>
        </p:nvSpPr>
        <p:spPr>
          <a:xfrm>
            <a:off x="3923928" y="4116858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1 1 1 0 1 0 1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69" name="直接连接符 68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0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移位指令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SAR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1" name="直接连接符 7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8" name="圆角矩形 27"/>
          <p:cNvSpPr/>
          <p:nvPr/>
        </p:nvSpPr>
        <p:spPr>
          <a:xfrm>
            <a:off x="3057908" y="4111206"/>
            <a:ext cx="432048" cy="507464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31" name="文本框 6"/>
          <p:cNvSpPr txBox="1"/>
          <p:nvPr/>
        </p:nvSpPr>
        <p:spPr>
          <a:xfrm>
            <a:off x="3096889" y="4111258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001825" y="5148132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7810436" y="5153784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33" name="TextBox 10"/>
          <p:cNvSpPr txBox="1">
            <a:spLocks noChangeArrowheads="1"/>
          </p:cNvSpPr>
          <p:nvPr/>
        </p:nvSpPr>
        <p:spPr bwMode="auto">
          <a:xfrm>
            <a:off x="827584" y="5142250"/>
            <a:ext cx="180020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SAR  AL, 1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文本框 6"/>
          <p:cNvSpPr txBox="1"/>
          <p:nvPr/>
        </p:nvSpPr>
        <p:spPr>
          <a:xfrm>
            <a:off x="6404856" y="5153784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3" name="文本框 6"/>
          <p:cNvSpPr txBox="1"/>
          <p:nvPr/>
        </p:nvSpPr>
        <p:spPr>
          <a:xfrm>
            <a:off x="7522404" y="4670853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4" name="文本框 6"/>
          <p:cNvSpPr txBox="1"/>
          <p:nvPr/>
        </p:nvSpPr>
        <p:spPr>
          <a:xfrm>
            <a:off x="3923928" y="5153784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1 1 1 1 0 1 0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3057908" y="5148132"/>
            <a:ext cx="432048" cy="507464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46" name="文本框 6"/>
          <p:cNvSpPr txBox="1"/>
          <p:nvPr/>
        </p:nvSpPr>
        <p:spPr>
          <a:xfrm>
            <a:off x="3096889" y="5148184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360481" y="6172620"/>
            <a:ext cx="5256585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EAH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的符号位为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，移位过程中保持符号位不变。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0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02461" y="5814781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10"/>
          <p:cNvSpPr txBox="1">
            <a:spLocks noChangeArrowheads="1"/>
          </p:cNvSpPr>
          <p:nvPr/>
        </p:nvSpPr>
        <p:spPr bwMode="auto">
          <a:xfrm>
            <a:off x="2360481" y="2447002"/>
            <a:ext cx="1800200" cy="4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符号位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4001825" y="1516684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 flipH="1">
            <a:off x="6516217" y="1770416"/>
            <a:ext cx="648071" cy="0"/>
          </a:xfrm>
          <a:prstGeom prst="straightConnector1">
            <a:avLst/>
          </a:prstGeom>
          <a:ln w="571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圆角矩形 62"/>
          <p:cNvSpPr/>
          <p:nvPr/>
        </p:nvSpPr>
        <p:spPr>
          <a:xfrm>
            <a:off x="7674804" y="1518581"/>
            <a:ext cx="432048" cy="507464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66" name="TextBox 10"/>
          <p:cNvSpPr txBox="1">
            <a:spLocks noChangeArrowheads="1"/>
          </p:cNvSpPr>
          <p:nvPr/>
        </p:nvSpPr>
        <p:spPr bwMode="auto">
          <a:xfrm>
            <a:off x="1004552" y="1500471"/>
            <a:ext cx="1800200" cy="61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32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SAR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文本框 6"/>
          <p:cNvSpPr txBox="1"/>
          <p:nvPr/>
        </p:nvSpPr>
        <p:spPr>
          <a:xfrm>
            <a:off x="7522404" y="1539833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4001825" y="1513938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>
            <a:stCxn id="68" idx="1"/>
          </p:cNvCxnSpPr>
          <p:nvPr/>
        </p:nvCxnSpPr>
        <p:spPr>
          <a:xfrm flipH="1">
            <a:off x="3851920" y="1767670"/>
            <a:ext cx="14990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851920" y="1767670"/>
            <a:ext cx="0" cy="4371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3851920" y="2204864"/>
            <a:ext cx="3659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4217849" y="2021402"/>
            <a:ext cx="0" cy="18346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H="1">
            <a:off x="4283968" y="1770416"/>
            <a:ext cx="1368362" cy="0"/>
          </a:xfrm>
          <a:prstGeom prst="straightConnector1">
            <a:avLst/>
          </a:prstGeom>
          <a:ln w="57150">
            <a:solidFill>
              <a:schemeClr val="bg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19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0.15955 3.33333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6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0.04097 0.0006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9" y="2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7.40741E-7 L 0.11545 -0.0002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07407E-6 L 0.15955 -4.07407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69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07407E-6 L 0.04097 0.0007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9" y="2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85185E-6 L 0.11545 -0.00023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0" grpId="0"/>
      <p:bldP spid="31" grpId="0"/>
      <p:bldP spid="27" grpId="0" animBg="1"/>
      <p:bldP spid="32" grpId="0" animBg="1"/>
      <p:bldP spid="33" grpId="0"/>
      <p:bldP spid="42" grpId="0"/>
      <p:bldP spid="42" grpId="1"/>
      <p:bldP spid="43" grpId="0"/>
      <p:bldP spid="44" grpId="0"/>
      <p:bldP spid="44" grpId="1"/>
      <p:bldP spid="45" grpId="0"/>
      <p:bldP spid="46" grpId="0"/>
      <p:bldP spid="46" grpId="1"/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圆角矩形 52"/>
          <p:cNvSpPr/>
          <p:nvPr/>
        </p:nvSpPr>
        <p:spPr>
          <a:xfrm>
            <a:off x="4001825" y="3535142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7810436" y="3540794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29" name="文本框 6"/>
          <p:cNvSpPr txBox="1"/>
          <p:nvPr/>
        </p:nvSpPr>
        <p:spPr>
          <a:xfrm>
            <a:off x="5020046" y="1881979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AL=6AH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001825" y="2386035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7810436" y="2386035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49" name="文本框 6"/>
          <p:cNvSpPr txBox="1"/>
          <p:nvPr/>
        </p:nvSpPr>
        <p:spPr>
          <a:xfrm>
            <a:off x="7522404" y="1881979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827584" y="3529260"/>
            <a:ext cx="180020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SAR  AL, 1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文本框 6"/>
          <p:cNvSpPr txBox="1"/>
          <p:nvPr/>
        </p:nvSpPr>
        <p:spPr>
          <a:xfrm>
            <a:off x="6404856" y="3540794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5" name="文本框 6"/>
          <p:cNvSpPr txBox="1"/>
          <p:nvPr/>
        </p:nvSpPr>
        <p:spPr>
          <a:xfrm>
            <a:off x="3923928" y="2403146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0 1 1 0 1 0 1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6" name="文本框 6"/>
          <p:cNvSpPr txBox="1"/>
          <p:nvPr/>
        </p:nvSpPr>
        <p:spPr>
          <a:xfrm>
            <a:off x="6356960" y="2403146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8" name="文本框 6"/>
          <p:cNvSpPr txBox="1"/>
          <p:nvPr/>
        </p:nvSpPr>
        <p:spPr>
          <a:xfrm>
            <a:off x="7522404" y="3057863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0" name="文本框 6"/>
          <p:cNvSpPr txBox="1"/>
          <p:nvPr/>
        </p:nvSpPr>
        <p:spPr>
          <a:xfrm>
            <a:off x="3923928" y="3540794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0 1 1 0 1 0 1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69" name="直接连接符 68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0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移位指令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SAR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1" name="直接连接符 7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8" name="圆角矩形 27"/>
          <p:cNvSpPr/>
          <p:nvPr/>
        </p:nvSpPr>
        <p:spPr>
          <a:xfrm>
            <a:off x="3057908" y="3535142"/>
            <a:ext cx="432048" cy="507464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31" name="文本框 6"/>
          <p:cNvSpPr txBox="1"/>
          <p:nvPr/>
        </p:nvSpPr>
        <p:spPr>
          <a:xfrm>
            <a:off x="3096889" y="3535194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001825" y="4572068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7810436" y="4577720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33" name="TextBox 10"/>
          <p:cNvSpPr txBox="1">
            <a:spLocks noChangeArrowheads="1"/>
          </p:cNvSpPr>
          <p:nvPr/>
        </p:nvSpPr>
        <p:spPr bwMode="auto">
          <a:xfrm>
            <a:off x="827584" y="4566186"/>
            <a:ext cx="180020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SAR  AL, 1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文本框 6"/>
          <p:cNvSpPr txBox="1"/>
          <p:nvPr/>
        </p:nvSpPr>
        <p:spPr>
          <a:xfrm>
            <a:off x="6404856" y="4577720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3" name="文本框 6"/>
          <p:cNvSpPr txBox="1"/>
          <p:nvPr/>
        </p:nvSpPr>
        <p:spPr>
          <a:xfrm>
            <a:off x="7522404" y="4094789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4" name="文本框 6"/>
          <p:cNvSpPr txBox="1"/>
          <p:nvPr/>
        </p:nvSpPr>
        <p:spPr>
          <a:xfrm>
            <a:off x="3923928" y="4577720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0 0 1 1 0 1 0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3057908" y="4572068"/>
            <a:ext cx="432048" cy="507464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46" name="文本框 6"/>
          <p:cNvSpPr txBox="1"/>
          <p:nvPr/>
        </p:nvSpPr>
        <p:spPr>
          <a:xfrm>
            <a:off x="3096889" y="4572120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339752" y="6021288"/>
            <a:ext cx="5398677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6AH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的符号位为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，移位过程中保持符号位不变。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0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02461" y="5665331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10"/>
          <p:cNvSpPr txBox="1">
            <a:spLocks noChangeArrowheads="1"/>
          </p:cNvSpPr>
          <p:nvPr/>
        </p:nvSpPr>
        <p:spPr bwMode="auto">
          <a:xfrm>
            <a:off x="2360481" y="1870938"/>
            <a:ext cx="1800200" cy="4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符号位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111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11111E-6 L 0.15955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6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11111E-6 L 0.04097 0.0006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9" y="2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11545 -0.0002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0.15955 3.7037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69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0.04097 0.0006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9" y="2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1.85185E-6 L 0.11545 -0.00023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0" grpId="0"/>
      <p:bldP spid="31" grpId="0"/>
      <p:bldP spid="27" grpId="0" animBg="1"/>
      <p:bldP spid="32" grpId="0" animBg="1"/>
      <p:bldP spid="33" grpId="0"/>
      <p:bldP spid="42" grpId="0"/>
      <p:bldP spid="42" grpId="1"/>
      <p:bldP spid="43" grpId="0"/>
      <p:bldP spid="44" grpId="0"/>
      <p:bldP spid="44" grpId="1"/>
      <p:bldP spid="45" grpId="0"/>
      <p:bldP spid="46" grpId="0"/>
      <p:bldP spid="46" grpId="1"/>
      <p:bldP spid="4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移位指令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4" name="矩形 13"/>
          <p:cNvSpPr>
            <a:spLocks noChangeAspect="1"/>
          </p:cNvSpPr>
          <p:nvPr/>
        </p:nvSpPr>
        <p:spPr>
          <a:xfrm>
            <a:off x="755576" y="1711242"/>
            <a:ext cx="7704856" cy="2293822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89004" y="1867381"/>
            <a:ext cx="1152129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9"/>
          <p:cNvSpPr txBox="1"/>
          <p:nvPr/>
        </p:nvSpPr>
        <p:spPr>
          <a:xfrm>
            <a:off x="930958" y="1892513"/>
            <a:ext cx="461665" cy="63533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7663" y="1894943"/>
            <a:ext cx="6579027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允许的操作数类型：通用寄存器、存储器。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对标志位的影响：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移出位送至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，按照移位后的结果置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复位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ZF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PF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移位位数超过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位，移位位数放到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0"/>
          <p:cNvSpPr txBox="1">
            <a:spLocks noChangeArrowheads="1"/>
          </p:cNvSpPr>
          <p:nvPr/>
        </p:nvSpPr>
        <p:spPr bwMode="auto">
          <a:xfrm>
            <a:off x="6372200" y="3196466"/>
            <a:ext cx="175449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SAR  AL,  2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4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14744" y="3166526"/>
            <a:ext cx="373680" cy="4784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2260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15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1884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逻辑运算指令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移位指令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循环移位指令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51415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逻辑和移位指令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930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94902" y="1340768"/>
            <a:ext cx="5909546" cy="1080120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循环移位指令是将操作数首尾相接进行移位，它分为不带进位和带进位循环移位。</a:t>
            </a:r>
          </a:p>
        </p:txBody>
      </p:sp>
      <p:sp>
        <p:nvSpPr>
          <p:cNvPr id="5" name="矩形 4"/>
          <p:cNvSpPr/>
          <p:nvPr/>
        </p:nvSpPr>
        <p:spPr>
          <a:xfrm>
            <a:off x="720080" y="1340768"/>
            <a:ext cx="1974822" cy="108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循环移位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循环移位指令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1" name="矩形 10"/>
          <p:cNvSpPr>
            <a:spLocks noChangeAspect="1"/>
          </p:cNvSpPr>
          <p:nvPr/>
        </p:nvSpPr>
        <p:spPr>
          <a:xfrm>
            <a:off x="755576" y="3727628"/>
            <a:ext cx="4032448" cy="1861611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899592" y="3859536"/>
            <a:ext cx="382139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ROL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：不带进位的循环左移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ROR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：不带进位的循环右移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RCL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：带进位的循环左移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RCR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：带进位的循环右移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/>
        </p:nvSpPr>
        <p:spPr>
          <a:xfrm>
            <a:off x="5220072" y="3727629"/>
            <a:ext cx="3384376" cy="1861610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7"/>
          <p:cNvSpPr txBox="1"/>
          <p:nvPr/>
        </p:nvSpPr>
        <p:spPr>
          <a:xfrm>
            <a:off x="5370295" y="3998252"/>
            <a:ext cx="3083929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指令格式（以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ROL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为例）：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ROL 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1</a:t>
            </a:r>
          </a:p>
          <a:p>
            <a:pPr>
              <a:lnSpc>
                <a:spcPct val="133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ROL 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CL</a:t>
            </a:r>
          </a:p>
        </p:txBody>
      </p:sp>
      <p:sp>
        <p:nvSpPr>
          <p:cNvPr id="15" name="矩形 14"/>
          <p:cNvSpPr/>
          <p:nvPr/>
        </p:nvSpPr>
        <p:spPr>
          <a:xfrm>
            <a:off x="1950443" y="6172620"/>
            <a:ext cx="496855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移位位数超过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位，</a:t>
            </a:r>
            <a:r>
              <a:rPr lang="zh-CN" altLang="en-US" b="1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必须把移位位数放到</a:t>
            </a:r>
            <a:r>
              <a:rPr lang="en-US" altLang="zh-CN" b="1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608" y="5740572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/>
        </p:nvSpPr>
        <p:spPr>
          <a:xfrm>
            <a:off x="2694902" y="2564904"/>
            <a:ext cx="5909546" cy="864096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带进位的循环移位相当于</a:t>
            </a:r>
            <a:r>
              <a:rPr lang="en-US" altLang="zh-CN" sz="2400" b="1" dirty="0">
                <a:ea typeface="微软雅黑" panose="020B0503020204020204" pitchFamily="34" charset="-122"/>
              </a:rPr>
              <a:t>9</a:t>
            </a:r>
            <a:r>
              <a:rPr lang="zh-CN" altLang="en-US" sz="2400" b="1" dirty="0">
                <a:ea typeface="微软雅黑" panose="020B0503020204020204" pitchFamily="34" charset="-122"/>
              </a:rPr>
              <a:t>位的循环移位。</a:t>
            </a:r>
          </a:p>
        </p:txBody>
      </p:sp>
      <p:sp>
        <p:nvSpPr>
          <p:cNvPr id="18" name="矩形 17"/>
          <p:cNvSpPr/>
          <p:nvPr/>
        </p:nvSpPr>
        <p:spPr>
          <a:xfrm>
            <a:off x="720080" y="2564904"/>
            <a:ext cx="1974822" cy="86409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带进位循环移位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821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循环移位指令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ROL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6" name="文本框 6"/>
          <p:cNvSpPr txBox="1"/>
          <p:nvPr/>
        </p:nvSpPr>
        <p:spPr>
          <a:xfrm>
            <a:off x="5020046" y="2492896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AL=6AH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4001825" y="2996952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3001526" y="2996952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69" name="文本框 6"/>
          <p:cNvSpPr txBox="1"/>
          <p:nvPr/>
        </p:nvSpPr>
        <p:spPr>
          <a:xfrm>
            <a:off x="2713494" y="2492896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73" name="文本框 6"/>
          <p:cNvSpPr txBox="1"/>
          <p:nvPr/>
        </p:nvSpPr>
        <p:spPr>
          <a:xfrm>
            <a:off x="4291916" y="3020310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1 1 0 1 0 1 0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74" name="文本框 6"/>
          <p:cNvSpPr txBox="1"/>
          <p:nvPr/>
        </p:nvSpPr>
        <p:spPr>
          <a:xfrm>
            <a:off x="4182938" y="3020310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4001825" y="1660700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H="1">
            <a:off x="4860032" y="1917883"/>
            <a:ext cx="1368362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6"/>
          <p:cNvSpPr txBox="1"/>
          <p:nvPr/>
        </p:nvSpPr>
        <p:spPr>
          <a:xfrm>
            <a:off x="2699792" y="1677385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93" name="TextBox 10"/>
          <p:cNvSpPr txBox="1">
            <a:spLocks noChangeArrowheads="1"/>
          </p:cNvSpPr>
          <p:nvPr/>
        </p:nvSpPr>
        <p:spPr bwMode="auto">
          <a:xfrm>
            <a:off x="1004552" y="1644487"/>
            <a:ext cx="1800200" cy="61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32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ROL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4001825" y="1655100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4001825" y="4146059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3001526" y="4151711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98" name="TextBox 10"/>
          <p:cNvSpPr txBox="1">
            <a:spLocks noChangeArrowheads="1"/>
          </p:cNvSpPr>
          <p:nvPr/>
        </p:nvSpPr>
        <p:spPr bwMode="auto">
          <a:xfrm>
            <a:off x="1051556" y="4140177"/>
            <a:ext cx="180020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ROL  AL, 1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文本框 6"/>
          <p:cNvSpPr txBox="1"/>
          <p:nvPr/>
        </p:nvSpPr>
        <p:spPr>
          <a:xfrm>
            <a:off x="4173330" y="4146111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00" name="文本框 6"/>
          <p:cNvSpPr txBox="1"/>
          <p:nvPr/>
        </p:nvSpPr>
        <p:spPr>
          <a:xfrm>
            <a:off x="2713494" y="3668780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02" name="文本框 6"/>
          <p:cNvSpPr txBox="1"/>
          <p:nvPr/>
        </p:nvSpPr>
        <p:spPr>
          <a:xfrm>
            <a:off x="4296925" y="4150395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1 1 0 1 0 1 0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03" name="文本框 6"/>
          <p:cNvSpPr txBox="1"/>
          <p:nvPr/>
        </p:nvSpPr>
        <p:spPr>
          <a:xfrm>
            <a:off x="4172608" y="4150395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91" name="直接箭头连接符 90"/>
          <p:cNvCxnSpPr/>
          <p:nvPr/>
        </p:nvCxnSpPr>
        <p:spPr>
          <a:xfrm flipH="1">
            <a:off x="3643845" y="1917883"/>
            <a:ext cx="648071" cy="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4213249" y="1412776"/>
            <a:ext cx="0" cy="2563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4206240" y="1407160"/>
            <a:ext cx="245399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 flipV="1">
            <a:off x="6643440" y="1405156"/>
            <a:ext cx="0" cy="263925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圆角矩形 117"/>
          <p:cNvSpPr/>
          <p:nvPr/>
        </p:nvSpPr>
        <p:spPr>
          <a:xfrm>
            <a:off x="4001825" y="5281212"/>
            <a:ext cx="295232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3001526" y="5286864"/>
            <a:ext cx="432048" cy="507464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120" name="TextBox 10"/>
          <p:cNvSpPr txBox="1">
            <a:spLocks noChangeArrowheads="1"/>
          </p:cNvSpPr>
          <p:nvPr/>
        </p:nvSpPr>
        <p:spPr bwMode="auto">
          <a:xfrm>
            <a:off x="1051556" y="5275330"/>
            <a:ext cx="180020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ROL  AL, 1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文本框 6"/>
          <p:cNvSpPr txBox="1"/>
          <p:nvPr/>
        </p:nvSpPr>
        <p:spPr>
          <a:xfrm>
            <a:off x="4173330" y="5284064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22" name="文本框 6"/>
          <p:cNvSpPr txBox="1"/>
          <p:nvPr/>
        </p:nvSpPr>
        <p:spPr>
          <a:xfrm>
            <a:off x="2713494" y="4803933"/>
            <a:ext cx="1008112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CF</a:t>
            </a:r>
            <a:endParaRPr lang="zh-CN" altLang="en-US" sz="1400" b="1" kern="1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23" name="文本框 6"/>
          <p:cNvSpPr txBox="1"/>
          <p:nvPr/>
        </p:nvSpPr>
        <p:spPr>
          <a:xfrm>
            <a:off x="4296925" y="5284064"/>
            <a:ext cx="2619190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1 0 1 0 1 0 0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24" name="文本框 6"/>
          <p:cNvSpPr txBox="1"/>
          <p:nvPr/>
        </p:nvSpPr>
        <p:spPr>
          <a:xfrm>
            <a:off x="4172608" y="5841236"/>
            <a:ext cx="327384" cy="39607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18000" tIns="3600" rIns="10800" bIns="3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endParaRPr lang="zh-CN" altLang="en-US" sz="1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035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3.33333E-6 L -0.12309 -3.33333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6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22222E-6 L -0.03368 0.0025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4" y="11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22222E-6 L 0.06597 -0.05486 C 0.07986 -0.06713 0.10052 -0.07361 0.12205 -0.07361 C 0.1467 -0.07361 0.16632 -0.06713 0.18021 -0.05486 L 0.24636 2.22222E-6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09" y="-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44444E-6 L -0.12309 4.44444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63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44444E-6 L -0.03368 0.0025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4" y="11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-0.08218 L 0.06563 -0.13704 C 0.07952 -0.14931 0.10018 -0.15579 0.1217 -0.15579 C 0.14636 -0.15579 0.16597 -0.14931 0.17986 -0.13704 L 0.24601 -0.08218 " pathEditMode="relative" rAng="0" ptsTypes="AAAAA">
                                      <p:cBhvr>
                                        <p:cTn id="18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09" y="-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2" grpId="0"/>
      <p:bldP spid="103" grpId="0"/>
      <p:bldP spid="121" grpId="0"/>
      <p:bldP spid="123" grpId="0"/>
      <p:bldP spid="1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79712" y="2745963"/>
            <a:ext cx="6048882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指令形式上只有一个操作数，不影响任何标志位。</a:t>
            </a:r>
          </a:p>
        </p:txBody>
      </p:sp>
      <p:sp>
        <p:nvSpPr>
          <p:cNvPr id="3" name="矩形 2"/>
          <p:cNvSpPr/>
          <p:nvPr/>
        </p:nvSpPr>
        <p:spPr>
          <a:xfrm>
            <a:off x="1979712" y="3877287"/>
            <a:ext cx="6048883" cy="873661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指令的使用方法相同，对标志位的影响也相同：移出位给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CF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；根据结果改变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SF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ZF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PF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79500" y="1628800"/>
            <a:ext cx="6048883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XOR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根据运算结果改变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SF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ZF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PF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83512" y="1628800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83512" y="2745962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83512" y="3877286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逻辑和移位指令小结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3971118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79712" y="2745963"/>
            <a:ext cx="6048882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位，可视为分别将无符号数和带符号数除以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；使用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SHL/SAL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位，可视为将数值乘以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1979500" y="1628800"/>
            <a:ext cx="6048883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的使用方法相同，对标志位的影响相同：移出位给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CF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83512" y="1628800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83512" y="2745962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5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逻辑和移位指令小结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3" name="矩形 12"/>
          <p:cNvSpPr/>
          <p:nvPr/>
        </p:nvSpPr>
        <p:spPr>
          <a:xfrm>
            <a:off x="1950443" y="6172620"/>
            <a:ext cx="4968553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移位指令对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的影响，参考书上解释。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608" y="5740572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69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20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1884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串处理指令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串重复前缀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设置方向标志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串操作指令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811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86205" y="764704"/>
            <a:ext cx="7430211" cy="2952328"/>
            <a:chOff x="1846734" y="1456184"/>
            <a:chExt cx="9937104" cy="3904659"/>
          </a:xfrm>
        </p:grpSpPr>
        <p:sp>
          <p:nvSpPr>
            <p:cNvPr id="3" name="矩形 2"/>
            <p:cNvSpPr/>
            <p:nvPr/>
          </p:nvSpPr>
          <p:spPr>
            <a:xfrm>
              <a:off x="1846734" y="1512424"/>
              <a:ext cx="9937104" cy="3848419"/>
            </a:xfrm>
            <a:prstGeom prst="rect">
              <a:avLst/>
            </a:prstGeom>
            <a:ln>
              <a:solidFill>
                <a:srgbClr val="7BC143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7BC143"/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4" name="Picture 8" descr="C:\Documents and Settings\tdz\桌面\绿色箭头标签01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7109" y="1456184"/>
              <a:ext cx="10033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10" descr="C:\Documents and Settings\tdz\Local Settings\Temp\SoEasy\2ED57B32DAFDACEEB44B8E85F3D00E28.png"/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455100" y="4367129"/>
              <a:ext cx="1184721" cy="993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30"/>
            <p:cNvSpPr txBox="1"/>
            <p:nvPr/>
          </p:nvSpPr>
          <p:spPr>
            <a:xfrm>
              <a:off x="10702950" y="1550372"/>
              <a:ext cx="658589" cy="104863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问题</a:t>
              </a:r>
            </a:p>
          </p:txBody>
        </p:sp>
      </p:grpSp>
      <p:sp>
        <p:nvSpPr>
          <p:cNvPr id="7" name="TextBox 32"/>
          <p:cNvSpPr txBox="1"/>
          <p:nvPr/>
        </p:nvSpPr>
        <p:spPr>
          <a:xfrm>
            <a:off x="1187624" y="1044546"/>
            <a:ext cx="2160240" cy="116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编程中常用到数组、矢量的复制、比较和搜索。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>
            <a:spLocks noChangeAspect="1"/>
          </p:cNvSpPr>
          <p:nvPr/>
        </p:nvSpPr>
        <p:spPr>
          <a:xfrm>
            <a:off x="886205" y="4077071"/>
            <a:ext cx="7430211" cy="1800201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97280" y="4495671"/>
            <a:ext cx="1656184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19"/>
          <p:cNvSpPr txBox="1"/>
          <p:nvPr/>
        </p:nvSpPr>
        <p:spPr>
          <a:xfrm>
            <a:off x="1191259" y="4124761"/>
            <a:ext cx="461665" cy="135663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要解决问题</a:t>
            </a:r>
          </a:p>
        </p:txBody>
      </p:sp>
      <p:sp>
        <p:nvSpPr>
          <p:cNvPr id="23" name="TextBox 17"/>
          <p:cNvSpPr txBox="1"/>
          <p:nvPr/>
        </p:nvSpPr>
        <p:spPr>
          <a:xfrm>
            <a:off x="1969421" y="4149080"/>
            <a:ext cx="615750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连续的存储单元可看做是矢量、数组；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数组首地址、数组长度；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数组的索引，以及从首地址到尾、还是从尾到首；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重复操作（高级语言用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循环）。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5" name="Picture 3" descr="E:\仝德志文件，勿删！\03-参考文档\！PPT图片及版面资源\06-PPT精选插图\06-问号\锐普论坛实用商务PPT图片-疑问感慨 (18)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570"/>
          <a:stretch/>
        </p:blipFill>
        <p:spPr bwMode="auto">
          <a:xfrm>
            <a:off x="3851920" y="908720"/>
            <a:ext cx="3144516" cy="2664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32"/>
          <p:cNvSpPr txBox="1"/>
          <p:nvPr/>
        </p:nvSpPr>
        <p:spPr>
          <a:xfrm>
            <a:off x="1187624" y="2636912"/>
            <a:ext cx="2160240" cy="79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如何用汇编指令实现？会不会很复杂？</a:t>
            </a:r>
          </a:p>
        </p:txBody>
      </p:sp>
    </p:spTree>
    <p:extLst>
      <p:ext uri="{BB962C8B-B14F-4D97-AF65-F5344CB8AC3E}">
        <p14:creationId xmlns:p14="http://schemas.microsoft.com/office/powerpoint/2010/main" val="124845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900727" y="550240"/>
            <a:ext cx="3468914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串操作的概念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/>
              <a:ea typeface="微软雅黑" pitchFamily="34" charset="-122"/>
              <a:cs typeface="Arial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96442" y="2779461"/>
            <a:ext cx="1476377" cy="581099"/>
            <a:chOff x="244645" y="3186673"/>
            <a:chExt cx="3528392" cy="581099"/>
          </a:xfrm>
          <a:solidFill>
            <a:srgbClr val="FF9300"/>
          </a:solidFill>
        </p:grpSpPr>
        <p:sp>
          <p:nvSpPr>
            <p:cNvPr id="5" name="圆角矩形 4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串操作指令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444826" y="2779461"/>
            <a:ext cx="5923699" cy="581099"/>
            <a:chOff x="244645" y="3186673"/>
            <a:chExt cx="6548882" cy="581099"/>
          </a:xfrm>
          <a:solidFill>
            <a:srgbClr val="1D8DE5"/>
          </a:solidFill>
        </p:grpSpPr>
        <p:sp>
          <p:nvSpPr>
            <p:cNvPr id="8" name="圆角矩形 7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317994" y="3266487"/>
              <a:ext cx="6475533" cy="4524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对串元素实现传送、比较、检索、装入、存储等操作。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96442" y="2109791"/>
            <a:ext cx="1476377" cy="581099"/>
            <a:chOff x="244645" y="3186673"/>
            <a:chExt cx="3528392" cy="581099"/>
          </a:xfrm>
          <a:solidFill>
            <a:srgbClr val="FF9300"/>
          </a:solidFill>
        </p:grpSpPr>
        <p:sp>
          <p:nvSpPr>
            <p:cNvPr id="11" name="圆角矩形 10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2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串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444826" y="2109791"/>
            <a:ext cx="5923699" cy="581099"/>
            <a:chOff x="244645" y="3186673"/>
            <a:chExt cx="6548882" cy="581099"/>
          </a:xfrm>
          <a:solidFill>
            <a:srgbClr val="1D8DE5"/>
          </a:solidFill>
        </p:grpSpPr>
        <p:sp>
          <p:nvSpPr>
            <p:cNvPr id="14" name="圆角矩形 13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5" name="TextBox 6"/>
            <p:cNvSpPr txBox="1"/>
            <p:nvPr/>
          </p:nvSpPr>
          <p:spPr>
            <a:xfrm>
              <a:off x="317994" y="3266487"/>
              <a:ext cx="6475533" cy="41735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地址连续的字节或字存储单元，通常存放同类数据。</a:t>
              </a:r>
            </a:p>
          </p:txBody>
        </p:sp>
      </p:grpSp>
      <p:sp>
        <p:nvSpPr>
          <p:cNvPr id="24" name="矩形 23"/>
          <p:cNvSpPr/>
          <p:nvPr/>
        </p:nvSpPr>
        <p:spPr>
          <a:xfrm>
            <a:off x="683568" y="1916832"/>
            <a:ext cx="7883333" cy="3024336"/>
          </a:xfrm>
          <a:prstGeom prst="rect">
            <a:avLst/>
          </a:prstGeom>
          <a:ln>
            <a:solidFill>
              <a:schemeClr val="accent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Picture 2" descr="F:\TDZ临时\其他备用\！PPT图片及版面资源\06-PPT精选插图\04-图标\右边角-黄1.png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7502629" y="1861661"/>
            <a:ext cx="1155750" cy="115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33"/>
          <p:cNvSpPr txBox="1"/>
          <p:nvPr/>
        </p:nvSpPr>
        <p:spPr>
          <a:xfrm rot="2738231">
            <a:off x="7901557" y="21056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概念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896442" y="3475026"/>
            <a:ext cx="1476377" cy="581099"/>
            <a:chOff x="244645" y="3186673"/>
            <a:chExt cx="3528392" cy="581099"/>
          </a:xfrm>
          <a:solidFill>
            <a:srgbClr val="FF9300"/>
          </a:solidFill>
        </p:grpSpPr>
        <p:sp>
          <p:nvSpPr>
            <p:cNvPr id="28" name="圆角矩形 27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9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重复前缀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444826" y="3475026"/>
            <a:ext cx="5923699" cy="581099"/>
            <a:chOff x="244645" y="3186673"/>
            <a:chExt cx="6548882" cy="581099"/>
          </a:xfrm>
          <a:solidFill>
            <a:srgbClr val="1D8DE5"/>
          </a:solidFill>
        </p:grpSpPr>
        <p:sp>
          <p:nvSpPr>
            <p:cNvPr id="31" name="圆角矩形 30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2" name="TextBox 6"/>
            <p:cNvSpPr txBox="1"/>
            <p:nvPr/>
          </p:nvSpPr>
          <p:spPr>
            <a:xfrm>
              <a:off x="317994" y="3266487"/>
              <a:ext cx="6475533" cy="4524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加在串操作指令前，根据条件判断是否重复执行串操作。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96442" y="4149905"/>
            <a:ext cx="1476377" cy="581099"/>
            <a:chOff x="244645" y="3186673"/>
            <a:chExt cx="3528392" cy="581099"/>
          </a:xfrm>
          <a:solidFill>
            <a:srgbClr val="FF9300"/>
          </a:solidFill>
        </p:grpSpPr>
        <p:sp>
          <p:nvSpPr>
            <p:cNvPr id="34" name="圆角矩形 33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5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串操作方向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444826" y="4149905"/>
            <a:ext cx="5923699" cy="581099"/>
            <a:chOff x="244645" y="3186673"/>
            <a:chExt cx="6548882" cy="581099"/>
          </a:xfrm>
          <a:solidFill>
            <a:srgbClr val="1D8DE5"/>
          </a:solidFill>
        </p:grpSpPr>
        <p:sp>
          <p:nvSpPr>
            <p:cNvPr id="37" name="圆角矩形 36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8" name="TextBox 6"/>
            <p:cNvSpPr txBox="1"/>
            <p:nvPr/>
          </p:nvSpPr>
          <p:spPr>
            <a:xfrm>
              <a:off x="317994" y="3266487"/>
              <a:ext cx="6475533" cy="4524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串操作可从高地址到低地址，也可从地地址到高地址。</a:t>
              </a:r>
            </a:p>
          </p:txBody>
        </p:sp>
      </p:grpSp>
      <p:cxnSp>
        <p:nvCxnSpPr>
          <p:cNvPr id="53" name="直接连接符 5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6" name="云形标注 55"/>
          <p:cNvSpPr/>
          <p:nvPr/>
        </p:nvSpPr>
        <p:spPr>
          <a:xfrm>
            <a:off x="3707904" y="4104575"/>
            <a:ext cx="2378823" cy="805230"/>
          </a:xfrm>
          <a:prstGeom prst="cloudCallout">
            <a:avLst>
              <a:gd name="adj1" fmla="val -70091"/>
              <a:gd name="adj2" fmla="val -4946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准备工作</a:t>
            </a:r>
          </a:p>
        </p:txBody>
      </p:sp>
      <p:sp>
        <p:nvSpPr>
          <p:cNvPr id="57" name="云形标注 56"/>
          <p:cNvSpPr/>
          <p:nvPr/>
        </p:nvSpPr>
        <p:spPr>
          <a:xfrm>
            <a:off x="3900191" y="2674498"/>
            <a:ext cx="2616025" cy="805230"/>
          </a:xfrm>
          <a:prstGeom prst="cloudCallout">
            <a:avLst>
              <a:gd name="adj1" fmla="val -73541"/>
              <a:gd name="adj2" fmla="val 5245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功能性动作</a:t>
            </a:r>
          </a:p>
        </p:txBody>
      </p:sp>
      <p:sp>
        <p:nvSpPr>
          <p:cNvPr id="58" name="云形标注 57"/>
          <p:cNvSpPr/>
          <p:nvPr/>
        </p:nvSpPr>
        <p:spPr>
          <a:xfrm>
            <a:off x="5664794" y="3285504"/>
            <a:ext cx="2616025" cy="805230"/>
          </a:xfrm>
          <a:prstGeom prst="cloudCallout">
            <a:avLst>
              <a:gd name="adj1" fmla="val -73541"/>
              <a:gd name="adj2" fmla="val 5245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重复串操作</a:t>
            </a:r>
          </a:p>
        </p:txBody>
      </p:sp>
      <p:sp>
        <p:nvSpPr>
          <p:cNvPr id="59" name="矩形 58"/>
          <p:cNvSpPr/>
          <p:nvPr/>
        </p:nvSpPr>
        <p:spPr>
          <a:xfrm>
            <a:off x="1979711" y="5840222"/>
            <a:ext cx="4968553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串操作指令类似高级语言中的向量、数组操作，可有效加快数据处理速度，且指令简洁。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0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608" y="5740572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40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  <p:bldP spid="5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79500" y="1575038"/>
            <a:ext cx="6912980" cy="1039262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默认源串地址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，目标串地址固定在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。串长度放在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CX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。因此，必须预先设定源串、目标串地址、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CX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5" y="1575038"/>
            <a:ext cx="1511956" cy="103926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Impact" panose="020B0806030902050204" pitchFamily="34" charset="0"/>
                <a:ea typeface="微软雅黑" panose="020B0503020204020204" pitchFamily="34" charset="-122"/>
              </a:rPr>
              <a:t>隐含寻址</a:t>
            </a: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串操作指令的特点</a:t>
            </a: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1979500" y="2990500"/>
            <a:ext cx="6912980" cy="1039262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标志寄存器中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决定指针修改方向：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 =0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，指针加；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DF=1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，指针减。修改量由串类型决定，字节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±1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，字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±2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7545" y="2990500"/>
            <a:ext cx="1511956" cy="103926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Impact" panose="020B0806030902050204" pitchFamily="34" charset="0"/>
                <a:ea typeface="微软雅黑" panose="020B0503020204020204" pitchFamily="34" charset="-122"/>
              </a:rPr>
              <a:t>指针修改</a:t>
            </a:r>
          </a:p>
        </p:txBody>
      </p:sp>
      <p:sp>
        <p:nvSpPr>
          <p:cNvPr id="16" name="矩形 15"/>
          <p:cNvSpPr/>
          <p:nvPr/>
        </p:nvSpPr>
        <p:spPr>
          <a:xfrm>
            <a:off x="1976197" y="4405962"/>
            <a:ext cx="6912980" cy="1039262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为加快串操作，加重复前缀时，固定使用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CX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计录并修改重复次数，再根据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CX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值及标志位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ZF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判断是否重复进行串操作。</a:t>
            </a:r>
          </a:p>
        </p:txBody>
      </p:sp>
      <p:sp>
        <p:nvSpPr>
          <p:cNvPr id="17" name="矩形 16"/>
          <p:cNvSpPr/>
          <p:nvPr/>
        </p:nvSpPr>
        <p:spPr>
          <a:xfrm>
            <a:off x="464242" y="4405962"/>
            <a:ext cx="1511956" cy="103926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Impact" panose="020B0806030902050204" pitchFamily="34" charset="0"/>
                <a:ea typeface="微软雅黑" panose="020B0503020204020204" pitchFamily="34" charset="-122"/>
              </a:rPr>
              <a:t>计数器</a:t>
            </a:r>
          </a:p>
        </p:txBody>
      </p:sp>
      <p:sp>
        <p:nvSpPr>
          <p:cNvPr id="18" name="矩形 17"/>
          <p:cNvSpPr/>
          <p:nvPr/>
        </p:nvSpPr>
        <p:spPr>
          <a:xfrm>
            <a:off x="971600" y="6144215"/>
            <a:ext cx="6340219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对比高级语言，是不是与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循环处理矢量和数组的思路类似？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772" y="576861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45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50190" y="2222024"/>
            <a:ext cx="2433978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68137" y="2222024"/>
            <a:ext cx="2779725" cy="3116492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386494" y="2222024"/>
            <a:ext cx="2203661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68138" y="1124744"/>
            <a:ext cx="8022017" cy="78779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串操作指令分类</a:t>
            </a:r>
          </a:p>
        </p:txBody>
      </p:sp>
      <p:sp>
        <p:nvSpPr>
          <p:cNvPr id="7" name="任意多边形 6"/>
          <p:cNvSpPr/>
          <p:nvPr/>
        </p:nvSpPr>
        <p:spPr>
          <a:xfrm>
            <a:off x="568138" y="2854787"/>
            <a:ext cx="2779725" cy="248372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MOVSB/MOVSW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STOSB/STOSW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LODSB/LODSW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CMPSB/CMPSW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SCASB/SCASW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3650190" y="2854787"/>
            <a:ext cx="2433978" cy="248372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REPE/REPZ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REPNE/REPNZ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6386494" y="2854786"/>
            <a:ext cx="2203661" cy="2483729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CLD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8137" y="2368479"/>
            <a:ext cx="2779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串处理指令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650188" y="2368479"/>
            <a:ext cx="24339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串重复前缀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386493" y="2368479"/>
            <a:ext cx="2203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设置方向标志</a:t>
            </a:r>
          </a:p>
        </p:txBody>
      </p:sp>
    </p:spTree>
    <p:extLst>
      <p:ext uri="{BB962C8B-B14F-4D97-AF65-F5344CB8AC3E}">
        <p14:creationId xmlns:p14="http://schemas.microsoft.com/office/powerpoint/2010/main" val="513517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855703" y="1591516"/>
            <a:ext cx="7316697" cy="219752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MOVSB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MOVSW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：字节传送、字传送。执行操作：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[DS:SI] 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 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[ES:DI]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，将源串的值传送到相应的目标串单元中，同时修改指针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DF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的设置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清零，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STD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重复前缀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REP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：串操作指令执行后，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CX=CX-1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，判断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是否为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，不是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，继续执行串操作指令；否则执行下一条指令。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1484784"/>
            <a:ext cx="7776442" cy="2346982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串传送指令</a:t>
            </a:r>
          </a:p>
        </p:txBody>
      </p:sp>
      <p:sp>
        <p:nvSpPr>
          <p:cNvPr id="18" name="矩形 17"/>
          <p:cNvSpPr>
            <a:spLocks noChangeAspect="1"/>
          </p:cNvSpPr>
          <p:nvPr/>
        </p:nvSpPr>
        <p:spPr>
          <a:xfrm>
            <a:off x="683568" y="4130590"/>
            <a:ext cx="7776442" cy="1820202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696707" y="4207950"/>
            <a:ext cx="893766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900274" y="4196769"/>
            <a:ext cx="461665" cy="9412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1619250" y="4149080"/>
            <a:ext cx="6769174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修改指针：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SI=SI±1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MOVSB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）或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±2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MOVSW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），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              DI=SI±1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MOVSB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）或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±2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MOVSW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REP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不能单独使用，必须配合串操作指令。格式：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REP MOVSB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REP MOVSW</a:t>
            </a:r>
          </a:p>
        </p:txBody>
      </p:sp>
    </p:spTree>
    <p:extLst>
      <p:ext uri="{BB962C8B-B14F-4D97-AF65-F5344CB8AC3E}">
        <p14:creationId xmlns:p14="http://schemas.microsoft.com/office/powerpoint/2010/main" val="2135097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611382" y="1513948"/>
            <a:ext cx="3964385" cy="31724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已设定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ES=DS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。字串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ARRAY1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，有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个字，它的尾部与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ARRAY2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的首部有部分交叠。如何把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ARRAY1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复制到以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ARRAY2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开始的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个字节中。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7" name="矩形 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719784" y="1354218"/>
            <a:ext cx="0" cy="3730966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3"/>
          <p:cNvSpPr>
            <a:spLocks noChangeArrowheads="1"/>
          </p:cNvSpPr>
          <p:nvPr/>
        </p:nvSpPr>
        <p:spPr bwMode="auto">
          <a:xfrm>
            <a:off x="4990761" y="1441940"/>
            <a:ext cx="3389949" cy="342722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CX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10H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LEA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SI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ARRAY1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SI, 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1EH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LEA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DI, 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ARRAY2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DI, 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1EH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STD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REP MOVSW</a:t>
            </a:r>
            <a:endParaRPr lang="en-US" altLang="zh-CN" sz="2400" b="1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云形标注 29"/>
          <p:cNvSpPr/>
          <p:nvPr/>
        </p:nvSpPr>
        <p:spPr>
          <a:xfrm>
            <a:off x="7434180" y="1445213"/>
            <a:ext cx="1701182" cy="601330"/>
          </a:xfrm>
          <a:prstGeom prst="cloudCallout">
            <a:avLst>
              <a:gd name="adj1" fmla="val -70091"/>
              <a:gd name="adj2" fmla="val -4946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串长度</a:t>
            </a:r>
          </a:p>
        </p:txBody>
      </p:sp>
      <p:sp>
        <p:nvSpPr>
          <p:cNvPr id="31" name="云形标注 30"/>
          <p:cNvSpPr/>
          <p:nvPr/>
        </p:nvSpPr>
        <p:spPr>
          <a:xfrm>
            <a:off x="6085620" y="2597508"/>
            <a:ext cx="1701182" cy="558042"/>
          </a:xfrm>
          <a:prstGeom prst="cloudCallout">
            <a:avLst>
              <a:gd name="adj1" fmla="val -70091"/>
              <a:gd name="adj2" fmla="val -4946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串地址</a:t>
            </a:r>
          </a:p>
        </p:txBody>
      </p:sp>
      <p:sp>
        <p:nvSpPr>
          <p:cNvPr id="32" name="云形标注 31"/>
          <p:cNvSpPr/>
          <p:nvPr/>
        </p:nvSpPr>
        <p:spPr>
          <a:xfrm>
            <a:off x="6084168" y="3750198"/>
            <a:ext cx="1701182" cy="601330"/>
          </a:xfrm>
          <a:prstGeom prst="cloudCallout">
            <a:avLst>
              <a:gd name="adj1" fmla="val -70091"/>
              <a:gd name="adj2" fmla="val -4946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串方向</a:t>
            </a:r>
          </a:p>
        </p:txBody>
      </p:sp>
    </p:spTree>
    <p:extLst>
      <p:ext uri="{BB962C8B-B14F-4D97-AF65-F5344CB8AC3E}">
        <p14:creationId xmlns:p14="http://schemas.microsoft.com/office/powerpoint/2010/main" val="138083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1165468" y="1839944"/>
            <a:ext cx="6884649" cy="325012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CMPSB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CMPSW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：用串源中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DS:SI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所指的串元素值减去目标串中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ES:DI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所指的串元素值，结果反映在标志位上；自动修改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SI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DI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重复前缀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REPZ/REPE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：串操作指令执行后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CX=CX-1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，如果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CX≠0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且结果相等（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ZF=1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），则继续执行该串操作指令；否则顺序执行下一条指令。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格式：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REPE CMPSB 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REPE CMPSW</a:t>
            </a:r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串比较指令</a:t>
            </a:r>
          </a:p>
        </p:txBody>
      </p:sp>
      <p:sp>
        <p:nvSpPr>
          <p:cNvPr id="10" name="矩形 9"/>
          <p:cNvSpPr/>
          <p:nvPr/>
        </p:nvSpPr>
        <p:spPr>
          <a:xfrm>
            <a:off x="2051720" y="6144215"/>
            <a:ext cx="4968552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REPZ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REPE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完全等价，哪个容易记忆用哪个。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16891" y="576861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48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119384" y="2276872"/>
            <a:ext cx="2808490" cy="163237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字节串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STR1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STR2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，有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个字节。比较它们是否相等。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7" name="矩形 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719784" y="1354218"/>
            <a:ext cx="0" cy="3730966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3"/>
          <p:cNvSpPr>
            <a:spLocks noChangeArrowheads="1"/>
          </p:cNvSpPr>
          <p:nvPr/>
        </p:nvSpPr>
        <p:spPr bwMode="auto">
          <a:xfrm>
            <a:off x="5236239" y="1745878"/>
            <a:ext cx="3389949" cy="342722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20	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LEA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SI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STR1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LEA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DI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STR2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CLD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REPE CMPSB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JNE  DIFF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SAME: ……</a:t>
            </a:r>
          </a:p>
        </p:txBody>
      </p:sp>
    </p:spTree>
    <p:extLst>
      <p:ext uri="{BB962C8B-B14F-4D97-AF65-F5344CB8AC3E}">
        <p14:creationId xmlns:p14="http://schemas.microsoft.com/office/powerpoint/2010/main" val="316783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1165468" y="1839944"/>
            <a:ext cx="6884649" cy="325012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SCASB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SCASW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（字节串）或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（字串）的值减去目标串中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ES:DI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所指的串元素值，结果反映在标志位上；然后自动修改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DI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重复前缀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REPNZ/REPNE 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：串操作指令执行后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CX=CX-1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，如果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CX≠0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且结果不相等（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ZF=0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），则继续执行该串操作指令；否则顺序执行下一条指令。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格式：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REPNE SCASB 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REPNE SCASW</a:t>
            </a:r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串检索指令</a:t>
            </a:r>
          </a:p>
        </p:txBody>
      </p:sp>
      <p:sp>
        <p:nvSpPr>
          <p:cNvPr id="10" name="矩形 9"/>
          <p:cNvSpPr/>
          <p:nvPr/>
        </p:nvSpPr>
        <p:spPr>
          <a:xfrm>
            <a:off x="2051720" y="6144215"/>
            <a:ext cx="547303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REPNZ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REPNE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完全等价，哪个容易记忆用哪个。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16891" y="576861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94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119384" y="2276872"/>
            <a:ext cx="2808490" cy="157729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字节串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STR2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个字节，检索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STR2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中有无字符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'$'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7" name="矩形 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719784" y="1354218"/>
            <a:ext cx="0" cy="3730966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3"/>
          <p:cNvSpPr>
            <a:spLocks noChangeArrowheads="1"/>
          </p:cNvSpPr>
          <p:nvPr/>
        </p:nvSpPr>
        <p:spPr bwMode="auto">
          <a:xfrm>
            <a:off x="5236239" y="1745878"/>
            <a:ext cx="3389949" cy="342722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30	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LEA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DI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STR2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AL,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'$'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CLD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REPNE SCASB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JE  FND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NOFND: ……</a:t>
            </a:r>
          </a:p>
        </p:txBody>
      </p:sp>
    </p:spTree>
    <p:extLst>
      <p:ext uri="{BB962C8B-B14F-4D97-AF65-F5344CB8AC3E}">
        <p14:creationId xmlns:p14="http://schemas.microsoft.com/office/powerpoint/2010/main" val="1193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855703" y="1664305"/>
            <a:ext cx="7316697" cy="184665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LODSB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LODSW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：将源串中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DS:SI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所指的串元素复制到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（字节串）或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（字串）中；然后自动修改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SI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STOSB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STOSW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：将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（字节串）或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（字串）的值复制到目标串中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ES:DI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所指的单元处；然后自动修改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DI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。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1484784"/>
            <a:ext cx="7776442" cy="2201611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串装入和串存储指令</a:t>
            </a:r>
          </a:p>
        </p:txBody>
      </p:sp>
      <p:sp>
        <p:nvSpPr>
          <p:cNvPr id="18" name="矩形 17"/>
          <p:cNvSpPr>
            <a:spLocks noChangeAspect="1"/>
          </p:cNvSpPr>
          <p:nvPr/>
        </p:nvSpPr>
        <p:spPr>
          <a:xfrm>
            <a:off x="683568" y="4058581"/>
            <a:ext cx="7776442" cy="1820202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85064" y="4247583"/>
            <a:ext cx="1117052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900274" y="4124760"/>
            <a:ext cx="461665" cy="117644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1619250" y="4077071"/>
            <a:ext cx="6769174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LODSB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LODSW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实际上是目标串固定为累加器的串传送指令，一般不使用重复前缀！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STOSB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STOSW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实际上是源串固定为累加器的串传送指令，该指令可加重复前缀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REP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966402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907306" y="1268760"/>
            <a:ext cx="3664693" cy="60567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写出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LODSB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的等价指令。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907306" y="1121909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07306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415130" y="620688"/>
            <a:ext cx="6613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7" name="矩形 6"/>
          <p:cNvSpPr/>
          <p:nvPr/>
        </p:nvSpPr>
        <p:spPr>
          <a:xfrm>
            <a:off x="8180114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07306" y="631563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1267346" y="2492896"/>
            <a:ext cx="2512566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INC SI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719784" y="1181038"/>
            <a:ext cx="0" cy="4768242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4867570" y="1275102"/>
            <a:ext cx="3560605" cy="60567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写出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STOSB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的等价指令。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900773" y="3898521"/>
            <a:ext cx="3664693" cy="111902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把从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ES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段中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A000H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开始的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2KB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内存单元清零。</a:t>
            </a:r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907306" y="3429000"/>
            <a:ext cx="7520869" cy="0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1267346" y="2023375"/>
            <a:ext cx="249071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[SI]</a:t>
            </a:r>
          </a:p>
        </p:txBody>
      </p:sp>
      <p:sp>
        <p:nvSpPr>
          <p:cNvPr id="24" name="矩形 3"/>
          <p:cNvSpPr>
            <a:spLocks noChangeArrowheads="1"/>
          </p:cNvSpPr>
          <p:nvPr/>
        </p:nvSpPr>
        <p:spPr bwMode="auto">
          <a:xfrm>
            <a:off x="5487545" y="2467621"/>
            <a:ext cx="2512566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INC DI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3"/>
          <p:cNvSpPr>
            <a:spLocks noChangeArrowheads="1"/>
          </p:cNvSpPr>
          <p:nvPr/>
        </p:nvSpPr>
        <p:spPr bwMode="auto">
          <a:xfrm>
            <a:off x="5487545" y="1998100"/>
            <a:ext cx="3095055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ES:[DI], AL</a:t>
            </a:r>
          </a:p>
        </p:txBody>
      </p:sp>
      <p:sp>
        <p:nvSpPr>
          <p:cNvPr id="28" name="矩形 3"/>
          <p:cNvSpPr>
            <a:spLocks noChangeArrowheads="1"/>
          </p:cNvSpPr>
          <p:nvPr/>
        </p:nvSpPr>
        <p:spPr bwMode="auto">
          <a:xfrm>
            <a:off x="5487545" y="3970529"/>
            <a:ext cx="2512566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XOR AX, AX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3"/>
          <p:cNvSpPr>
            <a:spLocks noChangeArrowheads="1"/>
          </p:cNvSpPr>
          <p:nvPr/>
        </p:nvSpPr>
        <p:spPr bwMode="auto">
          <a:xfrm>
            <a:off x="5487545" y="3501008"/>
            <a:ext cx="3095055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DI, A000H</a:t>
            </a:r>
          </a:p>
        </p:txBody>
      </p:sp>
      <p:sp>
        <p:nvSpPr>
          <p:cNvPr id="30" name="矩形 3"/>
          <p:cNvSpPr>
            <a:spLocks noChangeArrowheads="1"/>
          </p:cNvSpPr>
          <p:nvPr/>
        </p:nvSpPr>
        <p:spPr bwMode="auto">
          <a:xfrm>
            <a:off x="5487545" y="4513921"/>
            <a:ext cx="3095055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CX, 1024</a:t>
            </a:r>
          </a:p>
        </p:txBody>
      </p:sp>
      <p:sp>
        <p:nvSpPr>
          <p:cNvPr id="31" name="矩形 3"/>
          <p:cNvSpPr>
            <a:spLocks noChangeArrowheads="1"/>
          </p:cNvSpPr>
          <p:nvPr/>
        </p:nvSpPr>
        <p:spPr bwMode="auto">
          <a:xfrm>
            <a:off x="5487545" y="5008795"/>
            <a:ext cx="3095055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CLD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3"/>
          <p:cNvSpPr>
            <a:spLocks noChangeArrowheads="1"/>
          </p:cNvSpPr>
          <p:nvPr/>
        </p:nvSpPr>
        <p:spPr bwMode="auto">
          <a:xfrm>
            <a:off x="5487545" y="5552187"/>
            <a:ext cx="3095055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REP STOSW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304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24" grpId="0"/>
      <p:bldP spid="26" grpId="0"/>
      <p:bldP spid="28" grpId="0"/>
      <p:bldP spid="29" grpId="0"/>
      <p:bldP spid="30" grpId="0"/>
      <p:bldP spid="31" grpId="0"/>
      <p:bldP spid="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19672" y="260648"/>
            <a:ext cx="6096000" cy="5400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cxnSp>
        <p:nvCxnSpPr>
          <p:cNvPr id="3" name="直接连接符 2"/>
          <p:cNvCxnSpPr/>
          <p:nvPr/>
        </p:nvCxnSpPr>
        <p:spPr>
          <a:xfrm>
            <a:off x="4698837" y="404664"/>
            <a:ext cx="0" cy="5124563"/>
          </a:xfrm>
          <a:prstGeom prst="line">
            <a:avLst/>
          </a:prstGeom>
          <a:ln w="9525">
            <a:solidFill>
              <a:srgbClr val="646464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837" y="4572492"/>
            <a:ext cx="2680840" cy="781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837" y="2677257"/>
            <a:ext cx="2680840" cy="781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837" y="768336"/>
            <a:ext cx="2680840" cy="781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955" y="3629656"/>
            <a:ext cx="2891201" cy="78267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955" y="1708685"/>
            <a:ext cx="2891201" cy="782677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821955" y="759171"/>
            <a:ext cx="5775088" cy="4348108"/>
            <a:chOff x="5631533" y="1357229"/>
            <a:chExt cx="5596366" cy="4213547"/>
          </a:xfrm>
        </p:grpSpPr>
        <p:grpSp>
          <p:nvGrpSpPr>
            <p:cNvPr id="10" name="组合 9"/>
            <p:cNvGrpSpPr/>
            <p:nvPr/>
          </p:nvGrpSpPr>
          <p:grpSpPr>
            <a:xfrm>
              <a:off x="8060880" y="1357229"/>
              <a:ext cx="3167019" cy="540840"/>
              <a:chOff x="8060880" y="760883"/>
              <a:chExt cx="3167019" cy="540840"/>
            </a:xfrm>
          </p:grpSpPr>
          <p:sp>
            <p:nvSpPr>
              <p:cNvPr id="27" name="Freeform 56"/>
              <p:cNvSpPr>
                <a:spLocks/>
              </p:cNvSpPr>
              <p:nvPr/>
            </p:nvSpPr>
            <p:spPr bwMode="auto">
              <a:xfrm>
                <a:off x="8805644" y="760883"/>
                <a:ext cx="2422255" cy="430899"/>
              </a:xfrm>
              <a:custGeom>
                <a:avLst/>
                <a:gdLst>
                  <a:gd name="T0" fmla="*/ 2353 w 2385"/>
                  <a:gd name="T1" fmla="*/ 0 h 425"/>
                  <a:gd name="T2" fmla="*/ 0 w 2385"/>
                  <a:gd name="T3" fmla="*/ 0 h 425"/>
                  <a:gd name="T4" fmla="*/ 0 w 2385"/>
                  <a:gd name="T5" fmla="*/ 425 h 425"/>
                  <a:gd name="T6" fmla="*/ 2353 w 2385"/>
                  <a:gd name="T7" fmla="*/ 425 h 425"/>
                  <a:gd name="T8" fmla="*/ 2385 w 2385"/>
                  <a:gd name="T9" fmla="*/ 393 h 425"/>
                  <a:gd name="T10" fmla="*/ 2385 w 2385"/>
                  <a:gd name="T11" fmla="*/ 32 h 425"/>
                  <a:gd name="T12" fmla="*/ 2353 w 2385"/>
                  <a:gd name="T13" fmla="*/ 0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85" h="425">
                    <a:moveTo>
                      <a:pt x="235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25"/>
                      <a:pt x="0" y="425"/>
                      <a:pt x="0" y="425"/>
                    </a:cubicBezTo>
                    <a:cubicBezTo>
                      <a:pt x="2353" y="425"/>
                      <a:pt x="2353" y="425"/>
                      <a:pt x="2353" y="425"/>
                    </a:cubicBezTo>
                    <a:cubicBezTo>
                      <a:pt x="2370" y="425"/>
                      <a:pt x="2385" y="411"/>
                      <a:pt x="2385" y="393"/>
                    </a:cubicBezTo>
                    <a:cubicBezTo>
                      <a:pt x="2385" y="32"/>
                      <a:pt x="2385" y="32"/>
                      <a:pt x="2385" y="32"/>
                    </a:cubicBezTo>
                    <a:cubicBezTo>
                      <a:pt x="2385" y="15"/>
                      <a:pt x="2370" y="0"/>
                      <a:pt x="2353" y="0"/>
                    </a:cubicBezTo>
                    <a:close/>
                  </a:path>
                </a:pathLst>
              </a:custGeom>
              <a:solidFill>
                <a:srgbClr val="FF6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  <p:sp>
            <p:nvSpPr>
              <p:cNvPr id="28" name="Freeform 57"/>
              <p:cNvSpPr>
                <a:spLocks/>
              </p:cNvSpPr>
              <p:nvPr/>
            </p:nvSpPr>
            <p:spPr bwMode="auto">
              <a:xfrm>
                <a:off x="8060880" y="760883"/>
                <a:ext cx="744763" cy="430899"/>
              </a:xfrm>
              <a:custGeom>
                <a:avLst/>
                <a:gdLst>
                  <a:gd name="T0" fmla="*/ 32 w 734"/>
                  <a:gd name="T1" fmla="*/ 0 h 425"/>
                  <a:gd name="T2" fmla="*/ 0 w 734"/>
                  <a:gd name="T3" fmla="*/ 32 h 425"/>
                  <a:gd name="T4" fmla="*/ 0 w 734"/>
                  <a:gd name="T5" fmla="*/ 393 h 425"/>
                  <a:gd name="T6" fmla="*/ 32 w 734"/>
                  <a:gd name="T7" fmla="*/ 425 h 425"/>
                  <a:gd name="T8" fmla="*/ 734 w 734"/>
                  <a:gd name="T9" fmla="*/ 425 h 425"/>
                  <a:gd name="T10" fmla="*/ 734 w 734"/>
                  <a:gd name="T11" fmla="*/ 0 h 425"/>
                  <a:gd name="T12" fmla="*/ 32 w 734"/>
                  <a:gd name="T13" fmla="*/ 0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4" h="425">
                    <a:moveTo>
                      <a:pt x="32" y="0"/>
                    </a:moveTo>
                    <a:cubicBezTo>
                      <a:pt x="14" y="0"/>
                      <a:pt x="0" y="15"/>
                      <a:pt x="0" y="32"/>
                    </a:cubicBezTo>
                    <a:cubicBezTo>
                      <a:pt x="0" y="393"/>
                      <a:pt x="0" y="393"/>
                      <a:pt x="0" y="393"/>
                    </a:cubicBezTo>
                    <a:cubicBezTo>
                      <a:pt x="0" y="411"/>
                      <a:pt x="14" y="425"/>
                      <a:pt x="32" y="425"/>
                    </a:cubicBezTo>
                    <a:cubicBezTo>
                      <a:pt x="734" y="425"/>
                      <a:pt x="734" y="425"/>
                      <a:pt x="734" y="425"/>
                    </a:cubicBezTo>
                    <a:cubicBezTo>
                      <a:pt x="734" y="0"/>
                      <a:pt x="734" y="0"/>
                      <a:pt x="734" y="0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  <p:sp>
            <p:nvSpPr>
              <p:cNvPr id="29" name="Freeform 58"/>
              <p:cNvSpPr>
                <a:spLocks/>
              </p:cNvSpPr>
              <p:nvPr/>
            </p:nvSpPr>
            <p:spPr bwMode="auto">
              <a:xfrm>
                <a:off x="8305588" y="1044602"/>
                <a:ext cx="255347" cy="257121"/>
              </a:xfrm>
              <a:custGeom>
                <a:avLst/>
                <a:gdLst>
                  <a:gd name="T0" fmla="*/ 72 w 144"/>
                  <a:gd name="T1" fmla="*/ 145 h 145"/>
                  <a:gd name="T2" fmla="*/ 0 w 144"/>
                  <a:gd name="T3" fmla="*/ 73 h 145"/>
                  <a:gd name="T4" fmla="*/ 72 w 144"/>
                  <a:gd name="T5" fmla="*/ 0 h 145"/>
                  <a:gd name="T6" fmla="*/ 144 w 144"/>
                  <a:gd name="T7" fmla="*/ 73 h 145"/>
                  <a:gd name="T8" fmla="*/ 72 w 144"/>
                  <a:gd name="T9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" h="145">
                    <a:moveTo>
                      <a:pt x="72" y="145"/>
                    </a:moveTo>
                    <a:lnTo>
                      <a:pt x="0" y="73"/>
                    </a:lnTo>
                    <a:lnTo>
                      <a:pt x="72" y="0"/>
                    </a:lnTo>
                    <a:lnTo>
                      <a:pt x="144" y="73"/>
                    </a:lnTo>
                    <a:lnTo>
                      <a:pt x="72" y="1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8055560" y="3194469"/>
              <a:ext cx="3165245" cy="540841"/>
              <a:chOff x="8055560" y="3027091"/>
              <a:chExt cx="3165245" cy="540841"/>
            </a:xfrm>
          </p:grpSpPr>
          <p:sp>
            <p:nvSpPr>
              <p:cNvPr id="24" name="Freeform 59"/>
              <p:cNvSpPr>
                <a:spLocks/>
              </p:cNvSpPr>
              <p:nvPr/>
            </p:nvSpPr>
            <p:spPr bwMode="auto">
              <a:xfrm>
                <a:off x="8798551" y="3027091"/>
                <a:ext cx="2422254" cy="430899"/>
              </a:xfrm>
              <a:custGeom>
                <a:avLst/>
                <a:gdLst>
                  <a:gd name="T0" fmla="*/ 2353 w 2385"/>
                  <a:gd name="T1" fmla="*/ 0 h 425"/>
                  <a:gd name="T2" fmla="*/ 0 w 2385"/>
                  <a:gd name="T3" fmla="*/ 0 h 425"/>
                  <a:gd name="T4" fmla="*/ 0 w 2385"/>
                  <a:gd name="T5" fmla="*/ 425 h 425"/>
                  <a:gd name="T6" fmla="*/ 2353 w 2385"/>
                  <a:gd name="T7" fmla="*/ 425 h 425"/>
                  <a:gd name="T8" fmla="*/ 2385 w 2385"/>
                  <a:gd name="T9" fmla="*/ 393 h 425"/>
                  <a:gd name="T10" fmla="*/ 2385 w 2385"/>
                  <a:gd name="T11" fmla="*/ 32 h 425"/>
                  <a:gd name="T12" fmla="*/ 2353 w 2385"/>
                  <a:gd name="T13" fmla="*/ 0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85" h="425">
                    <a:moveTo>
                      <a:pt x="235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25"/>
                      <a:pt x="0" y="425"/>
                      <a:pt x="0" y="425"/>
                    </a:cubicBezTo>
                    <a:cubicBezTo>
                      <a:pt x="2353" y="425"/>
                      <a:pt x="2353" y="425"/>
                      <a:pt x="2353" y="425"/>
                    </a:cubicBezTo>
                    <a:cubicBezTo>
                      <a:pt x="2371" y="425"/>
                      <a:pt x="2385" y="411"/>
                      <a:pt x="2385" y="393"/>
                    </a:cubicBezTo>
                    <a:cubicBezTo>
                      <a:pt x="2385" y="32"/>
                      <a:pt x="2385" y="32"/>
                      <a:pt x="2385" y="32"/>
                    </a:cubicBezTo>
                    <a:cubicBezTo>
                      <a:pt x="2385" y="15"/>
                      <a:pt x="2371" y="0"/>
                      <a:pt x="2353" y="0"/>
                    </a:cubicBezTo>
                    <a:close/>
                  </a:path>
                </a:pathLst>
              </a:custGeom>
              <a:solidFill>
                <a:srgbClr val="5DCB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  <p:sp>
            <p:nvSpPr>
              <p:cNvPr id="25" name="Freeform 60"/>
              <p:cNvSpPr>
                <a:spLocks/>
              </p:cNvSpPr>
              <p:nvPr/>
            </p:nvSpPr>
            <p:spPr bwMode="auto">
              <a:xfrm>
                <a:off x="8055560" y="3027091"/>
                <a:ext cx="742991" cy="430899"/>
              </a:xfrm>
              <a:custGeom>
                <a:avLst/>
                <a:gdLst>
                  <a:gd name="T0" fmla="*/ 32 w 733"/>
                  <a:gd name="T1" fmla="*/ 0 h 425"/>
                  <a:gd name="T2" fmla="*/ 0 w 733"/>
                  <a:gd name="T3" fmla="*/ 32 h 425"/>
                  <a:gd name="T4" fmla="*/ 0 w 733"/>
                  <a:gd name="T5" fmla="*/ 393 h 425"/>
                  <a:gd name="T6" fmla="*/ 32 w 733"/>
                  <a:gd name="T7" fmla="*/ 425 h 425"/>
                  <a:gd name="T8" fmla="*/ 733 w 733"/>
                  <a:gd name="T9" fmla="*/ 425 h 425"/>
                  <a:gd name="T10" fmla="*/ 733 w 733"/>
                  <a:gd name="T11" fmla="*/ 0 h 425"/>
                  <a:gd name="T12" fmla="*/ 32 w 733"/>
                  <a:gd name="T13" fmla="*/ 0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3" h="425">
                    <a:moveTo>
                      <a:pt x="32" y="0"/>
                    </a:moveTo>
                    <a:cubicBezTo>
                      <a:pt x="14" y="0"/>
                      <a:pt x="0" y="15"/>
                      <a:pt x="0" y="32"/>
                    </a:cubicBezTo>
                    <a:cubicBezTo>
                      <a:pt x="0" y="393"/>
                      <a:pt x="0" y="393"/>
                      <a:pt x="0" y="393"/>
                    </a:cubicBezTo>
                    <a:cubicBezTo>
                      <a:pt x="0" y="411"/>
                      <a:pt x="14" y="425"/>
                      <a:pt x="32" y="425"/>
                    </a:cubicBezTo>
                    <a:cubicBezTo>
                      <a:pt x="733" y="425"/>
                      <a:pt x="733" y="425"/>
                      <a:pt x="733" y="425"/>
                    </a:cubicBezTo>
                    <a:cubicBezTo>
                      <a:pt x="733" y="0"/>
                      <a:pt x="733" y="0"/>
                      <a:pt x="733" y="0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  <p:sp>
            <p:nvSpPr>
              <p:cNvPr id="26" name="Freeform 61"/>
              <p:cNvSpPr>
                <a:spLocks/>
              </p:cNvSpPr>
              <p:nvPr/>
            </p:nvSpPr>
            <p:spPr bwMode="auto">
              <a:xfrm>
                <a:off x="8298495" y="3310811"/>
                <a:ext cx="255347" cy="257121"/>
              </a:xfrm>
              <a:custGeom>
                <a:avLst/>
                <a:gdLst>
                  <a:gd name="T0" fmla="*/ 72 w 144"/>
                  <a:gd name="T1" fmla="*/ 145 h 145"/>
                  <a:gd name="T2" fmla="*/ 0 w 144"/>
                  <a:gd name="T3" fmla="*/ 73 h 145"/>
                  <a:gd name="T4" fmla="*/ 72 w 144"/>
                  <a:gd name="T5" fmla="*/ 0 h 145"/>
                  <a:gd name="T6" fmla="*/ 144 w 144"/>
                  <a:gd name="T7" fmla="*/ 73 h 145"/>
                  <a:gd name="T8" fmla="*/ 72 w 144"/>
                  <a:gd name="T9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" h="145">
                    <a:moveTo>
                      <a:pt x="72" y="145"/>
                    </a:moveTo>
                    <a:lnTo>
                      <a:pt x="0" y="73"/>
                    </a:lnTo>
                    <a:lnTo>
                      <a:pt x="72" y="0"/>
                    </a:lnTo>
                    <a:lnTo>
                      <a:pt x="144" y="73"/>
                    </a:lnTo>
                    <a:lnTo>
                      <a:pt x="72" y="1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8055560" y="5029936"/>
              <a:ext cx="3165245" cy="540840"/>
              <a:chOff x="8055560" y="5639709"/>
              <a:chExt cx="3165245" cy="540840"/>
            </a:xfrm>
          </p:grpSpPr>
          <p:sp>
            <p:nvSpPr>
              <p:cNvPr id="21" name="Freeform 62"/>
              <p:cNvSpPr>
                <a:spLocks/>
              </p:cNvSpPr>
              <p:nvPr/>
            </p:nvSpPr>
            <p:spPr bwMode="auto">
              <a:xfrm>
                <a:off x="8798551" y="5639709"/>
                <a:ext cx="2422254" cy="430899"/>
              </a:xfrm>
              <a:custGeom>
                <a:avLst/>
                <a:gdLst>
                  <a:gd name="T0" fmla="*/ 2353 w 2385"/>
                  <a:gd name="T1" fmla="*/ 0 h 425"/>
                  <a:gd name="T2" fmla="*/ 0 w 2385"/>
                  <a:gd name="T3" fmla="*/ 0 h 425"/>
                  <a:gd name="T4" fmla="*/ 0 w 2385"/>
                  <a:gd name="T5" fmla="*/ 425 h 425"/>
                  <a:gd name="T6" fmla="*/ 2353 w 2385"/>
                  <a:gd name="T7" fmla="*/ 425 h 425"/>
                  <a:gd name="T8" fmla="*/ 2385 w 2385"/>
                  <a:gd name="T9" fmla="*/ 393 h 425"/>
                  <a:gd name="T10" fmla="*/ 2385 w 2385"/>
                  <a:gd name="T11" fmla="*/ 32 h 425"/>
                  <a:gd name="T12" fmla="*/ 2353 w 2385"/>
                  <a:gd name="T13" fmla="*/ 0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85" h="425">
                    <a:moveTo>
                      <a:pt x="235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25"/>
                      <a:pt x="0" y="425"/>
                      <a:pt x="0" y="425"/>
                    </a:cubicBezTo>
                    <a:cubicBezTo>
                      <a:pt x="2353" y="425"/>
                      <a:pt x="2353" y="425"/>
                      <a:pt x="2353" y="425"/>
                    </a:cubicBezTo>
                    <a:cubicBezTo>
                      <a:pt x="2371" y="425"/>
                      <a:pt x="2385" y="410"/>
                      <a:pt x="2385" y="393"/>
                    </a:cubicBezTo>
                    <a:cubicBezTo>
                      <a:pt x="2385" y="32"/>
                      <a:pt x="2385" y="32"/>
                      <a:pt x="2385" y="32"/>
                    </a:cubicBezTo>
                    <a:cubicBezTo>
                      <a:pt x="2385" y="14"/>
                      <a:pt x="2371" y="0"/>
                      <a:pt x="2353" y="0"/>
                    </a:cubicBezTo>
                    <a:close/>
                  </a:path>
                </a:pathLst>
              </a:custGeom>
              <a:solidFill>
                <a:srgbClr val="99AD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  <p:sp>
            <p:nvSpPr>
              <p:cNvPr id="22" name="Freeform 63"/>
              <p:cNvSpPr>
                <a:spLocks/>
              </p:cNvSpPr>
              <p:nvPr/>
            </p:nvSpPr>
            <p:spPr bwMode="auto">
              <a:xfrm>
                <a:off x="8055560" y="5639709"/>
                <a:ext cx="742991" cy="430899"/>
              </a:xfrm>
              <a:custGeom>
                <a:avLst/>
                <a:gdLst>
                  <a:gd name="T0" fmla="*/ 32 w 733"/>
                  <a:gd name="T1" fmla="*/ 0 h 425"/>
                  <a:gd name="T2" fmla="*/ 0 w 733"/>
                  <a:gd name="T3" fmla="*/ 32 h 425"/>
                  <a:gd name="T4" fmla="*/ 0 w 733"/>
                  <a:gd name="T5" fmla="*/ 393 h 425"/>
                  <a:gd name="T6" fmla="*/ 32 w 733"/>
                  <a:gd name="T7" fmla="*/ 425 h 425"/>
                  <a:gd name="T8" fmla="*/ 733 w 733"/>
                  <a:gd name="T9" fmla="*/ 425 h 425"/>
                  <a:gd name="T10" fmla="*/ 733 w 733"/>
                  <a:gd name="T11" fmla="*/ 0 h 425"/>
                  <a:gd name="T12" fmla="*/ 32 w 733"/>
                  <a:gd name="T13" fmla="*/ 0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3" h="425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393"/>
                      <a:pt x="0" y="393"/>
                      <a:pt x="0" y="393"/>
                    </a:cubicBezTo>
                    <a:cubicBezTo>
                      <a:pt x="0" y="410"/>
                      <a:pt x="14" y="425"/>
                      <a:pt x="32" y="425"/>
                    </a:cubicBezTo>
                    <a:cubicBezTo>
                      <a:pt x="733" y="425"/>
                      <a:pt x="733" y="425"/>
                      <a:pt x="733" y="425"/>
                    </a:cubicBezTo>
                    <a:cubicBezTo>
                      <a:pt x="733" y="0"/>
                      <a:pt x="733" y="0"/>
                      <a:pt x="733" y="0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  <p:sp>
            <p:nvSpPr>
              <p:cNvPr id="23" name="Freeform 64"/>
              <p:cNvSpPr>
                <a:spLocks/>
              </p:cNvSpPr>
              <p:nvPr/>
            </p:nvSpPr>
            <p:spPr bwMode="auto">
              <a:xfrm>
                <a:off x="8298495" y="5925202"/>
                <a:ext cx="255347" cy="255347"/>
              </a:xfrm>
              <a:custGeom>
                <a:avLst/>
                <a:gdLst>
                  <a:gd name="T0" fmla="*/ 72 w 144"/>
                  <a:gd name="T1" fmla="*/ 144 h 144"/>
                  <a:gd name="T2" fmla="*/ 0 w 144"/>
                  <a:gd name="T3" fmla="*/ 72 h 144"/>
                  <a:gd name="T4" fmla="*/ 72 w 144"/>
                  <a:gd name="T5" fmla="*/ 0 h 144"/>
                  <a:gd name="T6" fmla="*/ 144 w 144"/>
                  <a:gd name="T7" fmla="*/ 72 h 144"/>
                  <a:gd name="T8" fmla="*/ 72 w 144"/>
                  <a:gd name="T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" h="144">
                    <a:moveTo>
                      <a:pt x="72" y="144"/>
                    </a:moveTo>
                    <a:lnTo>
                      <a:pt x="0" y="72"/>
                    </a:lnTo>
                    <a:lnTo>
                      <a:pt x="72" y="0"/>
                    </a:lnTo>
                    <a:lnTo>
                      <a:pt x="144" y="72"/>
                    </a:lnTo>
                    <a:lnTo>
                      <a:pt x="72" y="1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5631533" y="2275849"/>
              <a:ext cx="3165244" cy="540840"/>
              <a:chOff x="5631533" y="1961370"/>
              <a:chExt cx="3165244" cy="540840"/>
            </a:xfrm>
          </p:grpSpPr>
          <p:sp>
            <p:nvSpPr>
              <p:cNvPr id="18" name="Freeform 65"/>
              <p:cNvSpPr>
                <a:spLocks/>
              </p:cNvSpPr>
              <p:nvPr/>
            </p:nvSpPr>
            <p:spPr bwMode="auto">
              <a:xfrm>
                <a:off x="5631533" y="1961370"/>
                <a:ext cx="2420481" cy="430899"/>
              </a:xfrm>
              <a:custGeom>
                <a:avLst/>
                <a:gdLst>
                  <a:gd name="T0" fmla="*/ 32 w 2385"/>
                  <a:gd name="T1" fmla="*/ 0 h 425"/>
                  <a:gd name="T2" fmla="*/ 2385 w 2385"/>
                  <a:gd name="T3" fmla="*/ 0 h 425"/>
                  <a:gd name="T4" fmla="*/ 2385 w 2385"/>
                  <a:gd name="T5" fmla="*/ 425 h 425"/>
                  <a:gd name="T6" fmla="*/ 32 w 2385"/>
                  <a:gd name="T7" fmla="*/ 425 h 425"/>
                  <a:gd name="T8" fmla="*/ 0 w 2385"/>
                  <a:gd name="T9" fmla="*/ 393 h 425"/>
                  <a:gd name="T10" fmla="*/ 0 w 2385"/>
                  <a:gd name="T11" fmla="*/ 32 h 425"/>
                  <a:gd name="T12" fmla="*/ 32 w 2385"/>
                  <a:gd name="T13" fmla="*/ 0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85" h="425">
                    <a:moveTo>
                      <a:pt x="32" y="0"/>
                    </a:moveTo>
                    <a:cubicBezTo>
                      <a:pt x="2385" y="0"/>
                      <a:pt x="2385" y="0"/>
                      <a:pt x="2385" y="0"/>
                    </a:cubicBezTo>
                    <a:cubicBezTo>
                      <a:pt x="2385" y="425"/>
                      <a:pt x="2385" y="425"/>
                      <a:pt x="2385" y="425"/>
                    </a:cubicBezTo>
                    <a:cubicBezTo>
                      <a:pt x="32" y="425"/>
                      <a:pt x="32" y="425"/>
                      <a:pt x="32" y="425"/>
                    </a:cubicBezTo>
                    <a:cubicBezTo>
                      <a:pt x="15" y="425"/>
                      <a:pt x="0" y="410"/>
                      <a:pt x="0" y="393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5"/>
                      <a:pt x="15" y="0"/>
                      <a:pt x="32" y="0"/>
                    </a:cubicBezTo>
                    <a:close/>
                  </a:path>
                </a:pathLst>
              </a:custGeom>
              <a:solidFill>
                <a:srgbClr val="008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  <p:sp>
            <p:nvSpPr>
              <p:cNvPr id="19" name="Freeform 66"/>
              <p:cNvSpPr>
                <a:spLocks/>
              </p:cNvSpPr>
              <p:nvPr/>
            </p:nvSpPr>
            <p:spPr bwMode="auto">
              <a:xfrm>
                <a:off x="8052014" y="1961370"/>
                <a:ext cx="744763" cy="430899"/>
              </a:xfrm>
              <a:custGeom>
                <a:avLst/>
                <a:gdLst>
                  <a:gd name="T0" fmla="*/ 702 w 734"/>
                  <a:gd name="T1" fmla="*/ 0 h 425"/>
                  <a:gd name="T2" fmla="*/ 734 w 734"/>
                  <a:gd name="T3" fmla="*/ 32 h 425"/>
                  <a:gd name="T4" fmla="*/ 734 w 734"/>
                  <a:gd name="T5" fmla="*/ 393 h 425"/>
                  <a:gd name="T6" fmla="*/ 702 w 734"/>
                  <a:gd name="T7" fmla="*/ 425 h 425"/>
                  <a:gd name="T8" fmla="*/ 0 w 734"/>
                  <a:gd name="T9" fmla="*/ 425 h 425"/>
                  <a:gd name="T10" fmla="*/ 0 w 734"/>
                  <a:gd name="T11" fmla="*/ 0 h 425"/>
                  <a:gd name="T12" fmla="*/ 702 w 734"/>
                  <a:gd name="T13" fmla="*/ 0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4" h="425">
                    <a:moveTo>
                      <a:pt x="702" y="0"/>
                    </a:moveTo>
                    <a:cubicBezTo>
                      <a:pt x="720" y="0"/>
                      <a:pt x="734" y="15"/>
                      <a:pt x="734" y="32"/>
                    </a:cubicBezTo>
                    <a:cubicBezTo>
                      <a:pt x="734" y="393"/>
                      <a:pt x="734" y="393"/>
                      <a:pt x="734" y="393"/>
                    </a:cubicBezTo>
                    <a:cubicBezTo>
                      <a:pt x="734" y="410"/>
                      <a:pt x="720" y="425"/>
                      <a:pt x="702" y="425"/>
                    </a:cubicBezTo>
                    <a:cubicBezTo>
                      <a:pt x="0" y="425"/>
                      <a:pt x="0" y="425"/>
                      <a:pt x="0" y="42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70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  <p:sp>
            <p:nvSpPr>
              <p:cNvPr id="20" name="Freeform 67"/>
              <p:cNvSpPr>
                <a:spLocks/>
              </p:cNvSpPr>
              <p:nvPr/>
            </p:nvSpPr>
            <p:spPr bwMode="auto">
              <a:xfrm>
                <a:off x="8296721" y="2246863"/>
                <a:ext cx="255347" cy="255347"/>
              </a:xfrm>
              <a:custGeom>
                <a:avLst/>
                <a:gdLst>
                  <a:gd name="T0" fmla="*/ 72 w 144"/>
                  <a:gd name="T1" fmla="*/ 144 h 144"/>
                  <a:gd name="T2" fmla="*/ 144 w 144"/>
                  <a:gd name="T3" fmla="*/ 72 h 144"/>
                  <a:gd name="T4" fmla="*/ 72 w 144"/>
                  <a:gd name="T5" fmla="*/ 0 h 144"/>
                  <a:gd name="T6" fmla="*/ 0 w 144"/>
                  <a:gd name="T7" fmla="*/ 72 h 144"/>
                  <a:gd name="T8" fmla="*/ 72 w 144"/>
                  <a:gd name="T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" h="144">
                    <a:moveTo>
                      <a:pt x="72" y="144"/>
                    </a:moveTo>
                    <a:lnTo>
                      <a:pt x="144" y="72"/>
                    </a:lnTo>
                    <a:lnTo>
                      <a:pt x="72" y="0"/>
                    </a:lnTo>
                    <a:lnTo>
                      <a:pt x="0" y="72"/>
                    </a:lnTo>
                    <a:lnTo>
                      <a:pt x="72" y="1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5631533" y="4113090"/>
              <a:ext cx="3165244" cy="539066"/>
              <a:chOff x="5631533" y="4300282"/>
              <a:chExt cx="3165244" cy="539066"/>
            </a:xfrm>
          </p:grpSpPr>
          <p:sp>
            <p:nvSpPr>
              <p:cNvPr id="15" name="Freeform 68"/>
              <p:cNvSpPr>
                <a:spLocks/>
              </p:cNvSpPr>
              <p:nvPr/>
            </p:nvSpPr>
            <p:spPr bwMode="auto">
              <a:xfrm>
                <a:off x="5631533" y="4300282"/>
                <a:ext cx="2420481" cy="430899"/>
              </a:xfrm>
              <a:custGeom>
                <a:avLst/>
                <a:gdLst>
                  <a:gd name="T0" fmla="*/ 32 w 2385"/>
                  <a:gd name="T1" fmla="*/ 0 h 424"/>
                  <a:gd name="T2" fmla="*/ 2385 w 2385"/>
                  <a:gd name="T3" fmla="*/ 0 h 424"/>
                  <a:gd name="T4" fmla="*/ 2385 w 2385"/>
                  <a:gd name="T5" fmla="*/ 424 h 424"/>
                  <a:gd name="T6" fmla="*/ 32 w 2385"/>
                  <a:gd name="T7" fmla="*/ 424 h 424"/>
                  <a:gd name="T8" fmla="*/ 0 w 2385"/>
                  <a:gd name="T9" fmla="*/ 392 h 424"/>
                  <a:gd name="T10" fmla="*/ 0 w 2385"/>
                  <a:gd name="T11" fmla="*/ 32 h 424"/>
                  <a:gd name="T12" fmla="*/ 32 w 2385"/>
                  <a:gd name="T13" fmla="*/ 0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85" h="424">
                    <a:moveTo>
                      <a:pt x="32" y="0"/>
                    </a:moveTo>
                    <a:cubicBezTo>
                      <a:pt x="2385" y="0"/>
                      <a:pt x="2385" y="0"/>
                      <a:pt x="2385" y="0"/>
                    </a:cubicBezTo>
                    <a:cubicBezTo>
                      <a:pt x="2385" y="424"/>
                      <a:pt x="2385" y="424"/>
                      <a:pt x="2385" y="424"/>
                    </a:cubicBezTo>
                    <a:cubicBezTo>
                      <a:pt x="32" y="424"/>
                      <a:pt x="32" y="424"/>
                      <a:pt x="32" y="424"/>
                    </a:cubicBezTo>
                    <a:cubicBezTo>
                      <a:pt x="15" y="424"/>
                      <a:pt x="0" y="410"/>
                      <a:pt x="0" y="39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5" y="0"/>
                      <a:pt x="32" y="0"/>
                    </a:cubicBezTo>
                    <a:close/>
                  </a:path>
                </a:pathLst>
              </a:custGeom>
              <a:solidFill>
                <a:srgbClr val="FF2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  <p:sp>
            <p:nvSpPr>
              <p:cNvPr id="16" name="Freeform 69"/>
              <p:cNvSpPr>
                <a:spLocks/>
              </p:cNvSpPr>
              <p:nvPr/>
            </p:nvSpPr>
            <p:spPr bwMode="auto">
              <a:xfrm>
                <a:off x="8052014" y="4300282"/>
                <a:ext cx="744763" cy="430899"/>
              </a:xfrm>
              <a:custGeom>
                <a:avLst/>
                <a:gdLst>
                  <a:gd name="T0" fmla="*/ 702 w 734"/>
                  <a:gd name="T1" fmla="*/ 0 h 424"/>
                  <a:gd name="T2" fmla="*/ 734 w 734"/>
                  <a:gd name="T3" fmla="*/ 32 h 424"/>
                  <a:gd name="T4" fmla="*/ 734 w 734"/>
                  <a:gd name="T5" fmla="*/ 392 h 424"/>
                  <a:gd name="T6" fmla="*/ 702 w 734"/>
                  <a:gd name="T7" fmla="*/ 424 h 424"/>
                  <a:gd name="T8" fmla="*/ 0 w 734"/>
                  <a:gd name="T9" fmla="*/ 424 h 424"/>
                  <a:gd name="T10" fmla="*/ 0 w 734"/>
                  <a:gd name="T11" fmla="*/ 0 h 424"/>
                  <a:gd name="T12" fmla="*/ 702 w 734"/>
                  <a:gd name="T13" fmla="*/ 0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4" h="424">
                    <a:moveTo>
                      <a:pt x="702" y="0"/>
                    </a:moveTo>
                    <a:cubicBezTo>
                      <a:pt x="720" y="0"/>
                      <a:pt x="734" y="14"/>
                      <a:pt x="734" y="32"/>
                    </a:cubicBezTo>
                    <a:cubicBezTo>
                      <a:pt x="734" y="392"/>
                      <a:pt x="734" y="392"/>
                      <a:pt x="734" y="392"/>
                    </a:cubicBezTo>
                    <a:cubicBezTo>
                      <a:pt x="734" y="410"/>
                      <a:pt x="720" y="424"/>
                      <a:pt x="702" y="424"/>
                    </a:cubicBezTo>
                    <a:cubicBezTo>
                      <a:pt x="0" y="424"/>
                      <a:pt x="0" y="424"/>
                      <a:pt x="0" y="424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70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  <p:sp>
            <p:nvSpPr>
              <p:cNvPr id="17" name="Freeform 70"/>
              <p:cNvSpPr>
                <a:spLocks/>
              </p:cNvSpPr>
              <p:nvPr/>
            </p:nvSpPr>
            <p:spPr bwMode="auto">
              <a:xfrm>
                <a:off x="8296721" y="4584001"/>
                <a:ext cx="255347" cy="255347"/>
              </a:xfrm>
              <a:custGeom>
                <a:avLst/>
                <a:gdLst>
                  <a:gd name="T0" fmla="*/ 72 w 144"/>
                  <a:gd name="T1" fmla="*/ 144 h 144"/>
                  <a:gd name="T2" fmla="*/ 144 w 144"/>
                  <a:gd name="T3" fmla="*/ 72 h 144"/>
                  <a:gd name="T4" fmla="*/ 72 w 144"/>
                  <a:gd name="T5" fmla="*/ 0 h 144"/>
                  <a:gd name="T6" fmla="*/ 0 w 144"/>
                  <a:gd name="T7" fmla="*/ 72 h 144"/>
                  <a:gd name="T8" fmla="*/ 72 w 144"/>
                  <a:gd name="T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" h="144">
                    <a:moveTo>
                      <a:pt x="72" y="144"/>
                    </a:moveTo>
                    <a:lnTo>
                      <a:pt x="144" y="72"/>
                    </a:lnTo>
                    <a:lnTo>
                      <a:pt x="72" y="0"/>
                    </a:lnTo>
                    <a:lnTo>
                      <a:pt x="0" y="72"/>
                    </a:lnTo>
                    <a:lnTo>
                      <a:pt x="72" y="1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 b="1"/>
              </a:p>
            </p:txBody>
          </p:sp>
        </p:grpSp>
      </p:grpSp>
      <p:sp>
        <p:nvSpPr>
          <p:cNvPr id="32" name="文本框 31"/>
          <p:cNvSpPr txBox="1"/>
          <p:nvPr/>
        </p:nvSpPr>
        <p:spPr>
          <a:xfrm>
            <a:off x="5261156" y="789604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设置源串地址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261156" y="2678936"/>
            <a:ext cx="1731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设置串长度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5261156" y="4571811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前缀 串指令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904708" y="1720197"/>
            <a:ext cx="2350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设置目标串地址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1885552" y="3601617"/>
            <a:ext cx="2472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设置方向</a:t>
            </a:r>
            <a:r>
              <a:rPr lang="en-US" altLang="zh-CN" sz="2400" b="1" dirty="0">
                <a:solidFill>
                  <a:schemeClr val="bg1"/>
                </a:solidFill>
              </a:rPr>
              <a:t>CLD,STD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547126" y="78895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6E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b="1" dirty="0">
              <a:solidFill>
                <a:srgbClr val="FF6E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547126" y="173558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8C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b="1" dirty="0">
              <a:solidFill>
                <a:srgbClr val="008C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547126" y="269852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D1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000" b="1" dirty="0">
              <a:solidFill>
                <a:srgbClr val="FFD1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547126" y="362965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2A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2000" b="1" dirty="0">
              <a:solidFill>
                <a:srgbClr val="FF2A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547126" y="459254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99AD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2000" b="1" dirty="0">
              <a:solidFill>
                <a:srgbClr val="99AD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78436" y="6144215"/>
            <a:ext cx="6077939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确保目标串在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段，如果在同一段中，确保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ES=DS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4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608" y="576861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30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34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无条件转移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条件转移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循环控制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中断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程序控制指令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23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99592" y="3399459"/>
            <a:ext cx="2232248" cy="1253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b="1" dirty="0">
                <a:solidFill>
                  <a:srgbClr val="FF933C"/>
                </a:solidFill>
                <a:latin typeface="微软雅黑" pitchFamily="34" charset="-122"/>
                <a:ea typeface="微软雅黑" pitchFamily="34" charset="-122"/>
              </a:rPr>
              <a:t>没有分支和循环，程序员的世界是怎么样的？</a:t>
            </a:r>
          </a:p>
        </p:txBody>
      </p:sp>
      <p:pic>
        <p:nvPicPr>
          <p:cNvPr id="4" name="Picture 7" descr="C:\Documents and Settings\tdz\桌面\646EFE449289409DBE64CE62A9E3116D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18"/>
          <a:stretch/>
        </p:blipFill>
        <p:spPr bwMode="auto">
          <a:xfrm>
            <a:off x="3600314" y="1767024"/>
            <a:ext cx="4550280" cy="28861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D:\Teliss_Tong\Copy\定期备份\工作备份\！PPT图片及版面资源\06-PPT精选插图\05-头像\1000mb.ru (78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59632" y="1767024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49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67744" y="2256724"/>
            <a:ext cx="2520280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65814" y="2256724"/>
            <a:ext cx="1785905" cy="3116492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82334" y="2256724"/>
            <a:ext cx="1965929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106574" y="2256724"/>
            <a:ext cx="1785905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65813" y="1159444"/>
            <a:ext cx="8626665" cy="78779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程序控制指令分类</a:t>
            </a:r>
          </a:p>
        </p:txBody>
      </p:sp>
      <p:sp>
        <p:nvSpPr>
          <p:cNvPr id="7" name="任意多边形 6"/>
          <p:cNvSpPr/>
          <p:nvPr/>
        </p:nvSpPr>
        <p:spPr>
          <a:xfrm>
            <a:off x="265815" y="2889487"/>
            <a:ext cx="1785905" cy="248372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JMP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2267744" y="2889487"/>
            <a:ext cx="2520280" cy="248372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JA/JB/JAE/JBE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JZ/JNZ/JE/JNE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JG/JGE/JL/JLE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JO/JNO/JP/JNP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JC/JNC/JNS/JS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4982334" y="2889486"/>
            <a:ext cx="1965929" cy="2483729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LOOPE/Z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LOOPNE/Z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JCXZ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7106573" y="2889486"/>
            <a:ext cx="1785905" cy="2483729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14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INTO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IRET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5814" y="2403179"/>
            <a:ext cx="1785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无条件转移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267742" y="2403179"/>
            <a:ext cx="2520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82333" y="2403179"/>
            <a:ext cx="1965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循环控制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106572" y="2403179"/>
            <a:ext cx="1785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</a:p>
        </p:txBody>
      </p:sp>
    </p:spTree>
    <p:extLst>
      <p:ext uri="{BB962C8B-B14F-4D97-AF65-F5344CB8AC3E}">
        <p14:creationId xmlns:p14="http://schemas.microsoft.com/office/powerpoint/2010/main" val="24603355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程序控制指令特点</a:t>
            </a:r>
          </a:p>
        </p:txBody>
      </p:sp>
      <p:sp>
        <p:nvSpPr>
          <p:cNvPr id="4" name="矩形 3"/>
          <p:cNvSpPr/>
          <p:nvPr/>
        </p:nvSpPr>
        <p:spPr>
          <a:xfrm>
            <a:off x="859124" y="1772816"/>
            <a:ext cx="7673316" cy="10801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程序转移类指令可改变</a:t>
            </a:r>
            <a:r>
              <a:rPr lang="en-US" altLang="zh-CN" sz="2000" b="1" dirty="0">
                <a:ea typeface="微软雅黑" panose="020B0503020204020204" pitchFamily="34" charset="-122"/>
              </a:rPr>
              <a:t>IP</a:t>
            </a:r>
            <a:r>
              <a:rPr lang="zh-CN" altLang="en-US" sz="2000" b="1" dirty="0">
                <a:ea typeface="微软雅黑" panose="020B0503020204020204" pitchFamily="34" charset="-122"/>
              </a:rPr>
              <a:t>或</a:t>
            </a:r>
            <a:r>
              <a:rPr lang="en-US" altLang="zh-CN" sz="2000" b="1" dirty="0">
                <a:ea typeface="微软雅黑" panose="020B0503020204020204" pitchFamily="34" charset="-122"/>
              </a:rPr>
              <a:t>CS</a:t>
            </a:r>
            <a:r>
              <a:rPr lang="zh-CN" altLang="en-US" sz="2000" b="1" dirty="0"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ea typeface="微软雅黑" panose="020B0503020204020204" pitchFamily="34" charset="-122"/>
              </a:rPr>
              <a:t>IP</a:t>
            </a:r>
            <a:r>
              <a:rPr lang="zh-CN" altLang="en-US" sz="2000" b="1" dirty="0">
                <a:ea typeface="微软雅黑" panose="020B0503020204020204" pitchFamily="34" charset="-122"/>
              </a:rPr>
              <a:t>的内容，从而控制指令的执行顺序，实现指令转移、程序调用等功能。</a:t>
            </a:r>
          </a:p>
        </p:txBody>
      </p:sp>
      <p:sp>
        <p:nvSpPr>
          <p:cNvPr id="12" name="矩形 11"/>
          <p:cNvSpPr/>
          <p:nvPr/>
        </p:nvSpPr>
        <p:spPr>
          <a:xfrm>
            <a:off x="859124" y="3284984"/>
            <a:ext cx="7673316" cy="1080120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一般都只有一个操作数，该操作数给出目标地址</a:t>
            </a:r>
            <a:r>
              <a:rPr lang="en-US" altLang="zh-CN" sz="2000" b="1" dirty="0">
                <a:ea typeface="微软雅黑" panose="020B0503020204020204" pitchFamily="34" charset="-122"/>
              </a:rPr>
              <a:t>—</a:t>
            </a:r>
            <a:r>
              <a:rPr lang="zh-CN" altLang="en-US" sz="2000" b="1" dirty="0">
                <a:ea typeface="微软雅黑" panose="020B0503020204020204" pitchFamily="34" charset="-122"/>
              </a:rPr>
              <a:t>新的</a:t>
            </a:r>
            <a:r>
              <a:rPr lang="en-US" altLang="zh-CN" sz="2000" b="1" dirty="0">
                <a:ea typeface="微软雅黑" panose="020B0503020204020204" pitchFamily="34" charset="-122"/>
              </a:rPr>
              <a:t>IP</a:t>
            </a:r>
            <a:r>
              <a:rPr lang="zh-CN" altLang="en-US" sz="2000" b="1" dirty="0">
                <a:ea typeface="微软雅黑" panose="020B0503020204020204" pitchFamily="34" charset="-122"/>
              </a:rPr>
              <a:t>（或</a:t>
            </a:r>
            <a:r>
              <a:rPr lang="en-US" altLang="zh-CN" sz="2000" b="1" dirty="0">
                <a:ea typeface="微软雅黑" panose="020B0503020204020204" pitchFamily="34" charset="-122"/>
              </a:rPr>
              <a:t>CS:IP</a:t>
            </a:r>
            <a:r>
              <a:rPr lang="zh-CN" altLang="en-US" sz="2000" b="1" dirty="0">
                <a:ea typeface="微软雅黑" panose="020B0503020204020204" pitchFamily="34" charset="-122"/>
              </a:rPr>
              <a:t>）值。指令对当前</a:t>
            </a:r>
            <a:r>
              <a:rPr lang="en-US" altLang="zh-CN" sz="2000" b="1" dirty="0">
                <a:ea typeface="微软雅黑" panose="020B0503020204020204" pitchFamily="34" charset="-122"/>
              </a:rPr>
              <a:t>IP</a:t>
            </a:r>
            <a:r>
              <a:rPr lang="zh-CN" altLang="en-US" sz="2000" b="1" dirty="0">
                <a:ea typeface="微软雅黑" panose="020B0503020204020204" pitchFamily="34" charset="-122"/>
              </a:rPr>
              <a:t>（或</a:t>
            </a:r>
            <a:r>
              <a:rPr lang="en-US" altLang="zh-CN" sz="2000" b="1" dirty="0">
                <a:ea typeface="微软雅黑" panose="020B0503020204020204" pitchFamily="34" charset="-122"/>
              </a:rPr>
              <a:t>CS:IP</a:t>
            </a:r>
            <a:r>
              <a:rPr lang="zh-CN" altLang="en-US" sz="2000" b="1" dirty="0">
                <a:ea typeface="微软雅黑" panose="020B0503020204020204" pitchFamily="34" charset="-122"/>
              </a:rPr>
              <a:t>）进行强制性修改，并执行相关操作。</a:t>
            </a:r>
          </a:p>
        </p:txBody>
      </p:sp>
    </p:spTree>
    <p:extLst>
      <p:ext uri="{BB962C8B-B14F-4D97-AF65-F5344CB8AC3E}">
        <p14:creationId xmlns:p14="http://schemas.microsoft.com/office/powerpoint/2010/main" val="12012968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38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无条件转移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条件转移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循环控制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中断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程序控制指令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640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855703" y="1802739"/>
            <a:ext cx="7316697" cy="114492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JMP 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目标操作数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：目标操作数可为立即数、寄存器、存储器。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zh-CN" altLang="en-US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根据目标操作数，直接或间接找到目标指令的地址。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3568" y="1623219"/>
            <a:ext cx="7776442" cy="1445741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无条件转移：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JMP</a:t>
            </a:r>
            <a:endParaRPr lang="zh-CN" altLang="en-US" sz="32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>
            <a:spLocks noChangeAspect="1"/>
          </p:cNvSpPr>
          <p:nvPr/>
        </p:nvSpPr>
        <p:spPr>
          <a:xfrm>
            <a:off x="680418" y="3437230"/>
            <a:ext cx="7779592" cy="2368034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17"/>
          <p:cNvSpPr txBox="1"/>
          <p:nvPr/>
        </p:nvSpPr>
        <p:spPr>
          <a:xfrm>
            <a:off x="755576" y="3594209"/>
            <a:ext cx="7563568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段内直接转移：分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短转移和近转移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。短转移用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单字节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、近转移用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双字节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有符号数位移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，表示目标地址与当前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差值。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段内间接转移：目标地址放在寄存器或存储器中的两个字节。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段间直接转移：目标地址为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字节立即数，可用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远标号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定义。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段间间接转移：目标地址存放在存储器的连续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个字节中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2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8885" y="3337566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15"/>
          <p:cNvSpPr txBox="1"/>
          <p:nvPr/>
        </p:nvSpPr>
        <p:spPr>
          <a:xfrm rot="2771384">
            <a:off x="7797821" y="3544103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</a:p>
        </p:txBody>
      </p:sp>
    </p:spTree>
    <p:extLst>
      <p:ext uri="{BB962C8B-B14F-4D97-AF65-F5344CB8AC3E}">
        <p14:creationId xmlns:p14="http://schemas.microsoft.com/office/powerpoint/2010/main" val="31546352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755576" y="2479237"/>
            <a:ext cx="330465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JMP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SHORT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LABEL1</a:t>
            </a: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2321846" y="1577770"/>
            <a:ext cx="2034130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 err="1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xxxxx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755576" y="1577770"/>
            <a:ext cx="249071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LABEL1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3"/>
          <p:cNvSpPr>
            <a:spLocks noChangeArrowheads="1"/>
          </p:cNvSpPr>
          <p:nvPr/>
        </p:nvSpPr>
        <p:spPr bwMode="auto">
          <a:xfrm>
            <a:off x="1286232" y="1937810"/>
            <a:ext cx="96172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3"/>
          <p:cNvSpPr>
            <a:spLocks noChangeArrowheads="1"/>
          </p:cNvSpPr>
          <p:nvPr/>
        </p:nvSpPr>
        <p:spPr bwMode="auto">
          <a:xfrm>
            <a:off x="4950224" y="2479237"/>
            <a:ext cx="3758795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JMP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NEAR PTR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LABEL1</a:t>
            </a:r>
          </a:p>
        </p:txBody>
      </p:sp>
      <p:sp>
        <p:nvSpPr>
          <p:cNvPr id="33" name="矩形 3"/>
          <p:cNvSpPr>
            <a:spLocks noChangeArrowheads="1"/>
          </p:cNvSpPr>
          <p:nvPr/>
        </p:nvSpPr>
        <p:spPr bwMode="auto">
          <a:xfrm>
            <a:off x="6530874" y="1577770"/>
            <a:ext cx="200187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 err="1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xxxxx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矩形 3"/>
          <p:cNvSpPr>
            <a:spLocks noChangeArrowheads="1"/>
          </p:cNvSpPr>
          <p:nvPr/>
        </p:nvSpPr>
        <p:spPr bwMode="auto">
          <a:xfrm>
            <a:off x="4964604" y="1577770"/>
            <a:ext cx="249071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LABEL2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3"/>
          <p:cNvSpPr>
            <a:spLocks noChangeArrowheads="1"/>
          </p:cNvSpPr>
          <p:nvPr/>
        </p:nvSpPr>
        <p:spPr bwMode="auto">
          <a:xfrm>
            <a:off x="5495260" y="1937810"/>
            <a:ext cx="96172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1560" y="1505762"/>
            <a:ext cx="3881898" cy="2088232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4938574" y="1484784"/>
            <a:ext cx="3881898" cy="2088232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"/>
          <p:cNvSpPr>
            <a:spLocks noChangeArrowheads="1"/>
          </p:cNvSpPr>
          <p:nvPr/>
        </p:nvSpPr>
        <p:spPr bwMode="auto">
          <a:xfrm>
            <a:off x="2915816" y="4855501"/>
            <a:ext cx="3600400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JMP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FAR PTR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LABEL1</a:t>
            </a:r>
          </a:p>
        </p:txBody>
      </p:sp>
      <p:sp>
        <p:nvSpPr>
          <p:cNvPr id="38" name="矩形 3"/>
          <p:cNvSpPr>
            <a:spLocks noChangeArrowheads="1"/>
          </p:cNvSpPr>
          <p:nvPr/>
        </p:nvSpPr>
        <p:spPr bwMode="auto">
          <a:xfrm>
            <a:off x="4482086" y="3954034"/>
            <a:ext cx="2034130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 err="1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xxxxx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"/>
          <p:cNvSpPr>
            <a:spLocks noChangeArrowheads="1"/>
          </p:cNvSpPr>
          <p:nvPr/>
        </p:nvSpPr>
        <p:spPr bwMode="auto">
          <a:xfrm>
            <a:off x="2915816" y="3954034"/>
            <a:ext cx="249071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LABEL1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"/>
          <p:cNvSpPr>
            <a:spLocks noChangeArrowheads="1"/>
          </p:cNvSpPr>
          <p:nvPr/>
        </p:nvSpPr>
        <p:spPr bwMode="auto">
          <a:xfrm>
            <a:off x="3446472" y="4314074"/>
            <a:ext cx="96172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771800" y="3882026"/>
            <a:ext cx="3881898" cy="2088232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017148" y="318355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段内短转移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7370191" y="318355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段内近转移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5192046" y="554859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段间远转移</a:t>
            </a:r>
            <a:endParaRPr lang="zh-CN" altLang="en-US" dirty="0"/>
          </a:p>
        </p:txBody>
      </p:sp>
      <p:cxnSp>
        <p:nvCxnSpPr>
          <p:cNvPr id="44" name="直接连接符 4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5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举例：直接转移（常用）</a:t>
            </a:r>
          </a:p>
        </p:txBody>
      </p:sp>
      <p:sp>
        <p:nvSpPr>
          <p:cNvPr id="48" name="矩形 47"/>
          <p:cNvSpPr/>
          <p:nvPr/>
        </p:nvSpPr>
        <p:spPr>
          <a:xfrm>
            <a:off x="1633145" y="6144215"/>
            <a:ext cx="5861915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感兴趣的同学用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debug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看一下段内直接转移的指令编码。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9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6852" y="576861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05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21" grpId="0"/>
      <p:bldP spid="25" grpId="0"/>
      <p:bldP spid="27" grpId="0"/>
      <p:bldP spid="33" grpId="0"/>
      <p:bldP spid="34" grpId="0"/>
      <p:bldP spid="35" grpId="0"/>
      <p:bldP spid="3" grpId="0" animBg="1"/>
      <p:bldP spid="36" grpId="0" animBg="1"/>
      <p:bldP spid="37" grpId="0"/>
      <p:bldP spid="38" grpId="0"/>
      <p:bldP spid="39" grpId="0"/>
      <p:bldP spid="40" grpId="0"/>
      <p:bldP spid="41" grpId="0" animBg="1"/>
      <p:bldP spid="9" grpId="0"/>
      <p:bldP spid="42" grpId="0"/>
      <p:bldP spid="43" grpId="0"/>
      <p:bldP spid="4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1760421" y="3071089"/>
            <a:ext cx="1584176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JMP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BX</a:t>
            </a:r>
          </a:p>
        </p:txBody>
      </p:sp>
      <p:sp>
        <p:nvSpPr>
          <p:cNvPr id="3" name="矩形 2"/>
          <p:cNvSpPr/>
          <p:nvPr/>
        </p:nvSpPr>
        <p:spPr>
          <a:xfrm>
            <a:off x="611560" y="2708920"/>
            <a:ext cx="3881898" cy="2088232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843808" y="438671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段内间接转移</a:t>
            </a:r>
            <a:endParaRPr lang="zh-CN" altLang="en-US" dirty="0"/>
          </a:p>
        </p:txBody>
      </p:sp>
      <p:cxnSp>
        <p:nvCxnSpPr>
          <p:cNvPr id="44" name="直接连接符 4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5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举例：间接转移</a:t>
            </a:r>
          </a:p>
        </p:txBody>
      </p:sp>
      <p:sp>
        <p:nvSpPr>
          <p:cNvPr id="22" name="矩形 3"/>
          <p:cNvSpPr>
            <a:spLocks noChangeArrowheads="1"/>
          </p:cNvSpPr>
          <p:nvPr/>
        </p:nvSpPr>
        <p:spPr bwMode="auto">
          <a:xfrm>
            <a:off x="1660819" y="3626825"/>
            <a:ext cx="1967819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JMP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[BX]</a:t>
            </a:r>
          </a:p>
        </p:txBody>
      </p:sp>
      <p:sp>
        <p:nvSpPr>
          <p:cNvPr id="26" name="矩形 25"/>
          <p:cNvSpPr/>
          <p:nvPr/>
        </p:nvSpPr>
        <p:spPr>
          <a:xfrm>
            <a:off x="4866566" y="2708920"/>
            <a:ext cx="3881898" cy="2088232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098814" y="438671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段间间接转移</a:t>
            </a:r>
            <a:endParaRPr lang="zh-CN" altLang="en-US" dirty="0"/>
          </a:p>
        </p:txBody>
      </p:sp>
      <p:sp>
        <p:nvSpPr>
          <p:cNvPr id="29" name="矩形 3"/>
          <p:cNvSpPr>
            <a:spLocks noChangeArrowheads="1"/>
          </p:cNvSpPr>
          <p:nvPr/>
        </p:nvSpPr>
        <p:spPr bwMode="auto">
          <a:xfrm>
            <a:off x="5004048" y="3356992"/>
            <a:ext cx="3590865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JMP DWORD PTR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[BX]</a:t>
            </a:r>
          </a:p>
        </p:txBody>
      </p:sp>
      <p:sp>
        <p:nvSpPr>
          <p:cNvPr id="30" name="矩形 29"/>
          <p:cNvSpPr/>
          <p:nvPr/>
        </p:nvSpPr>
        <p:spPr>
          <a:xfrm>
            <a:off x="611560" y="1991470"/>
            <a:ext cx="3881898" cy="617205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段内转移仅改变</a:t>
            </a:r>
            <a:r>
              <a:rPr lang="en-US" altLang="zh-CN" sz="2400" b="1" dirty="0">
                <a:ea typeface="微软雅黑" panose="020B0503020204020204" pitchFamily="34" charset="-122"/>
              </a:rPr>
              <a:t>IP</a:t>
            </a:r>
            <a:endParaRPr lang="zh-CN" altLang="en-US" sz="2400" b="1" dirty="0"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866566" y="1991470"/>
            <a:ext cx="3881898" cy="617205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段间转移改变</a:t>
            </a:r>
            <a:r>
              <a:rPr lang="en-US" altLang="zh-CN" sz="2400" b="1" dirty="0">
                <a:ea typeface="微软雅黑" panose="020B0503020204020204" pitchFamily="34" charset="-122"/>
              </a:rPr>
              <a:t>CS</a:t>
            </a:r>
            <a:r>
              <a:rPr lang="zh-CN" altLang="en-US" sz="2400" b="1" dirty="0">
                <a:ea typeface="微软雅黑" panose="020B0503020204020204" pitchFamily="34" charset="-122"/>
              </a:rPr>
              <a:t>：</a:t>
            </a:r>
            <a:r>
              <a:rPr lang="en-US" altLang="zh-CN" sz="2400" b="1" dirty="0">
                <a:ea typeface="微软雅黑" panose="020B0503020204020204" pitchFamily="34" charset="-122"/>
              </a:rPr>
              <a:t>IP</a:t>
            </a:r>
            <a:endParaRPr lang="zh-CN" altLang="en-US" sz="2400" b="1" dirty="0"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166469" y="5877272"/>
            <a:ext cx="4853803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间接转移的目标地址放在寄存器或存储器中。</a:t>
            </a:r>
            <a:endParaRPr lang="en-US" altLang="zh-CN" kern="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JMP [BX]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不用指定类型，默认段内间接转移。</a:t>
            </a:r>
          </a:p>
        </p:txBody>
      </p:sp>
      <p:pic>
        <p:nvPicPr>
          <p:cNvPr id="46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4884" y="576861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836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86205" y="764704"/>
            <a:ext cx="7430211" cy="2952328"/>
            <a:chOff x="1846734" y="1456184"/>
            <a:chExt cx="9937104" cy="3904659"/>
          </a:xfrm>
        </p:grpSpPr>
        <p:sp>
          <p:nvSpPr>
            <p:cNvPr id="3" name="矩形 2"/>
            <p:cNvSpPr/>
            <p:nvPr/>
          </p:nvSpPr>
          <p:spPr>
            <a:xfrm>
              <a:off x="1846734" y="1512424"/>
              <a:ext cx="9937104" cy="3848419"/>
            </a:xfrm>
            <a:prstGeom prst="rect">
              <a:avLst/>
            </a:prstGeom>
            <a:ln>
              <a:solidFill>
                <a:srgbClr val="7BC143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7BC143"/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4" name="Picture 8" descr="C:\Documents and Settings\tdz\桌面\绿色箭头标签01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7109" y="1456184"/>
              <a:ext cx="10033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10" descr="C:\Documents and Settings\tdz\Local Settings\Temp\SoEasy\2ED57B32DAFDACEEB44B8E85F3D00E28.png"/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455100" y="4367129"/>
              <a:ext cx="1184721" cy="993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30"/>
            <p:cNvSpPr txBox="1"/>
            <p:nvPr/>
          </p:nvSpPr>
          <p:spPr>
            <a:xfrm>
              <a:off x="10702950" y="1550372"/>
              <a:ext cx="658589" cy="104863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问题</a:t>
              </a:r>
            </a:p>
          </p:txBody>
        </p:sp>
      </p:grpSp>
      <p:sp>
        <p:nvSpPr>
          <p:cNvPr id="7" name="TextBox 32"/>
          <p:cNvSpPr txBox="1"/>
          <p:nvPr/>
        </p:nvSpPr>
        <p:spPr>
          <a:xfrm>
            <a:off x="1331640" y="2522450"/>
            <a:ext cx="2449613" cy="107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rgbClr val="FD7A2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汇编语言中如何实现子程序调用？</a:t>
            </a:r>
            <a:endParaRPr lang="en-US" altLang="zh-CN" sz="2400" b="1" dirty="0">
              <a:solidFill>
                <a:srgbClr val="FD7A2A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>
            <a:spLocks noChangeAspect="1"/>
          </p:cNvSpPr>
          <p:nvPr/>
        </p:nvSpPr>
        <p:spPr>
          <a:xfrm>
            <a:off x="886205" y="4077071"/>
            <a:ext cx="7430211" cy="1800201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97280" y="4495671"/>
            <a:ext cx="1656184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19"/>
          <p:cNvSpPr txBox="1"/>
          <p:nvPr/>
        </p:nvSpPr>
        <p:spPr>
          <a:xfrm>
            <a:off x="1191259" y="4124761"/>
            <a:ext cx="461665" cy="135663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要解决问题</a:t>
            </a:r>
          </a:p>
        </p:txBody>
      </p:sp>
      <p:sp>
        <p:nvSpPr>
          <p:cNvPr id="23" name="TextBox 17"/>
          <p:cNvSpPr txBox="1"/>
          <p:nvPr/>
        </p:nvSpPr>
        <p:spPr>
          <a:xfrm>
            <a:off x="1969421" y="4149080"/>
            <a:ext cx="6157500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子程序的调用实质上是一种强制改变正常指令指针顺序的过程，调用之前的正常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值称为“断点”。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三个要素：</a:t>
            </a:r>
            <a:r>
              <a:rPr lang="zh-CN" altLang="en-US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断点保护、转移、返回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9952" y="946662"/>
            <a:ext cx="2617476" cy="263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2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 animBg="1"/>
      <p:bldP spid="22" grpId="0"/>
      <p:bldP spid="2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855703" y="1604412"/>
            <a:ext cx="7460713" cy="149579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CALL 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目标操作数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：子程序调用指令，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将当前的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压栈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，根据目标操作数修改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，完成转移。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zh-CN" altLang="en-US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RET/RETF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：返回指令，用栈中数据修改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IP/CS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完成转移。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3568" y="1484784"/>
            <a:ext cx="7776442" cy="167998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无条件转移：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CALL/RET</a:t>
            </a:r>
            <a:endParaRPr lang="zh-CN" altLang="en-US" sz="32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>
            <a:spLocks noChangeAspect="1"/>
          </p:cNvSpPr>
          <p:nvPr/>
        </p:nvSpPr>
        <p:spPr>
          <a:xfrm>
            <a:off x="680418" y="3653254"/>
            <a:ext cx="7779592" cy="2007994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17"/>
          <p:cNvSpPr txBox="1"/>
          <p:nvPr/>
        </p:nvSpPr>
        <p:spPr>
          <a:xfrm>
            <a:off x="896442" y="3766201"/>
            <a:ext cx="702393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汇编中的过程（子程序）有近过程和远过程两种。在调用近过程时，仅将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压栈。调用远过程时，将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压栈。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RET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用于近过程的返回，仅修改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RETF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用于远过程的返回，修改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2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8885" y="3553590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15"/>
          <p:cNvSpPr txBox="1"/>
          <p:nvPr/>
        </p:nvSpPr>
        <p:spPr>
          <a:xfrm rot="2771384">
            <a:off x="7797821" y="3760127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0" name="矩形 9"/>
          <p:cNvSpPr/>
          <p:nvPr/>
        </p:nvSpPr>
        <p:spPr>
          <a:xfrm>
            <a:off x="1722102" y="5877272"/>
            <a:ext cx="580264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近过程：处于当前代码段的过程，其它代码段的过程称为远过程；如何确定近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远过程，后面讲伪指令解决。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9592" y="576861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15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855703" y="1616667"/>
            <a:ext cx="7316697" cy="172970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CALL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指令不能实现短转移，除此之外，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CALL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实现转移的方法与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JMP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指令相同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CALL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JMP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指令的区别在与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CALL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除了完成转移，还会把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当前的断点保护到栈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3568" y="1484784"/>
            <a:ext cx="7776442" cy="2016224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CALL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的寻址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683568" y="3789040"/>
            <a:ext cx="3549440" cy="1848402"/>
            <a:chOff x="374322" y="1484784"/>
            <a:chExt cx="3549440" cy="1848402"/>
          </a:xfrm>
        </p:grpSpPr>
        <p:sp>
          <p:nvSpPr>
            <p:cNvPr id="11" name="Rounded Rectangle 27"/>
            <p:cNvSpPr>
              <a:spLocks noChangeArrowheads="1"/>
            </p:cNvSpPr>
            <p:nvPr/>
          </p:nvSpPr>
          <p:spPr bwMode="auto">
            <a:xfrm rot="16200000" flipH="1">
              <a:off x="1239452" y="648876"/>
              <a:ext cx="1819180" cy="3549440"/>
            </a:xfrm>
            <a:prstGeom prst="roundRect">
              <a:avLst>
                <a:gd name="adj" fmla="val 7870"/>
              </a:avLst>
            </a:prstGeom>
            <a:solidFill>
              <a:srgbClr val="FFFFFF"/>
            </a:solidFill>
            <a:ln w="6350">
              <a:solidFill>
                <a:sysClr val="window" lastClr="FFFFFF">
                  <a:lumMod val="65000"/>
                </a:sys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en-US" kern="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2" name="Round Same Side Corner Rectangle 141"/>
            <p:cNvSpPr/>
            <p:nvPr/>
          </p:nvSpPr>
          <p:spPr bwMode="auto">
            <a:xfrm>
              <a:off x="374322" y="1484784"/>
              <a:ext cx="3549440" cy="578569"/>
            </a:xfrm>
            <a:prstGeom prst="round2SameRect">
              <a:avLst>
                <a:gd name="adj1" fmla="val 27778"/>
                <a:gd name="adj2" fmla="val 0"/>
              </a:avLst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" name="Rektangel 76"/>
            <p:cNvSpPr>
              <a:spLocks noChangeArrowheads="1"/>
            </p:cNvSpPr>
            <p:nvPr/>
          </p:nvSpPr>
          <p:spPr bwMode="auto">
            <a:xfrm>
              <a:off x="1273051" y="1591971"/>
              <a:ext cx="25202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r>
                <a:rPr lang="zh-CN" altLang="en-US" kern="0" noProof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Arial" charset="0"/>
                </a:rPr>
                <a:t>保护断点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552971" y="1516460"/>
              <a:ext cx="504000" cy="530740"/>
              <a:chOff x="631492" y="2376015"/>
              <a:chExt cx="504000" cy="530740"/>
            </a:xfrm>
          </p:grpSpPr>
          <p:sp>
            <p:nvSpPr>
              <p:cNvPr id="16" name="Ellipse 53"/>
              <p:cNvSpPr>
                <a:spLocks noChangeArrowheads="1"/>
              </p:cNvSpPr>
              <p:nvPr/>
            </p:nvSpPr>
            <p:spPr bwMode="auto">
              <a:xfrm>
                <a:off x="631492" y="2376015"/>
                <a:ext cx="504000" cy="504001"/>
              </a:xfrm>
              <a:prstGeom prst="ellipse">
                <a:avLst/>
              </a:prstGeom>
              <a:solidFill>
                <a:srgbClr val="FFFFFF">
                  <a:alpha val="61960"/>
                </a:srgbClr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  <a:effectLst>
                <a:outerShdw dist="38100" dir="2700000" algn="tl" rotWithShape="0">
                  <a:srgbClr val="808080">
                    <a:alpha val="39998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kern="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7" name="Tekstboks 54"/>
              <p:cNvSpPr txBox="1">
                <a:spLocks noChangeArrowheads="1"/>
              </p:cNvSpPr>
              <p:nvPr/>
            </p:nvSpPr>
            <p:spPr bwMode="auto">
              <a:xfrm>
                <a:off x="677310" y="2383535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>
                  <a:defRPr/>
                </a:pPr>
                <a:r>
                  <a:rPr lang="da-DK" sz="2800" b="1" kern="0" dirty="0">
                    <a:solidFill>
                      <a:srgbClr val="0070C0"/>
                    </a:solidFill>
                    <a:latin typeface="+mn-ea"/>
                    <a:ea typeface="+mn-ea"/>
                  </a:rPr>
                  <a:t>1</a:t>
                </a:r>
              </a:p>
            </p:txBody>
          </p:sp>
        </p:grpSp>
        <p:sp>
          <p:nvSpPr>
            <p:cNvPr id="15" name="Tekstboks 72"/>
            <p:cNvSpPr txBox="1">
              <a:spLocks noChangeArrowheads="1"/>
            </p:cNvSpPr>
            <p:nvPr/>
          </p:nvSpPr>
          <p:spPr bwMode="auto">
            <a:xfrm>
              <a:off x="415266" y="2132856"/>
              <a:ext cx="34920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lnSpc>
                  <a:spcPct val="120000"/>
                </a:lnSpc>
                <a:defRPr/>
              </a:pPr>
              <a:r>
                <a:rPr lang="zh-CN" altLang="en-US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近调用：当前</a:t>
              </a:r>
              <a:r>
                <a:rPr lang="en-US" altLang="zh-CN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lang="zh-CN" altLang="en-US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压栈</a:t>
              </a:r>
              <a:endParaRPr lang="en-US" altLang="zh-CN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eaLnBrk="1" hangingPunct="1">
                <a:lnSpc>
                  <a:spcPct val="120000"/>
                </a:lnSpc>
                <a:defRPr/>
              </a:pPr>
              <a:r>
                <a:rPr lang="zh-CN" altLang="en-US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远调用：当前</a:t>
              </a:r>
              <a:r>
                <a:rPr lang="en-US" altLang="zh-CN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CS</a:t>
              </a:r>
              <a:r>
                <a:rPr lang="zh-CN" altLang="en-US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lang="zh-CN" altLang="en-US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压栈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499992" y="3789040"/>
            <a:ext cx="4125504" cy="1848405"/>
            <a:chOff x="374322" y="1484784"/>
            <a:chExt cx="3816272" cy="1848405"/>
          </a:xfrm>
        </p:grpSpPr>
        <p:sp>
          <p:nvSpPr>
            <p:cNvPr id="19" name="Rounded Rectangle 27"/>
            <p:cNvSpPr>
              <a:spLocks noChangeArrowheads="1"/>
            </p:cNvSpPr>
            <p:nvPr/>
          </p:nvSpPr>
          <p:spPr bwMode="auto">
            <a:xfrm rot="16200000" flipH="1">
              <a:off x="1306258" y="582071"/>
              <a:ext cx="1819182" cy="3683053"/>
            </a:xfrm>
            <a:prstGeom prst="roundRect">
              <a:avLst>
                <a:gd name="adj" fmla="val 7870"/>
              </a:avLst>
            </a:prstGeom>
            <a:solidFill>
              <a:srgbClr val="FFFFFF"/>
            </a:solidFill>
            <a:ln w="6350">
              <a:solidFill>
                <a:sysClr val="window" lastClr="FFFFFF">
                  <a:lumMod val="65000"/>
                </a:sys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en-US" kern="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" name="Round Same Side Corner Rectangle 141"/>
            <p:cNvSpPr/>
            <p:nvPr/>
          </p:nvSpPr>
          <p:spPr bwMode="auto">
            <a:xfrm>
              <a:off x="374322" y="1484784"/>
              <a:ext cx="3683054" cy="578569"/>
            </a:xfrm>
            <a:prstGeom prst="round2SameRect">
              <a:avLst>
                <a:gd name="adj1" fmla="val 27778"/>
                <a:gd name="adj2" fmla="val 0"/>
              </a:avLst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" name="Rektangel 76"/>
            <p:cNvSpPr>
              <a:spLocks noChangeArrowheads="1"/>
            </p:cNvSpPr>
            <p:nvPr/>
          </p:nvSpPr>
          <p:spPr bwMode="auto">
            <a:xfrm>
              <a:off x="1273051" y="1591971"/>
              <a:ext cx="25202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r>
                <a:rPr lang="zh-CN" altLang="en-US" kern="0" noProof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Arial" charset="0"/>
                </a:rPr>
                <a:t>转移</a:t>
              </a: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07543" y="1516460"/>
              <a:ext cx="506927" cy="530740"/>
              <a:chOff x="586064" y="2376015"/>
              <a:chExt cx="506927" cy="530740"/>
            </a:xfrm>
          </p:grpSpPr>
          <p:sp>
            <p:nvSpPr>
              <p:cNvPr id="24" name="Ellipse 53"/>
              <p:cNvSpPr>
                <a:spLocks noChangeArrowheads="1"/>
              </p:cNvSpPr>
              <p:nvPr/>
            </p:nvSpPr>
            <p:spPr bwMode="auto">
              <a:xfrm>
                <a:off x="586064" y="2376015"/>
                <a:ext cx="506927" cy="504001"/>
              </a:xfrm>
              <a:prstGeom prst="ellipse">
                <a:avLst/>
              </a:prstGeom>
              <a:solidFill>
                <a:srgbClr val="FFFFFF">
                  <a:alpha val="61960"/>
                </a:srgbClr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  <a:effectLst>
                <a:outerShdw dist="38100" dir="2700000" algn="tl" rotWithShape="0">
                  <a:srgbClr val="808080">
                    <a:alpha val="39998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kern="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5" name="Tekstboks 54"/>
              <p:cNvSpPr txBox="1">
                <a:spLocks noChangeArrowheads="1"/>
              </p:cNvSpPr>
              <p:nvPr/>
            </p:nvSpPr>
            <p:spPr bwMode="auto">
              <a:xfrm>
                <a:off x="677310" y="2383535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>
                  <a:defRPr/>
                </a:pPr>
                <a:r>
                  <a:rPr lang="da-DK" sz="2800" b="1" kern="0" dirty="0">
                    <a:solidFill>
                      <a:srgbClr val="0070C0"/>
                    </a:solidFill>
                    <a:latin typeface="+mn-ea"/>
                    <a:ea typeface="+mn-ea"/>
                  </a:rPr>
                  <a:t>2</a:t>
                </a:r>
              </a:p>
            </p:txBody>
          </p:sp>
        </p:grpSp>
        <p:sp>
          <p:nvSpPr>
            <p:cNvPr id="23" name="Tekstboks 72"/>
            <p:cNvSpPr txBox="1">
              <a:spLocks noChangeArrowheads="1"/>
            </p:cNvSpPr>
            <p:nvPr/>
          </p:nvSpPr>
          <p:spPr bwMode="auto">
            <a:xfrm>
              <a:off x="415265" y="2132856"/>
              <a:ext cx="3775329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lnSpc>
                  <a:spcPct val="120000"/>
                </a:lnSpc>
                <a:defRPr/>
              </a:pPr>
              <a:r>
                <a:rPr lang="zh-CN" altLang="en-US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近调用：获得子程序偏移地址给</a:t>
              </a:r>
              <a:r>
                <a:rPr lang="en-US" altLang="zh-CN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</a:p>
            <a:p>
              <a:pPr eaLnBrk="1" hangingPunct="1">
                <a:lnSpc>
                  <a:spcPct val="120000"/>
                </a:lnSpc>
                <a:defRPr/>
              </a:pPr>
              <a:r>
                <a:rPr lang="zh-CN" altLang="en-US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远调用：获得子程序的段、偏移地址给</a:t>
              </a:r>
              <a:r>
                <a:rPr lang="en-US" altLang="zh-CN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CS</a:t>
              </a:r>
              <a:r>
                <a:rPr lang="zh-CN" altLang="en-US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en-US" altLang="zh-CN" sz="2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endPara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1187624" y="5877727"/>
            <a:ext cx="6337126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记不住压栈顺序？</a:t>
            </a:r>
            <a:r>
              <a:rPr lang="en-US" altLang="zh-CN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</a:t>
            </a:r>
            <a:r>
              <a:rPr lang="zh-CN" altLang="en-US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在高地址，当然先压栈，因为压栈时</a:t>
            </a:r>
            <a:r>
              <a:rPr lang="en-US" altLang="zh-CN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lang="zh-CN" altLang="en-US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指针是减的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CALL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涉及压栈，注意栈段及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指针的变化。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520" y="5814781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46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/>
          </p:cNvSpPr>
          <p:nvPr/>
        </p:nvSpPr>
        <p:spPr bwMode="auto">
          <a:xfrm>
            <a:off x="638811" y="5183318"/>
            <a:ext cx="7546713" cy="93107"/>
          </a:xfrm>
          <a:custGeom>
            <a:avLst/>
            <a:gdLst>
              <a:gd name="T0" fmla="*/ 0 w 5998"/>
              <a:gd name="T1" fmla="*/ 0 h 74"/>
              <a:gd name="T2" fmla="*/ 5998 w 5998"/>
              <a:gd name="T3" fmla="*/ 0 h 74"/>
              <a:gd name="T4" fmla="*/ 5998 w 5998"/>
              <a:gd name="T5" fmla="*/ 74 h 74"/>
              <a:gd name="T6" fmla="*/ 0 w 5998"/>
              <a:gd name="T7" fmla="*/ 74 h 74"/>
              <a:gd name="T8" fmla="*/ 0 w 5998"/>
              <a:gd name="T9" fmla="*/ 0 h 74"/>
              <a:gd name="T10" fmla="*/ 0 w 5998"/>
              <a:gd name="T11" fmla="*/ 0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98" h="74">
                <a:moveTo>
                  <a:pt x="0" y="0"/>
                </a:moveTo>
                <a:lnTo>
                  <a:pt x="5998" y="0"/>
                </a:lnTo>
                <a:lnTo>
                  <a:pt x="5998" y="74"/>
                </a:lnTo>
                <a:lnTo>
                  <a:pt x="0" y="7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8989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Oval 6"/>
          <p:cNvSpPr>
            <a:spLocks noChangeArrowheads="1"/>
          </p:cNvSpPr>
          <p:nvPr/>
        </p:nvSpPr>
        <p:spPr bwMode="auto">
          <a:xfrm>
            <a:off x="394336" y="4995993"/>
            <a:ext cx="488950" cy="492125"/>
          </a:xfrm>
          <a:prstGeom prst="ellipse">
            <a:avLst/>
          </a:prstGeom>
          <a:solidFill>
            <a:srgbClr val="8989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Oval 7"/>
          <p:cNvSpPr>
            <a:spLocks noChangeArrowheads="1"/>
          </p:cNvSpPr>
          <p:nvPr/>
        </p:nvSpPr>
        <p:spPr bwMode="auto">
          <a:xfrm>
            <a:off x="500699" y="5094418"/>
            <a:ext cx="284163" cy="2857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Oval 8"/>
          <p:cNvSpPr>
            <a:spLocks noChangeArrowheads="1"/>
          </p:cNvSpPr>
          <p:nvPr/>
        </p:nvSpPr>
        <p:spPr bwMode="auto">
          <a:xfrm>
            <a:off x="540386" y="5143631"/>
            <a:ext cx="195263" cy="196850"/>
          </a:xfrm>
          <a:prstGeom prst="ellipse">
            <a:avLst/>
          </a:prstGeom>
          <a:solidFill>
            <a:srgbClr val="74A7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Oval 9"/>
          <p:cNvSpPr>
            <a:spLocks noChangeArrowheads="1"/>
          </p:cNvSpPr>
          <p:nvPr/>
        </p:nvSpPr>
        <p:spPr bwMode="auto">
          <a:xfrm>
            <a:off x="1978661" y="4995993"/>
            <a:ext cx="488950" cy="492125"/>
          </a:xfrm>
          <a:prstGeom prst="ellipse">
            <a:avLst/>
          </a:prstGeom>
          <a:solidFill>
            <a:srgbClr val="8989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2077086" y="5094418"/>
            <a:ext cx="293688" cy="2857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Oval 11"/>
          <p:cNvSpPr>
            <a:spLocks noChangeArrowheads="1"/>
          </p:cNvSpPr>
          <p:nvPr/>
        </p:nvSpPr>
        <p:spPr bwMode="auto">
          <a:xfrm>
            <a:off x="2126299" y="5143631"/>
            <a:ext cx="195263" cy="196850"/>
          </a:xfrm>
          <a:prstGeom prst="ellipse">
            <a:avLst/>
          </a:prstGeom>
          <a:solidFill>
            <a:srgbClr val="CCB7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Oval 12"/>
          <p:cNvSpPr>
            <a:spLocks noChangeArrowheads="1"/>
          </p:cNvSpPr>
          <p:nvPr/>
        </p:nvSpPr>
        <p:spPr bwMode="auto">
          <a:xfrm>
            <a:off x="3564574" y="4995993"/>
            <a:ext cx="488950" cy="492125"/>
          </a:xfrm>
          <a:prstGeom prst="ellipse">
            <a:avLst/>
          </a:prstGeom>
          <a:solidFill>
            <a:srgbClr val="8989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Oval 13"/>
          <p:cNvSpPr>
            <a:spLocks noChangeArrowheads="1"/>
          </p:cNvSpPr>
          <p:nvPr/>
        </p:nvSpPr>
        <p:spPr bwMode="auto">
          <a:xfrm>
            <a:off x="3662999" y="5094418"/>
            <a:ext cx="282575" cy="2857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Oval 14"/>
          <p:cNvSpPr>
            <a:spLocks noChangeArrowheads="1"/>
          </p:cNvSpPr>
          <p:nvPr/>
        </p:nvSpPr>
        <p:spPr bwMode="auto">
          <a:xfrm>
            <a:off x="3710624" y="5143631"/>
            <a:ext cx="187325" cy="196850"/>
          </a:xfrm>
          <a:prstGeom prst="ellipse">
            <a:avLst/>
          </a:prstGeom>
          <a:solidFill>
            <a:srgbClr val="EA50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5139374" y="4995993"/>
            <a:ext cx="490538" cy="492125"/>
          </a:xfrm>
          <a:prstGeom prst="ellipse">
            <a:avLst/>
          </a:prstGeom>
          <a:solidFill>
            <a:srgbClr val="8989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5247324" y="5094418"/>
            <a:ext cx="284163" cy="2857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5287011" y="5143631"/>
            <a:ext cx="195263" cy="196850"/>
          </a:xfrm>
          <a:prstGeom prst="ellipse">
            <a:avLst/>
          </a:prstGeom>
          <a:solidFill>
            <a:srgbClr val="7B60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6725286" y="4995993"/>
            <a:ext cx="488950" cy="492125"/>
          </a:xfrm>
          <a:prstGeom prst="ellipse">
            <a:avLst/>
          </a:prstGeom>
          <a:solidFill>
            <a:srgbClr val="8989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6823711" y="5094418"/>
            <a:ext cx="284163" cy="2857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6872924" y="5143631"/>
            <a:ext cx="195263" cy="196850"/>
          </a:xfrm>
          <a:prstGeom prst="ellipse">
            <a:avLst/>
          </a:prstGeom>
          <a:solidFill>
            <a:srgbClr val="74A7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27"/>
          <p:cNvSpPr>
            <a:spLocks/>
          </p:cNvSpPr>
          <p:nvPr/>
        </p:nvSpPr>
        <p:spPr bwMode="auto">
          <a:xfrm>
            <a:off x="1001951" y="3451356"/>
            <a:ext cx="2431045" cy="1033463"/>
          </a:xfrm>
          <a:custGeom>
            <a:avLst/>
            <a:gdLst>
              <a:gd name="T0" fmla="*/ 0 w 1702"/>
              <a:gd name="T1" fmla="*/ 651 h 651"/>
              <a:gd name="T2" fmla="*/ 1702 w 1702"/>
              <a:gd name="T3" fmla="*/ 651 h 651"/>
              <a:gd name="T4" fmla="*/ 1702 w 1702"/>
              <a:gd name="T5" fmla="*/ 0 h 651"/>
              <a:gd name="T6" fmla="*/ 0 w 1702"/>
              <a:gd name="T7" fmla="*/ 0 h 651"/>
              <a:gd name="T8" fmla="*/ 0 w 1702"/>
              <a:gd name="T9" fmla="*/ 651 h 651"/>
              <a:gd name="T10" fmla="*/ 0 w 1702"/>
              <a:gd name="T11" fmla="*/ 651 h 6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2" h="651">
                <a:moveTo>
                  <a:pt x="0" y="651"/>
                </a:moveTo>
                <a:lnTo>
                  <a:pt x="1702" y="651"/>
                </a:lnTo>
                <a:lnTo>
                  <a:pt x="1702" y="0"/>
                </a:lnTo>
                <a:lnTo>
                  <a:pt x="0" y="0"/>
                </a:lnTo>
                <a:lnTo>
                  <a:pt x="0" y="651"/>
                </a:lnTo>
                <a:lnTo>
                  <a:pt x="0" y="651"/>
                </a:lnTo>
                <a:close/>
              </a:path>
            </a:pathLst>
          </a:custGeom>
          <a:solidFill>
            <a:srgbClr val="CCB7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Freeform 30"/>
          <p:cNvSpPr>
            <a:spLocks/>
          </p:cNvSpPr>
          <p:nvPr/>
        </p:nvSpPr>
        <p:spPr bwMode="auto">
          <a:xfrm>
            <a:off x="4297092" y="3451356"/>
            <a:ext cx="2213593" cy="1033463"/>
          </a:xfrm>
          <a:custGeom>
            <a:avLst/>
            <a:gdLst>
              <a:gd name="T0" fmla="*/ 0 w 1701"/>
              <a:gd name="T1" fmla="*/ 651 h 651"/>
              <a:gd name="T2" fmla="*/ 1701 w 1701"/>
              <a:gd name="T3" fmla="*/ 651 h 651"/>
              <a:gd name="T4" fmla="*/ 1701 w 1701"/>
              <a:gd name="T5" fmla="*/ 0 h 651"/>
              <a:gd name="T6" fmla="*/ 0 w 1701"/>
              <a:gd name="T7" fmla="*/ 0 h 651"/>
              <a:gd name="T8" fmla="*/ 0 w 1701"/>
              <a:gd name="T9" fmla="*/ 651 h 651"/>
              <a:gd name="T10" fmla="*/ 0 w 1701"/>
              <a:gd name="T11" fmla="*/ 651 h 6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1" h="651">
                <a:moveTo>
                  <a:pt x="0" y="651"/>
                </a:moveTo>
                <a:lnTo>
                  <a:pt x="1701" y="651"/>
                </a:lnTo>
                <a:lnTo>
                  <a:pt x="1701" y="0"/>
                </a:lnTo>
                <a:lnTo>
                  <a:pt x="0" y="0"/>
                </a:lnTo>
                <a:lnTo>
                  <a:pt x="0" y="651"/>
                </a:lnTo>
                <a:lnTo>
                  <a:pt x="0" y="651"/>
                </a:lnTo>
                <a:close/>
              </a:path>
            </a:pathLst>
          </a:custGeom>
          <a:solidFill>
            <a:srgbClr val="7B60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Freeform 31"/>
          <p:cNvSpPr>
            <a:spLocks/>
          </p:cNvSpPr>
          <p:nvPr/>
        </p:nvSpPr>
        <p:spPr bwMode="auto">
          <a:xfrm>
            <a:off x="394336" y="1995618"/>
            <a:ext cx="2438187" cy="1042988"/>
          </a:xfrm>
          <a:custGeom>
            <a:avLst/>
            <a:gdLst>
              <a:gd name="T0" fmla="*/ 0 w 1707"/>
              <a:gd name="T1" fmla="*/ 657 h 657"/>
              <a:gd name="T2" fmla="*/ 1707 w 1707"/>
              <a:gd name="T3" fmla="*/ 657 h 657"/>
              <a:gd name="T4" fmla="*/ 1707 w 1707"/>
              <a:gd name="T5" fmla="*/ 0 h 657"/>
              <a:gd name="T6" fmla="*/ 0 w 1707"/>
              <a:gd name="T7" fmla="*/ 0 h 657"/>
              <a:gd name="T8" fmla="*/ 0 w 1707"/>
              <a:gd name="T9" fmla="*/ 657 h 657"/>
              <a:gd name="T10" fmla="*/ 0 w 1707"/>
              <a:gd name="T11" fmla="*/ 657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7" h="657">
                <a:moveTo>
                  <a:pt x="0" y="657"/>
                </a:moveTo>
                <a:lnTo>
                  <a:pt x="1707" y="657"/>
                </a:lnTo>
                <a:lnTo>
                  <a:pt x="1707" y="0"/>
                </a:lnTo>
                <a:lnTo>
                  <a:pt x="0" y="0"/>
                </a:lnTo>
                <a:lnTo>
                  <a:pt x="0" y="657"/>
                </a:lnTo>
                <a:lnTo>
                  <a:pt x="0" y="657"/>
                </a:lnTo>
                <a:close/>
              </a:path>
            </a:pathLst>
          </a:custGeom>
          <a:solidFill>
            <a:srgbClr val="74A7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Freeform 32"/>
          <p:cNvSpPr>
            <a:spLocks/>
          </p:cNvSpPr>
          <p:nvPr/>
        </p:nvSpPr>
        <p:spPr bwMode="auto">
          <a:xfrm>
            <a:off x="6755450" y="1995618"/>
            <a:ext cx="2209038" cy="1042988"/>
          </a:xfrm>
          <a:custGeom>
            <a:avLst/>
            <a:gdLst>
              <a:gd name="T0" fmla="*/ 0 w 1707"/>
              <a:gd name="T1" fmla="*/ 657 h 657"/>
              <a:gd name="T2" fmla="*/ 1707 w 1707"/>
              <a:gd name="T3" fmla="*/ 657 h 657"/>
              <a:gd name="T4" fmla="*/ 1707 w 1707"/>
              <a:gd name="T5" fmla="*/ 0 h 657"/>
              <a:gd name="T6" fmla="*/ 0 w 1707"/>
              <a:gd name="T7" fmla="*/ 0 h 657"/>
              <a:gd name="T8" fmla="*/ 0 w 1707"/>
              <a:gd name="T9" fmla="*/ 657 h 657"/>
              <a:gd name="T10" fmla="*/ 0 w 1707"/>
              <a:gd name="T11" fmla="*/ 657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7" h="657">
                <a:moveTo>
                  <a:pt x="0" y="657"/>
                </a:moveTo>
                <a:lnTo>
                  <a:pt x="1707" y="657"/>
                </a:lnTo>
                <a:lnTo>
                  <a:pt x="1707" y="0"/>
                </a:lnTo>
                <a:lnTo>
                  <a:pt x="0" y="0"/>
                </a:lnTo>
                <a:lnTo>
                  <a:pt x="0" y="657"/>
                </a:lnTo>
                <a:lnTo>
                  <a:pt x="0" y="657"/>
                </a:lnTo>
                <a:close/>
              </a:path>
            </a:pathLst>
          </a:custGeom>
          <a:solidFill>
            <a:srgbClr val="74A7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33"/>
          <p:cNvSpPr>
            <a:spLocks/>
          </p:cNvSpPr>
          <p:nvPr/>
        </p:nvSpPr>
        <p:spPr bwMode="auto">
          <a:xfrm>
            <a:off x="3583624" y="1995618"/>
            <a:ext cx="2439615" cy="1042988"/>
          </a:xfrm>
          <a:custGeom>
            <a:avLst/>
            <a:gdLst>
              <a:gd name="T0" fmla="*/ 0 w 1708"/>
              <a:gd name="T1" fmla="*/ 657 h 657"/>
              <a:gd name="T2" fmla="*/ 1708 w 1708"/>
              <a:gd name="T3" fmla="*/ 657 h 657"/>
              <a:gd name="T4" fmla="*/ 1708 w 1708"/>
              <a:gd name="T5" fmla="*/ 0 h 657"/>
              <a:gd name="T6" fmla="*/ 0 w 1708"/>
              <a:gd name="T7" fmla="*/ 0 h 657"/>
              <a:gd name="T8" fmla="*/ 0 w 1708"/>
              <a:gd name="T9" fmla="*/ 657 h 657"/>
              <a:gd name="T10" fmla="*/ 0 w 1708"/>
              <a:gd name="T11" fmla="*/ 657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8" h="657">
                <a:moveTo>
                  <a:pt x="0" y="657"/>
                </a:moveTo>
                <a:lnTo>
                  <a:pt x="1708" y="657"/>
                </a:lnTo>
                <a:lnTo>
                  <a:pt x="1708" y="0"/>
                </a:lnTo>
                <a:lnTo>
                  <a:pt x="0" y="0"/>
                </a:lnTo>
                <a:lnTo>
                  <a:pt x="0" y="657"/>
                </a:lnTo>
                <a:lnTo>
                  <a:pt x="0" y="657"/>
                </a:lnTo>
                <a:close/>
              </a:path>
            </a:pathLst>
          </a:custGeom>
          <a:solidFill>
            <a:srgbClr val="EA50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Freeform 34"/>
          <p:cNvSpPr>
            <a:spLocks/>
          </p:cNvSpPr>
          <p:nvPr/>
        </p:nvSpPr>
        <p:spPr bwMode="auto">
          <a:xfrm>
            <a:off x="6941186" y="2733806"/>
            <a:ext cx="58738" cy="2508250"/>
          </a:xfrm>
          <a:custGeom>
            <a:avLst/>
            <a:gdLst>
              <a:gd name="T0" fmla="*/ 37 w 37"/>
              <a:gd name="T1" fmla="*/ 1580 h 1580"/>
              <a:gd name="T2" fmla="*/ 0 w 37"/>
              <a:gd name="T3" fmla="*/ 1580 h 1580"/>
              <a:gd name="T4" fmla="*/ 0 w 37"/>
              <a:gd name="T5" fmla="*/ 0 h 1580"/>
              <a:gd name="T6" fmla="*/ 37 w 37"/>
              <a:gd name="T7" fmla="*/ 0 h 1580"/>
              <a:gd name="T8" fmla="*/ 37 w 37"/>
              <a:gd name="T9" fmla="*/ 1580 h 1580"/>
              <a:gd name="T10" fmla="*/ 37 w 37"/>
              <a:gd name="T11" fmla="*/ 1580 h 1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" h="1580">
                <a:moveTo>
                  <a:pt x="37" y="1580"/>
                </a:moveTo>
                <a:lnTo>
                  <a:pt x="0" y="1580"/>
                </a:lnTo>
                <a:lnTo>
                  <a:pt x="0" y="0"/>
                </a:lnTo>
                <a:lnTo>
                  <a:pt x="37" y="0"/>
                </a:lnTo>
                <a:lnTo>
                  <a:pt x="37" y="1580"/>
                </a:lnTo>
                <a:lnTo>
                  <a:pt x="37" y="1580"/>
                </a:lnTo>
                <a:close/>
              </a:path>
            </a:pathLst>
          </a:custGeom>
          <a:solidFill>
            <a:srgbClr val="74A7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Freeform 35"/>
          <p:cNvSpPr>
            <a:spLocks/>
          </p:cNvSpPr>
          <p:nvPr/>
        </p:nvSpPr>
        <p:spPr bwMode="auto">
          <a:xfrm>
            <a:off x="5355274" y="3913318"/>
            <a:ext cx="58738" cy="1328738"/>
          </a:xfrm>
          <a:custGeom>
            <a:avLst/>
            <a:gdLst>
              <a:gd name="T0" fmla="*/ 37 w 37"/>
              <a:gd name="T1" fmla="*/ 837 h 837"/>
              <a:gd name="T2" fmla="*/ 0 w 37"/>
              <a:gd name="T3" fmla="*/ 837 h 837"/>
              <a:gd name="T4" fmla="*/ 0 w 37"/>
              <a:gd name="T5" fmla="*/ 0 h 837"/>
              <a:gd name="T6" fmla="*/ 37 w 37"/>
              <a:gd name="T7" fmla="*/ 0 h 837"/>
              <a:gd name="T8" fmla="*/ 37 w 37"/>
              <a:gd name="T9" fmla="*/ 837 h 837"/>
              <a:gd name="T10" fmla="*/ 37 w 37"/>
              <a:gd name="T11" fmla="*/ 837 h 8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" h="837">
                <a:moveTo>
                  <a:pt x="37" y="837"/>
                </a:moveTo>
                <a:lnTo>
                  <a:pt x="0" y="837"/>
                </a:lnTo>
                <a:lnTo>
                  <a:pt x="0" y="0"/>
                </a:lnTo>
                <a:lnTo>
                  <a:pt x="37" y="0"/>
                </a:lnTo>
                <a:lnTo>
                  <a:pt x="37" y="837"/>
                </a:lnTo>
                <a:lnTo>
                  <a:pt x="37" y="837"/>
                </a:lnTo>
                <a:close/>
              </a:path>
            </a:pathLst>
          </a:custGeom>
          <a:solidFill>
            <a:srgbClr val="7B60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Freeform 36"/>
          <p:cNvSpPr>
            <a:spLocks/>
          </p:cNvSpPr>
          <p:nvPr/>
        </p:nvSpPr>
        <p:spPr bwMode="auto">
          <a:xfrm>
            <a:off x="3769361" y="2556006"/>
            <a:ext cx="69850" cy="2686050"/>
          </a:xfrm>
          <a:custGeom>
            <a:avLst/>
            <a:gdLst>
              <a:gd name="T0" fmla="*/ 44 w 44"/>
              <a:gd name="T1" fmla="*/ 1692 h 1692"/>
              <a:gd name="T2" fmla="*/ 0 w 44"/>
              <a:gd name="T3" fmla="*/ 1692 h 1692"/>
              <a:gd name="T4" fmla="*/ 0 w 44"/>
              <a:gd name="T5" fmla="*/ 0 h 1692"/>
              <a:gd name="T6" fmla="*/ 44 w 44"/>
              <a:gd name="T7" fmla="*/ 0 h 1692"/>
              <a:gd name="T8" fmla="*/ 44 w 44"/>
              <a:gd name="T9" fmla="*/ 1692 h 1692"/>
              <a:gd name="T10" fmla="*/ 44 w 44"/>
              <a:gd name="T11" fmla="*/ 1692 h 1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1692">
                <a:moveTo>
                  <a:pt x="44" y="1692"/>
                </a:moveTo>
                <a:lnTo>
                  <a:pt x="0" y="1692"/>
                </a:lnTo>
                <a:lnTo>
                  <a:pt x="0" y="0"/>
                </a:lnTo>
                <a:lnTo>
                  <a:pt x="44" y="0"/>
                </a:lnTo>
                <a:lnTo>
                  <a:pt x="44" y="1692"/>
                </a:lnTo>
                <a:lnTo>
                  <a:pt x="44" y="1692"/>
                </a:lnTo>
                <a:close/>
              </a:path>
            </a:pathLst>
          </a:custGeom>
          <a:solidFill>
            <a:srgbClr val="EA50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37"/>
          <p:cNvSpPr>
            <a:spLocks/>
          </p:cNvSpPr>
          <p:nvPr/>
        </p:nvSpPr>
        <p:spPr bwMode="auto">
          <a:xfrm>
            <a:off x="2194561" y="3559306"/>
            <a:ext cx="58738" cy="1682750"/>
          </a:xfrm>
          <a:custGeom>
            <a:avLst/>
            <a:gdLst>
              <a:gd name="T0" fmla="*/ 37 w 37"/>
              <a:gd name="T1" fmla="*/ 1060 h 1060"/>
              <a:gd name="T2" fmla="*/ 0 w 37"/>
              <a:gd name="T3" fmla="*/ 1060 h 1060"/>
              <a:gd name="T4" fmla="*/ 0 w 37"/>
              <a:gd name="T5" fmla="*/ 0 h 1060"/>
              <a:gd name="T6" fmla="*/ 37 w 37"/>
              <a:gd name="T7" fmla="*/ 0 h 1060"/>
              <a:gd name="T8" fmla="*/ 37 w 37"/>
              <a:gd name="T9" fmla="*/ 1060 h 1060"/>
              <a:gd name="T10" fmla="*/ 37 w 37"/>
              <a:gd name="T11" fmla="*/ 1060 h 10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" h="1060">
                <a:moveTo>
                  <a:pt x="37" y="1060"/>
                </a:moveTo>
                <a:lnTo>
                  <a:pt x="0" y="1060"/>
                </a:lnTo>
                <a:lnTo>
                  <a:pt x="0" y="0"/>
                </a:lnTo>
                <a:lnTo>
                  <a:pt x="37" y="0"/>
                </a:lnTo>
                <a:lnTo>
                  <a:pt x="37" y="1060"/>
                </a:lnTo>
                <a:lnTo>
                  <a:pt x="37" y="1060"/>
                </a:lnTo>
                <a:close/>
              </a:path>
            </a:pathLst>
          </a:custGeom>
          <a:solidFill>
            <a:srgbClr val="CCB7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38"/>
          <p:cNvSpPr>
            <a:spLocks/>
          </p:cNvSpPr>
          <p:nvPr/>
        </p:nvSpPr>
        <p:spPr bwMode="auto">
          <a:xfrm>
            <a:off x="608649" y="2201993"/>
            <a:ext cx="58738" cy="3040063"/>
          </a:xfrm>
          <a:custGeom>
            <a:avLst/>
            <a:gdLst>
              <a:gd name="T0" fmla="*/ 37 w 37"/>
              <a:gd name="T1" fmla="*/ 1915 h 1915"/>
              <a:gd name="T2" fmla="*/ 0 w 37"/>
              <a:gd name="T3" fmla="*/ 1915 h 1915"/>
              <a:gd name="T4" fmla="*/ 0 w 37"/>
              <a:gd name="T5" fmla="*/ 0 h 1915"/>
              <a:gd name="T6" fmla="*/ 37 w 37"/>
              <a:gd name="T7" fmla="*/ 0 h 1915"/>
              <a:gd name="T8" fmla="*/ 37 w 37"/>
              <a:gd name="T9" fmla="*/ 1915 h 1915"/>
              <a:gd name="T10" fmla="*/ 37 w 37"/>
              <a:gd name="T11" fmla="*/ 1915 h 19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" h="1915">
                <a:moveTo>
                  <a:pt x="37" y="1915"/>
                </a:moveTo>
                <a:lnTo>
                  <a:pt x="0" y="1915"/>
                </a:lnTo>
                <a:lnTo>
                  <a:pt x="0" y="0"/>
                </a:lnTo>
                <a:lnTo>
                  <a:pt x="37" y="0"/>
                </a:lnTo>
                <a:lnTo>
                  <a:pt x="37" y="1915"/>
                </a:lnTo>
                <a:lnTo>
                  <a:pt x="37" y="1915"/>
                </a:lnTo>
                <a:close/>
              </a:path>
            </a:pathLst>
          </a:custGeom>
          <a:solidFill>
            <a:srgbClr val="74A7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486250" y="5549170"/>
            <a:ext cx="282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rPr>
              <a:t>1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064844" y="554917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rPr>
              <a:t>2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49020" y="554917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rPr>
              <a:t>3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233196" y="554917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rPr>
              <a:t>4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817372" y="5549170"/>
            <a:ext cx="322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rPr>
              <a:t>5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40386" y="2202355"/>
            <a:ext cx="2129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主程序代码段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CALL</a:t>
            </a:r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下一条指令地址。</a:t>
            </a:r>
            <a:endParaRPr lang="en-US" altLang="zh-CN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732850" y="2202355"/>
            <a:ext cx="2129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CALL</a:t>
            </a:r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指令中操作数寻址得到目标地址。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7177412" y="2346366"/>
            <a:ext cx="135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RETF</a:t>
            </a:r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返回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663374" y="3786526"/>
            <a:ext cx="1168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压入栈段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4654187" y="3786526"/>
            <a:ext cx="1515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执行子程序</a:t>
            </a:r>
          </a:p>
        </p:txBody>
      </p:sp>
      <p:cxnSp>
        <p:nvCxnSpPr>
          <p:cNvPr id="49" name="直接连接符 48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0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举例：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CALL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的间接段间调用</a:t>
            </a:r>
          </a:p>
        </p:txBody>
      </p:sp>
    </p:spTree>
    <p:extLst>
      <p:ext uri="{BB962C8B-B14F-4D97-AF65-F5344CB8AC3E}">
        <p14:creationId xmlns:p14="http://schemas.microsoft.com/office/powerpoint/2010/main" val="7691340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203426" y="1510263"/>
            <a:ext cx="422" cy="451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355976" y="1510263"/>
            <a:ext cx="422" cy="451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203637" y="4529839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03637" y="403080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03848" y="3539083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03837" y="3047362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03393" y="256207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07140" y="205710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203641" y="502887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203637" y="5530981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4453563" y="5542594"/>
            <a:ext cx="2061745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1020:105H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4"/>
          <p:cNvSpPr>
            <a:spLocks noChangeArrowheads="1"/>
          </p:cNvSpPr>
          <p:nvPr/>
        </p:nvSpPr>
        <p:spPr bwMode="auto">
          <a:xfrm>
            <a:off x="4469268" y="5050151"/>
            <a:ext cx="1686908" cy="492443"/>
          </a:xfrm>
          <a:prstGeom prst="rect">
            <a:avLst/>
          </a:prstGeom>
          <a:solidFill>
            <a:srgbClr val="1D8DE5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1020:104H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4"/>
          <p:cNvSpPr>
            <a:spLocks noChangeArrowheads="1"/>
          </p:cNvSpPr>
          <p:nvPr/>
        </p:nvSpPr>
        <p:spPr bwMode="auto">
          <a:xfrm>
            <a:off x="4453562" y="4557708"/>
            <a:ext cx="2155049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1020:103H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4"/>
          <p:cNvSpPr>
            <a:spLocks noChangeArrowheads="1"/>
          </p:cNvSpPr>
          <p:nvPr/>
        </p:nvSpPr>
        <p:spPr bwMode="auto">
          <a:xfrm>
            <a:off x="4469268" y="4065265"/>
            <a:ext cx="2118956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1020:102H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4"/>
          <p:cNvSpPr>
            <a:spLocks noChangeArrowheads="1"/>
          </p:cNvSpPr>
          <p:nvPr/>
        </p:nvSpPr>
        <p:spPr bwMode="auto">
          <a:xfrm>
            <a:off x="4453562" y="3603618"/>
            <a:ext cx="2155049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1020:101H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4"/>
          <p:cNvSpPr>
            <a:spLocks noChangeArrowheads="1"/>
          </p:cNvSpPr>
          <p:nvPr/>
        </p:nvSpPr>
        <p:spPr bwMode="auto">
          <a:xfrm>
            <a:off x="4469268" y="3111175"/>
            <a:ext cx="2118956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1020:100H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CALL DWORD PTR [SI+2480H]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4"/>
          <p:cNvSpPr>
            <a:spLocks noChangeArrowheads="1"/>
          </p:cNvSpPr>
          <p:nvPr/>
        </p:nvSpPr>
        <p:spPr bwMode="auto">
          <a:xfrm>
            <a:off x="2699792" y="6035037"/>
            <a:ext cx="2538014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主程序代码段</a:t>
            </a:r>
          </a:p>
        </p:txBody>
      </p:sp>
      <p:sp>
        <p:nvSpPr>
          <p:cNvPr id="38" name="矩形 4"/>
          <p:cNvSpPr>
            <a:spLocks noChangeArrowheads="1"/>
          </p:cNvSpPr>
          <p:nvPr/>
        </p:nvSpPr>
        <p:spPr bwMode="auto">
          <a:xfrm>
            <a:off x="3563888" y="3047359"/>
            <a:ext cx="576064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FF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4"/>
          <p:cNvSpPr>
            <a:spLocks noChangeArrowheads="1"/>
          </p:cNvSpPr>
          <p:nvPr/>
        </p:nvSpPr>
        <p:spPr bwMode="auto">
          <a:xfrm>
            <a:off x="3563888" y="3545518"/>
            <a:ext cx="576064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94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"/>
          <p:cNvSpPr>
            <a:spLocks noChangeArrowheads="1"/>
          </p:cNvSpPr>
          <p:nvPr/>
        </p:nvSpPr>
        <p:spPr bwMode="auto">
          <a:xfrm>
            <a:off x="3563888" y="3983463"/>
            <a:ext cx="576064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80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矩形 4"/>
          <p:cNvSpPr>
            <a:spLocks noChangeArrowheads="1"/>
          </p:cNvSpPr>
          <p:nvPr/>
        </p:nvSpPr>
        <p:spPr bwMode="auto">
          <a:xfrm>
            <a:off x="3563888" y="4487519"/>
            <a:ext cx="576064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24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右箭头 43"/>
          <p:cNvSpPr/>
          <p:nvPr/>
        </p:nvSpPr>
        <p:spPr>
          <a:xfrm>
            <a:off x="2856734" y="3278993"/>
            <a:ext cx="346248" cy="133924"/>
          </a:xfrm>
          <a:prstGeom prst="rightArrow">
            <a:avLst/>
          </a:prstGeom>
          <a:solidFill>
            <a:srgbClr val="5DCB08"/>
          </a:solidFill>
          <a:ln>
            <a:solidFill>
              <a:srgbClr val="5DCB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683568" y="3047103"/>
            <a:ext cx="2088232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CALL</a:t>
            </a: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</a:p>
        </p:txBody>
      </p:sp>
      <p:sp>
        <p:nvSpPr>
          <p:cNvPr id="47" name="右箭头 46"/>
          <p:cNvSpPr/>
          <p:nvPr/>
        </p:nvSpPr>
        <p:spPr>
          <a:xfrm>
            <a:off x="2831582" y="5249658"/>
            <a:ext cx="346248" cy="133924"/>
          </a:xfrm>
          <a:prstGeom prst="rightArrow">
            <a:avLst/>
          </a:prstGeom>
          <a:solidFill>
            <a:srgbClr val="5DCB08"/>
          </a:solidFill>
          <a:ln>
            <a:solidFill>
              <a:srgbClr val="5DCB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8" name="矩形 4"/>
          <p:cNvSpPr>
            <a:spLocks noChangeArrowheads="1"/>
          </p:cNvSpPr>
          <p:nvPr/>
        </p:nvSpPr>
        <p:spPr bwMode="auto">
          <a:xfrm>
            <a:off x="611560" y="5017768"/>
            <a:ext cx="2088232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下一条指令</a:t>
            </a:r>
          </a:p>
        </p:txBody>
      </p:sp>
    </p:spTree>
    <p:extLst>
      <p:ext uri="{BB962C8B-B14F-4D97-AF65-F5344CB8AC3E}">
        <p14:creationId xmlns:p14="http://schemas.microsoft.com/office/powerpoint/2010/main" val="354762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203426" y="1510263"/>
            <a:ext cx="422" cy="451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355976" y="1510263"/>
            <a:ext cx="422" cy="451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203637" y="4529839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03637" y="403080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03848" y="3539083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03837" y="3047362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03393" y="256207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07140" y="205710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416489" y="2272458"/>
            <a:ext cx="2088232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② IP</a:t>
            </a: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压栈</a:t>
            </a:r>
          </a:p>
        </p:txBody>
      </p:sp>
      <p:sp>
        <p:nvSpPr>
          <p:cNvPr id="11" name="矩形 10"/>
          <p:cNvSpPr/>
          <p:nvPr/>
        </p:nvSpPr>
        <p:spPr>
          <a:xfrm>
            <a:off x="6232488" y="1489409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2" name="矩形 4"/>
          <p:cNvSpPr>
            <a:spLocks noChangeArrowheads="1"/>
          </p:cNvSpPr>
          <p:nvPr/>
        </p:nvSpPr>
        <p:spPr bwMode="auto">
          <a:xfrm>
            <a:off x="5436096" y="1501902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4"/>
          <p:cNvSpPr>
            <a:spLocks noChangeArrowheads="1"/>
          </p:cNvSpPr>
          <p:nvPr/>
        </p:nvSpPr>
        <p:spPr bwMode="auto">
          <a:xfrm>
            <a:off x="6539765" y="1484784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4"/>
          <p:cNvSpPr>
            <a:spLocks noChangeArrowheads="1"/>
          </p:cNvSpPr>
          <p:nvPr/>
        </p:nvSpPr>
        <p:spPr bwMode="auto">
          <a:xfrm>
            <a:off x="7466035" y="1484784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6522169" y="1484784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4"/>
          <p:cNvSpPr>
            <a:spLocks noChangeArrowheads="1"/>
          </p:cNvSpPr>
          <p:nvPr/>
        </p:nvSpPr>
        <p:spPr bwMode="auto">
          <a:xfrm>
            <a:off x="7448439" y="1484784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4"/>
          <p:cNvSpPr>
            <a:spLocks noChangeArrowheads="1"/>
          </p:cNvSpPr>
          <p:nvPr/>
        </p:nvSpPr>
        <p:spPr bwMode="auto">
          <a:xfrm>
            <a:off x="415827" y="1628800"/>
            <a:ext cx="2088232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① CS</a:t>
            </a: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压栈</a:t>
            </a:r>
          </a:p>
        </p:txBody>
      </p:sp>
      <p:sp>
        <p:nvSpPr>
          <p:cNvPr id="18" name="矩形 17"/>
          <p:cNvSpPr/>
          <p:nvPr/>
        </p:nvSpPr>
        <p:spPr>
          <a:xfrm>
            <a:off x="6264500" y="2277919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9" name="矩形 4"/>
          <p:cNvSpPr>
            <a:spLocks noChangeArrowheads="1"/>
          </p:cNvSpPr>
          <p:nvPr/>
        </p:nvSpPr>
        <p:spPr bwMode="auto">
          <a:xfrm>
            <a:off x="5468108" y="2290412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4"/>
          <p:cNvSpPr>
            <a:spLocks noChangeArrowheads="1"/>
          </p:cNvSpPr>
          <p:nvPr/>
        </p:nvSpPr>
        <p:spPr bwMode="auto">
          <a:xfrm>
            <a:off x="6499769" y="2276872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01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4"/>
          <p:cNvSpPr>
            <a:spLocks noChangeArrowheads="1"/>
          </p:cNvSpPr>
          <p:nvPr/>
        </p:nvSpPr>
        <p:spPr bwMode="auto">
          <a:xfrm>
            <a:off x="7426039" y="2276872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04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2856734" y="5201352"/>
            <a:ext cx="346248" cy="133924"/>
          </a:xfrm>
          <a:prstGeom prst="rightArrow">
            <a:avLst/>
          </a:prstGeom>
          <a:solidFill>
            <a:srgbClr val="5DCB08"/>
          </a:solidFill>
          <a:ln>
            <a:solidFill>
              <a:srgbClr val="5DCB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5" name="矩形 4"/>
          <p:cNvSpPr>
            <a:spLocks noChangeArrowheads="1"/>
          </p:cNvSpPr>
          <p:nvPr/>
        </p:nvSpPr>
        <p:spPr bwMode="auto">
          <a:xfrm>
            <a:off x="2230243" y="5013176"/>
            <a:ext cx="648494" cy="453457"/>
          </a:xfrm>
          <a:prstGeom prst="rect">
            <a:avLst/>
          </a:prstGeom>
          <a:solidFill>
            <a:srgbClr val="FBFBFB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endParaRPr lang="zh-CN" altLang="en-US" sz="28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203641" y="502887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203637" y="5530981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4453563" y="5542594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501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4"/>
          <p:cNvSpPr>
            <a:spLocks noChangeArrowheads="1"/>
          </p:cNvSpPr>
          <p:nvPr/>
        </p:nvSpPr>
        <p:spPr bwMode="auto">
          <a:xfrm>
            <a:off x="4469268" y="5050151"/>
            <a:ext cx="84054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500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4"/>
          <p:cNvSpPr>
            <a:spLocks noChangeArrowheads="1"/>
          </p:cNvSpPr>
          <p:nvPr/>
        </p:nvSpPr>
        <p:spPr bwMode="auto">
          <a:xfrm>
            <a:off x="4453563" y="4557708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4FF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4"/>
          <p:cNvSpPr>
            <a:spLocks noChangeArrowheads="1"/>
          </p:cNvSpPr>
          <p:nvPr/>
        </p:nvSpPr>
        <p:spPr bwMode="auto">
          <a:xfrm>
            <a:off x="4469268" y="4065265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4FE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4"/>
          <p:cNvSpPr>
            <a:spLocks noChangeArrowheads="1"/>
          </p:cNvSpPr>
          <p:nvPr/>
        </p:nvSpPr>
        <p:spPr bwMode="auto">
          <a:xfrm>
            <a:off x="4453563" y="3603618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4FD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4"/>
          <p:cNvSpPr>
            <a:spLocks noChangeArrowheads="1"/>
          </p:cNvSpPr>
          <p:nvPr/>
        </p:nvSpPr>
        <p:spPr bwMode="auto">
          <a:xfrm>
            <a:off x="4469268" y="3111175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4FC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CALL DWORD PTR [SI+2480H]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4"/>
          <p:cNvSpPr>
            <a:spLocks noChangeArrowheads="1"/>
          </p:cNvSpPr>
          <p:nvPr/>
        </p:nvSpPr>
        <p:spPr bwMode="auto">
          <a:xfrm>
            <a:off x="539552" y="4919311"/>
            <a:ext cx="2088232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执行前</a:t>
            </a:r>
          </a:p>
        </p:txBody>
      </p:sp>
      <p:sp>
        <p:nvSpPr>
          <p:cNvPr id="39" name="矩形 4"/>
          <p:cNvSpPr>
            <a:spLocks noChangeArrowheads="1"/>
          </p:cNvSpPr>
          <p:nvPr/>
        </p:nvSpPr>
        <p:spPr bwMode="auto">
          <a:xfrm>
            <a:off x="3250649" y="5996051"/>
            <a:ext cx="1150124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SS</a:t>
            </a: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段</a:t>
            </a:r>
          </a:p>
        </p:txBody>
      </p:sp>
      <p:sp>
        <p:nvSpPr>
          <p:cNvPr id="40" name="矩形 4"/>
          <p:cNvSpPr>
            <a:spLocks noChangeArrowheads="1"/>
          </p:cNvSpPr>
          <p:nvPr/>
        </p:nvSpPr>
        <p:spPr bwMode="auto">
          <a:xfrm>
            <a:off x="6503516" y="2281615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01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"/>
          <p:cNvSpPr>
            <a:spLocks noChangeArrowheads="1"/>
          </p:cNvSpPr>
          <p:nvPr/>
        </p:nvSpPr>
        <p:spPr bwMode="auto">
          <a:xfrm>
            <a:off x="7425579" y="2279075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04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470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85185E-6 L -2.77778E-7 -0.1409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6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4.44444E-6 L 0.00052 -0.1423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7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3.7037E-6 L -0.17274 -3.7037E-6 C -0.25017 -3.7037E-6 -0.34531 0.12153 -0.34531 0.22037 L -0.34531 0.44098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74" y="2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6 L -0.22327 -3.7037E-6 C -0.32344 -3.7037E-6 -0.44653 0.1007 -0.44653 0.18264 L -0.44653 0.36574 " pathEditMode="relative" rAng="0" ptsTypes="AAAA">
                                      <p:cBhvr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326" y="18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4213 L -2.77778E-7 -0.2773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75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0.14213 L 0.00157 -0.2784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2.96296E-6 L -0.17274 -2.96296E-6 C -0.25017 -2.96296E-6 -0.34531 0.04838 -0.34531 0.08797 L -0.34531 0.17616 " pathEditMode="relative" rAng="0" ptsTypes="AAAA">
                                      <p:cBhvr>
                                        <p:cTn id="2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74" y="8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2.96296E-6 L -0.22327 -2.96296E-6 C -0.32344 -2.96296E-6 -0.44653 0.02824 -0.44653 0.05185 L -0.44653 0.10417 " pathEditMode="relative" rAng="0" ptsTypes="AA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326" y="5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0" grpId="0"/>
      <p:bldP spid="21" grpId="0"/>
      <p:bldP spid="24" grpId="0" animBg="1"/>
      <p:bldP spid="24" grpId="1" animBg="1"/>
      <p:bldP spid="25" grpId="0" animBg="1"/>
      <p:bldP spid="25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394159" y="3017136"/>
            <a:ext cx="211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546287" y="3017136"/>
            <a:ext cx="633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394159" y="3901951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94159" y="340291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850617" y="2996952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7" name="矩形 4"/>
          <p:cNvSpPr>
            <a:spLocks noChangeArrowheads="1"/>
          </p:cNvSpPr>
          <p:nvPr/>
        </p:nvSpPr>
        <p:spPr bwMode="auto">
          <a:xfrm>
            <a:off x="5054225" y="3009445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IP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94163" y="440098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94159" y="4903093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68565" y="3717032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1" name="矩形 4"/>
          <p:cNvSpPr>
            <a:spLocks noChangeArrowheads="1"/>
          </p:cNvSpPr>
          <p:nvPr/>
        </p:nvSpPr>
        <p:spPr bwMode="auto">
          <a:xfrm>
            <a:off x="5072173" y="3729525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4"/>
          <p:cNvSpPr>
            <a:spLocks noChangeArrowheads="1"/>
          </p:cNvSpPr>
          <p:nvPr/>
        </p:nvSpPr>
        <p:spPr bwMode="auto">
          <a:xfrm>
            <a:off x="1763688" y="4434882"/>
            <a:ext cx="1656183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3482H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4"/>
          <p:cNvSpPr>
            <a:spLocks noChangeArrowheads="1"/>
          </p:cNvSpPr>
          <p:nvPr/>
        </p:nvSpPr>
        <p:spPr bwMode="auto">
          <a:xfrm>
            <a:off x="1763688" y="3426452"/>
            <a:ext cx="1653026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3480H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4"/>
          <p:cNvSpPr>
            <a:spLocks noChangeArrowheads="1"/>
          </p:cNvSpPr>
          <p:nvPr/>
        </p:nvSpPr>
        <p:spPr bwMode="auto">
          <a:xfrm>
            <a:off x="3754199" y="4872760"/>
            <a:ext cx="576064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24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3754199" y="4872760"/>
            <a:ext cx="576064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24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754199" y="4415511"/>
            <a:ext cx="576064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68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4"/>
          <p:cNvSpPr>
            <a:spLocks noChangeArrowheads="1"/>
          </p:cNvSpPr>
          <p:nvPr/>
        </p:nvSpPr>
        <p:spPr bwMode="auto">
          <a:xfrm>
            <a:off x="3754199" y="4408311"/>
            <a:ext cx="576064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68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3754199" y="3911455"/>
            <a:ext cx="576064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13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4"/>
          <p:cNvSpPr>
            <a:spLocks noChangeArrowheads="1"/>
          </p:cNvSpPr>
          <p:nvPr/>
        </p:nvSpPr>
        <p:spPr bwMode="auto">
          <a:xfrm>
            <a:off x="3754199" y="3907855"/>
            <a:ext cx="576064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13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3754199" y="3432600"/>
            <a:ext cx="576064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57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4"/>
          <p:cNvSpPr>
            <a:spLocks noChangeArrowheads="1"/>
          </p:cNvSpPr>
          <p:nvPr/>
        </p:nvSpPr>
        <p:spPr bwMode="auto">
          <a:xfrm>
            <a:off x="3754199" y="3403799"/>
            <a:ext cx="576064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57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CALL DWORD PTR [SI+2480H]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2267533" y="1306440"/>
            <a:ext cx="4608512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>
              <a:lnSpc>
                <a:spcPct val="114000"/>
              </a:lnSpc>
            </a:pPr>
            <a:r>
              <a:rPr lang="en-US" altLang="zh-CN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SI=1000H</a:t>
            </a:r>
            <a:endParaRPr lang="zh-CN" altLang="en-US" sz="72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4"/>
          <p:cNvSpPr>
            <a:spLocks noChangeArrowheads="1"/>
          </p:cNvSpPr>
          <p:nvPr/>
        </p:nvSpPr>
        <p:spPr bwMode="auto">
          <a:xfrm>
            <a:off x="3419872" y="5394628"/>
            <a:ext cx="1150124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段</a:t>
            </a:r>
          </a:p>
        </p:txBody>
      </p:sp>
    </p:spTree>
    <p:extLst>
      <p:ext uri="{BB962C8B-B14F-4D97-AF65-F5344CB8AC3E}">
        <p14:creationId xmlns:p14="http://schemas.microsoft.com/office/powerpoint/2010/main" val="222065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2.96296E-6 L -3.88889E-6 -0.02708 C -3.88889E-6 -0.03935 0.10625 -0.05416 0.19289 -0.05416 L 0.38594 -0.05416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88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85185E-6 L -3.88889E-6 -0.06481 C -3.88889E-6 -0.09398 0.08021 -0.12963 0.14566 -0.12963 L 0.29132 -0.12963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66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1.48148E-6 L -3.88889E-6 -0.04514 C -3.88889E-6 -0.06551 0.10625 -0.09028 0.19289 -0.09028 L 0.38594 -0.09028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88" y="-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3.33333E-6 L -3.88889E-6 -0.07893 C -3.88889E-6 -0.11435 0.08021 -0.15764 0.14549 -0.15764 L 0.29132 -0.15764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66" y="-7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23506" y="1510263"/>
            <a:ext cx="422" cy="451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076056" y="1510263"/>
            <a:ext cx="422" cy="451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923717" y="4529839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23717" y="403080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23928" y="3539083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23917" y="3047362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23473" y="256207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27220" y="205710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923721" y="502887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923717" y="5530981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33" name="矩形 4"/>
          <p:cNvSpPr>
            <a:spLocks noChangeArrowheads="1"/>
          </p:cNvSpPr>
          <p:nvPr/>
        </p:nvSpPr>
        <p:spPr bwMode="auto">
          <a:xfrm>
            <a:off x="5189348" y="2060848"/>
            <a:ext cx="1830924" cy="492443"/>
          </a:xfrm>
          <a:prstGeom prst="rect">
            <a:avLst/>
          </a:prstGeom>
          <a:solidFill>
            <a:srgbClr val="1D8DE5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2468:1357H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CALL DWORD PTR [SI+2480H]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4"/>
          <p:cNvSpPr>
            <a:spLocks noChangeArrowheads="1"/>
          </p:cNvSpPr>
          <p:nvPr/>
        </p:nvSpPr>
        <p:spPr bwMode="auto">
          <a:xfrm>
            <a:off x="3419872" y="6035037"/>
            <a:ext cx="2538014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子程序代码段</a:t>
            </a:r>
          </a:p>
        </p:txBody>
      </p:sp>
      <p:sp>
        <p:nvSpPr>
          <p:cNvPr id="43" name="矩形 4"/>
          <p:cNvSpPr>
            <a:spLocks noChangeArrowheads="1"/>
          </p:cNvSpPr>
          <p:nvPr/>
        </p:nvSpPr>
        <p:spPr bwMode="auto">
          <a:xfrm>
            <a:off x="4139952" y="5016776"/>
            <a:ext cx="720080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CB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右箭头 46"/>
          <p:cNvSpPr/>
          <p:nvPr/>
        </p:nvSpPr>
        <p:spPr>
          <a:xfrm>
            <a:off x="3551662" y="5249658"/>
            <a:ext cx="346248" cy="133924"/>
          </a:xfrm>
          <a:prstGeom prst="rightArrow">
            <a:avLst/>
          </a:prstGeom>
          <a:solidFill>
            <a:srgbClr val="5DCB08"/>
          </a:solidFill>
          <a:ln>
            <a:solidFill>
              <a:srgbClr val="5DCB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8" name="矩形 4"/>
          <p:cNvSpPr>
            <a:spLocks noChangeArrowheads="1"/>
          </p:cNvSpPr>
          <p:nvPr/>
        </p:nvSpPr>
        <p:spPr bwMode="auto">
          <a:xfrm>
            <a:off x="2267744" y="5017768"/>
            <a:ext cx="1152128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RETF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4"/>
          <p:cNvSpPr>
            <a:spLocks noChangeArrowheads="1"/>
          </p:cNvSpPr>
          <p:nvPr/>
        </p:nvSpPr>
        <p:spPr bwMode="auto">
          <a:xfrm>
            <a:off x="1574801" y="1963688"/>
            <a:ext cx="2538014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子程序入口</a:t>
            </a:r>
          </a:p>
        </p:txBody>
      </p:sp>
    </p:spTree>
    <p:extLst>
      <p:ext uri="{BB962C8B-B14F-4D97-AF65-F5344CB8AC3E}">
        <p14:creationId xmlns:p14="http://schemas.microsoft.com/office/powerpoint/2010/main" val="292814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5797945" y="2277919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RETF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指令执行示意图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2736871" y="1510263"/>
            <a:ext cx="422" cy="451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889421" y="1510263"/>
            <a:ext cx="422" cy="451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737082" y="4529839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37082" y="403080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37293" y="3539083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737282" y="3047362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36838" y="256207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740585" y="205710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37086" y="502887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37082" y="5530981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3987008" y="5542594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501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4"/>
          <p:cNvSpPr>
            <a:spLocks noChangeArrowheads="1"/>
          </p:cNvSpPr>
          <p:nvPr/>
        </p:nvSpPr>
        <p:spPr bwMode="auto">
          <a:xfrm>
            <a:off x="4002713" y="5050151"/>
            <a:ext cx="84054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500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4"/>
          <p:cNvSpPr>
            <a:spLocks noChangeArrowheads="1"/>
          </p:cNvSpPr>
          <p:nvPr/>
        </p:nvSpPr>
        <p:spPr bwMode="auto">
          <a:xfrm>
            <a:off x="3987008" y="4557708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4FF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4"/>
          <p:cNvSpPr>
            <a:spLocks noChangeArrowheads="1"/>
          </p:cNvSpPr>
          <p:nvPr/>
        </p:nvSpPr>
        <p:spPr bwMode="auto">
          <a:xfrm>
            <a:off x="4002713" y="4065265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4FE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4"/>
          <p:cNvSpPr>
            <a:spLocks noChangeArrowheads="1"/>
          </p:cNvSpPr>
          <p:nvPr/>
        </p:nvSpPr>
        <p:spPr bwMode="auto">
          <a:xfrm>
            <a:off x="3987008" y="3603618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4FD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4"/>
          <p:cNvSpPr>
            <a:spLocks noChangeArrowheads="1"/>
          </p:cNvSpPr>
          <p:nvPr/>
        </p:nvSpPr>
        <p:spPr bwMode="auto">
          <a:xfrm>
            <a:off x="4002713" y="3111175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4FC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65933" y="1489409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2" name="矩形 4"/>
          <p:cNvSpPr>
            <a:spLocks noChangeArrowheads="1"/>
          </p:cNvSpPr>
          <p:nvPr/>
        </p:nvSpPr>
        <p:spPr bwMode="auto">
          <a:xfrm>
            <a:off x="2998178" y="4476076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4"/>
          <p:cNvSpPr>
            <a:spLocks noChangeArrowheads="1"/>
          </p:cNvSpPr>
          <p:nvPr/>
        </p:nvSpPr>
        <p:spPr bwMode="auto">
          <a:xfrm>
            <a:off x="3013883" y="3983207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2980582" y="4476076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4"/>
          <p:cNvSpPr>
            <a:spLocks noChangeArrowheads="1"/>
          </p:cNvSpPr>
          <p:nvPr/>
        </p:nvSpPr>
        <p:spPr bwMode="auto">
          <a:xfrm>
            <a:off x="2996287" y="3983207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4"/>
          <p:cNvSpPr>
            <a:spLocks noChangeArrowheads="1"/>
          </p:cNvSpPr>
          <p:nvPr/>
        </p:nvSpPr>
        <p:spPr bwMode="auto">
          <a:xfrm>
            <a:off x="2974944" y="3497188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01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2983972" y="2994008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04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右箭头 32"/>
          <p:cNvSpPr/>
          <p:nvPr/>
        </p:nvSpPr>
        <p:spPr>
          <a:xfrm>
            <a:off x="2390179" y="3278993"/>
            <a:ext cx="346248" cy="133924"/>
          </a:xfrm>
          <a:prstGeom prst="rightArrow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4" name="矩形 4"/>
          <p:cNvSpPr>
            <a:spLocks noChangeArrowheads="1"/>
          </p:cNvSpPr>
          <p:nvPr/>
        </p:nvSpPr>
        <p:spPr bwMode="auto">
          <a:xfrm>
            <a:off x="1763688" y="3090817"/>
            <a:ext cx="648494" cy="453457"/>
          </a:xfrm>
          <a:prstGeom prst="rect">
            <a:avLst/>
          </a:prstGeom>
          <a:solidFill>
            <a:srgbClr val="FBFBFB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endParaRPr lang="zh-CN" altLang="en-US" sz="20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4"/>
          <p:cNvSpPr>
            <a:spLocks noChangeArrowheads="1"/>
          </p:cNvSpPr>
          <p:nvPr/>
        </p:nvSpPr>
        <p:spPr bwMode="auto">
          <a:xfrm>
            <a:off x="4969541" y="1501902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4"/>
          <p:cNvSpPr>
            <a:spLocks noChangeArrowheads="1"/>
          </p:cNvSpPr>
          <p:nvPr/>
        </p:nvSpPr>
        <p:spPr bwMode="auto">
          <a:xfrm>
            <a:off x="4897533" y="2290412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4"/>
          <p:cNvSpPr>
            <a:spLocks noChangeArrowheads="1"/>
          </p:cNvSpPr>
          <p:nvPr/>
        </p:nvSpPr>
        <p:spPr bwMode="auto">
          <a:xfrm>
            <a:off x="2978691" y="3501931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01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"/>
          <p:cNvSpPr>
            <a:spLocks noChangeArrowheads="1"/>
          </p:cNvSpPr>
          <p:nvPr/>
        </p:nvSpPr>
        <p:spPr bwMode="auto">
          <a:xfrm>
            <a:off x="2983512" y="2996211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04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335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7.40741E-7 L -1.66667E-6 -0.10764 C -1.66667E-6 -0.15602 0.11927 -0.21528 0.21649 -0.21528 L 0.43351 -0.21528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67" y="-10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1.85185E-6 L -8.33333E-7 -0.14467 C -8.33333E-7 -0.20949 0.09358 -0.28912 0.16979 -0.28912 L 0.33958 -0.28912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79" y="-14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3.7037E-6 L 1.38889E-6 0.1393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6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96296E-6 L -1.94444E-6 0.1379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4.44444E-6 L -5.55556E-7 -0.125 C -5.55556E-7 -0.18102 0.1191 -0.25 0.21597 -0.25 L 0.43212 -0.25 " pathEditMode="relative" rAng="0" ptsTypes="AAAA">
                                      <p:cBhvr>
                                        <p:cTn id="2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97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7037E-6 L -4.44444E-6 -0.16065 C -4.44444E-6 -0.23264 0.09341 -0.32107 0.16962 -0.32107 L 0.33941 -0.32107 " pathEditMode="relative" rAng="0" ptsTypes="AAAA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62" y="-16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0.13935 L 1.38889E-6 0.28634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33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0.13797 L -1.94444E-6 0.2849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3" grpId="0" animBg="1"/>
      <p:bldP spid="33" grpId="1" animBg="1"/>
      <p:bldP spid="34" grpId="0" animBg="1"/>
      <p:bldP spid="34" grpId="1" animBg="1"/>
      <p:bldP spid="40" grpId="0"/>
      <p:bldP spid="4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3237457" y="764704"/>
            <a:ext cx="3304653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2012H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169566" y="2866594"/>
            <a:ext cx="249071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200AH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169566" y="3389494"/>
            <a:ext cx="249071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200CH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169566" y="3906893"/>
            <a:ext cx="249071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200EH</a:t>
            </a: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169566" y="4983483"/>
            <a:ext cx="249071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4000H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69566" y="5477726"/>
            <a:ext cx="249071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4003H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169566" y="6007547"/>
            <a:ext cx="249071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2006H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169566" y="787626"/>
            <a:ext cx="249071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2000H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1169566" y="1301262"/>
            <a:ext cx="249071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2003H</a:t>
            </a: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1169566" y="1818661"/>
            <a:ext cx="249071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2006H</a:t>
            </a: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1169566" y="2322717"/>
            <a:ext cx="249071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2007H</a:t>
            </a: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3237457" y="1307776"/>
            <a:ext cx="3304653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CX,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200CH</a:t>
            </a: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3237457" y="1820821"/>
            <a:ext cx="330465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PUSH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CX</a:t>
            </a:r>
          </a:p>
        </p:txBody>
      </p:sp>
      <p:sp>
        <p:nvSpPr>
          <p:cNvPr id="22" name="矩形 3"/>
          <p:cNvSpPr>
            <a:spLocks noChangeArrowheads="1"/>
          </p:cNvSpPr>
          <p:nvPr/>
        </p:nvSpPr>
        <p:spPr bwMode="auto">
          <a:xfrm>
            <a:off x="3237457" y="2318796"/>
            <a:ext cx="3304653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CALL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4000H</a:t>
            </a: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3237457" y="2889516"/>
            <a:ext cx="3304653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AX, BX</a:t>
            </a:r>
          </a:p>
        </p:txBody>
      </p:sp>
      <p:sp>
        <p:nvSpPr>
          <p:cNvPr id="24" name="矩形 3"/>
          <p:cNvSpPr>
            <a:spLocks noChangeArrowheads="1"/>
          </p:cNvSpPr>
          <p:nvPr/>
        </p:nvSpPr>
        <p:spPr bwMode="auto">
          <a:xfrm>
            <a:off x="3237457" y="3410290"/>
            <a:ext cx="3304653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AX, DX</a:t>
            </a:r>
          </a:p>
        </p:txBody>
      </p:sp>
      <p:sp>
        <p:nvSpPr>
          <p:cNvPr id="25" name="矩形 3"/>
          <p:cNvSpPr>
            <a:spLocks noChangeArrowheads="1"/>
          </p:cNvSpPr>
          <p:nvPr/>
        </p:nvSpPr>
        <p:spPr bwMode="auto">
          <a:xfrm>
            <a:off x="3237457" y="3923712"/>
            <a:ext cx="330465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HLT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3"/>
          <p:cNvSpPr>
            <a:spLocks noChangeArrowheads="1"/>
          </p:cNvSpPr>
          <p:nvPr/>
        </p:nvSpPr>
        <p:spPr bwMode="auto">
          <a:xfrm>
            <a:off x="3237457" y="4382628"/>
            <a:ext cx="330465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….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3"/>
          <p:cNvSpPr>
            <a:spLocks noChangeArrowheads="1"/>
          </p:cNvSpPr>
          <p:nvPr/>
        </p:nvSpPr>
        <p:spPr bwMode="auto">
          <a:xfrm>
            <a:off x="3237457" y="4960561"/>
            <a:ext cx="3304653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BX,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200AH</a:t>
            </a:r>
          </a:p>
        </p:txBody>
      </p:sp>
      <p:sp>
        <p:nvSpPr>
          <p:cNvPr id="28" name="矩形 3"/>
          <p:cNvSpPr>
            <a:spLocks noChangeArrowheads="1"/>
          </p:cNvSpPr>
          <p:nvPr/>
        </p:nvSpPr>
        <p:spPr bwMode="auto">
          <a:xfrm>
            <a:off x="3237457" y="5477726"/>
            <a:ext cx="3304653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POP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</a:t>
            </a:r>
          </a:p>
        </p:txBody>
      </p:sp>
      <p:sp>
        <p:nvSpPr>
          <p:cNvPr id="29" name="矩形 3"/>
          <p:cNvSpPr>
            <a:spLocks noChangeArrowheads="1"/>
          </p:cNvSpPr>
          <p:nvPr/>
        </p:nvSpPr>
        <p:spPr bwMode="auto">
          <a:xfrm>
            <a:off x="3237457" y="6007547"/>
            <a:ext cx="330465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RET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872964" y="998252"/>
            <a:ext cx="0" cy="2510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025514" y="998252"/>
            <a:ext cx="0" cy="2510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6872753" y="2017200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872753" y="1518165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872757" y="2516235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872753" y="3018342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40" name="矩形 4"/>
          <p:cNvSpPr>
            <a:spLocks noChangeArrowheads="1"/>
          </p:cNvSpPr>
          <p:nvPr/>
        </p:nvSpPr>
        <p:spPr bwMode="auto">
          <a:xfrm>
            <a:off x="6948264" y="2504137"/>
            <a:ext cx="1083412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200C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"/>
          <p:cNvSpPr>
            <a:spLocks noChangeArrowheads="1"/>
          </p:cNvSpPr>
          <p:nvPr/>
        </p:nvSpPr>
        <p:spPr bwMode="auto">
          <a:xfrm>
            <a:off x="6948264" y="2010230"/>
            <a:ext cx="1083412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200A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矩形 3"/>
          <p:cNvSpPr>
            <a:spLocks noChangeArrowheads="1"/>
          </p:cNvSpPr>
          <p:nvPr/>
        </p:nvSpPr>
        <p:spPr bwMode="auto">
          <a:xfrm>
            <a:off x="6660232" y="3878572"/>
            <a:ext cx="196881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DX=200AH</a:t>
            </a:r>
          </a:p>
        </p:txBody>
      </p:sp>
      <p:sp>
        <p:nvSpPr>
          <p:cNvPr id="48" name="矩形 3"/>
          <p:cNvSpPr>
            <a:spLocks noChangeArrowheads="1"/>
          </p:cNvSpPr>
          <p:nvPr/>
        </p:nvSpPr>
        <p:spPr bwMode="auto">
          <a:xfrm>
            <a:off x="6660232" y="4343394"/>
            <a:ext cx="1968813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IP=200CH</a:t>
            </a:r>
          </a:p>
        </p:txBody>
      </p:sp>
      <p:sp>
        <p:nvSpPr>
          <p:cNvPr id="50" name="矩形 4"/>
          <p:cNvSpPr>
            <a:spLocks noChangeArrowheads="1"/>
          </p:cNvSpPr>
          <p:nvPr/>
        </p:nvSpPr>
        <p:spPr bwMode="auto">
          <a:xfrm>
            <a:off x="6950268" y="849822"/>
            <a:ext cx="1150124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SS</a:t>
            </a: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段</a:t>
            </a:r>
          </a:p>
        </p:txBody>
      </p:sp>
      <p:sp>
        <p:nvSpPr>
          <p:cNvPr id="51" name="矩形 3"/>
          <p:cNvSpPr>
            <a:spLocks noChangeArrowheads="1"/>
          </p:cNvSpPr>
          <p:nvPr/>
        </p:nvSpPr>
        <p:spPr bwMode="auto">
          <a:xfrm>
            <a:off x="5836696" y="5517232"/>
            <a:ext cx="3415824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AX=2012H+200AH</a:t>
            </a:r>
          </a:p>
        </p:txBody>
      </p:sp>
      <p:sp>
        <p:nvSpPr>
          <p:cNvPr id="53" name="Rectangle 2"/>
          <p:cNvSpPr>
            <a:spLocks noChangeArrowheads="1"/>
          </p:cNvSpPr>
          <p:nvPr/>
        </p:nvSpPr>
        <p:spPr bwMode="auto">
          <a:xfrm>
            <a:off x="2466262" y="48473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24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举例</a:t>
            </a:r>
          </a:p>
        </p:txBody>
      </p:sp>
    </p:spTree>
    <p:extLst>
      <p:ext uri="{BB962C8B-B14F-4D97-AF65-F5344CB8AC3E}">
        <p14:creationId xmlns:p14="http://schemas.microsoft.com/office/powerpoint/2010/main" val="109315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8" grpId="1"/>
      <p:bldP spid="10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4" grpId="1"/>
      <p:bldP spid="25" grpId="0"/>
      <p:bldP spid="26" grpId="0"/>
      <p:bldP spid="27" grpId="0"/>
      <p:bldP spid="28" grpId="0"/>
      <p:bldP spid="29" grpId="0"/>
      <p:bldP spid="32" grpId="0" animBg="1"/>
      <p:bldP spid="33" grpId="0" animBg="1"/>
      <p:bldP spid="38" grpId="0" animBg="1"/>
      <p:bldP spid="39" grpId="0" animBg="1"/>
      <p:bldP spid="40" grpId="0"/>
      <p:bldP spid="40" grpId="1"/>
      <p:bldP spid="42" grpId="0"/>
      <p:bldP spid="42" grpId="1"/>
      <p:bldP spid="43" grpId="0"/>
      <p:bldP spid="48" grpId="0"/>
      <p:bldP spid="50" grpId="0"/>
      <p:bldP spid="5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52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无条件转移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条件转移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循环控制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中断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程序控制指令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329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86205" y="764704"/>
            <a:ext cx="7430211" cy="2952328"/>
            <a:chOff x="1846734" y="1456184"/>
            <a:chExt cx="9937104" cy="3904659"/>
          </a:xfrm>
        </p:grpSpPr>
        <p:sp>
          <p:nvSpPr>
            <p:cNvPr id="3" name="矩形 2"/>
            <p:cNvSpPr/>
            <p:nvPr/>
          </p:nvSpPr>
          <p:spPr>
            <a:xfrm>
              <a:off x="1846734" y="1512424"/>
              <a:ext cx="9937104" cy="3848419"/>
            </a:xfrm>
            <a:prstGeom prst="rect">
              <a:avLst/>
            </a:prstGeom>
            <a:ln>
              <a:solidFill>
                <a:srgbClr val="7BC143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7BC143"/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4" name="Picture 8" descr="C:\Documents and Settings\tdz\桌面\绿色箭头标签01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7109" y="1456184"/>
              <a:ext cx="10033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10" descr="C:\Documents and Settings\tdz\Local Settings\Temp\SoEasy\2ED57B32DAFDACEEB44B8E85F3D00E28.png"/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455100" y="4367129"/>
              <a:ext cx="1184721" cy="993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30"/>
            <p:cNvSpPr txBox="1"/>
            <p:nvPr/>
          </p:nvSpPr>
          <p:spPr>
            <a:xfrm>
              <a:off x="10702950" y="1550372"/>
              <a:ext cx="658589" cy="104863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问题</a:t>
              </a:r>
            </a:p>
          </p:txBody>
        </p:sp>
      </p:grpSp>
      <p:sp>
        <p:nvSpPr>
          <p:cNvPr id="7" name="TextBox 32"/>
          <p:cNvSpPr txBox="1"/>
          <p:nvPr/>
        </p:nvSpPr>
        <p:spPr>
          <a:xfrm>
            <a:off x="1331640" y="2522450"/>
            <a:ext cx="2449613" cy="102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rgbClr val="FD7A2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汇编语言中如何实现分支？</a:t>
            </a:r>
            <a:endParaRPr lang="en-US" altLang="zh-CN" sz="2400" b="1" dirty="0">
              <a:solidFill>
                <a:srgbClr val="FD7A2A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>
            <a:spLocks noChangeAspect="1"/>
          </p:cNvSpPr>
          <p:nvPr/>
        </p:nvSpPr>
        <p:spPr>
          <a:xfrm>
            <a:off x="886205" y="4077071"/>
            <a:ext cx="7430211" cy="1800201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97280" y="4495671"/>
            <a:ext cx="1656184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19"/>
          <p:cNvSpPr txBox="1"/>
          <p:nvPr/>
        </p:nvSpPr>
        <p:spPr>
          <a:xfrm>
            <a:off x="1191259" y="4124761"/>
            <a:ext cx="461665" cy="135663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要解决问题</a:t>
            </a:r>
          </a:p>
        </p:txBody>
      </p:sp>
      <p:sp>
        <p:nvSpPr>
          <p:cNvPr id="23" name="TextBox 17"/>
          <p:cNvSpPr txBox="1"/>
          <p:nvPr/>
        </p:nvSpPr>
        <p:spPr>
          <a:xfrm>
            <a:off x="1969421" y="4149080"/>
            <a:ext cx="615750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分支是代码中一个常用的结构，通常根据条件实现指令的执行顺序。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要素：</a:t>
            </a:r>
            <a:r>
              <a:rPr lang="zh-CN" altLang="en-US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条件、转移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条件的形成：</a:t>
            </a:r>
            <a:r>
              <a:rPr lang="zh-CN" altLang="en-US" sz="2000" b="1" dirty="0">
                <a:solidFill>
                  <a:srgbClr val="FF9300"/>
                </a:solidFill>
                <a:latin typeface="微软雅黑" pitchFamily="34" charset="-122"/>
                <a:ea typeface="微软雅黑" pitchFamily="34" charset="-122"/>
              </a:rPr>
              <a:t>通常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由指令</a:t>
            </a:r>
            <a:r>
              <a:rPr lang="en-US" altLang="zh-CN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CMP</a:t>
            </a:r>
            <a:r>
              <a:rPr lang="zh-CN" altLang="en-US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TEST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形成。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3" name="Picture 2" descr="E:\仝德志文件\03-参考资料\！仝个人\！PPT图片及版面资源\06-PPT精选插图\08-3D小人\锐普内部商务PPT图片27 (37).jpg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68991" y="1053521"/>
            <a:ext cx="3167305" cy="23754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 animBg="1"/>
      <p:bldP spid="22" grpId="0"/>
      <p:bldP spid="2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84036" y="2601947"/>
            <a:ext cx="6264696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根据上一条指令执行后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设置的状态标志（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）做测试条件，决定是否转移。</a:t>
            </a:r>
          </a:p>
        </p:txBody>
      </p:sp>
      <p:sp>
        <p:nvSpPr>
          <p:cNvPr id="3" name="矩形 2"/>
          <p:cNvSpPr/>
          <p:nvPr/>
        </p:nvSpPr>
        <p:spPr>
          <a:xfrm>
            <a:off x="1684036" y="3733271"/>
            <a:ext cx="6264697" cy="873661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所有条件转移指令都是短转移指令，目标地址必须在当前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-128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+127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字节范围之内。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83824" y="1484784"/>
            <a:ext cx="6264697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条件转移指令：满足指令中要求的条件，则产生转移。格式：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  标号</a:t>
            </a:r>
          </a:p>
        </p:txBody>
      </p:sp>
      <p:sp>
        <p:nvSpPr>
          <p:cNvPr id="6" name="矩形 5"/>
          <p:cNvSpPr/>
          <p:nvPr/>
        </p:nvSpPr>
        <p:spPr>
          <a:xfrm>
            <a:off x="1187836" y="1484784"/>
            <a:ext cx="513904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87836" y="2601946"/>
            <a:ext cx="513904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87836" y="3733270"/>
            <a:ext cx="513904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条件转移指令特点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1683824" y="4888784"/>
            <a:ext cx="6264697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对于无符号数和有符号数分别使用不同的两组条件转移指令。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87624" y="4888783"/>
            <a:ext cx="513904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爆炸形 1 3"/>
          <p:cNvSpPr/>
          <p:nvPr/>
        </p:nvSpPr>
        <p:spPr>
          <a:xfrm>
            <a:off x="5857454" y="3426156"/>
            <a:ext cx="2568721" cy="1487888"/>
          </a:xfrm>
          <a:prstGeom prst="irregularSeal1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段内直接短转移</a:t>
            </a:r>
          </a:p>
        </p:txBody>
      </p:sp>
    </p:spTree>
    <p:extLst>
      <p:ext uri="{BB962C8B-B14F-4D97-AF65-F5344CB8AC3E}">
        <p14:creationId xmlns:p14="http://schemas.microsoft.com/office/powerpoint/2010/main" val="152644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26054" y="1933993"/>
            <a:ext cx="2001929" cy="3367216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65814" y="1933992"/>
            <a:ext cx="2001929" cy="3367217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658302" y="1933993"/>
            <a:ext cx="2001929" cy="3367216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90551" y="1933993"/>
            <a:ext cx="2001929" cy="3367216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65813" y="836712"/>
            <a:ext cx="8626665" cy="78779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条件转移指令分类</a:t>
            </a:r>
          </a:p>
        </p:txBody>
      </p:sp>
      <p:sp>
        <p:nvSpPr>
          <p:cNvPr id="7" name="任意多边形 6"/>
          <p:cNvSpPr/>
          <p:nvPr/>
        </p:nvSpPr>
        <p:spPr>
          <a:xfrm>
            <a:off x="265815" y="2566754"/>
            <a:ext cx="2001929" cy="2683547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JA/JNBE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JAE/JNB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JB/JNAE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JBE/JNA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2426054" y="2566754"/>
            <a:ext cx="2001929" cy="2683547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JG/JNLE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JGE/JNL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JL/JNGE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JLE/JNG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4658302" y="2566754"/>
            <a:ext cx="2001929" cy="268354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JE/JZ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JNE/JNZ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JC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JNC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890550" y="2566754"/>
            <a:ext cx="2001929" cy="268354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14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JNO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JP/JPE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JNP/JPO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JNS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5814" y="2080447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对无符号数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26053" y="2080447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对有符号数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658301" y="2080447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单标志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890549" y="2080447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位条件转移</a:t>
            </a: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281819" y="5306669"/>
            <a:ext cx="1969918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9300"/>
                </a:solidFill>
                <a:latin typeface="微软雅黑" pitchFamily="34" charset="-122"/>
                <a:ea typeface="微软雅黑" pitchFamily="34" charset="-122"/>
              </a:rPr>
              <a:t>Above/Below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2442059" y="5301209"/>
            <a:ext cx="1969918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9300"/>
                </a:solidFill>
                <a:latin typeface="微软雅黑" pitchFamily="34" charset="-122"/>
                <a:ea typeface="微软雅黑" pitchFamily="34" charset="-122"/>
              </a:rPr>
              <a:t>Great/Less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670133" y="5302332"/>
            <a:ext cx="1969918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9300"/>
                </a:solidFill>
                <a:latin typeface="微软雅黑" pitchFamily="34" charset="-122"/>
                <a:ea typeface="微软雅黑" pitchFamily="34" charset="-122"/>
              </a:rPr>
              <a:t>Equal/CF</a:t>
            </a: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6922560" y="5302332"/>
            <a:ext cx="1969918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9300"/>
                </a:solidFill>
                <a:latin typeface="微软雅黑" pitchFamily="34" charset="-122"/>
                <a:ea typeface="微软雅黑" pitchFamily="34" charset="-122"/>
              </a:rPr>
              <a:t>OF</a:t>
            </a:r>
            <a:r>
              <a:rPr lang="zh-CN" altLang="en-US" sz="2000" b="1" dirty="0">
                <a:solidFill>
                  <a:srgbClr val="FF93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rgbClr val="FF9300"/>
                </a:solidFill>
                <a:latin typeface="微软雅黑" pitchFamily="34" charset="-122"/>
                <a:ea typeface="微软雅黑" pitchFamily="34" charset="-122"/>
              </a:rPr>
              <a:t>PF</a:t>
            </a:r>
            <a:r>
              <a:rPr lang="zh-CN" altLang="en-US" sz="2000" b="1" dirty="0">
                <a:solidFill>
                  <a:srgbClr val="FF93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rgbClr val="FF9300"/>
                </a:solidFill>
                <a:latin typeface="微软雅黑" pitchFamily="34" charset="-122"/>
                <a:ea typeface="微软雅黑" pitchFamily="34" charset="-122"/>
              </a:rPr>
              <a:t>SF</a:t>
            </a:r>
          </a:p>
        </p:txBody>
      </p:sp>
      <p:sp>
        <p:nvSpPr>
          <p:cNvPr id="19" name="爆炸形 1 18"/>
          <p:cNvSpPr/>
          <p:nvPr/>
        </p:nvSpPr>
        <p:spPr>
          <a:xfrm>
            <a:off x="2376406" y="2753603"/>
            <a:ext cx="4071142" cy="2274559"/>
          </a:xfrm>
          <a:prstGeom prst="irregularSeal1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表示两个指令完全等价</a:t>
            </a: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261639" y="5752358"/>
            <a:ext cx="1969918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结合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CMP</a:t>
            </a: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2500547" y="5752358"/>
            <a:ext cx="1969918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结合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CMP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4592209" y="5733249"/>
            <a:ext cx="2216245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结合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CMP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TEST</a:t>
            </a: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6906555" y="5724174"/>
            <a:ext cx="1969918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结合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CMP</a:t>
            </a:r>
          </a:p>
        </p:txBody>
      </p:sp>
    </p:spTree>
    <p:extLst>
      <p:ext uri="{BB962C8B-B14F-4D97-AF65-F5344CB8AC3E}">
        <p14:creationId xmlns:p14="http://schemas.microsoft.com/office/powerpoint/2010/main" val="243950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86205" y="1556792"/>
            <a:ext cx="7430211" cy="1656184"/>
            <a:chOff x="1846734" y="1456185"/>
            <a:chExt cx="9937104" cy="2190418"/>
          </a:xfrm>
        </p:grpSpPr>
        <p:sp>
          <p:nvSpPr>
            <p:cNvPr id="3" name="矩形 2"/>
            <p:cNvSpPr/>
            <p:nvPr/>
          </p:nvSpPr>
          <p:spPr>
            <a:xfrm>
              <a:off x="1846734" y="1512426"/>
              <a:ext cx="9937104" cy="2134177"/>
            </a:xfrm>
            <a:prstGeom prst="rect">
              <a:avLst/>
            </a:prstGeom>
            <a:ln>
              <a:solidFill>
                <a:srgbClr val="7BC143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7BC143"/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4" name="Picture 8" descr="C:\Documents and Settings\tdz\桌面\绿色箭头标签01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7110" y="1456185"/>
              <a:ext cx="1003299" cy="1238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30"/>
            <p:cNvSpPr txBox="1"/>
            <p:nvPr/>
          </p:nvSpPr>
          <p:spPr>
            <a:xfrm>
              <a:off x="10702953" y="1550372"/>
              <a:ext cx="658589" cy="104863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题目</a:t>
              </a:r>
            </a:p>
          </p:txBody>
        </p:sp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886205" y="3789040"/>
            <a:ext cx="7430211" cy="2016225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921316" y="3883605"/>
            <a:ext cx="1008113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9"/>
          <p:cNvSpPr txBox="1"/>
          <p:nvPr/>
        </p:nvSpPr>
        <p:spPr>
          <a:xfrm>
            <a:off x="1191259" y="3836730"/>
            <a:ext cx="461665" cy="82577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思路</a:t>
            </a:r>
          </a:p>
        </p:txBody>
      </p:sp>
      <p:sp>
        <p:nvSpPr>
          <p:cNvPr id="11" name="TextBox 17"/>
          <p:cNvSpPr txBox="1"/>
          <p:nvPr/>
        </p:nvSpPr>
        <p:spPr>
          <a:xfrm>
            <a:off x="1866227" y="3931545"/>
            <a:ext cx="6260694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共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进制数，可从高位开始每次显示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位，需要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次，每次把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循环左移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比特，取出低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比特 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0~F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如何转换为相应的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码？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ACSII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码的‘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’与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相差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30H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，‘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’与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相差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37H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3221" y="1812986"/>
            <a:ext cx="6099202" cy="902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进制的形式显示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寄存器中的值。假设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BX=1234H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，要求显示为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‘1234H’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17" name="矩形 1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67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505873" y="44624"/>
            <a:ext cx="330465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BX,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1234H</a:t>
            </a: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1547664" y="764704"/>
            <a:ext cx="249071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ROT:</a:t>
            </a: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2505873" y="411178"/>
            <a:ext cx="330465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CH,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2505873" y="766864"/>
            <a:ext cx="330465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CL, 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22" name="矩形 3"/>
          <p:cNvSpPr>
            <a:spLocks noChangeArrowheads="1"/>
          </p:cNvSpPr>
          <p:nvPr/>
        </p:nvSpPr>
        <p:spPr bwMode="auto">
          <a:xfrm>
            <a:off x="2505873" y="1124744"/>
            <a:ext cx="330465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ROL 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BX,  CL</a:t>
            </a: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2505873" y="1485677"/>
            <a:ext cx="330465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 BL</a:t>
            </a:r>
          </a:p>
        </p:txBody>
      </p:sp>
      <p:sp>
        <p:nvSpPr>
          <p:cNvPr id="24" name="矩形 3"/>
          <p:cNvSpPr>
            <a:spLocks noChangeArrowheads="1"/>
          </p:cNvSpPr>
          <p:nvPr/>
        </p:nvSpPr>
        <p:spPr bwMode="auto">
          <a:xfrm>
            <a:off x="2505873" y="1865620"/>
            <a:ext cx="330465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AND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0FH</a:t>
            </a:r>
          </a:p>
        </p:txBody>
      </p:sp>
      <p:sp>
        <p:nvSpPr>
          <p:cNvPr id="25" name="矩形 3"/>
          <p:cNvSpPr>
            <a:spLocks noChangeArrowheads="1"/>
          </p:cNvSpPr>
          <p:nvPr/>
        </p:nvSpPr>
        <p:spPr bwMode="auto">
          <a:xfrm>
            <a:off x="2505873" y="2221683"/>
            <a:ext cx="330465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30H</a:t>
            </a:r>
          </a:p>
        </p:txBody>
      </p:sp>
      <p:sp>
        <p:nvSpPr>
          <p:cNvPr id="27" name="矩形 3"/>
          <p:cNvSpPr>
            <a:spLocks noChangeArrowheads="1"/>
          </p:cNvSpPr>
          <p:nvPr/>
        </p:nvSpPr>
        <p:spPr bwMode="auto">
          <a:xfrm>
            <a:off x="2505873" y="2576373"/>
            <a:ext cx="330465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CMP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39H</a:t>
            </a:r>
          </a:p>
        </p:txBody>
      </p:sp>
      <p:sp>
        <p:nvSpPr>
          <p:cNvPr id="28" name="矩形 3"/>
          <p:cNvSpPr>
            <a:spLocks noChangeArrowheads="1"/>
          </p:cNvSpPr>
          <p:nvPr/>
        </p:nvSpPr>
        <p:spPr bwMode="auto">
          <a:xfrm>
            <a:off x="2505873" y="2924944"/>
            <a:ext cx="330465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JBE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DISP</a:t>
            </a:r>
          </a:p>
        </p:txBody>
      </p:sp>
      <p:sp>
        <p:nvSpPr>
          <p:cNvPr id="29" name="矩形 3"/>
          <p:cNvSpPr>
            <a:spLocks noChangeArrowheads="1"/>
          </p:cNvSpPr>
          <p:nvPr/>
        </p:nvSpPr>
        <p:spPr bwMode="auto">
          <a:xfrm>
            <a:off x="2505873" y="3284984"/>
            <a:ext cx="330465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7</a:t>
            </a: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1547664" y="3645024"/>
            <a:ext cx="249071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DISP:</a:t>
            </a:r>
          </a:p>
        </p:txBody>
      </p:sp>
      <p:sp>
        <p:nvSpPr>
          <p:cNvPr id="47" name="矩形 3"/>
          <p:cNvSpPr>
            <a:spLocks noChangeArrowheads="1"/>
          </p:cNvSpPr>
          <p:nvPr/>
        </p:nvSpPr>
        <p:spPr bwMode="auto">
          <a:xfrm>
            <a:off x="2505873" y="3645917"/>
            <a:ext cx="330465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DL, AL</a:t>
            </a:r>
          </a:p>
        </p:txBody>
      </p:sp>
      <p:sp>
        <p:nvSpPr>
          <p:cNvPr id="49" name="矩形 3"/>
          <p:cNvSpPr>
            <a:spLocks noChangeArrowheads="1"/>
          </p:cNvSpPr>
          <p:nvPr/>
        </p:nvSpPr>
        <p:spPr bwMode="auto">
          <a:xfrm>
            <a:off x="2505873" y="4015462"/>
            <a:ext cx="330465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AH,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2505873" y="4381923"/>
            <a:ext cx="330465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INT  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21H</a:t>
            </a:r>
          </a:p>
        </p:txBody>
      </p:sp>
      <p:sp>
        <p:nvSpPr>
          <p:cNvPr id="54" name="矩形 3"/>
          <p:cNvSpPr>
            <a:spLocks noChangeArrowheads="1"/>
          </p:cNvSpPr>
          <p:nvPr/>
        </p:nvSpPr>
        <p:spPr bwMode="auto">
          <a:xfrm>
            <a:off x="2505873" y="4736613"/>
            <a:ext cx="330465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DEC 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CH</a:t>
            </a:r>
          </a:p>
        </p:txBody>
      </p:sp>
      <p:sp>
        <p:nvSpPr>
          <p:cNvPr id="55" name="矩形 3"/>
          <p:cNvSpPr>
            <a:spLocks noChangeArrowheads="1"/>
          </p:cNvSpPr>
          <p:nvPr/>
        </p:nvSpPr>
        <p:spPr bwMode="auto">
          <a:xfrm>
            <a:off x="2505873" y="5085184"/>
            <a:ext cx="330465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JNZ 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ROT</a:t>
            </a:r>
          </a:p>
        </p:txBody>
      </p:sp>
      <p:sp>
        <p:nvSpPr>
          <p:cNvPr id="56" name="矩形 3"/>
          <p:cNvSpPr>
            <a:spLocks noChangeArrowheads="1"/>
          </p:cNvSpPr>
          <p:nvPr/>
        </p:nvSpPr>
        <p:spPr bwMode="auto">
          <a:xfrm>
            <a:off x="2505873" y="5470067"/>
            <a:ext cx="330465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DL,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48H</a:t>
            </a:r>
          </a:p>
        </p:txBody>
      </p:sp>
      <p:sp>
        <p:nvSpPr>
          <p:cNvPr id="57" name="矩形 3"/>
          <p:cNvSpPr>
            <a:spLocks noChangeArrowheads="1"/>
          </p:cNvSpPr>
          <p:nvPr/>
        </p:nvSpPr>
        <p:spPr bwMode="auto">
          <a:xfrm>
            <a:off x="2526214" y="5823686"/>
            <a:ext cx="330465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AH,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58" name="矩形 3"/>
          <p:cNvSpPr>
            <a:spLocks noChangeArrowheads="1"/>
          </p:cNvSpPr>
          <p:nvPr/>
        </p:nvSpPr>
        <p:spPr bwMode="auto">
          <a:xfrm>
            <a:off x="2526214" y="6190147"/>
            <a:ext cx="330465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INT  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21H</a:t>
            </a: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5177626" y="1859515"/>
            <a:ext cx="249071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；取出最低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比特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5177626" y="2219555"/>
            <a:ext cx="249071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；转换为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码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5177626" y="2596414"/>
            <a:ext cx="249071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0~9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吗？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5177626" y="2939635"/>
            <a:ext cx="249071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；是则显示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5177626" y="3299675"/>
            <a:ext cx="3858870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；否则是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A~F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，加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，转为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ASCII</a:t>
            </a:r>
          </a:p>
        </p:txBody>
      </p: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5177626" y="3659715"/>
            <a:ext cx="2490718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；显示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5177626" y="433013"/>
            <a:ext cx="371485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CH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循环计数器，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进制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5177626" y="779395"/>
            <a:ext cx="371485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移位计数器，每次移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比特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5177626" y="5099875"/>
            <a:ext cx="249071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；未显示完？下一位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5177626" y="5459915"/>
            <a:ext cx="249071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；显示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码‘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’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5177625" y="1139382"/>
            <a:ext cx="330465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；最高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位移到低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239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0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6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6" grpId="0"/>
      <p:bldP spid="47" grpId="0"/>
      <p:bldP spid="47" grpId="1"/>
      <p:bldP spid="49" grpId="0"/>
      <p:bldP spid="49" grpId="1"/>
      <p:bldP spid="52" grpId="0"/>
      <p:bldP spid="52" grpId="1"/>
      <p:bldP spid="54" grpId="0"/>
      <p:bldP spid="55" grpId="0"/>
      <p:bldP spid="56" grpId="0"/>
      <p:bldP spid="56" grpId="1"/>
      <p:bldP spid="57" grpId="0"/>
      <p:bldP spid="57" grpId="1"/>
      <p:bldP spid="58" grpId="0"/>
      <p:bldP spid="58" grpId="1"/>
      <p:bldP spid="26" grpId="0"/>
      <p:bldP spid="30" grpId="0"/>
      <p:bldP spid="31" grpId="0"/>
      <p:bldP spid="32" grpId="0"/>
      <p:bldP spid="33" grpId="0"/>
      <p:bldP spid="34" grpId="0"/>
      <p:bldP spid="35" grpId="0"/>
      <p:bldP spid="37" grpId="0"/>
      <p:bldP spid="41" grpId="0"/>
      <p:bldP spid="42" grpId="0"/>
      <p:bldP spid="4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17" name="矩形 1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1843411" y="1772816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80H</a:t>
            </a: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683568" y="3683978"/>
            <a:ext cx="173090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EQUAL:</a:t>
            </a:r>
          </a:p>
        </p:txBody>
      </p:sp>
      <p:sp>
        <p:nvSpPr>
          <p:cNvPr id="22" name="矩形 3"/>
          <p:cNvSpPr>
            <a:spLocks noChangeArrowheads="1"/>
          </p:cNvSpPr>
          <p:nvPr/>
        </p:nvSpPr>
        <p:spPr bwMode="auto">
          <a:xfrm>
            <a:off x="1843411" y="2172753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CMP 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80H</a:t>
            </a: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1843411" y="2530633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JE 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EQUAL</a:t>
            </a:r>
          </a:p>
        </p:txBody>
      </p:sp>
      <p:sp>
        <p:nvSpPr>
          <p:cNvPr id="26" name="矩形 3"/>
          <p:cNvSpPr>
            <a:spLocks noChangeArrowheads="1"/>
          </p:cNvSpPr>
          <p:nvPr/>
        </p:nvSpPr>
        <p:spPr bwMode="auto">
          <a:xfrm>
            <a:off x="1843411" y="2930570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, 0H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矩形 3"/>
          <p:cNvSpPr>
            <a:spLocks noChangeArrowheads="1"/>
          </p:cNvSpPr>
          <p:nvPr/>
        </p:nvSpPr>
        <p:spPr bwMode="auto">
          <a:xfrm>
            <a:off x="1843411" y="3271509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JMP  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LABEL</a:t>
            </a:r>
          </a:p>
        </p:txBody>
      </p:sp>
      <p:sp>
        <p:nvSpPr>
          <p:cNvPr id="29" name="矩形 3"/>
          <p:cNvSpPr>
            <a:spLocks noChangeArrowheads="1"/>
          </p:cNvSpPr>
          <p:nvPr/>
        </p:nvSpPr>
        <p:spPr bwMode="auto">
          <a:xfrm>
            <a:off x="1843410" y="4010458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, 80H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683568" y="4499823"/>
            <a:ext cx="1730904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LABEL: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"/>
          <p:cNvSpPr>
            <a:spLocks noChangeArrowheads="1"/>
          </p:cNvSpPr>
          <p:nvPr/>
        </p:nvSpPr>
        <p:spPr bwMode="auto">
          <a:xfrm>
            <a:off x="6307907" y="1772816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80H</a:t>
            </a: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5148064" y="3683978"/>
            <a:ext cx="173090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EQUAL:</a:t>
            </a:r>
          </a:p>
        </p:txBody>
      </p:sp>
      <p:sp>
        <p:nvSpPr>
          <p:cNvPr id="34" name="矩形 3"/>
          <p:cNvSpPr>
            <a:spLocks noChangeArrowheads="1"/>
          </p:cNvSpPr>
          <p:nvPr/>
        </p:nvSpPr>
        <p:spPr bwMode="auto">
          <a:xfrm>
            <a:off x="6307907" y="2172753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TEST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80H</a:t>
            </a:r>
          </a:p>
        </p:txBody>
      </p:sp>
      <p:sp>
        <p:nvSpPr>
          <p:cNvPr id="35" name="矩形 3"/>
          <p:cNvSpPr>
            <a:spLocks noChangeArrowheads="1"/>
          </p:cNvSpPr>
          <p:nvPr/>
        </p:nvSpPr>
        <p:spPr bwMode="auto">
          <a:xfrm>
            <a:off x="6307907" y="2530633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JE 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EQUAL</a:t>
            </a:r>
          </a:p>
        </p:txBody>
      </p:sp>
      <p:sp>
        <p:nvSpPr>
          <p:cNvPr id="36" name="矩形 3"/>
          <p:cNvSpPr>
            <a:spLocks noChangeArrowheads="1"/>
          </p:cNvSpPr>
          <p:nvPr/>
        </p:nvSpPr>
        <p:spPr bwMode="auto">
          <a:xfrm>
            <a:off x="6307907" y="2930570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, 0H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"/>
          <p:cNvSpPr>
            <a:spLocks noChangeArrowheads="1"/>
          </p:cNvSpPr>
          <p:nvPr/>
        </p:nvSpPr>
        <p:spPr bwMode="auto">
          <a:xfrm>
            <a:off x="6307907" y="3271509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JMP  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LABEL</a:t>
            </a:r>
          </a:p>
        </p:txBody>
      </p:sp>
      <p:sp>
        <p:nvSpPr>
          <p:cNvPr id="38" name="矩形 3"/>
          <p:cNvSpPr>
            <a:spLocks noChangeArrowheads="1"/>
          </p:cNvSpPr>
          <p:nvPr/>
        </p:nvSpPr>
        <p:spPr bwMode="auto">
          <a:xfrm>
            <a:off x="6307906" y="4010458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, 80H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5148064" y="4499823"/>
            <a:ext cx="1730904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LABEL:</a:t>
            </a:r>
          </a:p>
        </p:txBody>
      </p:sp>
      <p:sp>
        <p:nvSpPr>
          <p:cNvPr id="40" name="矩形 3"/>
          <p:cNvSpPr>
            <a:spLocks noChangeArrowheads="1"/>
          </p:cNvSpPr>
          <p:nvPr/>
        </p:nvSpPr>
        <p:spPr bwMode="auto">
          <a:xfrm>
            <a:off x="2560900" y="5310767"/>
            <a:ext cx="431776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两段程序执行后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</a:t>
            </a:r>
            <a:r>
              <a:rPr lang="zh-CN" altLang="en-US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分别等于？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971998" y="5877727"/>
            <a:ext cx="5120282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让别人更容易读懂你的代码，</a:t>
            </a:r>
            <a:r>
              <a:rPr lang="zh-CN" altLang="en-US" kern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右边代码最好用 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JZ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JNZ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更容易让人理解。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5894" y="5814781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76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3" grpId="0"/>
      <p:bldP spid="26" grpId="0"/>
      <p:bldP spid="28" grpId="0"/>
      <p:bldP spid="29" grpId="0"/>
      <p:bldP spid="30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59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无条件转移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条件转移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循环控制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中断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程序控制指令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855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86205" y="764704"/>
            <a:ext cx="7430211" cy="2952328"/>
            <a:chOff x="1846734" y="1456184"/>
            <a:chExt cx="9937104" cy="3904659"/>
          </a:xfrm>
        </p:grpSpPr>
        <p:sp>
          <p:nvSpPr>
            <p:cNvPr id="3" name="矩形 2"/>
            <p:cNvSpPr/>
            <p:nvPr/>
          </p:nvSpPr>
          <p:spPr>
            <a:xfrm>
              <a:off x="1846734" y="1512424"/>
              <a:ext cx="9937104" cy="3848419"/>
            </a:xfrm>
            <a:prstGeom prst="rect">
              <a:avLst/>
            </a:prstGeom>
            <a:ln>
              <a:solidFill>
                <a:srgbClr val="7BC143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7BC143"/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4" name="Picture 8" descr="C:\Documents and Settings\tdz\桌面\绿色箭头标签01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7109" y="1456184"/>
              <a:ext cx="10033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10" descr="C:\Documents and Settings\tdz\Local Settings\Temp\SoEasy\2ED57B32DAFDACEEB44B8E85F3D00E28.png"/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455100" y="4367129"/>
              <a:ext cx="1184721" cy="993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30"/>
            <p:cNvSpPr txBox="1"/>
            <p:nvPr/>
          </p:nvSpPr>
          <p:spPr>
            <a:xfrm>
              <a:off x="10702950" y="1550372"/>
              <a:ext cx="658589" cy="104863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问题</a:t>
              </a:r>
            </a:p>
          </p:txBody>
        </p:sp>
      </p:grpSp>
      <p:sp>
        <p:nvSpPr>
          <p:cNvPr id="7" name="TextBox 32"/>
          <p:cNvSpPr txBox="1"/>
          <p:nvPr/>
        </p:nvSpPr>
        <p:spPr>
          <a:xfrm>
            <a:off x="1331640" y="2522450"/>
            <a:ext cx="2449613" cy="107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rgbClr val="FD7A2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汇编语言中如何实现循环？</a:t>
            </a:r>
            <a:endParaRPr lang="en-US" altLang="zh-CN" sz="2400" b="1" dirty="0">
              <a:solidFill>
                <a:srgbClr val="FD7A2A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>
            <a:spLocks noChangeAspect="1"/>
          </p:cNvSpPr>
          <p:nvPr/>
        </p:nvSpPr>
        <p:spPr>
          <a:xfrm>
            <a:off x="886205" y="4077071"/>
            <a:ext cx="7430211" cy="1800201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705292" y="4387660"/>
            <a:ext cx="1440161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19"/>
          <p:cNvSpPr txBox="1"/>
          <p:nvPr/>
        </p:nvSpPr>
        <p:spPr>
          <a:xfrm>
            <a:off x="1191259" y="4124761"/>
            <a:ext cx="461665" cy="11796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循环指令</a:t>
            </a:r>
          </a:p>
        </p:txBody>
      </p:sp>
      <p:sp>
        <p:nvSpPr>
          <p:cNvPr id="23" name="TextBox 17"/>
          <p:cNvSpPr txBox="1"/>
          <p:nvPr/>
        </p:nvSpPr>
        <p:spPr>
          <a:xfrm>
            <a:off x="1969421" y="4401435"/>
            <a:ext cx="6157500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循环控制指令在循环代码中确定是否要继续循环。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循环次数置于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转移寻址方式：段内直接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短转移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287403" y="908720"/>
            <a:ext cx="2660861" cy="2752851"/>
            <a:chOff x="8034338" y="2638425"/>
            <a:chExt cx="1490662" cy="1581150"/>
          </a:xfrm>
        </p:grpSpPr>
        <p:sp>
          <p:nvSpPr>
            <p:cNvPr id="15" name="Freeform 30"/>
            <p:cNvSpPr>
              <a:spLocks/>
            </p:cNvSpPr>
            <p:nvPr/>
          </p:nvSpPr>
          <p:spPr bwMode="auto">
            <a:xfrm>
              <a:off x="8034338" y="2824163"/>
              <a:ext cx="517525" cy="604838"/>
            </a:xfrm>
            <a:custGeom>
              <a:avLst/>
              <a:gdLst>
                <a:gd name="T0" fmla="*/ 49 w 138"/>
                <a:gd name="T1" fmla="*/ 160 h 160"/>
                <a:gd name="T2" fmla="*/ 123 w 138"/>
                <a:gd name="T3" fmla="*/ 111 h 160"/>
                <a:gd name="T4" fmla="*/ 90 w 138"/>
                <a:gd name="T5" fmla="*/ 104 h 160"/>
                <a:gd name="T6" fmla="*/ 124 w 138"/>
                <a:gd name="T7" fmla="*/ 64 h 160"/>
                <a:gd name="T8" fmla="*/ 138 w 138"/>
                <a:gd name="T9" fmla="*/ 54 h 160"/>
                <a:gd name="T10" fmla="*/ 104 w 138"/>
                <a:gd name="T11" fmla="*/ 37 h 160"/>
                <a:gd name="T12" fmla="*/ 122 w 138"/>
                <a:gd name="T13" fmla="*/ 0 h 160"/>
                <a:gd name="T14" fmla="*/ 86 w 138"/>
                <a:gd name="T15" fmla="*/ 23 h 160"/>
                <a:gd name="T16" fmla="*/ 35 w 138"/>
                <a:gd name="T17" fmla="*/ 93 h 160"/>
                <a:gd name="T18" fmla="*/ 0 w 138"/>
                <a:gd name="T19" fmla="*/ 86 h 160"/>
                <a:gd name="T20" fmla="*/ 49 w 138"/>
                <a:gd name="T2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8" h="160">
                  <a:moveTo>
                    <a:pt x="49" y="160"/>
                  </a:moveTo>
                  <a:cubicBezTo>
                    <a:pt x="123" y="111"/>
                    <a:pt x="123" y="111"/>
                    <a:pt x="123" y="111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98" y="89"/>
                    <a:pt x="110" y="75"/>
                    <a:pt x="124" y="64"/>
                  </a:cubicBezTo>
                  <a:cubicBezTo>
                    <a:pt x="128" y="60"/>
                    <a:pt x="133" y="57"/>
                    <a:pt x="138" y="54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09" y="6"/>
                    <a:pt x="97" y="14"/>
                    <a:pt x="86" y="23"/>
                  </a:cubicBezTo>
                  <a:cubicBezTo>
                    <a:pt x="64" y="42"/>
                    <a:pt x="46" y="66"/>
                    <a:pt x="35" y="93"/>
                  </a:cubicBezTo>
                  <a:cubicBezTo>
                    <a:pt x="0" y="86"/>
                    <a:pt x="0" y="86"/>
                    <a:pt x="0" y="86"/>
                  </a:cubicBezTo>
                  <a:lnTo>
                    <a:pt x="49" y="160"/>
                  </a:lnTo>
                  <a:close/>
                </a:path>
              </a:pathLst>
            </a:custGeom>
            <a:solidFill>
              <a:srgbClr val="58B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31"/>
            <p:cNvSpPr>
              <a:spLocks/>
            </p:cNvSpPr>
            <p:nvPr/>
          </p:nvSpPr>
          <p:spPr bwMode="auto">
            <a:xfrm>
              <a:off x="8113713" y="3376613"/>
              <a:ext cx="385763" cy="561975"/>
            </a:xfrm>
            <a:custGeom>
              <a:avLst/>
              <a:gdLst>
                <a:gd name="T0" fmla="*/ 103 w 103"/>
                <a:gd name="T1" fmla="*/ 144 h 149"/>
                <a:gd name="T2" fmla="*/ 97 w 103"/>
                <a:gd name="T3" fmla="*/ 55 h 149"/>
                <a:gd name="T4" fmla="*/ 75 w 103"/>
                <a:gd name="T5" fmla="*/ 80 h 149"/>
                <a:gd name="T6" fmla="*/ 59 w 103"/>
                <a:gd name="T7" fmla="*/ 41 h 149"/>
                <a:gd name="T8" fmla="*/ 56 w 103"/>
                <a:gd name="T9" fmla="*/ 14 h 149"/>
                <a:gd name="T10" fmla="*/ 56 w 103"/>
                <a:gd name="T11" fmla="*/ 13 h 149"/>
                <a:gd name="T12" fmla="*/ 24 w 103"/>
                <a:gd name="T13" fmla="*/ 34 h 149"/>
                <a:gd name="T14" fmla="*/ 1 w 103"/>
                <a:gd name="T15" fmla="*/ 0 h 149"/>
                <a:gd name="T16" fmla="*/ 0 w 103"/>
                <a:gd name="T17" fmla="*/ 14 h 149"/>
                <a:gd name="T18" fmla="*/ 8 w 103"/>
                <a:gd name="T19" fmla="*/ 65 h 149"/>
                <a:gd name="T20" fmla="*/ 38 w 103"/>
                <a:gd name="T21" fmla="*/ 122 h 149"/>
                <a:gd name="T22" fmla="*/ 14 w 103"/>
                <a:gd name="T23" fmla="*/ 149 h 149"/>
                <a:gd name="T24" fmla="*/ 103 w 103"/>
                <a:gd name="T25" fmla="*/ 14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3" h="149">
                  <a:moveTo>
                    <a:pt x="103" y="144"/>
                  </a:moveTo>
                  <a:cubicBezTo>
                    <a:pt x="97" y="55"/>
                    <a:pt x="97" y="55"/>
                    <a:pt x="97" y="55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67" y="68"/>
                    <a:pt x="62" y="55"/>
                    <a:pt x="59" y="41"/>
                  </a:cubicBezTo>
                  <a:cubicBezTo>
                    <a:pt x="57" y="32"/>
                    <a:pt x="56" y="23"/>
                    <a:pt x="56" y="14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5"/>
                    <a:pt x="0" y="9"/>
                    <a:pt x="0" y="14"/>
                  </a:cubicBezTo>
                  <a:cubicBezTo>
                    <a:pt x="0" y="32"/>
                    <a:pt x="3" y="49"/>
                    <a:pt x="8" y="65"/>
                  </a:cubicBezTo>
                  <a:cubicBezTo>
                    <a:pt x="14" y="86"/>
                    <a:pt x="24" y="105"/>
                    <a:pt x="38" y="122"/>
                  </a:cubicBezTo>
                  <a:cubicBezTo>
                    <a:pt x="14" y="149"/>
                    <a:pt x="14" y="149"/>
                    <a:pt x="14" y="149"/>
                  </a:cubicBezTo>
                  <a:lnTo>
                    <a:pt x="103" y="144"/>
                  </a:lnTo>
                  <a:close/>
                </a:path>
              </a:pathLst>
            </a:custGeom>
            <a:solidFill>
              <a:srgbClr val="29AB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32"/>
            <p:cNvSpPr>
              <a:spLocks/>
            </p:cNvSpPr>
            <p:nvPr/>
          </p:nvSpPr>
          <p:spPr bwMode="auto">
            <a:xfrm>
              <a:off x="8402638" y="3768725"/>
              <a:ext cx="657225" cy="450850"/>
            </a:xfrm>
            <a:custGeom>
              <a:avLst/>
              <a:gdLst>
                <a:gd name="T0" fmla="*/ 106 w 175"/>
                <a:gd name="T1" fmla="*/ 32 h 119"/>
                <a:gd name="T2" fmla="*/ 101 w 175"/>
                <a:gd name="T3" fmla="*/ 32 h 119"/>
                <a:gd name="T4" fmla="*/ 66 w 175"/>
                <a:gd name="T5" fmla="*/ 27 h 119"/>
                <a:gd name="T6" fmla="*/ 39 w 175"/>
                <a:gd name="T7" fmla="*/ 15 h 119"/>
                <a:gd name="T8" fmla="*/ 41 w 175"/>
                <a:gd name="T9" fmla="*/ 53 h 119"/>
                <a:gd name="T10" fmla="*/ 0 w 175"/>
                <a:gd name="T11" fmla="*/ 56 h 119"/>
                <a:gd name="T12" fmla="*/ 64 w 175"/>
                <a:gd name="T13" fmla="*/ 83 h 119"/>
                <a:gd name="T14" fmla="*/ 101 w 175"/>
                <a:gd name="T15" fmla="*/ 87 h 119"/>
                <a:gd name="T16" fmla="*/ 124 w 175"/>
                <a:gd name="T17" fmla="*/ 86 h 119"/>
                <a:gd name="T18" fmla="*/ 136 w 175"/>
                <a:gd name="T19" fmla="*/ 119 h 119"/>
                <a:gd name="T20" fmla="*/ 175 w 175"/>
                <a:gd name="T21" fmla="*/ 40 h 119"/>
                <a:gd name="T22" fmla="*/ 96 w 175"/>
                <a:gd name="T23" fmla="*/ 0 h 119"/>
                <a:gd name="T24" fmla="*/ 106 w 175"/>
                <a:gd name="T25" fmla="*/ 32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119">
                  <a:moveTo>
                    <a:pt x="106" y="32"/>
                  </a:moveTo>
                  <a:cubicBezTo>
                    <a:pt x="104" y="32"/>
                    <a:pt x="103" y="32"/>
                    <a:pt x="101" y="32"/>
                  </a:cubicBezTo>
                  <a:cubicBezTo>
                    <a:pt x="89" y="32"/>
                    <a:pt x="77" y="30"/>
                    <a:pt x="66" y="27"/>
                  </a:cubicBezTo>
                  <a:cubicBezTo>
                    <a:pt x="56" y="24"/>
                    <a:pt x="47" y="20"/>
                    <a:pt x="39" y="15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9" y="69"/>
                    <a:pt x="41" y="78"/>
                    <a:pt x="64" y="83"/>
                  </a:cubicBezTo>
                  <a:cubicBezTo>
                    <a:pt x="76" y="86"/>
                    <a:pt x="88" y="87"/>
                    <a:pt x="101" y="87"/>
                  </a:cubicBezTo>
                  <a:cubicBezTo>
                    <a:pt x="109" y="87"/>
                    <a:pt x="117" y="87"/>
                    <a:pt x="124" y="86"/>
                  </a:cubicBezTo>
                  <a:cubicBezTo>
                    <a:pt x="136" y="119"/>
                    <a:pt x="136" y="119"/>
                    <a:pt x="136" y="119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96" y="0"/>
                    <a:pt x="96" y="0"/>
                    <a:pt x="96" y="0"/>
                  </a:cubicBezTo>
                  <a:lnTo>
                    <a:pt x="106" y="32"/>
                  </a:lnTo>
                  <a:close/>
                </a:path>
              </a:pathLst>
            </a:custGeom>
            <a:solidFill>
              <a:srgbClr val="B9B8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33"/>
            <p:cNvSpPr>
              <a:spLocks/>
            </p:cNvSpPr>
            <p:nvPr/>
          </p:nvSpPr>
          <p:spPr bwMode="auto">
            <a:xfrm>
              <a:off x="9007475" y="3429000"/>
              <a:ext cx="517525" cy="604838"/>
            </a:xfrm>
            <a:custGeom>
              <a:avLst/>
              <a:gdLst>
                <a:gd name="T0" fmla="*/ 138 w 138"/>
                <a:gd name="T1" fmla="*/ 74 h 160"/>
                <a:gd name="T2" fmla="*/ 89 w 138"/>
                <a:gd name="T3" fmla="*/ 0 h 160"/>
                <a:gd name="T4" fmla="*/ 15 w 138"/>
                <a:gd name="T5" fmla="*/ 49 h 160"/>
                <a:gd name="T6" fmla="*/ 48 w 138"/>
                <a:gd name="T7" fmla="*/ 56 h 160"/>
                <a:gd name="T8" fmla="*/ 26 w 138"/>
                <a:gd name="T9" fmla="*/ 86 h 160"/>
                <a:gd name="T10" fmla="*/ 0 w 138"/>
                <a:gd name="T11" fmla="*/ 106 h 160"/>
                <a:gd name="T12" fmla="*/ 34 w 138"/>
                <a:gd name="T13" fmla="*/ 123 h 160"/>
                <a:gd name="T14" fmla="*/ 16 w 138"/>
                <a:gd name="T15" fmla="*/ 160 h 160"/>
                <a:gd name="T16" fmla="*/ 69 w 138"/>
                <a:gd name="T17" fmla="*/ 121 h 160"/>
                <a:gd name="T18" fmla="*/ 103 w 138"/>
                <a:gd name="T19" fmla="*/ 67 h 160"/>
                <a:gd name="T20" fmla="*/ 138 w 138"/>
                <a:gd name="T21" fmla="*/ 7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8" h="160">
                  <a:moveTo>
                    <a:pt x="138" y="74"/>
                  </a:moveTo>
                  <a:cubicBezTo>
                    <a:pt x="89" y="0"/>
                    <a:pt x="89" y="0"/>
                    <a:pt x="89" y="0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2" y="67"/>
                    <a:pt x="35" y="77"/>
                    <a:pt x="26" y="86"/>
                  </a:cubicBezTo>
                  <a:cubicBezTo>
                    <a:pt x="19" y="94"/>
                    <a:pt x="10" y="100"/>
                    <a:pt x="0" y="106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16" y="160"/>
                    <a:pt x="16" y="160"/>
                    <a:pt x="16" y="160"/>
                  </a:cubicBezTo>
                  <a:cubicBezTo>
                    <a:pt x="36" y="150"/>
                    <a:pt x="54" y="137"/>
                    <a:pt x="69" y="121"/>
                  </a:cubicBezTo>
                  <a:cubicBezTo>
                    <a:pt x="83" y="106"/>
                    <a:pt x="95" y="87"/>
                    <a:pt x="103" y="67"/>
                  </a:cubicBezTo>
                  <a:lnTo>
                    <a:pt x="138" y="74"/>
                  </a:lnTo>
                  <a:close/>
                </a:path>
              </a:pathLst>
            </a:custGeom>
            <a:solidFill>
              <a:srgbClr val="F47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34"/>
            <p:cNvSpPr>
              <a:spLocks/>
            </p:cNvSpPr>
            <p:nvPr/>
          </p:nvSpPr>
          <p:spPr bwMode="auto">
            <a:xfrm>
              <a:off x="9059863" y="2919413"/>
              <a:ext cx="387350" cy="561975"/>
            </a:xfrm>
            <a:custGeom>
              <a:avLst/>
              <a:gdLst>
                <a:gd name="T0" fmla="*/ 0 w 103"/>
                <a:gd name="T1" fmla="*/ 5 h 149"/>
                <a:gd name="T2" fmla="*/ 6 w 103"/>
                <a:gd name="T3" fmla="*/ 94 h 149"/>
                <a:gd name="T4" fmla="*/ 28 w 103"/>
                <a:gd name="T5" fmla="*/ 69 h 149"/>
                <a:gd name="T6" fmla="*/ 44 w 103"/>
                <a:gd name="T7" fmla="*/ 104 h 149"/>
                <a:gd name="T8" fmla="*/ 48 w 103"/>
                <a:gd name="T9" fmla="*/ 135 h 149"/>
                <a:gd name="T10" fmla="*/ 48 w 103"/>
                <a:gd name="T11" fmla="*/ 136 h 149"/>
                <a:gd name="T12" fmla="*/ 79 w 103"/>
                <a:gd name="T13" fmla="*/ 115 h 149"/>
                <a:gd name="T14" fmla="*/ 102 w 103"/>
                <a:gd name="T15" fmla="*/ 149 h 149"/>
                <a:gd name="T16" fmla="*/ 103 w 103"/>
                <a:gd name="T17" fmla="*/ 135 h 149"/>
                <a:gd name="T18" fmla="*/ 97 w 103"/>
                <a:gd name="T19" fmla="*/ 89 h 149"/>
                <a:gd name="T20" fmla="*/ 66 w 103"/>
                <a:gd name="T21" fmla="*/ 27 h 149"/>
                <a:gd name="T22" fmla="*/ 89 w 103"/>
                <a:gd name="T23" fmla="*/ 0 h 149"/>
                <a:gd name="T24" fmla="*/ 0 w 103"/>
                <a:gd name="T25" fmla="*/ 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3" h="149">
                  <a:moveTo>
                    <a:pt x="0" y="5"/>
                  </a:moveTo>
                  <a:cubicBezTo>
                    <a:pt x="6" y="94"/>
                    <a:pt x="6" y="94"/>
                    <a:pt x="6" y="94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35" y="80"/>
                    <a:pt x="40" y="91"/>
                    <a:pt x="44" y="104"/>
                  </a:cubicBezTo>
                  <a:cubicBezTo>
                    <a:pt x="46" y="114"/>
                    <a:pt x="48" y="124"/>
                    <a:pt x="48" y="135"/>
                  </a:cubicBezTo>
                  <a:cubicBezTo>
                    <a:pt x="48" y="136"/>
                    <a:pt x="48" y="136"/>
                    <a:pt x="48" y="136"/>
                  </a:cubicBezTo>
                  <a:cubicBezTo>
                    <a:pt x="79" y="115"/>
                    <a:pt x="79" y="115"/>
                    <a:pt x="79" y="115"/>
                  </a:cubicBezTo>
                  <a:cubicBezTo>
                    <a:pt x="102" y="149"/>
                    <a:pt x="102" y="149"/>
                    <a:pt x="102" y="149"/>
                  </a:cubicBezTo>
                  <a:cubicBezTo>
                    <a:pt x="103" y="144"/>
                    <a:pt x="103" y="140"/>
                    <a:pt x="103" y="135"/>
                  </a:cubicBezTo>
                  <a:cubicBezTo>
                    <a:pt x="103" y="119"/>
                    <a:pt x="101" y="104"/>
                    <a:pt x="97" y="89"/>
                  </a:cubicBezTo>
                  <a:cubicBezTo>
                    <a:pt x="90" y="66"/>
                    <a:pt x="80" y="45"/>
                    <a:pt x="66" y="27"/>
                  </a:cubicBezTo>
                  <a:cubicBezTo>
                    <a:pt x="89" y="0"/>
                    <a:pt x="89" y="0"/>
                    <a:pt x="89" y="0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CC42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35"/>
            <p:cNvSpPr>
              <a:spLocks/>
            </p:cNvSpPr>
            <p:nvPr/>
          </p:nvSpPr>
          <p:spPr bwMode="auto">
            <a:xfrm>
              <a:off x="8499475" y="2638425"/>
              <a:ext cx="657225" cy="450850"/>
            </a:xfrm>
            <a:custGeom>
              <a:avLst/>
              <a:gdLst>
                <a:gd name="T0" fmla="*/ 69 w 175"/>
                <a:gd name="T1" fmla="*/ 87 h 119"/>
                <a:gd name="T2" fmla="*/ 75 w 175"/>
                <a:gd name="T3" fmla="*/ 87 h 119"/>
                <a:gd name="T4" fmla="*/ 105 w 175"/>
                <a:gd name="T5" fmla="*/ 91 h 119"/>
                <a:gd name="T6" fmla="*/ 136 w 175"/>
                <a:gd name="T7" fmla="*/ 104 h 119"/>
                <a:gd name="T8" fmla="*/ 134 w 175"/>
                <a:gd name="T9" fmla="*/ 66 h 119"/>
                <a:gd name="T10" fmla="*/ 175 w 175"/>
                <a:gd name="T11" fmla="*/ 63 h 119"/>
                <a:gd name="T12" fmla="*/ 113 w 175"/>
                <a:gd name="T13" fmla="*/ 36 h 119"/>
                <a:gd name="T14" fmla="*/ 75 w 175"/>
                <a:gd name="T15" fmla="*/ 32 h 119"/>
                <a:gd name="T16" fmla="*/ 51 w 175"/>
                <a:gd name="T17" fmla="*/ 33 h 119"/>
                <a:gd name="T18" fmla="*/ 39 w 175"/>
                <a:gd name="T19" fmla="*/ 0 h 119"/>
                <a:gd name="T20" fmla="*/ 0 w 175"/>
                <a:gd name="T21" fmla="*/ 79 h 119"/>
                <a:gd name="T22" fmla="*/ 79 w 175"/>
                <a:gd name="T23" fmla="*/ 119 h 119"/>
                <a:gd name="T24" fmla="*/ 69 w 175"/>
                <a:gd name="T25" fmla="*/ 8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119">
                  <a:moveTo>
                    <a:pt x="69" y="87"/>
                  </a:moveTo>
                  <a:cubicBezTo>
                    <a:pt x="71" y="87"/>
                    <a:pt x="73" y="87"/>
                    <a:pt x="75" y="87"/>
                  </a:cubicBezTo>
                  <a:cubicBezTo>
                    <a:pt x="85" y="87"/>
                    <a:pt x="95" y="88"/>
                    <a:pt x="105" y="91"/>
                  </a:cubicBezTo>
                  <a:cubicBezTo>
                    <a:pt x="116" y="94"/>
                    <a:pt x="127" y="98"/>
                    <a:pt x="136" y="104"/>
                  </a:cubicBezTo>
                  <a:cubicBezTo>
                    <a:pt x="134" y="66"/>
                    <a:pt x="134" y="66"/>
                    <a:pt x="134" y="66"/>
                  </a:cubicBezTo>
                  <a:cubicBezTo>
                    <a:pt x="175" y="63"/>
                    <a:pt x="175" y="63"/>
                    <a:pt x="175" y="63"/>
                  </a:cubicBezTo>
                  <a:cubicBezTo>
                    <a:pt x="156" y="50"/>
                    <a:pt x="135" y="41"/>
                    <a:pt x="113" y="36"/>
                  </a:cubicBezTo>
                  <a:cubicBezTo>
                    <a:pt x="100" y="33"/>
                    <a:pt x="88" y="32"/>
                    <a:pt x="75" y="32"/>
                  </a:cubicBezTo>
                  <a:cubicBezTo>
                    <a:pt x="66" y="32"/>
                    <a:pt x="58" y="32"/>
                    <a:pt x="51" y="33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79" y="119"/>
                    <a:pt x="79" y="119"/>
                    <a:pt x="79" y="119"/>
                  </a:cubicBezTo>
                  <a:lnTo>
                    <a:pt x="69" y="87"/>
                  </a:lnTo>
                  <a:close/>
                </a:path>
              </a:pathLst>
            </a:custGeom>
            <a:solidFill>
              <a:srgbClr val="A11B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485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 animBg="1"/>
      <p:bldP spid="22" grpId="0"/>
      <p:bldP spid="2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611560" y="1484784"/>
            <a:ext cx="7763016" cy="4302716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LOOP 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标号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：执行动作，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CX=CX-1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，若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不为零，跳转至标号，否则结束循环。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zh-CN" altLang="en-US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LOOPZ/LOOPE 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标号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：执行动作，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CX=CX-1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，若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不为零，且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ZF=1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（相等），则跳转至标号，否则结束循环。配合影响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ZF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的指令。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LOOPNZ/LOOPNE 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标号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：执行动作，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CX=CX-1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，若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不为零，且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ZF=0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（不相等），则跳转至标号，否则结束循环。配合影响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ZF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的指令。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JCXZ 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标号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CX=0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，则转移。它不修改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，只根据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的值转移。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循环指令</a:t>
            </a:r>
          </a:p>
        </p:txBody>
      </p:sp>
    </p:spTree>
    <p:extLst>
      <p:ext uri="{BB962C8B-B14F-4D97-AF65-F5344CB8AC3E}">
        <p14:creationId xmlns:p14="http://schemas.microsoft.com/office/powerpoint/2010/main" val="4170061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945016" y="1825461"/>
            <a:ext cx="3236592" cy="31724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要求将串长度为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字节的两串中各对应元素相加，所得新串写入目标串中。源串偏移地址为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STR1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，目标串偏移地址为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STR2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ES=DS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7" name="矩形 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719784" y="1354218"/>
            <a:ext cx="0" cy="4295293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5947866" y="1871244"/>
            <a:ext cx="2584574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CX,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100</a:t>
            </a: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860032" y="3311404"/>
            <a:ext cx="249071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AGN: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5947866" y="2237798"/>
            <a:ext cx="2584574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LEA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SI,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STR1</a:t>
            </a: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5947866" y="2593484"/>
            <a:ext cx="2584574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LEA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DI,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STR2</a:t>
            </a:r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5947866" y="2951364"/>
            <a:ext cx="2584574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CLD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947866" y="3312297"/>
            <a:ext cx="2584574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LODSB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5947866" y="3692240"/>
            <a:ext cx="2584574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[DI]</a:t>
            </a:r>
          </a:p>
        </p:txBody>
      </p:sp>
      <p:sp>
        <p:nvSpPr>
          <p:cNvPr id="22" name="矩形 3"/>
          <p:cNvSpPr>
            <a:spLocks noChangeArrowheads="1"/>
          </p:cNvSpPr>
          <p:nvPr/>
        </p:nvSpPr>
        <p:spPr bwMode="auto">
          <a:xfrm>
            <a:off x="5947866" y="4083498"/>
            <a:ext cx="2584574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STOSB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5947866" y="4444431"/>
            <a:ext cx="2584574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LOOP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AGN</a:t>
            </a:r>
          </a:p>
        </p:txBody>
      </p:sp>
    </p:spTree>
    <p:extLst>
      <p:ext uri="{BB962C8B-B14F-4D97-AF65-F5344CB8AC3E}">
        <p14:creationId xmlns:p14="http://schemas.microsoft.com/office/powerpoint/2010/main" val="324347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/>
      <p:bldP spid="22" grpId="0"/>
      <p:bldP spid="2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63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无条件转移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条件转移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循环控制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中断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程序控制指令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7214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855703" y="1664305"/>
            <a:ext cx="7316697" cy="184665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8086 CPU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允许一条中断指令来产生中断过程，这种中断叫内部中断，或叫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软中断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软中断通常用于完成系统功能调用，例如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BIOS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调用。软中断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类似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CALL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的段间间接调用。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1484784"/>
            <a:ext cx="7776442" cy="2201611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中断指令</a:t>
            </a:r>
          </a:p>
        </p:txBody>
      </p:sp>
      <p:sp>
        <p:nvSpPr>
          <p:cNvPr id="18" name="矩形 17"/>
          <p:cNvSpPr>
            <a:spLocks noChangeAspect="1"/>
          </p:cNvSpPr>
          <p:nvPr/>
        </p:nvSpPr>
        <p:spPr>
          <a:xfrm>
            <a:off x="683568" y="4058581"/>
            <a:ext cx="7776442" cy="1820202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696707" y="4135941"/>
            <a:ext cx="893766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900274" y="4124760"/>
            <a:ext cx="461665" cy="9412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1619250" y="4077071"/>
            <a:ext cx="6769174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指令格式：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INT n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，其中 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n=0~255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。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返回指令：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IRET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。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溢出中断：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INTO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，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OF=1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，则执行类型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4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的中断；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OF=0,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不做任何操作。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21547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/>
          </p:cNvSpPr>
          <p:nvPr/>
        </p:nvSpPr>
        <p:spPr bwMode="auto">
          <a:xfrm>
            <a:off x="638811" y="4888508"/>
            <a:ext cx="7546713" cy="93107"/>
          </a:xfrm>
          <a:custGeom>
            <a:avLst/>
            <a:gdLst>
              <a:gd name="T0" fmla="*/ 0 w 5998"/>
              <a:gd name="T1" fmla="*/ 0 h 74"/>
              <a:gd name="T2" fmla="*/ 5998 w 5998"/>
              <a:gd name="T3" fmla="*/ 0 h 74"/>
              <a:gd name="T4" fmla="*/ 5998 w 5998"/>
              <a:gd name="T5" fmla="*/ 74 h 74"/>
              <a:gd name="T6" fmla="*/ 0 w 5998"/>
              <a:gd name="T7" fmla="*/ 74 h 74"/>
              <a:gd name="T8" fmla="*/ 0 w 5998"/>
              <a:gd name="T9" fmla="*/ 0 h 74"/>
              <a:gd name="T10" fmla="*/ 0 w 5998"/>
              <a:gd name="T11" fmla="*/ 0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98" h="74">
                <a:moveTo>
                  <a:pt x="0" y="0"/>
                </a:moveTo>
                <a:lnTo>
                  <a:pt x="5998" y="0"/>
                </a:lnTo>
                <a:lnTo>
                  <a:pt x="5998" y="74"/>
                </a:lnTo>
                <a:lnTo>
                  <a:pt x="0" y="7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8989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Oval 6"/>
          <p:cNvSpPr>
            <a:spLocks noChangeArrowheads="1"/>
          </p:cNvSpPr>
          <p:nvPr/>
        </p:nvSpPr>
        <p:spPr bwMode="auto">
          <a:xfrm>
            <a:off x="394336" y="4701183"/>
            <a:ext cx="488950" cy="492125"/>
          </a:xfrm>
          <a:prstGeom prst="ellipse">
            <a:avLst/>
          </a:prstGeom>
          <a:solidFill>
            <a:srgbClr val="8989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Oval 7"/>
          <p:cNvSpPr>
            <a:spLocks noChangeArrowheads="1"/>
          </p:cNvSpPr>
          <p:nvPr/>
        </p:nvSpPr>
        <p:spPr bwMode="auto">
          <a:xfrm>
            <a:off x="500699" y="4799608"/>
            <a:ext cx="284163" cy="2857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Oval 8"/>
          <p:cNvSpPr>
            <a:spLocks noChangeArrowheads="1"/>
          </p:cNvSpPr>
          <p:nvPr/>
        </p:nvSpPr>
        <p:spPr bwMode="auto">
          <a:xfrm>
            <a:off x="540386" y="4848821"/>
            <a:ext cx="195263" cy="196850"/>
          </a:xfrm>
          <a:prstGeom prst="ellipse">
            <a:avLst/>
          </a:prstGeom>
          <a:solidFill>
            <a:srgbClr val="74A7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Oval 9"/>
          <p:cNvSpPr>
            <a:spLocks noChangeArrowheads="1"/>
          </p:cNvSpPr>
          <p:nvPr/>
        </p:nvSpPr>
        <p:spPr bwMode="auto">
          <a:xfrm>
            <a:off x="1978661" y="4701183"/>
            <a:ext cx="488950" cy="492125"/>
          </a:xfrm>
          <a:prstGeom prst="ellipse">
            <a:avLst/>
          </a:prstGeom>
          <a:solidFill>
            <a:srgbClr val="8989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2077086" y="4799608"/>
            <a:ext cx="293688" cy="2857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Oval 11"/>
          <p:cNvSpPr>
            <a:spLocks noChangeArrowheads="1"/>
          </p:cNvSpPr>
          <p:nvPr/>
        </p:nvSpPr>
        <p:spPr bwMode="auto">
          <a:xfrm>
            <a:off x="2126299" y="4848821"/>
            <a:ext cx="195263" cy="196850"/>
          </a:xfrm>
          <a:prstGeom prst="ellipse">
            <a:avLst/>
          </a:prstGeom>
          <a:solidFill>
            <a:srgbClr val="CCB7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Oval 12"/>
          <p:cNvSpPr>
            <a:spLocks noChangeArrowheads="1"/>
          </p:cNvSpPr>
          <p:nvPr/>
        </p:nvSpPr>
        <p:spPr bwMode="auto">
          <a:xfrm>
            <a:off x="3564574" y="4701183"/>
            <a:ext cx="488950" cy="492125"/>
          </a:xfrm>
          <a:prstGeom prst="ellipse">
            <a:avLst/>
          </a:prstGeom>
          <a:solidFill>
            <a:srgbClr val="8989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Oval 13"/>
          <p:cNvSpPr>
            <a:spLocks noChangeArrowheads="1"/>
          </p:cNvSpPr>
          <p:nvPr/>
        </p:nvSpPr>
        <p:spPr bwMode="auto">
          <a:xfrm>
            <a:off x="3662999" y="4799608"/>
            <a:ext cx="282575" cy="2857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Oval 14"/>
          <p:cNvSpPr>
            <a:spLocks noChangeArrowheads="1"/>
          </p:cNvSpPr>
          <p:nvPr/>
        </p:nvSpPr>
        <p:spPr bwMode="auto">
          <a:xfrm>
            <a:off x="3710624" y="4848821"/>
            <a:ext cx="187325" cy="196850"/>
          </a:xfrm>
          <a:prstGeom prst="ellipse">
            <a:avLst/>
          </a:prstGeom>
          <a:solidFill>
            <a:srgbClr val="EA50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5139374" y="4701183"/>
            <a:ext cx="490538" cy="492125"/>
          </a:xfrm>
          <a:prstGeom prst="ellipse">
            <a:avLst/>
          </a:prstGeom>
          <a:solidFill>
            <a:srgbClr val="8989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5247324" y="4799608"/>
            <a:ext cx="284163" cy="2857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5287011" y="4848821"/>
            <a:ext cx="195263" cy="196850"/>
          </a:xfrm>
          <a:prstGeom prst="ellipse">
            <a:avLst/>
          </a:prstGeom>
          <a:solidFill>
            <a:srgbClr val="7B60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6725286" y="4701183"/>
            <a:ext cx="488950" cy="492125"/>
          </a:xfrm>
          <a:prstGeom prst="ellipse">
            <a:avLst/>
          </a:prstGeom>
          <a:solidFill>
            <a:srgbClr val="8989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6823711" y="4799608"/>
            <a:ext cx="284163" cy="2857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6872924" y="4848821"/>
            <a:ext cx="195263" cy="196850"/>
          </a:xfrm>
          <a:prstGeom prst="ellipse">
            <a:avLst/>
          </a:prstGeom>
          <a:solidFill>
            <a:srgbClr val="74A7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27"/>
          <p:cNvSpPr>
            <a:spLocks/>
          </p:cNvSpPr>
          <p:nvPr/>
        </p:nvSpPr>
        <p:spPr bwMode="auto">
          <a:xfrm>
            <a:off x="1001951" y="3156546"/>
            <a:ext cx="2431045" cy="1033463"/>
          </a:xfrm>
          <a:custGeom>
            <a:avLst/>
            <a:gdLst>
              <a:gd name="T0" fmla="*/ 0 w 1702"/>
              <a:gd name="T1" fmla="*/ 651 h 651"/>
              <a:gd name="T2" fmla="*/ 1702 w 1702"/>
              <a:gd name="T3" fmla="*/ 651 h 651"/>
              <a:gd name="T4" fmla="*/ 1702 w 1702"/>
              <a:gd name="T5" fmla="*/ 0 h 651"/>
              <a:gd name="T6" fmla="*/ 0 w 1702"/>
              <a:gd name="T7" fmla="*/ 0 h 651"/>
              <a:gd name="T8" fmla="*/ 0 w 1702"/>
              <a:gd name="T9" fmla="*/ 651 h 651"/>
              <a:gd name="T10" fmla="*/ 0 w 1702"/>
              <a:gd name="T11" fmla="*/ 651 h 6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2" h="651">
                <a:moveTo>
                  <a:pt x="0" y="651"/>
                </a:moveTo>
                <a:lnTo>
                  <a:pt x="1702" y="651"/>
                </a:lnTo>
                <a:lnTo>
                  <a:pt x="1702" y="0"/>
                </a:lnTo>
                <a:lnTo>
                  <a:pt x="0" y="0"/>
                </a:lnTo>
                <a:lnTo>
                  <a:pt x="0" y="651"/>
                </a:lnTo>
                <a:lnTo>
                  <a:pt x="0" y="651"/>
                </a:lnTo>
                <a:close/>
              </a:path>
            </a:pathLst>
          </a:custGeom>
          <a:solidFill>
            <a:srgbClr val="CCB7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Freeform 30"/>
          <p:cNvSpPr>
            <a:spLocks/>
          </p:cNvSpPr>
          <p:nvPr/>
        </p:nvSpPr>
        <p:spPr bwMode="auto">
          <a:xfrm>
            <a:off x="4297092" y="3156546"/>
            <a:ext cx="2213593" cy="1033463"/>
          </a:xfrm>
          <a:custGeom>
            <a:avLst/>
            <a:gdLst>
              <a:gd name="T0" fmla="*/ 0 w 1701"/>
              <a:gd name="T1" fmla="*/ 651 h 651"/>
              <a:gd name="T2" fmla="*/ 1701 w 1701"/>
              <a:gd name="T3" fmla="*/ 651 h 651"/>
              <a:gd name="T4" fmla="*/ 1701 w 1701"/>
              <a:gd name="T5" fmla="*/ 0 h 651"/>
              <a:gd name="T6" fmla="*/ 0 w 1701"/>
              <a:gd name="T7" fmla="*/ 0 h 651"/>
              <a:gd name="T8" fmla="*/ 0 w 1701"/>
              <a:gd name="T9" fmla="*/ 651 h 651"/>
              <a:gd name="T10" fmla="*/ 0 w 1701"/>
              <a:gd name="T11" fmla="*/ 651 h 6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1" h="651">
                <a:moveTo>
                  <a:pt x="0" y="651"/>
                </a:moveTo>
                <a:lnTo>
                  <a:pt x="1701" y="651"/>
                </a:lnTo>
                <a:lnTo>
                  <a:pt x="1701" y="0"/>
                </a:lnTo>
                <a:lnTo>
                  <a:pt x="0" y="0"/>
                </a:lnTo>
                <a:lnTo>
                  <a:pt x="0" y="651"/>
                </a:lnTo>
                <a:lnTo>
                  <a:pt x="0" y="651"/>
                </a:lnTo>
                <a:close/>
              </a:path>
            </a:pathLst>
          </a:custGeom>
          <a:solidFill>
            <a:srgbClr val="7B60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Freeform 31"/>
          <p:cNvSpPr>
            <a:spLocks/>
          </p:cNvSpPr>
          <p:nvPr/>
        </p:nvSpPr>
        <p:spPr bwMode="auto">
          <a:xfrm>
            <a:off x="394336" y="1700808"/>
            <a:ext cx="2438187" cy="1042988"/>
          </a:xfrm>
          <a:custGeom>
            <a:avLst/>
            <a:gdLst>
              <a:gd name="T0" fmla="*/ 0 w 1707"/>
              <a:gd name="T1" fmla="*/ 657 h 657"/>
              <a:gd name="T2" fmla="*/ 1707 w 1707"/>
              <a:gd name="T3" fmla="*/ 657 h 657"/>
              <a:gd name="T4" fmla="*/ 1707 w 1707"/>
              <a:gd name="T5" fmla="*/ 0 h 657"/>
              <a:gd name="T6" fmla="*/ 0 w 1707"/>
              <a:gd name="T7" fmla="*/ 0 h 657"/>
              <a:gd name="T8" fmla="*/ 0 w 1707"/>
              <a:gd name="T9" fmla="*/ 657 h 657"/>
              <a:gd name="T10" fmla="*/ 0 w 1707"/>
              <a:gd name="T11" fmla="*/ 657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7" h="657">
                <a:moveTo>
                  <a:pt x="0" y="657"/>
                </a:moveTo>
                <a:lnTo>
                  <a:pt x="1707" y="657"/>
                </a:lnTo>
                <a:lnTo>
                  <a:pt x="1707" y="0"/>
                </a:lnTo>
                <a:lnTo>
                  <a:pt x="0" y="0"/>
                </a:lnTo>
                <a:lnTo>
                  <a:pt x="0" y="657"/>
                </a:lnTo>
                <a:lnTo>
                  <a:pt x="0" y="657"/>
                </a:lnTo>
                <a:close/>
              </a:path>
            </a:pathLst>
          </a:custGeom>
          <a:solidFill>
            <a:srgbClr val="74A7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Freeform 32"/>
          <p:cNvSpPr>
            <a:spLocks/>
          </p:cNvSpPr>
          <p:nvPr/>
        </p:nvSpPr>
        <p:spPr bwMode="auto">
          <a:xfrm>
            <a:off x="6755450" y="1700808"/>
            <a:ext cx="2209038" cy="1042988"/>
          </a:xfrm>
          <a:custGeom>
            <a:avLst/>
            <a:gdLst>
              <a:gd name="T0" fmla="*/ 0 w 1707"/>
              <a:gd name="T1" fmla="*/ 657 h 657"/>
              <a:gd name="T2" fmla="*/ 1707 w 1707"/>
              <a:gd name="T3" fmla="*/ 657 h 657"/>
              <a:gd name="T4" fmla="*/ 1707 w 1707"/>
              <a:gd name="T5" fmla="*/ 0 h 657"/>
              <a:gd name="T6" fmla="*/ 0 w 1707"/>
              <a:gd name="T7" fmla="*/ 0 h 657"/>
              <a:gd name="T8" fmla="*/ 0 w 1707"/>
              <a:gd name="T9" fmla="*/ 657 h 657"/>
              <a:gd name="T10" fmla="*/ 0 w 1707"/>
              <a:gd name="T11" fmla="*/ 657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7" h="657">
                <a:moveTo>
                  <a:pt x="0" y="657"/>
                </a:moveTo>
                <a:lnTo>
                  <a:pt x="1707" y="657"/>
                </a:lnTo>
                <a:lnTo>
                  <a:pt x="1707" y="0"/>
                </a:lnTo>
                <a:lnTo>
                  <a:pt x="0" y="0"/>
                </a:lnTo>
                <a:lnTo>
                  <a:pt x="0" y="657"/>
                </a:lnTo>
                <a:lnTo>
                  <a:pt x="0" y="657"/>
                </a:lnTo>
                <a:close/>
              </a:path>
            </a:pathLst>
          </a:custGeom>
          <a:solidFill>
            <a:srgbClr val="74A7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33"/>
          <p:cNvSpPr>
            <a:spLocks/>
          </p:cNvSpPr>
          <p:nvPr/>
        </p:nvSpPr>
        <p:spPr bwMode="auto">
          <a:xfrm>
            <a:off x="3583624" y="1700808"/>
            <a:ext cx="2439615" cy="1042988"/>
          </a:xfrm>
          <a:custGeom>
            <a:avLst/>
            <a:gdLst>
              <a:gd name="T0" fmla="*/ 0 w 1708"/>
              <a:gd name="T1" fmla="*/ 657 h 657"/>
              <a:gd name="T2" fmla="*/ 1708 w 1708"/>
              <a:gd name="T3" fmla="*/ 657 h 657"/>
              <a:gd name="T4" fmla="*/ 1708 w 1708"/>
              <a:gd name="T5" fmla="*/ 0 h 657"/>
              <a:gd name="T6" fmla="*/ 0 w 1708"/>
              <a:gd name="T7" fmla="*/ 0 h 657"/>
              <a:gd name="T8" fmla="*/ 0 w 1708"/>
              <a:gd name="T9" fmla="*/ 657 h 657"/>
              <a:gd name="T10" fmla="*/ 0 w 1708"/>
              <a:gd name="T11" fmla="*/ 657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8" h="657">
                <a:moveTo>
                  <a:pt x="0" y="657"/>
                </a:moveTo>
                <a:lnTo>
                  <a:pt x="1708" y="657"/>
                </a:lnTo>
                <a:lnTo>
                  <a:pt x="1708" y="0"/>
                </a:lnTo>
                <a:lnTo>
                  <a:pt x="0" y="0"/>
                </a:lnTo>
                <a:lnTo>
                  <a:pt x="0" y="657"/>
                </a:lnTo>
                <a:lnTo>
                  <a:pt x="0" y="657"/>
                </a:lnTo>
                <a:close/>
              </a:path>
            </a:pathLst>
          </a:custGeom>
          <a:solidFill>
            <a:srgbClr val="EA50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Freeform 34"/>
          <p:cNvSpPr>
            <a:spLocks/>
          </p:cNvSpPr>
          <p:nvPr/>
        </p:nvSpPr>
        <p:spPr bwMode="auto">
          <a:xfrm>
            <a:off x="6941186" y="2438996"/>
            <a:ext cx="58738" cy="2508250"/>
          </a:xfrm>
          <a:custGeom>
            <a:avLst/>
            <a:gdLst>
              <a:gd name="T0" fmla="*/ 37 w 37"/>
              <a:gd name="T1" fmla="*/ 1580 h 1580"/>
              <a:gd name="T2" fmla="*/ 0 w 37"/>
              <a:gd name="T3" fmla="*/ 1580 h 1580"/>
              <a:gd name="T4" fmla="*/ 0 w 37"/>
              <a:gd name="T5" fmla="*/ 0 h 1580"/>
              <a:gd name="T6" fmla="*/ 37 w 37"/>
              <a:gd name="T7" fmla="*/ 0 h 1580"/>
              <a:gd name="T8" fmla="*/ 37 w 37"/>
              <a:gd name="T9" fmla="*/ 1580 h 1580"/>
              <a:gd name="T10" fmla="*/ 37 w 37"/>
              <a:gd name="T11" fmla="*/ 1580 h 1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" h="1580">
                <a:moveTo>
                  <a:pt x="37" y="1580"/>
                </a:moveTo>
                <a:lnTo>
                  <a:pt x="0" y="1580"/>
                </a:lnTo>
                <a:lnTo>
                  <a:pt x="0" y="0"/>
                </a:lnTo>
                <a:lnTo>
                  <a:pt x="37" y="0"/>
                </a:lnTo>
                <a:lnTo>
                  <a:pt x="37" y="1580"/>
                </a:lnTo>
                <a:lnTo>
                  <a:pt x="37" y="1580"/>
                </a:lnTo>
                <a:close/>
              </a:path>
            </a:pathLst>
          </a:custGeom>
          <a:solidFill>
            <a:srgbClr val="74A7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Freeform 35"/>
          <p:cNvSpPr>
            <a:spLocks/>
          </p:cNvSpPr>
          <p:nvPr/>
        </p:nvSpPr>
        <p:spPr bwMode="auto">
          <a:xfrm>
            <a:off x="5355274" y="3618508"/>
            <a:ext cx="58738" cy="1328738"/>
          </a:xfrm>
          <a:custGeom>
            <a:avLst/>
            <a:gdLst>
              <a:gd name="T0" fmla="*/ 37 w 37"/>
              <a:gd name="T1" fmla="*/ 837 h 837"/>
              <a:gd name="T2" fmla="*/ 0 w 37"/>
              <a:gd name="T3" fmla="*/ 837 h 837"/>
              <a:gd name="T4" fmla="*/ 0 w 37"/>
              <a:gd name="T5" fmla="*/ 0 h 837"/>
              <a:gd name="T6" fmla="*/ 37 w 37"/>
              <a:gd name="T7" fmla="*/ 0 h 837"/>
              <a:gd name="T8" fmla="*/ 37 w 37"/>
              <a:gd name="T9" fmla="*/ 837 h 837"/>
              <a:gd name="T10" fmla="*/ 37 w 37"/>
              <a:gd name="T11" fmla="*/ 837 h 8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" h="837">
                <a:moveTo>
                  <a:pt x="37" y="837"/>
                </a:moveTo>
                <a:lnTo>
                  <a:pt x="0" y="837"/>
                </a:lnTo>
                <a:lnTo>
                  <a:pt x="0" y="0"/>
                </a:lnTo>
                <a:lnTo>
                  <a:pt x="37" y="0"/>
                </a:lnTo>
                <a:lnTo>
                  <a:pt x="37" y="837"/>
                </a:lnTo>
                <a:lnTo>
                  <a:pt x="37" y="837"/>
                </a:lnTo>
                <a:close/>
              </a:path>
            </a:pathLst>
          </a:custGeom>
          <a:solidFill>
            <a:srgbClr val="7B60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Freeform 36"/>
          <p:cNvSpPr>
            <a:spLocks/>
          </p:cNvSpPr>
          <p:nvPr/>
        </p:nvSpPr>
        <p:spPr bwMode="auto">
          <a:xfrm>
            <a:off x="3769361" y="2261196"/>
            <a:ext cx="69850" cy="2686050"/>
          </a:xfrm>
          <a:custGeom>
            <a:avLst/>
            <a:gdLst>
              <a:gd name="T0" fmla="*/ 44 w 44"/>
              <a:gd name="T1" fmla="*/ 1692 h 1692"/>
              <a:gd name="T2" fmla="*/ 0 w 44"/>
              <a:gd name="T3" fmla="*/ 1692 h 1692"/>
              <a:gd name="T4" fmla="*/ 0 w 44"/>
              <a:gd name="T5" fmla="*/ 0 h 1692"/>
              <a:gd name="T6" fmla="*/ 44 w 44"/>
              <a:gd name="T7" fmla="*/ 0 h 1692"/>
              <a:gd name="T8" fmla="*/ 44 w 44"/>
              <a:gd name="T9" fmla="*/ 1692 h 1692"/>
              <a:gd name="T10" fmla="*/ 44 w 44"/>
              <a:gd name="T11" fmla="*/ 1692 h 1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1692">
                <a:moveTo>
                  <a:pt x="44" y="1692"/>
                </a:moveTo>
                <a:lnTo>
                  <a:pt x="0" y="1692"/>
                </a:lnTo>
                <a:lnTo>
                  <a:pt x="0" y="0"/>
                </a:lnTo>
                <a:lnTo>
                  <a:pt x="44" y="0"/>
                </a:lnTo>
                <a:lnTo>
                  <a:pt x="44" y="1692"/>
                </a:lnTo>
                <a:lnTo>
                  <a:pt x="44" y="1692"/>
                </a:lnTo>
                <a:close/>
              </a:path>
            </a:pathLst>
          </a:custGeom>
          <a:solidFill>
            <a:srgbClr val="EA50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37"/>
          <p:cNvSpPr>
            <a:spLocks/>
          </p:cNvSpPr>
          <p:nvPr/>
        </p:nvSpPr>
        <p:spPr bwMode="auto">
          <a:xfrm>
            <a:off x="2194561" y="3264496"/>
            <a:ext cx="58738" cy="1682750"/>
          </a:xfrm>
          <a:custGeom>
            <a:avLst/>
            <a:gdLst>
              <a:gd name="T0" fmla="*/ 37 w 37"/>
              <a:gd name="T1" fmla="*/ 1060 h 1060"/>
              <a:gd name="T2" fmla="*/ 0 w 37"/>
              <a:gd name="T3" fmla="*/ 1060 h 1060"/>
              <a:gd name="T4" fmla="*/ 0 w 37"/>
              <a:gd name="T5" fmla="*/ 0 h 1060"/>
              <a:gd name="T6" fmla="*/ 37 w 37"/>
              <a:gd name="T7" fmla="*/ 0 h 1060"/>
              <a:gd name="T8" fmla="*/ 37 w 37"/>
              <a:gd name="T9" fmla="*/ 1060 h 1060"/>
              <a:gd name="T10" fmla="*/ 37 w 37"/>
              <a:gd name="T11" fmla="*/ 1060 h 10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" h="1060">
                <a:moveTo>
                  <a:pt x="37" y="1060"/>
                </a:moveTo>
                <a:lnTo>
                  <a:pt x="0" y="1060"/>
                </a:lnTo>
                <a:lnTo>
                  <a:pt x="0" y="0"/>
                </a:lnTo>
                <a:lnTo>
                  <a:pt x="37" y="0"/>
                </a:lnTo>
                <a:lnTo>
                  <a:pt x="37" y="1060"/>
                </a:lnTo>
                <a:lnTo>
                  <a:pt x="37" y="1060"/>
                </a:lnTo>
                <a:close/>
              </a:path>
            </a:pathLst>
          </a:custGeom>
          <a:solidFill>
            <a:srgbClr val="CCB7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38"/>
          <p:cNvSpPr>
            <a:spLocks/>
          </p:cNvSpPr>
          <p:nvPr/>
        </p:nvSpPr>
        <p:spPr bwMode="auto">
          <a:xfrm>
            <a:off x="608649" y="1907183"/>
            <a:ext cx="58738" cy="3040063"/>
          </a:xfrm>
          <a:custGeom>
            <a:avLst/>
            <a:gdLst>
              <a:gd name="T0" fmla="*/ 37 w 37"/>
              <a:gd name="T1" fmla="*/ 1915 h 1915"/>
              <a:gd name="T2" fmla="*/ 0 w 37"/>
              <a:gd name="T3" fmla="*/ 1915 h 1915"/>
              <a:gd name="T4" fmla="*/ 0 w 37"/>
              <a:gd name="T5" fmla="*/ 0 h 1915"/>
              <a:gd name="T6" fmla="*/ 37 w 37"/>
              <a:gd name="T7" fmla="*/ 0 h 1915"/>
              <a:gd name="T8" fmla="*/ 37 w 37"/>
              <a:gd name="T9" fmla="*/ 1915 h 1915"/>
              <a:gd name="T10" fmla="*/ 37 w 37"/>
              <a:gd name="T11" fmla="*/ 1915 h 19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" h="1915">
                <a:moveTo>
                  <a:pt x="37" y="1915"/>
                </a:moveTo>
                <a:lnTo>
                  <a:pt x="0" y="1915"/>
                </a:lnTo>
                <a:lnTo>
                  <a:pt x="0" y="0"/>
                </a:lnTo>
                <a:lnTo>
                  <a:pt x="37" y="0"/>
                </a:lnTo>
                <a:lnTo>
                  <a:pt x="37" y="1915"/>
                </a:lnTo>
                <a:lnTo>
                  <a:pt x="37" y="1915"/>
                </a:lnTo>
                <a:close/>
              </a:path>
            </a:pathLst>
          </a:custGeom>
          <a:solidFill>
            <a:srgbClr val="74A7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486250" y="5254360"/>
            <a:ext cx="282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rPr>
              <a:t>1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064844" y="52543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rPr>
              <a:t>2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49020" y="525436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rPr>
              <a:t>3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233196" y="52543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rPr>
              <a:t>4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817372" y="5254360"/>
            <a:ext cx="322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rPr>
              <a:t>5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40386" y="1766038"/>
            <a:ext cx="21296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主程序代码段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下一条指令地址及</a:t>
            </a:r>
            <a:r>
              <a:rPr lang="zh-CN" altLang="en-US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标志寄存器</a:t>
            </a:r>
            <a:endParaRPr lang="en-US" altLang="zh-CN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732850" y="1907545"/>
            <a:ext cx="212966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指令中操作数</a:t>
            </a:r>
            <a:r>
              <a:rPr lang="en-US" altLang="zh-CN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寻址得到目标地址。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7177412" y="2051556"/>
            <a:ext cx="135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IRET</a:t>
            </a:r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返回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663374" y="3491716"/>
            <a:ext cx="1168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压入栈段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4499993" y="349171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执行中断子程序</a:t>
            </a:r>
          </a:p>
        </p:txBody>
      </p:sp>
      <p:cxnSp>
        <p:nvCxnSpPr>
          <p:cNvPr id="49" name="直接连接符 48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0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中断调用过程</a:t>
            </a:r>
          </a:p>
        </p:txBody>
      </p:sp>
      <p:sp>
        <p:nvSpPr>
          <p:cNvPr id="42" name="矩形 41"/>
          <p:cNvSpPr/>
          <p:nvPr/>
        </p:nvSpPr>
        <p:spPr>
          <a:xfrm>
            <a:off x="2051720" y="5877727"/>
            <a:ext cx="504056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指令的压栈顺序：标志寄存器、</a:t>
            </a:r>
            <a:r>
              <a:rPr lang="en-US" altLang="zh-CN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</a:t>
            </a:r>
            <a:r>
              <a:rPr lang="zh-CN" altLang="en-US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IRET</a:t>
            </a:r>
            <a:r>
              <a:rPr lang="zh-CN" altLang="en-US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顺序刚好是反过程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8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5616" y="5814781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54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</a:p>
        </p:txBody>
      </p:sp>
      <p:pic>
        <p:nvPicPr>
          <p:cNvPr id="8" name="Picture 2" descr="C:\Documents and Settings\tdz\桌面\图片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76056" y="1844824"/>
            <a:ext cx="3599971" cy="34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标注 8"/>
          <p:cNvSpPr/>
          <p:nvPr/>
        </p:nvSpPr>
        <p:spPr>
          <a:xfrm>
            <a:off x="683568" y="2348880"/>
            <a:ext cx="4176464" cy="2253281"/>
          </a:xfrm>
          <a:prstGeom prst="wedgeRectCallout">
            <a:avLst>
              <a:gd name="adj1" fmla="val 62123"/>
              <a:gd name="adj2" fmla="val 1601"/>
            </a:avLst>
          </a:prstGeom>
          <a:solidFill>
            <a:srgbClr val="FF93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defTabSz="123444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指令如何只根据一个序号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就能找到中断服务子程序的地址？</a:t>
            </a:r>
          </a:p>
        </p:txBody>
      </p:sp>
    </p:spTree>
    <p:extLst>
      <p:ext uri="{BB962C8B-B14F-4D97-AF65-F5344CB8AC3E}">
        <p14:creationId xmlns:p14="http://schemas.microsoft.com/office/powerpoint/2010/main" val="374019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15616" y="260648"/>
            <a:ext cx="6768752" cy="5076563"/>
            <a:chOff x="1043608" y="1016733"/>
            <a:chExt cx="6768752" cy="5076563"/>
          </a:xfrm>
        </p:grpSpPr>
        <p:grpSp>
          <p:nvGrpSpPr>
            <p:cNvPr id="4" name="组合 3"/>
            <p:cNvGrpSpPr/>
            <p:nvPr/>
          </p:nvGrpSpPr>
          <p:grpSpPr>
            <a:xfrm>
              <a:off x="1043608" y="1016733"/>
              <a:ext cx="6768752" cy="5076563"/>
              <a:chOff x="1043608" y="692696"/>
              <a:chExt cx="6768752" cy="5076563"/>
            </a:xfrm>
          </p:grpSpPr>
          <p:pic>
            <p:nvPicPr>
              <p:cNvPr id="2" name="Picture 2" descr="D:\Teliss_Tong\Copy\定期备份\工作备份\！PPT图片及版面资源\06-PPT精选插图\08-3D小人\黑板可写字.jpg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3608" y="692696"/>
                <a:ext cx="6768752" cy="50765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Rectangle 2"/>
              <p:cNvSpPr>
                <a:spLocks noChangeArrowheads="1"/>
              </p:cNvSpPr>
              <p:nvPr/>
            </p:nvSpPr>
            <p:spPr bwMode="auto">
              <a:xfrm>
                <a:off x="4283968" y="1988840"/>
                <a:ext cx="2376686" cy="4536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99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26" tIns="45713" rIns="91426" bIns="45713" anchor="ctr"/>
              <a:lstStyle/>
              <a:p>
                <a:pPr algn="ctr" eaLnBrk="0" hangingPunct="0"/>
                <a:r>
                  <a:rPr lang="zh-CN" altLang="en-US" sz="40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中断向量</a:t>
                </a:r>
              </a:p>
            </p:txBody>
          </p:sp>
        </p:grpSp>
        <p:sp>
          <p:nvSpPr>
            <p:cNvPr id="5" name="TextBox 10"/>
            <p:cNvSpPr txBox="1">
              <a:spLocks noChangeArrowheads="1"/>
            </p:cNvSpPr>
            <p:nvPr/>
          </p:nvSpPr>
          <p:spPr bwMode="auto">
            <a:xfrm>
              <a:off x="3932745" y="1772816"/>
              <a:ext cx="3301171" cy="443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4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把目标地址放在固定的地方</a:t>
              </a:r>
              <a:endPara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85372" y="5434034"/>
            <a:ext cx="8429239" cy="71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>
              <a:lnSpc>
                <a:spcPct val="114000"/>
              </a:lnSpc>
            </a:pP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对比 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CALL DWORD PTR [SI+2480H]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07589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1043608" y="1318528"/>
            <a:ext cx="7200800" cy="3600986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中断类型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的中断服务子程序入口地址放在</a:t>
            </a:r>
            <a:r>
              <a:rPr lang="zh-CN" altLang="en-US" sz="28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段地址为</a:t>
            </a:r>
            <a:r>
              <a:rPr lang="en-US" altLang="zh-CN" sz="28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偏移地址为</a:t>
            </a:r>
            <a:r>
              <a:rPr lang="en-US" altLang="zh-CN" sz="32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n*4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的连续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个字节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。这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个字节存储单元也称为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中断向量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256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个中断类型，需要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1024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个存储单元，即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1KB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，这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1KB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的存储单元称为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中断向量表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中断向量表在内存的最开始的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1KB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中。它的每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个字节为一个整体。因此，知道序号，就可以得到偏移地址：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中断向量</a:t>
            </a:r>
          </a:p>
        </p:txBody>
      </p:sp>
    </p:spTree>
    <p:extLst>
      <p:ext uri="{BB962C8B-B14F-4D97-AF65-F5344CB8AC3E}">
        <p14:creationId xmlns:p14="http://schemas.microsoft.com/office/powerpoint/2010/main" val="18440391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945016" y="1696753"/>
            <a:ext cx="3236592" cy="31724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INT 1FH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指令的中断服务子程序放在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1000H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03FFH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开始的存储空间里。画出右图中，该指令对应的中断向量的物理地址及内容。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7" name="矩形 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719784" y="1354218"/>
            <a:ext cx="0" cy="4295293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656352" y="1916832"/>
            <a:ext cx="0" cy="32148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808902" y="1916832"/>
            <a:ext cx="0" cy="32148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656141" y="364026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56141" y="3141229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56352" y="2649508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656145" y="4139299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56141" y="464140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30" name="矩形 4"/>
          <p:cNvSpPr>
            <a:spLocks noChangeArrowheads="1"/>
          </p:cNvSpPr>
          <p:nvPr/>
        </p:nvSpPr>
        <p:spPr bwMode="auto">
          <a:xfrm>
            <a:off x="5796137" y="3183634"/>
            <a:ext cx="822019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7CH</a:t>
            </a:r>
            <a:endParaRPr lang="zh-CN" altLang="en-US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4"/>
          <p:cNvSpPr>
            <a:spLocks noChangeArrowheads="1"/>
          </p:cNvSpPr>
          <p:nvPr/>
        </p:nvSpPr>
        <p:spPr bwMode="auto">
          <a:xfrm>
            <a:off x="6872376" y="4127201"/>
            <a:ext cx="720080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00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4"/>
          <p:cNvSpPr>
            <a:spLocks noChangeArrowheads="1"/>
          </p:cNvSpPr>
          <p:nvPr/>
        </p:nvSpPr>
        <p:spPr bwMode="auto">
          <a:xfrm>
            <a:off x="6872376" y="4656736"/>
            <a:ext cx="720080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4"/>
          <p:cNvSpPr>
            <a:spLocks noChangeArrowheads="1"/>
          </p:cNvSpPr>
          <p:nvPr/>
        </p:nvSpPr>
        <p:spPr bwMode="auto">
          <a:xfrm>
            <a:off x="6872376" y="3648624"/>
            <a:ext cx="720080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03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4"/>
          <p:cNvSpPr>
            <a:spLocks noChangeArrowheads="1"/>
          </p:cNvSpPr>
          <p:nvPr/>
        </p:nvSpPr>
        <p:spPr bwMode="auto">
          <a:xfrm>
            <a:off x="6872376" y="3144568"/>
            <a:ext cx="720080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FF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"/>
          <p:cNvSpPr>
            <a:spLocks noChangeArrowheads="1"/>
          </p:cNvSpPr>
          <p:nvPr/>
        </p:nvSpPr>
        <p:spPr bwMode="auto">
          <a:xfrm>
            <a:off x="5796137" y="3659518"/>
            <a:ext cx="822019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7DH</a:t>
            </a:r>
            <a:endParaRPr lang="zh-CN" altLang="en-US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"/>
          <p:cNvSpPr>
            <a:spLocks noChangeArrowheads="1"/>
          </p:cNvSpPr>
          <p:nvPr/>
        </p:nvSpPr>
        <p:spPr bwMode="auto">
          <a:xfrm>
            <a:off x="5796137" y="4114450"/>
            <a:ext cx="822019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7EH</a:t>
            </a:r>
            <a:endParaRPr lang="zh-CN" altLang="en-US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矩形 4"/>
          <p:cNvSpPr>
            <a:spLocks noChangeArrowheads="1"/>
          </p:cNvSpPr>
          <p:nvPr/>
        </p:nvSpPr>
        <p:spPr bwMode="auto">
          <a:xfrm>
            <a:off x="5796136" y="4656957"/>
            <a:ext cx="822019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7FH</a:t>
            </a:r>
            <a:endParaRPr lang="zh-CN" altLang="en-US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48039" y="4983559"/>
            <a:ext cx="38959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1FH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4=111 11 00B=7CH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849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79712" y="2745963"/>
            <a:ext cx="5832859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条件转移指令、循环控制指令只能实现短转移；</a:t>
            </a:r>
          </a:p>
        </p:txBody>
      </p:sp>
      <p:sp>
        <p:nvSpPr>
          <p:cNvPr id="3" name="矩形 2"/>
          <p:cNvSpPr/>
          <p:nvPr/>
        </p:nvSpPr>
        <p:spPr>
          <a:xfrm>
            <a:off x="1979713" y="3877287"/>
            <a:ext cx="5832860" cy="873661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对无符号数和带符号数的大小的比较，应采用不同的条件转移指令，相应根据不同条件进行判断。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79712" y="5003611"/>
            <a:ext cx="5832859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所有控制转移指令均不影响标志位。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79501" y="1628800"/>
            <a:ext cx="5832860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控制转移指令可实现远转移、近转移、短转移。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83512" y="1628800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83512" y="2745962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83512" y="3877286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83512" y="5003609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程序控制指令小结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26158325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71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控制指令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4548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899592" y="1844824"/>
            <a:ext cx="3240360" cy="1800200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7"/>
          <p:cNvSpPr txBox="1"/>
          <p:nvPr/>
        </p:nvSpPr>
        <p:spPr>
          <a:xfrm>
            <a:off x="1115616" y="1935001"/>
            <a:ext cx="3024336" cy="156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CLC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清零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STC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CMC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取反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处理器控制指令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矩形 8"/>
          <p:cNvSpPr>
            <a:spLocks noChangeAspect="1"/>
          </p:cNvSpPr>
          <p:nvPr/>
        </p:nvSpPr>
        <p:spPr>
          <a:xfrm>
            <a:off x="4788024" y="1844823"/>
            <a:ext cx="3240360" cy="1800201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7"/>
          <p:cNvSpPr txBox="1"/>
          <p:nvPr/>
        </p:nvSpPr>
        <p:spPr>
          <a:xfrm>
            <a:off x="5004048" y="1889175"/>
            <a:ext cx="3024336" cy="107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CLD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DF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清零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STD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DF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899592" y="4077072"/>
            <a:ext cx="7128792" cy="1296144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1036817" y="4154419"/>
            <a:ext cx="6974436" cy="107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STI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IF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，开放外部的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中断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CLI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IF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清零，禁止外部的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中断。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65365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483768" y="439305"/>
            <a:ext cx="4611463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回答本章第三个问题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971600" y="3096615"/>
            <a:ext cx="7491982" cy="1988569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7"/>
          <p:cNvSpPr txBox="1"/>
          <p:nvPr/>
        </p:nvSpPr>
        <p:spPr>
          <a:xfrm>
            <a:off x="1187624" y="3209563"/>
            <a:ext cx="6696743" cy="1647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类指令：数据传递、算术运算、逻辑和移位、串操作、程序控制、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控制。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掌握课件中所涉及的所有指令的用法，要求能够阅读相应的代码。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8885" y="2996952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5"/>
          <p:cNvSpPr txBox="1"/>
          <p:nvPr/>
        </p:nvSpPr>
        <p:spPr>
          <a:xfrm rot="2771384">
            <a:off x="7797821" y="3203489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回答</a:t>
            </a:r>
          </a:p>
        </p:txBody>
      </p:sp>
      <p:sp>
        <p:nvSpPr>
          <p:cNvPr id="12" name="流程图: 可选过程 11"/>
          <p:cNvSpPr/>
          <p:nvPr/>
        </p:nvSpPr>
        <p:spPr>
          <a:xfrm>
            <a:off x="1979712" y="1556792"/>
            <a:ext cx="6397584" cy="902445"/>
          </a:xfrm>
          <a:prstGeom prst="flowChartAlternate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的指令分几类？主要指令的用法？</a:t>
            </a:r>
          </a:p>
        </p:txBody>
      </p:sp>
      <p:sp>
        <p:nvSpPr>
          <p:cNvPr id="13" name="椭圆 12"/>
          <p:cNvSpPr/>
          <p:nvPr/>
        </p:nvSpPr>
        <p:spPr>
          <a:xfrm>
            <a:off x="971600" y="1690982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931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043" y="157306"/>
            <a:ext cx="1614899" cy="125547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检测点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75444" y="1628800"/>
            <a:ext cx="6769173" cy="838667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判断对错：</a:t>
            </a:r>
            <a:r>
              <a:rPr lang="en-US" altLang="zh-CN" sz="2000" b="1" dirty="0">
                <a:ea typeface="微软雅黑" panose="020B0503020204020204" pitchFamily="34" charset="-122"/>
              </a:rPr>
              <a:t>SHL AL, 4 </a:t>
            </a:r>
          </a:p>
          <a:p>
            <a:r>
              <a:rPr lang="en-US" altLang="zh-CN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           INT CL</a:t>
            </a:r>
          </a:p>
        </p:txBody>
      </p:sp>
      <p:sp>
        <p:nvSpPr>
          <p:cNvPr id="10" name="矩形 9"/>
          <p:cNvSpPr/>
          <p:nvPr/>
        </p:nvSpPr>
        <p:spPr>
          <a:xfrm>
            <a:off x="899592" y="1628800"/>
            <a:ext cx="575852" cy="8386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778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作业</a:t>
            </a:r>
            <a:r>
              <a:rPr lang="en-US" altLang="zh-CN" dirty="0">
                <a:latin typeface="Arial"/>
                <a:ea typeface="微软雅黑" panose="020B0503020204020204" pitchFamily="34" charset="-122"/>
                <a:cs typeface="Arial"/>
              </a:rPr>
              <a:t>• </a:t>
            </a:r>
            <a:r>
              <a:rPr lang="en-US" altLang="zh-CN" sz="2800" dirty="0">
                <a:solidFill>
                  <a:srgbClr val="FFC000"/>
                </a:solidFill>
                <a:latin typeface="Tahoma" pitchFamily="34" charset="0"/>
                <a:ea typeface="微软简综艺" pitchFamily="49" charset="-122"/>
                <a:cs typeface="Tahoma" pitchFamily="34" charset="0"/>
              </a:rPr>
              <a:t>HOMEWORK</a:t>
            </a:r>
            <a:endParaRPr lang="zh-CN" altLang="en-US" sz="1800" dirty="0">
              <a:solidFill>
                <a:srgbClr val="FFC000"/>
              </a:solidFill>
              <a:latin typeface="Tahoma" pitchFamily="34" charset="0"/>
              <a:ea typeface="微软简综艺" pitchFamily="49" charset="-122"/>
              <a:cs typeface="Tahoma" pitchFamily="34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744942" y="2615982"/>
            <a:ext cx="5113338" cy="2785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习题：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3.36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3.49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3.50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3.74</a:t>
            </a:r>
          </a:p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en-US" altLang="zh-CN" sz="4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3.78, 3.82, 3.83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Picture 2" descr="D:\Teliss_Tong\Copy\定期备份\工作备份\！PPT图片及版面资源\06-PPT精选插图\02-商务\GF0IEK51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5499" y="1901808"/>
            <a:ext cx="2158349" cy="339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72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5001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12285</TotalTime>
  <Words>4274</Words>
  <Application>Microsoft Office PowerPoint</Application>
  <PresentationFormat>全屏显示(4:3)</PresentationFormat>
  <Paragraphs>812</Paragraphs>
  <Slides>76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91" baseType="lpstr">
      <vt:lpstr>Arial Unicode MS</vt:lpstr>
      <vt:lpstr>ＭＳ Ｐゴシック</vt:lpstr>
      <vt:lpstr>经典繁仿黑</vt:lpstr>
      <vt:lpstr>宋体</vt:lpstr>
      <vt:lpstr>微软简综艺</vt:lpstr>
      <vt:lpstr>微软雅黑</vt:lpstr>
      <vt:lpstr>Arial</vt:lpstr>
      <vt:lpstr>Arial Black</vt:lpstr>
      <vt:lpstr>Broadway</vt:lpstr>
      <vt:lpstr>Calibri</vt:lpstr>
      <vt:lpstr>Impact</vt:lpstr>
      <vt:lpstr>Tahoma</vt:lpstr>
      <vt:lpstr>Times New Roman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houxy</cp:lastModifiedBy>
  <cp:revision>1940</cp:revision>
  <dcterms:created xsi:type="dcterms:W3CDTF">2012-06-23T00:51:09Z</dcterms:created>
  <dcterms:modified xsi:type="dcterms:W3CDTF">2016-04-04T07:50:58Z</dcterms:modified>
</cp:coreProperties>
</file>