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58"/>
  </p:notesMasterIdLst>
  <p:sldIdLst>
    <p:sldId id="303" r:id="rId2"/>
    <p:sldId id="304" r:id="rId3"/>
    <p:sldId id="261" r:id="rId4"/>
    <p:sldId id="369" r:id="rId5"/>
    <p:sldId id="426" r:id="rId6"/>
    <p:sldId id="317" r:id="rId7"/>
    <p:sldId id="399" r:id="rId8"/>
    <p:sldId id="318" r:id="rId9"/>
    <p:sldId id="391" r:id="rId10"/>
    <p:sldId id="392" r:id="rId11"/>
    <p:sldId id="393" r:id="rId12"/>
    <p:sldId id="395" r:id="rId13"/>
    <p:sldId id="398" r:id="rId14"/>
    <p:sldId id="397" r:id="rId15"/>
    <p:sldId id="400" r:id="rId16"/>
    <p:sldId id="411" r:id="rId17"/>
    <p:sldId id="401" r:id="rId18"/>
    <p:sldId id="442" r:id="rId19"/>
    <p:sldId id="355" r:id="rId20"/>
    <p:sldId id="358" r:id="rId21"/>
    <p:sldId id="402" r:id="rId22"/>
    <p:sldId id="404" r:id="rId23"/>
    <p:sldId id="407" r:id="rId24"/>
    <p:sldId id="408" r:id="rId25"/>
    <p:sldId id="406" r:id="rId26"/>
    <p:sldId id="409" r:id="rId27"/>
    <p:sldId id="410" r:id="rId28"/>
    <p:sldId id="412" r:id="rId29"/>
    <p:sldId id="366" r:id="rId30"/>
    <p:sldId id="413" r:id="rId31"/>
    <p:sldId id="414" r:id="rId32"/>
    <p:sldId id="415" r:id="rId33"/>
    <p:sldId id="417" r:id="rId34"/>
    <p:sldId id="416" r:id="rId35"/>
    <p:sldId id="418" r:id="rId36"/>
    <p:sldId id="419" r:id="rId37"/>
    <p:sldId id="420" r:id="rId38"/>
    <p:sldId id="422" r:id="rId39"/>
    <p:sldId id="421" r:id="rId40"/>
    <p:sldId id="423" r:id="rId41"/>
    <p:sldId id="427" r:id="rId42"/>
    <p:sldId id="430" r:id="rId43"/>
    <p:sldId id="428" r:id="rId44"/>
    <p:sldId id="431" r:id="rId45"/>
    <p:sldId id="429" r:id="rId46"/>
    <p:sldId id="433" r:id="rId47"/>
    <p:sldId id="432" r:id="rId48"/>
    <p:sldId id="434" r:id="rId49"/>
    <p:sldId id="438" r:id="rId50"/>
    <p:sldId id="439" r:id="rId51"/>
    <p:sldId id="436" r:id="rId52"/>
    <p:sldId id="437" r:id="rId53"/>
    <p:sldId id="440" r:id="rId54"/>
    <p:sldId id="441" r:id="rId55"/>
    <p:sldId id="443" r:id="rId56"/>
    <p:sldId id="300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255"/>
    <a:srgbClr val="FD7A2A"/>
    <a:srgbClr val="1D8DE5"/>
    <a:srgbClr val="DBEEF4"/>
    <a:srgbClr val="5DCB08"/>
    <a:srgbClr val="FBFBFB"/>
    <a:srgbClr val="00B050"/>
    <a:srgbClr val="7F7F7F"/>
    <a:srgbClr val="008DCA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72926" autoAdjust="0"/>
  </p:normalViewPr>
  <p:slideViewPr>
    <p:cSldViewPr>
      <p:cViewPr varScale="1">
        <p:scale>
          <a:sx n="49" d="100"/>
          <a:sy n="49" d="100"/>
        </p:scale>
        <p:origin x="1608" y="48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11682F-E924-410C-AB9A-73D35A7F2E8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124B00F-5305-4D69-BD8A-06A23863D573}">
      <dgm:prSet phldrT="[文本]" custT="1"/>
      <dgm:spPr>
        <a:solidFill>
          <a:srgbClr val="FD7A2A"/>
        </a:solidFill>
        <a:ln>
          <a:noFill/>
        </a:ln>
      </dgm:spPr>
      <dgm:t>
        <a:bodyPr/>
        <a:lstStyle/>
        <a:p>
          <a:r>
            <a:rPr lang="zh-CN" altLang="en-US" sz="3200" b="0" dirty="0">
              <a:latin typeface="微软雅黑" panose="020B0503020204020204" pitchFamily="34" charset="-122"/>
              <a:ea typeface="微软雅黑" panose="020B0503020204020204" pitchFamily="34" charset="-122"/>
            </a:rPr>
            <a:t>非存储器寻址</a:t>
          </a:r>
        </a:p>
      </dgm:t>
    </dgm:pt>
    <dgm:pt modelId="{BA3C460C-994B-440B-8F7E-A98F6928D3E6}" type="parTrans" cxnId="{A9E59FB8-E78F-41AB-B28D-A6E8216710D5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3B7DF23-2445-48A6-A5A5-B52D3EDFAF78}" type="sibTrans" cxnId="{A9E59FB8-E78F-41AB-B28D-A6E8216710D5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E4B10A-84C3-4491-8090-F1189EA007F3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/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寄存器寻址</a:t>
          </a:r>
        </a:p>
      </dgm:t>
    </dgm:pt>
    <dgm:pt modelId="{F39781CD-E228-437E-A663-1A64B4D85156}" type="parTrans" cxnId="{06E32879-6D8B-48E7-B8EB-5CC72A6BFB71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DFCC4DA-5160-4FCA-8C81-68ED79DCE182}" type="sibTrans" cxnId="{06E32879-6D8B-48E7-B8EB-5CC72A6BFB71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930BBA0-E77C-4866-91A8-B645EC178A4E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/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立即数寻址</a:t>
          </a:r>
        </a:p>
      </dgm:t>
    </dgm:pt>
    <dgm:pt modelId="{94481936-FE13-4DAA-9BFC-3E831DCF8C67}" type="parTrans" cxnId="{EE20DD41-1A79-4483-B081-0441D8D79F66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FB912C0-F292-4E7C-B0E3-79E3F4E12E76}" type="sibTrans" cxnId="{EE20DD41-1A79-4483-B081-0441D8D79F66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6D3BB06-BB8F-4384-AF13-86121C55EF3B}">
      <dgm:prSet phldrT="[文本]" custT="1"/>
      <dgm:spPr>
        <a:solidFill>
          <a:srgbClr val="FD7A2A"/>
        </a:solidFill>
        <a:ln>
          <a:noFill/>
        </a:ln>
      </dgm:spPr>
      <dgm:t>
        <a:bodyPr/>
        <a:lstStyle/>
        <a:p>
          <a:r>
            <a:rPr lang="zh-CN" altLang="en-US" sz="3200" b="0" dirty="0">
              <a:latin typeface="微软雅黑" panose="020B0503020204020204" pitchFamily="34" charset="-122"/>
              <a:ea typeface="微软雅黑" panose="020B0503020204020204" pitchFamily="34" charset="-122"/>
            </a:rPr>
            <a:t>存储器寻址</a:t>
          </a:r>
        </a:p>
      </dgm:t>
    </dgm:pt>
    <dgm:pt modelId="{0C3FF1BD-DFD4-479E-996C-C67444FCECB3}" type="parTrans" cxnId="{1E49F202-D4ED-495C-A627-A149BD5DAA74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1541C90-C28B-4E98-9032-D09A035BE892}" type="sibTrans" cxnId="{1E49F202-D4ED-495C-A627-A149BD5DAA74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57191A5-ED28-4E94-B70B-AD86CC8D8499}">
      <dgm:prSet phldrT="[文本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直接寻址</a:t>
          </a:r>
        </a:p>
      </dgm:t>
    </dgm:pt>
    <dgm:pt modelId="{A7AC324B-4673-4003-B212-A99153C3F0DF}" type="parTrans" cxnId="{BC8F1BBF-746D-4C0C-9F26-3035AC130918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F9D593A-FF7E-4F33-8475-7E541746E070}" type="sibTrans" cxnId="{BC8F1BBF-746D-4C0C-9F26-3035AC130918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9ECF2F-1742-4D05-8BEC-7E6698B426E6}">
      <dgm:prSet phldrT="[文本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间接寻址</a:t>
          </a:r>
        </a:p>
      </dgm:t>
    </dgm:pt>
    <dgm:pt modelId="{839A0CDA-EE10-4F65-8768-9B0DB54480CE}" type="parTrans" cxnId="{8FF91DF3-0A09-43F2-AB6D-3FC099392254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CE9221F-206B-403F-9A16-96C8F987701F}" type="sibTrans" cxnId="{8FF91DF3-0A09-43F2-AB6D-3FC099392254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566A2E-D175-4EDE-9BED-5ED08A0D2422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/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隐含寻址</a:t>
          </a:r>
        </a:p>
      </dgm:t>
    </dgm:pt>
    <dgm:pt modelId="{0368FD36-0968-4EDF-82F0-2BA19888DCF8}" type="parTrans" cxnId="{F950DC72-415B-49D3-97F8-F52FACD327D9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795EE7-A2C0-49D2-A6BC-383A94AB9859}" type="sibTrans" cxnId="{F950DC72-415B-49D3-97F8-F52FACD327D9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EE99A6-5592-4982-80FB-4C1FFCF5664E}">
      <dgm:prSet phldrT="[文本]" custT="1"/>
      <dgm:spPr>
        <a:solidFill>
          <a:schemeClr val="bg1">
            <a:lumMod val="85000"/>
          </a:schemeClr>
        </a:solidFill>
      </dgm:spPr>
      <dgm:t>
        <a:bodyPr/>
        <a:lstStyle/>
        <a:p>
          <a:pPr algn="l"/>
          <a:r>
            <a: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IO</a:t>
          </a:r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寻址</a:t>
          </a:r>
        </a:p>
      </dgm:t>
    </dgm:pt>
    <dgm:pt modelId="{213EE4F2-1070-4AEF-A2C8-21F6AF67F4B5}" type="parTrans" cxnId="{89A279C6-743B-4B66-8E19-114DBC846826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D228395-9ACB-41C8-BB71-FFF614D5B80D}" type="sibTrans" cxnId="{89A279C6-743B-4B66-8E19-114DBC846826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038F01-621D-4587-BB05-94DAE5DA18B8}">
      <dgm:prSet phldrT="[文本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基址寻址</a:t>
          </a:r>
        </a:p>
      </dgm:t>
    </dgm:pt>
    <dgm:pt modelId="{3622F101-AD28-4A21-83D6-271D7065C42F}" type="sibTrans" cxnId="{76396FE2-C908-4C1D-BCA1-D5FE5A2758F2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99415DB-F283-4CC8-B9F2-0A735CE6CA42}" type="parTrans" cxnId="{76396FE2-C908-4C1D-BCA1-D5FE5A2758F2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087726E-7973-4C84-80A5-33C3F0117366}">
      <dgm:prSet phldrT="[文本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rPr>
            <a:t>变址寻址</a:t>
          </a:r>
        </a:p>
      </dgm:t>
    </dgm:pt>
    <dgm:pt modelId="{EE25C34E-DA1C-41CC-BE5D-49E368B40A55}" type="parTrans" cxnId="{B7FEE8BC-0562-4EA1-A482-1B70317DF476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E977CCF-ED67-4159-8C30-FFC60A04539C}" type="sibTrans" cxnId="{B7FEE8BC-0562-4EA1-A482-1B70317DF476}">
      <dgm:prSet/>
      <dgm:spPr/>
      <dgm:t>
        <a:bodyPr/>
        <a:lstStyle/>
        <a:p>
          <a:endParaRPr lang="zh-CN" altLang="en-US" sz="16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DF3258-627D-47D3-9291-637388D7B95D}" type="pres">
      <dgm:prSet presAssocID="{A111682F-E924-410C-AB9A-73D35A7F2E84}" presName="Name0" presStyleCnt="0">
        <dgm:presLayoutVars>
          <dgm:dir/>
          <dgm:animLvl val="lvl"/>
          <dgm:resizeHandles val="exact"/>
        </dgm:presLayoutVars>
      </dgm:prSet>
      <dgm:spPr/>
    </dgm:pt>
    <dgm:pt modelId="{2545324B-5305-4C73-B7EE-DBCE126172FB}" type="pres">
      <dgm:prSet presAssocID="{4124B00F-5305-4D69-BD8A-06A23863D573}" presName="composite" presStyleCnt="0"/>
      <dgm:spPr/>
    </dgm:pt>
    <dgm:pt modelId="{25C3C378-168F-49C6-A3DF-684C3385A0FB}" type="pres">
      <dgm:prSet presAssocID="{4124B00F-5305-4D69-BD8A-06A23863D57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B943304-EAFD-4FC6-A037-15CA1C22B192}" type="pres">
      <dgm:prSet presAssocID="{4124B00F-5305-4D69-BD8A-06A23863D573}" presName="desTx" presStyleLbl="alignAccFollowNode1" presStyleIdx="0" presStyleCnt="2">
        <dgm:presLayoutVars>
          <dgm:bulletEnabled val="1"/>
        </dgm:presLayoutVars>
      </dgm:prSet>
      <dgm:spPr/>
    </dgm:pt>
    <dgm:pt modelId="{2985013B-AD3C-4367-84E2-DCE3E9D1470E}" type="pres">
      <dgm:prSet presAssocID="{73B7DF23-2445-48A6-A5A5-B52D3EDFAF78}" presName="space" presStyleCnt="0"/>
      <dgm:spPr/>
    </dgm:pt>
    <dgm:pt modelId="{B5008145-FF7D-4110-AE8C-9B5BA9960CC5}" type="pres">
      <dgm:prSet presAssocID="{F6D3BB06-BB8F-4384-AF13-86121C55EF3B}" presName="composite" presStyleCnt="0"/>
      <dgm:spPr/>
    </dgm:pt>
    <dgm:pt modelId="{E1209FCA-38B7-4AC3-BF80-631A15BE37D7}" type="pres">
      <dgm:prSet presAssocID="{F6D3BB06-BB8F-4384-AF13-86121C55EF3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6375239-6B89-4A4A-8CBD-A074A9649DED}" type="pres">
      <dgm:prSet presAssocID="{F6D3BB06-BB8F-4384-AF13-86121C55EF3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36D34F0-56EB-4779-9141-57D42BEC881F}" type="presOf" srcId="{4124B00F-5305-4D69-BD8A-06A23863D573}" destId="{25C3C378-168F-49C6-A3DF-684C3385A0FB}" srcOrd="0" destOrd="0" presId="urn:microsoft.com/office/officeart/2005/8/layout/hList1"/>
    <dgm:cxn modelId="{085F3006-61F2-49C0-BF34-0C25E2500BEC}" type="presOf" srcId="{9A038F01-621D-4587-BB05-94DAE5DA18B8}" destId="{76375239-6B89-4A4A-8CBD-A074A9649DED}" srcOrd="0" destOrd="2" presId="urn:microsoft.com/office/officeart/2005/8/layout/hList1"/>
    <dgm:cxn modelId="{69A2A634-529E-4986-85B5-F4B2D03BD21F}" type="presOf" srcId="{F8EE99A6-5592-4982-80FB-4C1FFCF5664E}" destId="{EB943304-EAFD-4FC6-A037-15CA1C22B192}" srcOrd="0" destOrd="3" presId="urn:microsoft.com/office/officeart/2005/8/layout/hList1"/>
    <dgm:cxn modelId="{F950DC72-415B-49D3-97F8-F52FACD327D9}" srcId="{4124B00F-5305-4D69-BD8A-06A23863D573}" destId="{1B566A2E-D175-4EDE-9BED-5ED08A0D2422}" srcOrd="2" destOrd="0" parTransId="{0368FD36-0968-4EDF-82F0-2BA19888DCF8}" sibTransId="{AD795EE7-A2C0-49D2-A6BC-383A94AB9859}"/>
    <dgm:cxn modelId="{B7FEE8BC-0562-4EA1-A482-1B70317DF476}" srcId="{F6D3BB06-BB8F-4384-AF13-86121C55EF3B}" destId="{A087726E-7973-4C84-80A5-33C3F0117366}" srcOrd="3" destOrd="0" parTransId="{EE25C34E-DA1C-41CC-BE5D-49E368B40A55}" sibTransId="{5E977CCF-ED67-4159-8C30-FFC60A04539C}"/>
    <dgm:cxn modelId="{DFB45C39-CD67-47C5-81E5-8D1A21A6FC86}" type="presOf" srcId="{B2E4B10A-84C3-4491-8090-F1189EA007F3}" destId="{EB943304-EAFD-4FC6-A037-15CA1C22B192}" srcOrd="0" destOrd="0" presId="urn:microsoft.com/office/officeart/2005/8/layout/hList1"/>
    <dgm:cxn modelId="{8FF91DF3-0A09-43F2-AB6D-3FC099392254}" srcId="{F6D3BB06-BB8F-4384-AF13-86121C55EF3B}" destId="{E29ECF2F-1742-4D05-8BEC-7E6698B426E6}" srcOrd="1" destOrd="0" parTransId="{839A0CDA-EE10-4F65-8768-9B0DB54480CE}" sibTransId="{0CE9221F-206B-403F-9A16-96C8F987701F}"/>
    <dgm:cxn modelId="{89A279C6-743B-4B66-8E19-114DBC846826}" srcId="{4124B00F-5305-4D69-BD8A-06A23863D573}" destId="{F8EE99A6-5592-4982-80FB-4C1FFCF5664E}" srcOrd="3" destOrd="0" parTransId="{213EE4F2-1070-4AEF-A2C8-21F6AF67F4B5}" sibTransId="{6D228395-9ACB-41C8-BB71-FFF614D5B80D}"/>
    <dgm:cxn modelId="{FC5D8643-517C-48CD-90DD-CA69AB57437C}" type="presOf" srcId="{F6D3BB06-BB8F-4384-AF13-86121C55EF3B}" destId="{E1209FCA-38B7-4AC3-BF80-631A15BE37D7}" srcOrd="0" destOrd="0" presId="urn:microsoft.com/office/officeart/2005/8/layout/hList1"/>
    <dgm:cxn modelId="{76396FE2-C908-4C1D-BCA1-D5FE5A2758F2}" srcId="{F6D3BB06-BB8F-4384-AF13-86121C55EF3B}" destId="{9A038F01-621D-4587-BB05-94DAE5DA18B8}" srcOrd="2" destOrd="0" parTransId="{D99415DB-F283-4CC8-B9F2-0A735CE6CA42}" sibTransId="{3622F101-AD28-4A21-83D6-271D7065C42F}"/>
    <dgm:cxn modelId="{15427583-893C-403E-B779-CC4724652DDA}" type="presOf" srcId="{857191A5-ED28-4E94-B70B-AD86CC8D8499}" destId="{76375239-6B89-4A4A-8CBD-A074A9649DED}" srcOrd="0" destOrd="0" presId="urn:microsoft.com/office/officeart/2005/8/layout/hList1"/>
    <dgm:cxn modelId="{BC8F1BBF-746D-4C0C-9F26-3035AC130918}" srcId="{F6D3BB06-BB8F-4384-AF13-86121C55EF3B}" destId="{857191A5-ED28-4E94-B70B-AD86CC8D8499}" srcOrd="0" destOrd="0" parTransId="{A7AC324B-4673-4003-B212-A99153C3F0DF}" sibTransId="{EF9D593A-FF7E-4F33-8475-7E541746E070}"/>
    <dgm:cxn modelId="{08B0DCA7-C100-44C9-B11E-2E66FC850261}" type="presOf" srcId="{E29ECF2F-1742-4D05-8BEC-7E6698B426E6}" destId="{76375239-6B89-4A4A-8CBD-A074A9649DED}" srcOrd="0" destOrd="1" presId="urn:microsoft.com/office/officeart/2005/8/layout/hList1"/>
    <dgm:cxn modelId="{8DA0956B-C5D9-425C-A8F2-456BD05FBE00}" type="presOf" srcId="{E930BBA0-E77C-4866-91A8-B645EC178A4E}" destId="{EB943304-EAFD-4FC6-A037-15CA1C22B192}" srcOrd="0" destOrd="1" presId="urn:microsoft.com/office/officeart/2005/8/layout/hList1"/>
    <dgm:cxn modelId="{1E49F202-D4ED-495C-A627-A149BD5DAA74}" srcId="{A111682F-E924-410C-AB9A-73D35A7F2E84}" destId="{F6D3BB06-BB8F-4384-AF13-86121C55EF3B}" srcOrd="1" destOrd="0" parTransId="{0C3FF1BD-DFD4-479E-996C-C67444FCECB3}" sibTransId="{B1541C90-C28B-4E98-9032-D09A035BE892}"/>
    <dgm:cxn modelId="{06E32879-6D8B-48E7-B8EB-5CC72A6BFB71}" srcId="{4124B00F-5305-4D69-BD8A-06A23863D573}" destId="{B2E4B10A-84C3-4491-8090-F1189EA007F3}" srcOrd="0" destOrd="0" parTransId="{F39781CD-E228-437E-A663-1A64B4D85156}" sibTransId="{1DFCC4DA-5160-4FCA-8C81-68ED79DCE182}"/>
    <dgm:cxn modelId="{CC139CAF-E1E7-491C-B065-2078B3956275}" type="presOf" srcId="{1B566A2E-D175-4EDE-9BED-5ED08A0D2422}" destId="{EB943304-EAFD-4FC6-A037-15CA1C22B192}" srcOrd="0" destOrd="2" presId="urn:microsoft.com/office/officeart/2005/8/layout/hList1"/>
    <dgm:cxn modelId="{A9E59FB8-E78F-41AB-B28D-A6E8216710D5}" srcId="{A111682F-E924-410C-AB9A-73D35A7F2E84}" destId="{4124B00F-5305-4D69-BD8A-06A23863D573}" srcOrd="0" destOrd="0" parTransId="{BA3C460C-994B-440B-8F7E-A98F6928D3E6}" sibTransId="{73B7DF23-2445-48A6-A5A5-B52D3EDFAF78}"/>
    <dgm:cxn modelId="{BB4A8D65-3B58-4833-8148-AC1C40668F57}" type="presOf" srcId="{A087726E-7973-4C84-80A5-33C3F0117366}" destId="{76375239-6B89-4A4A-8CBD-A074A9649DED}" srcOrd="0" destOrd="3" presId="urn:microsoft.com/office/officeart/2005/8/layout/hList1"/>
    <dgm:cxn modelId="{DFBE75C6-6C6E-4977-8CFB-827B5E942F1A}" type="presOf" srcId="{A111682F-E924-410C-AB9A-73D35A7F2E84}" destId="{B5DF3258-627D-47D3-9291-637388D7B95D}" srcOrd="0" destOrd="0" presId="urn:microsoft.com/office/officeart/2005/8/layout/hList1"/>
    <dgm:cxn modelId="{EE20DD41-1A79-4483-B081-0441D8D79F66}" srcId="{4124B00F-5305-4D69-BD8A-06A23863D573}" destId="{E930BBA0-E77C-4866-91A8-B645EC178A4E}" srcOrd="1" destOrd="0" parTransId="{94481936-FE13-4DAA-9BFC-3E831DCF8C67}" sibTransId="{CFB912C0-F292-4E7C-B0E3-79E3F4E12E76}"/>
    <dgm:cxn modelId="{308CF4DC-C139-495C-B4BB-88989C1F3FF6}" type="presParOf" srcId="{B5DF3258-627D-47D3-9291-637388D7B95D}" destId="{2545324B-5305-4C73-B7EE-DBCE126172FB}" srcOrd="0" destOrd="0" presId="urn:microsoft.com/office/officeart/2005/8/layout/hList1"/>
    <dgm:cxn modelId="{B044BE59-59C6-4AB8-A7ED-0CDFB8066D2F}" type="presParOf" srcId="{2545324B-5305-4C73-B7EE-DBCE126172FB}" destId="{25C3C378-168F-49C6-A3DF-684C3385A0FB}" srcOrd="0" destOrd="0" presId="urn:microsoft.com/office/officeart/2005/8/layout/hList1"/>
    <dgm:cxn modelId="{26049195-8685-4EBD-B2CC-062F80DDE8D3}" type="presParOf" srcId="{2545324B-5305-4C73-B7EE-DBCE126172FB}" destId="{EB943304-EAFD-4FC6-A037-15CA1C22B192}" srcOrd="1" destOrd="0" presId="urn:microsoft.com/office/officeart/2005/8/layout/hList1"/>
    <dgm:cxn modelId="{BFF7AA73-FA5F-40DD-80C9-86DC64A5C22B}" type="presParOf" srcId="{B5DF3258-627D-47D3-9291-637388D7B95D}" destId="{2985013B-AD3C-4367-84E2-DCE3E9D1470E}" srcOrd="1" destOrd="0" presId="urn:microsoft.com/office/officeart/2005/8/layout/hList1"/>
    <dgm:cxn modelId="{A3B967AF-FC63-4C77-8868-324898908F52}" type="presParOf" srcId="{B5DF3258-627D-47D3-9291-637388D7B95D}" destId="{B5008145-FF7D-4110-AE8C-9B5BA9960CC5}" srcOrd="2" destOrd="0" presId="urn:microsoft.com/office/officeart/2005/8/layout/hList1"/>
    <dgm:cxn modelId="{DD5AB629-AA8D-4E1B-AB64-7D11DB860BF0}" type="presParOf" srcId="{B5008145-FF7D-4110-AE8C-9B5BA9960CC5}" destId="{E1209FCA-38B7-4AC3-BF80-631A15BE37D7}" srcOrd="0" destOrd="0" presId="urn:microsoft.com/office/officeart/2005/8/layout/hList1"/>
    <dgm:cxn modelId="{F4C3C882-7218-4A1B-8368-3BC0634061B4}" type="presParOf" srcId="{B5008145-FF7D-4110-AE8C-9B5BA9960CC5}" destId="{76375239-6B89-4A4A-8CBD-A074A9649DE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C3C378-168F-49C6-A3DF-684C3385A0FB}">
      <dsp:nvSpPr>
        <dsp:cNvPr id="0" name=""/>
        <dsp:cNvSpPr/>
      </dsp:nvSpPr>
      <dsp:spPr>
        <a:xfrm>
          <a:off x="35" y="31333"/>
          <a:ext cx="3398475" cy="979200"/>
        </a:xfrm>
        <a:prstGeom prst="rect">
          <a:avLst/>
        </a:prstGeom>
        <a:solidFill>
          <a:srgbClr val="FD7A2A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非存储器寻址</a:t>
          </a:r>
        </a:p>
      </dsp:txBody>
      <dsp:txXfrm>
        <a:off x="35" y="31333"/>
        <a:ext cx="3398475" cy="979200"/>
      </dsp:txXfrm>
    </dsp:sp>
    <dsp:sp modelId="{EB943304-EAFD-4FC6-A037-15CA1C22B192}">
      <dsp:nvSpPr>
        <dsp:cNvPr id="0" name=""/>
        <dsp:cNvSpPr/>
      </dsp:nvSpPr>
      <dsp:spPr>
        <a:xfrm>
          <a:off x="35" y="1010533"/>
          <a:ext cx="3398475" cy="2846565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寄存器寻址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立即数寻址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隐含寻址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IO</a:t>
          </a: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寻址</a:t>
          </a:r>
        </a:p>
      </dsp:txBody>
      <dsp:txXfrm>
        <a:off x="35" y="1010533"/>
        <a:ext cx="3398475" cy="2846565"/>
      </dsp:txXfrm>
    </dsp:sp>
    <dsp:sp modelId="{E1209FCA-38B7-4AC3-BF80-631A15BE37D7}">
      <dsp:nvSpPr>
        <dsp:cNvPr id="0" name=""/>
        <dsp:cNvSpPr/>
      </dsp:nvSpPr>
      <dsp:spPr>
        <a:xfrm>
          <a:off x="3874297" y="31333"/>
          <a:ext cx="3398475" cy="979200"/>
        </a:xfrm>
        <a:prstGeom prst="rect">
          <a:avLst/>
        </a:prstGeom>
        <a:solidFill>
          <a:srgbClr val="FD7A2A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存储器寻址</a:t>
          </a:r>
        </a:p>
      </dsp:txBody>
      <dsp:txXfrm>
        <a:off x="3874297" y="31333"/>
        <a:ext cx="3398475" cy="979200"/>
      </dsp:txXfrm>
    </dsp:sp>
    <dsp:sp modelId="{76375239-6B89-4A4A-8CBD-A074A9649DED}">
      <dsp:nvSpPr>
        <dsp:cNvPr id="0" name=""/>
        <dsp:cNvSpPr/>
      </dsp:nvSpPr>
      <dsp:spPr>
        <a:xfrm>
          <a:off x="3874297" y="1010533"/>
          <a:ext cx="3398475" cy="2846565"/>
        </a:xfrm>
        <a:prstGeom prst="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直接寻址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间接寻址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基址寻址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变址寻址</a:t>
          </a:r>
        </a:p>
      </dsp:txBody>
      <dsp:txXfrm>
        <a:off x="3874297" y="1010533"/>
        <a:ext cx="3398475" cy="2846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5/21/2016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本章需要回答这几个非常重要的问题。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68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98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内存单元的地址，通常用指针寄存器来暂存，但是</a:t>
            </a:r>
            <a:r>
              <a:rPr lang="en-US" altLang="zh-CN" dirty="0"/>
              <a:t>8086</a:t>
            </a:r>
            <a:r>
              <a:rPr lang="zh-CN" altLang="en-US" dirty="0"/>
              <a:t>的寄存器都是</a:t>
            </a:r>
            <a:r>
              <a:rPr lang="en-US" altLang="zh-CN" dirty="0"/>
              <a:t>16</a:t>
            </a:r>
            <a:r>
              <a:rPr lang="zh-CN" altLang="en-US" dirty="0"/>
              <a:t>位的。如何解决这一矛盾呢？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73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97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下面我们讲前三个段和他们的使用。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8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18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53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01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41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67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</a:t>
            </a:r>
            <a:r>
              <a:rPr lang="en-US" altLang="zh-CN" dirty="0"/>
              <a:t>SP</a:t>
            </a:r>
            <a:r>
              <a:rPr lang="zh-CN" altLang="en-US" dirty="0"/>
              <a:t>的动态变化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21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44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95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3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</a:t>
            </a:r>
            <a:r>
              <a:rPr lang="en-US" altLang="zh-CN" dirty="0"/>
              <a:t>SP</a:t>
            </a:r>
            <a:r>
              <a:rPr lang="zh-CN" altLang="en-US" dirty="0"/>
              <a:t>的动态变化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9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86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35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</a:t>
            </a:r>
            <a:r>
              <a:rPr lang="en-US" altLang="zh-CN" dirty="0"/>
              <a:t>SP</a:t>
            </a:r>
            <a:r>
              <a:rPr lang="zh-CN" altLang="en-US" dirty="0"/>
              <a:t>的动态变化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882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072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87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BP</a:t>
            </a:r>
            <a:r>
              <a:rPr lang="zh-CN" altLang="en-US"/>
              <a:t>常用语子函数参数传递，后面我们讲子程序会看到这一点。注意这四个指针的特殊用途。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046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114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6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187777"/>
            <a:ext cx="748883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第三章  </a:t>
            </a:r>
            <a:r>
              <a:rPr lang="en-US" altLang="zh-CN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微处理器及其系统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>
            <a:off x="0" y="3913338"/>
            <a:ext cx="1384300" cy="2381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Line 19"/>
          <p:cNvSpPr>
            <a:spLocks noChangeShapeType="1"/>
          </p:cNvSpPr>
          <p:nvPr userDrawn="1"/>
        </p:nvSpPr>
        <p:spPr bwMode="auto">
          <a:xfrm flipH="1">
            <a:off x="1374778" y="2740571"/>
            <a:ext cx="200025" cy="1188244"/>
          </a:xfrm>
          <a:prstGeom prst="line">
            <a:avLst/>
          </a:prstGeom>
          <a:noFill/>
          <a:ln w="33338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Line 21"/>
          <p:cNvSpPr>
            <a:spLocks noChangeShapeType="1"/>
          </p:cNvSpPr>
          <p:nvPr userDrawn="1"/>
        </p:nvSpPr>
        <p:spPr bwMode="auto">
          <a:xfrm>
            <a:off x="2587625" y="2561978"/>
            <a:ext cx="7938" cy="1806178"/>
          </a:xfrm>
          <a:prstGeom prst="line">
            <a:avLst/>
          </a:prstGeom>
          <a:noFill/>
          <a:ln w="33338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Freeform 11"/>
          <p:cNvSpPr>
            <a:spLocks/>
          </p:cNvSpPr>
          <p:nvPr userDrawn="1"/>
        </p:nvSpPr>
        <p:spPr bwMode="auto">
          <a:xfrm>
            <a:off x="606428" y="2738190"/>
            <a:ext cx="981075" cy="198834"/>
          </a:xfrm>
          <a:custGeom>
            <a:avLst/>
            <a:gdLst>
              <a:gd name="T0" fmla="*/ 0 w 618"/>
              <a:gd name="T1" fmla="*/ 167 h 167"/>
              <a:gd name="T2" fmla="*/ 616 w 618"/>
              <a:gd name="T3" fmla="*/ 20 h 167"/>
              <a:gd name="T4" fmla="*/ 618 w 618"/>
              <a:gd name="T5" fmla="*/ 0 h 167"/>
              <a:gd name="T6" fmla="*/ 2 w 618"/>
              <a:gd name="T7" fmla="*/ 153 h 167"/>
              <a:gd name="T8" fmla="*/ 0 60000 65536"/>
              <a:gd name="T9" fmla="*/ 0 60000 65536"/>
              <a:gd name="T10" fmla="*/ 0 60000 65536"/>
              <a:gd name="T11" fmla="*/ 0 60000 65536"/>
              <a:gd name="T12" fmla="*/ 0 w 618"/>
              <a:gd name="T13" fmla="*/ 0 h 167"/>
              <a:gd name="T14" fmla="*/ 618 w 618"/>
              <a:gd name="T15" fmla="*/ 167 h 1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8" h="167">
                <a:moveTo>
                  <a:pt x="0" y="167"/>
                </a:moveTo>
                <a:lnTo>
                  <a:pt x="616" y="20"/>
                </a:lnTo>
                <a:lnTo>
                  <a:pt x="618" y="0"/>
                </a:lnTo>
                <a:lnTo>
                  <a:pt x="2" y="153"/>
                </a:lnTo>
              </a:path>
            </a:pathLst>
          </a:custGeom>
          <a:solidFill>
            <a:schemeClr val="bg1"/>
          </a:solidFill>
          <a:ln w="11113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Freeform 13"/>
          <p:cNvSpPr>
            <a:spLocks/>
          </p:cNvSpPr>
          <p:nvPr userDrawn="1"/>
        </p:nvSpPr>
        <p:spPr bwMode="auto">
          <a:xfrm>
            <a:off x="1555750" y="2459584"/>
            <a:ext cx="1566863" cy="309563"/>
          </a:xfrm>
          <a:custGeom>
            <a:avLst/>
            <a:gdLst>
              <a:gd name="T0" fmla="*/ 0 w 987"/>
              <a:gd name="T1" fmla="*/ 260 h 260"/>
              <a:gd name="T2" fmla="*/ 985 w 987"/>
              <a:gd name="T3" fmla="*/ 19 h 260"/>
              <a:gd name="T4" fmla="*/ 987 w 987"/>
              <a:gd name="T5" fmla="*/ 0 h 260"/>
              <a:gd name="T6" fmla="*/ 8 w 987"/>
              <a:gd name="T7" fmla="*/ 238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987"/>
              <a:gd name="T13" fmla="*/ 0 h 260"/>
              <a:gd name="T14" fmla="*/ 987 w 98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87" h="260">
                <a:moveTo>
                  <a:pt x="0" y="260"/>
                </a:moveTo>
                <a:lnTo>
                  <a:pt x="985" y="19"/>
                </a:lnTo>
                <a:lnTo>
                  <a:pt x="987" y="0"/>
                </a:lnTo>
                <a:lnTo>
                  <a:pt x="8" y="238"/>
                </a:lnTo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Freeform 15"/>
          <p:cNvSpPr>
            <a:spLocks/>
          </p:cNvSpPr>
          <p:nvPr userDrawn="1"/>
        </p:nvSpPr>
        <p:spPr bwMode="auto">
          <a:xfrm>
            <a:off x="712791" y="946300"/>
            <a:ext cx="2541587" cy="845344"/>
          </a:xfrm>
          <a:custGeom>
            <a:avLst/>
            <a:gdLst>
              <a:gd name="T0" fmla="*/ 1002 w 1002"/>
              <a:gd name="T1" fmla="*/ 3 h 396"/>
              <a:gd name="T2" fmla="*/ 997 w 1002"/>
              <a:gd name="T3" fmla="*/ 12 h 396"/>
              <a:gd name="T4" fmla="*/ 993 w 1002"/>
              <a:gd name="T5" fmla="*/ 11 h 396"/>
              <a:gd name="T6" fmla="*/ 982 w 1002"/>
              <a:gd name="T7" fmla="*/ 9 h 396"/>
              <a:gd name="T8" fmla="*/ 967 w 1002"/>
              <a:gd name="T9" fmla="*/ 9 h 396"/>
              <a:gd name="T10" fmla="*/ 953 w 1002"/>
              <a:gd name="T11" fmla="*/ 11 h 396"/>
              <a:gd name="T12" fmla="*/ 939 w 1002"/>
              <a:gd name="T13" fmla="*/ 16 h 396"/>
              <a:gd name="T14" fmla="*/ 424 w 1002"/>
              <a:gd name="T15" fmla="*/ 224 h 396"/>
              <a:gd name="T16" fmla="*/ 376 w 1002"/>
              <a:gd name="T17" fmla="*/ 244 h 396"/>
              <a:gd name="T18" fmla="*/ 1 w 1002"/>
              <a:gd name="T19" fmla="*/ 396 h 396"/>
              <a:gd name="T20" fmla="*/ 0 w 1002"/>
              <a:gd name="T21" fmla="*/ 390 h 396"/>
              <a:gd name="T22" fmla="*/ 377 w 1002"/>
              <a:gd name="T23" fmla="*/ 237 h 396"/>
              <a:gd name="T24" fmla="*/ 424 w 1002"/>
              <a:gd name="T25" fmla="*/ 218 h 396"/>
              <a:gd name="T26" fmla="*/ 938 w 1002"/>
              <a:gd name="T27" fmla="*/ 8 h 396"/>
              <a:gd name="T28" fmla="*/ 954 w 1002"/>
              <a:gd name="T29" fmla="*/ 3 h 396"/>
              <a:gd name="T30" fmla="*/ 971 w 1002"/>
              <a:gd name="T31" fmla="*/ 1 h 396"/>
              <a:gd name="T32" fmla="*/ 987 w 1002"/>
              <a:gd name="T33" fmla="*/ 0 h 396"/>
              <a:gd name="T34" fmla="*/ 1000 w 1002"/>
              <a:gd name="T35" fmla="*/ 3 h 396"/>
              <a:gd name="T36" fmla="*/ 1002 w 1002"/>
              <a:gd name="T37" fmla="*/ 3 h 3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02"/>
              <a:gd name="T58" fmla="*/ 0 h 396"/>
              <a:gd name="T59" fmla="*/ 1002 w 1002"/>
              <a:gd name="T60" fmla="*/ 396 h 3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02" h="396">
                <a:moveTo>
                  <a:pt x="1002" y="3"/>
                </a:moveTo>
                <a:cubicBezTo>
                  <a:pt x="997" y="12"/>
                  <a:pt x="997" y="12"/>
                  <a:pt x="997" y="12"/>
                </a:cubicBezTo>
                <a:cubicBezTo>
                  <a:pt x="993" y="11"/>
                  <a:pt x="993" y="11"/>
                  <a:pt x="993" y="11"/>
                </a:cubicBezTo>
                <a:cubicBezTo>
                  <a:pt x="990" y="10"/>
                  <a:pt x="986" y="9"/>
                  <a:pt x="982" y="9"/>
                </a:cubicBezTo>
                <a:cubicBezTo>
                  <a:pt x="977" y="9"/>
                  <a:pt x="972" y="9"/>
                  <a:pt x="967" y="9"/>
                </a:cubicBezTo>
                <a:cubicBezTo>
                  <a:pt x="962" y="10"/>
                  <a:pt x="957" y="10"/>
                  <a:pt x="953" y="11"/>
                </a:cubicBezTo>
                <a:cubicBezTo>
                  <a:pt x="948" y="13"/>
                  <a:pt x="943" y="14"/>
                  <a:pt x="939" y="16"/>
                </a:cubicBezTo>
                <a:cubicBezTo>
                  <a:pt x="424" y="224"/>
                  <a:pt x="424" y="224"/>
                  <a:pt x="424" y="224"/>
                </a:cubicBezTo>
                <a:cubicBezTo>
                  <a:pt x="376" y="244"/>
                  <a:pt x="376" y="244"/>
                  <a:pt x="376" y="244"/>
                </a:cubicBezTo>
                <a:cubicBezTo>
                  <a:pt x="1" y="396"/>
                  <a:pt x="1" y="396"/>
                  <a:pt x="1" y="396"/>
                </a:cubicBezTo>
                <a:cubicBezTo>
                  <a:pt x="0" y="390"/>
                  <a:pt x="0" y="390"/>
                  <a:pt x="0" y="390"/>
                </a:cubicBezTo>
                <a:cubicBezTo>
                  <a:pt x="377" y="237"/>
                  <a:pt x="377" y="237"/>
                  <a:pt x="377" y="237"/>
                </a:cubicBezTo>
                <a:cubicBezTo>
                  <a:pt x="424" y="218"/>
                  <a:pt x="424" y="218"/>
                  <a:pt x="424" y="218"/>
                </a:cubicBezTo>
                <a:cubicBezTo>
                  <a:pt x="938" y="8"/>
                  <a:pt x="938" y="8"/>
                  <a:pt x="938" y="8"/>
                </a:cubicBezTo>
                <a:cubicBezTo>
                  <a:pt x="943" y="6"/>
                  <a:pt x="948" y="5"/>
                  <a:pt x="954" y="3"/>
                </a:cubicBezTo>
                <a:cubicBezTo>
                  <a:pt x="959" y="2"/>
                  <a:pt x="965" y="1"/>
                  <a:pt x="971" y="1"/>
                </a:cubicBezTo>
                <a:cubicBezTo>
                  <a:pt x="976" y="0"/>
                  <a:pt x="982" y="0"/>
                  <a:pt x="987" y="0"/>
                </a:cubicBezTo>
                <a:cubicBezTo>
                  <a:pt x="992" y="1"/>
                  <a:pt x="996" y="1"/>
                  <a:pt x="1000" y="3"/>
                </a:cubicBezTo>
                <a:cubicBezTo>
                  <a:pt x="1002" y="3"/>
                  <a:pt x="1002" y="3"/>
                  <a:pt x="1002" y="3"/>
                </a:cubicBezTo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Freeform 16"/>
          <p:cNvSpPr>
            <a:spLocks/>
          </p:cNvSpPr>
          <p:nvPr userDrawn="1"/>
        </p:nvSpPr>
        <p:spPr bwMode="auto">
          <a:xfrm>
            <a:off x="390525" y="1778547"/>
            <a:ext cx="325438" cy="1190625"/>
          </a:xfrm>
          <a:custGeom>
            <a:avLst/>
            <a:gdLst>
              <a:gd name="T0" fmla="*/ 128 w 128"/>
              <a:gd name="T1" fmla="*/ 6 h 558"/>
              <a:gd name="T2" fmla="*/ 124 w 128"/>
              <a:gd name="T3" fmla="*/ 7 h 558"/>
              <a:gd name="T4" fmla="*/ 118 w 128"/>
              <a:gd name="T5" fmla="*/ 11 h 558"/>
              <a:gd name="T6" fmla="*/ 112 w 128"/>
              <a:gd name="T7" fmla="*/ 17 h 558"/>
              <a:gd name="T8" fmla="*/ 108 w 128"/>
              <a:gd name="T9" fmla="*/ 24 h 558"/>
              <a:gd name="T10" fmla="*/ 106 w 128"/>
              <a:gd name="T11" fmla="*/ 31 h 558"/>
              <a:gd name="T12" fmla="*/ 64 w 128"/>
              <a:gd name="T13" fmla="*/ 240 h 558"/>
              <a:gd name="T14" fmla="*/ 55 w 128"/>
              <a:gd name="T15" fmla="*/ 287 h 558"/>
              <a:gd name="T16" fmla="*/ 7 w 128"/>
              <a:gd name="T17" fmla="*/ 530 h 558"/>
              <a:gd name="T18" fmla="*/ 6 w 128"/>
              <a:gd name="T19" fmla="*/ 539 h 558"/>
              <a:gd name="T20" fmla="*/ 8 w 128"/>
              <a:gd name="T21" fmla="*/ 545 h 558"/>
              <a:gd name="T22" fmla="*/ 13 w 128"/>
              <a:gd name="T23" fmla="*/ 549 h 558"/>
              <a:gd name="T24" fmla="*/ 19 w 128"/>
              <a:gd name="T25" fmla="*/ 550 h 558"/>
              <a:gd name="T26" fmla="*/ 86 w 128"/>
              <a:gd name="T27" fmla="*/ 535 h 558"/>
              <a:gd name="T28" fmla="*/ 85 w 128"/>
              <a:gd name="T29" fmla="*/ 543 h 558"/>
              <a:gd name="T30" fmla="*/ 17 w 128"/>
              <a:gd name="T31" fmla="*/ 558 h 558"/>
              <a:gd name="T32" fmla="*/ 9 w 128"/>
              <a:gd name="T33" fmla="*/ 557 h 558"/>
              <a:gd name="T34" fmla="*/ 3 w 128"/>
              <a:gd name="T35" fmla="*/ 552 h 558"/>
              <a:gd name="T36" fmla="*/ 0 w 128"/>
              <a:gd name="T37" fmla="*/ 543 h 558"/>
              <a:gd name="T38" fmla="*/ 1 w 128"/>
              <a:gd name="T39" fmla="*/ 531 h 558"/>
              <a:gd name="T40" fmla="*/ 49 w 128"/>
              <a:gd name="T41" fmla="*/ 289 h 558"/>
              <a:gd name="T42" fmla="*/ 58 w 128"/>
              <a:gd name="T43" fmla="*/ 242 h 558"/>
              <a:gd name="T44" fmla="*/ 100 w 128"/>
              <a:gd name="T45" fmla="*/ 33 h 558"/>
              <a:gd name="T46" fmla="*/ 104 w 128"/>
              <a:gd name="T47" fmla="*/ 23 h 558"/>
              <a:gd name="T48" fmla="*/ 110 w 128"/>
              <a:gd name="T49" fmla="*/ 14 h 558"/>
              <a:gd name="T50" fmla="*/ 117 w 128"/>
              <a:gd name="T51" fmla="*/ 6 h 558"/>
              <a:gd name="T52" fmla="*/ 126 w 128"/>
              <a:gd name="T53" fmla="*/ 1 h 558"/>
              <a:gd name="T54" fmla="*/ 127 w 128"/>
              <a:gd name="T55" fmla="*/ 0 h 558"/>
              <a:gd name="T56" fmla="*/ 128 w 128"/>
              <a:gd name="T57" fmla="*/ 6 h 558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128"/>
              <a:gd name="T88" fmla="*/ 0 h 558"/>
              <a:gd name="T89" fmla="*/ 128 w 128"/>
              <a:gd name="T90" fmla="*/ 558 h 558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128" h="558">
                <a:moveTo>
                  <a:pt x="128" y="6"/>
                </a:moveTo>
                <a:cubicBezTo>
                  <a:pt x="124" y="7"/>
                  <a:pt x="124" y="7"/>
                  <a:pt x="124" y="7"/>
                </a:cubicBezTo>
                <a:cubicBezTo>
                  <a:pt x="122" y="8"/>
                  <a:pt x="120" y="9"/>
                  <a:pt x="118" y="11"/>
                </a:cubicBezTo>
                <a:cubicBezTo>
                  <a:pt x="116" y="13"/>
                  <a:pt x="114" y="15"/>
                  <a:pt x="112" y="17"/>
                </a:cubicBezTo>
                <a:cubicBezTo>
                  <a:pt x="111" y="19"/>
                  <a:pt x="109" y="21"/>
                  <a:pt x="108" y="24"/>
                </a:cubicBezTo>
                <a:cubicBezTo>
                  <a:pt x="107" y="26"/>
                  <a:pt x="106" y="28"/>
                  <a:pt x="106" y="31"/>
                </a:cubicBezTo>
                <a:cubicBezTo>
                  <a:pt x="64" y="240"/>
                  <a:pt x="64" y="240"/>
                  <a:pt x="64" y="240"/>
                </a:cubicBezTo>
                <a:cubicBezTo>
                  <a:pt x="55" y="287"/>
                  <a:pt x="55" y="287"/>
                  <a:pt x="55" y="287"/>
                </a:cubicBezTo>
                <a:cubicBezTo>
                  <a:pt x="7" y="530"/>
                  <a:pt x="7" y="530"/>
                  <a:pt x="7" y="530"/>
                </a:cubicBezTo>
                <a:cubicBezTo>
                  <a:pt x="6" y="533"/>
                  <a:pt x="6" y="536"/>
                  <a:pt x="6" y="539"/>
                </a:cubicBezTo>
                <a:cubicBezTo>
                  <a:pt x="6" y="541"/>
                  <a:pt x="7" y="544"/>
                  <a:pt x="8" y="545"/>
                </a:cubicBezTo>
                <a:cubicBezTo>
                  <a:pt x="9" y="547"/>
                  <a:pt x="11" y="548"/>
                  <a:pt x="13" y="549"/>
                </a:cubicBezTo>
                <a:cubicBezTo>
                  <a:pt x="14" y="550"/>
                  <a:pt x="17" y="550"/>
                  <a:pt x="19" y="550"/>
                </a:cubicBezTo>
                <a:cubicBezTo>
                  <a:pt x="86" y="535"/>
                  <a:pt x="86" y="535"/>
                  <a:pt x="86" y="535"/>
                </a:cubicBezTo>
                <a:cubicBezTo>
                  <a:pt x="85" y="543"/>
                  <a:pt x="85" y="543"/>
                  <a:pt x="85" y="543"/>
                </a:cubicBezTo>
                <a:cubicBezTo>
                  <a:pt x="17" y="558"/>
                  <a:pt x="17" y="558"/>
                  <a:pt x="17" y="558"/>
                </a:cubicBezTo>
                <a:cubicBezTo>
                  <a:pt x="14" y="558"/>
                  <a:pt x="11" y="558"/>
                  <a:pt x="9" y="557"/>
                </a:cubicBezTo>
                <a:cubicBezTo>
                  <a:pt x="6" y="556"/>
                  <a:pt x="4" y="554"/>
                  <a:pt x="3" y="552"/>
                </a:cubicBezTo>
                <a:cubicBezTo>
                  <a:pt x="1" y="550"/>
                  <a:pt x="0" y="547"/>
                  <a:pt x="0" y="543"/>
                </a:cubicBezTo>
                <a:cubicBezTo>
                  <a:pt x="0" y="540"/>
                  <a:pt x="0" y="536"/>
                  <a:pt x="1" y="531"/>
                </a:cubicBezTo>
                <a:cubicBezTo>
                  <a:pt x="49" y="289"/>
                  <a:pt x="49" y="289"/>
                  <a:pt x="49" y="289"/>
                </a:cubicBezTo>
                <a:cubicBezTo>
                  <a:pt x="58" y="242"/>
                  <a:pt x="58" y="242"/>
                  <a:pt x="58" y="242"/>
                </a:cubicBezTo>
                <a:cubicBezTo>
                  <a:pt x="100" y="33"/>
                  <a:pt x="100" y="33"/>
                  <a:pt x="100" y="33"/>
                </a:cubicBezTo>
                <a:cubicBezTo>
                  <a:pt x="101" y="30"/>
                  <a:pt x="102" y="26"/>
                  <a:pt x="104" y="23"/>
                </a:cubicBezTo>
                <a:cubicBezTo>
                  <a:pt x="105" y="20"/>
                  <a:pt x="107" y="17"/>
                  <a:pt x="110" y="14"/>
                </a:cubicBezTo>
                <a:cubicBezTo>
                  <a:pt x="112" y="11"/>
                  <a:pt x="114" y="8"/>
                  <a:pt x="117" y="6"/>
                </a:cubicBezTo>
                <a:cubicBezTo>
                  <a:pt x="120" y="4"/>
                  <a:pt x="123" y="2"/>
                  <a:pt x="126" y="1"/>
                </a:cubicBezTo>
                <a:cubicBezTo>
                  <a:pt x="127" y="0"/>
                  <a:pt x="127" y="0"/>
                  <a:pt x="127" y="0"/>
                </a:cubicBezTo>
                <a:lnTo>
                  <a:pt x="128" y="6"/>
                </a:lnTo>
                <a:close/>
              </a:path>
            </a:pathLst>
          </a:custGeom>
          <a:solidFill>
            <a:schemeClr val="bg1"/>
          </a:solidFill>
          <a:ln w="11113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Freeform 17"/>
          <p:cNvSpPr>
            <a:spLocks/>
          </p:cNvSpPr>
          <p:nvPr userDrawn="1"/>
        </p:nvSpPr>
        <p:spPr bwMode="auto">
          <a:xfrm>
            <a:off x="3125788" y="952253"/>
            <a:ext cx="1308100" cy="1528763"/>
          </a:xfrm>
          <a:custGeom>
            <a:avLst/>
            <a:gdLst>
              <a:gd name="T0" fmla="*/ 46 w 516"/>
              <a:gd name="T1" fmla="*/ 9 h 716"/>
              <a:gd name="T2" fmla="*/ 485 w 516"/>
              <a:gd name="T3" fmla="*/ 148 h 716"/>
              <a:gd name="T4" fmla="*/ 496 w 516"/>
              <a:gd name="T5" fmla="*/ 154 h 716"/>
              <a:gd name="T6" fmla="*/ 501 w 516"/>
              <a:gd name="T7" fmla="*/ 164 h 716"/>
              <a:gd name="T8" fmla="*/ 501 w 516"/>
              <a:gd name="T9" fmla="*/ 175 h 716"/>
              <a:gd name="T10" fmla="*/ 494 w 516"/>
              <a:gd name="T11" fmla="*/ 187 h 716"/>
              <a:gd name="T12" fmla="*/ 113 w 516"/>
              <a:gd name="T13" fmla="*/ 656 h 716"/>
              <a:gd name="T14" fmla="*/ 100 w 516"/>
              <a:gd name="T15" fmla="*/ 668 h 716"/>
              <a:gd name="T16" fmla="*/ 84 w 516"/>
              <a:gd name="T17" fmla="*/ 679 h 716"/>
              <a:gd name="T18" fmla="*/ 66 w 516"/>
              <a:gd name="T19" fmla="*/ 689 h 716"/>
              <a:gd name="T20" fmla="*/ 49 w 516"/>
              <a:gd name="T21" fmla="*/ 694 h 716"/>
              <a:gd name="T22" fmla="*/ 0 w 516"/>
              <a:gd name="T23" fmla="*/ 705 h 716"/>
              <a:gd name="T24" fmla="*/ 0 w 516"/>
              <a:gd name="T25" fmla="*/ 716 h 716"/>
              <a:gd name="T26" fmla="*/ 50 w 516"/>
              <a:gd name="T27" fmla="*/ 705 h 716"/>
              <a:gd name="T28" fmla="*/ 69 w 516"/>
              <a:gd name="T29" fmla="*/ 699 h 716"/>
              <a:gd name="T30" fmla="*/ 89 w 516"/>
              <a:gd name="T31" fmla="*/ 689 h 716"/>
              <a:gd name="T32" fmla="*/ 108 w 516"/>
              <a:gd name="T33" fmla="*/ 676 h 716"/>
              <a:gd name="T34" fmla="*/ 122 w 516"/>
              <a:gd name="T35" fmla="*/ 661 h 716"/>
              <a:gd name="T36" fmla="*/ 506 w 516"/>
              <a:gd name="T37" fmla="*/ 190 h 716"/>
              <a:gd name="T38" fmla="*/ 515 w 516"/>
              <a:gd name="T39" fmla="*/ 174 h 716"/>
              <a:gd name="T40" fmla="*/ 515 w 516"/>
              <a:gd name="T41" fmla="*/ 159 h 716"/>
              <a:gd name="T42" fmla="*/ 508 w 516"/>
              <a:gd name="T43" fmla="*/ 147 h 716"/>
              <a:gd name="T44" fmla="*/ 493 w 516"/>
              <a:gd name="T45" fmla="*/ 138 h 716"/>
              <a:gd name="T46" fmla="*/ 51 w 516"/>
              <a:gd name="T47" fmla="*/ 0 h 716"/>
              <a:gd name="T48" fmla="*/ 46 w 516"/>
              <a:gd name="T49" fmla="*/ 9 h 71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16"/>
              <a:gd name="T76" fmla="*/ 0 h 716"/>
              <a:gd name="T77" fmla="*/ 516 w 516"/>
              <a:gd name="T78" fmla="*/ 716 h 71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16" h="716">
                <a:moveTo>
                  <a:pt x="46" y="9"/>
                </a:moveTo>
                <a:cubicBezTo>
                  <a:pt x="485" y="148"/>
                  <a:pt x="485" y="148"/>
                  <a:pt x="485" y="148"/>
                </a:cubicBezTo>
                <a:cubicBezTo>
                  <a:pt x="490" y="150"/>
                  <a:pt x="493" y="152"/>
                  <a:pt x="496" y="154"/>
                </a:cubicBezTo>
                <a:cubicBezTo>
                  <a:pt x="499" y="157"/>
                  <a:pt x="500" y="160"/>
                  <a:pt x="501" y="164"/>
                </a:cubicBezTo>
                <a:cubicBezTo>
                  <a:pt x="502" y="167"/>
                  <a:pt x="502" y="171"/>
                  <a:pt x="501" y="175"/>
                </a:cubicBezTo>
                <a:cubicBezTo>
                  <a:pt x="500" y="179"/>
                  <a:pt x="498" y="183"/>
                  <a:pt x="494" y="187"/>
                </a:cubicBezTo>
                <a:cubicBezTo>
                  <a:pt x="113" y="656"/>
                  <a:pt x="113" y="656"/>
                  <a:pt x="113" y="656"/>
                </a:cubicBezTo>
                <a:cubicBezTo>
                  <a:pt x="109" y="660"/>
                  <a:pt x="105" y="664"/>
                  <a:pt x="100" y="668"/>
                </a:cubicBezTo>
                <a:cubicBezTo>
                  <a:pt x="95" y="672"/>
                  <a:pt x="89" y="676"/>
                  <a:pt x="84" y="679"/>
                </a:cubicBezTo>
                <a:cubicBezTo>
                  <a:pt x="78" y="683"/>
                  <a:pt x="72" y="686"/>
                  <a:pt x="66" y="689"/>
                </a:cubicBezTo>
                <a:cubicBezTo>
                  <a:pt x="60" y="691"/>
                  <a:pt x="55" y="693"/>
                  <a:pt x="49" y="694"/>
                </a:cubicBezTo>
                <a:cubicBezTo>
                  <a:pt x="0" y="705"/>
                  <a:pt x="0" y="705"/>
                  <a:pt x="0" y="705"/>
                </a:cubicBezTo>
                <a:cubicBezTo>
                  <a:pt x="0" y="716"/>
                  <a:pt x="0" y="716"/>
                  <a:pt x="0" y="716"/>
                </a:cubicBezTo>
                <a:cubicBezTo>
                  <a:pt x="50" y="705"/>
                  <a:pt x="50" y="705"/>
                  <a:pt x="50" y="705"/>
                </a:cubicBezTo>
                <a:cubicBezTo>
                  <a:pt x="56" y="704"/>
                  <a:pt x="63" y="702"/>
                  <a:pt x="69" y="699"/>
                </a:cubicBezTo>
                <a:cubicBezTo>
                  <a:pt x="76" y="696"/>
                  <a:pt x="83" y="693"/>
                  <a:pt x="89" y="689"/>
                </a:cubicBezTo>
                <a:cubicBezTo>
                  <a:pt x="96" y="685"/>
                  <a:pt x="102" y="680"/>
                  <a:pt x="108" y="676"/>
                </a:cubicBezTo>
                <a:cubicBezTo>
                  <a:pt x="113" y="671"/>
                  <a:pt x="118" y="666"/>
                  <a:pt x="122" y="661"/>
                </a:cubicBezTo>
                <a:cubicBezTo>
                  <a:pt x="506" y="190"/>
                  <a:pt x="506" y="190"/>
                  <a:pt x="506" y="190"/>
                </a:cubicBezTo>
                <a:cubicBezTo>
                  <a:pt x="510" y="185"/>
                  <a:pt x="513" y="180"/>
                  <a:pt x="515" y="174"/>
                </a:cubicBezTo>
                <a:cubicBezTo>
                  <a:pt x="516" y="169"/>
                  <a:pt x="516" y="164"/>
                  <a:pt x="515" y="159"/>
                </a:cubicBezTo>
                <a:cubicBezTo>
                  <a:pt x="514" y="154"/>
                  <a:pt x="511" y="150"/>
                  <a:pt x="508" y="147"/>
                </a:cubicBezTo>
                <a:cubicBezTo>
                  <a:pt x="504" y="143"/>
                  <a:pt x="499" y="140"/>
                  <a:pt x="493" y="138"/>
                </a:cubicBezTo>
                <a:cubicBezTo>
                  <a:pt x="51" y="0"/>
                  <a:pt x="51" y="0"/>
                  <a:pt x="51" y="0"/>
                </a:cubicBezTo>
                <a:lnTo>
                  <a:pt x="46" y="9"/>
                </a:lnTo>
                <a:close/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Line 51"/>
          <p:cNvSpPr>
            <a:spLocks noChangeShapeType="1"/>
          </p:cNvSpPr>
          <p:nvPr userDrawn="1"/>
        </p:nvSpPr>
        <p:spPr bwMode="auto">
          <a:xfrm>
            <a:off x="2603557" y="4378989"/>
            <a:ext cx="2659063" cy="4763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 rot="20445248">
            <a:off x="842805" y="1491904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88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  <p:sldLayoutId id="2147483682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253127"/>
            <a:ext cx="1728439" cy="1343740"/>
          </a:xfrm>
          <a:prstGeom prst="rect">
            <a:avLst/>
          </a:prstGeom>
        </p:spPr>
      </p:pic>
      <p:sp>
        <p:nvSpPr>
          <p:cNvPr id="5" name="流程图: 可选过程 4"/>
          <p:cNvSpPr/>
          <p:nvPr/>
        </p:nvSpPr>
        <p:spPr>
          <a:xfrm>
            <a:off x="2278872" y="1628800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的寄存器有哪些？它们的功能有哪些？怎么使用这些寄存器？</a:t>
            </a:r>
          </a:p>
        </p:txBody>
      </p:sp>
      <p:sp>
        <p:nvSpPr>
          <p:cNvPr id="19" name="流程图: 可选过程 18"/>
          <p:cNvSpPr/>
          <p:nvPr/>
        </p:nvSpPr>
        <p:spPr>
          <a:xfrm>
            <a:off x="2267744" y="2780928"/>
            <a:ext cx="6397584" cy="902445"/>
          </a:xfrm>
          <a:prstGeom prst="flowChartAlternateProcess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的存储器的是怎么使用的？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是如何访问、寻址存储器的？</a:t>
            </a:r>
          </a:p>
        </p:txBody>
      </p:sp>
      <p:sp>
        <p:nvSpPr>
          <p:cNvPr id="21" name="流程图: 可选过程 20"/>
          <p:cNvSpPr/>
          <p:nvPr/>
        </p:nvSpPr>
        <p:spPr>
          <a:xfrm>
            <a:off x="2267744" y="3894707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的指令分几类？主要指令的用法？</a:t>
            </a:r>
          </a:p>
        </p:txBody>
      </p:sp>
      <p:sp>
        <p:nvSpPr>
          <p:cNvPr id="33" name="椭圆 32"/>
          <p:cNvSpPr/>
          <p:nvPr/>
        </p:nvSpPr>
        <p:spPr>
          <a:xfrm>
            <a:off x="1259632" y="176790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259632" y="29487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59632" y="402889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895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2011784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微处理器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2060848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164309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存储器及寻址</a:t>
            </a:r>
            <a:endParaRPr lang="zh-CN" altLang="en-US" sz="3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859857" y="32133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4284189" y="42438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928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268837"/>
            <a:ext cx="3177392" cy="191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存储器组织方式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285750" defTabSz="762000">
              <a:buFont typeface="Wingdings" pitchFamily="2" charset="2"/>
              <a:buChar char="u"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存储器的分段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存储器单元的使用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040343"/>
            <a:ext cx="6985934" cy="2109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15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存储器</a:t>
            </a:r>
          </a:p>
        </p:txBody>
      </p:sp>
    </p:spTree>
    <p:extLst>
      <p:ext uri="{BB962C8B-B14F-4D97-AF65-F5344CB8AC3E}">
        <p14:creationId xmlns:p14="http://schemas.microsoft.com/office/powerpoint/2010/main" val="390282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tdz\桌面\图片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76056" y="1844824"/>
            <a:ext cx="3599971" cy="341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标注 2"/>
          <p:cNvSpPr/>
          <p:nvPr/>
        </p:nvSpPr>
        <p:spPr>
          <a:xfrm>
            <a:off x="683568" y="2060848"/>
            <a:ext cx="4176464" cy="3024336"/>
          </a:xfrm>
          <a:prstGeom prst="wedgeRectCallout">
            <a:avLst>
              <a:gd name="adj1" fmla="val 62123"/>
              <a:gd name="adj2" fmla="val 1601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marL="457200" indent="-457200" defTabSz="123444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存储器如何与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相接，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如何访问存储器？</a:t>
            </a:r>
          </a:p>
          <a:p>
            <a:pPr marL="457200" indent="-457200" defTabSz="123444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存储器是以字节为单位，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如何一个总线周期访问两个字节？</a:t>
            </a: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32920" y="548680"/>
            <a:ext cx="6678160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问题：存储器与总线连接及访问</a:t>
            </a:r>
          </a:p>
        </p:txBody>
      </p:sp>
    </p:spTree>
    <p:extLst>
      <p:ext uri="{BB962C8B-B14F-4D97-AF65-F5344CB8AC3E}">
        <p14:creationId xmlns:p14="http://schemas.microsoft.com/office/powerpoint/2010/main" val="47807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存储器的组织方式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48880"/>
            <a:ext cx="5042111" cy="3223591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051720" y="5949280"/>
            <a:ext cx="5050487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规则字：偶地址开始的字为规则字；奇地址开始的字为非规则字。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5616" y="58206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/>
          <p:cNvSpPr/>
          <p:nvPr/>
        </p:nvSpPr>
        <p:spPr>
          <a:xfrm>
            <a:off x="899592" y="1340769"/>
            <a:ext cx="7200800" cy="64807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奇地址存储体通过高位数据线传，偶地址存储器通过低位数据线传。</a:t>
            </a:r>
            <a:endParaRPr lang="en-US" altLang="zh-CN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868144" y="2276872"/>
            <a:ext cx="3024336" cy="3231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奇地址字节：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BHE=0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A0=1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一个总线周期读写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偶地址字节：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BHE=1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A0=0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一个总线周期读写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规则字：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BHE=0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A0=0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一个总线周期读写；</a:t>
            </a:r>
            <a:endParaRPr lang="en-US" altLang="zh-CN" kern="1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非规则字：</a:t>
            </a:r>
            <a:r>
              <a:rPr lang="zh-CN" altLang="en-US" b="1" kern="1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无法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一个总线周期内读写。 </a:t>
            </a: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724128" y="2132856"/>
            <a:ext cx="0" cy="3471792"/>
          </a:xfrm>
          <a:prstGeom prst="line">
            <a:avLst/>
          </a:prstGeom>
          <a:ln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59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7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268837"/>
            <a:ext cx="3177392" cy="191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存储器组织方式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285750" defTabSz="762000">
              <a:buFont typeface="Wingdings" pitchFamily="2" charset="2"/>
              <a:buChar char="u"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存储器的分段*****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存储器单元的使用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040343"/>
            <a:ext cx="6985934" cy="2109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15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存储器</a:t>
            </a:r>
          </a:p>
        </p:txBody>
      </p:sp>
    </p:spTree>
    <p:extLst>
      <p:ext uri="{BB962C8B-B14F-4D97-AF65-F5344CB8AC3E}">
        <p14:creationId xmlns:p14="http://schemas.microsoft.com/office/powerpoint/2010/main" val="131143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接连接符 7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程序员的角度：存储器如何使用？</a:t>
            </a:r>
          </a:p>
        </p:txBody>
      </p:sp>
      <p:sp>
        <p:nvSpPr>
          <p:cNvPr id="14" name="矩形 13"/>
          <p:cNvSpPr>
            <a:spLocks noChangeAspect="1"/>
          </p:cNvSpPr>
          <p:nvPr/>
        </p:nvSpPr>
        <p:spPr>
          <a:xfrm>
            <a:off x="755576" y="1708057"/>
            <a:ext cx="7491982" cy="1615244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89269" y="1821005"/>
            <a:ext cx="6486281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楼房的使用：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按功能使用，办公楼，宿舍。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房间的编址：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按楼栋划分，再标注房间号。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存储器按功能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分为代码段、数据段、栈段、附加数据段。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9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08561" y="1768324"/>
            <a:ext cx="994826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971865" y="1739125"/>
            <a:ext cx="461665" cy="5539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类比</a:t>
            </a:r>
          </a:p>
        </p:txBody>
      </p:sp>
      <p:sp>
        <p:nvSpPr>
          <p:cNvPr id="26" name="矩形 25"/>
          <p:cNvSpPr/>
          <p:nvPr/>
        </p:nvSpPr>
        <p:spPr>
          <a:xfrm>
            <a:off x="1817504" y="3797123"/>
            <a:ext cx="6430054" cy="128806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937096" y="3797124"/>
            <a:ext cx="6310462" cy="1082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的地址线是</a:t>
            </a: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位，内部的寄存器都是</a:t>
            </a: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位，如何解决地址的暂存问题？</a:t>
            </a:r>
          </a:p>
        </p:txBody>
      </p:sp>
      <p:sp>
        <p:nvSpPr>
          <p:cNvPr id="28" name="矩形 27"/>
          <p:cNvSpPr/>
          <p:nvPr/>
        </p:nvSpPr>
        <p:spPr>
          <a:xfrm>
            <a:off x="755576" y="3797122"/>
            <a:ext cx="1179819" cy="128806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253526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9920" y="1311911"/>
            <a:ext cx="7430211" cy="3096344"/>
            <a:chOff x="1846734" y="1456184"/>
            <a:chExt cx="9937104" cy="4095130"/>
          </a:xfrm>
        </p:grpSpPr>
        <p:sp>
          <p:nvSpPr>
            <p:cNvPr id="3" name="矩形 2"/>
            <p:cNvSpPr/>
            <p:nvPr/>
          </p:nvSpPr>
          <p:spPr>
            <a:xfrm>
              <a:off x="1846734" y="1512424"/>
              <a:ext cx="9937104" cy="4004808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4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1" y="4557600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30"/>
            <p:cNvSpPr txBox="1"/>
            <p:nvPr/>
          </p:nvSpPr>
          <p:spPr>
            <a:xfrm>
              <a:off x="10674474" y="1550373"/>
              <a:ext cx="617427" cy="134328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分段方法</a:t>
              </a:r>
            </a:p>
          </p:txBody>
        </p:sp>
      </p:grpSp>
      <p:sp>
        <p:nvSpPr>
          <p:cNvPr id="7" name="TextBox 32"/>
          <p:cNvSpPr txBox="1"/>
          <p:nvPr/>
        </p:nvSpPr>
        <p:spPr>
          <a:xfrm>
            <a:off x="980799" y="1706210"/>
            <a:ext cx="2007025" cy="107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1MB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的存储空间被分成若干逻辑段，最大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64KB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TextBox 33"/>
          <p:cNvSpPr txBox="1"/>
          <p:nvPr/>
        </p:nvSpPr>
        <p:spPr>
          <a:xfrm>
            <a:off x="948770" y="3074362"/>
            <a:ext cx="2030568" cy="107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段起始地址必须是一个能被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整除的数，地址低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位为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程序员的角度：逻辑地址</a:t>
            </a:r>
          </a:p>
        </p:txBody>
      </p:sp>
      <p:sp>
        <p:nvSpPr>
          <p:cNvPr id="12" name="矩形 11"/>
          <p:cNvSpPr/>
          <p:nvPr/>
        </p:nvSpPr>
        <p:spPr>
          <a:xfrm>
            <a:off x="769919" y="4671400"/>
            <a:ext cx="7430211" cy="1349888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13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70" y="4581128"/>
            <a:ext cx="1012736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44"/>
          <p:cNvSpPr txBox="1">
            <a:spLocks noChangeArrowheads="1"/>
          </p:cNvSpPr>
          <p:nvPr/>
        </p:nvSpPr>
        <p:spPr bwMode="auto">
          <a:xfrm>
            <a:off x="948770" y="4725144"/>
            <a:ext cx="6658741" cy="419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 defTabSz="914400">
              <a:lnSpc>
                <a:spcPct val="133000"/>
              </a:lnSpc>
              <a:defRPr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16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位指针，只能寻址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64KB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的存储器。段起始地址可用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16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位寄存器描述。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5"/>
          <p:cNvSpPr txBox="1"/>
          <p:nvPr/>
        </p:nvSpPr>
        <p:spPr>
          <a:xfrm rot="2771384">
            <a:off x="7558148" y="4757533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点评</a:t>
            </a:r>
          </a:p>
        </p:txBody>
      </p:sp>
      <p:pic>
        <p:nvPicPr>
          <p:cNvPr id="16" name="Picture 2" descr="http://pic2.sc.chinaz.com/files/pic/pic9/201203/xpic3867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58188" y="1537748"/>
            <a:ext cx="3870076" cy="266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1536698" y="5205079"/>
            <a:ext cx="6046853" cy="743873"/>
            <a:chOff x="244645" y="3186673"/>
            <a:chExt cx="6548882" cy="581099"/>
          </a:xfrm>
          <a:solidFill>
            <a:srgbClr val="1D8DE5"/>
          </a:solidFill>
        </p:grpSpPr>
        <p:sp>
          <p:nvSpPr>
            <p:cNvPr id="18" name="圆角矩形 17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9" name="TextBox 6"/>
            <p:cNvSpPr txBox="1"/>
            <p:nvPr/>
          </p:nvSpPr>
          <p:spPr>
            <a:xfrm>
              <a:off x="317991" y="3266485"/>
              <a:ext cx="6475536" cy="410633"/>
            </a:xfrm>
            <a:prstGeom prst="rect">
              <a:avLst/>
            </a:prstGeom>
            <a:solidFill>
              <a:srgbClr val="FF9300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逻辑地址   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位段地址：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位偏移地址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755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 animBg="1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75656" y="2673955"/>
            <a:ext cx="6769172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段内的相对地址可用系统中的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位通用寄存器来存放，被称为偏移地址。</a:t>
            </a:r>
          </a:p>
        </p:txBody>
      </p:sp>
      <p:sp>
        <p:nvSpPr>
          <p:cNvPr id="3" name="矩形 2"/>
          <p:cNvSpPr/>
          <p:nvPr/>
        </p:nvSpPr>
        <p:spPr>
          <a:xfrm>
            <a:off x="1475656" y="3877287"/>
            <a:ext cx="6769173" cy="873661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实际上，可以根据编程的需要来确定段的大小，它可以是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字节范围内的任意多个字节。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75656" y="5075619"/>
            <a:ext cx="6769172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各段间可以连续、分开或者重叠。重定位，移植性强。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75444" y="1484784"/>
            <a:ext cx="6769173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存储器采用分段管理后，段起始地址高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位被称为段地址，把它保存在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位的寄存器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9592" y="1484784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9592" y="2673954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9592" y="3877286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9592" y="5075617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段加偏移的特点</a:t>
            </a:r>
          </a:p>
        </p:txBody>
      </p:sp>
    </p:spTree>
    <p:extLst>
      <p:ext uri="{BB962C8B-B14F-4D97-AF65-F5344CB8AC3E}">
        <p14:creationId xmlns:p14="http://schemas.microsoft.com/office/powerpoint/2010/main" val="2586342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逻辑地址与物理地址的关系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1979713" y="1697400"/>
            <a:ext cx="2520280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段地址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4644008" y="1697400"/>
            <a:ext cx="2520280" cy="507464"/>
          </a:xfrm>
          <a:prstGeom prst="roundRect">
            <a:avLst>
              <a:gd name="adj" fmla="val 4357"/>
            </a:avLst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偏移地址</a:t>
            </a:r>
          </a:p>
        </p:txBody>
      </p:sp>
      <p:sp>
        <p:nvSpPr>
          <p:cNvPr id="11" name="矩形 10"/>
          <p:cNvSpPr/>
          <p:nvPr/>
        </p:nvSpPr>
        <p:spPr>
          <a:xfrm>
            <a:off x="1619251" y="1484785"/>
            <a:ext cx="5905500" cy="889575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右箭头 11"/>
          <p:cNvSpPr/>
          <p:nvPr/>
        </p:nvSpPr>
        <p:spPr>
          <a:xfrm rot="5400000">
            <a:off x="4319978" y="2348887"/>
            <a:ext cx="540048" cy="61206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987824" y="3068960"/>
            <a:ext cx="2520280" cy="507464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段地址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3851920" y="3861048"/>
            <a:ext cx="2520280" cy="507464"/>
          </a:xfrm>
          <a:prstGeom prst="roundRect">
            <a:avLst>
              <a:gd name="adj" fmla="val 4357"/>
            </a:avLst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偏移地址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5508104" y="3068960"/>
            <a:ext cx="839281" cy="507464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0H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十字形 15"/>
          <p:cNvSpPr/>
          <p:nvPr/>
        </p:nvSpPr>
        <p:spPr>
          <a:xfrm>
            <a:off x="3059832" y="3933056"/>
            <a:ext cx="432048" cy="432048"/>
          </a:xfrm>
          <a:prstGeom prst="plus">
            <a:avLst/>
          </a:prstGeom>
          <a:solidFill>
            <a:srgbClr val="FD7A2A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19672" y="2924945"/>
            <a:ext cx="5905500" cy="1656183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61941" y="1665675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逻辑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endParaRPr lang="zh-CN" altLang="en-US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61941" y="3465874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物理</a:t>
            </a:r>
            <a:endParaRPr lang="en-US" altLang="zh-CN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  <a:endParaRPr lang="zh-CN" altLang="en-US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11561" y="5013176"/>
            <a:ext cx="7776864" cy="91592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5AD00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2877" y="5019423"/>
            <a:ext cx="7776863" cy="837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zh-CN" altLang="en-US" sz="4000" b="1" dirty="0">
                <a:solidFill>
                  <a:srgbClr val="5AD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物理地址</a:t>
            </a:r>
            <a:r>
              <a:rPr lang="en-US" altLang="zh-CN" sz="4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4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段地址</a:t>
            </a:r>
            <a:r>
              <a:rPr lang="en-US" altLang="zh-CN" sz="4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x16</a:t>
            </a:r>
            <a:r>
              <a:rPr lang="en-US" altLang="zh-CN" sz="4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4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偏移地址</a:t>
            </a:r>
          </a:p>
        </p:txBody>
      </p:sp>
    </p:spTree>
    <p:extLst>
      <p:ext uri="{BB962C8B-B14F-4D97-AF65-F5344CB8AC3E}">
        <p14:creationId xmlns:p14="http://schemas.microsoft.com/office/powerpoint/2010/main" val="504762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611382" y="1735595"/>
            <a:ext cx="3964385" cy="2145716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3F14H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为段基址的逻辑段 最大可有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64K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字节，写出这个段首和段尾的逻辑地址和物理地址。</a:t>
            </a: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4935808" y="1735595"/>
            <a:ext cx="4208192" cy="2376548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逻辑地址：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3F14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0000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3F14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FFFF</a:t>
            </a:r>
          </a:p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物理地址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3F140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4F13F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11560" y="1409941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11560" y="919595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1"/>
          <p:cNvSpPr txBox="1"/>
          <p:nvPr/>
        </p:nvSpPr>
        <p:spPr>
          <a:xfrm>
            <a:off x="1119384" y="908720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20" name="矩形 19"/>
          <p:cNvSpPr/>
          <p:nvPr/>
        </p:nvSpPr>
        <p:spPr>
          <a:xfrm>
            <a:off x="8380710" y="908720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611560" y="919595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11515" y="4493406"/>
            <a:ext cx="8000448" cy="1095834"/>
          </a:xfrm>
          <a:prstGeom prst="rect">
            <a:avLst/>
          </a:prstGeom>
          <a:noFill/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611382" y="4630835"/>
            <a:ext cx="7993066" cy="88639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点评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】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每个区段的大小允许根据实际情况分配，而不一定非要占有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64KB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的最大段空间。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719784" y="1469070"/>
            <a:ext cx="0" cy="3024336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 animBg="1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611382" y="1556792"/>
            <a:ext cx="3964385" cy="288989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写出如下逻辑地址的物理地址：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3F64H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0010H</a:t>
            </a:r>
          </a:p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3F24H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0410H</a:t>
            </a:r>
          </a:p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3F00H :  650H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935808" y="1556792"/>
            <a:ext cx="3676155" cy="1837683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物理地址：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54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3F650H </a:t>
            </a:r>
            <a:endParaRPr lang="zh-CN" altLang="en-US" sz="54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1560" y="1409941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919595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908720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908720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919595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11515" y="4493406"/>
            <a:ext cx="8000448" cy="1095834"/>
          </a:xfrm>
          <a:prstGeom prst="rect">
            <a:avLst/>
          </a:prstGeom>
          <a:noFill/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611382" y="4630835"/>
            <a:ext cx="7993066" cy="88639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点评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】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同一物理地址，可以对应很多个逻辑地址。多个段之间可以互相交叠，甚至重叠，取决于程序员。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719784" y="1469070"/>
            <a:ext cx="0" cy="3024336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05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段寄存器</a:t>
            </a:r>
          </a:p>
        </p:txBody>
      </p:sp>
      <p:sp>
        <p:nvSpPr>
          <p:cNvPr id="11" name="矩形 10"/>
          <p:cNvSpPr/>
          <p:nvPr/>
        </p:nvSpPr>
        <p:spPr>
          <a:xfrm>
            <a:off x="5674590" y="1556792"/>
            <a:ext cx="2713833" cy="792088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数据段寄存器</a:t>
            </a:r>
          </a:p>
        </p:txBody>
      </p:sp>
      <p:sp>
        <p:nvSpPr>
          <p:cNvPr id="12" name="矩形 11"/>
          <p:cNvSpPr/>
          <p:nvPr/>
        </p:nvSpPr>
        <p:spPr>
          <a:xfrm>
            <a:off x="1395392" y="2708920"/>
            <a:ext cx="2713832" cy="79208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栈段寄存器</a:t>
            </a:r>
          </a:p>
        </p:txBody>
      </p:sp>
      <p:sp>
        <p:nvSpPr>
          <p:cNvPr id="13" name="矩形 12"/>
          <p:cNvSpPr/>
          <p:nvPr/>
        </p:nvSpPr>
        <p:spPr>
          <a:xfrm>
            <a:off x="1408613" y="1556792"/>
            <a:ext cx="2713833" cy="79208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代码段寄存器</a:t>
            </a:r>
          </a:p>
        </p:txBody>
      </p:sp>
      <p:sp>
        <p:nvSpPr>
          <p:cNvPr id="17" name="矩形 16"/>
          <p:cNvSpPr/>
          <p:nvPr/>
        </p:nvSpPr>
        <p:spPr>
          <a:xfrm>
            <a:off x="5674592" y="2708920"/>
            <a:ext cx="2713832" cy="79208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附加数据段寄存器</a:t>
            </a:r>
          </a:p>
        </p:txBody>
      </p:sp>
      <p:sp>
        <p:nvSpPr>
          <p:cNvPr id="19" name="矩形 18"/>
          <p:cNvSpPr/>
          <p:nvPr/>
        </p:nvSpPr>
        <p:spPr>
          <a:xfrm>
            <a:off x="556256" y="1660448"/>
            <a:ext cx="7072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endParaRPr lang="zh-CN" altLang="en-US" b="1" dirty="0">
              <a:solidFill>
                <a:srgbClr val="1D8DE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58661" y="2812575"/>
            <a:ext cx="6783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</a:t>
            </a:r>
            <a:endParaRPr lang="zh-CN" altLang="en-US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797174" y="1631448"/>
            <a:ext cx="7569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endParaRPr lang="zh-CN" altLang="en-US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42859" y="2812575"/>
            <a:ext cx="6655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</a:t>
            </a:r>
            <a:endParaRPr lang="zh-CN" altLang="en-US" b="1" dirty="0">
              <a:solidFill>
                <a:srgbClr val="FD7A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/>
        </p:nvSpPr>
        <p:spPr>
          <a:xfrm>
            <a:off x="899592" y="3888702"/>
            <a:ext cx="7491982" cy="1916561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7"/>
          <p:cNvSpPr txBox="1"/>
          <p:nvPr/>
        </p:nvSpPr>
        <p:spPr>
          <a:xfrm>
            <a:off x="1115616" y="4001651"/>
            <a:ext cx="6696743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不要误以为内存被划分为一个一个的段，每个段有一个段地址。其实，内存并没有分段，段的划分来自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，由于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采用了段加偏移的形式给出内存单元的物理地址，使得我们采用分段方式来管理内存。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56877" y="3789040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5"/>
          <p:cNvSpPr txBox="1"/>
          <p:nvPr/>
        </p:nvSpPr>
        <p:spPr>
          <a:xfrm rot="2771384">
            <a:off x="7725813" y="3995577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37102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15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835697" y="2040343"/>
            <a:ext cx="6985934" cy="2109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15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存储器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268837"/>
            <a:ext cx="3910012" cy="191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存储器组织方式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285750" defTabSz="762000">
              <a:buFont typeface="Wingdings" pitchFamily="2" charset="2"/>
              <a:buChar char="u"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存储器的分段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存储器单元的使用*****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77637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41692" y="1988840"/>
            <a:ext cx="5274724" cy="79208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指示</a:t>
            </a:r>
            <a:r>
              <a:rPr lang="en-US" altLang="zh-CN" sz="2000" b="1" dirty="0"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ea typeface="微软雅黑" panose="020B0503020204020204" pitchFamily="34" charset="-122"/>
              </a:rPr>
              <a:t>当前要读取指令的段地址和偏移地址。</a:t>
            </a:r>
          </a:p>
        </p:txBody>
      </p:sp>
      <p:sp>
        <p:nvSpPr>
          <p:cNvPr id="4" name="矩形 3"/>
          <p:cNvSpPr/>
          <p:nvPr/>
        </p:nvSpPr>
        <p:spPr>
          <a:xfrm>
            <a:off x="1115616" y="1988840"/>
            <a:ext cx="1926075" cy="7920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ea typeface="微软雅黑" panose="020B0503020204020204" pitchFamily="34" charset="-122"/>
              </a:rPr>
              <a:t>CS</a:t>
            </a:r>
            <a:r>
              <a:rPr lang="zh-CN" altLang="en-US" sz="3200" b="1" dirty="0">
                <a:ea typeface="微软雅黑" panose="020B0503020204020204" pitchFamily="34" charset="-122"/>
              </a:rPr>
              <a:t>：</a:t>
            </a:r>
            <a:r>
              <a:rPr lang="en-US" altLang="zh-CN" sz="3200" b="1" dirty="0">
                <a:ea typeface="微软雅黑" panose="020B0503020204020204" pitchFamily="34" charset="-122"/>
              </a:rPr>
              <a:t>IP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代码段及指令指针</a:t>
            </a: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1115616" y="3181907"/>
            <a:ext cx="7131942" cy="1399220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9" name="TextBox 17"/>
          <p:cNvSpPr txBox="1"/>
          <p:nvPr/>
        </p:nvSpPr>
        <p:spPr>
          <a:xfrm>
            <a:off x="1259210" y="3426008"/>
            <a:ext cx="6916340" cy="86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用于存储指令的一段连续存储单元。它的访问由系统自动执行。跳转等指令可以改变当前的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4276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数据段：指令中存储单元的表示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71600" y="2255241"/>
            <a:ext cx="3600400" cy="218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sz="2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AX,</a:t>
            </a:r>
            <a:r>
              <a:rPr lang="en-US" altLang="zh-CN" sz="28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   [0]</a:t>
            </a:r>
          </a:p>
          <a:p>
            <a:pPr eaLnBrk="0" hangingPunct="0"/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sz="2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DX,</a:t>
            </a:r>
            <a:r>
              <a:rPr lang="en-US" altLang="zh-CN" sz="28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   [10]</a:t>
            </a:r>
          </a:p>
          <a:p>
            <a:pPr eaLnBrk="0" hangingPunct="0"/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BL,</a:t>
            </a:r>
            <a:r>
              <a:rPr lang="en-US" altLang="zh-CN" sz="28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    [1234]</a:t>
            </a:r>
          </a:p>
          <a:p>
            <a:pPr eaLnBrk="0" hangingPunct="0"/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sz="2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[0]</a:t>
            </a:r>
            <a:r>
              <a:rPr lang="en-US" altLang="zh-CN" sz="2800" b="1" dirty="0">
                <a:solidFill>
                  <a:srgbClr val="ED7D31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2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 CL</a:t>
            </a:r>
            <a:endParaRPr lang="zh-CN" altLang="en-US" sz="2800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6"/>
          <p:cNvSpPr txBox="1"/>
          <p:nvPr/>
        </p:nvSpPr>
        <p:spPr>
          <a:xfrm>
            <a:off x="971600" y="1484784"/>
            <a:ext cx="7486377" cy="583558"/>
          </a:xfrm>
          <a:prstGeom prst="rect">
            <a:avLst/>
          </a:prstGeom>
          <a:solidFill>
            <a:srgbClr val="FD7A2A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操作数中，方括号中的值是操作数在段中的偏移地址。</a:t>
            </a: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4716016" y="2132856"/>
            <a:ext cx="3768" cy="273630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6"/>
          <p:cNvSpPr txBox="1"/>
          <p:nvPr/>
        </p:nvSpPr>
        <p:spPr>
          <a:xfrm>
            <a:off x="971600" y="4941168"/>
            <a:ext cx="7486377" cy="583558"/>
          </a:xfrm>
          <a:prstGeom prst="rect">
            <a:avLst/>
          </a:prstGeom>
          <a:solidFill>
            <a:srgbClr val="FD7A2A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一般情况下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，操作数中默认的段地址是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932040" y="2255241"/>
            <a:ext cx="3600400" cy="218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DS=1000H</a:t>
            </a: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，左边操</a:t>
            </a:r>
            <a:endParaRPr lang="en-US" altLang="zh-CN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作数的地址是多少？</a:t>
            </a:r>
          </a:p>
        </p:txBody>
      </p:sp>
    </p:spTree>
    <p:extLst>
      <p:ext uri="{BB962C8B-B14F-4D97-AF65-F5344CB8AC3E}">
        <p14:creationId xmlns:p14="http://schemas.microsoft.com/office/powerpoint/2010/main" val="1760146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数据段：指令中存储单元的表示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52656" y="2535243"/>
            <a:ext cx="3685724" cy="1727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en-US" altLang="zh-CN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ARRAY</a:t>
            </a: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100,200</a:t>
            </a:r>
          </a:p>
          <a:p>
            <a:pPr eaLnBrk="0" hangingPunct="0"/>
            <a:r>
              <a:rPr lang="en-US" altLang="zh-CN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</a:t>
            </a:r>
          </a:p>
          <a:p>
            <a:pPr eaLnBrk="0" hangingPunct="0"/>
            <a:r>
              <a:rPr lang="en-US" altLang="zh-CN" sz="28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'Hello'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6"/>
          <p:cNvSpPr txBox="1"/>
          <p:nvPr/>
        </p:nvSpPr>
        <p:spPr>
          <a:xfrm>
            <a:off x="971600" y="1628800"/>
            <a:ext cx="7486377" cy="583558"/>
          </a:xfrm>
          <a:prstGeom prst="rect">
            <a:avLst/>
          </a:prstGeom>
          <a:solidFill>
            <a:srgbClr val="FD7A2A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汇编语言中可以用变量表示存储单元的偏移地址。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4719784" y="2276872"/>
            <a:ext cx="30352" cy="2088232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932040" y="2399257"/>
            <a:ext cx="3888432" cy="218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31540" y="2641438"/>
            <a:ext cx="37444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hangingPunct="0"/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DW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DB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是定义存储单元类型的伪指令，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ARRAY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NUM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是存储单元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逻辑地址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的符号化表示。</a:t>
            </a: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971600" y="4605735"/>
            <a:ext cx="3600400" cy="546240"/>
          </a:xfrm>
          <a:prstGeom prst="rect">
            <a:avLst/>
          </a:prstGeom>
          <a:solidFill>
            <a:srgbClr val="1D8DE5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MOV   AX,  ARRAY</a:t>
            </a:r>
            <a:endParaRPr lang="zh-CN" altLang="en-US" sz="72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848985" y="4605735"/>
            <a:ext cx="3608991" cy="546240"/>
          </a:xfrm>
          <a:prstGeom prst="rect">
            <a:avLst/>
          </a:prstGeom>
          <a:solidFill>
            <a:srgbClr val="1D8DE5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ct val="114000"/>
              </a:lnSpc>
              <a:defRPr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CN" dirty="0"/>
              <a:t>MOV   AL,  NUM</a:t>
            </a:r>
            <a:endParaRPr lang="zh-CN" altLang="en-US" dirty="0"/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3033082" y="5312373"/>
            <a:ext cx="3600400" cy="546240"/>
          </a:xfrm>
          <a:prstGeom prst="rect">
            <a:avLst/>
          </a:prstGeom>
          <a:solidFill>
            <a:srgbClr val="1D8DE5"/>
          </a:solidFill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ct val="114000"/>
              </a:lnSpc>
              <a:defRPr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CN" dirty="0"/>
              <a:t>MOV   AL,  STR</a:t>
            </a:r>
            <a:endParaRPr lang="zh-CN" altLang="en-US" dirty="0"/>
          </a:p>
        </p:txBody>
      </p:sp>
      <p:sp>
        <p:nvSpPr>
          <p:cNvPr id="14" name="矩形 4"/>
          <p:cNvSpPr>
            <a:spLocks noChangeArrowheads="1"/>
          </p:cNvSpPr>
          <p:nvPr/>
        </p:nvSpPr>
        <p:spPr bwMode="auto">
          <a:xfrm>
            <a:off x="1979712" y="6165304"/>
            <a:ext cx="5184576" cy="41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后面我们还会详细讲变量的定义及使用。</a:t>
            </a:r>
          </a:p>
        </p:txBody>
      </p:sp>
      <p:pic>
        <p:nvPicPr>
          <p:cNvPr id="15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5742773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37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工欲善其事，必先利其器：</a:t>
            </a:r>
            <a:r>
              <a:rPr lang="en-US" altLang="zh-CN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21" name="组合 20"/>
          <p:cNvGrpSpPr/>
          <p:nvPr/>
        </p:nvGrpSpPr>
        <p:grpSpPr>
          <a:xfrm>
            <a:off x="1601612" y="1546332"/>
            <a:ext cx="5912884" cy="504367"/>
            <a:chOff x="3711527" y="2082923"/>
            <a:chExt cx="6704159" cy="504301"/>
          </a:xfrm>
          <a:noFill/>
        </p:grpSpPr>
        <p:sp>
          <p:nvSpPr>
            <p:cNvPr id="25" name="矩形 24"/>
            <p:cNvSpPr/>
            <p:nvPr/>
          </p:nvSpPr>
          <p:spPr>
            <a:xfrm>
              <a:off x="4038583" y="2082923"/>
              <a:ext cx="6355394" cy="43031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-R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命令，查看、改变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寄存器的内容</a:t>
              </a: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grpFill/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1608996" y="2244764"/>
            <a:ext cx="5912884" cy="504366"/>
            <a:chOff x="3711527" y="2082923"/>
            <a:chExt cx="6704159" cy="504301"/>
          </a:xfrm>
        </p:grpSpPr>
        <p:sp>
          <p:nvSpPr>
            <p:cNvPr id="30" name="矩形 29"/>
            <p:cNvSpPr/>
            <p:nvPr/>
          </p:nvSpPr>
          <p:spPr>
            <a:xfrm>
              <a:off x="4030210" y="2082923"/>
              <a:ext cx="6363766" cy="430319"/>
            </a:xfrm>
            <a:prstGeom prst="rect">
              <a:avLst/>
            </a:prstGeom>
            <a:solidFill>
              <a:srgbClr val="FF3255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-D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命令，查看内存的内容</a:t>
              </a: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1601612" y="2917223"/>
            <a:ext cx="5912884" cy="504367"/>
            <a:chOff x="3711527" y="2082923"/>
            <a:chExt cx="6704159" cy="504301"/>
          </a:xfrm>
        </p:grpSpPr>
        <p:sp>
          <p:nvSpPr>
            <p:cNvPr id="35" name="矩形 34"/>
            <p:cNvSpPr/>
            <p:nvPr/>
          </p:nvSpPr>
          <p:spPr>
            <a:xfrm>
              <a:off x="4038583" y="2082923"/>
              <a:ext cx="6355394" cy="430318"/>
            </a:xfrm>
            <a:prstGeom prst="rect">
              <a:avLst/>
            </a:prstGeom>
            <a:solidFill>
              <a:srgbClr val="1D8DE5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-E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命令，改写内存的内容</a:t>
              </a: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1608996" y="3615658"/>
            <a:ext cx="5912884" cy="504367"/>
            <a:chOff x="3711527" y="2082923"/>
            <a:chExt cx="6704159" cy="504301"/>
          </a:xfrm>
        </p:grpSpPr>
        <p:sp>
          <p:nvSpPr>
            <p:cNvPr id="40" name="矩形 39"/>
            <p:cNvSpPr/>
            <p:nvPr/>
          </p:nvSpPr>
          <p:spPr>
            <a:xfrm>
              <a:off x="4030210" y="2082923"/>
              <a:ext cx="6363766" cy="4616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-U 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命令，将内存中机器指令翻译成汇编指令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1604060" y="4242421"/>
            <a:ext cx="5912884" cy="504367"/>
            <a:chOff x="3711527" y="2082923"/>
            <a:chExt cx="6704159" cy="504301"/>
          </a:xfrm>
        </p:grpSpPr>
        <p:sp>
          <p:nvSpPr>
            <p:cNvPr id="45" name="矩形 44"/>
            <p:cNvSpPr/>
            <p:nvPr/>
          </p:nvSpPr>
          <p:spPr>
            <a:xfrm>
              <a:off x="4035807" y="2082923"/>
              <a:ext cx="6358170" cy="43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-T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命令，执行一条机器指令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1611444" y="4940857"/>
            <a:ext cx="5912884" cy="504367"/>
            <a:chOff x="3711527" y="2082923"/>
            <a:chExt cx="6704159" cy="504301"/>
          </a:xfrm>
        </p:grpSpPr>
        <p:sp>
          <p:nvSpPr>
            <p:cNvPr id="50" name="矩形 49"/>
            <p:cNvSpPr/>
            <p:nvPr/>
          </p:nvSpPr>
          <p:spPr>
            <a:xfrm>
              <a:off x="4027435" y="2082923"/>
              <a:ext cx="6355394" cy="43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-A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命令，用汇编指令格式在内存中写入指令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347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：存储单元的使用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26993" y="1700808"/>
            <a:ext cx="2952919" cy="2291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命令，设置内存单元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073FH:0500H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开始的四个字节内容为，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12H, 34H, ABH, CDH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设定数据段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的值为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073FH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 descr="未标题-1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6482" y="171750"/>
            <a:ext cx="1490425" cy="134635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472428" y="1719541"/>
            <a:ext cx="198546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[500H]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75212" y="1700808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72428" y="2148174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CL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 0FFH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75212" y="2129441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CL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72428" y="2687914"/>
            <a:ext cx="198546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[500H]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CL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775212" y="2669181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[500H]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72428" y="3116547"/>
            <a:ext cx="1870736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CL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775212" y="3097814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472428" y="3661046"/>
            <a:ext cx="198546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0FFH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75212" y="3642313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CH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472428" y="4089679"/>
            <a:ext cx="198546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[502H]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16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CX</a:t>
            </a:r>
          </a:p>
        </p:txBody>
      </p:sp>
      <p:sp>
        <p:nvSpPr>
          <p:cNvPr id="24" name="矩形 23"/>
          <p:cNvSpPr/>
          <p:nvPr/>
        </p:nvSpPr>
        <p:spPr>
          <a:xfrm>
            <a:off x="6775212" y="4070946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[502H]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43614" y="1556792"/>
            <a:ext cx="3210026" cy="2435413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285688" y="1556792"/>
            <a:ext cx="3929684" cy="4024612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472428" y="4525148"/>
            <a:ext cx="2115796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0CDABH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775212" y="4506415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472428" y="4953781"/>
            <a:ext cx="198546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1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16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CX</a:t>
            </a:r>
          </a:p>
        </p:txBody>
      </p:sp>
      <p:sp>
        <p:nvSpPr>
          <p:cNvPr id="34" name="矩形 33"/>
          <p:cNvSpPr/>
          <p:nvPr/>
        </p:nvSpPr>
        <p:spPr>
          <a:xfrm>
            <a:off x="6775212" y="4935048"/>
            <a:ext cx="1757228" cy="419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 =  </a:t>
            </a:r>
            <a:endParaRPr lang="en-US" altLang="zh-CN" sz="1600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4"/>
          <p:cNvSpPr>
            <a:spLocks noChangeArrowheads="1"/>
          </p:cNvSpPr>
          <p:nvPr/>
        </p:nvSpPr>
        <p:spPr bwMode="auto">
          <a:xfrm>
            <a:off x="1979712" y="6165304"/>
            <a:ext cx="5184576" cy="41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这个实验中，还需要掌握代码段和指令指针的作用。</a:t>
            </a:r>
          </a:p>
        </p:txBody>
      </p:sp>
      <p:pic>
        <p:nvPicPr>
          <p:cNvPr id="36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5742773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矩形 26"/>
          <p:cNvSpPr/>
          <p:nvPr/>
        </p:nvSpPr>
        <p:spPr>
          <a:xfrm>
            <a:off x="2102763" y="4574368"/>
            <a:ext cx="1317109" cy="3204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34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102763" y="4902211"/>
            <a:ext cx="1317109" cy="3204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srgbClr val="7030A0"/>
                </a:solidFill>
                <a:latin typeface="Calibri"/>
                <a:ea typeface="微软雅黑" panose="020B0503020204020204" pitchFamily="34" charset="-122"/>
              </a:rPr>
              <a:t>AB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02763" y="5229200"/>
            <a:ext cx="1317109" cy="3204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US" altLang="zh-CN" kern="0" dirty="0">
                <a:solidFill>
                  <a:srgbClr val="7030A0"/>
                </a:solidFill>
                <a:latin typeface="Calibri"/>
                <a:ea typeface="微软雅黑" panose="020B0503020204020204" pitchFamily="34" charset="-122"/>
              </a:rPr>
              <a:t>CD</a:t>
            </a:r>
            <a:endParaRPr lang="zh-CN" altLang="en-US" kern="0" dirty="0">
              <a:solidFill>
                <a:srgbClr val="7030A0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02763" y="4280842"/>
            <a:ext cx="1317109" cy="32046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12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43" name="矩形 4"/>
          <p:cNvSpPr>
            <a:spLocks noChangeArrowheads="1"/>
          </p:cNvSpPr>
          <p:nvPr/>
        </p:nvSpPr>
        <p:spPr bwMode="auto">
          <a:xfrm>
            <a:off x="1398869" y="4874097"/>
            <a:ext cx="910966" cy="41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16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502H</a:t>
            </a:r>
            <a:endParaRPr lang="zh-CN" altLang="en-US" sz="1600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矩形 4"/>
          <p:cNvSpPr>
            <a:spLocks noChangeArrowheads="1"/>
          </p:cNvSpPr>
          <p:nvPr/>
        </p:nvSpPr>
        <p:spPr bwMode="auto">
          <a:xfrm>
            <a:off x="1398869" y="4221088"/>
            <a:ext cx="910966" cy="41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16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500H</a:t>
            </a:r>
            <a:endParaRPr lang="zh-CN" altLang="en-US" sz="1600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1398869" y="5157192"/>
            <a:ext cx="910966" cy="412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16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503H</a:t>
            </a:r>
            <a:endParaRPr lang="zh-CN" altLang="en-US" sz="1600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"/>
          <p:cNvSpPr>
            <a:spLocks noChangeArrowheads="1"/>
          </p:cNvSpPr>
          <p:nvPr/>
        </p:nvSpPr>
        <p:spPr bwMode="auto">
          <a:xfrm>
            <a:off x="1398869" y="4566438"/>
            <a:ext cx="910966" cy="41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16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501H</a:t>
            </a:r>
            <a:endParaRPr lang="zh-CN" altLang="en-US" sz="1600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41894" y="4149080"/>
            <a:ext cx="3210026" cy="1521685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972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31" grpId="0"/>
      <p:bldP spid="32" grpId="0"/>
      <p:bldP spid="33" grpId="0"/>
      <p:bldP spid="34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558373" y="2030590"/>
            <a:ext cx="6533908" cy="3295443"/>
          </a:xfrm>
          <a:prstGeom prst="rect">
            <a:avLst/>
          </a:prstGeom>
          <a:ln w="19050">
            <a:solidFill>
              <a:srgbClr val="92D050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栈段的概念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827584" y="2067644"/>
            <a:ext cx="4478557" cy="121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栈是一个区域，是用来存放数据的，这个区域</a:t>
            </a:r>
            <a:r>
              <a:rPr lang="zh-CN" altLang="en-US" sz="1800" dirty="0">
                <a:solidFill>
                  <a:srgbClr val="FF3255"/>
                </a:solidFill>
              </a:rPr>
              <a:t>本身没有任何特殊之处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，就是存储器的一部分。</a:t>
            </a:r>
            <a:endParaRPr lang="en-US" altLang="zh-CN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 Box 44"/>
          <p:cNvSpPr txBox="1">
            <a:spLocks noChangeArrowheads="1"/>
          </p:cNvSpPr>
          <p:nvPr/>
        </p:nvSpPr>
        <p:spPr bwMode="auto">
          <a:xfrm>
            <a:off x="755576" y="3284984"/>
            <a:ext cx="4550565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457200" defTabSz="720725">
              <a:lnSpc>
                <a:spcPct val="135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defTabSz="720725" eaLnBrk="0" hangingPunct="0">
              <a:defRPr sz="1600">
                <a:latin typeface="Arial" pitchFamily="34" charset="0"/>
                <a:ea typeface="宋体" pitchFamily="2" charset="-122"/>
              </a:defRPr>
            </a:lvl2pPr>
            <a:lvl3pPr defTabSz="720725" eaLnBrk="0" hangingPunct="0">
              <a:defRPr sz="1600">
                <a:latin typeface="Arial" pitchFamily="34" charset="0"/>
                <a:ea typeface="宋体" pitchFamily="2" charset="-122"/>
              </a:defRPr>
            </a:lvl3pPr>
            <a:lvl4pPr defTabSz="720725" eaLnBrk="0" hangingPunct="0">
              <a:defRPr sz="1600">
                <a:latin typeface="Arial" pitchFamily="34" charset="0"/>
                <a:ea typeface="宋体" pitchFamily="2" charset="-122"/>
              </a:defRPr>
            </a:lvl4pPr>
            <a:lvl5pPr defTabSz="720725" eaLnBrk="0" hangingPunct="0">
              <a:defRPr sz="1600">
                <a:latin typeface="Arial" pitchFamily="34" charset="0"/>
                <a:ea typeface="宋体" pitchFamily="2" charset="-122"/>
              </a:defRPr>
            </a:lvl5pPr>
            <a:lvl6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6pPr>
            <a:lvl7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7pPr>
            <a:lvl8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8pPr>
            <a:lvl9pPr defTabSz="720725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itchFamily="34" charset="0"/>
                <a:ea typeface="宋体" pitchFamily="2" charset="-122"/>
              </a:defRPr>
            </a:lvl9pPr>
          </a:lstStyle>
          <a:p>
            <a:pPr indent="0"/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采用“</a:t>
            </a:r>
            <a:r>
              <a:rPr lang="zh-CN" altLang="en-US" sz="1800" dirty="0">
                <a:solidFill>
                  <a:srgbClr val="FF3255"/>
                </a:solidFill>
              </a:rPr>
              <a:t>先进后出，后进先出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”的存放和取用数据的方式，</a:t>
            </a:r>
            <a:r>
              <a:rPr lang="zh-CN" altLang="en-US" sz="1800" dirty="0">
                <a:solidFill>
                  <a:srgbClr val="FF3255"/>
                </a:solidFill>
              </a:rPr>
              <a:t>栈顶是栈操作的唯一出口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0"/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栈主要用于暂存数据和在过程调用或处理中断时暂存断点信息。每次压栈和退栈均以</a:t>
            </a:r>
            <a:r>
              <a:rPr lang="zh-CN" altLang="en-US" sz="2400" dirty="0">
                <a:solidFill>
                  <a:srgbClr val="FF3255"/>
                </a:solidFill>
              </a:rPr>
              <a:t>字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为单位。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Picture 8" descr="E:\仝德志文件，勿删！\03-参考文档\！PPT图片及版面资源\06-PPT精选插图\12-标签\绿色边角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3367" y="1916832"/>
            <a:ext cx="1314261" cy="126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6"/>
          <p:cNvSpPr txBox="1"/>
          <p:nvPr/>
        </p:nvSpPr>
        <p:spPr>
          <a:xfrm rot="18928564">
            <a:off x="433296" y="2043783"/>
            <a:ext cx="71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栈段</a:t>
            </a:r>
          </a:p>
        </p:txBody>
      </p:sp>
      <p:sp>
        <p:nvSpPr>
          <p:cNvPr id="11" name="椭圆 10"/>
          <p:cNvSpPr/>
          <p:nvPr/>
        </p:nvSpPr>
        <p:spPr>
          <a:xfrm>
            <a:off x="5291676" y="1700808"/>
            <a:ext cx="3600804" cy="3625225"/>
          </a:xfrm>
          <a:prstGeom prst="ellipse">
            <a:avLst/>
          </a:prstGeom>
          <a:solidFill>
            <a:schemeClr val="bg1"/>
          </a:solidFill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6113454" y="2221798"/>
            <a:ext cx="1882720" cy="25491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zh-CN" altLang="en-US" sz="1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栈</a:t>
            </a:r>
            <a:endParaRPr lang="zh-CN" altLang="en-US" sz="6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4"/>
          <p:cNvSpPr>
            <a:spLocks noChangeArrowheads="1"/>
          </p:cNvSpPr>
          <p:nvPr/>
        </p:nvSpPr>
        <p:spPr bwMode="auto">
          <a:xfrm>
            <a:off x="1979712" y="6165304"/>
            <a:ext cx="5184576" cy="38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严格讲，栈（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stack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）和堆（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heap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）是有区别的。</a:t>
            </a:r>
          </a:p>
        </p:txBody>
      </p:sp>
      <p:pic>
        <p:nvPicPr>
          <p:cNvPr id="14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8" y="5670765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4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75656" y="2745963"/>
            <a:ext cx="6769172" cy="80165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8086/8088</a:t>
            </a:r>
            <a:r>
              <a:rPr lang="zh-CN" altLang="en-US" sz="2000" b="1" dirty="0">
                <a:ea typeface="微软雅黑" panose="020B0503020204020204" pitchFamily="34" charset="-122"/>
              </a:rPr>
              <a:t>的栈的伸展方向是从</a:t>
            </a:r>
            <a:r>
              <a:rPr lang="zh-CN" altLang="en-US" sz="3200" b="1" dirty="0">
                <a:ea typeface="微软雅黑" panose="020B0503020204020204" pitchFamily="34" charset="-122"/>
              </a:rPr>
              <a:t>大地址向小地址</a:t>
            </a:r>
            <a:r>
              <a:rPr lang="zh-CN" altLang="en-US" sz="2000" b="1" dirty="0">
                <a:ea typeface="微软雅黑" panose="020B0503020204020204" pitchFamily="34" charset="-122"/>
              </a:rPr>
              <a:t>（并不是所有</a:t>
            </a:r>
            <a:r>
              <a:rPr lang="en-US" altLang="zh-CN" sz="2000" b="1" dirty="0"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ea typeface="微软雅黑" panose="020B0503020204020204" pitchFamily="34" charset="-122"/>
              </a:rPr>
              <a:t>都如此）。</a:t>
            </a:r>
          </a:p>
        </p:txBody>
      </p:sp>
      <p:sp>
        <p:nvSpPr>
          <p:cNvPr id="3" name="矩形 2"/>
          <p:cNvSpPr/>
          <p:nvPr/>
        </p:nvSpPr>
        <p:spPr>
          <a:xfrm>
            <a:off x="1475656" y="3805279"/>
            <a:ext cx="6769173" cy="801653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栈有专门数据传输指令，入栈</a:t>
            </a:r>
            <a:r>
              <a:rPr lang="en-US" altLang="zh-CN" sz="4400" b="1" dirty="0">
                <a:ea typeface="微软雅黑" panose="020B0503020204020204" pitchFamily="34" charset="-122"/>
              </a:rPr>
              <a:t>PUSH</a:t>
            </a:r>
            <a:r>
              <a:rPr lang="zh-CN" altLang="en-US" sz="2000" b="1" dirty="0">
                <a:ea typeface="微软雅黑" panose="020B0503020204020204" pitchFamily="34" charset="-122"/>
              </a:rPr>
              <a:t>和出栈</a:t>
            </a:r>
            <a:r>
              <a:rPr lang="en-US" altLang="zh-CN" sz="4400" b="1" dirty="0">
                <a:ea typeface="微软雅黑" panose="020B0503020204020204" pitchFamily="34" charset="-122"/>
              </a:rPr>
              <a:t>POP</a:t>
            </a:r>
            <a:r>
              <a:rPr lang="en-US" altLang="zh-CN" sz="2000" b="1" dirty="0"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75656" y="4859595"/>
            <a:ext cx="6769172" cy="801653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每执一次</a:t>
            </a:r>
            <a:r>
              <a:rPr lang="en-US" altLang="zh-CN" sz="2000" b="1" dirty="0">
                <a:ea typeface="微软雅黑" panose="020B0503020204020204" pitchFamily="34" charset="-122"/>
              </a:rPr>
              <a:t>PUSH</a:t>
            </a:r>
            <a:r>
              <a:rPr lang="zh-CN" altLang="en-US" sz="2000" b="1" dirty="0">
                <a:ea typeface="微软雅黑" panose="020B0503020204020204" pitchFamily="34" charset="-122"/>
              </a:rPr>
              <a:t>指令时，</a:t>
            </a:r>
            <a:r>
              <a:rPr lang="en-US" altLang="zh-CN" sz="2000" b="1" dirty="0">
                <a:ea typeface="微软雅黑" panose="020B0503020204020204" pitchFamily="34" charset="-122"/>
              </a:rPr>
              <a:t>SP</a:t>
            </a:r>
            <a:r>
              <a:rPr lang="zh-CN" altLang="en-US" sz="2000" b="1" dirty="0">
                <a:ea typeface="微软雅黑" panose="020B0503020204020204" pitchFamily="34" charset="-122"/>
              </a:rPr>
              <a:t>就在原来值的基础上自动减</a:t>
            </a:r>
            <a:r>
              <a:rPr lang="en-US" altLang="zh-CN" sz="2000" b="1" dirty="0"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ea typeface="微软雅黑" panose="020B0503020204020204" pitchFamily="34" charset="-122"/>
              </a:rPr>
              <a:t>，每当执行一次</a:t>
            </a:r>
            <a:r>
              <a:rPr lang="en-US" altLang="zh-CN" sz="2000" b="1" dirty="0">
                <a:ea typeface="微软雅黑" panose="020B0503020204020204" pitchFamily="34" charset="-122"/>
              </a:rPr>
              <a:t>POP</a:t>
            </a:r>
            <a:r>
              <a:rPr lang="zh-CN" altLang="en-US" sz="2000" b="1" dirty="0">
                <a:ea typeface="微软雅黑" panose="020B0503020204020204" pitchFamily="34" charset="-122"/>
              </a:rPr>
              <a:t>指令，</a:t>
            </a:r>
            <a:r>
              <a:rPr lang="en-US" altLang="zh-CN" sz="2000" b="1" dirty="0">
                <a:ea typeface="微软雅黑" panose="020B0503020204020204" pitchFamily="34" charset="-122"/>
              </a:rPr>
              <a:t>SP</a:t>
            </a:r>
            <a:r>
              <a:rPr lang="zh-CN" altLang="en-US" sz="2000" b="1" dirty="0">
                <a:ea typeface="微软雅黑" panose="020B0503020204020204" pitchFamily="34" charset="-122"/>
              </a:rPr>
              <a:t>就在原来值基础上自动加</a:t>
            </a:r>
            <a:r>
              <a:rPr lang="en-US" altLang="zh-CN" sz="2000" b="1" dirty="0"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75444" y="1700808"/>
            <a:ext cx="6769173" cy="801653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栈的基地址在</a:t>
            </a:r>
            <a:r>
              <a:rPr lang="en-US" altLang="zh-CN" sz="4400" b="1" dirty="0">
                <a:ea typeface="微软雅黑" panose="020B0503020204020204" pitchFamily="34" charset="-122"/>
              </a:rPr>
              <a:t>SS</a:t>
            </a:r>
            <a:r>
              <a:rPr lang="zh-CN" altLang="en-US" sz="2000" b="1" dirty="0">
                <a:ea typeface="微软雅黑" panose="020B0503020204020204" pitchFamily="34" charset="-122"/>
              </a:rPr>
              <a:t>寄存器，栈指针</a:t>
            </a:r>
            <a:r>
              <a:rPr lang="en-US" altLang="zh-CN" sz="4400" b="1" dirty="0">
                <a:ea typeface="微软雅黑" panose="020B0503020204020204" pitchFamily="34" charset="-122"/>
              </a:rPr>
              <a:t>SP</a:t>
            </a:r>
            <a:r>
              <a:rPr lang="zh-CN" altLang="en-US" sz="2000" b="1" dirty="0">
                <a:ea typeface="微软雅黑" panose="020B0503020204020204" pitchFamily="34" charset="-122"/>
              </a:rPr>
              <a:t>，总是指向栈顶。</a:t>
            </a:r>
            <a:endParaRPr lang="en-US" altLang="zh-CN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9592" y="1700808"/>
            <a:ext cx="575852" cy="8016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9592" y="2745962"/>
            <a:ext cx="575852" cy="8016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9592" y="3805278"/>
            <a:ext cx="575852" cy="8016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9592" y="4859593"/>
            <a:ext cx="575852" cy="8016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栈的使用</a:t>
            </a:r>
          </a:p>
        </p:txBody>
      </p:sp>
    </p:spTree>
    <p:extLst>
      <p:ext uri="{BB962C8B-B14F-4D97-AF65-F5344CB8AC3E}">
        <p14:creationId xmlns:p14="http://schemas.microsoft.com/office/powerpoint/2010/main" val="2171570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20342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35597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203637" y="4529839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03637" y="403080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03848" y="353908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03837" y="3047362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03393" y="256207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07140" y="205710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393795" y="1556467"/>
            <a:ext cx="2606827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①PUSH   AX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32488" y="1489409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5436096" y="1501902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4"/>
          <p:cNvSpPr>
            <a:spLocks noChangeArrowheads="1"/>
          </p:cNvSpPr>
          <p:nvPr/>
        </p:nvSpPr>
        <p:spPr bwMode="auto">
          <a:xfrm>
            <a:off x="6539765" y="1484784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4"/>
          <p:cNvSpPr>
            <a:spLocks noChangeArrowheads="1"/>
          </p:cNvSpPr>
          <p:nvPr/>
        </p:nvSpPr>
        <p:spPr bwMode="auto">
          <a:xfrm>
            <a:off x="7466035" y="1484784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6522169" y="1484784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4"/>
          <p:cNvSpPr>
            <a:spLocks noChangeArrowheads="1"/>
          </p:cNvSpPr>
          <p:nvPr/>
        </p:nvSpPr>
        <p:spPr bwMode="auto">
          <a:xfrm>
            <a:off x="7448439" y="1484784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4"/>
          <p:cNvSpPr>
            <a:spLocks noChangeArrowheads="1"/>
          </p:cNvSpPr>
          <p:nvPr/>
        </p:nvSpPr>
        <p:spPr bwMode="auto">
          <a:xfrm>
            <a:off x="415826" y="2352111"/>
            <a:ext cx="282843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②PUSH   BX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264500" y="2277919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5468108" y="2290412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4"/>
          <p:cNvSpPr>
            <a:spLocks noChangeArrowheads="1"/>
          </p:cNvSpPr>
          <p:nvPr/>
        </p:nvSpPr>
        <p:spPr bwMode="auto">
          <a:xfrm>
            <a:off x="6499769" y="2276872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7426039" y="2276872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CD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6503516" y="2281615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4"/>
          <p:cNvSpPr>
            <a:spLocks noChangeArrowheads="1"/>
          </p:cNvSpPr>
          <p:nvPr/>
        </p:nvSpPr>
        <p:spPr bwMode="auto">
          <a:xfrm>
            <a:off x="7425579" y="2279075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CD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2856734" y="5201352"/>
            <a:ext cx="346248" cy="133924"/>
          </a:xfrm>
          <a:prstGeom prst="rightArrow">
            <a:avLst/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2230243" y="5013176"/>
            <a:ext cx="648494" cy="453457"/>
          </a:xfrm>
          <a:prstGeom prst="rect">
            <a:avLst/>
          </a:prstGeom>
          <a:solidFill>
            <a:srgbClr val="FBFBFB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endParaRPr lang="zh-CN" altLang="en-US" sz="28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203641" y="502887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203637" y="553098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4453563" y="5542594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501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"/>
          <p:cNvSpPr>
            <a:spLocks noChangeArrowheads="1"/>
          </p:cNvSpPr>
          <p:nvPr/>
        </p:nvSpPr>
        <p:spPr bwMode="auto">
          <a:xfrm>
            <a:off x="4469268" y="5050151"/>
            <a:ext cx="84054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500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4"/>
          <p:cNvSpPr>
            <a:spLocks noChangeArrowheads="1"/>
          </p:cNvSpPr>
          <p:nvPr/>
        </p:nvSpPr>
        <p:spPr bwMode="auto">
          <a:xfrm>
            <a:off x="4453563" y="4557708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4FF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4469268" y="4065265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4FE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4"/>
          <p:cNvSpPr>
            <a:spLocks noChangeArrowheads="1"/>
          </p:cNvSpPr>
          <p:nvPr/>
        </p:nvSpPr>
        <p:spPr bwMode="auto">
          <a:xfrm>
            <a:off x="4453563" y="3603618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4FD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4469268" y="3111175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4FC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指令执行示意图</a:t>
            </a:r>
          </a:p>
        </p:txBody>
      </p:sp>
      <p:sp>
        <p:nvSpPr>
          <p:cNvPr id="36" name="矩形 4"/>
          <p:cNvSpPr>
            <a:spLocks noChangeArrowheads="1"/>
          </p:cNvSpPr>
          <p:nvPr/>
        </p:nvSpPr>
        <p:spPr bwMode="auto">
          <a:xfrm>
            <a:off x="539552" y="4919311"/>
            <a:ext cx="2088232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执行前</a:t>
            </a:r>
          </a:p>
        </p:txBody>
      </p:sp>
      <p:pic>
        <p:nvPicPr>
          <p:cNvPr id="37" name="图片 36" descr="问号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897" y="3913335"/>
            <a:ext cx="1099363" cy="854677"/>
          </a:xfrm>
          <a:prstGeom prst="rect">
            <a:avLst/>
          </a:prstGeom>
        </p:spPr>
      </p:pic>
      <p:sp>
        <p:nvSpPr>
          <p:cNvPr id="38" name="Rectangle 2"/>
          <p:cNvSpPr>
            <a:spLocks noChangeArrowheads="1"/>
          </p:cNvSpPr>
          <p:nvPr/>
        </p:nvSpPr>
        <p:spPr bwMode="auto">
          <a:xfrm>
            <a:off x="6142922" y="4282832"/>
            <a:ext cx="2281396" cy="1951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两条指令的目标操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作数分别是什么？</a:t>
            </a:r>
          </a:p>
        </p:txBody>
      </p:sp>
    </p:spTree>
    <p:extLst>
      <p:ext uri="{BB962C8B-B14F-4D97-AF65-F5344CB8AC3E}">
        <p14:creationId xmlns:p14="http://schemas.microsoft.com/office/powerpoint/2010/main" val="198500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85185E-6 L -2.77778E-7 -0.140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06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44444E-6 L 0.00052 -0.1423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7037E-6 L -0.17274 -3.7037E-6 C -0.25017 -3.7037E-6 -0.34531 0.12153 -0.34531 0.22037 L -0.34531 0.44098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74" y="2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6 L -0.22327 -3.7037E-6 C -0.32344 -3.7037E-6 -0.44653 0.1007 -0.44653 0.18264 L -0.44653 0.36574 " pathEditMode="relative" rAng="0" ptsTypes="AA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326" y="1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14213 L -2.77778E-7 -0.2773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75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14213 L 0.00157 -0.2784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85185E-6 L -0.17274 1.85185E-6 C -0.25017 1.85185E-6 -0.34531 0.04838 -0.34531 0.08796 L -0.34531 0.17616 " pathEditMode="relative" rAng="0" ptsTypes="AAAA">
                                      <p:cBhvr>
                                        <p:cTn id="2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74" y="8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85185E-6 L -0.22327 1.85185E-6 C -0.32344 1.85185E-6 -0.44653 0.02824 -0.44653 0.05185 L -0.44653 0.10416 " pathEditMode="relative" rAng="0" ptsTypes="AA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326" y="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0" grpId="0"/>
      <p:bldP spid="21" grpId="0"/>
      <p:bldP spid="24" grpId="0" animBg="1"/>
      <p:bldP spid="24" grpId="1" animBg="1"/>
      <p:bldP spid="25" grpId="0" animBg="1"/>
      <p:bldP spid="2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6264500" y="2277919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465840" y="551748"/>
            <a:ext cx="41986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指令执行示意图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320342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4355976" y="1510263"/>
            <a:ext cx="422" cy="4511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203637" y="4529839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03637" y="403080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203848" y="353908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3837" y="3047362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03393" y="256207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07140" y="205710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03641" y="5028874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03637" y="553098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4453563" y="5542594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501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4"/>
          <p:cNvSpPr>
            <a:spLocks noChangeArrowheads="1"/>
          </p:cNvSpPr>
          <p:nvPr/>
        </p:nvSpPr>
        <p:spPr bwMode="auto">
          <a:xfrm>
            <a:off x="4469268" y="5050151"/>
            <a:ext cx="84054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500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4"/>
          <p:cNvSpPr>
            <a:spLocks noChangeArrowheads="1"/>
          </p:cNvSpPr>
          <p:nvPr/>
        </p:nvSpPr>
        <p:spPr bwMode="auto">
          <a:xfrm>
            <a:off x="4453563" y="4557708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4FF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4"/>
          <p:cNvSpPr>
            <a:spLocks noChangeArrowheads="1"/>
          </p:cNvSpPr>
          <p:nvPr/>
        </p:nvSpPr>
        <p:spPr bwMode="auto">
          <a:xfrm>
            <a:off x="4469268" y="4065265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4FE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4453563" y="3603618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4FD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4"/>
          <p:cNvSpPr>
            <a:spLocks noChangeArrowheads="1"/>
          </p:cNvSpPr>
          <p:nvPr/>
        </p:nvSpPr>
        <p:spPr bwMode="auto">
          <a:xfrm>
            <a:off x="4469268" y="3111175"/>
            <a:ext cx="840547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4FC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32488" y="1489409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3464733" y="4476076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4"/>
          <p:cNvSpPr>
            <a:spLocks noChangeArrowheads="1"/>
          </p:cNvSpPr>
          <p:nvPr/>
        </p:nvSpPr>
        <p:spPr bwMode="auto">
          <a:xfrm>
            <a:off x="3480438" y="3983207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3447137" y="4476076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3462842" y="3983207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4"/>
          <p:cNvSpPr>
            <a:spLocks noChangeArrowheads="1"/>
          </p:cNvSpPr>
          <p:nvPr/>
        </p:nvSpPr>
        <p:spPr bwMode="auto">
          <a:xfrm>
            <a:off x="3441499" y="3497188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3450527" y="2994008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CD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"/>
          <p:cNvSpPr>
            <a:spLocks noChangeArrowheads="1"/>
          </p:cNvSpPr>
          <p:nvPr/>
        </p:nvSpPr>
        <p:spPr bwMode="auto">
          <a:xfrm>
            <a:off x="3445246" y="3501931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AB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4"/>
          <p:cNvSpPr>
            <a:spLocks noChangeArrowheads="1"/>
          </p:cNvSpPr>
          <p:nvPr/>
        </p:nvSpPr>
        <p:spPr bwMode="auto">
          <a:xfrm>
            <a:off x="3450067" y="2996211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CD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393796" y="1556467"/>
            <a:ext cx="256291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③POP   AX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4"/>
          <p:cNvSpPr>
            <a:spLocks noChangeArrowheads="1"/>
          </p:cNvSpPr>
          <p:nvPr/>
        </p:nvSpPr>
        <p:spPr bwMode="auto">
          <a:xfrm>
            <a:off x="415827" y="2352111"/>
            <a:ext cx="262931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④POP   BX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右箭头 32"/>
          <p:cNvSpPr/>
          <p:nvPr/>
        </p:nvSpPr>
        <p:spPr>
          <a:xfrm>
            <a:off x="2856734" y="3278993"/>
            <a:ext cx="346248" cy="133924"/>
          </a:xfrm>
          <a:prstGeom prst="rightArrow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4" name="矩形 4"/>
          <p:cNvSpPr>
            <a:spLocks noChangeArrowheads="1"/>
          </p:cNvSpPr>
          <p:nvPr/>
        </p:nvSpPr>
        <p:spPr bwMode="auto">
          <a:xfrm>
            <a:off x="2230243" y="3090817"/>
            <a:ext cx="648494" cy="453457"/>
          </a:xfrm>
          <a:prstGeom prst="rect">
            <a:avLst/>
          </a:prstGeom>
          <a:solidFill>
            <a:srgbClr val="FBFBFB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endParaRPr lang="zh-CN" altLang="en-US" sz="20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4"/>
          <p:cNvSpPr>
            <a:spLocks noChangeArrowheads="1"/>
          </p:cNvSpPr>
          <p:nvPr/>
        </p:nvSpPr>
        <p:spPr bwMode="auto">
          <a:xfrm>
            <a:off x="539552" y="2996952"/>
            <a:ext cx="2088232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zh-CN" altLang="en-US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执行前</a:t>
            </a:r>
          </a:p>
        </p:txBody>
      </p:sp>
      <p:sp>
        <p:nvSpPr>
          <p:cNvPr id="36" name="矩形 4"/>
          <p:cNvSpPr>
            <a:spLocks noChangeArrowheads="1"/>
          </p:cNvSpPr>
          <p:nvPr/>
        </p:nvSpPr>
        <p:spPr bwMode="auto">
          <a:xfrm>
            <a:off x="5436096" y="1501902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4"/>
          <p:cNvSpPr>
            <a:spLocks noChangeArrowheads="1"/>
          </p:cNvSpPr>
          <p:nvPr/>
        </p:nvSpPr>
        <p:spPr bwMode="auto">
          <a:xfrm>
            <a:off x="5468108" y="2290412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8" name="图片 37" descr="问号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38" y="3512456"/>
            <a:ext cx="1099363" cy="854677"/>
          </a:xfrm>
          <a:prstGeom prst="rect">
            <a:avLst/>
          </a:prstGeom>
        </p:spPr>
      </p:pic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6142922" y="4175425"/>
            <a:ext cx="2281396" cy="1951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两条指令的源操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作数分别是什么？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执行后，栈段有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/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变化吗？</a:t>
            </a:r>
          </a:p>
        </p:txBody>
      </p:sp>
    </p:spTree>
    <p:extLst>
      <p:ext uri="{BB962C8B-B14F-4D97-AF65-F5344CB8AC3E}">
        <p14:creationId xmlns:p14="http://schemas.microsoft.com/office/powerpoint/2010/main" val="137072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3.33333E-6 -0.10764 C -3.33333E-6 -0.15602 0.11927 -0.21528 0.2165 -0.21528 L 0.43351 -0.21528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67" y="-1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L -2.5E-6 -0.14467 C -2.5E-6 -0.20949 0.09358 -0.28912 0.16979 -0.28912 L 0.33959 -0.28912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-14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07407E-6 L -2.77778E-7 0.1393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6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96296E-6 L -3.61111E-6 0.1379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4.44444E-6 L -2.22222E-6 -0.125 C -2.22222E-6 -0.18102 0.1191 -0.25 0.21597 -0.25 L 0.43212 -0.25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97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6 L 3.88889E-6 -0.16065 C 3.88889E-6 -0.23264 0.0934 -0.32107 0.16961 -0.32107 L 0.33941 -0.32107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62" y="-16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0.13935 L -2.77778E-7 0.28635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3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13797 L -3.61111E-6 0.2849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9" grpId="0"/>
      <p:bldP spid="30" grpId="0"/>
      <p:bldP spid="33" grpId="0" animBg="1"/>
      <p:bldP spid="33" grpId="1" animBg="1"/>
      <p:bldP spid="34" grpId="0" animBg="1"/>
      <p:bldP spid="3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：栈的使用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26993" y="1628799"/>
            <a:ext cx="7389452" cy="1571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命令，设置栈段地址为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073FH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，栈顶指针为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0500H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；执行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中指令观察栈段及寄存器的值。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执行 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PUSH [0]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，观察结果。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43614" y="1484784"/>
            <a:ext cx="8032842" cy="1956406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38" name="Picture 2" descr="E:\仝德志文件，勿删！\03-参考文档\！PPT图片及版面资源\06-PPT精选插图\05-头像\生气头像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1389" y="5545262"/>
            <a:ext cx="1027112" cy="102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2"/>
          <p:cNvSpPr>
            <a:spLocks noChangeArrowheads="1"/>
          </p:cNvSpPr>
          <p:nvPr/>
        </p:nvSpPr>
        <p:spPr bwMode="auto">
          <a:xfrm>
            <a:off x="2139755" y="6021288"/>
            <a:ext cx="5040560" cy="551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执行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后内存被破坏，可能与系统有关。</a:t>
            </a: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826992" y="3789039"/>
            <a:ext cx="7705447" cy="1609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如何知道一段内存空间被当做栈使用？  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执行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时，如何知道哪个单元是栈顶单元？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43614" y="3645024"/>
            <a:ext cx="8032842" cy="1753686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44" name="图片 43" descr="问号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57" y="3425239"/>
            <a:ext cx="1099363" cy="854677"/>
          </a:xfrm>
          <a:prstGeom prst="rect">
            <a:avLst/>
          </a:prstGeom>
        </p:spPr>
      </p:pic>
      <p:sp>
        <p:nvSpPr>
          <p:cNvPr id="49" name="矩形 4"/>
          <p:cNvSpPr>
            <a:spLocks noChangeArrowheads="1"/>
          </p:cNvSpPr>
          <p:nvPr/>
        </p:nvSpPr>
        <p:spPr bwMode="auto">
          <a:xfrm>
            <a:off x="7092280" y="3775769"/>
            <a:ext cx="648072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endParaRPr lang="zh-CN" altLang="en-US" sz="28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"/>
          <p:cNvSpPr>
            <a:spLocks noChangeArrowheads="1"/>
          </p:cNvSpPr>
          <p:nvPr/>
        </p:nvSpPr>
        <p:spPr bwMode="auto">
          <a:xfrm>
            <a:off x="1100572" y="4788004"/>
            <a:ext cx="7431867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总是指向栈顶，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自动根据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PUSH POP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变化。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241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 animBg="1"/>
      <p:bldP spid="49" grpId="0"/>
      <p:bldP spid="5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75656" y="2502462"/>
            <a:ext cx="6769172" cy="1142562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SS=3000H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DS=1000H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SP= 0 H</a:t>
            </a:r>
            <a:r>
              <a:rPr lang="zh-CN" altLang="en-US" sz="2000" b="1" dirty="0">
                <a:ea typeface="微软雅黑" panose="020B0503020204020204" pitchFamily="34" charset="-122"/>
              </a:rPr>
              <a:t>，指令：</a:t>
            </a:r>
            <a:r>
              <a:rPr lang="en-US" altLang="zh-CN" sz="2000" b="1" dirty="0">
                <a:ea typeface="微软雅黑" panose="020B0503020204020204" pitchFamily="34" charset="-122"/>
              </a:rPr>
              <a:t>PUSH [3000H]</a:t>
            </a:r>
            <a:r>
              <a:rPr lang="zh-CN" altLang="en-US" sz="2000" b="1" dirty="0">
                <a:ea typeface="微软雅黑" panose="020B0503020204020204" pitchFamily="34" charset="-122"/>
              </a:rPr>
              <a:t>，源操作数地址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，目标操作数地址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。执行后</a:t>
            </a:r>
            <a:r>
              <a:rPr lang="en-US" altLang="zh-CN" sz="2000" b="1" dirty="0">
                <a:ea typeface="微软雅黑" panose="020B0503020204020204" pitchFamily="34" charset="-122"/>
              </a:rPr>
              <a:t>SP</a:t>
            </a:r>
            <a:r>
              <a:rPr lang="zh-CN" altLang="en-US" sz="2000" b="1" dirty="0">
                <a:ea typeface="微软雅黑" panose="020B0503020204020204" pitchFamily="34" charset="-122"/>
              </a:rPr>
              <a:t>的值为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1475656" y="3861049"/>
            <a:ext cx="6769173" cy="889900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接上题，执行  </a:t>
            </a:r>
            <a:r>
              <a:rPr lang="en-US" altLang="zh-CN" sz="2000" b="1" dirty="0">
                <a:ea typeface="微软雅黑" panose="020B0503020204020204" pitchFamily="34" charset="-122"/>
              </a:rPr>
              <a:t>POP AX</a:t>
            </a:r>
            <a:r>
              <a:rPr lang="zh-CN" altLang="en-US" sz="2000" b="1" dirty="0">
                <a:ea typeface="微软雅黑" panose="020B0503020204020204" pitchFamily="34" charset="-122"/>
              </a:rPr>
              <a:t>，指令的源操作数地址是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 ，执行后</a:t>
            </a:r>
            <a:r>
              <a:rPr lang="en-US" altLang="zh-CN" sz="2000" b="1" dirty="0">
                <a:ea typeface="微软雅黑" panose="020B0503020204020204" pitchFamily="34" charset="-122"/>
              </a:rPr>
              <a:t>SP</a:t>
            </a:r>
            <a:r>
              <a:rPr lang="zh-CN" altLang="en-US" sz="2000" b="1" dirty="0">
                <a:ea typeface="微软雅黑" panose="020B0503020204020204" pitchFamily="34" charset="-122"/>
              </a:rPr>
              <a:t>的值是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 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5656" y="4987372"/>
            <a:ext cx="6769172" cy="88990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当前指令的段地址</a:t>
            </a:r>
            <a:r>
              <a:rPr lang="en-US" altLang="zh-CN" sz="2000" b="1" dirty="0">
                <a:ea typeface="微软雅黑" panose="020B0503020204020204" pitchFamily="34" charset="-122"/>
              </a:rPr>
              <a:t>CS=4000H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IP=3FFH</a:t>
            </a:r>
            <a:r>
              <a:rPr lang="zh-CN" altLang="en-US" sz="2000" b="1" dirty="0">
                <a:ea typeface="微软雅黑" panose="020B0503020204020204" pitchFamily="34" charset="-122"/>
              </a:rPr>
              <a:t>，当前指令的物理地址是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5444" y="1484784"/>
            <a:ext cx="6769173" cy="838667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DS=2000H</a:t>
            </a:r>
            <a:r>
              <a:rPr lang="zh-CN" altLang="en-US" sz="2000" b="1" dirty="0">
                <a:ea typeface="微软雅黑" panose="020B0503020204020204" pitchFamily="34" charset="-122"/>
              </a:rPr>
              <a:t>，指令： </a:t>
            </a:r>
            <a:r>
              <a:rPr lang="en-US" altLang="zh-CN" sz="2000" b="1" dirty="0">
                <a:ea typeface="微软雅黑" panose="020B0503020204020204" pitchFamily="34" charset="-122"/>
              </a:rPr>
              <a:t>MOV  DX</a:t>
            </a:r>
            <a:r>
              <a:rPr lang="zh-CN" altLang="en-US" sz="2000" b="1" dirty="0">
                <a:ea typeface="微软雅黑" panose="020B0503020204020204" pitchFamily="34" charset="-122"/>
              </a:rPr>
              <a:t>， </a:t>
            </a:r>
            <a:r>
              <a:rPr lang="en-US" altLang="zh-CN" sz="2000" b="1" dirty="0">
                <a:ea typeface="微软雅黑" panose="020B0503020204020204" pitchFamily="34" charset="-122"/>
              </a:rPr>
              <a:t>[300H]</a:t>
            </a:r>
            <a:r>
              <a:rPr lang="zh-CN" altLang="en-US" sz="2000" b="1" dirty="0">
                <a:ea typeface="微软雅黑" panose="020B0503020204020204" pitchFamily="34" charset="-122"/>
              </a:rPr>
              <a:t>的源操作数物理地址是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       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 。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矩形 9"/>
          <p:cNvSpPr/>
          <p:nvPr/>
        </p:nvSpPr>
        <p:spPr>
          <a:xfrm>
            <a:off x="899592" y="1484784"/>
            <a:ext cx="575852" cy="8386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9592" y="2502461"/>
            <a:ext cx="575852" cy="11425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99592" y="3861048"/>
            <a:ext cx="575852" cy="889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99592" y="4987370"/>
            <a:ext cx="575852" cy="889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84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200897" y="433861"/>
            <a:ext cx="3318266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检测点答案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75656" y="2502462"/>
            <a:ext cx="6769172" cy="1142562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13000H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13001H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3FFFEH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3FFFFH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FFFEH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75656" y="3861049"/>
            <a:ext cx="6769173" cy="889900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3FFFEH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3FFFFH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5656" y="4987372"/>
            <a:ext cx="6769172" cy="88990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403FFH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5444" y="1484784"/>
            <a:ext cx="6769173" cy="838667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20300H</a:t>
            </a:r>
            <a:r>
              <a:rPr lang="zh-CN" altLang="en-US" sz="2000" b="1" dirty="0"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ea typeface="微软雅黑" panose="020B0503020204020204" pitchFamily="34" charset="-122"/>
              </a:rPr>
              <a:t>203001H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9592" y="1484784"/>
            <a:ext cx="575852" cy="8386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9592" y="2502461"/>
            <a:ext cx="575852" cy="11425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99592" y="3861048"/>
            <a:ext cx="575852" cy="889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99592" y="4987370"/>
            <a:ext cx="575852" cy="889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0145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922452" y="404664"/>
            <a:ext cx="1299095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小结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流程图: 可选过程 3"/>
          <p:cNvSpPr/>
          <p:nvPr/>
        </p:nvSpPr>
        <p:spPr>
          <a:xfrm>
            <a:off x="1990840" y="1806475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采用分段的方式管理存储器，有四种类型的段。段加偏移构成逻辑地址。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1979712" y="2958603"/>
            <a:ext cx="6397584" cy="902445"/>
          </a:xfrm>
          <a:prstGeom prst="flowChartAlternateProcess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代码段与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决定当前指令的地址，指令中用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]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表示存储器操作数，括号内的值为偏移地址。</a:t>
            </a:r>
          </a:p>
        </p:txBody>
      </p:sp>
      <p:sp>
        <p:nvSpPr>
          <p:cNvPr id="6" name="椭圆 5"/>
          <p:cNvSpPr/>
          <p:nvPr/>
        </p:nvSpPr>
        <p:spPr>
          <a:xfrm>
            <a:off x="971600" y="19455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971600" y="312645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流程图: 可选过程 11"/>
          <p:cNvSpPr/>
          <p:nvPr/>
        </p:nvSpPr>
        <p:spPr>
          <a:xfrm>
            <a:off x="1979712" y="4149080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对栈段进行访问，采用先进后出，指针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总是指向栈顶。</a:t>
            </a:r>
          </a:p>
        </p:txBody>
      </p:sp>
      <p:sp>
        <p:nvSpPr>
          <p:cNvPr id="13" name="椭圆 12"/>
          <p:cNvSpPr/>
          <p:nvPr/>
        </p:nvSpPr>
        <p:spPr>
          <a:xfrm>
            <a:off x="971600" y="4316929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301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29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966244" y="4268837"/>
            <a:ext cx="3177392" cy="117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的指令格式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285750" defTabSz="762000">
              <a:buFont typeface="Wingdings" pitchFamily="2" charset="2"/>
              <a:buChar char="u"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8086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的寻址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1835697" y="2117062"/>
            <a:ext cx="6985934" cy="1956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15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寻址</a:t>
            </a:r>
          </a:p>
        </p:txBody>
      </p:sp>
    </p:spTree>
    <p:extLst>
      <p:ext uri="{BB962C8B-B14F-4D97-AF65-F5344CB8AC3E}">
        <p14:creationId xmlns:p14="http://schemas.microsoft.com/office/powerpoint/2010/main" val="27366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汇编语言指令的特点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2159134" y="5053652"/>
            <a:ext cx="5941258" cy="1039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5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 BX</a:t>
            </a:r>
            <a:endParaRPr lang="zh-CN" altLang="en-US" sz="1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755576" y="4217725"/>
            <a:ext cx="2664296" cy="720080"/>
          </a:xfrm>
          <a:prstGeom prst="cloudCallout">
            <a:avLst>
              <a:gd name="adj1" fmla="val 39696"/>
              <a:gd name="adj2" fmla="val 80408"/>
            </a:avLst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操作码助记符与动作对应</a:t>
            </a:r>
          </a:p>
        </p:txBody>
      </p:sp>
      <p:sp>
        <p:nvSpPr>
          <p:cNvPr id="24" name="云形标注 23"/>
          <p:cNvSpPr/>
          <p:nvPr/>
        </p:nvSpPr>
        <p:spPr>
          <a:xfrm>
            <a:off x="3923928" y="4135239"/>
            <a:ext cx="2304256" cy="720080"/>
          </a:xfrm>
          <a:prstGeom prst="cloudCallout">
            <a:avLst>
              <a:gd name="adj1" fmla="val 12461"/>
              <a:gd name="adj2" fmla="val 100161"/>
            </a:avLst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目标操作数</a:t>
            </a:r>
          </a:p>
        </p:txBody>
      </p:sp>
      <p:sp>
        <p:nvSpPr>
          <p:cNvPr id="25" name="云形标注 24"/>
          <p:cNvSpPr/>
          <p:nvPr/>
        </p:nvSpPr>
        <p:spPr>
          <a:xfrm>
            <a:off x="6588224" y="4135239"/>
            <a:ext cx="1872208" cy="720080"/>
          </a:xfrm>
          <a:prstGeom prst="cloudCallout">
            <a:avLst>
              <a:gd name="adj1" fmla="val -23254"/>
              <a:gd name="adj2" fmla="val 98750"/>
            </a:avLst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源操作数</a:t>
            </a:r>
          </a:p>
        </p:txBody>
      </p:sp>
      <p:sp>
        <p:nvSpPr>
          <p:cNvPr id="28" name="矩形 27"/>
          <p:cNvSpPr/>
          <p:nvPr/>
        </p:nvSpPr>
        <p:spPr>
          <a:xfrm>
            <a:off x="611560" y="3970028"/>
            <a:ext cx="8064896" cy="2051260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043609" y="2154454"/>
            <a:ext cx="2205004" cy="581099"/>
            <a:chOff x="244645" y="3186673"/>
            <a:chExt cx="3528392" cy="581099"/>
          </a:xfrm>
        </p:grpSpPr>
        <p:sp>
          <p:nvSpPr>
            <p:cNvPr id="48" name="圆角矩形 47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1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汇编指令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290935" y="2154454"/>
            <a:ext cx="4953474" cy="581099"/>
            <a:chOff x="244645" y="3186673"/>
            <a:chExt cx="6548882" cy="581099"/>
          </a:xfrm>
        </p:grpSpPr>
        <p:sp>
          <p:nvSpPr>
            <p:cNvPr id="53" name="圆角矩形 52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solidFill>
              <a:srgbClr val="1D8D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4" name="TextBox 6"/>
            <p:cNvSpPr txBox="1"/>
            <p:nvPr/>
          </p:nvSpPr>
          <p:spPr>
            <a:xfrm>
              <a:off x="317994" y="3266487"/>
              <a:ext cx="6475533" cy="452432"/>
            </a:xfrm>
            <a:prstGeom prst="rect">
              <a:avLst/>
            </a:prstGeom>
            <a:solidFill>
              <a:srgbClr val="1D8DE5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助记符形式的指令。如：</a:t>
              </a:r>
              <a:r>
                <a:rPr lang="en-US" altLang="zh-CN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MOV  AX</a:t>
              </a: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BX</a:t>
              </a:r>
              <a:endParaRPr lang="zh-CN" altLang="en-US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043609" y="1484784"/>
            <a:ext cx="2205004" cy="581099"/>
            <a:chOff x="244645" y="3186673"/>
            <a:chExt cx="3528392" cy="581099"/>
          </a:xfrm>
        </p:grpSpPr>
        <p:sp>
          <p:nvSpPr>
            <p:cNvPr id="56" name="圆角矩形 55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7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机器指令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290935" y="1484784"/>
            <a:ext cx="4953474" cy="581099"/>
            <a:chOff x="244645" y="3186673"/>
            <a:chExt cx="6548882" cy="581099"/>
          </a:xfrm>
        </p:grpSpPr>
        <p:sp>
          <p:nvSpPr>
            <p:cNvPr id="59" name="圆角矩形 58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solidFill>
              <a:srgbClr val="FF32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0" name="TextBox 6"/>
            <p:cNvSpPr txBox="1"/>
            <p:nvPr/>
          </p:nvSpPr>
          <p:spPr>
            <a:xfrm>
              <a:off x="317995" y="3266487"/>
              <a:ext cx="6475532" cy="452432"/>
            </a:xfrm>
            <a:prstGeom prst="rect">
              <a:avLst/>
            </a:prstGeom>
            <a:solidFill>
              <a:srgbClr val="FF3255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指令的二进制代码形式。如：</a:t>
              </a:r>
              <a:r>
                <a:rPr lang="en-US" altLang="zh-CN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89D8H</a:t>
              </a:r>
              <a:endParaRPr lang="zh-CN" altLang="en-US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1" name="圆角矩形 60"/>
          <p:cNvSpPr/>
          <p:nvPr/>
        </p:nvSpPr>
        <p:spPr>
          <a:xfrm>
            <a:off x="1043609" y="2917584"/>
            <a:ext cx="7200800" cy="583423"/>
          </a:xfrm>
          <a:prstGeom prst="roundRect">
            <a:avLst>
              <a:gd name="adj" fmla="val 5417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语法结构符合人类语言的共同特点：动作＋对象</a:t>
            </a:r>
          </a:p>
        </p:txBody>
      </p:sp>
      <p:sp>
        <p:nvSpPr>
          <p:cNvPr id="62" name="矩形 61"/>
          <p:cNvSpPr/>
          <p:nvPr/>
        </p:nvSpPr>
        <p:spPr>
          <a:xfrm>
            <a:off x="611560" y="1371661"/>
            <a:ext cx="8064896" cy="223639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284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7" grpId="0" animBg="1"/>
      <p:bldP spid="24" grpId="0" animBg="1"/>
      <p:bldP spid="25" grpId="0" animBg="1"/>
      <p:bldP spid="28" grpId="0" animBg="1"/>
      <p:bldP spid="61" grpId="0" animBg="1"/>
      <p:bldP spid="6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汇编语言指令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5" name="组合 4"/>
          <p:cNvGrpSpPr/>
          <p:nvPr/>
        </p:nvGrpSpPr>
        <p:grpSpPr>
          <a:xfrm>
            <a:off x="547278" y="1916832"/>
            <a:ext cx="1276627" cy="720080"/>
            <a:chOff x="244645" y="3186673"/>
            <a:chExt cx="3528392" cy="581099"/>
          </a:xfrm>
        </p:grpSpPr>
        <p:sp>
          <p:nvSpPr>
            <p:cNvPr id="6" name="圆角矩形 5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操作码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915430" y="1916832"/>
            <a:ext cx="6897689" cy="720080"/>
            <a:chOff x="244645" y="3186673"/>
            <a:chExt cx="6548882" cy="581099"/>
          </a:xfrm>
          <a:solidFill>
            <a:srgbClr val="FF3255"/>
          </a:solidFill>
        </p:grpSpPr>
        <p:sp>
          <p:nvSpPr>
            <p:cNvPr id="9" name="圆角矩形 8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0" name="TextBox 6"/>
            <p:cNvSpPr txBox="1"/>
            <p:nvPr/>
          </p:nvSpPr>
          <p:spPr>
            <a:xfrm>
              <a:off x="317994" y="3266487"/>
              <a:ext cx="6475533" cy="4524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由设计人员定义，每种操作唯一对应一个操作码，规定操作类型。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39552" y="2852935"/>
            <a:ext cx="1276627" cy="720080"/>
            <a:chOff x="244645" y="3186673"/>
            <a:chExt cx="3528392" cy="581099"/>
          </a:xfrm>
        </p:grpSpPr>
        <p:sp>
          <p:nvSpPr>
            <p:cNvPr id="20" name="圆角矩形 19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1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操作数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907704" y="2852935"/>
            <a:ext cx="6897689" cy="720080"/>
            <a:chOff x="244645" y="3186673"/>
            <a:chExt cx="6548882" cy="581099"/>
          </a:xfrm>
          <a:solidFill>
            <a:srgbClr val="1D8DE5"/>
          </a:solidFill>
        </p:grpSpPr>
        <p:sp>
          <p:nvSpPr>
            <p:cNvPr id="23" name="圆角矩形 22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4" name="TextBox 6"/>
            <p:cNvSpPr txBox="1"/>
            <p:nvPr/>
          </p:nvSpPr>
          <p:spPr>
            <a:xfrm>
              <a:off x="317994" y="3266487"/>
              <a:ext cx="6475533" cy="41735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可由编程人员采用不同方式给出。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47278" y="3789040"/>
            <a:ext cx="1276627" cy="720080"/>
            <a:chOff x="244645" y="3186673"/>
            <a:chExt cx="3528392" cy="581099"/>
          </a:xfrm>
        </p:grpSpPr>
        <p:sp>
          <p:nvSpPr>
            <p:cNvPr id="26" name="圆角矩形 25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7" name="TextBox 6"/>
            <p:cNvSpPr txBox="1"/>
            <p:nvPr/>
          </p:nvSpPr>
          <p:spPr>
            <a:xfrm>
              <a:off x="317995" y="3266487"/>
              <a:ext cx="3455042" cy="306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指令格式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915430" y="3789040"/>
            <a:ext cx="6897689" cy="720080"/>
            <a:chOff x="244645" y="3186673"/>
            <a:chExt cx="6548882" cy="581099"/>
          </a:xfrm>
          <a:solidFill>
            <a:srgbClr val="FF9300"/>
          </a:solidFill>
        </p:grpSpPr>
        <p:sp>
          <p:nvSpPr>
            <p:cNvPr id="29" name="圆角矩形 28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0" name="TextBox 6"/>
            <p:cNvSpPr txBox="1"/>
            <p:nvPr/>
          </p:nvSpPr>
          <p:spPr>
            <a:xfrm>
              <a:off x="317994" y="3266487"/>
              <a:ext cx="6475533" cy="3061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指令中对操作码、操作数的编码方式。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045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的指令格式与编码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5" name="组合 4"/>
          <p:cNvGrpSpPr/>
          <p:nvPr/>
        </p:nvGrpSpPr>
        <p:grpSpPr>
          <a:xfrm>
            <a:off x="1259632" y="2060848"/>
            <a:ext cx="1276627" cy="720080"/>
            <a:chOff x="244645" y="3186673"/>
            <a:chExt cx="3528392" cy="581099"/>
          </a:xfrm>
        </p:grpSpPr>
        <p:sp>
          <p:nvSpPr>
            <p:cNvPr id="6" name="圆角矩形 5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操作码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139567" y="2060853"/>
            <a:ext cx="1792473" cy="720081"/>
            <a:chOff x="244645" y="3186673"/>
            <a:chExt cx="6548882" cy="581099"/>
          </a:xfrm>
          <a:solidFill>
            <a:srgbClr val="FF3255"/>
          </a:solidFill>
        </p:grpSpPr>
        <p:sp>
          <p:nvSpPr>
            <p:cNvPr id="9" name="圆角矩形 8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0" name="TextBox 6"/>
            <p:cNvSpPr txBox="1"/>
            <p:nvPr/>
          </p:nvSpPr>
          <p:spPr>
            <a:xfrm>
              <a:off x="317997" y="3266484"/>
              <a:ext cx="6475530" cy="33680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目标操作数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731854" y="2060848"/>
            <a:ext cx="1936490" cy="720080"/>
            <a:chOff x="244645" y="3186673"/>
            <a:chExt cx="6548882" cy="581099"/>
          </a:xfrm>
          <a:solidFill>
            <a:srgbClr val="1D8DE5"/>
          </a:solidFill>
        </p:grpSpPr>
        <p:sp>
          <p:nvSpPr>
            <p:cNvPr id="12" name="圆角矩形 11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3" name="TextBox 6"/>
            <p:cNvSpPr txBox="1"/>
            <p:nvPr/>
          </p:nvSpPr>
          <p:spPr>
            <a:xfrm>
              <a:off x="317994" y="3266487"/>
              <a:ext cx="6475533" cy="33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源操作数</a:t>
              </a:r>
            </a:p>
          </p:txBody>
        </p:sp>
      </p:grpSp>
      <p:sp>
        <p:nvSpPr>
          <p:cNvPr id="14" name="矩形 13"/>
          <p:cNvSpPr/>
          <p:nvPr/>
        </p:nvSpPr>
        <p:spPr>
          <a:xfrm>
            <a:off x="2915816" y="1986291"/>
            <a:ext cx="2232248" cy="86664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80112" y="1988840"/>
            <a:ext cx="2232248" cy="866645"/>
          </a:xfrm>
          <a:prstGeom prst="rect">
            <a:avLst/>
          </a:prstGeom>
          <a:noFill/>
          <a:ln>
            <a:solidFill>
              <a:srgbClr val="1D8DE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826993" y="3632833"/>
            <a:ext cx="7058249" cy="1609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操作码必备，操作数可以是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个、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个或没有。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指令的编码格式：由机器识别和执行。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指令长度为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1~6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个字节。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43614" y="3488818"/>
            <a:ext cx="7672802" cy="1956406"/>
          </a:xfrm>
          <a:prstGeom prst="rect">
            <a:avLst/>
          </a:prstGeom>
          <a:ln>
            <a:solidFill>
              <a:srgbClr val="36B2E6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43614" y="1710768"/>
            <a:ext cx="7672802" cy="1358192"/>
          </a:xfrm>
          <a:prstGeom prst="rect">
            <a:avLst/>
          </a:prstGeom>
          <a:ln w="3175">
            <a:solidFill>
              <a:srgbClr val="36B2E6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33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工欲善其事，必先利其器：</a:t>
            </a:r>
            <a:r>
              <a:rPr lang="en-US" altLang="zh-CN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21" name="组合 20"/>
          <p:cNvGrpSpPr/>
          <p:nvPr/>
        </p:nvGrpSpPr>
        <p:grpSpPr>
          <a:xfrm>
            <a:off x="1601612" y="1546332"/>
            <a:ext cx="5912884" cy="504367"/>
            <a:chOff x="3711527" y="2082923"/>
            <a:chExt cx="6704159" cy="504301"/>
          </a:xfrm>
          <a:noFill/>
        </p:grpSpPr>
        <p:sp>
          <p:nvSpPr>
            <p:cNvPr id="25" name="矩形 24"/>
            <p:cNvSpPr/>
            <p:nvPr/>
          </p:nvSpPr>
          <p:spPr>
            <a:xfrm>
              <a:off x="4038583" y="2082923"/>
              <a:ext cx="6355394" cy="43031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-R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命令，查看、改变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寄存器的内容</a:t>
              </a: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grpFill/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1608996" y="2244764"/>
            <a:ext cx="5912884" cy="504366"/>
            <a:chOff x="3711527" y="2082923"/>
            <a:chExt cx="6704159" cy="504301"/>
          </a:xfrm>
          <a:noFill/>
        </p:grpSpPr>
        <p:sp>
          <p:nvSpPr>
            <p:cNvPr id="30" name="矩形 29"/>
            <p:cNvSpPr/>
            <p:nvPr/>
          </p:nvSpPr>
          <p:spPr>
            <a:xfrm>
              <a:off x="4030210" y="2082923"/>
              <a:ext cx="6363766" cy="43031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-D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命令，查看内存的内容</a:t>
              </a: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grpFill/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1601612" y="2917223"/>
            <a:ext cx="5912884" cy="504367"/>
            <a:chOff x="3711527" y="2082923"/>
            <a:chExt cx="6704159" cy="504301"/>
          </a:xfrm>
          <a:noFill/>
        </p:grpSpPr>
        <p:sp>
          <p:nvSpPr>
            <p:cNvPr id="35" name="矩形 34"/>
            <p:cNvSpPr/>
            <p:nvPr/>
          </p:nvSpPr>
          <p:spPr>
            <a:xfrm>
              <a:off x="4038583" y="2082923"/>
              <a:ext cx="6355394" cy="43031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-E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命令，改写内存的内容</a:t>
              </a: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grpFill/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1608996" y="3615658"/>
            <a:ext cx="5912884" cy="504367"/>
            <a:chOff x="3711527" y="2082923"/>
            <a:chExt cx="6704159" cy="504301"/>
          </a:xfrm>
          <a:solidFill>
            <a:srgbClr val="FF3255"/>
          </a:solidFill>
        </p:grpSpPr>
        <p:sp>
          <p:nvSpPr>
            <p:cNvPr id="40" name="矩形 39"/>
            <p:cNvSpPr/>
            <p:nvPr/>
          </p:nvSpPr>
          <p:spPr>
            <a:xfrm>
              <a:off x="4030210" y="2082923"/>
              <a:ext cx="6363766" cy="43031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-U 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命令，将内存中机器指令翻译成汇编指令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grpFill/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1604060" y="4242421"/>
            <a:ext cx="5912884" cy="504367"/>
            <a:chOff x="3711527" y="2082923"/>
            <a:chExt cx="6704159" cy="504301"/>
          </a:xfrm>
        </p:grpSpPr>
        <p:sp>
          <p:nvSpPr>
            <p:cNvPr id="45" name="矩形 44"/>
            <p:cNvSpPr/>
            <p:nvPr/>
          </p:nvSpPr>
          <p:spPr>
            <a:xfrm>
              <a:off x="4035807" y="2082923"/>
              <a:ext cx="6358170" cy="43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-T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命令，执行一条机器指令</a:t>
              </a: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/>
          <p:cNvGrpSpPr/>
          <p:nvPr/>
        </p:nvGrpSpPr>
        <p:grpSpPr>
          <a:xfrm>
            <a:off x="1611444" y="4940857"/>
            <a:ext cx="5912884" cy="504367"/>
            <a:chOff x="3711527" y="2082923"/>
            <a:chExt cx="6704159" cy="504301"/>
          </a:xfrm>
        </p:grpSpPr>
        <p:sp>
          <p:nvSpPr>
            <p:cNvPr id="50" name="矩形 49"/>
            <p:cNvSpPr/>
            <p:nvPr/>
          </p:nvSpPr>
          <p:spPr>
            <a:xfrm>
              <a:off x="4027435" y="2082923"/>
              <a:ext cx="6355394" cy="43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-A 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命令，用汇编指令格式在内存中写入指令</a:t>
              </a: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50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实验</a:t>
            </a:r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：指令格式与编码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724485" y="1628800"/>
            <a:ext cx="5432500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debug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观测如下指令的编码。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95735" y="2767392"/>
            <a:ext cx="3250245" cy="423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NOP</a:t>
            </a:r>
            <a:endParaRPr lang="en-US" altLang="zh-CN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95735" y="3196025"/>
            <a:ext cx="3250245" cy="423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INC </a:t>
            </a: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</a:p>
        </p:txBody>
      </p:sp>
      <p:sp>
        <p:nvSpPr>
          <p:cNvPr id="18" name="矩形 17"/>
          <p:cNvSpPr/>
          <p:nvPr/>
        </p:nvSpPr>
        <p:spPr>
          <a:xfrm>
            <a:off x="2195735" y="3735765"/>
            <a:ext cx="3250245" cy="46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,1000H</a:t>
            </a:r>
            <a:endParaRPr lang="en-US" altLang="zh-CN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95735" y="4164398"/>
            <a:ext cx="3460195" cy="46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[1000H]</a:t>
            </a:r>
          </a:p>
        </p:txBody>
      </p:sp>
      <p:sp>
        <p:nvSpPr>
          <p:cNvPr id="22" name="矩形 21"/>
          <p:cNvSpPr/>
          <p:nvPr/>
        </p:nvSpPr>
        <p:spPr>
          <a:xfrm>
            <a:off x="2195736" y="4708897"/>
            <a:ext cx="5112568" cy="46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 </a:t>
            </a: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WORD PTR 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[1000H], </a:t>
            </a:r>
            <a:r>
              <a:rPr lang="en-US" altLang="zh-CN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FFFFH</a:t>
            </a:r>
            <a:endParaRPr lang="en-US" altLang="zh-CN" b="1" dirty="0">
              <a:solidFill>
                <a:srgbClr val="36B2E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619250" y="2636912"/>
            <a:ext cx="5905500" cy="2736304"/>
          </a:xfrm>
          <a:prstGeom prst="rect">
            <a:avLst/>
          </a:prstGeom>
          <a:ln>
            <a:solidFill>
              <a:srgbClr val="36B2E6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1331379" y="6071037"/>
            <a:ext cx="6048933" cy="551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WORD PTR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是伪指令，指明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[1000H]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是字存储单元。</a:t>
            </a:r>
          </a:p>
        </p:txBody>
      </p:sp>
      <p:pic>
        <p:nvPicPr>
          <p:cNvPr id="13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3568" y="5373216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56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  <p:bldP spid="22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35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966244" y="4268837"/>
            <a:ext cx="3177392" cy="117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285750" defTabSz="762000"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的指令格式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285750" defTabSz="762000">
              <a:buFont typeface="Wingdings" pitchFamily="2" charset="2"/>
              <a:buChar char="u"/>
            </a:pP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8086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的寻址*****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1835697" y="2117062"/>
            <a:ext cx="6985934" cy="1956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15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寻址</a:t>
            </a:r>
          </a:p>
        </p:txBody>
      </p:sp>
    </p:spTree>
    <p:extLst>
      <p:ext uri="{BB962C8B-B14F-4D97-AF65-F5344CB8AC3E}">
        <p14:creationId xmlns:p14="http://schemas.microsoft.com/office/powerpoint/2010/main" val="12841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寻址：获取操作数的地址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827584" y="1916832"/>
            <a:ext cx="2448272" cy="295232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1" name="TextBox 6"/>
          <p:cNvSpPr txBox="1"/>
          <p:nvPr/>
        </p:nvSpPr>
        <p:spPr>
          <a:xfrm>
            <a:off x="1439440" y="5025078"/>
            <a:ext cx="1224136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CPU</a:t>
            </a:r>
          </a:p>
        </p:txBody>
      </p:sp>
      <p:sp>
        <p:nvSpPr>
          <p:cNvPr id="32" name="TextBox 6"/>
          <p:cNvSpPr txBox="1"/>
          <p:nvPr/>
        </p:nvSpPr>
        <p:spPr>
          <a:xfrm>
            <a:off x="899592" y="2463231"/>
            <a:ext cx="543795" cy="189282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控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制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器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0000"/>
              </a:lnSpc>
            </a:pP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6"/>
          <p:cNvSpPr txBox="1"/>
          <p:nvPr/>
        </p:nvSpPr>
        <p:spPr>
          <a:xfrm>
            <a:off x="1942539" y="2463231"/>
            <a:ext cx="1224136" cy="41735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运算器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TextBox 6"/>
          <p:cNvSpPr txBox="1"/>
          <p:nvPr/>
        </p:nvSpPr>
        <p:spPr>
          <a:xfrm>
            <a:off x="1938059" y="3925621"/>
            <a:ext cx="1224136" cy="41735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寄存器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上下箭头 11"/>
          <p:cNvSpPr/>
          <p:nvPr/>
        </p:nvSpPr>
        <p:spPr>
          <a:xfrm>
            <a:off x="2483767" y="2880589"/>
            <a:ext cx="179809" cy="1045032"/>
          </a:xfrm>
          <a:prstGeom prst="upDownArrow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1443387" y="2708920"/>
            <a:ext cx="504056" cy="0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1474699" y="4149080"/>
            <a:ext cx="432048" cy="0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右箭头 17"/>
          <p:cNvSpPr/>
          <p:nvPr/>
        </p:nvSpPr>
        <p:spPr>
          <a:xfrm>
            <a:off x="3275856" y="2059189"/>
            <a:ext cx="4392488" cy="288032"/>
          </a:xfrm>
          <a:prstGeom prst="rightArrow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6" name="右箭头 35"/>
          <p:cNvSpPr/>
          <p:nvPr/>
        </p:nvSpPr>
        <p:spPr>
          <a:xfrm>
            <a:off x="3275856" y="2662906"/>
            <a:ext cx="4392488" cy="288032"/>
          </a:xfrm>
          <a:prstGeom prst="rightArrow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7" name="下箭头 36"/>
          <p:cNvSpPr/>
          <p:nvPr/>
        </p:nvSpPr>
        <p:spPr>
          <a:xfrm>
            <a:off x="3923928" y="2245548"/>
            <a:ext cx="269924" cy="1397817"/>
          </a:xfrm>
          <a:prstGeom prst="downArrow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8" name="下箭头 37"/>
          <p:cNvSpPr/>
          <p:nvPr/>
        </p:nvSpPr>
        <p:spPr>
          <a:xfrm>
            <a:off x="4268816" y="2872252"/>
            <a:ext cx="264011" cy="765546"/>
          </a:xfrm>
          <a:prstGeom prst="downArrow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9" name="下箭头 38"/>
          <p:cNvSpPr/>
          <p:nvPr/>
        </p:nvSpPr>
        <p:spPr>
          <a:xfrm>
            <a:off x="5649047" y="2263008"/>
            <a:ext cx="269924" cy="1397817"/>
          </a:xfrm>
          <a:prstGeom prst="downArrow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0" name="下箭头 39"/>
          <p:cNvSpPr/>
          <p:nvPr/>
        </p:nvSpPr>
        <p:spPr>
          <a:xfrm>
            <a:off x="6075460" y="2849618"/>
            <a:ext cx="224732" cy="799778"/>
          </a:xfrm>
          <a:prstGeom prst="downArrow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1" name="右箭头 40"/>
          <p:cNvSpPr/>
          <p:nvPr/>
        </p:nvSpPr>
        <p:spPr>
          <a:xfrm>
            <a:off x="3275856" y="3170583"/>
            <a:ext cx="4392488" cy="140395"/>
          </a:xfrm>
          <a:prstGeom prst="rightArrow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562351" y="3636686"/>
            <a:ext cx="1474416" cy="123247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a typeface="微软雅黑" panose="020B0503020204020204" pitchFamily="34" charset="-122"/>
              </a:rPr>
              <a:t>存储器</a:t>
            </a:r>
            <a:endParaRPr lang="en-US" altLang="zh-CN" dirty="0"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00000H</a:t>
            </a:r>
          </a:p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~</a:t>
            </a:r>
          </a:p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FFFFFH</a:t>
            </a:r>
          </a:p>
        </p:txBody>
      </p:sp>
      <p:sp>
        <p:nvSpPr>
          <p:cNvPr id="43" name="矩形 42"/>
          <p:cNvSpPr/>
          <p:nvPr/>
        </p:nvSpPr>
        <p:spPr>
          <a:xfrm>
            <a:off x="5398344" y="3638903"/>
            <a:ext cx="1474416" cy="123247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IO</a:t>
            </a:r>
          </a:p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0000H</a:t>
            </a:r>
          </a:p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~</a:t>
            </a:r>
          </a:p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FFFFH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V="1">
            <a:off x="4716016" y="2849618"/>
            <a:ext cx="0" cy="754726"/>
          </a:xfrm>
          <a:prstGeom prst="straightConnector1">
            <a:avLst/>
          </a:prstGeom>
          <a:ln>
            <a:solidFill>
              <a:srgbClr val="FD7A2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6516216" y="2849618"/>
            <a:ext cx="0" cy="754726"/>
          </a:xfrm>
          <a:prstGeom prst="straightConnector1">
            <a:avLst/>
          </a:prstGeom>
          <a:ln>
            <a:solidFill>
              <a:srgbClr val="FD7A2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左右箭头 49"/>
          <p:cNvSpPr/>
          <p:nvPr/>
        </p:nvSpPr>
        <p:spPr>
          <a:xfrm>
            <a:off x="6872549" y="4134300"/>
            <a:ext cx="579771" cy="20867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490072" y="3636686"/>
            <a:ext cx="970360" cy="123247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anose="020B0503020204020204" pitchFamily="34" charset="-122"/>
              </a:rPr>
              <a:t>IO</a:t>
            </a:r>
            <a:r>
              <a:rPr lang="zh-CN" altLang="en-US" dirty="0">
                <a:ea typeface="微软雅黑" panose="020B0503020204020204" pitchFamily="34" charset="-122"/>
              </a:rPr>
              <a:t>外设</a:t>
            </a:r>
          </a:p>
        </p:txBody>
      </p:sp>
      <p:sp>
        <p:nvSpPr>
          <p:cNvPr id="52" name="TextBox 6"/>
          <p:cNvSpPr txBox="1"/>
          <p:nvPr/>
        </p:nvSpPr>
        <p:spPr>
          <a:xfrm>
            <a:off x="7596932" y="1994526"/>
            <a:ext cx="1224136" cy="4173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DB</a:t>
            </a:r>
          </a:p>
        </p:txBody>
      </p:sp>
      <p:sp>
        <p:nvSpPr>
          <p:cNvPr id="53" name="TextBox 6"/>
          <p:cNvSpPr txBox="1"/>
          <p:nvPr/>
        </p:nvSpPr>
        <p:spPr>
          <a:xfrm>
            <a:off x="7614386" y="2585930"/>
            <a:ext cx="1224136" cy="4173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AB</a:t>
            </a:r>
          </a:p>
        </p:txBody>
      </p:sp>
      <p:sp>
        <p:nvSpPr>
          <p:cNvPr id="54" name="TextBox 6"/>
          <p:cNvSpPr txBox="1"/>
          <p:nvPr/>
        </p:nvSpPr>
        <p:spPr>
          <a:xfrm>
            <a:off x="7614386" y="3027914"/>
            <a:ext cx="1224136" cy="4173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CB</a:t>
            </a:r>
          </a:p>
        </p:txBody>
      </p:sp>
    </p:spTree>
    <p:extLst>
      <p:ext uri="{BB962C8B-B14F-4D97-AF65-F5344CB8AC3E}">
        <p14:creationId xmlns:p14="http://schemas.microsoft.com/office/powerpoint/2010/main" val="2387365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图示 14"/>
          <p:cNvGraphicFramePr/>
          <p:nvPr>
            <p:extLst>
              <p:ext uri="{D42A27DB-BD31-4B8C-83A1-F6EECF244321}">
                <p14:modId xmlns:p14="http://schemas.microsoft.com/office/powerpoint/2010/main" val="3798459571"/>
              </p:ext>
            </p:extLst>
          </p:nvPr>
        </p:nvGraphicFramePr>
        <p:xfrm>
          <a:off x="1043608" y="1772816"/>
          <a:ext cx="7272808" cy="388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寻址的分类</a:t>
            </a: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10913667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立即数寻址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圆角矩形 4"/>
          <p:cNvSpPr/>
          <p:nvPr/>
        </p:nvSpPr>
        <p:spPr>
          <a:xfrm>
            <a:off x="842646" y="1485161"/>
            <a:ext cx="7476920" cy="748115"/>
          </a:xfrm>
          <a:prstGeom prst="roundRect">
            <a:avLst>
              <a:gd name="adj" fmla="val 5417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操作数包含在指令中，是一个</a:t>
            </a:r>
            <a:r>
              <a:rPr lang="en-US" altLang="zh-CN" sz="2000" b="1" dirty="0">
                <a:ea typeface="微软雅黑" panose="020B0503020204020204" pitchFamily="34" charset="-122"/>
              </a:rPr>
              <a:t>16/8</a:t>
            </a:r>
            <a:r>
              <a:rPr lang="zh-CN" altLang="en-US" sz="2000" b="1" dirty="0">
                <a:ea typeface="微软雅黑" panose="020B0503020204020204" pitchFamily="34" charset="-122"/>
              </a:rPr>
              <a:t>位的常数，称为立即数。</a:t>
            </a: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827584" y="2592559"/>
            <a:ext cx="7491982" cy="1270095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7"/>
          <p:cNvSpPr txBox="1"/>
          <p:nvPr/>
        </p:nvSpPr>
        <p:spPr>
          <a:xfrm>
            <a:off x="1043608" y="2705507"/>
            <a:ext cx="6696743" cy="87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立即数只能用于源操作数。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源操作书和目的操作数的字长一致。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69" y="2492896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15"/>
          <p:cNvSpPr txBox="1"/>
          <p:nvPr/>
        </p:nvSpPr>
        <p:spPr>
          <a:xfrm rot="2771384">
            <a:off x="7653805" y="2699433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2786861" y="4293096"/>
            <a:ext cx="4953490" cy="61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 1000H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072172" y="4959379"/>
            <a:ext cx="7560840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WORD PTR [1000H],  1000H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281627" y="5661248"/>
            <a:ext cx="5555019" cy="551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上面两条指令源操作数寻址方式为立即数寻址。</a:t>
            </a:r>
          </a:p>
        </p:txBody>
      </p:sp>
    </p:spTree>
    <p:extLst>
      <p:ext uri="{BB962C8B-B14F-4D97-AF65-F5344CB8AC3E}">
        <p14:creationId xmlns:p14="http://schemas.microsoft.com/office/powerpoint/2010/main" val="149719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1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寄存器寻址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圆角矩形 4"/>
          <p:cNvSpPr/>
          <p:nvPr/>
        </p:nvSpPr>
        <p:spPr>
          <a:xfrm>
            <a:off x="842646" y="1485161"/>
            <a:ext cx="7476920" cy="748115"/>
          </a:xfrm>
          <a:prstGeom prst="roundRect">
            <a:avLst>
              <a:gd name="adj" fmla="val 5417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操作数包含在寄存器中，由指令指定寄存器名。</a:t>
            </a: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827584" y="2592559"/>
            <a:ext cx="7491982" cy="2276601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7"/>
          <p:cNvSpPr txBox="1"/>
          <p:nvPr/>
        </p:nvSpPr>
        <p:spPr>
          <a:xfrm>
            <a:off x="1043608" y="2705507"/>
            <a:ext cx="6696743" cy="2016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对于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位操作数，寄存器可以是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等。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对于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位操作数，寄存器可以是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BL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BH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CH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DL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DH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源操作数和目的操作数的字长一致。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69" y="2492896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15"/>
          <p:cNvSpPr txBox="1"/>
          <p:nvPr/>
        </p:nvSpPr>
        <p:spPr>
          <a:xfrm rot="2771384">
            <a:off x="7653805" y="2699433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312348" y="6092124"/>
            <a:ext cx="6030475" cy="551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由于操作数在寄存器中，不需访问存储器，故运算速度高。</a:t>
            </a:r>
          </a:p>
        </p:txBody>
      </p:sp>
      <p:pic>
        <p:nvPicPr>
          <p:cNvPr id="15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4422" y="553117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2900655" y="5051793"/>
            <a:ext cx="3342268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AH, BX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" name="Picture 8" descr="D:\hd-white-132\handdrawn-white131.png"/>
          <p:cNvPicPr>
            <a:picLocks noChangeAspect="1" noChangeArrowheads="1"/>
          </p:cNvPicPr>
          <p:nvPr/>
        </p:nvPicPr>
        <p:blipFill>
          <a:blip r:embed="rId4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2160" y="4938691"/>
            <a:ext cx="699274" cy="8954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079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4" grpId="0"/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存储器寻址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圆角矩形 4"/>
          <p:cNvSpPr/>
          <p:nvPr/>
        </p:nvSpPr>
        <p:spPr>
          <a:xfrm>
            <a:off x="1043608" y="1524613"/>
            <a:ext cx="7344815" cy="748115"/>
          </a:xfrm>
          <a:prstGeom prst="roundRect">
            <a:avLst>
              <a:gd name="adj" fmla="val 5417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操作数在存储器中，偏移地址在指令中常用</a:t>
            </a:r>
            <a:r>
              <a:rPr lang="en-US" altLang="zh-CN" sz="2000" b="1" dirty="0">
                <a:ea typeface="微软雅黑" panose="020B0503020204020204" pitchFamily="34" charset="-122"/>
              </a:rPr>
              <a:t>[  ]</a:t>
            </a:r>
            <a:r>
              <a:rPr lang="zh-CN" altLang="en-US" sz="2000" b="1" dirty="0">
                <a:ea typeface="微软雅黑" panose="020B0503020204020204" pitchFamily="34" charset="-122"/>
              </a:rPr>
              <a:t>或符号地址表示。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043609" y="3203797"/>
            <a:ext cx="2016386" cy="581099"/>
            <a:chOff x="244645" y="3186673"/>
            <a:chExt cx="3528392" cy="581099"/>
          </a:xfrm>
        </p:grpSpPr>
        <p:sp>
          <p:nvSpPr>
            <p:cNvPr id="19" name="圆角矩形 18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间接寻址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01912" y="3203797"/>
            <a:ext cx="5286511" cy="581099"/>
            <a:chOff x="244645" y="3186673"/>
            <a:chExt cx="6548882" cy="581099"/>
          </a:xfrm>
        </p:grpSpPr>
        <p:sp>
          <p:nvSpPr>
            <p:cNvPr id="22" name="圆角矩形 21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solidFill>
              <a:srgbClr val="1D8D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3" name="TextBox 6"/>
            <p:cNvSpPr txBox="1"/>
            <p:nvPr/>
          </p:nvSpPr>
          <p:spPr>
            <a:xfrm>
              <a:off x="317994" y="3266487"/>
              <a:ext cx="6475533" cy="452432"/>
            </a:xfrm>
            <a:prstGeom prst="rect">
              <a:avLst/>
            </a:prstGeom>
            <a:solidFill>
              <a:srgbClr val="1D8DE5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操作数有效地址放在寄存器（基址和变址）中。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43609" y="2462119"/>
            <a:ext cx="2016386" cy="581099"/>
            <a:chOff x="244645" y="3186673"/>
            <a:chExt cx="3528392" cy="581099"/>
          </a:xfrm>
        </p:grpSpPr>
        <p:sp>
          <p:nvSpPr>
            <p:cNvPr id="25" name="圆角矩形 24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6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直接寻址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01912" y="2462119"/>
            <a:ext cx="5286511" cy="581099"/>
            <a:chOff x="244645" y="3186673"/>
            <a:chExt cx="6548882" cy="581099"/>
          </a:xfrm>
        </p:grpSpPr>
        <p:sp>
          <p:nvSpPr>
            <p:cNvPr id="28" name="圆角矩形 27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solidFill>
              <a:srgbClr val="FF32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9" name="TextBox 6"/>
            <p:cNvSpPr txBox="1"/>
            <p:nvPr/>
          </p:nvSpPr>
          <p:spPr>
            <a:xfrm>
              <a:off x="317995" y="3266487"/>
              <a:ext cx="6475532" cy="452432"/>
            </a:xfrm>
            <a:prstGeom prst="rect">
              <a:avLst/>
            </a:prstGeom>
            <a:solidFill>
              <a:srgbClr val="FF3255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操作数的有效地址</a:t>
              </a:r>
              <a:r>
                <a:rPr lang="en-US" altLang="zh-CN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偏移量</a:t>
              </a:r>
              <a:r>
                <a:rPr lang="en-US" altLang="zh-CN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在指令中直接给出。</a:t>
              </a:r>
            </a:p>
          </p:txBody>
        </p:sp>
      </p:grpSp>
      <p:sp>
        <p:nvSpPr>
          <p:cNvPr id="31" name="矩形 30"/>
          <p:cNvSpPr/>
          <p:nvPr/>
        </p:nvSpPr>
        <p:spPr>
          <a:xfrm>
            <a:off x="611560" y="1361449"/>
            <a:ext cx="8064896" cy="257160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>
            <a:spLocks noChangeAspect="1"/>
          </p:cNvSpPr>
          <p:nvPr/>
        </p:nvSpPr>
        <p:spPr>
          <a:xfrm>
            <a:off x="611560" y="4334036"/>
            <a:ext cx="8064896" cy="1615244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9" name="TextBox 17"/>
          <p:cNvSpPr txBox="1"/>
          <p:nvPr/>
        </p:nvSpPr>
        <p:spPr>
          <a:xfrm>
            <a:off x="1545253" y="4446984"/>
            <a:ext cx="6915179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基址寻址：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操作数的有效地址由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加指令中的偏移量给出。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变址寻址：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操作数的有效地址由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SI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DI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加指令中的偏移量给出。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基址加变址寻址：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操作数有效地址由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SI 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加偏移量。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0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384526" y="4574323"/>
            <a:ext cx="1354866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19"/>
          <p:cNvSpPr txBox="1"/>
          <p:nvPr/>
        </p:nvSpPr>
        <p:spPr>
          <a:xfrm>
            <a:off x="827849" y="4365104"/>
            <a:ext cx="461665" cy="13832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间接寻址</a:t>
            </a:r>
          </a:p>
        </p:txBody>
      </p:sp>
    </p:spTree>
    <p:extLst>
      <p:ext uri="{BB962C8B-B14F-4D97-AF65-F5344CB8AC3E}">
        <p14:creationId xmlns:p14="http://schemas.microsoft.com/office/powerpoint/2010/main" val="192908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8" grpId="0" animBg="1"/>
      <p:bldP spid="49" grpId="0"/>
      <p:bldP spid="5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直接寻址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1259210" y="2743958"/>
            <a:ext cx="6841182" cy="1039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5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[2000H]</a:t>
            </a:r>
            <a:endParaRPr lang="zh-CN" altLang="en-US" sz="1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043609" y="5121263"/>
            <a:ext cx="6624735" cy="581099"/>
            <a:chOff x="244645" y="3186673"/>
            <a:chExt cx="6548882" cy="581099"/>
          </a:xfrm>
        </p:grpSpPr>
        <p:sp>
          <p:nvSpPr>
            <p:cNvPr id="53" name="圆角矩形 52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solidFill>
              <a:srgbClr val="1D8D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54" name="TextBox 6"/>
            <p:cNvSpPr txBox="1"/>
            <p:nvPr/>
          </p:nvSpPr>
          <p:spPr>
            <a:xfrm>
              <a:off x="317994" y="3266487"/>
              <a:ext cx="6475533" cy="417358"/>
            </a:xfrm>
            <a:prstGeom prst="rect">
              <a:avLst/>
            </a:prstGeom>
            <a:solidFill>
              <a:srgbClr val="1D8DE5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如不在数据段中，可以用段跨越前缀：</a:t>
              </a:r>
              <a:r>
                <a:rPr lang="en-US" altLang="zh-CN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MOV AX, ES:[2000H]</a:t>
              </a:r>
              <a:endParaRPr lang="zh-CN" altLang="en-US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1" name="圆角矩形 60"/>
          <p:cNvSpPr/>
          <p:nvPr/>
        </p:nvSpPr>
        <p:spPr>
          <a:xfrm>
            <a:off x="1043609" y="4379585"/>
            <a:ext cx="6624735" cy="583423"/>
          </a:xfrm>
          <a:prstGeom prst="roundRect">
            <a:avLst>
              <a:gd name="adj" fmla="val 5417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隐含的段为数据段</a:t>
            </a:r>
          </a:p>
        </p:txBody>
      </p:sp>
      <p:sp>
        <p:nvSpPr>
          <p:cNvPr id="62" name="矩形 61"/>
          <p:cNvSpPr/>
          <p:nvPr/>
        </p:nvSpPr>
        <p:spPr>
          <a:xfrm>
            <a:off x="755576" y="4149080"/>
            <a:ext cx="7704856" cy="1857892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6" name="云形标注 25"/>
          <p:cNvSpPr/>
          <p:nvPr/>
        </p:nvSpPr>
        <p:spPr>
          <a:xfrm>
            <a:off x="5796136" y="1772816"/>
            <a:ext cx="2664296" cy="720080"/>
          </a:xfrm>
          <a:prstGeom prst="cloudCallout">
            <a:avLst>
              <a:gd name="adj1" fmla="val -21025"/>
              <a:gd name="adj2" fmla="val 85292"/>
            </a:avLst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源操作数为直接寻址</a:t>
            </a:r>
          </a:p>
        </p:txBody>
      </p:sp>
      <p:sp>
        <p:nvSpPr>
          <p:cNvPr id="27" name="云形标注 26"/>
          <p:cNvSpPr/>
          <p:nvPr/>
        </p:nvSpPr>
        <p:spPr>
          <a:xfrm>
            <a:off x="1835696" y="1772816"/>
            <a:ext cx="2664296" cy="720080"/>
          </a:xfrm>
          <a:prstGeom prst="cloudCallout">
            <a:avLst>
              <a:gd name="adj1" fmla="val 38816"/>
              <a:gd name="adj2" fmla="val 95060"/>
            </a:avLst>
          </a:prstGeom>
          <a:solidFill>
            <a:srgbClr val="5DCB08"/>
          </a:solidFill>
          <a:ln>
            <a:solidFill>
              <a:srgbClr val="5DCB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目标操作数为寄存器寻址</a:t>
            </a:r>
          </a:p>
        </p:txBody>
      </p:sp>
      <p:pic>
        <p:nvPicPr>
          <p:cNvPr id="29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8885" y="4077072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15"/>
          <p:cNvSpPr txBox="1"/>
          <p:nvPr/>
        </p:nvSpPr>
        <p:spPr>
          <a:xfrm rot="2771384">
            <a:off x="7797821" y="4283609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429405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61" grpId="0" animBg="1"/>
      <p:bldP spid="62" grpId="0" animBg="1"/>
      <p:bldP spid="26" grpId="0" animBg="1"/>
      <p:bldP spid="27" grpId="0" animBg="1"/>
      <p:bldP spid="3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77990" y="2945128"/>
            <a:ext cx="211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130118" y="2945128"/>
            <a:ext cx="633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977990" y="382994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77990" y="3330908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00650" y="2924944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5904258" y="2937437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77994" y="4328978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77990" y="4831085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5227916" y="4842698"/>
            <a:ext cx="1216292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5FF1H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"/>
          <p:cNvSpPr>
            <a:spLocks noChangeArrowheads="1"/>
          </p:cNvSpPr>
          <p:nvPr/>
        </p:nvSpPr>
        <p:spPr bwMode="auto">
          <a:xfrm>
            <a:off x="5243621" y="4350255"/>
            <a:ext cx="1035333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5FF0H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800674" y="551726"/>
            <a:ext cx="7506760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MOV  AX, [2000H] 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寻址过程</a:t>
            </a:r>
          </a:p>
        </p:txBody>
      </p:sp>
      <p:sp>
        <p:nvSpPr>
          <p:cNvPr id="45" name="矩形 4"/>
          <p:cNvSpPr>
            <a:spLocks noChangeArrowheads="1"/>
          </p:cNvSpPr>
          <p:nvPr/>
        </p:nvSpPr>
        <p:spPr bwMode="auto">
          <a:xfrm>
            <a:off x="4264382" y="4795479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4280087" y="4302610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"/>
          <p:cNvSpPr>
            <a:spLocks noChangeArrowheads="1"/>
          </p:cNvSpPr>
          <p:nvPr/>
        </p:nvSpPr>
        <p:spPr bwMode="auto">
          <a:xfrm>
            <a:off x="4246786" y="4795479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"/>
          <p:cNvSpPr>
            <a:spLocks noChangeArrowheads="1"/>
          </p:cNvSpPr>
          <p:nvPr/>
        </p:nvSpPr>
        <p:spPr bwMode="auto">
          <a:xfrm>
            <a:off x="4262491" y="4302610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"/>
          <p:cNvSpPr>
            <a:spLocks noChangeArrowheads="1"/>
          </p:cNvSpPr>
          <p:nvPr/>
        </p:nvSpPr>
        <p:spPr bwMode="auto">
          <a:xfrm>
            <a:off x="1571414" y="2940714"/>
            <a:ext cx="1632434" cy="597921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03FF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4"/>
          <p:cNvSpPr>
            <a:spLocks noChangeArrowheads="1"/>
          </p:cNvSpPr>
          <p:nvPr/>
        </p:nvSpPr>
        <p:spPr bwMode="auto">
          <a:xfrm>
            <a:off x="1571414" y="3593200"/>
            <a:ext cx="1632434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2000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4"/>
          <p:cNvSpPr>
            <a:spLocks noChangeArrowheads="1"/>
          </p:cNvSpPr>
          <p:nvPr/>
        </p:nvSpPr>
        <p:spPr bwMode="auto">
          <a:xfrm>
            <a:off x="755576" y="3500750"/>
            <a:ext cx="547253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827584" y="1484784"/>
            <a:ext cx="1296306" cy="581099"/>
            <a:chOff x="244645" y="3186673"/>
            <a:chExt cx="3528392" cy="581099"/>
          </a:xfrm>
        </p:grpSpPr>
        <p:sp>
          <p:nvSpPr>
            <p:cNvPr id="65" name="圆角矩形 64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6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条件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165807" y="1484784"/>
            <a:ext cx="6078601" cy="581490"/>
            <a:chOff x="244645" y="3186673"/>
            <a:chExt cx="6548882" cy="581488"/>
          </a:xfrm>
          <a:solidFill>
            <a:srgbClr val="FD7A2A"/>
          </a:solidFill>
        </p:grpSpPr>
        <p:sp>
          <p:nvSpPr>
            <p:cNvPr id="68" name="圆角矩形 67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9" name="TextBox 6"/>
            <p:cNvSpPr txBox="1"/>
            <p:nvPr/>
          </p:nvSpPr>
          <p:spPr>
            <a:xfrm>
              <a:off x="317995" y="3266486"/>
              <a:ext cx="6475532" cy="5016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3000"/>
                </a:lnSpc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DS=03FFH, [5FF0H] = 20H, [5FF1H] = 10H</a:t>
              </a:r>
            </a:p>
          </p:txBody>
        </p:sp>
      </p:grpSp>
      <p:sp>
        <p:nvSpPr>
          <p:cNvPr id="71" name="矩形 4"/>
          <p:cNvSpPr>
            <a:spLocks noChangeArrowheads="1"/>
          </p:cNvSpPr>
          <p:nvPr/>
        </p:nvSpPr>
        <p:spPr bwMode="auto">
          <a:xfrm>
            <a:off x="1578491" y="4518634"/>
            <a:ext cx="1632434" cy="597921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5FF0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395536" y="4349284"/>
            <a:ext cx="2808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4"/>
          <p:cNvSpPr>
            <a:spLocks noChangeArrowheads="1"/>
          </p:cNvSpPr>
          <p:nvPr/>
        </p:nvSpPr>
        <p:spPr bwMode="auto">
          <a:xfrm>
            <a:off x="765013" y="4452883"/>
            <a:ext cx="547253" cy="742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矩形 4"/>
          <p:cNvSpPr>
            <a:spLocks noChangeArrowheads="1"/>
          </p:cNvSpPr>
          <p:nvPr/>
        </p:nvSpPr>
        <p:spPr bwMode="auto">
          <a:xfrm>
            <a:off x="3370330" y="2924944"/>
            <a:ext cx="481590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4"/>
          <p:cNvSpPr>
            <a:spLocks noChangeArrowheads="1"/>
          </p:cNvSpPr>
          <p:nvPr/>
        </p:nvSpPr>
        <p:spPr bwMode="auto">
          <a:xfrm>
            <a:off x="251520" y="2924944"/>
            <a:ext cx="101800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DS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38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59259E-6 L -0.0994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33333E-6 L 1.38889E-6 -0.10115 C 1.38889E-6 -0.14652 0.11024 -0.20231 0.19983 -0.20231 L 0.4 -0.20231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-10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07407E-6 L 3.88889E-6 -0.13726 C 3.88889E-6 -0.19884 0.08229 -0.2743 0.14948 -0.2743 L 0.29913 -0.2743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48" y="-1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  <p:bldP spid="52" grpId="0"/>
      <p:bldP spid="71" grpId="0" animBg="1"/>
      <p:bldP spid="74" grpId="0"/>
      <p:bldP spid="75" grpId="0"/>
      <p:bldP spid="7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基址寻址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827583" y="1412776"/>
            <a:ext cx="7491983" cy="91592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5AD00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02877" y="1419023"/>
            <a:ext cx="777686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zh-CN" altLang="en-US" sz="3200" b="1" dirty="0">
                <a:solidFill>
                  <a:srgbClr val="5AD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偏移地址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2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BX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32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+8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32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偏移量</a:t>
            </a: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827584" y="2592559"/>
            <a:ext cx="7491982" cy="1270095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1043608" y="2705507"/>
            <a:ext cx="6696743" cy="107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：基址寄存器；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：基址指针，故称基址寻址。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BX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默认以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为段地址，</a:t>
            </a:r>
            <a:r>
              <a:rPr lang="en-US" altLang="zh-CN" sz="28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sz="28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默认以</a:t>
            </a:r>
            <a:r>
              <a:rPr lang="en-US" altLang="zh-CN" sz="28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8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为段地址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69" y="2492896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5"/>
          <p:cNvSpPr txBox="1"/>
          <p:nvPr/>
        </p:nvSpPr>
        <p:spPr>
          <a:xfrm rot="2771384">
            <a:off x="7653805" y="2699433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907704" y="4163249"/>
            <a:ext cx="5097507" cy="4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 [BX+1000H]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1921208" y="4709146"/>
            <a:ext cx="450794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DL,  [BP+100H]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1907704" y="5213202"/>
            <a:ext cx="5097507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CL,   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ES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[BX+1000H]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0"/>
          <p:cNvSpPr txBox="1">
            <a:spLocks noChangeArrowheads="1"/>
          </p:cNvSpPr>
          <p:nvPr/>
        </p:nvSpPr>
        <p:spPr bwMode="auto">
          <a:xfrm>
            <a:off x="1921208" y="5717258"/>
            <a:ext cx="450794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CX,  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[BP+100H]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159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77990" y="2945128"/>
            <a:ext cx="211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130118" y="2945128"/>
            <a:ext cx="633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977990" y="382994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77990" y="3330908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00650" y="2616728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5904258" y="2629221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77994" y="4328978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77990" y="4831085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5227916" y="4842698"/>
            <a:ext cx="1216292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50F1H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"/>
          <p:cNvSpPr>
            <a:spLocks noChangeArrowheads="1"/>
          </p:cNvSpPr>
          <p:nvPr/>
        </p:nvSpPr>
        <p:spPr bwMode="auto">
          <a:xfrm>
            <a:off x="5243621" y="4350255"/>
            <a:ext cx="1035333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50F0H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800674" y="551726"/>
            <a:ext cx="7506760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MOV AX, [BX+1000H] 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寻址过程</a:t>
            </a:r>
          </a:p>
        </p:txBody>
      </p:sp>
      <p:sp>
        <p:nvSpPr>
          <p:cNvPr id="45" name="矩形 4"/>
          <p:cNvSpPr>
            <a:spLocks noChangeArrowheads="1"/>
          </p:cNvSpPr>
          <p:nvPr/>
        </p:nvSpPr>
        <p:spPr bwMode="auto">
          <a:xfrm>
            <a:off x="4264382" y="4795479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4280087" y="4302610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"/>
          <p:cNvSpPr>
            <a:spLocks noChangeArrowheads="1"/>
          </p:cNvSpPr>
          <p:nvPr/>
        </p:nvSpPr>
        <p:spPr bwMode="auto">
          <a:xfrm>
            <a:off x="4246786" y="4795479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"/>
          <p:cNvSpPr>
            <a:spLocks noChangeArrowheads="1"/>
          </p:cNvSpPr>
          <p:nvPr/>
        </p:nvSpPr>
        <p:spPr bwMode="auto">
          <a:xfrm>
            <a:off x="4262491" y="4302610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"/>
          <p:cNvSpPr>
            <a:spLocks noChangeArrowheads="1"/>
          </p:cNvSpPr>
          <p:nvPr/>
        </p:nvSpPr>
        <p:spPr bwMode="auto">
          <a:xfrm>
            <a:off x="1571414" y="2580674"/>
            <a:ext cx="1632434" cy="597921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03FF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4"/>
          <p:cNvSpPr>
            <a:spLocks noChangeArrowheads="1"/>
          </p:cNvSpPr>
          <p:nvPr/>
        </p:nvSpPr>
        <p:spPr bwMode="auto">
          <a:xfrm>
            <a:off x="1571414" y="3987238"/>
            <a:ext cx="1632434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1000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4"/>
          <p:cNvSpPr>
            <a:spLocks noChangeArrowheads="1"/>
          </p:cNvSpPr>
          <p:nvPr/>
        </p:nvSpPr>
        <p:spPr bwMode="auto">
          <a:xfrm>
            <a:off x="755576" y="3894788"/>
            <a:ext cx="547253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683568" y="1484784"/>
            <a:ext cx="1008274" cy="581099"/>
            <a:chOff x="244645" y="3186673"/>
            <a:chExt cx="3528392" cy="581099"/>
          </a:xfrm>
        </p:grpSpPr>
        <p:sp>
          <p:nvSpPr>
            <p:cNvPr id="65" name="圆角矩形 64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6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条件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1733759" y="1484784"/>
            <a:ext cx="6870689" cy="581101"/>
            <a:chOff x="244645" y="3186673"/>
            <a:chExt cx="6548882" cy="581099"/>
          </a:xfrm>
          <a:solidFill>
            <a:srgbClr val="FD7A2A"/>
          </a:solidFill>
        </p:grpSpPr>
        <p:sp>
          <p:nvSpPr>
            <p:cNvPr id="68" name="圆角矩形 67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9" name="TextBox 6"/>
            <p:cNvSpPr txBox="1"/>
            <p:nvPr/>
          </p:nvSpPr>
          <p:spPr>
            <a:xfrm>
              <a:off x="317995" y="3266487"/>
              <a:ext cx="6475532" cy="4603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3000"/>
                </a:lnSpc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DS=03FFH, BX=100, [50F0H] = 20H, [50F1H] = 10H</a:t>
              </a:r>
            </a:p>
          </p:txBody>
        </p:sp>
      </p:grpSp>
      <p:sp>
        <p:nvSpPr>
          <p:cNvPr id="71" name="矩形 4"/>
          <p:cNvSpPr>
            <a:spLocks noChangeArrowheads="1"/>
          </p:cNvSpPr>
          <p:nvPr/>
        </p:nvSpPr>
        <p:spPr bwMode="auto">
          <a:xfrm>
            <a:off x="1578491" y="4912672"/>
            <a:ext cx="1632434" cy="597921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50F0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395536" y="4743322"/>
            <a:ext cx="2808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4"/>
          <p:cNvSpPr>
            <a:spLocks noChangeArrowheads="1"/>
          </p:cNvSpPr>
          <p:nvPr/>
        </p:nvSpPr>
        <p:spPr bwMode="auto">
          <a:xfrm>
            <a:off x="765013" y="4846921"/>
            <a:ext cx="547253" cy="742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矩形 4"/>
          <p:cNvSpPr>
            <a:spLocks noChangeArrowheads="1"/>
          </p:cNvSpPr>
          <p:nvPr/>
        </p:nvSpPr>
        <p:spPr bwMode="auto">
          <a:xfrm>
            <a:off x="3370330" y="2564904"/>
            <a:ext cx="481590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4"/>
          <p:cNvSpPr>
            <a:spLocks noChangeArrowheads="1"/>
          </p:cNvSpPr>
          <p:nvPr/>
        </p:nvSpPr>
        <p:spPr bwMode="auto">
          <a:xfrm>
            <a:off x="251520" y="2564904"/>
            <a:ext cx="101800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DS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4"/>
          <p:cNvSpPr>
            <a:spLocks noChangeArrowheads="1"/>
          </p:cNvSpPr>
          <p:nvPr/>
        </p:nvSpPr>
        <p:spPr bwMode="auto">
          <a:xfrm>
            <a:off x="1571414" y="3280570"/>
            <a:ext cx="1632434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100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467544" y="3284984"/>
            <a:ext cx="101800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011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0994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33333E-6 L 1.38889E-6 -0.12083 C 1.38889E-6 -0.175 0.11024 -0.24143 0.19983 -0.24143 L 0.4 -0.24143 " pathEditMode="relative" rAng="0" ptsTypes="AAAA">
                                      <p:cBhvr>
                                        <p:cTn id="5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-1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07407E-6 L 3.88889E-6 -0.15694 C 3.88889E-6 -0.22731 0.08229 -0.31342 0.14948 -0.31342 L 0.29913 -0.31342 " pathEditMode="relative" rAng="0" ptsTypes="AAAA">
                                      <p:cBhvr>
                                        <p:cTn id="5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48" y="-1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  <p:bldP spid="52" grpId="0"/>
      <p:bldP spid="71" grpId="0" animBg="1"/>
      <p:bldP spid="74" grpId="0"/>
      <p:bldP spid="75" grpId="0"/>
      <p:bldP spid="76" grpId="0"/>
      <p:bldP spid="32" grpId="0" animBg="1"/>
      <p:bldP spid="33" grpId="0"/>
      <p:bldP spid="33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变址寻址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827583" y="1412776"/>
            <a:ext cx="7491983" cy="91592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5AD00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02877" y="1419023"/>
            <a:ext cx="7776863" cy="840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zh-CN" altLang="en-US" sz="3200" b="1" dirty="0">
                <a:solidFill>
                  <a:srgbClr val="5AD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偏移地址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2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32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+8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32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偏移量</a:t>
            </a: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827584" y="2592559"/>
            <a:ext cx="7491982" cy="1270095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1043608" y="2705507"/>
            <a:ext cx="6696743" cy="911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：源变址指针；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：目标变址指针，故称变址寻址。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SI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默认以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为段地址。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69" y="2492896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5"/>
          <p:cNvSpPr txBox="1"/>
          <p:nvPr/>
        </p:nvSpPr>
        <p:spPr>
          <a:xfrm rot="2771384">
            <a:off x="7653805" y="2699433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907704" y="4147251"/>
            <a:ext cx="5097507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 [SI+1000H]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1921208" y="4709146"/>
            <a:ext cx="4507940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DL,  [DI+100H]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1907704" y="5213202"/>
            <a:ext cx="5097507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CL,   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ES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[SI+1000H]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494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基址加变址寻址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827585" y="1412776"/>
            <a:ext cx="7506456" cy="91592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5AD00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27585" y="1484784"/>
            <a:ext cx="7506456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zh-CN" altLang="en-US" sz="2800" b="1" dirty="0">
                <a:solidFill>
                  <a:srgbClr val="5AD0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偏移地址</a:t>
            </a:r>
            <a:r>
              <a:rPr lang="en-US" altLang="zh-CN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BX</a:t>
            </a:r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BP</a:t>
            </a:r>
            <a:r>
              <a:rPr lang="en-US" altLang="zh-CN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</a:t>
            </a:r>
            <a:r>
              <a:rPr lang="en-US" altLang="zh-CN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+8</a:t>
            </a:r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偏移量</a:t>
            </a: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827584" y="2592559"/>
            <a:ext cx="7491982" cy="1270095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1043608" y="2705507"/>
            <a:ext cx="6696743" cy="911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只有四种组合：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BX+SI, BX+DI, BP+DI, BP+SI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，则默认以</a:t>
            </a:r>
            <a:r>
              <a:rPr lang="en-US" altLang="zh-CN"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为段地址。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69" y="2492896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5"/>
          <p:cNvSpPr txBox="1"/>
          <p:nvPr/>
        </p:nvSpPr>
        <p:spPr>
          <a:xfrm rot="2771384">
            <a:off x="7653805" y="2699433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67544" y="4077072"/>
            <a:ext cx="4176463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 [SI+BX+100H]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0"/>
          <p:cNvSpPr txBox="1">
            <a:spLocks noChangeArrowheads="1"/>
          </p:cNvSpPr>
          <p:nvPr/>
        </p:nvSpPr>
        <p:spPr bwMode="auto">
          <a:xfrm>
            <a:off x="4791173" y="4093070"/>
            <a:ext cx="4176463" cy="4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MOV   AX,  [SI][BX]100H</a:t>
            </a:r>
            <a:endParaRPr lang="zh-CN" altLang="en-US" sz="6600" b="1" dirty="0"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467544" y="4590418"/>
            <a:ext cx="4176463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 [SI+BP+100H]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4791173" y="4606416"/>
            <a:ext cx="4176463" cy="4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MOV   AX,  [SI][BP+100H]</a:t>
            </a:r>
            <a:endParaRPr lang="zh-CN" altLang="en-US" sz="6600" b="1" dirty="0"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0"/>
          <p:cNvSpPr txBox="1">
            <a:spLocks noChangeArrowheads="1"/>
          </p:cNvSpPr>
          <p:nvPr/>
        </p:nvSpPr>
        <p:spPr bwMode="auto">
          <a:xfrm>
            <a:off x="472407" y="5064378"/>
            <a:ext cx="4176463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 [DI+BX+100H]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0"/>
          <p:cNvSpPr txBox="1">
            <a:spLocks noChangeArrowheads="1"/>
          </p:cNvSpPr>
          <p:nvPr/>
        </p:nvSpPr>
        <p:spPr bwMode="auto">
          <a:xfrm>
            <a:off x="4796036" y="5080376"/>
            <a:ext cx="4176463" cy="4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MOV   AX,  100H[DI][BX]</a:t>
            </a:r>
            <a:endParaRPr lang="zh-CN" altLang="en-US" sz="6600" b="1" dirty="0"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0"/>
          <p:cNvSpPr txBox="1">
            <a:spLocks noChangeArrowheads="1"/>
          </p:cNvSpPr>
          <p:nvPr/>
        </p:nvSpPr>
        <p:spPr bwMode="auto">
          <a:xfrm>
            <a:off x="472407" y="5577724"/>
            <a:ext cx="4176463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AX,  [DI+BP+100H]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10"/>
          <p:cNvSpPr txBox="1">
            <a:spLocks noChangeArrowheads="1"/>
          </p:cNvSpPr>
          <p:nvPr/>
        </p:nvSpPr>
        <p:spPr bwMode="auto">
          <a:xfrm>
            <a:off x="4796036" y="5593722"/>
            <a:ext cx="4176463" cy="4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MOV   AX,  [DI+100H][BP]</a:t>
            </a:r>
            <a:endParaRPr lang="zh-CN" altLang="en-US" sz="6600" b="1" dirty="0"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593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977990" y="2945128"/>
            <a:ext cx="211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130118" y="2945128"/>
            <a:ext cx="633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977990" y="382994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77990" y="3330908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00650" y="2616728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5904258" y="2629221"/>
            <a:ext cx="795969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77994" y="4328978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77990" y="4831085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5227916" y="4842698"/>
            <a:ext cx="1216292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5101H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"/>
          <p:cNvSpPr>
            <a:spLocks noChangeArrowheads="1"/>
          </p:cNvSpPr>
          <p:nvPr/>
        </p:nvSpPr>
        <p:spPr bwMode="auto">
          <a:xfrm>
            <a:off x="5243621" y="4350255"/>
            <a:ext cx="1035333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5100H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1016698" y="551726"/>
            <a:ext cx="7227710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AX,[SI+BX+100H]</a:t>
            </a:r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寻址过程</a:t>
            </a:r>
          </a:p>
        </p:txBody>
      </p:sp>
      <p:sp>
        <p:nvSpPr>
          <p:cNvPr id="45" name="矩形 4"/>
          <p:cNvSpPr>
            <a:spLocks noChangeArrowheads="1"/>
          </p:cNvSpPr>
          <p:nvPr/>
        </p:nvSpPr>
        <p:spPr bwMode="auto">
          <a:xfrm>
            <a:off x="4264382" y="4795479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4280087" y="4302610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"/>
          <p:cNvSpPr>
            <a:spLocks noChangeArrowheads="1"/>
          </p:cNvSpPr>
          <p:nvPr/>
        </p:nvSpPr>
        <p:spPr bwMode="auto">
          <a:xfrm>
            <a:off x="4246786" y="4795479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 4"/>
          <p:cNvSpPr>
            <a:spLocks noChangeArrowheads="1"/>
          </p:cNvSpPr>
          <p:nvPr/>
        </p:nvSpPr>
        <p:spPr bwMode="auto">
          <a:xfrm>
            <a:off x="4262491" y="4302610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 4"/>
          <p:cNvSpPr>
            <a:spLocks noChangeArrowheads="1"/>
          </p:cNvSpPr>
          <p:nvPr/>
        </p:nvSpPr>
        <p:spPr bwMode="auto">
          <a:xfrm>
            <a:off x="1571414" y="2580674"/>
            <a:ext cx="1632434" cy="597921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03FF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4"/>
          <p:cNvSpPr>
            <a:spLocks noChangeArrowheads="1"/>
          </p:cNvSpPr>
          <p:nvPr/>
        </p:nvSpPr>
        <p:spPr bwMode="auto">
          <a:xfrm>
            <a:off x="1571414" y="4779326"/>
            <a:ext cx="1632434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1000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4"/>
          <p:cNvSpPr>
            <a:spLocks noChangeArrowheads="1"/>
          </p:cNvSpPr>
          <p:nvPr/>
        </p:nvSpPr>
        <p:spPr bwMode="auto">
          <a:xfrm>
            <a:off x="755576" y="4686876"/>
            <a:ext cx="547253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179512" y="1412776"/>
            <a:ext cx="783281" cy="581099"/>
            <a:chOff x="244645" y="3186673"/>
            <a:chExt cx="3528392" cy="581099"/>
          </a:xfrm>
        </p:grpSpPr>
        <p:sp>
          <p:nvSpPr>
            <p:cNvPr id="65" name="圆角矩形 64"/>
            <p:cNvSpPr/>
            <p:nvPr/>
          </p:nvSpPr>
          <p:spPr>
            <a:xfrm>
              <a:off x="244645" y="3186673"/>
              <a:ext cx="3528392" cy="581099"/>
            </a:xfrm>
            <a:prstGeom prst="roundRect">
              <a:avLst>
                <a:gd name="adj" fmla="val 4375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6" name="TextBox 6"/>
            <p:cNvSpPr txBox="1"/>
            <p:nvPr/>
          </p:nvSpPr>
          <p:spPr>
            <a:xfrm>
              <a:off x="317994" y="3266487"/>
              <a:ext cx="3455043" cy="41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条件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1013679" y="1412776"/>
            <a:ext cx="8022817" cy="581491"/>
            <a:chOff x="244645" y="3186673"/>
            <a:chExt cx="6548882" cy="581489"/>
          </a:xfrm>
          <a:solidFill>
            <a:srgbClr val="FD7A2A"/>
          </a:solidFill>
        </p:grpSpPr>
        <p:sp>
          <p:nvSpPr>
            <p:cNvPr id="68" name="圆角矩形 67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9" name="TextBox 6"/>
            <p:cNvSpPr txBox="1"/>
            <p:nvPr/>
          </p:nvSpPr>
          <p:spPr>
            <a:xfrm>
              <a:off x="317995" y="3266488"/>
              <a:ext cx="6475532" cy="50167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33000"/>
                </a:lnSpc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DS=03FFH, BX=100, SI=10H, [5100H] = 20H, [5101H] = 10H</a:t>
              </a:r>
            </a:p>
          </p:txBody>
        </p:sp>
      </p:grpSp>
      <p:sp>
        <p:nvSpPr>
          <p:cNvPr id="71" name="矩形 4"/>
          <p:cNvSpPr>
            <a:spLocks noChangeArrowheads="1"/>
          </p:cNvSpPr>
          <p:nvPr/>
        </p:nvSpPr>
        <p:spPr bwMode="auto">
          <a:xfrm>
            <a:off x="1578491" y="5704760"/>
            <a:ext cx="1632434" cy="597921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5100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395536" y="5535410"/>
            <a:ext cx="2808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4"/>
          <p:cNvSpPr>
            <a:spLocks noChangeArrowheads="1"/>
          </p:cNvSpPr>
          <p:nvPr/>
        </p:nvSpPr>
        <p:spPr bwMode="auto">
          <a:xfrm>
            <a:off x="765013" y="5639009"/>
            <a:ext cx="547253" cy="742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矩形 4"/>
          <p:cNvSpPr>
            <a:spLocks noChangeArrowheads="1"/>
          </p:cNvSpPr>
          <p:nvPr/>
        </p:nvSpPr>
        <p:spPr bwMode="auto">
          <a:xfrm>
            <a:off x="3370330" y="2564904"/>
            <a:ext cx="481590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4"/>
          <p:cNvSpPr>
            <a:spLocks noChangeArrowheads="1"/>
          </p:cNvSpPr>
          <p:nvPr/>
        </p:nvSpPr>
        <p:spPr bwMode="auto">
          <a:xfrm>
            <a:off x="251520" y="2564904"/>
            <a:ext cx="101800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DS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4"/>
          <p:cNvSpPr>
            <a:spLocks noChangeArrowheads="1"/>
          </p:cNvSpPr>
          <p:nvPr/>
        </p:nvSpPr>
        <p:spPr bwMode="auto">
          <a:xfrm>
            <a:off x="1571414" y="4072658"/>
            <a:ext cx="1632434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100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467544" y="4077072"/>
            <a:ext cx="101800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4"/>
          <p:cNvSpPr>
            <a:spLocks noChangeArrowheads="1"/>
          </p:cNvSpPr>
          <p:nvPr/>
        </p:nvSpPr>
        <p:spPr bwMode="auto">
          <a:xfrm>
            <a:off x="1571414" y="3284984"/>
            <a:ext cx="1632434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  10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4"/>
          <p:cNvSpPr>
            <a:spLocks noChangeArrowheads="1"/>
          </p:cNvSpPr>
          <p:nvPr/>
        </p:nvSpPr>
        <p:spPr bwMode="auto">
          <a:xfrm>
            <a:off x="467544" y="3289398"/>
            <a:ext cx="1018008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596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0994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33333E-6 L 1.38889E-6 -0.12083 C 1.38889E-6 -0.175 0.11024 -0.24143 0.19983 -0.24143 L 0.4 -0.24143 " pathEditMode="relative" rAng="0" ptsTypes="AAAA">
                                      <p:cBhvr>
                                        <p:cTn id="5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-1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07407E-6 L 3.88889E-6 -0.15694 C 3.88889E-6 -0.22731 0.08229 -0.31342 0.14948 -0.31342 L 0.29913 -0.31342 " pathEditMode="relative" rAng="0" ptsTypes="AAAA">
                                      <p:cBhvr>
                                        <p:cTn id="5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48" y="-1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1" grpId="0" animBg="1"/>
      <p:bldP spid="52" grpId="0"/>
      <p:bldP spid="71" grpId="0" animBg="1"/>
      <p:bldP spid="74" grpId="0"/>
      <p:bldP spid="75" grpId="0"/>
      <p:bldP spid="76" grpId="0"/>
      <p:bldP spid="32" grpId="0" animBg="1"/>
      <p:bldP spid="33" grpId="0"/>
      <p:bldP spid="33" grpId="1"/>
      <p:bldP spid="36" grpId="0" animBg="1"/>
      <p:bldP spid="37" grpId="0"/>
      <p:bldP spid="37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存储器寻址小结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>
            <a:spLocks noChangeAspect="1"/>
          </p:cNvSpPr>
          <p:nvPr/>
        </p:nvSpPr>
        <p:spPr>
          <a:xfrm>
            <a:off x="755576" y="1455711"/>
            <a:ext cx="7704856" cy="197466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7"/>
          <p:cNvSpPr txBox="1"/>
          <p:nvPr/>
        </p:nvSpPr>
        <p:spPr>
          <a:xfrm>
            <a:off x="971600" y="1568659"/>
            <a:ext cx="7275958" cy="181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用于间接寻址的指针和寄存器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只能是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指针时，默认段地址是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可灵活访问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任意单元。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基址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变址只有四种组合：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BX+SI, BX+DI, BP+SI, BP+DI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，可在后面增加偏移量。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683568" y="3640768"/>
            <a:ext cx="3342268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AX, [CX]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7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0678" y="3527666"/>
            <a:ext cx="699274" cy="895423"/>
          </a:xfrm>
          <a:prstGeom prst="rect">
            <a:avLst/>
          </a:prstGeom>
          <a:noFill/>
        </p:spPr>
      </p:pic>
      <p:sp>
        <p:nvSpPr>
          <p:cNvPr id="21" name="TextBox 10"/>
          <p:cNvSpPr txBox="1">
            <a:spLocks noChangeArrowheads="1"/>
          </p:cNvSpPr>
          <p:nvPr/>
        </p:nvSpPr>
        <p:spPr bwMode="auto">
          <a:xfrm>
            <a:off x="683568" y="4478206"/>
            <a:ext cx="3342268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BX, [AX]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2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0678" y="4365104"/>
            <a:ext cx="699274" cy="895423"/>
          </a:xfrm>
          <a:prstGeom prst="rect">
            <a:avLst/>
          </a:prstGeom>
          <a:noFill/>
        </p:spPr>
      </p:pic>
      <p:sp>
        <p:nvSpPr>
          <p:cNvPr id="23" name="TextBox 10"/>
          <p:cNvSpPr txBox="1">
            <a:spLocks noChangeArrowheads="1"/>
          </p:cNvSpPr>
          <p:nvPr/>
        </p:nvSpPr>
        <p:spPr bwMode="auto">
          <a:xfrm>
            <a:off x="683568" y="5310975"/>
            <a:ext cx="3342268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BX, [SP]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4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0678" y="5197873"/>
            <a:ext cx="699274" cy="895423"/>
          </a:xfrm>
          <a:prstGeom prst="rect">
            <a:avLst/>
          </a:prstGeom>
          <a:noFill/>
        </p:spPr>
      </p:pic>
      <p:sp>
        <p:nvSpPr>
          <p:cNvPr id="25" name="TextBox 10"/>
          <p:cNvSpPr txBox="1">
            <a:spLocks noChangeArrowheads="1"/>
          </p:cNvSpPr>
          <p:nvPr/>
        </p:nvSpPr>
        <p:spPr bwMode="auto">
          <a:xfrm>
            <a:off x="4427984" y="3614110"/>
            <a:ext cx="3723610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AX, [SI+DI]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33166" y="3501008"/>
            <a:ext cx="699274" cy="895423"/>
          </a:xfrm>
          <a:prstGeom prst="rect">
            <a:avLst/>
          </a:prstGeom>
          <a:noFill/>
        </p:spPr>
      </p:pic>
      <p:sp>
        <p:nvSpPr>
          <p:cNvPr id="27" name="TextBox 10"/>
          <p:cNvSpPr txBox="1">
            <a:spLocks noChangeArrowheads="1"/>
          </p:cNvSpPr>
          <p:nvPr/>
        </p:nvSpPr>
        <p:spPr bwMode="auto">
          <a:xfrm>
            <a:off x="4427984" y="4451548"/>
            <a:ext cx="3939634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DX, [BX+BP]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8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49190" y="4338446"/>
            <a:ext cx="699274" cy="895423"/>
          </a:xfrm>
          <a:prstGeom prst="rect">
            <a:avLst/>
          </a:prstGeom>
          <a:noFill/>
        </p:spPr>
      </p:pic>
      <p:sp>
        <p:nvSpPr>
          <p:cNvPr id="29" name="TextBox 10"/>
          <p:cNvSpPr txBox="1">
            <a:spLocks noChangeArrowheads="1"/>
          </p:cNvSpPr>
          <p:nvPr/>
        </p:nvSpPr>
        <p:spPr bwMode="auto">
          <a:xfrm>
            <a:off x="4427984" y="5284317"/>
            <a:ext cx="4104456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DX, [SP+BX]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49190" y="5171215"/>
            <a:ext cx="699274" cy="89542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99405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隐含寻址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圆角矩形 4"/>
          <p:cNvSpPr/>
          <p:nvPr/>
        </p:nvSpPr>
        <p:spPr>
          <a:xfrm>
            <a:off x="842646" y="1485161"/>
            <a:ext cx="7476920" cy="748115"/>
          </a:xfrm>
          <a:prstGeom prst="roundRect">
            <a:avLst>
              <a:gd name="adj" fmla="val 5417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指令操作数是隐含的，在指令中未显式地指明。</a:t>
            </a: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3347864" y="2674395"/>
            <a:ext cx="2880320" cy="870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4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MUL  BL</a:t>
            </a:r>
            <a:endParaRPr lang="zh-CN" altLang="en-US" sz="138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27584" y="3905021"/>
            <a:ext cx="7476920" cy="748115"/>
          </a:xfrm>
          <a:prstGeom prst="roundRect">
            <a:avLst>
              <a:gd name="adj" fmla="val 541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ea typeface="微软雅黑" panose="020B0503020204020204" pitchFamily="34" charset="-122"/>
              </a:rPr>
              <a:t>AL  x   BL  </a:t>
            </a:r>
            <a:r>
              <a:rPr lang="en-US" altLang="zh-CN" sz="2800" b="1" dirty="0">
                <a:ea typeface="微软雅黑" panose="020B0503020204020204" pitchFamily="34" charset="-122"/>
                <a:sym typeface="Wingdings" panose="05000000000000000000" pitchFamily="2" charset="2"/>
              </a:rPr>
              <a:t>  AX</a:t>
            </a:r>
            <a:r>
              <a:rPr lang="zh-CN" altLang="en-US" sz="2800" b="1" dirty="0">
                <a:ea typeface="微软雅黑" panose="020B0503020204020204" pitchFamily="34" charset="-122"/>
                <a:sym typeface="Wingdings" panose="05000000000000000000" pitchFamily="2" charset="2"/>
              </a:rPr>
              <a:t>，</a:t>
            </a:r>
            <a:r>
              <a:rPr lang="zh-CN" altLang="en-US" sz="2400" b="1" dirty="0">
                <a:ea typeface="微软雅黑" panose="020B0503020204020204" pitchFamily="34" charset="-122"/>
                <a:sym typeface="Wingdings" panose="05000000000000000000" pitchFamily="2" charset="2"/>
              </a:rPr>
              <a:t>指令隐含了被乘数</a:t>
            </a:r>
            <a:r>
              <a:rPr lang="en-US" altLang="zh-CN" sz="2400" b="1" dirty="0">
                <a:ea typeface="微软雅黑" panose="020B0503020204020204" pitchFamily="34" charset="-122"/>
                <a:sym typeface="Wingdings" panose="05000000000000000000" pitchFamily="2" charset="2"/>
              </a:rPr>
              <a:t>AL</a:t>
            </a:r>
            <a:r>
              <a:rPr lang="zh-CN" altLang="en-US" sz="2400" b="1" dirty="0">
                <a:ea typeface="微软雅黑" panose="020B0503020204020204" pitchFamily="34" charset="-122"/>
                <a:sym typeface="Wingdings" panose="05000000000000000000" pitchFamily="2" charset="2"/>
              </a:rPr>
              <a:t>及乘积</a:t>
            </a:r>
            <a:r>
              <a:rPr lang="en-US" altLang="zh-CN" sz="2400" b="1" dirty="0">
                <a:ea typeface="微软雅黑" panose="020B0503020204020204" pitchFamily="34" charset="-122"/>
                <a:sym typeface="Wingdings" panose="05000000000000000000" pitchFamily="2" charset="2"/>
              </a:rPr>
              <a:t>AX</a:t>
            </a:r>
            <a:endParaRPr lang="zh-CN" altLang="en-US" sz="2400" b="1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91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其他寻址方式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圆角矩形 4"/>
          <p:cNvSpPr/>
          <p:nvPr/>
        </p:nvSpPr>
        <p:spPr>
          <a:xfrm>
            <a:off x="2021793" y="1700808"/>
            <a:ext cx="5286511" cy="869131"/>
          </a:xfrm>
          <a:prstGeom prst="roundRect">
            <a:avLst>
              <a:gd name="adj" fmla="val 5417"/>
            </a:avLst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转移类指令寻址：控制指令执行顺序。</a:t>
            </a:r>
            <a:r>
              <a:rPr lang="en-US" altLang="zh-CN" sz="2000" b="1" dirty="0">
                <a:ea typeface="微软雅黑" panose="020B0503020204020204" pitchFamily="34" charset="-122"/>
              </a:rPr>
              <a:t>JMP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021793" y="3928912"/>
            <a:ext cx="5286511" cy="869131"/>
            <a:chOff x="244645" y="3186673"/>
            <a:chExt cx="6548882" cy="581099"/>
          </a:xfrm>
        </p:grpSpPr>
        <p:sp>
          <p:nvSpPr>
            <p:cNvPr id="22" name="圆角矩形 21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solidFill>
              <a:srgbClr val="1D8D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3" name="TextBox 6"/>
            <p:cNvSpPr txBox="1"/>
            <p:nvPr/>
          </p:nvSpPr>
          <p:spPr>
            <a:xfrm>
              <a:off x="317994" y="3266487"/>
              <a:ext cx="6475533" cy="329246"/>
            </a:xfrm>
            <a:prstGeom prst="rect">
              <a:avLst/>
            </a:prstGeom>
            <a:solidFill>
              <a:srgbClr val="1D8DE5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I/O</a:t>
              </a:r>
              <a:r>
                <a:rPr lang="zh-CN" altLang="en-US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端口寻址：访问</a:t>
              </a:r>
              <a:r>
                <a:rPr lang="en-US" altLang="zh-CN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IO</a:t>
              </a:r>
              <a:r>
                <a:rPr lang="zh-CN" altLang="en-US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端口，</a:t>
              </a:r>
              <a:r>
                <a:rPr lang="en-US" altLang="zh-CN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IN</a:t>
              </a:r>
              <a:r>
                <a:rPr lang="zh-CN" altLang="en-US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en-US" altLang="zh-CN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OUT</a:t>
              </a:r>
              <a:r>
                <a:rPr lang="zh-CN" altLang="en-US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指令。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021793" y="2827194"/>
            <a:ext cx="5286511" cy="869131"/>
            <a:chOff x="244645" y="3186673"/>
            <a:chExt cx="6548882" cy="581099"/>
          </a:xfrm>
        </p:grpSpPr>
        <p:sp>
          <p:nvSpPr>
            <p:cNvPr id="28" name="圆角矩形 27"/>
            <p:cNvSpPr/>
            <p:nvPr/>
          </p:nvSpPr>
          <p:spPr>
            <a:xfrm>
              <a:off x="244645" y="3186673"/>
              <a:ext cx="6548882" cy="581099"/>
            </a:xfrm>
            <a:prstGeom prst="roundRect">
              <a:avLst>
                <a:gd name="adj" fmla="val 4375"/>
              </a:avLst>
            </a:prstGeom>
            <a:solidFill>
              <a:srgbClr val="FF32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rgbClr val="80C417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9" name="TextBox 6"/>
            <p:cNvSpPr txBox="1"/>
            <p:nvPr/>
          </p:nvSpPr>
          <p:spPr>
            <a:xfrm>
              <a:off x="317995" y="3266487"/>
              <a:ext cx="6475532" cy="329246"/>
            </a:xfrm>
            <a:prstGeom prst="rect">
              <a:avLst/>
            </a:prstGeom>
            <a:solidFill>
              <a:srgbClr val="FF3255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串操作指令寻址：用于数据串指令。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02314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75656" y="2502462"/>
            <a:ext cx="6769172" cy="1142562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MOV AX, [SI+10] </a:t>
            </a:r>
            <a:r>
              <a:rPr lang="zh-CN" altLang="en-US" sz="2000" b="1" dirty="0">
                <a:ea typeface="微软雅黑" panose="020B0503020204020204" pitchFamily="34" charset="-122"/>
              </a:rPr>
              <a:t>源操作数的寻址方式是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ea typeface="微软雅黑" panose="020B0503020204020204" pitchFamily="34" charset="-122"/>
              </a:rPr>
              <a:t>MOV AX, [BX+DI+100]</a:t>
            </a:r>
            <a:r>
              <a:rPr lang="zh-CN" altLang="en-US" sz="2000" b="1" dirty="0">
                <a:ea typeface="微软雅黑" panose="020B0503020204020204" pitchFamily="34" charset="-122"/>
              </a:rPr>
              <a:t>源操作数的寻址方式为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1475656" y="3861049"/>
            <a:ext cx="6769173" cy="889900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JMP BX</a:t>
            </a:r>
            <a:r>
              <a:rPr lang="zh-CN" altLang="en-US" sz="2000" b="1" dirty="0">
                <a:ea typeface="微软雅黑" panose="020B0503020204020204" pitchFamily="34" charset="-122"/>
              </a:rPr>
              <a:t>寻址方式是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 。</a:t>
            </a:r>
            <a:r>
              <a:rPr lang="en-US" altLang="zh-CN" sz="2000" b="1" dirty="0">
                <a:ea typeface="微软雅黑" panose="020B0503020204020204" pitchFamily="34" charset="-122"/>
              </a:rPr>
              <a:t>IN AL, DX </a:t>
            </a:r>
            <a:r>
              <a:rPr lang="zh-CN" altLang="en-US" sz="2000" b="1" dirty="0">
                <a:ea typeface="微软雅黑" panose="020B0503020204020204" pitchFamily="34" charset="-122"/>
              </a:rPr>
              <a:t>寻址方式是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矩形 7"/>
          <p:cNvSpPr/>
          <p:nvPr/>
        </p:nvSpPr>
        <p:spPr>
          <a:xfrm>
            <a:off x="1475656" y="4987372"/>
            <a:ext cx="6769172" cy="88990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判断对错：</a:t>
            </a:r>
            <a:r>
              <a:rPr lang="en-US" altLang="zh-CN" sz="2000" b="1" dirty="0">
                <a:ea typeface="微软雅黑" panose="020B0503020204020204" pitchFamily="34" charset="-122"/>
              </a:rPr>
              <a:t>MOV AX, [SP]             MOV  [BX+10], AX   </a:t>
            </a:r>
          </a:p>
          <a:p>
            <a:r>
              <a:rPr lang="en-US" altLang="zh-CN" sz="2000" b="1" dirty="0">
                <a:ea typeface="微软雅黑" panose="020B0503020204020204" pitchFamily="34" charset="-122"/>
              </a:rPr>
              <a:t>                      MOV CX, [BP][BX]     MOV   [SI][DI],  DX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5444" y="1484784"/>
            <a:ext cx="6769173" cy="838667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MOV  DX</a:t>
            </a:r>
            <a:r>
              <a:rPr lang="zh-CN" altLang="en-US" sz="2000" b="1" dirty="0">
                <a:ea typeface="微软雅黑" panose="020B0503020204020204" pitchFamily="34" charset="-122"/>
              </a:rPr>
              <a:t>， </a:t>
            </a:r>
            <a:r>
              <a:rPr lang="en-US" altLang="zh-CN" sz="2000" b="1" dirty="0">
                <a:ea typeface="微软雅黑" panose="020B0503020204020204" pitchFamily="34" charset="-122"/>
              </a:rPr>
              <a:t>[300H]</a:t>
            </a:r>
            <a:r>
              <a:rPr lang="zh-CN" altLang="en-US" sz="2000" b="1" dirty="0">
                <a:ea typeface="微软雅黑" panose="020B0503020204020204" pitchFamily="34" charset="-122"/>
              </a:rPr>
              <a:t> 源操作数和目标操作数的寻址方式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 </a:t>
            </a:r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 。</a:t>
            </a:r>
            <a:r>
              <a:rPr lang="zh-CN" altLang="en-US" sz="2000" b="1" u="sng" dirty="0">
                <a:solidFill>
                  <a:schemeClr val="bg1"/>
                </a:solidFill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矩形 9"/>
          <p:cNvSpPr/>
          <p:nvPr/>
        </p:nvSpPr>
        <p:spPr>
          <a:xfrm>
            <a:off x="899592" y="1484784"/>
            <a:ext cx="575852" cy="8386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9592" y="2502461"/>
            <a:ext cx="575852" cy="11425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99592" y="3861048"/>
            <a:ext cx="575852" cy="889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99592" y="4987370"/>
            <a:ext cx="575852" cy="889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742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200897" y="433861"/>
            <a:ext cx="3318266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检测点答案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75656" y="2502462"/>
            <a:ext cx="6769172" cy="1142562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变址寻址，基址加变址寻址</a:t>
            </a:r>
          </a:p>
        </p:txBody>
      </p:sp>
      <p:sp>
        <p:nvSpPr>
          <p:cNvPr id="7" name="矩形 6"/>
          <p:cNvSpPr/>
          <p:nvPr/>
        </p:nvSpPr>
        <p:spPr>
          <a:xfrm>
            <a:off x="1475656" y="3861049"/>
            <a:ext cx="6769173" cy="889900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转移指令寻址，间接端口寻址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5656" y="4987372"/>
            <a:ext cx="6769172" cy="88990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错，对，错，错。</a:t>
            </a:r>
          </a:p>
        </p:txBody>
      </p:sp>
      <p:sp>
        <p:nvSpPr>
          <p:cNvPr id="9" name="矩形 8"/>
          <p:cNvSpPr/>
          <p:nvPr/>
        </p:nvSpPr>
        <p:spPr>
          <a:xfrm>
            <a:off x="1475444" y="1484784"/>
            <a:ext cx="6769173" cy="838667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源操作数是直接存储器寻址，目标操作数是寄存器寻址。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9592" y="1484784"/>
            <a:ext cx="575852" cy="8386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9592" y="2502461"/>
            <a:ext cx="575852" cy="11425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99592" y="3861048"/>
            <a:ext cx="575852" cy="889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99592" y="4987370"/>
            <a:ext cx="575852" cy="8899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51191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可选过程 1"/>
          <p:cNvSpPr/>
          <p:nvPr/>
        </p:nvSpPr>
        <p:spPr>
          <a:xfrm>
            <a:off x="2062848" y="1700808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的寄存器有哪些？它们的功能有哪些？怎么使用这些寄存器？</a:t>
            </a:r>
          </a:p>
        </p:txBody>
      </p:sp>
      <p:sp>
        <p:nvSpPr>
          <p:cNvPr id="4" name="椭圆 3"/>
          <p:cNvSpPr/>
          <p:nvPr/>
        </p:nvSpPr>
        <p:spPr>
          <a:xfrm>
            <a:off x="1043608" y="1839910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483768" y="439305"/>
            <a:ext cx="4611463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回答本章前两个问题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971600" y="3096615"/>
            <a:ext cx="7491982" cy="1988569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7"/>
          <p:cNvSpPr txBox="1"/>
          <p:nvPr/>
        </p:nvSpPr>
        <p:spPr>
          <a:xfrm>
            <a:off x="1187624" y="3209563"/>
            <a:ext cx="6696743" cy="1606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通用寄存器。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，基址寄存器，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BP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基址指针，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源变址寄存器，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目标变址寄存器，它们用于间接寻址。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栈指针，指向栈顶。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段寄存器，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数据段寄存器，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栈段寄存器。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8885" y="2996952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5"/>
          <p:cNvSpPr txBox="1"/>
          <p:nvPr/>
        </p:nvSpPr>
        <p:spPr>
          <a:xfrm rot="2771384">
            <a:off x="7797821" y="3203489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回答</a:t>
            </a:r>
          </a:p>
        </p:txBody>
      </p:sp>
    </p:spTree>
    <p:extLst>
      <p:ext uri="{BB962C8B-B14F-4D97-AF65-F5344CB8AC3E}">
        <p14:creationId xmlns:p14="http://schemas.microsoft.com/office/powerpoint/2010/main" val="31890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可选过程 2"/>
          <p:cNvSpPr/>
          <p:nvPr/>
        </p:nvSpPr>
        <p:spPr>
          <a:xfrm>
            <a:off x="2051720" y="1700808"/>
            <a:ext cx="6397584" cy="902445"/>
          </a:xfrm>
          <a:prstGeom prst="flowChartAlternateProcess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的存储器的是怎么使用的？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是如何访问、寻址存储器的？</a:t>
            </a:r>
          </a:p>
        </p:txBody>
      </p:sp>
      <p:sp>
        <p:nvSpPr>
          <p:cNvPr id="5" name="椭圆 4"/>
          <p:cNvSpPr/>
          <p:nvPr/>
        </p:nvSpPr>
        <p:spPr>
          <a:xfrm>
            <a:off x="1043608" y="186865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483768" y="439305"/>
            <a:ext cx="4611463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回答本章前两个问题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971600" y="3096616"/>
            <a:ext cx="7491982" cy="170053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7"/>
          <p:cNvSpPr txBox="1"/>
          <p:nvPr/>
        </p:nvSpPr>
        <p:spPr>
          <a:xfrm>
            <a:off x="1187624" y="3209563"/>
            <a:ext cx="6696743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从逻辑上看，程序员按功能对存储器分段使用，程序员的角度看，采用逻辑地址，即段加偏移，来使用存储器；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把逻辑地址转换成物理地址访问存储器。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8885" y="2996952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5"/>
          <p:cNvSpPr txBox="1"/>
          <p:nvPr/>
        </p:nvSpPr>
        <p:spPr>
          <a:xfrm rot="2771384">
            <a:off x="7797821" y="3203489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回答</a:t>
            </a:r>
          </a:p>
        </p:txBody>
      </p:sp>
    </p:spTree>
    <p:extLst>
      <p:ext uri="{BB962C8B-B14F-4D97-AF65-F5344CB8AC3E}">
        <p14:creationId xmlns:p14="http://schemas.microsoft.com/office/powerpoint/2010/main" val="225385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作业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HOMEWORK</a:t>
            </a:r>
            <a:endParaRPr lang="zh-CN" altLang="en-US" sz="180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44942" y="2615982"/>
            <a:ext cx="5113338" cy="197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习题：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3.11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3.32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3.33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3.39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3.41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D:\Teliss_Tong\Copy\定期备份\工作备份\！PPT图片及版面资源\06-PPT精选插图\02-商务\GF0IEK5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499" y="1901808"/>
            <a:ext cx="2158349" cy="33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26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7050</TotalTime>
  <Words>3195</Words>
  <Application>Microsoft Office PowerPoint</Application>
  <PresentationFormat>全屏显示(4:3)</PresentationFormat>
  <Paragraphs>552</Paragraphs>
  <Slides>56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0" baseType="lpstr">
      <vt:lpstr>Arial Unicode MS</vt:lpstr>
      <vt:lpstr>经典繁仿黑</vt:lpstr>
      <vt:lpstr>宋体</vt:lpstr>
      <vt:lpstr>微软简综艺</vt:lpstr>
      <vt:lpstr>微软雅黑</vt:lpstr>
      <vt:lpstr>Arial</vt:lpstr>
      <vt:lpstr>Arial Black</vt:lpstr>
      <vt:lpstr>Broadway</vt:lpstr>
      <vt:lpstr>Calibri</vt:lpstr>
      <vt:lpstr>Impact</vt:lpstr>
      <vt:lpstr>Tahoma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837</cp:revision>
  <dcterms:created xsi:type="dcterms:W3CDTF">2012-06-23T00:51:09Z</dcterms:created>
  <dcterms:modified xsi:type="dcterms:W3CDTF">2016-05-21T03:00:19Z</dcterms:modified>
</cp:coreProperties>
</file>