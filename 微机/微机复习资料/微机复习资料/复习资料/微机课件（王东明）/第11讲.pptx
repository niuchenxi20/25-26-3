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48"/>
  </p:notesMasterIdLst>
  <p:sldIdLst>
    <p:sldId id="303" r:id="rId2"/>
    <p:sldId id="715" r:id="rId3"/>
    <p:sldId id="594" r:id="rId4"/>
    <p:sldId id="597" r:id="rId5"/>
    <p:sldId id="261" r:id="rId6"/>
    <p:sldId id="717" r:id="rId7"/>
    <p:sldId id="713" r:id="rId8"/>
    <p:sldId id="672" r:id="rId9"/>
    <p:sldId id="670" r:id="rId10"/>
    <p:sldId id="714" r:id="rId11"/>
    <p:sldId id="716" r:id="rId12"/>
    <p:sldId id="744" r:id="rId13"/>
    <p:sldId id="674" r:id="rId14"/>
    <p:sldId id="718" r:id="rId15"/>
    <p:sldId id="679" r:id="rId16"/>
    <p:sldId id="722" r:id="rId17"/>
    <p:sldId id="682" r:id="rId18"/>
    <p:sldId id="719" r:id="rId19"/>
    <p:sldId id="721" r:id="rId20"/>
    <p:sldId id="723" r:id="rId21"/>
    <p:sldId id="675" r:id="rId22"/>
    <p:sldId id="701" r:id="rId23"/>
    <p:sldId id="724" r:id="rId24"/>
    <p:sldId id="725" r:id="rId25"/>
    <p:sldId id="726" r:id="rId26"/>
    <p:sldId id="727" r:id="rId27"/>
    <p:sldId id="728" r:id="rId28"/>
    <p:sldId id="729" r:id="rId29"/>
    <p:sldId id="732" r:id="rId30"/>
    <p:sldId id="733" r:id="rId31"/>
    <p:sldId id="734" r:id="rId32"/>
    <p:sldId id="735" r:id="rId33"/>
    <p:sldId id="736" r:id="rId34"/>
    <p:sldId id="737" r:id="rId35"/>
    <p:sldId id="738" r:id="rId36"/>
    <p:sldId id="739" r:id="rId37"/>
    <p:sldId id="742" r:id="rId38"/>
    <p:sldId id="743" r:id="rId39"/>
    <p:sldId id="745" r:id="rId40"/>
    <p:sldId id="746" r:id="rId41"/>
    <p:sldId id="747" r:id="rId42"/>
    <p:sldId id="749" r:id="rId43"/>
    <p:sldId id="750" r:id="rId44"/>
    <p:sldId id="751" r:id="rId45"/>
    <p:sldId id="748" r:id="rId46"/>
    <p:sldId id="300" r:id="rId4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853"/>
    <a:srgbClr val="FD7A2A"/>
    <a:srgbClr val="1D8DE5"/>
    <a:srgbClr val="FF3255"/>
    <a:srgbClr val="FF9300"/>
    <a:srgbClr val="00B050"/>
    <a:srgbClr val="5DCB08"/>
    <a:srgbClr val="FBFBFB"/>
    <a:srgbClr val="608F60"/>
    <a:srgbClr val="2ABD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13" autoAdjust="0"/>
    <p:restoredTop sz="90426" autoAdjust="0"/>
  </p:normalViewPr>
  <p:slideViewPr>
    <p:cSldViewPr>
      <p:cViewPr varScale="1">
        <p:scale>
          <a:sx n="78" d="100"/>
          <a:sy n="78" d="100"/>
        </p:scale>
        <p:origin x="1445" y="67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84524F-5C8C-4CF8-964C-68B44E826FEE}" type="datetimeFigureOut">
              <a:rPr lang="en-US" smtClean="0"/>
              <a:t>5/17/2017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E00F3E-42E3-47B8-AD52-3484E0D8A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4119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本章需要回答这几个非常重要的问题。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581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1652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3193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2443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8368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1570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3380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控制字和工作方式的概述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5898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先了解</a:t>
            </a:r>
            <a:r>
              <a:rPr lang="en-US" altLang="zh-CN" dirty="0"/>
              <a:t>ABC</a:t>
            </a:r>
            <a:r>
              <a:rPr lang="zh-CN" altLang="en-US" dirty="0"/>
              <a:t>口的大致工作方式的设置。到此，我们还只能解读这么多。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9449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1090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8292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4667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311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://www.eyefulpresentations.co.uk/" TargetMode="External"/><Relationship Id="rId7" Type="http://schemas.openxmlformats.org/officeDocument/2006/relationships/image" Target="../media/image7.png"/><Relationship Id="rId2" Type="http://schemas.openxmlformats.org/officeDocument/2006/relationships/hyperlink" Target="mailto:info@eyefulpresentations.co.uk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Relationship Id="rId9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32"/>
          <p:cNvSpPr txBox="1">
            <a:spLocks noChangeArrowheads="1"/>
          </p:cNvSpPr>
          <p:nvPr userDrawn="1"/>
        </p:nvSpPr>
        <p:spPr bwMode="auto">
          <a:xfrm>
            <a:off x="539552" y="1265747"/>
            <a:ext cx="7488832" cy="814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b" anchorCtr="1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30000"/>
              </a:lnSpc>
              <a:defRPr/>
            </a:pPr>
            <a:r>
              <a:rPr lang="zh-CN" altLang="en-US" sz="4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第七章 可编程接口芯片及应用</a:t>
            </a:r>
          </a:p>
        </p:txBody>
      </p:sp>
      <p:cxnSp>
        <p:nvCxnSpPr>
          <p:cNvPr id="8" name="直接连接符 7"/>
          <p:cNvCxnSpPr/>
          <p:nvPr userDrawn="1"/>
        </p:nvCxnSpPr>
        <p:spPr bwMode="auto">
          <a:xfrm>
            <a:off x="755576" y="2349500"/>
            <a:ext cx="712928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algn="ctr" rotWithShape="0">
              <a:prstClr val="black">
                <a:alpha val="64000"/>
              </a:prstClr>
            </a:outerShdw>
          </a:effectLst>
        </p:spPr>
      </p:cxnSp>
      <p:sp>
        <p:nvSpPr>
          <p:cNvPr id="9" name="矩形 8"/>
          <p:cNvSpPr>
            <a:spLocks noChangeArrowheads="1"/>
          </p:cNvSpPr>
          <p:nvPr userDrawn="1"/>
        </p:nvSpPr>
        <p:spPr bwMode="auto">
          <a:xfrm>
            <a:off x="755576" y="549275"/>
            <a:ext cx="39592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微机系统与接口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827089" y="2508250"/>
            <a:ext cx="3096840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700" b="1" dirty="0">
                <a:solidFill>
                  <a:srgbClr val="FC6204"/>
                </a:solidFill>
                <a:latin typeface="微软雅黑" pitchFamily="34" charset="-122"/>
                <a:ea typeface="微软雅黑" pitchFamily="34" charset="-122"/>
                <a:cs typeface="Tahoma" pitchFamily="34" charset="0"/>
              </a:rPr>
              <a:t>东南大学信息科学与工程学院</a:t>
            </a:r>
            <a:endParaRPr lang="en-US" altLang="zh-CN" sz="1700" b="1" dirty="0">
              <a:solidFill>
                <a:srgbClr val="FC6204"/>
              </a:solidFill>
              <a:latin typeface="微软雅黑" pitchFamily="34" charset="-122"/>
              <a:ea typeface="微软雅黑" pitchFamily="34" charset="-122"/>
              <a:cs typeface="Tahoma" pitchFamily="34" charset="0"/>
            </a:endParaRPr>
          </a:p>
        </p:txBody>
      </p:sp>
      <p:sp>
        <p:nvSpPr>
          <p:cNvPr id="17" name="TextBox 18"/>
          <p:cNvSpPr txBox="1"/>
          <p:nvPr userDrawn="1"/>
        </p:nvSpPr>
        <p:spPr>
          <a:xfrm>
            <a:off x="7235825" y="5733256"/>
            <a:ext cx="1152599" cy="4616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  <a:latin typeface="Broadway" pitchFamily="82" charset="0"/>
                <a:ea typeface="微软雅黑" panose="020B0503020204020204" pitchFamily="34" charset="-122"/>
                <a:cs typeface="经典繁仿黑" pitchFamily="49" charset="-122"/>
              </a:rPr>
              <a:t>王东明</a:t>
            </a:r>
          </a:p>
        </p:txBody>
      </p:sp>
      <p:pic>
        <p:nvPicPr>
          <p:cNvPr id="18" name="Picture 2" descr="D:\Teliss_Tong\Copy\定期备份\工作备份\！PPT图片及版面资源\06-PPT精选插图\04-图标\59E394F1F59BE1688CBD1D9A59D1E886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55776" y="2986582"/>
            <a:ext cx="2885504" cy="3138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1214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7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43608" y="0"/>
            <a:ext cx="1080120" cy="1052736"/>
          </a:xfrm>
          <a:prstGeom prst="rect">
            <a:avLst/>
          </a:prstGeom>
          <a:solidFill>
            <a:srgbClr val="FF91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1043608" y="548680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前言</a:t>
            </a:r>
          </a:p>
        </p:txBody>
      </p:sp>
      <p:sp>
        <p:nvSpPr>
          <p:cNvPr id="4" name="椭圆 3"/>
          <p:cNvSpPr/>
          <p:nvPr userDrawn="1"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Box 15"/>
          <p:cNvSpPr txBox="1"/>
          <p:nvPr userDrawn="1"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741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43608" y="0"/>
            <a:ext cx="1080120" cy="1052736"/>
          </a:xfrm>
          <a:prstGeom prst="rect">
            <a:avLst/>
          </a:prstGeom>
          <a:solidFill>
            <a:srgbClr val="FF91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1043608" y="526368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目录页</a:t>
            </a:r>
          </a:p>
        </p:txBody>
      </p:sp>
      <p:sp>
        <p:nvSpPr>
          <p:cNvPr id="6" name="椭圆 5"/>
          <p:cNvSpPr/>
          <p:nvPr userDrawn="1"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15"/>
          <p:cNvSpPr txBox="1"/>
          <p:nvPr userDrawn="1"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18" name="Picture 3" descr="D:\Teliss_Tong\Copy\定期备份\工作备份\！PPT图片及版面资源\06-PPT精选插图\04-图标\西装小人.png"/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43608" y="1852068"/>
            <a:ext cx="2210937" cy="3098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0766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43608" y="0"/>
            <a:ext cx="1080120" cy="1052736"/>
          </a:xfrm>
          <a:prstGeom prst="rect">
            <a:avLst/>
          </a:prstGeom>
          <a:solidFill>
            <a:srgbClr val="FF91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1043608" y="526368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过渡页</a:t>
            </a:r>
          </a:p>
        </p:txBody>
      </p:sp>
      <p:sp>
        <p:nvSpPr>
          <p:cNvPr id="6" name="椭圆 5"/>
          <p:cNvSpPr/>
          <p:nvPr userDrawn="1"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15"/>
          <p:cNvSpPr txBox="1"/>
          <p:nvPr userDrawn="1"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6169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4354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1619251" y="548680"/>
            <a:ext cx="5905499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eaLnBrk="0" hangingPunct="0">
              <a:buFont typeface="Wingdings" pitchFamily="2" charset="2"/>
              <a:buNone/>
            </a:pPr>
            <a:endParaRPr lang="zh-CN" altLang="en-US" sz="3200" b="1" dirty="0">
              <a:solidFill>
                <a:prstClr val="white">
                  <a:lumMod val="65000"/>
                </a:prstClr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2349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60">
            <a:hlinkClick r:id="rId2"/>
          </p:cNvPr>
          <p:cNvSpPr>
            <a:spLocks noChangeArrowheads="1"/>
          </p:cNvSpPr>
          <p:nvPr userDrawn="1"/>
        </p:nvSpPr>
        <p:spPr bwMode="auto">
          <a:xfrm>
            <a:off x="5004049" y="2757241"/>
            <a:ext cx="444010" cy="523875"/>
          </a:xfrm>
          <a:prstGeom prst="ellipse">
            <a:avLst/>
          </a:prstGeom>
          <a:solidFill>
            <a:srgbClr val="0079C5">
              <a:alpha val="0"/>
            </a:srgbClr>
          </a:solidFill>
          <a:ln w="33338">
            <a:noFill/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" name="Oval 61">
            <a:hlinkClick r:id="rId3"/>
          </p:cNvPr>
          <p:cNvSpPr>
            <a:spLocks noChangeArrowheads="1"/>
          </p:cNvSpPr>
          <p:nvPr userDrawn="1"/>
        </p:nvSpPr>
        <p:spPr bwMode="auto">
          <a:xfrm>
            <a:off x="5016011" y="3565675"/>
            <a:ext cx="420086" cy="521494"/>
          </a:xfrm>
          <a:prstGeom prst="ellipse">
            <a:avLst/>
          </a:prstGeom>
          <a:solidFill>
            <a:srgbClr val="0079C5">
              <a:alpha val="0"/>
            </a:srgbClr>
          </a:solidFill>
          <a:ln w="33338">
            <a:noFill/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4" name="矩形​​ 5"/>
          <p:cNvSpPr>
            <a:spLocks noChangeArrowheads="1"/>
          </p:cNvSpPr>
          <p:nvPr userDrawn="1"/>
        </p:nvSpPr>
        <p:spPr bwMode="auto">
          <a:xfrm>
            <a:off x="98301" y="538162"/>
            <a:ext cx="8964613" cy="3946525"/>
          </a:xfrm>
          <a:prstGeom prst="rect">
            <a:avLst/>
          </a:prstGeom>
          <a:solidFill>
            <a:srgbClr val="00ADDC"/>
          </a:solidFill>
          <a:ln w="9525" cmpd="sng">
            <a:noFill/>
            <a:miter lim="800000"/>
            <a:headEnd/>
            <a:tailEnd/>
          </a:ln>
        </p:spPr>
        <p:txBody>
          <a:bodyPr lIns="288000" anchor="b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 sz="2800" dirty="0">
              <a:solidFill>
                <a:prstClr val="white"/>
              </a:solidFill>
              <a:ea typeface="微软雅黑" panose="020B0503020204020204" pitchFamily="34" charset="-122"/>
              <a:sym typeface="Arial" pitchFamily="34" charset="0"/>
            </a:endParaRPr>
          </a:p>
        </p:txBody>
      </p:sp>
      <p:sp>
        <p:nvSpPr>
          <p:cNvPr id="6" name="Line 33"/>
          <p:cNvSpPr>
            <a:spLocks noChangeShapeType="1"/>
          </p:cNvSpPr>
          <p:nvPr userDrawn="1"/>
        </p:nvSpPr>
        <p:spPr bwMode="auto">
          <a:xfrm flipV="1">
            <a:off x="5224465" y="1671390"/>
            <a:ext cx="1587" cy="2700338"/>
          </a:xfrm>
          <a:prstGeom prst="line">
            <a:avLst/>
          </a:prstGeom>
          <a:noFill/>
          <a:ln w="33338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8" name="Freeform 18"/>
          <p:cNvSpPr>
            <a:spLocks/>
          </p:cNvSpPr>
          <p:nvPr userDrawn="1"/>
        </p:nvSpPr>
        <p:spPr bwMode="auto">
          <a:xfrm>
            <a:off x="1366838" y="2767956"/>
            <a:ext cx="201612" cy="1279922"/>
          </a:xfrm>
          <a:custGeom>
            <a:avLst/>
            <a:gdLst>
              <a:gd name="T0" fmla="*/ 127 w 127"/>
              <a:gd name="T1" fmla="*/ 0 h 1075"/>
              <a:gd name="T2" fmla="*/ 0 w 127"/>
              <a:gd name="T3" fmla="*/ 1075 h 1075"/>
              <a:gd name="T4" fmla="*/ 127 w 127"/>
              <a:gd name="T5" fmla="*/ 0 h 1075"/>
              <a:gd name="T6" fmla="*/ 0 60000 65536"/>
              <a:gd name="T7" fmla="*/ 0 60000 65536"/>
              <a:gd name="T8" fmla="*/ 0 60000 65536"/>
              <a:gd name="T9" fmla="*/ 0 w 127"/>
              <a:gd name="T10" fmla="*/ 0 h 1075"/>
              <a:gd name="T11" fmla="*/ 127 w 127"/>
              <a:gd name="T12" fmla="*/ 1075 h 107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7" h="1075">
                <a:moveTo>
                  <a:pt x="127" y="0"/>
                </a:moveTo>
                <a:lnTo>
                  <a:pt x="0" y="1075"/>
                </a:lnTo>
                <a:lnTo>
                  <a:pt x="127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0" name="Freeform 20"/>
          <p:cNvSpPr>
            <a:spLocks/>
          </p:cNvSpPr>
          <p:nvPr userDrawn="1"/>
        </p:nvSpPr>
        <p:spPr bwMode="auto">
          <a:xfrm>
            <a:off x="2717800" y="2561978"/>
            <a:ext cx="7938" cy="1806178"/>
          </a:xfrm>
          <a:custGeom>
            <a:avLst/>
            <a:gdLst>
              <a:gd name="T0" fmla="*/ 0 w 5"/>
              <a:gd name="T1" fmla="*/ 0 h 1517"/>
              <a:gd name="T2" fmla="*/ 5 w 5"/>
              <a:gd name="T3" fmla="*/ 1517 h 1517"/>
              <a:gd name="T4" fmla="*/ 0 w 5"/>
              <a:gd name="T5" fmla="*/ 0 h 1517"/>
              <a:gd name="T6" fmla="*/ 0 60000 65536"/>
              <a:gd name="T7" fmla="*/ 0 60000 65536"/>
              <a:gd name="T8" fmla="*/ 0 60000 65536"/>
              <a:gd name="T9" fmla="*/ 0 w 5"/>
              <a:gd name="T10" fmla="*/ 0 h 1517"/>
              <a:gd name="T11" fmla="*/ 5 w 5"/>
              <a:gd name="T12" fmla="*/ 1517 h 15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" h="1517">
                <a:moveTo>
                  <a:pt x="0" y="0"/>
                </a:moveTo>
                <a:lnTo>
                  <a:pt x="5" y="151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2" name="Oval 22"/>
          <p:cNvSpPr>
            <a:spLocks noChangeArrowheads="1"/>
          </p:cNvSpPr>
          <p:nvPr userDrawn="1"/>
        </p:nvSpPr>
        <p:spPr bwMode="auto">
          <a:xfrm>
            <a:off x="4716019" y="692696"/>
            <a:ext cx="1008109" cy="978694"/>
          </a:xfrm>
          <a:prstGeom prst="ellipse">
            <a:avLst/>
          </a:prstGeom>
          <a:noFill/>
          <a:ln w="33338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white"/>
                </a:solidFill>
                <a:ea typeface="微软雅黑" panose="020B0503020204020204" pitchFamily="34" charset="-122"/>
              </a:rPr>
              <a:t>授课教师</a:t>
            </a:r>
          </a:p>
        </p:txBody>
      </p:sp>
      <p:sp>
        <p:nvSpPr>
          <p:cNvPr id="14" name="Oval 25"/>
          <p:cNvSpPr>
            <a:spLocks noChangeArrowheads="1"/>
          </p:cNvSpPr>
          <p:nvPr userDrawn="1"/>
        </p:nvSpPr>
        <p:spPr bwMode="auto">
          <a:xfrm>
            <a:off x="4944003" y="1965479"/>
            <a:ext cx="564102" cy="523876"/>
          </a:xfrm>
          <a:prstGeom prst="ellipse">
            <a:avLst/>
          </a:prstGeom>
          <a:solidFill>
            <a:schemeClr val="accent1"/>
          </a:solidFill>
          <a:ln w="33338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grpSp>
        <p:nvGrpSpPr>
          <p:cNvPr id="16" name="Group 63"/>
          <p:cNvGrpSpPr>
            <a:grpSpLocks/>
          </p:cNvGrpSpPr>
          <p:nvPr userDrawn="1"/>
        </p:nvGrpSpPr>
        <p:grpSpPr bwMode="auto">
          <a:xfrm>
            <a:off x="4944004" y="2757241"/>
            <a:ext cx="564100" cy="523875"/>
            <a:chOff x="3073" y="2610"/>
            <a:chExt cx="438" cy="440"/>
          </a:xfrm>
        </p:grpSpPr>
        <p:sp>
          <p:nvSpPr>
            <p:cNvPr id="17" name="Rectangle 28"/>
            <p:cNvSpPr>
              <a:spLocks noChangeArrowheads="1"/>
            </p:cNvSpPr>
            <p:nvPr/>
          </p:nvSpPr>
          <p:spPr bwMode="auto">
            <a:xfrm>
              <a:off x="3181" y="2748"/>
              <a:ext cx="222" cy="164"/>
            </a:xfrm>
            <a:prstGeom prst="rect">
              <a:avLst/>
            </a:prstGeom>
            <a:solidFill>
              <a:srgbClr val="FFFFFF"/>
            </a:solidFill>
            <a:ln w="11113">
              <a:noFill/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18" name="Freeform 29"/>
            <p:cNvSpPr>
              <a:spLocks/>
            </p:cNvSpPr>
            <p:nvPr/>
          </p:nvSpPr>
          <p:spPr bwMode="auto">
            <a:xfrm>
              <a:off x="3182" y="2748"/>
              <a:ext cx="220" cy="110"/>
            </a:xfrm>
            <a:custGeom>
              <a:avLst/>
              <a:gdLst>
                <a:gd name="T0" fmla="*/ 0 w 278"/>
                <a:gd name="T1" fmla="*/ 0 h 140"/>
                <a:gd name="T2" fmla="*/ 138 w 278"/>
                <a:gd name="T3" fmla="*/ 140 h 140"/>
                <a:gd name="T4" fmla="*/ 278 w 278"/>
                <a:gd name="T5" fmla="*/ 0 h 140"/>
                <a:gd name="T6" fmla="*/ 0 w 278"/>
                <a:gd name="T7" fmla="*/ 0 h 1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78"/>
                <a:gd name="T13" fmla="*/ 0 h 140"/>
                <a:gd name="T14" fmla="*/ 278 w 278"/>
                <a:gd name="T15" fmla="*/ 140 h 1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78" h="140">
                  <a:moveTo>
                    <a:pt x="0" y="0"/>
                  </a:moveTo>
                  <a:lnTo>
                    <a:pt x="138" y="140"/>
                  </a:lnTo>
                  <a:lnTo>
                    <a:pt x="2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accent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19" name="Oval 27"/>
            <p:cNvSpPr>
              <a:spLocks noChangeArrowheads="1"/>
            </p:cNvSpPr>
            <p:nvPr/>
          </p:nvSpPr>
          <p:spPr bwMode="auto">
            <a:xfrm>
              <a:off x="3073" y="2610"/>
              <a:ext cx="438" cy="440"/>
            </a:xfrm>
            <a:prstGeom prst="ellipse">
              <a:avLst/>
            </a:prstGeom>
            <a:solidFill>
              <a:schemeClr val="accent1"/>
            </a:solidFill>
            <a:ln w="333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Group 64"/>
          <p:cNvGrpSpPr>
            <a:grpSpLocks/>
          </p:cNvGrpSpPr>
          <p:nvPr userDrawn="1"/>
        </p:nvGrpSpPr>
        <p:grpSpPr bwMode="auto">
          <a:xfrm>
            <a:off x="4944004" y="3565675"/>
            <a:ext cx="564100" cy="521494"/>
            <a:chOff x="3073" y="3289"/>
            <a:chExt cx="438" cy="438"/>
          </a:xfrm>
        </p:grpSpPr>
        <p:sp>
          <p:nvSpPr>
            <p:cNvPr id="21" name="Freeform 32"/>
            <p:cNvSpPr>
              <a:spLocks/>
            </p:cNvSpPr>
            <p:nvPr/>
          </p:nvSpPr>
          <p:spPr bwMode="auto">
            <a:xfrm>
              <a:off x="3173" y="3389"/>
              <a:ext cx="240" cy="241"/>
            </a:xfrm>
            <a:custGeom>
              <a:avLst/>
              <a:gdLst>
                <a:gd name="T0" fmla="*/ 303 w 303"/>
                <a:gd name="T1" fmla="*/ 263 h 305"/>
                <a:gd name="T2" fmla="*/ 171 w 303"/>
                <a:gd name="T3" fmla="*/ 131 h 305"/>
                <a:gd name="T4" fmla="*/ 223 w 303"/>
                <a:gd name="T5" fmla="*/ 77 h 305"/>
                <a:gd name="T6" fmla="*/ 0 w 303"/>
                <a:gd name="T7" fmla="*/ 0 h 305"/>
                <a:gd name="T8" fmla="*/ 76 w 303"/>
                <a:gd name="T9" fmla="*/ 224 h 305"/>
                <a:gd name="T10" fmla="*/ 129 w 303"/>
                <a:gd name="T11" fmla="*/ 170 h 305"/>
                <a:gd name="T12" fmla="*/ 262 w 303"/>
                <a:gd name="T13" fmla="*/ 305 h 305"/>
                <a:gd name="T14" fmla="*/ 303 w 303"/>
                <a:gd name="T15" fmla="*/ 263 h 30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03"/>
                <a:gd name="T25" fmla="*/ 0 h 305"/>
                <a:gd name="T26" fmla="*/ 303 w 303"/>
                <a:gd name="T27" fmla="*/ 305 h 30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03" h="305">
                  <a:moveTo>
                    <a:pt x="303" y="263"/>
                  </a:moveTo>
                  <a:lnTo>
                    <a:pt x="171" y="131"/>
                  </a:lnTo>
                  <a:lnTo>
                    <a:pt x="223" y="77"/>
                  </a:lnTo>
                  <a:lnTo>
                    <a:pt x="0" y="0"/>
                  </a:lnTo>
                  <a:lnTo>
                    <a:pt x="76" y="224"/>
                  </a:lnTo>
                  <a:lnTo>
                    <a:pt x="129" y="170"/>
                  </a:lnTo>
                  <a:lnTo>
                    <a:pt x="262" y="305"/>
                  </a:lnTo>
                  <a:lnTo>
                    <a:pt x="303" y="263"/>
                  </a:lnTo>
                  <a:close/>
                </a:path>
              </a:pathLst>
            </a:custGeom>
            <a:solidFill>
              <a:schemeClr val="bg1"/>
            </a:solidFill>
            <a:ln w="11113" cap="flat">
              <a:noFill/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2" name="Oval 30"/>
            <p:cNvSpPr>
              <a:spLocks noChangeArrowheads="1"/>
            </p:cNvSpPr>
            <p:nvPr/>
          </p:nvSpPr>
          <p:spPr bwMode="auto">
            <a:xfrm>
              <a:off x="3073" y="3289"/>
              <a:ext cx="438" cy="438"/>
            </a:xfrm>
            <a:prstGeom prst="ellipse">
              <a:avLst/>
            </a:prstGeom>
            <a:solidFill>
              <a:schemeClr val="accent1"/>
            </a:solidFill>
            <a:ln w="333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23" name="Line 43"/>
          <p:cNvSpPr>
            <a:spLocks noChangeShapeType="1"/>
          </p:cNvSpPr>
          <p:nvPr userDrawn="1"/>
        </p:nvSpPr>
        <p:spPr bwMode="auto">
          <a:xfrm>
            <a:off x="774700" y="2878685"/>
            <a:ext cx="1588" cy="1190"/>
          </a:xfrm>
          <a:prstGeom prst="line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4" name="Line 45"/>
          <p:cNvSpPr>
            <a:spLocks noChangeShapeType="1"/>
          </p:cNvSpPr>
          <p:nvPr userDrawn="1"/>
        </p:nvSpPr>
        <p:spPr bwMode="auto">
          <a:xfrm>
            <a:off x="3741739" y="910581"/>
            <a:ext cx="1587" cy="1191"/>
          </a:xfrm>
          <a:prstGeom prst="line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1" name="Text Box 52"/>
          <p:cNvSpPr txBox="1">
            <a:spLocks noChangeArrowheads="1"/>
          </p:cNvSpPr>
          <p:nvPr userDrawn="1"/>
        </p:nvSpPr>
        <p:spPr bwMode="auto">
          <a:xfrm>
            <a:off x="5802759" y="2051200"/>
            <a:ext cx="3233737" cy="351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Tel</a:t>
            </a:r>
            <a:r>
              <a: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13915982595</a:t>
            </a:r>
            <a:endParaRPr lang="en-GB" altLang="zh-CN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2" name="Text Box 54"/>
          <p:cNvSpPr txBox="1">
            <a:spLocks noChangeArrowheads="1"/>
          </p:cNvSpPr>
          <p:nvPr userDrawn="1"/>
        </p:nvSpPr>
        <p:spPr bwMode="auto">
          <a:xfrm>
            <a:off x="5796136" y="2842965"/>
            <a:ext cx="2952328" cy="3512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wangdm@seu.edu.cn</a:t>
            </a:r>
          </a:p>
        </p:txBody>
      </p:sp>
      <p:sp>
        <p:nvSpPr>
          <p:cNvPr id="33" name="Text Box 59"/>
          <p:cNvSpPr txBox="1">
            <a:spLocks noChangeArrowheads="1"/>
          </p:cNvSpPr>
          <p:nvPr userDrawn="1"/>
        </p:nvSpPr>
        <p:spPr bwMode="auto">
          <a:xfrm>
            <a:off x="5796136" y="3668617"/>
            <a:ext cx="1728192" cy="351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FFFFFF"/>
                </a:solidFill>
                <a:ea typeface="微软雅黑" panose="020B0503020204020204" pitchFamily="34" charset="-122"/>
              </a:rPr>
              <a:t>无线谷</a:t>
            </a:r>
            <a:r>
              <a:rPr lang="en-US" altLang="zh-CN" sz="1600" b="1" dirty="0">
                <a:solidFill>
                  <a:srgbClr val="FFFFFF"/>
                </a:solidFill>
                <a:ea typeface="微软雅黑" panose="020B0503020204020204" pitchFamily="34" charset="-122"/>
              </a:rPr>
              <a:t>1-205</a:t>
            </a:r>
            <a:endParaRPr lang="en-US" altLang="zh-CN" sz="1600" b="1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4" name="Text Box 62"/>
          <p:cNvSpPr txBox="1">
            <a:spLocks noChangeArrowheads="1"/>
          </p:cNvSpPr>
          <p:nvPr userDrawn="1"/>
        </p:nvSpPr>
        <p:spPr bwMode="auto">
          <a:xfrm>
            <a:off x="5796136" y="764704"/>
            <a:ext cx="3252000" cy="919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FFFFFF"/>
                </a:solidFill>
                <a:ea typeface="微软雅黑" panose="020B0503020204020204" pitchFamily="34" charset="-122"/>
              </a:rPr>
              <a:t>王东明</a:t>
            </a:r>
            <a:endParaRPr lang="en-US" altLang="zh-CN" sz="1600" b="1" dirty="0">
              <a:solidFill>
                <a:srgbClr val="FFFFFF"/>
              </a:solidFill>
              <a:ea typeface="微软雅黑" panose="020B0503020204020204" pitchFamily="34" charset="-122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FFFFFF"/>
                </a:solidFill>
                <a:ea typeface="微软雅黑" panose="020B0503020204020204" pitchFamily="34" charset="-122"/>
              </a:rPr>
              <a:t>移动通信国家重点实验室</a:t>
            </a:r>
            <a:endParaRPr lang="en-GB" altLang="zh-CN" sz="1100" b="1" dirty="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35" name="TextBox 34"/>
          <p:cNvSpPr txBox="1"/>
          <p:nvPr userDrawn="1"/>
        </p:nvSpPr>
        <p:spPr>
          <a:xfrm>
            <a:off x="969273" y="1916832"/>
            <a:ext cx="2954655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5400" b="1" dirty="0">
                <a:solidFill>
                  <a:srgbClr val="FFFFFF"/>
                </a:solidFill>
                <a:ea typeface="微软雅黑" panose="020B0503020204020204" pitchFamily="34" charset="-122"/>
              </a:rPr>
              <a:t>谢谢听讲</a:t>
            </a:r>
          </a:p>
        </p:txBody>
      </p: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699" y="4609838"/>
            <a:ext cx="2889201" cy="1909115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9579" y="4609838"/>
            <a:ext cx="3024336" cy="1921895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4603449"/>
            <a:ext cx="2863673" cy="1909115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742" y="2823944"/>
            <a:ext cx="402490" cy="402490"/>
          </a:xfrm>
          <a:prstGeom prst="rect">
            <a:avLst/>
          </a:prstGeom>
        </p:spPr>
      </p:pic>
      <p:pic>
        <p:nvPicPr>
          <p:cNvPr id="41" name="Picture 4" descr="E:\仝德志文件，勿删！\03-参考文档\！PPT图片及版面资源\06-PPT精选插图\04-图标\home256.png"/>
          <p:cNvPicPr>
            <a:picLocks noChangeAspect="1" noChangeArrowheads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63037" y="3651103"/>
            <a:ext cx="357899" cy="357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5" descr="E:\仝德志文件，勿删！\03-参考文档\！PPT图片及版面资源\06-PPT精选插图\04-图标\png-0030.png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55260" y="2054293"/>
            <a:ext cx="348142" cy="348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6169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10" grpId="0" animBg="1"/>
      <p:bldP spid="12" grpId="0" animBg="1"/>
      <p:bldP spid="23" grpId="0"/>
      <p:bldP spid="24" grpId="0"/>
      <p:bldP spid="31" grpId="0"/>
      <p:bldP spid="32" grpId="0"/>
      <p:bldP spid="33" grpId="0"/>
      <p:bldP spid="34" grpId="0"/>
      <p:bldP spid="35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-32" y="6599238"/>
            <a:ext cx="730726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7367588" y="6165850"/>
            <a:ext cx="0" cy="43180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7451725" y="6308725"/>
            <a:ext cx="0" cy="288925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V="1">
            <a:off x="611188" y="-26988"/>
            <a:ext cx="0" cy="431801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768350" y="0"/>
            <a:ext cx="0" cy="287338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 userDrawn="1"/>
        </p:nvSpPr>
        <p:spPr>
          <a:xfrm>
            <a:off x="431188" y="6201750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TextBox 15"/>
          <p:cNvSpPr txBox="1"/>
          <p:nvPr userDrawn="1"/>
        </p:nvSpPr>
        <p:spPr>
          <a:xfrm>
            <a:off x="285973" y="6212473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0569" y="6043193"/>
            <a:ext cx="705847" cy="69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669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66" r:id="rId2"/>
    <p:sldLayoutId id="2147483671" r:id="rId3"/>
    <p:sldLayoutId id="2147483676" r:id="rId4"/>
    <p:sldLayoutId id="2147483677" r:id="rId5"/>
    <p:sldLayoutId id="2147483681" r:id="rId6"/>
    <p:sldLayoutId id="2147483678" r:id="rId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7804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并行通信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grpSp>
        <p:nvGrpSpPr>
          <p:cNvPr id="5" name="Group 5"/>
          <p:cNvGrpSpPr>
            <a:grpSpLocks/>
          </p:cNvGrpSpPr>
          <p:nvPr/>
        </p:nvGrpSpPr>
        <p:grpSpPr bwMode="auto">
          <a:xfrm>
            <a:off x="2071886" y="3074640"/>
            <a:ext cx="1295400" cy="2514600"/>
            <a:chOff x="864" y="2400"/>
            <a:chExt cx="816" cy="1584"/>
          </a:xfrm>
          <a:solidFill>
            <a:srgbClr val="FD7A2A"/>
          </a:solidFill>
        </p:grpSpPr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864" y="2400"/>
              <a:ext cx="816" cy="1584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1043" y="2784"/>
              <a:ext cx="349" cy="76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计 算 机</a:t>
              </a:r>
            </a:p>
          </p:txBody>
        </p:sp>
      </p:grpSp>
      <p:grpSp>
        <p:nvGrpSpPr>
          <p:cNvPr id="8" name="Group 8"/>
          <p:cNvGrpSpPr>
            <a:grpSpLocks/>
          </p:cNvGrpSpPr>
          <p:nvPr/>
        </p:nvGrpSpPr>
        <p:grpSpPr bwMode="auto">
          <a:xfrm>
            <a:off x="5653286" y="3074640"/>
            <a:ext cx="1295400" cy="2514600"/>
            <a:chOff x="3120" y="2400"/>
            <a:chExt cx="816" cy="1584"/>
          </a:xfrm>
          <a:solidFill>
            <a:srgbClr val="1D8DE5"/>
          </a:solidFill>
        </p:grpSpPr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3120" y="2400"/>
              <a:ext cx="816" cy="1584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3417" y="2544"/>
              <a:ext cx="349" cy="1296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计算机或外设</a:t>
              </a:r>
            </a:p>
          </p:txBody>
        </p:sp>
      </p:grpSp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3367286" y="2998440"/>
            <a:ext cx="2286000" cy="2362200"/>
            <a:chOff x="1680" y="2352"/>
            <a:chExt cx="1440" cy="1488"/>
          </a:xfrm>
        </p:grpSpPr>
        <p:sp>
          <p:nvSpPr>
            <p:cNvPr id="12" name="Line 12"/>
            <p:cNvSpPr>
              <a:spLocks noChangeShapeType="1"/>
            </p:cNvSpPr>
            <p:nvPr/>
          </p:nvSpPr>
          <p:spPr bwMode="auto">
            <a:xfrm>
              <a:off x="1680" y="2496"/>
              <a:ext cx="1440" cy="0"/>
            </a:xfrm>
            <a:prstGeom prst="line">
              <a:avLst/>
            </a:prstGeom>
            <a:noFill/>
            <a:ln w="28575">
              <a:solidFill>
                <a:srgbClr val="00B853"/>
              </a:solidFill>
              <a:miter lim="800000"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" name="Text Box 13"/>
            <p:cNvSpPr txBox="1">
              <a:spLocks noChangeArrowheads="1"/>
            </p:cNvSpPr>
            <p:nvPr/>
          </p:nvSpPr>
          <p:spPr bwMode="auto">
            <a:xfrm>
              <a:off x="1824" y="2352"/>
              <a:ext cx="432" cy="15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dirty="0">
                  <a:solidFill>
                    <a:srgbClr val="FF3255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1600" baseline="-25000" dirty="0">
                  <a:solidFill>
                    <a:srgbClr val="FF3255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>
              <a:off x="1680" y="2688"/>
              <a:ext cx="1440" cy="0"/>
            </a:xfrm>
            <a:prstGeom prst="line">
              <a:avLst/>
            </a:prstGeom>
            <a:noFill/>
            <a:ln w="28575">
              <a:solidFill>
                <a:srgbClr val="00B853"/>
              </a:solidFill>
              <a:miter lim="800000"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" name="Text Box 15"/>
            <p:cNvSpPr txBox="1">
              <a:spLocks noChangeArrowheads="1"/>
            </p:cNvSpPr>
            <p:nvPr/>
          </p:nvSpPr>
          <p:spPr bwMode="auto">
            <a:xfrm>
              <a:off x="1824" y="2496"/>
              <a:ext cx="432" cy="17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800">
                  <a:solidFill>
                    <a:srgbClr val="FF3255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1800" baseline="-25000">
                  <a:solidFill>
                    <a:srgbClr val="FF3255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6" name="Line 16"/>
            <p:cNvSpPr>
              <a:spLocks noChangeShapeType="1"/>
            </p:cNvSpPr>
            <p:nvPr/>
          </p:nvSpPr>
          <p:spPr bwMode="auto">
            <a:xfrm>
              <a:off x="1680" y="2880"/>
              <a:ext cx="1440" cy="0"/>
            </a:xfrm>
            <a:prstGeom prst="line">
              <a:avLst/>
            </a:prstGeom>
            <a:noFill/>
            <a:ln w="28575">
              <a:solidFill>
                <a:srgbClr val="00B853"/>
              </a:solidFill>
              <a:miter lim="800000"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1824" y="2688"/>
              <a:ext cx="432" cy="17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800">
                  <a:solidFill>
                    <a:srgbClr val="FF3255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1800" baseline="-25000">
                  <a:solidFill>
                    <a:srgbClr val="FF3255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>
              <a:off x="1680" y="3072"/>
              <a:ext cx="1440" cy="0"/>
            </a:xfrm>
            <a:prstGeom prst="line">
              <a:avLst/>
            </a:prstGeom>
            <a:noFill/>
            <a:ln w="28575">
              <a:solidFill>
                <a:srgbClr val="00B853"/>
              </a:solidFill>
              <a:miter lim="800000"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" name="Text Box 19"/>
            <p:cNvSpPr txBox="1">
              <a:spLocks noChangeArrowheads="1"/>
            </p:cNvSpPr>
            <p:nvPr/>
          </p:nvSpPr>
          <p:spPr bwMode="auto">
            <a:xfrm>
              <a:off x="1824" y="2880"/>
              <a:ext cx="432" cy="17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800" dirty="0">
                  <a:solidFill>
                    <a:srgbClr val="FF3255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1800" baseline="-25000" dirty="0">
                  <a:solidFill>
                    <a:srgbClr val="FF3255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>
              <a:off x="1680" y="3264"/>
              <a:ext cx="1440" cy="0"/>
            </a:xfrm>
            <a:prstGeom prst="line">
              <a:avLst/>
            </a:prstGeom>
            <a:noFill/>
            <a:ln w="28575">
              <a:solidFill>
                <a:srgbClr val="00B853"/>
              </a:solidFill>
              <a:miter lim="800000"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" name="Text Box 21"/>
            <p:cNvSpPr txBox="1">
              <a:spLocks noChangeArrowheads="1"/>
            </p:cNvSpPr>
            <p:nvPr/>
          </p:nvSpPr>
          <p:spPr bwMode="auto">
            <a:xfrm>
              <a:off x="1824" y="3043"/>
              <a:ext cx="432" cy="17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800">
                  <a:solidFill>
                    <a:srgbClr val="FF3255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1800" baseline="-25000">
                  <a:solidFill>
                    <a:srgbClr val="FF3255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>
              <a:off x="1680" y="3456"/>
              <a:ext cx="1440" cy="0"/>
            </a:xfrm>
            <a:prstGeom prst="line">
              <a:avLst/>
            </a:prstGeom>
            <a:noFill/>
            <a:ln w="28575">
              <a:solidFill>
                <a:srgbClr val="00B853"/>
              </a:solidFill>
              <a:miter lim="800000"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" name="Text Box 23"/>
            <p:cNvSpPr txBox="1">
              <a:spLocks noChangeArrowheads="1"/>
            </p:cNvSpPr>
            <p:nvPr/>
          </p:nvSpPr>
          <p:spPr bwMode="auto">
            <a:xfrm>
              <a:off x="1824" y="3264"/>
              <a:ext cx="432" cy="17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800">
                  <a:solidFill>
                    <a:srgbClr val="FF3255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1800" baseline="-25000">
                  <a:solidFill>
                    <a:srgbClr val="FF3255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24" name="Line 24"/>
            <p:cNvSpPr>
              <a:spLocks noChangeShapeType="1"/>
            </p:cNvSpPr>
            <p:nvPr/>
          </p:nvSpPr>
          <p:spPr bwMode="auto">
            <a:xfrm>
              <a:off x="1680" y="3648"/>
              <a:ext cx="1440" cy="0"/>
            </a:xfrm>
            <a:prstGeom prst="line">
              <a:avLst/>
            </a:prstGeom>
            <a:noFill/>
            <a:ln w="28575">
              <a:solidFill>
                <a:srgbClr val="00B853"/>
              </a:solidFill>
              <a:miter lim="800000"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" name="Text Box 25"/>
            <p:cNvSpPr txBox="1">
              <a:spLocks noChangeArrowheads="1"/>
            </p:cNvSpPr>
            <p:nvPr/>
          </p:nvSpPr>
          <p:spPr bwMode="auto">
            <a:xfrm>
              <a:off x="1824" y="3456"/>
              <a:ext cx="432" cy="17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800">
                  <a:solidFill>
                    <a:srgbClr val="FF3255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1800" baseline="-25000">
                  <a:solidFill>
                    <a:srgbClr val="FF3255"/>
                  </a:solidFill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26" name="Line 26"/>
            <p:cNvSpPr>
              <a:spLocks noChangeShapeType="1"/>
            </p:cNvSpPr>
            <p:nvPr/>
          </p:nvSpPr>
          <p:spPr bwMode="auto">
            <a:xfrm>
              <a:off x="1680" y="3840"/>
              <a:ext cx="1440" cy="0"/>
            </a:xfrm>
            <a:prstGeom prst="line">
              <a:avLst/>
            </a:prstGeom>
            <a:noFill/>
            <a:ln w="28575">
              <a:solidFill>
                <a:srgbClr val="00B853"/>
              </a:solidFill>
              <a:miter lim="800000"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" name="Text Box 27"/>
            <p:cNvSpPr txBox="1">
              <a:spLocks noChangeArrowheads="1"/>
            </p:cNvSpPr>
            <p:nvPr/>
          </p:nvSpPr>
          <p:spPr bwMode="auto">
            <a:xfrm>
              <a:off x="1824" y="3648"/>
              <a:ext cx="432" cy="17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800">
                  <a:solidFill>
                    <a:srgbClr val="FF3255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1800" baseline="-25000">
                  <a:solidFill>
                    <a:srgbClr val="FF3255"/>
                  </a:solidFill>
                  <a:latin typeface="Times New Roman" panose="02020603050405020304" pitchFamily="18" charset="0"/>
                </a:rPr>
                <a:t>7</a:t>
              </a:r>
            </a:p>
          </p:txBody>
        </p:sp>
      </p:grpSp>
      <p:sp>
        <p:nvSpPr>
          <p:cNvPr id="28" name="矩形 27"/>
          <p:cNvSpPr/>
          <p:nvPr/>
        </p:nvSpPr>
        <p:spPr>
          <a:xfrm>
            <a:off x="2479300" y="1556792"/>
            <a:ext cx="5909546" cy="955180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ea typeface="微软雅黑" panose="020B0503020204020204" pitchFamily="34" charset="-122"/>
              </a:rPr>
              <a:t>指数据的各位同时进行传送的方式，其特点是传输速度快。</a:t>
            </a:r>
          </a:p>
        </p:txBody>
      </p:sp>
      <p:sp>
        <p:nvSpPr>
          <p:cNvPr id="29" name="矩形 28"/>
          <p:cNvSpPr/>
          <p:nvPr/>
        </p:nvSpPr>
        <p:spPr>
          <a:xfrm>
            <a:off x="1043608" y="1556792"/>
            <a:ext cx="1435692" cy="95518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ea typeface="微软雅黑" panose="020B0503020204020204" pitchFamily="34" charset="-122"/>
              </a:rPr>
              <a:t>并行通信</a:t>
            </a:r>
            <a:endParaRPr lang="zh-CN" altLang="en-US" sz="2400" dirty="0">
              <a:latin typeface="Arial Black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43236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851274" y="1000116"/>
            <a:ext cx="5007006" cy="11430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微软雅黑" panose="020B0503020204020204" pitchFamily="34" charset="-122"/>
                <a:cs typeface="Arial"/>
              </a:rPr>
              <a:t>本节</a:t>
            </a:r>
            <a:r>
              <a:rPr lang="zh-CN" altLang="en-US" sz="5300" dirty="0">
                <a:solidFill>
                  <a:srgbClr val="00C4F0"/>
                </a:solidFill>
                <a:ea typeface="微软雅黑" panose="020B0503020204020204" pitchFamily="34" charset="-122"/>
                <a:cs typeface="+mn-cs"/>
              </a:rPr>
              <a:t>目标</a:t>
            </a:r>
            <a:r>
              <a:rPr lang="en-US" altLang="zh-CN" dirty="0">
                <a:latin typeface="Arial"/>
                <a:ea typeface="微软雅黑" panose="020B0503020204020204" pitchFamily="34" charset="-122"/>
                <a:cs typeface="Arial"/>
              </a:rPr>
              <a:t>• </a:t>
            </a:r>
            <a:r>
              <a:rPr lang="en-US" altLang="zh-CN" sz="2800" b="0" dirty="0">
                <a:solidFill>
                  <a:srgbClr val="FFC000"/>
                </a:solidFill>
                <a:latin typeface="Tahoma" pitchFamily="34" charset="0"/>
                <a:ea typeface="微软简综艺" pitchFamily="49" charset="-122"/>
                <a:cs typeface="Tahoma" pitchFamily="34" charset="0"/>
              </a:rPr>
              <a:t>OBJECTIVE</a:t>
            </a:r>
            <a:endParaRPr lang="zh-CN" altLang="en-US" sz="1800" b="0" dirty="0">
              <a:solidFill>
                <a:srgbClr val="FFC000"/>
              </a:solidFill>
              <a:latin typeface="Tahoma" pitchFamily="34" charset="0"/>
              <a:ea typeface="微软简综艺" pitchFamily="49" charset="-122"/>
              <a:cs typeface="Tahoma" pitchFamily="34" charset="0"/>
            </a:endParaRPr>
          </a:p>
        </p:txBody>
      </p:sp>
      <p:sp>
        <p:nvSpPr>
          <p:cNvPr id="4099" name="矩形 4"/>
          <p:cNvSpPr>
            <a:spLocks noChangeArrowheads="1"/>
          </p:cNvSpPr>
          <p:nvPr/>
        </p:nvSpPr>
        <p:spPr bwMode="auto">
          <a:xfrm>
            <a:off x="3851275" y="2276872"/>
            <a:ext cx="5113338" cy="1934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85750" indent="-285750">
              <a:lnSpc>
                <a:spcPct val="134000"/>
              </a:lnSpc>
              <a:spcBef>
                <a:spcPts val="400"/>
              </a:spcBef>
              <a:spcAft>
                <a:spcPts val="6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熟悉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8255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000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外部特性（重点）</a:t>
            </a:r>
            <a:endParaRPr lang="en-US" altLang="zh-CN" sz="2000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34000"/>
              </a:lnSpc>
              <a:spcBef>
                <a:spcPts val="400"/>
              </a:spcBef>
              <a:spcAft>
                <a:spcPts val="6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熟悉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8255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000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工作模式（重点）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34000"/>
              </a:lnSpc>
              <a:spcBef>
                <a:spcPts val="400"/>
              </a:spcBef>
              <a:spcAft>
                <a:spcPts val="6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熟悉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8255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000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初始化（重点）</a:t>
            </a:r>
            <a:endParaRPr lang="en-US" altLang="zh-CN" sz="2000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34000"/>
              </a:lnSpc>
              <a:spcBef>
                <a:spcPts val="400"/>
              </a:spcBef>
              <a:spcAft>
                <a:spcPts val="6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掌握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8255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000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输入输出功能（重点）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Picture 4" descr="http://lusongsong.com/upload/173_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5576" y="2060848"/>
            <a:ext cx="2808312" cy="28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2482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09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问号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5253127"/>
            <a:ext cx="1728439" cy="1343740"/>
          </a:xfrm>
          <a:prstGeom prst="rect">
            <a:avLst/>
          </a:prstGeom>
        </p:spPr>
      </p:pic>
      <p:sp>
        <p:nvSpPr>
          <p:cNvPr id="5" name="流程图: 可选过程 4"/>
          <p:cNvSpPr/>
          <p:nvPr/>
        </p:nvSpPr>
        <p:spPr>
          <a:xfrm>
            <a:off x="2278872" y="1628800"/>
            <a:ext cx="6397584" cy="902445"/>
          </a:xfrm>
          <a:prstGeom prst="flowChartAlternateProcess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外部特性：有几个并行通信口？与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如何相连？</a:t>
            </a:r>
          </a:p>
        </p:txBody>
      </p:sp>
      <p:sp>
        <p:nvSpPr>
          <p:cNvPr id="19" name="流程图: 可选过程 18"/>
          <p:cNvSpPr/>
          <p:nvPr/>
        </p:nvSpPr>
        <p:spPr>
          <a:xfrm>
            <a:off x="2267744" y="2780928"/>
            <a:ext cx="6397584" cy="902445"/>
          </a:xfrm>
          <a:prstGeom prst="flowChartAlternateProcess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8255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的几个数据口的工作方式和使用特点是什么？</a:t>
            </a:r>
          </a:p>
        </p:txBody>
      </p:sp>
      <p:sp>
        <p:nvSpPr>
          <p:cNvPr id="21" name="流程图: 可选过程 20"/>
          <p:cNvSpPr/>
          <p:nvPr/>
        </p:nvSpPr>
        <p:spPr>
          <a:xfrm>
            <a:off x="2267744" y="3894707"/>
            <a:ext cx="6397584" cy="902445"/>
          </a:xfrm>
          <a:prstGeom prst="flowChartAlternateProcess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如何用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8255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完成基本输入输出和查询输入输出？</a:t>
            </a:r>
          </a:p>
        </p:txBody>
      </p:sp>
      <p:sp>
        <p:nvSpPr>
          <p:cNvPr id="33" name="椭圆 32"/>
          <p:cNvSpPr/>
          <p:nvPr/>
        </p:nvSpPr>
        <p:spPr>
          <a:xfrm>
            <a:off x="1259632" y="1767902"/>
            <a:ext cx="624239" cy="624239"/>
          </a:xfrm>
          <a:prstGeom prst="ellipse">
            <a:avLst/>
          </a:prstGeom>
          <a:solidFill>
            <a:srgbClr val="696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  <a:endParaRPr lang="zh-CN" altLang="en-US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1259632" y="2948777"/>
            <a:ext cx="624239" cy="624239"/>
          </a:xfrm>
          <a:prstGeom prst="ellipse">
            <a:avLst/>
          </a:prstGeom>
          <a:solidFill>
            <a:srgbClr val="696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2</a:t>
            </a:r>
            <a:endParaRPr lang="zh-CN" altLang="en-US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1259632" y="4028897"/>
            <a:ext cx="624239" cy="624239"/>
          </a:xfrm>
          <a:prstGeom prst="ellipse">
            <a:avLst/>
          </a:prstGeom>
          <a:solidFill>
            <a:srgbClr val="696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3</a:t>
            </a:r>
            <a:endParaRPr lang="zh-CN" altLang="en-US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9786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/>
          <p:nvPr/>
        </p:nvSpPr>
        <p:spPr>
          <a:xfrm>
            <a:off x="4292127" y="1867768"/>
            <a:ext cx="3448225" cy="841375"/>
          </a:xfrm>
          <a:prstGeom prst="roundRect">
            <a:avLst>
              <a:gd name="adj" fmla="val 8176"/>
            </a:avLst>
          </a:prstGeom>
          <a:solidFill>
            <a:srgbClr val="5DCB08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8255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并行接口</a:t>
            </a:r>
          </a:p>
        </p:txBody>
      </p:sp>
      <p:sp>
        <p:nvSpPr>
          <p:cNvPr id="3" name="椭圆 2"/>
          <p:cNvSpPr/>
          <p:nvPr/>
        </p:nvSpPr>
        <p:spPr>
          <a:xfrm>
            <a:off x="3859857" y="1916832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1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  <p:sp>
        <p:nvSpPr>
          <p:cNvPr id="4" name="TextBox 9"/>
          <p:cNvSpPr txBox="1"/>
          <p:nvPr/>
        </p:nvSpPr>
        <p:spPr>
          <a:xfrm>
            <a:off x="4292127" y="3020293"/>
            <a:ext cx="3448225" cy="841375"/>
          </a:xfrm>
          <a:prstGeom prst="roundRect">
            <a:avLst>
              <a:gd name="adj" fmla="val 8176"/>
            </a:avLst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>
            <a:defPPr>
              <a:defRPr lang="en-US"/>
            </a:defPPr>
            <a:lvl1pPr algn="ctr">
              <a:defRPr sz="2800" b="1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  控制字及工作方式</a:t>
            </a:r>
          </a:p>
        </p:txBody>
      </p:sp>
      <p:sp>
        <p:nvSpPr>
          <p:cNvPr id="5" name="椭圆 4"/>
          <p:cNvSpPr/>
          <p:nvPr/>
        </p:nvSpPr>
        <p:spPr>
          <a:xfrm>
            <a:off x="3859857" y="3069357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2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  <p:sp>
        <p:nvSpPr>
          <p:cNvPr id="6" name="TextBox 9"/>
          <p:cNvSpPr txBox="1"/>
          <p:nvPr/>
        </p:nvSpPr>
        <p:spPr>
          <a:xfrm>
            <a:off x="4284190" y="4171801"/>
            <a:ext cx="3448225" cy="841375"/>
          </a:xfrm>
          <a:prstGeom prst="roundRect">
            <a:avLst>
              <a:gd name="adj" fmla="val 8176"/>
            </a:avLst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>
            <a:defPPr>
              <a:defRPr lang="en-US"/>
            </a:defPPr>
            <a:lvl1pPr algn="ctr">
              <a:defRPr sz="2800" b="1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8255</a:t>
            </a:r>
            <a:r>
              <a:rPr lang="zh-CN" altLang="en-US" dirty="0"/>
              <a:t>应用举例</a:t>
            </a:r>
          </a:p>
        </p:txBody>
      </p:sp>
      <p:sp>
        <p:nvSpPr>
          <p:cNvPr id="7" name="椭圆 6"/>
          <p:cNvSpPr/>
          <p:nvPr/>
        </p:nvSpPr>
        <p:spPr>
          <a:xfrm>
            <a:off x="3851920" y="4220865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3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400581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pPr algn="ctr"/>
              <a:t>6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966244" y="4119885"/>
            <a:ext cx="3405956" cy="1253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  外部特性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-342900"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编程结构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475697" y="2447499"/>
            <a:ext cx="6985934" cy="1250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en-US" altLang="zh-CN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8255</a:t>
            </a: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芯片特性</a:t>
            </a:r>
            <a:endParaRPr lang="zh-CN" altLang="en-US" sz="80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24053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矩形 133"/>
          <p:cNvSpPr/>
          <p:nvPr/>
        </p:nvSpPr>
        <p:spPr>
          <a:xfrm>
            <a:off x="3491880" y="659407"/>
            <a:ext cx="1512168" cy="5760640"/>
          </a:xfrm>
          <a:prstGeom prst="rect">
            <a:avLst/>
          </a:prstGeom>
          <a:noFill/>
          <a:ln>
            <a:solidFill>
              <a:srgbClr val="FD7A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文本框 140"/>
          <p:cNvSpPr txBox="1"/>
          <p:nvPr/>
        </p:nvSpPr>
        <p:spPr>
          <a:xfrm>
            <a:off x="3524217" y="2880772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42" name="文本框 141"/>
          <p:cNvSpPr txBox="1"/>
          <p:nvPr/>
        </p:nvSpPr>
        <p:spPr>
          <a:xfrm>
            <a:off x="3524217" y="2594581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43" name="文本框 142"/>
          <p:cNvSpPr txBox="1"/>
          <p:nvPr/>
        </p:nvSpPr>
        <p:spPr>
          <a:xfrm>
            <a:off x="3482589" y="2068886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CS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</a:p>
        </p:txBody>
      </p:sp>
      <p:sp>
        <p:nvSpPr>
          <p:cNvPr id="144" name="文本框 143"/>
          <p:cNvSpPr txBox="1"/>
          <p:nvPr/>
        </p:nvSpPr>
        <p:spPr>
          <a:xfrm>
            <a:off x="3483582" y="1811535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RD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</a:p>
        </p:txBody>
      </p:sp>
      <p:sp>
        <p:nvSpPr>
          <p:cNvPr id="145" name="文本框 144"/>
          <p:cNvSpPr txBox="1"/>
          <p:nvPr/>
        </p:nvSpPr>
        <p:spPr>
          <a:xfrm>
            <a:off x="4427984" y="1811535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WR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</a:p>
        </p:txBody>
      </p:sp>
      <p:sp>
        <p:nvSpPr>
          <p:cNvPr id="146" name="文本框 145"/>
          <p:cNvSpPr txBox="1"/>
          <p:nvPr/>
        </p:nvSpPr>
        <p:spPr>
          <a:xfrm>
            <a:off x="4464863" y="4581128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Vcc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59" name="直接箭头连接符 158"/>
          <p:cNvCxnSpPr/>
          <p:nvPr/>
        </p:nvCxnSpPr>
        <p:spPr>
          <a:xfrm flipH="1">
            <a:off x="3031306" y="2785038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箭头连接符 168"/>
          <p:cNvCxnSpPr/>
          <p:nvPr/>
        </p:nvCxnSpPr>
        <p:spPr>
          <a:xfrm flipH="1">
            <a:off x="5004048" y="4744281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箭头连接符 169"/>
          <p:cNvCxnSpPr/>
          <p:nvPr/>
        </p:nvCxnSpPr>
        <p:spPr>
          <a:xfrm flipH="1">
            <a:off x="5016748" y="2008460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文本框 182"/>
          <p:cNvSpPr txBox="1"/>
          <p:nvPr/>
        </p:nvSpPr>
        <p:spPr>
          <a:xfrm>
            <a:off x="4499992" y="3220361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D3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4" name="文本框 183"/>
          <p:cNvSpPr txBox="1"/>
          <p:nvPr/>
        </p:nvSpPr>
        <p:spPr>
          <a:xfrm>
            <a:off x="4499992" y="2934170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D2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5" name="文本框 184"/>
          <p:cNvSpPr txBox="1"/>
          <p:nvPr/>
        </p:nvSpPr>
        <p:spPr>
          <a:xfrm>
            <a:off x="4499992" y="2647979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6" name="文本框 185"/>
          <p:cNvSpPr txBox="1"/>
          <p:nvPr/>
        </p:nvSpPr>
        <p:spPr>
          <a:xfrm>
            <a:off x="4499992" y="2352496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4499992" y="4355812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D7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4499992" y="4069059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D6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9" name="文本框 188"/>
          <p:cNvSpPr txBox="1"/>
          <p:nvPr/>
        </p:nvSpPr>
        <p:spPr>
          <a:xfrm>
            <a:off x="4499992" y="3782868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D5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90" name="文本框 189"/>
          <p:cNvSpPr txBox="1"/>
          <p:nvPr/>
        </p:nvSpPr>
        <p:spPr>
          <a:xfrm>
            <a:off x="4499992" y="3496677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D4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94" name="文本框 193"/>
          <p:cNvSpPr txBox="1"/>
          <p:nvPr/>
        </p:nvSpPr>
        <p:spPr>
          <a:xfrm>
            <a:off x="3417765" y="2309527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GND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95" name="直接箭头连接符 194"/>
          <p:cNvCxnSpPr/>
          <p:nvPr/>
        </p:nvCxnSpPr>
        <p:spPr>
          <a:xfrm flipH="1">
            <a:off x="5013146" y="3121918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接箭头连接符 195"/>
          <p:cNvCxnSpPr/>
          <p:nvPr/>
        </p:nvCxnSpPr>
        <p:spPr>
          <a:xfrm flipH="1">
            <a:off x="5022244" y="3409950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箭头连接符 196"/>
          <p:cNvCxnSpPr/>
          <p:nvPr/>
        </p:nvCxnSpPr>
        <p:spPr>
          <a:xfrm flipH="1">
            <a:off x="5025846" y="2483604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接箭头连接符 197"/>
          <p:cNvCxnSpPr/>
          <p:nvPr/>
        </p:nvCxnSpPr>
        <p:spPr>
          <a:xfrm flipH="1">
            <a:off x="5034944" y="2780928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箭头连接符 198"/>
          <p:cNvCxnSpPr/>
          <p:nvPr/>
        </p:nvCxnSpPr>
        <p:spPr>
          <a:xfrm flipH="1">
            <a:off x="5004048" y="4284505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直接箭头连接符 199"/>
          <p:cNvCxnSpPr/>
          <p:nvPr/>
        </p:nvCxnSpPr>
        <p:spPr>
          <a:xfrm flipH="1">
            <a:off x="5013146" y="4572537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接箭头连接符 200"/>
          <p:cNvCxnSpPr/>
          <p:nvPr/>
        </p:nvCxnSpPr>
        <p:spPr>
          <a:xfrm flipH="1">
            <a:off x="5016748" y="3655483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接箭头连接符 201"/>
          <p:cNvCxnSpPr/>
          <p:nvPr/>
        </p:nvCxnSpPr>
        <p:spPr>
          <a:xfrm flipH="1">
            <a:off x="5025846" y="3943515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接箭头连接符 202"/>
          <p:cNvCxnSpPr/>
          <p:nvPr/>
        </p:nvCxnSpPr>
        <p:spPr>
          <a:xfrm flipH="1">
            <a:off x="3047008" y="2480655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文本框 206"/>
          <p:cNvSpPr txBox="1"/>
          <p:nvPr/>
        </p:nvSpPr>
        <p:spPr>
          <a:xfrm>
            <a:off x="3479056" y="1518542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PA3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08" name="文本框 207"/>
          <p:cNvSpPr txBox="1"/>
          <p:nvPr/>
        </p:nvSpPr>
        <p:spPr>
          <a:xfrm>
            <a:off x="3479056" y="1231789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PA2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09" name="文本框 208"/>
          <p:cNvSpPr txBox="1"/>
          <p:nvPr/>
        </p:nvSpPr>
        <p:spPr>
          <a:xfrm>
            <a:off x="3479056" y="945598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0" name="文本框 209"/>
          <p:cNvSpPr txBox="1"/>
          <p:nvPr/>
        </p:nvSpPr>
        <p:spPr>
          <a:xfrm>
            <a:off x="3479056" y="659407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1" name="文本框 210"/>
          <p:cNvSpPr txBox="1"/>
          <p:nvPr/>
        </p:nvSpPr>
        <p:spPr>
          <a:xfrm>
            <a:off x="4427984" y="1518542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PA7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2" name="文本框 211"/>
          <p:cNvSpPr txBox="1"/>
          <p:nvPr/>
        </p:nvSpPr>
        <p:spPr>
          <a:xfrm>
            <a:off x="4427984" y="1231789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PA6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3" name="文本框 212"/>
          <p:cNvSpPr txBox="1"/>
          <p:nvPr/>
        </p:nvSpPr>
        <p:spPr>
          <a:xfrm>
            <a:off x="4427984" y="945598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PA5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4" name="文本框 213"/>
          <p:cNvSpPr txBox="1"/>
          <p:nvPr/>
        </p:nvSpPr>
        <p:spPr>
          <a:xfrm>
            <a:off x="4427984" y="659407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PA4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15" name="直接箭头连接符 214"/>
          <p:cNvCxnSpPr/>
          <p:nvPr/>
        </p:nvCxnSpPr>
        <p:spPr>
          <a:xfrm flipH="1">
            <a:off x="3018720" y="1398166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接箭头连接符 215"/>
          <p:cNvCxnSpPr/>
          <p:nvPr/>
        </p:nvCxnSpPr>
        <p:spPr>
          <a:xfrm flipH="1">
            <a:off x="2996922" y="1709571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直接箭头连接符 216"/>
          <p:cNvCxnSpPr/>
          <p:nvPr/>
        </p:nvCxnSpPr>
        <p:spPr>
          <a:xfrm flipH="1">
            <a:off x="3000524" y="792517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接箭头连接符 217"/>
          <p:cNvCxnSpPr/>
          <p:nvPr/>
        </p:nvCxnSpPr>
        <p:spPr>
          <a:xfrm flipH="1">
            <a:off x="3009622" y="1080549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接箭头连接符 218"/>
          <p:cNvCxnSpPr/>
          <p:nvPr/>
        </p:nvCxnSpPr>
        <p:spPr>
          <a:xfrm flipH="1">
            <a:off x="4991348" y="1424995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接箭头连接符 219"/>
          <p:cNvCxnSpPr/>
          <p:nvPr/>
        </p:nvCxnSpPr>
        <p:spPr>
          <a:xfrm flipH="1">
            <a:off x="5000446" y="1698876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接箭头连接符 220"/>
          <p:cNvCxnSpPr/>
          <p:nvPr/>
        </p:nvCxnSpPr>
        <p:spPr>
          <a:xfrm flipH="1">
            <a:off x="5004048" y="812335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接箭头连接符 221"/>
          <p:cNvCxnSpPr/>
          <p:nvPr/>
        </p:nvCxnSpPr>
        <p:spPr>
          <a:xfrm flipH="1">
            <a:off x="5013146" y="1100367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文本框 222"/>
          <p:cNvSpPr txBox="1"/>
          <p:nvPr/>
        </p:nvSpPr>
        <p:spPr>
          <a:xfrm>
            <a:off x="4427984" y="5978707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PB3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24" name="文本框 223"/>
          <p:cNvSpPr txBox="1"/>
          <p:nvPr/>
        </p:nvSpPr>
        <p:spPr>
          <a:xfrm>
            <a:off x="3455367" y="5977752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PB2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25" name="文本框 224"/>
          <p:cNvSpPr txBox="1"/>
          <p:nvPr/>
        </p:nvSpPr>
        <p:spPr>
          <a:xfrm>
            <a:off x="3455367" y="5691561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PB1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26" name="文本框 225"/>
          <p:cNvSpPr txBox="1"/>
          <p:nvPr/>
        </p:nvSpPr>
        <p:spPr>
          <a:xfrm>
            <a:off x="3455367" y="5405370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PB0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27" name="文本框 226"/>
          <p:cNvSpPr txBox="1"/>
          <p:nvPr/>
        </p:nvSpPr>
        <p:spPr>
          <a:xfrm>
            <a:off x="4427984" y="4835871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PB7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28" name="文本框 227"/>
          <p:cNvSpPr txBox="1"/>
          <p:nvPr/>
        </p:nvSpPr>
        <p:spPr>
          <a:xfrm>
            <a:off x="4427984" y="5123903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PB6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29" name="文本框 228"/>
          <p:cNvSpPr txBox="1"/>
          <p:nvPr/>
        </p:nvSpPr>
        <p:spPr>
          <a:xfrm>
            <a:off x="4427984" y="5411935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PB5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30" name="文本框 229"/>
          <p:cNvSpPr txBox="1"/>
          <p:nvPr/>
        </p:nvSpPr>
        <p:spPr>
          <a:xfrm>
            <a:off x="4427984" y="5699967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PB4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31" name="直接箭头连接符 230"/>
          <p:cNvCxnSpPr/>
          <p:nvPr/>
        </p:nvCxnSpPr>
        <p:spPr>
          <a:xfrm flipH="1">
            <a:off x="2987824" y="6159622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接箭头连接符 231"/>
          <p:cNvCxnSpPr/>
          <p:nvPr/>
        </p:nvCxnSpPr>
        <p:spPr>
          <a:xfrm flipH="1">
            <a:off x="5009544" y="6162418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接箭头连接符 232"/>
          <p:cNvCxnSpPr/>
          <p:nvPr/>
        </p:nvCxnSpPr>
        <p:spPr>
          <a:xfrm flipH="1">
            <a:off x="2996922" y="5587390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接箭头连接符 233"/>
          <p:cNvCxnSpPr/>
          <p:nvPr/>
        </p:nvCxnSpPr>
        <p:spPr>
          <a:xfrm flipH="1">
            <a:off x="2987824" y="5847099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接箭头连接符 234"/>
          <p:cNvCxnSpPr/>
          <p:nvPr/>
        </p:nvCxnSpPr>
        <p:spPr>
          <a:xfrm flipH="1">
            <a:off x="4991348" y="5333471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接箭头连接符 235"/>
          <p:cNvCxnSpPr/>
          <p:nvPr/>
        </p:nvCxnSpPr>
        <p:spPr>
          <a:xfrm flipH="1">
            <a:off x="5000446" y="5046718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接箭头连接符 236"/>
          <p:cNvCxnSpPr/>
          <p:nvPr/>
        </p:nvCxnSpPr>
        <p:spPr>
          <a:xfrm flipH="1">
            <a:off x="5004048" y="5852895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接箭头连接符 237"/>
          <p:cNvCxnSpPr/>
          <p:nvPr/>
        </p:nvCxnSpPr>
        <p:spPr>
          <a:xfrm flipH="1">
            <a:off x="5013146" y="5566704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文本框 238"/>
          <p:cNvSpPr txBox="1"/>
          <p:nvPr/>
        </p:nvSpPr>
        <p:spPr>
          <a:xfrm>
            <a:off x="3468164" y="3170395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PC7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0" name="文本框 239"/>
          <p:cNvSpPr txBox="1"/>
          <p:nvPr/>
        </p:nvSpPr>
        <p:spPr>
          <a:xfrm>
            <a:off x="3468164" y="3458427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PC6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1" name="文本框 240"/>
          <p:cNvSpPr txBox="1"/>
          <p:nvPr/>
        </p:nvSpPr>
        <p:spPr>
          <a:xfrm>
            <a:off x="3468164" y="3746459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PC5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2" name="文本框 241"/>
          <p:cNvSpPr txBox="1"/>
          <p:nvPr/>
        </p:nvSpPr>
        <p:spPr>
          <a:xfrm>
            <a:off x="3468164" y="4034491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PC4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43" name="直接箭头连接符 242"/>
          <p:cNvCxnSpPr/>
          <p:nvPr/>
        </p:nvCxnSpPr>
        <p:spPr>
          <a:xfrm flipH="1">
            <a:off x="2996922" y="3712354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直接箭头连接符 243"/>
          <p:cNvCxnSpPr/>
          <p:nvPr/>
        </p:nvCxnSpPr>
        <p:spPr>
          <a:xfrm flipH="1">
            <a:off x="3006020" y="3395711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直接箭头连接符 244"/>
          <p:cNvCxnSpPr/>
          <p:nvPr/>
        </p:nvCxnSpPr>
        <p:spPr>
          <a:xfrm flipH="1">
            <a:off x="3009622" y="4231778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接箭头连接符 245"/>
          <p:cNvCxnSpPr/>
          <p:nvPr/>
        </p:nvCxnSpPr>
        <p:spPr>
          <a:xfrm flipH="1">
            <a:off x="3018720" y="3945587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文本框 246"/>
          <p:cNvSpPr txBox="1"/>
          <p:nvPr/>
        </p:nvSpPr>
        <p:spPr>
          <a:xfrm>
            <a:off x="3463354" y="5148805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PC3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8" name="文本框 247"/>
          <p:cNvSpPr txBox="1"/>
          <p:nvPr/>
        </p:nvSpPr>
        <p:spPr>
          <a:xfrm>
            <a:off x="3463354" y="4862614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PC2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9" name="文本框 248"/>
          <p:cNvSpPr txBox="1"/>
          <p:nvPr/>
        </p:nvSpPr>
        <p:spPr>
          <a:xfrm>
            <a:off x="3463354" y="4576423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PC1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50" name="文本框 249"/>
          <p:cNvSpPr txBox="1"/>
          <p:nvPr/>
        </p:nvSpPr>
        <p:spPr>
          <a:xfrm>
            <a:off x="3463354" y="4290232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PC0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51" name="直接箭头连接符 250"/>
          <p:cNvCxnSpPr/>
          <p:nvPr/>
        </p:nvCxnSpPr>
        <p:spPr>
          <a:xfrm flipH="1">
            <a:off x="2996922" y="4788560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直接箭头连接符 251"/>
          <p:cNvCxnSpPr/>
          <p:nvPr/>
        </p:nvCxnSpPr>
        <p:spPr>
          <a:xfrm flipH="1">
            <a:off x="3006020" y="4501807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直接箭头连接符 252"/>
          <p:cNvCxnSpPr/>
          <p:nvPr/>
        </p:nvCxnSpPr>
        <p:spPr>
          <a:xfrm flipH="1">
            <a:off x="3009622" y="5307984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直接箭头连接符 253"/>
          <p:cNvCxnSpPr/>
          <p:nvPr/>
        </p:nvCxnSpPr>
        <p:spPr>
          <a:xfrm flipH="1">
            <a:off x="3018720" y="5021793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接箭头连接符 254"/>
          <p:cNvCxnSpPr/>
          <p:nvPr/>
        </p:nvCxnSpPr>
        <p:spPr>
          <a:xfrm flipH="1">
            <a:off x="3031306" y="3045745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直接箭头连接符 255"/>
          <p:cNvCxnSpPr/>
          <p:nvPr/>
        </p:nvCxnSpPr>
        <p:spPr>
          <a:xfrm flipH="1">
            <a:off x="2996922" y="1983060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直接箭头连接符 256"/>
          <p:cNvCxnSpPr/>
          <p:nvPr/>
        </p:nvCxnSpPr>
        <p:spPr>
          <a:xfrm flipH="1">
            <a:off x="3006020" y="2250502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TextBox 17"/>
          <p:cNvSpPr txBox="1"/>
          <p:nvPr/>
        </p:nvSpPr>
        <p:spPr>
          <a:xfrm>
            <a:off x="5578575" y="2775936"/>
            <a:ext cx="3240360" cy="1197636"/>
          </a:xfrm>
          <a:prstGeom prst="rect">
            <a:avLst/>
          </a:prstGeom>
          <a:solidFill>
            <a:srgbClr val="1D8DE5"/>
          </a:solidFill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数据线（与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相连）：传送来自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的控制字或数据，传送外设经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8255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到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的数据</a:t>
            </a:r>
            <a:endParaRPr lang="en-US" altLang="zh-CN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9" name="椭圆 258"/>
          <p:cNvSpPr/>
          <p:nvPr/>
        </p:nvSpPr>
        <p:spPr>
          <a:xfrm>
            <a:off x="3099755" y="630928"/>
            <a:ext cx="288032" cy="1217277"/>
          </a:xfrm>
          <a:prstGeom prst="ellipse">
            <a:avLst/>
          </a:prstGeom>
          <a:noFill/>
          <a:ln>
            <a:solidFill>
              <a:srgbClr val="FF325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0" name="椭圆 259"/>
          <p:cNvSpPr/>
          <p:nvPr/>
        </p:nvSpPr>
        <p:spPr>
          <a:xfrm>
            <a:off x="5087139" y="620688"/>
            <a:ext cx="288032" cy="1217277"/>
          </a:xfrm>
          <a:prstGeom prst="ellipse">
            <a:avLst/>
          </a:prstGeom>
          <a:noFill/>
          <a:ln>
            <a:solidFill>
              <a:srgbClr val="FF325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1" name="TextBox 17"/>
          <p:cNvSpPr txBox="1"/>
          <p:nvPr/>
        </p:nvSpPr>
        <p:spPr>
          <a:xfrm>
            <a:off x="5659601" y="638671"/>
            <a:ext cx="1250679" cy="1160511"/>
          </a:xfrm>
          <a:prstGeom prst="rect">
            <a:avLst/>
          </a:prstGeom>
          <a:solidFill>
            <a:srgbClr val="1D8DE5"/>
          </a:solidFill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端口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输入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输出引脚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(8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位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262" name="椭圆 261"/>
          <p:cNvSpPr/>
          <p:nvPr/>
        </p:nvSpPr>
        <p:spPr>
          <a:xfrm>
            <a:off x="3503759" y="1924319"/>
            <a:ext cx="1574403" cy="367612"/>
          </a:xfrm>
          <a:prstGeom prst="ellipse">
            <a:avLst/>
          </a:prstGeom>
          <a:noFill/>
          <a:ln>
            <a:solidFill>
              <a:srgbClr val="FF325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3" name="TextBox 17"/>
          <p:cNvSpPr txBox="1"/>
          <p:nvPr/>
        </p:nvSpPr>
        <p:spPr>
          <a:xfrm>
            <a:off x="1221450" y="1654285"/>
            <a:ext cx="1432633" cy="829201"/>
          </a:xfrm>
          <a:prstGeom prst="rect">
            <a:avLst/>
          </a:prstGeom>
          <a:solidFill>
            <a:srgbClr val="1D8DE5"/>
          </a:solidFill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读写逻辑和片选信号</a:t>
            </a:r>
            <a:endParaRPr lang="en-US" altLang="zh-CN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264" name="表格 2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439891"/>
              </p:ext>
            </p:extLst>
          </p:nvPr>
        </p:nvGraphicFramePr>
        <p:xfrm>
          <a:off x="210552" y="2725508"/>
          <a:ext cx="244016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5990">
                  <a:extLst>
                    <a:ext uri="{9D8B030D-6E8A-4147-A177-3AD203B41FA5}">
                      <a16:colId xmlns:a16="http://schemas.microsoft.com/office/drawing/2014/main" val="1311243181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12146055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A1</a:t>
                      </a:r>
                      <a:r>
                        <a:rPr lang="en-US" altLang="zh-CN" baseline="0" dirty="0"/>
                        <a:t>  A0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选中端口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832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0     0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端口</a:t>
                      </a:r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857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0     1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端口</a:t>
                      </a:r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8282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1     0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端口</a:t>
                      </a:r>
                      <a:r>
                        <a:rPr lang="en-US" altLang="zh-CN" dirty="0"/>
                        <a:t>C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956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1     1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控制寄存器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1257932"/>
                  </a:ext>
                </a:extLst>
              </a:tr>
            </a:tbl>
          </a:graphicData>
        </a:graphic>
      </p:graphicFrame>
      <p:sp>
        <p:nvSpPr>
          <p:cNvPr id="265" name="椭圆 264"/>
          <p:cNvSpPr/>
          <p:nvPr/>
        </p:nvSpPr>
        <p:spPr>
          <a:xfrm>
            <a:off x="3145668" y="2584433"/>
            <a:ext cx="216024" cy="685675"/>
          </a:xfrm>
          <a:prstGeom prst="ellipse">
            <a:avLst/>
          </a:prstGeom>
          <a:noFill/>
          <a:ln>
            <a:solidFill>
              <a:srgbClr val="FF325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椭圆 265"/>
          <p:cNvSpPr/>
          <p:nvPr/>
        </p:nvSpPr>
        <p:spPr>
          <a:xfrm>
            <a:off x="3048749" y="3333437"/>
            <a:ext cx="360040" cy="2067669"/>
          </a:xfrm>
          <a:prstGeom prst="ellipse">
            <a:avLst/>
          </a:prstGeom>
          <a:noFill/>
          <a:ln>
            <a:solidFill>
              <a:srgbClr val="FF325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7" name="TextBox 17"/>
          <p:cNvSpPr txBox="1"/>
          <p:nvPr/>
        </p:nvSpPr>
        <p:spPr>
          <a:xfrm>
            <a:off x="1366022" y="4701719"/>
            <a:ext cx="1250679" cy="1197636"/>
          </a:xfrm>
          <a:prstGeom prst="rect">
            <a:avLst/>
          </a:prstGeom>
          <a:solidFill>
            <a:srgbClr val="1D8DE5"/>
          </a:solidFill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端口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输入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输出引脚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(8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位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268" name="椭圆 267"/>
          <p:cNvSpPr/>
          <p:nvPr/>
        </p:nvSpPr>
        <p:spPr>
          <a:xfrm>
            <a:off x="3103432" y="5488584"/>
            <a:ext cx="248095" cy="931463"/>
          </a:xfrm>
          <a:prstGeom prst="ellipse">
            <a:avLst/>
          </a:prstGeom>
          <a:noFill/>
          <a:ln>
            <a:solidFill>
              <a:srgbClr val="FF325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9" name="椭圆 268"/>
          <p:cNvSpPr/>
          <p:nvPr/>
        </p:nvSpPr>
        <p:spPr>
          <a:xfrm>
            <a:off x="5127921" y="4987897"/>
            <a:ext cx="288032" cy="1217277"/>
          </a:xfrm>
          <a:prstGeom prst="ellipse">
            <a:avLst/>
          </a:prstGeom>
          <a:noFill/>
          <a:ln>
            <a:solidFill>
              <a:srgbClr val="FF325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0" name="TextBox 17"/>
          <p:cNvSpPr txBox="1"/>
          <p:nvPr/>
        </p:nvSpPr>
        <p:spPr>
          <a:xfrm>
            <a:off x="5567412" y="5020537"/>
            <a:ext cx="1250679" cy="1197636"/>
          </a:xfrm>
          <a:prstGeom prst="rect">
            <a:avLst/>
          </a:prstGeom>
          <a:solidFill>
            <a:srgbClr val="1D8DE5"/>
          </a:solidFill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端口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输入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输出引脚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(8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位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271" name="椭圆 270"/>
          <p:cNvSpPr/>
          <p:nvPr/>
        </p:nvSpPr>
        <p:spPr>
          <a:xfrm>
            <a:off x="5080926" y="2499496"/>
            <a:ext cx="360040" cy="2067669"/>
          </a:xfrm>
          <a:prstGeom prst="ellipse">
            <a:avLst/>
          </a:prstGeom>
          <a:noFill/>
          <a:ln>
            <a:solidFill>
              <a:srgbClr val="FF325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3" name="Rectangle 2"/>
          <p:cNvSpPr>
            <a:spLocks noChangeArrowheads="1"/>
          </p:cNvSpPr>
          <p:nvPr/>
        </p:nvSpPr>
        <p:spPr bwMode="auto">
          <a:xfrm>
            <a:off x="3140997" y="-2790"/>
            <a:ext cx="2258160" cy="808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8255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653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" grpId="0" animBg="1"/>
      <p:bldP spid="258" grpId="1" animBg="1"/>
      <p:bldP spid="259" grpId="0" animBg="1"/>
      <p:bldP spid="259" grpId="1" animBg="1"/>
      <p:bldP spid="260" grpId="0" animBg="1"/>
      <p:bldP spid="260" grpId="1" animBg="1"/>
      <p:bldP spid="261" grpId="0" animBg="1"/>
      <p:bldP spid="261" grpId="1" animBg="1"/>
      <p:bldP spid="262" grpId="0" animBg="1"/>
      <p:bldP spid="262" grpId="1" animBg="1"/>
      <p:bldP spid="263" grpId="0" animBg="1"/>
      <p:bldP spid="263" grpId="1" animBg="1"/>
      <p:bldP spid="265" grpId="0" animBg="1"/>
      <p:bldP spid="265" grpId="1" animBg="1"/>
      <p:bldP spid="266" grpId="0" animBg="1"/>
      <p:bldP spid="266" grpId="1" animBg="1"/>
      <p:bldP spid="267" grpId="0" animBg="1"/>
      <p:bldP spid="267" grpId="1" animBg="1"/>
      <p:bldP spid="268" grpId="0" animBg="1"/>
      <p:bldP spid="268" grpId="1" animBg="1"/>
      <p:bldP spid="269" grpId="0" animBg="1"/>
      <p:bldP spid="269" grpId="1" animBg="1"/>
      <p:bldP spid="270" grpId="0" animBg="1"/>
      <p:bldP spid="270" grpId="1" animBg="1"/>
      <p:bldP spid="271" grpId="0" animBg="1"/>
      <p:bldP spid="271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" name="直接连接符 9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5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8255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与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连接图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96" name="直接连接符 9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5" name="Rectangle 3"/>
          <p:cNvSpPr>
            <a:spLocks noChangeArrowheads="1"/>
          </p:cNvSpPr>
          <p:nvPr/>
        </p:nvSpPr>
        <p:spPr bwMode="auto">
          <a:xfrm>
            <a:off x="812800" y="1851248"/>
            <a:ext cx="1371600" cy="3733800"/>
          </a:xfrm>
          <a:prstGeom prst="rect">
            <a:avLst/>
          </a:prstGeom>
          <a:solidFill>
            <a:srgbClr val="FF3255"/>
          </a:solidFill>
          <a:ln w="254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56" name="Rectangle 4"/>
          <p:cNvSpPr>
            <a:spLocks noChangeArrowheads="1"/>
          </p:cNvSpPr>
          <p:nvPr/>
        </p:nvSpPr>
        <p:spPr bwMode="auto">
          <a:xfrm>
            <a:off x="4303713" y="1851248"/>
            <a:ext cx="1647825" cy="3733800"/>
          </a:xfrm>
          <a:prstGeom prst="rect">
            <a:avLst/>
          </a:prstGeom>
          <a:solidFill>
            <a:srgbClr val="00B050"/>
          </a:solidFill>
          <a:ln w="25400" cap="sq">
            <a:solidFill>
              <a:srgbClr val="CCFF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" name="Text Box 5"/>
          <p:cNvSpPr txBox="1">
            <a:spLocks noChangeArrowheads="1"/>
          </p:cNvSpPr>
          <p:nvPr/>
        </p:nvSpPr>
        <p:spPr bwMode="auto">
          <a:xfrm>
            <a:off x="4303713" y="2232248"/>
            <a:ext cx="1066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</a:rPr>
              <a:t>D0~D7</a:t>
            </a:r>
          </a:p>
        </p:txBody>
      </p:sp>
      <p:sp>
        <p:nvSpPr>
          <p:cNvPr id="59" name="Text Box 6"/>
          <p:cNvSpPr txBox="1">
            <a:spLocks noChangeArrowheads="1"/>
          </p:cNvSpPr>
          <p:nvPr/>
        </p:nvSpPr>
        <p:spPr bwMode="auto">
          <a:xfrm>
            <a:off x="4303713" y="2841848"/>
            <a:ext cx="76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</a:rPr>
              <a:t>WR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*</a:t>
            </a:r>
            <a:endParaRPr lang="en-US" altLang="zh-CN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" name="Text Box 7"/>
          <p:cNvSpPr txBox="1">
            <a:spLocks noChangeArrowheads="1"/>
          </p:cNvSpPr>
          <p:nvPr/>
        </p:nvSpPr>
        <p:spPr bwMode="auto">
          <a:xfrm>
            <a:off x="4303713" y="3359373"/>
            <a:ext cx="76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</a:rPr>
              <a:t>RD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*</a:t>
            </a:r>
            <a:endParaRPr lang="en-US" altLang="zh-CN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" name="Text Box 8"/>
          <p:cNvSpPr txBox="1">
            <a:spLocks noChangeArrowheads="1"/>
          </p:cNvSpPr>
          <p:nvPr/>
        </p:nvSpPr>
        <p:spPr bwMode="auto">
          <a:xfrm>
            <a:off x="4303713" y="3816573"/>
            <a:ext cx="685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>
                <a:solidFill>
                  <a:schemeClr val="bg1"/>
                </a:solidFill>
                <a:latin typeface="Times New Roman" panose="02020603050405020304" pitchFamily="18" charset="0"/>
              </a:rPr>
              <a:t>A1</a:t>
            </a:r>
          </a:p>
        </p:txBody>
      </p:sp>
      <p:sp>
        <p:nvSpPr>
          <p:cNvPr id="62" name="Text Box 9"/>
          <p:cNvSpPr txBox="1">
            <a:spLocks noChangeArrowheads="1"/>
          </p:cNvSpPr>
          <p:nvPr/>
        </p:nvSpPr>
        <p:spPr bwMode="auto">
          <a:xfrm>
            <a:off x="4303713" y="4273773"/>
            <a:ext cx="685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>
                <a:solidFill>
                  <a:schemeClr val="bg1"/>
                </a:solidFill>
                <a:latin typeface="Times New Roman" panose="02020603050405020304" pitchFamily="18" charset="0"/>
              </a:rPr>
              <a:t>A0</a:t>
            </a:r>
          </a:p>
        </p:txBody>
      </p:sp>
      <p:sp>
        <p:nvSpPr>
          <p:cNvPr id="63" name="Text Box 10"/>
          <p:cNvSpPr txBox="1">
            <a:spLocks noChangeArrowheads="1"/>
          </p:cNvSpPr>
          <p:nvPr/>
        </p:nvSpPr>
        <p:spPr bwMode="auto">
          <a:xfrm>
            <a:off x="4303713" y="4959573"/>
            <a:ext cx="685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</a:rPr>
              <a:t>CS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*</a:t>
            </a:r>
            <a:endParaRPr lang="en-US" altLang="zh-CN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" name="AutoShape 11"/>
          <p:cNvSpPr>
            <a:spLocks noChangeArrowheads="1"/>
          </p:cNvSpPr>
          <p:nvPr/>
        </p:nvSpPr>
        <p:spPr bwMode="auto">
          <a:xfrm>
            <a:off x="2293938" y="2232248"/>
            <a:ext cx="1976437" cy="347663"/>
          </a:xfrm>
          <a:prstGeom prst="leftRightArrow">
            <a:avLst>
              <a:gd name="adj1" fmla="val 50000"/>
              <a:gd name="adj2" fmla="val 113698"/>
            </a:avLst>
          </a:prstGeom>
          <a:solidFill>
            <a:srgbClr val="FF6600"/>
          </a:solidFill>
          <a:ln w="25400" cap="sq">
            <a:solidFill>
              <a:srgbClr val="FF66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" name="Line 12"/>
          <p:cNvSpPr>
            <a:spLocks noChangeShapeType="1"/>
          </p:cNvSpPr>
          <p:nvPr/>
        </p:nvSpPr>
        <p:spPr bwMode="auto">
          <a:xfrm>
            <a:off x="2217738" y="2994248"/>
            <a:ext cx="2085975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" name="Line 13"/>
          <p:cNvSpPr>
            <a:spLocks noChangeShapeType="1"/>
          </p:cNvSpPr>
          <p:nvPr/>
        </p:nvSpPr>
        <p:spPr bwMode="auto">
          <a:xfrm>
            <a:off x="3513138" y="5165948"/>
            <a:ext cx="790575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Text Box 17"/>
          <p:cNvSpPr txBox="1">
            <a:spLocks noChangeArrowheads="1"/>
          </p:cNvSpPr>
          <p:nvPr/>
        </p:nvSpPr>
        <p:spPr bwMode="auto">
          <a:xfrm>
            <a:off x="3055938" y="1927448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</a:rPr>
              <a:t>DB</a:t>
            </a:r>
          </a:p>
        </p:txBody>
      </p:sp>
      <p:sp>
        <p:nvSpPr>
          <p:cNvPr id="72" name="Text Box 18"/>
          <p:cNvSpPr txBox="1">
            <a:spLocks noChangeArrowheads="1"/>
          </p:cNvSpPr>
          <p:nvPr/>
        </p:nvSpPr>
        <p:spPr bwMode="auto">
          <a:xfrm>
            <a:off x="1498600" y="2792636"/>
            <a:ext cx="76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</a:rPr>
              <a:t>WR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*</a:t>
            </a:r>
            <a:endParaRPr lang="en-US" altLang="zh-CN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" name="Text Box 19"/>
          <p:cNvSpPr txBox="1">
            <a:spLocks noChangeArrowheads="1"/>
          </p:cNvSpPr>
          <p:nvPr/>
        </p:nvSpPr>
        <p:spPr bwMode="auto">
          <a:xfrm>
            <a:off x="1541463" y="3330798"/>
            <a:ext cx="76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</a:rPr>
              <a:t>RD*</a:t>
            </a:r>
          </a:p>
        </p:txBody>
      </p:sp>
      <p:sp>
        <p:nvSpPr>
          <p:cNvPr id="74" name="Text Box 20"/>
          <p:cNvSpPr txBox="1">
            <a:spLocks noChangeArrowheads="1"/>
          </p:cNvSpPr>
          <p:nvPr/>
        </p:nvSpPr>
        <p:spPr bwMode="auto">
          <a:xfrm>
            <a:off x="1698625" y="3832448"/>
            <a:ext cx="6000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>
                <a:solidFill>
                  <a:schemeClr val="bg1"/>
                </a:solidFill>
                <a:latin typeface="Times New Roman" panose="02020603050405020304" pitchFamily="18" charset="0"/>
              </a:rPr>
              <a:t>A2</a:t>
            </a:r>
          </a:p>
        </p:txBody>
      </p:sp>
      <p:sp>
        <p:nvSpPr>
          <p:cNvPr id="75" name="Text Box 21"/>
          <p:cNvSpPr txBox="1">
            <a:spLocks noChangeArrowheads="1"/>
          </p:cNvSpPr>
          <p:nvPr/>
        </p:nvSpPr>
        <p:spPr bwMode="auto">
          <a:xfrm>
            <a:off x="1698625" y="4273773"/>
            <a:ext cx="6000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>
                <a:solidFill>
                  <a:schemeClr val="bg1"/>
                </a:solidFill>
                <a:latin typeface="Times New Roman" panose="02020603050405020304" pitchFamily="18" charset="0"/>
              </a:rPr>
              <a:t>A1</a:t>
            </a:r>
          </a:p>
        </p:txBody>
      </p:sp>
      <p:sp>
        <p:nvSpPr>
          <p:cNvPr id="76" name="AutoShape 22"/>
          <p:cNvSpPr>
            <a:spLocks noChangeArrowheads="1"/>
          </p:cNvSpPr>
          <p:nvPr/>
        </p:nvSpPr>
        <p:spPr bwMode="auto">
          <a:xfrm>
            <a:off x="2217738" y="5051648"/>
            <a:ext cx="457200" cy="323850"/>
          </a:xfrm>
          <a:prstGeom prst="rightArrow">
            <a:avLst>
              <a:gd name="adj1" fmla="val 50000"/>
              <a:gd name="adj2" fmla="val 35294"/>
            </a:avLst>
          </a:prstGeom>
          <a:solidFill>
            <a:srgbClr val="FF6600"/>
          </a:solidFill>
          <a:ln w="25400" cap="sq">
            <a:solidFill>
              <a:srgbClr val="FF66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" name="Rectangle 23"/>
          <p:cNvSpPr>
            <a:spLocks noChangeArrowheads="1"/>
          </p:cNvSpPr>
          <p:nvPr/>
        </p:nvSpPr>
        <p:spPr bwMode="auto">
          <a:xfrm>
            <a:off x="2713038" y="4732561"/>
            <a:ext cx="954087" cy="838200"/>
          </a:xfrm>
          <a:prstGeom prst="rect">
            <a:avLst/>
          </a:prstGeom>
          <a:solidFill>
            <a:srgbClr val="00B050"/>
          </a:solidFill>
          <a:ln w="25400" cap="sq">
            <a:solidFill>
              <a:srgbClr val="CCFF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" name="Text Box 24"/>
          <p:cNvSpPr txBox="1">
            <a:spLocks noChangeArrowheads="1"/>
          </p:cNvSpPr>
          <p:nvPr/>
        </p:nvSpPr>
        <p:spPr bwMode="auto">
          <a:xfrm>
            <a:off x="2741613" y="4939616"/>
            <a:ext cx="1066800" cy="424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66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339966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35000"/>
              </a:lnSpc>
              <a:spcBef>
                <a:spcPct val="90000"/>
              </a:spcBef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译码器</a:t>
            </a:r>
          </a:p>
        </p:txBody>
      </p:sp>
      <p:sp>
        <p:nvSpPr>
          <p:cNvPr id="82" name="Text Box 25"/>
          <p:cNvSpPr txBox="1">
            <a:spLocks noChangeArrowheads="1"/>
          </p:cNvSpPr>
          <p:nvPr/>
        </p:nvSpPr>
        <p:spPr bwMode="auto">
          <a:xfrm>
            <a:off x="4740275" y="1387624"/>
            <a:ext cx="911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400"/>
              <a:t>8255</a:t>
            </a:r>
          </a:p>
        </p:txBody>
      </p:sp>
      <p:sp>
        <p:nvSpPr>
          <p:cNvPr id="83" name="Text Box 26"/>
          <p:cNvSpPr txBox="1">
            <a:spLocks noChangeArrowheads="1"/>
          </p:cNvSpPr>
          <p:nvPr/>
        </p:nvSpPr>
        <p:spPr bwMode="auto">
          <a:xfrm>
            <a:off x="5341938" y="2218234"/>
            <a:ext cx="685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口</a:t>
            </a:r>
          </a:p>
        </p:txBody>
      </p:sp>
      <p:sp>
        <p:nvSpPr>
          <p:cNvPr id="92" name="Text Box 29"/>
          <p:cNvSpPr txBox="1">
            <a:spLocks noChangeArrowheads="1"/>
          </p:cNvSpPr>
          <p:nvPr/>
        </p:nvSpPr>
        <p:spPr bwMode="auto">
          <a:xfrm>
            <a:off x="5341938" y="4719188"/>
            <a:ext cx="685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口</a:t>
            </a:r>
          </a:p>
        </p:txBody>
      </p:sp>
      <p:sp>
        <p:nvSpPr>
          <p:cNvPr id="93" name="Text Box 30"/>
          <p:cNvSpPr txBox="1">
            <a:spLocks noChangeArrowheads="1"/>
          </p:cNvSpPr>
          <p:nvPr/>
        </p:nvSpPr>
        <p:spPr bwMode="auto">
          <a:xfrm>
            <a:off x="5341938" y="3582772"/>
            <a:ext cx="685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>
                <a:solidFill>
                  <a:schemeClr val="bg1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b="1">
                <a:solidFill>
                  <a:schemeClr val="bg1"/>
                </a:solidFill>
                <a:latin typeface="Times New Roman" panose="02020603050405020304" pitchFamily="18" charset="0"/>
              </a:rPr>
              <a:t>口</a:t>
            </a:r>
          </a:p>
        </p:txBody>
      </p:sp>
      <p:sp>
        <p:nvSpPr>
          <p:cNvPr id="98" name="Text Box 31"/>
          <p:cNvSpPr txBox="1">
            <a:spLocks noChangeArrowheads="1"/>
          </p:cNvSpPr>
          <p:nvPr/>
        </p:nvSpPr>
        <p:spPr bwMode="auto">
          <a:xfrm>
            <a:off x="1303338" y="2189386"/>
            <a:ext cx="1066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>
                <a:solidFill>
                  <a:schemeClr val="bg1"/>
                </a:solidFill>
                <a:latin typeface="Times New Roman" panose="02020603050405020304" pitchFamily="18" charset="0"/>
              </a:rPr>
              <a:t>D0~D7</a:t>
            </a:r>
          </a:p>
        </p:txBody>
      </p:sp>
      <p:sp>
        <p:nvSpPr>
          <p:cNvPr id="99" name="Line 32"/>
          <p:cNvSpPr>
            <a:spLocks noChangeShapeType="1"/>
          </p:cNvSpPr>
          <p:nvPr/>
        </p:nvSpPr>
        <p:spPr bwMode="auto">
          <a:xfrm>
            <a:off x="2217738" y="3527648"/>
            <a:ext cx="2085975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" name="Line 33"/>
          <p:cNvSpPr>
            <a:spLocks noChangeShapeType="1"/>
          </p:cNvSpPr>
          <p:nvPr/>
        </p:nvSpPr>
        <p:spPr bwMode="auto">
          <a:xfrm>
            <a:off x="2217738" y="4041998"/>
            <a:ext cx="2085975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" name="Line 34"/>
          <p:cNvSpPr>
            <a:spLocks noChangeShapeType="1"/>
          </p:cNvSpPr>
          <p:nvPr/>
        </p:nvSpPr>
        <p:spPr bwMode="auto">
          <a:xfrm>
            <a:off x="2217738" y="4484911"/>
            <a:ext cx="2085975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" name="Rectangle 35"/>
          <p:cNvSpPr>
            <a:spLocks noChangeArrowheads="1"/>
          </p:cNvSpPr>
          <p:nvPr/>
        </p:nvSpPr>
        <p:spPr bwMode="auto">
          <a:xfrm>
            <a:off x="7018338" y="1851248"/>
            <a:ext cx="1371600" cy="3810000"/>
          </a:xfrm>
          <a:prstGeom prst="rect">
            <a:avLst/>
          </a:prstGeom>
          <a:solidFill>
            <a:srgbClr val="1D8DE5"/>
          </a:solidFill>
          <a:ln w="25400" cap="sq">
            <a:solidFill>
              <a:srgbClr val="CCFFCC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" name="AutoShape 36"/>
          <p:cNvSpPr>
            <a:spLocks noChangeArrowheads="1"/>
          </p:cNvSpPr>
          <p:nvPr/>
        </p:nvSpPr>
        <p:spPr bwMode="auto">
          <a:xfrm>
            <a:off x="5999163" y="2203673"/>
            <a:ext cx="990600" cy="347663"/>
          </a:xfrm>
          <a:prstGeom prst="leftRightArrow">
            <a:avLst>
              <a:gd name="adj1" fmla="val 50000"/>
              <a:gd name="adj2" fmla="val 56986"/>
            </a:avLst>
          </a:prstGeom>
          <a:solidFill>
            <a:srgbClr val="FF6600"/>
          </a:solidFill>
          <a:ln w="25400" cap="sq">
            <a:solidFill>
              <a:srgbClr val="FF66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" name="AutoShape 37"/>
          <p:cNvSpPr>
            <a:spLocks noChangeArrowheads="1"/>
          </p:cNvSpPr>
          <p:nvPr/>
        </p:nvSpPr>
        <p:spPr bwMode="auto">
          <a:xfrm>
            <a:off x="6002338" y="3560986"/>
            <a:ext cx="990600" cy="347662"/>
          </a:xfrm>
          <a:prstGeom prst="leftRightArrow">
            <a:avLst>
              <a:gd name="adj1" fmla="val 50000"/>
              <a:gd name="adj2" fmla="val 56986"/>
            </a:avLst>
          </a:prstGeom>
          <a:solidFill>
            <a:srgbClr val="FF6600"/>
          </a:solidFill>
          <a:ln w="25400" cap="sq">
            <a:solidFill>
              <a:srgbClr val="FF66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" name="AutoShape 38"/>
          <p:cNvSpPr>
            <a:spLocks noChangeArrowheads="1"/>
          </p:cNvSpPr>
          <p:nvPr/>
        </p:nvSpPr>
        <p:spPr bwMode="auto">
          <a:xfrm>
            <a:off x="5984875" y="4703986"/>
            <a:ext cx="990600" cy="347662"/>
          </a:xfrm>
          <a:prstGeom prst="leftRightArrow">
            <a:avLst>
              <a:gd name="adj1" fmla="val 50000"/>
              <a:gd name="adj2" fmla="val 56986"/>
            </a:avLst>
          </a:prstGeom>
          <a:solidFill>
            <a:srgbClr val="FF6600"/>
          </a:solidFill>
          <a:ln w="25400" cap="sq">
            <a:solidFill>
              <a:srgbClr val="FF66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" name="Text Box 39"/>
          <p:cNvSpPr txBox="1">
            <a:spLocks noChangeArrowheads="1"/>
          </p:cNvSpPr>
          <p:nvPr/>
        </p:nvSpPr>
        <p:spPr bwMode="auto">
          <a:xfrm>
            <a:off x="7246938" y="3527648"/>
            <a:ext cx="1066800" cy="534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66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339966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35000"/>
              </a:lnSpc>
              <a:spcBef>
                <a:spcPct val="90000"/>
              </a:spcBef>
            </a:pP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外 设</a:t>
            </a:r>
          </a:p>
        </p:txBody>
      </p:sp>
      <p:sp>
        <p:nvSpPr>
          <p:cNvPr id="110" name="Text Box 40"/>
          <p:cNvSpPr txBox="1">
            <a:spLocks noChangeArrowheads="1"/>
          </p:cNvSpPr>
          <p:nvPr/>
        </p:nvSpPr>
        <p:spPr bwMode="auto">
          <a:xfrm>
            <a:off x="900113" y="5010373"/>
            <a:ext cx="14398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800" b="1">
                <a:solidFill>
                  <a:schemeClr val="bg1"/>
                </a:solidFill>
                <a:latin typeface="Times New Roman" panose="02020603050405020304" pitchFamily="18" charset="0"/>
              </a:rPr>
              <a:t>A15</a:t>
            </a:r>
            <a:r>
              <a:rPr lang="zh-CN" altLang="en-US" sz="1800" b="1">
                <a:solidFill>
                  <a:schemeClr val="bg1"/>
                </a:solidFill>
                <a:latin typeface="Times New Roman" panose="02020603050405020304" pitchFamily="18" charset="0"/>
              </a:rPr>
              <a:t>～</a:t>
            </a:r>
            <a:r>
              <a:rPr lang="en-US" altLang="zh-CN" sz="1800" b="1">
                <a:solidFill>
                  <a:schemeClr val="bg1"/>
                </a:solidFill>
                <a:latin typeface="Times New Roman" panose="02020603050405020304" pitchFamily="18" charset="0"/>
              </a:rPr>
              <a:t>A3,A0</a:t>
            </a:r>
          </a:p>
        </p:txBody>
      </p:sp>
      <p:sp>
        <p:nvSpPr>
          <p:cNvPr id="111" name="Text Box 41"/>
          <p:cNvSpPr txBox="1">
            <a:spLocks noChangeArrowheads="1"/>
          </p:cNvSpPr>
          <p:nvPr/>
        </p:nvSpPr>
        <p:spPr bwMode="auto">
          <a:xfrm>
            <a:off x="1019597" y="3078008"/>
            <a:ext cx="600075" cy="1200329"/>
          </a:xfrm>
          <a:prstGeom prst="rect">
            <a:avLst/>
          </a:prstGeom>
          <a:noFill/>
          <a:ln w="25400" cap="sq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系统总线</a:t>
            </a:r>
          </a:p>
        </p:txBody>
      </p:sp>
    </p:spTree>
    <p:extLst>
      <p:ext uri="{BB962C8B-B14F-4D97-AF65-F5344CB8AC3E}">
        <p14:creationId xmlns:p14="http://schemas.microsoft.com/office/powerpoint/2010/main" val="4131584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pPr algn="ctr"/>
              <a:t>9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966244" y="4119885"/>
            <a:ext cx="3405956" cy="1253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外部特性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 编程结构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475697" y="2447499"/>
            <a:ext cx="6985934" cy="1250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en-US" altLang="zh-CN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8255</a:t>
            </a: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芯片特性</a:t>
            </a:r>
            <a:endParaRPr lang="zh-CN" altLang="en-US" sz="80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8755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449112" y="1691784"/>
            <a:ext cx="1440160" cy="14401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数据总线缓冲器</a:t>
            </a:r>
          </a:p>
        </p:txBody>
      </p:sp>
      <p:sp>
        <p:nvSpPr>
          <p:cNvPr id="5" name="左右箭头 4"/>
          <p:cNvSpPr/>
          <p:nvPr/>
        </p:nvSpPr>
        <p:spPr>
          <a:xfrm>
            <a:off x="376011" y="2285909"/>
            <a:ext cx="1080120" cy="288032"/>
          </a:xfrm>
          <a:prstGeom prst="left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/>
          <p:cNvCxnSpPr/>
          <p:nvPr/>
        </p:nvCxnSpPr>
        <p:spPr>
          <a:xfrm>
            <a:off x="740621" y="4377714"/>
            <a:ext cx="72008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740621" y="4665746"/>
            <a:ext cx="72008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>
            <a:off x="729032" y="4953778"/>
            <a:ext cx="72008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744688" y="5241810"/>
            <a:ext cx="72008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17"/>
          <p:cNvSpPr txBox="1"/>
          <p:nvPr/>
        </p:nvSpPr>
        <p:spPr>
          <a:xfrm>
            <a:off x="271687" y="1916832"/>
            <a:ext cx="1250679" cy="46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D0~D7</a:t>
            </a:r>
          </a:p>
        </p:txBody>
      </p:sp>
      <p:sp>
        <p:nvSpPr>
          <p:cNvPr id="11" name="TextBox 17"/>
          <p:cNvSpPr txBox="1"/>
          <p:nvPr/>
        </p:nvSpPr>
        <p:spPr>
          <a:xfrm>
            <a:off x="-161607" y="4170097"/>
            <a:ext cx="1250679" cy="46076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RD*</a:t>
            </a:r>
          </a:p>
        </p:txBody>
      </p:sp>
      <p:sp>
        <p:nvSpPr>
          <p:cNvPr id="12" name="TextBox 17"/>
          <p:cNvSpPr txBox="1"/>
          <p:nvPr/>
        </p:nvSpPr>
        <p:spPr>
          <a:xfrm>
            <a:off x="-161607" y="4463445"/>
            <a:ext cx="1250679" cy="46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WR*</a:t>
            </a:r>
          </a:p>
        </p:txBody>
      </p:sp>
      <p:sp>
        <p:nvSpPr>
          <p:cNvPr id="13" name="TextBox 17"/>
          <p:cNvSpPr txBox="1"/>
          <p:nvPr/>
        </p:nvSpPr>
        <p:spPr>
          <a:xfrm>
            <a:off x="-161608" y="4756793"/>
            <a:ext cx="1250679" cy="46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A0</a:t>
            </a:r>
          </a:p>
        </p:txBody>
      </p:sp>
      <p:sp>
        <p:nvSpPr>
          <p:cNvPr id="14" name="TextBox 17"/>
          <p:cNvSpPr txBox="1"/>
          <p:nvPr/>
        </p:nvSpPr>
        <p:spPr>
          <a:xfrm>
            <a:off x="-161608" y="5029989"/>
            <a:ext cx="1250679" cy="423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A1</a:t>
            </a:r>
          </a:p>
        </p:txBody>
      </p:sp>
      <p:cxnSp>
        <p:nvCxnSpPr>
          <p:cNvPr id="23" name="直接箭头连接符 22"/>
          <p:cNvCxnSpPr/>
          <p:nvPr/>
        </p:nvCxnSpPr>
        <p:spPr>
          <a:xfrm>
            <a:off x="740672" y="5556318"/>
            <a:ext cx="72008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17"/>
          <p:cNvSpPr txBox="1"/>
          <p:nvPr/>
        </p:nvSpPr>
        <p:spPr>
          <a:xfrm>
            <a:off x="-180528" y="5344497"/>
            <a:ext cx="1250679" cy="46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CS*</a:t>
            </a:r>
          </a:p>
        </p:txBody>
      </p:sp>
      <p:cxnSp>
        <p:nvCxnSpPr>
          <p:cNvPr id="27" name="直接箭头连接符 26"/>
          <p:cNvCxnSpPr/>
          <p:nvPr/>
        </p:nvCxnSpPr>
        <p:spPr>
          <a:xfrm>
            <a:off x="2866956" y="4756793"/>
            <a:ext cx="870411" cy="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>
            <a:off x="3289600" y="5453631"/>
            <a:ext cx="0" cy="639665"/>
          </a:xfrm>
          <a:prstGeom prst="straightConnector1">
            <a:avLst/>
          </a:prstGeom>
          <a:ln w="127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3289600" y="6093296"/>
            <a:ext cx="5170832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>
            <a:off x="3291003" y="1523734"/>
            <a:ext cx="0" cy="3233059"/>
          </a:xfrm>
          <a:prstGeom prst="straightConnector1">
            <a:avLst/>
          </a:prstGeom>
          <a:ln w="127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/>
          <p:cNvSpPr/>
          <p:nvPr/>
        </p:nvSpPr>
        <p:spPr>
          <a:xfrm>
            <a:off x="5442766" y="770150"/>
            <a:ext cx="177355" cy="459590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左右箭头 55"/>
          <p:cNvSpPr/>
          <p:nvPr/>
        </p:nvSpPr>
        <p:spPr>
          <a:xfrm>
            <a:off x="5618425" y="946628"/>
            <a:ext cx="773327" cy="281278"/>
          </a:xfrm>
          <a:prstGeom prst="left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3737367" y="1029279"/>
            <a:ext cx="1068651" cy="946083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</a:p>
        </p:txBody>
      </p:sp>
      <p:sp>
        <p:nvSpPr>
          <p:cNvPr id="67" name="左右箭头 66"/>
          <p:cNvSpPr/>
          <p:nvPr/>
        </p:nvSpPr>
        <p:spPr>
          <a:xfrm>
            <a:off x="2844639" y="2276132"/>
            <a:ext cx="2598125" cy="308798"/>
          </a:xfrm>
          <a:prstGeom prst="left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左箭头 68"/>
          <p:cNvSpPr/>
          <p:nvPr/>
        </p:nvSpPr>
        <p:spPr>
          <a:xfrm>
            <a:off x="4807421" y="1379718"/>
            <a:ext cx="648072" cy="288032"/>
          </a:xfrm>
          <a:prstGeom prst="lef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左箭头 69"/>
          <p:cNvSpPr/>
          <p:nvPr/>
        </p:nvSpPr>
        <p:spPr>
          <a:xfrm>
            <a:off x="4820260" y="4549812"/>
            <a:ext cx="648072" cy="288032"/>
          </a:xfrm>
          <a:prstGeom prst="lef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4" name="直接箭头连接符 73"/>
          <p:cNvCxnSpPr/>
          <p:nvPr/>
        </p:nvCxnSpPr>
        <p:spPr>
          <a:xfrm>
            <a:off x="3289600" y="1515924"/>
            <a:ext cx="430055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>
            <a:off x="4271692" y="346508"/>
            <a:ext cx="0" cy="682771"/>
          </a:xfrm>
          <a:prstGeom prst="straightConnector1">
            <a:avLst/>
          </a:prstGeom>
          <a:ln w="127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矩形 77"/>
          <p:cNvSpPr/>
          <p:nvPr/>
        </p:nvSpPr>
        <p:spPr>
          <a:xfrm>
            <a:off x="6417476" y="745701"/>
            <a:ext cx="1756139" cy="770223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端口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6417475" y="1900797"/>
            <a:ext cx="1756139" cy="770223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端口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</a:p>
        </p:txBody>
      </p:sp>
      <p:sp>
        <p:nvSpPr>
          <p:cNvPr id="80" name="矩形 79"/>
          <p:cNvSpPr/>
          <p:nvPr/>
        </p:nvSpPr>
        <p:spPr>
          <a:xfrm>
            <a:off x="6429723" y="3450866"/>
            <a:ext cx="1756139" cy="770223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端口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</a:p>
        </p:txBody>
      </p:sp>
      <p:sp>
        <p:nvSpPr>
          <p:cNvPr id="81" name="矩形 80"/>
          <p:cNvSpPr/>
          <p:nvPr/>
        </p:nvSpPr>
        <p:spPr>
          <a:xfrm>
            <a:off x="6417474" y="4502375"/>
            <a:ext cx="1756139" cy="770223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端口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3" name="直接连接符 82"/>
          <p:cNvCxnSpPr/>
          <p:nvPr/>
        </p:nvCxnSpPr>
        <p:spPr>
          <a:xfrm>
            <a:off x="2889272" y="5453631"/>
            <a:ext cx="400328" cy="0"/>
          </a:xfrm>
          <a:prstGeom prst="line">
            <a:avLst/>
          </a:prstGeom>
          <a:ln w="127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连接符 85"/>
          <p:cNvCxnSpPr/>
          <p:nvPr/>
        </p:nvCxnSpPr>
        <p:spPr>
          <a:xfrm>
            <a:off x="8460432" y="1288992"/>
            <a:ext cx="0" cy="4790982"/>
          </a:xfrm>
          <a:prstGeom prst="straightConnector1">
            <a:avLst/>
          </a:prstGeom>
          <a:ln w="127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/>
          <p:cNvCxnSpPr/>
          <p:nvPr/>
        </p:nvCxnSpPr>
        <p:spPr>
          <a:xfrm flipH="1">
            <a:off x="8173613" y="3938399"/>
            <a:ext cx="286819" cy="0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/>
          <p:cNvCxnSpPr/>
          <p:nvPr/>
        </p:nvCxnSpPr>
        <p:spPr>
          <a:xfrm flipH="1">
            <a:off x="8173613" y="5029989"/>
            <a:ext cx="286819" cy="0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/>
          <p:cNvCxnSpPr/>
          <p:nvPr/>
        </p:nvCxnSpPr>
        <p:spPr>
          <a:xfrm flipH="1">
            <a:off x="8134890" y="2411864"/>
            <a:ext cx="325542" cy="0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/>
          <p:cNvCxnSpPr/>
          <p:nvPr/>
        </p:nvCxnSpPr>
        <p:spPr>
          <a:xfrm flipH="1">
            <a:off x="8134890" y="1288992"/>
            <a:ext cx="325542" cy="0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左右箭头 91"/>
          <p:cNvSpPr/>
          <p:nvPr/>
        </p:nvSpPr>
        <p:spPr>
          <a:xfrm>
            <a:off x="5618425" y="2164922"/>
            <a:ext cx="773327" cy="281278"/>
          </a:xfrm>
          <a:prstGeom prst="left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左右箭头 92"/>
          <p:cNvSpPr/>
          <p:nvPr/>
        </p:nvSpPr>
        <p:spPr>
          <a:xfrm>
            <a:off x="5618425" y="3711256"/>
            <a:ext cx="773327" cy="281278"/>
          </a:xfrm>
          <a:prstGeom prst="left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左右箭头 93"/>
          <p:cNvSpPr/>
          <p:nvPr/>
        </p:nvSpPr>
        <p:spPr>
          <a:xfrm>
            <a:off x="5618425" y="4774562"/>
            <a:ext cx="773327" cy="281278"/>
          </a:xfrm>
          <a:prstGeom prst="left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5" name="直接箭头连接符 94"/>
          <p:cNvCxnSpPr/>
          <p:nvPr/>
        </p:nvCxnSpPr>
        <p:spPr>
          <a:xfrm>
            <a:off x="4271692" y="5085184"/>
            <a:ext cx="0" cy="720080"/>
          </a:xfrm>
          <a:prstGeom prst="straightConnector1">
            <a:avLst/>
          </a:prstGeom>
          <a:ln w="127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/>
        </p:nvCxnSpPr>
        <p:spPr>
          <a:xfrm>
            <a:off x="4271692" y="5811068"/>
            <a:ext cx="3036100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/>
          <p:cNvCxnSpPr/>
          <p:nvPr/>
        </p:nvCxnSpPr>
        <p:spPr>
          <a:xfrm>
            <a:off x="7307792" y="5292180"/>
            <a:ext cx="0" cy="513084"/>
          </a:xfrm>
          <a:prstGeom prst="straightConnector1">
            <a:avLst/>
          </a:prstGeom>
          <a:ln w="1270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箭头连接符 99"/>
          <p:cNvCxnSpPr/>
          <p:nvPr/>
        </p:nvCxnSpPr>
        <p:spPr>
          <a:xfrm>
            <a:off x="4271692" y="4077072"/>
            <a:ext cx="0" cy="107136"/>
          </a:xfrm>
          <a:prstGeom prst="straightConnector1">
            <a:avLst/>
          </a:prstGeom>
          <a:ln w="127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/>
          <p:cNvCxnSpPr/>
          <p:nvPr/>
        </p:nvCxnSpPr>
        <p:spPr>
          <a:xfrm>
            <a:off x="4271692" y="4077072"/>
            <a:ext cx="2158031" cy="0"/>
          </a:xfrm>
          <a:prstGeom prst="line">
            <a:avLst/>
          </a:prstGeom>
          <a:ln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/>
          <p:cNvCxnSpPr/>
          <p:nvPr/>
        </p:nvCxnSpPr>
        <p:spPr>
          <a:xfrm>
            <a:off x="4271692" y="1982400"/>
            <a:ext cx="0" cy="1049089"/>
          </a:xfrm>
          <a:prstGeom prst="straightConnector1">
            <a:avLst/>
          </a:prstGeom>
          <a:ln w="127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/>
          <p:cNvCxnSpPr/>
          <p:nvPr/>
        </p:nvCxnSpPr>
        <p:spPr>
          <a:xfrm>
            <a:off x="4271692" y="3031489"/>
            <a:ext cx="3020883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箭头连接符 108"/>
          <p:cNvCxnSpPr/>
          <p:nvPr/>
        </p:nvCxnSpPr>
        <p:spPr>
          <a:xfrm>
            <a:off x="7292575" y="2660994"/>
            <a:ext cx="0" cy="370495"/>
          </a:xfrm>
          <a:prstGeom prst="straightConnector1">
            <a:avLst/>
          </a:prstGeom>
          <a:ln w="1270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/>
          <p:cNvCxnSpPr/>
          <p:nvPr/>
        </p:nvCxnSpPr>
        <p:spPr>
          <a:xfrm>
            <a:off x="4271692" y="346508"/>
            <a:ext cx="3004415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/>
          <p:cNvCxnSpPr/>
          <p:nvPr/>
        </p:nvCxnSpPr>
        <p:spPr>
          <a:xfrm>
            <a:off x="7276107" y="346508"/>
            <a:ext cx="0" cy="404344"/>
          </a:xfrm>
          <a:prstGeom prst="straightConnector1">
            <a:avLst/>
          </a:prstGeom>
          <a:ln w="127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>
          <a:xfrm>
            <a:off x="3737367" y="4184208"/>
            <a:ext cx="1068651" cy="946083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</a:p>
        </p:txBody>
      </p:sp>
      <p:sp>
        <p:nvSpPr>
          <p:cNvPr id="4" name="矩形 3"/>
          <p:cNvSpPr/>
          <p:nvPr/>
        </p:nvSpPr>
        <p:spPr>
          <a:xfrm>
            <a:off x="1449112" y="4089010"/>
            <a:ext cx="1440160" cy="169726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读写控制逻辑</a:t>
            </a:r>
          </a:p>
        </p:txBody>
      </p:sp>
      <p:sp>
        <p:nvSpPr>
          <p:cNvPr id="130" name="左右箭头 129"/>
          <p:cNvSpPr/>
          <p:nvPr/>
        </p:nvSpPr>
        <p:spPr>
          <a:xfrm>
            <a:off x="8134890" y="835897"/>
            <a:ext cx="773327" cy="281278"/>
          </a:xfrm>
          <a:prstGeom prst="left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左右箭头 130"/>
          <p:cNvSpPr/>
          <p:nvPr/>
        </p:nvSpPr>
        <p:spPr>
          <a:xfrm>
            <a:off x="8134890" y="2016591"/>
            <a:ext cx="773327" cy="281278"/>
          </a:xfrm>
          <a:prstGeom prst="left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左右箭头 131"/>
          <p:cNvSpPr/>
          <p:nvPr/>
        </p:nvSpPr>
        <p:spPr>
          <a:xfrm>
            <a:off x="8134889" y="3552846"/>
            <a:ext cx="773327" cy="281278"/>
          </a:xfrm>
          <a:prstGeom prst="left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左右箭头 132"/>
          <p:cNvSpPr/>
          <p:nvPr/>
        </p:nvSpPr>
        <p:spPr>
          <a:xfrm>
            <a:off x="8134889" y="4616154"/>
            <a:ext cx="773327" cy="281278"/>
          </a:xfrm>
          <a:prstGeom prst="left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Rectangle 2"/>
          <p:cNvSpPr>
            <a:spLocks noChangeArrowheads="1"/>
          </p:cNvSpPr>
          <p:nvPr/>
        </p:nvSpPr>
        <p:spPr bwMode="auto">
          <a:xfrm>
            <a:off x="899445" y="74569"/>
            <a:ext cx="2303597" cy="15192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extLst/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6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8255</a:t>
            </a:r>
          </a:p>
          <a:p>
            <a:pPr algn="ctr" eaLnBrk="0" hangingPunct="0"/>
            <a:r>
              <a:rPr lang="zh-CN" altLang="en-US" sz="36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内部结构</a:t>
            </a:r>
            <a:endParaRPr lang="zh-CN" altLang="en-US" sz="36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6" name="Text Box 5"/>
          <p:cNvSpPr txBox="1">
            <a:spLocks noChangeArrowheads="1"/>
          </p:cNvSpPr>
          <p:nvPr/>
        </p:nvSpPr>
        <p:spPr bwMode="auto">
          <a:xfrm>
            <a:off x="8013312" y="397940"/>
            <a:ext cx="1199720" cy="366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</a:rPr>
              <a:t>PA0~PA7</a:t>
            </a:r>
          </a:p>
        </p:txBody>
      </p:sp>
      <p:sp>
        <p:nvSpPr>
          <p:cNvPr id="137" name="Text Box 5"/>
          <p:cNvSpPr txBox="1">
            <a:spLocks noChangeArrowheads="1"/>
          </p:cNvSpPr>
          <p:nvPr/>
        </p:nvSpPr>
        <p:spPr bwMode="auto">
          <a:xfrm>
            <a:off x="8100392" y="1656122"/>
            <a:ext cx="1199720" cy="366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</a:rPr>
              <a:t>PC7~PC4</a:t>
            </a:r>
          </a:p>
        </p:txBody>
      </p:sp>
      <p:sp>
        <p:nvSpPr>
          <p:cNvPr id="138" name="Text Box 5"/>
          <p:cNvSpPr txBox="1">
            <a:spLocks noChangeArrowheads="1"/>
          </p:cNvSpPr>
          <p:nvPr/>
        </p:nvSpPr>
        <p:spPr bwMode="auto">
          <a:xfrm>
            <a:off x="8076812" y="3216547"/>
            <a:ext cx="1199720" cy="366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</a:rPr>
              <a:t>PC3~PC0</a:t>
            </a:r>
          </a:p>
        </p:txBody>
      </p:sp>
      <p:sp>
        <p:nvSpPr>
          <p:cNvPr id="139" name="Text Box 5"/>
          <p:cNvSpPr txBox="1">
            <a:spLocks noChangeArrowheads="1"/>
          </p:cNvSpPr>
          <p:nvPr/>
        </p:nvSpPr>
        <p:spPr bwMode="auto">
          <a:xfrm>
            <a:off x="8076812" y="4272026"/>
            <a:ext cx="1199720" cy="366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</a:rPr>
              <a:t>PB7~PB0</a:t>
            </a:r>
          </a:p>
        </p:txBody>
      </p:sp>
    </p:spTree>
    <p:extLst>
      <p:ext uri="{BB962C8B-B14F-4D97-AF65-F5344CB8AC3E}">
        <p14:creationId xmlns:p14="http://schemas.microsoft.com/office/powerpoint/2010/main" val="220438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331640" y="467545"/>
            <a:ext cx="6912768" cy="56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eaLnBrk="0" hangingPunct="0">
              <a:buFont typeface="Wingdings" pitchFamily="2" charset="2"/>
              <a:buNone/>
            </a:pPr>
            <a:r>
              <a:rPr lang="zh-CN" altLang="en-US" sz="38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编程结构：端口地址与寄存器</a:t>
            </a:r>
            <a:endParaRPr lang="zh-CN" altLang="en-US" sz="3200" b="1" dirty="0">
              <a:solidFill>
                <a:prstClr val="white">
                  <a:lumMod val="65000"/>
                </a:prstClr>
              </a:solidFill>
              <a:latin typeface="Arial"/>
              <a:ea typeface="微软雅黑" pitchFamily="34" charset="-122"/>
              <a:cs typeface="Arial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18197" y="2255325"/>
            <a:ext cx="2639880" cy="1257456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端口号的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A0A1</a:t>
            </a:r>
          </a:p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788024" y="1632184"/>
            <a:ext cx="3312368" cy="2459930"/>
          </a:xfrm>
          <a:prstGeom prst="rect">
            <a:avLst/>
          </a:prstGeom>
          <a:noFill/>
          <a:ln w="1270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759058" y="1835201"/>
            <a:ext cx="1765692" cy="517063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</a:t>
            </a:r>
          </a:p>
        </p:txBody>
      </p:sp>
      <p:sp>
        <p:nvSpPr>
          <p:cNvPr id="19" name="矩形 18"/>
          <p:cNvSpPr/>
          <p:nvPr/>
        </p:nvSpPr>
        <p:spPr>
          <a:xfrm>
            <a:off x="5759058" y="2568288"/>
            <a:ext cx="1765692" cy="517063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</a:t>
            </a:r>
          </a:p>
        </p:txBody>
      </p:sp>
      <p:sp>
        <p:nvSpPr>
          <p:cNvPr id="27" name="矩形 26"/>
          <p:cNvSpPr/>
          <p:nvPr/>
        </p:nvSpPr>
        <p:spPr>
          <a:xfrm>
            <a:off x="827584" y="1632184"/>
            <a:ext cx="3126680" cy="2459930"/>
          </a:xfrm>
          <a:prstGeom prst="rect">
            <a:avLst/>
          </a:prstGeom>
          <a:noFill/>
          <a:ln w="1270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左右箭头 27"/>
          <p:cNvSpPr/>
          <p:nvPr/>
        </p:nvSpPr>
        <p:spPr>
          <a:xfrm>
            <a:off x="3972629" y="2695113"/>
            <a:ext cx="798007" cy="377881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1141504" y="4742903"/>
            <a:ext cx="2639880" cy="905089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端口号的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A0A1=11</a:t>
            </a:r>
          </a:p>
        </p:txBody>
      </p:sp>
      <p:sp>
        <p:nvSpPr>
          <p:cNvPr id="31" name="矩形 30"/>
          <p:cNvSpPr/>
          <p:nvPr/>
        </p:nvSpPr>
        <p:spPr>
          <a:xfrm>
            <a:off x="4788024" y="4512504"/>
            <a:ext cx="3312368" cy="1364768"/>
          </a:xfrm>
          <a:prstGeom prst="rect">
            <a:avLst/>
          </a:prstGeom>
          <a:noFill/>
          <a:ln w="1270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777578" y="4861666"/>
            <a:ext cx="1747172" cy="658300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控制寄存器</a:t>
            </a:r>
          </a:p>
        </p:txBody>
      </p:sp>
      <p:sp>
        <p:nvSpPr>
          <p:cNvPr id="34" name="TextBox 17"/>
          <p:cNvSpPr txBox="1"/>
          <p:nvPr/>
        </p:nvSpPr>
        <p:spPr>
          <a:xfrm>
            <a:off x="4788024" y="4861666"/>
            <a:ext cx="943318" cy="533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只写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827584" y="4512504"/>
            <a:ext cx="3126680" cy="1364768"/>
          </a:xfrm>
          <a:prstGeom prst="rect">
            <a:avLst/>
          </a:prstGeom>
          <a:noFill/>
          <a:ln w="1270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右箭头 37"/>
          <p:cNvSpPr/>
          <p:nvPr/>
        </p:nvSpPr>
        <p:spPr>
          <a:xfrm>
            <a:off x="4036137" y="4979832"/>
            <a:ext cx="705651" cy="43011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5764506" y="3360376"/>
            <a:ext cx="1765692" cy="517063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4815740" y="2565985"/>
            <a:ext cx="943318" cy="533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读写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V="1">
            <a:off x="6588224" y="3973351"/>
            <a:ext cx="0" cy="76955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6150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/>
          <p:nvPr/>
        </p:nvSpPr>
        <p:spPr>
          <a:xfrm>
            <a:off x="4292127" y="1867768"/>
            <a:ext cx="3448225" cy="841375"/>
          </a:xfrm>
          <a:prstGeom prst="roundRect">
            <a:avLst>
              <a:gd name="adj" fmla="val 8176"/>
            </a:avLst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>
            <a:defPPr>
              <a:defRPr lang="en-US"/>
            </a:defPPr>
            <a:lvl1pPr algn="ctr">
              <a:defRPr sz="2800" b="1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8255</a:t>
            </a:r>
            <a:r>
              <a:rPr lang="zh-CN" altLang="en-US" dirty="0"/>
              <a:t>并行接口</a:t>
            </a:r>
          </a:p>
        </p:txBody>
      </p:sp>
      <p:sp>
        <p:nvSpPr>
          <p:cNvPr id="3" name="椭圆 2"/>
          <p:cNvSpPr/>
          <p:nvPr/>
        </p:nvSpPr>
        <p:spPr>
          <a:xfrm>
            <a:off x="3859857" y="1916832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1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  <p:sp>
        <p:nvSpPr>
          <p:cNvPr id="4" name="TextBox 9"/>
          <p:cNvSpPr txBox="1"/>
          <p:nvPr/>
        </p:nvSpPr>
        <p:spPr>
          <a:xfrm>
            <a:off x="4292127" y="3020293"/>
            <a:ext cx="3448225" cy="841375"/>
          </a:xfrm>
          <a:prstGeom prst="roundRect">
            <a:avLst>
              <a:gd name="adj" fmla="val 8176"/>
            </a:avLst>
          </a:prstGeom>
          <a:solidFill>
            <a:srgbClr val="5DCB08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>
            <a:defPPr>
              <a:defRPr lang="en-US"/>
            </a:defPPr>
            <a:lvl1pPr algn="ctr"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  控制字及工作方式</a:t>
            </a:r>
          </a:p>
        </p:txBody>
      </p:sp>
      <p:sp>
        <p:nvSpPr>
          <p:cNvPr id="5" name="椭圆 4"/>
          <p:cNvSpPr/>
          <p:nvPr/>
        </p:nvSpPr>
        <p:spPr>
          <a:xfrm>
            <a:off x="3859857" y="3069357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2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  <p:sp>
        <p:nvSpPr>
          <p:cNvPr id="6" name="TextBox 9"/>
          <p:cNvSpPr txBox="1"/>
          <p:nvPr/>
        </p:nvSpPr>
        <p:spPr>
          <a:xfrm>
            <a:off x="4284190" y="4171801"/>
            <a:ext cx="3448225" cy="841375"/>
          </a:xfrm>
          <a:prstGeom prst="roundRect">
            <a:avLst>
              <a:gd name="adj" fmla="val 8176"/>
            </a:avLst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>
            <a:defPPr>
              <a:defRPr lang="en-US"/>
            </a:defPPr>
            <a:lvl1pPr algn="ctr">
              <a:defRPr sz="2800" b="1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8255</a:t>
            </a:r>
            <a:r>
              <a:rPr lang="zh-CN" altLang="en-US" dirty="0"/>
              <a:t>应用举例</a:t>
            </a:r>
          </a:p>
        </p:txBody>
      </p:sp>
      <p:sp>
        <p:nvSpPr>
          <p:cNvPr id="7" name="椭圆 6"/>
          <p:cNvSpPr/>
          <p:nvPr/>
        </p:nvSpPr>
        <p:spPr>
          <a:xfrm>
            <a:off x="3851920" y="4220865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3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0031267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pPr algn="ctr"/>
              <a:t>13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966244" y="4119885"/>
            <a:ext cx="3405956" cy="1253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 控制字格式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工作方式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475697" y="2491517"/>
            <a:ext cx="6985934" cy="1162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控制字和工作方式</a:t>
            </a:r>
            <a:endParaRPr lang="zh-CN" altLang="en-US" sz="80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8000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8255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的控制字和工作方式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矩形 4"/>
          <p:cNvSpPr>
            <a:spLocks noChangeAspect="1"/>
          </p:cNvSpPr>
          <p:nvPr/>
        </p:nvSpPr>
        <p:spPr>
          <a:xfrm>
            <a:off x="1115616" y="1682317"/>
            <a:ext cx="7128792" cy="1806106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806623" y="2097868"/>
            <a:ext cx="1512167" cy="574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19"/>
          <p:cNvSpPr txBox="1"/>
          <p:nvPr/>
        </p:nvSpPr>
        <p:spPr>
          <a:xfrm>
            <a:off x="1348382" y="1748495"/>
            <a:ext cx="461665" cy="159257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控制字分类</a:t>
            </a:r>
          </a:p>
        </p:txBody>
      </p:sp>
      <p:sp>
        <p:nvSpPr>
          <p:cNvPr id="8" name="TextBox 17"/>
          <p:cNvSpPr txBox="1"/>
          <p:nvPr/>
        </p:nvSpPr>
        <p:spPr>
          <a:xfrm>
            <a:off x="2052604" y="1688223"/>
            <a:ext cx="6081561" cy="172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端口的方式选择控制字：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可使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8255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个数据端口工作在不同的方式。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口的按位置位和复位控制字：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可使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口的任意一位置位和复位。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矩形 8"/>
          <p:cNvSpPr>
            <a:spLocks noChangeAspect="1"/>
          </p:cNvSpPr>
          <p:nvPr/>
        </p:nvSpPr>
        <p:spPr>
          <a:xfrm>
            <a:off x="1115616" y="4087953"/>
            <a:ext cx="7128792" cy="1501287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881380" y="4428748"/>
            <a:ext cx="1362654" cy="574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9"/>
          <p:cNvSpPr txBox="1"/>
          <p:nvPr/>
        </p:nvSpPr>
        <p:spPr>
          <a:xfrm>
            <a:off x="1348382" y="4154132"/>
            <a:ext cx="461665" cy="143510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工作方式</a:t>
            </a:r>
          </a:p>
        </p:txBody>
      </p:sp>
      <p:sp>
        <p:nvSpPr>
          <p:cNvPr id="12" name="TextBox 17"/>
          <p:cNvSpPr txBox="1"/>
          <p:nvPr/>
        </p:nvSpPr>
        <p:spPr>
          <a:xfrm>
            <a:off x="2052604" y="4093859"/>
            <a:ext cx="6081561" cy="132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方式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基本的输入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输出方式。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方式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选通的输入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输出方式。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方式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双向的传输方式。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6565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9" grpId="0" animBg="1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747922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1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684026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D6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2620130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D5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3556234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D4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428442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D2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6364546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D1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7300650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D0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492338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D3</a:t>
            </a:r>
            <a:endParaRPr lang="zh-CN" altLang="en-US" sz="1600" b="1" dirty="0">
              <a:ea typeface="微软雅黑" panose="020B0503020204020204" pitchFamily="3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7732698" y="2276872"/>
            <a:ext cx="0" cy="720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1177154" y="2276872"/>
            <a:ext cx="0" cy="11900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2046343" y="2261745"/>
            <a:ext cx="0" cy="20313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8631929"/>
              </p:ext>
            </p:extLst>
          </p:nvPr>
        </p:nvGraphicFramePr>
        <p:xfrm>
          <a:off x="1828042" y="4268672"/>
          <a:ext cx="168327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831">
                  <a:extLst>
                    <a:ext uri="{9D8B030D-6E8A-4147-A177-3AD203B41FA5}">
                      <a16:colId xmlns:a16="http://schemas.microsoft.com/office/drawing/2014/main" val="3008923453"/>
                    </a:ext>
                  </a:extLst>
                </a:gridCol>
                <a:gridCol w="405542">
                  <a:extLst>
                    <a:ext uri="{9D8B030D-6E8A-4147-A177-3AD203B41FA5}">
                      <a16:colId xmlns:a16="http://schemas.microsoft.com/office/drawing/2014/main" val="1464832919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2776193678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</a:rPr>
                        <a:t>口工作方式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1673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方式</a:t>
                      </a:r>
                      <a:r>
                        <a:rPr lang="en-US" altLang="zh-CN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  <a:endParaRPr lang="zh-CN" altLang="en-US" sz="1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203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方式</a:t>
                      </a:r>
                      <a:r>
                        <a:rPr lang="en-US" altLang="zh-CN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lang="zh-CN" altLang="en-US" sz="1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5354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方式</a:t>
                      </a:r>
                      <a:r>
                        <a:rPr lang="en-US" altLang="zh-CN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endParaRPr lang="zh-CN" altLang="en-US" sz="1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033055"/>
                  </a:ext>
                </a:extLst>
              </a:tr>
            </a:tbl>
          </a:graphicData>
        </a:graphic>
      </p:graphicFrame>
      <p:cxnSp>
        <p:nvCxnSpPr>
          <p:cNvPr id="47" name="直接连接符 46"/>
          <p:cNvCxnSpPr/>
          <p:nvPr/>
        </p:nvCxnSpPr>
        <p:spPr>
          <a:xfrm>
            <a:off x="4922085" y="2249550"/>
            <a:ext cx="0" cy="7588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5894316" y="2249550"/>
            <a:ext cx="0" cy="19715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6796594" y="2279802"/>
            <a:ext cx="11841" cy="12297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>
            <a:off x="2478391" y="3327580"/>
            <a:ext cx="5977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6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方式控制字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7" name="直接连接符 36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8" name="圆角矩形 37"/>
          <p:cNvSpPr/>
          <p:nvPr/>
        </p:nvSpPr>
        <p:spPr>
          <a:xfrm>
            <a:off x="440559" y="3486031"/>
            <a:ext cx="1461346" cy="638346"/>
          </a:xfrm>
          <a:prstGeom prst="roundRect">
            <a:avLst>
              <a:gd name="adj" fmla="val 435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ea typeface="微软雅黑" panose="020B0503020204020204" pitchFamily="34" charset="-122"/>
              </a:rPr>
              <a:t>方式选择标志</a:t>
            </a:r>
          </a:p>
        </p:txBody>
      </p:sp>
      <p:cxnSp>
        <p:nvCxnSpPr>
          <p:cNvPr id="40" name="直接连接符 39"/>
          <p:cNvCxnSpPr/>
          <p:nvPr/>
        </p:nvCxnSpPr>
        <p:spPr>
          <a:xfrm>
            <a:off x="3065721" y="2237321"/>
            <a:ext cx="0" cy="10902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2478391" y="3327580"/>
            <a:ext cx="0" cy="9410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圆角矩形 45"/>
          <p:cNvSpPr/>
          <p:nvPr/>
        </p:nvSpPr>
        <p:spPr>
          <a:xfrm>
            <a:off x="3565845" y="2981319"/>
            <a:ext cx="820270" cy="971236"/>
          </a:xfrm>
          <a:prstGeom prst="roundRect">
            <a:avLst>
              <a:gd name="adj" fmla="val 435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ea typeface="微软雅黑" panose="020B0503020204020204" pitchFamily="34" charset="-122"/>
              </a:rPr>
              <a:t>端口</a:t>
            </a:r>
            <a:r>
              <a:rPr lang="en-US" altLang="zh-CN" sz="1600" dirty="0">
                <a:ea typeface="微软雅黑" panose="020B0503020204020204" pitchFamily="34" charset="-122"/>
              </a:rPr>
              <a:t>A</a:t>
            </a:r>
          </a:p>
          <a:p>
            <a:pPr algn="ctr"/>
            <a:r>
              <a:rPr lang="en-US" altLang="zh-CN" sz="1600" dirty="0">
                <a:ea typeface="微软雅黑" panose="020B0503020204020204" pitchFamily="34" charset="-122"/>
              </a:rPr>
              <a:t>1: </a:t>
            </a:r>
            <a:r>
              <a:rPr lang="zh-CN" altLang="en-US" sz="1600" dirty="0">
                <a:ea typeface="微软雅黑" panose="020B0503020204020204" pitchFamily="34" charset="-122"/>
              </a:rPr>
              <a:t>输入</a:t>
            </a:r>
            <a:endParaRPr lang="en-US" altLang="zh-CN" sz="1600" dirty="0">
              <a:ea typeface="微软雅黑" panose="020B0503020204020204" pitchFamily="34" charset="-122"/>
            </a:endParaRPr>
          </a:p>
          <a:p>
            <a:pPr algn="ctr"/>
            <a:r>
              <a:rPr lang="en-US" altLang="zh-CN" sz="1600" dirty="0">
                <a:ea typeface="微软雅黑" panose="020B0503020204020204" pitchFamily="34" charset="-122"/>
              </a:rPr>
              <a:t>0: </a:t>
            </a:r>
            <a:r>
              <a:rPr lang="zh-CN" altLang="en-US" sz="1600" dirty="0">
                <a:ea typeface="微软雅黑" panose="020B0503020204020204" pitchFamily="34" charset="-122"/>
              </a:rPr>
              <a:t>输出</a:t>
            </a:r>
          </a:p>
        </p:txBody>
      </p:sp>
      <p:cxnSp>
        <p:nvCxnSpPr>
          <p:cNvPr id="50" name="直接连接符 49"/>
          <p:cNvCxnSpPr>
            <a:stCxn id="6" idx="2"/>
          </p:cNvCxnSpPr>
          <p:nvPr/>
        </p:nvCxnSpPr>
        <p:spPr>
          <a:xfrm flipH="1">
            <a:off x="4001825" y="2280691"/>
            <a:ext cx="1" cy="765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圆角矩形 51"/>
          <p:cNvSpPr/>
          <p:nvPr/>
        </p:nvSpPr>
        <p:spPr>
          <a:xfrm>
            <a:off x="4470595" y="2973449"/>
            <a:ext cx="941802" cy="971236"/>
          </a:xfrm>
          <a:prstGeom prst="roundRect">
            <a:avLst>
              <a:gd name="adj" fmla="val 435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ea typeface="微软雅黑" panose="020B0503020204020204" pitchFamily="34" charset="-122"/>
              </a:rPr>
              <a:t>PC7~PC4</a:t>
            </a:r>
          </a:p>
          <a:p>
            <a:pPr algn="ctr"/>
            <a:r>
              <a:rPr lang="en-US" altLang="zh-CN" sz="1600" dirty="0">
                <a:ea typeface="微软雅黑" panose="020B0503020204020204" pitchFamily="34" charset="-122"/>
              </a:rPr>
              <a:t>1: </a:t>
            </a:r>
            <a:r>
              <a:rPr lang="zh-CN" altLang="en-US" sz="1600" dirty="0">
                <a:ea typeface="微软雅黑" panose="020B0503020204020204" pitchFamily="34" charset="-122"/>
              </a:rPr>
              <a:t>输入</a:t>
            </a:r>
            <a:endParaRPr lang="en-US" altLang="zh-CN" sz="1600" dirty="0">
              <a:ea typeface="微软雅黑" panose="020B0503020204020204" pitchFamily="34" charset="-122"/>
            </a:endParaRPr>
          </a:p>
          <a:p>
            <a:pPr algn="ctr"/>
            <a:r>
              <a:rPr lang="en-US" altLang="zh-CN" sz="1600" dirty="0">
                <a:ea typeface="微软雅黑" panose="020B0503020204020204" pitchFamily="34" charset="-122"/>
              </a:rPr>
              <a:t>0: </a:t>
            </a:r>
            <a:r>
              <a:rPr lang="zh-CN" altLang="en-US" sz="1600" dirty="0">
                <a:ea typeface="微软雅黑" panose="020B0503020204020204" pitchFamily="34" charset="-122"/>
              </a:rPr>
              <a:t>输出</a:t>
            </a:r>
          </a:p>
        </p:txBody>
      </p:sp>
      <p:graphicFrame>
        <p:nvGraphicFramePr>
          <p:cNvPr id="54" name="表格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0282094"/>
              </p:ext>
            </p:extLst>
          </p:nvPr>
        </p:nvGraphicFramePr>
        <p:xfrm>
          <a:off x="5256262" y="4232568"/>
          <a:ext cx="168327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6373">
                  <a:extLst>
                    <a:ext uri="{9D8B030D-6E8A-4147-A177-3AD203B41FA5}">
                      <a16:colId xmlns:a16="http://schemas.microsoft.com/office/drawing/2014/main" val="3008923453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2776193678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bg1"/>
                          </a:solidFill>
                        </a:rPr>
                        <a:t>B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</a:rPr>
                        <a:t>口工作方式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1673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方式</a:t>
                      </a:r>
                      <a:r>
                        <a:rPr lang="en-US" altLang="zh-CN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  <a:endParaRPr lang="zh-CN" altLang="en-US" sz="1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203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方式</a:t>
                      </a:r>
                      <a:r>
                        <a:rPr lang="en-US" altLang="zh-CN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lang="zh-CN" altLang="en-US" sz="1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5354988"/>
                  </a:ext>
                </a:extLst>
              </a:tr>
            </a:tbl>
          </a:graphicData>
        </a:graphic>
      </p:graphicFrame>
      <p:sp>
        <p:nvSpPr>
          <p:cNvPr id="55" name="圆角矩形 54"/>
          <p:cNvSpPr/>
          <p:nvPr/>
        </p:nvSpPr>
        <p:spPr>
          <a:xfrm>
            <a:off x="6405112" y="2996952"/>
            <a:ext cx="820270" cy="971236"/>
          </a:xfrm>
          <a:prstGeom prst="roundRect">
            <a:avLst>
              <a:gd name="adj" fmla="val 435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ea typeface="微软雅黑" panose="020B0503020204020204" pitchFamily="34" charset="-122"/>
              </a:rPr>
              <a:t>端口</a:t>
            </a:r>
            <a:r>
              <a:rPr lang="en-US" altLang="zh-CN" sz="1600" dirty="0">
                <a:ea typeface="微软雅黑" panose="020B0503020204020204" pitchFamily="34" charset="-122"/>
              </a:rPr>
              <a:t>B</a:t>
            </a:r>
          </a:p>
          <a:p>
            <a:pPr algn="ctr"/>
            <a:r>
              <a:rPr lang="en-US" altLang="zh-CN" sz="1600" dirty="0">
                <a:ea typeface="微软雅黑" panose="020B0503020204020204" pitchFamily="34" charset="-122"/>
              </a:rPr>
              <a:t>1: </a:t>
            </a:r>
            <a:r>
              <a:rPr lang="zh-CN" altLang="en-US" sz="1600" dirty="0">
                <a:ea typeface="微软雅黑" panose="020B0503020204020204" pitchFamily="34" charset="-122"/>
              </a:rPr>
              <a:t>输入</a:t>
            </a:r>
            <a:endParaRPr lang="en-US" altLang="zh-CN" sz="1600" dirty="0">
              <a:ea typeface="微软雅黑" panose="020B0503020204020204" pitchFamily="34" charset="-122"/>
            </a:endParaRPr>
          </a:p>
          <a:p>
            <a:pPr algn="ctr"/>
            <a:r>
              <a:rPr lang="en-US" altLang="zh-CN" sz="1600" dirty="0">
                <a:ea typeface="微软雅黑" panose="020B0503020204020204" pitchFamily="34" charset="-122"/>
              </a:rPr>
              <a:t>0: </a:t>
            </a:r>
            <a:r>
              <a:rPr lang="zh-CN" altLang="en-US" sz="1600" dirty="0">
                <a:ea typeface="微软雅黑" panose="020B0503020204020204" pitchFamily="34" charset="-122"/>
              </a:rPr>
              <a:t>输出</a:t>
            </a:r>
          </a:p>
        </p:txBody>
      </p:sp>
      <p:sp>
        <p:nvSpPr>
          <p:cNvPr id="56" name="圆角矩形 55"/>
          <p:cNvSpPr/>
          <p:nvPr/>
        </p:nvSpPr>
        <p:spPr>
          <a:xfrm>
            <a:off x="7302606" y="2981319"/>
            <a:ext cx="941802" cy="971236"/>
          </a:xfrm>
          <a:prstGeom prst="roundRect">
            <a:avLst>
              <a:gd name="adj" fmla="val 435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ea typeface="微软雅黑" panose="020B0503020204020204" pitchFamily="34" charset="-122"/>
              </a:rPr>
              <a:t>PC3~PC0</a:t>
            </a:r>
          </a:p>
          <a:p>
            <a:pPr algn="ctr"/>
            <a:r>
              <a:rPr lang="en-US" altLang="zh-CN" sz="1600" dirty="0">
                <a:ea typeface="微软雅黑" panose="020B0503020204020204" pitchFamily="34" charset="-122"/>
              </a:rPr>
              <a:t>1: </a:t>
            </a:r>
            <a:r>
              <a:rPr lang="zh-CN" altLang="en-US" sz="1600" dirty="0">
                <a:ea typeface="微软雅黑" panose="020B0503020204020204" pitchFamily="34" charset="-122"/>
              </a:rPr>
              <a:t>输入</a:t>
            </a:r>
            <a:endParaRPr lang="en-US" altLang="zh-CN" sz="1600" dirty="0">
              <a:ea typeface="微软雅黑" panose="020B0503020204020204" pitchFamily="34" charset="-122"/>
            </a:endParaRPr>
          </a:p>
          <a:p>
            <a:pPr algn="ctr"/>
            <a:r>
              <a:rPr lang="en-US" altLang="zh-CN" sz="1600" dirty="0">
                <a:ea typeface="微软雅黑" panose="020B0503020204020204" pitchFamily="34" charset="-122"/>
              </a:rPr>
              <a:t>0: </a:t>
            </a:r>
            <a:r>
              <a:rPr lang="zh-CN" altLang="en-US" sz="1600" dirty="0">
                <a:ea typeface="微软雅黑" panose="020B0503020204020204" pitchFamily="34" charset="-122"/>
              </a:rPr>
              <a:t>输出</a:t>
            </a:r>
          </a:p>
        </p:txBody>
      </p:sp>
      <p:sp>
        <p:nvSpPr>
          <p:cNvPr id="57" name="矩形 56"/>
          <p:cNvSpPr/>
          <p:nvPr/>
        </p:nvSpPr>
        <p:spPr>
          <a:xfrm>
            <a:off x="2051720" y="6172381"/>
            <a:ext cx="46662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记忆方法    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1:  </a:t>
            </a:r>
            <a:r>
              <a:rPr lang="en-US" altLang="zh-CN" sz="20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nput,           0:  </a:t>
            </a:r>
            <a:r>
              <a:rPr lang="en-US" altLang="zh-CN" sz="20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utput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84364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46" grpId="0" animBg="1"/>
      <p:bldP spid="52" grpId="0" animBg="1"/>
      <p:bldP spid="55" grpId="0" animBg="1"/>
      <p:bldP spid="56" grpId="0" animBg="1"/>
      <p:bldP spid="5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8255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的控制字解读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矩形 4"/>
          <p:cNvSpPr>
            <a:spLocks noChangeAspect="1"/>
          </p:cNvSpPr>
          <p:nvPr/>
        </p:nvSpPr>
        <p:spPr>
          <a:xfrm>
            <a:off x="1115616" y="1766910"/>
            <a:ext cx="7128792" cy="1806106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806623" y="2182461"/>
            <a:ext cx="1512167" cy="574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19"/>
          <p:cNvSpPr txBox="1"/>
          <p:nvPr/>
        </p:nvSpPr>
        <p:spPr>
          <a:xfrm>
            <a:off x="1348382" y="1833088"/>
            <a:ext cx="461665" cy="159257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工作方式</a:t>
            </a:r>
          </a:p>
        </p:txBody>
      </p:sp>
      <p:sp>
        <p:nvSpPr>
          <p:cNvPr id="8" name="TextBox 17"/>
          <p:cNvSpPr txBox="1"/>
          <p:nvPr/>
        </p:nvSpPr>
        <p:spPr>
          <a:xfrm>
            <a:off x="2052604" y="1772816"/>
            <a:ext cx="6081561" cy="172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口：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可以工作在方式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，方式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，方式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三种</a:t>
            </a:r>
            <a:endParaRPr lang="en-US" altLang="zh-CN" sz="20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口：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可工作在方式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，方式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 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两种</a:t>
            </a:r>
            <a:endParaRPr lang="en-US" altLang="zh-CN" sz="20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口：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没有工作方式的定义，只有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IN/OUT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的定义。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口高四位和低四位可分开使用，也可联合使用。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1424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611560" y="1124744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11560" y="631563"/>
            <a:ext cx="500110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sz="2800" b="1" kern="0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1"/>
          <p:cNvSpPr txBox="1"/>
          <p:nvPr/>
        </p:nvSpPr>
        <p:spPr>
          <a:xfrm>
            <a:off x="1119384" y="620688"/>
            <a:ext cx="7261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</a:p>
        </p:txBody>
      </p:sp>
      <p:sp>
        <p:nvSpPr>
          <p:cNvPr id="5" name="矩形 4"/>
          <p:cNvSpPr/>
          <p:nvPr/>
        </p:nvSpPr>
        <p:spPr>
          <a:xfrm>
            <a:off x="8380710" y="620688"/>
            <a:ext cx="223738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</a:pPr>
            <a:endParaRPr lang="zh-CN" altLang="en-US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11560" y="631563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4719784" y="1181038"/>
            <a:ext cx="0" cy="3976154"/>
          </a:xfrm>
          <a:prstGeom prst="line">
            <a:avLst/>
          </a:prstGeom>
          <a:ln w="12700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3"/>
          <p:cNvSpPr>
            <a:spLocks noChangeArrowheads="1"/>
          </p:cNvSpPr>
          <p:nvPr/>
        </p:nvSpPr>
        <p:spPr bwMode="auto">
          <a:xfrm>
            <a:off x="5083106" y="2186506"/>
            <a:ext cx="3528392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AL,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10000010B</a:t>
            </a:r>
          </a:p>
        </p:txBody>
      </p:sp>
      <p:sp>
        <p:nvSpPr>
          <p:cNvPr id="18" name="矩形 3"/>
          <p:cNvSpPr>
            <a:spLocks noChangeArrowheads="1"/>
          </p:cNvSpPr>
          <p:nvPr/>
        </p:nvSpPr>
        <p:spPr bwMode="auto">
          <a:xfrm>
            <a:off x="5083106" y="2644231"/>
            <a:ext cx="2952328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OUT   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83H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,  AL</a:t>
            </a:r>
            <a:endParaRPr lang="en-US" altLang="zh-CN" sz="2400" b="1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TextBox 10"/>
          <p:cNvSpPr txBox="1">
            <a:spLocks noChangeArrowheads="1"/>
          </p:cNvSpPr>
          <p:nvPr/>
        </p:nvSpPr>
        <p:spPr bwMode="auto">
          <a:xfrm>
            <a:off x="755576" y="1411329"/>
            <a:ext cx="3601889" cy="254845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8255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的四个端口为：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80H~83H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8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假设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口工作方式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，输出，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口工作方式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，输入。</a:t>
            </a:r>
            <a:endParaRPr lang="en-US" altLang="zh-CN" sz="28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矩形 3"/>
          <p:cNvSpPr>
            <a:spLocks noChangeArrowheads="1"/>
          </p:cNvSpPr>
          <p:nvPr/>
        </p:nvSpPr>
        <p:spPr bwMode="auto">
          <a:xfrm>
            <a:off x="1457411" y="3940375"/>
            <a:ext cx="2198217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10000010B</a:t>
            </a:r>
          </a:p>
        </p:txBody>
      </p:sp>
    </p:spTree>
    <p:extLst>
      <p:ext uri="{BB962C8B-B14F-4D97-AF65-F5344CB8AC3E}">
        <p14:creationId xmlns:p14="http://schemas.microsoft.com/office/powerpoint/2010/main" val="967898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747922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0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684026" y="1556792"/>
            <a:ext cx="891183" cy="723899"/>
          </a:xfrm>
          <a:prstGeom prst="roundRect">
            <a:avLst>
              <a:gd name="adj" fmla="val 435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D6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2620130" y="1556792"/>
            <a:ext cx="891183" cy="723899"/>
          </a:xfrm>
          <a:prstGeom prst="roundRect">
            <a:avLst>
              <a:gd name="adj" fmla="val 435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D5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3556234" y="1556792"/>
            <a:ext cx="891183" cy="723899"/>
          </a:xfrm>
          <a:prstGeom prst="roundRect">
            <a:avLst>
              <a:gd name="adj" fmla="val 435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D4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428442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D2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6364546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D1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7300650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D0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492338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D3</a:t>
            </a:r>
            <a:endParaRPr lang="zh-CN" altLang="en-US" sz="1600" b="1" dirty="0">
              <a:ea typeface="微软雅黑" panose="020B0503020204020204" pitchFamily="34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1177154" y="2276872"/>
            <a:ext cx="0" cy="11900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6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口的按位操作：置位和复位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7" name="直接连接符 36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8" name="圆角矩形 37"/>
          <p:cNvSpPr/>
          <p:nvPr/>
        </p:nvSpPr>
        <p:spPr>
          <a:xfrm>
            <a:off x="747922" y="3481059"/>
            <a:ext cx="2179572" cy="1023089"/>
          </a:xfrm>
          <a:prstGeom prst="roundRect">
            <a:avLst>
              <a:gd name="adj" fmla="val 435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ea typeface="微软雅黑" panose="020B0503020204020204" pitchFamily="34" charset="-122"/>
              </a:rPr>
              <a:t>特征位，</a:t>
            </a:r>
            <a:r>
              <a:rPr lang="en-US" altLang="zh-CN" dirty="0">
                <a:ea typeface="微软雅黑" panose="020B0503020204020204" pitchFamily="34" charset="-122"/>
              </a:rPr>
              <a:t>D7=0</a:t>
            </a:r>
            <a:r>
              <a:rPr lang="zh-CN" altLang="en-US" dirty="0">
                <a:ea typeface="微软雅黑" panose="020B0503020204020204" pitchFamily="34" charset="-122"/>
              </a:rPr>
              <a:t>表示是</a:t>
            </a:r>
            <a:r>
              <a:rPr lang="en-US" altLang="zh-CN" dirty="0">
                <a:ea typeface="微软雅黑" panose="020B0503020204020204" pitchFamily="34" charset="-122"/>
              </a:rPr>
              <a:t>C</a:t>
            </a:r>
            <a:r>
              <a:rPr lang="zh-CN" altLang="en-US" dirty="0">
                <a:ea typeface="微软雅黑" panose="020B0503020204020204" pitchFamily="34" charset="-122"/>
              </a:rPr>
              <a:t>口按位置位</a:t>
            </a:r>
            <a:r>
              <a:rPr lang="en-US" altLang="zh-CN" dirty="0">
                <a:ea typeface="微软雅黑" panose="020B0503020204020204" pitchFamily="34" charset="-122"/>
              </a:rPr>
              <a:t>/</a:t>
            </a:r>
            <a:r>
              <a:rPr lang="zh-CN" altLang="en-US" dirty="0">
                <a:ea typeface="微软雅黑" panose="020B0503020204020204" pitchFamily="34" charset="-122"/>
              </a:rPr>
              <a:t>复位控制字。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82926"/>
              </p:ext>
            </p:extLst>
          </p:nvPr>
        </p:nvGraphicFramePr>
        <p:xfrm>
          <a:off x="4716016" y="3198584"/>
          <a:ext cx="2448272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042">
                  <a:extLst>
                    <a:ext uri="{9D8B030D-6E8A-4147-A177-3AD203B41FA5}">
                      <a16:colId xmlns:a16="http://schemas.microsoft.com/office/drawing/2014/main" val="2496855743"/>
                    </a:ext>
                  </a:extLst>
                </a:gridCol>
                <a:gridCol w="559954">
                  <a:extLst>
                    <a:ext uri="{9D8B030D-6E8A-4147-A177-3AD203B41FA5}">
                      <a16:colId xmlns:a16="http://schemas.microsoft.com/office/drawing/2014/main" val="1244297874"/>
                    </a:ext>
                  </a:extLst>
                </a:gridCol>
                <a:gridCol w="580226">
                  <a:extLst>
                    <a:ext uri="{9D8B030D-6E8A-4147-A177-3AD203B41FA5}">
                      <a16:colId xmlns:a16="http://schemas.microsoft.com/office/drawing/2014/main" val="2948133879"/>
                    </a:ext>
                  </a:extLst>
                </a:gridCol>
                <a:gridCol w="750050">
                  <a:extLst>
                    <a:ext uri="{9D8B030D-6E8A-4147-A177-3AD203B41FA5}">
                      <a16:colId xmlns:a16="http://schemas.microsoft.com/office/drawing/2014/main" val="4098533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PC0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0583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PC1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6831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PC2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5391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PC3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828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PC4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1126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PC5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9575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PC6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1428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PC7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9163895"/>
                  </a:ext>
                </a:extLst>
              </a:tr>
            </a:tbl>
          </a:graphicData>
        </a:graphic>
      </p:graphicFrame>
      <p:cxnSp>
        <p:nvCxnSpPr>
          <p:cNvPr id="32" name="直接连接符 31"/>
          <p:cNvCxnSpPr/>
          <p:nvPr/>
        </p:nvCxnSpPr>
        <p:spPr>
          <a:xfrm>
            <a:off x="4932040" y="2276872"/>
            <a:ext cx="0" cy="9217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5580112" y="2780928"/>
            <a:ext cx="2880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5868144" y="2237321"/>
            <a:ext cx="0" cy="5436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5580112" y="2780928"/>
            <a:ext cx="0" cy="4176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6804248" y="2276872"/>
            <a:ext cx="0" cy="5436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6228184" y="2820479"/>
            <a:ext cx="5760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6220296" y="2820479"/>
            <a:ext cx="0" cy="4176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7732698" y="2276872"/>
            <a:ext cx="0" cy="720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圆角矩形 57"/>
          <p:cNvSpPr/>
          <p:nvPr/>
        </p:nvSpPr>
        <p:spPr>
          <a:xfrm>
            <a:off x="7302606" y="2981319"/>
            <a:ext cx="941802" cy="663705"/>
          </a:xfrm>
          <a:prstGeom prst="roundRect">
            <a:avLst>
              <a:gd name="adj" fmla="val 435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ea typeface="微软雅黑" panose="020B0503020204020204" pitchFamily="34" charset="-122"/>
              </a:rPr>
              <a:t>1: </a:t>
            </a:r>
            <a:r>
              <a:rPr lang="zh-CN" altLang="en-US" sz="1600" dirty="0">
                <a:ea typeface="微软雅黑" panose="020B0503020204020204" pitchFamily="34" charset="-122"/>
              </a:rPr>
              <a:t>置位</a:t>
            </a:r>
            <a:endParaRPr lang="en-US" altLang="zh-CN" sz="1600" dirty="0">
              <a:ea typeface="微软雅黑" panose="020B0503020204020204" pitchFamily="34" charset="-122"/>
            </a:endParaRPr>
          </a:p>
          <a:p>
            <a:pPr algn="ctr"/>
            <a:r>
              <a:rPr lang="en-US" altLang="zh-CN" sz="1600" dirty="0">
                <a:ea typeface="微软雅黑" panose="020B0503020204020204" pitchFamily="34" charset="-122"/>
              </a:rPr>
              <a:t>0: </a:t>
            </a:r>
            <a:r>
              <a:rPr lang="zh-CN" altLang="en-US" sz="1600" dirty="0">
                <a:ea typeface="微软雅黑" panose="020B0503020204020204" pitchFamily="34" charset="-122"/>
              </a:rPr>
              <a:t>复位</a:t>
            </a:r>
          </a:p>
        </p:txBody>
      </p:sp>
      <p:sp>
        <p:nvSpPr>
          <p:cNvPr id="25" name="矩形 24"/>
          <p:cNvSpPr/>
          <p:nvPr/>
        </p:nvSpPr>
        <p:spPr>
          <a:xfrm>
            <a:off x="747922" y="4740013"/>
            <a:ext cx="3464038" cy="964503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解读：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口的每一位可单独由</a:t>
            </a:r>
            <a:r>
              <a:rPr lang="zh-CN" altLang="en-US" sz="24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控制端口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置位复位。</a:t>
            </a:r>
          </a:p>
        </p:txBody>
      </p:sp>
      <p:sp>
        <p:nvSpPr>
          <p:cNvPr id="26" name="矩形 25"/>
          <p:cNvSpPr/>
          <p:nvPr/>
        </p:nvSpPr>
        <p:spPr>
          <a:xfrm>
            <a:off x="4716017" y="6191868"/>
            <a:ext cx="2664295" cy="391091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决定对哪一位操作</a:t>
            </a:r>
          </a:p>
        </p:txBody>
      </p:sp>
      <p:sp>
        <p:nvSpPr>
          <p:cNvPr id="27" name="矩形 26"/>
          <p:cNvSpPr/>
          <p:nvPr/>
        </p:nvSpPr>
        <p:spPr>
          <a:xfrm>
            <a:off x="7316634" y="3717032"/>
            <a:ext cx="1503838" cy="391091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置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或清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3846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58" grpId="0" animBg="1"/>
      <p:bldP spid="25" grpId="0" animBg="1"/>
      <p:bldP spid="26" grpId="0" animBg="1"/>
      <p:bldP spid="2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611560" y="1124744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11560" y="631563"/>
            <a:ext cx="500110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sz="2800" b="1" kern="0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800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1"/>
          <p:cNvSpPr txBox="1"/>
          <p:nvPr/>
        </p:nvSpPr>
        <p:spPr>
          <a:xfrm>
            <a:off x="1119384" y="620688"/>
            <a:ext cx="7261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</a:p>
        </p:txBody>
      </p:sp>
      <p:sp>
        <p:nvSpPr>
          <p:cNvPr id="5" name="矩形 4"/>
          <p:cNvSpPr/>
          <p:nvPr/>
        </p:nvSpPr>
        <p:spPr>
          <a:xfrm>
            <a:off x="8380710" y="620688"/>
            <a:ext cx="223738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</a:pPr>
            <a:endParaRPr lang="zh-CN" altLang="en-US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11560" y="631563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4719784" y="1181038"/>
            <a:ext cx="0" cy="3976154"/>
          </a:xfrm>
          <a:prstGeom prst="line">
            <a:avLst/>
          </a:prstGeom>
          <a:ln w="12700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3"/>
          <p:cNvSpPr>
            <a:spLocks noChangeArrowheads="1"/>
          </p:cNvSpPr>
          <p:nvPr/>
        </p:nvSpPr>
        <p:spPr bwMode="auto">
          <a:xfrm>
            <a:off x="5083106" y="1811256"/>
            <a:ext cx="3528392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AL,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0FH</a:t>
            </a:r>
          </a:p>
        </p:txBody>
      </p:sp>
      <p:sp>
        <p:nvSpPr>
          <p:cNvPr id="18" name="矩形 3"/>
          <p:cNvSpPr>
            <a:spLocks noChangeArrowheads="1"/>
          </p:cNvSpPr>
          <p:nvPr/>
        </p:nvSpPr>
        <p:spPr bwMode="auto">
          <a:xfrm>
            <a:off x="5083106" y="2268981"/>
            <a:ext cx="2952328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OUT   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83H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,  AL</a:t>
            </a:r>
            <a:endParaRPr lang="en-US" altLang="zh-CN" sz="2400" b="1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TextBox 10"/>
          <p:cNvSpPr txBox="1">
            <a:spLocks noChangeArrowheads="1"/>
          </p:cNvSpPr>
          <p:nvPr/>
        </p:nvSpPr>
        <p:spPr bwMode="auto">
          <a:xfrm>
            <a:off x="755576" y="1728948"/>
            <a:ext cx="3601889" cy="205723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8255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的四个端口为：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80H~83H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8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要对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PC7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置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，对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PC3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置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8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矩形 3"/>
          <p:cNvSpPr>
            <a:spLocks noChangeArrowheads="1"/>
          </p:cNvSpPr>
          <p:nvPr/>
        </p:nvSpPr>
        <p:spPr bwMode="auto">
          <a:xfrm>
            <a:off x="2665761" y="4012383"/>
            <a:ext cx="2198217" cy="52290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00001111B</a:t>
            </a:r>
          </a:p>
        </p:txBody>
      </p:sp>
      <p:sp>
        <p:nvSpPr>
          <p:cNvPr id="12" name="矩形 3"/>
          <p:cNvSpPr>
            <a:spLocks noChangeArrowheads="1"/>
          </p:cNvSpPr>
          <p:nvPr/>
        </p:nvSpPr>
        <p:spPr bwMode="auto">
          <a:xfrm>
            <a:off x="2665761" y="4588447"/>
            <a:ext cx="2198217" cy="52290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00000110B</a:t>
            </a:r>
          </a:p>
        </p:txBody>
      </p:sp>
      <p:sp>
        <p:nvSpPr>
          <p:cNvPr id="13" name="矩形 3"/>
          <p:cNvSpPr>
            <a:spLocks noChangeArrowheads="1"/>
          </p:cNvSpPr>
          <p:nvPr/>
        </p:nvSpPr>
        <p:spPr bwMode="auto">
          <a:xfrm>
            <a:off x="5088376" y="2762570"/>
            <a:ext cx="3528392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AL,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06H</a:t>
            </a:r>
          </a:p>
        </p:txBody>
      </p:sp>
      <p:sp>
        <p:nvSpPr>
          <p:cNvPr id="14" name="矩形 3"/>
          <p:cNvSpPr>
            <a:spLocks noChangeArrowheads="1"/>
          </p:cNvSpPr>
          <p:nvPr/>
        </p:nvSpPr>
        <p:spPr bwMode="auto">
          <a:xfrm>
            <a:off x="5088376" y="3220295"/>
            <a:ext cx="2952328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OUT   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83H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,  AL</a:t>
            </a:r>
            <a:endParaRPr lang="en-US" altLang="zh-CN" sz="2400" b="1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矩形 3"/>
          <p:cNvSpPr>
            <a:spLocks noChangeArrowheads="1"/>
          </p:cNvSpPr>
          <p:nvPr/>
        </p:nvSpPr>
        <p:spPr bwMode="auto">
          <a:xfrm>
            <a:off x="756113" y="4012383"/>
            <a:ext cx="1531157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PC7</a:t>
            </a:r>
            <a:r>
              <a:rPr lang="zh-CN" altLang="en-US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置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2400" b="1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矩形 3"/>
          <p:cNvSpPr>
            <a:spLocks noChangeArrowheads="1"/>
          </p:cNvSpPr>
          <p:nvPr/>
        </p:nvSpPr>
        <p:spPr bwMode="auto">
          <a:xfrm>
            <a:off x="755576" y="4545883"/>
            <a:ext cx="1496382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PC3</a:t>
            </a:r>
            <a:r>
              <a:rPr lang="zh-CN" altLang="en-US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置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2400" b="1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79044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17" grpId="0"/>
      <p:bldP spid="12" grpId="0"/>
      <p:bldP spid="13" grpId="0"/>
      <p:bldP spid="14" grpId="0"/>
      <p:bldP spid="19" grpId="0"/>
      <p:bldP spid="2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问号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5043" y="157306"/>
            <a:ext cx="1614899" cy="1255470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702006" y="419266"/>
            <a:ext cx="1739987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eaLnBrk="0" hangingPunct="0">
              <a:buFont typeface="Wingdings" pitchFamily="2" charset="2"/>
              <a:buNone/>
            </a:pPr>
            <a:r>
              <a:rPr lang="zh-CN" altLang="en-US" sz="38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检测点</a:t>
            </a:r>
            <a:endParaRPr lang="zh-CN" altLang="en-US" sz="3200" b="1" dirty="0">
              <a:solidFill>
                <a:prstClr val="white">
                  <a:lumMod val="65000"/>
                </a:prstClr>
              </a:solidFill>
              <a:latin typeface="Arial"/>
              <a:ea typeface="微软雅黑" pitchFamily="34" charset="-122"/>
              <a:cs typeface="Arial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59631" y="2771363"/>
            <a:ext cx="7345027" cy="738431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ea typeface="微软雅黑" panose="020B0503020204020204" pitchFamily="34" charset="-122"/>
              </a:rPr>
              <a:t>8255</a:t>
            </a:r>
            <a:r>
              <a:rPr lang="zh-CN" altLang="en-US" sz="2000" b="1" dirty="0">
                <a:ea typeface="微软雅黑" panose="020B0503020204020204" pitchFamily="34" charset="-122"/>
              </a:rPr>
              <a:t>的方式字和</a:t>
            </a:r>
            <a:r>
              <a:rPr lang="en-US" altLang="zh-CN" sz="2000" b="1" dirty="0">
                <a:ea typeface="微软雅黑" panose="020B0503020204020204" pitchFamily="34" charset="-122"/>
              </a:rPr>
              <a:t>C</a:t>
            </a:r>
            <a:r>
              <a:rPr lang="zh-CN" altLang="en-US" sz="2000" b="1" dirty="0">
                <a:ea typeface="微软雅黑" panose="020B0503020204020204" pitchFamily="34" charset="-122"/>
              </a:rPr>
              <a:t>口的某位的置位复位都是通过</a:t>
            </a:r>
            <a:r>
              <a:rPr lang="zh-CN" altLang="en-US" sz="2000" b="1" u="sng" dirty="0">
                <a:ea typeface="微软雅黑" panose="020B0503020204020204" pitchFamily="34" charset="-122"/>
              </a:rPr>
              <a:t>           </a:t>
            </a:r>
            <a:r>
              <a:rPr lang="zh-CN" altLang="en-US" sz="2000" b="1" dirty="0">
                <a:ea typeface="微软雅黑" panose="020B0503020204020204" pitchFamily="34" charset="-122"/>
              </a:rPr>
              <a:t>端口实现，如何区分？</a:t>
            </a:r>
          </a:p>
        </p:txBody>
      </p:sp>
      <p:sp>
        <p:nvSpPr>
          <p:cNvPr id="7" name="矩形 6"/>
          <p:cNvSpPr/>
          <p:nvPr/>
        </p:nvSpPr>
        <p:spPr>
          <a:xfrm>
            <a:off x="1259632" y="3635459"/>
            <a:ext cx="7345028" cy="94566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ea typeface="微软雅黑" panose="020B0503020204020204" pitchFamily="34" charset="-122"/>
              </a:rPr>
              <a:t>方式</a:t>
            </a:r>
            <a:r>
              <a:rPr lang="en-US" altLang="zh-CN" sz="2000" b="1" dirty="0">
                <a:ea typeface="微软雅黑" panose="020B0503020204020204" pitchFamily="34" charset="-122"/>
              </a:rPr>
              <a:t>2 </a:t>
            </a:r>
            <a:r>
              <a:rPr lang="zh-CN" altLang="en-US" sz="2000" b="1" dirty="0">
                <a:ea typeface="微软雅黑" panose="020B0503020204020204" pitchFamily="34" charset="-122"/>
              </a:rPr>
              <a:t>是</a:t>
            </a:r>
            <a:r>
              <a:rPr lang="en-US" altLang="zh-CN" sz="2000" b="1" dirty="0">
                <a:ea typeface="微软雅黑" panose="020B0503020204020204" pitchFamily="34" charset="-122"/>
              </a:rPr>
              <a:t>8255</a:t>
            </a:r>
            <a:r>
              <a:rPr lang="zh-CN" altLang="en-US" sz="2000" b="1" dirty="0">
                <a:ea typeface="微软雅黑" panose="020B0503020204020204" pitchFamily="34" charset="-122"/>
              </a:rPr>
              <a:t>的</a:t>
            </a:r>
            <a:r>
              <a:rPr lang="zh-CN" altLang="en-US" sz="2000" b="1" u="sng" dirty="0">
                <a:ea typeface="微软雅黑" panose="020B0503020204020204" pitchFamily="34" charset="-122"/>
              </a:rPr>
              <a:t>           </a:t>
            </a:r>
            <a:r>
              <a:rPr lang="zh-CN" altLang="en-US" sz="2000" b="1" dirty="0">
                <a:ea typeface="微软雅黑" panose="020B0503020204020204" pitchFamily="34" charset="-122"/>
              </a:rPr>
              <a:t>口独有的功能。</a:t>
            </a:r>
            <a:endParaRPr lang="zh-CN" altLang="en-US" sz="2000" b="1" u="sng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259420" y="1744898"/>
            <a:ext cx="7345028" cy="882448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ea typeface="微软雅黑" panose="020B0503020204020204" pitchFamily="34" charset="-122"/>
              </a:rPr>
              <a:t>8255</a:t>
            </a:r>
            <a:r>
              <a:rPr lang="zh-CN" altLang="en-US" sz="2000" b="1" dirty="0">
                <a:ea typeface="微软雅黑" panose="020B0503020204020204" pitchFamily="34" charset="-122"/>
              </a:rPr>
              <a:t>有</a:t>
            </a:r>
            <a:r>
              <a:rPr lang="zh-CN" altLang="en-US" sz="2000" b="1" u="sng" dirty="0">
                <a:ea typeface="微软雅黑" panose="020B0503020204020204" pitchFamily="34" charset="-122"/>
              </a:rPr>
              <a:t>           </a:t>
            </a:r>
            <a:r>
              <a:rPr lang="zh-CN" altLang="en-US" sz="2000" b="1" dirty="0">
                <a:ea typeface="微软雅黑" panose="020B0503020204020204" pitchFamily="34" charset="-122"/>
              </a:rPr>
              <a:t>个并行通信口，每个并行口是</a:t>
            </a:r>
            <a:r>
              <a:rPr lang="zh-CN" altLang="en-US" sz="2000" b="1" u="sng" dirty="0">
                <a:ea typeface="微软雅黑" panose="020B0503020204020204" pitchFamily="34" charset="-122"/>
              </a:rPr>
              <a:t>           </a:t>
            </a:r>
            <a:r>
              <a:rPr lang="zh-CN" altLang="en-US" sz="2000" b="1" dirty="0">
                <a:ea typeface="微软雅黑" panose="020B0503020204020204" pitchFamily="34" charset="-122"/>
              </a:rPr>
              <a:t>位。</a:t>
            </a:r>
            <a:endParaRPr lang="zh-CN" altLang="en-US" sz="2000" b="1" u="sng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83568" y="1744898"/>
            <a:ext cx="538872" cy="88244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</a:rPr>
              <a:t>1</a:t>
            </a:r>
            <a:endParaRPr lang="zh-CN" altLang="en-US" sz="3200" dirty="0">
              <a:latin typeface="Arial Black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83568" y="2771362"/>
            <a:ext cx="538872" cy="7384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</a:rPr>
              <a:t>2</a:t>
            </a:r>
            <a:endParaRPr lang="zh-CN" altLang="en-US" sz="3200" dirty="0">
              <a:latin typeface="Arial Black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83568" y="3635458"/>
            <a:ext cx="538872" cy="94566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</a:rPr>
              <a:t>3</a:t>
            </a:r>
            <a:endParaRPr lang="zh-CN" altLang="en-US" sz="3200" dirty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7254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9" grpId="0" animBg="1"/>
      <p:bldP spid="9" grpId="1" animBg="1"/>
      <p:bldP spid="10" grpId="0" animBg="1"/>
      <p:bldP spid="10" grpId="1" animBg="1"/>
      <p:bldP spid="12" grpId="0" animBg="1"/>
      <p:bldP spid="12" grpId="1" animBg="1"/>
      <p:bldP spid="13" grpId="0" animBg="1"/>
      <p:bldP spid="13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pPr algn="ctr"/>
              <a:t>21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966244" y="4119885"/>
            <a:ext cx="3405956" cy="1253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控制字格式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 工作方式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475697" y="2491517"/>
            <a:ext cx="6985934" cy="1162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控制字和工作方式</a:t>
            </a:r>
            <a:endParaRPr lang="zh-CN" altLang="en-US" sz="80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29392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方式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：基本输入输出方式功能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矩形 4"/>
          <p:cNvSpPr>
            <a:spLocks noChangeAspect="1"/>
          </p:cNvSpPr>
          <p:nvPr/>
        </p:nvSpPr>
        <p:spPr>
          <a:xfrm>
            <a:off x="1115616" y="1828229"/>
            <a:ext cx="7128792" cy="1806106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806623" y="2243780"/>
            <a:ext cx="1512167" cy="574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19"/>
          <p:cNvSpPr txBox="1"/>
          <p:nvPr/>
        </p:nvSpPr>
        <p:spPr>
          <a:xfrm>
            <a:off x="1348382" y="1894407"/>
            <a:ext cx="461665" cy="159257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方式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endParaRPr lang="zh-CN" altLang="en-US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Box 17"/>
          <p:cNvSpPr txBox="1"/>
          <p:nvPr/>
        </p:nvSpPr>
        <p:spPr>
          <a:xfrm>
            <a:off x="2052604" y="1834135"/>
            <a:ext cx="6081561" cy="172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任何一个端口可以作为输入，也可以作为输出。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口的使用有四种情况：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位输入，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位输出，高四位输入低四位输出，高四位输出低四位输入。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各端口输入或输出总共有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16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中组合。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115616" y="4192689"/>
            <a:ext cx="7128792" cy="964503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可用于无条件传送或查询式传送。</a:t>
            </a:r>
          </a:p>
        </p:txBody>
      </p:sp>
    </p:spTree>
    <p:extLst>
      <p:ext uri="{BB962C8B-B14F-4D97-AF65-F5344CB8AC3E}">
        <p14:creationId xmlns:p14="http://schemas.microsoft.com/office/powerpoint/2010/main" val="2965836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611560" y="1124744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11560" y="631563"/>
            <a:ext cx="500110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sz="2800" b="1" kern="0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800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1"/>
          <p:cNvSpPr txBox="1"/>
          <p:nvPr/>
        </p:nvSpPr>
        <p:spPr>
          <a:xfrm>
            <a:off x="1119384" y="620688"/>
            <a:ext cx="7261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</a:p>
        </p:txBody>
      </p:sp>
      <p:sp>
        <p:nvSpPr>
          <p:cNvPr id="5" name="矩形 4"/>
          <p:cNvSpPr/>
          <p:nvPr/>
        </p:nvSpPr>
        <p:spPr>
          <a:xfrm>
            <a:off x="8380710" y="620688"/>
            <a:ext cx="223738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</a:pPr>
            <a:endParaRPr lang="zh-CN" altLang="en-US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11560" y="631563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248337" y="2862238"/>
            <a:ext cx="1320560" cy="1872208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903076" y="3010432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PA0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536370" y="4365114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8255A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6049156" y="3089125"/>
            <a:ext cx="235632" cy="229974"/>
            <a:chOff x="6841122" y="5143722"/>
            <a:chExt cx="235632" cy="229974"/>
          </a:xfrm>
        </p:grpSpPr>
        <p:sp>
          <p:nvSpPr>
            <p:cNvPr id="50" name="等腰三角形 49"/>
            <p:cNvSpPr/>
            <p:nvPr/>
          </p:nvSpPr>
          <p:spPr>
            <a:xfrm rot="16200000">
              <a:off x="6859588" y="5156529"/>
              <a:ext cx="215042" cy="219291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5" name="直接连接符 54"/>
            <p:cNvCxnSpPr/>
            <p:nvPr/>
          </p:nvCxnSpPr>
          <p:spPr>
            <a:xfrm flipV="1">
              <a:off x="6841122" y="5143722"/>
              <a:ext cx="0" cy="2294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9" name="直接连接符 58"/>
          <p:cNvCxnSpPr/>
          <p:nvPr/>
        </p:nvCxnSpPr>
        <p:spPr>
          <a:xfrm flipH="1">
            <a:off x="5568897" y="3208077"/>
            <a:ext cx="4802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H="1">
            <a:off x="6284789" y="3203872"/>
            <a:ext cx="4802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6765048" y="3141459"/>
            <a:ext cx="279021" cy="1227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3" name="组合 62"/>
          <p:cNvGrpSpPr/>
          <p:nvPr/>
        </p:nvGrpSpPr>
        <p:grpSpPr>
          <a:xfrm>
            <a:off x="6049156" y="3420428"/>
            <a:ext cx="235632" cy="229974"/>
            <a:chOff x="6841122" y="5143722"/>
            <a:chExt cx="235632" cy="229974"/>
          </a:xfrm>
        </p:grpSpPr>
        <p:sp>
          <p:nvSpPr>
            <p:cNvPr id="64" name="等腰三角形 63"/>
            <p:cNvSpPr/>
            <p:nvPr/>
          </p:nvSpPr>
          <p:spPr>
            <a:xfrm rot="16200000">
              <a:off x="6859588" y="5156529"/>
              <a:ext cx="215042" cy="219291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5" name="直接连接符 64"/>
            <p:cNvCxnSpPr/>
            <p:nvPr/>
          </p:nvCxnSpPr>
          <p:spPr>
            <a:xfrm flipV="1">
              <a:off x="6841122" y="5143722"/>
              <a:ext cx="0" cy="2294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6" name="直接连接符 65"/>
          <p:cNvCxnSpPr/>
          <p:nvPr/>
        </p:nvCxnSpPr>
        <p:spPr>
          <a:xfrm flipH="1">
            <a:off x="5568897" y="3539380"/>
            <a:ext cx="4802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 flipH="1">
            <a:off x="6284789" y="3535175"/>
            <a:ext cx="4802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>
          <a:xfrm>
            <a:off x="6765048" y="3472762"/>
            <a:ext cx="279021" cy="1227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9" name="组合 68"/>
          <p:cNvGrpSpPr/>
          <p:nvPr/>
        </p:nvGrpSpPr>
        <p:grpSpPr>
          <a:xfrm>
            <a:off x="6049156" y="3746769"/>
            <a:ext cx="235632" cy="229974"/>
            <a:chOff x="6841122" y="5143722"/>
            <a:chExt cx="235632" cy="229974"/>
          </a:xfrm>
        </p:grpSpPr>
        <p:sp>
          <p:nvSpPr>
            <p:cNvPr id="70" name="等腰三角形 69"/>
            <p:cNvSpPr/>
            <p:nvPr/>
          </p:nvSpPr>
          <p:spPr>
            <a:xfrm rot="16200000">
              <a:off x="6859588" y="5156529"/>
              <a:ext cx="215042" cy="219291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1" name="直接连接符 70"/>
            <p:cNvCxnSpPr/>
            <p:nvPr/>
          </p:nvCxnSpPr>
          <p:spPr>
            <a:xfrm flipV="1">
              <a:off x="6841122" y="5143722"/>
              <a:ext cx="0" cy="2294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2" name="直接连接符 71"/>
          <p:cNvCxnSpPr/>
          <p:nvPr/>
        </p:nvCxnSpPr>
        <p:spPr>
          <a:xfrm flipH="1">
            <a:off x="5568897" y="3865721"/>
            <a:ext cx="4802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 flipH="1">
            <a:off x="6284789" y="3861516"/>
            <a:ext cx="4802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矩形 73"/>
          <p:cNvSpPr/>
          <p:nvPr/>
        </p:nvSpPr>
        <p:spPr>
          <a:xfrm>
            <a:off x="6765048" y="3799103"/>
            <a:ext cx="279021" cy="1227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5" name="直接连接符 74"/>
          <p:cNvCxnSpPr/>
          <p:nvPr/>
        </p:nvCxnSpPr>
        <p:spPr>
          <a:xfrm flipH="1">
            <a:off x="7044069" y="3203872"/>
            <a:ext cx="4802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 flipH="1">
            <a:off x="7044069" y="3535175"/>
            <a:ext cx="4802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 flipH="1">
            <a:off x="7044069" y="3861516"/>
            <a:ext cx="4802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/>
        </p:nvCxnSpPr>
        <p:spPr>
          <a:xfrm>
            <a:off x="7524328" y="2722400"/>
            <a:ext cx="0" cy="11391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本框 79"/>
          <p:cNvSpPr txBox="1"/>
          <p:nvPr/>
        </p:nvSpPr>
        <p:spPr>
          <a:xfrm>
            <a:off x="6922881" y="2564904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+5V</a:t>
            </a:r>
            <a:endParaRPr lang="zh-CN" altLang="en-US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4903076" y="3361180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PA1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4911218" y="3702233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PA2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2003509" y="2866416"/>
            <a:ext cx="1320560" cy="1872208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文本框 85"/>
          <p:cNvSpPr txBox="1"/>
          <p:nvPr/>
        </p:nvSpPr>
        <p:spPr>
          <a:xfrm>
            <a:off x="2760851" y="301461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A0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2291542" y="4369292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8088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2760851" y="336535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A1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4267560" y="3017241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A0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4267560" y="3367989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A1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92" name="直接连接符 91"/>
          <p:cNvCxnSpPr/>
          <p:nvPr/>
        </p:nvCxnSpPr>
        <p:spPr>
          <a:xfrm flipH="1">
            <a:off x="3324069" y="3191868"/>
            <a:ext cx="9434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/>
        </p:nvCxnSpPr>
        <p:spPr>
          <a:xfrm flipH="1">
            <a:off x="3324069" y="3571519"/>
            <a:ext cx="9434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左右箭头 94"/>
          <p:cNvSpPr/>
          <p:nvPr/>
        </p:nvSpPr>
        <p:spPr>
          <a:xfrm>
            <a:off x="3324069" y="4221098"/>
            <a:ext cx="924267" cy="144016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文本框 95"/>
          <p:cNvSpPr txBox="1"/>
          <p:nvPr/>
        </p:nvSpPr>
        <p:spPr>
          <a:xfrm>
            <a:off x="3443669" y="3841447"/>
            <a:ext cx="909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D0~D7</a:t>
            </a:r>
            <a:endParaRPr lang="zh-CN" altLang="en-US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00" name="矩形 3"/>
          <p:cNvSpPr>
            <a:spLocks noChangeArrowheads="1"/>
          </p:cNvSpPr>
          <p:nvPr/>
        </p:nvSpPr>
        <p:spPr bwMode="auto">
          <a:xfrm>
            <a:off x="611561" y="1340768"/>
            <a:ext cx="7992888" cy="1119024"/>
          </a:xfrm>
          <a:prstGeom prst="rect">
            <a:avLst/>
          </a:prstGeom>
          <a:noFill/>
          <a:ln w="9525">
            <a:solidFill>
              <a:srgbClr val="FF9300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39000"/>
              </a:lnSpc>
              <a:spcAft>
                <a:spcPts val="600"/>
              </a:spcAft>
              <a:defRPr/>
            </a:pP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用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8255A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控制三个发光二极管依秩序循环显示。端口地址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340H~343H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101" name="矩形 3"/>
          <p:cNvSpPr>
            <a:spLocks noChangeArrowheads="1"/>
          </p:cNvSpPr>
          <p:nvPr/>
        </p:nvSpPr>
        <p:spPr bwMode="auto">
          <a:xfrm>
            <a:off x="616896" y="4954422"/>
            <a:ext cx="7987552" cy="1119024"/>
          </a:xfrm>
          <a:prstGeom prst="rect">
            <a:avLst/>
          </a:prstGeom>
          <a:noFill/>
          <a:ln w="9525">
            <a:solidFill>
              <a:srgbClr val="FF9300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39000"/>
              </a:lnSpc>
              <a:spcAft>
                <a:spcPts val="600"/>
              </a:spcAft>
              <a:defRPr/>
            </a:pP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低电平时点亮，如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PA0=0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点亮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号。点亮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LED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显示的码为：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#1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0000 0110B   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#2, </a:t>
            </a:r>
            <a:r>
              <a:rPr lang="en-US" altLang="zh-CN" sz="2400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0000 0101B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, #3, </a:t>
            </a:r>
            <a:r>
              <a:rPr lang="en-US" altLang="zh-CN" sz="2400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0000 0011B</a:t>
            </a:r>
            <a:endParaRPr lang="zh-CN" altLang="en-US" sz="2400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6298732" y="284364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#1</a:t>
            </a:r>
            <a:endParaRPr lang="zh-CN" altLang="en-US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6298732" y="323032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#2</a:t>
            </a:r>
            <a:endParaRPr lang="zh-CN" altLang="en-US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6298732" y="357048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#3</a:t>
            </a:r>
            <a:endParaRPr lang="zh-CN" altLang="en-US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51" name="流程图: 过程 50"/>
          <p:cNvSpPr/>
          <p:nvPr/>
        </p:nvSpPr>
        <p:spPr>
          <a:xfrm>
            <a:off x="5870767" y="4195134"/>
            <a:ext cx="2016223" cy="484131"/>
          </a:xfrm>
          <a:prstGeom prst="flowChartProcess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控制字：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80H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58944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  <p:bldP spid="12" grpId="0"/>
      <p:bldP spid="62" grpId="0" animBg="1"/>
      <p:bldP spid="68" grpId="0" animBg="1"/>
      <p:bldP spid="74" grpId="0" animBg="1"/>
      <p:bldP spid="80" grpId="0"/>
      <p:bldP spid="81" grpId="0"/>
      <p:bldP spid="84" grpId="0"/>
      <p:bldP spid="85" grpId="0" animBg="1"/>
      <p:bldP spid="86" grpId="0"/>
      <p:bldP spid="87" grpId="0"/>
      <p:bldP spid="88" grpId="0"/>
      <p:bldP spid="90" grpId="0"/>
      <p:bldP spid="91" grpId="0"/>
      <p:bldP spid="95" grpId="0" animBg="1"/>
      <p:bldP spid="96" grpId="0"/>
      <p:bldP spid="100" grpId="0" animBg="1"/>
      <p:bldP spid="101" grpId="0" animBg="1"/>
      <p:bldP spid="102" grpId="0"/>
      <p:bldP spid="103" grpId="0"/>
      <p:bldP spid="104" grpId="0"/>
      <p:bldP spid="5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箭头连接符 1"/>
          <p:cNvCxnSpPr/>
          <p:nvPr/>
        </p:nvCxnSpPr>
        <p:spPr>
          <a:xfrm>
            <a:off x="2051720" y="873288"/>
            <a:ext cx="10914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流程图: 过程 2"/>
          <p:cNvSpPr/>
          <p:nvPr/>
        </p:nvSpPr>
        <p:spPr>
          <a:xfrm>
            <a:off x="1032695" y="1322658"/>
            <a:ext cx="2053772" cy="439553"/>
          </a:xfrm>
          <a:prstGeom prst="flowChartProcess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CX=3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>
            <a:off x="2062633" y="1737384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>
            <a:off x="2062633" y="2601480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流程图: 决策 5"/>
          <p:cNvSpPr/>
          <p:nvPr/>
        </p:nvSpPr>
        <p:spPr>
          <a:xfrm>
            <a:off x="1070243" y="4905736"/>
            <a:ext cx="2016224" cy="576064"/>
          </a:xfrm>
          <a:prstGeom prst="flowChartDecision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CX==0?</a:t>
            </a:r>
            <a:endParaRPr lang="zh-CN" altLang="en-US" dirty="0"/>
          </a:p>
        </p:txBody>
      </p:sp>
      <p:cxnSp>
        <p:nvCxnSpPr>
          <p:cNvPr id="7" name="直接连接符 6"/>
          <p:cNvCxnSpPr>
            <a:stCxn id="6" idx="3"/>
          </p:cNvCxnSpPr>
          <p:nvPr/>
        </p:nvCxnSpPr>
        <p:spPr>
          <a:xfrm>
            <a:off x="3086467" y="5193768"/>
            <a:ext cx="7043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3790825" y="1953408"/>
            <a:ext cx="0" cy="32403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流程图: 过程 8"/>
          <p:cNvSpPr/>
          <p:nvPr/>
        </p:nvSpPr>
        <p:spPr>
          <a:xfrm>
            <a:off x="1032695" y="3042799"/>
            <a:ext cx="2053772" cy="442819"/>
          </a:xfrm>
          <a:prstGeom prst="flowChartProcess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显示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2062633" y="1953408"/>
            <a:ext cx="1739105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1701983" y="5481800"/>
            <a:ext cx="324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流程图: 过程 12"/>
          <p:cNvSpPr/>
          <p:nvPr/>
        </p:nvSpPr>
        <p:spPr>
          <a:xfrm>
            <a:off x="1032695" y="486107"/>
            <a:ext cx="2016223" cy="484131"/>
          </a:xfrm>
          <a:prstGeom prst="flowChartProcess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8255A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初始化</a:t>
            </a:r>
          </a:p>
        </p:txBody>
      </p:sp>
      <p:sp>
        <p:nvSpPr>
          <p:cNvPr id="14" name="流程图: 过程 13"/>
          <p:cNvSpPr/>
          <p:nvPr/>
        </p:nvSpPr>
        <p:spPr>
          <a:xfrm>
            <a:off x="1032695" y="2152720"/>
            <a:ext cx="2053772" cy="480118"/>
          </a:xfrm>
          <a:prstGeom prst="flowChartProcess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显示码地址</a:t>
            </a:r>
          </a:p>
        </p:txBody>
      </p:sp>
      <p:sp>
        <p:nvSpPr>
          <p:cNvPr id="15" name="流程图: 过程 14"/>
          <p:cNvSpPr/>
          <p:nvPr/>
        </p:nvSpPr>
        <p:spPr>
          <a:xfrm>
            <a:off x="1032695" y="3886853"/>
            <a:ext cx="2053772" cy="579598"/>
          </a:xfrm>
          <a:prstGeom prst="flowChartProcess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BX=BX+1</a:t>
            </a:r>
          </a:p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CX = CX-1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>
            <a:off x="2054261" y="3485618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>
            <a:off x="2062633" y="4466451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2073511" y="5481800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334406" y="5913848"/>
            <a:ext cx="1739105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V="1">
            <a:off x="334406" y="1161320"/>
            <a:ext cx="0" cy="47525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323528" y="1153825"/>
            <a:ext cx="1739105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3250210" y="4811065"/>
            <a:ext cx="3722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 Box 2"/>
          <p:cNvSpPr txBox="1">
            <a:spLocks noChangeArrowheads="1"/>
          </p:cNvSpPr>
          <p:nvPr/>
        </p:nvSpPr>
        <p:spPr bwMode="auto">
          <a:xfrm>
            <a:off x="4990673" y="225216"/>
            <a:ext cx="3757791" cy="624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114300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3335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524000" indent="-2286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LED</a:t>
            </a: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DB</a:t>
            </a: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06, 05, 03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………</a:t>
            </a:r>
          </a:p>
          <a:p>
            <a:pPr algn="just">
              <a:spcBef>
                <a:spcPct val="0"/>
              </a:spcBef>
              <a:buNone/>
            </a:pP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	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DX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 343H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	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 80H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OUT	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DX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b="1" dirty="0">
                <a:solidFill>
                  <a:srgbClr val="00B85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	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DX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 340H</a:t>
            </a:r>
          </a:p>
          <a:p>
            <a:pPr algn="just">
              <a:spcBef>
                <a:spcPct val="0"/>
              </a:spcBef>
              <a:buNone/>
            </a:pPr>
            <a:endParaRPr lang="en-US" altLang="zh-CN" b="1" dirty="0">
              <a:solidFill>
                <a:srgbClr val="FF3255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CX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 3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BX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LED</a:t>
            </a:r>
          </a:p>
          <a:p>
            <a:pPr algn="just">
              <a:spcBef>
                <a:spcPct val="0"/>
              </a:spcBef>
              <a:buNone/>
            </a:pPr>
            <a:endParaRPr lang="en-US" altLang="zh-CN" b="1" dirty="0">
              <a:solidFill>
                <a:srgbClr val="FF3255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[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BX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OUT	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DX</a:t>
            </a:r>
            <a:r>
              <a:rPr lang="en-US" altLang="zh-CN" b="1" dirty="0">
                <a:solidFill>
                  <a:srgbClr val="00B85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CALL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DELAY</a:t>
            </a:r>
          </a:p>
          <a:p>
            <a:pPr algn="just">
              <a:spcBef>
                <a:spcPct val="0"/>
              </a:spcBef>
              <a:buNone/>
            </a:pPr>
            <a:endParaRPr lang="en-US" altLang="zh-CN" b="1" dirty="0">
              <a:solidFill>
                <a:srgbClr val="FF3255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INC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BX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DEC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CX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JNZ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DON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JMP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 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LOP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………</a:t>
            </a:r>
          </a:p>
        </p:txBody>
      </p:sp>
      <p:sp>
        <p:nvSpPr>
          <p:cNvPr id="29" name="矩形 28"/>
          <p:cNvSpPr/>
          <p:nvPr/>
        </p:nvSpPr>
        <p:spPr>
          <a:xfrm>
            <a:off x="4143948" y="2708920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LOP:</a:t>
            </a:r>
          </a:p>
        </p:txBody>
      </p:sp>
      <p:sp>
        <p:nvSpPr>
          <p:cNvPr id="30" name="矩形 29"/>
          <p:cNvSpPr/>
          <p:nvPr/>
        </p:nvSpPr>
        <p:spPr>
          <a:xfrm>
            <a:off x="4139952" y="3573016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DON:</a:t>
            </a:r>
          </a:p>
        </p:txBody>
      </p:sp>
      <p:sp>
        <p:nvSpPr>
          <p:cNvPr id="25" name="矩形 24"/>
          <p:cNvSpPr/>
          <p:nvPr/>
        </p:nvSpPr>
        <p:spPr>
          <a:xfrm>
            <a:off x="7308304" y="1240221"/>
            <a:ext cx="1728192" cy="820628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200" dirty="0">
                <a:ea typeface="微软雅黑" panose="020B0503020204020204" pitchFamily="34" charset="-122"/>
              </a:rPr>
              <a:t>; </a:t>
            </a:r>
            <a:r>
              <a:rPr lang="zh-CN" altLang="en-US" sz="2200" dirty="0">
                <a:ea typeface="微软雅黑" panose="020B0503020204020204" pitchFamily="34" charset="-122"/>
              </a:rPr>
              <a:t>方式字设置</a:t>
            </a:r>
            <a:r>
              <a:rPr lang="en-US" altLang="zh-CN" sz="2200" dirty="0">
                <a:ea typeface="微软雅黑" panose="020B0503020204020204" pitchFamily="34" charset="-122"/>
              </a:rPr>
              <a:t>A</a:t>
            </a:r>
            <a:r>
              <a:rPr lang="zh-CN" altLang="en-US" sz="2200" dirty="0">
                <a:ea typeface="微软雅黑" panose="020B0503020204020204" pitchFamily="34" charset="-122"/>
              </a:rPr>
              <a:t>口输出</a:t>
            </a:r>
          </a:p>
        </p:txBody>
      </p:sp>
      <p:sp>
        <p:nvSpPr>
          <p:cNvPr id="31" name="矩形 30"/>
          <p:cNvSpPr/>
          <p:nvPr/>
        </p:nvSpPr>
        <p:spPr>
          <a:xfrm>
            <a:off x="7308304" y="2601480"/>
            <a:ext cx="1728192" cy="755512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200" dirty="0">
                <a:ea typeface="微软雅黑" panose="020B0503020204020204" pitchFamily="34" charset="-122"/>
              </a:rPr>
              <a:t>; </a:t>
            </a:r>
            <a:r>
              <a:rPr lang="zh-CN" altLang="en-US" sz="2200" dirty="0">
                <a:ea typeface="微软雅黑" panose="020B0503020204020204" pitchFamily="34" charset="-122"/>
              </a:rPr>
              <a:t>显示码的存储区</a:t>
            </a:r>
          </a:p>
        </p:txBody>
      </p:sp>
      <p:sp>
        <p:nvSpPr>
          <p:cNvPr id="32" name="矩形 31"/>
          <p:cNvSpPr/>
          <p:nvPr/>
        </p:nvSpPr>
        <p:spPr>
          <a:xfrm>
            <a:off x="7308304" y="3710939"/>
            <a:ext cx="1728192" cy="510149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200" dirty="0">
                <a:ea typeface="微软雅黑" panose="020B0503020204020204" pitchFamily="34" charset="-122"/>
              </a:rPr>
              <a:t>; </a:t>
            </a:r>
            <a:r>
              <a:rPr lang="zh-CN" altLang="en-US" sz="2200" dirty="0">
                <a:ea typeface="微软雅黑" panose="020B0503020204020204" pitchFamily="34" charset="-122"/>
              </a:rPr>
              <a:t>显示</a:t>
            </a:r>
          </a:p>
        </p:txBody>
      </p:sp>
      <p:sp>
        <p:nvSpPr>
          <p:cNvPr id="33" name="矩形 32"/>
          <p:cNvSpPr/>
          <p:nvPr/>
        </p:nvSpPr>
        <p:spPr>
          <a:xfrm>
            <a:off x="7309913" y="4898499"/>
            <a:ext cx="1728192" cy="510149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200" dirty="0">
                <a:ea typeface="微软雅黑" panose="020B0503020204020204" pitchFamily="34" charset="-122"/>
              </a:rPr>
              <a:t>; </a:t>
            </a:r>
            <a:r>
              <a:rPr lang="zh-CN" altLang="en-US" sz="2200" dirty="0">
                <a:ea typeface="微软雅黑" panose="020B0503020204020204" pitchFamily="34" charset="-122"/>
              </a:rPr>
              <a:t>显示下一个</a:t>
            </a:r>
          </a:p>
        </p:txBody>
      </p:sp>
    </p:spTree>
    <p:extLst>
      <p:ext uri="{BB962C8B-B14F-4D97-AF65-F5344CB8AC3E}">
        <p14:creationId xmlns:p14="http://schemas.microsoft.com/office/powerpoint/2010/main" val="2399814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5" grpId="0" animBg="1"/>
      <p:bldP spid="31" grpId="0" animBg="1"/>
      <p:bldP spid="32" grpId="0" animBg="1"/>
      <p:bldP spid="3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611560" y="1124744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11560" y="631563"/>
            <a:ext cx="500110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sz="2800" b="1" kern="0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2800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1"/>
          <p:cNvSpPr txBox="1"/>
          <p:nvPr/>
        </p:nvSpPr>
        <p:spPr>
          <a:xfrm>
            <a:off x="1119384" y="620688"/>
            <a:ext cx="7261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</a:p>
        </p:txBody>
      </p:sp>
      <p:sp>
        <p:nvSpPr>
          <p:cNvPr id="5" name="矩形 4"/>
          <p:cNvSpPr/>
          <p:nvPr/>
        </p:nvSpPr>
        <p:spPr>
          <a:xfrm>
            <a:off x="8380710" y="620688"/>
            <a:ext cx="223738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</a:pPr>
            <a:endParaRPr lang="zh-CN" altLang="en-US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11560" y="631563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104321" y="2708920"/>
            <a:ext cx="1320560" cy="1872208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211960" y="2857114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PA0~PA7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392354" y="4211796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8255A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66" name="直接连接符 65"/>
          <p:cNvCxnSpPr/>
          <p:nvPr/>
        </p:nvCxnSpPr>
        <p:spPr>
          <a:xfrm flipH="1">
            <a:off x="5424881" y="3645191"/>
            <a:ext cx="480259" cy="0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 flipH="1">
            <a:off x="5424881" y="4033447"/>
            <a:ext cx="480259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矩形 84"/>
          <p:cNvSpPr/>
          <p:nvPr/>
        </p:nvSpPr>
        <p:spPr>
          <a:xfrm>
            <a:off x="2123728" y="2713098"/>
            <a:ext cx="1320560" cy="1872208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文本框 86"/>
          <p:cNvSpPr txBox="1"/>
          <p:nvPr/>
        </p:nvSpPr>
        <p:spPr>
          <a:xfrm>
            <a:off x="2147526" y="4215974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8088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95" name="左右箭头 94"/>
          <p:cNvSpPr/>
          <p:nvPr/>
        </p:nvSpPr>
        <p:spPr>
          <a:xfrm>
            <a:off x="3462663" y="4057461"/>
            <a:ext cx="641657" cy="154335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文本框 95"/>
          <p:cNvSpPr txBox="1"/>
          <p:nvPr/>
        </p:nvSpPr>
        <p:spPr>
          <a:xfrm>
            <a:off x="3381283" y="3688129"/>
            <a:ext cx="8306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D0~D7</a:t>
            </a:r>
            <a:endParaRPr lang="zh-CN" altLang="en-US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00" name="矩形 3"/>
          <p:cNvSpPr>
            <a:spLocks noChangeArrowheads="1"/>
          </p:cNvSpPr>
          <p:nvPr/>
        </p:nvSpPr>
        <p:spPr bwMode="auto">
          <a:xfrm>
            <a:off x="611561" y="1340768"/>
            <a:ext cx="7992888" cy="1119024"/>
          </a:xfrm>
          <a:prstGeom prst="rect">
            <a:avLst/>
          </a:prstGeom>
          <a:noFill/>
          <a:ln w="9525">
            <a:solidFill>
              <a:srgbClr val="FF9300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39000"/>
              </a:lnSpc>
              <a:spcAft>
                <a:spcPts val="600"/>
              </a:spcAft>
              <a:defRPr/>
            </a:pP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8255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以查询式连接打印接口，工作方式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。将缓冲区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BUF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开始的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11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个字符送打印机。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8255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端口地址为 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D0H~D3H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101" name="矩形 3"/>
          <p:cNvSpPr>
            <a:spLocks noChangeArrowheads="1"/>
          </p:cNvSpPr>
          <p:nvPr/>
        </p:nvSpPr>
        <p:spPr bwMode="auto">
          <a:xfrm>
            <a:off x="616896" y="4869160"/>
            <a:ext cx="7987552" cy="1119024"/>
          </a:xfrm>
          <a:prstGeom prst="rect">
            <a:avLst/>
          </a:prstGeom>
          <a:noFill/>
          <a:ln w="9525">
            <a:solidFill>
              <a:srgbClr val="FF9300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39000"/>
              </a:lnSpc>
              <a:spcAft>
                <a:spcPts val="600"/>
              </a:spcAft>
              <a:defRPr/>
            </a:pP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PC2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为忙信号，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PC6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作为数据选通信号。工作时，先查询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BUSY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信号，然后决定是否打印一个字符。</a:t>
            </a:r>
            <a:endParaRPr lang="zh-CN" altLang="en-US" sz="2400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4730581" y="3491706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PC6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4730581" y="3848781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PC2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" name="右箭头 7"/>
          <p:cNvSpPr/>
          <p:nvPr/>
        </p:nvSpPr>
        <p:spPr>
          <a:xfrm>
            <a:off x="5424881" y="3041780"/>
            <a:ext cx="480259" cy="8988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5919938" y="2709571"/>
            <a:ext cx="1320560" cy="1872208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/>
          <p:cNvSpPr txBox="1"/>
          <p:nvPr/>
        </p:nvSpPr>
        <p:spPr>
          <a:xfrm>
            <a:off x="6154212" y="421179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打印机</a:t>
            </a:r>
          </a:p>
        </p:txBody>
      </p:sp>
      <p:sp>
        <p:nvSpPr>
          <p:cNvPr id="78" name="文本框 77"/>
          <p:cNvSpPr txBox="1"/>
          <p:nvPr/>
        </p:nvSpPr>
        <p:spPr>
          <a:xfrm>
            <a:off x="5919938" y="3464536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STB</a:t>
            </a:r>
            <a:r>
              <a:rPr lang="zh-CN" altLang="en-US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</a:p>
        </p:txBody>
      </p:sp>
      <p:sp>
        <p:nvSpPr>
          <p:cNvPr id="82" name="文本框 81"/>
          <p:cNvSpPr txBox="1"/>
          <p:nvPr/>
        </p:nvSpPr>
        <p:spPr>
          <a:xfrm>
            <a:off x="5919938" y="3851940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BUSY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5" name="流程图: 过程 24"/>
          <p:cNvSpPr/>
          <p:nvPr/>
        </p:nvSpPr>
        <p:spPr>
          <a:xfrm>
            <a:off x="6363508" y="5416840"/>
            <a:ext cx="2016223" cy="484131"/>
          </a:xfrm>
          <a:prstGeom prst="flowChartProcess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控制字：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81H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等腰三角形 26"/>
          <p:cNvSpPr/>
          <p:nvPr/>
        </p:nvSpPr>
        <p:spPr>
          <a:xfrm rot="5400000">
            <a:off x="5532020" y="3556831"/>
            <a:ext cx="215041" cy="167965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672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  <p:bldP spid="12" grpId="0"/>
      <p:bldP spid="85" grpId="0" animBg="1"/>
      <p:bldP spid="87" grpId="0"/>
      <p:bldP spid="95" grpId="0" animBg="1"/>
      <p:bldP spid="96" grpId="0"/>
      <p:bldP spid="100" grpId="0" animBg="1"/>
      <p:bldP spid="101" grpId="0" animBg="1"/>
      <p:bldP spid="52" grpId="0"/>
      <p:bldP spid="53" grpId="0"/>
      <p:bldP spid="8" grpId="0" animBg="1"/>
      <p:bldP spid="54" grpId="0" animBg="1"/>
      <p:bldP spid="60" grpId="0"/>
      <p:bldP spid="78" grpId="0"/>
      <p:bldP spid="82" grpId="0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箭头连接符 1"/>
          <p:cNvCxnSpPr/>
          <p:nvPr/>
        </p:nvCxnSpPr>
        <p:spPr>
          <a:xfrm>
            <a:off x="2112815" y="873288"/>
            <a:ext cx="10914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/>
          <p:cNvCxnSpPr/>
          <p:nvPr/>
        </p:nvCxnSpPr>
        <p:spPr>
          <a:xfrm>
            <a:off x="2123728" y="1737384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>
            <a:off x="2123728" y="2601480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流程图: 决策 5"/>
          <p:cNvSpPr/>
          <p:nvPr/>
        </p:nvSpPr>
        <p:spPr>
          <a:xfrm>
            <a:off x="1131338" y="4905736"/>
            <a:ext cx="2016224" cy="576064"/>
          </a:xfrm>
          <a:prstGeom prst="flowChartDecision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打印完？</a:t>
            </a: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3851920" y="1161320"/>
            <a:ext cx="0" cy="4184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流程图: 过程 8"/>
          <p:cNvSpPr/>
          <p:nvPr/>
        </p:nvSpPr>
        <p:spPr>
          <a:xfrm>
            <a:off x="1093790" y="3042799"/>
            <a:ext cx="2053772" cy="442819"/>
          </a:xfrm>
          <a:prstGeom prst="flowChartProcess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信号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2993280" y="1579729"/>
            <a:ext cx="85864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1763078" y="5481800"/>
            <a:ext cx="324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流程图: 过程 12"/>
          <p:cNvSpPr/>
          <p:nvPr/>
        </p:nvSpPr>
        <p:spPr>
          <a:xfrm>
            <a:off x="1093790" y="486107"/>
            <a:ext cx="2016223" cy="484131"/>
          </a:xfrm>
          <a:prstGeom prst="flowChartProcess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8255A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初始化</a:t>
            </a:r>
          </a:p>
        </p:txBody>
      </p:sp>
      <p:sp>
        <p:nvSpPr>
          <p:cNvPr id="14" name="流程图: 过程 13"/>
          <p:cNvSpPr/>
          <p:nvPr/>
        </p:nvSpPr>
        <p:spPr>
          <a:xfrm>
            <a:off x="1093790" y="2152720"/>
            <a:ext cx="2053772" cy="480118"/>
          </a:xfrm>
          <a:prstGeom prst="flowChartProcess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送数</a:t>
            </a:r>
          </a:p>
        </p:txBody>
      </p:sp>
      <p:sp>
        <p:nvSpPr>
          <p:cNvPr id="15" name="流程图: 过程 14"/>
          <p:cNvSpPr/>
          <p:nvPr/>
        </p:nvSpPr>
        <p:spPr>
          <a:xfrm>
            <a:off x="1093790" y="3886853"/>
            <a:ext cx="2053772" cy="579598"/>
          </a:xfrm>
          <a:prstGeom prst="flowChartProcess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内存加一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字节减一</a:t>
            </a:r>
          </a:p>
        </p:txBody>
      </p:sp>
      <p:cxnSp>
        <p:nvCxnSpPr>
          <p:cNvPr id="16" name="直接箭头连接符 15"/>
          <p:cNvCxnSpPr/>
          <p:nvPr/>
        </p:nvCxnSpPr>
        <p:spPr>
          <a:xfrm>
            <a:off x="2115356" y="3485618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>
            <a:off x="2123728" y="4466451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2134606" y="5481800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395500" y="5193768"/>
            <a:ext cx="869553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V="1">
            <a:off x="395501" y="1161320"/>
            <a:ext cx="0" cy="40324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384623" y="1153825"/>
            <a:ext cx="1739105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619615" y="4862413"/>
            <a:ext cx="3722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 Box 2"/>
          <p:cNvSpPr txBox="1">
            <a:spLocks noChangeArrowheads="1"/>
          </p:cNvSpPr>
          <p:nvPr/>
        </p:nvSpPr>
        <p:spPr bwMode="auto">
          <a:xfrm>
            <a:off x="4774649" y="116632"/>
            <a:ext cx="3757791" cy="6555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114300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3335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524000" indent="-2286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BUF</a:t>
            </a: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DB</a:t>
            </a: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‘Hello world’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………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	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 81H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OUT	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0D3H, </a:t>
            </a:r>
            <a:r>
              <a:rPr lang="en-US" altLang="zh-CN" b="1" dirty="0">
                <a:solidFill>
                  <a:srgbClr val="00B85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	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0DH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OUT	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0D3H, </a:t>
            </a:r>
            <a:r>
              <a:rPr lang="en-US" altLang="zh-CN" b="1" dirty="0">
                <a:solidFill>
                  <a:srgbClr val="00B85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SI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BUF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CX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 11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	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0D2H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AND	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4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JNZ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LOP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[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SI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OUT	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0D0H, </a:t>
            </a:r>
            <a:r>
              <a:rPr lang="en-US" altLang="zh-CN" b="1" dirty="0">
                <a:solidFill>
                  <a:srgbClr val="00B85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	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0CH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OUT	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0D3H, </a:t>
            </a:r>
            <a:r>
              <a:rPr lang="en-US" altLang="zh-CN" b="1" dirty="0">
                <a:solidFill>
                  <a:srgbClr val="00B85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CALL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DELAY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INC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OUT	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0D3H, </a:t>
            </a:r>
            <a:r>
              <a:rPr lang="en-US" altLang="zh-CN" b="1" dirty="0">
                <a:solidFill>
                  <a:srgbClr val="00B85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INC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SI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DEC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CX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JNZ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LOP</a:t>
            </a:r>
          </a:p>
        </p:txBody>
      </p:sp>
      <p:sp>
        <p:nvSpPr>
          <p:cNvPr id="29" name="矩形 28"/>
          <p:cNvSpPr/>
          <p:nvPr/>
        </p:nvSpPr>
        <p:spPr>
          <a:xfrm>
            <a:off x="3986557" y="2564904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LOP:</a:t>
            </a:r>
          </a:p>
        </p:txBody>
      </p:sp>
      <p:sp>
        <p:nvSpPr>
          <p:cNvPr id="25" name="流程图: 决策 24"/>
          <p:cNvSpPr/>
          <p:nvPr/>
        </p:nvSpPr>
        <p:spPr>
          <a:xfrm>
            <a:off x="982513" y="1291697"/>
            <a:ext cx="2279968" cy="576064"/>
          </a:xfrm>
          <a:prstGeom prst="flowChartDecision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BUSY==0?</a:t>
            </a:r>
            <a:endParaRPr lang="zh-CN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738505" y="1819888"/>
            <a:ext cx="324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流程图: 过程 31"/>
          <p:cNvSpPr/>
          <p:nvPr/>
        </p:nvSpPr>
        <p:spPr>
          <a:xfrm>
            <a:off x="1142047" y="5907703"/>
            <a:ext cx="2016223" cy="484131"/>
          </a:xfrm>
          <a:prstGeom prst="flowChartProcess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结束</a:t>
            </a:r>
          </a:p>
        </p:txBody>
      </p:sp>
      <p:cxnSp>
        <p:nvCxnSpPr>
          <p:cNvPr id="33" name="直接连接符 32"/>
          <p:cNvCxnSpPr/>
          <p:nvPr/>
        </p:nvCxnSpPr>
        <p:spPr>
          <a:xfrm>
            <a:off x="2150158" y="1153825"/>
            <a:ext cx="17017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3295388" y="1291697"/>
            <a:ext cx="3722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7164288" y="764703"/>
            <a:ext cx="1872208" cy="540633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ea typeface="微软雅黑" panose="020B0503020204020204" pitchFamily="34" charset="-122"/>
              </a:rPr>
              <a:t>; </a:t>
            </a:r>
            <a:r>
              <a:rPr lang="zh-CN" altLang="en-US" sz="1600" dirty="0">
                <a:ea typeface="微软雅黑" panose="020B0503020204020204" pitchFamily="34" charset="-122"/>
              </a:rPr>
              <a:t>方式字设置</a:t>
            </a:r>
          </a:p>
        </p:txBody>
      </p:sp>
      <p:sp>
        <p:nvSpPr>
          <p:cNvPr id="36" name="矩形 35"/>
          <p:cNvSpPr/>
          <p:nvPr/>
        </p:nvSpPr>
        <p:spPr>
          <a:xfrm>
            <a:off x="7164288" y="1384610"/>
            <a:ext cx="1872208" cy="540633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ea typeface="微软雅黑" panose="020B0503020204020204" pitchFamily="34" charset="-122"/>
              </a:rPr>
              <a:t>; PC6</a:t>
            </a:r>
            <a:r>
              <a:rPr lang="zh-CN" altLang="en-US" sz="1600" dirty="0">
                <a:ea typeface="微软雅黑" panose="020B0503020204020204" pitchFamily="34" charset="-122"/>
              </a:rPr>
              <a:t>置</a:t>
            </a:r>
            <a:r>
              <a:rPr lang="en-US" altLang="zh-CN" sz="1600" dirty="0"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ea typeface="微软雅黑" panose="020B0503020204020204" pitchFamily="34" charset="-122"/>
              </a:rPr>
              <a:t>STB</a:t>
            </a:r>
            <a:r>
              <a:rPr lang="zh-CN" altLang="en-US" sz="1600" dirty="0">
                <a:ea typeface="微软雅黑" panose="020B0503020204020204" pitchFamily="34" charset="-122"/>
              </a:rPr>
              <a:t>无效</a:t>
            </a:r>
          </a:p>
        </p:txBody>
      </p:sp>
      <p:sp>
        <p:nvSpPr>
          <p:cNvPr id="37" name="矩形 36"/>
          <p:cNvSpPr/>
          <p:nvPr/>
        </p:nvSpPr>
        <p:spPr>
          <a:xfrm>
            <a:off x="7164288" y="2024271"/>
            <a:ext cx="1872208" cy="540633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ea typeface="微软雅黑" panose="020B0503020204020204" pitchFamily="34" charset="-122"/>
              </a:rPr>
              <a:t>; </a:t>
            </a:r>
            <a:r>
              <a:rPr lang="zh-CN" altLang="en-US" sz="1600" dirty="0">
                <a:ea typeface="微软雅黑" panose="020B0503020204020204" pitchFamily="34" charset="-122"/>
              </a:rPr>
              <a:t>数据存储区设置</a:t>
            </a:r>
          </a:p>
        </p:txBody>
      </p:sp>
      <p:sp>
        <p:nvSpPr>
          <p:cNvPr id="38" name="矩形 37"/>
          <p:cNvSpPr/>
          <p:nvPr/>
        </p:nvSpPr>
        <p:spPr>
          <a:xfrm>
            <a:off x="7164288" y="2663885"/>
            <a:ext cx="1872208" cy="747682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ea typeface="微软雅黑" panose="020B0503020204020204" pitchFamily="34" charset="-122"/>
              </a:rPr>
              <a:t>; </a:t>
            </a:r>
            <a:r>
              <a:rPr lang="zh-CN" altLang="en-US" sz="1600" dirty="0">
                <a:ea typeface="微软雅黑" panose="020B0503020204020204" pitchFamily="34" charset="-122"/>
              </a:rPr>
              <a:t>读取打印机状态并测试</a:t>
            </a:r>
            <a:r>
              <a:rPr lang="en-US" altLang="zh-CN" sz="1600" dirty="0">
                <a:ea typeface="微软雅黑" panose="020B0503020204020204" pitchFamily="34" charset="-122"/>
              </a:rPr>
              <a:t>BUSY</a:t>
            </a:r>
            <a:r>
              <a:rPr lang="zh-CN" altLang="en-US" sz="1600" dirty="0">
                <a:ea typeface="微软雅黑" panose="020B0503020204020204" pitchFamily="34" charset="-122"/>
              </a:rPr>
              <a:t>信号</a:t>
            </a:r>
          </a:p>
        </p:txBody>
      </p:sp>
      <p:sp>
        <p:nvSpPr>
          <p:cNvPr id="39" name="矩形 38"/>
          <p:cNvSpPr/>
          <p:nvPr/>
        </p:nvSpPr>
        <p:spPr>
          <a:xfrm>
            <a:off x="7164288" y="3506388"/>
            <a:ext cx="1872208" cy="540633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ea typeface="微软雅黑" panose="020B0503020204020204" pitchFamily="34" charset="-122"/>
              </a:rPr>
              <a:t>; </a:t>
            </a:r>
            <a:r>
              <a:rPr lang="zh-CN" altLang="en-US" sz="1600" dirty="0">
                <a:ea typeface="微软雅黑" panose="020B0503020204020204" pitchFamily="34" charset="-122"/>
              </a:rPr>
              <a:t>送打印数据</a:t>
            </a:r>
          </a:p>
        </p:txBody>
      </p:sp>
      <p:sp>
        <p:nvSpPr>
          <p:cNvPr id="40" name="矩形 39"/>
          <p:cNvSpPr/>
          <p:nvPr/>
        </p:nvSpPr>
        <p:spPr>
          <a:xfrm>
            <a:off x="7164288" y="4141842"/>
            <a:ext cx="1872208" cy="540633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ea typeface="微软雅黑" panose="020B0503020204020204" pitchFamily="34" charset="-122"/>
              </a:rPr>
              <a:t>; PC6</a:t>
            </a:r>
            <a:r>
              <a:rPr lang="zh-CN" altLang="en-US" sz="1600" dirty="0">
                <a:ea typeface="微软雅黑" panose="020B0503020204020204" pitchFamily="34" charset="-122"/>
              </a:rPr>
              <a:t>置</a:t>
            </a:r>
            <a:r>
              <a:rPr lang="en-US" altLang="zh-CN" sz="1600" dirty="0">
                <a:ea typeface="微软雅黑" panose="020B0503020204020204" pitchFamily="34" charset="-122"/>
              </a:rPr>
              <a:t>0</a:t>
            </a:r>
            <a:r>
              <a:rPr lang="zh-CN" altLang="en-US" sz="1600" dirty="0"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ea typeface="微软雅黑" panose="020B0503020204020204" pitchFamily="34" charset="-122"/>
              </a:rPr>
              <a:t>STB</a:t>
            </a:r>
            <a:r>
              <a:rPr lang="zh-CN" altLang="en-US" sz="1600" dirty="0">
                <a:ea typeface="微软雅黑" panose="020B0503020204020204" pitchFamily="34" charset="-122"/>
              </a:rPr>
              <a:t>有效打印机读取数据</a:t>
            </a:r>
          </a:p>
        </p:txBody>
      </p:sp>
      <p:sp>
        <p:nvSpPr>
          <p:cNvPr id="41" name="矩形 40"/>
          <p:cNvSpPr/>
          <p:nvPr/>
        </p:nvSpPr>
        <p:spPr>
          <a:xfrm>
            <a:off x="7164288" y="5047079"/>
            <a:ext cx="1872208" cy="540633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ea typeface="微软雅黑" panose="020B0503020204020204" pitchFamily="34" charset="-122"/>
              </a:rPr>
              <a:t>; PC6</a:t>
            </a:r>
            <a:r>
              <a:rPr lang="zh-CN" altLang="en-US" sz="1600" dirty="0">
                <a:ea typeface="微软雅黑" panose="020B0503020204020204" pitchFamily="34" charset="-122"/>
              </a:rPr>
              <a:t>置</a:t>
            </a:r>
            <a:r>
              <a:rPr lang="en-US" altLang="zh-CN" sz="1600" dirty="0"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ea typeface="微软雅黑" panose="020B0503020204020204" pitchFamily="34" charset="-122"/>
              </a:rPr>
              <a:t>STB</a:t>
            </a:r>
            <a:r>
              <a:rPr lang="zh-CN" altLang="en-US" sz="1600" dirty="0">
                <a:ea typeface="微软雅黑" panose="020B0503020204020204" pitchFamily="34" charset="-122"/>
              </a:rPr>
              <a:t>无效</a:t>
            </a:r>
          </a:p>
        </p:txBody>
      </p:sp>
      <p:sp>
        <p:nvSpPr>
          <p:cNvPr id="42" name="矩形 41"/>
          <p:cNvSpPr/>
          <p:nvPr/>
        </p:nvSpPr>
        <p:spPr>
          <a:xfrm>
            <a:off x="7164288" y="5633445"/>
            <a:ext cx="1872208" cy="540633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ea typeface="微软雅黑" panose="020B0503020204020204" pitchFamily="34" charset="-122"/>
              </a:rPr>
              <a:t>; </a:t>
            </a:r>
            <a:r>
              <a:rPr lang="zh-CN" altLang="en-US" sz="1600" dirty="0">
                <a:ea typeface="微软雅黑" panose="020B0503020204020204" pitchFamily="34" charset="-122"/>
              </a:rPr>
              <a:t>取下一个字节</a:t>
            </a:r>
          </a:p>
        </p:txBody>
      </p:sp>
    </p:spTree>
    <p:extLst>
      <p:ext uri="{BB962C8B-B14F-4D97-AF65-F5344CB8AC3E}">
        <p14:creationId xmlns:p14="http://schemas.microsoft.com/office/powerpoint/2010/main" val="2337597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8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4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方式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：选通的输入输出方式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矩形 4"/>
          <p:cNvSpPr>
            <a:spLocks noChangeAspect="1"/>
          </p:cNvSpPr>
          <p:nvPr/>
        </p:nvSpPr>
        <p:spPr>
          <a:xfrm>
            <a:off x="1115616" y="1803841"/>
            <a:ext cx="7128792" cy="1882897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1008447" y="2011661"/>
            <a:ext cx="1108519" cy="574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19"/>
          <p:cNvSpPr txBox="1"/>
          <p:nvPr/>
        </p:nvSpPr>
        <p:spPr>
          <a:xfrm>
            <a:off x="1348382" y="1864114"/>
            <a:ext cx="461665" cy="116746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方式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Box 17"/>
          <p:cNvSpPr txBox="1"/>
          <p:nvPr/>
        </p:nvSpPr>
        <p:spPr>
          <a:xfrm>
            <a:off x="2052604" y="1803841"/>
            <a:ext cx="6081561" cy="172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端口作 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 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位数据输入或输出，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端口的特定位为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端口服务。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电特性：作输出用时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, A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端口有锁存功能，作输入用时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, A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端口有缓冲功能。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115616" y="4120681"/>
            <a:ext cx="7128792" cy="964503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可用于查询式传送或中断式传送。</a:t>
            </a:r>
          </a:p>
        </p:txBody>
      </p:sp>
    </p:spTree>
    <p:extLst>
      <p:ext uri="{BB962C8B-B14F-4D97-AF65-F5344CB8AC3E}">
        <p14:creationId xmlns:p14="http://schemas.microsoft.com/office/powerpoint/2010/main" val="2201916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1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1907704" y="1486102"/>
            <a:ext cx="1584176" cy="266429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2" name="文本框 31"/>
          <p:cNvSpPr txBox="1"/>
          <p:nvPr/>
        </p:nvSpPr>
        <p:spPr>
          <a:xfrm>
            <a:off x="2414341" y="1507588"/>
            <a:ext cx="968535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PA0~PA7</a:t>
            </a:r>
            <a:endParaRPr lang="zh-CN" altLang="en-US" sz="1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786365" y="2947748"/>
            <a:ext cx="534121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en-US" altLang="zh-CN" sz="1400" dirty="0"/>
              <a:t>PC5</a:t>
            </a:r>
            <a:endParaRPr lang="zh-CN" altLang="en-US" sz="1400" dirty="0"/>
          </a:p>
        </p:txBody>
      </p:sp>
      <p:sp>
        <p:nvSpPr>
          <p:cNvPr id="35" name="文本框 34"/>
          <p:cNvSpPr txBox="1"/>
          <p:nvPr/>
        </p:nvSpPr>
        <p:spPr>
          <a:xfrm>
            <a:off x="1979712" y="3379796"/>
            <a:ext cx="543739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与门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2786365" y="3811844"/>
            <a:ext cx="534121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en-US" altLang="zh-CN" sz="1400" dirty="0"/>
              <a:t>PC3</a:t>
            </a:r>
            <a:endParaRPr lang="zh-CN" altLang="en-US" sz="1400" dirty="0"/>
          </a:p>
        </p:txBody>
      </p:sp>
      <p:sp>
        <p:nvSpPr>
          <p:cNvPr id="37" name="文本框 36"/>
          <p:cNvSpPr txBox="1"/>
          <p:nvPr/>
        </p:nvSpPr>
        <p:spPr>
          <a:xfrm>
            <a:off x="1907704" y="1918150"/>
            <a:ext cx="838199" cy="523220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INTE</a:t>
            </a:r>
            <a:r>
              <a:rPr lang="en-US" altLang="zh-CN" sz="1400" b="1" baseline="-250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</a:t>
            </a:r>
          </a:p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PC4</a:t>
            </a:r>
            <a:endParaRPr lang="zh-CN" altLang="en-US" sz="1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39" name="直接连接符 38"/>
          <p:cNvCxnSpPr/>
          <p:nvPr/>
        </p:nvCxnSpPr>
        <p:spPr>
          <a:xfrm flipH="1">
            <a:off x="2267744" y="2782246"/>
            <a:ext cx="50405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2267744" y="2782246"/>
            <a:ext cx="0" cy="597550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 flipH="1" flipV="1">
            <a:off x="2483768" y="3117025"/>
            <a:ext cx="288032" cy="377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2483768" y="3117025"/>
            <a:ext cx="0" cy="262771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2051720" y="2441370"/>
            <a:ext cx="0" cy="916130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/>
          <p:nvPr/>
        </p:nvCxnSpPr>
        <p:spPr>
          <a:xfrm>
            <a:off x="3491880" y="2759950"/>
            <a:ext cx="360040" cy="0"/>
          </a:xfrm>
          <a:prstGeom prst="straightConnector1">
            <a:avLst/>
          </a:prstGeom>
          <a:ln>
            <a:solidFill>
              <a:srgbClr val="FD7A2A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2786365" y="2590673"/>
            <a:ext cx="534121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PC4</a:t>
            </a:r>
            <a:endParaRPr lang="zh-CN" altLang="en-US" sz="1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56" name="直接箭头连接符 55"/>
          <p:cNvCxnSpPr/>
          <p:nvPr/>
        </p:nvCxnSpPr>
        <p:spPr>
          <a:xfrm>
            <a:off x="3491880" y="3117025"/>
            <a:ext cx="3823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/>
          <p:nvPr/>
        </p:nvCxnSpPr>
        <p:spPr>
          <a:xfrm>
            <a:off x="3455022" y="3981121"/>
            <a:ext cx="4192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/>
          <p:cNvSpPr txBox="1"/>
          <p:nvPr/>
        </p:nvSpPr>
        <p:spPr>
          <a:xfrm>
            <a:off x="3442124" y="2381348"/>
            <a:ext cx="684803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STB</a:t>
            </a:r>
            <a:r>
              <a:rPr lang="en-US" altLang="zh-CN" sz="1400" b="1" baseline="-25000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</a:t>
            </a:r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  <a:endParaRPr lang="zh-CN" altLang="en-US" sz="14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3455022" y="3135547"/>
            <a:ext cx="740834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IBF</a:t>
            </a:r>
            <a:r>
              <a:rPr lang="en-US" altLang="zh-CN" sz="1400" b="1" baseline="-25000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</a:t>
            </a:r>
            <a:endParaRPr lang="zh-CN" altLang="en-US" sz="14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3455022" y="3612682"/>
            <a:ext cx="683200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INTR</a:t>
            </a:r>
            <a:r>
              <a:rPr lang="en-US" altLang="zh-CN" sz="1400" b="1" baseline="-25000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</a:t>
            </a:r>
            <a:endParaRPr lang="zh-CN" altLang="en-US" sz="14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1" name="右箭头 60"/>
          <p:cNvSpPr/>
          <p:nvPr/>
        </p:nvSpPr>
        <p:spPr>
          <a:xfrm rot="10800000">
            <a:off x="3491880" y="1630118"/>
            <a:ext cx="360040" cy="142698"/>
          </a:xfrm>
          <a:prstGeom prst="rightArrow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62" name="右箭头 61"/>
          <p:cNvSpPr/>
          <p:nvPr/>
        </p:nvSpPr>
        <p:spPr>
          <a:xfrm rot="10800000">
            <a:off x="1547664" y="1577274"/>
            <a:ext cx="360040" cy="117932"/>
          </a:xfrm>
          <a:prstGeom prst="rightArrow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63" name="文本框 62"/>
          <p:cNvSpPr txBox="1"/>
          <p:nvPr/>
        </p:nvSpPr>
        <p:spPr>
          <a:xfrm>
            <a:off x="1259632" y="1610373"/>
            <a:ext cx="747320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D7~D0</a:t>
            </a:r>
            <a:endParaRPr lang="zh-CN" altLang="en-US" sz="14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65" name="直接箭头连接符 64"/>
          <p:cNvCxnSpPr/>
          <p:nvPr/>
        </p:nvCxnSpPr>
        <p:spPr>
          <a:xfrm>
            <a:off x="2251581" y="3988652"/>
            <a:ext cx="50405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>
            <a:off x="2251581" y="3687573"/>
            <a:ext cx="0" cy="301079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矩形 68"/>
          <p:cNvSpPr/>
          <p:nvPr/>
        </p:nvSpPr>
        <p:spPr>
          <a:xfrm>
            <a:off x="5596216" y="1486102"/>
            <a:ext cx="1584176" cy="266429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70" name="文本框 69"/>
          <p:cNvSpPr txBox="1"/>
          <p:nvPr/>
        </p:nvSpPr>
        <p:spPr>
          <a:xfrm>
            <a:off x="6102853" y="1507588"/>
            <a:ext cx="968535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PB0~PB7</a:t>
            </a:r>
            <a:endParaRPr lang="zh-CN" altLang="en-US" sz="1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6474877" y="2947748"/>
            <a:ext cx="534121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en-US" altLang="zh-CN" sz="1400" dirty="0"/>
              <a:t>PC1</a:t>
            </a:r>
            <a:endParaRPr lang="zh-CN" altLang="en-US" sz="1400" dirty="0"/>
          </a:p>
        </p:txBody>
      </p:sp>
      <p:sp>
        <p:nvSpPr>
          <p:cNvPr id="72" name="文本框 71"/>
          <p:cNvSpPr txBox="1"/>
          <p:nvPr/>
        </p:nvSpPr>
        <p:spPr>
          <a:xfrm>
            <a:off x="5668224" y="3379796"/>
            <a:ext cx="543739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与门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6474877" y="3811844"/>
            <a:ext cx="534121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en-US" altLang="zh-CN" sz="1400" dirty="0"/>
              <a:t>PC0</a:t>
            </a:r>
            <a:endParaRPr lang="zh-CN" altLang="en-US" sz="1400" dirty="0"/>
          </a:p>
        </p:txBody>
      </p:sp>
      <p:sp>
        <p:nvSpPr>
          <p:cNvPr id="74" name="文本框 73"/>
          <p:cNvSpPr txBox="1"/>
          <p:nvPr/>
        </p:nvSpPr>
        <p:spPr>
          <a:xfrm>
            <a:off x="5596216" y="1918150"/>
            <a:ext cx="838199" cy="523220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INTE</a:t>
            </a:r>
            <a:r>
              <a:rPr lang="en-US" altLang="zh-CN" sz="1400" b="1" baseline="-250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</a:t>
            </a:r>
          </a:p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PC2</a:t>
            </a:r>
            <a:endParaRPr lang="zh-CN" altLang="en-US" sz="1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75" name="直接连接符 74"/>
          <p:cNvCxnSpPr/>
          <p:nvPr/>
        </p:nvCxnSpPr>
        <p:spPr>
          <a:xfrm flipH="1">
            <a:off x="5956256" y="2782246"/>
            <a:ext cx="50405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5956256" y="2782246"/>
            <a:ext cx="0" cy="597550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 flipH="1" flipV="1">
            <a:off x="6172280" y="3117025"/>
            <a:ext cx="288032" cy="377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>
            <a:off x="6172280" y="3117025"/>
            <a:ext cx="0" cy="262771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/>
        </p:nvCxnSpPr>
        <p:spPr>
          <a:xfrm>
            <a:off x="5740232" y="2441370"/>
            <a:ext cx="0" cy="916130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/>
          <p:nvPr/>
        </p:nvCxnSpPr>
        <p:spPr>
          <a:xfrm>
            <a:off x="7180392" y="2759950"/>
            <a:ext cx="360040" cy="0"/>
          </a:xfrm>
          <a:prstGeom prst="straightConnector1">
            <a:avLst/>
          </a:prstGeom>
          <a:ln>
            <a:solidFill>
              <a:srgbClr val="FD7A2A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/>
          <p:cNvSpPr txBox="1"/>
          <p:nvPr/>
        </p:nvSpPr>
        <p:spPr>
          <a:xfrm>
            <a:off x="6474877" y="2590673"/>
            <a:ext cx="534121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PC2</a:t>
            </a:r>
            <a:endParaRPr lang="zh-CN" altLang="en-US" sz="1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82" name="直接箭头连接符 81"/>
          <p:cNvCxnSpPr/>
          <p:nvPr/>
        </p:nvCxnSpPr>
        <p:spPr>
          <a:xfrm>
            <a:off x="7180392" y="3117025"/>
            <a:ext cx="3823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/>
          <p:cNvCxnSpPr/>
          <p:nvPr/>
        </p:nvCxnSpPr>
        <p:spPr>
          <a:xfrm>
            <a:off x="7180392" y="3981121"/>
            <a:ext cx="3823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本框 83"/>
          <p:cNvSpPr txBox="1"/>
          <p:nvPr/>
        </p:nvSpPr>
        <p:spPr>
          <a:xfrm>
            <a:off x="7130636" y="2381348"/>
            <a:ext cx="684803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STB</a:t>
            </a:r>
            <a:r>
              <a:rPr lang="en-US" altLang="zh-CN" sz="1400" b="1" baseline="-25000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</a:t>
            </a:r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  <a:endParaRPr lang="zh-CN" altLang="en-US" sz="14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7143534" y="3135547"/>
            <a:ext cx="740834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IBF</a:t>
            </a:r>
            <a:r>
              <a:rPr lang="en-US" altLang="zh-CN" sz="1400" b="1" baseline="-25000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</a:t>
            </a:r>
            <a:endParaRPr lang="zh-CN" altLang="en-US" sz="14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7143534" y="3612682"/>
            <a:ext cx="683200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INTR</a:t>
            </a:r>
            <a:r>
              <a:rPr lang="en-US" altLang="zh-CN" sz="1400" b="1" baseline="-25000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</a:t>
            </a:r>
            <a:endParaRPr lang="zh-CN" altLang="en-US" sz="14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7" name="右箭头 86"/>
          <p:cNvSpPr/>
          <p:nvPr/>
        </p:nvSpPr>
        <p:spPr>
          <a:xfrm rot="10800000">
            <a:off x="7180392" y="1570386"/>
            <a:ext cx="360040" cy="124820"/>
          </a:xfrm>
          <a:prstGeom prst="rightArrow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88" name="右箭头 87"/>
          <p:cNvSpPr/>
          <p:nvPr/>
        </p:nvSpPr>
        <p:spPr>
          <a:xfrm rot="10800000">
            <a:off x="5236176" y="1577274"/>
            <a:ext cx="360040" cy="117932"/>
          </a:xfrm>
          <a:prstGeom prst="rightArrow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89" name="文本框 88"/>
          <p:cNvSpPr txBox="1"/>
          <p:nvPr/>
        </p:nvSpPr>
        <p:spPr>
          <a:xfrm>
            <a:off x="4948144" y="1610373"/>
            <a:ext cx="747320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D7~D0</a:t>
            </a:r>
            <a:endParaRPr lang="zh-CN" altLang="en-US" sz="14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90" name="直接箭头连接符 89"/>
          <p:cNvCxnSpPr/>
          <p:nvPr/>
        </p:nvCxnSpPr>
        <p:spPr>
          <a:xfrm>
            <a:off x="5940093" y="3988652"/>
            <a:ext cx="50405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/>
          <p:cNvCxnSpPr/>
          <p:nvPr/>
        </p:nvCxnSpPr>
        <p:spPr>
          <a:xfrm>
            <a:off x="5940093" y="3687573"/>
            <a:ext cx="0" cy="301079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方式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A/B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口输入信号规定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94" name="直接连接符 9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5" name="TextBox 17"/>
          <p:cNvSpPr txBox="1"/>
          <p:nvPr/>
        </p:nvSpPr>
        <p:spPr>
          <a:xfrm>
            <a:off x="1115616" y="4522621"/>
            <a:ext cx="6768752" cy="1729641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STB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*：选通信号，外设发出，外设送的数据锁存到</a:t>
            </a: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8255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的输入口。</a:t>
            </a:r>
            <a:endParaRPr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IBF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：输入缓冲器满，</a:t>
            </a: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8255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发出，表示外设送的数据已进入输入口。</a:t>
            </a:r>
            <a:endParaRPr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INTR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：中断申请信号，</a:t>
            </a: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8255 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发出，用来向</a:t>
            </a: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发出中断申请。</a:t>
            </a: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STB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IBF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INTE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有效时，</a:t>
            </a: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8255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自动发出</a:t>
            </a: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INTR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（接</a:t>
            </a: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8259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IR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）。</a:t>
            </a:r>
            <a:endParaRPr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INTE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：中断允许控制信号，控制是否允许</a:t>
            </a: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8255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中断申请</a:t>
            </a: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INTR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发出。</a:t>
            </a:r>
            <a:endParaRPr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1115616" y="1371528"/>
            <a:ext cx="3090197" cy="2927848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文本框 96"/>
          <p:cNvSpPr txBox="1"/>
          <p:nvPr/>
        </p:nvSpPr>
        <p:spPr>
          <a:xfrm>
            <a:off x="1225306" y="3661906"/>
            <a:ext cx="68239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</a:t>
            </a:r>
            <a:r>
              <a:rPr lang="zh-CN" altLang="en-US" sz="20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口</a:t>
            </a:r>
            <a:endParaRPr lang="zh-CN" altLang="en-US" sz="20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4980605" y="3647284"/>
            <a:ext cx="68239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</a:t>
            </a:r>
            <a:r>
              <a:rPr lang="zh-CN" altLang="en-US" sz="20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口</a:t>
            </a:r>
            <a:endParaRPr lang="zh-CN" altLang="en-US" sz="20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1115616" y="4437112"/>
            <a:ext cx="6768752" cy="1815150"/>
          </a:xfrm>
          <a:prstGeom prst="rect">
            <a:avLst/>
          </a:prstGeom>
          <a:noFill/>
          <a:ln w="12700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矩形 99"/>
          <p:cNvSpPr/>
          <p:nvPr/>
        </p:nvSpPr>
        <p:spPr>
          <a:xfrm>
            <a:off x="4794171" y="1365248"/>
            <a:ext cx="3090197" cy="2927848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519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4" grpId="0" animBg="1"/>
      <p:bldP spid="35" grpId="0" animBg="1"/>
      <p:bldP spid="36" grpId="0" animBg="1"/>
      <p:bldP spid="37" grpId="0" animBg="1"/>
      <p:bldP spid="33" grpId="0" animBg="1"/>
      <p:bldP spid="58" grpId="0"/>
      <p:bldP spid="59" grpId="0"/>
      <p:bldP spid="60" grpId="0"/>
      <p:bldP spid="61" grpId="0" animBg="1"/>
      <p:bldP spid="62" grpId="0" animBg="1"/>
      <p:bldP spid="63" grpId="0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81" grpId="0" animBg="1"/>
      <p:bldP spid="84" grpId="0"/>
      <p:bldP spid="85" grpId="0"/>
      <p:bldP spid="86" grpId="0"/>
      <p:bldP spid="87" grpId="0" animBg="1"/>
      <p:bldP spid="88" grpId="0" animBg="1"/>
      <p:bldP spid="89" grpId="0"/>
      <p:bldP spid="96" grpId="0" animBg="1"/>
      <p:bldP spid="97" grpId="0"/>
      <p:bldP spid="98" grpId="0"/>
      <p:bldP spid="99" grpId="0" animBg="1"/>
      <p:bldP spid="10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1907704" y="1486102"/>
            <a:ext cx="1584176" cy="266429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2" name="文本框 31"/>
          <p:cNvSpPr txBox="1"/>
          <p:nvPr/>
        </p:nvSpPr>
        <p:spPr>
          <a:xfrm>
            <a:off x="2414341" y="1507588"/>
            <a:ext cx="968535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PA0~PA7</a:t>
            </a:r>
            <a:endParaRPr lang="zh-CN" altLang="en-US" sz="1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786365" y="2947748"/>
            <a:ext cx="534121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en-US" altLang="zh-CN" sz="1400" dirty="0"/>
              <a:t>PC6</a:t>
            </a:r>
            <a:endParaRPr lang="zh-CN" altLang="en-US" sz="1400" dirty="0"/>
          </a:p>
        </p:txBody>
      </p:sp>
      <p:sp>
        <p:nvSpPr>
          <p:cNvPr id="35" name="文本框 34"/>
          <p:cNvSpPr txBox="1"/>
          <p:nvPr/>
        </p:nvSpPr>
        <p:spPr>
          <a:xfrm>
            <a:off x="1979712" y="3379796"/>
            <a:ext cx="543739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与门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2786365" y="3811844"/>
            <a:ext cx="534121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en-US" altLang="zh-CN" sz="1400" dirty="0"/>
              <a:t>PC3</a:t>
            </a:r>
            <a:endParaRPr lang="zh-CN" altLang="en-US" sz="1400" dirty="0"/>
          </a:p>
        </p:txBody>
      </p:sp>
      <p:sp>
        <p:nvSpPr>
          <p:cNvPr id="37" name="文本框 36"/>
          <p:cNvSpPr txBox="1"/>
          <p:nvPr/>
        </p:nvSpPr>
        <p:spPr>
          <a:xfrm>
            <a:off x="1907704" y="1918150"/>
            <a:ext cx="838199" cy="523220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INTE</a:t>
            </a:r>
            <a:r>
              <a:rPr lang="en-US" altLang="zh-CN" sz="1400" b="1" baseline="-250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</a:t>
            </a:r>
          </a:p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PC6</a:t>
            </a:r>
            <a:endParaRPr lang="zh-CN" altLang="en-US" sz="1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39" name="直接连接符 38"/>
          <p:cNvCxnSpPr/>
          <p:nvPr/>
        </p:nvCxnSpPr>
        <p:spPr>
          <a:xfrm flipH="1">
            <a:off x="2267744" y="2782246"/>
            <a:ext cx="50405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2267744" y="2782246"/>
            <a:ext cx="0" cy="597550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 flipH="1" flipV="1">
            <a:off x="2483768" y="3117025"/>
            <a:ext cx="288032" cy="377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2483768" y="3117025"/>
            <a:ext cx="0" cy="262771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2051720" y="2441370"/>
            <a:ext cx="0" cy="916130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/>
          <p:nvPr/>
        </p:nvCxnSpPr>
        <p:spPr>
          <a:xfrm>
            <a:off x="3347864" y="2759950"/>
            <a:ext cx="504056" cy="0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2786365" y="2590673"/>
            <a:ext cx="534121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PC7</a:t>
            </a:r>
            <a:endParaRPr lang="zh-CN" altLang="en-US" sz="1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56" name="直接箭头连接符 55"/>
          <p:cNvCxnSpPr/>
          <p:nvPr/>
        </p:nvCxnSpPr>
        <p:spPr>
          <a:xfrm>
            <a:off x="3491880" y="3117025"/>
            <a:ext cx="382355" cy="0"/>
          </a:xfrm>
          <a:prstGeom prst="straightConnector1">
            <a:avLst/>
          </a:prstGeom>
          <a:ln>
            <a:solidFill>
              <a:srgbClr val="FD7A2A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/>
          <p:nvPr/>
        </p:nvCxnSpPr>
        <p:spPr>
          <a:xfrm>
            <a:off x="3491880" y="3981121"/>
            <a:ext cx="3823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/>
          <p:cNvSpPr txBox="1"/>
          <p:nvPr/>
        </p:nvSpPr>
        <p:spPr>
          <a:xfrm>
            <a:off x="3442124" y="2381348"/>
            <a:ext cx="704039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OBF</a:t>
            </a:r>
            <a:r>
              <a:rPr lang="en-US" altLang="zh-CN" sz="1400" b="1" baseline="-25000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</a:t>
            </a:r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  <a:endParaRPr lang="zh-CN" altLang="en-US" sz="14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3455021" y="3135547"/>
            <a:ext cx="790939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ACK</a:t>
            </a:r>
            <a:r>
              <a:rPr lang="en-US" altLang="zh-CN" sz="1400" b="1" baseline="-25000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</a:t>
            </a:r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*</a:t>
            </a:r>
            <a:endParaRPr lang="zh-CN" altLang="en-US" sz="14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3455022" y="3612682"/>
            <a:ext cx="683200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INTR</a:t>
            </a:r>
            <a:r>
              <a:rPr lang="en-US" altLang="zh-CN" sz="1400" b="1" baseline="-25000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</a:t>
            </a:r>
            <a:endParaRPr lang="zh-CN" altLang="en-US" sz="14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1" name="右箭头 60"/>
          <p:cNvSpPr/>
          <p:nvPr/>
        </p:nvSpPr>
        <p:spPr>
          <a:xfrm>
            <a:off x="3491880" y="1577274"/>
            <a:ext cx="360040" cy="117932"/>
          </a:xfrm>
          <a:prstGeom prst="rightArrow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62" name="右箭头 61"/>
          <p:cNvSpPr/>
          <p:nvPr/>
        </p:nvSpPr>
        <p:spPr>
          <a:xfrm>
            <a:off x="1547664" y="1577274"/>
            <a:ext cx="360040" cy="117932"/>
          </a:xfrm>
          <a:prstGeom prst="rightArrow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63" name="文本框 62"/>
          <p:cNvSpPr txBox="1"/>
          <p:nvPr/>
        </p:nvSpPr>
        <p:spPr>
          <a:xfrm>
            <a:off x="1259632" y="1610373"/>
            <a:ext cx="747320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D7~D0</a:t>
            </a:r>
            <a:endParaRPr lang="zh-CN" altLang="en-US" sz="14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65" name="直接箭头连接符 64"/>
          <p:cNvCxnSpPr/>
          <p:nvPr/>
        </p:nvCxnSpPr>
        <p:spPr>
          <a:xfrm>
            <a:off x="2251581" y="3988652"/>
            <a:ext cx="50405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>
            <a:off x="2251581" y="3687573"/>
            <a:ext cx="0" cy="301079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矩形 68"/>
          <p:cNvSpPr/>
          <p:nvPr/>
        </p:nvSpPr>
        <p:spPr>
          <a:xfrm>
            <a:off x="5596216" y="1486102"/>
            <a:ext cx="1584176" cy="266429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70" name="文本框 69"/>
          <p:cNvSpPr txBox="1"/>
          <p:nvPr/>
        </p:nvSpPr>
        <p:spPr>
          <a:xfrm>
            <a:off x="6102853" y="1507588"/>
            <a:ext cx="968535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PB0~PB7</a:t>
            </a:r>
            <a:endParaRPr lang="zh-CN" altLang="en-US" sz="1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6474877" y="2947748"/>
            <a:ext cx="534121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en-US" altLang="zh-CN" sz="1400" dirty="0"/>
              <a:t>PC2</a:t>
            </a:r>
            <a:endParaRPr lang="zh-CN" altLang="en-US" sz="1400" dirty="0"/>
          </a:p>
        </p:txBody>
      </p:sp>
      <p:sp>
        <p:nvSpPr>
          <p:cNvPr id="72" name="文本框 71"/>
          <p:cNvSpPr txBox="1"/>
          <p:nvPr/>
        </p:nvSpPr>
        <p:spPr>
          <a:xfrm>
            <a:off x="5668224" y="3379796"/>
            <a:ext cx="543739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与门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6474877" y="3811844"/>
            <a:ext cx="534121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en-US" altLang="zh-CN" sz="1400" dirty="0"/>
              <a:t>PC0</a:t>
            </a:r>
            <a:endParaRPr lang="zh-CN" altLang="en-US" sz="1400" dirty="0"/>
          </a:p>
        </p:txBody>
      </p:sp>
      <p:sp>
        <p:nvSpPr>
          <p:cNvPr id="74" name="文本框 73"/>
          <p:cNvSpPr txBox="1"/>
          <p:nvPr/>
        </p:nvSpPr>
        <p:spPr>
          <a:xfrm>
            <a:off x="5596216" y="1918150"/>
            <a:ext cx="838199" cy="523220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INTE</a:t>
            </a:r>
            <a:r>
              <a:rPr lang="en-US" altLang="zh-CN" sz="1400" b="1" baseline="-250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</a:t>
            </a:r>
          </a:p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PC2</a:t>
            </a:r>
            <a:endParaRPr lang="zh-CN" altLang="en-US" sz="1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75" name="直接连接符 74"/>
          <p:cNvCxnSpPr/>
          <p:nvPr/>
        </p:nvCxnSpPr>
        <p:spPr>
          <a:xfrm flipH="1">
            <a:off x="5956256" y="2782246"/>
            <a:ext cx="50405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5956256" y="2782246"/>
            <a:ext cx="0" cy="597550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 flipH="1" flipV="1">
            <a:off x="6172280" y="3117025"/>
            <a:ext cx="288032" cy="377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>
            <a:off x="6172280" y="3117025"/>
            <a:ext cx="0" cy="262771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/>
        </p:nvCxnSpPr>
        <p:spPr>
          <a:xfrm>
            <a:off x="5740232" y="2441370"/>
            <a:ext cx="0" cy="916130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/>
          <p:nvPr/>
        </p:nvCxnSpPr>
        <p:spPr>
          <a:xfrm>
            <a:off x="7036376" y="2759950"/>
            <a:ext cx="504056" cy="0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/>
          <p:cNvSpPr txBox="1"/>
          <p:nvPr/>
        </p:nvSpPr>
        <p:spPr>
          <a:xfrm>
            <a:off x="6474877" y="2590673"/>
            <a:ext cx="534121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PC1</a:t>
            </a:r>
            <a:endParaRPr lang="zh-CN" altLang="en-US" sz="1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82" name="直接箭头连接符 81"/>
          <p:cNvCxnSpPr/>
          <p:nvPr/>
        </p:nvCxnSpPr>
        <p:spPr>
          <a:xfrm>
            <a:off x="7180392" y="3117025"/>
            <a:ext cx="382355" cy="0"/>
          </a:xfrm>
          <a:prstGeom prst="straightConnector1">
            <a:avLst/>
          </a:prstGeom>
          <a:ln>
            <a:solidFill>
              <a:srgbClr val="FD7A2A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/>
          <p:cNvCxnSpPr/>
          <p:nvPr/>
        </p:nvCxnSpPr>
        <p:spPr>
          <a:xfrm>
            <a:off x="7180392" y="3981121"/>
            <a:ext cx="3823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本框 83"/>
          <p:cNvSpPr txBox="1"/>
          <p:nvPr/>
        </p:nvSpPr>
        <p:spPr>
          <a:xfrm>
            <a:off x="7130636" y="2381348"/>
            <a:ext cx="704039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OBF</a:t>
            </a:r>
            <a:r>
              <a:rPr lang="en-US" altLang="zh-CN" sz="1400" b="1" baseline="-25000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</a:t>
            </a:r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  <a:endParaRPr lang="zh-CN" altLang="en-US" sz="14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7143533" y="3135547"/>
            <a:ext cx="838903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ACK</a:t>
            </a:r>
            <a:r>
              <a:rPr lang="en-US" altLang="zh-CN" sz="1400" b="1" baseline="-25000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</a:t>
            </a:r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*</a:t>
            </a:r>
            <a:endParaRPr lang="zh-CN" altLang="en-US" sz="14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7143534" y="3612682"/>
            <a:ext cx="683200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INTR</a:t>
            </a:r>
            <a:r>
              <a:rPr lang="en-US" altLang="zh-CN" sz="1400" b="1" baseline="-25000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</a:t>
            </a:r>
            <a:endParaRPr lang="zh-CN" altLang="en-US" sz="14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4948144" y="1681063"/>
            <a:ext cx="747320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D7~D0</a:t>
            </a:r>
            <a:endParaRPr lang="zh-CN" altLang="en-US" sz="14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90" name="直接箭头连接符 89"/>
          <p:cNvCxnSpPr/>
          <p:nvPr/>
        </p:nvCxnSpPr>
        <p:spPr>
          <a:xfrm>
            <a:off x="5940093" y="3988652"/>
            <a:ext cx="50405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/>
          <p:cNvCxnSpPr/>
          <p:nvPr/>
        </p:nvCxnSpPr>
        <p:spPr>
          <a:xfrm>
            <a:off x="5940093" y="3687573"/>
            <a:ext cx="0" cy="301079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方式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A/B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口输出信号规定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94" name="直接连接符 9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5" name="TextBox 17"/>
          <p:cNvSpPr txBox="1"/>
          <p:nvPr/>
        </p:nvSpPr>
        <p:spPr>
          <a:xfrm>
            <a:off x="1115616" y="4522621"/>
            <a:ext cx="6768752" cy="1729641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OBF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*：输出缓冲器满，</a:t>
            </a: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8255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发出，数据已进入输出口，外设可取。</a:t>
            </a:r>
            <a:endParaRPr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ACK*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：外设响应信号，数据已被外设取走，可以传送下一个数据。</a:t>
            </a:r>
            <a:endParaRPr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INTR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：中断申请信号，</a:t>
            </a: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8255 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发出，用来向</a:t>
            </a: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发出中断申请。</a:t>
            </a: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OBF 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ACK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INTE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有效时，</a:t>
            </a: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8255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自动发出</a:t>
            </a: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INTR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（接</a:t>
            </a: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8259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IR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）。</a:t>
            </a:r>
            <a:endParaRPr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INTE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：中断允许控制信号，控制是否允许</a:t>
            </a: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8255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中断申请</a:t>
            </a: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INTR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发出。</a:t>
            </a:r>
            <a:endParaRPr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1115616" y="1371528"/>
            <a:ext cx="3090197" cy="2927848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文本框 96"/>
          <p:cNvSpPr txBox="1"/>
          <p:nvPr/>
        </p:nvSpPr>
        <p:spPr>
          <a:xfrm>
            <a:off x="1225306" y="3661906"/>
            <a:ext cx="68239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</a:t>
            </a:r>
            <a:r>
              <a:rPr lang="zh-CN" altLang="en-US" sz="20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口</a:t>
            </a:r>
            <a:endParaRPr lang="zh-CN" altLang="en-US" sz="20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4980605" y="3647284"/>
            <a:ext cx="68239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</a:t>
            </a:r>
            <a:r>
              <a:rPr lang="zh-CN" altLang="en-US" sz="20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口</a:t>
            </a:r>
            <a:endParaRPr lang="zh-CN" altLang="en-US" sz="20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1115616" y="4437112"/>
            <a:ext cx="6768752" cy="1815150"/>
          </a:xfrm>
          <a:prstGeom prst="rect">
            <a:avLst/>
          </a:prstGeom>
          <a:noFill/>
          <a:ln w="12700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矩形 99"/>
          <p:cNvSpPr/>
          <p:nvPr/>
        </p:nvSpPr>
        <p:spPr>
          <a:xfrm>
            <a:off x="4794171" y="1365248"/>
            <a:ext cx="3090197" cy="2927848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右箭头 63"/>
          <p:cNvSpPr/>
          <p:nvPr/>
        </p:nvSpPr>
        <p:spPr>
          <a:xfrm>
            <a:off x="7164288" y="1582876"/>
            <a:ext cx="360040" cy="117932"/>
          </a:xfrm>
          <a:prstGeom prst="rightArrow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67" name="右箭头 66"/>
          <p:cNvSpPr/>
          <p:nvPr/>
        </p:nvSpPr>
        <p:spPr>
          <a:xfrm>
            <a:off x="5220072" y="1627482"/>
            <a:ext cx="360040" cy="117932"/>
          </a:xfrm>
          <a:prstGeom prst="rightArrow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755055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4" grpId="0" animBg="1"/>
      <p:bldP spid="35" grpId="0" animBg="1"/>
      <p:bldP spid="36" grpId="0" animBg="1"/>
      <p:bldP spid="37" grpId="0" animBg="1"/>
      <p:bldP spid="33" grpId="0" animBg="1"/>
      <p:bldP spid="58" grpId="0"/>
      <p:bldP spid="59" grpId="0"/>
      <p:bldP spid="60" grpId="0"/>
      <p:bldP spid="61" grpId="0" animBg="1"/>
      <p:bldP spid="62" grpId="0" animBg="1"/>
      <p:bldP spid="63" grpId="0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81" grpId="0" animBg="1"/>
      <p:bldP spid="84" grpId="0"/>
      <p:bldP spid="85" grpId="0"/>
      <p:bldP spid="86" grpId="0"/>
      <p:bldP spid="89" grpId="0"/>
      <p:bldP spid="96" grpId="0" animBg="1"/>
      <p:bldP spid="97" grpId="0"/>
      <p:bldP spid="98" grpId="0"/>
      <p:bldP spid="99" grpId="0" animBg="1"/>
      <p:bldP spid="100" grpId="0" animBg="1"/>
      <p:bldP spid="64" grpId="0" animBg="1"/>
      <p:bldP spid="6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方式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：选通的输入输出方式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矩形 4"/>
          <p:cNvSpPr>
            <a:spLocks noChangeAspect="1"/>
          </p:cNvSpPr>
          <p:nvPr/>
        </p:nvSpPr>
        <p:spPr>
          <a:xfrm>
            <a:off x="1178496" y="1544209"/>
            <a:ext cx="6777880" cy="2748887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1107331" y="1716025"/>
            <a:ext cx="1036511" cy="574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19"/>
          <p:cNvSpPr txBox="1"/>
          <p:nvPr/>
        </p:nvSpPr>
        <p:spPr>
          <a:xfrm>
            <a:off x="1411262" y="1604482"/>
            <a:ext cx="461665" cy="109162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注意</a:t>
            </a:r>
          </a:p>
        </p:txBody>
      </p:sp>
      <p:sp>
        <p:nvSpPr>
          <p:cNvPr id="8" name="TextBox 17"/>
          <p:cNvSpPr txBox="1"/>
          <p:nvPr/>
        </p:nvSpPr>
        <p:spPr>
          <a:xfrm>
            <a:off x="1970584" y="1600690"/>
            <a:ext cx="5904656" cy="2548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方式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要求外设有提供选通信号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STB*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或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ACK*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的能力。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INTE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信号无引出，通过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控制口对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口相应位的置位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复位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，设置允许或不允许。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对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INTE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信号的置位和复位，不影响其对应的作为联络信号的引脚信号。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37431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611560" y="1124744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11560" y="631563"/>
            <a:ext cx="500110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sz="2800" b="1" kern="0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sz="2800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1"/>
          <p:cNvSpPr txBox="1"/>
          <p:nvPr/>
        </p:nvSpPr>
        <p:spPr>
          <a:xfrm>
            <a:off x="1119384" y="620688"/>
            <a:ext cx="7261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</a:p>
        </p:txBody>
      </p:sp>
      <p:sp>
        <p:nvSpPr>
          <p:cNvPr id="5" name="矩形 4"/>
          <p:cNvSpPr/>
          <p:nvPr/>
        </p:nvSpPr>
        <p:spPr>
          <a:xfrm>
            <a:off x="8380710" y="620688"/>
            <a:ext cx="223738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</a:pPr>
            <a:endParaRPr lang="zh-CN" altLang="en-US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11560" y="631563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104321" y="2708920"/>
            <a:ext cx="1320560" cy="1872208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211960" y="2857114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PA0~PA7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067944" y="421179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8255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66" name="直接连接符 65"/>
          <p:cNvCxnSpPr/>
          <p:nvPr/>
        </p:nvCxnSpPr>
        <p:spPr>
          <a:xfrm flipH="1">
            <a:off x="5424881" y="3645191"/>
            <a:ext cx="480259" cy="0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 flipH="1">
            <a:off x="5424881" y="4033447"/>
            <a:ext cx="480259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矩形 84"/>
          <p:cNvSpPr/>
          <p:nvPr/>
        </p:nvSpPr>
        <p:spPr>
          <a:xfrm>
            <a:off x="2123728" y="2713098"/>
            <a:ext cx="1320560" cy="1872208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文本框 86"/>
          <p:cNvSpPr txBox="1"/>
          <p:nvPr/>
        </p:nvSpPr>
        <p:spPr>
          <a:xfrm>
            <a:off x="2147526" y="4215974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8088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95" name="左右箭头 94"/>
          <p:cNvSpPr/>
          <p:nvPr/>
        </p:nvSpPr>
        <p:spPr>
          <a:xfrm>
            <a:off x="3462663" y="4057461"/>
            <a:ext cx="641657" cy="154335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文本框 95"/>
          <p:cNvSpPr txBox="1"/>
          <p:nvPr/>
        </p:nvSpPr>
        <p:spPr>
          <a:xfrm>
            <a:off x="3381283" y="3688129"/>
            <a:ext cx="8306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D0~D7</a:t>
            </a:r>
            <a:endParaRPr lang="zh-CN" altLang="en-US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00" name="矩形 3"/>
          <p:cNvSpPr>
            <a:spLocks noChangeArrowheads="1"/>
          </p:cNvSpPr>
          <p:nvPr/>
        </p:nvSpPr>
        <p:spPr bwMode="auto">
          <a:xfrm>
            <a:off x="611561" y="1340768"/>
            <a:ext cx="7992888" cy="1119024"/>
          </a:xfrm>
          <a:prstGeom prst="rect">
            <a:avLst/>
          </a:prstGeom>
          <a:noFill/>
          <a:ln w="9525">
            <a:solidFill>
              <a:srgbClr val="FF9300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39000"/>
              </a:lnSpc>
              <a:spcAft>
                <a:spcPts val="600"/>
              </a:spcAft>
              <a:defRPr/>
            </a:pP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8255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以中断方式连接打印机。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口方式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输出，将缓冲区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BUF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开始的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11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个字符打印。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8255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端口地址为 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D0H~D3H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101" name="矩形 3"/>
          <p:cNvSpPr>
            <a:spLocks noChangeArrowheads="1"/>
          </p:cNvSpPr>
          <p:nvPr/>
        </p:nvSpPr>
        <p:spPr bwMode="auto">
          <a:xfrm>
            <a:off x="616896" y="4869160"/>
            <a:ext cx="7987552" cy="1119024"/>
          </a:xfrm>
          <a:prstGeom prst="rect">
            <a:avLst/>
          </a:prstGeom>
          <a:noFill/>
          <a:ln w="9525">
            <a:solidFill>
              <a:srgbClr val="FF9300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39000"/>
              </a:lnSpc>
              <a:spcAft>
                <a:spcPts val="600"/>
              </a:spcAft>
              <a:defRPr/>
            </a:pP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PC7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为输出缓冲满信号，通知打印机，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PC2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作为打印机的响应信号，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PC3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为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INTR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信号。</a:t>
            </a:r>
            <a:endParaRPr lang="zh-CN" altLang="en-US" sz="2400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4730581" y="3491706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PC7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4730581" y="3848781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PC6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" name="右箭头 7"/>
          <p:cNvSpPr/>
          <p:nvPr/>
        </p:nvSpPr>
        <p:spPr>
          <a:xfrm>
            <a:off x="5424881" y="3041780"/>
            <a:ext cx="480259" cy="8988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5919938" y="2709571"/>
            <a:ext cx="1320560" cy="1872208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/>
          <p:cNvSpPr txBox="1"/>
          <p:nvPr/>
        </p:nvSpPr>
        <p:spPr>
          <a:xfrm>
            <a:off x="6154212" y="421179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打印机</a:t>
            </a:r>
          </a:p>
        </p:txBody>
      </p:sp>
      <p:sp>
        <p:nvSpPr>
          <p:cNvPr id="78" name="文本框 77"/>
          <p:cNvSpPr txBox="1"/>
          <p:nvPr/>
        </p:nvSpPr>
        <p:spPr>
          <a:xfrm>
            <a:off x="5919938" y="3464536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DATA</a:t>
            </a:r>
            <a:r>
              <a:rPr lang="zh-CN" altLang="en-US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</a:p>
        </p:txBody>
      </p:sp>
      <p:sp>
        <p:nvSpPr>
          <p:cNvPr id="82" name="文本框 81"/>
          <p:cNvSpPr txBox="1"/>
          <p:nvPr/>
        </p:nvSpPr>
        <p:spPr>
          <a:xfrm>
            <a:off x="5919938" y="3851940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ACK</a:t>
            </a:r>
            <a:r>
              <a:rPr lang="zh-CN" altLang="en-US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</a:p>
        </p:txBody>
      </p:sp>
      <p:sp>
        <p:nvSpPr>
          <p:cNvPr id="25" name="流程图: 过程 24"/>
          <p:cNvSpPr/>
          <p:nvPr/>
        </p:nvSpPr>
        <p:spPr>
          <a:xfrm>
            <a:off x="6228184" y="5416840"/>
            <a:ext cx="2016223" cy="484131"/>
          </a:xfrm>
          <a:prstGeom prst="flowChartProcess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控制字：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A0H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等腰三角形 26"/>
          <p:cNvSpPr/>
          <p:nvPr/>
        </p:nvSpPr>
        <p:spPr>
          <a:xfrm rot="5400000">
            <a:off x="5532020" y="3556831"/>
            <a:ext cx="215041" cy="167965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4712396" y="4226191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PC3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364088" y="4509120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接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8259 IR3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3" name="曲线连接符 12"/>
          <p:cNvCxnSpPr/>
          <p:nvPr/>
        </p:nvCxnSpPr>
        <p:spPr>
          <a:xfrm rot="16200000" flipH="1">
            <a:off x="5435812" y="4365389"/>
            <a:ext cx="216593" cy="21602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7447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  <p:bldP spid="12" grpId="0"/>
      <p:bldP spid="85" grpId="0" animBg="1"/>
      <p:bldP spid="87" grpId="0"/>
      <p:bldP spid="95" grpId="0" animBg="1"/>
      <p:bldP spid="96" grpId="0"/>
      <p:bldP spid="100" grpId="0" animBg="1"/>
      <p:bldP spid="101" grpId="0" animBg="1"/>
      <p:bldP spid="52" grpId="0"/>
      <p:bldP spid="53" grpId="0"/>
      <p:bldP spid="8" grpId="0" animBg="1"/>
      <p:bldP spid="54" grpId="0" animBg="1"/>
      <p:bldP spid="60" grpId="0"/>
      <p:bldP spid="78" grpId="0"/>
      <p:bldP spid="82" grpId="0"/>
      <p:bldP spid="25" grpId="0" animBg="1"/>
      <p:bldP spid="27" grpId="0" animBg="1"/>
      <p:bldP spid="28" grpId="0"/>
      <p:bldP spid="3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2"/>
          <p:cNvSpPr txBox="1">
            <a:spLocks noChangeArrowheads="1"/>
          </p:cNvSpPr>
          <p:nvPr/>
        </p:nvSpPr>
        <p:spPr bwMode="auto">
          <a:xfrm>
            <a:off x="2758425" y="336713"/>
            <a:ext cx="3757791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114300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3335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524000" indent="-2286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BUF</a:t>
            </a: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DB</a:t>
            </a: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‘Hello world’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………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	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 0A0H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OUT	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0D3H, </a:t>
            </a:r>
            <a:r>
              <a:rPr lang="en-US" altLang="zh-CN" b="1" dirty="0">
                <a:solidFill>
                  <a:srgbClr val="00B85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	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0CH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OUT	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0D3H, </a:t>
            </a:r>
            <a:r>
              <a:rPr lang="en-US" altLang="zh-CN" b="1" dirty="0">
                <a:solidFill>
                  <a:srgbClr val="00B85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SI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BUF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CX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 11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JCXZ	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LOP</a:t>
            </a:r>
          </a:p>
          <a:p>
            <a:pPr algn="just">
              <a:spcBef>
                <a:spcPct val="0"/>
              </a:spcBef>
              <a:buNone/>
            </a:pP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PROC FAR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[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SI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OUT	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0D0H, </a:t>
            </a:r>
            <a:r>
              <a:rPr lang="en-US" altLang="zh-CN" b="1" dirty="0">
                <a:solidFill>
                  <a:srgbClr val="00B85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INC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SI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DEC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CX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IRET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ENDP</a:t>
            </a:r>
          </a:p>
        </p:txBody>
      </p:sp>
      <p:sp>
        <p:nvSpPr>
          <p:cNvPr id="29" name="矩形 28"/>
          <p:cNvSpPr/>
          <p:nvPr/>
        </p:nvSpPr>
        <p:spPr>
          <a:xfrm>
            <a:off x="1970333" y="2784985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LOP:</a:t>
            </a:r>
          </a:p>
        </p:txBody>
      </p:sp>
      <p:sp>
        <p:nvSpPr>
          <p:cNvPr id="34" name="矩形 33"/>
          <p:cNvSpPr/>
          <p:nvPr/>
        </p:nvSpPr>
        <p:spPr>
          <a:xfrm>
            <a:off x="5148064" y="984784"/>
            <a:ext cx="1872208" cy="540633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ea typeface="微软雅黑" panose="020B0503020204020204" pitchFamily="34" charset="-122"/>
              </a:rPr>
              <a:t>; </a:t>
            </a:r>
            <a:r>
              <a:rPr lang="zh-CN" altLang="en-US" sz="1600" dirty="0">
                <a:ea typeface="微软雅黑" panose="020B0503020204020204" pitchFamily="34" charset="-122"/>
              </a:rPr>
              <a:t>方式字设置</a:t>
            </a:r>
          </a:p>
        </p:txBody>
      </p:sp>
      <p:sp>
        <p:nvSpPr>
          <p:cNvPr id="36" name="矩形 35"/>
          <p:cNvSpPr/>
          <p:nvPr/>
        </p:nvSpPr>
        <p:spPr>
          <a:xfrm>
            <a:off x="5148064" y="1604691"/>
            <a:ext cx="1872208" cy="540633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ea typeface="微软雅黑" panose="020B0503020204020204" pitchFamily="34" charset="-122"/>
              </a:rPr>
              <a:t>; PC6</a:t>
            </a:r>
            <a:r>
              <a:rPr lang="zh-CN" altLang="en-US" sz="1600" dirty="0">
                <a:ea typeface="微软雅黑" panose="020B0503020204020204" pitchFamily="34" charset="-122"/>
              </a:rPr>
              <a:t>置</a:t>
            </a:r>
            <a:r>
              <a:rPr lang="en-US" altLang="zh-CN" sz="1600" dirty="0"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ea typeface="微软雅黑" panose="020B0503020204020204" pitchFamily="34" charset="-122"/>
              </a:rPr>
              <a:t>，开中断</a:t>
            </a:r>
          </a:p>
        </p:txBody>
      </p:sp>
      <p:sp>
        <p:nvSpPr>
          <p:cNvPr id="37" name="矩形 36"/>
          <p:cNvSpPr/>
          <p:nvPr/>
        </p:nvSpPr>
        <p:spPr>
          <a:xfrm>
            <a:off x="5148064" y="2208921"/>
            <a:ext cx="1872208" cy="540633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ea typeface="微软雅黑" panose="020B0503020204020204" pitchFamily="34" charset="-122"/>
              </a:rPr>
              <a:t>; </a:t>
            </a:r>
            <a:r>
              <a:rPr lang="zh-CN" altLang="en-US" sz="1600" dirty="0">
                <a:ea typeface="微软雅黑" panose="020B0503020204020204" pitchFamily="34" charset="-122"/>
              </a:rPr>
              <a:t>数据存储区设置</a:t>
            </a:r>
          </a:p>
        </p:txBody>
      </p:sp>
      <p:sp>
        <p:nvSpPr>
          <p:cNvPr id="38" name="矩形 37"/>
          <p:cNvSpPr/>
          <p:nvPr/>
        </p:nvSpPr>
        <p:spPr>
          <a:xfrm>
            <a:off x="5148064" y="2811142"/>
            <a:ext cx="1872208" cy="477899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ea typeface="微软雅黑" panose="020B0503020204020204" pitchFamily="34" charset="-122"/>
              </a:rPr>
              <a:t>; </a:t>
            </a:r>
            <a:r>
              <a:rPr lang="zh-CN" altLang="en-US" sz="1600" dirty="0">
                <a:ea typeface="微软雅黑" panose="020B0503020204020204" pitchFamily="34" charset="-122"/>
              </a:rPr>
              <a:t>等待</a:t>
            </a:r>
          </a:p>
        </p:txBody>
      </p:sp>
      <p:sp>
        <p:nvSpPr>
          <p:cNvPr id="39" name="矩形 38"/>
          <p:cNvSpPr/>
          <p:nvPr/>
        </p:nvSpPr>
        <p:spPr>
          <a:xfrm>
            <a:off x="5148064" y="3726469"/>
            <a:ext cx="1872208" cy="540633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ea typeface="微软雅黑" panose="020B0503020204020204" pitchFamily="34" charset="-122"/>
              </a:rPr>
              <a:t>; </a:t>
            </a:r>
            <a:r>
              <a:rPr lang="zh-CN" altLang="en-US" sz="1600" dirty="0">
                <a:ea typeface="微软雅黑" panose="020B0503020204020204" pitchFamily="34" charset="-122"/>
              </a:rPr>
              <a:t>送打印数据</a:t>
            </a:r>
          </a:p>
        </p:txBody>
      </p:sp>
      <p:sp>
        <p:nvSpPr>
          <p:cNvPr id="42" name="矩形 41"/>
          <p:cNvSpPr/>
          <p:nvPr/>
        </p:nvSpPr>
        <p:spPr>
          <a:xfrm>
            <a:off x="5148064" y="4369161"/>
            <a:ext cx="1872208" cy="540633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ea typeface="微软雅黑" panose="020B0503020204020204" pitchFamily="34" charset="-122"/>
              </a:rPr>
              <a:t>; </a:t>
            </a:r>
            <a:r>
              <a:rPr lang="zh-CN" altLang="en-US" sz="1600" dirty="0">
                <a:ea typeface="微软雅黑" panose="020B0503020204020204" pitchFamily="34" charset="-122"/>
              </a:rPr>
              <a:t>取下一个字节</a:t>
            </a:r>
          </a:p>
        </p:txBody>
      </p:sp>
      <p:sp>
        <p:nvSpPr>
          <p:cNvPr id="43" name="矩形 42"/>
          <p:cNvSpPr/>
          <p:nvPr/>
        </p:nvSpPr>
        <p:spPr>
          <a:xfrm>
            <a:off x="1547664" y="3416459"/>
            <a:ext cx="1163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INT_PRT</a:t>
            </a:r>
          </a:p>
        </p:txBody>
      </p:sp>
      <p:sp>
        <p:nvSpPr>
          <p:cNvPr id="44" name="矩形 43"/>
          <p:cNvSpPr/>
          <p:nvPr/>
        </p:nvSpPr>
        <p:spPr>
          <a:xfrm>
            <a:off x="1568455" y="5233257"/>
            <a:ext cx="1163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INT_PRT</a:t>
            </a:r>
          </a:p>
        </p:txBody>
      </p:sp>
      <p:sp>
        <p:nvSpPr>
          <p:cNvPr id="46" name="矩形 45"/>
          <p:cNvSpPr/>
          <p:nvPr/>
        </p:nvSpPr>
        <p:spPr>
          <a:xfrm>
            <a:off x="3239641" y="6206065"/>
            <a:ext cx="262850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CN" altLang="en-US" sz="1600" b="1" dirty="0">
                <a:ln w="17780" cmpd="sng">
                  <a:noFill/>
                  <a:prstDash val="solid"/>
                  <a:miter lim="800000"/>
                </a:ln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中断式的输入如何实现？</a:t>
            </a:r>
          </a:p>
        </p:txBody>
      </p:sp>
      <p:pic>
        <p:nvPicPr>
          <p:cNvPr id="47" name="图片 46" descr="问号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362" y="5733256"/>
            <a:ext cx="1111478" cy="86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678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0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4" grpId="0" animBg="1"/>
      <p:bldP spid="36" grpId="0" animBg="1"/>
      <p:bldP spid="37" grpId="0" animBg="1"/>
      <p:bldP spid="38" grpId="0" animBg="1"/>
      <p:bldP spid="39" grpId="0" animBg="1"/>
      <p:bldP spid="42" grpId="0" animBg="1"/>
      <p:bldP spid="43" grpId="0"/>
      <p:bldP spid="44" grpId="0"/>
      <p:bldP spid="4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方式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小结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" name="圆角矩形 8"/>
          <p:cNvSpPr/>
          <p:nvPr/>
        </p:nvSpPr>
        <p:spPr>
          <a:xfrm>
            <a:off x="800497" y="1412776"/>
            <a:ext cx="891183" cy="723899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PC7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1736601" y="1412776"/>
            <a:ext cx="891183" cy="723899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PC6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2672705" y="1412776"/>
            <a:ext cx="891183" cy="723899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PC5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3608809" y="1412776"/>
            <a:ext cx="891183" cy="723899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PC4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5481017" y="1412776"/>
            <a:ext cx="891183" cy="723899"/>
          </a:xfrm>
          <a:prstGeom prst="roundRect">
            <a:avLst>
              <a:gd name="adj" fmla="val 4357"/>
            </a:avLst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PC2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6417121" y="1412776"/>
            <a:ext cx="891183" cy="723899"/>
          </a:xfrm>
          <a:prstGeom prst="roundRect">
            <a:avLst>
              <a:gd name="adj" fmla="val 4357"/>
            </a:avLst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PC1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7353225" y="1412776"/>
            <a:ext cx="891183" cy="723899"/>
          </a:xfrm>
          <a:prstGeom prst="roundRect">
            <a:avLst>
              <a:gd name="adj" fmla="val 4357"/>
            </a:avLst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PC0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4544913" y="1412776"/>
            <a:ext cx="891183" cy="723899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PC3</a:t>
            </a:r>
            <a:endParaRPr lang="zh-CN" altLang="en-US" sz="1600" b="1" dirty="0">
              <a:ea typeface="微软雅黑" panose="020B0503020204020204" pitchFamily="34" charset="-122"/>
            </a:endParaRPr>
          </a:p>
        </p:txBody>
      </p:sp>
      <p:sp>
        <p:nvSpPr>
          <p:cNvPr id="17" name="左大括号 16"/>
          <p:cNvSpPr/>
          <p:nvPr/>
        </p:nvSpPr>
        <p:spPr>
          <a:xfrm rot="16200000">
            <a:off x="2951608" y="444699"/>
            <a:ext cx="288455" cy="381642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2483768" y="2569147"/>
            <a:ext cx="1224136" cy="723899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A</a:t>
            </a:r>
            <a:r>
              <a:rPr lang="zh-CN" altLang="en-US" sz="2000" b="1" dirty="0">
                <a:ea typeface="微软雅黑" panose="020B0503020204020204" pitchFamily="34" charset="-122"/>
              </a:rPr>
              <a:t>组状态</a:t>
            </a:r>
          </a:p>
        </p:txBody>
      </p:sp>
      <p:sp>
        <p:nvSpPr>
          <p:cNvPr id="19" name="左大括号 18"/>
          <p:cNvSpPr/>
          <p:nvPr/>
        </p:nvSpPr>
        <p:spPr>
          <a:xfrm rot="16200000">
            <a:off x="6791299" y="1357538"/>
            <a:ext cx="241926" cy="194421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6300192" y="2569147"/>
            <a:ext cx="1224136" cy="723899"/>
          </a:xfrm>
          <a:prstGeom prst="roundRect">
            <a:avLst>
              <a:gd name="adj" fmla="val 4357"/>
            </a:avLst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B</a:t>
            </a:r>
            <a:r>
              <a:rPr lang="zh-CN" altLang="en-US" sz="2000" b="1" dirty="0">
                <a:ea typeface="微软雅黑" panose="020B0503020204020204" pitchFamily="34" charset="-122"/>
              </a:rPr>
              <a:t>组状态</a:t>
            </a:r>
          </a:p>
        </p:txBody>
      </p:sp>
      <p:sp>
        <p:nvSpPr>
          <p:cNvPr id="21" name="圆角矩形 20"/>
          <p:cNvSpPr/>
          <p:nvPr/>
        </p:nvSpPr>
        <p:spPr>
          <a:xfrm>
            <a:off x="878652" y="4178583"/>
            <a:ext cx="819175" cy="502852"/>
          </a:xfrm>
          <a:prstGeom prst="roundRect">
            <a:avLst>
              <a:gd name="adj" fmla="val 435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I/O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1742748" y="4178583"/>
            <a:ext cx="819175" cy="502852"/>
          </a:xfrm>
          <a:prstGeom prst="roundRect">
            <a:avLst>
              <a:gd name="adj" fmla="val 435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I/O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2606844" y="4178583"/>
            <a:ext cx="819175" cy="502852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IBF</a:t>
            </a:r>
            <a:r>
              <a:rPr lang="en-US" altLang="zh-CN" sz="2000" b="1" baseline="-25000" dirty="0"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24" name="圆角矩形 23"/>
          <p:cNvSpPr/>
          <p:nvPr/>
        </p:nvSpPr>
        <p:spPr>
          <a:xfrm>
            <a:off x="3470940" y="4178583"/>
            <a:ext cx="819175" cy="502852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INTE</a:t>
            </a:r>
            <a:r>
              <a:rPr lang="en-US" altLang="zh-CN" sz="2000" b="1" baseline="-25000" dirty="0">
                <a:ea typeface="微软雅黑" panose="020B0503020204020204" pitchFamily="34" charset="-122"/>
              </a:rPr>
              <a:t>A</a:t>
            </a:r>
            <a:endParaRPr lang="zh-CN" altLang="en-US" sz="2000" b="1" baseline="-25000" dirty="0">
              <a:ea typeface="微软雅黑" panose="020B0503020204020204" pitchFamily="34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4335036" y="4178583"/>
            <a:ext cx="819175" cy="502852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INTR</a:t>
            </a:r>
            <a:r>
              <a:rPr lang="en-US" altLang="zh-CN" sz="2000" b="1" baseline="-25000" dirty="0">
                <a:ea typeface="微软雅黑" panose="020B0503020204020204" pitchFamily="34" charset="-122"/>
              </a:rPr>
              <a:t>A</a:t>
            </a:r>
            <a:endParaRPr lang="zh-CN" altLang="en-US" sz="1600" b="1" dirty="0">
              <a:ea typeface="微软雅黑" panose="020B0503020204020204" pitchFamily="34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878652" y="5330711"/>
            <a:ext cx="819175" cy="502852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OBF</a:t>
            </a:r>
            <a:r>
              <a:rPr lang="en-US" altLang="zh-CN" sz="2000" b="1" baseline="-25000" dirty="0">
                <a:ea typeface="微软雅黑" panose="020B0503020204020204" pitchFamily="34" charset="-122"/>
              </a:rPr>
              <a:t>A</a:t>
            </a:r>
            <a:endParaRPr lang="zh-CN" altLang="en-US" sz="2000" b="1" baseline="-25000" dirty="0">
              <a:ea typeface="微软雅黑" panose="020B0503020204020204" pitchFamily="34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1742748" y="5330711"/>
            <a:ext cx="819175" cy="502852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INTE</a:t>
            </a:r>
            <a:r>
              <a:rPr lang="en-US" altLang="zh-CN" sz="2000" b="1" baseline="-25000" dirty="0">
                <a:ea typeface="微软雅黑" panose="020B0503020204020204" pitchFamily="34" charset="-122"/>
              </a:rPr>
              <a:t>A</a:t>
            </a:r>
            <a:endParaRPr lang="zh-CN" altLang="en-US" sz="2000" b="1" baseline="-25000" dirty="0">
              <a:ea typeface="微软雅黑" panose="020B0503020204020204" pitchFamily="34" charset="-122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2606844" y="5330711"/>
            <a:ext cx="819175" cy="502852"/>
          </a:xfrm>
          <a:prstGeom prst="roundRect">
            <a:avLst>
              <a:gd name="adj" fmla="val 435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I/O</a:t>
            </a:r>
          </a:p>
        </p:txBody>
      </p:sp>
      <p:sp>
        <p:nvSpPr>
          <p:cNvPr id="29" name="圆角矩形 28"/>
          <p:cNvSpPr/>
          <p:nvPr/>
        </p:nvSpPr>
        <p:spPr>
          <a:xfrm>
            <a:off x="3470940" y="5330711"/>
            <a:ext cx="819175" cy="502852"/>
          </a:xfrm>
          <a:prstGeom prst="roundRect">
            <a:avLst>
              <a:gd name="adj" fmla="val 435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I/O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4335036" y="5330711"/>
            <a:ext cx="819175" cy="502852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INTR</a:t>
            </a:r>
            <a:r>
              <a:rPr lang="en-US" altLang="zh-CN" sz="2000" b="1" baseline="-25000" dirty="0">
                <a:ea typeface="微软雅黑" panose="020B0503020204020204" pitchFamily="34" charset="-122"/>
              </a:rPr>
              <a:t>A</a:t>
            </a:r>
            <a:endParaRPr lang="zh-CN" altLang="en-US" sz="1600" b="1" dirty="0">
              <a:ea typeface="微软雅黑" panose="020B0503020204020204" pitchFamily="34" charset="-122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977747" y="3745331"/>
            <a:ext cx="603151" cy="504056"/>
          </a:xfrm>
          <a:prstGeom prst="roundRect">
            <a:avLst>
              <a:gd name="adj" fmla="val 435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FF3255"/>
                </a:solidFill>
                <a:ea typeface="微软雅黑" panose="020B0503020204020204" pitchFamily="34" charset="-122"/>
              </a:rPr>
              <a:t>PC7</a:t>
            </a:r>
            <a:endParaRPr lang="zh-CN" altLang="en-US" sz="2000" b="1" dirty="0">
              <a:solidFill>
                <a:srgbClr val="FF3255"/>
              </a:solidFill>
              <a:ea typeface="微软雅黑" panose="020B0503020204020204" pitchFamily="34" charset="-122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1841843" y="3745331"/>
            <a:ext cx="603151" cy="504056"/>
          </a:xfrm>
          <a:prstGeom prst="roundRect">
            <a:avLst>
              <a:gd name="adj" fmla="val 435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FF3255"/>
                </a:solidFill>
                <a:ea typeface="微软雅黑" panose="020B0503020204020204" pitchFamily="34" charset="-122"/>
              </a:rPr>
              <a:t>PC6</a:t>
            </a:r>
            <a:endParaRPr lang="zh-CN" altLang="en-US" sz="2000" b="1" dirty="0">
              <a:solidFill>
                <a:srgbClr val="FF3255"/>
              </a:solidFill>
              <a:ea typeface="微软雅黑" panose="020B0503020204020204" pitchFamily="34" charset="-122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2705939" y="3745331"/>
            <a:ext cx="603151" cy="504056"/>
          </a:xfrm>
          <a:prstGeom prst="roundRect">
            <a:avLst>
              <a:gd name="adj" fmla="val 435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FF3255"/>
                </a:solidFill>
                <a:ea typeface="微软雅黑" panose="020B0503020204020204" pitchFamily="34" charset="-122"/>
              </a:rPr>
              <a:t>PC5</a:t>
            </a:r>
            <a:endParaRPr lang="zh-CN" altLang="en-US" sz="2000" b="1" dirty="0">
              <a:solidFill>
                <a:srgbClr val="FF3255"/>
              </a:solidFill>
              <a:ea typeface="微软雅黑" panose="020B0503020204020204" pitchFamily="34" charset="-122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3570035" y="3745331"/>
            <a:ext cx="603151" cy="504056"/>
          </a:xfrm>
          <a:prstGeom prst="roundRect">
            <a:avLst>
              <a:gd name="adj" fmla="val 435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FF3255"/>
                </a:solidFill>
                <a:ea typeface="微软雅黑" panose="020B0503020204020204" pitchFamily="34" charset="-122"/>
              </a:rPr>
              <a:t>PC4</a:t>
            </a:r>
            <a:endParaRPr lang="zh-CN" altLang="en-US" sz="2000" b="1" dirty="0">
              <a:solidFill>
                <a:srgbClr val="FF3255"/>
              </a:solidFill>
              <a:ea typeface="微软雅黑" panose="020B0503020204020204" pitchFamily="34" charset="-122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4434131" y="3745331"/>
            <a:ext cx="603151" cy="504056"/>
          </a:xfrm>
          <a:prstGeom prst="roundRect">
            <a:avLst>
              <a:gd name="adj" fmla="val 435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FF3255"/>
                </a:solidFill>
                <a:ea typeface="微软雅黑" panose="020B0503020204020204" pitchFamily="34" charset="-122"/>
              </a:rPr>
              <a:t>PC3</a:t>
            </a:r>
            <a:endParaRPr lang="zh-CN" altLang="en-US" sz="1600" b="1" dirty="0">
              <a:solidFill>
                <a:srgbClr val="FF3255"/>
              </a:solidFill>
              <a:ea typeface="微软雅黑" panose="020B0503020204020204" pitchFamily="34" charset="-122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977747" y="4908405"/>
            <a:ext cx="603151" cy="504056"/>
          </a:xfrm>
          <a:prstGeom prst="roundRect">
            <a:avLst>
              <a:gd name="adj" fmla="val 435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FF3255"/>
                </a:solidFill>
                <a:ea typeface="微软雅黑" panose="020B0503020204020204" pitchFamily="34" charset="-122"/>
              </a:rPr>
              <a:t>PC7</a:t>
            </a:r>
            <a:endParaRPr lang="zh-CN" altLang="en-US" sz="2000" b="1" dirty="0">
              <a:solidFill>
                <a:srgbClr val="FF3255"/>
              </a:solidFill>
              <a:ea typeface="微软雅黑" panose="020B0503020204020204" pitchFamily="34" charset="-122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1841843" y="4908405"/>
            <a:ext cx="603151" cy="504056"/>
          </a:xfrm>
          <a:prstGeom prst="roundRect">
            <a:avLst>
              <a:gd name="adj" fmla="val 435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FF3255"/>
                </a:solidFill>
                <a:ea typeface="微软雅黑" panose="020B0503020204020204" pitchFamily="34" charset="-122"/>
              </a:rPr>
              <a:t>PC6</a:t>
            </a:r>
            <a:endParaRPr lang="zh-CN" altLang="en-US" sz="2000" b="1" dirty="0">
              <a:solidFill>
                <a:srgbClr val="FF3255"/>
              </a:solidFill>
              <a:ea typeface="微软雅黑" panose="020B0503020204020204" pitchFamily="34" charset="-122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2705939" y="4908405"/>
            <a:ext cx="603151" cy="504056"/>
          </a:xfrm>
          <a:prstGeom prst="roundRect">
            <a:avLst>
              <a:gd name="adj" fmla="val 435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FF3255"/>
                </a:solidFill>
                <a:ea typeface="微软雅黑" panose="020B0503020204020204" pitchFamily="34" charset="-122"/>
              </a:rPr>
              <a:t>PC5</a:t>
            </a:r>
            <a:endParaRPr lang="zh-CN" altLang="en-US" sz="2000" b="1" dirty="0">
              <a:solidFill>
                <a:srgbClr val="FF3255"/>
              </a:solidFill>
              <a:ea typeface="微软雅黑" panose="020B0503020204020204" pitchFamily="34" charset="-122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3570035" y="4908405"/>
            <a:ext cx="603151" cy="504056"/>
          </a:xfrm>
          <a:prstGeom prst="roundRect">
            <a:avLst>
              <a:gd name="adj" fmla="val 435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FF3255"/>
                </a:solidFill>
                <a:ea typeface="微软雅黑" panose="020B0503020204020204" pitchFamily="34" charset="-122"/>
              </a:rPr>
              <a:t>PC4</a:t>
            </a:r>
            <a:endParaRPr lang="zh-CN" altLang="en-US" sz="2000" b="1" dirty="0">
              <a:solidFill>
                <a:srgbClr val="FF3255"/>
              </a:solidFill>
              <a:ea typeface="微软雅黑" panose="020B0503020204020204" pitchFamily="34" charset="-122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4434131" y="4908405"/>
            <a:ext cx="603151" cy="504056"/>
          </a:xfrm>
          <a:prstGeom prst="roundRect">
            <a:avLst>
              <a:gd name="adj" fmla="val 435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FF3255"/>
                </a:solidFill>
                <a:ea typeface="微软雅黑" panose="020B0503020204020204" pitchFamily="34" charset="-122"/>
              </a:rPr>
              <a:t>PC3</a:t>
            </a:r>
            <a:endParaRPr lang="zh-CN" altLang="en-US" sz="1600" b="1" dirty="0">
              <a:solidFill>
                <a:srgbClr val="FF3255"/>
              </a:solidFill>
              <a:ea typeface="微软雅黑" panose="020B0503020204020204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806645" y="3720851"/>
            <a:ext cx="4485435" cy="2279776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圆角矩形 43"/>
          <p:cNvSpPr/>
          <p:nvPr/>
        </p:nvSpPr>
        <p:spPr>
          <a:xfrm>
            <a:off x="5625033" y="4178583"/>
            <a:ext cx="819175" cy="502852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IBF</a:t>
            </a:r>
            <a:r>
              <a:rPr lang="en-US" altLang="zh-CN" sz="2000" b="1" baseline="-25000" dirty="0"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45" name="圆角矩形 44"/>
          <p:cNvSpPr/>
          <p:nvPr/>
        </p:nvSpPr>
        <p:spPr>
          <a:xfrm>
            <a:off x="6489129" y="4178583"/>
            <a:ext cx="819175" cy="502852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INTE</a:t>
            </a:r>
            <a:r>
              <a:rPr lang="en-US" altLang="zh-CN" sz="2000" b="1" baseline="-25000" dirty="0">
                <a:ea typeface="微软雅黑" panose="020B0503020204020204" pitchFamily="34" charset="-122"/>
              </a:rPr>
              <a:t>B</a:t>
            </a:r>
            <a:endParaRPr lang="zh-CN" altLang="en-US" sz="2000" b="1" baseline="-25000" dirty="0">
              <a:ea typeface="微软雅黑" panose="020B0503020204020204" pitchFamily="34" charset="-122"/>
            </a:endParaRPr>
          </a:p>
        </p:txBody>
      </p:sp>
      <p:sp>
        <p:nvSpPr>
          <p:cNvPr id="46" name="圆角矩形 45"/>
          <p:cNvSpPr/>
          <p:nvPr/>
        </p:nvSpPr>
        <p:spPr>
          <a:xfrm>
            <a:off x="7353225" y="4178583"/>
            <a:ext cx="819175" cy="502852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INTR</a:t>
            </a:r>
            <a:r>
              <a:rPr lang="en-US" altLang="zh-CN" sz="2000" b="1" baseline="-25000" dirty="0">
                <a:ea typeface="微软雅黑" panose="020B0503020204020204" pitchFamily="34" charset="-122"/>
              </a:rPr>
              <a:t>B</a:t>
            </a:r>
            <a:endParaRPr lang="zh-CN" altLang="en-US" sz="1600" b="1" dirty="0">
              <a:ea typeface="微软雅黑" panose="020B0503020204020204" pitchFamily="34" charset="-122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5625033" y="5367293"/>
            <a:ext cx="819175" cy="502852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OBF</a:t>
            </a:r>
            <a:r>
              <a:rPr lang="en-US" altLang="zh-CN" sz="2000" b="1" baseline="-25000" dirty="0">
                <a:ea typeface="微软雅黑" panose="020B0503020204020204" pitchFamily="34" charset="-122"/>
              </a:rPr>
              <a:t>B</a:t>
            </a:r>
            <a:endParaRPr lang="zh-CN" altLang="en-US" sz="2000" b="1" baseline="-25000" dirty="0">
              <a:ea typeface="微软雅黑" panose="020B0503020204020204" pitchFamily="34" charset="-122"/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6489129" y="5367293"/>
            <a:ext cx="819175" cy="502852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INTE</a:t>
            </a:r>
            <a:r>
              <a:rPr lang="en-US" altLang="zh-CN" sz="2000" b="1" baseline="-25000" dirty="0">
                <a:ea typeface="微软雅黑" panose="020B0503020204020204" pitchFamily="34" charset="-122"/>
              </a:rPr>
              <a:t>B</a:t>
            </a:r>
            <a:endParaRPr lang="zh-CN" altLang="en-US" sz="2000" b="1" baseline="-25000" dirty="0">
              <a:ea typeface="微软雅黑" panose="020B0503020204020204" pitchFamily="34" charset="-122"/>
            </a:endParaRPr>
          </a:p>
        </p:txBody>
      </p:sp>
      <p:sp>
        <p:nvSpPr>
          <p:cNvPr id="51" name="圆角矩形 50"/>
          <p:cNvSpPr/>
          <p:nvPr/>
        </p:nvSpPr>
        <p:spPr>
          <a:xfrm>
            <a:off x="7380312" y="5367293"/>
            <a:ext cx="819175" cy="502852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INTR</a:t>
            </a:r>
            <a:r>
              <a:rPr lang="en-US" altLang="zh-CN" sz="2000" b="1" baseline="-25000" dirty="0">
                <a:ea typeface="微软雅黑" panose="020B0503020204020204" pitchFamily="34" charset="-122"/>
              </a:rPr>
              <a:t>B</a:t>
            </a:r>
            <a:endParaRPr lang="zh-CN" altLang="en-US" sz="1600" b="1" dirty="0">
              <a:ea typeface="微软雅黑" panose="020B0503020204020204" pitchFamily="34" charset="-122"/>
            </a:endParaRPr>
          </a:p>
        </p:txBody>
      </p:sp>
      <p:sp>
        <p:nvSpPr>
          <p:cNvPr id="54" name="圆角矩形 53"/>
          <p:cNvSpPr/>
          <p:nvPr/>
        </p:nvSpPr>
        <p:spPr>
          <a:xfrm>
            <a:off x="5724128" y="3745331"/>
            <a:ext cx="603151" cy="504056"/>
          </a:xfrm>
          <a:prstGeom prst="roundRect">
            <a:avLst>
              <a:gd name="adj" fmla="val 435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FF3255"/>
                </a:solidFill>
                <a:ea typeface="微软雅黑" panose="020B0503020204020204" pitchFamily="34" charset="-122"/>
              </a:rPr>
              <a:t>PC1</a:t>
            </a:r>
            <a:endParaRPr lang="zh-CN" altLang="en-US" sz="2000" b="1" dirty="0">
              <a:solidFill>
                <a:srgbClr val="FF3255"/>
              </a:solidFill>
              <a:ea typeface="微软雅黑" panose="020B0503020204020204" pitchFamily="34" charset="-122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6588224" y="3745331"/>
            <a:ext cx="603151" cy="504056"/>
          </a:xfrm>
          <a:prstGeom prst="roundRect">
            <a:avLst>
              <a:gd name="adj" fmla="val 435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FF3255"/>
                </a:solidFill>
                <a:ea typeface="微软雅黑" panose="020B0503020204020204" pitchFamily="34" charset="-122"/>
              </a:rPr>
              <a:t>PC2</a:t>
            </a:r>
            <a:endParaRPr lang="zh-CN" altLang="en-US" sz="2000" b="1" dirty="0">
              <a:solidFill>
                <a:srgbClr val="FF3255"/>
              </a:solidFill>
              <a:ea typeface="微软雅黑" panose="020B0503020204020204" pitchFamily="34" charset="-122"/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7452320" y="3745331"/>
            <a:ext cx="603151" cy="504056"/>
          </a:xfrm>
          <a:prstGeom prst="roundRect">
            <a:avLst>
              <a:gd name="adj" fmla="val 435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FF3255"/>
                </a:solidFill>
                <a:ea typeface="微软雅黑" panose="020B0503020204020204" pitchFamily="34" charset="-122"/>
              </a:rPr>
              <a:t>PC0</a:t>
            </a:r>
            <a:endParaRPr lang="zh-CN" altLang="en-US" sz="1600" b="1" dirty="0">
              <a:solidFill>
                <a:srgbClr val="FF3255"/>
              </a:solidFill>
              <a:ea typeface="微软雅黑" panose="020B0503020204020204" pitchFamily="34" charset="-122"/>
            </a:endParaRPr>
          </a:p>
        </p:txBody>
      </p:sp>
      <p:sp>
        <p:nvSpPr>
          <p:cNvPr id="57" name="圆角矩形 56"/>
          <p:cNvSpPr/>
          <p:nvPr/>
        </p:nvSpPr>
        <p:spPr>
          <a:xfrm>
            <a:off x="5724128" y="4944987"/>
            <a:ext cx="603151" cy="504056"/>
          </a:xfrm>
          <a:prstGeom prst="roundRect">
            <a:avLst>
              <a:gd name="adj" fmla="val 435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FF3255"/>
                </a:solidFill>
                <a:ea typeface="微软雅黑" panose="020B0503020204020204" pitchFamily="34" charset="-122"/>
              </a:rPr>
              <a:t>PC1</a:t>
            </a:r>
            <a:endParaRPr lang="zh-CN" altLang="en-US" sz="2000" b="1" dirty="0">
              <a:solidFill>
                <a:srgbClr val="FF3255"/>
              </a:solidFill>
              <a:ea typeface="微软雅黑" panose="020B0503020204020204" pitchFamily="34" charset="-122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588224" y="4944987"/>
            <a:ext cx="603151" cy="504056"/>
          </a:xfrm>
          <a:prstGeom prst="roundRect">
            <a:avLst>
              <a:gd name="adj" fmla="val 435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FF3255"/>
                </a:solidFill>
                <a:ea typeface="微软雅黑" panose="020B0503020204020204" pitchFamily="34" charset="-122"/>
              </a:rPr>
              <a:t>PC2</a:t>
            </a:r>
            <a:endParaRPr lang="zh-CN" altLang="en-US" sz="2000" b="1" dirty="0">
              <a:solidFill>
                <a:srgbClr val="FF3255"/>
              </a:solidFill>
              <a:ea typeface="微软雅黑" panose="020B0503020204020204" pitchFamily="34" charset="-122"/>
            </a:endParaRPr>
          </a:p>
        </p:txBody>
      </p:sp>
      <p:sp>
        <p:nvSpPr>
          <p:cNvPr id="61" name="圆角矩形 60"/>
          <p:cNvSpPr/>
          <p:nvPr/>
        </p:nvSpPr>
        <p:spPr>
          <a:xfrm>
            <a:off x="7479407" y="4944987"/>
            <a:ext cx="603151" cy="504056"/>
          </a:xfrm>
          <a:prstGeom prst="roundRect">
            <a:avLst>
              <a:gd name="adj" fmla="val 435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FF3255"/>
                </a:solidFill>
                <a:ea typeface="微软雅黑" panose="020B0503020204020204" pitchFamily="34" charset="-122"/>
              </a:rPr>
              <a:t>PC0</a:t>
            </a:r>
            <a:endParaRPr lang="zh-CN" altLang="en-US" sz="1600" b="1" dirty="0">
              <a:solidFill>
                <a:srgbClr val="FF3255"/>
              </a:solidFill>
              <a:ea typeface="微软雅黑" panose="020B0503020204020204" pitchFamily="34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5481017" y="3720851"/>
            <a:ext cx="2763391" cy="2279776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右箭头 62"/>
          <p:cNvSpPr/>
          <p:nvPr/>
        </p:nvSpPr>
        <p:spPr>
          <a:xfrm rot="5400000">
            <a:off x="2944461" y="3331744"/>
            <a:ext cx="263975" cy="321265"/>
          </a:xfrm>
          <a:prstGeom prst="rightArrow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右箭头 63"/>
          <p:cNvSpPr/>
          <p:nvPr/>
        </p:nvSpPr>
        <p:spPr>
          <a:xfrm rot="5400000">
            <a:off x="6799660" y="3331743"/>
            <a:ext cx="263975" cy="321265"/>
          </a:xfrm>
          <a:prstGeom prst="rightArrow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1461100" y="6132901"/>
            <a:ext cx="3816425" cy="34993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CN" altLang="en-US" sz="1600" b="1" dirty="0">
                <a:ln w="17780" cmpd="sng">
                  <a:noFill/>
                  <a:prstDash val="solid"/>
                  <a:miter lim="800000"/>
                </a:ln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没有用到的</a:t>
            </a:r>
            <a:r>
              <a:rPr lang="en-US" altLang="zh-CN" sz="1600" b="1" dirty="0">
                <a:ln w="17780" cmpd="sng">
                  <a:noFill/>
                  <a:prstDash val="solid"/>
                  <a:miter lim="800000"/>
                </a:ln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1600" b="1" dirty="0">
                <a:ln w="17780" cmpd="sng">
                  <a:noFill/>
                  <a:prstDash val="solid"/>
                  <a:miter lim="800000"/>
                </a:ln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口的位，可用作</a:t>
            </a:r>
            <a:r>
              <a:rPr lang="en-US" altLang="zh-CN" sz="1600" b="1" dirty="0">
                <a:ln w="17780" cmpd="sng">
                  <a:noFill/>
                  <a:prstDash val="solid"/>
                  <a:miter lim="800000"/>
                </a:ln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I/O</a:t>
            </a:r>
            <a:r>
              <a:rPr lang="zh-CN" altLang="en-US" sz="1600" b="1" dirty="0">
                <a:ln w="17780" cmpd="sng">
                  <a:noFill/>
                  <a:prstDash val="solid"/>
                  <a:miter lim="800000"/>
                </a:ln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0887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51" grpId="0" animBg="1"/>
      <p:bldP spid="54" grpId="0"/>
      <p:bldP spid="55" grpId="0"/>
      <p:bldP spid="56" grpId="0"/>
      <p:bldP spid="57" grpId="0"/>
      <p:bldP spid="58" grpId="0"/>
      <p:bldP spid="61" grpId="0"/>
      <p:bldP spid="62" grpId="0" animBg="1"/>
      <p:bldP spid="63" grpId="0" animBg="1"/>
      <p:bldP spid="64" grpId="0" animBg="1"/>
      <p:bldP spid="6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方式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：双向输入输出方式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矩形 4"/>
          <p:cNvSpPr>
            <a:spLocks noChangeAspect="1"/>
          </p:cNvSpPr>
          <p:nvPr/>
        </p:nvSpPr>
        <p:spPr>
          <a:xfrm>
            <a:off x="1115616" y="1803842"/>
            <a:ext cx="7128792" cy="1597538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1044451" y="1975657"/>
            <a:ext cx="1036511" cy="574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19"/>
          <p:cNvSpPr txBox="1"/>
          <p:nvPr/>
        </p:nvSpPr>
        <p:spPr>
          <a:xfrm>
            <a:off x="1348382" y="1864114"/>
            <a:ext cx="461665" cy="109162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方式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Box 17"/>
          <p:cNvSpPr txBox="1"/>
          <p:nvPr/>
        </p:nvSpPr>
        <p:spPr>
          <a:xfrm>
            <a:off x="2052604" y="1803841"/>
            <a:ext cx="6081561" cy="132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仅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端口具有双向数据传送功能。需要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端口特定位的组合应用。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电特性： 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端口具有双向锁存和缓冲特性。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115616" y="4120681"/>
            <a:ext cx="7128792" cy="964503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口方式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可用于查询式或中断式双向传送数据。</a:t>
            </a:r>
          </a:p>
        </p:txBody>
      </p:sp>
    </p:spTree>
    <p:extLst>
      <p:ext uri="{BB962C8B-B14F-4D97-AF65-F5344CB8AC3E}">
        <p14:creationId xmlns:p14="http://schemas.microsoft.com/office/powerpoint/2010/main" val="1922715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1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1473058" y="1628800"/>
            <a:ext cx="2630296" cy="431916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2" name="文本框 31"/>
          <p:cNvSpPr txBox="1"/>
          <p:nvPr/>
        </p:nvSpPr>
        <p:spPr>
          <a:xfrm>
            <a:off x="3025815" y="1699490"/>
            <a:ext cx="968535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PA0~PA7</a:t>
            </a:r>
            <a:endParaRPr lang="zh-CN" altLang="en-US" sz="1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181375" y="5271166"/>
            <a:ext cx="364202" cy="523220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或</a:t>
            </a:r>
            <a:endParaRPr lang="en-US" altLang="zh-CN" sz="1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zh-CN" altLang="en-US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门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3397839" y="5424161"/>
            <a:ext cx="534121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en-US" altLang="zh-CN" sz="1400" dirty="0"/>
              <a:t>PC3</a:t>
            </a:r>
            <a:endParaRPr lang="zh-CN" altLang="en-US" sz="1400" dirty="0"/>
          </a:p>
        </p:txBody>
      </p:sp>
      <p:cxnSp>
        <p:nvCxnSpPr>
          <p:cNvPr id="55" name="直接箭头连接符 54"/>
          <p:cNvCxnSpPr/>
          <p:nvPr/>
        </p:nvCxnSpPr>
        <p:spPr>
          <a:xfrm>
            <a:off x="3959338" y="4372267"/>
            <a:ext cx="504056" cy="0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/>
          <p:nvPr/>
        </p:nvCxnSpPr>
        <p:spPr>
          <a:xfrm>
            <a:off x="4103354" y="4729342"/>
            <a:ext cx="382355" cy="0"/>
          </a:xfrm>
          <a:prstGeom prst="straightConnector1">
            <a:avLst/>
          </a:prstGeom>
          <a:ln>
            <a:solidFill>
              <a:srgbClr val="FD7A2A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/>
          <p:nvPr/>
        </p:nvCxnSpPr>
        <p:spPr>
          <a:xfrm>
            <a:off x="4103354" y="5593344"/>
            <a:ext cx="3823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/>
          <p:cNvSpPr txBox="1"/>
          <p:nvPr/>
        </p:nvSpPr>
        <p:spPr>
          <a:xfrm>
            <a:off x="4053598" y="3993665"/>
            <a:ext cx="704039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OBF</a:t>
            </a:r>
            <a:r>
              <a:rPr lang="en-US" altLang="zh-CN" sz="1400" b="1" baseline="-25000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</a:t>
            </a:r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  <a:endParaRPr lang="zh-CN" altLang="en-US" sz="14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4066495" y="4747864"/>
            <a:ext cx="790939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ACK</a:t>
            </a:r>
            <a:r>
              <a:rPr lang="en-US" altLang="zh-CN" sz="1400" b="1" baseline="-25000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</a:t>
            </a:r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*</a:t>
            </a:r>
            <a:endParaRPr lang="zh-CN" altLang="en-US" sz="14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4066496" y="5224999"/>
            <a:ext cx="683200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INTR</a:t>
            </a:r>
            <a:r>
              <a:rPr lang="en-US" altLang="zh-CN" sz="1400" b="1" baseline="-25000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</a:t>
            </a:r>
            <a:endParaRPr lang="zh-CN" altLang="en-US" sz="14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755576" y="1989879"/>
            <a:ext cx="747320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D7~D0</a:t>
            </a:r>
            <a:endParaRPr lang="zh-CN" altLang="en-US" sz="14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65" name="直接箭头连接符 64"/>
          <p:cNvCxnSpPr/>
          <p:nvPr/>
        </p:nvCxnSpPr>
        <p:spPr>
          <a:xfrm>
            <a:off x="2545577" y="5600969"/>
            <a:ext cx="821534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方式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A/B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口输出信号规定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94" name="直接连接符 9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64" name="文本框 63"/>
          <p:cNvSpPr txBox="1"/>
          <p:nvPr/>
        </p:nvSpPr>
        <p:spPr>
          <a:xfrm>
            <a:off x="3531225" y="2975889"/>
            <a:ext cx="534121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en-US" altLang="zh-CN" sz="1400" dirty="0"/>
              <a:t>PC5</a:t>
            </a:r>
            <a:endParaRPr lang="zh-CN" altLang="en-US" sz="1400" dirty="0"/>
          </a:p>
        </p:txBody>
      </p:sp>
      <p:sp>
        <p:nvSpPr>
          <p:cNvPr id="67" name="文本框 66"/>
          <p:cNvSpPr txBox="1"/>
          <p:nvPr/>
        </p:nvSpPr>
        <p:spPr>
          <a:xfrm>
            <a:off x="2116968" y="2295648"/>
            <a:ext cx="364202" cy="95410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与</a:t>
            </a:r>
            <a:endParaRPr lang="en-US" altLang="zh-CN" sz="1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endParaRPr lang="en-US" altLang="zh-CN" sz="1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endParaRPr lang="en-US" altLang="zh-CN" sz="1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zh-CN" altLang="en-US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门</a:t>
            </a:r>
          </a:p>
        </p:txBody>
      </p:sp>
      <p:sp>
        <p:nvSpPr>
          <p:cNvPr id="68" name="文本框 67"/>
          <p:cNvSpPr txBox="1"/>
          <p:nvPr/>
        </p:nvSpPr>
        <p:spPr>
          <a:xfrm>
            <a:off x="2774735" y="2186766"/>
            <a:ext cx="714547" cy="523220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INTE</a:t>
            </a:r>
            <a:r>
              <a:rPr lang="en-US" altLang="zh-CN" sz="1400" b="1" baseline="-250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</a:t>
            </a:r>
          </a:p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PC4</a:t>
            </a:r>
            <a:endParaRPr lang="zh-CN" altLang="en-US" sz="1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01" name="直接连接符 100"/>
          <p:cNvCxnSpPr/>
          <p:nvPr/>
        </p:nvCxnSpPr>
        <p:spPr>
          <a:xfrm flipH="1">
            <a:off x="2459325" y="2810387"/>
            <a:ext cx="1057335" cy="0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/>
          <p:cNvCxnSpPr/>
          <p:nvPr/>
        </p:nvCxnSpPr>
        <p:spPr>
          <a:xfrm flipH="1">
            <a:off x="2459325" y="3148942"/>
            <a:ext cx="1057335" cy="0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文本框 105"/>
          <p:cNvSpPr txBox="1"/>
          <p:nvPr/>
        </p:nvSpPr>
        <p:spPr>
          <a:xfrm>
            <a:off x="3531225" y="2618814"/>
            <a:ext cx="534121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PC4</a:t>
            </a:r>
            <a:endParaRPr lang="zh-CN" altLang="en-US" sz="1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07" name="直接连接符 106"/>
          <p:cNvCxnSpPr/>
          <p:nvPr/>
        </p:nvCxnSpPr>
        <p:spPr>
          <a:xfrm flipH="1">
            <a:off x="2459325" y="2447009"/>
            <a:ext cx="326040" cy="0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文本框 107"/>
          <p:cNvSpPr txBox="1"/>
          <p:nvPr/>
        </p:nvSpPr>
        <p:spPr>
          <a:xfrm>
            <a:off x="3531225" y="4568339"/>
            <a:ext cx="534121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en-US" altLang="zh-CN" sz="1400" dirty="0"/>
              <a:t>PC6</a:t>
            </a:r>
            <a:endParaRPr lang="zh-CN" altLang="en-US" sz="1400" dirty="0"/>
          </a:p>
        </p:txBody>
      </p:sp>
      <p:sp>
        <p:nvSpPr>
          <p:cNvPr id="109" name="文本框 108"/>
          <p:cNvSpPr txBox="1"/>
          <p:nvPr/>
        </p:nvSpPr>
        <p:spPr>
          <a:xfrm>
            <a:off x="2116968" y="3888098"/>
            <a:ext cx="364202" cy="95410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与</a:t>
            </a:r>
            <a:endParaRPr lang="en-US" altLang="zh-CN" sz="1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endParaRPr lang="en-US" altLang="zh-CN" sz="1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endParaRPr lang="en-US" altLang="zh-CN" sz="1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zh-CN" altLang="en-US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门</a:t>
            </a:r>
          </a:p>
        </p:txBody>
      </p:sp>
      <p:sp>
        <p:nvSpPr>
          <p:cNvPr id="110" name="文本框 109"/>
          <p:cNvSpPr txBox="1"/>
          <p:nvPr/>
        </p:nvSpPr>
        <p:spPr>
          <a:xfrm>
            <a:off x="2774735" y="3779216"/>
            <a:ext cx="714547" cy="523220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INTE</a:t>
            </a:r>
            <a:r>
              <a:rPr lang="en-US" altLang="zh-CN" sz="1400" b="1" baseline="-250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</a:t>
            </a:r>
          </a:p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PC6</a:t>
            </a:r>
            <a:endParaRPr lang="zh-CN" altLang="en-US" sz="1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11" name="直接连接符 110"/>
          <p:cNvCxnSpPr/>
          <p:nvPr/>
        </p:nvCxnSpPr>
        <p:spPr>
          <a:xfrm flipH="1">
            <a:off x="2459325" y="4402837"/>
            <a:ext cx="1057335" cy="0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/>
          <p:cNvCxnSpPr/>
          <p:nvPr/>
        </p:nvCxnSpPr>
        <p:spPr>
          <a:xfrm flipH="1">
            <a:off x="2459325" y="4741392"/>
            <a:ext cx="1057335" cy="0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文本框 112"/>
          <p:cNvSpPr txBox="1"/>
          <p:nvPr/>
        </p:nvSpPr>
        <p:spPr>
          <a:xfrm>
            <a:off x="3531225" y="4211264"/>
            <a:ext cx="534121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PC7</a:t>
            </a:r>
            <a:endParaRPr lang="zh-CN" altLang="en-US" sz="1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14" name="直接连接符 113"/>
          <p:cNvCxnSpPr/>
          <p:nvPr/>
        </p:nvCxnSpPr>
        <p:spPr>
          <a:xfrm flipH="1">
            <a:off x="2459325" y="4039459"/>
            <a:ext cx="326040" cy="0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1617074" y="2810387"/>
            <a:ext cx="49989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/>
          <p:cNvCxnSpPr/>
          <p:nvPr/>
        </p:nvCxnSpPr>
        <p:spPr>
          <a:xfrm>
            <a:off x="1833098" y="4402837"/>
            <a:ext cx="28387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1833098" y="4402837"/>
            <a:ext cx="0" cy="102132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连接符 115"/>
          <p:cNvCxnSpPr/>
          <p:nvPr/>
        </p:nvCxnSpPr>
        <p:spPr>
          <a:xfrm>
            <a:off x="1617074" y="2810387"/>
            <a:ext cx="0" cy="284954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箭头连接符 116"/>
          <p:cNvCxnSpPr/>
          <p:nvPr/>
        </p:nvCxnSpPr>
        <p:spPr>
          <a:xfrm>
            <a:off x="1833098" y="5424161"/>
            <a:ext cx="34827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/>
          <p:cNvCxnSpPr/>
          <p:nvPr/>
        </p:nvCxnSpPr>
        <p:spPr>
          <a:xfrm>
            <a:off x="1617074" y="5659930"/>
            <a:ext cx="564301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箭头连接符 118"/>
          <p:cNvCxnSpPr/>
          <p:nvPr/>
        </p:nvCxnSpPr>
        <p:spPr>
          <a:xfrm>
            <a:off x="4081450" y="2759950"/>
            <a:ext cx="504056" cy="0"/>
          </a:xfrm>
          <a:prstGeom prst="straightConnector1">
            <a:avLst/>
          </a:prstGeom>
          <a:ln>
            <a:solidFill>
              <a:srgbClr val="FD7A2A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箭头连接符 119"/>
          <p:cNvCxnSpPr/>
          <p:nvPr/>
        </p:nvCxnSpPr>
        <p:spPr>
          <a:xfrm>
            <a:off x="4103765" y="3117025"/>
            <a:ext cx="504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文本框 120"/>
          <p:cNvSpPr txBox="1"/>
          <p:nvPr/>
        </p:nvSpPr>
        <p:spPr>
          <a:xfrm>
            <a:off x="4175710" y="2381348"/>
            <a:ext cx="684803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STB</a:t>
            </a:r>
            <a:r>
              <a:rPr lang="en-US" altLang="zh-CN" sz="1400" b="1" baseline="-25000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</a:t>
            </a:r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  <a:endParaRPr lang="zh-CN" altLang="en-US" sz="14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4188608" y="3135547"/>
            <a:ext cx="740834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IBF</a:t>
            </a:r>
            <a:r>
              <a:rPr lang="en-US" altLang="zh-CN" sz="1400" b="1" baseline="-25000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</a:t>
            </a:r>
            <a:endParaRPr lang="zh-CN" altLang="en-US" sz="14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5" name="左右箭头 24"/>
          <p:cNvSpPr/>
          <p:nvPr/>
        </p:nvSpPr>
        <p:spPr>
          <a:xfrm>
            <a:off x="4088972" y="1812485"/>
            <a:ext cx="576064" cy="186087"/>
          </a:xfrm>
          <a:prstGeom prst="leftRightArrow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左右箭头 123"/>
          <p:cNvSpPr/>
          <p:nvPr/>
        </p:nvSpPr>
        <p:spPr>
          <a:xfrm>
            <a:off x="892887" y="1778298"/>
            <a:ext cx="576064" cy="186087"/>
          </a:xfrm>
          <a:prstGeom prst="leftRightArrow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TextBox 17"/>
          <p:cNvSpPr txBox="1"/>
          <p:nvPr/>
        </p:nvSpPr>
        <p:spPr>
          <a:xfrm>
            <a:off x="5597949" y="1759558"/>
            <a:ext cx="2574451" cy="3776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口有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根引脚作为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口的联络信号，是方式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下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口输入、输出联络信号的组合。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中断请求只有一个，需要在中断服务子程序中判断输入或输出引发的中断。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9" name="矩形 128"/>
          <p:cNvSpPr/>
          <p:nvPr/>
        </p:nvSpPr>
        <p:spPr>
          <a:xfrm>
            <a:off x="755575" y="1412776"/>
            <a:ext cx="4173867" cy="4680520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矩形 129"/>
          <p:cNvSpPr/>
          <p:nvPr/>
        </p:nvSpPr>
        <p:spPr>
          <a:xfrm>
            <a:off x="5403433" y="1412776"/>
            <a:ext cx="3129008" cy="4680520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3432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/>
      <p:bldP spid="13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工作方式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小结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6" name="矩形 5"/>
          <p:cNvSpPr/>
          <p:nvPr/>
        </p:nvSpPr>
        <p:spPr>
          <a:xfrm>
            <a:off x="1691467" y="2740964"/>
            <a:ext cx="6408923" cy="873661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口工作在方式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口可作为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位的并口使用。</a:t>
            </a:r>
            <a:endParaRPr lang="zh-CN" altLang="en-US" b="1" u="sng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691468" y="3944296"/>
            <a:ext cx="6408924" cy="873661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口工作在方式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时，或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口工作在方式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口部分被当作状态信号使用。</a:t>
            </a:r>
            <a:endParaRPr lang="zh-CN" altLang="en-US" b="1" u="sng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691256" y="1551793"/>
            <a:ext cx="6408924" cy="873661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口有三种工作方式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口有两种工作方式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9" name="矩形 8"/>
          <p:cNvSpPr/>
          <p:nvPr/>
        </p:nvSpPr>
        <p:spPr>
          <a:xfrm>
            <a:off x="1115403" y="1551793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1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15403" y="2740963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2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115403" y="3944295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3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37068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口与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口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口的关系总结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6" name="矩形 5"/>
          <p:cNvSpPr/>
          <p:nvPr/>
        </p:nvSpPr>
        <p:spPr>
          <a:xfrm>
            <a:off x="1691467" y="2569904"/>
            <a:ext cx="6481143" cy="972020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口方式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口方式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PC0~PC2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被用，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PC3~PC7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可作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用。</a:t>
            </a:r>
            <a:endParaRPr lang="zh-CN" altLang="en-US" sz="2000" b="1" u="sng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691468" y="3722031"/>
            <a:ext cx="6481144" cy="1103139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口方式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口方式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PC3~PC5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被用，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PC0~PC2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PC6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PC7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可作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endParaRPr lang="zh-CN" altLang="en-US" sz="2000" b="1" u="sng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691256" y="1412776"/>
            <a:ext cx="6481144" cy="1024352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口方式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口方式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PC0~PC7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可作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用。</a:t>
            </a:r>
          </a:p>
        </p:txBody>
      </p:sp>
      <p:sp>
        <p:nvSpPr>
          <p:cNvPr id="9" name="矩形 8"/>
          <p:cNvSpPr/>
          <p:nvPr/>
        </p:nvSpPr>
        <p:spPr>
          <a:xfrm>
            <a:off x="1115403" y="1412776"/>
            <a:ext cx="551350" cy="102435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1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15403" y="2569903"/>
            <a:ext cx="551350" cy="9720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2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115403" y="3722030"/>
            <a:ext cx="551350" cy="110313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3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691046" y="5001935"/>
            <a:ext cx="6481144" cy="1024352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口方式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口方式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PC3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PC6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PC7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被用，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PC0~PC2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PC4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PC5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可作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用。</a:t>
            </a:r>
          </a:p>
        </p:txBody>
      </p:sp>
      <p:sp>
        <p:nvSpPr>
          <p:cNvPr id="15" name="矩形 14"/>
          <p:cNvSpPr/>
          <p:nvPr/>
        </p:nvSpPr>
        <p:spPr>
          <a:xfrm>
            <a:off x="1115193" y="5001935"/>
            <a:ext cx="551350" cy="102435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4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9795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4" grpId="0" animBg="1"/>
      <p:bldP spid="1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口与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口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口的关系总结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6" name="矩形 5"/>
          <p:cNvSpPr/>
          <p:nvPr/>
        </p:nvSpPr>
        <p:spPr>
          <a:xfrm>
            <a:off x="1691467" y="2569904"/>
            <a:ext cx="6481143" cy="972020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口方式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口方式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PC4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PC5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可作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用。</a:t>
            </a:r>
            <a:endParaRPr lang="zh-CN" altLang="en-US" sz="2000" b="1" u="sng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691468" y="3722031"/>
            <a:ext cx="6481144" cy="1103139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端口方式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端口方式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口被用完，都不可作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用。</a:t>
            </a:r>
            <a:endParaRPr lang="zh-CN" altLang="en-US" sz="2000" b="1" u="sng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691256" y="1412776"/>
            <a:ext cx="6481144" cy="1024352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口方式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端口方式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PC6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PC7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可作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</a:p>
        </p:txBody>
      </p:sp>
      <p:sp>
        <p:nvSpPr>
          <p:cNvPr id="9" name="矩形 8"/>
          <p:cNvSpPr/>
          <p:nvPr/>
        </p:nvSpPr>
        <p:spPr>
          <a:xfrm>
            <a:off x="1115403" y="1412776"/>
            <a:ext cx="551350" cy="102435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5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15403" y="2569903"/>
            <a:ext cx="551350" cy="9720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6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115403" y="3722030"/>
            <a:ext cx="551350" cy="110313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7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229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/>
          <p:nvPr/>
        </p:nvSpPr>
        <p:spPr>
          <a:xfrm>
            <a:off x="4292127" y="1867768"/>
            <a:ext cx="3448225" cy="841375"/>
          </a:xfrm>
          <a:prstGeom prst="roundRect">
            <a:avLst>
              <a:gd name="adj" fmla="val 8176"/>
            </a:avLst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>
            <a:defPPr>
              <a:defRPr lang="en-US"/>
            </a:defPPr>
            <a:lvl1pPr algn="ctr">
              <a:defRPr sz="2800" b="1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8255</a:t>
            </a:r>
            <a:r>
              <a:rPr lang="zh-CN" altLang="en-US" dirty="0"/>
              <a:t>并行接口</a:t>
            </a:r>
          </a:p>
        </p:txBody>
      </p:sp>
      <p:sp>
        <p:nvSpPr>
          <p:cNvPr id="3" name="椭圆 2"/>
          <p:cNvSpPr/>
          <p:nvPr/>
        </p:nvSpPr>
        <p:spPr>
          <a:xfrm>
            <a:off x="3859857" y="1916832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1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  <p:sp>
        <p:nvSpPr>
          <p:cNvPr id="4" name="TextBox 9"/>
          <p:cNvSpPr txBox="1"/>
          <p:nvPr/>
        </p:nvSpPr>
        <p:spPr>
          <a:xfrm>
            <a:off x="4292127" y="3020293"/>
            <a:ext cx="3448225" cy="841375"/>
          </a:xfrm>
          <a:prstGeom prst="roundRect">
            <a:avLst>
              <a:gd name="adj" fmla="val 8176"/>
            </a:avLst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>
            <a:defPPr>
              <a:defRPr lang="en-US"/>
            </a:defPPr>
            <a:lvl1pPr algn="ctr">
              <a:defRPr sz="2800" b="1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  控制字及工作方式</a:t>
            </a:r>
          </a:p>
        </p:txBody>
      </p:sp>
      <p:sp>
        <p:nvSpPr>
          <p:cNvPr id="5" name="椭圆 4"/>
          <p:cNvSpPr/>
          <p:nvPr/>
        </p:nvSpPr>
        <p:spPr>
          <a:xfrm>
            <a:off x="3859857" y="3069357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2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  <p:sp>
        <p:nvSpPr>
          <p:cNvPr id="6" name="TextBox 9"/>
          <p:cNvSpPr txBox="1"/>
          <p:nvPr/>
        </p:nvSpPr>
        <p:spPr>
          <a:xfrm>
            <a:off x="4284190" y="4171801"/>
            <a:ext cx="3448225" cy="841375"/>
          </a:xfrm>
          <a:prstGeom prst="roundRect">
            <a:avLst>
              <a:gd name="adj" fmla="val 8176"/>
            </a:avLst>
          </a:prstGeom>
          <a:solidFill>
            <a:srgbClr val="5DCB08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>
            <a:defPPr>
              <a:defRPr lang="en-US"/>
            </a:defPPr>
            <a:lvl1pPr algn="ctr"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8255</a:t>
            </a:r>
            <a:r>
              <a:rPr lang="zh-CN" altLang="en-US" dirty="0"/>
              <a:t>应用举例</a:t>
            </a:r>
          </a:p>
        </p:txBody>
      </p:sp>
      <p:sp>
        <p:nvSpPr>
          <p:cNvPr id="7" name="椭圆 6"/>
          <p:cNvSpPr/>
          <p:nvPr/>
        </p:nvSpPr>
        <p:spPr>
          <a:xfrm>
            <a:off x="3851920" y="4220865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3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8522180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611560" y="1124744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11560" y="631563"/>
            <a:ext cx="500110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sz="2800" b="1" kern="0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zh-CN" altLang="en-US" sz="2800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1"/>
          <p:cNvSpPr txBox="1"/>
          <p:nvPr/>
        </p:nvSpPr>
        <p:spPr>
          <a:xfrm>
            <a:off x="1119384" y="620688"/>
            <a:ext cx="7261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</a:p>
        </p:txBody>
      </p:sp>
      <p:sp>
        <p:nvSpPr>
          <p:cNvPr id="5" name="矩形 4"/>
          <p:cNvSpPr/>
          <p:nvPr/>
        </p:nvSpPr>
        <p:spPr>
          <a:xfrm>
            <a:off x="8380710" y="620688"/>
            <a:ext cx="223738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</a:pPr>
            <a:endParaRPr lang="zh-CN" altLang="en-US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11560" y="631563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矩形 3"/>
          <p:cNvSpPr>
            <a:spLocks noChangeArrowheads="1"/>
          </p:cNvSpPr>
          <p:nvPr/>
        </p:nvSpPr>
        <p:spPr bwMode="auto">
          <a:xfrm>
            <a:off x="611561" y="1340768"/>
            <a:ext cx="7992888" cy="1119024"/>
          </a:xfrm>
          <a:prstGeom prst="rect">
            <a:avLst/>
          </a:prstGeom>
          <a:noFill/>
          <a:ln w="9525">
            <a:solidFill>
              <a:srgbClr val="FF9300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39000"/>
              </a:lnSpc>
              <a:spcAft>
                <a:spcPts val="600"/>
              </a:spcAft>
              <a:defRPr/>
            </a:pP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用一片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8255A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构成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行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列的非编码键盘电路。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口作输出，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口作为输入，端口地址范围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80H~83H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7" name="矩形 6"/>
          <p:cNvSpPr/>
          <p:nvPr/>
        </p:nvSpPr>
        <p:spPr>
          <a:xfrm>
            <a:off x="2267744" y="3068960"/>
            <a:ext cx="1728192" cy="3312368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295103" y="3231963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PA0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295103" y="3707740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PA1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295103" y="4139788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PA2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295103" y="4571836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PA3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286961" y="4941168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PB0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286961" y="5291916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PB1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286961" y="5651956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PB2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286961" y="6011996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PB3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" name="左右箭头 7"/>
          <p:cNvSpPr/>
          <p:nvPr/>
        </p:nvSpPr>
        <p:spPr>
          <a:xfrm>
            <a:off x="975796" y="4449483"/>
            <a:ext cx="1291948" cy="275661"/>
          </a:xfrm>
          <a:prstGeom prst="leftRightArrow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>
            <a:off x="4427984" y="3068960"/>
            <a:ext cx="0" cy="20882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5004048" y="3068960"/>
            <a:ext cx="0" cy="23762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5580112" y="3068960"/>
            <a:ext cx="0" cy="26377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6156135" y="3068960"/>
            <a:ext cx="0" cy="29944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3995895" y="5157192"/>
            <a:ext cx="4320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3995895" y="5445224"/>
            <a:ext cx="10081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3995895" y="5706689"/>
            <a:ext cx="158421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3996143" y="6063385"/>
            <a:ext cx="21599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/>
          <p:cNvSpPr/>
          <p:nvPr/>
        </p:nvSpPr>
        <p:spPr>
          <a:xfrm>
            <a:off x="4355935" y="2839426"/>
            <a:ext cx="144016" cy="2160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4923533" y="2830198"/>
            <a:ext cx="144016" cy="2160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/>
          <p:cNvSpPr/>
          <p:nvPr/>
        </p:nvSpPr>
        <p:spPr>
          <a:xfrm>
            <a:off x="5508104" y="2830198"/>
            <a:ext cx="144016" cy="2160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/>
          <p:cNvSpPr/>
          <p:nvPr/>
        </p:nvSpPr>
        <p:spPr>
          <a:xfrm>
            <a:off x="6092675" y="2830198"/>
            <a:ext cx="144016" cy="2160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 rot="5400000">
            <a:off x="6624228" y="3324187"/>
            <a:ext cx="144016" cy="2160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/>
          <p:cNvSpPr/>
          <p:nvPr/>
        </p:nvSpPr>
        <p:spPr>
          <a:xfrm rot="5400000">
            <a:off x="6624228" y="3753000"/>
            <a:ext cx="144016" cy="2160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/>
          <p:cNvSpPr/>
          <p:nvPr/>
        </p:nvSpPr>
        <p:spPr>
          <a:xfrm rot="5400000">
            <a:off x="6624228" y="4185084"/>
            <a:ext cx="144016" cy="2160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 rot="5400000">
            <a:off x="6624228" y="4617132"/>
            <a:ext cx="144016" cy="2160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6" name="直接连接符 95"/>
          <p:cNvCxnSpPr/>
          <p:nvPr/>
        </p:nvCxnSpPr>
        <p:spPr>
          <a:xfrm>
            <a:off x="4427943" y="2636912"/>
            <a:ext cx="0" cy="1932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>
            <a:off x="4995541" y="2636912"/>
            <a:ext cx="0" cy="1932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>
            <a:off x="5580112" y="2636912"/>
            <a:ext cx="0" cy="1932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6156795" y="2636912"/>
            <a:ext cx="0" cy="1932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/>
        </p:nvCxnSpPr>
        <p:spPr>
          <a:xfrm>
            <a:off x="6804248" y="3432199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>
            <a:off x="6804248" y="3855298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>
            <a:off x="6804248" y="429309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>
            <a:off x="6804248" y="4724915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组合 69"/>
          <p:cNvGrpSpPr/>
          <p:nvPr/>
        </p:nvGrpSpPr>
        <p:grpSpPr>
          <a:xfrm>
            <a:off x="3981690" y="3362230"/>
            <a:ext cx="2669337" cy="134821"/>
            <a:chOff x="3981690" y="3362230"/>
            <a:chExt cx="2669337" cy="134821"/>
          </a:xfrm>
        </p:grpSpPr>
        <p:grpSp>
          <p:nvGrpSpPr>
            <p:cNvPr id="105" name="组合 104"/>
            <p:cNvGrpSpPr/>
            <p:nvPr/>
          </p:nvGrpSpPr>
          <p:grpSpPr>
            <a:xfrm>
              <a:off x="4339897" y="3362230"/>
              <a:ext cx="164640" cy="130506"/>
              <a:chOff x="7352450" y="2731677"/>
              <a:chExt cx="336518" cy="323773"/>
            </a:xfrm>
          </p:grpSpPr>
          <p:sp>
            <p:nvSpPr>
              <p:cNvPr id="103" name="弧形 102"/>
              <p:cNvSpPr/>
              <p:nvPr/>
            </p:nvSpPr>
            <p:spPr>
              <a:xfrm>
                <a:off x="7352450" y="2733555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" name="弧形 78"/>
              <p:cNvSpPr/>
              <p:nvPr/>
            </p:nvSpPr>
            <p:spPr>
              <a:xfrm rot="15864533">
                <a:off x="7370074" y="2728676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1" name="组合 80"/>
            <p:cNvGrpSpPr/>
            <p:nvPr/>
          </p:nvGrpSpPr>
          <p:grpSpPr>
            <a:xfrm>
              <a:off x="4911416" y="3366545"/>
              <a:ext cx="164640" cy="130506"/>
              <a:chOff x="7352450" y="2731677"/>
              <a:chExt cx="336518" cy="323773"/>
            </a:xfrm>
          </p:grpSpPr>
          <p:sp>
            <p:nvSpPr>
              <p:cNvPr id="82" name="弧形 81"/>
              <p:cNvSpPr/>
              <p:nvPr/>
            </p:nvSpPr>
            <p:spPr>
              <a:xfrm>
                <a:off x="7352450" y="2733555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" name="弧形 82"/>
              <p:cNvSpPr/>
              <p:nvPr/>
            </p:nvSpPr>
            <p:spPr>
              <a:xfrm rot="15864533">
                <a:off x="7370074" y="2728676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4" name="组合 83"/>
            <p:cNvGrpSpPr/>
            <p:nvPr/>
          </p:nvGrpSpPr>
          <p:grpSpPr>
            <a:xfrm>
              <a:off x="5489333" y="3365572"/>
              <a:ext cx="164640" cy="130506"/>
              <a:chOff x="7352450" y="2731677"/>
              <a:chExt cx="336518" cy="323773"/>
            </a:xfrm>
          </p:grpSpPr>
          <p:sp>
            <p:nvSpPr>
              <p:cNvPr id="85" name="弧形 84"/>
              <p:cNvSpPr/>
              <p:nvPr/>
            </p:nvSpPr>
            <p:spPr>
              <a:xfrm>
                <a:off x="7352450" y="2733555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" name="弧形 85"/>
              <p:cNvSpPr/>
              <p:nvPr/>
            </p:nvSpPr>
            <p:spPr>
              <a:xfrm rot="15864533">
                <a:off x="7370074" y="2728676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7" name="组合 86"/>
            <p:cNvGrpSpPr/>
            <p:nvPr/>
          </p:nvGrpSpPr>
          <p:grpSpPr>
            <a:xfrm>
              <a:off x="6071816" y="3365089"/>
              <a:ext cx="164640" cy="130506"/>
              <a:chOff x="7352450" y="2731677"/>
              <a:chExt cx="336518" cy="323773"/>
            </a:xfrm>
          </p:grpSpPr>
          <p:sp>
            <p:nvSpPr>
              <p:cNvPr id="88" name="弧形 87"/>
              <p:cNvSpPr/>
              <p:nvPr/>
            </p:nvSpPr>
            <p:spPr>
              <a:xfrm>
                <a:off x="7352450" y="2733555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弧形 88"/>
              <p:cNvSpPr/>
              <p:nvPr/>
            </p:nvSpPr>
            <p:spPr>
              <a:xfrm rot="15864533">
                <a:off x="7370074" y="2728676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36" name="直接连接符 135"/>
            <p:cNvCxnSpPr/>
            <p:nvPr/>
          </p:nvCxnSpPr>
          <p:spPr>
            <a:xfrm>
              <a:off x="3981690" y="3427047"/>
              <a:ext cx="36004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连接符 136"/>
            <p:cNvCxnSpPr/>
            <p:nvPr/>
          </p:nvCxnSpPr>
          <p:spPr>
            <a:xfrm>
              <a:off x="4489429" y="3432199"/>
              <a:ext cx="42823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连接符 137"/>
            <p:cNvCxnSpPr/>
            <p:nvPr/>
          </p:nvCxnSpPr>
          <p:spPr>
            <a:xfrm>
              <a:off x="5067660" y="3427047"/>
              <a:ext cx="42823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/>
            <p:cNvCxnSpPr>
              <a:stCxn id="85" idx="2"/>
            </p:cNvCxnSpPr>
            <p:nvPr/>
          </p:nvCxnSpPr>
          <p:spPr>
            <a:xfrm flipV="1">
              <a:off x="5643883" y="3427047"/>
              <a:ext cx="440632" cy="415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连接符 139"/>
            <p:cNvCxnSpPr/>
            <p:nvPr/>
          </p:nvCxnSpPr>
          <p:spPr>
            <a:xfrm>
              <a:off x="6222789" y="3432176"/>
              <a:ext cx="42823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1" name="组合 140"/>
          <p:cNvGrpSpPr/>
          <p:nvPr/>
        </p:nvGrpSpPr>
        <p:grpSpPr>
          <a:xfrm>
            <a:off x="3995895" y="3812557"/>
            <a:ext cx="2669337" cy="134821"/>
            <a:chOff x="3981690" y="3362230"/>
            <a:chExt cx="2669337" cy="134821"/>
          </a:xfrm>
        </p:grpSpPr>
        <p:grpSp>
          <p:nvGrpSpPr>
            <p:cNvPr id="142" name="组合 141"/>
            <p:cNvGrpSpPr/>
            <p:nvPr/>
          </p:nvGrpSpPr>
          <p:grpSpPr>
            <a:xfrm>
              <a:off x="4339897" y="3362230"/>
              <a:ext cx="164640" cy="130506"/>
              <a:chOff x="7352450" y="2731677"/>
              <a:chExt cx="336518" cy="323773"/>
            </a:xfrm>
          </p:grpSpPr>
          <p:sp>
            <p:nvSpPr>
              <p:cNvPr id="157" name="弧形 156"/>
              <p:cNvSpPr/>
              <p:nvPr/>
            </p:nvSpPr>
            <p:spPr>
              <a:xfrm>
                <a:off x="7352450" y="2733555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8" name="弧形 157"/>
              <p:cNvSpPr/>
              <p:nvPr/>
            </p:nvSpPr>
            <p:spPr>
              <a:xfrm rot="15864533">
                <a:off x="7370074" y="2728676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43" name="组合 142"/>
            <p:cNvGrpSpPr/>
            <p:nvPr/>
          </p:nvGrpSpPr>
          <p:grpSpPr>
            <a:xfrm>
              <a:off x="4911416" y="3366545"/>
              <a:ext cx="164640" cy="130506"/>
              <a:chOff x="7352450" y="2731677"/>
              <a:chExt cx="336518" cy="323773"/>
            </a:xfrm>
          </p:grpSpPr>
          <p:sp>
            <p:nvSpPr>
              <p:cNvPr id="155" name="弧形 154"/>
              <p:cNvSpPr/>
              <p:nvPr/>
            </p:nvSpPr>
            <p:spPr>
              <a:xfrm>
                <a:off x="7352450" y="2733555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6" name="弧形 155"/>
              <p:cNvSpPr/>
              <p:nvPr/>
            </p:nvSpPr>
            <p:spPr>
              <a:xfrm rot="15864533">
                <a:off x="7370074" y="2728676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44" name="组合 143"/>
            <p:cNvGrpSpPr/>
            <p:nvPr/>
          </p:nvGrpSpPr>
          <p:grpSpPr>
            <a:xfrm>
              <a:off x="5489333" y="3365572"/>
              <a:ext cx="164640" cy="130506"/>
              <a:chOff x="7352450" y="2731677"/>
              <a:chExt cx="336518" cy="323773"/>
            </a:xfrm>
          </p:grpSpPr>
          <p:sp>
            <p:nvSpPr>
              <p:cNvPr id="153" name="弧形 152"/>
              <p:cNvSpPr/>
              <p:nvPr/>
            </p:nvSpPr>
            <p:spPr>
              <a:xfrm>
                <a:off x="7352450" y="2733555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4" name="弧形 153"/>
              <p:cNvSpPr/>
              <p:nvPr/>
            </p:nvSpPr>
            <p:spPr>
              <a:xfrm rot="15864533">
                <a:off x="7370074" y="2728676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45" name="组合 144"/>
            <p:cNvGrpSpPr/>
            <p:nvPr/>
          </p:nvGrpSpPr>
          <p:grpSpPr>
            <a:xfrm>
              <a:off x="6071816" y="3365089"/>
              <a:ext cx="164640" cy="130506"/>
              <a:chOff x="7352450" y="2731677"/>
              <a:chExt cx="336518" cy="323773"/>
            </a:xfrm>
          </p:grpSpPr>
          <p:sp>
            <p:nvSpPr>
              <p:cNvPr id="151" name="弧形 150"/>
              <p:cNvSpPr/>
              <p:nvPr/>
            </p:nvSpPr>
            <p:spPr>
              <a:xfrm>
                <a:off x="7352450" y="2733555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2" name="弧形 151"/>
              <p:cNvSpPr/>
              <p:nvPr/>
            </p:nvSpPr>
            <p:spPr>
              <a:xfrm rot="15864533">
                <a:off x="7370074" y="2728676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46" name="直接连接符 145"/>
            <p:cNvCxnSpPr/>
            <p:nvPr/>
          </p:nvCxnSpPr>
          <p:spPr>
            <a:xfrm>
              <a:off x="3981690" y="3427047"/>
              <a:ext cx="36004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连接符 146"/>
            <p:cNvCxnSpPr/>
            <p:nvPr/>
          </p:nvCxnSpPr>
          <p:spPr>
            <a:xfrm>
              <a:off x="4489429" y="3432199"/>
              <a:ext cx="42823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/>
            <p:cNvCxnSpPr/>
            <p:nvPr/>
          </p:nvCxnSpPr>
          <p:spPr>
            <a:xfrm>
              <a:off x="5067660" y="3427047"/>
              <a:ext cx="42823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连接符 148"/>
            <p:cNvCxnSpPr>
              <a:stCxn id="153" idx="2"/>
            </p:cNvCxnSpPr>
            <p:nvPr/>
          </p:nvCxnSpPr>
          <p:spPr>
            <a:xfrm flipV="1">
              <a:off x="5643883" y="3427047"/>
              <a:ext cx="440632" cy="415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连接符 149"/>
            <p:cNvCxnSpPr/>
            <p:nvPr/>
          </p:nvCxnSpPr>
          <p:spPr>
            <a:xfrm>
              <a:off x="6222789" y="3432176"/>
              <a:ext cx="42823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9" name="组合 158"/>
          <p:cNvGrpSpPr/>
          <p:nvPr/>
        </p:nvGrpSpPr>
        <p:grpSpPr>
          <a:xfrm>
            <a:off x="3995895" y="4244857"/>
            <a:ext cx="2669337" cy="134821"/>
            <a:chOff x="3981690" y="3362230"/>
            <a:chExt cx="2669337" cy="134821"/>
          </a:xfrm>
        </p:grpSpPr>
        <p:grpSp>
          <p:nvGrpSpPr>
            <p:cNvPr id="160" name="组合 159"/>
            <p:cNvGrpSpPr/>
            <p:nvPr/>
          </p:nvGrpSpPr>
          <p:grpSpPr>
            <a:xfrm>
              <a:off x="4339897" y="3362230"/>
              <a:ext cx="164640" cy="130506"/>
              <a:chOff x="7352450" y="2731677"/>
              <a:chExt cx="336518" cy="323773"/>
            </a:xfrm>
          </p:grpSpPr>
          <p:sp>
            <p:nvSpPr>
              <p:cNvPr id="175" name="弧形 174"/>
              <p:cNvSpPr/>
              <p:nvPr/>
            </p:nvSpPr>
            <p:spPr>
              <a:xfrm>
                <a:off x="7352450" y="2733555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6" name="弧形 175"/>
              <p:cNvSpPr/>
              <p:nvPr/>
            </p:nvSpPr>
            <p:spPr>
              <a:xfrm rot="15864533">
                <a:off x="7370074" y="2728676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61" name="组合 160"/>
            <p:cNvGrpSpPr/>
            <p:nvPr/>
          </p:nvGrpSpPr>
          <p:grpSpPr>
            <a:xfrm>
              <a:off x="4911416" y="3366545"/>
              <a:ext cx="164640" cy="130506"/>
              <a:chOff x="7352450" y="2731677"/>
              <a:chExt cx="336518" cy="323773"/>
            </a:xfrm>
          </p:grpSpPr>
          <p:sp>
            <p:nvSpPr>
              <p:cNvPr id="173" name="弧形 172"/>
              <p:cNvSpPr/>
              <p:nvPr/>
            </p:nvSpPr>
            <p:spPr>
              <a:xfrm>
                <a:off x="7352450" y="2733555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" name="弧形 173"/>
              <p:cNvSpPr/>
              <p:nvPr/>
            </p:nvSpPr>
            <p:spPr>
              <a:xfrm rot="15864533">
                <a:off x="7370074" y="2728676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62" name="组合 161"/>
            <p:cNvGrpSpPr/>
            <p:nvPr/>
          </p:nvGrpSpPr>
          <p:grpSpPr>
            <a:xfrm>
              <a:off x="5489333" y="3365572"/>
              <a:ext cx="164640" cy="130506"/>
              <a:chOff x="7352450" y="2731677"/>
              <a:chExt cx="336518" cy="323773"/>
            </a:xfrm>
          </p:grpSpPr>
          <p:sp>
            <p:nvSpPr>
              <p:cNvPr id="171" name="弧形 170"/>
              <p:cNvSpPr/>
              <p:nvPr/>
            </p:nvSpPr>
            <p:spPr>
              <a:xfrm>
                <a:off x="7352450" y="2733555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2" name="弧形 171"/>
              <p:cNvSpPr/>
              <p:nvPr/>
            </p:nvSpPr>
            <p:spPr>
              <a:xfrm rot="15864533">
                <a:off x="7370074" y="2728676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63" name="组合 162"/>
            <p:cNvGrpSpPr/>
            <p:nvPr/>
          </p:nvGrpSpPr>
          <p:grpSpPr>
            <a:xfrm>
              <a:off x="6071816" y="3365089"/>
              <a:ext cx="164640" cy="130506"/>
              <a:chOff x="7352450" y="2731677"/>
              <a:chExt cx="336518" cy="323773"/>
            </a:xfrm>
          </p:grpSpPr>
          <p:sp>
            <p:nvSpPr>
              <p:cNvPr id="169" name="弧形 168"/>
              <p:cNvSpPr/>
              <p:nvPr/>
            </p:nvSpPr>
            <p:spPr>
              <a:xfrm>
                <a:off x="7352450" y="2733555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0" name="弧形 169"/>
              <p:cNvSpPr/>
              <p:nvPr/>
            </p:nvSpPr>
            <p:spPr>
              <a:xfrm rot="15864533">
                <a:off x="7370074" y="2728676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64" name="直接连接符 163"/>
            <p:cNvCxnSpPr/>
            <p:nvPr/>
          </p:nvCxnSpPr>
          <p:spPr>
            <a:xfrm>
              <a:off x="3981690" y="3427047"/>
              <a:ext cx="36004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接连接符 164"/>
            <p:cNvCxnSpPr/>
            <p:nvPr/>
          </p:nvCxnSpPr>
          <p:spPr>
            <a:xfrm>
              <a:off x="4489429" y="3432199"/>
              <a:ext cx="42823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接连接符 165"/>
            <p:cNvCxnSpPr/>
            <p:nvPr/>
          </p:nvCxnSpPr>
          <p:spPr>
            <a:xfrm>
              <a:off x="5067660" y="3427047"/>
              <a:ext cx="42823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直接连接符 166"/>
            <p:cNvCxnSpPr>
              <a:stCxn id="171" idx="2"/>
            </p:cNvCxnSpPr>
            <p:nvPr/>
          </p:nvCxnSpPr>
          <p:spPr>
            <a:xfrm flipV="1">
              <a:off x="5643883" y="3427047"/>
              <a:ext cx="440632" cy="415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接连接符 167"/>
            <p:cNvCxnSpPr/>
            <p:nvPr/>
          </p:nvCxnSpPr>
          <p:spPr>
            <a:xfrm>
              <a:off x="6222789" y="3432176"/>
              <a:ext cx="42823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组合 176"/>
          <p:cNvGrpSpPr/>
          <p:nvPr/>
        </p:nvGrpSpPr>
        <p:grpSpPr>
          <a:xfrm>
            <a:off x="3981690" y="4651913"/>
            <a:ext cx="2669337" cy="134821"/>
            <a:chOff x="3981690" y="3362230"/>
            <a:chExt cx="2669337" cy="134821"/>
          </a:xfrm>
        </p:grpSpPr>
        <p:grpSp>
          <p:nvGrpSpPr>
            <p:cNvPr id="178" name="组合 177"/>
            <p:cNvGrpSpPr/>
            <p:nvPr/>
          </p:nvGrpSpPr>
          <p:grpSpPr>
            <a:xfrm>
              <a:off x="4339897" y="3362230"/>
              <a:ext cx="164640" cy="130506"/>
              <a:chOff x="7352450" y="2731677"/>
              <a:chExt cx="336518" cy="323773"/>
            </a:xfrm>
          </p:grpSpPr>
          <p:sp>
            <p:nvSpPr>
              <p:cNvPr id="193" name="弧形 192"/>
              <p:cNvSpPr/>
              <p:nvPr/>
            </p:nvSpPr>
            <p:spPr>
              <a:xfrm>
                <a:off x="7352450" y="2733555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4" name="弧形 193"/>
              <p:cNvSpPr/>
              <p:nvPr/>
            </p:nvSpPr>
            <p:spPr>
              <a:xfrm rot="15864533">
                <a:off x="7370074" y="2728676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79" name="组合 178"/>
            <p:cNvGrpSpPr/>
            <p:nvPr/>
          </p:nvGrpSpPr>
          <p:grpSpPr>
            <a:xfrm>
              <a:off x="4911416" y="3366545"/>
              <a:ext cx="164640" cy="130506"/>
              <a:chOff x="7352450" y="2731677"/>
              <a:chExt cx="336518" cy="323773"/>
            </a:xfrm>
          </p:grpSpPr>
          <p:sp>
            <p:nvSpPr>
              <p:cNvPr id="191" name="弧形 190"/>
              <p:cNvSpPr/>
              <p:nvPr/>
            </p:nvSpPr>
            <p:spPr>
              <a:xfrm>
                <a:off x="7352450" y="2733555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2" name="弧形 191"/>
              <p:cNvSpPr/>
              <p:nvPr/>
            </p:nvSpPr>
            <p:spPr>
              <a:xfrm rot="15864533">
                <a:off x="7370074" y="2728676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80" name="组合 179"/>
            <p:cNvGrpSpPr/>
            <p:nvPr/>
          </p:nvGrpSpPr>
          <p:grpSpPr>
            <a:xfrm>
              <a:off x="5489333" y="3365572"/>
              <a:ext cx="164640" cy="130506"/>
              <a:chOff x="7352450" y="2731677"/>
              <a:chExt cx="336518" cy="323773"/>
            </a:xfrm>
          </p:grpSpPr>
          <p:sp>
            <p:nvSpPr>
              <p:cNvPr id="189" name="弧形 188"/>
              <p:cNvSpPr/>
              <p:nvPr/>
            </p:nvSpPr>
            <p:spPr>
              <a:xfrm>
                <a:off x="7352450" y="2733555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0" name="弧形 189"/>
              <p:cNvSpPr/>
              <p:nvPr/>
            </p:nvSpPr>
            <p:spPr>
              <a:xfrm rot="15864533">
                <a:off x="7370074" y="2728676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81" name="组合 180"/>
            <p:cNvGrpSpPr/>
            <p:nvPr/>
          </p:nvGrpSpPr>
          <p:grpSpPr>
            <a:xfrm>
              <a:off x="6071816" y="3365089"/>
              <a:ext cx="164640" cy="130506"/>
              <a:chOff x="7352450" y="2731677"/>
              <a:chExt cx="336518" cy="323773"/>
            </a:xfrm>
          </p:grpSpPr>
          <p:sp>
            <p:nvSpPr>
              <p:cNvPr id="187" name="弧形 186"/>
              <p:cNvSpPr/>
              <p:nvPr/>
            </p:nvSpPr>
            <p:spPr>
              <a:xfrm>
                <a:off x="7352450" y="2733555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" name="弧形 187"/>
              <p:cNvSpPr/>
              <p:nvPr/>
            </p:nvSpPr>
            <p:spPr>
              <a:xfrm rot="15864533">
                <a:off x="7370074" y="2728676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82" name="直接连接符 181"/>
            <p:cNvCxnSpPr/>
            <p:nvPr/>
          </p:nvCxnSpPr>
          <p:spPr>
            <a:xfrm>
              <a:off x="3981690" y="3427047"/>
              <a:ext cx="36004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82"/>
            <p:cNvCxnSpPr/>
            <p:nvPr/>
          </p:nvCxnSpPr>
          <p:spPr>
            <a:xfrm>
              <a:off x="4489429" y="3432199"/>
              <a:ext cx="42823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直接连接符 183"/>
            <p:cNvCxnSpPr/>
            <p:nvPr/>
          </p:nvCxnSpPr>
          <p:spPr>
            <a:xfrm>
              <a:off x="5067660" y="3427047"/>
              <a:ext cx="42823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直接连接符 184"/>
            <p:cNvCxnSpPr>
              <a:stCxn id="189" idx="2"/>
            </p:cNvCxnSpPr>
            <p:nvPr/>
          </p:nvCxnSpPr>
          <p:spPr>
            <a:xfrm flipV="1">
              <a:off x="5643883" y="3427047"/>
              <a:ext cx="440632" cy="415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直接连接符 185"/>
            <p:cNvCxnSpPr/>
            <p:nvPr/>
          </p:nvCxnSpPr>
          <p:spPr>
            <a:xfrm>
              <a:off x="6222789" y="3432176"/>
              <a:ext cx="42823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组合 77"/>
          <p:cNvGrpSpPr/>
          <p:nvPr/>
        </p:nvGrpSpPr>
        <p:grpSpPr>
          <a:xfrm>
            <a:off x="4120878" y="3162313"/>
            <a:ext cx="344849" cy="305285"/>
            <a:chOff x="4120878" y="3162313"/>
            <a:chExt cx="344849" cy="305285"/>
          </a:xfrm>
        </p:grpSpPr>
        <p:sp>
          <p:nvSpPr>
            <p:cNvPr id="71" name="椭圆 70"/>
            <p:cNvSpPr/>
            <p:nvPr/>
          </p:nvSpPr>
          <p:spPr>
            <a:xfrm>
              <a:off x="4385047" y="3199647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5" name="椭圆 194"/>
            <p:cNvSpPr/>
            <p:nvPr/>
          </p:nvSpPr>
          <p:spPr>
            <a:xfrm>
              <a:off x="4120878" y="3393566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6" name="直接连接符 75"/>
            <p:cNvCxnSpPr/>
            <p:nvPr/>
          </p:nvCxnSpPr>
          <p:spPr>
            <a:xfrm flipV="1">
              <a:off x="4181388" y="3162313"/>
              <a:ext cx="172714" cy="2429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6" name="组合 195"/>
          <p:cNvGrpSpPr/>
          <p:nvPr/>
        </p:nvGrpSpPr>
        <p:grpSpPr>
          <a:xfrm>
            <a:off x="4698345" y="3162702"/>
            <a:ext cx="344849" cy="305285"/>
            <a:chOff x="4120878" y="3162313"/>
            <a:chExt cx="344849" cy="305285"/>
          </a:xfrm>
        </p:grpSpPr>
        <p:sp>
          <p:nvSpPr>
            <p:cNvPr id="197" name="椭圆 196"/>
            <p:cNvSpPr/>
            <p:nvPr/>
          </p:nvSpPr>
          <p:spPr>
            <a:xfrm>
              <a:off x="4385047" y="3199647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8" name="椭圆 197"/>
            <p:cNvSpPr/>
            <p:nvPr/>
          </p:nvSpPr>
          <p:spPr>
            <a:xfrm>
              <a:off x="4120878" y="3393566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99" name="直接连接符 198"/>
            <p:cNvCxnSpPr/>
            <p:nvPr/>
          </p:nvCxnSpPr>
          <p:spPr>
            <a:xfrm flipV="1">
              <a:off x="4181388" y="3162313"/>
              <a:ext cx="172714" cy="2429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0" name="组合 199"/>
          <p:cNvGrpSpPr/>
          <p:nvPr/>
        </p:nvGrpSpPr>
        <p:grpSpPr>
          <a:xfrm>
            <a:off x="5275357" y="3162309"/>
            <a:ext cx="344849" cy="305285"/>
            <a:chOff x="4120878" y="3162313"/>
            <a:chExt cx="344849" cy="305285"/>
          </a:xfrm>
        </p:grpSpPr>
        <p:sp>
          <p:nvSpPr>
            <p:cNvPr id="201" name="椭圆 200"/>
            <p:cNvSpPr/>
            <p:nvPr/>
          </p:nvSpPr>
          <p:spPr>
            <a:xfrm>
              <a:off x="4385047" y="3199647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2" name="椭圆 201"/>
            <p:cNvSpPr/>
            <p:nvPr/>
          </p:nvSpPr>
          <p:spPr>
            <a:xfrm>
              <a:off x="4120878" y="3393566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3" name="直接连接符 202"/>
            <p:cNvCxnSpPr/>
            <p:nvPr/>
          </p:nvCxnSpPr>
          <p:spPr>
            <a:xfrm flipV="1">
              <a:off x="4181388" y="3162313"/>
              <a:ext cx="172714" cy="2429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4" name="组合 203"/>
          <p:cNvGrpSpPr/>
          <p:nvPr/>
        </p:nvGrpSpPr>
        <p:grpSpPr>
          <a:xfrm>
            <a:off x="5855514" y="3161444"/>
            <a:ext cx="344849" cy="305285"/>
            <a:chOff x="4120878" y="3162313"/>
            <a:chExt cx="344849" cy="305285"/>
          </a:xfrm>
        </p:grpSpPr>
        <p:sp>
          <p:nvSpPr>
            <p:cNvPr id="205" name="椭圆 204"/>
            <p:cNvSpPr/>
            <p:nvPr/>
          </p:nvSpPr>
          <p:spPr>
            <a:xfrm>
              <a:off x="4385047" y="3199647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6" name="椭圆 205"/>
            <p:cNvSpPr/>
            <p:nvPr/>
          </p:nvSpPr>
          <p:spPr>
            <a:xfrm>
              <a:off x="4120878" y="3393566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7" name="直接连接符 206"/>
            <p:cNvCxnSpPr/>
            <p:nvPr/>
          </p:nvCxnSpPr>
          <p:spPr>
            <a:xfrm flipV="1">
              <a:off x="4181388" y="3162313"/>
              <a:ext cx="172714" cy="2429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组合 207"/>
          <p:cNvGrpSpPr/>
          <p:nvPr/>
        </p:nvGrpSpPr>
        <p:grpSpPr>
          <a:xfrm>
            <a:off x="5842253" y="3618498"/>
            <a:ext cx="344849" cy="305285"/>
            <a:chOff x="4120878" y="3162313"/>
            <a:chExt cx="344849" cy="305285"/>
          </a:xfrm>
        </p:grpSpPr>
        <p:sp>
          <p:nvSpPr>
            <p:cNvPr id="209" name="椭圆 208"/>
            <p:cNvSpPr/>
            <p:nvPr/>
          </p:nvSpPr>
          <p:spPr>
            <a:xfrm>
              <a:off x="4385047" y="3199647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0" name="椭圆 209"/>
            <p:cNvSpPr/>
            <p:nvPr/>
          </p:nvSpPr>
          <p:spPr>
            <a:xfrm>
              <a:off x="4120878" y="3393566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1" name="直接连接符 210"/>
            <p:cNvCxnSpPr/>
            <p:nvPr/>
          </p:nvCxnSpPr>
          <p:spPr>
            <a:xfrm flipV="1">
              <a:off x="4181388" y="3162313"/>
              <a:ext cx="172714" cy="2429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组合 211"/>
          <p:cNvGrpSpPr/>
          <p:nvPr/>
        </p:nvGrpSpPr>
        <p:grpSpPr>
          <a:xfrm>
            <a:off x="5275357" y="3604891"/>
            <a:ext cx="344849" cy="305285"/>
            <a:chOff x="4120878" y="3162313"/>
            <a:chExt cx="344849" cy="305285"/>
          </a:xfrm>
        </p:grpSpPr>
        <p:sp>
          <p:nvSpPr>
            <p:cNvPr id="213" name="椭圆 212"/>
            <p:cNvSpPr/>
            <p:nvPr/>
          </p:nvSpPr>
          <p:spPr>
            <a:xfrm>
              <a:off x="4385047" y="3199647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4" name="椭圆 213"/>
            <p:cNvSpPr/>
            <p:nvPr/>
          </p:nvSpPr>
          <p:spPr>
            <a:xfrm>
              <a:off x="4120878" y="3393566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5" name="直接连接符 214"/>
            <p:cNvCxnSpPr/>
            <p:nvPr/>
          </p:nvCxnSpPr>
          <p:spPr>
            <a:xfrm flipV="1">
              <a:off x="4181388" y="3162313"/>
              <a:ext cx="172714" cy="2429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组合 215"/>
          <p:cNvGrpSpPr/>
          <p:nvPr/>
        </p:nvGrpSpPr>
        <p:grpSpPr>
          <a:xfrm>
            <a:off x="4703434" y="3618192"/>
            <a:ext cx="344849" cy="305285"/>
            <a:chOff x="4120878" y="3162313"/>
            <a:chExt cx="344849" cy="305285"/>
          </a:xfrm>
        </p:grpSpPr>
        <p:sp>
          <p:nvSpPr>
            <p:cNvPr id="217" name="椭圆 216"/>
            <p:cNvSpPr/>
            <p:nvPr/>
          </p:nvSpPr>
          <p:spPr>
            <a:xfrm>
              <a:off x="4385047" y="3199647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8" name="椭圆 217"/>
            <p:cNvSpPr/>
            <p:nvPr/>
          </p:nvSpPr>
          <p:spPr>
            <a:xfrm>
              <a:off x="4120878" y="3393566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9" name="直接连接符 218"/>
            <p:cNvCxnSpPr/>
            <p:nvPr/>
          </p:nvCxnSpPr>
          <p:spPr>
            <a:xfrm flipV="1">
              <a:off x="4181388" y="3162313"/>
              <a:ext cx="172714" cy="2429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0" name="组合 219"/>
          <p:cNvGrpSpPr/>
          <p:nvPr/>
        </p:nvGrpSpPr>
        <p:grpSpPr>
          <a:xfrm>
            <a:off x="4119560" y="3625315"/>
            <a:ext cx="344849" cy="305285"/>
            <a:chOff x="4120878" y="3162313"/>
            <a:chExt cx="344849" cy="305285"/>
          </a:xfrm>
        </p:grpSpPr>
        <p:sp>
          <p:nvSpPr>
            <p:cNvPr id="221" name="椭圆 220"/>
            <p:cNvSpPr/>
            <p:nvPr/>
          </p:nvSpPr>
          <p:spPr>
            <a:xfrm>
              <a:off x="4385047" y="3199647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2" name="椭圆 221"/>
            <p:cNvSpPr/>
            <p:nvPr/>
          </p:nvSpPr>
          <p:spPr>
            <a:xfrm>
              <a:off x="4120878" y="3393566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3" name="直接连接符 222"/>
            <p:cNvCxnSpPr/>
            <p:nvPr/>
          </p:nvCxnSpPr>
          <p:spPr>
            <a:xfrm flipV="1">
              <a:off x="4181388" y="3162313"/>
              <a:ext cx="172714" cy="2429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4" name="组合 223"/>
          <p:cNvGrpSpPr/>
          <p:nvPr/>
        </p:nvGrpSpPr>
        <p:grpSpPr>
          <a:xfrm>
            <a:off x="4114325" y="4052422"/>
            <a:ext cx="344849" cy="305285"/>
            <a:chOff x="4120878" y="3162313"/>
            <a:chExt cx="344849" cy="305285"/>
          </a:xfrm>
        </p:grpSpPr>
        <p:sp>
          <p:nvSpPr>
            <p:cNvPr id="225" name="椭圆 224"/>
            <p:cNvSpPr/>
            <p:nvPr/>
          </p:nvSpPr>
          <p:spPr>
            <a:xfrm>
              <a:off x="4385047" y="3199647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6" name="椭圆 225"/>
            <p:cNvSpPr/>
            <p:nvPr/>
          </p:nvSpPr>
          <p:spPr>
            <a:xfrm>
              <a:off x="4120878" y="3393566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7" name="直接连接符 226"/>
            <p:cNvCxnSpPr/>
            <p:nvPr/>
          </p:nvCxnSpPr>
          <p:spPr>
            <a:xfrm flipV="1">
              <a:off x="4181388" y="3162313"/>
              <a:ext cx="172714" cy="2429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8" name="组合 227"/>
          <p:cNvGrpSpPr/>
          <p:nvPr/>
        </p:nvGrpSpPr>
        <p:grpSpPr>
          <a:xfrm>
            <a:off x="4704288" y="4040850"/>
            <a:ext cx="344849" cy="305285"/>
            <a:chOff x="4120878" y="3162313"/>
            <a:chExt cx="344849" cy="305285"/>
          </a:xfrm>
        </p:grpSpPr>
        <p:sp>
          <p:nvSpPr>
            <p:cNvPr id="229" name="椭圆 228"/>
            <p:cNvSpPr/>
            <p:nvPr/>
          </p:nvSpPr>
          <p:spPr>
            <a:xfrm>
              <a:off x="4385047" y="3199647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0" name="椭圆 229"/>
            <p:cNvSpPr/>
            <p:nvPr/>
          </p:nvSpPr>
          <p:spPr>
            <a:xfrm>
              <a:off x="4120878" y="3393566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1" name="直接连接符 230"/>
            <p:cNvCxnSpPr/>
            <p:nvPr/>
          </p:nvCxnSpPr>
          <p:spPr>
            <a:xfrm flipV="1">
              <a:off x="4181388" y="3162313"/>
              <a:ext cx="172714" cy="2429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2" name="组合 231"/>
          <p:cNvGrpSpPr/>
          <p:nvPr/>
        </p:nvGrpSpPr>
        <p:grpSpPr>
          <a:xfrm>
            <a:off x="5270850" y="4047256"/>
            <a:ext cx="344849" cy="305285"/>
            <a:chOff x="4120878" y="3162313"/>
            <a:chExt cx="344849" cy="305285"/>
          </a:xfrm>
        </p:grpSpPr>
        <p:sp>
          <p:nvSpPr>
            <p:cNvPr id="233" name="椭圆 232"/>
            <p:cNvSpPr/>
            <p:nvPr/>
          </p:nvSpPr>
          <p:spPr>
            <a:xfrm>
              <a:off x="4385047" y="3199647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4" name="椭圆 233"/>
            <p:cNvSpPr/>
            <p:nvPr/>
          </p:nvSpPr>
          <p:spPr>
            <a:xfrm>
              <a:off x="4120878" y="3393566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5" name="直接连接符 234"/>
            <p:cNvCxnSpPr/>
            <p:nvPr/>
          </p:nvCxnSpPr>
          <p:spPr>
            <a:xfrm flipV="1">
              <a:off x="4181388" y="3162313"/>
              <a:ext cx="172714" cy="2429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6" name="组合 235"/>
          <p:cNvGrpSpPr/>
          <p:nvPr/>
        </p:nvGrpSpPr>
        <p:grpSpPr>
          <a:xfrm>
            <a:off x="5842543" y="4045744"/>
            <a:ext cx="344849" cy="305285"/>
            <a:chOff x="4120878" y="3162313"/>
            <a:chExt cx="344849" cy="305285"/>
          </a:xfrm>
        </p:grpSpPr>
        <p:sp>
          <p:nvSpPr>
            <p:cNvPr id="237" name="椭圆 236"/>
            <p:cNvSpPr/>
            <p:nvPr/>
          </p:nvSpPr>
          <p:spPr>
            <a:xfrm>
              <a:off x="4385047" y="3199647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8" name="椭圆 237"/>
            <p:cNvSpPr/>
            <p:nvPr/>
          </p:nvSpPr>
          <p:spPr>
            <a:xfrm>
              <a:off x="4120878" y="3393566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9" name="直接连接符 238"/>
            <p:cNvCxnSpPr/>
            <p:nvPr/>
          </p:nvCxnSpPr>
          <p:spPr>
            <a:xfrm flipV="1">
              <a:off x="4181388" y="3162313"/>
              <a:ext cx="172714" cy="2429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0" name="组合 239"/>
          <p:cNvGrpSpPr/>
          <p:nvPr/>
        </p:nvGrpSpPr>
        <p:grpSpPr>
          <a:xfrm>
            <a:off x="5842426" y="4468908"/>
            <a:ext cx="344849" cy="305285"/>
            <a:chOff x="4120878" y="3162313"/>
            <a:chExt cx="344849" cy="305285"/>
          </a:xfrm>
        </p:grpSpPr>
        <p:sp>
          <p:nvSpPr>
            <p:cNvPr id="241" name="椭圆 240"/>
            <p:cNvSpPr/>
            <p:nvPr/>
          </p:nvSpPr>
          <p:spPr>
            <a:xfrm>
              <a:off x="4385047" y="3199647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2" name="椭圆 241"/>
            <p:cNvSpPr/>
            <p:nvPr/>
          </p:nvSpPr>
          <p:spPr>
            <a:xfrm>
              <a:off x="4120878" y="3393566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43" name="直接连接符 242"/>
            <p:cNvCxnSpPr/>
            <p:nvPr/>
          </p:nvCxnSpPr>
          <p:spPr>
            <a:xfrm flipV="1">
              <a:off x="4181388" y="3162313"/>
              <a:ext cx="172714" cy="2429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组合 243"/>
          <p:cNvGrpSpPr/>
          <p:nvPr/>
        </p:nvGrpSpPr>
        <p:grpSpPr>
          <a:xfrm>
            <a:off x="5270326" y="4430508"/>
            <a:ext cx="344849" cy="305285"/>
            <a:chOff x="4120878" y="3162313"/>
            <a:chExt cx="344849" cy="305285"/>
          </a:xfrm>
        </p:grpSpPr>
        <p:sp>
          <p:nvSpPr>
            <p:cNvPr id="245" name="椭圆 244"/>
            <p:cNvSpPr/>
            <p:nvPr/>
          </p:nvSpPr>
          <p:spPr>
            <a:xfrm>
              <a:off x="4385047" y="3199647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6" name="椭圆 245"/>
            <p:cNvSpPr/>
            <p:nvPr/>
          </p:nvSpPr>
          <p:spPr>
            <a:xfrm>
              <a:off x="4120878" y="3393566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47" name="直接连接符 246"/>
            <p:cNvCxnSpPr/>
            <p:nvPr/>
          </p:nvCxnSpPr>
          <p:spPr>
            <a:xfrm flipV="1">
              <a:off x="4181388" y="3162313"/>
              <a:ext cx="172714" cy="2429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组合 247"/>
          <p:cNvGrpSpPr/>
          <p:nvPr/>
        </p:nvGrpSpPr>
        <p:grpSpPr>
          <a:xfrm>
            <a:off x="4692556" y="4443525"/>
            <a:ext cx="344849" cy="305285"/>
            <a:chOff x="4120878" y="3162313"/>
            <a:chExt cx="344849" cy="305285"/>
          </a:xfrm>
        </p:grpSpPr>
        <p:sp>
          <p:nvSpPr>
            <p:cNvPr id="249" name="椭圆 248"/>
            <p:cNvSpPr/>
            <p:nvPr/>
          </p:nvSpPr>
          <p:spPr>
            <a:xfrm>
              <a:off x="4385047" y="3199647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0" name="椭圆 249"/>
            <p:cNvSpPr/>
            <p:nvPr/>
          </p:nvSpPr>
          <p:spPr>
            <a:xfrm>
              <a:off x="4120878" y="3393566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1" name="直接连接符 250"/>
            <p:cNvCxnSpPr/>
            <p:nvPr/>
          </p:nvCxnSpPr>
          <p:spPr>
            <a:xfrm flipV="1">
              <a:off x="4181388" y="3162313"/>
              <a:ext cx="172714" cy="2429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组合 251"/>
          <p:cNvGrpSpPr/>
          <p:nvPr/>
        </p:nvGrpSpPr>
        <p:grpSpPr>
          <a:xfrm>
            <a:off x="4116349" y="4449165"/>
            <a:ext cx="344849" cy="305285"/>
            <a:chOff x="4120878" y="3162313"/>
            <a:chExt cx="344849" cy="305285"/>
          </a:xfrm>
        </p:grpSpPr>
        <p:sp>
          <p:nvSpPr>
            <p:cNvPr id="253" name="椭圆 252"/>
            <p:cNvSpPr/>
            <p:nvPr/>
          </p:nvSpPr>
          <p:spPr>
            <a:xfrm>
              <a:off x="4385047" y="3199647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4" name="椭圆 253"/>
            <p:cNvSpPr/>
            <p:nvPr/>
          </p:nvSpPr>
          <p:spPr>
            <a:xfrm>
              <a:off x="4120878" y="3393566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5" name="直接连接符 254"/>
            <p:cNvCxnSpPr/>
            <p:nvPr/>
          </p:nvCxnSpPr>
          <p:spPr>
            <a:xfrm flipV="1">
              <a:off x="4181388" y="3162313"/>
              <a:ext cx="172714" cy="2429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9" name="直接连接符 258"/>
          <p:cNvCxnSpPr/>
          <p:nvPr/>
        </p:nvCxnSpPr>
        <p:spPr>
          <a:xfrm>
            <a:off x="4417172" y="2636912"/>
            <a:ext cx="27471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直接连接符 260"/>
          <p:cNvCxnSpPr/>
          <p:nvPr/>
        </p:nvCxnSpPr>
        <p:spPr>
          <a:xfrm>
            <a:off x="7164288" y="2636912"/>
            <a:ext cx="0" cy="23042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2" name="矩形 261"/>
          <p:cNvSpPr/>
          <p:nvPr/>
        </p:nvSpPr>
        <p:spPr>
          <a:xfrm>
            <a:off x="6827027" y="4960121"/>
            <a:ext cx="5982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+5V</a:t>
            </a:r>
          </a:p>
        </p:txBody>
      </p:sp>
      <p:sp>
        <p:nvSpPr>
          <p:cNvPr id="263" name="矩形 262"/>
          <p:cNvSpPr/>
          <p:nvPr/>
        </p:nvSpPr>
        <p:spPr>
          <a:xfrm>
            <a:off x="1196249" y="4013083"/>
            <a:ext cx="6591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</a:p>
        </p:txBody>
      </p:sp>
    </p:spTree>
    <p:extLst>
      <p:ext uri="{BB962C8B-B14F-4D97-AF65-F5344CB8AC3E}">
        <p14:creationId xmlns:p14="http://schemas.microsoft.com/office/powerpoint/2010/main" val="2457151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步骤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矩形 4"/>
          <p:cNvSpPr/>
          <p:nvPr/>
        </p:nvSpPr>
        <p:spPr>
          <a:xfrm>
            <a:off x="1691467" y="3212977"/>
            <a:ext cx="6481143" cy="1226493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第二步（第二次扫描）：在第一步判定有键盘按下的情况下，逐行扫描（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PA0~PA3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顺序输出低电平），判定按下键的具体键号。</a:t>
            </a:r>
            <a:endParaRPr lang="zh-CN" altLang="en-US" sz="2000" b="1" u="sng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691256" y="1700808"/>
            <a:ext cx="6481144" cy="1292526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第一步（第一次扫描）：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PA0~PA3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同时输出低电平，判断是否有一个低电平，并排除干扰或抖动。</a:t>
            </a:r>
          </a:p>
        </p:txBody>
      </p:sp>
      <p:sp>
        <p:nvSpPr>
          <p:cNvPr id="7" name="矩形 6"/>
          <p:cNvSpPr/>
          <p:nvPr/>
        </p:nvSpPr>
        <p:spPr>
          <a:xfrm>
            <a:off x="1115403" y="1700808"/>
            <a:ext cx="551350" cy="129252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1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15403" y="3212976"/>
            <a:ext cx="551350" cy="122649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2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8047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ChangeArrowheads="1"/>
          </p:cNvSpPr>
          <p:nvPr/>
        </p:nvSpPr>
        <p:spPr bwMode="auto">
          <a:xfrm>
            <a:off x="467544" y="930994"/>
            <a:ext cx="8496944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kumimoji="0" lang="zh-CN" altLang="en-US" sz="2200" dirty="0"/>
              <a:t>		</a:t>
            </a:r>
            <a:r>
              <a:rPr kumimoji="0" lang="en-US" altLang="zh-CN" sz="2200" dirty="0">
                <a:solidFill>
                  <a:srgbClr val="CC0000"/>
                </a:solidFill>
              </a:rPr>
              <a:t>MOV	AL</a:t>
            </a:r>
            <a:r>
              <a:rPr kumimoji="0" lang="zh-CN" altLang="en-US" sz="2200" dirty="0">
                <a:solidFill>
                  <a:srgbClr val="CC0000"/>
                </a:solidFill>
              </a:rPr>
              <a:t>，</a:t>
            </a:r>
            <a:r>
              <a:rPr kumimoji="0" lang="en-US" altLang="zh-CN" sz="2200" dirty="0">
                <a:solidFill>
                  <a:srgbClr val="CC0000"/>
                </a:solidFill>
              </a:rPr>
              <a:t>82H    ; </a:t>
            </a:r>
            <a:r>
              <a:rPr kumimoji="0" lang="zh-CN" altLang="en-US" dirty="0">
                <a:solidFill>
                  <a:srgbClr val="CC0000"/>
                </a:solidFill>
              </a:rPr>
              <a:t>初始化</a:t>
            </a:r>
            <a:r>
              <a:rPr kumimoji="0" lang="en-US" altLang="zh-CN" dirty="0">
                <a:solidFill>
                  <a:srgbClr val="CC0000"/>
                </a:solidFill>
              </a:rPr>
              <a:t>8255A</a:t>
            </a:r>
            <a:r>
              <a:rPr kumimoji="0" lang="zh-CN" altLang="en-US" dirty="0">
                <a:solidFill>
                  <a:srgbClr val="CC0000"/>
                </a:solidFill>
              </a:rPr>
              <a:t>口输出，</a:t>
            </a:r>
            <a:r>
              <a:rPr kumimoji="0" lang="en-US" altLang="zh-CN" dirty="0">
                <a:solidFill>
                  <a:srgbClr val="CC0000"/>
                </a:solidFill>
              </a:rPr>
              <a:t>B</a:t>
            </a:r>
            <a:r>
              <a:rPr kumimoji="0" lang="zh-CN" altLang="en-US" dirty="0">
                <a:solidFill>
                  <a:srgbClr val="CC0000"/>
                </a:solidFill>
              </a:rPr>
              <a:t>口输入，方式</a:t>
            </a:r>
            <a:r>
              <a:rPr kumimoji="0" lang="en-US" altLang="zh-CN" dirty="0">
                <a:solidFill>
                  <a:srgbClr val="CC0000"/>
                </a:solidFill>
              </a:rPr>
              <a:t>0</a:t>
            </a:r>
          </a:p>
          <a:p>
            <a:r>
              <a:rPr kumimoji="0" lang="en-US" altLang="zh-CN" sz="2200" dirty="0">
                <a:solidFill>
                  <a:srgbClr val="CC0000"/>
                </a:solidFill>
              </a:rPr>
              <a:t>    	              OUT    83H</a:t>
            </a:r>
            <a:r>
              <a:rPr kumimoji="0" lang="zh-CN" altLang="en-US" sz="2200" dirty="0">
                <a:solidFill>
                  <a:srgbClr val="CC0000"/>
                </a:solidFill>
              </a:rPr>
              <a:t>，</a:t>
            </a:r>
            <a:r>
              <a:rPr kumimoji="0" lang="en-US" altLang="zh-CN" sz="2200" dirty="0">
                <a:solidFill>
                  <a:srgbClr val="CC0000"/>
                </a:solidFill>
              </a:rPr>
              <a:t>AL</a:t>
            </a:r>
          </a:p>
          <a:p>
            <a:r>
              <a:rPr kumimoji="0" lang="en-US" altLang="zh-CN" sz="2200" dirty="0">
                <a:solidFill>
                  <a:srgbClr val="CC0000"/>
                </a:solidFill>
              </a:rPr>
              <a:t>		MOV	AL</a:t>
            </a:r>
            <a:r>
              <a:rPr kumimoji="0" lang="zh-CN" altLang="en-US" sz="2200" dirty="0">
                <a:solidFill>
                  <a:srgbClr val="CC0000"/>
                </a:solidFill>
              </a:rPr>
              <a:t>，</a:t>
            </a:r>
            <a:r>
              <a:rPr kumimoji="0" lang="en-US" altLang="zh-CN" sz="2200" dirty="0">
                <a:solidFill>
                  <a:srgbClr val="CC0000"/>
                </a:solidFill>
              </a:rPr>
              <a:t>00H</a:t>
            </a:r>
          </a:p>
          <a:p>
            <a:r>
              <a:rPr kumimoji="0" lang="en-US" altLang="zh-CN" sz="2200" dirty="0">
                <a:solidFill>
                  <a:srgbClr val="CC0000"/>
                </a:solidFill>
              </a:rPr>
              <a:t>		OUT	80H</a:t>
            </a:r>
            <a:r>
              <a:rPr kumimoji="0" lang="zh-CN" altLang="en-US" sz="2200" dirty="0">
                <a:solidFill>
                  <a:srgbClr val="CC0000"/>
                </a:solidFill>
              </a:rPr>
              <a:t>，</a:t>
            </a:r>
            <a:r>
              <a:rPr kumimoji="0" lang="en-US" altLang="zh-CN" sz="2200" dirty="0">
                <a:solidFill>
                  <a:srgbClr val="CC0000"/>
                </a:solidFill>
              </a:rPr>
              <a:t>AL    ; </a:t>
            </a:r>
            <a:r>
              <a:rPr kumimoji="0" lang="zh-CN" altLang="en-US" sz="2200" dirty="0">
                <a:solidFill>
                  <a:srgbClr val="CC0000"/>
                </a:solidFill>
              </a:rPr>
              <a:t>使</a:t>
            </a:r>
            <a:r>
              <a:rPr kumimoji="0" lang="en-US" altLang="zh-CN" sz="2200" dirty="0">
                <a:solidFill>
                  <a:srgbClr val="CC0000"/>
                </a:solidFill>
              </a:rPr>
              <a:t>A</a:t>
            </a:r>
            <a:r>
              <a:rPr kumimoji="0" lang="zh-CN" altLang="en-US" sz="2200" dirty="0">
                <a:solidFill>
                  <a:srgbClr val="CC0000"/>
                </a:solidFill>
              </a:rPr>
              <a:t>口输出全为低电平</a:t>
            </a:r>
          </a:p>
          <a:p>
            <a:r>
              <a:rPr kumimoji="0" lang="en-US" altLang="zh-CN" sz="2200" dirty="0"/>
              <a:t>LOOA</a:t>
            </a:r>
            <a:r>
              <a:rPr kumimoji="0" lang="zh-CN" altLang="en-US" sz="2200" dirty="0"/>
              <a:t>：              </a:t>
            </a:r>
            <a:r>
              <a:rPr kumimoji="0" lang="en-US" altLang="zh-CN" sz="2200" dirty="0">
                <a:solidFill>
                  <a:srgbClr val="6666FF"/>
                </a:solidFill>
              </a:rPr>
              <a:t>IN	AL</a:t>
            </a:r>
            <a:r>
              <a:rPr kumimoji="0" lang="zh-CN" altLang="en-US" sz="2200" dirty="0">
                <a:solidFill>
                  <a:srgbClr val="6666FF"/>
                </a:solidFill>
              </a:rPr>
              <a:t>，</a:t>
            </a:r>
            <a:r>
              <a:rPr kumimoji="0" lang="en-US" altLang="zh-CN" sz="2200" dirty="0">
                <a:solidFill>
                  <a:srgbClr val="6666FF"/>
                </a:solidFill>
              </a:rPr>
              <a:t>81H</a:t>
            </a:r>
            <a:r>
              <a:rPr kumimoji="0" lang="zh-CN" altLang="en-US" sz="2200" dirty="0">
                <a:solidFill>
                  <a:srgbClr val="6666FF"/>
                </a:solidFill>
              </a:rPr>
              <a:t>		</a:t>
            </a:r>
          </a:p>
          <a:p>
            <a:r>
              <a:rPr kumimoji="0" lang="zh-CN" altLang="en-US" sz="2200" dirty="0">
                <a:solidFill>
                  <a:srgbClr val="6666FF"/>
                </a:solidFill>
              </a:rPr>
              <a:t>                             </a:t>
            </a:r>
            <a:r>
              <a:rPr kumimoji="0" lang="en-US" altLang="zh-CN" sz="2200" dirty="0">
                <a:solidFill>
                  <a:srgbClr val="6666FF"/>
                </a:solidFill>
              </a:rPr>
              <a:t>AND	AL</a:t>
            </a:r>
            <a:r>
              <a:rPr kumimoji="0" lang="zh-CN" altLang="en-US" sz="2200" dirty="0">
                <a:solidFill>
                  <a:srgbClr val="6666FF"/>
                </a:solidFill>
              </a:rPr>
              <a:t>，</a:t>
            </a:r>
            <a:r>
              <a:rPr kumimoji="0" lang="en-US" altLang="zh-CN" sz="2200" dirty="0">
                <a:solidFill>
                  <a:srgbClr val="6666FF"/>
                </a:solidFill>
              </a:rPr>
              <a:t>0FH</a:t>
            </a:r>
          </a:p>
          <a:p>
            <a:r>
              <a:rPr kumimoji="0" lang="en-US" altLang="zh-CN" sz="2200" dirty="0">
                <a:solidFill>
                  <a:srgbClr val="6666FF"/>
                </a:solidFill>
              </a:rPr>
              <a:t>		CMP	AL</a:t>
            </a:r>
            <a:r>
              <a:rPr kumimoji="0" lang="zh-CN" altLang="en-US" sz="2200" dirty="0">
                <a:solidFill>
                  <a:srgbClr val="6666FF"/>
                </a:solidFill>
              </a:rPr>
              <a:t>，</a:t>
            </a:r>
            <a:r>
              <a:rPr kumimoji="0" lang="en-US" altLang="zh-CN" sz="2200" dirty="0">
                <a:solidFill>
                  <a:srgbClr val="6666FF"/>
                </a:solidFill>
              </a:rPr>
              <a:t>0FH</a:t>
            </a:r>
          </a:p>
          <a:p>
            <a:r>
              <a:rPr kumimoji="0" lang="en-US" altLang="zh-CN" sz="2200" dirty="0">
                <a:solidFill>
                  <a:srgbClr val="6666FF"/>
                </a:solidFill>
              </a:rPr>
              <a:t>		JZ	LOOA</a:t>
            </a:r>
          </a:p>
          <a:p>
            <a:r>
              <a:rPr kumimoji="0" lang="en-US" altLang="zh-CN" sz="2200" dirty="0">
                <a:solidFill>
                  <a:srgbClr val="6666FF"/>
                </a:solidFill>
              </a:rPr>
              <a:t>		CALL	D20MS</a:t>
            </a:r>
          </a:p>
          <a:p>
            <a:r>
              <a:rPr kumimoji="0" lang="en-US" altLang="zh-CN" sz="2200" dirty="0">
                <a:solidFill>
                  <a:srgbClr val="6666FF"/>
                </a:solidFill>
              </a:rPr>
              <a:t>		IN	AL</a:t>
            </a:r>
            <a:r>
              <a:rPr kumimoji="0" lang="zh-CN" altLang="en-US" sz="2200" dirty="0">
                <a:solidFill>
                  <a:srgbClr val="6666FF"/>
                </a:solidFill>
              </a:rPr>
              <a:t>，</a:t>
            </a:r>
            <a:r>
              <a:rPr kumimoji="0" lang="en-US" altLang="zh-CN" sz="2200" dirty="0">
                <a:solidFill>
                  <a:srgbClr val="6666FF"/>
                </a:solidFill>
              </a:rPr>
              <a:t>81H</a:t>
            </a:r>
          </a:p>
          <a:p>
            <a:r>
              <a:rPr kumimoji="0" lang="en-US" altLang="zh-CN" sz="2200" dirty="0">
                <a:solidFill>
                  <a:srgbClr val="6666FF"/>
                </a:solidFill>
              </a:rPr>
              <a:t>		AND	AL</a:t>
            </a:r>
            <a:r>
              <a:rPr kumimoji="0" lang="zh-CN" altLang="en-US" sz="2200" dirty="0">
                <a:solidFill>
                  <a:srgbClr val="6666FF"/>
                </a:solidFill>
              </a:rPr>
              <a:t>，</a:t>
            </a:r>
            <a:r>
              <a:rPr kumimoji="0" lang="en-US" altLang="zh-CN" sz="2200" dirty="0">
                <a:solidFill>
                  <a:srgbClr val="6666FF"/>
                </a:solidFill>
              </a:rPr>
              <a:t>0FH</a:t>
            </a:r>
          </a:p>
          <a:p>
            <a:r>
              <a:rPr kumimoji="0" lang="en-US" altLang="zh-CN" sz="2200" dirty="0">
                <a:solidFill>
                  <a:srgbClr val="6666FF"/>
                </a:solidFill>
              </a:rPr>
              <a:t>		CMP	AL</a:t>
            </a:r>
            <a:r>
              <a:rPr kumimoji="0" lang="zh-CN" altLang="en-US" sz="2200" dirty="0">
                <a:solidFill>
                  <a:srgbClr val="6666FF"/>
                </a:solidFill>
              </a:rPr>
              <a:t>，</a:t>
            </a:r>
            <a:r>
              <a:rPr kumimoji="0" lang="en-US" altLang="zh-CN" sz="2200" dirty="0">
                <a:solidFill>
                  <a:srgbClr val="6666FF"/>
                </a:solidFill>
              </a:rPr>
              <a:t>0FH</a:t>
            </a:r>
          </a:p>
          <a:p>
            <a:r>
              <a:rPr kumimoji="0" lang="en-US" altLang="zh-CN" sz="2200" dirty="0">
                <a:solidFill>
                  <a:srgbClr val="6666FF"/>
                </a:solidFill>
              </a:rPr>
              <a:t>		JZ	LOOA          ; </a:t>
            </a:r>
            <a:r>
              <a:rPr kumimoji="0" lang="zh-CN" altLang="en-US" sz="1800" dirty="0">
                <a:solidFill>
                  <a:srgbClr val="6666FF"/>
                </a:solidFill>
              </a:rPr>
              <a:t>如果不为</a:t>
            </a:r>
            <a:r>
              <a:rPr kumimoji="0" lang="en-US" altLang="zh-CN" sz="1800" dirty="0">
                <a:solidFill>
                  <a:srgbClr val="6666FF"/>
                </a:solidFill>
              </a:rPr>
              <a:t>0</a:t>
            </a:r>
            <a:r>
              <a:rPr kumimoji="0" lang="zh-CN" altLang="en-US" sz="1800" dirty="0">
                <a:solidFill>
                  <a:srgbClr val="6666FF"/>
                </a:solidFill>
              </a:rPr>
              <a:t>，则确认有键按下，转入</a:t>
            </a:r>
            <a:r>
              <a:rPr kumimoji="0" lang="en-US" altLang="zh-CN" sz="1800" dirty="0">
                <a:solidFill>
                  <a:srgbClr val="6666FF"/>
                </a:solidFill>
              </a:rPr>
              <a:t>STRAT</a:t>
            </a:r>
          </a:p>
          <a:p>
            <a:endParaRPr kumimoji="0"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20094303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501650" y="764704"/>
            <a:ext cx="8642350" cy="5065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zh-CN" altLang="en-US" sz="1800" dirty="0"/>
              <a:t>；判哪个键按下</a:t>
            </a:r>
          </a:p>
          <a:p>
            <a:r>
              <a:rPr kumimoji="0" lang="en-US" altLang="zh-CN" sz="1800" dirty="0">
                <a:solidFill>
                  <a:schemeClr val="tx2"/>
                </a:solidFill>
              </a:rPr>
              <a:t>START</a:t>
            </a:r>
            <a:r>
              <a:rPr kumimoji="0" lang="zh-CN" altLang="en-US" sz="1800" dirty="0">
                <a:solidFill>
                  <a:schemeClr val="tx2"/>
                </a:solidFill>
              </a:rPr>
              <a:t>：                    </a:t>
            </a:r>
            <a:r>
              <a:rPr kumimoji="0" lang="en-US" altLang="zh-CN" sz="1800" dirty="0">
                <a:solidFill>
                  <a:schemeClr val="tx2"/>
                </a:solidFill>
              </a:rPr>
              <a:t>MOV	BL</a:t>
            </a:r>
            <a:r>
              <a:rPr kumimoji="0" lang="zh-CN" altLang="en-US" sz="1800" dirty="0">
                <a:solidFill>
                  <a:schemeClr val="tx2"/>
                </a:solidFill>
              </a:rPr>
              <a:t>，</a:t>
            </a:r>
            <a:r>
              <a:rPr kumimoji="0" lang="en-US" altLang="zh-CN" sz="1800" dirty="0">
                <a:solidFill>
                  <a:schemeClr val="tx2"/>
                </a:solidFill>
              </a:rPr>
              <a:t>4           </a:t>
            </a:r>
            <a:r>
              <a:rPr kumimoji="0" lang="zh-CN" altLang="en-US" sz="1800" dirty="0">
                <a:solidFill>
                  <a:schemeClr val="tx2"/>
                </a:solidFill>
              </a:rPr>
              <a:t>；行数</a:t>
            </a:r>
          </a:p>
          <a:p>
            <a:r>
              <a:rPr kumimoji="0" lang="zh-CN" altLang="en-US" sz="1800" dirty="0">
                <a:solidFill>
                  <a:schemeClr val="tx2"/>
                </a:solidFill>
              </a:rPr>
              <a:t>		</a:t>
            </a:r>
            <a:r>
              <a:rPr kumimoji="0" lang="en-US" altLang="zh-CN" sz="1800" dirty="0">
                <a:solidFill>
                  <a:schemeClr val="tx2"/>
                </a:solidFill>
              </a:rPr>
              <a:t>MOV	BH</a:t>
            </a:r>
            <a:r>
              <a:rPr kumimoji="0" lang="zh-CN" altLang="en-US" sz="1800" dirty="0">
                <a:solidFill>
                  <a:schemeClr val="tx2"/>
                </a:solidFill>
              </a:rPr>
              <a:t>，</a:t>
            </a:r>
            <a:r>
              <a:rPr kumimoji="0" lang="en-US" altLang="zh-CN" sz="1800" dirty="0">
                <a:solidFill>
                  <a:schemeClr val="tx2"/>
                </a:solidFill>
              </a:rPr>
              <a:t>4          </a:t>
            </a:r>
            <a:r>
              <a:rPr kumimoji="0" lang="zh-CN" altLang="en-US" sz="1800" dirty="0">
                <a:solidFill>
                  <a:schemeClr val="tx2"/>
                </a:solidFill>
              </a:rPr>
              <a:t>；列数</a:t>
            </a:r>
          </a:p>
          <a:p>
            <a:r>
              <a:rPr kumimoji="0" lang="zh-CN" altLang="en-US" sz="1800" dirty="0">
                <a:solidFill>
                  <a:schemeClr val="tx2"/>
                </a:solidFill>
              </a:rPr>
              <a:t>		</a:t>
            </a:r>
            <a:r>
              <a:rPr kumimoji="0" lang="en-US" altLang="zh-CN" sz="1800" dirty="0">
                <a:solidFill>
                  <a:schemeClr val="tx2"/>
                </a:solidFill>
              </a:rPr>
              <a:t>MOV	AL</a:t>
            </a:r>
            <a:r>
              <a:rPr kumimoji="0" lang="zh-CN" altLang="en-US" sz="1800" dirty="0">
                <a:solidFill>
                  <a:schemeClr val="tx2"/>
                </a:solidFill>
              </a:rPr>
              <a:t>，</a:t>
            </a:r>
            <a:r>
              <a:rPr kumimoji="0" lang="en-US" altLang="zh-CN" sz="1800" dirty="0">
                <a:solidFill>
                  <a:schemeClr val="tx2"/>
                </a:solidFill>
              </a:rPr>
              <a:t>0FEH    </a:t>
            </a:r>
            <a:r>
              <a:rPr kumimoji="0" lang="zh-CN" altLang="en-US" sz="1800" dirty="0">
                <a:solidFill>
                  <a:schemeClr val="tx2"/>
                </a:solidFill>
              </a:rPr>
              <a:t>；先扫描</a:t>
            </a:r>
            <a:r>
              <a:rPr kumimoji="0" lang="en-US" altLang="zh-CN" sz="1800" dirty="0">
                <a:solidFill>
                  <a:schemeClr val="tx2"/>
                </a:solidFill>
              </a:rPr>
              <a:t>0</a:t>
            </a:r>
            <a:r>
              <a:rPr kumimoji="0" lang="zh-CN" altLang="en-US" sz="1800" dirty="0">
                <a:solidFill>
                  <a:schemeClr val="tx2"/>
                </a:solidFill>
              </a:rPr>
              <a:t>行</a:t>
            </a:r>
          </a:p>
          <a:p>
            <a:r>
              <a:rPr kumimoji="0" lang="zh-CN" altLang="en-US" sz="1800" dirty="0">
                <a:solidFill>
                  <a:schemeClr val="tx2"/>
                </a:solidFill>
              </a:rPr>
              <a:t>		</a:t>
            </a:r>
            <a:r>
              <a:rPr kumimoji="0" lang="en-US" altLang="zh-CN" sz="1800" dirty="0">
                <a:solidFill>
                  <a:schemeClr val="tx2"/>
                </a:solidFill>
              </a:rPr>
              <a:t>MOV	CL</a:t>
            </a:r>
            <a:r>
              <a:rPr kumimoji="0" lang="zh-CN" altLang="en-US" sz="1800" dirty="0">
                <a:solidFill>
                  <a:schemeClr val="tx2"/>
                </a:solidFill>
              </a:rPr>
              <a:t>，</a:t>
            </a:r>
            <a:r>
              <a:rPr kumimoji="0" lang="en-US" altLang="zh-CN" sz="1800" dirty="0">
                <a:solidFill>
                  <a:schemeClr val="tx2"/>
                </a:solidFill>
              </a:rPr>
              <a:t>0FH      </a:t>
            </a:r>
            <a:r>
              <a:rPr kumimoji="0" lang="zh-CN" altLang="en-US" sz="1800" dirty="0">
                <a:solidFill>
                  <a:schemeClr val="tx2"/>
                </a:solidFill>
              </a:rPr>
              <a:t>；键盘屏蔽码</a:t>
            </a:r>
          </a:p>
          <a:p>
            <a:r>
              <a:rPr kumimoji="0" lang="zh-CN" altLang="en-US" sz="1800" dirty="0">
                <a:solidFill>
                  <a:schemeClr val="tx2"/>
                </a:solidFill>
              </a:rPr>
              <a:t>		</a:t>
            </a:r>
            <a:r>
              <a:rPr kumimoji="0" lang="en-US" altLang="zh-CN" sz="1800" dirty="0">
                <a:solidFill>
                  <a:schemeClr val="tx2"/>
                </a:solidFill>
              </a:rPr>
              <a:t>MOV	CH</a:t>
            </a:r>
            <a:r>
              <a:rPr kumimoji="0" lang="zh-CN" altLang="en-US" sz="1800" dirty="0">
                <a:solidFill>
                  <a:schemeClr val="tx2"/>
                </a:solidFill>
              </a:rPr>
              <a:t>，</a:t>
            </a:r>
            <a:r>
              <a:rPr kumimoji="0" lang="en-US" altLang="zh-CN" sz="1800" dirty="0">
                <a:solidFill>
                  <a:schemeClr val="tx2"/>
                </a:solidFill>
              </a:rPr>
              <a:t>0FFH   </a:t>
            </a:r>
            <a:r>
              <a:rPr kumimoji="0" lang="zh-CN" altLang="en-US" sz="1800" dirty="0">
                <a:solidFill>
                  <a:schemeClr val="tx2"/>
                </a:solidFill>
              </a:rPr>
              <a:t>；起始键号</a:t>
            </a:r>
          </a:p>
          <a:p>
            <a:r>
              <a:rPr kumimoji="0" lang="en-US" altLang="zh-CN" sz="1800" dirty="0">
                <a:solidFill>
                  <a:schemeClr val="tx2"/>
                </a:solidFill>
              </a:rPr>
              <a:t>LOP1</a:t>
            </a:r>
            <a:r>
              <a:rPr kumimoji="0" lang="zh-CN" altLang="en-US" sz="1800" dirty="0">
                <a:solidFill>
                  <a:schemeClr val="tx2"/>
                </a:solidFill>
              </a:rPr>
              <a:t>：	                 </a:t>
            </a:r>
            <a:r>
              <a:rPr kumimoji="0" lang="en-US" altLang="zh-CN" sz="1800" dirty="0">
                <a:solidFill>
                  <a:schemeClr val="tx2"/>
                </a:solidFill>
              </a:rPr>
              <a:t>OUT	80H</a:t>
            </a:r>
            <a:r>
              <a:rPr kumimoji="0" lang="zh-CN" altLang="en-US" sz="1800" dirty="0">
                <a:solidFill>
                  <a:schemeClr val="tx2"/>
                </a:solidFill>
              </a:rPr>
              <a:t>，</a:t>
            </a:r>
            <a:r>
              <a:rPr kumimoji="0" lang="en-US" altLang="zh-CN" sz="1800" dirty="0">
                <a:solidFill>
                  <a:schemeClr val="tx2"/>
                </a:solidFill>
              </a:rPr>
              <a:t>AL      </a:t>
            </a:r>
            <a:r>
              <a:rPr kumimoji="0" lang="zh-CN" altLang="en-US" sz="1800" dirty="0">
                <a:solidFill>
                  <a:schemeClr val="tx2"/>
                </a:solidFill>
              </a:rPr>
              <a:t>；扫描一行</a:t>
            </a:r>
          </a:p>
          <a:p>
            <a:r>
              <a:rPr kumimoji="0" lang="zh-CN" altLang="en-US" sz="1800" dirty="0">
                <a:solidFill>
                  <a:schemeClr val="tx2"/>
                </a:solidFill>
              </a:rPr>
              <a:t>		</a:t>
            </a:r>
            <a:r>
              <a:rPr kumimoji="0" lang="en-US" altLang="zh-CN" sz="1800" dirty="0">
                <a:solidFill>
                  <a:schemeClr val="tx2"/>
                </a:solidFill>
              </a:rPr>
              <a:t>ROL	AL</a:t>
            </a:r>
            <a:r>
              <a:rPr kumimoji="0" lang="zh-CN" altLang="en-US" sz="1800" dirty="0">
                <a:solidFill>
                  <a:schemeClr val="tx2"/>
                </a:solidFill>
              </a:rPr>
              <a:t>，</a:t>
            </a:r>
            <a:r>
              <a:rPr kumimoji="0" lang="en-US" altLang="zh-CN" sz="1800" dirty="0">
                <a:solidFill>
                  <a:schemeClr val="tx2"/>
                </a:solidFill>
              </a:rPr>
              <a:t>1           </a:t>
            </a:r>
            <a:r>
              <a:rPr kumimoji="0" lang="zh-CN" altLang="en-US" sz="1800" dirty="0">
                <a:solidFill>
                  <a:schemeClr val="tx2"/>
                </a:solidFill>
              </a:rPr>
              <a:t>；下一行扫描码</a:t>
            </a:r>
          </a:p>
          <a:p>
            <a:r>
              <a:rPr kumimoji="0" lang="zh-CN" altLang="en-US" sz="1800" dirty="0">
                <a:solidFill>
                  <a:schemeClr val="tx2"/>
                </a:solidFill>
              </a:rPr>
              <a:t>		</a:t>
            </a:r>
            <a:r>
              <a:rPr kumimoji="0" lang="en-US" altLang="zh-CN" sz="1800" dirty="0">
                <a:solidFill>
                  <a:schemeClr val="tx2"/>
                </a:solidFill>
              </a:rPr>
              <a:t>MOV	AH</a:t>
            </a:r>
            <a:r>
              <a:rPr kumimoji="0" lang="zh-CN" altLang="en-US" sz="1800" dirty="0">
                <a:solidFill>
                  <a:schemeClr val="tx2"/>
                </a:solidFill>
              </a:rPr>
              <a:t>，</a:t>
            </a:r>
            <a:r>
              <a:rPr kumimoji="0" lang="en-US" altLang="zh-CN" sz="1800" dirty="0">
                <a:solidFill>
                  <a:schemeClr val="tx2"/>
                </a:solidFill>
              </a:rPr>
              <a:t>AL</a:t>
            </a:r>
          </a:p>
          <a:p>
            <a:r>
              <a:rPr kumimoji="0" lang="en-US" altLang="zh-CN" sz="1800" dirty="0">
                <a:solidFill>
                  <a:schemeClr val="tx2"/>
                </a:solidFill>
              </a:rPr>
              <a:t>		IN	AL</a:t>
            </a:r>
            <a:r>
              <a:rPr kumimoji="0" lang="zh-CN" altLang="en-US" sz="1800" dirty="0">
                <a:solidFill>
                  <a:schemeClr val="tx2"/>
                </a:solidFill>
              </a:rPr>
              <a:t>，</a:t>
            </a:r>
            <a:r>
              <a:rPr kumimoji="0" lang="en-US" altLang="zh-CN" sz="1800" dirty="0">
                <a:solidFill>
                  <a:schemeClr val="tx2"/>
                </a:solidFill>
              </a:rPr>
              <a:t>81H      </a:t>
            </a:r>
            <a:r>
              <a:rPr kumimoji="0" lang="zh-CN" altLang="en-US" dirty="0">
                <a:solidFill>
                  <a:schemeClr val="tx2"/>
                </a:solidFill>
              </a:rPr>
              <a:t>；读列值</a:t>
            </a:r>
            <a:endParaRPr kumimoji="0" lang="zh-CN" altLang="en-US" sz="1800" dirty="0">
              <a:solidFill>
                <a:schemeClr val="tx2"/>
              </a:solidFill>
            </a:endParaRPr>
          </a:p>
          <a:p>
            <a:r>
              <a:rPr kumimoji="0" lang="zh-CN" altLang="en-US" sz="1800" dirty="0">
                <a:solidFill>
                  <a:schemeClr val="tx2"/>
                </a:solidFill>
              </a:rPr>
              <a:t>		</a:t>
            </a:r>
            <a:r>
              <a:rPr kumimoji="0" lang="en-US" altLang="zh-CN" sz="1800" dirty="0">
                <a:solidFill>
                  <a:schemeClr val="tx2"/>
                </a:solidFill>
              </a:rPr>
              <a:t>AND	AL</a:t>
            </a:r>
            <a:r>
              <a:rPr kumimoji="0" lang="zh-CN" altLang="en-US" sz="1800" dirty="0">
                <a:solidFill>
                  <a:schemeClr val="tx2"/>
                </a:solidFill>
              </a:rPr>
              <a:t>，</a:t>
            </a:r>
            <a:r>
              <a:rPr kumimoji="0" lang="en-US" altLang="zh-CN" sz="1800" dirty="0">
                <a:solidFill>
                  <a:schemeClr val="tx2"/>
                </a:solidFill>
              </a:rPr>
              <a:t>CL</a:t>
            </a:r>
          </a:p>
          <a:p>
            <a:r>
              <a:rPr kumimoji="0" lang="en-US" altLang="zh-CN" sz="1800" dirty="0">
                <a:solidFill>
                  <a:schemeClr val="tx2"/>
                </a:solidFill>
              </a:rPr>
              <a:t>		CMP	AL</a:t>
            </a:r>
            <a:r>
              <a:rPr kumimoji="0" lang="zh-CN" altLang="en-US" sz="1800" dirty="0">
                <a:solidFill>
                  <a:schemeClr val="tx2"/>
                </a:solidFill>
              </a:rPr>
              <a:t>，</a:t>
            </a:r>
            <a:r>
              <a:rPr kumimoji="0" lang="en-US" altLang="zh-CN" sz="1800" dirty="0">
                <a:solidFill>
                  <a:schemeClr val="tx2"/>
                </a:solidFill>
              </a:rPr>
              <a:t>CL</a:t>
            </a:r>
          </a:p>
          <a:p>
            <a:r>
              <a:rPr kumimoji="0" lang="en-US" altLang="zh-CN" sz="1800" dirty="0">
                <a:solidFill>
                  <a:schemeClr val="tx2"/>
                </a:solidFill>
              </a:rPr>
              <a:t>		JNZ	LOP2            </a:t>
            </a:r>
            <a:r>
              <a:rPr kumimoji="0" lang="zh-CN" altLang="en-US" sz="1800" dirty="0">
                <a:solidFill>
                  <a:schemeClr val="tx2"/>
                </a:solidFill>
              </a:rPr>
              <a:t>；有列线为</a:t>
            </a:r>
            <a:r>
              <a:rPr kumimoji="0" lang="en-US" altLang="zh-CN" sz="1800" dirty="0">
                <a:solidFill>
                  <a:schemeClr val="tx2"/>
                </a:solidFill>
              </a:rPr>
              <a:t>0</a:t>
            </a:r>
            <a:r>
              <a:rPr kumimoji="0" lang="zh-CN" altLang="en-US" sz="1800" dirty="0">
                <a:solidFill>
                  <a:schemeClr val="tx2"/>
                </a:solidFill>
              </a:rPr>
              <a:t>，转</a:t>
            </a:r>
            <a:r>
              <a:rPr kumimoji="0" lang="en-US" altLang="zh-CN" sz="1800" dirty="0">
                <a:solidFill>
                  <a:schemeClr val="tx2"/>
                </a:solidFill>
              </a:rPr>
              <a:t>LOP2</a:t>
            </a:r>
            <a:r>
              <a:rPr kumimoji="0" lang="zh-CN" altLang="en-US" sz="1800" dirty="0">
                <a:solidFill>
                  <a:schemeClr val="tx2"/>
                </a:solidFill>
              </a:rPr>
              <a:t>，找列线</a:t>
            </a:r>
          </a:p>
          <a:p>
            <a:r>
              <a:rPr kumimoji="0" lang="zh-CN" altLang="en-US" sz="1800" dirty="0">
                <a:solidFill>
                  <a:schemeClr val="tx2"/>
                </a:solidFill>
              </a:rPr>
              <a:t>		</a:t>
            </a:r>
            <a:r>
              <a:rPr kumimoji="0" lang="en-US" altLang="zh-CN" sz="1800" dirty="0">
                <a:solidFill>
                  <a:schemeClr val="tx2"/>
                </a:solidFill>
              </a:rPr>
              <a:t>ADD	CH</a:t>
            </a:r>
            <a:r>
              <a:rPr kumimoji="0" lang="zh-CN" altLang="en-US" sz="1800" dirty="0">
                <a:solidFill>
                  <a:schemeClr val="tx2"/>
                </a:solidFill>
              </a:rPr>
              <a:t>，</a:t>
            </a:r>
            <a:r>
              <a:rPr kumimoji="0" lang="en-US" altLang="zh-CN" sz="1800" dirty="0">
                <a:solidFill>
                  <a:schemeClr val="tx2"/>
                </a:solidFill>
              </a:rPr>
              <a:t>BH       </a:t>
            </a:r>
            <a:r>
              <a:rPr kumimoji="0" lang="zh-CN" altLang="en-US" sz="1800" dirty="0">
                <a:solidFill>
                  <a:schemeClr val="tx2"/>
                </a:solidFill>
              </a:rPr>
              <a:t>；无键按下，修改键号</a:t>
            </a:r>
          </a:p>
          <a:p>
            <a:r>
              <a:rPr kumimoji="0" lang="zh-CN" altLang="en-US" sz="1800" dirty="0">
                <a:solidFill>
                  <a:schemeClr val="tx2"/>
                </a:solidFill>
              </a:rPr>
              <a:t>		</a:t>
            </a:r>
            <a:r>
              <a:rPr kumimoji="0" lang="en-US" altLang="zh-CN" sz="1800" dirty="0">
                <a:solidFill>
                  <a:schemeClr val="tx2"/>
                </a:solidFill>
              </a:rPr>
              <a:t>MOV	AL</a:t>
            </a:r>
            <a:r>
              <a:rPr kumimoji="0" lang="zh-CN" altLang="en-US" sz="1800" dirty="0">
                <a:solidFill>
                  <a:schemeClr val="tx2"/>
                </a:solidFill>
              </a:rPr>
              <a:t>，</a:t>
            </a:r>
            <a:r>
              <a:rPr kumimoji="0" lang="en-US" altLang="zh-CN" sz="1800" dirty="0">
                <a:solidFill>
                  <a:schemeClr val="tx2"/>
                </a:solidFill>
              </a:rPr>
              <a:t>AH       </a:t>
            </a:r>
            <a:r>
              <a:rPr kumimoji="0" lang="zh-CN" altLang="en-US" sz="1800" dirty="0">
                <a:solidFill>
                  <a:schemeClr val="tx2"/>
                </a:solidFill>
              </a:rPr>
              <a:t>；恢复扫描码</a:t>
            </a:r>
          </a:p>
          <a:p>
            <a:r>
              <a:rPr kumimoji="0" lang="zh-CN" altLang="en-US" sz="1800" dirty="0">
                <a:solidFill>
                  <a:schemeClr val="tx2"/>
                </a:solidFill>
              </a:rPr>
              <a:t>		</a:t>
            </a:r>
            <a:r>
              <a:rPr kumimoji="0" lang="en-US" altLang="zh-CN" sz="1800" dirty="0">
                <a:solidFill>
                  <a:schemeClr val="tx2"/>
                </a:solidFill>
              </a:rPr>
              <a:t>DEC	BL                 </a:t>
            </a:r>
            <a:r>
              <a:rPr kumimoji="0" lang="zh-CN" altLang="en-US" sz="1800" dirty="0">
                <a:solidFill>
                  <a:schemeClr val="tx2"/>
                </a:solidFill>
              </a:rPr>
              <a:t>；行数减</a:t>
            </a:r>
            <a:r>
              <a:rPr kumimoji="0" lang="en-US" altLang="zh-CN" sz="1800" dirty="0">
                <a:solidFill>
                  <a:schemeClr val="tx2"/>
                </a:solidFill>
              </a:rPr>
              <a:t>1</a:t>
            </a:r>
          </a:p>
          <a:p>
            <a:r>
              <a:rPr kumimoji="0" lang="en-US" altLang="zh-CN" sz="1800" dirty="0">
                <a:solidFill>
                  <a:schemeClr val="tx2"/>
                </a:solidFill>
              </a:rPr>
              <a:t>		JNZ	LOP1            </a:t>
            </a:r>
            <a:r>
              <a:rPr kumimoji="0" lang="zh-CN" altLang="en-US" sz="1800" dirty="0">
                <a:solidFill>
                  <a:schemeClr val="tx2"/>
                </a:solidFill>
              </a:rPr>
              <a:t>；未扫完，转</a:t>
            </a:r>
            <a:r>
              <a:rPr kumimoji="0" lang="en-US" altLang="zh-CN" sz="1800" dirty="0">
                <a:solidFill>
                  <a:schemeClr val="tx2"/>
                </a:solidFill>
              </a:rPr>
              <a:t>LOP1</a:t>
            </a:r>
          </a:p>
          <a:p>
            <a:r>
              <a:rPr kumimoji="0" lang="en-US" altLang="zh-CN" sz="1800" dirty="0">
                <a:solidFill>
                  <a:schemeClr val="tx2"/>
                </a:solidFill>
              </a:rPr>
              <a:t>		JMP	START          </a:t>
            </a:r>
            <a:r>
              <a:rPr kumimoji="0" lang="zh-CN" altLang="en-US" sz="1800" dirty="0">
                <a:solidFill>
                  <a:schemeClr val="tx2"/>
                </a:solidFill>
              </a:rPr>
              <a:t>； 重新扫描</a:t>
            </a:r>
          </a:p>
        </p:txBody>
      </p:sp>
    </p:spTree>
    <p:extLst>
      <p:ext uri="{BB962C8B-B14F-4D97-AF65-F5344CB8AC3E}">
        <p14:creationId xmlns:p14="http://schemas.microsoft.com/office/powerpoint/2010/main" val="2981322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899592" y="665629"/>
            <a:ext cx="8136904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kumimoji="0" lang="en-US" altLang="zh-CN" sz="2200" dirty="0"/>
              <a:t> ;</a:t>
            </a:r>
            <a:r>
              <a:rPr kumimoji="0" lang="zh-CN" altLang="en-US" sz="2200" dirty="0"/>
              <a:t>判断出按下键后，确定键号</a:t>
            </a:r>
          </a:p>
          <a:p>
            <a:r>
              <a:rPr kumimoji="0" lang="en-US" altLang="zh-CN" sz="2200" dirty="0">
                <a:solidFill>
                  <a:srgbClr val="9900FF"/>
                </a:solidFill>
              </a:rPr>
              <a:t>LOP2</a:t>
            </a:r>
            <a:r>
              <a:rPr kumimoji="0" lang="zh-CN" altLang="en-US" sz="2200" dirty="0">
                <a:solidFill>
                  <a:srgbClr val="9900FF"/>
                </a:solidFill>
              </a:rPr>
              <a:t>：               </a:t>
            </a:r>
            <a:r>
              <a:rPr kumimoji="0" lang="en-US" altLang="zh-CN" sz="2200" dirty="0">
                <a:solidFill>
                  <a:srgbClr val="9900FF"/>
                </a:solidFill>
              </a:rPr>
              <a:t>INC	CH           </a:t>
            </a:r>
            <a:r>
              <a:rPr kumimoji="0" lang="zh-CN" altLang="en-US" sz="2200" dirty="0">
                <a:solidFill>
                  <a:srgbClr val="9900FF"/>
                </a:solidFill>
              </a:rPr>
              <a:t>；键号加</a:t>
            </a:r>
            <a:r>
              <a:rPr kumimoji="0" lang="en-US" altLang="zh-CN" sz="2200" dirty="0">
                <a:solidFill>
                  <a:srgbClr val="9900FF"/>
                </a:solidFill>
              </a:rPr>
              <a:t>1</a:t>
            </a:r>
          </a:p>
          <a:p>
            <a:r>
              <a:rPr kumimoji="0" lang="en-US" altLang="zh-CN" sz="2200" dirty="0">
                <a:solidFill>
                  <a:srgbClr val="9900FF"/>
                </a:solidFill>
              </a:rPr>
              <a:t>		ROR	AL</a:t>
            </a:r>
            <a:r>
              <a:rPr kumimoji="0" lang="zh-CN" altLang="en-US" sz="2200" dirty="0">
                <a:solidFill>
                  <a:srgbClr val="9900FF"/>
                </a:solidFill>
              </a:rPr>
              <a:t>，</a:t>
            </a:r>
            <a:r>
              <a:rPr kumimoji="0" lang="en-US" altLang="zh-CN" sz="2200" dirty="0">
                <a:solidFill>
                  <a:srgbClr val="9900FF"/>
                </a:solidFill>
              </a:rPr>
              <a:t>1     </a:t>
            </a:r>
            <a:r>
              <a:rPr kumimoji="0" lang="zh-CN" altLang="en-US" sz="2200" dirty="0">
                <a:solidFill>
                  <a:srgbClr val="9900FF"/>
                </a:solidFill>
              </a:rPr>
              <a:t>；检查列线</a:t>
            </a:r>
          </a:p>
          <a:p>
            <a:r>
              <a:rPr kumimoji="0" lang="zh-CN" altLang="en-US" sz="2200" dirty="0">
                <a:solidFill>
                  <a:srgbClr val="9900FF"/>
                </a:solidFill>
              </a:rPr>
              <a:t>		</a:t>
            </a:r>
            <a:r>
              <a:rPr kumimoji="0" lang="en-US" altLang="zh-CN" sz="2200" dirty="0">
                <a:solidFill>
                  <a:srgbClr val="9900FF"/>
                </a:solidFill>
              </a:rPr>
              <a:t>JC	LOP2       </a:t>
            </a:r>
            <a:r>
              <a:rPr kumimoji="0" lang="zh-CN" altLang="en-US" sz="2200" dirty="0">
                <a:solidFill>
                  <a:srgbClr val="9900FF"/>
                </a:solidFill>
              </a:rPr>
              <a:t>；无键按下，查下一列</a:t>
            </a:r>
          </a:p>
          <a:p>
            <a:r>
              <a:rPr kumimoji="0" lang="zh-CN" altLang="en-US" sz="2200" dirty="0">
                <a:solidFill>
                  <a:srgbClr val="9900FF"/>
                </a:solidFill>
              </a:rPr>
              <a:t>		</a:t>
            </a:r>
            <a:r>
              <a:rPr kumimoji="0" lang="en-US" altLang="zh-CN" sz="2200" dirty="0">
                <a:solidFill>
                  <a:srgbClr val="9900FF"/>
                </a:solidFill>
              </a:rPr>
              <a:t>MOV	AL</a:t>
            </a:r>
            <a:r>
              <a:rPr kumimoji="0" lang="zh-CN" altLang="en-US" sz="2200" dirty="0">
                <a:solidFill>
                  <a:srgbClr val="9900FF"/>
                </a:solidFill>
              </a:rPr>
              <a:t>，</a:t>
            </a:r>
            <a:r>
              <a:rPr kumimoji="0" lang="en-US" altLang="zh-CN" sz="2200" dirty="0">
                <a:solidFill>
                  <a:srgbClr val="9900FF"/>
                </a:solidFill>
              </a:rPr>
              <a:t>CH  </a:t>
            </a:r>
            <a:r>
              <a:rPr kumimoji="0" lang="zh-CN" altLang="en-US" sz="2200" dirty="0">
                <a:solidFill>
                  <a:srgbClr val="9900FF"/>
                </a:solidFill>
              </a:rPr>
              <a:t>；找到按键，键号送</a:t>
            </a:r>
            <a:r>
              <a:rPr kumimoji="0" lang="en-US" altLang="zh-CN" sz="2200" dirty="0">
                <a:solidFill>
                  <a:srgbClr val="9900FF"/>
                </a:solidFill>
              </a:rPr>
              <a:t>AL</a:t>
            </a:r>
          </a:p>
          <a:p>
            <a:r>
              <a:rPr kumimoji="0" lang="en-US" altLang="zh-CN" sz="2200" dirty="0">
                <a:solidFill>
                  <a:srgbClr val="9900FF"/>
                </a:solidFill>
              </a:rPr>
              <a:t>		CMP	AL</a:t>
            </a:r>
            <a:r>
              <a:rPr kumimoji="0" lang="zh-CN" altLang="en-US" sz="2200" dirty="0">
                <a:solidFill>
                  <a:srgbClr val="9900FF"/>
                </a:solidFill>
              </a:rPr>
              <a:t>，</a:t>
            </a:r>
            <a:r>
              <a:rPr kumimoji="0" lang="en-US" altLang="zh-CN" sz="2200" dirty="0">
                <a:solidFill>
                  <a:srgbClr val="9900FF"/>
                </a:solidFill>
              </a:rPr>
              <a:t>0</a:t>
            </a:r>
          </a:p>
          <a:p>
            <a:r>
              <a:rPr kumimoji="0" lang="en-US" altLang="zh-CN" sz="2200" dirty="0">
                <a:solidFill>
                  <a:srgbClr val="9900FF"/>
                </a:solidFill>
              </a:rPr>
              <a:t>		JZ	KEY0       </a:t>
            </a:r>
            <a:r>
              <a:rPr kumimoji="0" lang="zh-CN" altLang="en-US" sz="2200" dirty="0">
                <a:solidFill>
                  <a:srgbClr val="9900FF"/>
                </a:solidFill>
              </a:rPr>
              <a:t>；根据键号，转向相应的处理程序</a:t>
            </a:r>
          </a:p>
          <a:p>
            <a:r>
              <a:rPr kumimoji="0" lang="zh-CN" altLang="en-US" sz="2200" dirty="0">
                <a:solidFill>
                  <a:srgbClr val="9900FF"/>
                </a:solidFill>
              </a:rPr>
              <a:t>		</a:t>
            </a:r>
            <a:r>
              <a:rPr kumimoji="0" lang="en-US" altLang="zh-CN" sz="2200" dirty="0">
                <a:solidFill>
                  <a:srgbClr val="9900FF"/>
                </a:solidFill>
              </a:rPr>
              <a:t>CMP	AL</a:t>
            </a:r>
            <a:r>
              <a:rPr kumimoji="0" lang="zh-CN" altLang="en-US" sz="2200" dirty="0">
                <a:solidFill>
                  <a:srgbClr val="9900FF"/>
                </a:solidFill>
              </a:rPr>
              <a:t>，</a:t>
            </a:r>
            <a:r>
              <a:rPr kumimoji="0" lang="en-US" altLang="zh-CN" sz="2200" dirty="0">
                <a:solidFill>
                  <a:srgbClr val="9900FF"/>
                </a:solidFill>
              </a:rPr>
              <a:t>1</a:t>
            </a:r>
          </a:p>
          <a:p>
            <a:r>
              <a:rPr kumimoji="0" lang="en-US" altLang="zh-CN" sz="2200" dirty="0">
                <a:solidFill>
                  <a:srgbClr val="9900FF"/>
                </a:solidFill>
              </a:rPr>
              <a:t>		JZ	KEY1</a:t>
            </a:r>
          </a:p>
          <a:p>
            <a:r>
              <a:rPr kumimoji="0" lang="en-US" altLang="zh-CN" sz="2200" dirty="0">
                <a:solidFill>
                  <a:srgbClr val="9900FF"/>
                </a:solidFill>
              </a:rPr>
              <a:t>			·</a:t>
            </a:r>
          </a:p>
          <a:p>
            <a:r>
              <a:rPr kumimoji="0" lang="en-US" altLang="zh-CN" sz="2200" dirty="0">
                <a:solidFill>
                  <a:srgbClr val="9900FF"/>
                </a:solidFill>
              </a:rPr>
              <a:t>			·	</a:t>
            </a:r>
          </a:p>
          <a:p>
            <a:r>
              <a:rPr kumimoji="0" lang="en-US" altLang="zh-CN" sz="2200" dirty="0">
                <a:solidFill>
                  <a:srgbClr val="9900FF"/>
                </a:solidFill>
              </a:rPr>
              <a:t>			·</a:t>
            </a:r>
          </a:p>
          <a:p>
            <a:r>
              <a:rPr kumimoji="0" lang="en-US" altLang="zh-CN" sz="2200" dirty="0">
                <a:solidFill>
                  <a:srgbClr val="9900FF"/>
                </a:solidFill>
              </a:rPr>
              <a:t>		CMP	AL</a:t>
            </a:r>
            <a:r>
              <a:rPr kumimoji="0" lang="zh-CN" altLang="en-US" sz="2200" dirty="0">
                <a:solidFill>
                  <a:srgbClr val="9900FF"/>
                </a:solidFill>
              </a:rPr>
              <a:t>，</a:t>
            </a:r>
            <a:r>
              <a:rPr kumimoji="0" lang="en-US" altLang="zh-CN" sz="2200" dirty="0">
                <a:solidFill>
                  <a:srgbClr val="9900FF"/>
                </a:solidFill>
              </a:rPr>
              <a:t>0EH</a:t>
            </a:r>
          </a:p>
          <a:p>
            <a:r>
              <a:rPr kumimoji="0" lang="en-US" altLang="zh-CN" sz="2200" dirty="0">
                <a:solidFill>
                  <a:srgbClr val="9900FF"/>
                </a:solidFill>
              </a:rPr>
              <a:t>		JZ	KEY14</a:t>
            </a:r>
          </a:p>
          <a:p>
            <a:r>
              <a:rPr kumimoji="0" lang="en-US" altLang="zh-CN" sz="2200" dirty="0">
                <a:solidFill>
                  <a:srgbClr val="9900FF"/>
                </a:solidFill>
              </a:rPr>
              <a:t>		JMP	KEY15</a:t>
            </a:r>
          </a:p>
        </p:txBody>
      </p:sp>
    </p:spTree>
    <p:extLst>
      <p:ext uri="{BB962C8B-B14F-4D97-AF65-F5344CB8AC3E}">
        <p14:creationId xmlns:p14="http://schemas.microsoft.com/office/powerpoint/2010/main" val="32278824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3851274" y="1000116"/>
            <a:ext cx="5007006" cy="1143000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5300" dirty="0">
                <a:solidFill>
                  <a:srgbClr val="00C4F0"/>
                </a:solidFill>
                <a:ea typeface="微软雅黑" panose="020B0503020204020204" pitchFamily="34" charset="-122"/>
                <a:cs typeface="+mn-cs"/>
              </a:rPr>
              <a:t>作业</a:t>
            </a:r>
            <a:r>
              <a:rPr lang="en-US" altLang="zh-CN" dirty="0">
                <a:latin typeface="Arial"/>
                <a:ea typeface="微软雅黑" panose="020B0503020204020204" pitchFamily="34" charset="-122"/>
                <a:cs typeface="Arial"/>
              </a:rPr>
              <a:t>• </a:t>
            </a:r>
            <a:r>
              <a:rPr lang="en-US" altLang="zh-CN" sz="2800" dirty="0">
                <a:solidFill>
                  <a:srgbClr val="FFC000"/>
                </a:solidFill>
                <a:latin typeface="Tahoma" pitchFamily="34" charset="0"/>
                <a:ea typeface="微软简综艺" pitchFamily="49" charset="-122"/>
                <a:cs typeface="Tahoma" pitchFamily="34" charset="0"/>
              </a:rPr>
              <a:t>HOMEWORK</a:t>
            </a:r>
            <a:endParaRPr lang="zh-CN" altLang="en-US" sz="1800" dirty="0">
              <a:solidFill>
                <a:srgbClr val="FFC000"/>
              </a:solidFill>
              <a:latin typeface="Tahoma" pitchFamily="34" charset="0"/>
              <a:ea typeface="微软简综艺" pitchFamily="49" charset="-122"/>
              <a:cs typeface="Tahoma" pitchFamily="34" charset="0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3744942" y="2615982"/>
            <a:ext cx="5113338" cy="907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4000"/>
              </a:lnSpc>
              <a:spcBef>
                <a:spcPts val="400"/>
              </a:spcBef>
              <a:spcAft>
                <a:spcPts val="60"/>
              </a:spcAft>
            </a:pPr>
            <a:r>
              <a:rPr lang="zh-CN" altLang="en-US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习题：</a:t>
            </a:r>
            <a:r>
              <a:rPr lang="en-US" altLang="zh-CN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7.22</a:t>
            </a:r>
            <a:r>
              <a:rPr lang="zh-CN" altLang="en-US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4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7.24</a:t>
            </a:r>
            <a:endParaRPr lang="en-US" altLang="zh-CN" sz="44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" name="Picture 2" descr="D:\Teliss_Tong\Copy\定期备份\工作备份\！PPT图片及版面资源\06-PPT精选插图\02-商务\GF0IEK51.jpg"/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45499" y="1901808"/>
            <a:ext cx="2158349" cy="339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1498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4250017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16830</TotalTime>
  <Words>2533</Words>
  <Application>Microsoft Office PowerPoint</Application>
  <PresentationFormat>全屏显示(4:3)</PresentationFormat>
  <Paragraphs>707</Paragraphs>
  <Slides>46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60" baseType="lpstr">
      <vt:lpstr>Arial Unicode MS</vt:lpstr>
      <vt:lpstr>经典繁仿黑</vt:lpstr>
      <vt:lpstr>宋体</vt:lpstr>
      <vt:lpstr>微软简综艺</vt:lpstr>
      <vt:lpstr>微软雅黑</vt:lpstr>
      <vt:lpstr>Arial</vt:lpstr>
      <vt:lpstr>Arial Black</vt:lpstr>
      <vt:lpstr>Broadway</vt:lpstr>
      <vt:lpstr>Calibri</vt:lpstr>
      <vt:lpstr>Impact</vt:lpstr>
      <vt:lpstr>Tahoma</vt:lpstr>
      <vt:lpstr>Times New Roman</vt:lpstr>
      <vt:lpstr>Wingdings</vt:lpstr>
      <vt:lpstr>2_Office 主题​​</vt:lpstr>
      <vt:lpstr>PowerPoint 演示文稿</vt:lpstr>
      <vt:lpstr>PowerPoint 演示文稿</vt:lpstr>
      <vt:lpstr>本节目标• OBJECTIVE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houxy</cp:lastModifiedBy>
  <cp:revision>4040</cp:revision>
  <dcterms:created xsi:type="dcterms:W3CDTF">2012-06-23T00:51:09Z</dcterms:created>
  <dcterms:modified xsi:type="dcterms:W3CDTF">2017-05-16T23:06:43Z</dcterms:modified>
</cp:coreProperties>
</file>