
<file path=[Content_Types].xml><?xml version="1.0" encoding="utf-8"?>
<Types xmlns="http://schemas.openxmlformats.org/package/2006/content-types">
  <Default Extension="png" ContentType="image/png"/>
  <Default Extension="bin" ContentType="application/vnd.ms-office.activeX"/>
  <Default Extension="jpeg" ContentType="image/jpeg"/>
  <Default Extension="emf" ContentType="image/x-emf"/>
  <Default Extension="wmf" ContentType="image/x-wmf"/>
  <Default Extension="rels" ContentType="application/vnd.openxmlformats-package.relationships+xml"/>
  <Default Extension="xml" ContentType="application/xml"/>
  <Default Extension="vsdx" ContentType="application/vnd.ms-visio.drawing"/>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activeX/activeX1.xml" ContentType="application/vnd.ms-office.activeX+xml"/>
  <Override PartName="/ppt/tags/tag1.xml" ContentType="application/vnd.openxmlformats-officedocument.presentationml.tags+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44"/>
  </p:notesMasterIdLst>
  <p:sldIdLst>
    <p:sldId id="303" r:id="rId2"/>
    <p:sldId id="304" r:id="rId3"/>
    <p:sldId id="258" r:id="rId4"/>
    <p:sldId id="305" r:id="rId5"/>
    <p:sldId id="306" r:id="rId6"/>
    <p:sldId id="307" r:id="rId7"/>
    <p:sldId id="310" r:id="rId8"/>
    <p:sldId id="308" r:id="rId9"/>
    <p:sldId id="311" r:id="rId10"/>
    <p:sldId id="356" r:id="rId11"/>
    <p:sldId id="309" r:id="rId12"/>
    <p:sldId id="261" r:id="rId13"/>
    <p:sldId id="262" r:id="rId14"/>
    <p:sldId id="317" r:id="rId15"/>
    <p:sldId id="318" r:id="rId16"/>
    <p:sldId id="319" r:id="rId17"/>
    <p:sldId id="320" r:id="rId18"/>
    <p:sldId id="321" r:id="rId19"/>
    <p:sldId id="268" r:id="rId20"/>
    <p:sldId id="354" r:id="rId21"/>
    <p:sldId id="269" r:id="rId22"/>
    <p:sldId id="328" r:id="rId23"/>
    <p:sldId id="327" r:id="rId24"/>
    <p:sldId id="337" r:id="rId25"/>
    <p:sldId id="338" r:id="rId26"/>
    <p:sldId id="339" r:id="rId27"/>
    <p:sldId id="325" r:id="rId28"/>
    <p:sldId id="353" r:id="rId29"/>
    <p:sldId id="335" r:id="rId30"/>
    <p:sldId id="333" r:id="rId31"/>
    <p:sldId id="351" r:id="rId32"/>
    <p:sldId id="340" r:id="rId33"/>
    <p:sldId id="341" r:id="rId34"/>
    <p:sldId id="349" r:id="rId35"/>
    <p:sldId id="350" r:id="rId36"/>
    <p:sldId id="342" r:id="rId37"/>
    <p:sldId id="343" r:id="rId38"/>
    <p:sldId id="347" r:id="rId39"/>
    <p:sldId id="348" r:id="rId40"/>
    <p:sldId id="352" r:id="rId41"/>
    <p:sldId id="357" r:id="rId42"/>
    <p:sldId id="300"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8DE5"/>
    <a:srgbClr val="FF3255"/>
    <a:srgbClr val="ED7D31"/>
    <a:srgbClr val="00B050"/>
    <a:srgbClr val="595959"/>
    <a:srgbClr val="FFC000"/>
    <a:srgbClr val="5DCB08"/>
    <a:srgbClr val="FF9300"/>
    <a:srgbClr val="3E3D4F"/>
    <a:srgbClr val="008D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926" autoAdjust="0"/>
  </p:normalViewPr>
  <p:slideViewPr>
    <p:cSldViewPr>
      <p:cViewPr varScale="1">
        <p:scale>
          <a:sx n="49" d="100"/>
          <a:sy n="49" d="100"/>
        </p:scale>
        <p:origin x="1804"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DA3DB9-9116-458E-A8CB-72F17F941305}" type="doc">
      <dgm:prSet loTypeId="urn:microsoft.com/office/officeart/2005/8/layout/radial4" loCatId="relationship" qsTypeId="urn:microsoft.com/office/officeart/2005/8/quickstyle/simple4" qsCatId="simple" csTypeId="urn:microsoft.com/office/officeart/2005/8/colors/colorful1" csCatId="colorful" phldr="1"/>
      <dgm:spPr/>
      <dgm:t>
        <a:bodyPr/>
        <a:lstStyle/>
        <a:p>
          <a:endParaRPr lang="zh-CN" altLang="en-US"/>
        </a:p>
      </dgm:t>
    </dgm:pt>
    <dgm:pt modelId="{BBC5E32D-57E3-4D6D-911B-CD4B04660DC5}">
      <dgm:prSet phldrT="[文本]" custT="1"/>
      <dgm:spPr/>
      <dgm:t>
        <a:bodyPr/>
        <a:lstStyle/>
        <a:p>
          <a:pPr>
            <a:lnSpc>
              <a:spcPct val="100000"/>
            </a:lnSpc>
          </a:pPr>
          <a:r>
            <a:rPr lang="en-US" altLang="zh-CN" sz="2600" b="1" dirty="0">
              <a:latin typeface="微软雅黑" pitchFamily="34" charset="-122"/>
              <a:ea typeface="微软雅黑" pitchFamily="34" charset="-122"/>
            </a:rPr>
            <a:t>I/O</a:t>
          </a:r>
        </a:p>
        <a:p>
          <a:pPr>
            <a:lnSpc>
              <a:spcPct val="100000"/>
            </a:lnSpc>
          </a:pPr>
          <a:r>
            <a:rPr lang="zh-CN" altLang="en-US" sz="2600" b="1" dirty="0">
              <a:latin typeface="微软雅黑" pitchFamily="34" charset="-122"/>
              <a:ea typeface="微软雅黑" pitchFamily="34" charset="-122"/>
            </a:rPr>
            <a:t>接口</a:t>
          </a:r>
        </a:p>
      </dgm:t>
    </dgm:pt>
    <dgm:pt modelId="{D233479A-E000-4AA2-9FA6-6986096A3DF4}" type="parTrans" cxnId="{F23C1808-36D1-463F-8C4A-1A158125D63F}">
      <dgm:prSet/>
      <dgm:spPr/>
      <dgm:t>
        <a:bodyPr/>
        <a:lstStyle/>
        <a:p>
          <a:endParaRPr lang="zh-CN" altLang="en-US" sz="1200">
            <a:latin typeface="微软雅黑" pitchFamily="34" charset="-122"/>
            <a:ea typeface="微软雅黑" pitchFamily="34" charset="-122"/>
          </a:endParaRPr>
        </a:p>
      </dgm:t>
    </dgm:pt>
    <dgm:pt modelId="{205A5D30-01E7-4B67-8317-7C67080093AA}" type="sibTrans" cxnId="{F23C1808-36D1-463F-8C4A-1A158125D63F}">
      <dgm:prSet/>
      <dgm:spPr/>
      <dgm:t>
        <a:bodyPr/>
        <a:lstStyle/>
        <a:p>
          <a:endParaRPr lang="zh-CN" altLang="en-US" sz="1200">
            <a:latin typeface="微软雅黑" pitchFamily="34" charset="-122"/>
            <a:ea typeface="微软雅黑" pitchFamily="34" charset="-122"/>
          </a:endParaRPr>
        </a:p>
      </dgm:t>
    </dgm:pt>
    <dgm:pt modelId="{E8C4C434-C0BE-4BC6-915B-6144ED5875FD}">
      <dgm:prSet phldrT="[文本]" custT="1"/>
      <dgm:spPr/>
      <dgm:t>
        <a:bodyPr/>
        <a:lstStyle/>
        <a:p>
          <a:r>
            <a:rPr lang="zh-CN" altLang="en-US" sz="1600" b="1" dirty="0">
              <a:latin typeface="微软雅黑" pitchFamily="34" charset="-122"/>
              <a:ea typeface="微软雅黑" pitchFamily="34" charset="-122"/>
            </a:rPr>
            <a:t>键盘鼠标</a:t>
          </a:r>
        </a:p>
      </dgm:t>
    </dgm:pt>
    <dgm:pt modelId="{8EBC6478-3B76-4C52-97FC-F2187305561B}" type="parTrans" cxnId="{AE3E9755-97BF-47C8-9918-8D79808D059C}">
      <dgm:prSet/>
      <dgm:spPr/>
      <dgm:t>
        <a:bodyPr/>
        <a:lstStyle/>
        <a:p>
          <a:endParaRPr lang="zh-CN" altLang="en-US" sz="1200">
            <a:latin typeface="微软雅黑" pitchFamily="34" charset="-122"/>
            <a:ea typeface="微软雅黑" pitchFamily="34" charset="-122"/>
          </a:endParaRPr>
        </a:p>
      </dgm:t>
    </dgm:pt>
    <dgm:pt modelId="{3230A923-3AF1-4D6C-8A0C-E4FBD44EFD37}" type="sibTrans" cxnId="{AE3E9755-97BF-47C8-9918-8D79808D059C}">
      <dgm:prSet/>
      <dgm:spPr/>
      <dgm:t>
        <a:bodyPr/>
        <a:lstStyle/>
        <a:p>
          <a:endParaRPr lang="zh-CN" altLang="en-US" sz="1200">
            <a:latin typeface="微软雅黑" pitchFamily="34" charset="-122"/>
            <a:ea typeface="微软雅黑" pitchFamily="34" charset="-122"/>
          </a:endParaRPr>
        </a:p>
      </dgm:t>
    </dgm:pt>
    <dgm:pt modelId="{5341BBDA-EAE8-417B-8DCF-4B09335596B3}">
      <dgm:prSet phldrT="[文本]" custT="1"/>
      <dgm:spPr/>
      <dgm:t>
        <a:bodyPr/>
        <a:lstStyle/>
        <a:p>
          <a:r>
            <a:rPr lang="zh-CN" altLang="en-US" sz="1600" b="1" dirty="0">
              <a:latin typeface="微软雅黑" pitchFamily="34" charset="-122"/>
              <a:ea typeface="微软雅黑" pitchFamily="34" charset="-122"/>
            </a:rPr>
            <a:t>显示器卡</a:t>
          </a:r>
        </a:p>
      </dgm:t>
    </dgm:pt>
    <dgm:pt modelId="{8E639A6D-0FF2-425C-9F42-C4CD6D219E9C}" type="parTrans" cxnId="{A6C7F40D-3EB2-45E5-8B97-36F63AA1369A}">
      <dgm:prSet/>
      <dgm:spPr/>
      <dgm:t>
        <a:bodyPr/>
        <a:lstStyle/>
        <a:p>
          <a:endParaRPr lang="zh-CN" altLang="en-US" sz="1200">
            <a:latin typeface="微软雅黑" pitchFamily="34" charset="-122"/>
            <a:ea typeface="微软雅黑" pitchFamily="34" charset="-122"/>
          </a:endParaRPr>
        </a:p>
      </dgm:t>
    </dgm:pt>
    <dgm:pt modelId="{63EEB503-8EC8-4116-9836-F2F3CF547438}" type="sibTrans" cxnId="{A6C7F40D-3EB2-45E5-8B97-36F63AA1369A}">
      <dgm:prSet/>
      <dgm:spPr/>
      <dgm:t>
        <a:bodyPr/>
        <a:lstStyle/>
        <a:p>
          <a:endParaRPr lang="zh-CN" altLang="en-US" sz="1200">
            <a:latin typeface="微软雅黑" pitchFamily="34" charset="-122"/>
            <a:ea typeface="微软雅黑" pitchFamily="34" charset="-122"/>
          </a:endParaRPr>
        </a:p>
      </dgm:t>
    </dgm:pt>
    <dgm:pt modelId="{7E274889-FFA7-40F6-ABDE-EC2E892418E8}">
      <dgm:prSet phldrT="[文本]" custT="1"/>
      <dgm:spPr/>
      <dgm:t>
        <a:bodyPr/>
        <a:lstStyle/>
        <a:p>
          <a:r>
            <a:rPr lang="zh-CN" altLang="en-US" sz="1600" b="1" dirty="0">
              <a:latin typeface="微软雅黑" pitchFamily="34" charset="-122"/>
              <a:ea typeface="微软雅黑" pitchFamily="34" charset="-122"/>
            </a:rPr>
            <a:t>声卡</a:t>
          </a:r>
        </a:p>
      </dgm:t>
    </dgm:pt>
    <dgm:pt modelId="{27C79FE2-4A5C-4BEC-937B-CDA772CC90B3}" type="parTrans" cxnId="{2C532E8E-A67B-4680-831C-55203C2ECF59}">
      <dgm:prSet/>
      <dgm:spPr/>
      <dgm:t>
        <a:bodyPr/>
        <a:lstStyle/>
        <a:p>
          <a:endParaRPr lang="zh-CN" altLang="en-US" sz="1200">
            <a:latin typeface="微软雅黑" pitchFamily="34" charset="-122"/>
            <a:ea typeface="微软雅黑" pitchFamily="34" charset="-122"/>
          </a:endParaRPr>
        </a:p>
      </dgm:t>
    </dgm:pt>
    <dgm:pt modelId="{6907FE64-5822-435C-ADE6-E83A1E0DCA54}" type="sibTrans" cxnId="{2C532E8E-A67B-4680-831C-55203C2ECF59}">
      <dgm:prSet/>
      <dgm:spPr/>
      <dgm:t>
        <a:bodyPr/>
        <a:lstStyle/>
        <a:p>
          <a:endParaRPr lang="zh-CN" altLang="en-US" sz="1200">
            <a:latin typeface="微软雅黑" pitchFamily="34" charset="-122"/>
            <a:ea typeface="微软雅黑" pitchFamily="34" charset="-122"/>
          </a:endParaRPr>
        </a:p>
      </dgm:t>
    </dgm:pt>
    <dgm:pt modelId="{4431A16A-3C30-4723-AEFF-89793373BC98}">
      <dgm:prSet phldrT="[文本]" custT="1"/>
      <dgm:spPr/>
      <dgm:t>
        <a:bodyPr/>
        <a:lstStyle/>
        <a:p>
          <a:r>
            <a:rPr lang="zh-CN" altLang="en-US" sz="1600" b="1" dirty="0">
              <a:latin typeface="微软雅黑" pitchFamily="34" charset="-122"/>
              <a:ea typeface="微软雅黑" pitchFamily="34" charset="-122"/>
            </a:rPr>
            <a:t>网卡</a:t>
          </a:r>
        </a:p>
      </dgm:t>
    </dgm:pt>
    <dgm:pt modelId="{C9970CB2-DB72-4A23-B96E-C5244ED5EC3A}" type="parTrans" cxnId="{514EDD36-465C-4F35-9BA7-CCE036F30156}">
      <dgm:prSet/>
      <dgm:spPr/>
      <dgm:t>
        <a:bodyPr/>
        <a:lstStyle/>
        <a:p>
          <a:endParaRPr lang="zh-CN" altLang="en-US" sz="1200">
            <a:latin typeface="微软雅黑" pitchFamily="34" charset="-122"/>
            <a:ea typeface="微软雅黑" pitchFamily="34" charset="-122"/>
          </a:endParaRPr>
        </a:p>
      </dgm:t>
    </dgm:pt>
    <dgm:pt modelId="{8B1FFEFA-81E7-4DDA-9108-8E01EEABF2E4}" type="sibTrans" cxnId="{514EDD36-465C-4F35-9BA7-CCE036F30156}">
      <dgm:prSet/>
      <dgm:spPr/>
      <dgm:t>
        <a:bodyPr/>
        <a:lstStyle/>
        <a:p>
          <a:endParaRPr lang="zh-CN" altLang="en-US" sz="1200">
            <a:latin typeface="微软雅黑" pitchFamily="34" charset="-122"/>
            <a:ea typeface="微软雅黑" pitchFamily="34" charset="-122"/>
          </a:endParaRPr>
        </a:p>
      </dgm:t>
    </dgm:pt>
    <dgm:pt modelId="{F8A4064A-0533-46FA-AEA8-87593B1C4008}">
      <dgm:prSet phldrT="[文本]" custT="1"/>
      <dgm:spPr/>
      <dgm:t>
        <a:bodyPr/>
        <a:lstStyle/>
        <a:p>
          <a:r>
            <a:rPr lang="zh-CN" altLang="en-US" sz="1600" b="1" dirty="0">
              <a:latin typeface="微软雅黑" pitchFamily="34" charset="-122"/>
              <a:ea typeface="微软雅黑" pitchFamily="34" charset="-122"/>
            </a:rPr>
            <a:t>扫描及</a:t>
          </a:r>
          <a:endParaRPr lang="en-US" altLang="zh-CN" sz="1600" b="1" dirty="0">
            <a:latin typeface="微软雅黑" pitchFamily="34" charset="-122"/>
            <a:ea typeface="微软雅黑" pitchFamily="34" charset="-122"/>
          </a:endParaRPr>
        </a:p>
        <a:p>
          <a:r>
            <a:rPr lang="zh-CN" altLang="en-US" sz="1600" b="1" dirty="0">
              <a:latin typeface="微软雅黑" pitchFamily="34" charset="-122"/>
              <a:ea typeface="微软雅黑" pitchFamily="34" charset="-122"/>
            </a:rPr>
            <a:t>打印机</a:t>
          </a:r>
        </a:p>
      </dgm:t>
    </dgm:pt>
    <dgm:pt modelId="{DFC500A2-C45E-4526-A7C0-279716DB7693}" type="parTrans" cxnId="{7B338D14-91B4-42ED-93C7-696C0CDFF3F1}">
      <dgm:prSet/>
      <dgm:spPr/>
      <dgm:t>
        <a:bodyPr/>
        <a:lstStyle/>
        <a:p>
          <a:endParaRPr lang="zh-CN" altLang="en-US" sz="1200">
            <a:latin typeface="微软雅黑" pitchFamily="34" charset="-122"/>
            <a:ea typeface="微软雅黑" pitchFamily="34" charset="-122"/>
          </a:endParaRPr>
        </a:p>
      </dgm:t>
    </dgm:pt>
    <dgm:pt modelId="{3F9F4660-4064-4E95-BB3C-2C2A04B34531}" type="sibTrans" cxnId="{7B338D14-91B4-42ED-93C7-696C0CDFF3F1}">
      <dgm:prSet/>
      <dgm:spPr/>
      <dgm:t>
        <a:bodyPr/>
        <a:lstStyle/>
        <a:p>
          <a:endParaRPr lang="zh-CN" altLang="en-US" sz="1200">
            <a:latin typeface="微软雅黑" pitchFamily="34" charset="-122"/>
            <a:ea typeface="微软雅黑" pitchFamily="34" charset="-122"/>
          </a:endParaRPr>
        </a:p>
      </dgm:t>
    </dgm:pt>
    <dgm:pt modelId="{FBA75A75-82A4-4DFD-B69D-74DB7CF2B3EA}">
      <dgm:prSet phldrT="[文本]" custT="1"/>
      <dgm:spPr/>
      <dgm:t>
        <a:bodyPr/>
        <a:lstStyle/>
        <a:p>
          <a:r>
            <a:rPr lang="en-US" altLang="zh-CN" sz="1600" b="1" dirty="0">
              <a:latin typeface="微软雅黑" pitchFamily="34" charset="-122"/>
              <a:ea typeface="微软雅黑" pitchFamily="34" charset="-122"/>
            </a:rPr>
            <a:t>USB/</a:t>
          </a:r>
          <a:r>
            <a:rPr lang="zh-CN" altLang="en-US" sz="1600" b="1" dirty="0">
              <a:latin typeface="微软雅黑" pitchFamily="34" charset="-122"/>
              <a:ea typeface="微软雅黑" pitchFamily="34" charset="-122"/>
            </a:rPr>
            <a:t>硬盘</a:t>
          </a:r>
        </a:p>
      </dgm:t>
    </dgm:pt>
    <dgm:pt modelId="{75AD06A4-632B-484C-9C53-0DBA764BF661}" type="parTrans" cxnId="{3C8AF397-619D-4E27-9D49-190692B1F903}">
      <dgm:prSet/>
      <dgm:spPr/>
      <dgm:t>
        <a:bodyPr/>
        <a:lstStyle/>
        <a:p>
          <a:endParaRPr lang="zh-CN" altLang="en-US" sz="1200">
            <a:latin typeface="微软雅黑" pitchFamily="34" charset="-122"/>
            <a:ea typeface="微软雅黑" pitchFamily="34" charset="-122"/>
          </a:endParaRPr>
        </a:p>
      </dgm:t>
    </dgm:pt>
    <dgm:pt modelId="{8E102BBF-70A3-40B4-B2CA-5326F0C4DDCA}" type="sibTrans" cxnId="{3C8AF397-619D-4E27-9D49-190692B1F903}">
      <dgm:prSet/>
      <dgm:spPr/>
      <dgm:t>
        <a:bodyPr/>
        <a:lstStyle/>
        <a:p>
          <a:endParaRPr lang="zh-CN" altLang="en-US" sz="1200">
            <a:latin typeface="微软雅黑" pitchFamily="34" charset="-122"/>
            <a:ea typeface="微软雅黑" pitchFamily="34" charset="-122"/>
          </a:endParaRPr>
        </a:p>
      </dgm:t>
    </dgm:pt>
    <dgm:pt modelId="{A18C3E88-2BBC-4E85-9D90-004FDB0C60A4}" type="pres">
      <dgm:prSet presAssocID="{6EDA3DB9-9116-458E-A8CB-72F17F941305}" presName="cycle" presStyleCnt="0">
        <dgm:presLayoutVars>
          <dgm:chMax val="1"/>
          <dgm:dir/>
          <dgm:animLvl val="ctr"/>
          <dgm:resizeHandles val="exact"/>
        </dgm:presLayoutVars>
      </dgm:prSet>
      <dgm:spPr/>
    </dgm:pt>
    <dgm:pt modelId="{DBADB1E1-925A-4A21-BC3A-2E91377A579F}" type="pres">
      <dgm:prSet presAssocID="{BBC5E32D-57E3-4D6D-911B-CD4B04660DC5}" presName="centerShape" presStyleLbl="node0" presStyleIdx="0" presStyleCnt="1"/>
      <dgm:spPr/>
    </dgm:pt>
    <dgm:pt modelId="{D34E4988-9CD8-4FD3-B686-DE2B8B97E8C9}" type="pres">
      <dgm:prSet presAssocID="{8EBC6478-3B76-4C52-97FC-F2187305561B}" presName="parTrans" presStyleLbl="bgSibTrans2D1" presStyleIdx="0" presStyleCnt="6"/>
      <dgm:spPr/>
    </dgm:pt>
    <dgm:pt modelId="{13A1F8F2-F74D-4F60-8E6A-EA1051FBC939}" type="pres">
      <dgm:prSet presAssocID="{E8C4C434-C0BE-4BC6-915B-6144ED5875FD}" presName="node" presStyleLbl="node1" presStyleIdx="0" presStyleCnt="6" custRadScaleRad="100010" custRadScaleInc="-2670">
        <dgm:presLayoutVars>
          <dgm:bulletEnabled val="1"/>
        </dgm:presLayoutVars>
      </dgm:prSet>
      <dgm:spPr/>
    </dgm:pt>
    <dgm:pt modelId="{9082DC94-9CCF-49E9-B331-905F84D4F9E1}" type="pres">
      <dgm:prSet presAssocID="{8E639A6D-0FF2-425C-9F42-C4CD6D219E9C}" presName="parTrans" presStyleLbl="bgSibTrans2D1" presStyleIdx="1" presStyleCnt="6" custScaleX="70269" custLinFactNeighborX="19630" custLinFactNeighborY="44468" custRadScaleRad="181659"/>
      <dgm:spPr>
        <a:prstGeom prst="leftRightArrow">
          <a:avLst/>
        </a:prstGeom>
      </dgm:spPr>
    </dgm:pt>
    <dgm:pt modelId="{C4B46A03-13B0-4B85-89C0-10F9FE575C96}" type="pres">
      <dgm:prSet presAssocID="{5341BBDA-EAE8-417B-8DCF-4B09335596B3}" presName="node" presStyleLbl="node1" presStyleIdx="1" presStyleCnt="6">
        <dgm:presLayoutVars>
          <dgm:bulletEnabled val="1"/>
        </dgm:presLayoutVars>
      </dgm:prSet>
      <dgm:spPr/>
    </dgm:pt>
    <dgm:pt modelId="{F98B6D60-6850-4965-8A05-3D4CE942454D}" type="pres">
      <dgm:prSet presAssocID="{27C79FE2-4A5C-4BEC-937B-CDA772CC90B3}" presName="parTrans" presStyleLbl="bgSibTrans2D1" presStyleIdx="2" presStyleCnt="6" custScaleX="71597" custLinFactNeighborX="6626" custLinFactNeighborY="57837"/>
      <dgm:spPr>
        <a:prstGeom prst="leftRightArrow">
          <a:avLst/>
        </a:prstGeom>
      </dgm:spPr>
    </dgm:pt>
    <dgm:pt modelId="{02DFEC09-028C-45B0-85EC-7F2D3FD346E2}" type="pres">
      <dgm:prSet presAssocID="{7E274889-FFA7-40F6-ABDE-EC2E892418E8}" presName="node" presStyleLbl="node1" presStyleIdx="2" presStyleCnt="6">
        <dgm:presLayoutVars>
          <dgm:bulletEnabled val="1"/>
        </dgm:presLayoutVars>
      </dgm:prSet>
      <dgm:spPr/>
    </dgm:pt>
    <dgm:pt modelId="{BE7FF3C3-40C3-4607-82D4-13C5FD94040C}" type="pres">
      <dgm:prSet presAssocID="{C9970CB2-DB72-4A23-B96E-C5244ED5EC3A}" presName="parTrans" presStyleLbl="bgSibTrans2D1" presStyleIdx="3" presStyleCnt="6" custScaleX="77014" custLinFactNeighborX="-9523" custLinFactNeighborY="62254"/>
      <dgm:spPr>
        <a:prstGeom prst="leftRightArrow">
          <a:avLst/>
        </a:prstGeom>
      </dgm:spPr>
    </dgm:pt>
    <dgm:pt modelId="{D10F4B75-7735-4738-A080-6279FF85B1AC}" type="pres">
      <dgm:prSet presAssocID="{4431A16A-3C30-4723-AEFF-89793373BC98}" presName="node" presStyleLbl="node1" presStyleIdx="3" presStyleCnt="6">
        <dgm:presLayoutVars>
          <dgm:bulletEnabled val="1"/>
        </dgm:presLayoutVars>
      </dgm:prSet>
      <dgm:spPr/>
    </dgm:pt>
    <dgm:pt modelId="{F1B3CDB6-9BBA-45B9-A1B1-070B98B4FB91}" type="pres">
      <dgm:prSet presAssocID="{DFC500A2-C45E-4526-A7C0-279716DB7693}" presName="parTrans" presStyleLbl="bgSibTrans2D1" presStyleIdx="4" presStyleCnt="6" custScaleX="68412" custLinFactNeighborX="-20742" custLinFactNeighborY="49297"/>
      <dgm:spPr>
        <a:prstGeom prst="leftRightArrow">
          <a:avLst/>
        </a:prstGeom>
      </dgm:spPr>
    </dgm:pt>
    <dgm:pt modelId="{FC4E2EF1-1357-43DF-B0F3-0005D9BE72E8}" type="pres">
      <dgm:prSet presAssocID="{F8A4064A-0533-46FA-AEA8-87593B1C4008}" presName="node" presStyleLbl="node1" presStyleIdx="4" presStyleCnt="6">
        <dgm:presLayoutVars>
          <dgm:bulletEnabled val="1"/>
        </dgm:presLayoutVars>
      </dgm:prSet>
      <dgm:spPr/>
    </dgm:pt>
    <dgm:pt modelId="{F979DE7E-F85F-451E-A475-675788CB2E94}" type="pres">
      <dgm:prSet presAssocID="{75AD06A4-632B-484C-9C53-0DBA764BF661}" presName="parTrans" presStyleLbl="bgSibTrans2D1" presStyleIdx="5" presStyleCnt="6" custScaleX="77765" custLinFactNeighborX="-21590" custLinFactNeighborY="10208"/>
      <dgm:spPr>
        <a:prstGeom prst="leftRightArrow">
          <a:avLst/>
        </a:prstGeom>
      </dgm:spPr>
    </dgm:pt>
    <dgm:pt modelId="{4D182A3D-7C6E-4B4B-83BB-2A5DD28F8595}" type="pres">
      <dgm:prSet presAssocID="{FBA75A75-82A4-4DFD-B69D-74DB7CF2B3EA}" presName="node" presStyleLbl="node1" presStyleIdx="5" presStyleCnt="6">
        <dgm:presLayoutVars>
          <dgm:bulletEnabled val="1"/>
        </dgm:presLayoutVars>
      </dgm:prSet>
      <dgm:spPr/>
    </dgm:pt>
  </dgm:ptLst>
  <dgm:cxnLst>
    <dgm:cxn modelId="{49546469-E165-4755-BD4F-83C97C4E4E33}" type="presOf" srcId="{E8C4C434-C0BE-4BC6-915B-6144ED5875FD}" destId="{13A1F8F2-F74D-4F60-8E6A-EA1051FBC939}" srcOrd="0" destOrd="0" presId="urn:microsoft.com/office/officeart/2005/8/layout/radial4"/>
    <dgm:cxn modelId="{23871A33-F1E9-48F1-BF99-10FF38574F6D}" type="presOf" srcId="{7E274889-FFA7-40F6-ABDE-EC2E892418E8}" destId="{02DFEC09-028C-45B0-85EC-7F2D3FD346E2}" srcOrd="0" destOrd="0" presId="urn:microsoft.com/office/officeart/2005/8/layout/radial4"/>
    <dgm:cxn modelId="{BD622324-EE22-446C-837E-AE49C5EAD318}" type="presOf" srcId="{8EBC6478-3B76-4C52-97FC-F2187305561B}" destId="{D34E4988-9CD8-4FD3-B686-DE2B8B97E8C9}" srcOrd="0" destOrd="0" presId="urn:microsoft.com/office/officeart/2005/8/layout/radial4"/>
    <dgm:cxn modelId="{514EDD36-465C-4F35-9BA7-CCE036F30156}" srcId="{BBC5E32D-57E3-4D6D-911B-CD4B04660DC5}" destId="{4431A16A-3C30-4723-AEFF-89793373BC98}" srcOrd="3" destOrd="0" parTransId="{C9970CB2-DB72-4A23-B96E-C5244ED5EC3A}" sibTransId="{8B1FFEFA-81E7-4DDA-9108-8E01EEABF2E4}"/>
    <dgm:cxn modelId="{F980D871-D4F3-43F9-B853-C3D699C882CC}" type="presOf" srcId="{5341BBDA-EAE8-417B-8DCF-4B09335596B3}" destId="{C4B46A03-13B0-4B85-89C0-10F9FE575C96}" srcOrd="0" destOrd="0" presId="urn:microsoft.com/office/officeart/2005/8/layout/radial4"/>
    <dgm:cxn modelId="{DA01BAEA-230E-4EA4-9F2F-EF4B958B4CE4}" type="presOf" srcId="{C9970CB2-DB72-4A23-B96E-C5244ED5EC3A}" destId="{BE7FF3C3-40C3-4607-82D4-13C5FD94040C}" srcOrd="0" destOrd="0" presId="urn:microsoft.com/office/officeart/2005/8/layout/radial4"/>
    <dgm:cxn modelId="{1BE35F72-688D-445F-820A-996C444551D3}" type="presOf" srcId="{8E639A6D-0FF2-425C-9F42-C4CD6D219E9C}" destId="{9082DC94-9CCF-49E9-B331-905F84D4F9E1}" srcOrd="0" destOrd="0" presId="urn:microsoft.com/office/officeart/2005/8/layout/radial4"/>
    <dgm:cxn modelId="{AE3E9755-97BF-47C8-9918-8D79808D059C}" srcId="{BBC5E32D-57E3-4D6D-911B-CD4B04660DC5}" destId="{E8C4C434-C0BE-4BC6-915B-6144ED5875FD}" srcOrd="0" destOrd="0" parTransId="{8EBC6478-3B76-4C52-97FC-F2187305561B}" sibTransId="{3230A923-3AF1-4D6C-8A0C-E4FBD44EFD37}"/>
    <dgm:cxn modelId="{2F59B059-6920-4FA0-A70F-1B9AA96C7376}" type="presOf" srcId="{6EDA3DB9-9116-458E-A8CB-72F17F941305}" destId="{A18C3E88-2BBC-4E85-9D90-004FDB0C60A4}" srcOrd="0" destOrd="0" presId="urn:microsoft.com/office/officeart/2005/8/layout/radial4"/>
    <dgm:cxn modelId="{C6A2E700-9DDB-4B4E-9F5C-6A7849594E23}" type="presOf" srcId="{F8A4064A-0533-46FA-AEA8-87593B1C4008}" destId="{FC4E2EF1-1357-43DF-B0F3-0005D9BE72E8}" srcOrd="0" destOrd="0" presId="urn:microsoft.com/office/officeart/2005/8/layout/radial4"/>
    <dgm:cxn modelId="{756615D0-0A8A-4252-A68C-E362EB446C63}" type="presOf" srcId="{27C79FE2-4A5C-4BEC-937B-CDA772CC90B3}" destId="{F98B6D60-6850-4965-8A05-3D4CE942454D}" srcOrd="0" destOrd="0" presId="urn:microsoft.com/office/officeart/2005/8/layout/radial4"/>
    <dgm:cxn modelId="{A6C7F40D-3EB2-45E5-8B97-36F63AA1369A}" srcId="{BBC5E32D-57E3-4D6D-911B-CD4B04660DC5}" destId="{5341BBDA-EAE8-417B-8DCF-4B09335596B3}" srcOrd="1" destOrd="0" parTransId="{8E639A6D-0FF2-425C-9F42-C4CD6D219E9C}" sibTransId="{63EEB503-8EC8-4116-9836-F2F3CF547438}"/>
    <dgm:cxn modelId="{F23C1808-36D1-463F-8C4A-1A158125D63F}" srcId="{6EDA3DB9-9116-458E-A8CB-72F17F941305}" destId="{BBC5E32D-57E3-4D6D-911B-CD4B04660DC5}" srcOrd="0" destOrd="0" parTransId="{D233479A-E000-4AA2-9FA6-6986096A3DF4}" sibTransId="{205A5D30-01E7-4B67-8317-7C67080093AA}"/>
    <dgm:cxn modelId="{D56B3B84-6871-4FA1-BC87-FD882330B673}" type="presOf" srcId="{FBA75A75-82A4-4DFD-B69D-74DB7CF2B3EA}" destId="{4D182A3D-7C6E-4B4B-83BB-2A5DD28F8595}" srcOrd="0" destOrd="0" presId="urn:microsoft.com/office/officeart/2005/8/layout/radial4"/>
    <dgm:cxn modelId="{B99A7182-0B6D-4180-BEB3-2766B9FBFAE8}" type="presOf" srcId="{BBC5E32D-57E3-4D6D-911B-CD4B04660DC5}" destId="{DBADB1E1-925A-4A21-BC3A-2E91377A579F}" srcOrd="0" destOrd="0" presId="urn:microsoft.com/office/officeart/2005/8/layout/radial4"/>
    <dgm:cxn modelId="{2C532E8E-A67B-4680-831C-55203C2ECF59}" srcId="{BBC5E32D-57E3-4D6D-911B-CD4B04660DC5}" destId="{7E274889-FFA7-40F6-ABDE-EC2E892418E8}" srcOrd="2" destOrd="0" parTransId="{27C79FE2-4A5C-4BEC-937B-CDA772CC90B3}" sibTransId="{6907FE64-5822-435C-ADE6-E83A1E0DCA54}"/>
    <dgm:cxn modelId="{A2BC1ECE-508F-4D4B-9DEF-A045F8275479}" type="presOf" srcId="{4431A16A-3C30-4723-AEFF-89793373BC98}" destId="{D10F4B75-7735-4738-A080-6279FF85B1AC}" srcOrd="0" destOrd="0" presId="urn:microsoft.com/office/officeart/2005/8/layout/radial4"/>
    <dgm:cxn modelId="{7B338D14-91B4-42ED-93C7-696C0CDFF3F1}" srcId="{BBC5E32D-57E3-4D6D-911B-CD4B04660DC5}" destId="{F8A4064A-0533-46FA-AEA8-87593B1C4008}" srcOrd="4" destOrd="0" parTransId="{DFC500A2-C45E-4526-A7C0-279716DB7693}" sibTransId="{3F9F4660-4064-4E95-BB3C-2C2A04B34531}"/>
    <dgm:cxn modelId="{F0E8C380-A036-42AD-BDDF-B56DB6364EF8}" type="presOf" srcId="{DFC500A2-C45E-4526-A7C0-279716DB7693}" destId="{F1B3CDB6-9BBA-45B9-A1B1-070B98B4FB91}" srcOrd="0" destOrd="0" presId="urn:microsoft.com/office/officeart/2005/8/layout/radial4"/>
    <dgm:cxn modelId="{5B4D4045-25E4-4344-A375-4826C892CBE3}" type="presOf" srcId="{75AD06A4-632B-484C-9C53-0DBA764BF661}" destId="{F979DE7E-F85F-451E-A475-675788CB2E94}" srcOrd="0" destOrd="0" presId="urn:microsoft.com/office/officeart/2005/8/layout/radial4"/>
    <dgm:cxn modelId="{3C8AF397-619D-4E27-9D49-190692B1F903}" srcId="{BBC5E32D-57E3-4D6D-911B-CD4B04660DC5}" destId="{FBA75A75-82A4-4DFD-B69D-74DB7CF2B3EA}" srcOrd="5" destOrd="0" parTransId="{75AD06A4-632B-484C-9C53-0DBA764BF661}" sibTransId="{8E102BBF-70A3-40B4-B2CA-5326F0C4DDCA}"/>
    <dgm:cxn modelId="{C6ADCC1F-7ACD-43EA-A542-495D0FC3B2A9}" type="presParOf" srcId="{A18C3E88-2BBC-4E85-9D90-004FDB0C60A4}" destId="{DBADB1E1-925A-4A21-BC3A-2E91377A579F}" srcOrd="0" destOrd="0" presId="urn:microsoft.com/office/officeart/2005/8/layout/radial4"/>
    <dgm:cxn modelId="{66FD6AF1-76E3-4C18-AF5E-56909F87474F}" type="presParOf" srcId="{A18C3E88-2BBC-4E85-9D90-004FDB0C60A4}" destId="{D34E4988-9CD8-4FD3-B686-DE2B8B97E8C9}" srcOrd="1" destOrd="0" presId="urn:microsoft.com/office/officeart/2005/8/layout/radial4"/>
    <dgm:cxn modelId="{B44ABF19-3A7B-4624-9CC2-F491E75A2A82}" type="presParOf" srcId="{A18C3E88-2BBC-4E85-9D90-004FDB0C60A4}" destId="{13A1F8F2-F74D-4F60-8E6A-EA1051FBC939}" srcOrd="2" destOrd="0" presId="urn:microsoft.com/office/officeart/2005/8/layout/radial4"/>
    <dgm:cxn modelId="{51B7D8C6-7F59-42C7-A1D4-6327189A0DFD}" type="presParOf" srcId="{A18C3E88-2BBC-4E85-9D90-004FDB0C60A4}" destId="{9082DC94-9CCF-49E9-B331-905F84D4F9E1}" srcOrd="3" destOrd="0" presId="urn:microsoft.com/office/officeart/2005/8/layout/radial4"/>
    <dgm:cxn modelId="{47BA1FF0-5694-4B0E-9766-7D65134D9306}" type="presParOf" srcId="{A18C3E88-2BBC-4E85-9D90-004FDB0C60A4}" destId="{C4B46A03-13B0-4B85-89C0-10F9FE575C96}" srcOrd="4" destOrd="0" presId="urn:microsoft.com/office/officeart/2005/8/layout/radial4"/>
    <dgm:cxn modelId="{9565BA78-DB07-4328-A8FC-AA68772522A6}" type="presParOf" srcId="{A18C3E88-2BBC-4E85-9D90-004FDB0C60A4}" destId="{F98B6D60-6850-4965-8A05-3D4CE942454D}" srcOrd="5" destOrd="0" presId="urn:microsoft.com/office/officeart/2005/8/layout/radial4"/>
    <dgm:cxn modelId="{FBD99BFC-F9FA-415F-995E-5C5ECFD94414}" type="presParOf" srcId="{A18C3E88-2BBC-4E85-9D90-004FDB0C60A4}" destId="{02DFEC09-028C-45B0-85EC-7F2D3FD346E2}" srcOrd="6" destOrd="0" presId="urn:microsoft.com/office/officeart/2005/8/layout/radial4"/>
    <dgm:cxn modelId="{31DF1409-939F-4E9A-816B-2F9B10AA0C8E}" type="presParOf" srcId="{A18C3E88-2BBC-4E85-9D90-004FDB0C60A4}" destId="{BE7FF3C3-40C3-4607-82D4-13C5FD94040C}" srcOrd="7" destOrd="0" presId="urn:microsoft.com/office/officeart/2005/8/layout/radial4"/>
    <dgm:cxn modelId="{C924582D-43A0-4EAB-8836-CC264E12AF72}" type="presParOf" srcId="{A18C3E88-2BBC-4E85-9D90-004FDB0C60A4}" destId="{D10F4B75-7735-4738-A080-6279FF85B1AC}" srcOrd="8" destOrd="0" presId="urn:microsoft.com/office/officeart/2005/8/layout/radial4"/>
    <dgm:cxn modelId="{B8CD8980-8B06-4D43-B510-206CEA1370A3}" type="presParOf" srcId="{A18C3E88-2BBC-4E85-9D90-004FDB0C60A4}" destId="{F1B3CDB6-9BBA-45B9-A1B1-070B98B4FB91}" srcOrd="9" destOrd="0" presId="urn:microsoft.com/office/officeart/2005/8/layout/radial4"/>
    <dgm:cxn modelId="{B0003233-23FB-418C-AE2E-9F8807E73530}" type="presParOf" srcId="{A18C3E88-2BBC-4E85-9D90-004FDB0C60A4}" destId="{FC4E2EF1-1357-43DF-B0F3-0005D9BE72E8}" srcOrd="10" destOrd="0" presId="urn:microsoft.com/office/officeart/2005/8/layout/radial4"/>
    <dgm:cxn modelId="{8EEFDA65-F6C9-457C-92A3-C6F541C94256}" type="presParOf" srcId="{A18C3E88-2BBC-4E85-9D90-004FDB0C60A4}" destId="{F979DE7E-F85F-451E-A475-675788CB2E94}" srcOrd="11" destOrd="0" presId="urn:microsoft.com/office/officeart/2005/8/layout/radial4"/>
    <dgm:cxn modelId="{8B777192-8FEA-4DA9-8296-1A93913DC4F2}" type="presParOf" srcId="{A18C3E88-2BBC-4E85-9D90-004FDB0C60A4}" destId="{4D182A3D-7C6E-4B4B-83BB-2A5DD28F8595}" srcOrd="12"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ADB1E1-925A-4A21-BC3A-2E91377A579F}">
      <dsp:nvSpPr>
        <dsp:cNvPr id="0" name=""/>
        <dsp:cNvSpPr/>
      </dsp:nvSpPr>
      <dsp:spPr>
        <a:xfrm>
          <a:off x="2373224" y="2136875"/>
          <a:ext cx="1736802" cy="1736802"/>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100000"/>
            </a:lnSpc>
            <a:spcBef>
              <a:spcPct val="0"/>
            </a:spcBef>
            <a:spcAft>
              <a:spcPct val="35000"/>
            </a:spcAft>
            <a:buNone/>
          </a:pPr>
          <a:r>
            <a:rPr lang="en-US" altLang="zh-CN" sz="2600" b="1" kern="1200" dirty="0">
              <a:latin typeface="微软雅黑" pitchFamily="34" charset="-122"/>
              <a:ea typeface="微软雅黑" pitchFamily="34" charset="-122"/>
            </a:rPr>
            <a:t>I/O</a:t>
          </a:r>
        </a:p>
        <a:p>
          <a:pPr marL="0" lvl="0" indent="0" algn="ctr" defTabSz="1155700">
            <a:lnSpc>
              <a:spcPct val="100000"/>
            </a:lnSpc>
            <a:spcBef>
              <a:spcPct val="0"/>
            </a:spcBef>
            <a:spcAft>
              <a:spcPct val="35000"/>
            </a:spcAft>
            <a:buNone/>
          </a:pPr>
          <a:r>
            <a:rPr lang="zh-CN" altLang="en-US" sz="2600" b="1" kern="1200" dirty="0">
              <a:latin typeface="微软雅黑" pitchFamily="34" charset="-122"/>
              <a:ea typeface="微软雅黑" pitchFamily="34" charset="-122"/>
            </a:rPr>
            <a:t>接口</a:t>
          </a:r>
        </a:p>
      </dsp:txBody>
      <dsp:txXfrm>
        <a:off x="2627573" y="2391224"/>
        <a:ext cx="1228104" cy="1228104"/>
      </dsp:txXfrm>
    </dsp:sp>
    <dsp:sp modelId="{D34E4988-9CD8-4FD3-B686-DE2B8B97E8C9}">
      <dsp:nvSpPr>
        <dsp:cNvPr id="0" name=""/>
        <dsp:cNvSpPr/>
      </dsp:nvSpPr>
      <dsp:spPr>
        <a:xfrm rot="10751940">
          <a:off x="608448" y="2782937"/>
          <a:ext cx="1667879" cy="494988"/>
        </a:xfrm>
        <a:prstGeom prst="lef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3A1F8F2-F74D-4F60-8E6A-EA1051FBC939}">
      <dsp:nvSpPr>
        <dsp:cNvPr id="0" name=""/>
        <dsp:cNvSpPr/>
      </dsp:nvSpPr>
      <dsp:spPr>
        <a:xfrm>
          <a:off x="648" y="2555785"/>
          <a:ext cx="1215761" cy="972609"/>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itchFamily="34" charset="-122"/>
              <a:ea typeface="微软雅黑" pitchFamily="34" charset="-122"/>
            </a:rPr>
            <a:t>键盘鼠标</a:t>
          </a:r>
        </a:p>
      </dsp:txBody>
      <dsp:txXfrm>
        <a:off x="29135" y="2584272"/>
        <a:ext cx="1158787" cy="915635"/>
      </dsp:txXfrm>
    </dsp:sp>
    <dsp:sp modelId="{9082DC94-9CCF-49E9-B331-905F84D4F9E1}">
      <dsp:nvSpPr>
        <dsp:cNvPr id="0" name=""/>
        <dsp:cNvSpPr/>
      </dsp:nvSpPr>
      <dsp:spPr>
        <a:xfrm rot="12960000">
          <a:off x="1527424" y="1920306"/>
          <a:ext cx="1171827" cy="494988"/>
        </a:xfrm>
        <a:prstGeom prst="leftRightArrow">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4B46A03-13B0-4B85-89C0-10F9FE575C96}">
      <dsp:nvSpPr>
        <dsp:cNvPr id="0" name=""/>
        <dsp:cNvSpPr/>
      </dsp:nvSpPr>
      <dsp:spPr>
        <a:xfrm>
          <a:off x="503530" y="971280"/>
          <a:ext cx="1215761" cy="972609"/>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itchFamily="34" charset="-122"/>
              <a:ea typeface="微软雅黑" pitchFamily="34" charset="-122"/>
            </a:rPr>
            <a:t>显示器卡</a:t>
          </a:r>
        </a:p>
      </dsp:txBody>
      <dsp:txXfrm>
        <a:off x="532017" y="999767"/>
        <a:ext cx="1158787" cy="915635"/>
      </dsp:txXfrm>
    </dsp:sp>
    <dsp:sp modelId="{F98B6D60-6850-4965-8A05-3D4CE942454D}">
      <dsp:nvSpPr>
        <dsp:cNvPr id="0" name=""/>
        <dsp:cNvSpPr/>
      </dsp:nvSpPr>
      <dsp:spPr>
        <a:xfrm rot="15120000">
          <a:off x="2199129" y="1332856"/>
          <a:ext cx="1193973" cy="494988"/>
        </a:xfrm>
        <a:prstGeom prst="leftRightArrow">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2DFEC09-028C-45B0-85EC-7F2D3FD346E2}">
      <dsp:nvSpPr>
        <dsp:cNvPr id="0" name=""/>
        <dsp:cNvSpPr/>
      </dsp:nvSpPr>
      <dsp:spPr>
        <a:xfrm>
          <a:off x="1820075" y="14754"/>
          <a:ext cx="1215761" cy="972609"/>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itchFamily="34" charset="-122"/>
              <a:ea typeface="微软雅黑" pitchFamily="34" charset="-122"/>
            </a:rPr>
            <a:t>声卡</a:t>
          </a:r>
        </a:p>
      </dsp:txBody>
      <dsp:txXfrm>
        <a:off x="1848562" y="43241"/>
        <a:ext cx="1158787" cy="915635"/>
      </dsp:txXfrm>
    </dsp:sp>
    <dsp:sp modelId="{BE7FF3C3-40C3-4607-82D4-13C5FD94040C}">
      <dsp:nvSpPr>
        <dsp:cNvPr id="0" name=""/>
        <dsp:cNvSpPr/>
      </dsp:nvSpPr>
      <dsp:spPr>
        <a:xfrm rot="17280000">
          <a:off x="2996669" y="1354720"/>
          <a:ext cx="1284309" cy="494988"/>
        </a:xfrm>
        <a:prstGeom prst="leftRightArrow">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D10F4B75-7735-4738-A080-6279FF85B1AC}">
      <dsp:nvSpPr>
        <dsp:cNvPr id="0" name=""/>
        <dsp:cNvSpPr/>
      </dsp:nvSpPr>
      <dsp:spPr>
        <a:xfrm>
          <a:off x="3447414" y="14754"/>
          <a:ext cx="1215761" cy="972609"/>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itchFamily="34" charset="-122"/>
              <a:ea typeface="微软雅黑" pitchFamily="34" charset="-122"/>
            </a:rPr>
            <a:t>网卡</a:t>
          </a:r>
        </a:p>
      </dsp:txBody>
      <dsp:txXfrm>
        <a:off x="3475901" y="43241"/>
        <a:ext cx="1158787" cy="915635"/>
      </dsp:txXfrm>
    </dsp:sp>
    <dsp:sp modelId="{F1B3CDB6-9BBA-45B9-A1B1-070B98B4FB91}">
      <dsp:nvSpPr>
        <dsp:cNvPr id="0" name=""/>
        <dsp:cNvSpPr/>
      </dsp:nvSpPr>
      <dsp:spPr>
        <a:xfrm rot="19440000">
          <a:off x="3780939" y="1944209"/>
          <a:ext cx="1140859" cy="494988"/>
        </a:xfrm>
        <a:prstGeom prst="leftRightArrow">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C4E2EF1-1357-43DF-B0F3-0005D9BE72E8}">
      <dsp:nvSpPr>
        <dsp:cNvPr id="0" name=""/>
        <dsp:cNvSpPr/>
      </dsp:nvSpPr>
      <dsp:spPr>
        <a:xfrm>
          <a:off x="4763959" y="971280"/>
          <a:ext cx="1215761" cy="972609"/>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itchFamily="34" charset="-122"/>
              <a:ea typeface="微软雅黑" pitchFamily="34" charset="-122"/>
            </a:rPr>
            <a:t>扫描及</a:t>
          </a:r>
          <a:endParaRPr lang="en-US" altLang="zh-CN" sz="1600" b="1" kern="1200" dirty="0">
            <a:latin typeface="微软雅黑" pitchFamily="34" charset="-122"/>
            <a:ea typeface="微软雅黑" pitchFamily="34" charset="-122"/>
          </a:endParaRPr>
        </a:p>
        <a:p>
          <a:pPr marL="0" lvl="0" indent="0" algn="ctr" defTabSz="711200">
            <a:lnSpc>
              <a:spcPct val="90000"/>
            </a:lnSpc>
            <a:spcBef>
              <a:spcPct val="0"/>
            </a:spcBef>
            <a:spcAft>
              <a:spcPct val="35000"/>
            </a:spcAft>
            <a:buNone/>
          </a:pPr>
          <a:r>
            <a:rPr lang="zh-CN" altLang="en-US" sz="1600" b="1" kern="1200" dirty="0">
              <a:latin typeface="微软雅黑" pitchFamily="34" charset="-122"/>
              <a:ea typeface="微软雅黑" pitchFamily="34" charset="-122"/>
            </a:rPr>
            <a:t>打印机</a:t>
          </a:r>
        </a:p>
      </dsp:txBody>
      <dsp:txXfrm>
        <a:off x="4792446" y="999767"/>
        <a:ext cx="1158787" cy="915635"/>
      </dsp:txXfrm>
    </dsp:sp>
    <dsp:sp modelId="{F979DE7E-F85F-451E-A475-675788CB2E94}">
      <dsp:nvSpPr>
        <dsp:cNvPr id="0" name=""/>
        <dsp:cNvSpPr/>
      </dsp:nvSpPr>
      <dsp:spPr>
        <a:xfrm>
          <a:off x="4032442" y="2808310"/>
          <a:ext cx="1296833" cy="494988"/>
        </a:xfrm>
        <a:prstGeom prst="leftRightArrow">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D182A3D-7C6E-4B4B-83BB-2A5DD28F8595}">
      <dsp:nvSpPr>
        <dsp:cNvPr id="0" name=""/>
        <dsp:cNvSpPr/>
      </dsp:nvSpPr>
      <dsp:spPr>
        <a:xfrm>
          <a:off x="5266835" y="2518971"/>
          <a:ext cx="1215761" cy="972609"/>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latin typeface="微软雅黑" pitchFamily="34" charset="-122"/>
              <a:ea typeface="微软雅黑" pitchFamily="34" charset="-122"/>
            </a:rPr>
            <a:t>USB/</a:t>
          </a:r>
          <a:r>
            <a:rPr lang="zh-CN" altLang="en-US" sz="1600" b="1" kern="1200" dirty="0">
              <a:latin typeface="微软雅黑" pitchFamily="34" charset="-122"/>
              <a:ea typeface="微软雅黑" pitchFamily="34" charset="-122"/>
            </a:rPr>
            <a:t>硬盘</a:t>
          </a:r>
        </a:p>
      </dsp:txBody>
      <dsp:txXfrm>
        <a:off x="5295322" y="2547458"/>
        <a:ext cx="1158787" cy="915635"/>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84524F-5C8C-4CF8-964C-68B44E826FEE}" type="datetimeFigureOut">
              <a:rPr lang="en-US" smtClean="0"/>
              <a:t>7/30/2016</a:t>
            </a:fld>
            <a:endParaRPr 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E00F3E-42E3-47B8-AD52-3484E0D8A9EB}" type="slidenum">
              <a:rPr lang="en-US" smtClean="0"/>
              <a:t>‹#›</a:t>
            </a:fld>
            <a:endParaRPr lang="en-US"/>
          </a:p>
        </p:txBody>
      </p:sp>
    </p:spTree>
    <p:extLst>
      <p:ext uri="{BB962C8B-B14F-4D97-AF65-F5344CB8AC3E}">
        <p14:creationId xmlns:p14="http://schemas.microsoft.com/office/powerpoint/2010/main" val="910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a:lvl2pPr marL="457200" algn="l" defTabSz="914400" rtl="0" eaLnBrk="1" latinLnBrk="0" hangingPunct="1">
      <a:defRPr sz="1200" kern="1200">
        <a:solidFill>
          <a:schemeClr val="tx1"/>
        </a:solidFill>
        <a:latin typeface="+mn-lt"/>
        <a:ea typeface="微软雅黑" panose="020B0503020204020204" pitchFamily="34" charset="-122"/>
        <a:cs typeface="+mn-cs"/>
      </a:defRPr>
    </a:lvl2pPr>
    <a:lvl3pPr marL="914400" algn="l" defTabSz="914400" rtl="0" eaLnBrk="1" latinLnBrk="0" hangingPunct="1">
      <a:defRPr sz="1200" kern="1200">
        <a:solidFill>
          <a:schemeClr val="tx1"/>
        </a:solidFill>
        <a:latin typeface="+mn-lt"/>
        <a:ea typeface="微软雅黑" panose="020B0503020204020204" pitchFamily="34" charset="-122"/>
        <a:cs typeface="+mn-cs"/>
      </a:defRPr>
    </a:lvl3pPr>
    <a:lvl4pPr marL="1371600" algn="l" defTabSz="914400" rtl="0" eaLnBrk="1" latinLnBrk="0" hangingPunct="1">
      <a:defRPr sz="1200" kern="1200">
        <a:solidFill>
          <a:schemeClr val="tx1"/>
        </a:solidFill>
        <a:latin typeface="+mn-lt"/>
        <a:ea typeface="微软雅黑" panose="020B0503020204020204" pitchFamily="34" charset="-122"/>
        <a:cs typeface="+mn-cs"/>
      </a:defRPr>
    </a:lvl4pPr>
    <a:lvl5pPr marL="1828800" algn="l" defTabSz="914400" rtl="0" eaLnBrk="1" latinLnBrk="0" hangingPunct="1">
      <a:defRPr sz="1200" kern="1200">
        <a:solidFill>
          <a:schemeClr val="tx1"/>
        </a:solidFill>
        <a:latin typeface="+mn-lt"/>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大家都已经会用计算机，学过了编写软件的高级语言，</a:t>
            </a:r>
            <a:r>
              <a:rPr lang="en-US" altLang="zh-CN" dirty="0"/>
              <a:t>C/C++</a:t>
            </a:r>
            <a:r>
              <a:rPr lang="zh-CN" altLang="en-US" dirty="0"/>
              <a:t>。</a:t>
            </a:r>
            <a:endParaRPr lang="en-US" altLang="zh-CN" dirty="0"/>
          </a:p>
          <a:p>
            <a:pPr marL="228600" indent="-228600">
              <a:buAutoNum type="arabicPeriod"/>
            </a:pPr>
            <a:r>
              <a:rPr lang="zh-CN" altLang="en-US" dirty="0"/>
              <a:t>通信需要进行实时计算，采用通用</a:t>
            </a:r>
            <a:r>
              <a:rPr lang="en-US" altLang="zh-CN" dirty="0"/>
              <a:t>CPU</a:t>
            </a:r>
            <a:r>
              <a:rPr lang="zh-CN" altLang="en-US" dirty="0"/>
              <a:t>，可以提升开发速度和调试速度，但是对程序员的编程效率要求很高。</a:t>
            </a:r>
            <a:endParaRPr lang="en-US" altLang="zh-CN" dirty="0"/>
          </a:p>
          <a:p>
            <a:pPr marL="228600" indent="-228600">
              <a:buAutoNum type="arabicPeriod"/>
            </a:pPr>
            <a:r>
              <a:rPr lang="zh-CN" altLang="en-US" dirty="0"/>
              <a:t>学校的打卡系统工作：射频卡</a:t>
            </a:r>
            <a:r>
              <a:rPr lang="en-US" altLang="zh-CN" dirty="0"/>
              <a:t>+</a:t>
            </a:r>
            <a:r>
              <a:rPr lang="zh-CN" altLang="en-US" dirty="0"/>
              <a:t>打卡器</a:t>
            </a:r>
            <a:r>
              <a:rPr lang="en-US" altLang="zh-CN" dirty="0"/>
              <a:t>+</a:t>
            </a:r>
            <a:r>
              <a:rPr lang="zh-CN" altLang="en-US" dirty="0"/>
              <a:t>通信</a:t>
            </a:r>
            <a:r>
              <a:rPr lang="en-US" altLang="zh-CN" dirty="0"/>
              <a:t>+</a:t>
            </a:r>
            <a:r>
              <a:rPr lang="zh-CN" altLang="en-US" dirty="0"/>
              <a:t>数据库。</a:t>
            </a:r>
            <a:endParaRPr lang="en-US" altLang="zh-CN" dirty="0"/>
          </a:p>
          <a:p>
            <a:pPr marL="228600" indent="-228600">
              <a:buAutoNum type="arabicPeriod"/>
            </a:pPr>
            <a:r>
              <a:rPr lang="zh-CN" altLang="en-US" dirty="0"/>
              <a:t>智能洗衣机、电饭煲等等。</a:t>
            </a:r>
            <a:endParaRPr lang="en-US" altLang="zh-CN" dirty="0"/>
          </a:p>
        </p:txBody>
      </p:sp>
      <p:sp>
        <p:nvSpPr>
          <p:cNvPr id="4" name="灯片编号占位符 3"/>
          <p:cNvSpPr>
            <a:spLocks noGrp="1"/>
          </p:cNvSpPr>
          <p:nvPr>
            <p:ph type="sldNum" sz="quarter" idx="10"/>
          </p:nvPr>
        </p:nvSpPr>
        <p:spPr/>
        <p:txBody>
          <a:bodyPr/>
          <a:lstStyle/>
          <a:p>
            <a:fld id="{3BE00F3E-42E3-47B8-AD52-3484E0D8A9EB}" type="slidenum">
              <a:rPr lang="en-US" smtClean="0"/>
              <a:t>2</a:t>
            </a:fld>
            <a:endParaRPr lang="en-US"/>
          </a:p>
        </p:txBody>
      </p:sp>
    </p:spTree>
    <p:extLst>
      <p:ext uri="{BB962C8B-B14F-4D97-AF65-F5344CB8AC3E}">
        <p14:creationId xmlns:p14="http://schemas.microsoft.com/office/powerpoint/2010/main" val="1031468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深入理解计算机系统：理解</a:t>
            </a:r>
            <a:r>
              <a:rPr lang="en-US" altLang="zh-CN" dirty="0"/>
              <a:t>CPU</a:t>
            </a:r>
            <a:r>
              <a:rPr lang="zh-CN" altLang="en-US" dirty="0"/>
              <a:t>执行执行程序的过程，理解存储器的使用，</a:t>
            </a:r>
            <a:r>
              <a:rPr lang="en-US" altLang="zh-CN" dirty="0"/>
              <a:t>CPU</a:t>
            </a:r>
            <a:r>
              <a:rPr lang="zh-CN" altLang="en-US" dirty="0"/>
              <a:t>内部寄存器的使用，学习汇编，进而理解如何写出高效的代码，提高代码的工作效率。对于一个严谨的程序员，能够阅读和理解汇编代码是一个很重要的技能。经过反编译，可以发现代码中隐含的低效率。</a:t>
            </a:r>
            <a:endParaRPr lang="en-US" altLang="zh-CN" dirty="0"/>
          </a:p>
          <a:p>
            <a:pPr marL="228600" indent="-228600">
              <a:buAutoNum type="arabicPeriod"/>
            </a:pPr>
            <a:r>
              <a:rPr lang="zh-CN" altLang="en-US" dirty="0"/>
              <a:t>汇编是除机器语言以外我们能操作的最底层的语言，很多驱动、嵌入式、单片机都是用汇编或者</a:t>
            </a:r>
            <a:r>
              <a:rPr lang="en-US" altLang="zh-CN" dirty="0"/>
              <a:t>C</a:t>
            </a:r>
            <a:r>
              <a:rPr lang="zh-CN" altLang="en-US" dirty="0"/>
              <a:t>写的。可以对底层的有大概的了解，知道</a:t>
            </a:r>
            <a:r>
              <a:rPr lang="en-US" altLang="zh-CN" dirty="0"/>
              <a:t>CPU</a:t>
            </a:r>
            <a:r>
              <a:rPr lang="zh-CN" altLang="en-US" dirty="0"/>
              <a:t>与内存，</a:t>
            </a:r>
            <a:r>
              <a:rPr lang="en-US" altLang="zh-CN" dirty="0"/>
              <a:t>IO</a:t>
            </a:r>
            <a:r>
              <a:rPr lang="zh-CN" altLang="en-US" dirty="0"/>
              <a:t>怎么进行工作。在一些应用中，程序员必须用汇编代码访问机器的低级特性。</a:t>
            </a:r>
            <a:endParaRPr lang="en-US" altLang="zh-CN" dirty="0"/>
          </a:p>
          <a:p>
            <a:pPr marL="228600" indent="-228600">
              <a:buAutoNum type="arabicPeriod"/>
            </a:pPr>
            <a:r>
              <a:rPr lang="zh-CN" altLang="en-US" dirty="0"/>
              <a:t>用机器的思维来进行操控计算机，编程里面非常高的境界。如何让硬件有效率工作，不是说以后用汇编遍，而是要用汇编的思维去编写，效率会很高。</a:t>
            </a:r>
            <a:endParaRPr lang="en-US" altLang="zh-CN" dirty="0"/>
          </a:p>
          <a:p>
            <a:pPr marL="228600" indent="-228600">
              <a:buAutoNum type="arabicPeriod"/>
            </a:pPr>
            <a:r>
              <a:rPr lang="zh-CN" altLang="en-US" dirty="0"/>
              <a:t>反汇编，逆向工程，黑客、破解。</a:t>
            </a:r>
            <a:endParaRPr lang="en-US" altLang="zh-CN" dirty="0"/>
          </a:p>
          <a:p>
            <a:r>
              <a:rPr lang="en-US" altLang="zh-CN" dirty="0"/>
              <a:t>2. </a:t>
            </a:r>
            <a:r>
              <a:rPr lang="zh-CN" altLang="en-US" dirty="0"/>
              <a:t>学习接口芯片，培养和建立起能够利用接口芯片，搭建控制系统，进而完成特定的任务。为单片机学习奠定基础。</a:t>
            </a:r>
            <a:endParaRPr lang="en-US" altLang="zh-CN" dirty="0"/>
          </a:p>
          <a:p>
            <a:r>
              <a:rPr lang="en-US" altLang="zh-CN" dirty="0"/>
              <a:t>3. </a:t>
            </a:r>
            <a:r>
              <a:rPr lang="zh-CN" altLang="en-US" dirty="0"/>
              <a:t>学习</a:t>
            </a:r>
            <a:r>
              <a:rPr lang="en-US" altLang="zh-CN" dirty="0"/>
              <a:t>x86</a:t>
            </a:r>
            <a:r>
              <a:rPr lang="zh-CN" altLang="en-US" dirty="0"/>
              <a:t>的</a:t>
            </a:r>
            <a:r>
              <a:rPr lang="en-US" altLang="zh-CN" dirty="0"/>
              <a:t>CPU</a:t>
            </a:r>
            <a:r>
              <a:rPr lang="zh-CN" altLang="en-US" dirty="0"/>
              <a:t>，也可以举一反三，触类旁通，更容易去学习其它</a:t>
            </a:r>
            <a:r>
              <a:rPr lang="en-US" altLang="zh-CN" dirty="0"/>
              <a:t>CPU</a:t>
            </a:r>
            <a:r>
              <a:rPr lang="zh-CN" altLang="en-US" dirty="0"/>
              <a:t>，例如</a:t>
            </a:r>
            <a:r>
              <a:rPr lang="en-US" altLang="zh-CN" dirty="0"/>
              <a:t>ARM</a:t>
            </a:r>
            <a:r>
              <a:rPr lang="zh-CN" altLang="en-US" dirty="0"/>
              <a:t>的</a:t>
            </a:r>
            <a:r>
              <a:rPr lang="en-US" altLang="zh-CN" dirty="0"/>
              <a:t>CPU</a:t>
            </a:r>
            <a:r>
              <a:rPr lang="zh-CN" altLang="en-US" dirty="0"/>
              <a:t>。</a:t>
            </a:r>
          </a:p>
        </p:txBody>
      </p:sp>
      <p:sp>
        <p:nvSpPr>
          <p:cNvPr id="4" name="灯片编号占位符 3"/>
          <p:cNvSpPr>
            <a:spLocks noGrp="1"/>
          </p:cNvSpPr>
          <p:nvPr>
            <p:ph type="sldNum" sz="quarter" idx="10"/>
          </p:nvPr>
        </p:nvSpPr>
        <p:spPr/>
        <p:txBody>
          <a:bodyPr/>
          <a:lstStyle/>
          <a:p>
            <a:fld id="{3BE00F3E-42E3-47B8-AD52-3484E0D8A9EB}" type="slidenum">
              <a:rPr lang="en-US" smtClean="0"/>
              <a:t>3</a:t>
            </a:fld>
            <a:endParaRPr lang="en-US"/>
          </a:p>
        </p:txBody>
      </p:sp>
    </p:spTree>
    <p:extLst>
      <p:ext uri="{BB962C8B-B14F-4D97-AF65-F5344CB8AC3E}">
        <p14:creationId xmlns:p14="http://schemas.microsoft.com/office/powerpoint/2010/main" val="2414814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dirty="0"/>
              <a:t>汇编</a:t>
            </a:r>
            <a:r>
              <a:rPr lang="en-US" altLang="zh-CN" dirty="0"/>
              <a:t>---</a:t>
            </a:r>
            <a:r>
              <a:rPr lang="zh-CN" altLang="en-US"/>
              <a:t>会编</a:t>
            </a:r>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4</a:t>
            </a:fld>
            <a:endParaRPr lang="en-US"/>
          </a:p>
        </p:txBody>
      </p:sp>
    </p:spTree>
    <p:extLst>
      <p:ext uri="{BB962C8B-B14F-4D97-AF65-F5344CB8AC3E}">
        <p14:creationId xmlns:p14="http://schemas.microsoft.com/office/powerpoint/2010/main" val="2174449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5</a:t>
            </a:fld>
            <a:endParaRPr lang="en-US"/>
          </a:p>
        </p:txBody>
      </p:sp>
    </p:spTree>
    <p:extLst>
      <p:ext uri="{BB962C8B-B14F-4D97-AF65-F5344CB8AC3E}">
        <p14:creationId xmlns:p14="http://schemas.microsoft.com/office/powerpoint/2010/main" val="3728507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6</a:t>
            </a:fld>
            <a:endParaRPr lang="en-US"/>
          </a:p>
        </p:txBody>
      </p:sp>
    </p:spTree>
    <p:extLst>
      <p:ext uri="{BB962C8B-B14F-4D97-AF65-F5344CB8AC3E}">
        <p14:creationId xmlns:p14="http://schemas.microsoft.com/office/powerpoint/2010/main" val="614187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dirty="0"/>
              <a:t>第二章不讲</a:t>
            </a:r>
          </a:p>
        </p:txBody>
      </p:sp>
      <p:sp>
        <p:nvSpPr>
          <p:cNvPr id="4" name="灯片编号占位符 3"/>
          <p:cNvSpPr>
            <a:spLocks noGrp="1"/>
          </p:cNvSpPr>
          <p:nvPr>
            <p:ph type="sldNum" sz="quarter" idx="10"/>
          </p:nvPr>
        </p:nvSpPr>
        <p:spPr/>
        <p:txBody>
          <a:bodyPr/>
          <a:lstStyle/>
          <a:p>
            <a:fld id="{3BE00F3E-42E3-47B8-AD52-3484E0D8A9EB}" type="slidenum">
              <a:rPr lang="en-US" smtClean="0"/>
              <a:t>7</a:t>
            </a:fld>
            <a:endParaRPr lang="en-US"/>
          </a:p>
        </p:txBody>
      </p:sp>
    </p:spTree>
    <p:extLst>
      <p:ext uri="{BB962C8B-B14F-4D97-AF65-F5344CB8AC3E}">
        <p14:creationId xmlns:p14="http://schemas.microsoft.com/office/powerpoint/2010/main" val="2411364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dirty="0"/>
              <a:t>郁老师书中</a:t>
            </a:r>
            <a:r>
              <a:rPr lang="en-US" altLang="zh-CN" dirty="0"/>
              <a:t>386</a:t>
            </a:r>
            <a:r>
              <a:rPr lang="zh-CN" altLang="en-US" dirty="0"/>
              <a:t>部分</a:t>
            </a:r>
          </a:p>
        </p:txBody>
      </p:sp>
      <p:sp>
        <p:nvSpPr>
          <p:cNvPr id="4" name="灯片编号占位符 3"/>
          <p:cNvSpPr>
            <a:spLocks noGrp="1"/>
          </p:cNvSpPr>
          <p:nvPr>
            <p:ph type="sldNum" sz="quarter" idx="10"/>
          </p:nvPr>
        </p:nvSpPr>
        <p:spPr/>
        <p:txBody>
          <a:bodyPr/>
          <a:lstStyle/>
          <a:p>
            <a:fld id="{3BE00F3E-42E3-47B8-AD52-3484E0D8A9EB}" type="slidenum">
              <a:rPr lang="en-US" smtClean="0"/>
              <a:t>8</a:t>
            </a:fld>
            <a:endParaRPr lang="en-US"/>
          </a:p>
        </p:txBody>
      </p:sp>
    </p:spTree>
    <p:extLst>
      <p:ext uri="{BB962C8B-B14F-4D97-AF65-F5344CB8AC3E}">
        <p14:creationId xmlns:p14="http://schemas.microsoft.com/office/powerpoint/2010/main" val="1395907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9</a:t>
            </a:fld>
            <a:endParaRPr lang="en-US"/>
          </a:p>
        </p:txBody>
      </p:sp>
    </p:spTree>
    <p:extLst>
      <p:ext uri="{BB962C8B-B14F-4D97-AF65-F5344CB8AC3E}">
        <p14:creationId xmlns:p14="http://schemas.microsoft.com/office/powerpoint/2010/main" val="3744439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10</a:t>
            </a:fld>
            <a:endParaRPr lang="en-US"/>
          </a:p>
        </p:txBody>
      </p:sp>
    </p:spTree>
    <p:extLst>
      <p:ext uri="{BB962C8B-B14F-4D97-AF65-F5344CB8AC3E}">
        <p14:creationId xmlns:p14="http://schemas.microsoft.com/office/powerpoint/2010/main" val="32970834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dirty="0"/>
              <a:t>期末考试不考前面部分</a:t>
            </a:r>
          </a:p>
        </p:txBody>
      </p:sp>
      <p:sp>
        <p:nvSpPr>
          <p:cNvPr id="4" name="灯片编号占位符 3"/>
          <p:cNvSpPr>
            <a:spLocks noGrp="1"/>
          </p:cNvSpPr>
          <p:nvPr>
            <p:ph type="sldNum" sz="quarter" idx="10"/>
          </p:nvPr>
        </p:nvSpPr>
        <p:spPr/>
        <p:txBody>
          <a:bodyPr/>
          <a:lstStyle/>
          <a:p>
            <a:fld id="{3BE00F3E-42E3-47B8-AD52-3484E0D8A9EB}" type="slidenum">
              <a:rPr lang="en-US" smtClean="0"/>
              <a:t>11</a:t>
            </a:fld>
            <a:endParaRPr lang="en-US"/>
          </a:p>
        </p:txBody>
      </p:sp>
    </p:spTree>
    <p:extLst>
      <p:ext uri="{BB962C8B-B14F-4D97-AF65-F5344CB8AC3E}">
        <p14:creationId xmlns:p14="http://schemas.microsoft.com/office/powerpoint/2010/main" val="1813726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看到放大镜这个图标，说明这一页</a:t>
            </a:r>
            <a:r>
              <a:rPr lang="en-US" altLang="zh-CN" dirty="0"/>
              <a:t>PPT</a:t>
            </a:r>
            <a:r>
              <a:rPr lang="zh-CN" altLang="en-US" dirty="0"/>
              <a:t>是是重点掌握内容。</a:t>
            </a:r>
          </a:p>
        </p:txBody>
      </p:sp>
      <p:sp>
        <p:nvSpPr>
          <p:cNvPr id="4" name="灯片编号占位符 3"/>
          <p:cNvSpPr>
            <a:spLocks noGrp="1"/>
          </p:cNvSpPr>
          <p:nvPr>
            <p:ph type="sldNum" sz="quarter" idx="10"/>
          </p:nvPr>
        </p:nvSpPr>
        <p:spPr/>
        <p:txBody>
          <a:bodyPr/>
          <a:lstStyle/>
          <a:p>
            <a:fld id="{3BE00F3E-42E3-47B8-AD52-3484E0D8A9EB}" type="slidenum">
              <a:rPr lang="en-US" smtClean="0"/>
              <a:t>15</a:t>
            </a:fld>
            <a:endParaRPr lang="en-US"/>
          </a:p>
        </p:txBody>
      </p:sp>
    </p:spTree>
    <p:extLst>
      <p:ext uri="{BB962C8B-B14F-4D97-AF65-F5344CB8AC3E}">
        <p14:creationId xmlns:p14="http://schemas.microsoft.com/office/powerpoint/2010/main" val="33454734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硬件系统：计算机硬件。软件系统，包括操作系统，应用软件。</a:t>
            </a:r>
          </a:p>
        </p:txBody>
      </p:sp>
      <p:sp>
        <p:nvSpPr>
          <p:cNvPr id="4" name="灯片编号占位符 3"/>
          <p:cNvSpPr>
            <a:spLocks noGrp="1"/>
          </p:cNvSpPr>
          <p:nvPr>
            <p:ph type="sldNum" sz="quarter" idx="10"/>
          </p:nvPr>
        </p:nvSpPr>
        <p:spPr/>
        <p:txBody>
          <a:bodyPr/>
          <a:lstStyle/>
          <a:p>
            <a:fld id="{3BE00F3E-42E3-47B8-AD52-3484E0D8A9EB}" type="slidenum">
              <a:rPr lang="en-US" smtClean="0"/>
              <a:t>16</a:t>
            </a:fld>
            <a:endParaRPr lang="en-US"/>
          </a:p>
        </p:txBody>
      </p:sp>
    </p:spTree>
    <p:extLst>
      <p:ext uri="{BB962C8B-B14F-4D97-AF65-F5344CB8AC3E}">
        <p14:creationId xmlns:p14="http://schemas.microsoft.com/office/powerpoint/2010/main" val="164946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我们知道算术运算以及移位逻辑运算是计算机的主要计算功能；</a:t>
            </a:r>
            <a:endParaRPr lang="en-US" altLang="zh-CN" dirty="0"/>
          </a:p>
          <a:p>
            <a:r>
              <a:rPr lang="zh-CN" altLang="en-US" dirty="0"/>
              <a:t>寄存器阵列：</a:t>
            </a:r>
            <a:r>
              <a:rPr lang="zh-CN" altLang="en-US" baseline="0" dirty="0"/>
              <a:t>用于存放指令、操作数和中间结果等</a:t>
            </a:r>
            <a:endParaRPr lang="en-US" altLang="zh-CN" baseline="0" dirty="0"/>
          </a:p>
          <a:p>
            <a:r>
              <a:rPr lang="zh-CN" altLang="en-US" baseline="0" dirty="0"/>
              <a:t>控制部件：产生一定的时序，控制指令的执行。程指令寄存器（</a:t>
            </a:r>
            <a:r>
              <a:rPr lang="en-US" altLang="zh-CN" baseline="0" dirty="0"/>
              <a:t>IR</a:t>
            </a:r>
            <a:r>
              <a:rPr lang="zh-CN" altLang="en-US" baseline="0" dirty="0"/>
              <a:t>，保存当前正在执行的一条指令）、指令译码器（</a:t>
            </a:r>
            <a:r>
              <a:rPr lang="en-US" altLang="zh-CN" baseline="0" dirty="0"/>
              <a:t>ID</a:t>
            </a:r>
            <a:r>
              <a:rPr lang="zh-CN" altLang="en-US" baseline="0" dirty="0"/>
              <a:t>，将指令的操作码翻译成机器能识别的命令信号）和时序信号发生器组成（产生的命令信号产生具体的控制信号）。</a:t>
            </a:r>
            <a:endParaRPr lang="en-US" altLang="zh-CN" dirty="0"/>
          </a:p>
        </p:txBody>
      </p:sp>
      <p:sp>
        <p:nvSpPr>
          <p:cNvPr id="4" name="灯片编号占位符 3"/>
          <p:cNvSpPr>
            <a:spLocks noGrp="1"/>
          </p:cNvSpPr>
          <p:nvPr>
            <p:ph type="sldNum" sz="quarter" idx="10"/>
          </p:nvPr>
        </p:nvSpPr>
        <p:spPr/>
        <p:txBody>
          <a:bodyPr/>
          <a:lstStyle/>
          <a:p>
            <a:fld id="{3BE00F3E-42E3-47B8-AD52-3484E0D8A9EB}" type="slidenum">
              <a:rPr lang="en-US" smtClean="0"/>
              <a:t>19</a:t>
            </a:fld>
            <a:endParaRPr lang="en-US"/>
          </a:p>
        </p:txBody>
      </p:sp>
    </p:spTree>
    <p:extLst>
      <p:ext uri="{BB962C8B-B14F-4D97-AF65-F5344CB8AC3E}">
        <p14:creationId xmlns:p14="http://schemas.microsoft.com/office/powerpoint/2010/main" val="688047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solidFill>
                  <a:schemeClr val="tx1">
                    <a:lumMod val="65000"/>
                    <a:lumOff val="35000"/>
                  </a:schemeClr>
                </a:solidFill>
              </a:rPr>
              <a:t>字长：计算能力</a:t>
            </a:r>
            <a:endParaRPr lang="en-US" altLang="zh-CN" sz="1200" b="1" dirty="0">
              <a:solidFill>
                <a:schemeClr val="tx1">
                  <a:lumMod val="65000"/>
                  <a:lumOff val="35000"/>
                </a:schemeClr>
              </a:solidFill>
            </a:endParaRPr>
          </a:p>
          <a:p>
            <a:r>
              <a:rPr lang="zh-CN" altLang="en-US" sz="1200" b="1" dirty="0">
                <a:solidFill>
                  <a:schemeClr val="tx1">
                    <a:lumMod val="65000"/>
                    <a:lumOff val="35000"/>
                  </a:schemeClr>
                </a:solidFill>
              </a:rPr>
              <a:t>地址长度：存储能力，</a:t>
            </a:r>
            <a:endParaRPr lang="en-US" altLang="zh-CN" sz="1200" b="1" dirty="0">
              <a:solidFill>
                <a:schemeClr val="tx1">
                  <a:lumMod val="65000"/>
                  <a:lumOff val="35000"/>
                </a:schemeClr>
              </a:solidFill>
            </a:endParaRPr>
          </a:p>
          <a:p>
            <a:r>
              <a:rPr lang="zh-CN" altLang="en-US" sz="1200" b="1" dirty="0">
                <a:solidFill>
                  <a:schemeClr val="tx1">
                    <a:lumMod val="65000"/>
                    <a:lumOff val="35000"/>
                  </a:schemeClr>
                </a:solidFill>
              </a:rPr>
              <a:t>运算速度：计算速度，</a:t>
            </a:r>
            <a:endParaRPr lang="en-US" altLang="zh-CN" sz="1200" b="1" dirty="0">
              <a:solidFill>
                <a:schemeClr val="tx1">
                  <a:lumMod val="65000"/>
                  <a:lumOff val="35000"/>
                </a:schemeClr>
              </a:solidFill>
            </a:endParaRPr>
          </a:p>
          <a:p>
            <a:r>
              <a:rPr lang="zh-CN" altLang="en-US" sz="1200" b="1" dirty="0">
                <a:solidFill>
                  <a:schemeClr val="tx1">
                    <a:lumMod val="65000"/>
                    <a:lumOff val="35000"/>
                  </a:schemeClr>
                </a:solidFill>
              </a:rPr>
              <a:t>同学：</a:t>
            </a:r>
            <a:r>
              <a:rPr lang="en-US" altLang="zh-CN" sz="1200" b="1" dirty="0">
                <a:solidFill>
                  <a:schemeClr val="tx1">
                    <a:lumMod val="65000"/>
                    <a:lumOff val="35000"/>
                  </a:schemeClr>
                </a:solidFill>
              </a:rPr>
              <a:t>1KHz</a:t>
            </a:r>
            <a:r>
              <a:rPr lang="zh-CN" altLang="en-US" sz="1200" b="1" dirty="0">
                <a:solidFill>
                  <a:schemeClr val="tx1">
                    <a:lumMod val="65000"/>
                    <a:lumOff val="35000"/>
                  </a:schemeClr>
                </a:solidFill>
              </a:rPr>
              <a:t>可是指的</a:t>
            </a:r>
            <a:r>
              <a:rPr lang="en-US" altLang="zh-CN" sz="1200" b="1" dirty="0">
                <a:solidFill>
                  <a:schemeClr val="tx1">
                    <a:lumMod val="65000"/>
                    <a:lumOff val="35000"/>
                  </a:schemeClr>
                </a:solidFill>
              </a:rPr>
              <a:t>1000Hz</a:t>
            </a:r>
            <a:r>
              <a:rPr lang="zh-CN" altLang="en-US" sz="1200" b="1" dirty="0">
                <a:solidFill>
                  <a:schemeClr val="tx1">
                    <a:lumMod val="65000"/>
                    <a:lumOff val="35000"/>
                  </a:schemeClr>
                </a:solidFill>
              </a:rPr>
              <a:t>。</a:t>
            </a:r>
            <a:endParaRPr lang="en-US" altLang="zh-CN" sz="1200" b="1" dirty="0">
              <a:solidFill>
                <a:schemeClr val="tx1">
                  <a:lumMod val="65000"/>
                  <a:lumOff val="35000"/>
                </a:schemeClr>
              </a:solidFill>
            </a:endParaRPr>
          </a:p>
          <a:p>
            <a:endParaRPr lang="en-US" altLang="zh-CN" sz="1200" b="1" dirty="0">
              <a:solidFill>
                <a:schemeClr val="tx1">
                  <a:lumMod val="65000"/>
                  <a:lumOff val="35000"/>
                </a:schemeClr>
              </a:solidFill>
            </a:endParaRPr>
          </a:p>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21</a:t>
            </a:fld>
            <a:endParaRPr lang="en-US"/>
          </a:p>
        </p:txBody>
      </p:sp>
    </p:spTree>
    <p:extLst>
      <p:ext uri="{BB962C8B-B14F-4D97-AF65-F5344CB8AC3E}">
        <p14:creationId xmlns:p14="http://schemas.microsoft.com/office/powerpoint/2010/main" val="3614570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CPU</a:t>
            </a:r>
            <a:r>
              <a:rPr lang="zh-CN" altLang="en-US" dirty="0"/>
              <a:t>内部也有总线，被称为内部总线。我们所说的总线通常指外部的系统总线。</a:t>
            </a:r>
          </a:p>
        </p:txBody>
      </p:sp>
      <p:sp>
        <p:nvSpPr>
          <p:cNvPr id="4" name="灯片编号占位符 3"/>
          <p:cNvSpPr>
            <a:spLocks noGrp="1"/>
          </p:cNvSpPr>
          <p:nvPr>
            <p:ph type="sldNum" sz="quarter" idx="10"/>
          </p:nvPr>
        </p:nvSpPr>
        <p:spPr/>
        <p:txBody>
          <a:bodyPr/>
          <a:lstStyle/>
          <a:p>
            <a:fld id="{3BE00F3E-42E3-47B8-AD52-3484E0D8A9EB}" type="slidenum">
              <a:rPr lang="en-US" smtClean="0"/>
              <a:t>22</a:t>
            </a:fld>
            <a:endParaRPr lang="en-US"/>
          </a:p>
        </p:txBody>
      </p:sp>
    </p:spTree>
    <p:extLst>
      <p:ext uri="{BB962C8B-B14F-4D97-AF65-F5344CB8AC3E}">
        <p14:creationId xmlns:p14="http://schemas.microsoft.com/office/powerpoint/2010/main" val="1859925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23</a:t>
            </a:fld>
            <a:endParaRPr lang="en-US"/>
          </a:p>
        </p:txBody>
      </p:sp>
    </p:spTree>
    <p:extLst>
      <p:ext uri="{BB962C8B-B14F-4D97-AF65-F5344CB8AC3E}">
        <p14:creationId xmlns:p14="http://schemas.microsoft.com/office/powerpoint/2010/main" val="197733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27</a:t>
            </a:fld>
            <a:endParaRPr lang="en-US"/>
          </a:p>
        </p:txBody>
      </p:sp>
    </p:spTree>
    <p:extLst>
      <p:ext uri="{BB962C8B-B14F-4D97-AF65-F5344CB8AC3E}">
        <p14:creationId xmlns:p14="http://schemas.microsoft.com/office/powerpoint/2010/main" val="33361952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r>
              <a:rPr lang="zh-CN" altLang="en-US" dirty="0"/>
              <a:t>内存也是一个存储介质或者说是存储单元而已，其实寄存器从理解上来说和内存差不多， 只不过寄存器（这里讨论的寄存器都是 </a:t>
            </a:r>
            <a:r>
              <a:rPr lang="en-US" altLang="zh-CN" dirty="0"/>
              <a:t>CPU </a:t>
            </a:r>
            <a:r>
              <a:rPr lang="zh-CN" altLang="en-US" dirty="0"/>
              <a:t>中的寄存器，不包括外设上的寄存器）位于  </a:t>
            </a:r>
            <a:r>
              <a:rPr lang="en-US" altLang="zh-CN" dirty="0"/>
              <a:t>CPU  </a:t>
            </a:r>
            <a:r>
              <a:rPr lang="zh-CN" altLang="en-US" dirty="0"/>
              <a:t>内部，而内存位于 </a:t>
            </a:r>
            <a:r>
              <a:rPr lang="en-US" altLang="zh-CN" dirty="0"/>
              <a:t>CPU </a:t>
            </a:r>
            <a:r>
              <a:rPr lang="zh-CN" altLang="en-US" dirty="0"/>
              <a:t>外部， 而且，寄存器比内存可是珍贵得多，就拿内存和硬盘来比，肯定是内存在使用上珍贵得多，是 </a:t>
            </a:r>
            <a:r>
              <a:rPr lang="en-US" altLang="zh-CN" dirty="0"/>
              <a:t>PC </a:t>
            </a:r>
            <a:r>
              <a:rPr lang="zh-CN" altLang="en-US" dirty="0"/>
              <a:t>中的稀有资源， </a:t>
            </a:r>
          </a:p>
          <a:p>
            <a:r>
              <a:rPr lang="zh-CN" altLang="en-US" dirty="0"/>
              <a:t>而寄存器是 </a:t>
            </a:r>
            <a:r>
              <a:rPr lang="en-US" altLang="zh-CN" dirty="0"/>
              <a:t>CPU </a:t>
            </a:r>
            <a:r>
              <a:rPr lang="zh-CN" altLang="en-US"/>
              <a:t>中的稀有资源，内存和寄存器相比就像硬盘和内存相比一样 。 </a:t>
            </a:r>
          </a:p>
          <a:p>
            <a:r>
              <a:rPr lang="zh-CN" altLang="en-US" dirty="0"/>
              <a:t>而对于一个汇编程序员来说，</a:t>
            </a:r>
            <a:r>
              <a:rPr lang="en-US" altLang="zh-CN" dirty="0"/>
              <a:t>CPU </a:t>
            </a:r>
            <a:r>
              <a:rPr lang="zh-CN" altLang="en-US" dirty="0"/>
              <a:t>中主要可以使用的也就是寄存器而已，汇编程序员可以使用指令来读写 </a:t>
            </a:r>
            <a:r>
              <a:rPr lang="en-US" altLang="zh-CN" dirty="0"/>
              <a:t>CPU </a:t>
            </a:r>
            <a:r>
              <a:rPr lang="zh-CN" altLang="en-US" dirty="0"/>
              <a:t>中的寄存器， </a:t>
            </a:r>
          </a:p>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28</a:t>
            </a:fld>
            <a:endParaRPr lang="en-US"/>
          </a:p>
        </p:txBody>
      </p:sp>
    </p:spTree>
    <p:extLst>
      <p:ext uri="{BB962C8B-B14F-4D97-AF65-F5344CB8AC3E}">
        <p14:creationId xmlns:p14="http://schemas.microsoft.com/office/powerpoint/2010/main" val="34410869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在</a:t>
            </a:r>
            <a:r>
              <a:rPr lang="en-US" altLang="zh-CN" dirty="0"/>
              <a:t>CPU</a:t>
            </a:r>
            <a:r>
              <a:rPr lang="zh-CN" altLang="en-US" dirty="0"/>
              <a:t>的控制直线，通过控制电路用来控制存储器的读／写操作过程， 地址译码器接收从地址总线</a:t>
            </a:r>
            <a:r>
              <a:rPr lang="en-US" altLang="zh-CN" dirty="0"/>
              <a:t>AB</a:t>
            </a:r>
            <a:r>
              <a:rPr lang="zh-CN" altLang="en-US" dirty="0"/>
              <a:t>送来的地址码，</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经译码器译码选中相应的某个存储单元，以便从中读出（取出）信息或写入（存入）信息；</a:t>
            </a:r>
          </a:p>
        </p:txBody>
      </p:sp>
      <p:sp>
        <p:nvSpPr>
          <p:cNvPr id="4" name="灯片编号占位符 3"/>
          <p:cNvSpPr>
            <a:spLocks noGrp="1"/>
          </p:cNvSpPr>
          <p:nvPr>
            <p:ph type="sldNum" sz="quarter" idx="10"/>
          </p:nvPr>
        </p:nvSpPr>
        <p:spPr/>
        <p:txBody>
          <a:bodyPr/>
          <a:lstStyle/>
          <a:p>
            <a:fld id="{3BE00F3E-42E3-47B8-AD52-3484E0D8A9EB}" type="slidenum">
              <a:rPr lang="en-US" smtClean="0"/>
              <a:t>29</a:t>
            </a:fld>
            <a:endParaRPr lang="en-US"/>
          </a:p>
        </p:txBody>
      </p:sp>
    </p:spTree>
    <p:extLst>
      <p:ext uri="{BB962C8B-B14F-4D97-AF65-F5344CB8AC3E}">
        <p14:creationId xmlns:p14="http://schemas.microsoft.com/office/powerpoint/2010/main" val="40654066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存储器的在使用时，最小单位是</a:t>
            </a:r>
            <a:r>
              <a:rPr lang="en-US" altLang="zh-CN" dirty="0"/>
              <a:t>1</a:t>
            </a:r>
            <a:r>
              <a:rPr lang="zh-CN" altLang="en-US" dirty="0"/>
              <a:t>个字节，二进制的字节在存储器中的存储如图所示。在这一页需要讲一下二进制和</a:t>
            </a:r>
            <a:r>
              <a:rPr lang="en-US" altLang="zh-CN" dirty="0"/>
              <a:t>16</a:t>
            </a:r>
            <a:r>
              <a:rPr lang="zh-CN" altLang="en-US" dirty="0"/>
              <a:t>进制。</a:t>
            </a:r>
          </a:p>
        </p:txBody>
      </p:sp>
      <p:sp>
        <p:nvSpPr>
          <p:cNvPr id="4" name="灯片编号占位符 3"/>
          <p:cNvSpPr>
            <a:spLocks noGrp="1"/>
          </p:cNvSpPr>
          <p:nvPr>
            <p:ph type="sldNum" sz="quarter" idx="10"/>
          </p:nvPr>
        </p:nvSpPr>
        <p:spPr/>
        <p:txBody>
          <a:bodyPr/>
          <a:lstStyle/>
          <a:p>
            <a:fld id="{3BE00F3E-42E3-47B8-AD52-3484E0D8A9EB}" type="slidenum">
              <a:rPr lang="en-US" smtClean="0"/>
              <a:t>30</a:t>
            </a:fld>
            <a:endParaRPr lang="en-US"/>
          </a:p>
        </p:txBody>
      </p:sp>
    </p:spTree>
    <p:extLst>
      <p:ext uri="{BB962C8B-B14F-4D97-AF65-F5344CB8AC3E}">
        <p14:creationId xmlns:p14="http://schemas.microsoft.com/office/powerpoint/2010/main" val="5365108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但是实际的数可能是</a:t>
            </a:r>
            <a:r>
              <a:rPr lang="en-US" altLang="zh-CN" dirty="0"/>
              <a:t>16</a:t>
            </a:r>
            <a:r>
              <a:rPr lang="zh-CN" altLang="en-US" dirty="0"/>
              <a:t>位，</a:t>
            </a:r>
            <a:r>
              <a:rPr lang="en-US" altLang="zh-CN" dirty="0"/>
              <a:t>32</a:t>
            </a:r>
            <a:r>
              <a:rPr lang="zh-CN" altLang="en-US" dirty="0"/>
              <a:t>位，</a:t>
            </a:r>
            <a:r>
              <a:rPr lang="en-US" altLang="zh-CN" dirty="0"/>
              <a:t>64</a:t>
            </a:r>
            <a:r>
              <a:rPr lang="zh-CN" altLang="en-US" dirty="0"/>
              <a:t>位的，那么，这种描述字、双字、四字，的地址时怎么标识</a:t>
            </a:r>
            <a:endParaRPr lang="en-US" altLang="zh-CN" dirty="0"/>
          </a:p>
          <a:p>
            <a:r>
              <a:rPr lang="zh-CN" altLang="en-US" dirty="0"/>
              <a:t>在这一页需要讲一下二进制和</a:t>
            </a:r>
            <a:r>
              <a:rPr lang="en-US" altLang="zh-CN" dirty="0"/>
              <a:t>16</a:t>
            </a:r>
            <a:r>
              <a:rPr lang="zh-CN" altLang="en-US" dirty="0"/>
              <a:t>进制。</a:t>
            </a:r>
          </a:p>
        </p:txBody>
      </p:sp>
      <p:sp>
        <p:nvSpPr>
          <p:cNvPr id="4" name="灯片编号占位符 3"/>
          <p:cNvSpPr>
            <a:spLocks noGrp="1"/>
          </p:cNvSpPr>
          <p:nvPr>
            <p:ph type="sldNum" sz="quarter" idx="10"/>
          </p:nvPr>
        </p:nvSpPr>
        <p:spPr/>
        <p:txBody>
          <a:bodyPr/>
          <a:lstStyle/>
          <a:p>
            <a:fld id="{3BE00F3E-42E3-47B8-AD52-3484E0D8A9EB}" type="slidenum">
              <a:rPr lang="en-US" smtClean="0"/>
              <a:t>31</a:t>
            </a:fld>
            <a:endParaRPr lang="en-US"/>
          </a:p>
        </p:txBody>
      </p:sp>
    </p:spTree>
    <p:extLst>
      <p:ext uri="{BB962C8B-B14F-4D97-AF65-F5344CB8AC3E}">
        <p14:creationId xmlns:p14="http://schemas.microsoft.com/office/powerpoint/2010/main" val="477469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36</a:t>
            </a:fld>
            <a:endParaRPr lang="en-US"/>
          </a:p>
        </p:txBody>
      </p:sp>
    </p:spTree>
    <p:extLst>
      <p:ext uri="{BB962C8B-B14F-4D97-AF65-F5344CB8AC3E}">
        <p14:creationId xmlns:p14="http://schemas.microsoft.com/office/powerpoint/2010/main" val="30752709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E00F3E-42E3-47B8-AD52-3484E0D8A9EB}" type="slidenum">
              <a:rPr lang="en-US" smtClean="0"/>
              <a:t>42</a:t>
            </a:fld>
            <a:endParaRPr lang="en-US"/>
          </a:p>
        </p:txBody>
      </p:sp>
    </p:spTree>
    <p:extLst>
      <p:ext uri="{BB962C8B-B14F-4D97-AF65-F5344CB8AC3E}">
        <p14:creationId xmlns:p14="http://schemas.microsoft.com/office/powerpoint/2010/main" val="17089798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www.eyefulpresentations.co.uk/" TargetMode="External"/><Relationship Id="rId7" Type="http://schemas.openxmlformats.org/officeDocument/2006/relationships/image" Target="../media/image7.png"/><Relationship Id="rId2" Type="http://schemas.openxmlformats.org/officeDocument/2006/relationships/hyperlink" Target="mailto:info@eyefulpresentations.co.uk" TargetMode="External"/><Relationship Id="rId1" Type="http://schemas.openxmlformats.org/officeDocument/2006/relationships/slideMaster" Target="../slideMasters/slideMaster1.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 Id="rId9"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spTree>
      <p:nvGrpSpPr>
        <p:cNvPr id="1" name=""/>
        <p:cNvGrpSpPr/>
        <p:nvPr/>
      </p:nvGrpSpPr>
      <p:grpSpPr>
        <a:xfrm>
          <a:off x="0" y="0"/>
          <a:ext cx="0" cy="0"/>
          <a:chOff x="0" y="0"/>
          <a:chExt cx="0" cy="0"/>
        </a:xfrm>
      </p:grpSpPr>
      <p:sp>
        <p:nvSpPr>
          <p:cNvPr id="7" name="Text Box 1032"/>
          <p:cNvSpPr txBox="1">
            <a:spLocks noChangeArrowheads="1"/>
          </p:cNvSpPr>
          <p:nvPr userDrawn="1"/>
        </p:nvSpPr>
        <p:spPr bwMode="auto">
          <a:xfrm>
            <a:off x="627063" y="936806"/>
            <a:ext cx="6753225" cy="1412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nchorCtr="1">
            <a:spAutoFit/>
          </a:bodyPr>
          <a:lstStyle>
            <a:lvl1pPr eaLnBrk="0" hangingPunct="0">
              <a:defRPr sz="2400" b="1">
                <a:solidFill>
                  <a:schemeClr val="tx1"/>
                </a:solidFill>
                <a:latin typeface="宋体" pitchFamily="2" charset="-122"/>
                <a:ea typeface="宋体" pitchFamily="2" charset="-122"/>
              </a:defRPr>
            </a:lvl1pPr>
            <a:lvl2pPr marL="742950" indent="-285750" eaLnBrk="0" hangingPunct="0">
              <a:defRPr sz="2400" b="1">
                <a:solidFill>
                  <a:schemeClr val="tx1"/>
                </a:solidFill>
                <a:latin typeface="宋体" pitchFamily="2" charset="-122"/>
                <a:ea typeface="宋体" pitchFamily="2" charset="-122"/>
              </a:defRPr>
            </a:lvl2pPr>
            <a:lvl3pPr marL="1143000" indent="-228600" eaLnBrk="0" hangingPunct="0">
              <a:defRPr sz="2400" b="1">
                <a:solidFill>
                  <a:schemeClr val="tx1"/>
                </a:solidFill>
                <a:latin typeface="宋体" pitchFamily="2" charset="-122"/>
                <a:ea typeface="宋体" pitchFamily="2" charset="-122"/>
              </a:defRPr>
            </a:lvl3pPr>
            <a:lvl4pPr marL="1600200" indent="-228600" eaLnBrk="0" hangingPunct="0">
              <a:defRPr sz="2400" b="1">
                <a:solidFill>
                  <a:schemeClr val="tx1"/>
                </a:solidFill>
                <a:latin typeface="宋体" pitchFamily="2" charset="-122"/>
                <a:ea typeface="宋体" pitchFamily="2" charset="-122"/>
              </a:defRPr>
            </a:lvl4pPr>
            <a:lvl5pPr marL="2057400" indent="-228600" eaLnBrk="0" hangingPunct="0">
              <a:defRPr sz="24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sz="24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sz="24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sz="24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sz="2400" b="1">
                <a:solidFill>
                  <a:schemeClr val="tx1"/>
                </a:solidFill>
                <a:latin typeface="宋体" pitchFamily="2" charset="-122"/>
                <a:ea typeface="宋体" pitchFamily="2" charset="-122"/>
              </a:defRPr>
            </a:lvl9pPr>
          </a:lstStyle>
          <a:p>
            <a:pPr algn="ctr" eaLnBrk="1" hangingPunct="1">
              <a:lnSpc>
                <a:spcPct val="130000"/>
              </a:lnSpc>
              <a:defRPr/>
            </a:pPr>
            <a:r>
              <a:rPr lang="zh-CN" altLang="en-US" sz="6600" dirty="0">
                <a:solidFill>
                  <a:srgbClr val="FFC000"/>
                </a:solidFill>
                <a:effectLst>
                  <a:outerShdw blurRad="38100" dist="38100" dir="2700000" algn="tl">
                    <a:srgbClr val="000000">
                      <a:alpha val="43137"/>
                    </a:srgbClr>
                  </a:outerShdw>
                </a:effectLst>
                <a:latin typeface="微软雅黑" pitchFamily="34" charset="-122"/>
                <a:ea typeface="微软雅黑" pitchFamily="34" charset="-122"/>
              </a:rPr>
              <a:t>第一章  绪论</a:t>
            </a:r>
          </a:p>
        </p:txBody>
      </p:sp>
      <p:cxnSp>
        <p:nvCxnSpPr>
          <p:cNvPr id="8" name="直接连接符 7"/>
          <p:cNvCxnSpPr/>
          <p:nvPr userDrawn="1"/>
        </p:nvCxnSpPr>
        <p:spPr bwMode="auto">
          <a:xfrm>
            <a:off x="827088" y="2349500"/>
            <a:ext cx="6408737" cy="0"/>
          </a:xfrm>
          <a:prstGeom prst="line">
            <a:avLst/>
          </a:prstGeom>
          <a:solidFill>
            <a:schemeClr val="accent1"/>
          </a:solidFill>
          <a:ln w="9525" cap="flat" cmpd="sng" algn="ctr">
            <a:solidFill>
              <a:srgbClr val="00B0F0"/>
            </a:solidFill>
            <a:prstDash val="solid"/>
            <a:round/>
            <a:headEnd type="none" w="med" len="med"/>
            <a:tailEnd type="none" w="med" len="med"/>
          </a:ln>
          <a:effectLst>
            <a:outerShdw blurRad="38100" algn="ctr" rotWithShape="0">
              <a:prstClr val="black">
                <a:alpha val="64000"/>
              </a:prstClr>
            </a:outerShdw>
          </a:effectLst>
        </p:spPr>
      </p:cxnSp>
      <p:sp>
        <p:nvSpPr>
          <p:cNvPr id="9" name="矩形 8"/>
          <p:cNvSpPr>
            <a:spLocks noChangeArrowheads="1"/>
          </p:cNvSpPr>
          <p:nvPr userDrawn="1"/>
        </p:nvSpPr>
        <p:spPr bwMode="auto">
          <a:xfrm>
            <a:off x="755576" y="549275"/>
            <a:ext cx="3959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dirty="0">
                <a:solidFill>
                  <a:schemeClr val="tx1">
                    <a:lumMod val="65000"/>
                    <a:lumOff val="35000"/>
                  </a:schemeClr>
                </a:solidFill>
                <a:latin typeface="微软雅黑" pitchFamily="34" charset="-122"/>
                <a:ea typeface="微软雅黑" pitchFamily="34" charset="-122"/>
              </a:rPr>
              <a:t>微机系统与接口</a:t>
            </a:r>
            <a:r>
              <a:rPr lang="en-US" altLang="zh-CN" b="1" dirty="0">
                <a:solidFill>
                  <a:schemeClr val="tx1">
                    <a:lumMod val="65000"/>
                    <a:lumOff val="35000"/>
                  </a:schemeClr>
                </a:solidFill>
                <a:latin typeface="微软雅黑" pitchFamily="34" charset="-122"/>
                <a:ea typeface="微软雅黑" pitchFamily="34" charset="-122"/>
              </a:rPr>
              <a:t>——</a:t>
            </a:r>
            <a:endParaRPr lang="zh-CN" altLang="en-US" b="1" dirty="0">
              <a:solidFill>
                <a:schemeClr val="tx1">
                  <a:lumMod val="65000"/>
                  <a:lumOff val="35000"/>
                </a:schemeClr>
              </a:solidFill>
              <a:ea typeface="微软雅黑" panose="020B0503020204020204" pitchFamily="34" charset="-122"/>
            </a:endParaRPr>
          </a:p>
        </p:txBody>
      </p:sp>
      <p:sp>
        <p:nvSpPr>
          <p:cNvPr id="10" name="TextBox 9"/>
          <p:cNvSpPr txBox="1">
            <a:spLocks noChangeArrowheads="1"/>
          </p:cNvSpPr>
          <p:nvPr userDrawn="1"/>
        </p:nvSpPr>
        <p:spPr bwMode="auto">
          <a:xfrm>
            <a:off x="827089" y="2508250"/>
            <a:ext cx="309684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1700" b="1" dirty="0">
                <a:solidFill>
                  <a:srgbClr val="FC6204"/>
                </a:solidFill>
                <a:latin typeface="微软雅黑" pitchFamily="34" charset="-122"/>
                <a:ea typeface="微软雅黑" pitchFamily="34" charset="-122"/>
                <a:cs typeface="Tahoma" pitchFamily="34" charset="0"/>
              </a:rPr>
              <a:t>东南大学信息科学与工程学院</a:t>
            </a:r>
            <a:endParaRPr lang="en-US" altLang="zh-CN" sz="1700" b="1" dirty="0">
              <a:solidFill>
                <a:srgbClr val="FC6204"/>
              </a:solidFill>
              <a:latin typeface="微软雅黑" pitchFamily="34" charset="-122"/>
              <a:ea typeface="微软雅黑" pitchFamily="34" charset="-122"/>
              <a:cs typeface="Tahoma" pitchFamily="34" charset="0"/>
            </a:endParaRPr>
          </a:p>
        </p:txBody>
      </p:sp>
      <p:sp>
        <p:nvSpPr>
          <p:cNvPr id="17" name="TextBox 18"/>
          <p:cNvSpPr txBox="1"/>
          <p:nvPr userDrawn="1"/>
        </p:nvSpPr>
        <p:spPr>
          <a:xfrm>
            <a:off x="7235825" y="5733256"/>
            <a:ext cx="1152599" cy="461665"/>
          </a:xfrm>
          <a:prstGeom prst="rect">
            <a:avLst/>
          </a:prstGeom>
          <a:noFill/>
          <a:effectLst>
            <a:reflection blurRad="6350" stA="50000" endA="300" endPos="38500" dist="50800" dir="5400000" sy="-100000" algn="bl" rotWithShape="0"/>
          </a:effectLst>
        </p:spPr>
        <p:txBody>
          <a:bodyPr wrap="square" rtlCol="0">
            <a:spAutoFit/>
          </a:bodyPr>
          <a:lstStyle/>
          <a:p>
            <a:r>
              <a:rPr lang="zh-CN" altLang="en-US" sz="2400" b="1" dirty="0">
                <a:solidFill>
                  <a:schemeClr val="tx1">
                    <a:lumMod val="65000"/>
                    <a:lumOff val="35000"/>
                  </a:schemeClr>
                </a:solidFill>
                <a:effectLst>
                  <a:reflection blurRad="6350" stA="55000" endA="300" endPos="45500" dir="5400000" sy="-100000" algn="bl" rotWithShape="0"/>
                </a:effectLst>
                <a:latin typeface="Broadway" pitchFamily="82" charset="0"/>
                <a:ea typeface="楷体" pitchFamily="49" charset="-122"/>
                <a:cs typeface="经典繁仿黑" pitchFamily="49" charset="-122"/>
              </a:rPr>
              <a:t>王东明</a:t>
            </a:r>
          </a:p>
        </p:txBody>
      </p:sp>
      <p:pic>
        <p:nvPicPr>
          <p:cNvPr id="18" name="Picture 2" descr="D:\Teliss_Tong\Copy\定期备份\工作备份\！PPT图片及版面资源\06-PPT精选插图\04-图标\59E394F1F59BE1688CBD1D9A59D1E886.png"/>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555776" y="2986582"/>
            <a:ext cx="2885504" cy="3138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121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decel="70000" fill="hold" grpId="0" nodeType="withEffect">
                                  <p:stCondLst>
                                    <p:cond delay="2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12" presetClass="entr" presetSubtype="4" fill="hold" nodeType="withEffect">
                                  <p:stCondLst>
                                    <p:cond delay="300"/>
                                  </p:stCondLst>
                                  <p:childTnLst>
                                    <p:set>
                                      <p:cBhvr>
                                        <p:cTn id="14" dur="1" fill="hold">
                                          <p:stCondLst>
                                            <p:cond delay="0"/>
                                          </p:stCondLst>
                                        </p:cTn>
                                        <p:tgtEl>
                                          <p:spTgt spid="8"/>
                                        </p:tgtEl>
                                        <p:attrNameLst>
                                          <p:attrName>style.visibility</p:attrName>
                                        </p:attrNameLst>
                                      </p:cBhvr>
                                      <p:to>
                                        <p:strVal val="visible"/>
                                      </p:to>
                                    </p:set>
                                    <p:animEffect transition="in" filter="slide(fromBottom)">
                                      <p:cBhvr>
                                        <p:cTn id="15" dur="500"/>
                                        <p:tgtEl>
                                          <p:spTgt spid="8"/>
                                        </p:tgtEl>
                                      </p:cBhvr>
                                    </p:animEffect>
                                  </p:childTnLst>
                                </p:cTn>
                              </p:par>
                              <p:par>
                                <p:cTn id="16" presetID="12" presetClass="entr" presetSubtype="4" fill="hold" grpId="0" nodeType="withEffect">
                                  <p:stCondLst>
                                    <p:cond delay="500"/>
                                  </p:stCondLst>
                                  <p:childTnLst>
                                    <p:set>
                                      <p:cBhvr>
                                        <p:cTn id="17" dur="1" fill="hold">
                                          <p:stCondLst>
                                            <p:cond delay="0"/>
                                          </p:stCondLst>
                                        </p:cTn>
                                        <p:tgtEl>
                                          <p:spTgt spid="10"/>
                                        </p:tgtEl>
                                        <p:attrNameLst>
                                          <p:attrName>style.visibility</p:attrName>
                                        </p:attrNameLst>
                                      </p:cBhvr>
                                      <p:to>
                                        <p:strVal val="visible"/>
                                      </p:to>
                                    </p:set>
                                    <p:animEffect transition="in" filter="slide(fromBottom)">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
        <p:nvSpPr>
          <p:cNvPr id="2" name="矩形 1"/>
          <p:cNvSpPr/>
          <p:nvPr userDrawn="1"/>
        </p:nvSpPr>
        <p:spPr>
          <a:xfrm>
            <a:off x="1043608" y="0"/>
            <a:ext cx="1080120" cy="1052736"/>
          </a:xfrm>
          <a:prstGeom prst="rect">
            <a:avLst/>
          </a:prstGeom>
          <a:solidFill>
            <a:srgbClr val="FF91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3" name="TextBox 2"/>
          <p:cNvSpPr txBox="1"/>
          <p:nvPr userDrawn="1"/>
        </p:nvSpPr>
        <p:spPr>
          <a:xfrm>
            <a:off x="1043608" y="548680"/>
            <a:ext cx="1080120" cy="40011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前言</a:t>
            </a:r>
          </a:p>
        </p:txBody>
      </p:sp>
      <p:sp>
        <p:nvSpPr>
          <p:cNvPr id="4" name="椭圆 3"/>
          <p:cNvSpPr/>
          <p:nvPr userDrawn="1"/>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5" name="TextBox 15"/>
          <p:cNvSpPr txBox="1"/>
          <p:nvPr userDrawn="1"/>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2237416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矩形 1"/>
          <p:cNvSpPr/>
          <p:nvPr userDrawn="1"/>
        </p:nvSpPr>
        <p:spPr>
          <a:xfrm>
            <a:off x="1043608" y="0"/>
            <a:ext cx="1080120" cy="1052736"/>
          </a:xfrm>
          <a:prstGeom prst="rect">
            <a:avLst/>
          </a:prstGeom>
          <a:solidFill>
            <a:srgbClr val="FF91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3" name="TextBox 2"/>
          <p:cNvSpPr txBox="1"/>
          <p:nvPr userDrawn="1"/>
        </p:nvSpPr>
        <p:spPr>
          <a:xfrm>
            <a:off x="1043608" y="526368"/>
            <a:ext cx="1080120" cy="40011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目录页</a:t>
            </a:r>
          </a:p>
        </p:txBody>
      </p:sp>
      <p:sp>
        <p:nvSpPr>
          <p:cNvPr id="6" name="椭圆 5"/>
          <p:cNvSpPr/>
          <p:nvPr userDrawn="1"/>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7" name="TextBox 15"/>
          <p:cNvSpPr txBox="1"/>
          <p:nvPr userDrawn="1"/>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pic>
        <p:nvPicPr>
          <p:cNvPr id="18" name="Picture 3" descr="D:\Teliss_Tong\Copy\定期备份\工作备份\！PPT图片及版面资源\06-PPT精选插图\04-图标\西装小人.pn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1043608" y="1852068"/>
            <a:ext cx="2210937" cy="3098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0766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
        <p:nvSpPr>
          <p:cNvPr id="2" name="矩形 1"/>
          <p:cNvSpPr/>
          <p:nvPr userDrawn="1"/>
        </p:nvSpPr>
        <p:spPr>
          <a:xfrm>
            <a:off x="1043608" y="0"/>
            <a:ext cx="1080120" cy="1052736"/>
          </a:xfrm>
          <a:prstGeom prst="rect">
            <a:avLst/>
          </a:prstGeom>
          <a:solidFill>
            <a:srgbClr val="FF91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3" name="TextBox 2"/>
          <p:cNvSpPr txBox="1"/>
          <p:nvPr userDrawn="1"/>
        </p:nvSpPr>
        <p:spPr>
          <a:xfrm>
            <a:off x="1043608" y="526368"/>
            <a:ext cx="1080120" cy="40011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过渡页</a:t>
            </a:r>
          </a:p>
        </p:txBody>
      </p:sp>
      <p:sp>
        <p:nvSpPr>
          <p:cNvPr id="6" name="椭圆 5"/>
          <p:cNvSpPr/>
          <p:nvPr userDrawn="1"/>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7" name="TextBox 15"/>
          <p:cNvSpPr txBox="1"/>
          <p:nvPr userDrawn="1"/>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4246169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4354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cxnSp>
        <p:nvCxnSpPr>
          <p:cNvPr id="2" name="直接连接符 1"/>
          <p:cNvCxnSpPr/>
          <p:nvPr userDrawn="1"/>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userDrawn="1"/>
        </p:nvSpPr>
        <p:spPr bwMode="auto">
          <a:xfrm>
            <a:off x="1619251" y="548680"/>
            <a:ext cx="5905499"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endParaRPr lang="zh-CN" altLang="en-US" sz="3200" b="1" dirty="0">
              <a:solidFill>
                <a:prstClr val="white">
                  <a:lumMod val="65000"/>
                </a:prstClr>
              </a:solidFill>
              <a:latin typeface="Arial"/>
              <a:ea typeface="微软雅黑" pitchFamily="34" charset="-122"/>
              <a:cs typeface="Arial"/>
            </a:endParaRPr>
          </a:p>
        </p:txBody>
      </p:sp>
    </p:spTree>
    <p:extLst>
      <p:ext uri="{BB962C8B-B14F-4D97-AF65-F5344CB8AC3E}">
        <p14:creationId xmlns:p14="http://schemas.microsoft.com/office/powerpoint/2010/main" val="3132349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1000"/>
                                        <p:tgtEl>
                                          <p:spTgt spid="3"/>
                                        </p:tgtEl>
                                      </p:cBhvr>
                                    </p:animEffect>
                                  </p:childTnLst>
                                </p:cTn>
                              </p:par>
                              <p:par>
                                <p:cTn id="8" presetID="42"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2_标题和内容">
    <p:spTree>
      <p:nvGrpSpPr>
        <p:cNvPr id="1" name=""/>
        <p:cNvGrpSpPr/>
        <p:nvPr/>
      </p:nvGrpSpPr>
      <p:grpSpPr>
        <a:xfrm>
          <a:off x="0" y="0"/>
          <a:ext cx="0" cy="0"/>
          <a:chOff x="0" y="0"/>
          <a:chExt cx="0" cy="0"/>
        </a:xfrm>
      </p:grpSpPr>
      <p:sp>
        <p:nvSpPr>
          <p:cNvPr id="2" name="Oval 60">
            <a:hlinkClick r:id="rId2"/>
          </p:cNvPr>
          <p:cNvSpPr>
            <a:spLocks noChangeArrowheads="1"/>
          </p:cNvSpPr>
          <p:nvPr userDrawn="1"/>
        </p:nvSpPr>
        <p:spPr bwMode="auto">
          <a:xfrm>
            <a:off x="5004049" y="2757241"/>
            <a:ext cx="444010" cy="523875"/>
          </a:xfrm>
          <a:prstGeom prst="ellipse">
            <a:avLst/>
          </a:prstGeom>
          <a:solidFill>
            <a:srgbClr val="0079C5">
              <a:alpha val="0"/>
            </a:srgbClr>
          </a:solidFill>
          <a:ln w="33338">
            <a:noFill/>
            <a:miter lim="800000"/>
            <a:headEnd/>
            <a:tailEnd/>
          </a:ln>
        </p:spPr>
        <p:txBody>
          <a:bodyPr/>
          <a:lstStyle/>
          <a:p>
            <a:pPr fontAlgn="base">
              <a:spcBef>
                <a:spcPct val="0"/>
              </a:spcBef>
              <a:spcAft>
                <a:spcPct val="0"/>
              </a:spcAft>
            </a:pPr>
            <a:endParaRPr lang="zh-CN" altLang="en-US" dirty="0">
              <a:solidFill>
                <a:srgbClr val="000000"/>
              </a:solidFill>
              <a:latin typeface="Arial" pitchFamily="34" charset="0"/>
              <a:ea typeface="微软雅黑" panose="020B0503020204020204" pitchFamily="34" charset="-122"/>
            </a:endParaRPr>
          </a:p>
        </p:txBody>
      </p:sp>
      <p:sp>
        <p:nvSpPr>
          <p:cNvPr id="3" name="Oval 61">
            <a:hlinkClick r:id="rId3"/>
          </p:cNvPr>
          <p:cNvSpPr>
            <a:spLocks noChangeArrowheads="1"/>
          </p:cNvSpPr>
          <p:nvPr userDrawn="1"/>
        </p:nvSpPr>
        <p:spPr bwMode="auto">
          <a:xfrm>
            <a:off x="5016011" y="3565675"/>
            <a:ext cx="420086" cy="521494"/>
          </a:xfrm>
          <a:prstGeom prst="ellipse">
            <a:avLst/>
          </a:prstGeom>
          <a:solidFill>
            <a:srgbClr val="0079C5">
              <a:alpha val="0"/>
            </a:srgbClr>
          </a:solidFill>
          <a:ln w="33338">
            <a:noFill/>
            <a:miter lim="800000"/>
            <a:headEnd/>
            <a:tailEnd/>
          </a:ln>
        </p:spPr>
        <p:txBody>
          <a:bodyPr/>
          <a:lstStyle/>
          <a:p>
            <a:pPr fontAlgn="base">
              <a:spcBef>
                <a:spcPct val="0"/>
              </a:spcBef>
              <a:spcAft>
                <a:spcPct val="0"/>
              </a:spcAft>
            </a:pPr>
            <a:endParaRPr lang="zh-CN" altLang="en-US" dirty="0">
              <a:solidFill>
                <a:srgbClr val="000000"/>
              </a:solidFill>
              <a:latin typeface="Arial" pitchFamily="34" charset="0"/>
              <a:ea typeface="微软雅黑" panose="020B0503020204020204" pitchFamily="34" charset="-122"/>
            </a:endParaRPr>
          </a:p>
        </p:txBody>
      </p:sp>
      <p:sp>
        <p:nvSpPr>
          <p:cNvPr id="4" name="矩形​​ 5"/>
          <p:cNvSpPr>
            <a:spLocks noChangeArrowheads="1"/>
          </p:cNvSpPr>
          <p:nvPr userDrawn="1"/>
        </p:nvSpPr>
        <p:spPr bwMode="auto">
          <a:xfrm>
            <a:off x="98301" y="538162"/>
            <a:ext cx="8964613" cy="3946525"/>
          </a:xfrm>
          <a:prstGeom prst="rect">
            <a:avLst/>
          </a:prstGeom>
          <a:solidFill>
            <a:srgbClr val="00ADDC"/>
          </a:solidFill>
          <a:ln w="9525" cmpd="sng">
            <a:noFill/>
            <a:miter lim="800000"/>
            <a:headEnd/>
            <a:tailEnd/>
          </a:ln>
        </p:spPr>
        <p:txBody>
          <a:bodyPr lIns="288000" anchor="b"/>
          <a:lstStyle/>
          <a:p>
            <a:pPr fontAlgn="base">
              <a:spcBef>
                <a:spcPct val="0"/>
              </a:spcBef>
              <a:spcAft>
                <a:spcPct val="0"/>
              </a:spcAft>
            </a:pPr>
            <a:endParaRPr lang="zh-CN" altLang="zh-CN" sz="2800" dirty="0">
              <a:solidFill>
                <a:prstClr val="white"/>
              </a:solidFill>
              <a:ea typeface="微软雅黑" panose="020B0503020204020204" pitchFamily="34" charset="-122"/>
              <a:sym typeface="Arial" pitchFamily="34" charset="0"/>
            </a:endParaRPr>
          </a:p>
        </p:txBody>
      </p:sp>
      <p:sp>
        <p:nvSpPr>
          <p:cNvPr id="6" name="Line 33"/>
          <p:cNvSpPr>
            <a:spLocks noChangeShapeType="1"/>
          </p:cNvSpPr>
          <p:nvPr userDrawn="1"/>
        </p:nvSpPr>
        <p:spPr bwMode="auto">
          <a:xfrm flipV="1">
            <a:off x="5224465" y="1671390"/>
            <a:ext cx="1587" cy="2700338"/>
          </a:xfrm>
          <a:prstGeom prst="line">
            <a:avLst/>
          </a:prstGeom>
          <a:noFill/>
          <a:ln w="33338">
            <a:solidFill>
              <a:srgbClr val="FFFFFF"/>
            </a:solidFill>
            <a:miter lim="800000"/>
            <a:headEnd/>
            <a:tailEn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7" name="Line 5"/>
          <p:cNvSpPr>
            <a:spLocks noChangeShapeType="1"/>
          </p:cNvSpPr>
          <p:nvPr userDrawn="1"/>
        </p:nvSpPr>
        <p:spPr bwMode="auto">
          <a:xfrm>
            <a:off x="0" y="3913338"/>
            <a:ext cx="1384300" cy="2381"/>
          </a:xfrm>
          <a:prstGeom prst="line">
            <a:avLst/>
          </a:prstGeom>
          <a:noFill/>
          <a:ln w="33338">
            <a:solidFill>
              <a:srgbClr val="FFFFFF"/>
            </a:solidFill>
            <a:miter lim="800000"/>
            <a:headEnd/>
            <a:tailEn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8" name="Freeform 18"/>
          <p:cNvSpPr>
            <a:spLocks/>
          </p:cNvSpPr>
          <p:nvPr userDrawn="1"/>
        </p:nvSpPr>
        <p:spPr bwMode="auto">
          <a:xfrm>
            <a:off x="1366838" y="2767956"/>
            <a:ext cx="201612" cy="1279922"/>
          </a:xfrm>
          <a:custGeom>
            <a:avLst/>
            <a:gdLst>
              <a:gd name="T0" fmla="*/ 127 w 127"/>
              <a:gd name="T1" fmla="*/ 0 h 1075"/>
              <a:gd name="T2" fmla="*/ 0 w 127"/>
              <a:gd name="T3" fmla="*/ 1075 h 1075"/>
              <a:gd name="T4" fmla="*/ 127 w 127"/>
              <a:gd name="T5" fmla="*/ 0 h 1075"/>
              <a:gd name="T6" fmla="*/ 0 60000 65536"/>
              <a:gd name="T7" fmla="*/ 0 60000 65536"/>
              <a:gd name="T8" fmla="*/ 0 60000 65536"/>
              <a:gd name="T9" fmla="*/ 0 w 127"/>
              <a:gd name="T10" fmla="*/ 0 h 1075"/>
              <a:gd name="T11" fmla="*/ 127 w 127"/>
              <a:gd name="T12" fmla="*/ 1075 h 1075"/>
            </a:gdLst>
            <a:ahLst/>
            <a:cxnLst>
              <a:cxn ang="T6">
                <a:pos x="T0" y="T1"/>
              </a:cxn>
              <a:cxn ang="T7">
                <a:pos x="T2" y="T3"/>
              </a:cxn>
              <a:cxn ang="T8">
                <a:pos x="T4" y="T5"/>
              </a:cxn>
            </a:cxnLst>
            <a:rect l="T9" t="T10" r="T11" b="T12"/>
            <a:pathLst>
              <a:path w="127" h="1075">
                <a:moveTo>
                  <a:pt x="127" y="0"/>
                </a:moveTo>
                <a:lnTo>
                  <a:pt x="0" y="1075"/>
                </a:lnTo>
                <a:lnTo>
                  <a:pt x="127" y="0"/>
                </a:lnTo>
                <a:close/>
              </a:path>
            </a:pathLst>
          </a:custGeom>
          <a:solidFill>
            <a:srgbClr val="FFFFFF"/>
          </a:solidFill>
          <a:ln w="9525">
            <a:noFill/>
            <a:round/>
            <a:headEnd/>
            <a:tailEn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9" name="Line 19"/>
          <p:cNvSpPr>
            <a:spLocks noChangeShapeType="1"/>
          </p:cNvSpPr>
          <p:nvPr userDrawn="1"/>
        </p:nvSpPr>
        <p:spPr bwMode="auto">
          <a:xfrm flipH="1">
            <a:off x="1374778" y="2740571"/>
            <a:ext cx="200025" cy="1188244"/>
          </a:xfrm>
          <a:prstGeom prst="line">
            <a:avLst/>
          </a:prstGeom>
          <a:noFill/>
          <a:ln w="33338">
            <a:solidFill>
              <a:schemeClr val="bg1"/>
            </a:solidFill>
            <a:miter lim="800000"/>
            <a:headEnd/>
            <a:tailEn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10" name="Freeform 20"/>
          <p:cNvSpPr>
            <a:spLocks/>
          </p:cNvSpPr>
          <p:nvPr userDrawn="1"/>
        </p:nvSpPr>
        <p:spPr bwMode="auto">
          <a:xfrm>
            <a:off x="2717800" y="2561978"/>
            <a:ext cx="7938" cy="1806178"/>
          </a:xfrm>
          <a:custGeom>
            <a:avLst/>
            <a:gdLst>
              <a:gd name="T0" fmla="*/ 0 w 5"/>
              <a:gd name="T1" fmla="*/ 0 h 1517"/>
              <a:gd name="T2" fmla="*/ 5 w 5"/>
              <a:gd name="T3" fmla="*/ 1517 h 1517"/>
              <a:gd name="T4" fmla="*/ 0 w 5"/>
              <a:gd name="T5" fmla="*/ 0 h 1517"/>
              <a:gd name="T6" fmla="*/ 0 60000 65536"/>
              <a:gd name="T7" fmla="*/ 0 60000 65536"/>
              <a:gd name="T8" fmla="*/ 0 60000 65536"/>
              <a:gd name="T9" fmla="*/ 0 w 5"/>
              <a:gd name="T10" fmla="*/ 0 h 1517"/>
              <a:gd name="T11" fmla="*/ 5 w 5"/>
              <a:gd name="T12" fmla="*/ 1517 h 1517"/>
            </a:gdLst>
            <a:ahLst/>
            <a:cxnLst>
              <a:cxn ang="T6">
                <a:pos x="T0" y="T1"/>
              </a:cxn>
              <a:cxn ang="T7">
                <a:pos x="T2" y="T3"/>
              </a:cxn>
              <a:cxn ang="T8">
                <a:pos x="T4" y="T5"/>
              </a:cxn>
            </a:cxnLst>
            <a:rect l="T9" t="T10" r="T11" b="T12"/>
            <a:pathLst>
              <a:path w="5" h="1517">
                <a:moveTo>
                  <a:pt x="0" y="0"/>
                </a:moveTo>
                <a:lnTo>
                  <a:pt x="5" y="1517"/>
                </a:lnTo>
                <a:lnTo>
                  <a:pt x="0" y="0"/>
                </a:lnTo>
                <a:close/>
              </a:path>
            </a:pathLst>
          </a:custGeom>
          <a:solidFill>
            <a:srgbClr val="FFFFFF"/>
          </a:solidFill>
          <a:ln w="9525">
            <a:noFill/>
            <a:round/>
            <a:headEnd/>
            <a:tailEn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11" name="Line 21"/>
          <p:cNvSpPr>
            <a:spLocks noChangeShapeType="1"/>
          </p:cNvSpPr>
          <p:nvPr userDrawn="1"/>
        </p:nvSpPr>
        <p:spPr bwMode="auto">
          <a:xfrm>
            <a:off x="2587625" y="2561978"/>
            <a:ext cx="7938" cy="1806178"/>
          </a:xfrm>
          <a:prstGeom prst="line">
            <a:avLst/>
          </a:prstGeom>
          <a:noFill/>
          <a:ln w="33338">
            <a:solidFill>
              <a:schemeClr val="bg1"/>
            </a:solidFill>
            <a:miter lim="800000"/>
            <a:headEnd/>
            <a:tailEn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12" name="Oval 22"/>
          <p:cNvSpPr>
            <a:spLocks noChangeArrowheads="1"/>
          </p:cNvSpPr>
          <p:nvPr userDrawn="1"/>
        </p:nvSpPr>
        <p:spPr bwMode="auto">
          <a:xfrm>
            <a:off x="4716019" y="692696"/>
            <a:ext cx="1008109" cy="978694"/>
          </a:xfrm>
          <a:prstGeom prst="ellipse">
            <a:avLst/>
          </a:prstGeom>
          <a:noFill/>
          <a:ln w="33338">
            <a:solidFill>
              <a:srgbClr val="FFFFFF"/>
            </a:solidFill>
            <a:miter lim="800000"/>
            <a:headEnd/>
            <a:tailEnd/>
          </a:ln>
        </p:spPr>
        <p:txBody>
          <a:bodyPr/>
          <a:lstStyle/>
          <a:p>
            <a:pPr fontAlgn="base">
              <a:spcBef>
                <a:spcPct val="0"/>
              </a:spcBef>
              <a:spcAft>
                <a:spcPct val="0"/>
              </a:spcAft>
            </a:pPr>
            <a:r>
              <a:rPr lang="zh-CN" altLang="en-US" sz="2000" b="1" dirty="0">
                <a:solidFill>
                  <a:prstClr val="white"/>
                </a:solidFill>
                <a:ea typeface="微软雅黑" panose="020B0503020204020204" pitchFamily="34" charset="-122"/>
              </a:rPr>
              <a:t>授课教师</a:t>
            </a:r>
          </a:p>
        </p:txBody>
      </p:sp>
      <p:sp>
        <p:nvSpPr>
          <p:cNvPr id="14" name="Oval 25"/>
          <p:cNvSpPr>
            <a:spLocks noChangeArrowheads="1"/>
          </p:cNvSpPr>
          <p:nvPr userDrawn="1"/>
        </p:nvSpPr>
        <p:spPr bwMode="auto">
          <a:xfrm>
            <a:off x="4944003" y="1965479"/>
            <a:ext cx="564102" cy="523876"/>
          </a:xfrm>
          <a:prstGeom prst="ellipse">
            <a:avLst/>
          </a:prstGeom>
          <a:solidFill>
            <a:schemeClr val="accent1"/>
          </a:solidFill>
          <a:ln w="33338">
            <a:solidFill>
              <a:srgbClr val="FFFFFF"/>
            </a:solidFill>
            <a:miter lim="800000"/>
            <a:headEnd/>
            <a:tailEnd/>
          </a:ln>
        </p:spPr>
        <p:txBody>
          <a:bodyPr/>
          <a:lstStyle/>
          <a:p>
            <a:pPr fontAlgn="base">
              <a:spcBef>
                <a:spcPct val="0"/>
              </a:spcBef>
              <a:spcAft>
                <a:spcPct val="0"/>
              </a:spcAft>
            </a:pPr>
            <a:endParaRPr lang="zh-CN" altLang="en-US" dirty="0">
              <a:solidFill>
                <a:srgbClr val="000000"/>
              </a:solidFill>
              <a:latin typeface="Arial" pitchFamily="34" charset="0"/>
              <a:ea typeface="微软雅黑" panose="020B0503020204020204" pitchFamily="34" charset="-122"/>
            </a:endParaRPr>
          </a:p>
        </p:txBody>
      </p:sp>
      <p:grpSp>
        <p:nvGrpSpPr>
          <p:cNvPr id="16" name="Group 63"/>
          <p:cNvGrpSpPr>
            <a:grpSpLocks/>
          </p:cNvGrpSpPr>
          <p:nvPr userDrawn="1"/>
        </p:nvGrpSpPr>
        <p:grpSpPr bwMode="auto">
          <a:xfrm>
            <a:off x="4944004" y="2757241"/>
            <a:ext cx="564100" cy="523875"/>
            <a:chOff x="3073" y="2610"/>
            <a:chExt cx="438" cy="440"/>
          </a:xfrm>
        </p:grpSpPr>
        <p:sp>
          <p:nvSpPr>
            <p:cNvPr id="17" name="Rectangle 28"/>
            <p:cNvSpPr>
              <a:spLocks noChangeArrowheads="1"/>
            </p:cNvSpPr>
            <p:nvPr/>
          </p:nvSpPr>
          <p:spPr bwMode="auto">
            <a:xfrm>
              <a:off x="3181" y="2748"/>
              <a:ext cx="222" cy="164"/>
            </a:xfrm>
            <a:prstGeom prst="rect">
              <a:avLst/>
            </a:prstGeom>
            <a:solidFill>
              <a:srgbClr val="FFFFFF"/>
            </a:solidFill>
            <a:ln w="11113">
              <a:noFill/>
              <a:miter lim="800000"/>
              <a:headEnd/>
              <a:tailEnd/>
            </a:ln>
          </p:spPr>
          <p:txBody>
            <a:bodyPr/>
            <a:lstStyle/>
            <a:p>
              <a:pPr fontAlgn="base">
                <a:spcBef>
                  <a:spcPct val="0"/>
                </a:spcBef>
                <a:spcAft>
                  <a:spcPct val="0"/>
                </a:spcAft>
              </a:pPr>
              <a:endParaRPr lang="zh-CN" altLang="en-US" dirty="0">
                <a:solidFill>
                  <a:srgbClr val="000000"/>
                </a:solidFill>
                <a:latin typeface="Arial" pitchFamily="34" charset="0"/>
                <a:ea typeface="微软雅黑" panose="020B0503020204020204" pitchFamily="34" charset="-122"/>
              </a:endParaRPr>
            </a:p>
          </p:txBody>
        </p:sp>
        <p:sp>
          <p:nvSpPr>
            <p:cNvPr id="18" name="Freeform 29"/>
            <p:cNvSpPr>
              <a:spLocks/>
            </p:cNvSpPr>
            <p:nvPr/>
          </p:nvSpPr>
          <p:spPr bwMode="auto">
            <a:xfrm>
              <a:off x="3182" y="2748"/>
              <a:ext cx="220" cy="110"/>
            </a:xfrm>
            <a:custGeom>
              <a:avLst/>
              <a:gdLst>
                <a:gd name="T0" fmla="*/ 0 w 278"/>
                <a:gd name="T1" fmla="*/ 0 h 140"/>
                <a:gd name="T2" fmla="*/ 138 w 278"/>
                <a:gd name="T3" fmla="*/ 140 h 140"/>
                <a:gd name="T4" fmla="*/ 278 w 278"/>
                <a:gd name="T5" fmla="*/ 0 h 140"/>
                <a:gd name="T6" fmla="*/ 0 w 278"/>
                <a:gd name="T7" fmla="*/ 0 h 140"/>
                <a:gd name="T8" fmla="*/ 0 60000 65536"/>
                <a:gd name="T9" fmla="*/ 0 60000 65536"/>
                <a:gd name="T10" fmla="*/ 0 60000 65536"/>
                <a:gd name="T11" fmla="*/ 0 60000 65536"/>
                <a:gd name="T12" fmla="*/ 0 w 278"/>
                <a:gd name="T13" fmla="*/ 0 h 140"/>
                <a:gd name="T14" fmla="*/ 278 w 278"/>
                <a:gd name="T15" fmla="*/ 140 h 140"/>
              </a:gdLst>
              <a:ahLst/>
              <a:cxnLst>
                <a:cxn ang="T8">
                  <a:pos x="T0" y="T1"/>
                </a:cxn>
                <a:cxn ang="T9">
                  <a:pos x="T2" y="T3"/>
                </a:cxn>
                <a:cxn ang="T10">
                  <a:pos x="T4" y="T5"/>
                </a:cxn>
                <a:cxn ang="T11">
                  <a:pos x="T6" y="T7"/>
                </a:cxn>
              </a:cxnLst>
              <a:rect l="T12" t="T13" r="T14" b="T15"/>
              <a:pathLst>
                <a:path w="278" h="140">
                  <a:moveTo>
                    <a:pt x="0" y="0"/>
                  </a:moveTo>
                  <a:lnTo>
                    <a:pt x="138" y="140"/>
                  </a:lnTo>
                  <a:lnTo>
                    <a:pt x="278" y="0"/>
                  </a:lnTo>
                  <a:lnTo>
                    <a:pt x="0" y="0"/>
                  </a:lnTo>
                  <a:close/>
                </a:path>
              </a:pathLst>
            </a:custGeom>
            <a:solidFill>
              <a:srgbClr val="FFFFFF"/>
            </a:solidFill>
            <a:ln w="19050" cap="flat" cmpd="sng">
              <a:solidFill>
                <a:schemeClr val="accent1"/>
              </a:solidFill>
              <a:prstDash val="solid"/>
              <a:miter lim="800000"/>
              <a:headEnd/>
              <a:tailEn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19" name="Oval 27"/>
            <p:cNvSpPr>
              <a:spLocks noChangeArrowheads="1"/>
            </p:cNvSpPr>
            <p:nvPr/>
          </p:nvSpPr>
          <p:spPr bwMode="auto">
            <a:xfrm>
              <a:off x="3073" y="2610"/>
              <a:ext cx="438" cy="440"/>
            </a:xfrm>
            <a:prstGeom prst="ellipse">
              <a:avLst/>
            </a:prstGeom>
            <a:solidFill>
              <a:schemeClr val="accent1"/>
            </a:solidFill>
            <a:ln w="33338">
              <a:solidFill>
                <a:srgbClr val="FFFFFF"/>
              </a:solidFill>
              <a:miter lim="800000"/>
              <a:headEnd/>
              <a:tailEnd/>
            </a:ln>
          </p:spPr>
          <p:txBody>
            <a:bodyPr/>
            <a:lstStyle/>
            <a:p>
              <a:pPr fontAlgn="base">
                <a:spcBef>
                  <a:spcPct val="0"/>
                </a:spcBef>
                <a:spcAft>
                  <a:spcPct val="0"/>
                </a:spcAft>
              </a:pPr>
              <a:endParaRPr lang="zh-CN" altLang="en-US" dirty="0">
                <a:solidFill>
                  <a:srgbClr val="000000"/>
                </a:solidFill>
                <a:latin typeface="Arial" pitchFamily="34" charset="0"/>
                <a:ea typeface="微软雅黑" panose="020B0503020204020204" pitchFamily="34" charset="-122"/>
              </a:endParaRPr>
            </a:p>
          </p:txBody>
        </p:sp>
      </p:grpSp>
      <p:grpSp>
        <p:nvGrpSpPr>
          <p:cNvPr id="20" name="Group 64"/>
          <p:cNvGrpSpPr>
            <a:grpSpLocks/>
          </p:cNvGrpSpPr>
          <p:nvPr userDrawn="1"/>
        </p:nvGrpSpPr>
        <p:grpSpPr bwMode="auto">
          <a:xfrm>
            <a:off x="4944004" y="3565675"/>
            <a:ext cx="564100" cy="521494"/>
            <a:chOff x="3073" y="3289"/>
            <a:chExt cx="438" cy="438"/>
          </a:xfrm>
        </p:grpSpPr>
        <p:sp>
          <p:nvSpPr>
            <p:cNvPr id="21" name="Freeform 32"/>
            <p:cNvSpPr>
              <a:spLocks/>
            </p:cNvSpPr>
            <p:nvPr/>
          </p:nvSpPr>
          <p:spPr bwMode="auto">
            <a:xfrm>
              <a:off x="3173" y="3389"/>
              <a:ext cx="240" cy="241"/>
            </a:xfrm>
            <a:custGeom>
              <a:avLst/>
              <a:gdLst>
                <a:gd name="T0" fmla="*/ 303 w 303"/>
                <a:gd name="T1" fmla="*/ 263 h 305"/>
                <a:gd name="T2" fmla="*/ 171 w 303"/>
                <a:gd name="T3" fmla="*/ 131 h 305"/>
                <a:gd name="T4" fmla="*/ 223 w 303"/>
                <a:gd name="T5" fmla="*/ 77 h 305"/>
                <a:gd name="T6" fmla="*/ 0 w 303"/>
                <a:gd name="T7" fmla="*/ 0 h 305"/>
                <a:gd name="T8" fmla="*/ 76 w 303"/>
                <a:gd name="T9" fmla="*/ 224 h 305"/>
                <a:gd name="T10" fmla="*/ 129 w 303"/>
                <a:gd name="T11" fmla="*/ 170 h 305"/>
                <a:gd name="T12" fmla="*/ 262 w 303"/>
                <a:gd name="T13" fmla="*/ 305 h 305"/>
                <a:gd name="T14" fmla="*/ 303 w 303"/>
                <a:gd name="T15" fmla="*/ 263 h 305"/>
                <a:gd name="T16" fmla="*/ 0 60000 65536"/>
                <a:gd name="T17" fmla="*/ 0 60000 65536"/>
                <a:gd name="T18" fmla="*/ 0 60000 65536"/>
                <a:gd name="T19" fmla="*/ 0 60000 65536"/>
                <a:gd name="T20" fmla="*/ 0 60000 65536"/>
                <a:gd name="T21" fmla="*/ 0 60000 65536"/>
                <a:gd name="T22" fmla="*/ 0 60000 65536"/>
                <a:gd name="T23" fmla="*/ 0 60000 65536"/>
                <a:gd name="T24" fmla="*/ 0 w 303"/>
                <a:gd name="T25" fmla="*/ 0 h 305"/>
                <a:gd name="T26" fmla="*/ 303 w 303"/>
                <a:gd name="T27" fmla="*/ 305 h 30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3" h="305">
                  <a:moveTo>
                    <a:pt x="303" y="263"/>
                  </a:moveTo>
                  <a:lnTo>
                    <a:pt x="171" y="131"/>
                  </a:lnTo>
                  <a:lnTo>
                    <a:pt x="223" y="77"/>
                  </a:lnTo>
                  <a:lnTo>
                    <a:pt x="0" y="0"/>
                  </a:lnTo>
                  <a:lnTo>
                    <a:pt x="76" y="224"/>
                  </a:lnTo>
                  <a:lnTo>
                    <a:pt x="129" y="170"/>
                  </a:lnTo>
                  <a:lnTo>
                    <a:pt x="262" y="305"/>
                  </a:lnTo>
                  <a:lnTo>
                    <a:pt x="303" y="263"/>
                  </a:lnTo>
                  <a:close/>
                </a:path>
              </a:pathLst>
            </a:custGeom>
            <a:solidFill>
              <a:schemeClr val="bg1"/>
            </a:solidFill>
            <a:ln w="11113" cap="flat">
              <a:noFill/>
              <a:prstDash val="solid"/>
              <a:miter lim="800000"/>
              <a:headEnd/>
              <a:tailEn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22" name="Oval 30"/>
            <p:cNvSpPr>
              <a:spLocks noChangeArrowheads="1"/>
            </p:cNvSpPr>
            <p:nvPr/>
          </p:nvSpPr>
          <p:spPr bwMode="auto">
            <a:xfrm>
              <a:off x="3073" y="3289"/>
              <a:ext cx="438" cy="438"/>
            </a:xfrm>
            <a:prstGeom prst="ellipse">
              <a:avLst/>
            </a:prstGeom>
            <a:solidFill>
              <a:schemeClr val="accent1"/>
            </a:solidFill>
            <a:ln w="33338">
              <a:solidFill>
                <a:srgbClr val="FFFFFF"/>
              </a:solidFill>
              <a:miter lim="800000"/>
              <a:headEnd/>
              <a:tailEnd/>
            </a:ln>
          </p:spPr>
          <p:txBody>
            <a:bodyPr/>
            <a:lstStyle/>
            <a:p>
              <a:pPr fontAlgn="base">
                <a:spcBef>
                  <a:spcPct val="0"/>
                </a:spcBef>
                <a:spcAft>
                  <a:spcPct val="0"/>
                </a:spcAft>
              </a:pPr>
              <a:endParaRPr lang="zh-CN" altLang="en-US" dirty="0">
                <a:solidFill>
                  <a:srgbClr val="000000"/>
                </a:solidFill>
                <a:latin typeface="Arial" pitchFamily="34" charset="0"/>
                <a:ea typeface="微软雅黑" panose="020B0503020204020204" pitchFamily="34" charset="-122"/>
              </a:endParaRPr>
            </a:p>
          </p:txBody>
        </p:sp>
      </p:grpSp>
      <p:sp>
        <p:nvSpPr>
          <p:cNvPr id="23" name="Line 43"/>
          <p:cNvSpPr>
            <a:spLocks noChangeShapeType="1"/>
          </p:cNvSpPr>
          <p:nvPr userDrawn="1"/>
        </p:nvSpPr>
        <p:spPr bwMode="auto">
          <a:xfrm>
            <a:off x="774700" y="2878685"/>
            <a:ext cx="1588" cy="1190"/>
          </a:xfrm>
          <a:prstGeom prst="line">
            <a:avLst/>
          </a:prstGeom>
          <a:noFill/>
          <a:ln w="9525">
            <a:noFill/>
            <a:round/>
            <a:headEnd/>
            <a:tailEn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24" name="Line 45"/>
          <p:cNvSpPr>
            <a:spLocks noChangeShapeType="1"/>
          </p:cNvSpPr>
          <p:nvPr userDrawn="1"/>
        </p:nvSpPr>
        <p:spPr bwMode="auto">
          <a:xfrm>
            <a:off x="3741739" y="910581"/>
            <a:ext cx="1587" cy="1191"/>
          </a:xfrm>
          <a:prstGeom prst="line">
            <a:avLst/>
          </a:prstGeom>
          <a:noFill/>
          <a:ln w="9525">
            <a:noFill/>
            <a:round/>
            <a:headEnd/>
            <a:tailEn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25" name="Freeform 11"/>
          <p:cNvSpPr>
            <a:spLocks/>
          </p:cNvSpPr>
          <p:nvPr userDrawn="1"/>
        </p:nvSpPr>
        <p:spPr bwMode="auto">
          <a:xfrm>
            <a:off x="606428" y="2738190"/>
            <a:ext cx="981075" cy="198834"/>
          </a:xfrm>
          <a:custGeom>
            <a:avLst/>
            <a:gdLst>
              <a:gd name="T0" fmla="*/ 0 w 618"/>
              <a:gd name="T1" fmla="*/ 167 h 167"/>
              <a:gd name="T2" fmla="*/ 616 w 618"/>
              <a:gd name="T3" fmla="*/ 20 h 167"/>
              <a:gd name="T4" fmla="*/ 618 w 618"/>
              <a:gd name="T5" fmla="*/ 0 h 167"/>
              <a:gd name="T6" fmla="*/ 2 w 618"/>
              <a:gd name="T7" fmla="*/ 153 h 167"/>
              <a:gd name="T8" fmla="*/ 0 60000 65536"/>
              <a:gd name="T9" fmla="*/ 0 60000 65536"/>
              <a:gd name="T10" fmla="*/ 0 60000 65536"/>
              <a:gd name="T11" fmla="*/ 0 60000 65536"/>
              <a:gd name="T12" fmla="*/ 0 w 618"/>
              <a:gd name="T13" fmla="*/ 0 h 167"/>
              <a:gd name="T14" fmla="*/ 618 w 618"/>
              <a:gd name="T15" fmla="*/ 167 h 167"/>
            </a:gdLst>
            <a:ahLst/>
            <a:cxnLst>
              <a:cxn ang="T8">
                <a:pos x="T0" y="T1"/>
              </a:cxn>
              <a:cxn ang="T9">
                <a:pos x="T2" y="T3"/>
              </a:cxn>
              <a:cxn ang="T10">
                <a:pos x="T4" y="T5"/>
              </a:cxn>
              <a:cxn ang="T11">
                <a:pos x="T6" y="T7"/>
              </a:cxn>
            </a:cxnLst>
            <a:rect l="T12" t="T13" r="T14" b="T15"/>
            <a:pathLst>
              <a:path w="618" h="167">
                <a:moveTo>
                  <a:pt x="0" y="167"/>
                </a:moveTo>
                <a:lnTo>
                  <a:pt x="616" y="20"/>
                </a:lnTo>
                <a:lnTo>
                  <a:pt x="618" y="0"/>
                </a:lnTo>
                <a:lnTo>
                  <a:pt x="2" y="153"/>
                </a:lnTo>
              </a:path>
            </a:pathLst>
          </a:custGeom>
          <a:solidFill>
            <a:schemeClr val="bg1"/>
          </a:solidFill>
          <a:ln w="11113" cap="flat">
            <a:solidFill>
              <a:schemeClr val="bg1"/>
            </a:solidFill>
            <a:prstDash val="solid"/>
            <a:miter lim="800000"/>
            <a:headEnd/>
            <a:tailEn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26" name="Freeform 13"/>
          <p:cNvSpPr>
            <a:spLocks/>
          </p:cNvSpPr>
          <p:nvPr userDrawn="1"/>
        </p:nvSpPr>
        <p:spPr bwMode="auto">
          <a:xfrm>
            <a:off x="1555750" y="2459584"/>
            <a:ext cx="1566863" cy="309563"/>
          </a:xfrm>
          <a:custGeom>
            <a:avLst/>
            <a:gdLst>
              <a:gd name="T0" fmla="*/ 0 w 987"/>
              <a:gd name="T1" fmla="*/ 260 h 260"/>
              <a:gd name="T2" fmla="*/ 985 w 987"/>
              <a:gd name="T3" fmla="*/ 19 h 260"/>
              <a:gd name="T4" fmla="*/ 987 w 987"/>
              <a:gd name="T5" fmla="*/ 0 h 260"/>
              <a:gd name="T6" fmla="*/ 8 w 987"/>
              <a:gd name="T7" fmla="*/ 238 h 260"/>
              <a:gd name="T8" fmla="*/ 0 60000 65536"/>
              <a:gd name="T9" fmla="*/ 0 60000 65536"/>
              <a:gd name="T10" fmla="*/ 0 60000 65536"/>
              <a:gd name="T11" fmla="*/ 0 60000 65536"/>
              <a:gd name="T12" fmla="*/ 0 w 987"/>
              <a:gd name="T13" fmla="*/ 0 h 260"/>
              <a:gd name="T14" fmla="*/ 987 w 987"/>
              <a:gd name="T15" fmla="*/ 260 h 260"/>
            </a:gdLst>
            <a:ahLst/>
            <a:cxnLst>
              <a:cxn ang="T8">
                <a:pos x="T0" y="T1"/>
              </a:cxn>
              <a:cxn ang="T9">
                <a:pos x="T2" y="T3"/>
              </a:cxn>
              <a:cxn ang="T10">
                <a:pos x="T4" y="T5"/>
              </a:cxn>
              <a:cxn ang="T11">
                <a:pos x="T6" y="T7"/>
              </a:cxn>
            </a:cxnLst>
            <a:rect l="T12" t="T13" r="T14" b="T15"/>
            <a:pathLst>
              <a:path w="987" h="260">
                <a:moveTo>
                  <a:pt x="0" y="260"/>
                </a:moveTo>
                <a:lnTo>
                  <a:pt x="985" y="19"/>
                </a:lnTo>
                <a:lnTo>
                  <a:pt x="987" y="0"/>
                </a:lnTo>
                <a:lnTo>
                  <a:pt x="8" y="238"/>
                </a:lnTo>
              </a:path>
            </a:pathLst>
          </a:custGeom>
          <a:solidFill>
            <a:schemeClr val="bg1"/>
          </a:solidFill>
          <a:ln w="11113" cap="flat" cmpd="sng">
            <a:solidFill>
              <a:schemeClr val="bg1"/>
            </a:solidFill>
            <a:prstDash val="solid"/>
            <a:miter lim="800000"/>
            <a:headEnd type="none" w="med" len="med"/>
            <a:tailEnd type="none" w="med" len="me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27" name="Freeform 15"/>
          <p:cNvSpPr>
            <a:spLocks/>
          </p:cNvSpPr>
          <p:nvPr userDrawn="1"/>
        </p:nvSpPr>
        <p:spPr bwMode="auto">
          <a:xfrm>
            <a:off x="712791" y="946300"/>
            <a:ext cx="2541587" cy="845344"/>
          </a:xfrm>
          <a:custGeom>
            <a:avLst/>
            <a:gdLst>
              <a:gd name="T0" fmla="*/ 1002 w 1002"/>
              <a:gd name="T1" fmla="*/ 3 h 396"/>
              <a:gd name="T2" fmla="*/ 997 w 1002"/>
              <a:gd name="T3" fmla="*/ 12 h 396"/>
              <a:gd name="T4" fmla="*/ 993 w 1002"/>
              <a:gd name="T5" fmla="*/ 11 h 396"/>
              <a:gd name="T6" fmla="*/ 982 w 1002"/>
              <a:gd name="T7" fmla="*/ 9 h 396"/>
              <a:gd name="T8" fmla="*/ 967 w 1002"/>
              <a:gd name="T9" fmla="*/ 9 h 396"/>
              <a:gd name="T10" fmla="*/ 953 w 1002"/>
              <a:gd name="T11" fmla="*/ 11 h 396"/>
              <a:gd name="T12" fmla="*/ 939 w 1002"/>
              <a:gd name="T13" fmla="*/ 16 h 396"/>
              <a:gd name="T14" fmla="*/ 424 w 1002"/>
              <a:gd name="T15" fmla="*/ 224 h 396"/>
              <a:gd name="T16" fmla="*/ 376 w 1002"/>
              <a:gd name="T17" fmla="*/ 244 h 396"/>
              <a:gd name="T18" fmla="*/ 1 w 1002"/>
              <a:gd name="T19" fmla="*/ 396 h 396"/>
              <a:gd name="T20" fmla="*/ 0 w 1002"/>
              <a:gd name="T21" fmla="*/ 390 h 396"/>
              <a:gd name="T22" fmla="*/ 377 w 1002"/>
              <a:gd name="T23" fmla="*/ 237 h 396"/>
              <a:gd name="T24" fmla="*/ 424 w 1002"/>
              <a:gd name="T25" fmla="*/ 218 h 396"/>
              <a:gd name="T26" fmla="*/ 938 w 1002"/>
              <a:gd name="T27" fmla="*/ 8 h 396"/>
              <a:gd name="T28" fmla="*/ 954 w 1002"/>
              <a:gd name="T29" fmla="*/ 3 h 396"/>
              <a:gd name="T30" fmla="*/ 971 w 1002"/>
              <a:gd name="T31" fmla="*/ 1 h 396"/>
              <a:gd name="T32" fmla="*/ 987 w 1002"/>
              <a:gd name="T33" fmla="*/ 0 h 396"/>
              <a:gd name="T34" fmla="*/ 1000 w 1002"/>
              <a:gd name="T35" fmla="*/ 3 h 396"/>
              <a:gd name="T36" fmla="*/ 1002 w 1002"/>
              <a:gd name="T37" fmla="*/ 3 h 39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02"/>
              <a:gd name="T58" fmla="*/ 0 h 396"/>
              <a:gd name="T59" fmla="*/ 1002 w 1002"/>
              <a:gd name="T60" fmla="*/ 396 h 39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02" h="396">
                <a:moveTo>
                  <a:pt x="1002" y="3"/>
                </a:moveTo>
                <a:cubicBezTo>
                  <a:pt x="997" y="12"/>
                  <a:pt x="997" y="12"/>
                  <a:pt x="997" y="12"/>
                </a:cubicBezTo>
                <a:cubicBezTo>
                  <a:pt x="993" y="11"/>
                  <a:pt x="993" y="11"/>
                  <a:pt x="993" y="11"/>
                </a:cubicBezTo>
                <a:cubicBezTo>
                  <a:pt x="990" y="10"/>
                  <a:pt x="986" y="9"/>
                  <a:pt x="982" y="9"/>
                </a:cubicBezTo>
                <a:cubicBezTo>
                  <a:pt x="977" y="9"/>
                  <a:pt x="972" y="9"/>
                  <a:pt x="967" y="9"/>
                </a:cubicBezTo>
                <a:cubicBezTo>
                  <a:pt x="962" y="10"/>
                  <a:pt x="957" y="10"/>
                  <a:pt x="953" y="11"/>
                </a:cubicBezTo>
                <a:cubicBezTo>
                  <a:pt x="948" y="13"/>
                  <a:pt x="943" y="14"/>
                  <a:pt x="939" y="16"/>
                </a:cubicBezTo>
                <a:cubicBezTo>
                  <a:pt x="424" y="224"/>
                  <a:pt x="424" y="224"/>
                  <a:pt x="424" y="224"/>
                </a:cubicBezTo>
                <a:cubicBezTo>
                  <a:pt x="376" y="244"/>
                  <a:pt x="376" y="244"/>
                  <a:pt x="376" y="244"/>
                </a:cubicBezTo>
                <a:cubicBezTo>
                  <a:pt x="1" y="396"/>
                  <a:pt x="1" y="396"/>
                  <a:pt x="1" y="396"/>
                </a:cubicBezTo>
                <a:cubicBezTo>
                  <a:pt x="0" y="390"/>
                  <a:pt x="0" y="390"/>
                  <a:pt x="0" y="390"/>
                </a:cubicBezTo>
                <a:cubicBezTo>
                  <a:pt x="377" y="237"/>
                  <a:pt x="377" y="237"/>
                  <a:pt x="377" y="237"/>
                </a:cubicBezTo>
                <a:cubicBezTo>
                  <a:pt x="424" y="218"/>
                  <a:pt x="424" y="218"/>
                  <a:pt x="424" y="218"/>
                </a:cubicBezTo>
                <a:cubicBezTo>
                  <a:pt x="938" y="8"/>
                  <a:pt x="938" y="8"/>
                  <a:pt x="938" y="8"/>
                </a:cubicBezTo>
                <a:cubicBezTo>
                  <a:pt x="943" y="6"/>
                  <a:pt x="948" y="5"/>
                  <a:pt x="954" y="3"/>
                </a:cubicBezTo>
                <a:cubicBezTo>
                  <a:pt x="959" y="2"/>
                  <a:pt x="965" y="1"/>
                  <a:pt x="971" y="1"/>
                </a:cubicBezTo>
                <a:cubicBezTo>
                  <a:pt x="976" y="0"/>
                  <a:pt x="982" y="0"/>
                  <a:pt x="987" y="0"/>
                </a:cubicBezTo>
                <a:cubicBezTo>
                  <a:pt x="992" y="1"/>
                  <a:pt x="996" y="1"/>
                  <a:pt x="1000" y="3"/>
                </a:cubicBezTo>
                <a:cubicBezTo>
                  <a:pt x="1002" y="3"/>
                  <a:pt x="1002" y="3"/>
                  <a:pt x="1002" y="3"/>
                </a:cubicBezTo>
              </a:path>
            </a:pathLst>
          </a:custGeom>
          <a:solidFill>
            <a:schemeClr val="bg1"/>
          </a:solidFill>
          <a:ln w="11113" cap="flat" cmpd="sng">
            <a:solidFill>
              <a:schemeClr val="bg1"/>
            </a:solidFill>
            <a:prstDash val="solid"/>
            <a:miter lim="800000"/>
            <a:headEnd type="none" w="med" len="med"/>
            <a:tailEnd type="none" w="med" len="me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28" name="Freeform 16"/>
          <p:cNvSpPr>
            <a:spLocks/>
          </p:cNvSpPr>
          <p:nvPr userDrawn="1"/>
        </p:nvSpPr>
        <p:spPr bwMode="auto">
          <a:xfrm>
            <a:off x="390525" y="1778547"/>
            <a:ext cx="325438" cy="1190625"/>
          </a:xfrm>
          <a:custGeom>
            <a:avLst/>
            <a:gdLst>
              <a:gd name="T0" fmla="*/ 128 w 128"/>
              <a:gd name="T1" fmla="*/ 6 h 558"/>
              <a:gd name="T2" fmla="*/ 124 w 128"/>
              <a:gd name="T3" fmla="*/ 7 h 558"/>
              <a:gd name="T4" fmla="*/ 118 w 128"/>
              <a:gd name="T5" fmla="*/ 11 h 558"/>
              <a:gd name="T6" fmla="*/ 112 w 128"/>
              <a:gd name="T7" fmla="*/ 17 h 558"/>
              <a:gd name="T8" fmla="*/ 108 w 128"/>
              <a:gd name="T9" fmla="*/ 24 h 558"/>
              <a:gd name="T10" fmla="*/ 106 w 128"/>
              <a:gd name="T11" fmla="*/ 31 h 558"/>
              <a:gd name="T12" fmla="*/ 64 w 128"/>
              <a:gd name="T13" fmla="*/ 240 h 558"/>
              <a:gd name="T14" fmla="*/ 55 w 128"/>
              <a:gd name="T15" fmla="*/ 287 h 558"/>
              <a:gd name="T16" fmla="*/ 7 w 128"/>
              <a:gd name="T17" fmla="*/ 530 h 558"/>
              <a:gd name="T18" fmla="*/ 6 w 128"/>
              <a:gd name="T19" fmla="*/ 539 h 558"/>
              <a:gd name="T20" fmla="*/ 8 w 128"/>
              <a:gd name="T21" fmla="*/ 545 h 558"/>
              <a:gd name="T22" fmla="*/ 13 w 128"/>
              <a:gd name="T23" fmla="*/ 549 h 558"/>
              <a:gd name="T24" fmla="*/ 19 w 128"/>
              <a:gd name="T25" fmla="*/ 550 h 558"/>
              <a:gd name="T26" fmla="*/ 86 w 128"/>
              <a:gd name="T27" fmla="*/ 535 h 558"/>
              <a:gd name="T28" fmla="*/ 85 w 128"/>
              <a:gd name="T29" fmla="*/ 543 h 558"/>
              <a:gd name="T30" fmla="*/ 17 w 128"/>
              <a:gd name="T31" fmla="*/ 558 h 558"/>
              <a:gd name="T32" fmla="*/ 9 w 128"/>
              <a:gd name="T33" fmla="*/ 557 h 558"/>
              <a:gd name="T34" fmla="*/ 3 w 128"/>
              <a:gd name="T35" fmla="*/ 552 h 558"/>
              <a:gd name="T36" fmla="*/ 0 w 128"/>
              <a:gd name="T37" fmla="*/ 543 h 558"/>
              <a:gd name="T38" fmla="*/ 1 w 128"/>
              <a:gd name="T39" fmla="*/ 531 h 558"/>
              <a:gd name="T40" fmla="*/ 49 w 128"/>
              <a:gd name="T41" fmla="*/ 289 h 558"/>
              <a:gd name="T42" fmla="*/ 58 w 128"/>
              <a:gd name="T43" fmla="*/ 242 h 558"/>
              <a:gd name="T44" fmla="*/ 100 w 128"/>
              <a:gd name="T45" fmla="*/ 33 h 558"/>
              <a:gd name="T46" fmla="*/ 104 w 128"/>
              <a:gd name="T47" fmla="*/ 23 h 558"/>
              <a:gd name="T48" fmla="*/ 110 w 128"/>
              <a:gd name="T49" fmla="*/ 14 h 558"/>
              <a:gd name="T50" fmla="*/ 117 w 128"/>
              <a:gd name="T51" fmla="*/ 6 h 558"/>
              <a:gd name="T52" fmla="*/ 126 w 128"/>
              <a:gd name="T53" fmla="*/ 1 h 558"/>
              <a:gd name="T54" fmla="*/ 127 w 128"/>
              <a:gd name="T55" fmla="*/ 0 h 558"/>
              <a:gd name="T56" fmla="*/ 128 w 128"/>
              <a:gd name="T57" fmla="*/ 6 h 55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8"/>
              <a:gd name="T88" fmla="*/ 0 h 558"/>
              <a:gd name="T89" fmla="*/ 128 w 128"/>
              <a:gd name="T90" fmla="*/ 558 h 55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8" h="558">
                <a:moveTo>
                  <a:pt x="128" y="6"/>
                </a:moveTo>
                <a:cubicBezTo>
                  <a:pt x="124" y="7"/>
                  <a:pt x="124" y="7"/>
                  <a:pt x="124" y="7"/>
                </a:cubicBezTo>
                <a:cubicBezTo>
                  <a:pt x="122" y="8"/>
                  <a:pt x="120" y="9"/>
                  <a:pt x="118" y="11"/>
                </a:cubicBezTo>
                <a:cubicBezTo>
                  <a:pt x="116" y="13"/>
                  <a:pt x="114" y="15"/>
                  <a:pt x="112" y="17"/>
                </a:cubicBezTo>
                <a:cubicBezTo>
                  <a:pt x="111" y="19"/>
                  <a:pt x="109" y="21"/>
                  <a:pt x="108" y="24"/>
                </a:cubicBezTo>
                <a:cubicBezTo>
                  <a:pt x="107" y="26"/>
                  <a:pt x="106" y="28"/>
                  <a:pt x="106" y="31"/>
                </a:cubicBezTo>
                <a:cubicBezTo>
                  <a:pt x="64" y="240"/>
                  <a:pt x="64" y="240"/>
                  <a:pt x="64" y="240"/>
                </a:cubicBezTo>
                <a:cubicBezTo>
                  <a:pt x="55" y="287"/>
                  <a:pt x="55" y="287"/>
                  <a:pt x="55" y="287"/>
                </a:cubicBezTo>
                <a:cubicBezTo>
                  <a:pt x="7" y="530"/>
                  <a:pt x="7" y="530"/>
                  <a:pt x="7" y="530"/>
                </a:cubicBezTo>
                <a:cubicBezTo>
                  <a:pt x="6" y="533"/>
                  <a:pt x="6" y="536"/>
                  <a:pt x="6" y="539"/>
                </a:cubicBezTo>
                <a:cubicBezTo>
                  <a:pt x="6" y="541"/>
                  <a:pt x="7" y="544"/>
                  <a:pt x="8" y="545"/>
                </a:cubicBezTo>
                <a:cubicBezTo>
                  <a:pt x="9" y="547"/>
                  <a:pt x="11" y="548"/>
                  <a:pt x="13" y="549"/>
                </a:cubicBezTo>
                <a:cubicBezTo>
                  <a:pt x="14" y="550"/>
                  <a:pt x="17" y="550"/>
                  <a:pt x="19" y="550"/>
                </a:cubicBezTo>
                <a:cubicBezTo>
                  <a:pt x="86" y="535"/>
                  <a:pt x="86" y="535"/>
                  <a:pt x="86" y="535"/>
                </a:cubicBezTo>
                <a:cubicBezTo>
                  <a:pt x="85" y="543"/>
                  <a:pt x="85" y="543"/>
                  <a:pt x="85" y="543"/>
                </a:cubicBezTo>
                <a:cubicBezTo>
                  <a:pt x="17" y="558"/>
                  <a:pt x="17" y="558"/>
                  <a:pt x="17" y="558"/>
                </a:cubicBezTo>
                <a:cubicBezTo>
                  <a:pt x="14" y="558"/>
                  <a:pt x="11" y="558"/>
                  <a:pt x="9" y="557"/>
                </a:cubicBezTo>
                <a:cubicBezTo>
                  <a:pt x="6" y="556"/>
                  <a:pt x="4" y="554"/>
                  <a:pt x="3" y="552"/>
                </a:cubicBezTo>
                <a:cubicBezTo>
                  <a:pt x="1" y="550"/>
                  <a:pt x="0" y="547"/>
                  <a:pt x="0" y="543"/>
                </a:cubicBezTo>
                <a:cubicBezTo>
                  <a:pt x="0" y="540"/>
                  <a:pt x="0" y="536"/>
                  <a:pt x="1" y="531"/>
                </a:cubicBezTo>
                <a:cubicBezTo>
                  <a:pt x="49" y="289"/>
                  <a:pt x="49" y="289"/>
                  <a:pt x="49" y="289"/>
                </a:cubicBezTo>
                <a:cubicBezTo>
                  <a:pt x="58" y="242"/>
                  <a:pt x="58" y="242"/>
                  <a:pt x="58" y="242"/>
                </a:cubicBezTo>
                <a:cubicBezTo>
                  <a:pt x="100" y="33"/>
                  <a:pt x="100" y="33"/>
                  <a:pt x="100" y="33"/>
                </a:cubicBezTo>
                <a:cubicBezTo>
                  <a:pt x="101" y="30"/>
                  <a:pt x="102" y="26"/>
                  <a:pt x="104" y="23"/>
                </a:cubicBezTo>
                <a:cubicBezTo>
                  <a:pt x="105" y="20"/>
                  <a:pt x="107" y="17"/>
                  <a:pt x="110" y="14"/>
                </a:cubicBezTo>
                <a:cubicBezTo>
                  <a:pt x="112" y="11"/>
                  <a:pt x="114" y="8"/>
                  <a:pt x="117" y="6"/>
                </a:cubicBezTo>
                <a:cubicBezTo>
                  <a:pt x="120" y="4"/>
                  <a:pt x="123" y="2"/>
                  <a:pt x="126" y="1"/>
                </a:cubicBezTo>
                <a:cubicBezTo>
                  <a:pt x="127" y="0"/>
                  <a:pt x="127" y="0"/>
                  <a:pt x="127" y="0"/>
                </a:cubicBezTo>
                <a:lnTo>
                  <a:pt x="128" y="6"/>
                </a:lnTo>
                <a:close/>
              </a:path>
            </a:pathLst>
          </a:custGeom>
          <a:solidFill>
            <a:schemeClr val="bg1"/>
          </a:solidFill>
          <a:ln w="11113" cap="flat">
            <a:solidFill>
              <a:schemeClr val="bg1"/>
            </a:solidFill>
            <a:prstDash val="solid"/>
            <a:miter lim="800000"/>
            <a:headEnd/>
            <a:tailEn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29" name="Freeform 17"/>
          <p:cNvSpPr>
            <a:spLocks/>
          </p:cNvSpPr>
          <p:nvPr userDrawn="1"/>
        </p:nvSpPr>
        <p:spPr bwMode="auto">
          <a:xfrm>
            <a:off x="3125788" y="952253"/>
            <a:ext cx="1308100" cy="1528763"/>
          </a:xfrm>
          <a:custGeom>
            <a:avLst/>
            <a:gdLst>
              <a:gd name="T0" fmla="*/ 46 w 516"/>
              <a:gd name="T1" fmla="*/ 9 h 716"/>
              <a:gd name="T2" fmla="*/ 485 w 516"/>
              <a:gd name="T3" fmla="*/ 148 h 716"/>
              <a:gd name="T4" fmla="*/ 496 w 516"/>
              <a:gd name="T5" fmla="*/ 154 h 716"/>
              <a:gd name="T6" fmla="*/ 501 w 516"/>
              <a:gd name="T7" fmla="*/ 164 h 716"/>
              <a:gd name="T8" fmla="*/ 501 w 516"/>
              <a:gd name="T9" fmla="*/ 175 h 716"/>
              <a:gd name="T10" fmla="*/ 494 w 516"/>
              <a:gd name="T11" fmla="*/ 187 h 716"/>
              <a:gd name="T12" fmla="*/ 113 w 516"/>
              <a:gd name="T13" fmla="*/ 656 h 716"/>
              <a:gd name="T14" fmla="*/ 100 w 516"/>
              <a:gd name="T15" fmla="*/ 668 h 716"/>
              <a:gd name="T16" fmla="*/ 84 w 516"/>
              <a:gd name="T17" fmla="*/ 679 h 716"/>
              <a:gd name="T18" fmla="*/ 66 w 516"/>
              <a:gd name="T19" fmla="*/ 689 h 716"/>
              <a:gd name="T20" fmla="*/ 49 w 516"/>
              <a:gd name="T21" fmla="*/ 694 h 716"/>
              <a:gd name="T22" fmla="*/ 0 w 516"/>
              <a:gd name="T23" fmla="*/ 705 h 716"/>
              <a:gd name="T24" fmla="*/ 0 w 516"/>
              <a:gd name="T25" fmla="*/ 716 h 716"/>
              <a:gd name="T26" fmla="*/ 50 w 516"/>
              <a:gd name="T27" fmla="*/ 705 h 716"/>
              <a:gd name="T28" fmla="*/ 69 w 516"/>
              <a:gd name="T29" fmla="*/ 699 h 716"/>
              <a:gd name="T30" fmla="*/ 89 w 516"/>
              <a:gd name="T31" fmla="*/ 689 h 716"/>
              <a:gd name="T32" fmla="*/ 108 w 516"/>
              <a:gd name="T33" fmla="*/ 676 h 716"/>
              <a:gd name="T34" fmla="*/ 122 w 516"/>
              <a:gd name="T35" fmla="*/ 661 h 716"/>
              <a:gd name="T36" fmla="*/ 506 w 516"/>
              <a:gd name="T37" fmla="*/ 190 h 716"/>
              <a:gd name="T38" fmla="*/ 515 w 516"/>
              <a:gd name="T39" fmla="*/ 174 h 716"/>
              <a:gd name="T40" fmla="*/ 515 w 516"/>
              <a:gd name="T41" fmla="*/ 159 h 716"/>
              <a:gd name="T42" fmla="*/ 508 w 516"/>
              <a:gd name="T43" fmla="*/ 147 h 716"/>
              <a:gd name="T44" fmla="*/ 493 w 516"/>
              <a:gd name="T45" fmla="*/ 138 h 716"/>
              <a:gd name="T46" fmla="*/ 51 w 516"/>
              <a:gd name="T47" fmla="*/ 0 h 716"/>
              <a:gd name="T48" fmla="*/ 46 w 516"/>
              <a:gd name="T49" fmla="*/ 9 h 71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16"/>
              <a:gd name="T76" fmla="*/ 0 h 716"/>
              <a:gd name="T77" fmla="*/ 516 w 516"/>
              <a:gd name="T78" fmla="*/ 716 h 71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16" h="716">
                <a:moveTo>
                  <a:pt x="46" y="9"/>
                </a:moveTo>
                <a:cubicBezTo>
                  <a:pt x="485" y="148"/>
                  <a:pt x="485" y="148"/>
                  <a:pt x="485" y="148"/>
                </a:cubicBezTo>
                <a:cubicBezTo>
                  <a:pt x="490" y="150"/>
                  <a:pt x="493" y="152"/>
                  <a:pt x="496" y="154"/>
                </a:cubicBezTo>
                <a:cubicBezTo>
                  <a:pt x="499" y="157"/>
                  <a:pt x="500" y="160"/>
                  <a:pt x="501" y="164"/>
                </a:cubicBezTo>
                <a:cubicBezTo>
                  <a:pt x="502" y="167"/>
                  <a:pt x="502" y="171"/>
                  <a:pt x="501" y="175"/>
                </a:cubicBezTo>
                <a:cubicBezTo>
                  <a:pt x="500" y="179"/>
                  <a:pt x="498" y="183"/>
                  <a:pt x="494" y="187"/>
                </a:cubicBezTo>
                <a:cubicBezTo>
                  <a:pt x="113" y="656"/>
                  <a:pt x="113" y="656"/>
                  <a:pt x="113" y="656"/>
                </a:cubicBezTo>
                <a:cubicBezTo>
                  <a:pt x="109" y="660"/>
                  <a:pt x="105" y="664"/>
                  <a:pt x="100" y="668"/>
                </a:cubicBezTo>
                <a:cubicBezTo>
                  <a:pt x="95" y="672"/>
                  <a:pt x="89" y="676"/>
                  <a:pt x="84" y="679"/>
                </a:cubicBezTo>
                <a:cubicBezTo>
                  <a:pt x="78" y="683"/>
                  <a:pt x="72" y="686"/>
                  <a:pt x="66" y="689"/>
                </a:cubicBezTo>
                <a:cubicBezTo>
                  <a:pt x="60" y="691"/>
                  <a:pt x="55" y="693"/>
                  <a:pt x="49" y="694"/>
                </a:cubicBezTo>
                <a:cubicBezTo>
                  <a:pt x="0" y="705"/>
                  <a:pt x="0" y="705"/>
                  <a:pt x="0" y="705"/>
                </a:cubicBezTo>
                <a:cubicBezTo>
                  <a:pt x="0" y="716"/>
                  <a:pt x="0" y="716"/>
                  <a:pt x="0" y="716"/>
                </a:cubicBezTo>
                <a:cubicBezTo>
                  <a:pt x="50" y="705"/>
                  <a:pt x="50" y="705"/>
                  <a:pt x="50" y="705"/>
                </a:cubicBezTo>
                <a:cubicBezTo>
                  <a:pt x="56" y="704"/>
                  <a:pt x="63" y="702"/>
                  <a:pt x="69" y="699"/>
                </a:cubicBezTo>
                <a:cubicBezTo>
                  <a:pt x="76" y="696"/>
                  <a:pt x="83" y="693"/>
                  <a:pt x="89" y="689"/>
                </a:cubicBezTo>
                <a:cubicBezTo>
                  <a:pt x="96" y="685"/>
                  <a:pt x="102" y="680"/>
                  <a:pt x="108" y="676"/>
                </a:cubicBezTo>
                <a:cubicBezTo>
                  <a:pt x="113" y="671"/>
                  <a:pt x="118" y="666"/>
                  <a:pt x="122" y="661"/>
                </a:cubicBezTo>
                <a:cubicBezTo>
                  <a:pt x="506" y="190"/>
                  <a:pt x="506" y="190"/>
                  <a:pt x="506" y="190"/>
                </a:cubicBezTo>
                <a:cubicBezTo>
                  <a:pt x="510" y="185"/>
                  <a:pt x="513" y="180"/>
                  <a:pt x="515" y="174"/>
                </a:cubicBezTo>
                <a:cubicBezTo>
                  <a:pt x="516" y="169"/>
                  <a:pt x="516" y="164"/>
                  <a:pt x="515" y="159"/>
                </a:cubicBezTo>
                <a:cubicBezTo>
                  <a:pt x="514" y="154"/>
                  <a:pt x="511" y="150"/>
                  <a:pt x="508" y="147"/>
                </a:cubicBezTo>
                <a:cubicBezTo>
                  <a:pt x="504" y="143"/>
                  <a:pt x="499" y="140"/>
                  <a:pt x="493" y="138"/>
                </a:cubicBezTo>
                <a:cubicBezTo>
                  <a:pt x="51" y="0"/>
                  <a:pt x="51" y="0"/>
                  <a:pt x="51" y="0"/>
                </a:cubicBezTo>
                <a:lnTo>
                  <a:pt x="46" y="9"/>
                </a:lnTo>
                <a:close/>
              </a:path>
            </a:pathLst>
          </a:custGeom>
          <a:solidFill>
            <a:schemeClr val="bg1"/>
          </a:solidFill>
          <a:ln w="11113" cap="flat" cmpd="sng">
            <a:solidFill>
              <a:schemeClr val="bg1"/>
            </a:solidFill>
            <a:prstDash val="solid"/>
            <a:miter lim="800000"/>
            <a:headEnd type="none" w="med" len="med"/>
            <a:tailEnd type="none" w="med" len="me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30" name="Line 51"/>
          <p:cNvSpPr>
            <a:spLocks noChangeShapeType="1"/>
          </p:cNvSpPr>
          <p:nvPr userDrawn="1"/>
        </p:nvSpPr>
        <p:spPr bwMode="auto">
          <a:xfrm>
            <a:off x="2603557" y="4378989"/>
            <a:ext cx="2659063" cy="4763"/>
          </a:xfrm>
          <a:prstGeom prst="line">
            <a:avLst/>
          </a:prstGeom>
          <a:noFill/>
          <a:ln w="33338">
            <a:solidFill>
              <a:srgbClr val="FFFFFF"/>
            </a:solidFill>
            <a:miter lim="800000"/>
            <a:headEnd/>
            <a:tailEnd/>
          </a:ln>
        </p:spPr>
        <p:txBody>
          <a:bodyPr/>
          <a:lstStyle/>
          <a:p>
            <a:pPr fontAlgn="base">
              <a:spcBef>
                <a:spcPct val="0"/>
              </a:spcBef>
              <a:spcAft>
                <a:spcPct val="0"/>
              </a:spcAft>
            </a:pPr>
            <a:endParaRPr lang="zh-CN" altLang="en-US" dirty="0">
              <a:solidFill>
                <a:srgbClr val="FFFFFF"/>
              </a:solidFill>
              <a:latin typeface="Arial" charset="0"/>
              <a:ea typeface="微软雅黑" panose="020B0503020204020204" pitchFamily="34" charset="-122"/>
            </a:endParaRPr>
          </a:p>
        </p:txBody>
      </p:sp>
      <p:sp>
        <p:nvSpPr>
          <p:cNvPr id="31" name="Text Box 52"/>
          <p:cNvSpPr txBox="1">
            <a:spLocks noChangeArrowheads="1"/>
          </p:cNvSpPr>
          <p:nvPr userDrawn="1"/>
        </p:nvSpPr>
        <p:spPr bwMode="auto">
          <a:xfrm>
            <a:off x="5802759" y="2051200"/>
            <a:ext cx="3233737" cy="351235"/>
          </a:xfrm>
          <a:prstGeom prst="rect">
            <a:avLst/>
          </a:prstGeom>
          <a:noFill/>
          <a:ln w="9525">
            <a:noFill/>
            <a:miter lim="800000"/>
            <a:headEnd/>
            <a:tailEnd/>
          </a:ln>
        </p:spPr>
        <p:txBody>
          <a:bodyPr anchor="ctr"/>
          <a:lstStyle/>
          <a:p>
            <a:pPr fontAlgn="base">
              <a:spcBef>
                <a:spcPct val="50000"/>
              </a:spcBef>
              <a:spcAft>
                <a:spcPct val="0"/>
              </a:spcAft>
            </a:pPr>
            <a:r>
              <a:rPr lang="en-US" altLang="zh-CN" dirty="0">
                <a:solidFill>
                  <a:srgbClr val="FFFFFF"/>
                </a:solidFill>
                <a:latin typeface="Arial" pitchFamily="34" charset="0"/>
                <a:ea typeface="微软雅黑" panose="020B0503020204020204" pitchFamily="34" charset="-122"/>
              </a:rPr>
              <a:t>Tel</a:t>
            </a:r>
            <a:r>
              <a:rPr lang="zh-CN" altLang="en-US" dirty="0">
                <a:solidFill>
                  <a:srgbClr val="FFFFFF"/>
                </a:solidFill>
                <a:latin typeface="Arial" pitchFamily="34" charset="0"/>
                <a:ea typeface="微软雅黑" panose="020B0503020204020204" pitchFamily="34" charset="-122"/>
              </a:rPr>
              <a:t>：</a:t>
            </a:r>
            <a:r>
              <a:rPr lang="en-US" altLang="zh-CN" dirty="0">
                <a:solidFill>
                  <a:srgbClr val="FFFFFF"/>
                </a:solidFill>
                <a:latin typeface="Arial" pitchFamily="34" charset="0"/>
                <a:ea typeface="微软雅黑" panose="020B0503020204020204" pitchFamily="34" charset="-122"/>
              </a:rPr>
              <a:t>13915982595</a:t>
            </a:r>
            <a:endParaRPr lang="en-GB" altLang="zh-CN" dirty="0">
              <a:solidFill>
                <a:srgbClr val="FFFFFF"/>
              </a:solidFill>
              <a:latin typeface="Arial" pitchFamily="34" charset="0"/>
              <a:ea typeface="微软雅黑" panose="020B0503020204020204" pitchFamily="34" charset="-122"/>
            </a:endParaRPr>
          </a:p>
        </p:txBody>
      </p:sp>
      <p:sp>
        <p:nvSpPr>
          <p:cNvPr id="32" name="Text Box 54"/>
          <p:cNvSpPr txBox="1">
            <a:spLocks noChangeArrowheads="1"/>
          </p:cNvSpPr>
          <p:nvPr userDrawn="1"/>
        </p:nvSpPr>
        <p:spPr bwMode="auto">
          <a:xfrm>
            <a:off x="5796136" y="2842965"/>
            <a:ext cx="2952328" cy="351234"/>
          </a:xfrm>
          <a:prstGeom prst="rect">
            <a:avLst/>
          </a:prstGeom>
          <a:noFill/>
          <a:ln w="9525">
            <a:noFill/>
            <a:miter lim="800000"/>
            <a:headEnd/>
            <a:tailEnd/>
          </a:ln>
        </p:spPr>
        <p:txBody>
          <a:bodyPr anchor="ctr"/>
          <a:lstStyle/>
          <a:p>
            <a:pPr fontAlgn="base">
              <a:spcBef>
                <a:spcPct val="50000"/>
              </a:spcBef>
              <a:spcAft>
                <a:spcPct val="0"/>
              </a:spcAft>
            </a:pPr>
            <a:r>
              <a:rPr lang="en-US" altLang="zh-CN" dirty="0">
                <a:solidFill>
                  <a:srgbClr val="FFFFFF"/>
                </a:solidFill>
                <a:latin typeface="Arial" pitchFamily="34" charset="0"/>
                <a:ea typeface="微软雅黑" panose="020B0503020204020204" pitchFamily="34" charset="-122"/>
              </a:rPr>
              <a:t>wangdm@seu.edu.cn</a:t>
            </a:r>
          </a:p>
        </p:txBody>
      </p:sp>
      <p:sp>
        <p:nvSpPr>
          <p:cNvPr id="33" name="Text Box 59"/>
          <p:cNvSpPr txBox="1">
            <a:spLocks noChangeArrowheads="1"/>
          </p:cNvSpPr>
          <p:nvPr userDrawn="1"/>
        </p:nvSpPr>
        <p:spPr bwMode="auto">
          <a:xfrm>
            <a:off x="5796136" y="3668617"/>
            <a:ext cx="1728192" cy="351235"/>
          </a:xfrm>
          <a:prstGeom prst="rect">
            <a:avLst/>
          </a:prstGeom>
          <a:noFill/>
          <a:ln w="9525">
            <a:noFill/>
            <a:miter lim="800000"/>
            <a:headEnd/>
            <a:tailEnd/>
          </a:ln>
        </p:spPr>
        <p:txBody>
          <a:bodyPr anchor="ctr"/>
          <a:lstStyle/>
          <a:p>
            <a:pPr fontAlgn="base">
              <a:spcBef>
                <a:spcPct val="50000"/>
              </a:spcBef>
              <a:spcAft>
                <a:spcPct val="0"/>
              </a:spcAft>
            </a:pPr>
            <a:r>
              <a:rPr lang="zh-CN" altLang="en-US" sz="1600" b="1" dirty="0">
                <a:solidFill>
                  <a:srgbClr val="FFFFFF"/>
                </a:solidFill>
                <a:ea typeface="微软雅黑" panose="020B0503020204020204" pitchFamily="34" charset="-122"/>
              </a:rPr>
              <a:t>无线谷</a:t>
            </a:r>
            <a:r>
              <a:rPr lang="en-US" altLang="zh-CN" sz="1600" b="1" dirty="0">
                <a:solidFill>
                  <a:srgbClr val="FFFFFF"/>
                </a:solidFill>
                <a:ea typeface="微软雅黑" panose="020B0503020204020204" pitchFamily="34" charset="-122"/>
              </a:rPr>
              <a:t>1-205</a:t>
            </a:r>
            <a:endParaRPr lang="en-US" altLang="zh-CN" sz="1600" b="1" dirty="0">
              <a:solidFill>
                <a:srgbClr val="FFFFFF"/>
              </a:solidFill>
              <a:latin typeface="Arial" pitchFamily="34" charset="0"/>
              <a:ea typeface="微软雅黑" panose="020B0503020204020204" pitchFamily="34" charset="-122"/>
            </a:endParaRPr>
          </a:p>
        </p:txBody>
      </p:sp>
      <p:sp>
        <p:nvSpPr>
          <p:cNvPr id="34" name="Text Box 62"/>
          <p:cNvSpPr txBox="1">
            <a:spLocks noChangeArrowheads="1"/>
          </p:cNvSpPr>
          <p:nvPr userDrawn="1"/>
        </p:nvSpPr>
        <p:spPr bwMode="auto">
          <a:xfrm>
            <a:off x="5796136" y="764704"/>
            <a:ext cx="3252000" cy="919163"/>
          </a:xfrm>
          <a:prstGeom prst="rect">
            <a:avLst/>
          </a:prstGeom>
          <a:noFill/>
          <a:ln w="9525">
            <a:noFill/>
            <a:miter lim="800000"/>
            <a:headEnd/>
            <a:tailEnd/>
          </a:ln>
        </p:spPr>
        <p:txBody>
          <a:bodyPr anchor="ctr"/>
          <a:lstStyle/>
          <a:p>
            <a:pPr fontAlgn="base">
              <a:spcBef>
                <a:spcPct val="50000"/>
              </a:spcBef>
              <a:spcAft>
                <a:spcPct val="0"/>
              </a:spcAft>
            </a:pPr>
            <a:r>
              <a:rPr lang="zh-CN" altLang="en-US" sz="1600" b="1" dirty="0">
                <a:solidFill>
                  <a:srgbClr val="FFFFFF"/>
                </a:solidFill>
                <a:ea typeface="微软雅黑" panose="020B0503020204020204" pitchFamily="34" charset="-122"/>
              </a:rPr>
              <a:t>王东明</a:t>
            </a:r>
            <a:endParaRPr lang="en-US" altLang="zh-CN" sz="1600" b="1" dirty="0">
              <a:solidFill>
                <a:srgbClr val="FFFFFF"/>
              </a:solidFill>
              <a:ea typeface="微软雅黑" panose="020B0503020204020204" pitchFamily="34" charset="-122"/>
            </a:endParaRPr>
          </a:p>
          <a:p>
            <a:pPr fontAlgn="base">
              <a:spcBef>
                <a:spcPct val="50000"/>
              </a:spcBef>
              <a:spcAft>
                <a:spcPct val="0"/>
              </a:spcAft>
            </a:pPr>
            <a:r>
              <a:rPr lang="zh-CN" altLang="en-US" sz="1400" b="1" dirty="0">
                <a:solidFill>
                  <a:srgbClr val="FFFFFF"/>
                </a:solidFill>
                <a:ea typeface="微软雅黑" panose="020B0503020204020204" pitchFamily="34" charset="-122"/>
              </a:rPr>
              <a:t>移动通信国家重点实验室</a:t>
            </a:r>
            <a:endParaRPr lang="en-GB" altLang="zh-CN" sz="1100" b="1" dirty="0">
              <a:solidFill>
                <a:srgbClr val="FFFFFF"/>
              </a:solidFill>
              <a:ea typeface="微软雅黑" panose="020B0503020204020204" pitchFamily="34" charset="-122"/>
            </a:endParaRPr>
          </a:p>
        </p:txBody>
      </p:sp>
      <p:sp>
        <p:nvSpPr>
          <p:cNvPr id="35" name="TextBox 34"/>
          <p:cNvSpPr txBox="1"/>
          <p:nvPr userDrawn="1"/>
        </p:nvSpPr>
        <p:spPr>
          <a:xfrm rot="20445248">
            <a:off x="842805" y="1491904"/>
            <a:ext cx="2954655" cy="923330"/>
          </a:xfrm>
          <a:prstGeom prst="rect">
            <a:avLst/>
          </a:prstGeom>
          <a:noFill/>
        </p:spPr>
        <p:txBody>
          <a:bodyPr wrap="none">
            <a:spAutoFit/>
          </a:bodyPr>
          <a:lstStyle/>
          <a:p>
            <a:pPr fontAlgn="base">
              <a:spcBef>
                <a:spcPct val="0"/>
              </a:spcBef>
              <a:spcAft>
                <a:spcPct val="0"/>
              </a:spcAft>
              <a:defRPr/>
            </a:pPr>
            <a:r>
              <a:rPr lang="zh-CN" altLang="en-US" sz="5400" b="1" dirty="0">
                <a:solidFill>
                  <a:srgbClr val="FFFFFF"/>
                </a:solidFill>
                <a:ea typeface="微软雅黑" panose="020B0503020204020204" pitchFamily="34" charset="-122"/>
              </a:rPr>
              <a:t>谢谢听讲</a:t>
            </a:r>
          </a:p>
        </p:txBody>
      </p:sp>
      <p:pic>
        <p:nvPicPr>
          <p:cNvPr id="37" name="图片 3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061699" y="4609838"/>
            <a:ext cx="2889201" cy="1909115"/>
          </a:xfrm>
          <a:prstGeom prst="rect">
            <a:avLst/>
          </a:prstGeom>
        </p:spPr>
      </p:pic>
      <p:pic>
        <p:nvPicPr>
          <p:cNvPr id="38" name="图片 3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959579" y="4609838"/>
            <a:ext cx="3024336" cy="1921895"/>
          </a:xfrm>
          <a:prstGeom prst="rect">
            <a:avLst/>
          </a:prstGeom>
        </p:spPr>
      </p:pic>
      <p:pic>
        <p:nvPicPr>
          <p:cNvPr id="46" name="图片 4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79512" y="4603449"/>
            <a:ext cx="2863673" cy="1909115"/>
          </a:xfrm>
          <a:prstGeom prst="rect">
            <a:avLst/>
          </a:prstGeom>
        </p:spPr>
      </p:pic>
      <p:pic>
        <p:nvPicPr>
          <p:cNvPr id="40" name="图片 39"/>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5040742" y="2823944"/>
            <a:ext cx="402490" cy="402490"/>
          </a:xfrm>
          <a:prstGeom prst="rect">
            <a:avLst/>
          </a:prstGeom>
        </p:spPr>
      </p:pic>
      <p:pic>
        <p:nvPicPr>
          <p:cNvPr id="41" name="Picture 4" descr="E:\仝德志文件，勿删！\03-参考文档\！PPT图片及版面资源\06-PPT精选插图\04-图标\home256.png"/>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5063037" y="3651103"/>
            <a:ext cx="357899" cy="35789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5" descr="E:\仝德志文件，勿删！\03-参考文档\！PPT图片及版面资源\06-PPT精选插图\04-图标\png-0030.png"/>
          <p:cNvPicPr>
            <a:picLocks noChangeAspect="1" noChangeArrowheads="1"/>
          </p:cNvPicPr>
          <p:nvPr userDrawn="1"/>
        </p:nvPicPr>
        <p:blipFill>
          <a:blip r:embed="rId9">
            <a:extLst>
              <a:ext uri="{28A0092B-C50C-407E-A947-70E740481C1C}">
                <a14:useLocalDpi xmlns:a14="http://schemas.microsoft.com/office/drawing/2010/main"/>
              </a:ext>
            </a:extLst>
          </a:blip>
          <a:srcRect/>
          <a:stretch>
            <a:fillRect/>
          </a:stretch>
        </p:blipFill>
        <p:spPr bwMode="auto">
          <a:xfrm>
            <a:off x="5055260" y="2054293"/>
            <a:ext cx="348142" cy="348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6169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inVertical)">
                                      <p:cBhvr>
                                        <p:cTn id="7" dur="500"/>
                                        <p:tgtEl>
                                          <p:spTgt spid="2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arn(inVertical)">
                                      <p:cBhvr>
                                        <p:cTn id="10" dur="500"/>
                                        <p:tgtEl>
                                          <p:spTgt spid="25"/>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arn(inVertical)">
                                      <p:cBhvr>
                                        <p:cTn id="13" dur="500"/>
                                        <p:tgtEl>
                                          <p:spTgt spid="2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barn(inVertical)">
                                      <p:cBhvr>
                                        <p:cTn id="16" dur="500"/>
                                        <p:tgtEl>
                                          <p:spTgt spid="29"/>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barn(inVertical)">
                                      <p:cBhvr>
                                        <p:cTn id="19" dur="500"/>
                                        <p:tgtEl>
                                          <p:spTgt spid="27"/>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barn(inVertical)">
                                      <p:cBhvr>
                                        <p:cTn id="22" dur="500"/>
                                        <p:tgtEl>
                                          <p:spTgt spid="35"/>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arn(inVertical)">
                                      <p:cBhvr>
                                        <p:cTn id="25" dur="500"/>
                                        <p:tgtEl>
                                          <p:spTgt spid="9"/>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arn(inVertical)">
                                      <p:cBhvr>
                                        <p:cTn id="28" dur="500"/>
                                        <p:tgtEl>
                                          <p:spTgt spid="7"/>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arn(inVertical)">
                                      <p:cBhvr>
                                        <p:cTn id="31" dur="500"/>
                                        <p:tgtEl>
                                          <p:spTgt spid="12"/>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barn(inVertical)">
                                      <p:cBhvr>
                                        <p:cTn id="34" dur="500"/>
                                        <p:tgtEl>
                                          <p:spTgt spid="34"/>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barn(inVertical)">
                                      <p:cBhvr>
                                        <p:cTn id="37" dur="500"/>
                                        <p:tgtEl>
                                          <p:spTgt spid="31"/>
                                        </p:tgtEl>
                                      </p:cBhvr>
                                    </p:animEffect>
                                  </p:childTnLst>
                                </p:cTn>
                              </p:par>
                              <p:par>
                                <p:cTn id="38" presetID="16" presetClass="entr" presetSubtype="21"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barn(inVertical)">
                                      <p:cBhvr>
                                        <p:cTn id="40" dur="500"/>
                                        <p:tgtEl>
                                          <p:spTgt spid="16"/>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barn(inVertical)">
                                      <p:cBhvr>
                                        <p:cTn id="43" dur="500"/>
                                        <p:tgtEl>
                                          <p:spTgt spid="32"/>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barn(inVertical)">
                                      <p:cBhvr>
                                        <p:cTn id="46" dur="500"/>
                                        <p:tgtEl>
                                          <p:spTgt spid="33"/>
                                        </p:tgtEl>
                                      </p:cBhvr>
                                    </p:animEffect>
                                  </p:childTnLst>
                                </p:cTn>
                              </p:par>
                              <p:par>
                                <p:cTn id="47" presetID="16" presetClass="entr" presetSubtype="21"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barn(inVertical)">
                                      <p:cBhvr>
                                        <p:cTn id="49" dur="500"/>
                                        <p:tgtEl>
                                          <p:spTgt spid="20"/>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arn(inVertical)">
                                      <p:cBhvr>
                                        <p:cTn id="52" dur="500"/>
                                        <p:tgtEl>
                                          <p:spTgt spid="11"/>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barn(inVertical)">
                                      <p:cBhvr>
                                        <p:cTn id="55" dur="500"/>
                                        <p:tgtEl>
                                          <p:spTgt spid="30"/>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barn(inVertical)">
                                      <p:cBhvr>
                                        <p:cTn id="58" dur="500"/>
                                        <p:tgtEl>
                                          <p:spTgt spid="2"/>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barn(inVertical)">
                                      <p:cBhvr>
                                        <p:cTn id="61" dur="500"/>
                                        <p:tgtEl>
                                          <p:spTgt spid="3"/>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barn(inVertical)">
                                      <p:cBhvr>
                                        <p:cTn id="64" dur="500"/>
                                        <p:tgtEl>
                                          <p:spTgt spid="6"/>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barn(inVertical)">
                                      <p:cBhvr>
                                        <p:cTn id="67" dur="500"/>
                                        <p:tgtEl>
                                          <p:spTgt spid="8"/>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barn(inVertical)">
                                      <p:cBhvr>
                                        <p:cTn id="70" dur="500"/>
                                        <p:tgtEl>
                                          <p:spTgt spid="10"/>
                                        </p:tgtEl>
                                      </p:cBhvr>
                                    </p:animEffect>
                                  </p:childTnLst>
                                </p:cTn>
                              </p:par>
                              <p:par>
                                <p:cTn id="71" presetID="16" presetClass="entr" presetSubtype="21" fill="hold" grpId="0" nodeType="withEffect" nodePh="1">
                                  <p:stCondLst>
                                    <p:cond delay="0"/>
                                  </p:stCondLst>
                                  <p:endCondLst>
                                    <p:cond evt="begin" delay="0">
                                      <p:tn val="71"/>
                                    </p:cond>
                                  </p:endCondLst>
                                  <p:childTnLst>
                                    <p:set>
                                      <p:cBhvr>
                                        <p:cTn id="72" dur="1" fill="hold">
                                          <p:stCondLst>
                                            <p:cond delay="0"/>
                                          </p:stCondLst>
                                        </p:cTn>
                                        <p:tgtEl>
                                          <p:spTgt spid="23"/>
                                        </p:tgtEl>
                                        <p:attrNameLst>
                                          <p:attrName>style.visibility</p:attrName>
                                        </p:attrNameLst>
                                      </p:cBhvr>
                                      <p:to>
                                        <p:strVal val="visible"/>
                                      </p:to>
                                    </p:set>
                                    <p:animEffect transition="in" filter="barn(inVertical)">
                                      <p:cBhvr>
                                        <p:cTn id="73" dur="500"/>
                                        <p:tgtEl>
                                          <p:spTgt spid="23"/>
                                        </p:tgtEl>
                                      </p:cBhvr>
                                    </p:animEffect>
                                  </p:childTnLst>
                                </p:cTn>
                              </p:par>
                              <p:par>
                                <p:cTn id="74" presetID="16" presetClass="entr" presetSubtype="21" fill="hold" grpId="0" nodeType="withEffect" nodePh="1">
                                  <p:stCondLst>
                                    <p:cond delay="0"/>
                                  </p:stCondLst>
                                  <p:endCondLst>
                                    <p:cond evt="begin" delay="0">
                                      <p:tn val="74"/>
                                    </p:cond>
                                  </p:endCondLst>
                                  <p:childTnLst>
                                    <p:set>
                                      <p:cBhvr>
                                        <p:cTn id="75" dur="1" fill="hold">
                                          <p:stCondLst>
                                            <p:cond delay="0"/>
                                          </p:stCondLst>
                                        </p:cTn>
                                        <p:tgtEl>
                                          <p:spTgt spid="24"/>
                                        </p:tgtEl>
                                        <p:attrNameLst>
                                          <p:attrName>style.visibility</p:attrName>
                                        </p:attrNameLst>
                                      </p:cBhvr>
                                      <p:to>
                                        <p:strVal val="visible"/>
                                      </p:to>
                                    </p:set>
                                    <p:animEffect transition="in" filter="barn(inVertical)">
                                      <p:cBhvr>
                                        <p:cTn id="76" dur="500"/>
                                        <p:tgtEl>
                                          <p:spTgt spid="24"/>
                                        </p:tgtEl>
                                      </p:cBhvr>
                                    </p:animEffect>
                                  </p:childTnLst>
                                </p:cTn>
                              </p:par>
                              <p:par>
                                <p:cTn id="77" presetID="53" presetClass="entr" presetSubtype="16" fill="hold" nodeType="with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fltVal val="0"/>
                                          </p:val>
                                        </p:tav>
                                        <p:tav tm="100000">
                                          <p:val>
                                            <p:strVal val="#ppt_w"/>
                                          </p:val>
                                        </p:tav>
                                      </p:tavLst>
                                    </p:anim>
                                    <p:anim calcmode="lin" valueType="num">
                                      <p:cBhvr>
                                        <p:cTn id="80" dur="500" fill="hold"/>
                                        <p:tgtEl>
                                          <p:spTgt spid="46"/>
                                        </p:tgtEl>
                                        <p:attrNameLst>
                                          <p:attrName>ppt_h</p:attrName>
                                        </p:attrNameLst>
                                      </p:cBhvr>
                                      <p:tavLst>
                                        <p:tav tm="0">
                                          <p:val>
                                            <p:fltVal val="0"/>
                                          </p:val>
                                        </p:tav>
                                        <p:tav tm="100000">
                                          <p:val>
                                            <p:strVal val="#ppt_h"/>
                                          </p:val>
                                        </p:tav>
                                      </p:tavLst>
                                    </p:anim>
                                    <p:animEffect transition="in" filter="fade">
                                      <p:cBhvr>
                                        <p:cTn id="81" dur="500"/>
                                        <p:tgtEl>
                                          <p:spTgt spid="46"/>
                                        </p:tgtEl>
                                      </p:cBhvr>
                                    </p:animEffect>
                                  </p:childTnLst>
                                </p:cTn>
                              </p:par>
                              <p:par>
                                <p:cTn id="82" presetID="53" presetClass="entr" presetSubtype="16" fill="hold" nodeType="withEffect">
                                  <p:stCondLst>
                                    <p:cond delay="0"/>
                                  </p:stCondLst>
                                  <p:childTnLst>
                                    <p:set>
                                      <p:cBhvr>
                                        <p:cTn id="83" dur="1" fill="hold">
                                          <p:stCondLst>
                                            <p:cond delay="0"/>
                                          </p:stCondLst>
                                        </p:cTn>
                                        <p:tgtEl>
                                          <p:spTgt spid="37"/>
                                        </p:tgtEl>
                                        <p:attrNameLst>
                                          <p:attrName>style.visibility</p:attrName>
                                        </p:attrNameLst>
                                      </p:cBhvr>
                                      <p:to>
                                        <p:strVal val="visible"/>
                                      </p:to>
                                    </p:set>
                                    <p:anim calcmode="lin" valueType="num">
                                      <p:cBhvr>
                                        <p:cTn id="84" dur="500" fill="hold"/>
                                        <p:tgtEl>
                                          <p:spTgt spid="37"/>
                                        </p:tgtEl>
                                        <p:attrNameLst>
                                          <p:attrName>ppt_w</p:attrName>
                                        </p:attrNameLst>
                                      </p:cBhvr>
                                      <p:tavLst>
                                        <p:tav tm="0">
                                          <p:val>
                                            <p:fltVal val="0"/>
                                          </p:val>
                                        </p:tav>
                                        <p:tav tm="100000">
                                          <p:val>
                                            <p:strVal val="#ppt_w"/>
                                          </p:val>
                                        </p:tav>
                                      </p:tavLst>
                                    </p:anim>
                                    <p:anim calcmode="lin" valueType="num">
                                      <p:cBhvr>
                                        <p:cTn id="85" dur="500" fill="hold"/>
                                        <p:tgtEl>
                                          <p:spTgt spid="37"/>
                                        </p:tgtEl>
                                        <p:attrNameLst>
                                          <p:attrName>ppt_h</p:attrName>
                                        </p:attrNameLst>
                                      </p:cBhvr>
                                      <p:tavLst>
                                        <p:tav tm="0">
                                          <p:val>
                                            <p:fltVal val="0"/>
                                          </p:val>
                                        </p:tav>
                                        <p:tav tm="100000">
                                          <p:val>
                                            <p:strVal val="#ppt_h"/>
                                          </p:val>
                                        </p:tav>
                                      </p:tavLst>
                                    </p:anim>
                                    <p:animEffect transition="in" filter="fade">
                                      <p:cBhvr>
                                        <p:cTn id="86" dur="500"/>
                                        <p:tgtEl>
                                          <p:spTgt spid="37"/>
                                        </p:tgtEl>
                                      </p:cBhvr>
                                    </p:animEffect>
                                  </p:childTnLst>
                                </p:cTn>
                              </p:par>
                              <p:par>
                                <p:cTn id="87" presetID="53" presetClass="entr" presetSubtype="16" fill="hold" nodeType="withEffect">
                                  <p:stCondLst>
                                    <p:cond delay="0"/>
                                  </p:stCondLst>
                                  <p:childTnLst>
                                    <p:set>
                                      <p:cBhvr>
                                        <p:cTn id="88" dur="1" fill="hold">
                                          <p:stCondLst>
                                            <p:cond delay="0"/>
                                          </p:stCondLst>
                                        </p:cTn>
                                        <p:tgtEl>
                                          <p:spTgt spid="38"/>
                                        </p:tgtEl>
                                        <p:attrNameLst>
                                          <p:attrName>style.visibility</p:attrName>
                                        </p:attrNameLst>
                                      </p:cBhvr>
                                      <p:to>
                                        <p:strVal val="visible"/>
                                      </p:to>
                                    </p:set>
                                    <p:anim calcmode="lin" valueType="num">
                                      <p:cBhvr>
                                        <p:cTn id="89" dur="500" fill="hold"/>
                                        <p:tgtEl>
                                          <p:spTgt spid="38"/>
                                        </p:tgtEl>
                                        <p:attrNameLst>
                                          <p:attrName>ppt_w</p:attrName>
                                        </p:attrNameLst>
                                      </p:cBhvr>
                                      <p:tavLst>
                                        <p:tav tm="0">
                                          <p:val>
                                            <p:fltVal val="0"/>
                                          </p:val>
                                        </p:tav>
                                        <p:tav tm="100000">
                                          <p:val>
                                            <p:strVal val="#ppt_w"/>
                                          </p:val>
                                        </p:tav>
                                      </p:tavLst>
                                    </p:anim>
                                    <p:anim calcmode="lin" valueType="num">
                                      <p:cBhvr>
                                        <p:cTn id="90" dur="500" fill="hold"/>
                                        <p:tgtEl>
                                          <p:spTgt spid="38"/>
                                        </p:tgtEl>
                                        <p:attrNameLst>
                                          <p:attrName>ppt_h</p:attrName>
                                        </p:attrNameLst>
                                      </p:cBhvr>
                                      <p:tavLst>
                                        <p:tav tm="0">
                                          <p:val>
                                            <p:fltVal val="0"/>
                                          </p:val>
                                        </p:tav>
                                        <p:tav tm="100000">
                                          <p:val>
                                            <p:strVal val="#ppt_h"/>
                                          </p:val>
                                        </p:tav>
                                      </p:tavLst>
                                    </p:anim>
                                    <p:animEffect transition="in" filter="fade">
                                      <p:cBhvr>
                                        <p:cTn id="9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8" grpId="0" animBg="1"/>
      <p:bldP spid="9" grpId="0" animBg="1"/>
      <p:bldP spid="10" grpId="0" animBg="1"/>
      <p:bldP spid="11" grpId="0" animBg="1"/>
      <p:bldP spid="12" grpId="0" animBg="1"/>
      <p:bldP spid="23" grpId="0"/>
      <p:bldP spid="24" grpId="0"/>
      <p:bldP spid="25" grpId="0" animBg="1"/>
      <p:bldP spid="26" grpId="0" animBg="1"/>
      <p:bldP spid="27" grpId="0" animBg="1"/>
      <p:bldP spid="28" grpId="0" animBg="1"/>
      <p:bldP spid="29" grpId="0" animBg="1"/>
      <p:bldP spid="30" grpId="0" animBg="1"/>
      <p:bldP spid="31" grpId="0"/>
      <p:bldP spid="32" grpId="0"/>
      <p:bldP spid="33" grpId="0"/>
      <p:bldP spid="34" grpId="0"/>
      <p:bldP spid="35"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7" name="直接连接符 6"/>
          <p:cNvCxnSpPr/>
          <p:nvPr/>
        </p:nvCxnSpPr>
        <p:spPr>
          <a:xfrm>
            <a:off x="-32" y="6599238"/>
            <a:ext cx="730726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7367588" y="6165850"/>
            <a:ext cx="0" cy="43180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7451725" y="6308725"/>
            <a:ext cx="0" cy="288925"/>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611188" y="-26988"/>
            <a:ext cx="0" cy="431801"/>
          </a:xfrm>
          <a:prstGeom prst="line">
            <a:avLst/>
          </a:prstGeom>
          <a:ln w="762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768350" y="0"/>
            <a:ext cx="0" cy="287338"/>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椭圆 8"/>
          <p:cNvSpPr/>
          <p:nvPr userDrawn="1"/>
        </p:nvSpPr>
        <p:spPr>
          <a:xfrm>
            <a:off x="431188" y="6201750"/>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14" name="TextBox 15"/>
          <p:cNvSpPr txBox="1"/>
          <p:nvPr userDrawn="1"/>
        </p:nvSpPr>
        <p:spPr>
          <a:xfrm>
            <a:off x="285973" y="6212473"/>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pic>
        <p:nvPicPr>
          <p:cNvPr id="2" name="图片 1"/>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7610569" y="6043193"/>
            <a:ext cx="705847" cy="698175"/>
          </a:xfrm>
          <a:prstGeom prst="rect">
            <a:avLst/>
          </a:prstGeom>
        </p:spPr>
      </p:pic>
    </p:spTree>
    <p:extLst>
      <p:ext uri="{BB962C8B-B14F-4D97-AF65-F5344CB8AC3E}">
        <p14:creationId xmlns:p14="http://schemas.microsoft.com/office/powerpoint/2010/main" val="1710669755"/>
      </p:ext>
    </p:extLst>
  </p:cSld>
  <p:clrMap bg1="lt1" tx1="dk1" bg2="lt2" tx2="dk2" accent1="accent1" accent2="accent2" accent3="accent3" accent4="accent4" accent5="accent5" accent6="accent6" hlink="hlink" folHlink="folHlink"/>
  <p:sldLayoutIdLst>
    <p:sldLayoutId id="2147483680" r:id="rId1"/>
    <p:sldLayoutId id="2147483666" r:id="rId2"/>
    <p:sldLayoutId id="2147483671" r:id="rId3"/>
    <p:sldLayoutId id="2147483676" r:id="rId4"/>
    <p:sldLayoutId id="2147483677" r:id="rId5"/>
    <p:sldLayoutId id="2147483681" r:id="rId6"/>
    <p:sldLayoutId id="2147483678" r:id="rId7"/>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g"/><Relationship Id="rId1" Type="http://schemas.openxmlformats.org/officeDocument/2006/relationships/slideLayout" Target="../slideLayouts/slideLayout5.xml"/><Relationship Id="rId4" Type="http://schemas.openxmlformats.org/officeDocument/2006/relationships/image" Target="../media/image26.gif"/></Relationships>
</file>

<file path=ppt/slides/_rels/slide1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30.emf"/><Relationship Id="rId2" Type="http://schemas.openxmlformats.org/officeDocument/2006/relationships/slideLayout" Target="../slideLayouts/slideLayout5.xml"/><Relationship Id="rId1" Type="http://schemas.openxmlformats.org/officeDocument/2006/relationships/vmlDrawing" Target="../drawings/vmlDrawing1.vml"/><Relationship Id="rId6" Type="http://schemas.openxmlformats.org/officeDocument/2006/relationships/package" Target="../embeddings/Microsoft_Visio___2.vsdx"/><Relationship Id="rId5" Type="http://schemas.openxmlformats.org/officeDocument/2006/relationships/image" Target="../media/image29.emf"/><Relationship Id="rId4" Type="http://schemas.openxmlformats.org/officeDocument/2006/relationships/package" Target="../embeddings/Microsoft_Visio___1.vsdx"/></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32.jpe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notesSlide" Target="../notesSlides/notesSlide22.xml"/><Relationship Id="rId7" Type="http://schemas.openxmlformats.org/officeDocument/2006/relationships/image" Target="../media/image36.emf"/><Relationship Id="rId2" Type="http://schemas.openxmlformats.org/officeDocument/2006/relationships/slideLayout" Target="../slideLayouts/slideLayout5.xml"/><Relationship Id="rId1" Type="http://schemas.openxmlformats.org/officeDocument/2006/relationships/vmlDrawing" Target="../drawings/vmlDrawing2.vml"/><Relationship Id="rId6" Type="http://schemas.openxmlformats.org/officeDocument/2006/relationships/package" Target="../embeddings/Microsoft_Visio___4.vsdx"/><Relationship Id="rId5" Type="http://schemas.openxmlformats.org/officeDocument/2006/relationships/image" Target="../media/image35.emf"/><Relationship Id="rId4" Type="http://schemas.openxmlformats.org/officeDocument/2006/relationships/package" Target="../embeddings/Microsoft_Visio___3.vsdx"/></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control" Target="../activeX/activeX1.xml"/><Relationship Id="rId1" Type="http://schemas.openxmlformats.org/officeDocument/2006/relationships/vmlDrawing" Target="../drawings/vmlDrawing3.vml"/><Relationship Id="rId5" Type="http://schemas.openxmlformats.org/officeDocument/2006/relationships/image" Target="../media/image38.wmf"/><Relationship Id="rId4"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87804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问号01.png"/>
          <p:cNvPicPr>
            <a:picLocks noChangeAspect="1"/>
          </p:cNvPicPr>
          <p:nvPr/>
        </p:nvPicPr>
        <p:blipFill>
          <a:blip r:embed="rId3"/>
          <a:stretch>
            <a:fillRect/>
          </a:stretch>
        </p:blipFill>
        <p:spPr>
          <a:xfrm>
            <a:off x="1115616" y="5253127"/>
            <a:ext cx="1728439" cy="1343740"/>
          </a:xfrm>
          <a:prstGeom prst="rect">
            <a:avLst/>
          </a:prstGeom>
        </p:spPr>
      </p:pic>
      <p:sp>
        <p:nvSpPr>
          <p:cNvPr id="5" name="流程图: 可选过程 4"/>
          <p:cNvSpPr/>
          <p:nvPr/>
        </p:nvSpPr>
        <p:spPr>
          <a:xfrm>
            <a:off x="2278872" y="1628800"/>
            <a:ext cx="6397584" cy="902445"/>
          </a:xfrm>
          <a:prstGeom prst="flowChartAlternateProcess">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bg1"/>
                </a:solidFill>
                <a:latin typeface="微软雅黑" panose="020B0503020204020204" pitchFamily="34" charset="-122"/>
                <a:ea typeface="微软雅黑" panose="020B0503020204020204" pitchFamily="34" charset="-122"/>
              </a:rPr>
              <a:t>计算机如何工作的？当我们需要尽可能发挥</a:t>
            </a:r>
            <a:r>
              <a:rPr lang="en-US" altLang="zh-CN" sz="2000" dirty="0">
                <a:solidFill>
                  <a:schemeClr val="bg1"/>
                </a:solidFill>
                <a:latin typeface="微软雅黑" panose="020B0503020204020204" pitchFamily="34" charset="-122"/>
                <a:ea typeface="微软雅黑" panose="020B0503020204020204" pitchFamily="34" charset="-122"/>
              </a:rPr>
              <a:t>CPU</a:t>
            </a:r>
            <a:r>
              <a:rPr lang="zh-CN" altLang="en-US" sz="2000" dirty="0">
                <a:solidFill>
                  <a:schemeClr val="bg1"/>
                </a:solidFill>
                <a:latin typeface="微软雅黑" panose="020B0503020204020204" pitchFamily="34" charset="-122"/>
                <a:ea typeface="微软雅黑" panose="020B0503020204020204" pitchFamily="34" charset="-122"/>
              </a:rPr>
              <a:t>的能力，提高运算速度怎么做？移动通信需要实时并行计算。</a:t>
            </a:r>
          </a:p>
        </p:txBody>
      </p:sp>
      <p:sp>
        <p:nvSpPr>
          <p:cNvPr id="19" name="流程图: 可选过程 18"/>
          <p:cNvSpPr/>
          <p:nvPr/>
        </p:nvSpPr>
        <p:spPr>
          <a:xfrm>
            <a:off x="2267744" y="2780928"/>
            <a:ext cx="6397584" cy="902445"/>
          </a:xfrm>
          <a:prstGeom prst="flowChartAlternateProcess">
            <a:avLst/>
          </a:prstGeom>
          <a:solidFill>
            <a:srgbClr val="5DCB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bg1"/>
                </a:solidFill>
                <a:latin typeface="微软雅黑" panose="020B0503020204020204" pitchFamily="34" charset="-122"/>
                <a:ea typeface="微软雅黑" panose="020B0503020204020204" pitchFamily="34" charset="-122"/>
              </a:rPr>
              <a:t>你注意到身边的一些微型计算机系统的应用吗？每天为我们服务的食堂打卡消费系统以及智能家电。</a:t>
            </a:r>
          </a:p>
        </p:txBody>
      </p:sp>
      <p:sp>
        <p:nvSpPr>
          <p:cNvPr id="21" name="流程图: 可选过程 20"/>
          <p:cNvSpPr/>
          <p:nvPr/>
        </p:nvSpPr>
        <p:spPr>
          <a:xfrm>
            <a:off x="2267744" y="3894707"/>
            <a:ext cx="6397584" cy="902445"/>
          </a:xfrm>
          <a:prstGeom prst="flowChartAlternateProcess">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bg1"/>
                </a:solidFill>
                <a:latin typeface="微软雅黑" panose="020B0503020204020204" pitchFamily="34" charset="-122"/>
                <a:ea typeface="微软雅黑" panose="020B0503020204020204" pitchFamily="34" charset="-122"/>
              </a:rPr>
              <a:t>你知道一些工业控制如何工作的吗？</a:t>
            </a:r>
            <a:r>
              <a:rPr lang="en-US" altLang="zh-CN" sz="2000" dirty="0">
                <a:solidFill>
                  <a:schemeClr val="bg1"/>
                </a:solidFill>
                <a:latin typeface="微软雅黑" panose="020B0503020204020204" pitchFamily="34" charset="-122"/>
                <a:ea typeface="微软雅黑" panose="020B0503020204020204" pitchFamily="34" charset="-122"/>
              </a:rPr>
              <a:t>CPU</a:t>
            </a:r>
            <a:r>
              <a:rPr lang="zh-CN" altLang="en-US" sz="2000" dirty="0">
                <a:solidFill>
                  <a:schemeClr val="bg1"/>
                </a:solidFill>
                <a:latin typeface="微软雅黑" panose="020B0503020204020204" pitchFamily="34" charset="-122"/>
                <a:ea typeface="微软雅黑" panose="020B0503020204020204" pitchFamily="34" charset="-122"/>
              </a:rPr>
              <a:t>可以完成智能控制。</a:t>
            </a:r>
          </a:p>
        </p:txBody>
      </p:sp>
      <p:sp>
        <p:nvSpPr>
          <p:cNvPr id="33" name="椭圆 32"/>
          <p:cNvSpPr/>
          <p:nvPr/>
        </p:nvSpPr>
        <p:spPr>
          <a:xfrm>
            <a:off x="1259632" y="1767902"/>
            <a:ext cx="624239" cy="624239"/>
          </a:xfrm>
          <a:prstGeom prst="ellipse">
            <a:avLst/>
          </a:prstGeom>
          <a:solidFill>
            <a:srgbClr val="69696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latin typeface="Arial Unicode MS" panose="020B0604020202020204" pitchFamily="34" charset="-122"/>
                <a:ea typeface="Arial Unicode MS" panose="020B0604020202020204" pitchFamily="34" charset="-122"/>
                <a:cs typeface="Arial Unicode MS" panose="020B0604020202020204" pitchFamily="34" charset="-122"/>
              </a:rPr>
              <a:t>1</a:t>
            </a:r>
            <a:endParaRPr lang="zh-CN" altLang="en-US" sz="20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34" name="椭圆 33"/>
          <p:cNvSpPr/>
          <p:nvPr/>
        </p:nvSpPr>
        <p:spPr>
          <a:xfrm>
            <a:off x="1259632" y="2948777"/>
            <a:ext cx="624239" cy="624239"/>
          </a:xfrm>
          <a:prstGeom prst="ellipse">
            <a:avLst/>
          </a:prstGeom>
          <a:solidFill>
            <a:srgbClr val="69696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latin typeface="Arial Unicode MS" panose="020B0604020202020204" pitchFamily="34" charset="-122"/>
                <a:ea typeface="Arial Unicode MS" panose="020B0604020202020204" pitchFamily="34" charset="-122"/>
                <a:cs typeface="Arial Unicode MS" panose="020B0604020202020204" pitchFamily="34" charset="-122"/>
              </a:rPr>
              <a:t>2</a:t>
            </a:r>
            <a:endParaRPr lang="zh-CN" altLang="en-US" sz="20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35" name="椭圆 34"/>
          <p:cNvSpPr/>
          <p:nvPr/>
        </p:nvSpPr>
        <p:spPr>
          <a:xfrm>
            <a:off x="1259632" y="4028897"/>
            <a:ext cx="624239" cy="624239"/>
          </a:xfrm>
          <a:prstGeom prst="ellipse">
            <a:avLst/>
          </a:prstGeom>
          <a:solidFill>
            <a:srgbClr val="69696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latin typeface="Arial Unicode MS" panose="020B0604020202020204" pitchFamily="34" charset="-122"/>
                <a:ea typeface="Arial Unicode MS" panose="020B0604020202020204" pitchFamily="34" charset="-122"/>
                <a:cs typeface="Arial Unicode MS" panose="020B0604020202020204" pitchFamily="34" charset="-122"/>
              </a:rPr>
              <a:t>3</a:t>
            </a:r>
            <a:endParaRPr lang="zh-CN" altLang="en-US" sz="20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768959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851274" y="1000116"/>
            <a:ext cx="5007006" cy="1143000"/>
          </a:xfrm>
          <a:prstGeom prst="rect">
            <a:avLst/>
          </a:prstGeom>
        </p:spPr>
        <p:txBody>
          <a:bodyPr rtlCol="0">
            <a:normAutofit fontScale="90000"/>
          </a:bodyPr>
          <a:lstStyle/>
          <a:p>
            <a:pPr eaLnBrk="1" fontAlgn="auto" hangingPunct="1">
              <a:spcAft>
                <a:spcPts val="0"/>
              </a:spcAft>
              <a:defRPr/>
            </a:pPr>
            <a:r>
              <a:rPr lang="zh-CN" altLang="en-US" sz="4400" dirty="0">
                <a:solidFill>
                  <a:schemeClr val="tx1">
                    <a:lumMod val="65000"/>
                    <a:lumOff val="35000"/>
                  </a:schemeClr>
                </a:solidFill>
                <a:latin typeface="Arial"/>
                <a:ea typeface="微软雅黑" panose="020B0503020204020204" pitchFamily="34" charset="-122"/>
                <a:cs typeface="Arial"/>
              </a:rPr>
              <a:t>课程</a:t>
            </a:r>
            <a:r>
              <a:rPr lang="zh-CN" altLang="en-US" sz="5300" dirty="0">
                <a:solidFill>
                  <a:srgbClr val="00C4F0"/>
                </a:solidFill>
                <a:ea typeface="微软雅黑" panose="020B0503020204020204" pitchFamily="34" charset="-122"/>
                <a:cs typeface="+mn-cs"/>
              </a:rPr>
              <a:t>背景</a:t>
            </a:r>
            <a:r>
              <a:rPr lang="en-US" altLang="zh-CN" dirty="0">
                <a:latin typeface="Arial"/>
                <a:ea typeface="微软雅黑" panose="020B0503020204020204" pitchFamily="34" charset="-122"/>
                <a:cs typeface="Arial"/>
              </a:rPr>
              <a:t>• </a:t>
            </a:r>
            <a:r>
              <a:rPr lang="en-US" altLang="zh-CN" sz="2800" b="0" dirty="0">
                <a:solidFill>
                  <a:srgbClr val="FFC000"/>
                </a:solidFill>
                <a:latin typeface="Tahoma" pitchFamily="34" charset="0"/>
                <a:ea typeface="微软简综艺" pitchFamily="49" charset="-122"/>
                <a:cs typeface="Tahoma" pitchFamily="34" charset="0"/>
              </a:rPr>
              <a:t>BACKGROUND</a:t>
            </a:r>
            <a:endParaRPr lang="zh-CN" altLang="en-US" sz="1800" b="0" dirty="0">
              <a:solidFill>
                <a:srgbClr val="FFC000"/>
              </a:solidFill>
              <a:latin typeface="Tahoma" pitchFamily="34" charset="0"/>
              <a:ea typeface="微软简综艺" pitchFamily="49" charset="-122"/>
              <a:cs typeface="Tahoma" pitchFamily="34" charset="0"/>
            </a:endParaRPr>
          </a:p>
        </p:txBody>
      </p:sp>
      <p:sp>
        <p:nvSpPr>
          <p:cNvPr id="4099" name="矩形 4"/>
          <p:cNvSpPr>
            <a:spLocks noChangeArrowheads="1"/>
          </p:cNvSpPr>
          <p:nvPr/>
        </p:nvSpPr>
        <p:spPr bwMode="auto">
          <a:xfrm>
            <a:off x="3851275" y="2096817"/>
            <a:ext cx="5113338" cy="3996479"/>
          </a:xfrm>
          <a:prstGeom prst="rect">
            <a:avLst/>
          </a:prstGeom>
          <a:noFill/>
          <a:ln w="9525">
            <a:noFill/>
            <a:miter lim="800000"/>
            <a:headEnd/>
            <a:tailEnd/>
          </a:ln>
        </p:spPr>
        <p:txBody>
          <a:bodyPr>
            <a:spAutoFit/>
          </a:bodyPr>
          <a:lstStyle/>
          <a:p>
            <a:pPr marL="285750" indent="-285750">
              <a:lnSpc>
                <a:spcPct val="134000"/>
              </a:lnSpc>
              <a:spcBef>
                <a:spcPts val="400"/>
              </a:spcBef>
              <a:spcAft>
                <a:spcPts val="60"/>
              </a:spcAft>
              <a:buFont typeface="Arial" panose="020B0604020202020204" pitchFamily="34" charset="0"/>
              <a:buChar char="•"/>
            </a:pPr>
            <a:r>
              <a:rPr lang="zh-CN" altLang="en-US" sz="2000" dirty="0">
                <a:solidFill>
                  <a:srgbClr val="FF0000"/>
                </a:solidFill>
                <a:latin typeface="微软雅黑" pitchFamily="34" charset="-122"/>
                <a:ea typeface="微软雅黑" pitchFamily="34" charset="-122"/>
              </a:rPr>
              <a:t>深入理解计算机</a:t>
            </a:r>
            <a:r>
              <a:rPr lang="zh-CN" altLang="en-US" sz="2000" dirty="0">
                <a:solidFill>
                  <a:schemeClr val="tx1">
                    <a:lumMod val="65000"/>
                    <a:lumOff val="35000"/>
                  </a:schemeClr>
                </a:solidFill>
                <a:latin typeface="微软雅黑" pitchFamily="34" charset="-122"/>
                <a:ea typeface="微软雅黑" pitchFamily="34" charset="-122"/>
              </a:rPr>
              <a:t>系统的开始：原来只是会用计算机，现在要理解计算机（</a:t>
            </a:r>
            <a:r>
              <a:rPr lang="zh-CN" altLang="en-US" sz="2000" b="1" dirty="0">
                <a:solidFill>
                  <a:srgbClr val="FF0000"/>
                </a:solidFill>
                <a:latin typeface="微软雅黑" pitchFamily="34" charset="-122"/>
                <a:ea typeface="微软雅黑" pitchFamily="34" charset="-122"/>
              </a:rPr>
              <a:t>软件</a:t>
            </a:r>
            <a:r>
              <a:rPr lang="en-US" altLang="zh-CN" sz="2000" b="1" dirty="0">
                <a:solidFill>
                  <a:srgbClr val="FF0000"/>
                </a:solidFill>
                <a:latin typeface="微软雅黑" pitchFamily="34" charset="-122"/>
                <a:ea typeface="微软雅黑" pitchFamily="34" charset="-122"/>
              </a:rPr>
              <a:t>/</a:t>
            </a:r>
            <a:r>
              <a:rPr lang="zh-CN" altLang="en-US" sz="2000" b="1" dirty="0">
                <a:solidFill>
                  <a:srgbClr val="FF0000"/>
                </a:solidFill>
                <a:latin typeface="微软雅黑" pitchFamily="34" charset="-122"/>
                <a:ea typeface="微软雅黑" pitchFamily="34" charset="-122"/>
              </a:rPr>
              <a:t>硬件</a:t>
            </a:r>
            <a:r>
              <a:rPr lang="zh-CN" altLang="en-US" sz="2000" dirty="0">
                <a:solidFill>
                  <a:schemeClr val="tx1">
                    <a:lumMod val="65000"/>
                    <a:lumOff val="35000"/>
                  </a:schemeClr>
                </a:solidFill>
                <a:latin typeface="微软雅黑" pitchFamily="34" charset="-122"/>
                <a:ea typeface="微软雅黑" pitchFamily="34" charset="-122"/>
              </a:rPr>
              <a:t>）是如何有效的工作；</a:t>
            </a: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学习</a:t>
            </a:r>
            <a:r>
              <a:rPr lang="zh-CN" altLang="en-US" sz="2000" dirty="0">
                <a:solidFill>
                  <a:srgbClr val="FF0000"/>
                </a:solidFill>
                <a:latin typeface="微软雅黑" pitchFamily="34" charset="-122"/>
                <a:ea typeface="微软雅黑" pitchFamily="34" charset="-122"/>
              </a:rPr>
              <a:t>硬件应用</a:t>
            </a:r>
            <a:r>
              <a:rPr lang="zh-CN" altLang="en-US" sz="2000" dirty="0">
                <a:solidFill>
                  <a:schemeClr val="tx1">
                    <a:lumMod val="65000"/>
                    <a:lumOff val="35000"/>
                  </a:schemeClr>
                </a:solidFill>
                <a:latin typeface="微软雅黑" pitchFamily="34" charset="-122"/>
                <a:ea typeface="微软雅黑" pitchFamily="34" charset="-122"/>
              </a:rPr>
              <a:t>的开始：原来只是用计算机进行软件编程，现在要能够使用计算机硬件（接口芯片）完成特定的控制；</a:t>
            </a:r>
            <a:endParaRPr lang="en-US" altLang="zh-CN" sz="2000" dirty="0">
              <a:solidFill>
                <a:schemeClr val="tx1">
                  <a:lumMod val="65000"/>
                  <a:lumOff val="35000"/>
                </a:schemeClr>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学习</a:t>
            </a:r>
            <a:r>
              <a:rPr lang="en-US" altLang="zh-CN" sz="2000" dirty="0">
                <a:solidFill>
                  <a:schemeClr val="tx1">
                    <a:lumMod val="65000"/>
                    <a:lumOff val="35000"/>
                  </a:schemeClr>
                </a:solidFill>
                <a:latin typeface="微软雅黑" pitchFamily="34" charset="-122"/>
                <a:ea typeface="微软雅黑" pitchFamily="34" charset="-122"/>
              </a:rPr>
              <a:t>x86</a:t>
            </a:r>
            <a:r>
              <a:rPr lang="zh-CN" altLang="en-US" sz="2000" dirty="0">
                <a:solidFill>
                  <a:schemeClr val="tx1">
                    <a:lumMod val="65000"/>
                    <a:lumOff val="35000"/>
                  </a:schemeClr>
                </a:solidFill>
                <a:latin typeface="微软雅黑" pitchFamily="34" charset="-122"/>
                <a:ea typeface="微软雅黑" pitchFamily="34" charset="-122"/>
              </a:rPr>
              <a:t>的</a:t>
            </a:r>
            <a:r>
              <a:rPr lang="en-US" altLang="zh-CN" sz="2000" dirty="0">
                <a:solidFill>
                  <a:schemeClr val="tx1">
                    <a:lumMod val="65000"/>
                    <a:lumOff val="35000"/>
                  </a:schemeClr>
                </a:solidFill>
                <a:latin typeface="微软雅黑" pitchFamily="34" charset="-122"/>
                <a:ea typeface="微软雅黑" pitchFamily="34" charset="-122"/>
              </a:rPr>
              <a:t>CPU</a:t>
            </a:r>
            <a:r>
              <a:rPr lang="zh-CN" altLang="en-US" sz="2000" dirty="0">
                <a:solidFill>
                  <a:schemeClr val="tx1">
                    <a:lumMod val="65000"/>
                    <a:lumOff val="35000"/>
                  </a:schemeClr>
                </a:solidFill>
                <a:latin typeface="微软雅黑" pitchFamily="34" charset="-122"/>
                <a:ea typeface="微软雅黑" pitchFamily="34" charset="-122"/>
              </a:rPr>
              <a:t>的工作原理，为后续学习其它</a:t>
            </a:r>
            <a:r>
              <a:rPr lang="en-US" altLang="zh-CN" sz="2000" dirty="0">
                <a:solidFill>
                  <a:schemeClr val="tx1">
                    <a:lumMod val="65000"/>
                    <a:lumOff val="35000"/>
                  </a:schemeClr>
                </a:solidFill>
                <a:latin typeface="微软雅黑" pitchFamily="34" charset="-122"/>
                <a:ea typeface="微软雅黑" pitchFamily="34" charset="-122"/>
              </a:rPr>
              <a:t>CPU</a:t>
            </a:r>
            <a:r>
              <a:rPr lang="zh-CN" altLang="en-US" sz="2000" dirty="0">
                <a:solidFill>
                  <a:schemeClr val="tx1">
                    <a:lumMod val="65000"/>
                    <a:lumOff val="35000"/>
                  </a:schemeClr>
                </a:solidFill>
                <a:latin typeface="微软雅黑" pitchFamily="34" charset="-122"/>
                <a:ea typeface="微软雅黑" pitchFamily="34" charset="-122"/>
              </a:rPr>
              <a:t>奠定基础；</a:t>
            </a: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有广泛的应用前景，实用性很强！ </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4152" y="2131296"/>
            <a:ext cx="2082647" cy="2953888"/>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4152" y="3256325"/>
            <a:ext cx="2082647" cy="2836971"/>
          </a:xfrm>
          <a:prstGeom prst="rect">
            <a:avLst/>
          </a:prstGeom>
        </p:spPr>
      </p:pic>
    </p:spTree>
    <p:extLst>
      <p:ext uri="{BB962C8B-B14F-4D97-AF65-F5344CB8AC3E}">
        <p14:creationId xmlns:p14="http://schemas.microsoft.com/office/powerpoint/2010/main" val="2043615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par>
                          <p:cTn id="10" fill="hold">
                            <p:stCondLst>
                              <p:cond delay="2000"/>
                            </p:stCondLst>
                            <p:childTnLst>
                              <p:par>
                                <p:cTn id="11" presetID="47" presetClass="entr" presetSubtype="0" fill="hold" grpId="0" nodeType="afterEffect">
                                  <p:stCondLst>
                                    <p:cond delay="0"/>
                                  </p:stCondLst>
                                  <p:childTnLst>
                                    <p:set>
                                      <p:cBhvr>
                                        <p:cTn id="12" dur="1" fill="hold">
                                          <p:stCondLst>
                                            <p:cond delay="0"/>
                                          </p:stCondLst>
                                        </p:cTn>
                                        <p:tgtEl>
                                          <p:spTgt spid="4099"/>
                                        </p:tgtEl>
                                        <p:attrNameLst>
                                          <p:attrName>style.visibility</p:attrName>
                                        </p:attrNameLst>
                                      </p:cBhvr>
                                      <p:to>
                                        <p:strVal val="visible"/>
                                      </p:to>
                                    </p:set>
                                    <p:animEffect transition="in" filter="fade">
                                      <p:cBhvr>
                                        <p:cTn id="13" dur="1000"/>
                                        <p:tgtEl>
                                          <p:spTgt spid="4099"/>
                                        </p:tgtEl>
                                      </p:cBhvr>
                                    </p:animEffect>
                                    <p:anim calcmode="lin" valueType="num">
                                      <p:cBhvr>
                                        <p:cTn id="14" dur="1000" fill="hold"/>
                                        <p:tgtEl>
                                          <p:spTgt spid="4099"/>
                                        </p:tgtEl>
                                        <p:attrNameLst>
                                          <p:attrName>ppt_x</p:attrName>
                                        </p:attrNameLst>
                                      </p:cBhvr>
                                      <p:tavLst>
                                        <p:tav tm="0">
                                          <p:val>
                                            <p:strVal val="#ppt_x"/>
                                          </p:val>
                                        </p:tav>
                                        <p:tav tm="100000">
                                          <p:val>
                                            <p:strVal val="#ppt_x"/>
                                          </p:val>
                                        </p:tav>
                                      </p:tavLst>
                                    </p:anim>
                                    <p:anim calcmode="lin" valueType="num">
                                      <p:cBhvr>
                                        <p:cTn id="15" dur="1000" fill="hold"/>
                                        <p:tgtEl>
                                          <p:spTgt spid="4099"/>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anim calcmode="lin" valueType="num">
                                      <p:cBhvr>
                                        <p:cTn id="24" dur="1000" fill="hold"/>
                                        <p:tgtEl>
                                          <p:spTgt spid="3"/>
                                        </p:tgtEl>
                                        <p:attrNameLst>
                                          <p:attrName>ppt_x</p:attrName>
                                        </p:attrNameLst>
                                      </p:cBhvr>
                                      <p:tavLst>
                                        <p:tav tm="0">
                                          <p:val>
                                            <p:strVal val="#ppt_x"/>
                                          </p:val>
                                        </p:tav>
                                        <p:tav tm="100000">
                                          <p:val>
                                            <p:strVal val="#ppt_x"/>
                                          </p:val>
                                        </p:tav>
                                      </p:tavLst>
                                    </p:anim>
                                    <p:anim calcmode="lin" valueType="num">
                                      <p:cBhvr>
                                        <p:cTn id="2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9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851274" y="1000116"/>
            <a:ext cx="5007006" cy="1143000"/>
          </a:xfrm>
          <a:prstGeom prst="rect">
            <a:avLst/>
          </a:prstGeom>
        </p:spPr>
        <p:txBody>
          <a:bodyPr rtlCol="0">
            <a:normAutofit/>
          </a:bodyPr>
          <a:lstStyle/>
          <a:p>
            <a:pPr eaLnBrk="1" fontAlgn="auto" hangingPunct="1">
              <a:spcAft>
                <a:spcPts val="0"/>
              </a:spcAft>
              <a:defRPr/>
            </a:pPr>
            <a:r>
              <a:rPr lang="zh-CN" altLang="en-US" sz="4400" dirty="0">
                <a:solidFill>
                  <a:schemeClr val="tx1">
                    <a:lumMod val="65000"/>
                    <a:lumOff val="35000"/>
                  </a:schemeClr>
                </a:solidFill>
                <a:latin typeface="Arial"/>
                <a:ea typeface="微软雅黑" panose="020B0503020204020204" pitchFamily="34" charset="-122"/>
                <a:cs typeface="Arial"/>
              </a:rPr>
              <a:t>课程</a:t>
            </a:r>
            <a:r>
              <a:rPr lang="zh-CN" altLang="en-US" sz="5300" dirty="0">
                <a:solidFill>
                  <a:srgbClr val="00C4F0"/>
                </a:solidFill>
                <a:ea typeface="微软雅黑" panose="020B0503020204020204" pitchFamily="34" charset="-122"/>
                <a:cs typeface="+mn-cs"/>
              </a:rPr>
              <a:t>目标</a:t>
            </a:r>
            <a:r>
              <a:rPr lang="en-US" altLang="zh-CN" dirty="0">
                <a:latin typeface="Arial"/>
                <a:ea typeface="微软雅黑" panose="020B0503020204020204" pitchFamily="34" charset="-122"/>
                <a:cs typeface="Arial"/>
              </a:rPr>
              <a:t>• </a:t>
            </a:r>
            <a:r>
              <a:rPr lang="en-US" altLang="zh-CN" sz="2800" b="0" dirty="0">
                <a:solidFill>
                  <a:srgbClr val="FFC000"/>
                </a:solidFill>
                <a:latin typeface="Tahoma" pitchFamily="34" charset="0"/>
                <a:ea typeface="微软简综艺" pitchFamily="49" charset="-122"/>
                <a:cs typeface="Tahoma" pitchFamily="34" charset="0"/>
              </a:rPr>
              <a:t>OBJECTIVE</a:t>
            </a:r>
            <a:endParaRPr lang="zh-CN" altLang="en-US" sz="1800" b="0" dirty="0">
              <a:solidFill>
                <a:srgbClr val="FFC000"/>
              </a:solidFill>
              <a:latin typeface="Tahoma" pitchFamily="34" charset="0"/>
              <a:ea typeface="微软简综艺" pitchFamily="49" charset="-122"/>
              <a:cs typeface="Tahoma" pitchFamily="34" charset="0"/>
            </a:endParaRPr>
          </a:p>
        </p:txBody>
      </p:sp>
      <p:sp>
        <p:nvSpPr>
          <p:cNvPr id="4099" name="矩形 4"/>
          <p:cNvSpPr>
            <a:spLocks noChangeArrowheads="1"/>
          </p:cNvSpPr>
          <p:nvPr/>
        </p:nvSpPr>
        <p:spPr bwMode="auto">
          <a:xfrm>
            <a:off x="3851275" y="2276872"/>
            <a:ext cx="5113338" cy="1806135"/>
          </a:xfrm>
          <a:prstGeom prst="rect">
            <a:avLst/>
          </a:prstGeom>
          <a:noFill/>
          <a:ln w="9525">
            <a:noFill/>
            <a:miter lim="800000"/>
            <a:headEnd/>
            <a:tailEnd/>
          </a:ln>
        </p:spPr>
        <p:txBody>
          <a:bodyPr>
            <a:spAutoFit/>
          </a:bodyPr>
          <a:lstStyle/>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学习和掌握微机的</a:t>
            </a:r>
            <a:r>
              <a:rPr lang="zh-CN" altLang="en-US" sz="2000" dirty="0">
                <a:solidFill>
                  <a:srgbClr val="FF0000"/>
                </a:solidFill>
                <a:latin typeface="微软雅黑" pitchFamily="34" charset="-122"/>
                <a:ea typeface="微软雅黑" pitchFamily="34" charset="-122"/>
              </a:rPr>
              <a:t>基本工作原理、汇编语言程序设计和接口技术</a:t>
            </a:r>
            <a:r>
              <a:rPr lang="zh-CN" altLang="en-US" sz="2000" dirty="0">
                <a:solidFill>
                  <a:schemeClr val="tx1">
                    <a:lumMod val="65000"/>
                    <a:lumOff val="35000"/>
                  </a:schemeClr>
                </a:solidFill>
                <a:latin typeface="微软雅黑" pitchFamily="34" charset="-122"/>
                <a:ea typeface="微软雅黑" pitchFamily="34" charset="-122"/>
              </a:rPr>
              <a:t>的入门课程；</a:t>
            </a: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建立微型计算机系统的整体概念，形成微机系统</a:t>
            </a:r>
            <a:r>
              <a:rPr lang="zh-CN" altLang="en-US" sz="2000" dirty="0">
                <a:solidFill>
                  <a:srgbClr val="FF0000"/>
                </a:solidFill>
                <a:latin typeface="微软雅黑" pitchFamily="34" charset="-122"/>
                <a:ea typeface="微软雅黑" pitchFamily="34" charset="-122"/>
              </a:rPr>
              <a:t>软硬件开发</a:t>
            </a:r>
            <a:r>
              <a:rPr lang="zh-CN" altLang="en-US" sz="2000" dirty="0">
                <a:solidFill>
                  <a:schemeClr val="tx1">
                    <a:lumMod val="65000"/>
                    <a:lumOff val="35000"/>
                  </a:schemeClr>
                </a:solidFill>
                <a:latin typeface="微软雅黑" pitchFamily="34" charset="-122"/>
                <a:ea typeface="微软雅黑" pitchFamily="34" charset="-122"/>
              </a:rPr>
              <a:t>的初步能力。</a:t>
            </a:r>
            <a:endParaRPr lang="en-US" altLang="zh-CN" sz="2000" dirty="0">
              <a:solidFill>
                <a:schemeClr val="tx1">
                  <a:lumMod val="65000"/>
                  <a:lumOff val="35000"/>
                </a:schemeClr>
              </a:solidFill>
              <a:latin typeface="微软雅黑" pitchFamily="34" charset="-122"/>
              <a:ea typeface="微软雅黑" pitchFamily="34" charset="-122"/>
            </a:endParaRPr>
          </a:p>
        </p:txBody>
      </p:sp>
      <p:pic>
        <p:nvPicPr>
          <p:cNvPr id="8" name="Picture 4" descr="http://lusongsong.com/upload/173_1.jp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55576" y="2060848"/>
            <a:ext cx="2808312" cy="2808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396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par>
                          <p:cTn id="10" fill="hold">
                            <p:stCondLst>
                              <p:cond delay="2000"/>
                            </p:stCondLst>
                            <p:childTnLst>
                              <p:par>
                                <p:cTn id="11" presetID="47" presetClass="entr" presetSubtype="0" fill="hold" grpId="0" nodeType="afterEffect">
                                  <p:stCondLst>
                                    <p:cond delay="0"/>
                                  </p:stCondLst>
                                  <p:childTnLst>
                                    <p:set>
                                      <p:cBhvr>
                                        <p:cTn id="12" dur="1" fill="hold">
                                          <p:stCondLst>
                                            <p:cond delay="0"/>
                                          </p:stCondLst>
                                        </p:cTn>
                                        <p:tgtEl>
                                          <p:spTgt spid="4099"/>
                                        </p:tgtEl>
                                        <p:attrNameLst>
                                          <p:attrName>style.visibility</p:attrName>
                                        </p:attrNameLst>
                                      </p:cBhvr>
                                      <p:to>
                                        <p:strVal val="visible"/>
                                      </p:to>
                                    </p:set>
                                    <p:animEffect transition="in" filter="fade">
                                      <p:cBhvr>
                                        <p:cTn id="13" dur="1000"/>
                                        <p:tgtEl>
                                          <p:spTgt spid="4099"/>
                                        </p:tgtEl>
                                      </p:cBhvr>
                                    </p:animEffect>
                                    <p:anim calcmode="lin" valueType="num">
                                      <p:cBhvr>
                                        <p:cTn id="14" dur="1000" fill="hold"/>
                                        <p:tgtEl>
                                          <p:spTgt spid="4099"/>
                                        </p:tgtEl>
                                        <p:attrNameLst>
                                          <p:attrName>ppt_x</p:attrName>
                                        </p:attrNameLst>
                                      </p:cBhvr>
                                      <p:tavLst>
                                        <p:tav tm="0">
                                          <p:val>
                                            <p:strVal val="#ppt_x"/>
                                          </p:val>
                                        </p:tav>
                                        <p:tav tm="100000">
                                          <p:val>
                                            <p:strVal val="#ppt_x"/>
                                          </p:val>
                                        </p:tav>
                                      </p:tavLst>
                                    </p:anim>
                                    <p:anim calcmode="lin" valueType="num">
                                      <p:cBhvr>
                                        <p:cTn id="15" dur="1000" fill="hold"/>
                                        <p:tgtEl>
                                          <p:spTgt spid="4099"/>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9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3306291"/>
            <a:ext cx="3810000" cy="2066925"/>
          </a:xfrm>
          <a:prstGeom prst="rect">
            <a:avLst/>
          </a:prstGeom>
        </p:spPr>
      </p:pic>
      <p:sp>
        <p:nvSpPr>
          <p:cNvPr id="2" name="标题 1"/>
          <p:cNvSpPr>
            <a:spLocks noGrp="1"/>
          </p:cNvSpPr>
          <p:nvPr>
            <p:ph type="title" idx="4294967295"/>
          </p:nvPr>
        </p:nvSpPr>
        <p:spPr>
          <a:xfrm>
            <a:off x="3851274" y="1000116"/>
            <a:ext cx="5007006" cy="1143000"/>
          </a:xfrm>
          <a:prstGeom prst="rect">
            <a:avLst/>
          </a:prstGeom>
        </p:spPr>
        <p:txBody>
          <a:bodyPr rtlCol="0">
            <a:normAutofit/>
          </a:bodyPr>
          <a:lstStyle/>
          <a:p>
            <a:pPr eaLnBrk="1" fontAlgn="auto" hangingPunct="1">
              <a:spcAft>
                <a:spcPts val="0"/>
              </a:spcAft>
              <a:defRPr/>
            </a:pPr>
            <a:r>
              <a:rPr lang="zh-CN" altLang="en-US" sz="4400" dirty="0">
                <a:solidFill>
                  <a:schemeClr val="tx1">
                    <a:lumMod val="65000"/>
                    <a:lumOff val="35000"/>
                  </a:schemeClr>
                </a:solidFill>
                <a:latin typeface="Arial"/>
                <a:ea typeface="微软雅黑" panose="020B0503020204020204" pitchFamily="34" charset="-122"/>
                <a:cs typeface="Arial"/>
              </a:rPr>
              <a:t>课程</a:t>
            </a:r>
            <a:r>
              <a:rPr lang="zh-CN" altLang="en-US" sz="5300" dirty="0">
                <a:solidFill>
                  <a:srgbClr val="00C4F0"/>
                </a:solidFill>
                <a:ea typeface="微软雅黑" panose="020B0503020204020204" pitchFamily="34" charset="-122"/>
                <a:cs typeface="+mn-cs"/>
              </a:rPr>
              <a:t>收获</a:t>
            </a:r>
            <a:r>
              <a:rPr lang="en-US" altLang="zh-CN" dirty="0">
                <a:latin typeface="Arial"/>
                <a:ea typeface="微软雅黑" panose="020B0503020204020204" pitchFamily="34" charset="-122"/>
                <a:cs typeface="Arial"/>
              </a:rPr>
              <a:t>• </a:t>
            </a:r>
            <a:r>
              <a:rPr lang="en-US" altLang="zh-CN" sz="2800" b="0" dirty="0">
                <a:solidFill>
                  <a:srgbClr val="FFC000"/>
                </a:solidFill>
                <a:latin typeface="Tahoma" pitchFamily="34" charset="0"/>
                <a:ea typeface="微软简综艺" pitchFamily="49" charset="-122"/>
                <a:cs typeface="Tahoma" pitchFamily="34" charset="0"/>
              </a:rPr>
              <a:t>GAINS</a:t>
            </a:r>
            <a:endParaRPr lang="zh-CN" altLang="en-US" sz="1800" b="0" dirty="0">
              <a:solidFill>
                <a:srgbClr val="FFC000"/>
              </a:solidFill>
              <a:latin typeface="Tahoma" pitchFamily="34" charset="0"/>
              <a:ea typeface="微软简综艺" pitchFamily="49" charset="-122"/>
              <a:cs typeface="Tahoma" pitchFamily="34" charset="0"/>
            </a:endParaRPr>
          </a:p>
        </p:txBody>
      </p:sp>
      <p:sp>
        <p:nvSpPr>
          <p:cNvPr id="4099" name="矩形 4"/>
          <p:cNvSpPr>
            <a:spLocks noChangeArrowheads="1"/>
          </p:cNvSpPr>
          <p:nvPr/>
        </p:nvSpPr>
        <p:spPr bwMode="auto">
          <a:xfrm>
            <a:off x="3851274" y="2276872"/>
            <a:ext cx="5113338" cy="3107517"/>
          </a:xfrm>
          <a:prstGeom prst="rect">
            <a:avLst/>
          </a:prstGeom>
          <a:noFill/>
          <a:ln w="9525">
            <a:noFill/>
            <a:miter lim="800000"/>
            <a:headEnd/>
            <a:tailEnd/>
          </a:ln>
        </p:spPr>
        <p:txBody>
          <a:bodyPr>
            <a:spAutoFit/>
          </a:bodyPr>
          <a:lstStyle/>
          <a:p>
            <a:pPr marL="285750" indent="-285750">
              <a:lnSpc>
                <a:spcPct val="134000"/>
              </a:lnSpc>
              <a:spcBef>
                <a:spcPts val="400"/>
              </a:spcBef>
              <a:spcAft>
                <a:spcPts val="60"/>
              </a:spcAft>
              <a:buFont typeface="Arial" panose="020B0604020202020204" pitchFamily="34" charset="0"/>
              <a:buChar char="•"/>
            </a:pPr>
            <a:r>
              <a:rPr lang="zh-CN" altLang="en-US" sz="2000" dirty="0">
                <a:solidFill>
                  <a:srgbClr val="FF0000"/>
                </a:solidFill>
                <a:latin typeface="微软雅黑" pitchFamily="34" charset="-122"/>
                <a:ea typeface="微软雅黑" pitchFamily="34" charset="-122"/>
              </a:rPr>
              <a:t>软件开发</a:t>
            </a:r>
            <a:r>
              <a:rPr lang="zh-CN" altLang="en-US" sz="2000" dirty="0">
                <a:solidFill>
                  <a:schemeClr val="tx1">
                    <a:lumMod val="65000"/>
                    <a:lumOff val="35000"/>
                  </a:schemeClr>
                </a:solidFill>
                <a:latin typeface="微软雅黑" pitchFamily="34" charset="-122"/>
                <a:ea typeface="微软雅黑" pitchFamily="34" charset="-122"/>
              </a:rPr>
              <a:t>：为深入理解计算机系统打下基础，是高质量、高效率编程的开始；</a:t>
            </a:r>
          </a:p>
          <a:p>
            <a:pPr marL="285750" indent="-285750">
              <a:lnSpc>
                <a:spcPct val="134000"/>
              </a:lnSpc>
              <a:spcBef>
                <a:spcPts val="400"/>
              </a:spcBef>
              <a:spcAft>
                <a:spcPts val="60"/>
              </a:spcAft>
              <a:buFont typeface="Arial" panose="020B0604020202020204" pitchFamily="34" charset="0"/>
              <a:buChar char="•"/>
            </a:pPr>
            <a:r>
              <a:rPr lang="zh-CN" altLang="en-US" sz="2000" dirty="0">
                <a:solidFill>
                  <a:srgbClr val="FF0000"/>
                </a:solidFill>
                <a:latin typeface="微软雅黑" pitchFamily="34" charset="-122"/>
                <a:ea typeface="微软雅黑" pitchFamily="34" charset="-122"/>
              </a:rPr>
              <a:t>硬件开发</a:t>
            </a:r>
            <a:r>
              <a:rPr lang="zh-CN" altLang="en-US" sz="2000" dirty="0">
                <a:solidFill>
                  <a:schemeClr val="tx1">
                    <a:lumMod val="65000"/>
                    <a:lumOff val="35000"/>
                  </a:schemeClr>
                </a:solidFill>
                <a:latin typeface="微软雅黑" pitchFamily="34" charset="-122"/>
                <a:ea typeface="微软雅黑" pitchFamily="34" charset="-122"/>
              </a:rPr>
              <a:t>：开发工业控制和单片机应用，为学习</a:t>
            </a:r>
            <a:r>
              <a:rPr lang="en-US" altLang="zh-CN" sz="2000" dirty="0">
                <a:solidFill>
                  <a:schemeClr val="tx1">
                    <a:lumMod val="65000"/>
                    <a:lumOff val="35000"/>
                  </a:schemeClr>
                </a:solidFill>
                <a:latin typeface="微软雅黑" pitchFamily="34" charset="-122"/>
                <a:ea typeface="微软雅黑" pitchFamily="34" charset="-122"/>
              </a:rPr>
              <a:t>ARM</a:t>
            </a:r>
            <a:r>
              <a:rPr lang="zh-CN" altLang="en-US" sz="2000" dirty="0">
                <a:solidFill>
                  <a:schemeClr val="tx1">
                    <a:lumMod val="65000"/>
                    <a:lumOff val="35000"/>
                  </a:schemeClr>
                </a:solidFill>
                <a:latin typeface="微软雅黑" pitchFamily="34" charset="-122"/>
                <a:ea typeface="微软雅黑" pitchFamily="34" charset="-122"/>
              </a:rPr>
              <a:t>等</a:t>
            </a:r>
            <a:r>
              <a:rPr lang="en-US" altLang="zh-CN" sz="2000" dirty="0">
                <a:solidFill>
                  <a:schemeClr val="tx1">
                    <a:lumMod val="65000"/>
                    <a:lumOff val="35000"/>
                  </a:schemeClr>
                </a:solidFill>
                <a:latin typeface="微软雅黑" pitchFamily="34" charset="-122"/>
                <a:ea typeface="微软雅黑" pitchFamily="34" charset="-122"/>
              </a:rPr>
              <a:t>CPU</a:t>
            </a:r>
            <a:r>
              <a:rPr lang="zh-CN" altLang="en-US" sz="2000" dirty="0">
                <a:solidFill>
                  <a:schemeClr val="tx1">
                    <a:lumMod val="65000"/>
                    <a:lumOff val="35000"/>
                  </a:schemeClr>
                </a:solidFill>
                <a:latin typeface="微软雅黑" pitchFamily="34" charset="-122"/>
                <a:ea typeface="微软雅黑" pitchFamily="34" charset="-122"/>
              </a:rPr>
              <a:t>奠定基础；</a:t>
            </a:r>
            <a:endParaRPr lang="en-US" altLang="zh-CN" sz="2000" dirty="0">
              <a:solidFill>
                <a:schemeClr val="tx1">
                  <a:lumMod val="65000"/>
                  <a:lumOff val="35000"/>
                </a:schemeClr>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rgbClr val="FF0000"/>
                </a:solidFill>
                <a:latin typeface="微软雅黑" pitchFamily="34" charset="-122"/>
                <a:ea typeface="微软雅黑" pitchFamily="34" charset="-122"/>
              </a:rPr>
              <a:t>专业基础课程</a:t>
            </a:r>
            <a:r>
              <a:rPr lang="zh-CN" altLang="en-US" sz="2000" dirty="0">
                <a:solidFill>
                  <a:schemeClr val="tx1">
                    <a:lumMod val="65000"/>
                    <a:lumOff val="35000"/>
                  </a:schemeClr>
                </a:solidFill>
                <a:latin typeface="微软雅黑" pitchFamily="34" charset="-122"/>
                <a:ea typeface="微软雅黑" pitchFamily="34" charset="-122"/>
              </a:rPr>
              <a:t>：学好这门课，对将来从事硬件开发以及从事信息领域的科研都有很大的帮助。</a:t>
            </a:r>
            <a:endParaRPr lang="en-US" altLang="zh-CN" sz="2000" dirty="0">
              <a:solidFill>
                <a:schemeClr val="tx1">
                  <a:lumMod val="65000"/>
                  <a:lumOff val="35000"/>
                </a:schemeClr>
              </a:solidFill>
              <a:latin typeface="微软雅黑" pitchFamily="34" charset="-122"/>
              <a:ea typeface="微软雅黑" pitchFamily="34" charset="-122"/>
            </a:endParaRPr>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3608" y="2132856"/>
            <a:ext cx="2376264" cy="1748422"/>
          </a:xfrm>
          <a:prstGeom prst="rect">
            <a:avLst/>
          </a:prstGeom>
        </p:spPr>
      </p:pic>
    </p:spTree>
    <p:extLst>
      <p:ext uri="{BB962C8B-B14F-4D97-AF65-F5344CB8AC3E}">
        <p14:creationId xmlns:p14="http://schemas.microsoft.com/office/powerpoint/2010/main" val="2086581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par>
                          <p:cTn id="10" fill="hold">
                            <p:stCondLst>
                              <p:cond delay="2000"/>
                            </p:stCondLst>
                            <p:childTnLst>
                              <p:par>
                                <p:cTn id="11" presetID="47" presetClass="entr" presetSubtype="0" fill="hold" grpId="0" nodeType="afterEffect">
                                  <p:stCondLst>
                                    <p:cond delay="0"/>
                                  </p:stCondLst>
                                  <p:childTnLst>
                                    <p:set>
                                      <p:cBhvr>
                                        <p:cTn id="12" dur="1" fill="hold">
                                          <p:stCondLst>
                                            <p:cond delay="0"/>
                                          </p:stCondLst>
                                        </p:cTn>
                                        <p:tgtEl>
                                          <p:spTgt spid="4099"/>
                                        </p:tgtEl>
                                        <p:attrNameLst>
                                          <p:attrName>style.visibility</p:attrName>
                                        </p:attrNameLst>
                                      </p:cBhvr>
                                      <p:to>
                                        <p:strVal val="visible"/>
                                      </p:to>
                                    </p:set>
                                    <p:animEffect transition="in" filter="fade">
                                      <p:cBhvr>
                                        <p:cTn id="13" dur="1000"/>
                                        <p:tgtEl>
                                          <p:spTgt spid="4099"/>
                                        </p:tgtEl>
                                      </p:cBhvr>
                                    </p:animEffect>
                                    <p:anim calcmode="lin" valueType="num">
                                      <p:cBhvr>
                                        <p:cTn id="14" dur="1000" fill="hold"/>
                                        <p:tgtEl>
                                          <p:spTgt spid="4099"/>
                                        </p:tgtEl>
                                        <p:attrNameLst>
                                          <p:attrName>ppt_x</p:attrName>
                                        </p:attrNameLst>
                                      </p:cBhvr>
                                      <p:tavLst>
                                        <p:tav tm="0">
                                          <p:val>
                                            <p:strVal val="#ppt_x"/>
                                          </p:val>
                                        </p:tav>
                                        <p:tav tm="100000">
                                          <p:val>
                                            <p:strVal val="#ppt_x"/>
                                          </p:val>
                                        </p:tav>
                                      </p:tavLst>
                                    </p:anim>
                                    <p:anim calcmode="lin" valueType="num">
                                      <p:cBhvr>
                                        <p:cTn id="15" dur="1000" fill="hold"/>
                                        <p:tgtEl>
                                          <p:spTgt spid="4099"/>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anim calcmode="lin" valueType="num">
                                      <p:cBhvr>
                                        <p:cTn id="24" dur="1000" fill="hold"/>
                                        <p:tgtEl>
                                          <p:spTgt spid="3"/>
                                        </p:tgtEl>
                                        <p:attrNameLst>
                                          <p:attrName>ppt_x</p:attrName>
                                        </p:attrNameLst>
                                      </p:cBhvr>
                                      <p:tavLst>
                                        <p:tav tm="0">
                                          <p:val>
                                            <p:strVal val="#ppt_x"/>
                                          </p:val>
                                        </p:tav>
                                        <p:tav tm="100000">
                                          <p:val>
                                            <p:strVal val="#ppt_x"/>
                                          </p:val>
                                        </p:tav>
                                      </p:tavLst>
                                    </p:anim>
                                    <p:anim calcmode="lin" valueType="num">
                                      <p:cBhvr>
                                        <p:cTn id="2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9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851274" y="1000116"/>
            <a:ext cx="5007006" cy="1143000"/>
          </a:xfrm>
          <a:prstGeom prst="rect">
            <a:avLst/>
          </a:prstGeom>
        </p:spPr>
        <p:txBody>
          <a:bodyPr rtlCol="0">
            <a:normAutofit/>
          </a:bodyPr>
          <a:lstStyle/>
          <a:p>
            <a:pPr eaLnBrk="1" fontAlgn="auto" hangingPunct="1">
              <a:spcAft>
                <a:spcPts val="0"/>
              </a:spcAft>
              <a:defRPr/>
            </a:pPr>
            <a:r>
              <a:rPr lang="zh-CN" altLang="en-US" sz="4400" dirty="0">
                <a:solidFill>
                  <a:schemeClr val="tx1">
                    <a:lumMod val="65000"/>
                    <a:lumOff val="35000"/>
                  </a:schemeClr>
                </a:solidFill>
                <a:latin typeface="Arial"/>
                <a:ea typeface="微软雅黑" panose="020B0503020204020204" pitchFamily="34" charset="-122"/>
                <a:cs typeface="Arial"/>
              </a:rPr>
              <a:t>课程</a:t>
            </a:r>
            <a:r>
              <a:rPr lang="zh-CN" altLang="en-US" sz="5300" dirty="0">
                <a:solidFill>
                  <a:srgbClr val="00C4F0"/>
                </a:solidFill>
                <a:ea typeface="微软雅黑" panose="020B0503020204020204" pitchFamily="34" charset="-122"/>
                <a:cs typeface="+mn-cs"/>
              </a:rPr>
              <a:t>内容</a:t>
            </a:r>
            <a:r>
              <a:rPr lang="en-US" altLang="zh-CN" dirty="0">
                <a:latin typeface="Arial"/>
                <a:ea typeface="微软雅黑" panose="020B0503020204020204" pitchFamily="34" charset="-122"/>
                <a:cs typeface="Arial"/>
              </a:rPr>
              <a:t>• </a:t>
            </a:r>
            <a:r>
              <a:rPr lang="en-US" altLang="zh-CN" sz="2800" b="0" dirty="0">
                <a:solidFill>
                  <a:srgbClr val="FFC000"/>
                </a:solidFill>
                <a:latin typeface="Tahoma" pitchFamily="34" charset="0"/>
                <a:ea typeface="微软简综艺" pitchFamily="49" charset="-122"/>
                <a:cs typeface="Tahoma" pitchFamily="34" charset="0"/>
              </a:rPr>
              <a:t>CONTENT</a:t>
            </a:r>
            <a:endParaRPr lang="zh-CN" altLang="en-US" sz="1800" b="0" dirty="0">
              <a:solidFill>
                <a:srgbClr val="FFC000"/>
              </a:solidFill>
              <a:latin typeface="Tahoma" pitchFamily="34" charset="0"/>
              <a:ea typeface="微软简综艺" pitchFamily="49" charset="-122"/>
              <a:cs typeface="Tahoma" pitchFamily="34" charset="0"/>
            </a:endParaRPr>
          </a:p>
        </p:txBody>
      </p:sp>
      <p:sp>
        <p:nvSpPr>
          <p:cNvPr id="4099" name="矩形 4"/>
          <p:cNvSpPr>
            <a:spLocks noChangeArrowheads="1"/>
          </p:cNvSpPr>
          <p:nvPr/>
        </p:nvSpPr>
        <p:spPr bwMode="auto">
          <a:xfrm>
            <a:off x="3851275" y="2276872"/>
            <a:ext cx="5113338" cy="2823337"/>
          </a:xfrm>
          <a:prstGeom prst="rect">
            <a:avLst/>
          </a:prstGeom>
          <a:noFill/>
          <a:ln w="9525">
            <a:noFill/>
            <a:miter lim="800000"/>
            <a:headEnd/>
            <a:tailEnd/>
          </a:ln>
        </p:spPr>
        <p:txBody>
          <a:bodyPr>
            <a:spAutoFit/>
          </a:bodyPr>
          <a:lstStyle/>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第三章 </a:t>
            </a:r>
            <a:r>
              <a:rPr lang="en-US" altLang="zh-CN" sz="2000" dirty="0">
                <a:solidFill>
                  <a:srgbClr val="FF0000"/>
                </a:solidFill>
                <a:latin typeface="微软雅黑" pitchFamily="34" charset="-122"/>
                <a:ea typeface="微软雅黑" pitchFamily="34" charset="-122"/>
              </a:rPr>
              <a:t>8086/8088 CPU</a:t>
            </a:r>
            <a:r>
              <a:rPr lang="zh-CN" altLang="en-US" sz="2000" dirty="0">
                <a:solidFill>
                  <a:srgbClr val="FF0000"/>
                </a:solidFill>
                <a:latin typeface="微软雅黑" pitchFamily="34" charset="-122"/>
                <a:ea typeface="微软雅黑" pitchFamily="34" charset="-122"/>
              </a:rPr>
              <a:t>的指令系统</a:t>
            </a:r>
            <a:endParaRPr lang="zh-CN" altLang="en-US" sz="2000" dirty="0">
              <a:solidFill>
                <a:schemeClr val="tx1">
                  <a:lumMod val="65000"/>
                  <a:lumOff val="35000"/>
                </a:schemeClr>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第四章 </a:t>
            </a:r>
            <a:r>
              <a:rPr lang="zh-CN" altLang="en-US" sz="2000" dirty="0">
                <a:solidFill>
                  <a:srgbClr val="FF0000"/>
                </a:solidFill>
                <a:latin typeface="微软雅黑" pitchFamily="34" charset="-122"/>
                <a:ea typeface="微软雅黑" pitchFamily="34" charset="-122"/>
              </a:rPr>
              <a:t>汇编语言程序设计</a:t>
            </a:r>
            <a:endParaRPr lang="en-US" altLang="zh-CN" sz="2000" dirty="0">
              <a:solidFill>
                <a:schemeClr val="tx1">
                  <a:lumMod val="65000"/>
                  <a:lumOff val="35000"/>
                </a:schemeClr>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第六章 输入输出和</a:t>
            </a:r>
            <a:r>
              <a:rPr lang="zh-CN" altLang="en-US" sz="2000" dirty="0">
                <a:solidFill>
                  <a:srgbClr val="FF0000"/>
                </a:solidFill>
                <a:latin typeface="微软雅黑" pitchFamily="34" charset="-122"/>
                <a:ea typeface="微软雅黑" pitchFamily="34" charset="-122"/>
              </a:rPr>
              <a:t>中断</a:t>
            </a:r>
            <a:r>
              <a:rPr lang="zh-CN" altLang="en-US" sz="2000" dirty="0">
                <a:solidFill>
                  <a:schemeClr val="tx1">
                    <a:lumMod val="65000"/>
                    <a:lumOff val="35000"/>
                  </a:schemeClr>
                </a:solidFill>
                <a:latin typeface="微软雅黑" pitchFamily="34" charset="-122"/>
                <a:ea typeface="微软雅黑" pitchFamily="34" charset="-122"/>
              </a:rPr>
              <a:t>技术；</a:t>
            </a:r>
            <a:endParaRPr lang="en-US" altLang="zh-CN" sz="2000" dirty="0">
              <a:solidFill>
                <a:schemeClr val="tx1">
                  <a:lumMod val="65000"/>
                  <a:lumOff val="35000"/>
                </a:schemeClr>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第七章 可编程接口芯片</a:t>
            </a:r>
            <a:r>
              <a:rPr lang="en-US" altLang="zh-CN" sz="2000" dirty="0">
                <a:solidFill>
                  <a:srgbClr val="FF0000"/>
                </a:solidFill>
                <a:latin typeface="微软雅黑" pitchFamily="34" charset="-122"/>
                <a:ea typeface="微软雅黑" pitchFamily="34" charset="-122"/>
              </a:rPr>
              <a:t>8253</a:t>
            </a:r>
            <a:r>
              <a:rPr lang="zh-CN" altLang="en-US" sz="2000" dirty="0">
                <a:solidFill>
                  <a:srgbClr val="FF0000"/>
                </a:solidFill>
                <a:latin typeface="微软雅黑" pitchFamily="34" charset="-122"/>
                <a:ea typeface="微软雅黑" pitchFamily="34" charset="-122"/>
              </a:rPr>
              <a:t>、</a:t>
            </a:r>
            <a:r>
              <a:rPr lang="en-US" altLang="zh-CN" sz="2000" dirty="0">
                <a:solidFill>
                  <a:srgbClr val="FF0000"/>
                </a:solidFill>
                <a:latin typeface="微软雅黑" pitchFamily="34" charset="-122"/>
                <a:ea typeface="微软雅黑" pitchFamily="34" charset="-122"/>
              </a:rPr>
              <a:t>8259</a:t>
            </a:r>
            <a:r>
              <a:rPr lang="zh-CN" altLang="en-US" sz="2000" dirty="0">
                <a:solidFill>
                  <a:srgbClr val="FF0000"/>
                </a:solidFill>
                <a:latin typeface="微软雅黑" pitchFamily="34" charset="-122"/>
                <a:ea typeface="微软雅黑" pitchFamily="34" charset="-122"/>
              </a:rPr>
              <a:t>、</a:t>
            </a:r>
            <a:r>
              <a:rPr lang="en-US" altLang="zh-CN" sz="2000" dirty="0">
                <a:solidFill>
                  <a:srgbClr val="FF0000"/>
                </a:solidFill>
                <a:latin typeface="微软雅黑" pitchFamily="34" charset="-122"/>
                <a:ea typeface="微软雅黑" pitchFamily="34" charset="-122"/>
              </a:rPr>
              <a:t>8255</a:t>
            </a:r>
            <a:r>
              <a:rPr lang="zh-CN" altLang="en-US" sz="2000" dirty="0">
                <a:solidFill>
                  <a:srgbClr val="FF0000"/>
                </a:solidFill>
                <a:latin typeface="微软雅黑" pitchFamily="34" charset="-122"/>
                <a:ea typeface="微软雅黑" pitchFamily="34" charset="-122"/>
              </a:rPr>
              <a:t>、</a:t>
            </a:r>
            <a:r>
              <a:rPr lang="en-US" altLang="zh-CN" sz="2000" dirty="0">
                <a:solidFill>
                  <a:srgbClr val="FF0000"/>
                </a:solidFill>
                <a:latin typeface="微软雅黑" pitchFamily="34" charset="-122"/>
                <a:ea typeface="微软雅黑" pitchFamily="34" charset="-122"/>
              </a:rPr>
              <a:t>8250</a:t>
            </a: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第八章 </a:t>
            </a:r>
            <a:r>
              <a:rPr lang="en-US" altLang="zh-CN" sz="2000" dirty="0">
                <a:solidFill>
                  <a:schemeClr val="tx1">
                    <a:lumMod val="65000"/>
                    <a:lumOff val="35000"/>
                  </a:schemeClr>
                </a:solidFill>
                <a:latin typeface="微软雅黑" pitchFamily="34" charset="-122"/>
                <a:ea typeface="微软雅黑" pitchFamily="34" charset="-122"/>
              </a:rPr>
              <a:t>Intel </a:t>
            </a:r>
            <a:r>
              <a:rPr lang="en-US" altLang="zh-CN" sz="2000" dirty="0">
                <a:solidFill>
                  <a:srgbClr val="FF0000"/>
                </a:solidFill>
                <a:latin typeface="微软雅黑" pitchFamily="34" charset="-122"/>
                <a:ea typeface="微软雅黑" pitchFamily="34" charset="-122"/>
              </a:rPr>
              <a:t>386</a:t>
            </a:r>
            <a:r>
              <a:rPr lang="zh-CN" altLang="en-US" sz="2000" dirty="0">
                <a:solidFill>
                  <a:srgbClr val="FF0000"/>
                </a:solidFill>
                <a:latin typeface="微软雅黑" pitchFamily="34" charset="-122"/>
                <a:ea typeface="微软雅黑" pitchFamily="34" charset="-122"/>
              </a:rPr>
              <a:t>微处理器</a:t>
            </a:r>
            <a:endParaRPr lang="en-US" altLang="zh-CN" sz="2000" dirty="0">
              <a:solidFill>
                <a:srgbClr val="FF0000"/>
              </a:solidFill>
              <a:latin typeface="微软雅黑" pitchFamily="34" charset="-122"/>
              <a:ea typeface="微软雅黑" pitchFamily="34" charset="-122"/>
            </a:endParaRPr>
          </a:p>
        </p:txBody>
      </p:sp>
      <p:pic>
        <p:nvPicPr>
          <p:cNvPr id="6" name="Picture 2" descr="D:\Teliss_Tong\Copy\定期备份\工作备份\！PPT图片及版面资源\06-PPT精选插图\02-商务\GF0IEK51.jpg"/>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045499" y="1901808"/>
            <a:ext cx="2158349" cy="339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3901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par>
                          <p:cTn id="10" fill="hold">
                            <p:stCondLst>
                              <p:cond delay="2000"/>
                            </p:stCondLst>
                            <p:childTnLst>
                              <p:par>
                                <p:cTn id="11" presetID="47" presetClass="entr" presetSubtype="0" fill="hold" grpId="0" nodeType="afterEffect">
                                  <p:stCondLst>
                                    <p:cond delay="0"/>
                                  </p:stCondLst>
                                  <p:childTnLst>
                                    <p:set>
                                      <p:cBhvr>
                                        <p:cTn id="12" dur="1" fill="hold">
                                          <p:stCondLst>
                                            <p:cond delay="0"/>
                                          </p:stCondLst>
                                        </p:cTn>
                                        <p:tgtEl>
                                          <p:spTgt spid="4099"/>
                                        </p:tgtEl>
                                        <p:attrNameLst>
                                          <p:attrName>style.visibility</p:attrName>
                                        </p:attrNameLst>
                                      </p:cBhvr>
                                      <p:to>
                                        <p:strVal val="visible"/>
                                      </p:to>
                                    </p:set>
                                    <p:animEffect transition="in" filter="fade">
                                      <p:cBhvr>
                                        <p:cTn id="13" dur="1000"/>
                                        <p:tgtEl>
                                          <p:spTgt spid="4099"/>
                                        </p:tgtEl>
                                      </p:cBhvr>
                                    </p:animEffect>
                                    <p:anim calcmode="lin" valueType="num">
                                      <p:cBhvr>
                                        <p:cTn id="14" dur="1000" fill="hold"/>
                                        <p:tgtEl>
                                          <p:spTgt spid="4099"/>
                                        </p:tgtEl>
                                        <p:attrNameLst>
                                          <p:attrName>ppt_x</p:attrName>
                                        </p:attrNameLst>
                                      </p:cBhvr>
                                      <p:tavLst>
                                        <p:tav tm="0">
                                          <p:val>
                                            <p:strVal val="#ppt_x"/>
                                          </p:val>
                                        </p:tav>
                                        <p:tav tm="100000">
                                          <p:val>
                                            <p:strVal val="#ppt_x"/>
                                          </p:val>
                                        </p:tav>
                                      </p:tavLst>
                                    </p:anim>
                                    <p:anim calcmode="lin" valueType="num">
                                      <p:cBhvr>
                                        <p:cTn id="15" dur="1000" fill="hold"/>
                                        <p:tgtEl>
                                          <p:spTgt spid="4099"/>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9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851274" y="1000116"/>
            <a:ext cx="5007006" cy="1143000"/>
          </a:xfrm>
          <a:prstGeom prst="rect">
            <a:avLst/>
          </a:prstGeom>
        </p:spPr>
        <p:txBody>
          <a:bodyPr rtlCol="0">
            <a:normAutofit/>
          </a:bodyPr>
          <a:lstStyle/>
          <a:p>
            <a:pPr eaLnBrk="1" fontAlgn="auto" hangingPunct="1">
              <a:spcAft>
                <a:spcPts val="0"/>
              </a:spcAft>
              <a:defRPr/>
            </a:pPr>
            <a:r>
              <a:rPr lang="zh-CN" altLang="en-US" sz="4400" dirty="0">
                <a:solidFill>
                  <a:schemeClr val="tx1">
                    <a:lumMod val="65000"/>
                    <a:lumOff val="35000"/>
                  </a:schemeClr>
                </a:solidFill>
                <a:latin typeface="Arial"/>
                <a:ea typeface="微软雅黑" panose="020B0503020204020204" pitchFamily="34" charset="-122"/>
                <a:cs typeface="Arial"/>
              </a:rPr>
              <a:t>先修</a:t>
            </a:r>
            <a:r>
              <a:rPr lang="zh-CN" altLang="en-US" sz="5300" dirty="0">
                <a:solidFill>
                  <a:srgbClr val="00C4F0"/>
                </a:solidFill>
                <a:ea typeface="微软雅黑" panose="020B0503020204020204" pitchFamily="34" charset="-122"/>
                <a:cs typeface="+mn-cs"/>
              </a:rPr>
              <a:t>课程</a:t>
            </a:r>
            <a:r>
              <a:rPr lang="en-US" altLang="zh-CN" dirty="0">
                <a:latin typeface="Arial"/>
                <a:ea typeface="微软雅黑" panose="020B0503020204020204" pitchFamily="34" charset="-122"/>
                <a:cs typeface="Arial"/>
              </a:rPr>
              <a:t>• </a:t>
            </a:r>
            <a:r>
              <a:rPr lang="en-US" altLang="zh-CN" sz="2800" b="0" dirty="0">
                <a:solidFill>
                  <a:srgbClr val="FFC000"/>
                </a:solidFill>
                <a:latin typeface="Tahoma" pitchFamily="34" charset="0"/>
                <a:ea typeface="微软简综艺" pitchFamily="49" charset="-122"/>
                <a:cs typeface="Tahoma" pitchFamily="34" charset="0"/>
              </a:rPr>
              <a:t>COURSE</a:t>
            </a:r>
            <a:endParaRPr lang="zh-CN" altLang="en-US" sz="1800" b="0" dirty="0">
              <a:solidFill>
                <a:srgbClr val="FFC000"/>
              </a:solidFill>
              <a:latin typeface="Tahoma" pitchFamily="34" charset="0"/>
              <a:ea typeface="微软简综艺" pitchFamily="49" charset="-122"/>
              <a:cs typeface="Tahoma" pitchFamily="34" charset="0"/>
            </a:endParaRPr>
          </a:p>
        </p:txBody>
      </p:sp>
      <p:sp>
        <p:nvSpPr>
          <p:cNvPr id="4099" name="矩形 4"/>
          <p:cNvSpPr>
            <a:spLocks noChangeArrowheads="1"/>
          </p:cNvSpPr>
          <p:nvPr/>
        </p:nvSpPr>
        <p:spPr bwMode="auto">
          <a:xfrm>
            <a:off x="3851275" y="2276872"/>
            <a:ext cx="5113338" cy="1870256"/>
          </a:xfrm>
          <a:prstGeom prst="rect">
            <a:avLst/>
          </a:prstGeom>
          <a:noFill/>
          <a:ln w="9525">
            <a:noFill/>
            <a:miter lim="800000"/>
            <a:headEnd/>
            <a:tailEnd/>
          </a:ln>
        </p:spPr>
        <p:txBody>
          <a:bodyPr>
            <a:spAutoFit/>
          </a:bodyPr>
          <a:lstStyle/>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微机操作、数字电路</a:t>
            </a:r>
            <a:endParaRPr lang="en-US" altLang="zh-CN" sz="2000" dirty="0">
              <a:solidFill>
                <a:schemeClr val="tx1">
                  <a:lumMod val="65000"/>
                  <a:lumOff val="35000"/>
                </a:schemeClr>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en-US" altLang="zh-CN" sz="2000" dirty="0">
                <a:solidFill>
                  <a:srgbClr val="FF0000"/>
                </a:solidFill>
                <a:latin typeface="微软雅黑" pitchFamily="34" charset="-122"/>
                <a:ea typeface="微软雅黑" pitchFamily="34" charset="-122"/>
              </a:rPr>
              <a:t>C/C++</a:t>
            </a:r>
            <a:r>
              <a:rPr lang="zh-CN" altLang="en-US" sz="2000" dirty="0">
                <a:solidFill>
                  <a:srgbClr val="FF0000"/>
                </a:solidFill>
                <a:latin typeface="微软雅黑" pitchFamily="34" charset="-122"/>
                <a:ea typeface="微软雅黑" pitchFamily="34" charset="-122"/>
              </a:rPr>
              <a:t>编程语言</a:t>
            </a:r>
            <a:endParaRPr lang="en-US" altLang="zh-CN" sz="2000" dirty="0">
              <a:solidFill>
                <a:srgbClr val="FF0000"/>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预备知识：</a:t>
            </a:r>
            <a:r>
              <a:rPr lang="zh-CN" altLang="en-US" sz="2000" dirty="0">
                <a:solidFill>
                  <a:srgbClr val="FF0000"/>
                </a:solidFill>
                <a:latin typeface="微软雅黑" pitchFamily="34" charset="-122"/>
                <a:ea typeface="微软雅黑" pitchFamily="34" charset="-122"/>
              </a:rPr>
              <a:t>信息的表示二进制运算、</a:t>
            </a:r>
            <a:r>
              <a:rPr lang="en-US" altLang="zh-CN" sz="2000" dirty="0">
                <a:solidFill>
                  <a:srgbClr val="FF0000"/>
                </a:solidFill>
                <a:latin typeface="微软雅黑" pitchFamily="34" charset="-122"/>
                <a:ea typeface="微软雅黑" pitchFamily="34" charset="-122"/>
              </a:rPr>
              <a:t>16</a:t>
            </a:r>
            <a:r>
              <a:rPr lang="zh-CN" altLang="en-US" sz="2000" dirty="0">
                <a:solidFill>
                  <a:srgbClr val="FF0000"/>
                </a:solidFill>
                <a:latin typeface="微软雅黑" pitchFamily="34" charset="-122"/>
                <a:ea typeface="微软雅黑" pitchFamily="34" charset="-122"/>
              </a:rPr>
              <a:t>进制表示、逻辑运算</a:t>
            </a:r>
            <a:endParaRPr lang="en-US" altLang="zh-CN" sz="2000" dirty="0">
              <a:solidFill>
                <a:srgbClr val="FF0000"/>
              </a:solidFill>
              <a:latin typeface="微软雅黑" pitchFamily="34" charset="-122"/>
              <a:ea typeface="微软雅黑" pitchFamily="34" charset="-122"/>
            </a:endParaRPr>
          </a:p>
        </p:txBody>
      </p:sp>
      <p:pic>
        <p:nvPicPr>
          <p:cNvPr id="8" name="图片 7"/>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259632" y="4365104"/>
            <a:ext cx="2259987" cy="141277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575858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par>
                          <p:cTn id="10" fill="hold">
                            <p:stCondLst>
                              <p:cond delay="2000"/>
                            </p:stCondLst>
                            <p:childTnLst>
                              <p:par>
                                <p:cTn id="11" presetID="47" presetClass="entr" presetSubtype="0" fill="hold" grpId="0" nodeType="afterEffect">
                                  <p:stCondLst>
                                    <p:cond delay="0"/>
                                  </p:stCondLst>
                                  <p:childTnLst>
                                    <p:set>
                                      <p:cBhvr>
                                        <p:cTn id="12" dur="1" fill="hold">
                                          <p:stCondLst>
                                            <p:cond delay="0"/>
                                          </p:stCondLst>
                                        </p:cTn>
                                        <p:tgtEl>
                                          <p:spTgt spid="4099"/>
                                        </p:tgtEl>
                                        <p:attrNameLst>
                                          <p:attrName>style.visibility</p:attrName>
                                        </p:attrNameLst>
                                      </p:cBhvr>
                                      <p:to>
                                        <p:strVal val="visible"/>
                                      </p:to>
                                    </p:set>
                                    <p:animEffect transition="in" filter="fade">
                                      <p:cBhvr>
                                        <p:cTn id="13" dur="1000"/>
                                        <p:tgtEl>
                                          <p:spTgt spid="4099"/>
                                        </p:tgtEl>
                                      </p:cBhvr>
                                    </p:animEffect>
                                    <p:anim calcmode="lin" valueType="num">
                                      <p:cBhvr>
                                        <p:cTn id="14" dur="1000" fill="hold"/>
                                        <p:tgtEl>
                                          <p:spTgt spid="4099"/>
                                        </p:tgtEl>
                                        <p:attrNameLst>
                                          <p:attrName>ppt_x</p:attrName>
                                        </p:attrNameLst>
                                      </p:cBhvr>
                                      <p:tavLst>
                                        <p:tav tm="0">
                                          <p:val>
                                            <p:strVal val="#ppt_x"/>
                                          </p:val>
                                        </p:tav>
                                        <p:tav tm="100000">
                                          <p:val>
                                            <p:strVal val="#ppt_x"/>
                                          </p:val>
                                        </p:tav>
                                      </p:tavLst>
                                    </p:anim>
                                    <p:anim calcmode="lin" valueType="num">
                                      <p:cBhvr>
                                        <p:cTn id="15" dur="1000" fill="hold"/>
                                        <p:tgtEl>
                                          <p:spTgt spid="4099"/>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9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851274" y="1000116"/>
            <a:ext cx="5007006" cy="1143000"/>
          </a:xfrm>
          <a:prstGeom prst="rect">
            <a:avLst/>
          </a:prstGeom>
        </p:spPr>
        <p:txBody>
          <a:bodyPr rtlCol="0">
            <a:normAutofit/>
          </a:bodyPr>
          <a:lstStyle/>
          <a:p>
            <a:pPr eaLnBrk="1" fontAlgn="auto" hangingPunct="1">
              <a:spcAft>
                <a:spcPts val="0"/>
              </a:spcAft>
              <a:defRPr/>
            </a:pPr>
            <a:r>
              <a:rPr lang="zh-CN" altLang="en-US" sz="4400" dirty="0">
                <a:solidFill>
                  <a:schemeClr val="tx1">
                    <a:lumMod val="65000"/>
                    <a:lumOff val="35000"/>
                  </a:schemeClr>
                </a:solidFill>
                <a:latin typeface="Arial"/>
                <a:ea typeface="微软雅黑" panose="020B0503020204020204" pitchFamily="34" charset="-122"/>
                <a:cs typeface="Arial"/>
              </a:rPr>
              <a:t>参考</a:t>
            </a:r>
            <a:r>
              <a:rPr lang="zh-CN" altLang="en-US" sz="5300" dirty="0">
                <a:solidFill>
                  <a:srgbClr val="00C4F0"/>
                </a:solidFill>
                <a:ea typeface="微软雅黑" panose="020B0503020204020204" pitchFamily="34" charset="-122"/>
                <a:cs typeface="+mn-cs"/>
              </a:rPr>
              <a:t>资料</a:t>
            </a:r>
            <a:r>
              <a:rPr lang="en-US" altLang="zh-CN" dirty="0">
                <a:latin typeface="Arial"/>
                <a:ea typeface="微软雅黑" panose="020B0503020204020204" pitchFamily="34" charset="-122"/>
                <a:cs typeface="Arial"/>
              </a:rPr>
              <a:t>• </a:t>
            </a:r>
            <a:r>
              <a:rPr lang="en-US" altLang="zh-CN" sz="2800" b="0" dirty="0">
                <a:solidFill>
                  <a:srgbClr val="FFC000"/>
                </a:solidFill>
                <a:latin typeface="Tahoma" pitchFamily="34" charset="0"/>
                <a:ea typeface="微软简综艺" pitchFamily="49" charset="-122"/>
                <a:cs typeface="Tahoma" pitchFamily="34" charset="0"/>
              </a:rPr>
              <a:t>REFERENCE</a:t>
            </a:r>
            <a:endParaRPr lang="zh-CN" altLang="en-US" sz="1800" b="0" dirty="0">
              <a:solidFill>
                <a:srgbClr val="FFC000"/>
              </a:solidFill>
              <a:latin typeface="Tahoma" pitchFamily="34" charset="0"/>
              <a:ea typeface="微软简综艺" pitchFamily="49" charset="-122"/>
              <a:cs typeface="Tahoma" pitchFamily="34" charset="0"/>
            </a:endParaRPr>
          </a:p>
        </p:txBody>
      </p:sp>
      <p:sp>
        <p:nvSpPr>
          <p:cNvPr id="4099" name="矩形 4"/>
          <p:cNvSpPr>
            <a:spLocks noChangeArrowheads="1"/>
          </p:cNvSpPr>
          <p:nvPr/>
        </p:nvSpPr>
        <p:spPr bwMode="auto">
          <a:xfrm>
            <a:off x="3851275" y="2276872"/>
            <a:ext cx="5113338" cy="2823337"/>
          </a:xfrm>
          <a:prstGeom prst="rect">
            <a:avLst/>
          </a:prstGeom>
          <a:noFill/>
          <a:ln w="9525">
            <a:noFill/>
            <a:miter lim="800000"/>
            <a:headEnd/>
            <a:tailEnd/>
          </a:ln>
        </p:spPr>
        <p:txBody>
          <a:bodyPr>
            <a:spAutoFit/>
          </a:bodyPr>
          <a:lstStyle/>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李继灿，</a:t>
            </a:r>
            <a:r>
              <a:rPr lang="en-US" altLang="zh-CN" sz="2000" dirty="0">
                <a:solidFill>
                  <a:schemeClr val="tx1">
                    <a:lumMod val="65000"/>
                    <a:lumOff val="35000"/>
                  </a:schemeClr>
                </a:solidFill>
                <a:latin typeface="微软雅黑" pitchFamily="34" charset="-122"/>
                <a:ea typeface="微软雅黑" pitchFamily="34" charset="-122"/>
              </a:rPr>
              <a:t>《</a:t>
            </a:r>
            <a:r>
              <a:rPr lang="zh-CN" altLang="en-US" sz="2000" dirty="0">
                <a:solidFill>
                  <a:schemeClr val="tx1">
                    <a:lumMod val="65000"/>
                    <a:lumOff val="35000"/>
                  </a:schemeClr>
                </a:solidFill>
                <a:latin typeface="微软雅黑" pitchFamily="34" charset="-122"/>
                <a:ea typeface="微软雅黑" pitchFamily="34" charset="-122"/>
              </a:rPr>
              <a:t>新编</a:t>
            </a:r>
            <a:r>
              <a:rPr lang="en-US" altLang="zh-CN" sz="2000" dirty="0">
                <a:solidFill>
                  <a:schemeClr val="tx1">
                    <a:lumMod val="65000"/>
                    <a:lumOff val="35000"/>
                  </a:schemeClr>
                </a:solidFill>
                <a:latin typeface="微软雅黑" pitchFamily="34" charset="-122"/>
                <a:ea typeface="微软雅黑" pitchFamily="34" charset="-122"/>
              </a:rPr>
              <a:t>16/32</a:t>
            </a:r>
            <a:r>
              <a:rPr lang="zh-CN" altLang="en-US" sz="2000" dirty="0">
                <a:solidFill>
                  <a:schemeClr val="tx1">
                    <a:lumMod val="65000"/>
                    <a:lumOff val="35000"/>
                  </a:schemeClr>
                </a:solidFill>
                <a:latin typeface="微软雅黑" pitchFamily="34" charset="-122"/>
                <a:ea typeface="微软雅黑" pitchFamily="34" charset="-122"/>
              </a:rPr>
              <a:t>位微型计算机原理及应用</a:t>
            </a:r>
            <a:r>
              <a:rPr lang="en-US" altLang="zh-CN" sz="2000" dirty="0">
                <a:solidFill>
                  <a:schemeClr val="tx1">
                    <a:lumMod val="65000"/>
                    <a:lumOff val="35000"/>
                  </a:schemeClr>
                </a:solidFill>
                <a:latin typeface="微软雅黑" pitchFamily="34" charset="-122"/>
                <a:ea typeface="微软雅黑" pitchFamily="34" charset="-122"/>
              </a:rPr>
              <a:t>》</a:t>
            </a:r>
          </a:p>
          <a:p>
            <a:pPr marL="285750" indent="-285750">
              <a:lnSpc>
                <a:spcPct val="134000"/>
              </a:lnSpc>
              <a:spcBef>
                <a:spcPts val="400"/>
              </a:spcBef>
              <a:spcAft>
                <a:spcPts val="60"/>
              </a:spcAft>
              <a:buFont typeface="Arial" panose="020B0604020202020204" pitchFamily="34" charset="0"/>
              <a:buChar char="•"/>
            </a:pPr>
            <a:r>
              <a:rPr lang="zh-CN" altLang="en-US" sz="2000" dirty="0">
                <a:solidFill>
                  <a:srgbClr val="FF0000"/>
                </a:solidFill>
                <a:latin typeface="微软雅黑" pitchFamily="34" charset="-122"/>
                <a:ea typeface="微软雅黑" pitchFamily="34" charset="-122"/>
              </a:rPr>
              <a:t>郁慧娣，</a:t>
            </a:r>
            <a:r>
              <a:rPr lang="en-US" altLang="zh-CN" sz="2000" dirty="0">
                <a:solidFill>
                  <a:srgbClr val="FF0000"/>
                </a:solidFill>
                <a:latin typeface="微软雅黑" pitchFamily="34" charset="-122"/>
                <a:ea typeface="微软雅黑" pitchFamily="34" charset="-122"/>
              </a:rPr>
              <a:t>《</a:t>
            </a:r>
            <a:r>
              <a:rPr lang="zh-CN" altLang="en-US" sz="2000" dirty="0">
                <a:solidFill>
                  <a:srgbClr val="FF0000"/>
                </a:solidFill>
                <a:latin typeface="微软雅黑" pitchFamily="34" charset="-122"/>
                <a:ea typeface="微软雅黑" pitchFamily="34" charset="-122"/>
              </a:rPr>
              <a:t>微机系统及其接口技术</a:t>
            </a:r>
            <a:r>
              <a:rPr lang="en-US" altLang="zh-CN" sz="2000" dirty="0">
                <a:solidFill>
                  <a:srgbClr val="FF0000"/>
                </a:solidFill>
                <a:latin typeface="微软雅黑" pitchFamily="34" charset="-122"/>
                <a:ea typeface="微软雅黑" pitchFamily="34" charset="-122"/>
              </a:rPr>
              <a:t>》</a:t>
            </a:r>
            <a:endParaRPr lang="zh-CN" altLang="en-US" sz="2000" dirty="0">
              <a:solidFill>
                <a:srgbClr val="FF0000"/>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郑初华，</a:t>
            </a:r>
            <a:r>
              <a:rPr lang="en-US" altLang="zh-CN" sz="2000" dirty="0">
                <a:solidFill>
                  <a:schemeClr val="tx1">
                    <a:lumMod val="65000"/>
                    <a:lumOff val="35000"/>
                  </a:schemeClr>
                </a:solidFill>
                <a:latin typeface="微软雅黑" pitchFamily="34" charset="-122"/>
                <a:ea typeface="微软雅黑" pitchFamily="34" charset="-122"/>
              </a:rPr>
              <a:t>《</a:t>
            </a:r>
            <a:r>
              <a:rPr lang="zh-CN" altLang="en-US" sz="2000" dirty="0">
                <a:solidFill>
                  <a:schemeClr val="tx1">
                    <a:lumMod val="65000"/>
                    <a:lumOff val="35000"/>
                  </a:schemeClr>
                </a:solidFill>
                <a:latin typeface="微软雅黑" pitchFamily="34" charset="-122"/>
                <a:ea typeface="微软雅黑" pitchFamily="34" charset="-122"/>
              </a:rPr>
              <a:t>汇编语言微机原理及接口技术</a:t>
            </a:r>
            <a:r>
              <a:rPr lang="en-US" altLang="zh-CN" sz="2000" dirty="0">
                <a:solidFill>
                  <a:schemeClr val="tx1">
                    <a:lumMod val="65000"/>
                    <a:lumOff val="35000"/>
                  </a:schemeClr>
                </a:solidFill>
                <a:latin typeface="微软雅黑" pitchFamily="34" charset="-122"/>
                <a:ea typeface="微软雅黑" pitchFamily="34" charset="-122"/>
              </a:rPr>
              <a:t>》</a:t>
            </a: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王爽，</a:t>
            </a:r>
            <a:r>
              <a:rPr lang="en-US" altLang="zh-CN" sz="2000" dirty="0">
                <a:solidFill>
                  <a:schemeClr val="tx1">
                    <a:lumMod val="65000"/>
                    <a:lumOff val="35000"/>
                  </a:schemeClr>
                </a:solidFill>
                <a:latin typeface="微软雅黑" pitchFamily="34" charset="-122"/>
                <a:ea typeface="微软雅黑" pitchFamily="34" charset="-122"/>
              </a:rPr>
              <a:t>《</a:t>
            </a:r>
            <a:r>
              <a:rPr lang="zh-CN" altLang="en-US" sz="2000" dirty="0">
                <a:solidFill>
                  <a:schemeClr val="tx1">
                    <a:lumMod val="65000"/>
                    <a:lumOff val="35000"/>
                  </a:schemeClr>
                </a:solidFill>
                <a:latin typeface="微软雅黑" pitchFamily="34" charset="-122"/>
                <a:ea typeface="微软雅黑" pitchFamily="34" charset="-122"/>
              </a:rPr>
              <a:t>汇编语言</a:t>
            </a:r>
            <a:r>
              <a:rPr lang="en-US" altLang="zh-CN" sz="2000" dirty="0">
                <a:solidFill>
                  <a:schemeClr val="tx1">
                    <a:lumMod val="65000"/>
                    <a:lumOff val="35000"/>
                  </a:schemeClr>
                </a:solidFill>
                <a:latin typeface="微软雅黑" pitchFamily="34" charset="-122"/>
                <a:ea typeface="微软雅黑" pitchFamily="34" charset="-122"/>
              </a:rPr>
              <a:t>》</a:t>
            </a:r>
          </a:p>
          <a:p>
            <a:pPr marL="285750" indent="-285750">
              <a:lnSpc>
                <a:spcPct val="134000"/>
              </a:lnSpc>
              <a:spcBef>
                <a:spcPts val="400"/>
              </a:spcBef>
              <a:spcAft>
                <a:spcPts val="60"/>
              </a:spcAft>
              <a:buFont typeface="Arial" panose="020B0604020202020204" pitchFamily="34" charset="0"/>
              <a:buChar char="•"/>
            </a:pPr>
            <a:r>
              <a:rPr lang="en-US" altLang="zh-CN" sz="2000" dirty="0">
                <a:solidFill>
                  <a:schemeClr val="tx1">
                    <a:lumMod val="65000"/>
                    <a:lumOff val="35000"/>
                  </a:schemeClr>
                </a:solidFill>
                <a:latin typeface="微软雅黑" pitchFamily="34" charset="-122"/>
                <a:ea typeface="微软雅黑" pitchFamily="34" charset="-122"/>
              </a:rPr>
              <a:t>R. </a:t>
            </a:r>
            <a:r>
              <a:rPr lang="en-US" altLang="zh-CN" sz="2000" dirty="0" err="1">
                <a:solidFill>
                  <a:schemeClr val="tx1">
                    <a:lumMod val="65000"/>
                    <a:lumOff val="35000"/>
                  </a:schemeClr>
                </a:solidFill>
                <a:latin typeface="微软雅黑" pitchFamily="34" charset="-122"/>
                <a:ea typeface="微软雅黑" pitchFamily="34" charset="-122"/>
              </a:rPr>
              <a:t>E.Bryant</a:t>
            </a:r>
            <a:r>
              <a:rPr lang="zh-CN" altLang="en-US" sz="2000" dirty="0">
                <a:solidFill>
                  <a:schemeClr val="tx1">
                    <a:lumMod val="65000"/>
                    <a:lumOff val="35000"/>
                  </a:schemeClr>
                </a:solidFill>
                <a:latin typeface="微软雅黑" pitchFamily="34" charset="-122"/>
                <a:ea typeface="微软雅黑" pitchFamily="34" charset="-122"/>
              </a:rPr>
              <a:t>，</a:t>
            </a:r>
            <a:r>
              <a:rPr lang="en-US" altLang="zh-CN" sz="2000" dirty="0">
                <a:solidFill>
                  <a:schemeClr val="tx1">
                    <a:lumMod val="65000"/>
                    <a:lumOff val="35000"/>
                  </a:schemeClr>
                </a:solidFill>
                <a:latin typeface="微软雅黑" pitchFamily="34" charset="-122"/>
                <a:ea typeface="微软雅黑" pitchFamily="34" charset="-122"/>
              </a:rPr>
              <a:t>《</a:t>
            </a:r>
            <a:r>
              <a:rPr lang="zh-CN" altLang="en-US" sz="2000" dirty="0">
                <a:solidFill>
                  <a:schemeClr val="tx1">
                    <a:lumMod val="65000"/>
                    <a:lumOff val="35000"/>
                  </a:schemeClr>
                </a:solidFill>
                <a:latin typeface="微软雅黑" pitchFamily="34" charset="-122"/>
                <a:ea typeface="微软雅黑" pitchFamily="34" charset="-122"/>
              </a:rPr>
              <a:t>深入理解计算机系统</a:t>
            </a:r>
            <a:r>
              <a:rPr lang="en-US" altLang="zh-CN" sz="2000" dirty="0">
                <a:solidFill>
                  <a:schemeClr val="tx1">
                    <a:lumMod val="65000"/>
                    <a:lumOff val="35000"/>
                  </a:schemeClr>
                </a:solidFill>
                <a:latin typeface="微软雅黑" pitchFamily="34" charset="-122"/>
                <a:ea typeface="微软雅黑" pitchFamily="34" charset="-122"/>
              </a:rPr>
              <a:t>》</a:t>
            </a:r>
          </a:p>
        </p:txBody>
      </p:sp>
      <p:pic>
        <p:nvPicPr>
          <p:cNvPr id="5" name="Picture 2" descr="D:\Teliss_Tong\Copy\定期备份\工作备份\！PPT图片及版面资源\06-PPT精选插图\02-商务\2011819142923561.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9830" y="2348880"/>
            <a:ext cx="2104018" cy="2736304"/>
          </a:xfrm>
          <a:prstGeom prst="rect">
            <a:avLst/>
          </a:prstGeom>
          <a:noFill/>
          <a:ln>
            <a:solidFill>
              <a:schemeClr val="bg1"/>
            </a:solid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6106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par>
                          <p:cTn id="10" fill="hold">
                            <p:stCondLst>
                              <p:cond delay="2000"/>
                            </p:stCondLst>
                            <p:childTnLst>
                              <p:par>
                                <p:cTn id="11" presetID="47" presetClass="entr" presetSubtype="0" fill="hold" grpId="0" nodeType="afterEffect">
                                  <p:stCondLst>
                                    <p:cond delay="0"/>
                                  </p:stCondLst>
                                  <p:childTnLst>
                                    <p:set>
                                      <p:cBhvr>
                                        <p:cTn id="12" dur="1" fill="hold">
                                          <p:stCondLst>
                                            <p:cond delay="0"/>
                                          </p:stCondLst>
                                        </p:cTn>
                                        <p:tgtEl>
                                          <p:spTgt spid="4099"/>
                                        </p:tgtEl>
                                        <p:attrNameLst>
                                          <p:attrName>style.visibility</p:attrName>
                                        </p:attrNameLst>
                                      </p:cBhvr>
                                      <p:to>
                                        <p:strVal val="visible"/>
                                      </p:to>
                                    </p:set>
                                    <p:animEffect transition="in" filter="fade">
                                      <p:cBhvr>
                                        <p:cTn id="13" dur="1000"/>
                                        <p:tgtEl>
                                          <p:spTgt spid="4099"/>
                                        </p:tgtEl>
                                      </p:cBhvr>
                                    </p:animEffect>
                                    <p:anim calcmode="lin" valueType="num">
                                      <p:cBhvr>
                                        <p:cTn id="14" dur="1000" fill="hold"/>
                                        <p:tgtEl>
                                          <p:spTgt spid="4099"/>
                                        </p:tgtEl>
                                        <p:attrNameLst>
                                          <p:attrName>ppt_x</p:attrName>
                                        </p:attrNameLst>
                                      </p:cBhvr>
                                      <p:tavLst>
                                        <p:tav tm="0">
                                          <p:val>
                                            <p:strVal val="#ppt_x"/>
                                          </p:val>
                                        </p:tav>
                                        <p:tav tm="100000">
                                          <p:val>
                                            <p:strVal val="#ppt_x"/>
                                          </p:val>
                                        </p:tav>
                                      </p:tavLst>
                                    </p:anim>
                                    <p:anim calcmode="lin" valueType="num">
                                      <p:cBhvr>
                                        <p:cTn id="15" dur="1000" fill="hold"/>
                                        <p:tgtEl>
                                          <p:spTgt spid="4099"/>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anim calcmode="lin" valueType="num">
                                      <p:cBhvr>
                                        <p:cTn id="19" dur="1000" fill="hold"/>
                                        <p:tgtEl>
                                          <p:spTgt spid="5"/>
                                        </p:tgtEl>
                                        <p:attrNameLst>
                                          <p:attrName>ppt_x</p:attrName>
                                        </p:attrNameLst>
                                      </p:cBhvr>
                                      <p:tavLst>
                                        <p:tav tm="0">
                                          <p:val>
                                            <p:strVal val="#ppt_x"/>
                                          </p:val>
                                        </p:tav>
                                        <p:tav tm="100000">
                                          <p:val>
                                            <p:strVal val="#ppt_x"/>
                                          </p:val>
                                        </p:tav>
                                      </p:tavLst>
                                    </p:anim>
                                    <p:anim calcmode="lin" valueType="num">
                                      <p:cBhvr>
                                        <p:cTn id="2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9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851274" y="1000116"/>
            <a:ext cx="5007006" cy="1143000"/>
          </a:xfrm>
          <a:prstGeom prst="rect">
            <a:avLst/>
          </a:prstGeom>
        </p:spPr>
        <p:txBody>
          <a:bodyPr rtlCol="0">
            <a:normAutofit/>
          </a:bodyPr>
          <a:lstStyle/>
          <a:p>
            <a:pPr eaLnBrk="1" fontAlgn="auto" hangingPunct="1">
              <a:spcAft>
                <a:spcPts val="0"/>
              </a:spcAft>
              <a:defRPr/>
            </a:pPr>
            <a:r>
              <a:rPr lang="zh-CN" altLang="en-US" sz="4400" dirty="0">
                <a:solidFill>
                  <a:schemeClr val="tx1">
                    <a:lumMod val="65000"/>
                    <a:lumOff val="35000"/>
                  </a:schemeClr>
                </a:solidFill>
                <a:latin typeface="Arial"/>
                <a:ea typeface="微软雅黑" panose="020B0503020204020204" pitchFamily="34" charset="-122"/>
                <a:cs typeface="Arial"/>
              </a:rPr>
              <a:t>学习</a:t>
            </a:r>
            <a:r>
              <a:rPr lang="zh-CN" altLang="en-US" sz="5300" dirty="0">
                <a:solidFill>
                  <a:srgbClr val="00C4F0"/>
                </a:solidFill>
                <a:ea typeface="微软雅黑" panose="020B0503020204020204" pitchFamily="34" charset="-122"/>
                <a:cs typeface="+mn-cs"/>
              </a:rPr>
              <a:t>方法</a:t>
            </a:r>
            <a:r>
              <a:rPr lang="en-US" altLang="zh-CN" dirty="0">
                <a:latin typeface="Arial"/>
                <a:ea typeface="微软雅黑" panose="020B0503020204020204" pitchFamily="34" charset="-122"/>
                <a:cs typeface="Arial"/>
              </a:rPr>
              <a:t>• </a:t>
            </a:r>
            <a:r>
              <a:rPr lang="en-US" altLang="zh-CN" sz="2800" dirty="0">
                <a:solidFill>
                  <a:srgbClr val="FFC000"/>
                </a:solidFill>
                <a:latin typeface="Tahoma" pitchFamily="34" charset="0"/>
                <a:ea typeface="微软简综艺" pitchFamily="49" charset="-122"/>
                <a:cs typeface="Tahoma" pitchFamily="34" charset="0"/>
              </a:rPr>
              <a:t>METHOD</a:t>
            </a:r>
            <a:endParaRPr lang="zh-CN" altLang="en-US" sz="1800" b="0" dirty="0">
              <a:solidFill>
                <a:srgbClr val="FFC000"/>
              </a:solidFill>
              <a:latin typeface="Tahoma" pitchFamily="34" charset="0"/>
              <a:ea typeface="微软简综艺" pitchFamily="49" charset="-122"/>
              <a:cs typeface="Tahoma" pitchFamily="34" charset="0"/>
            </a:endParaRPr>
          </a:p>
        </p:txBody>
      </p:sp>
      <p:sp>
        <p:nvSpPr>
          <p:cNvPr id="4099" name="矩形 4"/>
          <p:cNvSpPr>
            <a:spLocks noChangeArrowheads="1"/>
          </p:cNvSpPr>
          <p:nvPr/>
        </p:nvSpPr>
        <p:spPr bwMode="auto">
          <a:xfrm>
            <a:off x="3978190" y="2276872"/>
            <a:ext cx="4753173" cy="1934376"/>
          </a:xfrm>
          <a:prstGeom prst="rect">
            <a:avLst/>
          </a:prstGeom>
          <a:noFill/>
          <a:ln w="9525">
            <a:noFill/>
            <a:miter lim="800000"/>
            <a:headEnd/>
            <a:tailEnd/>
          </a:ln>
        </p:spPr>
        <p:txBody>
          <a:bodyPr wrap="square">
            <a:spAutoFit/>
          </a:bodyPr>
          <a:lstStyle/>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课堂：听讲与理解、适当笔记；</a:t>
            </a:r>
            <a:endParaRPr lang="en-US" altLang="zh-CN" sz="2000" dirty="0">
              <a:solidFill>
                <a:schemeClr val="tx1">
                  <a:lumMod val="65000"/>
                  <a:lumOff val="35000"/>
                </a:schemeClr>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课后：认真复习、查阅资料；</a:t>
            </a:r>
            <a:endParaRPr lang="en-US" altLang="zh-CN" sz="2000" dirty="0">
              <a:solidFill>
                <a:schemeClr val="tx1">
                  <a:lumMod val="65000"/>
                  <a:lumOff val="35000"/>
                </a:schemeClr>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作业：</a:t>
            </a:r>
            <a:r>
              <a:rPr lang="zh-CN" altLang="en-US" sz="2000" dirty="0">
                <a:solidFill>
                  <a:srgbClr val="FF0000"/>
                </a:solidFill>
                <a:latin typeface="微软雅黑" pitchFamily="34" charset="-122"/>
                <a:ea typeface="微软雅黑" pitchFamily="34" charset="-122"/>
              </a:rPr>
              <a:t>独立</a:t>
            </a:r>
            <a:r>
              <a:rPr lang="zh-CN" altLang="en-US" sz="2000" dirty="0">
                <a:solidFill>
                  <a:schemeClr val="tx1">
                    <a:lumMod val="65000"/>
                    <a:lumOff val="35000"/>
                  </a:schemeClr>
                </a:solidFill>
                <a:latin typeface="微软雅黑" pitchFamily="34" charset="-122"/>
                <a:ea typeface="微软雅黑" pitchFamily="34" charset="-122"/>
              </a:rPr>
              <a:t>完成作业；</a:t>
            </a:r>
            <a:endParaRPr lang="en-US" altLang="zh-CN" sz="2000" dirty="0">
              <a:solidFill>
                <a:schemeClr val="tx1">
                  <a:lumMod val="65000"/>
                  <a:lumOff val="35000"/>
                </a:schemeClr>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实践：独立完成实验，</a:t>
            </a:r>
            <a:r>
              <a:rPr lang="zh-CN" altLang="en-US" sz="2000" dirty="0">
                <a:solidFill>
                  <a:srgbClr val="FF0000"/>
                </a:solidFill>
                <a:latin typeface="微软雅黑" pitchFamily="34" charset="-122"/>
                <a:ea typeface="微软雅黑" pitchFamily="34" charset="-122"/>
              </a:rPr>
              <a:t>独立编程调试</a:t>
            </a:r>
            <a:r>
              <a:rPr lang="zh-CN" altLang="en-US" sz="2000" dirty="0">
                <a:solidFill>
                  <a:schemeClr val="tx1">
                    <a:lumMod val="65000"/>
                    <a:lumOff val="35000"/>
                  </a:schemeClr>
                </a:solidFill>
                <a:latin typeface="微软雅黑" pitchFamily="34" charset="-122"/>
                <a:ea typeface="微软雅黑" pitchFamily="34" charset="-122"/>
              </a:rPr>
              <a:t>。</a:t>
            </a:r>
            <a:endParaRPr lang="en-US" altLang="zh-CN" sz="2000" dirty="0">
              <a:solidFill>
                <a:schemeClr val="tx1">
                  <a:lumMod val="65000"/>
                  <a:lumOff val="35000"/>
                </a:schemeClr>
              </a:solidFill>
              <a:latin typeface="微软雅黑" pitchFamily="34" charset="-122"/>
              <a:ea typeface="微软雅黑" pitchFamily="34" charset="-122"/>
            </a:endParaRPr>
          </a:p>
        </p:txBody>
      </p:sp>
      <p:pic>
        <p:nvPicPr>
          <p:cNvPr id="5" name="Picture 2" descr="F:\360云盘\02-个人资料\！PPT图片及版面资源\05-PPT精选插图\02-商务\235076-1211231Z21736.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71600" y="2278247"/>
            <a:ext cx="2703643" cy="202773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1" name="椭圆 10"/>
          <p:cNvSpPr/>
          <p:nvPr/>
        </p:nvSpPr>
        <p:spPr>
          <a:xfrm>
            <a:off x="1335177" y="4838419"/>
            <a:ext cx="1389895" cy="1390592"/>
          </a:xfrm>
          <a:prstGeom prst="ellipse">
            <a:avLst/>
          </a:prstGeom>
        </p:spPr>
        <p:style>
          <a:lnRef idx="1">
            <a:schemeClr val="accent3"/>
          </a:lnRef>
          <a:fillRef idx="3">
            <a:schemeClr val="accent3"/>
          </a:fillRef>
          <a:effectRef idx="2">
            <a:schemeClr val="accent3"/>
          </a:effectRef>
          <a:fontRef idx="minor">
            <a:schemeClr val="lt1"/>
          </a:fontRef>
        </p:style>
        <p:txBody>
          <a:bodyPr anchor="ctr"/>
          <a:lstStyle/>
          <a:p>
            <a:pPr algn="ctr" defTabSz="1234440" fontAlgn="auto">
              <a:spcBef>
                <a:spcPts val="0"/>
              </a:spcBef>
              <a:spcAft>
                <a:spcPts val="0"/>
              </a:spcAft>
              <a:defRPr/>
            </a:pPr>
            <a:r>
              <a:rPr lang="zh-CN" altLang="en-US" sz="2800" b="1" dirty="0">
                <a:latin typeface="微软雅黑" pitchFamily="34" charset="-122"/>
                <a:ea typeface="微软雅黑" pitchFamily="34" charset="-122"/>
              </a:rPr>
              <a:t>纪律</a:t>
            </a:r>
          </a:p>
        </p:txBody>
      </p:sp>
      <p:sp>
        <p:nvSpPr>
          <p:cNvPr id="12" name="TextBox 11"/>
          <p:cNvSpPr txBox="1"/>
          <p:nvPr/>
        </p:nvSpPr>
        <p:spPr>
          <a:xfrm>
            <a:off x="3110392" y="5345165"/>
            <a:ext cx="3744416" cy="406522"/>
          </a:xfrm>
          <a:prstGeom prst="rect">
            <a:avLst/>
          </a:prstGeom>
          <a:noFill/>
        </p:spPr>
        <p:txBody>
          <a:bodyPr wrap="square">
            <a:spAutoFit/>
          </a:bodyPr>
          <a:lstStyle/>
          <a:p>
            <a:pPr>
              <a:lnSpc>
                <a:spcPct val="125000"/>
              </a:lnSpc>
              <a:defRPr/>
            </a:pPr>
            <a:r>
              <a:rPr lang="zh-CN" altLang="en-US" b="1" dirty="0">
                <a:solidFill>
                  <a:srgbClr val="00B0F0"/>
                </a:solidFill>
                <a:latin typeface="微软雅黑" pitchFamily="34" charset="-122"/>
                <a:ea typeface="微软雅黑" pitchFamily="34" charset="-122"/>
              </a:rPr>
              <a:t>不准旷课、课堂上请关闭手机！</a:t>
            </a:r>
            <a:endParaRPr lang="zh-CN" altLang="en-US" b="1" dirty="0">
              <a:solidFill>
                <a:srgbClr val="00B0F0"/>
              </a:solidFill>
              <a:latin typeface="Arial" charset="0"/>
              <a:ea typeface="微软雅黑" panose="020B0503020204020204" pitchFamily="34" charset="-122"/>
            </a:endParaRPr>
          </a:p>
        </p:txBody>
      </p:sp>
      <p:pic>
        <p:nvPicPr>
          <p:cNvPr id="13" name="Picture 3" descr="E:\仝德志文件，勿删！\03-参考文档\！PPT图片及版面资源\06-PPT精选插图\04-图标\禁止符号.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660232" y="4839411"/>
            <a:ext cx="1389600" cy="138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1264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par>
                          <p:cTn id="10" fill="hold">
                            <p:stCondLst>
                              <p:cond delay="2000"/>
                            </p:stCondLst>
                            <p:childTnLst>
                              <p:par>
                                <p:cTn id="11" presetID="47" presetClass="entr" presetSubtype="0" fill="hold" grpId="0" nodeType="afterEffect">
                                  <p:stCondLst>
                                    <p:cond delay="0"/>
                                  </p:stCondLst>
                                  <p:childTnLst>
                                    <p:set>
                                      <p:cBhvr>
                                        <p:cTn id="12" dur="1" fill="hold">
                                          <p:stCondLst>
                                            <p:cond delay="0"/>
                                          </p:stCondLst>
                                        </p:cTn>
                                        <p:tgtEl>
                                          <p:spTgt spid="4099"/>
                                        </p:tgtEl>
                                        <p:attrNameLst>
                                          <p:attrName>style.visibility</p:attrName>
                                        </p:attrNameLst>
                                      </p:cBhvr>
                                      <p:to>
                                        <p:strVal val="visible"/>
                                      </p:to>
                                    </p:set>
                                    <p:animEffect transition="in" filter="fade">
                                      <p:cBhvr>
                                        <p:cTn id="13" dur="1000"/>
                                        <p:tgtEl>
                                          <p:spTgt spid="4099"/>
                                        </p:tgtEl>
                                      </p:cBhvr>
                                    </p:animEffect>
                                    <p:anim calcmode="lin" valueType="num">
                                      <p:cBhvr>
                                        <p:cTn id="14" dur="1000" fill="hold"/>
                                        <p:tgtEl>
                                          <p:spTgt spid="4099"/>
                                        </p:tgtEl>
                                        <p:attrNameLst>
                                          <p:attrName>ppt_x</p:attrName>
                                        </p:attrNameLst>
                                      </p:cBhvr>
                                      <p:tavLst>
                                        <p:tav tm="0">
                                          <p:val>
                                            <p:strVal val="#ppt_x"/>
                                          </p:val>
                                        </p:tav>
                                        <p:tav tm="100000">
                                          <p:val>
                                            <p:strVal val="#ppt_x"/>
                                          </p:val>
                                        </p:tav>
                                      </p:tavLst>
                                    </p:anim>
                                    <p:anim calcmode="lin" valueType="num">
                                      <p:cBhvr>
                                        <p:cTn id="15" dur="1000" fill="hold"/>
                                        <p:tgtEl>
                                          <p:spTgt spid="4099"/>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anim calcmode="lin" valueType="num">
                                      <p:cBhvr>
                                        <p:cTn id="19" dur="1000" fill="hold"/>
                                        <p:tgtEl>
                                          <p:spTgt spid="5"/>
                                        </p:tgtEl>
                                        <p:attrNameLst>
                                          <p:attrName>ppt_x</p:attrName>
                                        </p:attrNameLst>
                                      </p:cBhvr>
                                      <p:tavLst>
                                        <p:tav tm="0">
                                          <p:val>
                                            <p:strVal val="#ppt_x"/>
                                          </p:val>
                                        </p:tav>
                                        <p:tav tm="100000">
                                          <p:val>
                                            <p:strVal val="#ppt_x"/>
                                          </p:val>
                                        </p:tav>
                                      </p:tavLst>
                                    </p:anim>
                                    <p:anim calcmode="lin" valueType="num">
                                      <p:cBhvr>
                                        <p:cTn id="2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6" presetClass="entr" presetSubtype="32"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circle(out)">
                                      <p:cBhvr>
                                        <p:cTn id="25" dur="20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0"/>
                                        <p:tgtEl>
                                          <p:spTgt spid="12"/>
                                        </p:tgtEl>
                                      </p:cBhvr>
                                    </p:animEffect>
                                    <p:anim calcmode="lin" valueType="num">
                                      <p:cBhvr>
                                        <p:cTn id="31" dur="2000" fill="hold"/>
                                        <p:tgtEl>
                                          <p:spTgt spid="12"/>
                                        </p:tgtEl>
                                        <p:attrNameLst>
                                          <p:attrName>ppt_x</p:attrName>
                                        </p:attrNameLst>
                                      </p:cBhvr>
                                      <p:tavLst>
                                        <p:tav tm="0">
                                          <p:val>
                                            <p:strVal val="#ppt_x"/>
                                          </p:val>
                                        </p:tav>
                                        <p:tav tm="100000">
                                          <p:val>
                                            <p:strVal val="#ppt_x"/>
                                          </p:val>
                                        </p:tav>
                                      </p:tavLst>
                                    </p:anim>
                                    <p:anim calcmode="lin" valueType="num">
                                      <p:cBhvr>
                                        <p:cTn id="32" dur="2000" fill="hold"/>
                                        <p:tgtEl>
                                          <p:spTgt spid="12"/>
                                        </p:tgtEl>
                                        <p:attrNameLst>
                                          <p:attrName>ppt_y</p:attrName>
                                        </p:attrNameLst>
                                      </p:cBhvr>
                                      <p:tavLst>
                                        <p:tav tm="0">
                                          <p:val>
                                            <p:strVal val="#ppt_y+.1"/>
                                          </p:val>
                                        </p:tav>
                                        <p:tav tm="100000">
                                          <p:val>
                                            <p:strVal val="#ppt_y"/>
                                          </p:val>
                                        </p:tav>
                                      </p:tavLst>
                                    </p:anim>
                                  </p:childTnLst>
                                </p:cTn>
                              </p:par>
                            </p:childTnLst>
                          </p:cTn>
                        </p:par>
                        <p:par>
                          <p:cTn id="33" fill="hold">
                            <p:stCondLst>
                              <p:cond delay="2000"/>
                            </p:stCondLst>
                            <p:childTnLst>
                              <p:par>
                                <p:cTn id="34" presetID="52" presetClass="entr" presetSubtype="0"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Scale>
                                      <p:cBhvr>
                                        <p:cTn id="36" dur="1000" decel="50000" fill="hold">
                                          <p:stCondLst>
                                            <p:cond delay="0"/>
                                          </p:stCondLst>
                                        </p:cTn>
                                        <p:tgtEl>
                                          <p:spTgt spid="1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7" dur="1000" decel="50000" fill="hold">
                                          <p:stCondLst>
                                            <p:cond delay="0"/>
                                          </p:stCondLst>
                                        </p:cTn>
                                        <p:tgtEl>
                                          <p:spTgt spid="13"/>
                                        </p:tgtEl>
                                        <p:attrNameLst>
                                          <p:attrName>ppt_x</p:attrName>
                                          <p:attrName>ppt_y</p:attrName>
                                        </p:attrNameLst>
                                      </p:cBhvr>
                                    </p:animMotion>
                                    <p:animEffect transition="in" filter="fade">
                                      <p:cBhvr>
                                        <p:cTn id="38"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99" grpId="0"/>
      <p:bldP spid="11" grpId="0" animBg="1"/>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851274" y="1000116"/>
            <a:ext cx="5007006" cy="1143000"/>
          </a:xfrm>
          <a:prstGeom prst="rect">
            <a:avLst/>
          </a:prstGeom>
        </p:spPr>
        <p:txBody>
          <a:bodyPr rtlCol="0">
            <a:normAutofit/>
          </a:bodyPr>
          <a:lstStyle/>
          <a:p>
            <a:pPr eaLnBrk="1" fontAlgn="auto" hangingPunct="1">
              <a:spcAft>
                <a:spcPts val="0"/>
              </a:spcAft>
              <a:defRPr/>
            </a:pPr>
            <a:r>
              <a:rPr lang="zh-CN" altLang="en-US" sz="4400" dirty="0">
                <a:solidFill>
                  <a:schemeClr val="tx1">
                    <a:lumMod val="65000"/>
                    <a:lumOff val="35000"/>
                  </a:schemeClr>
                </a:solidFill>
                <a:latin typeface="Arial"/>
                <a:ea typeface="微软雅黑" panose="020B0503020204020204" pitchFamily="34" charset="-122"/>
                <a:cs typeface="Arial"/>
              </a:rPr>
              <a:t>学习</a:t>
            </a:r>
            <a:r>
              <a:rPr lang="zh-CN" altLang="en-US" sz="5300" dirty="0">
                <a:solidFill>
                  <a:srgbClr val="00C4F0"/>
                </a:solidFill>
                <a:ea typeface="微软雅黑" panose="020B0503020204020204" pitchFamily="34" charset="-122"/>
                <a:cs typeface="+mn-cs"/>
              </a:rPr>
              <a:t>方法</a:t>
            </a:r>
            <a:r>
              <a:rPr lang="en-US" altLang="zh-CN" dirty="0">
                <a:latin typeface="Arial"/>
                <a:ea typeface="微软雅黑" panose="020B0503020204020204" pitchFamily="34" charset="-122"/>
                <a:cs typeface="Arial"/>
              </a:rPr>
              <a:t>• </a:t>
            </a:r>
            <a:r>
              <a:rPr lang="en-US" altLang="zh-CN" sz="2800" dirty="0">
                <a:solidFill>
                  <a:srgbClr val="FFC000"/>
                </a:solidFill>
                <a:latin typeface="Tahoma" pitchFamily="34" charset="0"/>
                <a:ea typeface="微软简综艺" pitchFamily="49" charset="-122"/>
                <a:cs typeface="Tahoma" pitchFamily="34" charset="0"/>
              </a:rPr>
              <a:t>METHOD</a:t>
            </a:r>
            <a:endParaRPr lang="zh-CN" altLang="en-US" sz="1800" b="0" dirty="0">
              <a:solidFill>
                <a:srgbClr val="FFC000"/>
              </a:solidFill>
              <a:latin typeface="Tahoma" pitchFamily="34" charset="0"/>
              <a:ea typeface="微软简综艺" pitchFamily="49" charset="-122"/>
              <a:cs typeface="Tahoma" pitchFamily="34" charset="0"/>
            </a:endParaRPr>
          </a:p>
        </p:txBody>
      </p:sp>
      <p:sp>
        <p:nvSpPr>
          <p:cNvPr id="8" name="矩形 4"/>
          <p:cNvSpPr>
            <a:spLocks noChangeArrowheads="1"/>
          </p:cNvSpPr>
          <p:nvPr/>
        </p:nvSpPr>
        <p:spPr bwMode="auto">
          <a:xfrm>
            <a:off x="3851274" y="2574744"/>
            <a:ext cx="5113338" cy="1934376"/>
          </a:xfrm>
          <a:prstGeom prst="rect">
            <a:avLst/>
          </a:prstGeom>
          <a:noFill/>
          <a:ln w="9525">
            <a:noFill/>
            <a:miter lim="800000"/>
            <a:headEnd/>
            <a:tailEnd/>
          </a:ln>
        </p:spPr>
        <p:txBody>
          <a:bodyPr>
            <a:spAutoFit/>
          </a:bodyPr>
          <a:lstStyle/>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眼过千遍不如手过一遍！</a:t>
            </a:r>
            <a:endParaRPr lang="en-US" altLang="zh-CN" sz="2000" dirty="0">
              <a:solidFill>
                <a:schemeClr val="tx1">
                  <a:lumMod val="65000"/>
                  <a:lumOff val="35000"/>
                </a:schemeClr>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书看千行不如手敲一行！</a:t>
            </a: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手敲千行不如单步一行！</a:t>
            </a:r>
          </a:p>
          <a:p>
            <a:pPr marL="285750" indent="-285750">
              <a:lnSpc>
                <a:spcPct val="134000"/>
              </a:lnSpc>
              <a:spcBef>
                <a:spcPts val="400"/>
              </a:spcBef>
              <a:spcAft>
                <a:spcPts val="60"/>
              </a:spcAft>
              <a:buFont typeface="Arial" panose="020B0604020202020204" pitchFamily="34" charset="0"/>
              <a:buChar char="•"/>
            </a:pPr>
            <a:r>
              <a:rPr lang="zh-CN" altLang="en-US" sz="2000" dirty="0">
                <a:solidFill>
                  <a:srgbClr val="FF3255"/>
                </a:solidFill>
                <a:latin typeface="微软雅黑" pitchFamily="34" charset="-122"/>
                <a:ea typeface="微软雅黑" pitchFamily="34" charset="-122"/>
              </a:rPr>
              <a:t>单步源代码千行不如单步对应汇编一行！</a:t>
            </a:r>
          </a:p>
        </p:txBody>
      </p:sp>
      <p:pic>
        <p:nvPicPr>
          <p:cNvPr id="9" name="图片 8"/>
          <p:cNvPicPr>
            <a:picLocks noChangeAspect="1"/>
          </p:cNvPicPr>
          <p:nvPr/>
        </p:nvPicPr>
        <p:blipFill>
          <a:blip r:embed="rId3"/>
          <a:stretch>
            <a:fillRect/>
          </a:stretch>
        </p:blipFill>
        <p:spPr>
          <a:xfrm>
            <a:off x="755576" y="4869160"/>
            <a:ext cx="2771775" cy="933450"/>
          </a:xfrm>
          <a:prstGeom prst="rect">
            <a:avLst/>
          </a:prstGeom>
        </p:spPr>
      </p:pic>
    </p:spTree>
    <p:extLst>
      <p:ext uri="{BB962C8B-B14F-4D97-AF65-F5344CB8AC3E}">
        <p14:creationId xmlns:p14="http://schemas.microsoft.com/office/powerpoint/2010/main" val="4115939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par>
                          <p:cTn id="10" fill="hold">
                            <p:stCondLst>
                              <p:cond delay="2000"/>
                            </p:stCondLst>
                            <p:childTnLst>
                              <p:par>
                                <p:cTn id="11" presetID="47"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851274" y="1000116"/>
            <a:ext cx="5007006" cy="1143000"/>
          </a:xfrm>
          <a:prstGeom prst="rect">
            <a:avLst/>
          </a:prstGeom>
        </p:spPr>
        <p:txBody>
          <a:bodyPr rtlCol="0">
            <a:normAutofit/>
          </a:bodyPr>
          <a:lstStyle/>
          <a:p>
            <a:pPr eaLnBrk="1" fontAlgn="auto" hangingPunct="1">
              <a:spcAft>
                <a:spcPts val="0"/>
              </a:spcAft>
              <a:defRPr/>
            </a:pPr>
            <a:r>
              <a:rPr lang="zh-CN" altLang="en-US" sz="4400" dirty="0">
                <a:solidFill>
                  <a:schemeClr val="tx1">
                    <a:lumMod val="65000"/>
                    <a:lumOff val="35000"/>
                  </a:schemeClr>
                </a:solidFill>
                <a:latin typeface="Arial"/>
                <a:ea typeface="微软雅黑" panose="020B0503020204020204" pitchFamily="34" charset="-122"/>
                <a:cs typeface="Arial"/>
              </a:rPr>
              <a:t>考</a:t>
            </a:r>
            <a:r>
              <a:rPr lang="zh-CN" altLang="en-US" dirty="0">
                <a:solidFill>
                  <a:schemeClr val="tx1">
                    <a:lumMod val="65000"/>
                    <a:lumOff val="35000"/>
                  </a:schemeClr>
                </a:solidFill>
                <a:latin typeface="Arial"/>
                <a:ea typeface="微软雅黑" panose="020B0503020204020204" pitchFamily="34" charset="-122"/>
                <a:cs typeface="Arial"/>
              </a:rPr>
              <a:t>试</a:t>
            </a:r>
            <a:r>
              <a:rPr lang="zh-CN" altLang="en-US" sz="5300" dirty="0">
                <a:solidFill>
                  <a:srgbClr val="00C4F0"/>
                </a:solidFill>
                <a:ea typeface="微软雅黑" panose="020B0503020204020204" pitchFamily="34" charset="-122"/>
                <a:cs typeface="+mn-cs"/>
              </a:rPr>
              <a:t>方法</a:t>
            </a:r>
            <a:r>
              <a:rPr lang="en-US" altLang="zh-CN" dirty="0">
                <a:latin typeface="Arial"/>
                <a:ea typeface="微软雅黑" panose="020B0503020204020204" pitchFamily="34" charset="-122"/>
                <a:cs typeface="Arial"/>
              </a:rPr>
              <a:t>• </a:t>
            </a:r>
            <a:r>
              <a:rPr lang="en-US" altLang="zh-CN" sz="2800" b="0" dirty="0">
                <a:solidFill>
                  <a:srgbClr val="FFC000"/>
                </a:solidFill>
                <a:latin typeface="Tahoma" pitchFamily="34" charset="0"/>
                <a:ea typeface="微软简综艺" pitchFamily="49" charset="-122"/>
                <a:cs typeface="Tahoma" pitchFamily="34" charset="0"/>
              </a:rPr>
              <a:t>SCORE</a:t>
            </a:r>
            <a:endParaRPr lang="zh-CN" altLang="en-US" sz="1800" b="0" dirty="0">
              <a:solidFill>
                <a:srgbClr val="FFC000"/>
              </a:solidFill>
              <a:latin typeface="Tahoma" pitchFamily="34" charset="0"/>
              <a:ea typeface="微软简综艺" pitchFamily="49" charset="-122"/>
              <a:cs typeface="Tahoma" pitchFamily="34" charset="0"/>
            </a:endParaRPr>
          </a:p>
        </p:txBody>
      </p:sp>
      <p:sp>
        <p:nvSpPr>
          <p:cNvPr id="4099" name="矩形 4"/>
          <p:cNvSpPr>
            <a:spLocks noChangeArrowheads="1"/>
          </p:cNvSpPr>
          <p:nvPr/>
        </p:nvSpPr>
        <p:spPr bwMode="auto">
          <a:xfrm>
            <a:off x="3851275" y="2276872"/>
            <a:ext cx="5113338" cy="1457835"/>
          </a:xfrm>
          <a:prstGeom prst="rect">
            <a:avLst/>
          </a:prstGeom>
          <a:noFill/>
          <a:ln w="9525">
            <a:noFill/>
            <a:miter lim="800000"/>
            <a:headEnd/>
            <a:tailEnd/>
          </a:ln>
        </p:spPr>
        <p:txBody>
          <a:bodyPr>
            <a:spAutoFit/>
          </a:bodyPr>
          <a:lstStyle/>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平时成绩占</a:t>
            </a:r>
            <a:r>
              <a:rPr lang="en-US" altLang="zh-CN" sz="2000" dirty="0">
                <a:solidFill>
                  <a:srgbClr val="FF0000"/>
                </a:solidFill>
                <a:latin typeface="微软雅黑" pitchFamily="34" charset="-122"/>
                <a:ea typeface="微软雅黑" pitchFamily="34" charset="-122"/>
              </a:rPr>
              <a:t>10%</a:t>
            </a:r>
            <a:endParaRPr lang="zh-CN" altLang="en-US" sz="2000" dirty="0">
              <a:solidFill>
                <a:srgbClr val="FF0000"/>
              </a:solidFill>
              <a:latin typeface="微软雅黑" pitchFamily="34" charset="-122"/>
              <a:ea typeface="微软雅黑" pitchFamily="34" charset="-122"/>
            </a:endParaRPr>
          </a:p>
          <a:p>
            <a:pPr marL="285750" indent="-285750">
              <a:lnSpc>
                <a:spcPct val="134000"/>
              </a:lnSpc>
              <a:spcBef>
                <a:spcPts val="400"/>
              </a:spcBef>
              <a:spcAft>
                <a:spcPts val="60"/>
              </a:spcAft>
              <a:buFont typeface="Arial" panose="020B0604020202020204" pitchFamily="34" charset="0"/>
              <a:buChar char="•"/>
            </a:pPr>
            <a:r>
              <a:rPr lang="zh-CN" altLang="en-US" sz="2000" dirty="0">
                <a:solidFill>
                  <a:srgbClr val="FF0000"/>
                </a:solidFill>
                <a:latin typeface="微软雅黑" pitchFamily="34" charset="-122"/>
                <a:ea typeface="微软雅黑" pitchFamily="34" charset="-122"/>
              </a:rPr>
              <a:t>期中考试</a:t>
            </a:r>
            <a:r>
              <a:rPr lang="zh-CN" altLang="en-US" sz="2000" dirty="0">
                <a:solidFill>
                  <a:schemeClr val="tx1">
                    <a:lumMod val="65000"/>
                    <a:lumOff val="35000"/>
                  </a:schemeClr>
                </a:solidFill>
                <a:latin typeface="微软雅黑" pitchFamily="34" charset="-122"/>
                <a:ea typeface="微软雅黑" pitchFamily="34" charset="-122"/>
              </a:rPr>
              <a:t>占</a:t>
            </a:r>
            <a:r>
              <a:rPr lang="en-US" altLang="zh-CN" sz="2000" dirty="0">
                <a:solidFill>
                  <a:srgbClr val="FF0000"/>
                </a:solidFill>
                <a:latin typeface="微软雅黑" pitchFamily="34" charset="-122"/>
                <a:ea typeface="微软雅黑" pitchFamily="34" charset="-122"/>
              </a:rPr>
              <a:t>30%</a:t>
            </a:r>
            <a:r>
              <a:rPr lang="zh-CN" altLang="en-US" sz="2000" dirty="0">
                <a:solidFill>
                  <a:schemeClr val="tx1">
                    <a:lumMod val="65000"/>
                    <a:lumOff val="35000"/>
                  </a:schemeClr>
                </a:solidFill>
                <a:latin typeface="微软雅黑" pitchFamily="34" charset="-122"/>
                <a:ea typeface="微软雅黑" pitchFamily="34" charset="-122"/>
              </a:rPr>
              <a:t>：第一、第三、第四章</a:t>
            </a:r>
          </a:p>
          <a:p>
            <a:pPr marL="285750" indent="-285750">
              <a:lnSpc>
                <a:spcPct val="134000"/>
              </a:lnSpc>
              <a:spcBef>
                <a:spcPts val="400"/>
              </a:spcBef>
              <a:spcAft>
                <a:spcPts val="60"/>
              </a:spcAft>
              <a:buFont typeface="Arial" panose="020B0604020202020204" pitchFamily="34" charset="0"/>
              <a:buChar char="•"/>
            </a:pPr>
            <a:r>
              <a:rPr lang="zh-CN" altLang="en-US" sz="2000" dirty="0">
                <a:solidFill>
                  <a:schemeClr val="tx1">
                    <a:lumMod val="65000"/>
                    <a:lumOff val="35000"/>
                  </a:schemeClr>
                </a:solidFill>
                <a:latin typeface="微软雅黑" pitchFamily="34" charset="-122"/>
                <a:ea typeface="微软雅黑" pitchFamily="34" charset="-122"/>
              </a:rPr>
              <a:t>期末考试占</a:t>
            </a:r>
            <a:r>
              <a:rPr lang="en-US" altLang="zh-CN" sz="2000" dirty="0">
                <a:solidFill>
                  <a:srgbClr val="FF0000"/>
                </a:solidFill>
                <a:latin typeface="微软雅黑" pitchFamily="34" charset="-122"/>
                <a:ea typeface="微软雅黑" pitchFamily="34" charset="-122"/>
              </a:rPr>
              <a:t>60%</a:t>
            </a:r>
            <a:r>
              <a:rPr lang="zh-CN" altLang="en-US" sz="2000" dirty="0">
                <a:solidFill>
                  <a:schemeClr val="tx1">
                    <a:lumMod val="65000"/>
                    <a:lumOff val="35000"/>
                  </a:schemeClr>
                </a:solidFill>
                <a:latin typeface="微软雅黑" pitchFamily="34" charset="-122"/>
                <a:ea typeface="微软雅黑" pitchFamily="34" charset="-122"/>
              </a:rPr>
              <a:t>：第六、第七、第八章</a:t>
            </a:r>
            <a:endParaRPr lang="en-US" altLang="zh-CN" sz="2000" dirty="0">
              <a:solidFill>
                <a:srgbClr val="FF0000"/>
              </a:solidFill>
              <a:latin typeface="微软雅黑" pitchFamily="34" charset="-122"/>
              <a:ea typeface="微软雅黑" pitchFamily="34" charset="-122"/>
            </a:endParaRP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8285" y="2272680"/>
            <a:ext cx="2823736" cy="20952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Picture 6" descr="C:\Documents and Settings\tdz\桌面\新建文件夹\53871F49EAD0609A44C97CF165C41EE9.pn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83568" y="4878200"/>
            <a:ext cx="1625600" cy="1625600"/>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4"/>
          <p:cNvSpPr>
            <a:spLocks noChangeArrowheads="1"/>
          </p:cNvSpPr>
          <p:nvPr/>
        </p:nvSpPr>
        <p:spPr bwMode="auto">
          <a:xfrm>
            <a:off x="1928685" y="5605275"/>
            <a:ext cx="2525338" cy="553998"/>
          </a:xfrm>
          <a:prstGeom prst="rect">
            <a:avLst/>
          </a:prstGeom>
          <a:noFill/>
          <a:ln w="9525">
            <a:noFill/>
            <a:miter lim="800000"/>
            <a:headEnd/>
            <a:tailEnd/>
          </a:ln>
          <a:effectLst/>
        </p:spPr>
        <p:txBody>
          <a:bodyPr wrap="square">
            <a:spAutoFit/>
          </a:bodyPr>
          <a:lstStyle/>
          <a:p>
            <a:pPr>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教学相长，亦师亦友</a:t>
            </a:r>
          </a:p>
        </p:txBody>
      </p:sp>
      <p:cxnSp>
        <p:nvCxnSpPr>
          <p:cNvPr id="8" name="直接连接符 7"/>
          <p:cNvCxnSpPr/>
          <p:nvPr/>
        </p:nvCxnSpPr>
        <p:spPr>
          <a:xfrm>
            <a:off x="948615" y="6226390"/>
            <a:ext cx="3407361" cy="0"/>
          </a:xfrm>
          <a:prstGeom prst="line">
            <a:avLst/>
          </a:prstGeom>
          <a:noFill/>
          <a:ln w="9525" cap="flat" cmpd="sng" algn="ctr">
            <a:solidFill>
              <a:srgbClr val="F79646">
                <a:shade val="95000"/>
                <a:satMod val="105000"/>
              </a:srgbClr>
            </a:solidFill>
            <a:prstDash val="solid"/>
          </a:ln>
          <a:effectLst/>
        </p:spPr>
      </p:cxnSp>
      <p:cxnSp>
        <p:nvCxnSpPr>
          <p:cNvPr id="9" name="直接连接符 8"/>
          <p:cNvCxnSpPr/>
          <p:nvPr/>
        </p:nvCxnSpPr>
        <p:spPr>
          <a:xfrm>
            <a:off x="948615" y="6261665"/>
            <a:ext cx="3407361" cy="0"/>
          </a:xfrm>
          <a:prstGeom prst="line">
            <a:avLst/>
          </a:prstGeom>
          <a:noFill/>
          <a:ln w="9525" cap="flat" cmpd="sng" algn="ctr">
            <a:solidFill>
              <a:srgbClr val="F79646">
                <a:shade val="95000"/>
                <a:satMod val="105000"/>
              </a:srgbClr>
            </a:solidFill>
            <a:prstDash val="solid"/>
          </a:ln>
          <a:effectLst/>
        </p:spPr>
      </p:cxnSp>
    </p:spTree>
    <p:extLst>
      <p:ext uri="{BB962C8B-B14F-4D97-AF65-F5344CB8AC3E}">
        <p14:creationId xmlns:p14="http://schemas.microsoft.com/office/powerpoint/2010/main" val="3608964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par>
                          <p:cTn id="10" fill="hold">
                            <p:stCondLst>
                              <p:cond delay="2000"/>
                            </p:stCondLst>
                            <p:childTnLst>
                              <p:par>
                                <p:cTn id="11" presetID="47" presetClass="entr" presetSubtype="0" fill="hold" grpId="0" nodeType="afterEffect">
                                  <p:stCondLst>
                                    <p:cond delay="0"/>
                                  </p:stCondLst>
                                  <p:childTnLst>
                                    <p:set>
                                      <p:cBhvr>
                                        <p:cTn id="12" dur="1" fill="hold">
                                          <p:stCondLst>
                                            <p:cond delay="0"/>
                                          </p:stCondLst>
                                        </p:cTn>
                                        <p:tgtEl>
                                          <p:spTgt spid="4099"/>
                                        </p:tgtEl>
                                        <p:attrNameLst>
                                          <p:attrName>style.visibility</p:attrName>
                                        </p:attrNameLst>
                                      </p:cBhvr>
                                      <p:to>
                                        <p:strVal val="visible"/>
                                      </p:to>
                                    </p:set>
                                    <p:animEffect transition="in" filter="fade">
                                      <p:cBhvr>
                                        <p:cTn id="13" dur="1000"/>
                                        <p:tgtEl>
                                          <p:spTgt spid="4099"/>
                                        </p:tgtEl>
                                      </p:cBhvr>
                                    </p:animEffect>
                                    <p:anim calcmode="lin" valueType="num">
                                      <p:cBhvr>
                                        <p:cTn id="14" dur="1000" fill="hold"/>
                                        <p:tgtEl>
                                          <p:spTgt spid="4099"/>
                                        </p:tgtEl>
                                        <p:attrNameLst>
                                          <p:attrName>ppt_x</p:attrName>
                                        </p:attrNameLst>
                                      </p:cBhvr>
                                      <p:tavLst>
                                        <p:tav tm="0">
                                          <p:val>
                                            <p:strVal val="#ppt_x"/>
                                          </p:val>
                                        </p:tav>
                                        <p:tav tm="100000">
                                          <p:val>
                                            <p:strVal val="#ppt_x"/>
                                          </p:val>
                                        </p:tav>
                                      </p:tavLst>
                                    </p:anim>
                                    <p:anim calcmode="lin" valueType="num">
                                      <p:cBhvr>
                                        <p:cTn id="15" dur="1000" fill="hold"/>
                                        <p:tgtEl>
                                          <p:spTgt spid="4099"/>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1000"/>
                                        <p:tgtEl>
                                          <p:spTgt spid="3"/>
                                        </p:tgtEl>
                                      </p:cBhvr>
                                    </p:animEffect>
                                    <p:anim calcmode="lin" valueType="num">
                                      <p:cBhvr>
                                        <p:cTn id="19" dur="1000" fill="hold"/>
                                        <p:tgtEl>
                                          <p:spTgt spid="3"/>
                                        </p:tgtEl>
                                        <p:attrNameLst>
                                          <p:attrName>ppt_x</p:attrName>
                                        </p:attrNameLst>
                                      </p:cBhvr>
                                      <p:tavLst>
                                        <p:tav tm="0">
                                          <p:val>
                                            <p:strVal val="#ppt_x"/>
                                          </p:val>
                                        </p:tav>
                                        <p:tav tm="100000">
                                          <p:val>
                                            <p:strVal val="#ppt_x"/>
                                          </p:val>
                                        </p:tav>
                                      </p:tavLst>
                                    </p:anim>
                                    <p:anim calcmode="lin" valueType="num">
                                      <p:cBhvr>
                                        <p:cTn id="20" dur="1000" fill="hold"/>
                                        <p:tgtEl>
                                          <p:spTgt spid="3"/>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000"/>
                                        <p:tgtEl>
                                          <p:spTgt spid="6"/>
                                        </p:tgtEl>
                                      </p:cBhvr>
                                    </p:animEffect>
                                    <p:anim calcmode="lin" valueType="num">
                                      <p:cBhvr>
                                        <p:cTn id="24" dur="1000" fill="hold"/>
                                        <p:tgtEl>
                                          <p:spTgt spid="6"/>
                                        </p:tgtEl>
                                        <p:attrNameLst>
                                          <p:attrName>ppt_x</p:attrName>
                                        </p:attrNameLst>
                                      </p:cBhvr>
                                      <p:tavLst>
                                        <p:tav tm="0">
                                          <p:val>
                                            <p:strVal val="#ppt_x"/>
                                          </p:val>
                                        </p:tav>
                                        <p:tav tm="100000">
                                          <p:val>
                                            <p:strVal val="#ppt_x"/>
                                          </p:val>
                                        </p:tav>
                                      </p:tavLst>
                                    </p:anim>
                                    <p:anim calcmode="lin" valueType="num">
                                      <p:cBhvr>
                                        <p:cTn id="25" dur="1000" fill="hold"/>
                                        <p:tgtEl>
                                          <p:spTgt spid="6"/>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000"/>
                                        <p:tgtEl>
                                          <p:spTgt spid="8"/>
                                        </p:tgtEl>
                                      </p:cBhvr>
                                    </p:animEffect>
                                    <p:anim calcmode="lin" valueType="num">
                                      <p:cBhvr>
                                        <p:cTn id="34" dur="1000" fill="hold"/>
                                        <p:tgtEl>
                                          <p:spTgt spid="8"/>
                                        </p:tgtEl>
                                        <p:attrNameLst>
                                          <p:attrName>ppt_x</p:attrName>
                                        </p:attrNameLst>
                                      </p:cBhvr>
                                      <p:tavLst>
                                        <p:tav tm="0">
                                          <p:val>
                                            <p:strVal val="#ppt_x"/>
                                          </p:val>
                                        </p:tav>
                                        <p:tav tm="100000">
                                          <p:val>
                                            <p:strVal val="#ppt_x"/>
                                          </p:val>
                                        </p:tav>
                                      </p:tavLst>
                                    </p:anim>
                                    <p:anim calcmode="lin" valueType="num">
                                      <p:cBhvr>
                                        <p:cTn id="35" dur="1000" fill="hold"/>
                                        <p:tgtEl>
                                          <p:spTgt spid="8"/>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anim calcmode="lin" valueType="num">
                                      <p:cBhvr>
                                        <p:cTn id="39" dur="1000" fill="hold"/>
                                        <p:tgtEl>
                                          <p:spTgt spid="9"/>
                                        </p:tgtEl>
                                        <p:attrNameLst>
                                          <p:attrName>ppt_x</p:attrName>
                                        </p:attrNameLst>
                                      </p:cBhvr>
                                      <p:tavLst>
                                        <p:tav tm="0">
                                          <p:val>
                                            <p:strVal val="#ppt_x"/>
                                          </p:val>
                                        </p:tav>
                                        <p:tav tm="100000">
                                          <p:val>
                                            <p:strVal val="#ppt_x"/>
                                          </p:val>
                                        </p:tav>
                                      </p:tavLst>
                                    </p:anim>
                                    <p:anim calcmode="lin" valueType="num">
                                      <p:cBhvr>
                                        <p:cTn id="4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99"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
          <p:cNvSpPr txBox="1"/>
          <p:nvPr/>
        </p:nvSpPr>
        <p:spPr>
          <a:xfrm>
            <a:off x="4716239" y="2011784"/>
            <a:ext cx="2232025" cy="841375"/>
          </a:xfrm>
          <a:prstGeom prst="roundRect">
            <a:avLst>
              <a:gd name="adj" fmla="val 8176"/>
            </a:avLst>
          </a:prstGeom>
          <a:solidFill>
            <a:srgbClr val="5DCB08"/>
          </a:solidFill>
          <a:ln w="19050">
            <a:solidFill>
              <a:schemeClr val="bg1">
                <a:lumMod val="65000"/>
              </a:schemeClr>
            </a:solidFill>
          </a:ln>
        </p:spPr>
        <p:txBody>
          <a:bodyPr wrap="none" anchor="ctr"/>
          <a:lstStyle/>
          <a:p>
            <a:pPr algn="ctr">
              <a:defRPr/>
            </a:pPr>
            <a:r>
              <a:rPr lang="zh-CN" altLang="en-US" sz="2400" b="1" dirty="0">
                <a:solidFill>
                  <a:schemeClr val="bg1"/>
                </a:solidFill>
                <a:latin typeface="微软雅黑" pitchFamily="34" charset="-122"/>
                <a:ea typeface="微软雅黑" pitchFamily="34" charset="-122"/>
              </a:rPr>
              <a:t>基本</a:t>
            </a:r>
            <a:r>
              <a:rPr lang="zh-CN" altLang="en-US" sz="3200" b="1" kern="1200" dirty="0">
                <a:latin typeface="微软雅黑" pitchFamily="34" charset="-122"/>
                <a:ea typeface="微软雅黑" pitchFamily="34" charset="-122"/>
              </a:rPr>
              <a:t>概念</a:t>
            </a:r>
            <a:endParaRPr lang="zh-CN" altLang="en-US" sz="4800" b="1" dirty="0">
              <a:latin typeface="微软雅黑" pitchFamily="34" charset="-122"/>
              <a:ea typeface="微软雅黑" pitchFamily="34" charset="-122"/>
            </a:endParaRPr>
          </a:p>
        </p:txBody>
      </p:sp>
      <p:sp>
        <p:nvSpPr>
          <p:cNvPr id="3" name="椭圆 2"/>
          <p:cNvSpPr/>
          <p:nvPr/>
        </p:nvSpPr>
        <p:spPr>
          <a:xfrm>
            <a:off x="4403501" y="2119734"/>
            <a:ext cx="625475" cy="62547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Arial Unicode MS" pitchFamily="34" charset="-122"/>
                <a:ea typeface="Arial Unicode MS" pitchFamily="34" charset="-122"/>
                <a:cs typeface="Arial Unicode MS" pitchFamily="34" charset="-122"/>
              </a:rPr>
              <a:t>1</a:t>
            </a:r>
            <a:endParaRPr lang="zh-CN" altLang="en-US" sz="2800" b="1" dirty="0">
              <a:solidFill>
                <a:srgbClr val="FFC000"/>
              </a:solidFill>
              <a:latin typeface="Arial Unicode MS" pitchFamily="34" charset="-122"/>
              <a:ea typeface="Arial Unicode MS" pitchFamily="34" charset="-122"/>
              <a:cs typeface="Arial Unicode MS" pitchFamily="34" charset="-122"/>
            </a:endParaRPr>
          </a:p>
        </p:txBody>
      </p:sp>
      <p:sp>
        <p:nvSpPr>
          <p:cNvPr id="4" name="TextBox 9"/>
          <p:cNvSpPr txBox="1"/>
          <p:nvPr/>
        </p:nvSpPr>
        <p:spPr>
          <a:xfrm>
            <a:off x="4716239" y="3164309"/>
            <a:ext cx="2232025" cy="841375"/>
          </a:xfrm>
          <a:prstGeom prst="roundRect">
            <a:avLst>
              <a:gd name="adj" fmla="val 8176"/>
            </a:avLst>
          </a:prstGeom>
          <a:noFill/>
          <a:ln w="19050">
            <a:solidFill>
              <a:schemeClr val="bg1">
                <a:lumMod val="65000"/>
              </a:schemeClr>
            </a:solidFill>
          </a:ln>
        </p:spPr>
        <p:txBody>
          <a:bodyPr wrap="none" anchor="ctr"/>
          <a:lstStyle/>
          <a:p>
            <a:pPr algn="ctr">
              <a:defRPr/>
            </a:pPr>
            <a:r>
              <a:rPr lang="zh-CN" altLang="en-US" sz="2400" b="1" dirty="0">
                <a:solidFill>
                  <a:srgbClr val="A6A6A6"/>
                </a:solidFill>
                <a:latin typeface="微软雅黑" pitchFamily="34" charset="-122"/>
                <a:ea typeface="微软雅黑" pitchFamily="34" charset="-122"/>
              </a:rPr>
              <a:t>组成</a:t>
            </a:r>
            <a:r>
              <a:rPr lang="zh-CN" altLang="en-US" sz="3200" b="1" dirty="0">
                <a:solidFill>
                  <a:srgbClr val="00C4F0"/>
                </a:solidFill>
                <a:latin typeface="微软雅黑" pitchFamily="34" charset="-122"/>
                <a:ea typeface="微软雅黑" pitchFamily="34" charset="-122"/>
              </a:rPr>
              <a:t>结构</a:t>
            </a:r>
          </a:p>
        </p:txBody>
      </p:sp>
      <p:sp>
        <p:nvSpPr>
          <p:cNvPr id="5" name="椭圆 4"/>
          <p:cNvSpPr/>
          <p:nvPr/>
        </p:nvSpPr>
        <p:spPr>
          <a:xfrm>
            <a:off x="4403501" y="3272259"/>
            <a:ext cx="625475" cy="62547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Arial Unicode MS" pitchFamily="34" charset="-122"/>
                <a:ea typeface="Arial Unicode MS" pitchFamily="34" charset="-122"/>
                <a:cs typeface="Arial Unicode MS" pitchFamily="34" charset="-122"/>
              </a:rPr>
              <a:t>2</a:t>
            </a:r>
            <a:endParaRPr lang="zh-CN" altLang="en-US" sz="2800" b="1" dirty="0">
              <a:solidFill>
                <a:srgbClr val="FFC000"/>
              </a:solidFill>
              <a:latin typeface="Arial Unicode MS" pitchFamily="34" charset="-122"/>
              <a:ea typeface="Arial Unicode MS" pitchFamily="34" charset="-122"/>
              <a:cs typeface="Arial Unicode MS" pitchFamily="34" charset="-122"/>
            </a:endParaRPr>
          </a:p>
        </p:txBody>
      </p:sp>
      <p:sp>
        <p:nvSpPr>
          <p:cNvPr id="6" name="TextBox 11"/>
          <p:cNvSpPr txBox="1"/>
          <p:nvPr/>
        </p:nvSpPr>
        <p:spPr>
          <a:xfrm>
            <a:off x="4708301" y="4243809"/>
            <a:ext cx="2232025" cy="841375"/>
          </a:xfrm>
          <a:prstGeom prst="roundRect">
            <a:avLst>
              <a:gd name="adj" fmla="val 8176"/>
            </a:avLst>
          </a:prstGeom>
          <a:noFill/>
          <a:ln w="19050">
            <a:solidFill>
              <a:schemeClr val="bg1">
                <a:lumMod val="65000"/>
              </a:schemeClr>
            </a:solidFill>
          </a:ln>
        </p:spPr>
        <p:txBody>
          <a:bodyPr wrap="none" anchor="ctr"/>
          <a:lstStyle/>
          <a:p>
            <a:pPr algn="ctr">
              <a:defRPr/>
            </a:pPr>
            <a:r>
              <a:rPr lang="zh-CN" altLang="en-US" sz="2400" b="1" dirty="0">
                <a:solidFill>
                  <a:srgbClr val="A6A6A6"/>
                </a:solidFill>
                <a:latin typeface="微软雅黑" pitchFamily="34" charset="-122"/>
                <a:ea typeface="微软雅黑" pitchFamily="34" charset="-122"/>
              </a:rPr>
              <a:t>工作</a:t>
            </a:r>
            <a:r>
              <a:rPr lang="zh-CN" altLang="en-US" sz="3200" b="1" dirty="0">
                <a:solidFill>
                  <a:srgbClr val="00C4F0"/>
                </a:solidFill>
                <a:latin typeface="微软雅黑" pitchFamily="34" charset="-122"/>
                <a:ea typeface="微软雅黑" pitchFamily="34" charset="-122"/>
              </a:rPr>
              <a:t>过程</a:t>
            </a:r>
          </a:p>
        </p:txBody>
      </p:sp>
      <p:sp>
        <p:nvSpPr>
          <p:cNvPr id="7" name="椭圆 6"/>
          <p:cNvSpPr/>
          <p:nvPr/>
        </p:nvSpPr>
        <p:spPr>
          <a:xfrm>
            <a:off x="4395564" y="4351759"/>
            <a:ext cx="625475" cy="62547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Arial Unicode MS" pitchFamily="34" charset="-122"/>
                <a:ea typeface="Arial Unicode MS" pitchFamily="34" charset="-122"/>
                <a:cs typeface="Arial Unicode MS" pitchFamily="34" charset="-122"/>
              </a:rPr>
              <a:t>3</a:t>
            </a:r>
            <a:endParaRPr lang="zh-CN" altLang="en-US" sz="2800" b="1" dirty="0">
              <a:solidFill>
                <a:srgbClr val="FFC000"/>
              </a:solidFill>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52400581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fltVal val="0"/>
                                          </p:val>
                                        </p:tav>
                                        <p:tav tm="100000">
                                          <p:val>
                                            <p:strVal val="#ppt_h"/>
                                          </p:val>
                                        </p:tav>
                                      </p:tavLst>
                                    </p:anim>
                                    <p:animEffect transition="in" filter="fade">
                                      <p:cBhvr>
                                        <p:cTn id="3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10" name="TextBox 15"/>
          <p:cNvSpPr txBox="1"/>
          <p:nvPr/>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ctr"/>
              <a:t>13</a:t>
            </a:fld>
            <a:r>
              <a:rPr lang="zh-CN" altLang="en-US"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1" name="TextBox 10"/>
          <p:cNvSpPr txBox="1">
            <a:spLocks noChangeArrowheads="1"/>
          </p:cNvSpPr>
          <p:nvPr/>
        </p:nvSpPr>
        <p:spPr bwMode="auto">
          <a:xfrm>
            <a:off x="2643174" y="2500306"/>
            <a:ext cx="4105548" cy="11621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lnSpc>
                <a:spcPct val="114000"/>
              </a:lnSpc>
            </a:pPr>
            <a:r>
              <a:rPr lang="zh-CN" altLang="en-US" sz="6600" b="1" dirty="0">
                <a:solidFill>
                  <a:schemeClr val="tx1">
                    <a:lumMod val="65000"/>
                    <a:lumOff val="35000"/>
                  </a:schemeClr>
                </a:solidFill>
                <a:latin typeface="微软雅黑" pitchFamily="34" charset="-122"/>
                <a:ea typeface="微软雅黑" pitchFamily="34" charset="-122"/>
              </a:rPr>
              <a:t>基本</a:t>
            </a:r>
            <a:r>
              <a:rPr lang="zh-CN" altLang="en-US" sz="6600" b="1" dirty="0">
                <a:solidFill>
                  <a:srgbClr val="00C4F0"/>
                </a:solidFill>
                <a:latin typeface="微软雅黑" pitchFamily="34" charset="-122"/>
                <a:ea typeface="微软雅黑" pitchFamily="34" charset="-122"/>
              </a:rPr>
              <a:t>概念</a:t>
            </a:r>
          </a:p>
        </p:txBody>
      </p:sp>
      <p:sp>
        <p:nvSpPr>
          <p:cNvPr id="12" name="TextBox 15"/>
          <p:cNvSpPr txBox="1">
            <a:spLocks noChangeArrowheads="1"/>
          </p:cNvSpPr>
          <p:nvPr/>
        </p:nvSpPr>
        <p:spPr bwMode="auto">
          <a:xfrm>
            <a:off x="2966244" y="4118769"/>
            <a:ext cx="3177392" cy="1176387"/>
          </a:xfrm>
          <a:prstGeom prst="rect">
            <a:avLst/>
          </a:prstGeom>
          <a:noFill/>
          <a:ln w="9525">
            <a:noFill/>
            <a:miter lim="800000"/>
            <a:headEnd/>
            <a:tailEnd/>
          </a:ln>
        </p:spPr>
        <p:txBody>
          <a:bodyPr wrap="square" lIns="67730" tIns="33865" rIns="67730" bIns="33865">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indent="-285750" defTabSz="762000">
              <a:buFont typeface="Wingdings" pitchFamily="2" charset="2"/>
              <a:buChar char="u"/>
            </a:pPr>
            <a:r>
              <a:rPr lang="zh-CN" altLang="en-US" sz="2400" b="1" dirty="0">
                <a:solidFill>
                  <a:srgbClr val="FF3255"/>
                </a:solidFill>
                <a:latin typeface="微软雅黑" pitchFamily="34" charset="-122"/>
                <a:ea typeface="微软雅黑" pitchFamily="34" charset="-122"/>
              </a:rPr>
              <a:t> 微处理器</a:t>
            </a:r>
          </a:p>
          <a:p>
            <a:pPr defTabSz="762000">
              <a:buFont typeface="Wingdings" pitchFamily="2" charset="2"/>
              <a:buChar char="u"/>
            </a:pPr>
            <a:r>
              <a:rPr lang="zh-CN" altLang="en-US" sz="2400" b="1" dirty="0">
                <a:solidFill>
                  <a:srgbClr val="FF3255"/>
                </a:solidFill>
                <a:latin typeface="微软雅黑" pitchFamily="34" charset="-122"/>
                <a:ea typeface="微软雅黑" pitchFamily="34" charset="-122"/>
              </a:rPr>
              <a:t> 微型计算机</a:t>
            </a:r>
            <a:endParaRPr lang="en-US" altLang="zh-CN" sz="2400" b="1" dirty="0">
              <a:solidFill>
                <a:srgbClr val="FF3255"/>
              </a:solidFill>
              <a:latin typeface="微软雅黑" pitchFamily="34" charset="-122"/>
              <a:ea typeface="微软雅黑" pitchFamily="34" charset="-122"/>
            </a:endParaRPr>
          </a:p>
          <a:p>
            <a:pPr defTabSz="762000">
              <a:buFont typeface="Wingdings" pitchFamily="2" charset="2"/>
              <a:buChar char="u"/>
            </a:pPr>
            <a:r>
              <a:rPr lang="zh-CN" altLang="en-US" sz="2400" b="1" dirty="0">
                <a:solidFill>
                  <a:srgbClr val="FF3255"/>
                </a:solidFill>
                <a:latin typeface="微软雅黑" pitchFamily="34" charset="-122"/>
                <a:ea typeface="微软雅黑" pitchFamily="34" charset="-122"/>
              </a:rPr>
              <a:t> 微型计算机系统</a:t>
            </a:r>
          </a:p>
        </p:txBody>
      </p:sp>
      <p:sp>
        <p:nvSpPr>
          <p:cNvPr id="13" name="TextBox 2"/>
          <p:cNvSpPr txBox="1"/>
          <p:nvPr/>
        </p:nvSpPr>
        <p:spPr>
          <a:xfrm>
            <a:off x="1620044" y="1848644"/>
            <a:ext cx="1107996" cy="369332"/>
          </a:xfrm>
          <a:prstGeom prst="rect">
            <a:avLst/>
          </a:prstGeom>
          <a:solidFill>
            <a:sysClr val="window" lastClr="FFFFFF">
              <a:lumMod val="85000"/>
            </a:sysClr>
          </a:solidFill>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a:defRPr/>
            </a:pPr>
            <a:r>
              <a:rPr lang="zh-CN" altLang="en-US" dirty="0">
                <a:solidFill>
                  <a:schemeClr val="tx1">
                    <a:lumMod val="65000"/>
                    <a:lumOff val="35000"/>
                  </a:schemeClr>
                </a:solidFill>
                <a:latin typeface="微软雅黑" pitchFamily="34" charset="-122"/>
                <a:ea typeface="微软雅黑" pitchFamily="34" charset="-122"/>
              </a:rPr>
              <a:t>第一小节</a:t>
            </a:r>
          </a:p>
        </p:txBody>
      </p:sp>
      <p:cxnSp>
        <p:nvCxnSpPr>
          <p:cNvPr id="14" name="直接连接符 13"/>
          <p:cNvCxnSpPr/>
          <p:nvPr/>
        </p:nvCxnSpPr>
        <p:spPr>
          <a:xfrm>
            <a:off x="1404144" y="2207419"/>
            <a:ext cx="6264275" cy="1587"/>
          </a:xfrm>
          <a:prstGeom prst="line">
            <a:avLst/>
          </a:prstGeom>
          <a:noFill/>
          <a:ln w="9525" cap="flat" cmpd="sng" algn="ctr">
            <a:solidFill>
              <a:sysClr val="window" lastClr="FFFFFF">
                <a:lumMod val="85000"/>
              </a:sysClr>
            </a:solidFill>
            <a:prstDash val="solid"/>
          </a:ln>
          <a:effectLst/>
        </p:spPr>
      </p:cxnSp>
      <p:cxnSp>
        <p:nvCxnSpPr>
          <p:cNvPr id="15" name="直接连接符 14"/>
          <p:cNvCxnSpPr/>
          <p:nvPr/>
        </p:nvCxnSpPr>
        <p:spPr>
          <a:xfrm>
            <a:off x="1475582" y="3936206"/>
            <a:ext cx="6264275" cy="1588"/>
          </a:xfrm>
          <a:prstGeom prst="line">
            <a:avLst/>
          </a:prstGeom>
          <a:noFill/>
          <a:ln w="9525" cap="flat" cmpd="sng" algn="ctr">
            <a:solidFill>
              <a:sysClr val="window" lastClr="FFFFFF">
                <a:lumMod val="85000"/>
              </a:sysClr>
            </a:solidFill>
            <a:prstDash val="solid"/>
          </a:ln>
          <a:effectLst/>
        </p:spPr>
      </p:cxnSp>
    </p:spTree>
    <p:extLst>
      <p:ext uri="{BB962C8B-B14F-4D97-AF65-F5344CB8AC3E}">
        <p14:creationId xmlns:p14="http://schemas.microsoft.com/office/powerpoint/2010/main" val="164045241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Bottom)">
                                      <p:cBhvr>
                                        <p:cTn id="7" dur="500"/>
                                        <p:tgtEl>
                                          <p:spTgt spid="13"/>
                                        </p:tgtEl>
                                      </p:cBhvr>
                                    </p:animEffect>
                                  </p:childTnLst>
                                </p:cTn>
                              </p:par>
                              <p:par>
                                <p:cTn id="8" presetID="1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slide(fromBottom)">
                                      <p:cBhvr>
                                        <p:cTn id="10" dur="500"/>
                                        <p:tgtEl>
                                          <p:spTgt spid="14"/>
                                        </p:tgtEl>
                                      </p:cBhvr>
                                    </p:animEffect>
                                  </p:childTnLst>
                                </p:cTn>
                              </p:par>
                              <p:par>
                                <p:cTn id="11" presetID="12" presetClass="entr" presetSubtype="4"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slide(fromBottom)">
                                      <p:cBhvr>
                                        <p:cTn id="13" dur="500"/>
                                        <p:tgtEl>
                                          <p:spTgt spid="15"/>
                                        </p:tgtEl>
                                      </p:cBhvr>
                                    </p:animEffect>
                                  </p:childTnLst>
                                </p:cTn>
                              </p:par>
                              <p:par>
                                <p:cTn id="14" presetID="53"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1000" fill="hold"/>
                                        <p:tgtEl>
                                          <p:spTgt spid="11"/>
                                        </p:tgtEl>
                                        <p:attrNameLst>
                                          <p:attrName>ppt_w</p:attrName>
                                        </p:attrNameLst>
                                      </p:cBhvr>
                                      <p:tavLst>
                                        <p:tav tm="0">
                                          <p:val>
                                            <p:fltVal val="0"/>
                                          </p:val>
                                        </p:tav>
                                        <p:tav tm="100000">
                                          <p:val>
                                            <p:strVal val="#ppt_w"/>
                                          </p:val>
                                        </p:tav>
                                      </p:tavLst>
                                    </p:anim>
                                    <p:anim calcmode="lin" valueType="num">
                                      <p:cBhvr>
                                        <p:cTn id="17" dur="1000" fill="hold"/>
                                        <p:tgtEl>
                                          <p:spTgt spid="11"/>
                                        </p:tgtEl>
                                        <p:attrNameLst>
                                          <p:attrName>ppt_h</p:attrName>
                                        </p:attrNameLst>
                                      </p:cBhvr>
                                      <p:tavLst>
                                        <p:tav tm="0">
                                          <p:val>
                                            <p:fltVal val="0"/>
                                          </p:val>
                                        </p:tav>
                                        <p:tav tm="100000">
                                          <p:val>
                                            <p:strVal val="#ppt_h"/>
                                          </p:val>
                                        </p:tav>
                                      </p:tavLst>
                                    </p:anim>
                                    <p:animEffect transition="in" filter="fade">
                                      <p:cBhvr>
                                        <p:cTn id="18" dur="1000"/>
                                        <p:tgtEl>
                                          <p:spTgt spid="11"/>
                                        </p:tgtEl>
                                      </p:cBhvr>
                                    </p:animEffect>
                                  </p:childTnLst>
                                </p:cTn>
                              </p:par>
                            </p:childTnLst>
                          </p:cTn>
                        </p:par>
                        <p:par>
                          <p:cTn id="19" fill="hold">
                            <p:stCondLst>
                              <p:cond delay="1000"/>
                            </p:stCondLst>
                            <p:childTnLst>
                              <p:par>
                                <p:cTn id="20" presetID="22" presetClass="entr" presetSubtype="1"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up)">
                                      <p:cBhvr>
                                        <p:cTn id="2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直接连接符 74"/>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77" name="Rectangle 2"/>
          <p:cNvSpPr>
            <a:spLocks noChangeArrowheads="1"/>
          </p:cNvSpPr>
          <p:nvPr/>
        </p:nvSpPr>
        <p:spPr bwMode="auto">
          <a:xfrm>
            <a:off x="2465840" y="551748"/>
            <a:ext cx="4198695"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C4F0"/>
                </a:solidFill>
                <a:latin typeface="微软雅黑" pitchFamily="34" charset="-122"/>
                <a:ea typeface="微软雅黑" pitchFamily="34" charset="-122"/>
              </a:rPr>
              <a:t>微处理器</a:t>
            </a:r>
          </a:p>
        </p:txBody>
      </p:sp>
      <p:sp>
        <p:nvSpPr>
          <p:cNvPr id="10" name="矩形 4"/>
          <p:cNvSpPr>
            <a:spLocks noChangeArrowheads="1"/>
          </p:cNvSpPr>
          <p:nvPr/>
        </p:nvSpPr>
        <p:spPr bwMode="auto">
          <a:xfrm>
            <a:off x="758626" y="1653595"/>
            <a:ext cx="7528920" cy="1200329"/>
          </a:xfrm>
          <a:prstGeom prst="rect">
            <a:avLst/>
          </a:prstGeom>
          <a:noFill/>
          <a:ln w="9525">
            <a:noFill/>
            <a:miter lim="800000"/>
            <a:headEnd/>
            <a:tailEnd/>
          </a:ln>
        </p:spPr>
        <p:txBody>
          <a:bodyPr wrap="square">
            <a:spAutoFit/>
          </a:bodyPr>
          <a:lstStyle/>
          <a:p>
            <a:pPr>
              <a:lnSpc>
                <a:spcPct val="150000"/>
              </a:lnSpc>
              <a:spcBef>
                <a:spcPts val="200"/>
              </a:spcBef>
              <a:spcAft>
                <a:spcPts val="60"/>
              </a:spcAft>
            </a:pPr>
            <a:r>
              <a:rPr lang="zh-CN" altLang="en-US" sz="1900" b="1" dirty="0">
                <a:solidFill>
                  <a:schemeClr val="tx1">
                    <a:lumMod val="65000"/>
                    <a:lumOff val="35000"/>
                  </a:schemeClr>
                </a:solidFill>
                <a:latin typeface="微软雅黑" pitchFamily="34" charset="-122"/>
                <a:ea typeface="微软雅黑" pitchFamily="34" charset="-122"/>
              </a:rPr>
              <a:t>微处理器：指由一片或几片大规模集成电路组成的具有</a:t>
            </a:r>
            <a:r>
              <a:rPr lang="zh-CN" altLang="en-US" sz="2400" b="1" dirty="0">
                <a:solidFill>
                  <a:srgbClr val="FF0000"/>
                </a:solidFill>
                <a:latin typeface="微软雅黑" pitchFamily="34" charset="-122"/>
                <a:ea typeface="微软雅黑" pitchFamily="34" charset="-122"/>
              </a:rPr>
              <a:t>运算和控制器</a:t>
            </a:r>
            <a:r>
              <a:rPr lang="zh-CN" altLang="en-US" sz="1900" b="1" dirty="0">
                <a:solidFill>
                  <a:schemeClr val="tx1">
                    <a:lumMod val="65000"/>
                    <a:lumOff val="35000"/>
                  </a:schemeClr>
                </a:solidFill>
                <a:latin typeface="微软雅黑" pitchFamily="34" charset="-122"/>
                <a:ea typeface="微软雅黑" pitchFamily="34" charset="-122"/>
              </a:rPr>
              <a:t>功能的</a:t>
            </a:r>
            <a:r>
              <a:rPr lang="zh-CN" altLang="en-US" sz="1900" b="1" dirty="0">
                <a:solidFill>
                  <a:srgbClr val="FF0000"/>
                </a:solidFill>
                <a:latin typeface="微软雅黑" pitchFamily="34" charset="-122"/>
                <a:ea typeface="微软雅黑" pitchFamily="34" charset="-122"/>
              </a:rPr>
              <a:t>中央处理器部件</a:t>
            </a:r>
            <a:r>
              <a:rPr lang="zh-CN" altLang="en-US" sz="1900" b="1" dirty="0">
                <a:solidFill>
                  <a:schemeClr val="tx1">
                    <a:lumMod val="65000"/>
                    <a:lumOff val="35000"/>
                  </a:schemeClr>
                </a:solidFill>
                <a:latin typeface="微软雅黑" pitchFamily="34" charset="-122"/>
                <a:ea typeface="微软雅黑" pitchFamily="34" charset="-122"/>
              </a:rPr>
              <a:t>，在微型计算机中直接用</a:t>
            </a:r>
            <a:r>
              <a:rPr lang="en-US" altLang="zh-CN" sz="1900" b="1" dirty="0">
                <a:solidFill>
                  <a:schemeClr val="tx1">
                    <a:lumMod val="65000"/>
                    <a:lumOff val="35000"/>
                  </a:schemeClr>
                </a:solidFill>
                <a:latin typeface="微软雅黑" pitchFamily="34" charset="-122"/>
                <a:ea typeface="微软雅黑" pitchFamily="34" charset="-122"/>
              </a:rPr>
              <a:t>CPU</a:t>
            </a:r>
            <a:r>
              <a:rPr lang="zh-CN" altLang="en-US" sz="1900" b="1" dirty="0">
                <a:solidFill>
                  <a:schemeClr val="tx1">
                    <a:lumMod val="65000"/>
                    <a:lumOff val="35000"/>
                  </a:schemeClr>
                </a:solidFill>
                <a:latin typeface="微软雅黑" pitchFamily="34" charset="-122"/>
                <a:ea typeface="微软雅黑" pitchFamily="34" charset="-122"/>
              </a:rPr>
              <a:t>表示微处理器。 </a:t>
            </a: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1218" y="3615437"/>
            <a:ext cx="2209428" cy="1657071"/>
          </a:xfrm>
          <a:prstGeom prst="rect">
            <a:avLst/>
          </a:prstGeom>
        </p:spPr>
      </p:pic>
      <p:pic>
        <p:nvPicPr>
          <p:cNvPr id="12" name="图片 11" descr="http://img.hqbpc.com/pro/2011/06/07044250695277.jpg"/>
          <p:cNvPicPr/>
          <p:nvPr/>
        </p:nvPicPr>
        <p:blipFill>
          <a:blip r:embed="rId3">
            <a:extLst>
              <a:ext uri="{28A0092B-C50C-407E-A947-70E740481C1C}">
                <a14:useLocalDpi xmlns:a14="http://schemas.microsoft.com/office/drawing/2010/main" val="0"/>
              </a:ext>
            </a:extLst>
          </a:blip>
          <a:srcRect/>
          <a:stretch>
            <a:fillRect/>
          </a:stretch>
        </p:blipFill>
        <p:spPr bwMode="auto">
          <a:xfrm>
            <a:off x="5701691" y="3573016"/>
            <a:ext cx="2165543" cy="1699492"/>
          </a:xfrm>
          <a:prstGeom prst="rect">
            <a:avLst/>
          </a:prstGeom>
          <a:noFill/>
          <a:ln>
            <a:noFill/>
          </a:ln>
        </p:spPr>
      </p:pic>
      <p:pic>
        <p:nvPicPr>
          <p:cNvPr id="13" name="图片 12" descr="http://web.gxmu.edu.cn/zz/Article/UploadFiles/201105/20110506085227349.gif"/>
          <p:cNvPicPr/>
          <p:nvPr/>
        </p:nvPicPr>
        <p:blipFill>
          <a:blip r:embed="rId4">
            <a:extLst>
              <a:ext uri="{28A0092B-C50C-407E-A947-70E740481C1C}">
                <a14:useLocalDpi xmlns:a14="http://schemas.microsoft.com/office/drawing/2010/main" val="0"/>
              </a:ext>
            </a:extLst>
          </a:blip>
          <a:srcRect/>
          <a:stretch>
            <a:fillRect/>
          </a:stretch>
        </p:blipFill>
        <p:spPr bwMode="auto">
          <a:xfrm>
            <a:off x="1033741" y="3742302"/>
            <a:ext cx="1901820" cy="1360919"/>
          </a:xfrm>
          <a:prstGeom prst="rect">
            <a:avLst/>
          </a:prstGeom>
          <a:noFill/>
          <a:ln>
            <a:noFill/>
          </a:ln>
        </p:spPr>
      </p:pic>
    </p:spTree>
    <p:extLst>
      <p:ext uri="{BB962C8B-B14F-4D97-AF65-F5344CB8AC3E}">
        <p14:creationId xmlns:p14="http://schemas.microsoft.com/office/powerpoint/2010/main" val="175859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直接连接符 74"/>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77" name="Rectangle 2"/>
          <p:cNvSpPr>
            <a:spLocks noChangeArrowheads="1"/>
          </p:cNvSpPr>
          <p:nvPr/>
        </p:nvSpPr>
        <p:spPr bwMode="auto">
          <a:xfrm>
            <a:off x="2465840" y="551748"/>
            <a:ext cx="4198695"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C4F0"/>
                </a:solidFill>
                <a:latin typeface="微软雅黑" pitchFamily="34" charset="-122"/>
                <a:ea typeface="微软雅黑" pitchFamily="34" charset="-122"/>
              </a:rPr>
              <a:t>微型计算机</a:t>
            </a:r>
          </a:p>
        </p:txBody>
      </p:sp>
      <p:sp>
        <p:nvSpPr>
          <p:cNvPr id="10" name="矩形 4"/>
          <p:cNvSpPr>
            <a:spLocks noChangeArrowheads="1"/>
          </p:cNvSpPr>
          <p:nvPr/>
        </p:nvSpPr>
        <p:spPr bwMode="auto">
          <a:xfrm>
            <a:off x="902642" y="1528674"/>
            <a:ext cx="7528920" cy="1200329"/>
          </a:xfrm>
          <a:prstGeom prst="rect">
            <a:avLst/>
          </a:prstGeom>
          <a:noFill/>
          <a:ln w="9525">
            <a:noFill/>
            <a:miter lim="800000"/>
            <a:headEnd/>
            <a:tailEnd/>
          </a:ln>
        </p:spPr>
        <p:txBody>
          <a:bodyPr wrap="square">
            <a:spAutoFit/>
          </a:bodyPr>
          <a:lstStyle/>
          <a:p>
            <a:pPr>
              <a:lnSpc>
                <a:spcPct val="150000"/>
              </a:lnSpc>
              <a:spcBef>
                <a:spcPts val="200"/>
              </a:spcBef>
              <a:spcAft>
                <a:spcPts val="60"/>
              </a:spcAft>
            </a:pPr>
            <a:r>
              <a:rPr lang="zh-CN" altLang="en-US" sz="1900" b="1" dirty="0">
                <a:solidFill>
                  <a:schemeClr val="tx1">
                    <a:lumMod val="65000"/>
                    <a:lumOff val="35000"/>
                  </a:schemeClr>
                </a:solidFill>
                <a:latin typeface="微软雅黑" pitchFamily="34" charset="-122"/>
                <a:ea typeface="微软雅黑" pitchFamily="34" charset="-122"/>
              </a:rPr>
              <a:t>微型计算机：指以</a:t>
            </a:r>
            <a:r>
              <a:rPr lang="zh-CN" altLang="en-US" sz="2400" b="1" dirty="0">
                <a:solidFill>
                  <a:srgbClr val="FF0000"/>
                </a:solidFill>
                <a:latin typeface="微软雅黑" pitchFamily="34" charset="-122"/>
                <a:ea typeface="微软雅黑" pitchFamily="34" charset="-122"/>
              </a:rPr>
              <a:t>微处理器</a:t>
            </a:r>
            <a:r>
              <a:rPr lang="zh-CN" altLang="en-US" sz="1900" b="1" dirty="0">
                <a:solidFill>
                  <a:schemeClr val="tx1">
                    <a:lumMod val="65000"/>
                    <a:lumOff val="35000"/>
                  </a:schemeClr>
                </a:solidFill>
                <a:latin typeface="微软雅黑" pitchFamily="34" charset="-122"/>
                <a:ea typeface="微软雅黑" pitchFamily="34" charset="-122"/>
              </a:rPr>
              <a:t>为核心， 配上</a:t>
            </a:r>
            <a:r>
              <a:rPr lang="zh-CN" altLang="en-US" sz="2400" b="1" dirty="0">
                <a:solidFill>
                  <a:srgbClr val="FF0000"/>
                </a:solidFill>
                <a:latin typeface="微软雅黑" pitchFamily="34" charset="-122"/>
                <a:ea typeface="微软雅黑" pitchFamily="34" charset="-122"/>
              </a:rPr>
              <a:t>存储器</a:t>
            </a:r>
            <a:r>
              <a:rPr lang="zh-CN" altLang="en-US" sz="1900" b="1" dirty="0">
                <a:solidFill>
                  <a:schemeClr val="tx1">
                    <a:lumMod val="65000"/>
                    <a:lumOff val="35000"/>
                  </a:schemeClr>
                </a:solidFill>
                <a:latin typeface="微软雅黑" pitchFamily="34" charset="-122"/>
                <a:ea typeface="微软雅黑" pitchFamily="34" charset="-122"/>
              </a:rPr>
              <a:t>、</a:t>
            </a:r>
            <a:r>
              <a:rPr lang="zh-CN" altLang="en-US" sz="2400" b="1" dirty="0">
                <a:solidFill>
                  <a:srgbClr val="FF0000"/>
                </a:solidFill>
                <a:latin typeface="微软雅黑" pitchFamily="34" charset="-122"/>
                <a:ea typeface="微软雅黑" pitchFamily="34" charset="-122"/>
              </a:rPr>
              <a:t>输入／输出接口电路</a:t>
            </a:r>
            <a:r>
              <a:rPr lang="zh-CN" altLang="en-US" sz="1900" b="1" dirty="0">
                <a:solidFill>
                  <a:schemeClr val="tx1">
                    <a:lumMod val="65000"/>
                    <a:lumOff val="35000"/>
                  </a:schemeClr>
                </a:solidFill>
                <a:latin typeface="微软雅黑" pitchFamily="34" charset="-122"/>
                <a:ea typeface="微软雅黑" pitchFamily="34" charset="-122"/>
              </a:rPr>
              <a:t>及系统</a:t>
            </a:r>
            <a:r>
              <a:rPr lang="zh-CN" altLang="en-US" sz="2400" b="1" dirty="0">
                <a:solidFill>
                  <a:srgbClr val="FF0000"/>
                </a:solidFill>
                <a:latin typeface="微软雅黑" pitchFamily="34" charset="-122"/>
                <a:ea typeface="微软雅黑" pitchFamily="34" charset="-122"/>
              </a:rPr>
              <a:t>总线</a:t>
            </a:r>
            <a:r>
              <a:rPr lang="zh-CN" altLang="en-US" sz="1900" b="1" dirty="0">
                <a:solidFill>
                  <a:schemeClr val="tx1">
                    <a:lumMod val="65000"/>
                    <a:lumOff val="35000"/>
                  </a:schemeClr>
                </a:solidFill>
                <a:latin typeface="微软雅黑" pitchFamily="34" charset="-122"/>
                <a:ea typeface="微软雅黑" pitchFamily="34" charset="-122"/>
              </a:rPr>
              <a:t>所组成的计算机</a:t>
            </a:r>
            <a:r>
              <a:rPr lang="en-US" altLang="zh-CN" sz="1900" b="1" dirty="0">
                <a:solidFill>
                  <a:schemeClr val="tx1">
                    <a:lumMod val="65000"/>
                    <a:lumOff val="35000"/>
                  </a:schemeClr>
                </a:solidFill>
                <a:latin typeface="微软雅黑" pitchFamily="34" charset="-122"/>
                <a:ea typeface="微软雅黑" pitchFamily="34" charset="-122"/>
              </a:rPr>
              <a:t>(</a:t>
            </a:r>
            <a:r>
              <a:rPr lang="zh-CN" altLang="en-US" sz="1900" b="1" dirty="0">
                <a:solidFill>
                  <a:schemeClr val="tx1">
                    <a:lumMod val="65000"/>
                    <a:lumOff val="35000"/>
                  </a:schemeClr>
                </a:solidFill>
                <a:latin typeface="微软雅黑" pitchFamily="34" charset="-122"/>
                <a:ea typeface="微软雅黑" pitchFamily="34" charset="-122"/>
              </a:rPr>
              <a:t>又称主机或微电脑</a:t>
            </a:r>
            <a:r>
              <a:rPr lang="en-US" altLang="zh-CN" sz="1900" b="1" dirty="0">
                <a:solidFill>
                  <a:schemeClr val="tx1">
                    <a:lumMod val="65000"/>
                    <a:lumOff val="35000"/>
                  </a:schemeClr>
                </a:solidFill>
                <a:latin typeface="微软雅黑" pitchFamily="34" charset="-122"/>
                <a:ea typeface="微软雅黑" pitchFamily="34" charset="-122"/>
              </a:rPr>
              <a:t>)</a:t>
            </a:r>
            <a:r>
              <a:rPr lang="zh-CN" altLang="en-US" sz="1900" b="1" dirty="0">
                <a:solidFill>
                  <a:schemeClr val="tx1">
                    <a:lumMod val="65000"/>
                    <a:lumOff val="35000"/>
                  </a:schemeClr>
                </a:solidFill>
                <a:latin typeface="微软雅黑" pitchFamily="34" charset="-122"/>
                <a:ea typeface="微软雅黑" pitchFamily="34" charset="-122"/>
              </a:rPr>
              <a:t>。</a:t>
            </a:r>
          </a:p>
        </p:txBody>
      </p:sp>
      <p:pic>
        <p:nvPicPr>
          <p:cNvPr id="2" name="图片 1"/>
          <p:cNvPicPr>
            <a:picLocks noChangeAspect="1"/>
          </p:cNvPicPr>
          <p:nvPr/>
        </p:nvPicPr>
        <p:blipFill>
          <a:blip r:embed="rId3"/>
          <a:stretch>
            <a:fillRect/>
          </a:stretch>
        </p:blipFill>
        <p:spPr>
          <a:xfrm>
            <a:off x="1985393" y="3040794"/>
            <a:ext cx="5363418" cy="2750909"/>
          </a:xfrm>
          <a:prstGeom prst="rect">
            <a:avLst/>
          </a:prstGeom>
        </p:spPr>
      </p:pic>
      <p:pic>
        <p:nvPicPr>
          <p:cNvPr id="9" name="图片 8" descr="未标题-1.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476482" y="171750"/>
            <a:ext cx="1490425" cy="1346351"/>
          </a:xfrm>
          <a:prstGeom prst="rect">
            <a:avLst/>
          </a:prstGeom>
        </p:spPr>
      </p:pic>
      <p:sp>
        <p:nvSpPr>
          <p:cNvPr id="14" name="矩形 13"/>
          <p:cNvSpPr/>
          <p:nvPr/>
        </p:nvSpPr>
        <p:spPr>
          <a:xfrm>
            <a:off x="902642" y="6021288"/>
            <a:ext cx="6549678" cy="579646"/>
          </a:xfrm>
          <a:prstGeom prst="rect">
            <a:avLst/>
          </a:prstGeom>
          <a:noFill/>
        </p:spPr>
        <p:txBody>
          <a:bodyPr wrap="square" lIns="91440" tIns="45720" rIns="91440" bIns="45720">
            <a:spAutoFit/>
          </a:bodyPr>
          <a:lstStyle/>
          <a:p>
            <a:pPr>
              <a:lnSpc>
                <a:spcPts val="3800"/>
              </a:lnSpc>
            </a:pPr>
            <a:r>
              <a:rPr lang="zh-CN" altLang="en-US" sz="1300" b="1" dirty="0">
                <a:ln w="17780" cmpd="sng">
                  <a:noFill/>
                  <a:prstDash val="solid"/>
                  <a:miter lim="800000"/>
                </a:ln>
                <a:solidFill>
                  <a:srgbClr val="00B0F0"/>
                </a:solidFill>
                <a:latin typeface="微软雅黑" pitchFamily="34" charset="-122"/>
                <a:ea typeface="微软雅黑" pitchFamily="34" charset="-122"/>
              </a:rPr>
              <a:t>单片机：微处理器、存储器和输入／输出接口电路统一集成在单片芯片上，称单片机。 </a:t>
            </a:r>
          </a:p>
        </p:txBody>
      </p:sp>
      <p:sp>
        <p:nvSpPr>
          <p:cNvPr id="8" name="矩形 7"/>
          <p:cNvSpPr/>
          <p:nvPr/>
        </p:nvSpPr>
        <p:spPr>
          <a:xfrm>
            <a:off x="808720" y="1561838"/>
            <a:ext cx="7488832" cy="1167165"/>
          </a:xfrm>
          <a:prstGeom prst="rect">
            <a:avLst/>
          </a:prstGeom>
          <a:ln>
            <a:solidFill>
              <a:schemeClr val="accent6"/>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53526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1000" fill="hold"/>
                                        <p:tgtEl>
                                          <p:spTgt spid="9"/>
                                        </p:tgtEl>
                                        <p:attrNameLst>
                                          <p:attrName>ppt_w</p:attrName>
                                        </p:attrNameLst>
                                      </p:cBhvr>
                                      <p:tavLst>
                                        <p:tav tm="0">
                                          <p:val>
                                            <p:fltVal val="0"/>
                                          </p:val>
                                        </p:tav>
                                        <p:tav tm="100000">
                                          <p:val>
                                            <p:strVal val="#ppt_w"/>
                                          </p:val>
                                        </p:tav>
                                      </p:tavLst>
                                    </p:anim>
                                    <p:anim calcmode="lin" valueType="num">
                                      <p:cBhvr>
                                        <p:cTn id="14" dur="1000" fill="hold"/>
                                        <p:tgtEl>
                                          <p:spTgt spid="9"/>
                                        </p:tgtEl>
                                        <p:attrNameLst>
                                          <p:attrName>ppt_h</p:attrName>
                                        </p:attrNameLst>
                                      </p:cBhvr>
                                      <p:tavLst>
                                        <p:tav tm="0">
                                          <p:val>
                                            <p:fltVal val="0"/>
                                          </p:val>
                                        </p:tav>
                                        <p:tav tm="100000">
                                          <p:val>
                                            <p:strVal val="#ppt_h"/>
                                          </p:val>
                                        </p:tav>
                                      </p:tavLst>
                                    </p:anim>
                                    <p:animEffect transition="in" filter="fade">
                                      <p:cBhvr>
                                        <p:cTn id="15" dur="1000"/>
                                        <p:tgtEl>
                                          <p:spTgt spid="9"/>
                                        </p:tgtEl>
                                      </p:cBhvr>
                                    </p:animEffect>
                                  </p:childTnLst>
                                </p:cTn>
                              </p:par>
                              <p:par>
                                <p:cTn id="16" presetID="42"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1000"/>
                                        <p:tgtEl>
                                          <p:spTgt spid="14"/>
                                        </p:tgtEl>
                                      </p:cBhvr>
                                    </p:animEffect>
                                    <p:anim calcmode="lin" valueType="num">
                                      <p:cBhvr>
                                        <p:cTn id="19" dur="1000" fill="hold"/>
                                        <p:tgtEl>
                                          <p:spTgt spid="14"/>
                                        </p:tgtEl>
                                        <p:attrNameLst>
                                          <p:attrName>ppt_x</p:attrName>
                                        </p:attrNameLst>
                                      </p:cBhvr>
                                      <p:tavLst>
                                        <p:tav tm="0">
                                          <p:val>
                                            <p:strVal val="#ppt_x"/>
                                          </p:val>
                                        </p:tav>
                                        <p:tav tm="100000">
                                          <p:val>
                                            <p:strVal val="#ppt_x"/>
                                          </p:val>
                                        </p:tav>
                                      </p:tavLst>
                                    </p:anim>
                                    <p:anim calcmode="lin" valueType="num">
                                      <p:cBhvr>
                                        <p:cTn id="2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直接连接符 74"/>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77" name="Rectangle 2"/>
          <p:cNvSpPr>
            <a:spLocks noChangeArrowheads="1"/>
          </p:cNvSpPr>
          <p:nvPr/>
        </p:nvSpPr>
        <p:spPr bwMode="auto">
          <a:xfrm>
            <a:off x="2465840" y="551748"/>
            <a:ext cx="4198695"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r>
              <a:rPr lang="zh-CN" altLang="en-US" sz="3200" b="1" dirty="0">
                <a:solidFill>
                  <a:srgbClr val="00C4F0"/>
                </a:solidFill>
                <a:latin typeface="微软雅黑" pitchFamily="34" charset="-122"/>
                <a:ea typeface="微软雅黑" pitchFamily="34" charset="-122"/>
              </a:rPr>
              <a:t>微型计算机系统</a:t>
            </a:r>
          </a:p>
        </p:txBody>
      </p:sp>
      <p:sp>
        <p:nvSpPr>
          <p:cNvPr id="10" name="矩形 4"/>
          <p:cNvSpPr>
            <a:spLocks noChangeArrowheads="1"/>
          </p:cNvSpPr>
          <p:nvPr/>
        </p:nvSpPr>
        <p:spPr bwMode="auto">
          <a:xfrm>
            <a:off x="916488" y="2037590"/>
            <a:ext cx="2877270" cy="3070071"/>
          </a:xfrm>
          <a:prstGeom prst="rect">
            <a:avLst/>
          </a:prstGeom>
          <a:noFill/>
          <a:ln w="9525">
            <a:noFill/>
            <a:miter lim="800000"/>
            <a:headEnd/>
            <a:tailEnd/>
          </a:ln>
        </p:spPr>
        <p:txBody>
          <a:bodyPr wrap="square">
            <a:spAutoFit/>
          </a:bodyPr>
          <a:lstStyle/>
          <a:p>
            <a:pPr>
              <a:lnSpc>
                <a:spcPct val="150000"/>
              </a:lnSpc>
              <a:spcBef>
                <a:spcPts val="200"/>
              </a:spcBef>
              <a:spcAft>
                <a:spcPts val="60"/>
              </a:spcAft>
            </a:pPr>
            <a:r>
              <a:rPr lang="zh-CN" altLang="en-US" sz="1900" b="1" dirty="0">
                <a:solidFill>
                  <a:schemeClr val="tx1">
                    <a:lumMod val="65000"/>
                    <a:lumOff val="35000"/>
                  </a:schemeClr>
                </a:solidFill>
                <a:latin typeface="微软雅黑" pitchFamily="34" charset="-122"/>
                <a:ea typeface="微软雅黑" pitchFamily="34" charset="-122"/>
              </a:rPr>
              <a:t>微型计算机系统：指以微型计算机为中心</a:t>
            </a:r>
            <a:r>
              <a:rPr lang="en-US" altLang="zh-CN" sz="1900" b="1" dirty="0">
                <a:solidFill>
                  <a:schemeClr val="tx1">
                    <a:lumMod val="65000"/>
                    <a:lumOff val="35000"/>
                  </a:schemeClr>
                </a:solidFill>
                <a:latin typeface="微软雅黑" pitchFamily="34" charset="-122"/>
                <a:ea typeface="微软雅黑" pitchFamily="34" charset="-122"/>
              </a:rPr>
              <a:t>, </a:t>
            </a:r>
            <a:r>
              <a:rPr lang="zh-CN" altLang="en-US" sz="1900" b="1" dirty="0">
                <a:solidFill>
                  <a:schemeClr val="tx1">
                    <a:lumMod val="65000"/>
                    <a:lumOff val="35000"/>
                  </a:schemeClr>
                </a:solidFill>
                <a:latin typeface="微软雅黑" pitchFamily="34" charset="-122"/>
                <a:ea typeface="微软雅黑" pitchFamily="34" charset="-122"/>
              </a:rPr>
              <a:t>以相应的</a:t>
            </a:r>
            <a:r>
              <a:rPr lang="zh-CN" altLang="en-US" sz="2400" b="1" dirty="0">
                <a:solidFill>
                  <a:srgbClr val="FF0000"/>
                </a:solidFill>
                <a:latin typeface="微软雅黑" pitchFamily="34" charset="-122"/>
                <a:ea typeface="微软雅黑" pitchFamily="34" charset="-122"/>
              </a:rPr>
              <a:t>外围设备</a:t>
            </a:r>
            <a:r>
              <a:rPr lang="zh-CN" altLang="en-US" sz="1900" b="1" dirty="0">
                <a:solidFill>
                  <a:schemeClr val="tx1">
                    <a:lumMod val="65000"/>
                    <a:lumOff val="35000"/>
                  </a:schemeClr>
                </a:solidFill>
                <a:latin typeface="微软雅黑" pitchFamily="34" charset="-122"/>
                <a:ea typeface="微软雅黑" pitchFamily="34" charset="-122"/>
              </a:rPr>
              <a:t>、电源和辅助电路</a:t>
            </a:r>
            <a:r>
              <a:rPr lang="en-US" altLang="zh-CN" sz="1900" b="1" dirty="0">
                <a:solidFill>
                  <a:schemeClr val="tx1">
                    <a:lumMod val="65000"/>
                    <a:lumOff val="35000"/>
                  </a:schemeClr>
                </a:solidFill>
                <a:latin typeface="微软雅黑" pitchFamily="34" charset="-122"/>
                <a:ea typeface="微软雅黑" pitchFamily="34" charset="-122"/>
              </a:rPr>
              <a:t>(</a:t>
            </a:r>
            <a:r>
              <a:rPr lang="zh-CN" altLang="en-US" sz="1900" b="1" dirty="0">
                <a:solidFill>
                  <a:schemeClr val="tx1">
                    <a:lumMod val="65000"/>
                    <a:lumOff val="35000"/>
                  </a:schemeClr>
                </a:solidFill>
                <a:latin typeface="微软雅黑" pitchFamily="34" charset="-122"/>
                <a:ea typeface="微软雅黑" pitchFamily="34" charset="-122"/>
              </a:rPr>
              <a:t>统称硬件</a:t>
            </a:r>
            <a:r>
              <a:rPr lang="en-US" altLang="zh-CN" sz="1900" b="1" dirty="0">
                <a:solidFill>
                  <a:schemeClr val="tx1">
                    <a:lumMod val="65000"/>
                    <a:lumOff val="35000"/>
                  </a:schemeClr>
                </a:solidFill>
                <a:latin typeface="微软雅黑" pitchFamily="34" charset="-122"/>
                <a:ea typeface="微软雅黑" pitchFamily="34" charset="-122"/>
              </a:rPr>
              <a:t>) </a:t>
            </a:r>
            <a:r>
              <a:rPr lang="zh-CN" altLang="en-US" sz="1900" b="1" dirty="0">
                <a:solidFill>
                  <a:schemeClr val="tx1">
                    <a:lumMod val="65000"/>
                    <a:lumOff val="35000"/>
                  </a:schemeClr>
                </a:solidFill>
                <a:latin typeface="微软雅黑" pitchFamily="34" charset="-122"/>
                <a:ea typeface="微软雅黑" pitchFamily="34" charset="-122"/>
              </a:rPr>
              <a:t>以及指挥微型计算机工作的</a:t>
            </a:r>
            <a:r>
              <a:rPr lang="zh-CN" altLang="en-US" sz="2400" b="1" dirty="0">
                <a:solidFill>
                  <a:srgbClr val="FF0000"/>
                </a:solidFill>
                <a:latin typeface="微软雅黑" pitchFamily="34" charset="-122"/>
                <a:ea typeface="微软雅黑" pitchFamily="34" charset="-122"/>
              </a:rPr>
              <a:t>系统软件</a:t>
            </a:r>
            <a:r>
              <a:rPr lang="zh-CN" altLang="en-US" sz="1900" b="1" dirty="0">
                <a:solidFill>
                  <a:schemeClr val="tx1">
                    <a:lumMod val="65000"/>
                    <a:lumOff val="35000"/>
                  </a:schemeClr>
                </a:solidFill>
                <a:latin typeface="微软雅黑" pitchFamily="34" charset="-122"/>
                <a:ea typeface="微软雅黑" pitchFamily="34" charset="-122"/>
              </a:rPr>
              <a:t>所构成的系统。</a:t>
            </a:r>
          </a:p>
        </p:txBody>
      </p:sp>
      <p:sp>
        <p:nvSpPr>
          <p:cNvPr id="14" name="矩形 13"/>
          <p:cNvSpPr/>
          <p:nvPr/>
        </p:nvSpPr>
        <p:spPr>
          <a:xfrm>
            <a:off x="902642" y="6021288"/>
            <a:ext cx="6549678" cy="579646"/>
          </a:xfrm>
          <a:prstGeom prst="rect">
            <a:avLst/>
          </a:prstGeom>
          <a:noFill/>
        </p:spPr>
        <p:txBody>
          <a:bodyPr wrap="square" lIns="91440" tIns="45720" rIns="91440" bIns="45720">
            <a:spAutoFit/>
          </a:bodyPr>
          <a:lstStyle/>
          <a:p>
            <a:pPr>
              <a:lnSpc>
                <a:spcPts val="3800"/>
              </a:lnSpc>
            </a:pPr>
            <a:r>
              <a:rPr lang="zh-CN" altLang="en-US" sz="1300" b="1" dirty="0">
                <a:ln w="17780" cmpd="sng">
                  <a:noFill/>
                  <a:prstDash val="solid"/>
                  <a:miter lim="800000"/>
                </a:ln>
                <a:solidFill>
                  <a:srgbClr val="00B0F0"/>
                </a:solidFill>
                <a:latin typeface="微软雅黑" pitchFamily="34" charset="-122"/>
                <a:ea typeface="微软雅黑" pitchFamily="34" charset="-122"/>
              </a:rPr>
              <a:t>微型计算机系统：硬件系统和软件系统。</a:t>
            </a:r>
          </a:p>
        </p:txBody>
      </p:sp>
      <p:grpSp>
        <p:nvGrpSpPr>
          <p:cNvPr id="8" name="组合 7"/>
          <p:cNvGrpSpPr/>
          <p:nvPr/>
        </p:nvGrpSpPr>
        <p:grpSpPr>
          <a:xfrm>
            <a:off x="4342627" y="1529442"/>
            <a:ext cx="4315916" cy="4354173"/>
            <a:chOff x="1907704" y="548680"/>
            <a:chExt cx="5502523" cy="5502521"/>
          </a:xfrm>
        </p:grpSpPr>
        <p:grpSp>
          <p:nvGrpSpPr>
            <p:cNvPr id="11" name="组合 10"/>
            <p:cNvGrpSpPr/>
            <p:nvPr/>
          </p:nvGrpSpPr>
          <p:grpSpPr>
            <a:xfrm rot="16200000">
              <a:off x="1907705" y="548679"/>
              <a:ext cx="5502521" cy="5502523"/>
              <a:chOff x="6342063" y="2066925"/>
              <a:chExt cx="3217862" cy="3217863"/>
            </a:xfrm>
          </p:grpSpPr>
          <p:sp>
            <p:nvSpPr>
              <p:cNvPr id="19" name="Oval 12"/>
              <p:cNvSpPr>
                <a:spLocks noChangeArrowheads="1"/>
              </p:cNvSpPr>
              <p:nvPr/>
            </p:nvSpPr>
            <p:spPr bwMode="auto">
              <a:xfrm>
                <a:off x="6342063" y="2066925"/>
                <a:ext cx="3217862" cy="3217863"/>
              </a:xfrm>
              <a:prstGeom prst="ellipse">
                <a:avLst/>
              </a:prstGeom>
              <a:solidFill>
                <a:srgbClr val="AAD825"/>
              </a:solidFill>
              <a:ln>
                <a:noFill/>
              </a:ln>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dirty="0">
                  <a:ea typeface="微软雅黑" panose="020B0503020204020204" pitchFamily="34" charset="-122"/>
                </a:endParaRPr>
              </a:p>
            </p:txBody>
          </p:sp>
          <p:sp>
            <p:nvSpPr>
              <p:cNvPr id="20" name="Freeform 13"/>
              <p:cNvSpPr>
                <a:spLocks/>
              </p:cNvSpPr>
              <p:nvPr/>
            </p:nvSpPr>
            <p:spPr bwMode="auto">
              <a:xfrm>
                <a:off x="6457950" y="2135188"/>
                <a:ext cx="2374900" cy="3097213"/>
              </a:xfrm>
              <a:custGeom>
                <a:avLst/>
                <a:gdLst>
                  <a:gd name="T0" fmla="*/ 316 w 631"/>
                  <a:gd name="T1" fmla="*/ 26 h 823"/>
                  <a:gd name="T2" fmla="*/ 0 w 631"/>
                  <a:gd name="T3" fmla="*/ 410 h 823"/>
                  <a:gd name="T4" fmla="*/ 316 w 631"/>
                  <a:gd name="T5" fmla="*/ 793 h 823"/>
                  <a:gd name="T6" fmla="*/ 631 w 631"/>
                  <a:gd name="T7" fmla="*/ 410 h 823"/>
                  <a:gd name="T8" fmla="*/ 316 w 631"/>
                  <a:gd name="T9" fmla="*/ 26 h 823"/>
                </a:gdLst>
                <a:ahLst/>
                <a:cxnLst>
                  <a:cxn ang="0">
                    <a:pos x="T0" y="T1"/>
                  </a:cxn>
                  <a:cxn ang="0">
                    <a:pos x="T2" y="T3"/>
                  </a:cxn>
                  <a:cxn ang="0">
                    <a:pos x="T4" y="T5"/>
                  </a:cxn>
                  <a:cxn ang="0">
                    <a:pos x="T6" y="T7"/>
                  </a:cxn>
                  <a:cxn ang="0">
                    <a:pos x="T8" y="T9"/>
                  </a:cxn>
                </a:cxnLst>
                <a:rect l="0" t="0" r="r" b="b"/>
                <a:pathLst>
                  <a:path w="631" h="823">
                    <a:moveTo>
                      <a:pt x="316" y="26"/>
                    </a:moveTo>
                    <a:cubicBezTo>
                      <a:pt x="136" y="60"/>
                      <a:pt x="0" y="220"/>
                      <a:pt x="0" y="410"/>
                    </a:cubicBezTo>
                    <a:cubicBezTo>
                      <a:pt x="0" y="599"/>
                      <a:pt x="136" y="759"/>
                      <a:pt x="316" y="793"/>
                    </a:cubicBezTo>
                    <a:cubicBezTo>
                      <a:pt x="473" y="823"/>
                      <a:pt x="631" y="599"/>
                      <a:pt x="631" y="410"/>
                    </a:cubicBezTo>
                    <a:cubicBezTo>
                      <a:pt x="631" y="220"/>
                      <a:pt x="454" y="0"/>
                      <a:pt x="316" y="26"/>
                    </a:cubicBezTo>
                    <a:close/>
                  </a:path>
                </a:pathLst>
              </a:custGeom>
              <a:solidFill>
                <a:srgbClr val="FAE25E"/>
              </a:solidFill>
              <a:ln>
                <a:noFill/>
              </a:ln>
              <a:effectLst>
                <a:outerShdw blurRad="215900" sx="104000" sy="104000" algn="ctr" rotWithShape="0">
                  <a:prstClr val="black">
                    <a:alpha val="32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dirty="0">
                  <a:ea typeface="微软雅黑" panose="020B0503020204020204" pitchFamily="34" charset="-122"/>
                </a:endParaRPr>
              </a:p>
            </p:txBody>
          </p:sp>
          <p:sp>
            <p:nvSpPr>
              <p:cNvPr id="21" name="Freeform 14"/>
              <p:cNvSpPr>
                <a:spLocks/>
              </p:cNvSpPr>
              <p:nvPr/>
            </p:nvSpPr>
            <p:spPr bwMode="auto">
              <a:xfrm>
                <a:off x="6575426" y="2357438"/>
                <a:ext cx="1364237" cy="2652713"/>
              </a:xfrm>
              <a:custGeom>
                <a:avLst/>
                <a:gdLst>
                  <a:gd name="T0" fmla="*/ 217 w 435"/>
                  <a:gd name="T1" fmla="*/ 24 h 705"/>
                  <a:gd name="T2" fmla="*/ 0 w 435"/>
                  <a:gd name="T3" fmla="*/ 351 h 705"/>
                  <a:gd name="T4" fmla="*/ 217 w 435"/>
                  <a:gd name="T5" fmla="*/ 678 h 705"/>
                  <a:gd name="T6" fmla="*/ 435 w 435"/>
                  <a:gd name="T7" fmla="*/ 351 h 705"/>
                  <a:gd name="T8" fmla="*/ 217 w 435"/>
                  <a:gd name="T9" fmla="*/ 24 h 705"/>
                </a:gdLst>
                <a:ahLst/>
                <a:cxnLst>
                  <a:cxn ang="0">
                    <a:pos x="T0" y="T1"/>
                  </a:cxn>
                  <a:cxn ang="0">
                    <a:pos x="T2" y="T3"/>
                  </a:cxn>
                  <a:cxn ang="0">
                    <a:pos x="T4" y="T5"/>
                  </a:cxn>
                  <a:cxn ang="0">
                    <a:pos x="T6" y="T7"/>
                  </a:cxn>
                  <a:cxn ang="0">
                    <a:pos x="T8" y="T9"/>
                  </a:cxn>
                </a:cxnLst>
                <a:rect l="0" t="0" r="r" b="b"/>
                <a:pathLst>
                  <a:path w="435" h="705">
                    <a:moveTo>
                      <a:pt x="217" y="24"/>
                    </a:moveTo>
                    <a:cubicBezTo>
                      <a:pt x="89" y="75"/>
                      <a:pt x="0" y="204"/>
                      <a:pt x="0" y="351"/>
                    </a:cubicBezTo>
                    <a:cubicBezTo>
                      <a:pt x="0" y="498"/>
                      <a:pt x="88" y="628"/>
                      <a:pt x="217" y="678"/>
                    </a:cubicBezTo>
                    <a:cubicBezTo>
                      <a:pt x="288" y="705"/>
                      <a:pt x="435" y="498"/>
                      <a:pt x="435" y="351"/>
                    </a:cubicBezTo>
                    <a:cubicBezTo>
                      <a:pt x="435" y="204"/>
                      <a:pt x="278" y="0"/>
                      <a:pt x="217" y="24"/>
                    </a:cubicBezTo>
                    <a:close/>
                  </a:path>
                </a:pathLst>
              </a:custGeom>
              <a:solidFill>
                <a:srgbClr val="F58344"/>
              </a:solidFill>
              <a:ln>
                <a:noFill/>
              </a:ln>
              <a:effectLst>
                <a:outerShdw blurRad="215900" sx="104000" sy="104000" algn="ctr" rotWithShape="0">
                  <a:prstClr val="black">
                    <a:alpha val="32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dirty="0">
                  <a:ea typeface="微软雅黑" panose="020B0503020204020204" pitchFamily="34" charset="-122"/>
                </a:endParaRPr>
              </a:p>
            </p:txBody>
          </p:sp>
        </p:grpSp>
        <p:sp>
          <p:nvSpPr>
            <p:cNvPr id="12" name="文本框 11"/>
            <p:cNvSpPr txBox="1"/>
            <p:nvPr/>
          </p:nvSpPr>
          <p:spPr>
            <a:xfrm>
              <a:off x="3517086" y="887147"/>
              <a:ext cx="2524413" cy="505633"/>
            </a:xfrm>
            <a:prstGeom prst="rect">
              <a:avLst/>
            </a:prstGeom>
            <a:noFill/>
          </p:spPr>
          <p:txBody>
            <a:bodyPr wrap="none" rtlCol="0">
              <a:spAutoFit/>
            </a:bodyPr>
            <a:lstStyle/>
            <a:p>
              <a:r>
                <a:rPr lang="zh-CN" altLang="en-US" sz="2000" b="1" dirty="0">
                  <a:solidFill>
                    <a:schemeClr val="bg1"/>
                  </a:solidFill>
                  <a:ea typeface="微软雅黑" panose="020B0503020204020204" pitchFamily="34" charset="-122"/>
                </a:rPr>
                <a:t>微型计算机系统</a:t>
              </a:r>
            </a:p>
          </p:txBody>
        </p:sp>
        <p:sp>
          <p:nvSpPr>
            <p:cNvPr id="13" name="文本框 12"/>
            <p:cNvSpPr txBox="1"/>
            <p:nvPr/>
          </p:nvSpPr>
          <p:spPr>
            <a:xfrm>
              <a:off x="3978751" y="3688916"/>
              <a:ext cx="1543424" cy="505633"/>
            </a:xfrm>
            <a:prstGeom prst="rect">
              <a:avLst/>
            </a:prstGeom>
            <a:noFill/>
          </p:spPr>
          <p:txBody>
            <a:bodyPr wrap="none" rtlCol="0">
              <a:spAutoFit/>
            </a:bodyPr>
            <a:lstStyle/>
            <a:p>
              <a:r>
                <a:rPr lang="zh-CN" altLang="en-US" sz="2000" b="1" dirty="0">
                  <a:solidFill>
                    <a:schemeClr val="bg1"/>
                  </a:solidFill>
                  <a:ea typeface="微软雅黑" panose="020B0503020204020204" pitchFamily="34" charset="-122"/>
                </a:rPr>
                <a:t>微处理器</a:t>
              </a:r>
            </a:p>
          </p:txBody>
        </p:sp>
        <p:sp>
          <p:nvSpPr>
            <p:cNvPr id="15" name="文本框 14"/>
            <p:cNvSpPr txBox="1"/>
            <p:nvPr/>
          </p:nvSpPr>
          <p:spPr>
            <a:xfrm>
              <a:off x="3780903" y="2170141"/>
              <a:ext cx="1870420" cy="505633"/>
            </a:xfrm>
            <a:prstGeom prst="rect">
              <a:avLst/>
            </a:prstGeom>
            <a:noFill/>
          </p:spPr>
          <p:txBody>
            <a:bodyPr wrap="none" rtlCol="0">
              <a:spAutoFit/>
            </a:bodyPr>
            <a:lstStyle/>
            <a:p>
              <a:r>
                <a:rPr lang="zh-CN" altLang="en-US" sz="2000" b="1" dirty="0">
                  <a:solidFill>
                    <a:schemeClr val="tx1">
                      <a:lumMod val="65000"/>
                      <a:lumOff val="35000"/>
                    </a:schemeClr>
                  </a:solidFill>
                  <a:ea typeface="微软雅黑" panose="020B0503020204020204" pitchFamily="34" charset="-122"/>
                </a:rPr>
                <a:t>微型计算机</a:t>
              </a:r>
            </a:p>
          </p:txBody>
        </p:sp>
        <p:sp>
          <p:nvSpPr>
            <p:cNvPr id="16" name="文本框 15"/>
            <p:cNvSpPr txBox="1"/>
            <p:nvPr/>
          </p:nvSpPr>
          <p:spPr>
            <a:xfrm>
              <a:off x="3216427" y="4485734"/>
              <a:ext cx="3374604" cy="427843"/>
            </a:xfrm>
            <a:prstGeom prst="rect">
              <a:avLst/>
            </a:prstGeom>
            <a:noFill/>
          </p:spPr>
          <p:txBody>
            <a:bodyPr wrap="none" rtlCol="0">
              <a:spAutoFit/>
            </a:bodyPr>
            <a:lstStyle/>
            <a:p>
              <a:r>
                <a:rPr lang="zh-CN" altLang="en-US" sz="1600" b="1" dirty="0">
                  <a:solidFill>
                    <a:srgbClr val="7030A0"/>
                  </a:solidFill>
                  <a:ea typeface="微软雅黑" panose="020B0503020204020204" pitchFamily="34" charset="-122"/>
                </a:rPr>
                <a:t>运算器、控制器、寄存器组</a:t>
              </a:r>
            </a:p>
          </p:txBody>
        </p:sp>
        <p:sp>
          <p:nvSpPr>
            <p:cNvPr id="17" name="文本框 16"/>
            <p:cNvSpPr txBox="1"/>
            <p:nvPr/>
          </p:nvSpPr>
          <p:spPr>
            <a:xfrm>
              <a:off x="2917567" y="2786590"/>
              <a:ext cx="3897799" cy="427843"/>
            </a:xfrm>
            <a:prstGeom prst="rect">
              <a:avLst/>
            </a:prstGeom>
            <a:noFill/>
          </p:spPr>
          <p:txBody>
            <a:bodyPr wrap="none" rtlCol="0">
              <a:spAutoFit/>
            </a:bodyPr>
            <a:lstStyle/>
            <a:p>
              <a:r>
                <a:rPr lang="zh-CN" altLang="en-US" sz="1600" b="1" dirty="0">
                  <a:solidFill>
                    <a:srgbClr val="7030A0"/>
                  </a:solidFill>
                  <a:ea typeface="微软雅黑" panose="020B0503020204020204" pitchFamily="34" charset="-122"/>
                </a:rPr>
                <a:t>内存储器、输入输出接口、总线</a:t>
              </a:r>
            </a:p>
          </p:txBody>
        </p:sp>
        <p:sp>
          <p:nvSpPr>
            <p:cNvPr id="18" name="文本框 17"/>
            <p:cNvSpPr txBox="1"/>
            <p:nvPr/>
          </p:nvSpPr>
          <p:spPr>
            <a:xfrm>
              <a:off x="4024340" y="1291233"/>
              <a:ext cx="1543424" cy="427843"/>
            </a:xfrm>
            <a:prstGeom prst="rect">
              <a:avLst/>
            </a:prstGeom>
            <a:noFill/>
          </p:spPr>
          <p:txBody>
            <a:bodyPr wrap="none" rtlCol="0">
              <a:spAutoFit/>
            </a:bodyPr>
            <a:lstStyle/>
            <a:p>
              <a:r>
                <a:rPr lang="zh-CN" altLang="en-US" sz="1600" b="1" dirty="0">
                  <a:solidFill>
                    <a:srgbClr val="7030A0"/>
                  </a:solidFill>
                  <a:ea typeface="微软雅黑" panose="020B0503020204020204" pitchFamily="34" charset="-122"/>
                </a:rPr>
                <a:t>外设、软件</a:t>
              </a:r>
            </a:p>
          </p:txBody>
        </p:sp>
      </p:grpSp>
      <p:cxnSp>
        <p:nvCxnSpPr>
          <p:cNvPr id="22" name="直接连接符 21"/>
          <p:cNvCxnSpPr/>
          <p:nvPr/>
        </p:nvCxnSpPr>
        <p:spPr>
          <a:xfrm>
            <a:off x="4067944" y="1352882"/>
            <a:ext cx="0" cy="4530734"/>
          </a:xfrm>
          <a:prstGeom prst="line">
            <a:avLst/>
          </a:prstGeom>
          <a:noFill/>
          <a:ln w="9525" cap="flat" cmpd="sng">
            <a:solidFill>
              <a:srgbClr val="C00000"/>
            </a:solidFill>
            <a:prstDash val="dash"/>
            <a:round/>
            <a:headEnd type="oval" w="med" len="med"/>
            <a:tailEnd type="oval"/>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170854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
          <p:cNvSpPr txBox="1"/>
          <p:nvPr/>
        </p:nvSpPr>
        <p:spPr>
          <a:xfrm>
            <a:off x="4716239" y="2011784"/>
            <a:ext cx="2232025" cy="841375"/>
          </a:xfrm>
          <a:prstGeom prst="roundRect">
            <a:avLst>
              <a:gd name="adj" fmla="val 8176"/>
            </a:avLst>
          </a:prstGeom>
          <a:noFill/>
          <a:ln w="19050">
            <a:solidFill>
              <a:schemeClr val="bg1">
                <a:lumMod val="65000"/>
              </a:schemeClr>
            </a:solidFill>
          </a:ln>
        </p:spPr>
        <p:txBody>
          <a:bodyPr wrap="none" anchor="ctr"/>
          <a:lstStyle>
            <a:defPPr>
              <a:defRPr lang="en-US"/>
            </a:defPPr>
            <a:lvl1pPr algn="ctr">
              <a:defRPr sz="2400" b="1">
                <a:solidFill>
                  <a:srgbClr val="A6A6A6"/>
                </a:solidFill>
                <a:latin typeface="微软雅黑" pitchFamily="34" charset="-122"/>
                <a:ea typeface="微软雅黑" pitchFamily="34" charset="-122"/>
              </a:defRPr>
            </a:lvl1pPr>
          </a:lstStyle>
          <a:p>
            <a:pPr>
              <a:defRPr/>
            </a:pPr>
            <a:r>
              <a:rPr lang="zh-CN" altLang="en-US" dirty="0"/>
              <a:t>基本</a:t>
            </a:r>
            <a:r>
              <a:rPr lang="zh-CN" altLang="en-US" sz="3200" dirty="0">
                <a:solidFill>
                  <a:srgbClr val="00C4F0"/>
                </a:solidFill>
              </a:rPr>
              <a:t>概念</a:t>
            </a:r>
          </a:p>
        </p:txBody>
      </p:sp>
      <p:sp>
        <p:nvSpPr>
          <p:cNvPr id="3" name="椭圆 2"/>
          <p:cNvSpPr/>
          <p:nvPr/>
        </p:nvSpPr>
        <p:spPr>
          <a:xfrm>
            <a:off x="4403501" y="2119734"/>
            <a:ext cx="625475" cy="62547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Arial Unicode MS" pitchFamily="34" charset="-122"/>
                <a:ea typeface="Arial Unicode MS" pitchFamily="34" charset="-122"/>
                <a:cs typeface="Arial Unicode MS" pitchFamily="34" charset="-122"/>
              </a:rPr>
              <a:t>1</a:t>
            </a:r>
            <a:endParaRPr lang="zh-CN" altLang="en-US" sz="2800" b="1" dirty="0">
              <a:solidFill>
                <a:srgbClr val="FFC000"/>
              </a:solidFill>
              <a:latin typeface="Arial Unicode MS" pitchFamily="34" charset="-122"/>
              <a:ea typeface="Arial Unicode MS" pitchFamily="34" charset="-122"/>
              <a:cs typeface="Arial Unicode MS" pitchFamily="34" charset="-122"/>
            </a:endParaRPr>
          </a:p>
        </p:txBody>
      </p:sp>
      <p:sp>
        <p:nvSpPr>
          <p:cNvPr id="4" name="TextBox 9"/>
          <p:cNvSpPr txBox="1"/>
          <p:nvPr/>
        </p:nvSpPr>
        <p:spPr>
          <a:xfrm>
            <a:off x="4716239" y="3164309"/>
            <a:ext cx="2232025" cy="841375"/>
          </a:xfrm>
          <a:prstGeom prst="roundRect">
            <a:avLst>
              <a:gd name="adj" fmla="val 8176"/>
            </a:avLst>
          </a:prstGeom>
          <a:solidFill>
            <a:srgbClr val="5DCB08"/>
          </a:solidFill>
          <a:ln w="19050">
            <a:solidFill>
              <a:schemeClr val="bg1">
                <a:lumMod val="65000"/>
              </a:schemeClr>
            </a:solidFill>
          </a:ln>
        </p:spPr>
        <p:txBody>
          <a:bodyPr wrap="none" anchor="ctr"/>
          <a:lstStyle/>
          <a:p>
            <a:pPr algn="ctr">
              <a:defRPr/>
            </a:pPr>
            <a:r>
              <a:rPr lang="zh-CN" altLang="en-US" sz="2400" b="1" dirty="0">
                <a:solidFill>
                  <a:schemeClr val="bg1"/>
                </a:solidFill>
                <a:latin typeface="微软雅黑" pitchFamily="34" charset="-122"/>
                <a:ea typeface="微软雅黑" pitchFamily="34" charset="-122"/>
              </a:rPr>
              <a:t>组成</a:t>
            </a:r>
            <a:r>
              <a:rPr lang="zh-CN" altLang="en-US" sz="3200" b="1" dirty="0">
                <a:latin typeface="微软雅黑" pitchFamily="34" charset="-122"/>
                <a:ea typeface="微软雅黑" pitchFamily="34" charset="-122"/>
              </a:rPr>
              <a:t>结构</a:t>
            </a:r>
          </a:p>
        </p:txBody>
      </p:sp>
      <p:sp>
        <p:nvSpPr>
          <p:cNvPr id="5" name="椭圆 4"/>
          <p:cNvSpPr/>
          <p:nvPr/>
        </p:nvSpPr>
        <p:spPr>
          <a:xfrm>
            <a:off x="4403501" y="3272259"/>
            <a:ext cx="625475" cy="62547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Arial Unicode MS" pitchFamily="34" charset="-122"/>
                <a:ea typeface="Arial Unicode MS" pitchFamily="34" charset="-122"/>
                <a:cs typeface="Arial Unicode MS" pitchFamily="34" charset="-122"/>
              </a:rPr>
              <a:t>2</a:t>
            </a:r>
            <a:endParaRPr lang="zh-CN" altLang="en-US" sz="2800" b="1" dirty="0">
              <a:solidFill>
                <a:srgbClr val="FFC000"/>
              </a:solidFill>
              <a:latin typeface="Arial Unicode MS" pitchFamily="34" charset="-122"/>
              <a:ea typeface="Arial Unicode MS" pitchFamily="34" charset="-122"/>
              <a:cs typeface="Arial Unicode MS" pitchFamily="34" charset="-122"/>
            </a:endParaRPr>
          </a:p>
        </p:txBody>
      </p:sp>
      <p:sp>
        <p:nvSpPr>
          <p:cNvPr id="6" name="TextBox 11"/>
          <p:cNvSpPr txBox="1"/>
          <p:nvPr/>
        </p:nvSpPr>
        <p:spPr>
          <a:xfrm>
            <a:off x="4708301" y="4243809"/>
            <a:ext cx="2232025" cy="841375"/>
          </a:xfrm>
          <a:prstGeom prst="roundRect">
            <a:avLst>
              <a:gd name="adj" fmla="val 8176"/>
            </a:avLst>
          </a:prstGeom>
          <a:noFill/>
          <a:ln w="19050">
            <a:solidFill>
              <a:schemeClr val="bg1">
                <a:lumMod val="65000"/>
              </a:schemeClr>
            </a:solidFill>
          </a:ln>
        </p:spPr>
        <p:txBody>
          <a:bodyPr wrap="none" anchor="ctr"/>
          <a:lstStyle/>
          <a:p>
            <a:pPr algn="ctr">
              <a:defRPr/>
            </a:pPr>
            <a:r>
              <a:rPr lang="zh-CN" altLang="en-US" sz="2400" b="1" dirty="0">
                <a:solidFill>
                  <a:srgbClr val="A6A6A6"/>
                </a:solidFill>
                <a:latin typeface="微软雅黑" pitchFamily="34" charset="-122"/>
                <a:ea typeface="微软雅黑" pitchFamily="34" charset="-122"/>
              </a:rPr>
              <a:t>工作</a:t>
            </a:r>
            <a:r>
              <a:rPr lang="zh-CN" altLang="en-US" sz="3200" b="1" dirty="0">
                <a:solidFill>
                  <a:srgbClr val="00C4F0"/>
                </a:solidFill>
                <a:latin typeface="微软雅黑" pitchFamily="34" charset="-122"/>
                <a:ea typeface="微软雅黑" pitchFamily="34" charset="-122"/>
              </a:rPr>
              <a:t>过程</a:t>
            </a:r>
          </a:p>
        </p:txBody>
      </p:sp>
      <p:sp>
        <p:nvSpPr>
          <p:cNvPr id="7" name="椭圆 6"/>
          <p:cNvSpPr/>
          <p:nvPr/>
        </p:nvSpPr>
        <p:spPr>
          <a:xfrm>
            <a:off x="4395564" y="4351759"/>
            <a:ext cx="625475" cy="62547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Arial Unicode MS" pitchFamily="34" charset="-122"/>
                <a:ea typeface="Arial Unicode MS" pitchFamily="34" charset="-122"/>
                <a:cs typeface="Arial Unicode MS" pitchFamily="34" charset="-122"/>
              </a:rPr>
              <a:t>3</a:t>
            </a:r>
            <a:endParaRPr lang="zh-CN" altLang="en-US" sz="2800" b="1" dirty="0">
              <a:solidFill>
                <a:srgbClr val="FFC000"/>
              </a:solidFill>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279989675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fltVal val="0"/>
                                          </p:val>
                                        </p:tav>
                                        <p:tav tm="100000">
                                          <p:val>
                                            <p:strVal val="#ppt_h"/>
                                          </p:val>
                                        </p:tav>
                                      </p:tavLst>
                                    </p:anim>
                                    <p:animEffect transition="in" filter="fade">
                                      <p:cBhvr>
                                        <p:cTn id="3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10" name="TextBox 15"/>
          <p:cNvSpPr txBox="1"/>
          <p:nvPr/>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ctr"/>
              <a:t>18</a:t>
            </a:fld>
            <a:r>
              <a:rPr lang="zh-CN" altLang="en-US"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1" name="TextBox 10"/>
          <p:cNvSpPr txBox="1">
            <a:spLocks noChangeArrowheads="1"/>
          </p:cNvSpPr>
          <p:nvPr/>
        </p:nvSpPr>
        <p:spPr bwMode="auto">
          <a:xfrm>
            <a:off x="2643174" y="2500306"/>
            <a:ext cx="4105548" cy="11621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lnSpc>
                <a:spcPct val="114000"/>
              </a:lnSpc>
            </a:pPr>
            <a:r>
              <a:rPr lang="zh-CN" altLang="en-US" sz="6600" b="1" dirty="0">
                <a:solidFill>
                  <a:schemeClr val="tx1">
                    <a:lumMod val="65000"/>
                    <a:lumOff val="35000"/>
                  </a:schemeClr>
                </a:solidFill>
                <a:latin typeface="微软雅黑" pitchFamily="34" charset="-122"/>
                <a:ea typeface="微软雅黑" pitchFamily="34" charset="-122"/>
              </a:rPr>
              <a:t>组成</a:t>
            </a:r>
            <a:r>
              <a:rPr lang="zh-CN" altLang="en-US" sz="6600" b="1" dirty="0">
                <a:solidFill>
                  <a:srgbClr val="00C4F0"/>
                </a:solidFill>
                <a:latin typeface="微软雅黑" pitchFamily="34" charset="-122"/>
                <a:ea typeface="微软雅黑" pitchFamily="34" charset="-122"/>
              </a:rPr>
              <a:t>结构</a:t>
            </a:r>
          </a:p>
        </p:txBody>
      </p:sp>
      <p:sp>
        <p:nvSpPr>
          <p:cNvPr id="12" name="TextBox 15"/>
          <p:cNvSpPr txBox="1">
            <a:spLocks noChangeArrowheads="1"/>
          </p:cNvSpPr>
          <p:nvPr/>
        </p:nvSpPr>
        <p:spPr bwMode="auto">
          <a:xfrm>
            <a:off x="2966244" y="4118769"/>
            <a:ext cx="3177392" cy="1545719"/>
          </a:xfrm>
          <a:prstGeom prst="rect">
            <a:avLst/>
          </a:prstGeom>
          <a:noFill/>
          <a:ln w="9525">
            <a:noFill/>
            <a:miter lim="800000"/>
            <a:headEnd/>
            <a:tailEnd/>
          </a:ln>
        </p:spPr>
        <p:txBody>
          <a:bodyPr wrap="square" lIns="67730" tIns="33865" rIns="67730" bIns="33865">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indent="-285750" defTabSz="762000">
              <a:buFont typeface="Wingdings" pitchFamily="2" charset="2"/>
              <a:buChar char="u"/>
            </a:pPr>
            <a:r>
              <a:rPr lang="zh-CN" altLang="en-US" sz="2400" b="1" dirty="0">
                <a:solidFill>
                  <a:srgbClr val="FF3255"/>
                </a:solidFill>
                <a:latin typeface="微软雅黑" pitchFamily="34" charset="-122"/>
                <a:ea typeface="微软雅黑" pitchFamily="34" charset="-122"/>
              </a:rPr>
              <a:t> 微处理器</a:t>
            </a:r>
          </a:p>
          <a:p>
            <a:pPr defTabSz="762000">
              <a:buFont typeface="Wingdings" pitchFamily="2" charset="2"/>
              <a:buChar char="u"/>
            </a:pPr>
            <a:r>
              <a:rPr lang="zh-CN" altLang="en-US" sz="2400" b="1" dirty="0">
                <a:solidFill>
                  <a:srgbClr val="FF3255"/>
                </a:solidFill>
                <a:latin typeface="微软雅黑" pitchFamily="34" charset="-122"/>
                <a:ea typeface="微软雅黑" pitchFamily="34" charset="-122"/>
              </a:rPr>
              <a:t> 系统总线</a:t>
            </a:r>
            <a:endParaRPr lang="en-US" altLang="zh-CN" sz="2400" b="1" dirty="0">
              <a:solidFill>
                <a:srgbClr val="FF3255"/>
              </a:solidFill>
              <a:latin typeface="微软雅黑" pitchFamily="34" charset="-122"/>
              <a:ea typeface="微软雅黑" pitchFamily="34" charset="-122"/>
            </a:endParaRPr>
          </a:p>
          <a:p>
            <a:pPr defTabSz="762000">
              <a:buFont typeface="Wingdings" pitchFamily="2" charset="2"/>
              <a:buChar char="u"/>
            </a:pPr>
            <a:r>
              <a:rPr lang="zh-CN" altLang="en-US" sz="2400" b="1" dirty="0">
                <a:solidFill>
                  <a:srgbClr val="FF3255"/>
                </a:solidFill>
                <a:latin typeface="微软雅黑" pitchFamily="34" charset="-122"/>
                <a:ea typeface="微软雅黑" pitchFamily="34" charset="-122"/>
              </a:rPr>
              <a:t> 内存储器</a:t>
            </a:r>
            <a:endParaRPr lang="en-US" altLang="zh-CN" sz="2400" b="1" dirty="0">
              <a:solidFill>
                <a:srgbClr val="FF3255"/>
              </a:solidFill>
              <a:latin typeface="微软雅黑" pitchFamily="34" charset="-122"/>
              <a:ea typeface="微软雅黑" pitchFamily="34" charset="-122"/>
            </a:endParaRPr>
          </a:p>
          <a:p>
            <a:pPr defTabSz="762000">
              <a:buFont typeface="Wingdings" pitchFamily="2" charset="2"/>
              <a:buChar char="u"/>
            </a:pPr>
            <a:r>
              <a:rPr lang="en-US" altLang="zh-CN" sz="2400" b="1" dirty="0">
                <a:solidFill>
                  <a:srgbClr val="FF3255"/>
                </a:solidFill>
                <a:latin typeface="微软雅黑" pitchFamily="34" charset="-122"/>
                <a:ea typeface="微软雅黑" pitchFamily="34" charset="-122"/>
              </a:rPr>
              <a:t> I/O</a:t>
            </a:r>
            <a:r>
              <a:rPr lang="zh-CN" altLang="en-US" sz="2400" b="1" dirty="0">
                <a:solidFill>
                  <a:srgbClr val="FF3255"/>
                </a:solidFill>
                <a:latin typeface="微软雅黑" pitchFamily="34" charset="-122"/>
                <a:ea typeface="微软雅黑" pitchFamily="34" charset="-122"/>
              </a:rPr>
              <a:t>接口</a:t>
            </a:r>
          </a:p>
        </p:txBody>
      </p:sp>
      <p:sp>
        <p:nvSpPr>
          <p:cNvPr id="13" name="TextBox 2"/>
          <p:cNvSpPr txBox="1"/>
          <p:nvPr/>
        </p:nvSpPr>
        <p:spPr>
          <a:xfrm>
            <a:off x="1620044" y="1848644"/>
            <a:ext cx="1107996" cy="369332"/>
          </a:xfrm>
          <a:prstGeom prst="rect">
            <a:avLst/>
          </a:prstGeom>
          <a:solidFill>
            <a:sysClr val="window" lastClr="FFFFFF">
              <a:lumMod val="85000"/>
            </a:sysClr>
          </a:solidFill>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a:defRPr/>
            </a:pPr>
            <a:r>
              <a:rPr lang="zh-CN" altLang="en-US" dirty="0">
                <a:solidFill>
                  <a:schemeClr val="tx1">
                    <a:lumMod val="65000"/>
                    <a:lumOff val="35000"/>
                  </a:schemeClr>
                </a:solidFill>
                <a:latin typeface="微软雅黑" pitchFamily="34" charset="-122"/>
                <a:ea typeface="微软雅黑" pitchFamily="34" charset="-122"/>
              </a:rPr>
              <a:t>第二小节</a:t>
            </a:r>
          </a:p>
        </p:txBody>
      </p:sp>
      <p:cxnSp>
        <p:nvCxnSpPr>
          <p:cNvPr id="14" name="直接连接符 13"/>
          <p:cNvCxnSpPr/>
          <p:nvPr/>
        </p:nvCxnSpPr>
        <p:spPr>
          <a:xfrm>
            <a:off x="1404144" y="2207419"/>
            <a:ext cx="6264275" cy="1587"/>
          </a:xfrm>
          <a:prstGeom prst="line">
            <a:avLst/>
          </a:prstGeom>
          <a:noFill/>
          <a:ln w="9525" cap="flat" cmpd="sng" algn="ctr">
            <a:solidFill>
              <a:sysClr val="window" lastClr="FFFFFF">
                <a:lumMod val="85000"/>
              </a:sysClr>
            </a:solidFill>
            <a:prstDash val="solid"/>
          </a:ln>
          <a:effectLst/>
        </p:spPr>
      </p:cxnSp>
      <p:cxnSp>
        <p:nvCxnSpPr>
          <p:cNvPr id="15" name="直接连接符 14"/>
          <p:cNvCxnSpPr/>
          <p:nvPr/>
        </p:nvCxnSpPr>
        <p:spPr>
          <a:xfrm>
            <a:off x="1475582" y="3936206"/>
            <a:ext cx="6264275" cy="1588"/>
          </a:xfrm>
          <a:prstGeom prst="line">
            <a:avLst/>
          </a:prstGeom>
          <a:noFill/>
          <a:ln w="9525" cap="flat" cmpd="sng" algn="ctr">
            <a:solidFill>
              <a:sysClr val="window" lastClr="FFFFFF">
                <a:lumMod val="85000"/>
              </a:sysClr>
            </a:solidFill>
            <a:prstDash val="solid"/>
          </a:ln>
          <a:effectLst/>
        </p:spPr>
      </p:cxnSp>
    </p:spTree>
    <p:extLst>
      <p:ext uri="{BB962C8B-B14F-4D97-AF65-F5344CB8AC3E}">
        <p14:creationId xmlns:p14="http://schemas.microsoft.com/office/powerpoint/2010/main" val="2119744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Bottom)">
                                      <p:cBhvr>
                                        <p:cTn id="7" dur="500"/>
                                        <p:tgtEl>
                                          <p:spTgt spid="13"/>
                                        </p:tgtEl>
                                      </p:cBhvr>
                                    </p:animEffect>
                                  </p:childTnLst>
                                </p:cTn>
                              </p:par>
                              <p:par>
                                <p:cTn id="8" presetID="1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slide(fromBottom)">
                                      <p:cBhvr>
                                        <p:cTn id="10" dur="500"/>
                                        <p:tgtEl>
                                          <p:spTgt spid="14"/>
                                        </p:tgtEl>
                                      </p:cBhvr>
                                    </p:animEffect>
                                  </p:childTnLst>
                                </p:cTn>
                              </p:par>
                              <p:par>
                                <p:cTn id="11" presetID="12" presetClass="entr" presetSubtype="4"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slide(fromBottom)">
                                      <p:cBhvr>
                                        <p:cTn id="13" dur="500"/>
                                        <p:tgtEl>
                                          <p:spTgt spid="15"/>
                                        </p:tgtEl>
                                      </p:cBhvr>
                                    </p:animEffect>
                                  </p:childTnLst>
                                </p:cTn>
                              </p:par>
                              <p:par>
                                <p:cTn id="14" presetID="53"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1000" fill="hold"/>
                                        <p:tgtEl>
                                          <p:spTgt spid="11"/>
                                        </p:tgtEl>
                                        <p:attrNameLst>
                                          <p:attrName>ppt_w</p:attrName>
                                        </p:attrNameLst>
                                      </p:cBhvr>
                                      <p:tavLst>
                                        <p:tav tm="0">
                                          <p:val>
                                            <p:fltVal val="0"/>
                                          </p:val>
                                        </p:tav>
                                        <p:tav tm="100000">
                                          <p:val>
                                            <p:strVal val="#ppt_w"/>
                                          </p:val>
                                        </p:tav>
                                      </p:tavLst>
                                    </p:anim>
                                    <p:anim calcmode="lin" valueType="num">
                                      <p:cBhvr>
                                        <p:cTn id="17" dur="1000" fill="hold"/>
                                        <p:tgtEl>
                                          <p:spTgt spid="11"/>
                                        </p:tgtEl>
                                        <p:attrNameLst>
                                          <p:attrName>ppt_h</p:attrName>
                                        </p:attrNameLst>
                                      </p:cBhvr>
                                      <p:tavLst>
                                        <p:tav tm="0">
                                          <p:val>
                                            <p:fltVal val="0"/>
                                          </p:val>
                                        </p:tav>
                                        <p:tav tm="100000">
                                          <p:val>
                                            <p:strVal val="#ppt_h"/>
                                          </p:val>
                                        </p:tav>
                                      </p:tavLst>
                                    </p:anim>
                                    <p:animEffect transition="in" filter="fade">
                                      <p:cBhvr>
                                        <p:cTn id="18" dur="1000"/>
                                        <p:tgtEl>
                                          <p:spTgt spid="11"/>
                                        </p:tgtEl>
                                      </p:cBhvr>
                                    </p:animEffect>
                                  </p:childTnLst>
                                </p:cTn>
                              </p:par>
                            </p:childTnLst>
                          </p:cTn>
                        </p:par>
                        <p:par>
                          <p:cTn id="19" fill="hold">
                            <p:stCondLst>
                              <p:cond delay="1000"/>
                            </p:stCondLst>
                            <p:childTnLst>
                              <p:par>
                                <p:cTn id="20" presetID="22" presetClass="entr" presetSubtype="1"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up)">
                                      <p:cBhvr>
                                        <p:cTn id="2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直接连接符 74"/>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77" name="Rectangle 2"/>
          <p:cNvSpPr>
            <a:spLocks noChangeArrowheads="1"/>
          </p:cNvSpPr>
          <p:nvPr/>
        </p:nvSpPr>
        <p:spPr bwMode="auto">
          <a:xfrm>
            <a:off x="3491880" y="503204"/>
            <a:ext cx="2160240"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微处理器</a:t>
            </a:r>
            <a:endParaRPr lang="zh-CN" altLang="en-US" sz="3200" b="1" dirty="0">
              <a:solidFill>
                <a:prstClr val="white">
                  <a:lumMod val="65000"/>
                </a:prstClr>
              </a:solidFill>
              <a:latin typeface="Arial"/>
              <a:ea typeface="微软雅黑" pitchFamily="34" charset="-122"/>
              <a:cs typeface="Arial"/>
            </a:endParaRPr>
          </a:p>
        </p:txBody>
      </p:sp>
      <p:graphicFrame>
        <p:nvGraphicFramePr>
          <p:cNvPr id="23" name="对象 22"/>
          <p:cNvGraphicFramePr>
            <a:graphicFrameLocks noChangeAspect="1"/>
          </p:cNvGraphicFramePr>
          <p:nvPr>
            <p:extLst>
              <p:ext uri="{D42A27DB-BD31-4B8C-83A1-F6EECF244321}">
                <p14:modId xmlns:p14="http://schemas.microsoft.com/office/powerpoint/2010/main" val="2408807320"/>
              </p:ext>
            </p:extLst>
          </p:nvPr>
        </p:nvGraphicFramePr>
        <p:xfrm>
          <a:off x="1763688" y="1628800"/>
          <a:ext cx="3358741" cy="4055202"/>
        </p:xfrm>
        <a:graphic>
          <a:graphicData uri="http://schemas.openxmlformats.org/presentationml/2006/ole">
            <mc:AlternateContent xmlns:mc="http://schemas.openxmlformats.org/markup-compatibility/2006">
              <mc:Choice xmlns:v="urn:schemas-microsoft-com:vml" Requires="v">
                <p:oleObj spid="_x0000_s2517" name="Visio" r:id="rId4" imgW="4362377" imgH="5267430" progId="Visio.Drawing.15">
                  <p:embed/>
                </p:oleObj>
              </mc:Choice>
              <mc:Fallback>
                <p:oleObj name="Visio" r:id="rId4" imgW="4362377" imgH="5267430" progId="Visio.Drawing.15">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688" y="1628800"/>
                        <a:ext cx="3358741" cy="4055202"/>
                      </a:xfrm>
                      <a:prstGeom prst="rect">
                        <a:avLst/>
                      </a:prstGeom>
                      <a:noFill/>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3510142640"/>
              </p:ext>
            </p:extLst>
          </p:nvPr>
        </p:nvGraphicFramePr>
        <p:xfrm>
          <a:off x="4572000" y="1532946"/>
          <a:ext cx="2808312" cy="3336275"/>
        </p:xfrm>
        <a:graphic>
          <a:graphicData uri="http://schemas.openxmlformats.org/presentationml/2006/ole">
            <mc:AlternateContent xmlns:mc="http://schemas.openxmlformats.org/markup-compatibility/2006">
              <mc:Choice xmlns:v="urn:schemas-microsoft-com:vml" Requires="v">
                <p:oleObj spid="_x0000_s2518" name="Visio" r:id="rId6" imgW="3667055" imgH="4362390" progId="Visio.Drawing.15">
                  <p:embed/>
                </p:oleObj>
              </mc:Choice>
              <mc:Fallback>
                <p:oleObj name="Visio" r:id="rId6" imgW="3667055" imgH="4362390" progId="Visio.Drawing.15">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1532946"/>
                        <a:ext cx="2808312" cy="3336275"/>
                      </a:xfrm>
                      <a:prstGeom prst="rect">
                        <a:avLst/>
                      </a:prstGeom>
                      <a:noFill/>
                    </p:spPr>
                  </p:pic>
                </p:oleObj>
              </mc:Fallback>
            </mc:AlternateContent>
          </a:graphicData>
        </a:graphic>
      </p:graphicFrame>
      <p:cxnSp>
        <p:nvCxnSpPr>
          <p:cNvPr id="27" name="直接连接符 26"/>
          <p:cNvCxnSpPr/>
          <p:nvPr/>
        </p:nvCxnSpPr>
        <p:spPr>
          <a:xfrm>
            <a:off x="4644008" y="1556792"/>
            <a:ext cx="0" cy="4248472"/>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164288" y="1556011"/>
            <a:ext cx="0" cy="4248472"/>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sp>
        <p:nvSpPr>
          <p:cNvPr id="29" name="矩形 4"/>
          <p:cNvSpPr>
            <a:spLocks noChangeArrowheads="1"/>
          </p:cNvSpPr>
          <p:nvPr/>
        </p:nvSpPr>
        <p:spPr bwMode="auto">
          <a:xfrm>
            <a:off x="2329177" y="1269330"/>
            <a:ext cx="910469" cy="332399"/>
          </a:xfrm>
          <a:prstGeom prst="rect">
            <a:avLst/>
          </a:prstGeom>
          <a:solidFill>
            <a:srgbClr val="0584DA"/>
          </a:solidFill>
          <a:ln w="9525">
            <a:noFill/>
            <a:miter lim="800000"/>
            <a:headEnd/>
            <a:tailEnd/>
          </a:ln>
        </p:spPr>
        <p:txBody>
          <a:bodyPr wrap="square">
            <a:spAutoFit/>
          </a:bodyPr>
          <a:lstStyle/>
          <a:p>
            <a:pPr algn="ctr">
              <a:lnSpc>
                <a:spcPct val="130000"/>
              </a:lnSpc>
              <a:spcBef>
                <a:spcPts val="200"/>
              </a:spcBef>
              <a:spcAft>
                <a:spcPts val="60"/>
              </a:spcAft>
            </a:pPr>
            <a:r>
              <a:rPr lang="zh-CN" altLang="en-US" sz="1200" b="1" dirty="0">
                <a:solidFill>
                  <a:schemeClr val="bg1"/>
                </a:solidFill>
                <a:latin typeface="微软雅黑" pitchFamily="34" charset="-122"/>
                <a:ea typeface="微软雅黑" pitchFamily="34" charset="-122"/>
              </a:rPr>
              <a:t>寄存器</a:t>
            </a:r>
          </a:p>
        </p:txBody>
      </p:sp>
      <p:sp>
        <p:nvSpPr>
          <p:cNvPr id="30" name="矩形 29"/>
          <p:cNvSpPr/>
          <p:nvPr/>
        </p:nvSpPr>
        <p:spPr>
          <a:xfrm>
            <a:off x="1854934" y="5224844"/>
            <a:ext cx="948487" cy="292388"/>
          </a:xfrm>
          <a:prstGeom prst="rect">
            <a:avLst/>
          </a:prstGeom>
          <a:solidFill>
            <a:srgbClr val="F63E59"/>
          </a:solidFill>
        </p:spPr>
        <p:txBody>
          <a:bodyPr wrap="square">
            <a:spAutoFit/>
          </a:bodyPr>
          <a:lstStyle/>
          <a:p>
            <a:pPr algn="ctr">
              <a:lnSpc>
                <a:spcPct val="130000"/>
              </a:lnSpc>
              <a:spcBef>
                <a:spcPts val="200"/>
              </a:spcBef>
              <a:spcAft>
                <a:spcPts val="60"/>
              </a:spcAft>
            </a:pPr>
            <a:r>
              <a:rPr lang="zh-CN" altLang="en-US" sz="1000" b="1" dirty="0">
                <a:solidFill>
                  <a:schemeClr val="bg1"/>
                </a:solidFill>
                <a:latin typeface="微软雅黑" pitchFamily="34" charset="-122"/>
                <a:ea typeface="微软雅黑" pitchFamily="34" charset="-122"/>
              </a:rPr>
              <a:t>算术逻辑部件</a:t>
            </a:r>
          </a:p>
        </p:txBody>
      </p:sp>
      <p:sp>
        <p:nvSpPr>
          <p:cNvPr id="31" name="矩形 30"/>
          <p:cNvSpPr/>
          <p:nvPr/>
        </p:nvSpPr>
        <p:spPr>
          <a:xfrm>
            <a:off x="3707904" y="4798875"/>
            <a:ext cx="864096" cy="308995"/>
          </a:xfrm>
          <a:prstGeom prst="rect">
            <a:avLst/>
          </a:prstGeom>
          <a:solidFill>
            <a:srgbClr val="FF8500"/>
          </a:solidFill>
        </p:spPr>
        <p:txBody>
          <a:bodyPr wrap="square">
            <a:spAutoFit/>
          </a:bodyPr>
          <a:lstStyle/>
          <a:p>
            <a:pPr>
              <a:lnSpc>
                <a:spcPct val="130000"/>
              </a:lnSpc>
              <a:spcBef>
                <a:spcPts val="200"/>
              </a:spcBef>
              <a:spcAft>
                <a:spcPts val="60"/>
              </a:spcAft>
            </a:pPr>
            <a:r>
              <a:rPr lang="zh-CN" altLang="en-US" sz="1200" b="1" dirty="0">
                <a:solidFill>
                  <a:schemeClr val="bg1"/>
                </a:solidFill>
                <a:latin typeface="微软雅黑" pitchFamily="34" charset="-122"/>
                <a:ea typeface="微软雅黑" pitchFamily="34" charset="-122"/>
              </a:rPr>
              <a:t>控制部件</a:t>
            </a:r>
          </a:p>
        </p:txBody>
      </p:sp>
      <p:sp>
        <p:nvSpPr>
          <p:cNvPr id="32" name="矩形 4"/>
          <p:cNvSpPr>
            <a:spLocks noChangeArrowheads="1"/>
          </p:cNvSpPr>
          <p:nvPr/>
        </p:nvSpPr>
        <p:spPr bwMode="auto">
          <a:xfrm>
            <a:off x="977654" y="5877272"/>
            <a:ext cx="6402658" cy="732508"/>
          </a:xfrm>
          <a:prstGeom prst="rect">
            <a:avLst/>
          </a:prstGeom>
          <a:noFill/>
          <a:ln w="9525">
            <a:noFill/>
            <a:miter lim="800000"/>
            <a:headEnd/>
            <a:tailEnd/>
          </a:ln>
        </p:spPr>
        <p:txBody>
          <a:bodyPr wrap="square">
            <a:spAutoFit/>
          </a:bodyPr>
          <a:lstStyle/>
          <a:p>
            <a:pPr>
              <a:lnSpc>
                <a:spcPct val="130000"/>
              </a:lnSpc>
              <a:spcBef>
                <a:spcPts val="200"/>
              </a:spcBef>
              <a:spcAft>
                <a:spcPts val="60"/>
              </a:spcAft>
            </a:pPr>
            <a:r>
              <a:rPr lang="en-US" altLang="zh-CN" sz="1600" b="1" dirty="0">
                <a:solidFill>
                  <a:srgbClr val="FF3300"/>
                </a:solidFill>
                <a:latin typeface="微软雅黑" pitchFamily="34" charset="-122"/>
                <a:ea typeface="微软雅黑" pitchFamily="34" charset="-122"/>
              </a:rPr>
              <a:t>ALU</a:t>
            </a:r>
            <a:r>
              <a:rPr lang="zh-CN" altLang="en-US" sz="1600" b="1" dirty="0">
                <a:solidFill>
                  <a:srgbClr val="FF3300"/>
                </a:solidFill>
                <a:latin typeface="微软雅黑" pitchFamily="34" charset="-122"/>
                <a:ea typeface="微软雅黑" pitchFamily="34" charset="-122"/>
              </a:rPr>
              <a:t>：执行算术和逻辑操作以及移位等；</a:t>
            </a:r>
            <a:r>
              <a:rPr lang="zh-CN" altLang="en-US" sz="1600" b="1" dirty="0">
                <a:solidFill>
                  <a:srgbClr val="1D8DE5"/>
                </a:solidFill>
                <a:latin typeface="微软雅黑" pitchFamily="34" charset="-122"/>
                <a:ea typeface="微软雅黑" pitchFamily="34" charset="-122"/>
              </a:rPr>
              <a:t>寄存器：通用和专用寄存器，共</a:t>
            </a:r>
            <a:r>
              <a:rPr lang="en-US" altLang="zh-CN" sz="1600" b="1" dirty="0">
                <a:solidFill>
                  <a:srgbClr val="1D8DE5"/>
                </a:solidFill>
                <a:latin typeface="微软雅黑" pitchFamily="34" charset="-122"/>
                <a:ea typeface="微软雅黑" pitchFamily="34" charset="-122"/>
              </a:rPr>
              <a:t>14</a:t>
            </a:r>
            <a:r>
              <a:rPr lang="zh-CN" altLang="en-US" sz="1600" b="1" dirty="0">
                <a:solidFill>
                  <a:srgbClr val="1D8DE5"/>
                </a:solidFill>
                <a:latin typeface="微软雅黑" pitchFamily="34" charset="-122"/>
                <a:ea typeface="微软雅黑" pitchFamily="34" charset="-122"/>
              </a:rPr>
              <a:t>个；</a:t>
            </a:r>
            <a:r>
              <a:rPr lang="zh-CN" altLang="en-US" sz="1600" b="1" dirty="0">
                <a:solidFill>
                  <a:schemeClr val="tx1">
                    <a:lumMod val="65000"/>
                    <a:lumOff val="35000"/>
                  </a:schemeClr>
                </a:solidFill>
                <a:latin typeface="微软雅黑" pitchFamily="34" charset="-122"/>
                <a:ea typeface="微软雅黑" pitchFamily="34" charset="-122"/>
              </a:rPr>
              <a:t>控制部件：控制和指挥各功能部件协同动作，完成计算功能。</a:t>
            </a:r>
          </a:p>
        </p:txBody>
      </p:sp>
      <p:sp>
        <p:nvSpPr>
          <p:cNvPr id="33" name="矩形 4"/>
          <p:cNvSpPr>
            <a:spLocks noChangeArrowheads="1"/>
          </p:cNvSpPr>
          <p:nvPr/>
        </p:nvSpPr>
        <p:spPr bwMode="auto">
          <a:xfrm>
            <a:off x="4379573" y="2636912"/>
            <a:ext cx="910469" cy="332399"/>
          </a:xfrm>
          <a:prstGeom prst="rect">
            <a:avLst/>
          </a:prstGeom>
          <a:solidFill>
            <a:srgbClr val="0584DA"/>
          </a:solidFill>
          <a:ln w="9525">
            <a:noFill/>
            <a:miter lim="800000"/>
            <a:headEnd/>
            <a:tailEnd/>
          </a:ln>
        </p:spPr>
        <p:txBody>
          <a:bodyPr wrap="square">
            <a:spAutoFit/>
          </a:bodyPr>
          <a:lstStyle/>
          <a:p>
            <a:pPr algn="ctr">
              <a:lnSpc>
                <a:spcPct val="130000"/>
              </a:lnSpc>
              <a:spcBef>
                <a:spcPts val="200"/>
              </a:spcBef>
              <a:spcAft>
                <a:spcPts val="60"/>
              </a:spcAft>
            </a:pPr>
            <a:r>
              <a:rPr lang="zh-CN" altLang="en-US" sz="1200" b="1" dirty="0">
                <a:solidFill>
                  <a:schemeClr val="bg1"/>
                </a:solidFill>
                <a:latin typeface="微软雅黑" pitchFamily="34" charset="-122"/>
                <a:ea typeface="微软雅黑" pitchFamily="34" charset="-122"/>
              </a:rPr>
              <a:t>寄存器</a:t>
            </a:r>
          </a:p>
        </p:txBody>
      </p:sp>
    </p:spTree>
    <p:extLst>
      <p:ext uri="{BB962C8B-B14F-4D97-AF65-F5344CB8AC3E}">
        <p14:creationId xmlns:p14="http://schemas.microsoft.com/office/powerpoint/2010/main" val="403022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1000"/>
                                        <p:tgtEl>
                                          <p:spTgt spid="26"/>
                                        </p:tgtEl>
                                      </p:cBhvr>
                                    </p:animEffect>
                                    <p:anim calcmode="lin" valueType="num">
                                      <p:cBhvr>
                                        <p:cTn id="13" dur="1000" fill="hold"/>
                                        <p:tgtEl>
                                          <p:spTgt spid="26"/>
                                        </p:tgtEl>
                                        <p:attrNameLst>
                                          <p:attrName>ppt_x</p:attrName>
                                        </p:attrNameLst>
                                      </p:cBhvr>
                                      <p:tavLst>
                                        <p:tav tm="0">
                                          <p:val>
                                            <p:strVal val="#ppt_x"/>
                                          </p:val>
                                        </p:tav>
                                        <p:tav tm="100000">
                                          <p:val>
                                            <p:strVal val="#ppt_x"/>
                                          </p:val>
                                        </p:tav>
                                      </p:tavLst>
                                    </p:anim>
                                    <p:anim calcmode="lin" valueType="num">
                                      <p:cBhvr>
                                        <p:cTn id="14" dur="1000" fill="hold"/>
                                        <p:tgtEl>
                                          <p:spTgt spid="2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1000"/>
                                        <p:tgtEl>
                                          <p:spTgt spid="27"/>
                                        </p:tgtEl>
                                      </p:cBhvr>
                                    </p:animEffect>
                                    <p:anim calcmode="lin" valueType="num">
                                      <p:cBhvr>
                                        <p:cTn id="18" dur="1000" fill="hold"/>
                                        <p:tgtEl>
                                          <p:spTgt spid="27"/>
                                        </p:tgtEl>
                                        <p:attrNameLst>
                                          <p:attrName>ppt_x</p:attrName>
                                        </p:attrNameLst>
                                      </p:cBhvr>
                                      <p:tavLst>
                                        <p:tav tm="0">
                                          <p:val>
                                            <p:strVal val="#ppt_x"/>
                                          </p:val>
                                        </p:tav>
                                        <p:tav tm="100000">
                                          <p:val>
                                            <p:strVal val="#ppt_x"/>
                                          </p:val>
                                        </p:tav>
                                      </p:tavLst>
                                    </p:anim>
                                    <p:anim calcmode="lin" valueType="num">
                                      <p:cBhvr>
                                        <p:cTn id="19" dur="1000" fill="hold"/>
                                        <p:tgtEl>
                                          <p:spTgt spid="27"/>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1000"/>
                                        <p:tgtEl>
                                          <p:spTgt spid="32"/>
                                        </p:tgtEl>
                                      </p:cBhvr>
                                    </p:animEffect>
                                    <p:anim calcmode="lin" valueType="num">
                                      <p:cBhvr>
                                        <p:cTn id="23" dur="1000" fill="hold"/>
                                        <p:tgtEl>
                                          <p:spTgt spid="32"/>
                                        </p:tgtEl>
                                        <p:attrNameLst>
                                          <p:attrName>ppt_x</p:attrName>
                                        </p:attrNameLst>
                                      </p:cBhvr>
                                      <p:tavLst>
                                        <p:tav tm="0">
                                          <p:val>
                                            <p:strVal val="#ppt_x"/>
                                          </p:val>
                                        </p:tav>
                                        <p:tav tm="100000">
                                          <p:val>
                                            <p:strVal val="#ppt_x"/>
                                          </p:val>
                                        </p:tav>
                                      </p:tavLst>
                                    </p:anim>
                                    <p:anim calcmode="lin" valueType="num">
                                      <p:cBhvr>
                                        <p:cTn id="24" dur="1000" fill="hold"/>
                                        <p:tgtEl>
                                          <p:spTgt spid="3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1000"/>
                                        <p:tgtEl>
                                          <p:spTgt spid="28"/>
                                        </p:tgtEl>
                                      </p:cBhvr>
                                    </p:animEffect>
                                    <p:anim calcmode="lin" valueType="num">
                                      <p:cBhvr>
                                        <p:cTn id="28" dur="1000" fill="hold"/>
                                        <p:tgtEl>
                                          <p:spTgt spid="28"/>
                                        </p:tgtEl>
                                        <p:attrNameLst>
                                          <p:attrName>ppt_x</p:attrName>
                                        </p:attrNameLst>
                                      </p:cBhvr>
                                      <p:tavLst>
                                        <p:tav tm="0">
                                          <p:val>
                                            <p:strVal val="#ppt_x"/>
                                          </p:val>
                                        </p:tav>
                                        <p:tav tm="100000">
                                          <p:val>
                                            <p:strVal val="#ppt_x"/>
                                          </p:val>
                                        </p:tav>
                                      </p:tavLst>
                                    </p:anim>
                                    <p:anim calcmode="lin" valueType="num">
                                      <p:cBhvr>
                                        <p:cTn id="2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6"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wipe(down)">
                                      <p:cBhvr>
                                        <p:cTn id="34" dur="580">
                                          <p:stCondLst>
                                            <p:cond delay="0"/>
                                          </p:stCondLst>
                                        </p:cTn>
                                        <p:tgtEl>
                                          <p:spTgt spid="30"/>
                                        </p:tgtEl>
                                      </p:cBhvr>
                                    </p:animEffect>
                                    <p:anim calcmode="lin" valueType="num">
                                      <p:cBhvr>
                                        <p:cTn id="35"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36"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37"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38"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39"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40" dur="26">
                                          <p:stCondLst>
                                            <p:cond delay="650"/>
                                          </p:stCondLst>
                                        </p:cTn>
                                        <p:tgtEl>
                                          <p:spTgt spid="30"/>
                                        </p:tgtEl>
                                      </p:cBhvr>
                                      <p:to x="100000" y="60000"/>
                                    </p:animScale>
                                    <p:animScale>
                                      <p:cBhvr>
                                        <p:cTn id="41" dur="166" decel="50000">
                                          <p:stCondLst>
                                            <p:cond delay="676"/>
                                          </p:stCondLst>
                                        </p:cTn>
                                        <p:tgtEl>
                                          <p:spTgt spid="30"/>
                                        </p:tgtEl>
                                      </p:cBhvr>
                                      <p:to x="100000" y="100000"/>
                                    </p:animScale>
                                    <p:animScale>
                                      <p:cBhvr>
                                        <p:cTn id="42" dur="26">
                                          <p:stCondLst>
                                            <p:cond delay="1312"/>
                                          </p:stCondLst>
                                        </p:cTn>
                                        <p:tgtEl>
                                          <p:spTgt spid="30"/>
                                        </p:tgtEl>
                                      </p:cBhvr>
                                      <p:to x="100000" y="80000"/>
                                    </p:animScale>
                                    <p:animScale>
                                      <p:cBhvr>
                                        <p:cTn id="43" dur="166" decel="50000">
                                          <p:stCondLst>
                                            <p:cond delay="1338"/>
                                          </p:stCondLst>
                                        </p:cTn>
                                        <p:tgtEl>
                                          <p:spTgt spid="30"/>
                                        </p:tgtEl>
                                      </p:cBhvr>
                                      <p:to x="100000" y="100000"/>
                                    </p:animScale>
                                    <p:animScale>
                                      <p:cBhvr>
                                        <p:cTn id="44" dur="26">
                                          <p:stCondLst>
                                            <p:cond delay="1642"/>
                                          </p:stCondLst>
                                        </p:cTn>
                                        <p:tgtEl>
                                          <p:spTgt spid="30"/>
                                        </p:tgtEl>
                                      </p:cBhvr>
                                      <p:to x="100000" y="90000"/>
                                    </p:animScale>
                                    <p:animScale>
                                      <p:cBhvr>
                                        <p:cTn id="45" dur="166" decel="50000">
                                          <p:stCondLst>
                                            <p:cond delay="1668"/>
                                          </p:stCondLst>
                                        </p:cTn>
                                        <p:tgtEl>
                                          <p:spTgt spid="30"/>
                                        </p:tgtEl>
                                      </p:cBhvr>
                                      <p:to x="100000" y="100000"/>
                                    </p:animScale>
                                    <p:animScale>
                                      <p:cBhvr>
                                        <p:cTn id="46" dur="26">
                                          <p:stCondLst>
                                            <p:cond delay="1808"/>
                                          </p:stCondLst>
                                        </p:cTn>
                                        <p:tgtEl>
                                          <p:spTgt spid="30"/>
                                        </p:tgtEl>
                                      </p:cBhvr>
                                      <p:to x="100000" y="95000"/>
                                    </p:animScale>
                                    <p:animScale>
                                      <p:cBhvr>
                                        <p:cTn id="47" dur="166" decel="50000">
                                          <p:stCondLst>
                                            <p:cond delay="1834"/>
                                          </p:stCondLst>
                                        </p:cTn>
                                        <p:tgtEl>
                                          <p:spTgt spid="30"/>
                                        </p:tgtEl>
                                      </p:cBhvr>
                                      <p:to x="100000" y="100000"/>
                                    </p:animScale>
                                  </p:childTnLst>
                                </p:cTn>
                              </p:par>
                            </p:childTnLst>
                          </p:cTn>
                        </p:par>
                      </p:childTnLst>
                    </p:cTn>
                  </p:par>
                  <p:par>
                    <p:cTn id="48" fill="hold">
                      <p:stCondLst>
                        <p:cond delay="indefinite"/>
                      </p:stCondLst>
                      <p:childTnLst>
                        <p:par>
                          <p:cTn id="49" fill="hold">
                            <p:stCondLst>
                              <p:cond delay="0"/>
                            </p:stCondLst>
                            <p:childTnLst>
                              <p:par>
                                <p:cTn id="50" presetID="26" presetClass="entr" presetSubtype="0" fill="hold" grpId="0" nodeType="click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wipe(down)">
                                      <p:cBhvr>
                                        <p:cTn id="52" dur="580">
                                          <p:stCondLst>
                                            <p:cond delay="0"/>
                                          </p:stCondLst>
                                        </p:cTn>
                                        <p:tgtEl>
                                          <p:spTgt spid="33"/>
                                        </p:tgtEl>
                                      </p:cBhvr>
                                    </p:animEffect>
                                    <p:anim calcmode="lin" valueType="num">
                                      <p:cBhvr>
                                        <p:cTn id="53" dur="1822" tmFilter="0,0; 0.14,0.36; 0.43,0.73; 0.71,0.91; 1.0,1.0">
                                          <p:stCondLst>
                                            <p:cond delay="0"/>
                                          </p:stCondLst>
                                        </p:cTn>
                                        <p:tgtEl>
                                          <p:spTgt spid="33"/>
                                        </p:tgtEl>
                                        <p:attrNameLst>
                                          <p:attrName>ppt_x</p:attrName>
                                        </p:attrNameLst>
                                      </p:cBhvr>
                                      <p:tavLst>
                                        <p:tav tm="0">
                                          <p:val>
                                            <p:strVal val="#ppt_x-0.25"/>
                                          </p:val>
                                        </p:tav>
                                        <p:tav tm="100000">
                                          <p:val>
                                            <p:strVal val="#ppt_x"/>
                                          </p:val>
                                        </p:tav>
                                      </p:tavLst>
                                    </p:anim>
                                    <p:anim calcmode="lin" valueType="num">
                                      <p:cBhvr>
                                        <p:cTn id="54" dur="664" tmFilter="0.0,0.0; 0.25,0.07; 0.50,0.2; 0.75,0.467; 1.0,1.0">
                                          <p:stCondLst>
                                            <p:cond delay="0"/>
                                          </p:stCondLst>
                                        </p:cTn>
                                        <p:tgtEl>
                                          <p:spTgt spid="33"/>
                                        </p:tgtEl>
                                        <p:attrNameLst>
                                          <p:attrName>ppt_y</p:attrName>
                                        </p:attrNameLst>
                                      </p:cBhvr>
                                      <p:tavLst>
                                        <p:tav tm="0" fmla="#ppt_y-sin(pi*$)/3">
                                          <p:val>
                                            <p:fltVal val="0.5"/>
                                          </p:val>
                                        </p:tav>
                                        <p:tav tm="100000">
                                          <p:val>
                                            <p:fltVal val="1"/>
                                          </p:val>
                                        </p:tav>
                                      </p:tavLst>
                                    </p:anim>
                                    <p:anim calcmode="lin" valueType="num">
                                      <p:cBhvr>
                                        <p:cTn id="55" dur="664" tmFilter="0, 0; 0.125,0.2665; 0.25,0.4; 0.375,0.465; 0.5,0.5;  0.625,0.535; 0.75,0.6; 0.875,0.7335; 1,1">
                                          <p:stCondLst>
                                            <p:cond delay="664"/>
                                          </p:stCondLst>
                                        </p:cTn>
                                        <p:tgtEl>
                                          <p:spTgt spid="33"/>
                                        </p:tgtEl>
                                        <p:attrNameLst>
                                          <p:attrName>ppt_y</p:attrName>
                                        </p:attrNameLst>
                                      </p:cBhvr>
                                      <p:tavLst>
                                        <p:tav tm="0" fmla="#ppt_y-sin(pi*$)/9">
                                          <p:val>
                                            <p:fltVal val="0"/>
                                          </p:val>
                                        </p:tav>
                                        <p:tav tm="100000">
                                          <p:val>
                                            <p:fltVal val="1"/>
                                          </p:val>
                                        </p:tav>
                                      </p:tavLst>
                                    </p:anim>
                                    <p:anim calcmode="lin" valueType="num">
                                      <p:cBhvr>
                                        <p:cTn id="56" dur="332" tmFilter="0, 0; 0.125,0.2665; 0.25,0.4; 0.375,0.465; 0.5,0.5;  0.625,0.535; 0.75,0.6; 0.875,0.7335; 1,1">
                                          <p:stCondLst>
                                            <p:cond delay="1324"/>
                                          </p:stCondLst>
                                        </p:cTn>
                                        <p:tgtEl>
                                          <p:spTgt spid="33"/>
                                        </p:tgtEl>
                                        <p:attrNameLst>
                                          <p:attrName>ppt_y</p:attrName>
                                        </p:attrNameLst>
                                      </p:cBhvr>
                                      <p:tavLst>
                                        <p:tav tm="0" fmla="#ppt_y-sin(pi*$)/27">
                                          <p:val>
                                            <p:fltVal val="0"/>
                                          </p:val>
                                        </p:tav>
                                        <p:tav tm="100000">
                                          <p:val>
                                            <p:fltVal val="1"/>
                                          </p:val>
                                        </p:tav>
                                      </p:tavLst>
                                    </p:anim>
                                    <p:anim calcmode="lin" valueType="num">
                                      <p:cBhvr>
                                        <p:cTn id="57" dur="164" tmFilter="0, 0; 0.125,0.2665; 0.25,0.4; 0.375,0.465; 0.5,0.5;  0.625,0.535; 0.75,0.6; 0.875,0.7335; 1,1">
                                          <p:stCondLst>
                                            <p:cond delay="1656"/>
                                          </p:stCondLst>
                                        </p:cTn>
                                        <p:tgtEl>
                                          <p:spTgt spid="33"/>
                                        </p:tgtEl>
                                        <p:attrNameLst>
                                          <p:attrName>ppt_y</p:attrName>
                                        </p:attrNameLst>
                                      </p:cBhvr>
                                      <p:tavLst>
                                        <p:tav tm="0" fmla="#ppt_y-sin(pi*$)/81">
                                          <p:val>
                                            <p:fltVal val="0"/>
                                          </p:val>
                                        </p:tav>
                                        <p:tav tm="100000">
                                          <p:val>
                                            <p:fltVal val="1"/>
                                          </p:val>
                                        </p:tav>
                                      </p:tavLst>
                                    </p:anim>
                                    <p:animScale>
                                      <p:cBhvr>
                                        <p:cTn id="58" dur="26">
                                          <p:stCondLst>
                                            <p:cond delay="650"/>
                                          </p:stCondLst>
                                        </p:cTn>
                                        <p:tgtEl>
                                          <p:spTgt spid="33"/>
                                        </p:tgtEl>
                                      </p:cBhvr>
                                      <p:to x="100000" y="60000"/>
                                    </p:animScale>
                                    <p:animScale>
                                      <p:cBhvr>
                                        <p:cTn id="59" dur="166" decel="50000">
                                          <p:stCondLst>
                                            <p:cond delay="676"/>
                                          </p:stCondLst>
                                        </p:cTn>
                                        <p:tgtEl>
                                          <p:spTgt spid="33"/>
                                        </p:tgtEl>
                                      </p:cBhvr>
                                      <p:to x="100000" y="100000"/>
                                    </p:animScale>
                                    <p:animScale>
                                      <p:cBhvr>
                                        <p:cTn id="60" dur="26">
                                          <p:stCondLst>
                                            <p:cond delay="1312"/>
                                          </p:stCondLst>
                                        </p:cTn>
                                        <p:tgtEl>
                                          <p:spTgt spid="33"/>
                                        </p:tgtEl>
                                      </p:cBhvr>
                                      <p:to x="100000" y="80000"/>
                                    </p:animScale>
                                    <p:animScale>
                                      <p:cBhvr>
                                        <p:cTn id="61" dur="166" decel="50000">
                                          <p:stCondLst>
                                            <p:cond delay="1338"/>
                                          </p:stCondLst>
                                        </p:cTn>
                                        <p:tgtEl>
                                          <p:spTgt spid="33"/>
                                        </p:tgtEl>
                                      </p:cBhvr>
                                      <p:to x="100000" y="100000"/>
                                    </p:animScale>
                                    <p:animScale>
                                      <p:cBhvr>
                                        <p:cTn id="62" dur="26">
                                          <p:stCondLst>
                                            <p:cond delay="1642"/>
                                          </p:stCondLst>
                                        </p:cTn>
                                        <p:tgtEl>
                                          <p:spTgt spid="33"/>
                                        </p:tgtEl>
                                      </p:cBhvr>
                                      <p:to x="100000" y="90000"/>
                                    </p:animScale>
                                    <p:animScale>
                                      <p:cBhvr>
                                        <p:cTn id="63" dur="166" decel="50000">
                                          <p:stCondLst>
                                            <p:cond delay="1668"/>
                                          </p:stCondLst>
                                        </p:cTn>
                                        <p:tgtEl>
                                          <p:spTgt spid="33"/>
                                        </p:tgtEl>
                                      </p:cBhvr>
                                      <p:to x="100000" y="100000"/>
                                    </p:animScale>
                                    <p:animScale>
                                      <p:cBhvr>
                                        <p:cTn id="64" dur="26">
                                          <p:stCondLst>
                                            <p:cond delay="1808"/>
                                          </p:stCondLst>
                                        </p:cTn>
                                        <p:tgtEl>
                                          <p:spTgt spid="33"/>
                                        </p:tgtEl>
                                      </p:cBhvr>
                                      <p:to x="100000" y="95000"/>
                                    </p:animScale>
                                    <p:animScale>
                                      <p:cBhvr>
                                        <p:cTn id="65" dur="166" decel="50000">
                                          <p:stCondLst>
                                            <p:cond delay="1834"/>
                                          </p:stCondLst>
                                        </p:cTn>
                                        <p:tgtEl>
                                          <p:spTgt spid="33"/>
                                        </p:tgtEl>
                                      </p:cBhvr>
                                      <p:to x="100000" y="100000"/>
                                    </p:animScale>
                                  </p:childTnLst>
                                </p:cTn>
                              </p:par>
                              <p:par>
                                <p:cTn id="66" presetID="26"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wipe(down)">
                                      <p:cBhvr>
                                        <p:cTn id="68" dur="580">
                                          <p:stCondLst>
                                            <p:cond delay="0"/>
                                          </p:stCondLst>
                                        </p:cTn>
                                        <p:tgtEl>
                                          <p:spTgt spid="29"/>
                                        </p:tgtEl>
                                      </p:cBhvr>
                                    </p:animEffect>
                                    <p:anim calcmode="lin" valueType="num">
                                      <p:cBhvr>
                                        <p:cTn id="69" dur="1822" tmFilter="0,0; 0.14,0.36; 0.43,0.73; 0.71,0.91; 1.0,1.0">
                                          <p:stCondLst>
                                            <p:cond delay="0"/>
                                          </p:stCondLst>
                                        </p:cTn>
                                        <p:tgtEl>
                                          <p:spTgt spid="29"/>
                                        </p:tgtEl>
                                        <p:attrNameLst>
                                          <p:attrName>ppt_x</p:attrName>
                                        </p:attrNameLst>
                                      </p:cBhvr>
                                      <p:tavLst>
                                        <p:tav tm="0">
                                          <p:val>
                                            <p:strVal val="#ppt_x-0.25"/>
                                          </p:val>
                                        </p:tav>
                                        <p:tav tm="100000">
                                          <p:val>
                                            <p:strVal val="#ppt_x"/>
                                          </p:val>
                                        </p:tav>
                                      </p:tavLst>
                                    </p:anim>
                                    <p:anim calcmode="lin" valueType="num">
                                      <p:cBhvr>
                                        <p:cTn id="70" dur="664" tmFilter="0.0,0.0; 0.25,0.07; 0.50,0.2; 0.75,0.467; 1.0,1.0">
                                          <p:stCondLst>
                                            <p:cond delay="0"/>
                                          </p:stCondLst>
                                        </p:cTn>
                                        <p:tgtEl>
                                          <p:spTgt spid="29"/>
                                        </p:tgtEl>
                                        <p:attrNameLst>
                                          <p:attrName>ppt_y</p:attrName>
                                        </p:attrNameLst>
                                      </p:cBhvr>
                                      <p:tavLst>
                                        <p:tav tm="0" fmla="#ppt_y-sin(pi*$)/3">
                                          <p:val>
                                            <p:fltVal val="0.5"/>
                                          </p:val>
                                        </p:tav>
                                        <p:tav tm="100000">
                                          <p:val>
                                            <p:fltVal val="1"/>
                                          </p:val>
                                        </p:tav>
                                      </p:tavLst>
                                    </p:anim>
                                    <p:anim calcmode="lin" valueType="num">
                                      <p:cBhvr>
                                        <p:cTn id="71" dur="664" tmFilter="0, 0; 0.125,0.2665; 0.25,0.4; 0.375,0.465; 0.5,0.5;  0.625,0.535; 0.75,0.6; 0.875,0.7335; 1,1">
                                          <p:stCondLst>
                                            <p:cond delay="664"/>
                                          </p:stCondLst>
                                        </p:cTn>
                                        <p:tgtEl>
                                          <p:spTgt spid="29"/>
                                        </p:tgtEl>
                                        <p:attrNameLst>
                                          <p:attrName>ppt_y</p:attrName>
                                        </p:attrNameLst>
                                      </p:cBhvr>
                                      <p:tavLst>
                                        <p:tav tm="0" fmla="#ppt_y-sin(pi*$)/9">
                                          <p:val>
                                            <p:fltVal val="0"/>
                                          </p:val>
                                        </p:tav>
                                        <p:tav tm="100000">
                                          <p:val>
                                            <p:fltVal val="1"/>
                                          </p:val>
                                        </p:tav>
                                      </p:tavLst>
                                    </p:anim>
                                    <p:anim calcmode="lin" valueType="num">
                                      <p:cBhvr>
                                        <p:cTn id="72" dur="332" tmFilter="0, 0; 0.125,0.2665; 0.25,0.4; 0.375,0.465; 0.5,0.5;  0.625,0.535; 0.75,0.6; 0.875,0.7335; 1,1">
                                          <p:stCondLst>
                                            <p:cond delay="1324"/>
                                          </p:stCondLst>
                                        </p:cTn>
                                        <p:tgtEl>
                                          <p:spTgt spid="29"/>
                                        </p:tgtEl>
                                        <p:attrNameLst>
                                          <p:attrName>ppt_y</p:attrName>
                                        </p:attrNameLst>
                                      </p:cBhvr>
                                      <p:tavLst>
                                        <p:tav tm="0" fmla="#ppt_y-sin(pi*$)/27">
                                          <p:val>
                                            <p:fltVal val="0"/>
                                          </p:val>
                                        </p:tav>
                                        <p:tav tm="100000">
                                          <p:val>
                                            <p:fltVal val="1"/>
                                          </p:val>
                                        </p:tav>
                                      </p:tavLst>
                                    </p:anim>
                                    <p:anim calcmode="lin" valueType="num">
                                      <p:cBhvr>
                                        <p:cTn id="73" dur="164" tmFilter="0, 0; 0.125,0.2665; 0.25,0.4; 0.375,0.465; 0.5,0.5;  0.625,0.535; 0.75,0.6; 0.875,0.7335; 1,1">
                                          <p:stCondLst>
                                            <p:cond delay="1656"/>
                                          </p:stCondLst>
                                        </p:cTn>
                                        <p:tgtEl>
                                          <p:spTgt spid="29"/>
                                        </p:tgtEl>
                                        <p:attrNameLst>
                                          <p:attrName>ppt_y</p:attrName>
                                        </p:attrNameLst>
                                      </p:cBhvr>
                                      <p:tavLst>
                                        <p:tav tm="0" fmla="#ppt_y-sin(pi*$)/81">
                                          <p:val>
                                            <p:fltVal val="0"/>
                                          </p:val>
                                        </p:tav>
                                        <p:tav tm="100000">
                                          <p:val>
                                            <p:fltVal val="1"/>
                                          </p:val>
                                        </p:tav>
                                      </p:tavLst>
                                    </p:anim>
                                    <p:animScale>
                                      <p:cBhvr>
                                        <p:cTn id="74" dur="26">
                                          <p:stCondLst>
                                            <p:cond delay="650"/>
                                          </p:stCondLst>
                                        </p:cTn>
                                        <p:tgtEl>
                                          <p:spTgt spid="29"/>
                                        </p:tgtEl>
                                      </p:cBhvr>
                                      <p:to x="100000" y="60000"/>
                                    </p:animScale>
                                    <p:animScale>
                                      <p:cBhvr>
                                        <p:cTn id="75" dur="166" decel="50000">
                                          <p:stCondLst>
                                            <p:cond delay="676"/>
                                          </p:stCondLst>
                                        </p:cTn>
                                        <p:tgtEl>
                                          <p:spTgt spid="29"/>
                                        </p:tgtEl>
                                      </p:cBhvr>
                                      <p:to x="100000" y="100000"/>
                                    </p:animScale>
                                    <p:animScale>
                                      <p:cBhvr>
                                        <p:cTn id="76" dur="26">
                                          <p:stCondLst>
                                            <p:cond delay="1312"/>
                                          </p:stCondLst>
                                        </p:cTn>
                                        <p:tgtEl>
                                          <p:spTgt spid="29"/>
                                        </p:tgtEl>
                                      </p:cBhvr>
                                      <p:to x="100000" y="80000"/>
                                    </p:animScale>
                                    <p:animScale>
                                      <p:cBhvr>
                                        <p:cTn id="77" dur="166" decel="50000">
                                          <p:stCondLst>
                                            <p:cond delay="1338"/>
                                          </p:stCondLst>
                                        </p:cTn>
                                        <p:tgtEl>
                                          <p:spTgt spid="29"/>
                                        </p:tgtEl>
                                      </p:cBhvr>
                                      <p:to x="100000" y="100000"/>
                                    </p:animScale>
                                    <p:animScale>
                                      <p:cBhvr>
                                        <p:cTn id="78" dur="26">
                                          <p:stCondLst>
                                            <p:cond delay="1642"/>
                                          </p:stCondLst>
                                        </p:cTn>
                                        <p:tgtEl>
                                          <p:spTgt spid="29"/>
                                        </p:tgtEl>
                                      </p:cBhvr>
                                      <p:to x="100000" y="90000"/>
                                    </p:animScale>
                                    <p:animScale>
                                      <p:cBhvr>
                                        <p:cTn id="79" dur="166" decel="50000">
                                          <p:stCondLst>
                                            <p:cond delay="1668"/>
                                          </p:stCondLst>
                                        </p:cTn>
                                        <p:tgtEl>
                                          <p:spTgt spid="29"/>
                                        </p:tgtEl>
                                      </p:cBhvr>
                                      <p:to x="100000" y="100000"/>
                                    </p:animScale>
                                    <p:animScale>
                                      <p:cBhvr>
                                        <p:cTn id="80" dur="26">
                                          <p:stCondLst>
                                            <p:cond delay="1808"/>
                                          </p:stCondLst>
                                        </p:cTn>
                                        <p:tgtEl>
                                          <p:spTgt spid="29"/>
                                        </p:tgtEl>
                                      </p:cBhvr>
                                      <p:to x="100000" y="95000"/>
                                    </p:animScale>
                                    <p:animScale>
                                      <p:cBhvr>
                                        <p:cTn id="81" dur="166" decel="50000">
                                          <p:stCondLst>
                                            <p:cond delay="1834"/>
                                          </p:stCondLst>
                                        </p:cTn>
                                        <p:tgtEl>
                                          <p:spTgt spid="29"/>
                                        </p:tgtEl>
                                      </p:cBhvr>
                                      <p:to x="100000" y="100000"/>
                                    </p:animScale>
                                  </p:childTnLst>
                                </p:cTn>
                              </p:par>
                            </p:childTnLst>
                          </p:cTn>
                        </p:par>
                      </p:childTnLst>
                    </p:cTn>
                  </p:par>
                  <p:par>
                    <p:cTn id="82" fill="hold">
                      <p:stCondLst>
                        <p:cond delay="indefinite"/>
                      </p:stCondLst>
                      <p:childTnLst>
                        <p:par>
                          <p:cTn id="83" fill="hold">
                            <p:stCondLst>
                              <p:cond delay="0"/>
                            </p:stCondLst>
                            <p:childTnLst>
                              <p:par>
                                <p:cTn id="84" presetID="26" presetClass="entr" presetSubtype="0" fill="hold" grpId="0"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wipe(down)">
                                      <p:cBhvr>
                                        <p:cTn id="86" dur="580">
                                          <p:stCondLst>
                                            <p:cond delay="0"/>
                                          </p:stCondLst>
                                        </p:cTn>
                                        <p:tgtEl>
                                          <p:spTgt spid="31"/>
                                        </p:tgtEl>
                                      </p:cBhvr>
                                    </p:animEffect>
                                    <p:anim calcmode="lin" valueType="num">
                                      <p:cBhvr>
                                        <p:cTn id="87"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88"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89"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90"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91"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92" dur="26">
                                          <p:stCondLst>
                                            <p:cond delay="650"/>
                                          </p:stCondLst>
                                        </p:cTn>
                                        <p:tgtEl>
                                          <p:spTgt spid="31"/>
                                        </p:tgtEl>
                                      </p:cBhvr>
                                      <p:to x="100000" y="60000"/>
                                    </p:animScale>
                                    <p:animScale>
                                      <p:cBhvr>
                                        <p:cTn id="93" dur="166" decel="50000">
                                          <p:stCondLst>
                                            <p:cond delay="676"/>
                                          </p:stCondLst>
                                        </p:cTn>
                                        <p:tgtEl>
                                          <p:spTgt spid="31"/>
                                        </p:tgtEl>
                                      </p:cBhvr>
                                      <p:to x="100000" y="100000"/>
                                    </p:animScale>
                                    <p:animScale>
                                      <p:cBhvr>
                                        <p:cTn id="94" dur="26">
                                          <p:stCondLst>
                                            <p:cond delay="1312"/>
                                          </p:stCondLst>
                                        </p:cTn>
                                        <p:tgtEl>
                                          <p:spTgt spid="31"/>
                                        </p:tgtEl>
                                      </p:cBhvr>
                                      <p:to x="100000" y="80000"/>
                                    </p:animScale>
                                    <p:animScale>
                                      <p:cBhvr>
                                        <p:cTn id="95" dur="166" decel="50000">
                                          <p:stCondLst>
                                            <p:cond delay="1338"/>
                                          </p:stCondLst>
                                        </p:cTn>
                                        <p:tgtEl>
                                          <p:spTgt spid="31"/>
                                        </p:tgtEl>
                                      </p:cBhvr>
                                      <p:to x="100000" y="100000"/>
                                    </p:animScale>
                                    <p:animScale>
                                      <p:cBhvr>
                                        <p:cTn id="96" dur="26">
                                          <p:stCondLst>
                                            <p:cond delay="1642"/>
                                          </p:stCondLst>
                                        </p:cTn>
                                        <p:tgtEl>
                                          <p:spTgt spid="31"/>
                                        </p:tgtEl>
                                      </p:cBhvr>
                                      <p:to x="100000" y="90000"/>
                                    </p:animScale>
                                    <p:animScale>
                                      <p:cBhvr>
                                        <p:cTn id="97" dur="166" decel="50000">
                                          <p:stCondLst>
                                            <p:cond delay="1668"/>
                                          </p:stCondLst>
                                        </p:cTn>
                                        <p:tgtEl>
                                          <p:spTgt spid="31"/>
                                        </p:tgtEl>
                                      </p:cBhvr>
                                      <p:to x="100000" y="100000"/>
                                    </p:animScale>
                                    <p:animScale>
                                      <p:cBhvr>
                                        <p:cTn id="98" dur="26">
                                          <p:stCondLst>
                                            <p:cond delay="1808"/>
                                          </p:stCondLst>
                                        </p:cTn>
                                        <p:tgtEl>
                                          <p:spTgt spid="31"/>
                                        </p:tgtEl>
                                      </p:cBhvr>
                                      <p:to x="100000" y="95000"/>
                                    </p:animScale>
                                    <p:animScale>
                                      <p:cBhvr>
                                        <p:cTn id="99" dur="166" decel="50000">
                                          <p:stCondLst>
                                            <p:cond delay="1834"/>
                                          </p:stCondLst>
                                        </p:cTn>
                                        <p:tgtEl>
                                          <p:spTgt spid="3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p:bldP spid="3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2483768" y="476672"/>
            <a:ext cx="4176464"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重要概念：寄存器</a:t>
            </a:r>
            <a:endParaRPr lang="zh-CN" altLang="en-US" sz="3200" b="1" dirty="0">
              <a:solidFill>
                <a:prstClr val="white">
                  <a:lumMod val="65000"/>
                </a:prstClr>
              </a:solidFill>
              <a:latin typeface="Arial"/>
              <a:ea typeface="微软雅黑" pitchFamily="34" charset="-122"/>
              <a:cs typeface="Arial"/>
            </a:endParaRPr>
          </a:p>
        </p:txBody>
      </p:sp>
      <p:sp>
        <p:nvSpPr>
          <p:cNvPr id="19" name="圆角矩形 18"/>
          <p:cNvSpPr/>
          <p:nvPr/>
        </p:nvSpPr>
        <p:spPr>
          <a:xfrm>
            <a:off x="539552" y="2651201"/>
            <a:ext cx="3672408" cy="1717765"/>
          </a:xfrm>
          <a:prstGeom prst="roundRect">
            <a:avLst>
              <a:gd name="adj" fmla="val 5845"/>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0" name="圆角矩形 19"/>
          <p:cNvSpPr/>
          <p:nvPr/>
        </p:nvSpPr>
        <p:spPr>
          <a:xfrm>
            <a:off x="539552" y="2047417"/>
            <a:ext cx="3672408" cy="589495"/>
          </a:xfrm>
          <a:prstGeom prst="roundRect">
            <a:avLst>
              <a:gd name="adj" fmla="val 8731"/>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ea typeface="微软雅黑" panose="020B0503020204020204" pitchFamily="34" charset="-122"/>
              </a:rPr>
              <a:t>内部寄存器</a:t>
            </a:r>
          </a:p>
        </p:txBody>
      </p:sp>
      <p:sp>
        <p:nvSpPr>
          <p:cNvPr id="21" name="圆角矩形 20"/>
          <p:cNvSpPr/>
          <p:nvPr/>
        </p:nvSpPr>
        <p:spPr>
          <a:xfrm>
            <a:off x="4860032" y="2047417"/>
            <a:ext cx="3746700" cy="589495"/>
          </a:xfrm>
          <a:prstGeom prst="roundRect">
            <a:avLst>
              <a:gd name="adj" fmla="val 8731"/>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ea typeface="微软雅黑" panose="020B0503020204020204" pitchFamily="34" charset="-122"/>
              </a:rPr>
              <a:t>外部寄存器</a:t>
            </a:r>
          </a:p>
        </p:txBody>
      </p:sp>
      <p:sp>
        <p:nvSpPr>
          <p:cNvPr id="22" name="矩形 21"/>
          <p:cNvSpPr/>
          <p:nvPr/>
        </p:nvSpPr>
        <p:spPr>
          <a:xfrm>
            <a:off x="539552" y="2774034"/>
            <a:ext cx="3672408" cy="1498872"/>
          </a:xfrm>
          <a:prstGeom prst="rect">
            <a:avLst/>
          </a:prstGeom>
        </p:spPr>
        <p:txBody>
          <a:bodyPr wrap="square">
            <a:spAutoFit/>
          </a:bodyPr>
          <a:lstStyle/>
          <a:p>
            <a:pPr marL="285750" indent="-285750">
              <a:lnSpc>
                <a:spcPct val="120000"/>
              </a:lnSpc>
              <a:spcBef>
                <a:spcPts val="600"/>
              </a:spcBef>
              <a:buFont typeface="Wingdings" panose="05000000000000000000" pitchFamily="2" charset="2"/>
              <a:buChar char="n"/>
            </a:pPr>
            <a:r>
              <a:rPr lang="zh-CN" altLang="en-US" dirty="0">
                <a:solidFill>
                  <a:schemeClr val="tx1">
                    <a:lumMod val="75000"/>
                    <a:lumOff val="25000"/>
                  </a:schemeClr>
                </a:solidFill>
                <a:latin typeface="微软雅黑" pitchFamily="34" charset="-122"/>
                <a:ea typeface="微软雅黑" pitchFamily="34" charset="-122"/>
              </a:rPr>
              <a:t>内部寄存器，</a:t>
            </a:r>
            <a:r>
              <a:rPr lang="en-US" altLang="zh-CN" dirty="0">
                <a:solidFill>
                  <a:schemeClr val="tx1">
                    <a:lumMod val="75000"/>
                    <a:lumOff val="25000"/>
                  </a:schemeClr>
                </a:solidFill>
                <a:latin typeface="微软雅黑" pitchFamily="34" charset="-122"/>
                <a:ea typeface="微软雅黑" pitchFamily="34" charset="-122"/>
              </a:rPr>
              <a:t>CPU</a:t>
            </a:r>
            <a:r>
              <a:rPr lang="zh-CN" altLang="en-US" dirty="0">
                <a:solidFill>
                  <a:schemeClr val="tx1">
                    <a:lumMod val="75000"/>
                    <a:lumOff val="25000"/>
                  </a:schemeClr>
                </a:solidFill>
                <a:latin typeface="微软雅黑" pitchFamily="34" charset="-122"/>
                <a:ea typeface="微软雅黑" pitchFamily="34" charset="-122"/>
              </a:rPr>
              <a:t>内部的一些小的存储单元。</a:t>
            </a:r>
            <a:endParaRPr lang="en-US" altLang="zh-CN" dirty="0">
              <a:solidFill>
                <a:schemeClr val="tx1">
                  <a:lumMod val="75000"/>
                  <a:lumOff val="25000"/>
                </a:schemeClr>
              </a:solidFill>
              <a:latin typeface="微软雅黑" pitchFamily="34" charset="-122"/>
              <a:ea typeface="微软雅黑" pitchFamily="34" charset="-122"/>
            </a:endParaRPr>
          </a:p>
          <a:p>
            <a:pPr marL="285750" indent="-285750">
              <a:lnSpc>
                <a:spcPct val="120000"/>
              </a:lnSpc>
              <a:spcBef>
                <a:spcPts val="600"/>
              </a:spcBef>
              <a:buFont typeface="Wingdings" panose="05000000000000000000" pitchFamily="2" charset="2"/>
              <a:buChar char="n"/>
            </a:pPr>
            <a:r>
              <a:rPr lang="en-US" altLang="zh-CN" dirty="0">
                <a:solidFill>
                  <a:schemeClr val="tx1">
                    <a:lumMod val="75000"/>
                    <a:lumOff val="25000"/>
                  </a:schemeClr>
                </a:solidFill>
                <a:latin typeface="微软雅黑" pitchFamily="34" charset="-122"/>
                <a:ea typeface="微软雅黑" pitchFamily="34" charset="-122"/>
              </a:rPr>
              <a:t>CPU</a:t>
            </a:r>
            <a:r>
              <a:rPr lang="zh-CN" altLang="en-US" dirty="0">
                <a:solidFill>
                  <a:schemeClr val="tx1">
                    <a:lumMod val="75000"/>
                    <a:lumOff val="25000"/>
                  </a:schemeClr>
                </a:solidFill>
                <a:latin typeface="微软雅黑" pitchFamily="34" charset="-122"/>
                <a:ea typeface="微软雅黑" pitchFamily="34" charset="-122"/>
              </a:rPr>
              <a:t>对外部数据处理时，往往先把数据取到寄存器中再处理。</a:t>
            </a:r>
          </a:p>
        </p:txBody>
      </p:sp>
      <p:sp>
        <p:nvSpPr>
          <p:cNvPr id="23" name="圆角矩形 22"/>
          <p:cNvSpPr/>
          <p:nvPr/>
        </p:nvSpPr>
        <p:spPr>
          <a:xfrm>
            <a:off x="4860032" y="2651201"/>
            <a:ext cx="3746700" cy="1717765"/>
          </a:xfrm>
          <a:prstGeom prst="roundRect">
            <a:avLst>
              <a:gd name="adj" fmla="val 5845"/>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4" name="矩形 23"/>
          <p:cNvSpPr/>
          <p:nvPr/>
        </p:nvSpPr>
        <p:spPr>
          <a:xfrm>
            <a:off x="4860032" y="2774034"/>
            <a:ext cx="3746700" cy="1393779"/>
          </a:xfrm>
          <a:prstGeom prst="rect">
            <a:avLst/>
          </a:prstGeom>
        </p:spPr>
        <p:txBody>
          <a:bodyPr wrap="square">
            <a:spAutoFit/>
          </a:bodyPr>
          <a:lstStyle/>
          <a:p>
            <a:pPr marL="285750" indent="-285750">
              <a:lnSpc>
                <a:spcPct val="120000"/>
              </a:lnSpc>
              <a:spcBef>
                <a:spcPts val="600"/>
              </a:spcBef>
              <a:buFont typeface="Wingdings" panose="05000000000000000000" pitchFamily="2" charset="2"/>
              <a:buChar char="n"/>
            </a:pPr>
            <a:r>
              <a:rPr lang="zh-CN" altLang="en-US" dirty="0">
                <a:solidFill>
                  <a:schemeClr val="tx1">
                    <a:lumMod val="75000"/>
                    <a:lumOff val="25000"/>
                  </a:schemeClr>
                </a:solidFill>
                <a:latin typeface="微软雅黑" pitchFamily="34" charset="-122"/>
                <a:ea typeface="微软雅黑" pitchFamily="34" charset="-122"/>
              </a:rPr>
              <a:t>外部寄存器是计算机中其它一些部件上用于暂存数据的寄存器，它与</a:t>
            </a:r>
            <a:r>
              <a:rPr lang="en-US" altLang="zh-CN" dirty="0">
                <a:solidFill>
                  <a:schemeClr val="tx1">
                    <a:lumMod val="75000"/>
                    <a:lumOff val="25000"/>
                  </a:schemeClr>
                </a:solidFill>
                <a:latin typeface="微软雅黑" pitchFamily="34" charset="-122"/>
                <a:ea typeface="微软雅黑" pitchFamily="34" charset="-122"/>
              </a:rPr>
              <a:t>CPU</a:t>
            </a:r>
            <a:r>
              <a:rPr lang="zh-CN" altLang="en-US" dirty="0">
                <a:solidFill>
                  <a:schemeClr val="tx1">
                    <a:lumMod val="75000"/>
                    <a:lumOff val="25000"/>
                  </a:schemeClr>
                </a:solidFill>
                <a:latin typeface="微软雅黑" pitchFamily="34" charset="-122"/>
                <a:ea typeface="微软雅黑" pitchFamily="34" charset="-122"/>
              </a:rPr>
              <a:t>之间通过“端口”交换数据。</a:t>
            </a:r>
          </a:p>
        </p:txBody>
      </p:sp>
      <p:sp>
        <p:nvSpPr>
          <p:cNvPr id="25" name="Dark Gray"/>
          <p:cNvSpPr/>
          <p:nvPr/>
        </p:nvSpPr>
        <p:spPr bwMode="auto">
          <a:xfrm>
            <a:off x="558892" y="1268760"/>
            <a:ext cx="8064896" cy="633861"/>
          </a:xfrm>
          <a:prstGeom prst="roundRect">
            <a:avLst>
              <a:gd name="adj" fmla="val 0"/>
            </a:avLst>
          </a:prstGeom>
          <a:solidFill>
            <a:srgbClr val="ED7D31"/>
          </a:solidFill>
          <a:ln w="9525" cap="flat" cmpd="sng" algn="ctr">
            <a:noFill/>
            <a:prstDash val="solid"/>
            <a:headEnd type="none" w="med" len="med"/>
            <a:tailEnd type="none" w="med" len="med"/>
          </a:ln>
          <a:effectLst/>
        </p:spPr>
        <p:txBody>
          <a:bodyPr vert="horz" wrap="square" lIns="216000" tIns="34292" rIns="216000" bIns="34292" numCol="1" rtlCol="0" anchor="ctr" anchorCtr="0" compatLnSpc="1">
            <a:prstTxWarp prst="textNoShape">
              <a:avLst/>
            </a:prstTxWarp>
          </a:bodyPr>
          <a:lstStyle/>
          <a:p>
            <a:pPr indent="457200" defTabSz="685637" fontAlgn="base">
              <a:lnSpc>
                <a:spcPct val="120000"/>
              </a:lnSpc>
              <a:spcBef>
                <a:spcPct val="0"/>
              </a:spcBef>
              <a:spcAft>
                <a:spcPct val="0"/>
              </a:spcAft>
              <a:defRPr/>
            </a:pPr>
            <a:endParaRPr lang="en-US" sz="1600" b="1" kern="0" dirty="0">
              <a:solidFill>
                <a:schemeClr val="bg1"/>
              </a:solidFill>
              <a:latin typeface="微软雅黑" pitchFamily="34" charset="-122"/>
              <a:ea typeface="微软雅黑" pitchFamily="34" charset="-122"/>
              <a:cs typeface="Arial Unicode MS" pitchFamily="34" charset="-122"/>
            </a:endParaRPr>
          </a:p>
        </p:txBody>
      </p:sp>
      <p:sp>
        <p:nvSpPr>
          <p:cNvPr id="26" name="矩形 25"/>
          <p:cNvSpPr>
            <a:spLocks noChangeArrowheads="1"/>
          </p:cNvSpPr>
          <p:nvPr/>
        </p:nvSpPr>
        <p:spPr bwMode="auto">
          <a:xfrm>
            <a:off x="683568" y="1355459"/>
            <a:ext cx="7813418" cy="489365"/>
          </a:xfrm>
          <a:prstGeom prst="rect">
            <a:avLst/>
          </a:prstGeom>
          <a:noFill/>
          <a:ln w="9525">
            <a:noFill/>
            <a:prstDash val="dash"/>
            <a:miter lim="800000"/>
            <a:headEnd/>
            <a:tailEnd/>
          </a:ln>
        </p:spPr>
        <p:txBody>
          <a:bodyPr wrap="square">
            <a:spAutoFit/>
          </a:bodyPr>
          <a:lstStyle/>
          <a:p>
            <a:pPr>
              <a:lnSpc>
                <a:spcPct val="129000"/>
              </a:lnSpc>
              <a:spcAft>
                <a:spcPts val="600"/>
              </a:spcAft>
              <a:defRPr/>
            </a:pPr>
            <a:r>
              <a:rPr lang="zh-CN" altLang="en-US" sz="2000" b="1" dirty="0">
                <a:solidFill>
                  <a:schemeClr val="bg1"/>
                </a:solidFill>
                <a:latin typeface="微软雅黑" pitchFamily="34" charset="-122"/>
                <a:ea typeface="微软雅黑" pitchFamily="34" charset="-122"/>
              </a:rPr>
              <a:t>寄存器，是集成电路中非常重要的一种存储单元，通常由触发器组成。</a:t>
            </a:r>
          </a:p>
        </p:txBody>
      </p:sp>
      <p:sp>
        <p:nvSpPr>
          <p:cNvPr id="27" name="矩形 26"/>
          <p:cNvSpPr>
            <a:spLocks noChangeAspect="1"/>
          </p:cNvSpPr>
          <p:nvPr/>
        </p:nvSpPr>
        <p:spPr>
          <a:xfrm>
            <a:off x="539552" y="4464767"/>
            <a:ext cx="7996038" cy="1626598"/>
          </a:xfrm>
          <a:prstGeom prst="rect">
            <a:avLst/>
          </a:prstGeom>
          <a:ln>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dirty="0">
              <a:ea typeface="微软雅黑" panose="020B0503020204020204" pitchFamily="34" charset="-122"/>
            </a:endParaRPr>
          </a:p>
        </p:txBody>
      </p:sp>
      <p:sp>
        <p:nvSpPr>
          <p:cNvPr id="28" name="TextBox 17"/>
          <p:cNvSpPr txBox="1"/>
          <p:nvPr/>
        </p:nvSpPr>
        <p:spPr>
          <a:xfrm>
            <a:off x="1403648" y="4556911"/>
            <a:ext cx="7134353" cy="1320361"/>
          </a:xfrm>
          <a:prstGeom prst="rect">
            <a:avLst/>
          </a:prstGeom>
          <a:noFill/>
        </p:spPr>
        <p:txBody>
          <a:bodyPr wrap="square">
            <a:spAutoFit/>
          </a:bodyPr>
          <a:lstStyle/>
          <a:p>
            <a:pPr>
              <a:lnSpc>
                <a:spcPct val="133000"/>
              </a:lnSpc>
              <a:defRPr/>
            </a:pPr>
            <a:r>
              <a:rPr lang="zh-CN" altLang="en-US" sz="2000" b="1" dirty="0">
                <a:solidFill>
                  <a:srgbClr val="ED7D31"/>
                </a:solidFill>
                <a:latin typeface="微软雅黑" pitchFamily="34" charset="-122"/>
                <a:ea typeface="微软雅黑" pitchFamily="34" charset="-122"/>
              </a:rPr>
              <a:t>快：</a:t>
            </a:r>
            <a:r>
              <a:rPr lang="zh-CN" altLang="en-US" b="1" dirty="0">
                <a:solidFill>
                  <a:schemeClr val="tx1">
                    <a:lumMod val="65000"/>
                    <a:lumOff val="35000"/>
                  </a:schemeClr>
                </a:solidFill>
                <a:latin typeface="微软雅黑" pitchFamily="34" charset="-122"/>
                <a:ea typeface="微软雅黑" pitchFamily="34" charset="-122"/>
              </a:rPr>
              <a:t>寄存器是存储器中的最顶端，也是系统获得数据的最快速途径。</a:t>
            </a:r>
            <a:endParaRPr lang="en-US" altLang="zh-CN" b="1" dirty="0">
              <a:solidFill>
                <a:schemeClr val="tx1">
                  <a:lumMod val="65000"/>
                  <a:lumOff val="35000"/>
                </a:schemeClr>
              </a:solidFill>
              <a:latin typeface="微软雅黑" pitchFamily="34" charset="-122"/>
              <a:ea typeface="微软雅黑" pitchFamily="34" charset="-122"/>
            </a:endParaRPr>
          </a:p>
          <a:p>
            <a:pPr>
              <a:lnSpc>
                <a:spcPct val="133000"/>
              </a:lnSpc>
              <a:defRPr/>
            </a:pPr>
            <a:r>
              <a:rPr lang="zh-CN" altLang="en-US" sz="2000" b="1" dirty="0">
                <a:solidFill>
                  <a:srgbClr val="1D8DE5"/>
                </a:solidFill>
                <a:latin typeface="微软雅黑" pitchFamily="34" charset="-122"/>
                <a:ea typeface="微软雅黑" pitchFamily="34" charset="-122"/>
              </a:rPr>
              <a:t>少：</a:t>
            </a:r>
            <a:r>
              <a:rPr lang="zh-CN" altLang="en-US" b="1" dirty="0">
                <a:solidFill>
                  <a:schemeClr val="tx1">
                    <a:lumMod val="65000"/>
                    <a:lumOff val="35000"/>
                  </a:schemeClr>
                </a:solidFill>
                <a:latin typeface="微软雅黑" pitchFamily="34" charset="-122"/>
                <a:ea typeface="微软雅黑" pitchFamily="34" charset="-122"/>
              </a:rPr>
              <a:t>寄存器位于</a:t>
            </a:r>
            <a:r>
              <a:rPr lang="en-US" altLang="zh-CN" b="1" dirty="0">
                <a:solidFill>
                  <a:schemeClr val="tx1">
                    <a:lumMod val="65000"/>
                    <a:lumOff val="35000"/>
                  </a:schemeClr>
                </a:solidFill>
                <a:latin typeface="微软雅黑" pitchFamily="34" charset="-122"/>
                <a:ea typeface="微软雅黑" pitchFamily="34" charset="-122"/>
              </a:rPr>
              <a:t>CPU</a:t>
            </a:r>
            <a:r>
              <a:rPr lang="zh-CN" altLang="en-US" b="1" dirty="0">
                <a:solidFill>
                  <a:schemeClr val="tx1">
                    <a:lumMod val="65000"/>
                    <a:lumOff val="35000"/>
                  </a:schemeClr>
                </a:solidFill>
                <a:latin typeface="微软雅黑" pitchFamily="34" charset="-122"/>
                <a:ea typeface="微软雅黑" pitchFamily="34" charset="-122"/>
              </a:rPr>
              <a:t>内部，数量很少，</a:t>
            </a:r>
            <a:r>
              <a:rPr lang="en-US" altLang="zh-CN" b="1" dirty="0">
                <a:solidFill>
                  <a:schemeClr val="tx1">
                    <a:lumMod val="65000"/>
                    <a:lumOff val="35000"/>
                  </a:schemeClr>
                </a:solidFill>
                <a:latin typeface="微软雅黑" pitchFamily="34" charset="-122"/>
                <a:ea typeface="微软雅黑" pitchFamily="34" charset="-122"/>
              </a:rPr>
              <a:t>8086</a:t>
            </a:r>
            <a:r>
              <a:rPr lang="zh-CN" altLang="en-US" b="1" dirty="0">
                <a:solidFill>
                  <a:schemeClr val="tx1">
                    <a:lumMod val="65000"/>
                    <a:lumOff val="35000"/>
                  </a:schemeClr>
                </a:solidFill>
                <a:latin typeface="微软雅黑" pitchFamily="34" charset="-122"/>
                <a:ea typeface="微软雅黑" pitchFamily="34" charset="-122"/>
              </a:rPr>
              <a:t>仅十四个。</a:t>
            </a:r>
            <a:endParaRPr lang="en-US" altLang="zh-CN" b="1" dirty="0">
              <a:solidFill>
                <a:schemeClr val="tx1">
                  <a:lumMod val="65000"/>
                  <a:lumOff val="35000"/>
                </a:schemeClr>
              </a:solidFill>
              <a:latin typeface="微软雅黑" pitchFamily="34" charset="-122"/>
              <a:ea typeface="微软雅黑" pitchFamily="34" charset="-122"/>
            </a:endParaRPr>
          </a:p>
          <a:p>
            <a:pPr>
              <a:lnSpc>
                <a:spcPct val="133000"/>
              </a:lnSpc>
              <a:defRPr/>
            </a:pPr>
            <a:r>
              <a:rPr lang="zh-CN" altLang="en-US" sz="2000" b="1" dirty="0">
                <a:solidFill>
                  <a:srgbClr val="ED7D31"/>
                </a:solidFill>
                <a:latin typeface="微软雅黑" pitchFamily="34" charset="-122"/>
                <a:ea typeface="微软雅黑" pitchFamily="34" charset="-122"/>
              </a:rPr>
              <a:t>名：</a:t>
            </a:r>
            <a:r>
              <a:rPr lang="zh-CN" altLang="en-US" b="1" dirty="0">
                <a:solidFill>
                  <a:schemeClr val="tx1">
                    <a:lumMod val="65000"/>
                    <a:lumOff val="35000"/>
                  </a:schemeClr>
                </a:solidFill>
                <a:latin typeface="微软雅黑" pitchFamily="34" charset="-122"/>
                <a:ea typeface="微软雅黑" pitchFamily="34" charset="-122"/>
              </a:rPr>
              <a:t>每个内部寄存器都有一个名字，而没有类似存储器的地址编号。 </a:t>
            </a:r>
            <a:endParaRPr lang="zh-CN" altLang="en-US" b="1" dirty="0">
              <a:solidFill>
                <a:schemeClr val="tx1">
                  <a:lumMod val="65000"/>
                  <a:lumOff val="35000"/>
                </a:schemeClr>
              </a:solidFill>
              <a:latin typeface="Arial" charset="0"/>
              <a:ea typeface="微软雅黑" panose="020B0503020204020204" pitchFamily="34" charset="-122"/>
            </a:endParaRPr>
          </a:p>
        </p:txBody>
      </p:sp>
      <p:pic>
        <p:nvPicPr>
          <p:cNvPr id="29" name="Picture 2" descr="E:\仝德志文件，勿删！\03-参考文档\！PPT图片及版面资源\06-PPT精选插图\12-标签\蓝色燕尾01.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rot="16200000">
            <a:off x="106895" y="4910676"/>
            <a:ext cx="1656184" cy="565040"/>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19"/>
          <p:cNvSpPr txBox="1"/>
          <p:nvPr/>
        </p:nvSpPr>
        <p:spPr>
          <a:xfrm>
            <a:off x="755576" y="4484798"/>
            <a:ext cx="400110" cy="1349087"/>
          </a:xfrm>
          <a:prstGeom prst="rect">
            <a:avLst/>
          </a:prstGeom>
          <a:noFill/>
        </p:spPr>
        <p:txBody>
          <a:bodyPr vert="eaVert" wrap="none" rtlCol="0">
            <a:spAutoFit/>
          </a:bodyPr>
          <a:lstStyle/>
          <a:p>
            <a:r>
              <a:rPr lang="zh-CN" altLang="en-US" sz="1400" b="1" dirty="0">
                <a:solidFill>
                  <a:schemeClr val="bg1"/>
                </a:solidFill>
                <a:latin typeface="微软雅黑" pitchFamily="34" charset="-122"/>
                <a:ea typeface="微软雅黑" pitchFamily="34" charset="-122"/>
              </a:rPr>
              <a:t>内部寄存器特点</a:t>
            </a:r>
          </a:p>
        </p:txBody>
      </p:sp>
    </p:spTree>
    <p:extLst>
      <p:ext uri="{BB962C8B-B14F-4D97-AF65-F5344CB8AC3E}">
        <p14:creationId xmlns:p14="http://schemas.microsoft.com/office/powerpoint/2010/main" val="1107647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1000"/>
                                        <p:tgtEl>
                                          <p:spTgt spid="26"/>
                                        </p:tgtEl>
                                      </p:cBhvr>
                                    </p:animEffect>
                                    <p:anim calcmode="lin" valueType="num">
                                      <p:cBhvr>
                                        <p:cTn id="13" dur="1000" fill="hold"/>
                                        <p:tgtEl>
                                          <p:spTgt spid="26"/>
                                        </p:tgtEl>
                                        <p:attrNameLst>
                                          <p:attrName>ppt_x</p:attrName>
                                        </p:attrNameLst>
                                      </p:cBhvr>
                                      <p:tavLst>
                                        <p:tav tm="0">
                                          <p:val>
                                            <p:strVal val="#ppt_x"/>
                                          </p:val>
                                        </p:tav>
                                        <p:tav tm="100000">
                                          <p:val>
                                            <p:strVal val="#ppt_x"/>
                                          </p:val>
                                        </p:tav>
                                      </p:tavLst>
                                    </p:anim>
                                    <p:anim calcmode="lin" valueType="num">
                                      <p:cBhvr>
                                        <p:cTn id="1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down)">
                                      <p:cBhvr>
                                        <p:cTn id="39" dur="500"/>
                                        <p:tgtEl>
                                          <p:spTgt spid="27"/>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down)">
                                      <p:cBhvr>
                                        <p:cTn id="42" dur="500"/>
                                        <p:tgtEl>
                                          <p:spTgt spid="28"/>
                                        </p:tgtEl>
                                      </p:cBhvr>
                                    </p:animEffect>
                                  </p:childTnLst>
                                </p:cTn>
                              </p:par>
                              <p:par>
                                <p:cTn id="43" presetID="22" presetClass="entr" presetSubtype="4"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wipe(down)">
                                      <p:cBhvr>
                                        <p:cTn id="45" dur="500"/>
                                        <p:tgtEl>
                                          <p:spTgt spid="29"/>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wipe(down)">
                                      <p:cBhvr>
                                        <p:cTn id="4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p:bldP spid="23" grpId="0" animBg="1"/>
      <p:bldP spid="24" grpId="0"/>
      <p:bldP spid="25" grpId="0" animBg="1"/>
      <p:bldP spid="26" grpId="0"/>
      <p:bldP spid="27" grpId="0" animBg="1"/>
      <p:bldP spid="28" grpId="0"/>
      <p:bldP spid="3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直接连接符 74"/>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77" name="Rectangle 2"/>
          <p:cNvSpPr>
            <a:spLocks noChangeArrowheads="1"/>
          </p:cNvSpPr>
          <p:nvPr/>
        </p:nvSpPr>
        <p:spPr bwMode="auto">
          <a:xfrm>
            <a:off x="1704205" y="537517"/>
            <a:ext cx="5879607"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r>
              <a:rPr lang="zh-CN" altLang="en-US" sz="3800" b="1" dirty="0">
                <a:solidFill>
                  <a:srgbClr val="00C4F0"/>
                </a:solidFill>
                <a:latin typeface="微软雅黑" pitchFamily="34" charset="-122"/>
                <a:ea typeface="微软雅黑" pitchFamily="34" charset="-122"/>
              </a:rPr>
              <a:t>微处理器</a:t>
            </a:r>
            <a:r>
              <a:rPr lang="en-US" altLang="zh-CN" sz="3800" b="1" dirty="0">
                <a:solidFill>
                  <a:srgbClr val="00C4F0"/>
                </a:solidFill>
                <a:latin typeface="微软雅黑" pitchFamily="34" charset="-122"/>
                <a:ea typeface="微软雅黑" pitchFamily="34" charset="-122"/>
              </a:rPr>
              <a:t>—</a:t>
            </a:r>
            <a:r>
              <a:rPr lang="zh-CN" altLang="en-US" sz="2800" b="1" kern="0" dirty="0">
                <a:solidFill>
                  <a:schemeClr val="tx1">
                    <a:lumMod val="65000"/>
                    <a:lumOff val="35000"/>
                  </a:schemeClr>
                </a:solidFill>
                <a:latin typeface="微软雅黑" pitchFamily="34" charset="-122"/>
                <a:ea typeface="微软雅黑" pitchFamily="34" charset="-122"/>
              </a:rPr>
              <a:t>微处理器的性能指标</a:t>
            </a:r>
            <a:endParaRPr lang="en-US" altLang="zh-CN" sz="2800" b="1" kern="0" dirty="0">
              <a:solidFill>
                <a:schemeClr val="tx1">
                  <a:lumMod val="65000"/>
                  <a:lumOff val="35000"/>
                </a:schemeClr>
              </a:solidFill>
              <a:latin typeface="微软雅黑" pitchFamily="34" charset="-122"/>
              <a:ea typeface="微软雅黑" pitchFamily="34" charset="-122"/>
            </a:endParaRPr>
          </a:p>
        </p:txBody>
      </p:sp>
      <p:sp>
        <p:nvSpPr>
          <p:cNvPr id="9" name="矩形 4"/>
          <p:cNvSpPr>
            <a:spLocks noChangeArrowheads="1"/>
          </p:cNvSpPr>
          <p:nvPr/>
        </p:nvSpPr>
        <p:spPr bwMode="auto">
          <a:xfrm>
            <a:off x="446777" y="1511401"/>
            <a:ext cx="4020658" cy="4170372"/>
          </a:xfrm>
          <a:prstGeom prst="rect">
            <a:avLst/>
          </a:prstGeom>
          <a:noFill/>
          <a:ln w="9525">
            <a:noFill/>
            <a:miter lim="800000"/>
            <a:headEnd/>
            <a:tailEnd/>
          </a:ln>
        </p:spPr>
        <p:txBody>
          <a:bodyPr wrap="square">
            <a:spAutoFit/>
          </a:bodyPr>
          <a:lstStyle/>
          <a:p>
            <a:pPr marL="285750" indent="-285750">
              <a:lnSpc>
                <a:spcPct val="130000"/>
              </a:lnSpc>
              <a:spcBef>
                <a:spcPts val="200"/>
              </a:spcBef>
              <a:spcAft>
                <a:spcPts val="60"/>
              </a:spcAft>
              <a:buFont typeface="Wingdings" panose="05000000000000000000" pitchFamily="2" charset="2"/>
              <a:buChar char="n"/>
            </a:pPr>
            <a:r>
              <a:rPr lang="zh-CN" altLang="en-US" b="1" dirty="0">
                <a:solidFill>
                  <a:schemeClr val="tx1">
                    <a:lumMod val="65000"/>
                    <a:lumOff val="35000"/>
                  </a:schemeClr>
                </a:solidFill>
                <a:latin typeface="微软雅黑" pitchFamily="34" charset="-122"/>
                <a:ea typeface="微软雅黑" pitchFamily="34" charset="-122"/>
              </a:rPr>
              <a:t>字长：字长是最重要的指标之一。它是</a:t>
            </a:r>
            <a:r>
              <a:rPr lang="en-US" altLang="zh-CN" b="1" dirty="0">
                <a:solidFill>
                  <a:schemeClr val="tx1">
                    <a:lumMod val="65000"/>
                    <a:lumOff val="35000"/>
                  </a:schemeClr>
                </a:solidFill>
                <a:latin typeface="微软雅黑" pitchFamily="34" charset="-122"/>
                <a:ea typeface="微软雅黑" pitchFamily="34" charset="-122"/>
              </a:rPr>
              <a:t>CPU</a:t>
            </a:r>
            <a:r>
              <a:rPr lang="zh-CN" altLang="en-US" b="1" dirty="0">
                <a:solidFill>
                  <a:schemeClr val="tx1">
                    <a:lumMod val="65000"/>
                    <a:lumOff val="35000"/>
                  </a:schemeClr>
                </a:solidFill>
                <a:latin typeface="微软雅黑" pitchFamily="34" charset="-122"/>
                <a:ea typeface="微软雅黑" pitchFamily="34" charset="-122"/>
              </a:rPr>
              <a:t>内部</a:t>
            </a:r>
            <a:r>
              <a:rPr lang="zh-CN" altLang="en-US" b="1" dirty="0">
                <a:solidFill>
                  <a:srgbClr val="FF0000"/>
                </a:solidFill>
                <a:latin typeface="微软雅黑" pitchFamily="34" charset="-122"/>
                <a:ea typeface="微软雅黑" pitchFamily="34" charset="-122"/>
              </a:rPr>
              <a:t>一次能同时处理的数据的位数</a:t>
            </a:r>
            <a:r>
              <a:rPr lang="zh-CN" altLang="en-US" b="1" dirty="0">
                <a:solidFill>
                  <a:schemeClr val="tx1">
                    <a:lumMod val="65000"/>
                    <a:lumOff val="35000"/>
                  </a:schemeClr>
                </a:solidFill>
                <a:latin typeface="微软雅黑" pitchFamily="34" charset="-122"/>
                <a:ea typeface="微软雅黑" pitchFamily="34" charset="-122"/>
              </a:rPr>
              <a:t>。字长标志着计算精度，字长越长，它能表示的数值范围越大，计算出的结果有效数的位数就越多，精度也就越高；</a:t>
            </a:r>
            <a:endParaRPr lang="en-US" altLang="zh-CN" b="1" dirty="0">
              <a:solidFill>
                <a:schemeClr val="tx1">
                  <a:lumMod val="65000"/>
                  <a:lumOff val="35000"/>
                </a:schemeClr>
              </a:solidFill>
              <a:latin typeface="微软雅黑" pitchFamily="34" charset="-122"/>
              <a:ea typeface="微软雅黑" pitchFamily="34" charset="-122"/>
            </a:endParaRPr>
          </a:p>
          <a:p>
            <a:pPr marL="285750" indent="-285750">
              <a:lnSpc>
                <a:spcPct val="130000"/>
              </a:lnSpc>
              <a:spcBef>
                <a:spcPts val="200"/>
              </a:spcBef>
              <a:spcAft>
                <a:spcPts val="60"/>
              </a:spcAft>
              <a:buFont typeface="Wingdings" panose="05000000000000000000" pitchFamily="2" charset="2"/>
              <a:buChar char="n"/>
            </a:pPr>
            <a:r>
              <a:rPr lang="zh-CN" altLang="en-US" b="1" dirty="0">
                <a:solidFill>
                  <a:schemeClr val="tx1">
                    <a:lumMod val="65000"/>
                    <a:lumOff val="35000"/>
                  </a:schemeClr>
                </a:solidFill>
                <a:latin typeface="微软雅黑" pitchFamily="34" charset="-122"/>
                <a:ea typeface="微软雅黑" pitchFamily="34" charset="-122"/>
              </a:rPr>
              <a:t>地址位长度：决定了</a:t>
            </a:r>
            <a:r>
              <a:rPr lang="en-US" altLang="zh-CN" b="1" dirty="0">
                <a:solidFill>
                  <a:schemeClr val="tx1">
                    <a:lumMod val="65000"/>
                    <a:lumOff val="35000"/>
                  </a:schemeClr>
                </a:solidFill>
                <a:latin typeface="微软雅黑" pitchFamily="34" charset="-122"/>
                <a:ea typeface="微软雅黑" pitchFamily="34" charset="-122"/>
              </a:rPr>
              <a:t>CPU</a:t>
            </a:r>
            <a:r>
              <a:rPr lang="zh-CN" altLang="en-US" b="1" dirty="0">
                <a:solidFill>
                  <a:schemeClr val="tx1">
                    <a:lumMod val="65000"/>
                    <a:lumOff val="35000"/>
                  </a:schemeClr>
                </a:solidFill>
                <a:latin typeface="微软雅黑" pitchFamily="34" charset="-122"/>
                <a:ea typeface="微软雅黑" pitchFamily="34" charset="-122"/>
              </a:rPr>
              <a:t>寻址能力和</a:t>
            </a:r>
            <a:r>
              <a:rPr lang="zh-CN" altLang="en-US" b="1" dirty="0">
                <a:solidFill>
                  <a:srgbClr val="0584DA"/>
                </a:solidFill>
                <a:latin typeface="微软雅黑" pitchFamily="34" charset="-122"/>
                <a:ea typeface="微软雅黑" pitchFamily="34" charset="-122"/>
              </a:rPr>
              <a:t>最大内存</a:t>
            </a:r>
            <a:r>
              <a:rPr lang="zh-CN" altLang="en-US" b="1" dirty="0">
                <a:solidFill>
                  <a:schemeClr val="tx1">
                    <a:lumMod val="65000"/>
                    <a:lumOff val="35000"/>
                  </a:schemeClr>
                </a:solidFill>
                <a:latin typeface="微软雅黑" pitchFamily="34" charset="-122"/>
                <a:ea typeface="微软雅黑" pitchFamily="34" charset="-122"/>
              </a:rPr>
              <a:t>的大小；</a:t>
            </a:r>
            <a:endParaRPr lang="en-US" altLang="zh-CN" b="1" dirty="0">
              <a:solidFill>
                <a:schemeClr val="tx1">
                  <a:lumMod val="65000"/>
                  <a:lumOff val="35000"/>
                </a:schemeClr>
              </a:solidFill>
              <a:latin typeface="微软雅黑" pitchFamily="34" charset="-122"/>
              <a:ea typeface="微软雅黑" pitchFamily="34" charset="-122"/>
            </a:endParaRPr>
          </a:p>
          <a:p>
            <a:pPr marL="285750" indent="-285750">
              <a:lnSpc>
                <a:spcPct val="130000"/>
              </a:lnSpc>
              <a:spcBef>
                <a:spcPts val="200"/>
              </a:spcBef>
              <a:spcAft>
                <a:spcPts val="60"/>
              </a:spcAft>
              <a:buFont typeface="Wingdings" panose="05000000000000000000" pitchFamily="2" charset="2"/>
              <a:buChar char="n"/>
            </a:pPr>
            <a:r>
              <a:rPr lang="zh-CN" altLang="en-US" b="1" dirty="0">
                <a:solidFill>
                  <a:schemeClr val="tx1">
                    <a:lumMod val="65000"/>
                    <a:lumOff val="35000"/>
                  </a:schemeClr>
                </a:solidFill>
                <a:latin typeface="微软雅黑" pitchFamily="34" charset="-122"/>
                <a:ea typeface="微软雅黑" pitchFamily="34" charset="-122"/>
              </a:rPr>
              <a:t>运算速度： 运算速度是</a:t>
            </a:r>
            <a:r>
              <a:rPr lang="zh-CN" altLang="en-US" b="1" dirty="0">
                <a:solidFill>
                  <a:schemeClr val="accent6">
                    <a:lumMod val="75000"/>
                  </a:schemeClr>
                </a:solidFill>
                <a:latin typeface="微软雅黑" pitchFamily="34" charset="-122"/>
                <a:ea typeface="微软雅黑" pitchFamily="34" charset="-122"/>
              </a:rPr>
              <a:t>微机性能</a:t>
            </a:r>
            <a:r>
              <a:rPr lang="zh-CN" altLang="en-US" b="1" dirty="0">
                <a:solidFill>
                  <a:schemeClr val="tx1">
                    <a:lumMod val="65000"/>
                    <a:lumOff val="35000"/>
                  </a:schemeClr>
                </a:solidFill>
                <a:latin typeface="微软雅黑" pitchFamily="34" charset="-122"/>
                <a:ea typeface="微软雅黑" pitchFamily="34" charset="-122"/>
              </a:rPr>
              <a:t>的综合表现，它是指微处理器执行指令的速率。</a:t>
            </a:r>
          </a:p>
        </p:txBody>
      </p:sp>
      <p:sp>
        <p:nvSpPr>
          <p:cNvPr id="16" name="Text Box 44"/>
          <p:cNvSpPr txBox="1">
            <a:spLocks noChangeArrowheads="1"/>
          </p:cNvSpPr>
          <p:nvPr/>
        </p:nvSpPr>
        <p:spPr bwMode="auto">
          <a:xfrm>
            <a:off x="4676938" y="1511401"/>
            <a:ext cx="3773212" cy="345787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marL="285750" indent="-285750">
              <a:buFont typeface="Wingdings" pitchFamily="2" charset="2"/>
              <a:buChar char="ü"/>
            </a:pPr>
            <a:r>
              <a:rPr lang="zh-CN" altLang="en-US" sz="1800" b="1" dirty="0">
                <a:solidFill>
                  <a:schemeClr val="tx1">
                    <a:lumMod val="65000"/>
                    <a:lumOff val="35000"/>
                  </a:schemeClr>
                </a:solidFill>
              </a:rPr>
              <a:t>你听说的</a:t>
            </a:r>
            <a:r>
              <a:rPr lang="en-US" altLang="zh-CN" sz="1800" b="1" dirty="0">
                <a:solidFill>
                  <a:srgbClr val="FF0000"/>
                </a:solidFill>
              </a:rPr>
              <a:t>32</a:t>
            </a:r>
            <a:r>
              <a:rPr lang="zh-CN" altLang="en-US" sz="1800" b="1" dirty="0">
                <a:solidFill>
                  <a:srgbClr val="FF0000"/>
                </a:solidFill>
              </a:rPr>
              <a:t>位</a:t>
            </a:r>
            <a:r>
              <a:rPr lang="en-US" altLang="zh-CN" sz="1800" b="1" dirty="0">
                <a:solidFill>
                  <a:srgbClr val="FF0000"/>
                </a:solidFill>
              </a:rPr>
              <a:t>CPU</a:t>
            </a:r>
            <a:r>
              <a:rPr lang="zh-CN" altLang="en-US" sz="1800" b="1" dirty="0">
                <a:solidFill>
                  <a:srgbClr val="FF0000"/>
                </a:solidFill>
              </a:rPr>
              <a:t>，</a:t>
            </a:r>
            <a:r>
              <a:rPr lang="en-US" altLang="zh-CN" sz="1800" b="1" dirty="0">
                <a:solidFill>
                  <a:srgbClr val="FF0000"/>
                </a:solidFill>
              </a:rPr>
              <a:t>64</a:t>
            </a:r>
            <a:r>
              <a:rPr lang="zh-CN" altLang="en-US" sz="1800" b="1" dirty="0">
                <a:solidFill>
                  <a:srgbClr val="FF0000"/>
                </a:solidFill>
              </a:rPr>
              <a:t>位</a:t>
            </a:r>
            <a:r>
              <a:rPr lang="en-US" altLang="zh-CN" sz="1800" b="1" dirty="0">
                <a:solidFill>
                  <a:srgbClr val="FF0000"/>
                </a:solidFill>
              </a:rPr>
              <a:t>CPU</a:t>
            </a:r>
            <a:r>
              <a:rPr lang="zh-CN" altLang="en-US" sz="1800" b="1" dirty="0">
                <a:solidFill>
                  <a:srgbClr val="FF0000"/>
                </a:solidFill>
              </a:rPr>
              <a:t>指的是什么？</a:t>
            </a:r>
            <a:endParaRPr lang="zh-CN" altLang="en-US" sz="1800" b="1" dirty="0">
              <a:solidFill>
                <a:schemeClr val="tx1">
                  <a:lumMod val="65000"/>
                  <a:lumOff val="35000"/>
                </a:schemeClr>
              </a:solidFill>
            </a:endParaRPr>
          </a:p>
          <a:p>
            <a:pPr marL="285750" indent="-285750">
              <a:buFont typeface="Wingdings" pitchFamily="2" charset="2"/>
              <a:buChar char="ü"/>
            </a:pPr>
            <a:r>
              <a:rPr lang="zh-CN" altLang="en-US" sz="1800" b="1" dirty="0">
                <a:solidFill>
                  <a:schemeClr val="tx1">
                    <a:lumMod val="65000"/>
                    <a:lumOff val="35000"/>
                  </a:schemeClr>
                </a:solidFill>
              </a:rPr>
              <a:t>你听说过的，支持</a:t>
            </a:r>
            <a:r>
              <a:rPr lang="zh-CN" altLang="en-US" sz="1800" b="1" dirty="0">
                <a:solidFill>
                  <a:srgbClr val="0584DA"/>
                </a:solidFill>
              </a:rPr>
              <a:t>最大内存</a:t>
            </a:r>
            <a:r>
              <a:rPr lang="en-US" altLang="zh-CN" sz="1800" b="1" dirty="0">
                <a:solidFill>
                  <a:srgbClr val="0584DA"/>
                </a:solidFill>
              </a:rPr>
              <a:t>4G</a:t>
            </a:r>
            <a:r>
              <a:rPr lang="zh-CN" altLang="en-US" sz="1800" b="1" dirty="0">
                <a:solidFill>
                  <a:schemeClr val="tx1">
                    <a:lumMod val="65000"/>
                    <a:lumOff val="35000"/>
                  </a:schemeClr>
                </a:solidFill>
              </a:rPr>
              <a:t>，其地址位长度是多少呢？</a:t>
            </a:r>
            <a:r>
              <a:rPr lang="en-US" altLang="zh-CN" sz="1800" b="1" dirty="0">
                <a:solidFill>
                  <a:srgbClr val="0584DA"/>
                </a:solidFill>
              </a:rPr>
              <a:t>16</a:t>
            </a:r>
            <a:r>
              <a:rPr lang="zh-CN" altLang="en-US" sz="1800" b="1" dirty="0">
                <a:solidFill>
                  <a:srgbClr val="0584DA"/>
                </a:solidFill>
              </a:rPr>
              <a:t>条地址线</a:t>
            </a:r>
            <a:r>
              <a:rPr lang="zh-CN" altLang="en-US" sz="1800" b="1" dirty="0">
                <a:solidFill>
                  <a:schemeClr val="tx1">
                    <a:lumMod val="65000"/>
                    <a:lumOff val="35000"/>
                  </a:schemeClr>
                </a:solidFill>
              </a:rPr>
              <a:t>可访问多少字节？</a:t>
            </a:r>
            <a:r>
              <a:rPr lang="en-US" altLang="zh-CN" sz="1800" b="1" dirty="0">
                <a:solidFill>
                  <a:srgbClr val="0584DA"/>
                </a:solidFill>
              </a:rPr>
              <a:t>20</a:t>
            </a:r>
            <a:r>
              <a:rPr lang="zh-CN" altLang="en-US" sz="1800" b="1" dirty="0">
                <a:solidFill>
                  <a:srgbClr val="0584DA"/>
                </a:solidFill>
              </a:rPr>
              <a:t>条地址线</a:t>
            </a:r>
            <a:r>
              <a:rPr lang="zh-CN" altLang="en-US" sz="1800" b="1" dirty="0">
                <a:solidFill>
                  <a:schemeClr val="tx1">
                    <a:lumMod val="65000"/>
                    <a:lumOff val="35000"/>
                  </a:schemeClr>
                </a:solidFill>
              </a:rPr>
              <a:t>可访问多少字节？</a:t>
            </a:r>
          </a:p>
          <a:p>
            <a:pPr marL="285750" indent="-285750">
              <a:buFont typeface="Wingdings" pitchFamily="2" charset="2"/>
              <a:buChar char="ü"/>
            </a:pPr>
            <a:r>
              <a:rPr lang="zh-CN" altLang="en-US" sz="1800" b="1" dirty="0">
                <a:solidFill>
                  <a:schemeClr val="tx1">
                    <a:lumMod val="65000"/>
                    <a:lumOff val="35000"/>
                  </a:schemeClr>
                </a:solidFill>
              </a:rPr>
              <a:t>你听说的</a:t>
            </a:r>
            <a:r>
              <a:rPr lang="en-US" altLang="zh-CN" sz="1800" b="1" dirty="0">
                <a:solidFill>
                  <a:srgbClr val="FF8500"/>
                </a:solidFill>
              </a:rPr>
              <a:t>CPU</a:t>
            </a:r>
            <a:r>
              <a:rPr lang="zh-CN" altLang="en-US" sz="1800" b="1" dirty="0">
                <a:solidFill>
                  <a:srgbClr val="FF8500"/>
                </a:solidFill>
              </a:rPr>
              <a:t>的主频是</a:t>
            </a:r>
            <a:r>
              <a:rPr lang="en-US" altLang="zh-CN" sz="1800" b="1" dirty="0">
                <a:solidFill>
                  <a:srgbClr val="FF8500"/>
                </a:solidFill>
              </a:rPr>
              <a:t>2GHz</a:t>
            </a:r>
            <a:r>
              <a:rPr lang="zh-CN" altLang="en-US" sz="1800" b="1" dirty="0">
                <a:solidFill>
                  <a:schemeClr val="tx1">
                    <a:lumMod val="65000"/>
                    <a:lumOff val="35000"/>
                  </a:schemeClr>
                </a:solidFill>
              </a:rPr>
              <a:t>，它是决定了</a:t>
            </a:r>
            <a:r>
              <a:rPr lang="en-US" altLang="zh-CN" sz="1800" b="1" dirty="0">
                <a:solidFill>
                  <a:schemeClr val="tx1">
                    <a:lumMod val="65000"/>
                    <a:lumOff val="35000"/>
                  </a:schemeClr>
                </a:solidFill>
              </a:rPr>
              <a:t>CPU</a:t>
            </a:r>
            <a:r>
              <a:rPr lang="zh-CN" altLang="en-US" sz="1800" b="1" dirty="0">
                <a:solidFill>
                  <a:schemeClr val="tx1">
                    <a:lumMod val="65000"/>
                    <a:lumOff val="35000"/>
                  </a:schemeClr>
                </a:solidFill>
              </a:rPr>
              <a:t>的运算速度</a:t>
            </a:r>
            <a:r>
              <a:rPr lang="zh-CN" altLang="en-US" sz="1800" b="1" dirty="0">
                <a:solidFill>
                  <a:srgbClr val="FF0000"/>
                </a:solidFill>
              </a:rPr>
              <a:t>主要</a:t>
            </a:r>
            <a:r>
              <a:rPr lang="zh-CN" altLang="en-US" sz="1800" b="1" dirty="0">
                <a:solidFill>
                  <a:schemeClr val="tx1">
                    <a:lumMod val="65000"/>
                    <a:lumOff val="35000"/>
                  </a:schemeClr>
                </a:solidFill>
              </a:rPr>
              <a:t>指标。</a:t>
            </a:r>
          </a:p>
        </p:txBody>
      </p:sp>
      <p:pic>
        <p:nvPicPr>
          <p:cNvPr id="17" name="图片 16" descr="问号01.png"/>
          <p:cNvPicPr>
            <a:picLocks noChangeAspect="1"/>
          </p:cNvPicPr>
          <p:nvPr/>
        </p:nvPicPr>
        <p:blipFill>
          <a:blip r:embed="rId3"/>
          <a:stretch>
            <a:fillRect/>
          </a:stretch>
        </p:blipFill>
        <p:spPr>
          <a:xfrm>
            <a:off x="6666719" y="4627772"/>
            <a:ext cx="1355751" cy="1054001"/>
          </a:xfrm>
          <a:prstGeom prst="rect">
            <a:avLst/>
          </a:prstGeom>
        </p:spPr>
      </p:pic>
      <p:sp>
        <p:nvSpPr>
          <p:cNvPr id="7" name="矩形 4"/>
          <p:cNvSpPr>
            <a:spLocks noChangeArrowheads="1"/>
          </p:cNvSpPr>
          <p:nvPr/>
        </p:nvSpPr>
        <p:spPr bwMode="auto">
          <a:xfrm>
            <a:off x="1920229" y="6012577"/>
            <a:ext cx="5028035" cy="584775"/>
          </a:xfrm>
          <a:prstGeom prst="rect">
            <a:avLst/>
          </a:prstGeom>
          <a:noFill/>
          <a:ln w="9525">
            <a:noFill/>
            <a:miter lim="800000"/>
            <a:headEnd/>
            <a:tailEnd/>
          </a:ln>
        </p:spPr>
        <p:txBody>
          <a:bodyPr wrap="square">
            <a:spAutoFit/>
          </a:bodyPr>
          <a:lstStyle/>
          <a:p>
            <a:r>
              <a:rPr lang="zh-CN" altLang="en-US" sz="1600" b="1" dirty="0">
                <a:ln w="17780" cmpd="sng">
                  <a:noFill/>
                  <a:prstDash val="solid"/>
                  <a:miter lim="800000"/>
                </a:ln>
                <a:solidFill>
                  <a:srgbClr val="1D8DE5"/>
                </a:solidFill>
                <a:latin typeface="微软雅黑" pitchFamily="34" charset="-122"/>
                <a:ea typeface="微软雅黑" pitchFamily="34" charset="-122"/>
              </a:rPr>
              <a:t>一个程序员去买肉，买了</a:t>
            </a:r>
            <a:r>
              <a:rPr lang="en-US" altLang="zh-CN" sz="1600" b="1" dirty="0">
                <a:ln w="17780" cmpd="sng">
                  <a:noFill/>
                  <a:prstDash val="solid"/>
                  <a:miter lim="800000"/>
                </a:ln>
                <a:solidFill>
                  <a:srgbClr val="1D8DE5"/>
                </a:solidFill>
                <a:latin typeface="微软雅黑" pitchFamily="34" charset="-122"/>
                <a:ea typeface="微软雅黑" pitchFamily="34" charset="-122"/>
              </a:rPr>
              <a:t>1</a:t>
            </a:r>
            <a:r>
              <a:rPr lang="zh-CN" altLang="en-US" sz="1600" b="1" dirty="0">
                <a:ln w="17780" cmpd="sng">
                  <a:noFill/>
                  <a:prstDash val="solid"/>
                  <a:miter lim="800000"/>
                </a:ln>
                <a:solidFill>
                  <a:srgbClr val="1D8DE5"/>
                </a:solidFill>
                <a:latin typeface="微软雅黑" pitchFamily="34" charset="-122"/>
                <a:ea typeface="微软雅黑" pitchFamily="34" charset="-122"/>
              </a:rPr>
              <a:t>公斤。回家称了一下，就去找老板算账，说少了</a:t>
            </a:r>
            <a:r>
              <a:rPr lang="en-US" altLang="zh-CN" sz="1600" b="1" dirty="0">
                <a:ln w="17780" cmpd="sng">
                  <a:noFill/>
                  <a:prstDash val="solid"/>
                  <a:miter lim="800000"/>
                </a:ln>
                <a:solidFill>
                  <a:srgbClr val="E81A30"/>
                </a:solidFill>
                <a:latin typeface="微软雅黑" pitchFamily="34" charset="-122"/>
                <a:ea typeface="微软雅黑" pitchFamily="34" charset="-122"/>
              </a:rPr>
              <a:t>24</a:t>
            </a:r>
            <a:r>
              <a:rPr lang="zh-CN" altLang="en-US" sz="1600" b="1" dirty="0">
                <a:ln w="17780" cmpd="sng">
                  <a:noFill/>
                  <a:prstDash val="solid"/>
                  <a:miter lim="800000"/>
                </a:ln>
                <a:solidFill>
                  <a:srgbClr val="E81A30"/>
                </a:solidFill>
                <a:latin typeface="微软雅黑" pitchFamily="34" charset="-122"/>
                <a:ea typeface="微软雅黑" pitchFamily="34" charset="-122"/>
              </a:rPr>
              <a:t>克</a:t>
            </a:r>
            <a:r>
              <a:rPr lang="zh-CN" altLang="en-US" sz="1600" b="1" dirty="0">
                <a:ln w="17780" cmpd="sng">
                  <a:noFill/>
                  <a:prstDash val="solid"/>
                  <a:miter lim="800000"/>
                </a:ln>
                <a:solidFill>
                  <a:srgbClr val="00B0F0"/>
                </a:solidFill>
                <a:latin typeface="微软雅黑" pitchFamily="34" charset="-122"/>
                <a:ea typeface="微软雅黑" pitchFamily="34" charset="-122"/>
              </a:rPr>
              <a:t>。</a:t>
            </a:r>
          </a:p>
        </p:txBody>
      </p:sp>
      <p:pic>
        <p:nvPicPr>
          <p:cNvPr id="8" name="图片 7" descr="C:\Users\DM-Wang\Pictures\dff66b7b-0d6a-47a0-8552-0cdd69f02e8d.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83628" y="6069211"/>
            <a:ext cx="480060" cy="519430"/>
          </a:xfrm>
          <a:prstGeom prst="rect">
            <a:avLst/>
          </a:prstGeom>
          <a:noFill/>
          <a:ln>
            <a:noFill/>
          </a:ln>
        </p:spPr>
      </p:pic>
      <p:cxnSp>
        <p:nvCxnSpPr>
          <p:cNvPr id="10" name="直接连接符 9"/>
          <p:cNvCxnSpPr/>
          <p:nvPr/>
        </p:nvCxnSpPr>
        <p:spPr bwMode="auto">
          <a:xfrm>
            <a:off x="4572000" y="1290762"/>
            <a:ext cx="0" cy="4606030"/>
          </a:xfrm>
          <a:prstGeom prst="line">
            <a:avLst/>
          </a:prstGeom>
          <a:noFill/>
          <a:ln w="28575" cap="flat" cmpd="sng" algn="ctr">
            <a:solidFill>
              <a:srgbClr val="00B050"/>
            </a:solidFill>
            <a:prstDash val="sysDot"/>
          </a:ln>
          <a:effectLst/>
        </p:spPr>
      </p:cxnSp>
    </p:spTree>
    <p:extLst>
      <p:ext uri="{BB962C8B-B14F-4D97-AF65-F5344CB8AC3E}">
        <p14:creationId xmlns:p14="http://schemas.microsoft.com/office/powerpoint/2010/main" val="4133267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2" presetClass="entr" presetSubtype="0"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Scale>
                                      <p:cBhvr>
                                        <p:cTn id="13" dur="1000" decel="50000" fill="hold">
                                          <p:stCondLst>
                                            <p:cond delay="0"/>
                                          </p:stCondLst>
                                        </p:cTn>
                                        <p:tgtEl>
                                          <p:spTgt spid="1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1000" decel="50000" fill="hold">
                                          <p:stCondLst>
                                            <p:cond delay="0"/>
                                          </p:stCondLst>
                                        </p:cTn>
                                        <p:tgtEl>
                                          <p:spTgt spid="16"/>
                                        </p:tgtEl>
                                        <p:attrNameLst>
                                          <p:attrName>ppt_x</p:attrName>
                                          <p:attrName>ppt_y</p:attrName>
                                        </p:attrNameLst>
                                      </p:cBhvr>
                                    </p:animMotion>
                                    <p:animEffect transition="in" filter="fade">
                                      <p:cBhvr>
                                        <p:cTn id="15" dur="10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down)">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ppt_x</p:attrName>
                                        </p:attrNameLst>
                                      </p:cBhvr>
                                      <p:tavLst>
                                        <p:tav tm="0">
                                          <p:val>
                                            <p:strVal val="#ppt_x"/>
                                          </p:val>
                                        </p:tav>
                                        <p:tav tm="100000">
                                          <p:val>
                                            <p:strVal val="#ppt_x"/>
                                          </p:val>
                                        </p:tav>
                                      </p:tavLst>
                                    </p:anim>
                                    <p:anim calcmode="lin" valueType="num">
                                      <p:cBhvr>
                                        <p:cTn id="27" dur="1000" fill="hold"/>
                                        <p:tgtEl>
                                          <p:spTgt spid="7"/>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anim calcmode="lin" valueType="num">
                                      <p:cBhvr>
                                        <p:cTn id="31" dur="1000" fill="hold"/>
                                        <p:tgtEl>
                                          <p:spTgt spid="8"/>
                                        </p:tgtEl>
                                        <p:attrNameLst>
                                          <p:attrName>ppt_x</p:attrName>
                                        </p:attrNameLst>
                                      </p:cBhvr>
                                      <p:tavLst>
                                        <p:tav tm="0">
                                          <p:val>
                                            <p:strVal val="#ppt_x"/>
                                          </p:val>
                                        </p:tav>
                                        <p:tav tm="100000">
                                          <p:val>
                                            <p:strVal val="#ppt_x"/>
                                          </p:val>
                                        </p:tav>
                                      </p:tavLst>
                                    </p:anim>
                                    <p:anim calcmode="lin" valueType="num">
                                      <p:cBhvr>
                                        <p:cTn id="3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3479350" y="541138"/>
            <a:ext cx="2254157"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总线的概念</a:t>
            </a:r>
            <a:endParaRPr lang="zh-CN" altLang="en-US" sz="3200" b="1" dirty="0">
              <a:solidFill>
                <a:prstClr val="white">
                  <a:lumMod val="65000"/>
                </a:prstClr>
              </a:solidFill>
              <a:latin typeface="Arial"/>
              <a:ea typeface="微软雅黑" pitchFamily="34" charset="-122"/>
              <a:cs typeface="Arial"/>
            </a:endParaRPr>
          </a:p>
        </p:txBody>
      </p:sp>
      <p:grpSp>
        <p:nvGrpSpPr>
          <p:cNvPr id="4" name="组合 3"/>
          <p:cNvGrpSpPr/>
          <p:nvPr/>
        </p:nvGrpSpPr>
        <p:grpSpPr>
          <a:xfrm>
            <a:off x="754363" y="2332376"/>
            <a:ext cx="1330424" cy="581099"/>
            <a:chOff x="244645" y="3186673"/>
            <a:chExt cx="3528392" cy="581099"/>
          </a:xfrm>
          <a:solidFill>
            <a:srgbClr val="FF9300"/>
          </a:solidFill>
        </p:grpSpPr>
        <p:sp>
          <p:nvSpPr>
            <p:cNvPr id="5" name="圆角矩形 4"/>
            <p:cNvSpPr/>
            <p:nvPr/>
          </p:nvSpPr>
          <p:spPr>
            <a:xfrm>
              <a:off x="244645" y="3186673"/>
              <a:ext cx="352839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微软雅黑" panose="020B0503020204020204" pitchFamily="34" charset="-122"/>
              </a:endParaRPr>
            </a:p>
          </p:txBody>
        </p:sp>
        <p:sp>
          <p:nvSpPr>
            <p:cNvPr id="6" name="TextBox 6"/>
            <p:cNvSpPr txBox="1"/>
            <p:nvPr/>
          </p:nvSpPr>
          <p:spPr>
            <a:xfrm>
              <a:off x="317994" y="3266487"/>
              <a:ext cx="3455043" cy="417358"/>
            </a:xfrm>
            <a:prstGeom prst="rect">
              <a:avLst/>
            </a:prstGeom>
            <a:grpFill/>
          </p:spPr>
          <p:txBody>
            <a:bodyPr wrap="square" rtlCol="0">
              <a:spAutoFit/>
            </a:bodyPr>
            <a:lstStyle/>
            <a:p>
              <a:pPr algn="ctr">
                <a:lnSpc>
                  <a:spcPct val="130000"/>
                </a:lnSpc>
              </a:pPr>
              <a:r>
                <a:rPr lang="zh-CN" altLang="en-US" b="1" dirty="0">
                  <a:solidFill>
                    <a:prstClr val="white"/>
                  </a:solidFill>
                  <a:latin typeface="微软雅黑" pitchFamily="34" charset="-122"/>
                  <a:ea typeface="微软雅黑" pitchFamily="34" charset="-122"/>
                </a:rPr>
                <a:t>系统总线</a:t>
              </a:r>
            </a:p>
          </p:txBody>
        </p:sp>
      </p:grpSp>
      <p:grpSp>
        <p:nvGrpSpPr>
          <p:cNvPr id="7" name="组合 6"/>
          <p:cNvGrpSpPr/>
          <p:nvPr/>
        </p:nvGrpSpPr>
        <p:grpSpPr>
          <a:xfrm>
            <a:off x="2156794" y="2332376"/>
            <a:ext cx="6336705" cy="581099"/>
            <a:chOff x="244645" y="3186673"/>
            <a:chExt cx="6548882" cy="581099"/>
          </a:xfrm>
          <a:solidFill>
            <a:srgbClr val="1D8DE5"/>
          </a:solidFill>
        </p:grpSpPr>
        <p:sp>
          <p:nvSpPr>
            <p:cNvPr id="8" name="圆角矩形 7"/>
            <p:cNvSpPr/>
            <p:nvPr/>
          </p:nvSpPr>
          <p:spPr>
            <a:xfrm>
              <a:off x="244645" y="3186673"/>
              <a:ext cx="654888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80C417"/>
                </a:solidFill>
                <a:ea typeface="微软雅黑" panose="020B0503020204020204" pitchFamily="34" charset="-122"/>
              </a:endParaRPr>
            </a:p>
          </p:txBody>
        </p:sp>
        <p:sp>
          <p:nvSpPr>
            <p:cNvPr id="9" name="TextBox 6"/>
            <p:cNvSpPr txBox="1"/>
            <p:nvPr/>
          </p:nvSpPr>
          <p:spPr>
            <a:xfrm>
              <a:off x="317994" y="3266487"/>
              <a:ext cx="6475533" cy="452432"/>
            </a:xfrm>
            <a:prstGeom prst="rect">
              <a:avLst/>
            </a:prstGeom>
            <a:grpFill/>
          </p:spPr>
          <p:txBody>
            <a:bodyPr wrap="square" rtlCol="0">
              <a:spAutoFit/>
            </a:bodyPr>
            <a:lstStyle/>
            <a:p>
              <a:pPr>
                <a:lnSpc>
                  <a:spcPct val="130000"/>
                </a:lnSpc>
              </a:pPr>
              <a:r>
                <a:rPr lang="zh-CN" altLang="en-US" b="1" dirty="0">
                  <a:solidFill>
                    <a:prstClr val="white"/>
                  </a:solidFill>
                  <a:latin typeface="微软雅黑" pitchFamily="34" charset="-122"/>
                  <a:ea typeface="微软雅黑" pitchFamily="34" charset="-122"/>
                </a:rPr>
                <a:t>从</a:t>
              </a:r>
              <a:r>
                <a:rPr lang="en-US" altLang="zh-CN" b="1" dirty="0">
                  <a:solidFill>
                    <a:prstClr val="white"/>
                  </a:solidFill>
                  <a:latin typeface="微软雅黑" pitchFamily="34" charset="-122"/>
                  <a:ea typeface="微软雅黑" pitchFamily="34" charset="-122"/>
                </a:rPr>
                <a:t>CPU</a:t>
              </a:r>
              <a:r>
                <a:rPr lang="zh-CN" altLang="en-US" b="1" dirty="0">
                  <a:solidFill>
                    <a:prstClr val="white"/>
                  </a:solidFill>
                  <a:latin typeface="微软雅黑" pitchFamily="34" charset="-122"/>
                  <a:ea typeface="微软雅黑" pitchFamily="34" charset="-122"/>
                </a:rPr>
                <a:t>引出的信号线，完成</a:t>
              </a:r>
              <a:r>
                <a:rPr lang="en-US" altLang="zh-CN" b="1" dirty="0">
                  <a:solidFill>
                    <a:prstClr val="white"/>
                  </a:solidFill>
                  <a:latin typeface="微软雅黑" pitchFamily="34" charset="-122"/>
                  <a:ea typeface="微软雅黑" pitchFamily="34" charset="-122"/>
                </a:rPr>
                <a:t>CPU</a:t>
              </a:r>
              <a:r>
                <a:rPr lang="zh-CN" altLang="en-US" b="1" dirty="0">
                  <a:solidFill>
                    <a:prstClr val="white"/>
                  </a:solidFill>
                  <a:latin typeface="微软雅黑" pitchFamily="34" charset="-122"/>
                  <a:ea typeface="微软雅黑" pitchFamily="34" charset="-122"/>
                </a:rPr>
                <a:t>与存储器或 </a:t>
              </a:r>
              <a:r>
                <a:rPr lang="en-US" altLang="zh-CN" b="1" dirty="0">
                  <a:solidFill>
                    <a:prstClr val="white"/>
                  </a:solidFill>
                  <a:latin typeface="微软雅黑" pitchFamily="34" charset="-122"/>
                  <a:ea typeface="微软雅黑" pitchFamily="34" charset="-122"/>
                </a:rPr>
                <a:t>IO</a:t>
              </a:r>
              <a:r>
                <a:rPr lang="zh-CN" altLang="en-US" b="1" dirty="0">
                  <a:solidFill>
                    <a:prstClr val="white"/>
                  </a:solidFill>
                  <a:latin typeface="微软雅黑" pitchFamily="34" charset="-122"/>
                  <a:ea typeface="微软雅黑" pitchFamily="34" charset="-122"/>
                </a:rPr>
                <a:t>的信息交换。</a:t>
              </a:r>
            </a:p>
          </p:txBody>
        </p:sp>
      </p:grpSp>
      <p:grpSp>
        <p:nvGrpSpPr>
          <p:cNvPr id="10" name="组合 9"/>
          <p:cNvGrpSpPr/>
          <p:nvPr/>
        </p:nvGrpSpPr>
        <p:grpSpPr>
          <a:xfrm>
            <a:off x="754363" y="1662706"/>
            <a:ext cx="1330424" cy="581099"/>
            <a:chOff x="244645" y="3186673"/>
            <a:chExt cx="3528392" cy="581099"/>
          </a:xfrm>
          <a:solidFill>
            <a:srgbClr val="FF9300"/>
          </a:solidFill>
        </p:grpSpPr>
        <p:sp>
          <p:nvSpPr>
            <p:cNvPr id="11" name="圆角矩形 10"/>
            <p:cNvSpPr/>
            <p:nvPr/>
          </p:nvSpPr>
          <p:spPr>
            <a:xfrm>
              <a:off x="244645" y="3186673"/>
              <a:ext cx="352839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微软雅黑" panose="020B0503020204020204" pitchFamily="34" charset="-122"/>
              </a:endParaRPr>
            </a:p>
          </p:txBody>
        </p:sp>
        <p:sp>
          <p:nvSpPr>
            <p:cNvPr id="12" name="TextBox 6"/>
            <p:cNvSpPr txBox="1"/>
            <p:nvPr/>
          </p:nvSpPr>
          <p:spPr>
            <a:xfrm>
              <a:off x="317994" y="3266487"/>
              <a:ext cx="3455043" cy="417358"/>
            </a:xfrm>
            <a:prstGeom prst="rect">
              <a:avLst/>
            </a:prstGeom>
            <a:grpFill/>
          </p:spPr>
          <p:txBody>
            <a:bodyPr wrap="square" rtlCol="0">
              <a:spAutoFit/>
            </a:bodyPr>
            <a:lstStyle/>
            <a:p>
              <a:pPr algn="ctr">
                <a:lnSpc>
                  <a:spcPct val="130000"/>
                </a:lnSpc>
              </a:pPr>
              <a:r>
                <a:rPr lang="zh-CN" altLang="en-US" b="1" dirty="0">
                  <a:solidFill>
                    <a:schemeClr val="bg1"/>
                  </a:solidFill>
                  <a:latin typeface="微软雅黑" pitchFamily="34" charset="-122"/>
                  <a:ea typeface="微软雅黑" pitchFamily="34" charset="-122"/>
                </a:rPr>
                <a:t>总线</a:t>
              </a:r>
            </a:p>
          </p:txBody>
        </p:sp>
      </p:grpSp>
      <p:grpSp>
        <p:nvGrpSpPr>
          <p:cNvPr id="13" name="组合 12"/>
          <p:cNvGrpSpPr/>
          <p:nvPr/>
        </p:nvGrpSpPr>
        <p:grpSpPr>
          <a:xfrm>
            <a:off x="2156794" y="1662706"/>
            <a:ext cx="6336705" cy="581099"/>
            <a:chOff x="244645" y="3186673"/>
            <a:chExt cx="6548882" cy="581099"/>
          </a:xfrm>
          <a:solidFill>
            <a:srgbClr val="1D8DE5"/>
          </a:solidFill>
        </p:grpSpPr>
        <p:sp>
          <p:nvSpPr>
            <p:cNvPr id="14" name="圆角矩形 13"/>
            <p:cNvSpPr/>
            <p:nvPr/>
          </p:nvSpPr>
          <p:spPr>
            <a:xfrm>
              <a:off x="244645" y="3186673"/>
              <a:ext cx="654888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80C417"/>
                </a:solidFill>
                <a:ea typeface="微软雅黑" panose="020B0503020204020204" pitchFamily="34" charset="-122"/>
              </a:endParaRPr>
            </a:p>
          </p:txBody>
        </p:sp>
        <p:sp>
          <p:nvSpPr>
            <p:cNvPr id="15" name="TextBox 6"/>
            <p:cNvSpPr txBox="1"/>
            <p:nvPr/>
          </p:nvSpPr>
          <p:spPr>
            <a:xfrm>
              <a:off x="317994" y="3266487"/>
              <a:ext cx="6475533" cy="452432"/>
            </a:xfrm>
            <a:prstGeom prst="rect">
              <a:avLst/>
            </a:prstGeom>
            <a:grpFill/>
          </p:spPr>
          <p:txBody>
            <a:bodyPr wrap="square" rtlCol="0">
              <a:spAutoFit/>
            </a:bodyPr>
            <a:lstStyle/>
            <a:p>
              <a:pPr>
                <a:lnSpc>
                  <a:spcPct val="130000"/>
                </a:lnSpc>
              </a:pPr>
              <a:r>
                <a:rPr lang="zh-CN" altLang="en-US" b="1" dirty="0">
                  <a:solidFill>
                    <a:schemeClr val="bg1"/>
                  </a:solidFill>
                  <a:latin typeface="微软雅黑" pitchFamily="34" charset="-122"/>
                  <a:ea typeface="微软雅黑" pitchFamily="34" charset="-122"/>
                </a:rPr>
                <a:t>传递信息的一组公用导线。</a:t>
              </a:r>
            </a:p>
          </p:txBody>
        </p:sp>
      </p:grpSp>
      <p:sp>
        <p:nvSpPr>
          <p:cNvPr id="16" name="矩形 15"/>
          <p:cNvSpPr>
            <a:spLocks noChangeAspect="1"/>
          </p:cNvSpPr>
          <p:nvPr/>
        </p:nvSpPr>
        <p:spPr>
          <a:xfrm>
            <a:off x="608410" y="3384646"/>
            <a:ext cx="7996038" cy="2191308"/>
          </a:xfrm>
          <a:prstGeom prst="rect">
            <a:avLst/>
          </a:prstGeom>
          <a:ln>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dirty="0">
              <a:ea typeface="微软雅黑" panose="020B0503020204020204" pitchFamily="34" charset="-122"/>
            </a:endParaRPr>
          </a:p>
        </p:txBody>
      </p:sp>
      <p:sp>
        <p:nvSpPr>
          <p:cNvPr id="17" name="TextBox 17"/>
          <p:cNvSpPr txBox="1"/>
          <p:nvPr/>
        </p:nvSpPr>
        <p:spPr>
          <a:xfrm>
            <a:off x="1542103" y="3497594"/>
            <a:ext cx="7134353" cy="2057230"/>
          </a:xfrm>
          <a:prstGeom prst="rect">
            <a:avLst/>
          </a:prstGeom>
          <a:noFill/>
        </p:spPr>
        <p:txBody>
          <a:bodyPr wrap="square">
            <a:spAutoFit/>
          </a:bodyPr>
          <a:lstStyle/>
          <a:p>
            <a:pPr>
              <a:lnSpc>
                <a:spcPct val="133000"/>
              </a:lnSpc>
              <a:defRPr/>
            </a:pPr>
            <a:r>
              <a:rPr lang="zh-CN" altLang="en-US" sz="2000" b="1" dirty="0">
                <a:solidFill>
                  <a:srgbClr val="ED7D31"/>
                </a:solidFill>
                <a:latin typeface="微软雅黑" pitchFamily="34" charset="-122"/>
                <a:ea typeface="微软雅黑" pitchFamily="34" charset="-122"/>
              </a:rPr>
              <a:t>时分复用：</a:t>
            </a:r>
            <a:r>
              <a:rPr lang="zh-CN" altLang="en-US" b="1" dirty="0">
                <a:solidFill>
                  <a:schemeClr val="tx1">
                    <a:lumMod val="65000"/>
                    <a:lumOff val="35000"/>
                  </a:schemeClr>
                </a:solidFill>
                <a:latin typeface="微软雅黑" pitchFamily="34" charset="-122"/>
                <a:ea typeface="微软雅黑" pitchFamily="34" charset="-122"/>
              </a:rPr>
              <a:t>在某一时刻，只能由一个总线主控设备来控制总线，其它总线主控设备此时必须放弃对总线的控制。</a:t>
            </a:r>
            <a:endParaRPr lang="en-US" altLang="zh-CN" b="1" dirty="0">
              <a:solidFill>
                <a:schemeClr val="tx1">
                  <a:lumMod val="65000"/>
                  <a:lumOff val="35000"/>
                </a:schemeClr>
              </a:solidFill>
              <a:latin typeface="微软雅黑" pitchFamily="34" charset="-122"/>
              <a:ea typeface="微软雅黑" pitchFamily="34" charset="-122"/>
            </a:endParaRPr>
          </a:p>
          <a:p>
            <a:pPr>
              <a:lnSpc>
                <a:spcPct val="133000"/>
              </a:lnSpc>
              <a:defRPr/>
            </a:pPr>
            <a:r>
              <a:rPr lang="zh-CN" altLang="en-US" sz="2000" b="1" dirty="0">
                <a:solidFill>
                  <a:srgbClr val="1D8DE5"/>
                </a:solidFill>
                <a:latin typeface="微软雅黑" pitchFamily="34" charset="-122"/>
                <a:ea typeface="微软雅黑" pitchFamily="34" charset="-122"/>
              </a:rPr>
              <a:t>单发多收：</a:t>
            </a:r>
            <a:r>
              <a:rPr lang="zh-CN" altLang="en-US" b="1" dirty="0">
                <a:solidFill>
                  <a:schemeClr val="tx1">
                    <a:lumMod val="65000"/>
                    <a:lumOff val="35000"/>
                  </a:schemeClr>
                </a:solidFill>
                <a:latin typeface="微软雅黑" pitchFamily="34" charset="-122"/>
                <a:ea typeface="微软雅黑" pitchFamily="34" charset="-122"/>
              </a:rPr>
              <a:t>在连接系统的各个设备中，在某一时刻只能有一发送者发送信号，但可以有多个设备从总线上同时获得信号。</a:t>
            </a:r>
            <a:endParaRPr lang="en-US" altLang="zh-CN" b="1" dirty="0">
              <a:solidFill>
                <a:schemeClr val="tx1">
                  <a:lumMod val="65000"/>
                  <a:lumOff val="35000"/>
                </a:schemeClr>
              </a:solidFill>
              <a:latin typeface="微软雅黑" pitchFamily="34" charset="-122"/>
              <a:ea typeface="微软雅黑" pitchFamily="34" charset="-122"/>
            </a:endParaRPr>
          </a:p>
          <a:p>
            <a:pPr>
              <a:lnSpc>
                <a:spcPct val="133000"/>
              </a:lnSpc>
              <a:defRPr/>
            </a:pPr>
            <a:r>
              <a:rPr lang="zh-CN" altLang="en-US" sz="2000" b="1" dirty="0">
                <a:solidFill>
                  <a:srgbClr val="ED7D31"/>
                </a:solidFill>
                <a:latin typeface="微软雅黑" pitchFamily="34" charset="-122"/>
                <a:ea typeface="微软雅黑" pitchFamily="34" charset="-122"/>
              </a:rPr>
              <a:t>连接方式：</a:t>
            </a:r>
            <a:r>
              <a:rPr lang="zh-CN" altLang="en-US" b="1" dirty="0">
                <a:solidFill>
                  <a:schemeClr val="tx1">
                    <a:lumMod val="65000"/>
                    <a:lumOff val="35000"/>
                  </a:schemeClr>
                </a:solidFill>
                <a:latin typeface="微软雅黑" pitchFamily="34" charset="-122"/>
                <a:ea typeface="微软雅黑" pitchFamily="34" charset="-122"/>
              </a:rPr>
              <a:t>通过总线插槽来连接各设备。</a:t>
            </a:r>
            <a:endParaRPr lang="zh-CN" altLang="en-US" b="1" dirty="0">
              <a:solidFill>
                <a:schemeClr val="tx1">
                  <a:lumMod val="65000"/>
                  <a:lumOff val="35000"/>
                </a:schemeClr>
              </a:solidFill>
              <a:latin typeface="Arial" charset="0"/>
              <a:ea typeface="微软雅黑" panose="020B0503020204020204" pitchFamily="34" charset="-122"/>
            </a:endParaRPr>
          </a:p>
        </p:txBody>
      </p:sp>
      <p:pic>
        <p:nvPicPr>
          <p:cNvPr id="18" name="Picture 2" descr="E:\仝德志文件，勿删！\03-参考文档\！PPT图片及版面资源\06-PPT精选插图\12-标签\蓝色燕尾01.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rot="16200000">
            <a:off x="-11078" y="4017386"/>
            <a:ext cx="2139770" cy="674967"/>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9"/>
          <p:cNvSpPr txBox="1"/>
          <p:nvPr/>
        </p:nvSpPr>
        <p:spPr>
          <a:xfrm>
            <a:off x="824699" y="3404678"/>
            <a:ext cx="461665" cy="1708160"/>
          </a:xfrm>
          <a:prstGeom prst="rect">
            <a:avLst/>
          </a:prstGeom>
          <a:noFill/>
        </p:spPr>
        <p:txBody>
          <a:bodyPr vert="eaVert" wrap="none" rtlCol="0">
            <a:spAutoFit/>
          </a:bodyPr>
          <a:lstStyle/>
          <a:p>
            <a:r>
              <a:rPr lang="zh-CN" altLang="en-US" b="1" dirty="0">
                <a:solidFill>
                  <a:schemeClr val="bg1"/>
                </a:solidFill>
                <a:latin typeface="微软雅黑" pitchFamily="34" charset="-122"/>
                <a:ea typeface="微软雅黑" pitchFamily="34" charset="-122"/>
              </a:rPr>
              <a:t>总线的使用特点</a:t>
            </a:r>
          </a:p>
        </p:txBody>
      </p:sp>
      <p:sp>
        <p:nvSpPr>
          <p:cNvPr id="20" name="矩形 19"/>
          <p:cNvSpPr/>
          <p:nvPr/>
        </p:nvSpPr>
        <p:spPr>
          <a:xfrm>
            <a:off x="1871699" y="5951021"/>
            <a:ext cx="5148573" cy="646331"/>
          </a:xfrm>
          <a:prstGeom prst="rect">
            <a:avLst/>
          </a:prstGeom>
          <a:noFill/>
        </p:spPr>
        <p:txBody>
          <a:bodyPr wrap="square" lIns="91440" tIns="45720" rIns="91440" bIns="45720">
            <a:spAutoFit/>
          </a:bodyPr>
          <a:lstStyle/>
          <a:p>
            <a:r>
              <a:rPr lang="zh-CN" altLang="en-US" sz="2000" b="1" dirty="0">
                <a:ln w="17780" cmpd="sng">
                  <a:noFill/>
                  <a:prstDash val="solid"/>
                  <a:miter lim="800000"/>
                </a:ln>
                <a:solidFill>
                  <a:srgbClr val="ED7D31"/>
                </a:solidFill>
                <a:latin typeface="微软雅黑" pitchFamily="34" charset="-122"/>
                <a:ea typeface="微软雅黑" pitchFamily="34" charset="-122"/>
              </a:rPr>
              <a:t>时分复用、频分复用、码分复用：</a:t>
            </a:r>
            <a:r>
              <a:rPr lang="zh-CN" altLang="en-US" sz="1600" b="1" dirty="0">
                <a:ln w="17780" cmpd="sng">
                  <a:noFill/>
                  <a:prstDash val="solid"/>
                  <a:miter lim="800000"/>
                </a:ln>
                <a:solidFill>
                  <a:srgbClr val="1D8DE5"/>
                </a:solidFill>
                <a:latin typeface="微软雅黑" pitchFamily="34" charset="-122"/>
                <a:ea typeface="微软雅黑" pitchFamily="34" charset="-122"/>
              </a:rPr>
              <a:t>通信里常用的复用资源的方式。</a:t>
            </a:r>
          </a:p>
        </p:txBody>
      </p:sp>
      <p:pic>
        <p:nvPicPr>
          <p:cNvPr id="21" name="Picture 2" descr="C:\Documents and Settings\tdz\桌面\未标题-1 拷贝.pn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28860" y="5814781"/>
            <a:ext cx="834828" cy="782571"/>
          </a:xfrm>
          <a:prstGeom prst="rect">
            <a:avLst/>
          </a:prstGeom>
          <a:noFill/>
          <a:extLst>
            <a:ext uri="{909E8E84-426E-40DD-AFC4-6F175D3DCCD1}">
              <a14:hiddenFill xmlns:a14="http://schemas.microsoft.com/office/drawing/2010/main">
                <a:solidFill>
                  <a:srgbClr val="FFFFFF"/>
                </a:solidFill>
              </a14:hiddenFill>
            </a:ext>
          </a:extLst>
        </p:spPr>
      </p:pic>
      <p:sp>
        <p:nvSpPr>
          <p:cNvPr id="24" name="矩形 23"/>
          <p:cNvSpPr/>
          <p:nvPr/>
        </p:nvSpPr>
        <p:spPr>
          <a:xfrm>
            <a:off x="558416" y="1469747"/>
            <a:ext cx="8027168" cy="1584176"/>
          </a:xfrm>
          <a:prstGeom prst="rect">
            <a:avLst/>
          </a:prstGeom>
          <a:ln>
            <a:solidFill>
              <a:schemeClr val="accent6"/>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pic>
        <p:nvPicPr>
          <p:cNvPr id="25" name="Picture 2" descr="F:\TDZ临时\其他备用\！PPT图片及版面资源\06-PPT精选插图\04-图标\右边角-黄1.png"/>
          <p:cNvPicPr>
            <a:picLocks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rot="16200000" flipV="1">
            <a:off x="7502607" y="1414576"/>
            <a:ext cx="1155750" cy="1152150"/>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33"/>
          <p:cNvSpPr txBox="1"/>
          <p:nvPr/>
        </p:nvSpPr>
        <p:spPr>
          <a:xfrm rot="2738231">
            <a:off x="7901535" y="1658555"/>
            <a:ext cx="646331" cy="369332"/>
          </a:xfrm>
          <a:prstGeom prst="rect">
            <a:avLst/>
          </a:prstGeom>
          <a:noFill/>
        </p:spPr>
        <p:txBody>
          <a:bodyPr wrap="none" rtlCol="0">
            <a:spAutoFit/>
          </a:bodyPr>
          <a:lstStyle/>
          <a:p>
            <a:r>
              <a:rPr lang="zh-CN" altLang="en-US" b="1" dirty="0">
                <a:solidFill>
                  <a:prstClr val="white"/>
                </a:solidFill>
                <a:latin typeface="微软雅黑" pitchFamily="34" charset="-122"/>
                <a:ea typeface="微软雅黑" pitchFamily="34" charset="-122"/>
              </a:rPr>
              <a:t>定义</a:t>
            </a:r>
          </a:p>
        </p:txBody>
      </p:sp>
    </p:spTree>
    <p:extLst>
      <p:ext uri="{BB962C8B-B14F-4D97-AF65-F5344CB8AC3E}">
        <p14:creationId xmlns:p14="http://schemas.microsoft.com/office/powerpoint/2010/main" val="1406440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decel="10000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decel="10000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2" decel="10000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1+#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1000"/>
                                        <p:tgtEl>
                                          <p:spTgt spid="17"/>
                                        </p:tgtEl>
                                      </p:cBhvr>
                                    </p:animEffect>
                                    <p:anim calcmode="lin" valueType="num">
                                      <p:cBhvr>
                                        <p:cTn id="24" dur="1000" fill="hold"/>
                                        <p:tgtEl>
                                          <p:spTgt spid="17"/>
                                        </p:tgtEl>
                                        <p:attrNameLst>
                                          <p:attrName>ppt_x</p:attrName>
                                        </p:attrNameLst>
                                      </p:cBhvr>
                                      <p:tavLst>
                                        <p:tav tm="0">
                                          <p:val>
                                            <p:strVal val="#ppt_x"/>
                                          </p:val>
                                        </p:tav>
                                        <p:tav tm="100000">
                                          <p:val>
                                            <p:strVal val="#ppt_x"/>
                                          </p:val>
                                        </p:tav>
                                      </p:tavLst>
                                    </p:anim>
                                    <p:anim calcmode="lin" valueType="num">
                                      <p:cBhvr>
                                        <p:cTn id="2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barn(inVertical)">
                                      <p:cBhvr>
                                        <p:cTn id="30" dur="500"/>
                                        <p:tgtEl>
                                          <p:spTgt spid="21"/>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barn(inVertical)">
                                      <p:cBhvr>
                                        <p:cTn id="3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03493" y="2452623"/>
            <a:ext cx="2356338" cy="2948780"/>
          </a:xfrm>
          <a:prstGeom prst="rect">
            <a:avLst/>
          </a:prstGeom>
          <a:solidFill>
            <a:schemeClr val="accent1">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6" name="矩形 5"/>
          <p:cNvSpPr/>
          <p:nvPr/>
        </p:nvSpPr>
        <p:spPr>
          <a:xfrm>
            <a:off x="666560" y="1632440"/>
            <a:ext cx="7793871" cy="712142"/>
          </a:xfrm>
          <a:prstGeom prst="rect">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系统总线的分类</a:t>
            </a:r>
          </a:p>
        </p:txBody>
      </p:sp>
      <p:sp>
        <p:nvSpPr>
          <p:cNvPr id="7" name="任意多边形 6"/>
          <p:cNvSpPr/>
          <p:nvPr/>
        </p:nvSpPr>
        <p:spPr>
          <a:xfrm>
            <a:off x="703494" y="3085386"/>
            <a:ext cx="2356338" cy="2350068"/>
          </a:xfrm>
          <a:custGeom>
            <a:avLst/>
            <a:gdLst>
              <a:gd name="connsiteX0" fmla="*/ 1175287 w 2356338"/>
              <a:gd name="connsiteY0" fmla="*/ 0 h 2856024"/>
              <a:gd name="connsiteX1" fmla="*/ 1474827 w 2356338"/>
              <a:gd name="connsiteY1" fmla="*/ 140960 h 2856024"/>
              <a:gd name="connsiteX2" fmla="*/ 2356338 w 2356338"/>
              <a:gd name="connsiteY2" fmla="*/ 140960 h 2856024"/>
              <a:gd name="connsiteX3" fmla="*/ 2356338 w 2356338"/>
              <a:gd name="connsiteY3" fmla="*/ 2856024 h 2856024"/>
              <a:gd name="connsiteX4" fmla="*/ 0 w 2356338"/>
              <a:gd name="connsiteY4" fmla="*/ 2856024 h 2856024"/>
              <a:gd name="connsiteX5" fmla="*/ 0 w 2356338"/>
              <a:gd name="connsiteY5" fmla="*/ 140960 h 2856024"/>
              <a:gd name="connsiteX6" fmla="*/ 875747 w 2356338"/>
              <a:gd name="connsiteY6" fmla="*/ 140960 h 285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6338" h="2856024">
                <a:moveTo>
                  <a:pt x="1175287" y="0"/>
                </a:moveTo>
                <a:lnTo>
                  <a:pt x="1474827" y="140960"/>
                </a:lnTo>
                <a:lnTo>
                  <a:pt x="2356338" y="140960"/>
                </a:lnTo>
                <a:lnTo>
                  <a:pt x="2356338" y="2856024"/>
                </a:lnTo>
                <a:lnTo>
                  <a:pt x="0" y="2856024"/>
                </a:lnTo>
                <a:lnTo>
                  <a:pt x="0" y="140960"/>
                </a:lnTo>
                <a:lnTo>
                  <a:pt x="875747" y="14096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a:lnSpc>
                <a:spcPct val="120000"/>
              </a:lnSpc>
            </a:pPr>
            <a:r>
              <a:rPr lang="zh-CN" altLang="en-US" sz="2000" b="1" dirty="0">
                <a:latin typeface="微软雅黑" panose="020B0503020204020204" pitchFamily="34" charset="-122"/>
                <a:ea typeface="微软雅黑" panose="020B0503020204020204" pitchFamily="34" charset="-122"/>
              </a:rPr>
              <a:t>从处理器引出的若干信号线，</a:t>
            </a:r>
            <a:r>
              <a:rPr lang="en-US" altLang="zh-CN" sz="2000" b="1" dirty="0">
                <a:latin typeface="微软雅黑" panose="020B0503020204020204" pitchFamily="34" charset="-122"/>
                <a:ea typeface="微软雅黑" panose="020B0503020204020204" pitchFamily="34" charset="-122"/>
              </a:rPr>
              <a:t>CPU</a:t>
            </a:r>
            <a:r>
              <a:rPr lang="zh-CN" altLang="en-US" sz="2000" b="1" dirty="0">
                <a:latin typeface="微软雅黑" panose="020B0503020204020204" pitchFamily="34" charset="-122"/>
                <a:ea typeface="微软雅黑" panose="020B0503020204020204" pitchFamily="34" charset="-122"/>
              </a:rPr>
              <a:t>通过它们与存储器或</a:t>
            </a:r>
            <a:r>
              <a:rPr lang="en-US" altLang="zh-CN" sz="2000" b="1" dirty="0">
                <a:latin typeface="微软雅黑" panose="020B0503020204020204" pitchFamily="34" charset="-122"/>
                <a:ea typeface="微软雅黑" panose="020B0503020204020204" pitchFamily="34" charset="-122"/>
              </a:rPr>
              <a:t>I/O</a:t>
            </a:r>
            <a:r>
              <a:rPr lang="zh-CN" altLang="en-US" sz="2000" b="1" dirty="0">
                <a:latin typeface="微软雅黑" panose="020B0503020204020204" pitchFamily="34" charset="-122"/>
                <a:ea typeface="微软雅黑" panose="020B0503020204020204" pitchFamily="34" charset="-122"/>
              </a:rPr>
              <a:t>设备进行控制信息交换。</a:t>
            </a:r>
          </a:p>
        </p:txBody>
      </p:sp>
      <p:sp>
        <p:nvSpPr>
          <p:cNvPr id="11" name="文本框 10"/>
          <p:cNvSpPr txBox="1"/>
          <p:nvPr/>
        </p:nvSpPr>
        <p:spPr>
          <a:xfrm>
            <a:off x="703492" y="2599078"/>
            <a:ext cx="2356339" cy="461665"/>
          </a:xfrm>
          <a:prstGeom prst="rect">
            <a:avLst/>
          </a:prstGeom>
          <a:noFill/>
        </p:spPr>
        <p:txBody>
          <a:bodyPr wrap="square" rtlCol="0">
            <a:spAutoFit/>
          </a:bodyPr>
          <a:lstStyle/>
          <a:p>
            <a:pPr algn="ctr"/>
            <a:r>
              <a:rPr lang="zh-CN" altLang="en-US" sz="2400" b="1" dirty="0">
                <a:solidFill>
                  <a:srgbClr val="3E3D4F"/>
                </a:solidFill>
                <a:latin typeface="微软雅黑" panose="020B0503020204020204" pitchFamily="34" charset="-122"/>
                <a:ea typeface="微软雅黑" panose="020B0503020204020204" pitchFamily="34" charset="-122"/>
              </a:rPr>
              <a:t>控制总线</a:t>
            </a:r>
          </a:p>
        </p:txBody>
      </p:sp>
      <p:sp>
        <p:nvSpPr>
          <p:cNvPr id="24" name="矩形 23"/>
          <p:cNvSpPr/>
          <p:nvPr/>
        </p:nvSpPr>
        <p:spPr>
          <a:xfrm>
            <a:off x="3387713" y="2462393"/>
            <a:ext cx="2356338" cy="2948780"/>
          </a:xfrm>
          <a:prstGeom prst="rect">
            <a:avLst/>
          </a:prstGeom>
          <a:solidFill>
            <a:schemeClr val="accent1">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5" name="任意多边形 24"/>
          <p:cNvSpPr/>
          <p:nvPr/>
        </p:nvSpPr>
        <p:spPr>
          <a:xfrm>
            <a:off x="3387714" y="3095156"/>
            <a:ext cx="2356338" cy="2350068"/>
          </a:xfrm>
          <a:custGeom>
            <a:avLst/>
            <a:gdLst>
              <a:gd name="connsiteX0" fmla="*/ 1175287 w 2356338"/>
              <a:gd name="connsiteY0" fmla="*/ 0 h 2856024"/>
              <a:gd name="connsiteX1" fmla="*/ 1474827 w 2356338"/>
              <a:gd name="connsiteY1" fmla="*/ 140960 h 2856024"/>
              <a:gd name="connsiteX2" fmla="*/ 2356338 w 2356338"/>
              <a:gd name="connsiteY2" fmla="*/ 140960 h 2856024"/>
              <a:gd name="connsiteX3" fmla="*/ 2356338 w 2356338"/>
              <a:gd name="connsiteY3" fmla="*/ 2856024 h 2856024"/>
              <a:gd name="connsiteX4" fmla="*/ 0 w 2356338"/>
              <a:gd name="connsiteY4" fmla="*/ 2856024 h 2856024"/>
              <a:gd name="connsiteX5" fmla="*/ 0 w 2356338"/>
              <a:gd name="connsiteY5" fmla="*/ 140960 h 2856024"/>
              <a:gd name="connsiteX6" fmla="*/ 875747 w 2356338"/>
              <a:gd name="connsiteY6" fmla="*/ 140960 h 285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6338" h="2856024">
                <a:moveTo>
                  <a:pt x="1175287" y="0"/>
                </a:moveTo>
                <a:lnTo>
                  <a:pt x="1474827" y="140960"/>
                </a:lnTo>
                <a:lnTo>
                  <a:pt x="2356338" y="140960"/>
                </a:lnTo>
                <a:lnTo>
                  <a:pt x="2356338" y="2856024"/>
                </a:lnTo>
                <a:lnTo>
                  <a:pt x="0" y="2856024"/>
                </a:lnTo>
                <a:lnTo>
                  <a:pt x="0" y="140960"/>
                </a:lnTo>
                <a:lnTo>
                  <a:pt x="875747" y="14096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a:lnSpc>
                <a:spcPct val="120000"/>
              </a:lnSpc>
            </a:pPr>
            <a:r>
              <a:rPr lang="zh-CN" altLang="en-US" sz="2000" b="1" dirty="0">
                <a:latin typeface="微软雅黑" panose="020B0503020204020204" pitchFamily="34" charset="-122"/>
                <a:ea typeface="微软雅黑" panose="020B0503020204020204" pitchFamily="34" charset="-122"/>
              </a:rPr>
              <a:t>传递地址信息的总线，</a:t>
            </a:r>
            <a:r>
              <a:rPr lang="en-US" altLang="zh-CN" sz="2000" b="1" dirty="0">
                <a:latin typeface="微软雅黑" panose="020B0503020204020204" pitchFamily="34" charset="-122"/>
                <a:ea typeface="微软雅黑" panose="020B0503020204020204" pitchFamily="34" charset="-122"/>
              </a:rPr>
              <a:t>CPU</a:t>
            </a:r>
            <a:r>
              <a:rPr lang="zh-CN" altLang="en-US" sz="2000" b="1" dirty="0">
                <a:latin typeface="微软雅黑" panose="020B0503020204020204" pitchFamily="34" charset="-122"/>
                <a:ea typeface="微软雅黑" panose="020B0503020204020204" pitchFamily="34" charset="-122"/>
              </a:rPr>
              <a:t>输出将要访问的内存或</a:t>
            </a:r>
            <a:r>
              <a:rPr lang="en-US" altLang="zh-CN" sz="2000" b="1" dirty="0">
                <a:latin typeface="微软雅黑" panose="020B0503020204020204" pitchFamily="34" charset="-122"/>
                <a:ea typeface="微软雅黑" panose="020B0503020204020204" pitchFamily="34" charset="-122"/>
              </a:rPr>
              <a:t>I/O</a:t>
            </a:r>
            <a:r>
              <a:rPr lang="zh-CN" altLang="en-US" sz="2000" b="1" dirty="0">
                <a:latin typeface="微软雅黑" panose="020B0503020204020204" pitchFamily="34" charset="-122"/>
                <a:ea typeface="微软雅黑" panose="020B0503020204020204" pitchFamily="34" charset="-122"/>
              </a:rPr>
              <a:t>地址，该总线为</a:t>
            </a:r>
            <a:r>
              <a:rPr lang="zh-CN" altLang="en-US" sz="2000" b="1" dirty="0">
                <a:solidFill>
                  <a:srgbClr val="FFFF00"/>
                </a:solidFill>
                <a:latin typeface="微软雅黑" panose="020B0503020204020204" pitchFamily="34" charset="-122"/>
                <a:ea typeface="微软雅黑" panose="020B0503020204020204" pitchFamily="34" charset="-122"/>
              </a:rPr>
              <a:t>单向三态</a:t>
            </a:r>
            <a:r>
              <a:rPr lang="zh-CN" altLang="en-US" sz="2000" b="1" dirty="0">
                <a:solidFill>
                  <a:schemeClr val="bg1"/>
                </a:solidFill>
                <a:latin typeface="微软雅黑" panose="020B0503020204020204" pitchFamily="34" charset="-122"/>
                <a:ea typeface="微软雅黑" panose="020B0503020204020204" pitchFamily="34" charset="-122"/>
              </a:rPr>
              <a:t>总线</a:t>
            </a:r>
            <a:r>
              <a:rPr lang="zh-CN" altLang="en-US" sz="2000" b="1" dirty="0">
                <a:latin typeface="微软雅黑" panose="020B0503020204020204" pitchFamily="34" charset="-122"/>
                <a:ea typeface="微软雅黑" panose="020B0503020204020204" pitchFamily="34" charset="-122"/>
              </a:rPr>
              <a:t>。</a:t>
            </a:r>
          </a:p>
        </p:txBody>
      </p:sp>
      <p:sp>
        <p:nvSpPr>
          <p:cNvPr id="26" name="文本框 25"/>
          <p:cNvSpPr txBox="1"/>
          <p:nvPr/>
        </p:nvSpPr>
        <p:spPr>
          <a:xfrm>
            <a:off x="3387712" y="2608848"/>
            <a:ext cx="2356339" cy="461665"/>
          </a:xfrm>
          <a:prstGeom prst="rect">
            <a:avLst/>
          </a:prstGeom>
          <a:noFill/>
        </p:spPr>
        <p:txBody>
          <a:bodyPr wrap="square" rtlCol="0">
            <a:spAutoFit/>
          </a:bodyPr>
          <a:lstStyle/>
          <a:p>
            <a:pPr algn="ctr"/>
            <a:r>
              <a:rPr lang="zh-CN" altLang="en-US" sz="2400" b="1" dirty="0">
                <a:solidFill>
                  <a:srgbClr val="3E3D4F"/>
                </a:solidFill>
                <a:latin typeface="微软雅黑" panose="020B0503020204020204" pitchFamily="34" charset="-122"/>
                <a:ea typeface="微软雅黑" panose="020B0503020204020204" pitchFamily="34" charset="-122"/>
              </a:rPr>
              <a:t>地址总线</a:t>
            </a:r>
          </a:p>
        </p:txBody>
      </p:sp>
      <p:sp>
        <p:nvSpPr>
          <p:cNvPr id="27" name="矩形 26"/>
          <p:cNvSpPr/>
          <p:nvPr/>
        </p:nvSpPr>
        <p:spPr>
          <a:xfrm>
            <a:off x="6104093" y="2462393"/>
            <a:ext cx="2356338" cy="2948780"/>
          </a:xfrm>
          <a:prstGeom prst="rect">
            <a:avLst/>
          </a:prstGeom>
          <a:solidFill>
            <a:schemeClr val="accent1">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8" name="任意多边形 27"/>
          <p:cNvSpPr/>
          <p:nvPr/>
        </p:nvSpPr>
        <p:spPr>
          <a:xfrm>
            <a:off x="6104094" y="3095156"/>
            <a:ext cx="2356338" cy="2350068"/>
          </a:xfrm>
          <a:custGeom>
            <a:avLst/>
            <a:gdLst>
              <a:gd name="connsiteX0" fmla="*/ 1175287 w 2356338"/>
              <a:gd name="connsiteY0" fmla="*/ 0 h 2856024"/>
              <a:gd name="connsiteX1" fmla="*/ 1474827 w 2356338"/>
              <a:gd name="connsiteY1" fmla="*/ 140960 h 2856024"/>
              <a:gd name="connsiteX2" fmla="*/ 2356338 w 2356338"/>
              <a:gd name="connsiteY2" fmla="*/ 140960 h 2856024"/>
              <a:gd name="connsiteX3" fmla="*/ 2356338 w 2356338"/>
              <a:gd name="connsiteY3" fmla="*/ 2856024 h 2856024"/>
              <a:gd name="connsiteX4" fmla="*/ 0 w 2356338"/>
              <a:gd name="connsiteY4" fmla="*/ 2856024 h 2856024"/>
              <a:gd name="connsiteX5" fmla="*/ 0 w 2356338"/>
              <a:gd name="connsiteY5" fmla="*/ 140960 h 2856024"/>
              <a:gd name="connsiteX6" fmla="*/ 875747 w 2356338"/>
              <a:gd name="connsiteY6" fmla="*/ 140960 h 285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6338" h="2856024">
                <a:moveTo>
                  <a:pt x="1175287" y="0"/>
                </a:moveTo>
                <a:lnTo>
                  <a:pt x="1474827" y="140960"/>
                </a:lnTo>
                <a:lnTo>
                  <a:pt x="2356338" y="140960"/>
                </a:lnTo>
                <a:lnTo>
                  <a:pt x="2356338" y="2856024"/>
                </a:lnTo>
                <a:lnTo>
                  <a:pt x="0" y="2856024"/>
                </a:lnTo>
                <a:lnTo>
                  <a:pt x="0" y="140960"/>
                </a:lnTo>
                <a:lnTo>
                  <a:pt x="875747" y="14096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a:lnSpc>
                <a:spcPct val="120000"/>
              </a:lnSpc>
            </a:pPr>
            <a:r>
              <a:rPr lang="zh-CN" altLang="en-US" sz="2000" b="1" dirty="0">
                <a:latin typeface="微软雅黑" panose="020B0503020204020204" pitchFamily="34" charset="-122"/>
                <a:ea typeface="微软雅黑" panose="020B0503020204020204" pitchFamily="34" charset="-122"/>
              </a:rPr>
              <a:t>传递数据信息的总线。读，内存和</a:t>
            </a:r>
            <a:r>
              <a:rPr lang="en-US" altLang="zh-CN" sz="2000" b="1" dirty="0">
                <a:latin typeface="微软雅黑" panose="020B0503020204020204" pitchFamily="34" charset="-122"/>
                <a:ea typeface="微软雅黑" panose="020B0503020204020204" pitchFamily="34" charset="-122"/>
              </a:rPr>
              <a:t>IO</a:t>
            </a:r>
            <a:r>
              <a:rPr lang="zh-CN" altLang="en-US" sz="2000" b="1" dirty="0">
                <a:latin typeface="微软雅黑" panose="020B0503020204020204" pitchFamily="34" charset="-122"/>
                <a:ea typeface="微软雅黑" panose="020B0503020204020204" pitchFamily="34" charset="-122"/>
              </a:rPr>
              <a:t>到</a:t>
            </a:r>
            <a:r>
              <a:rPr lang="en-US" altLang="zh-CN" sz="2000" b="1" dirty="0">
                <a:latin typeface="微软雅黑" panose="020B0503020204020204" pitchFamily="34" charset="-122"/>
                <a:ea typeface="微软雅黑" panose="020B0503020204020204" pitchFamily="34" charset="-122"/>
              </a:rPr>
              <a:t>CPU</a:t>
            </a:r>
            <a:r>
              <a:rPr lang="zh-CN" altLang="en-US" sz="2000" b="1" dirty="0">
                <a:latin typeface="微软雅黑" panose="020B0503020204020204" pitchFamily="34" charset="-122"/>
                <a:ea typeface="微软雅黑" panose="020B0503020204020204" pitchFamily="34" charset="-122"/>
              </a:rPr>
              <a:t>，写：</a:t>
            </a:r>
            <a:r>
              <a:rPr lang="en-US" altLang="zh-CN" sz="2000" b="1" dirty="0">
                <a:latin typeface="微软雅黑" panose="020B0503020204020204" pitchFamily="34" charset="-122"/>
                <a:ea typeface="微软雅黑" panose="020B0503020204020204" pitchFamily="34" charset="-122"/>
              </a:rPr>
              <a:t>CPU</a:t>
            </a:r>
            <a:r>
              <a:rPr lang="zh-CN" altLang="en-US" sz="2000" b="1" dirty="0">
                <a:latin typeface="微软雅黑" panose="020B0503020204020204" pitchFamily="34" charset="-122"/>
                <a:ea typeface="微软雅黑" panose="020B0503020204020204" pitchFamily="34" charset="-122"/>
              </a:rPr>
              <a:t>到内存或</a:t>
            </a:r>
            <a:r>
              <a:rPr lang="en-US" altLang="zh-CN" sz="2000" b="1" dirty="0">
                <a:latin typeface="微软雅黑" panose="020B0503020204020204" pitchFamily="34" charset="-122"/>
                <a:ea typeface="微软雅黑" panose="020B0503020204020204" pitchFamily="34" charset="-122"/>
              </a:rPr>
              <a:t>IO</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FFFF00"/>
                </a:solidFill>
                <a:latin typeface="微软雅黑" panose="020B0503020204020204" pitchFamily="34" charset="-122"/>
                <a:ea typeface="微软雅黑" panose="020B0503020204020204" pitchFamily="34" charset="-122"/>
              </a:rPr>
              <a:t>双向三态</a:t>
            </a:r>
            <a:r>
              <a:rPr lang="zh-CN" altLang="en-US" sz="2000" b="1" dirty="0">
                <a:latin typeface="微软雅黑" panose="020B0503020204020204" pitchFamily="34" charset="-122"/>
                <a:ea typeface="微软雅黑" panose="020B0503020204020204" pitchFamily="34" charset="-122"/>
              </a:rPr>
              <a:t>总线。</a:t>
            </a:r>
          </a:p>
        </p:txBody>
      </p:sp>
      <p:sp>
        <p:nvSpPr>
          <p:cNvPr id="29" name="文本框 28"/>
          <p:cNvSpPr txBox="1"/>
          <p:nvPr/>
        </p:nvSpPr>
        <p:spPr>
          <a:xfrm>
            <a:off x="6104092" y="2608848"/>
            <a:ext cx="2356339" cy="461665"/>
          </a:xfrm>
          <a:prstGeom prst="rect">
            <a:avLst/>
          </a:prstGeom>
          <a:noFill/>
        </p:spPr>
        <p:txBody>
          <a:bodyPr wrap="square" rtlCol="0">
            <a:spAutoFit/>
          </a:bodyPr>
          <a:lstStyle/>
          <a:p>
            <a:pPr algn="ctr"/>
            <a:r>
              <a:rPr lang="zh-CN" altLang="en-US" sz="2400" b="1" dirty="0">
                <a:solidFill>
                  <a:srgbClr val="3E3D4F"/>
                </a:solidFill>
                <a:latin typeface="微软雅黑" panose="020B0503020204020204" pitchFamily="34" charset="-122"/>
                <a:ea typeface="微软雅黑" panose="020B0503020204020204" pitchFamily="34" charset="-122"/>
              </a:rPr>
              <a:t>数据总线</a:t>
            </a:r>
          </a:p>
        </p:txBody>
      </p:sp>
      <p:cxnSp>
        <p:nvCxnSpPr>
          <p:cNvPr id="30" name="直接连接符 29"/>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1" name="Rectangle 2"/>
          <p:cNvSpPr>
            <a:spLocks noChangeArrowheads="1"/>
          </p:cNvSpPr>
          <p:nvPr/>
        </p:nvSpPr>
        <p:spPr bwMode="auto">
          <a:xfrm>
            <a:off x="3444921" y="521916"/>
            <a:ext cx="2254157"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系统总线</a:t>
            </a:r>
            <a:endParaRPr lang="zh-CN" altLang="en-US" sz="3200" b="1" dirty="0">
              <a:solidFill>
                <a:prstClr val="white">
                  <a:lumMod val="65000"/>
                </a:prstClr>
              </a:solidFill>
              <a:latin typeface="Arial"/>
              <a:ea typeface="微软雅黑" pitchFamily="34" charset="-122"/>
              <a:cs typeface="Arial"/>
            </a:endParaRPr>
          </a:p>
        </p:txBody>
      </p:sp>
      <p:sp>
        <p:nvSpPr>
          <p:cNvPr id="44" name="矩形 43"/>
          <p:cNvSpPr/>
          <p:nvPr/>
        </p:nvSpPr>
        <p:spPr>
          <a:xfrm>
            <a:off x="1871699" y="5951021"/>
            <a:ext cx="5148573" cy="646331"/>
          </a:xfrm>
          <a:prstGeom prst="rect">
            <a:avLst/>
          </a:prstGeom>
          <a:noFill/>
        </p:spPr>
        <p:txBody>
          <a:bodyPr wrap="square" lIns="91440" tIns="45720" rIns="91440" bIns="45720">
            <a:spAutoFit/>
          </a:bodyPr>
          <a:lstStyle/>
          <a:p>
            <a:r>
              <a:rPr lang="zh-CN" altLang="en-US" sz="2000" b="1" dirty="0">
                <a:ln w="17780" cmpd="sng">
                  <a:noFill/>
                  <a:prstDash val="solid"/>
                  <a:miter lim="800000"/>
                </a:ln>
                <a:solidFill>
                  <a:srgbClr val="ED7D31"/>
                </a:solidFill>
                <a:latin typeface="微软雅黑" pitchFamily="34" charset="-122"/>
                <a:ea typeface="微软雅黑" pitchFamily="34" charset="-122"/>
              </a:rPr>
              <a:t>三态</a:t>
            </a:r>
            <a:r>
              <a:rPr lang="zh-CN" altLang="en-US" sz="1600" b="1" dirty="0">
                <a:ln w="17780" cmpd="sng">
                  <a:noFill/>
                  <a:prstDash val="solid"/>
                  <a:miter lim="800000"/>
                </a:ln>
                <a:solidFill>
                  <a:srgbClr val="ED7D31"/>
                </a:solidFill>
                <a:latin typeface="微软雅黑" pitchFamily="34" charset="-122"/>
                <a:ea typeface="微软雅黑" pitchFamily="34" charset="-122"/>
              </a:rPr>
              <a:t>：</a:t>
            </a:r>
            <a:r>
              <a:rPr lang="en-US" altLang="zh-CN" sz="1600" b="1" dirty="0">
                <a:solidFill>
                  <a:srgbClr val="3E3D4F"/>
                </a:solidFill>
                <a:latin typeface="微软雅黑" pitchFamily="34" charset="-122"/>
                <a:ea typeface="微软雅黑" pitchFamily="34" charset="-122"/>
              </a:rPr>
              <a:t>0</a:t>
            </a:r>
            <a:r>
              <a:rPr lang="zh-CN" altLang="en-US" sz="1600" b="1" dirty="0">
                <a:solidFill>
                  <a:srgbClr val="3E3D4F"/>
                </a:solidFill>
                <a:latin typeface="微软雅黑" pitchFamily="34" charset="-122"/>
                <a:ea typeface="微软雅黑" pitchFamily="34" charset="-122"/>
              </a:rPr>
              <a:t>，</a:t>
            </a:r>
            <a:r>
              <a:rPr lang="en-US" altLang="zh-CN" sz="1600" b="1" dirty="0">
                <a:solidFill>
                  <a:srgbClr val="3E3D4F"/>
                </a:solidFill>
                <a:latin typeface="微软雅黑" pitchFamily="34" charset="-122"/>
                <a:ea typeface="微软雅黑" pitchFamily="34" charset="-122"/>
              </a:rPr>
              <a:t>1</a:t>
            </a:r>
            <a:r>
              <a:rPr lang="zh-CN" altLang="en-US" sz="1600" b="1" dirty="0">
                <a:solidFill>
                  <a:srgbClr val="3E3D4F"/>
                </a:solidFill>
                <a:latin typeface="微软雅黑" pitchFamily="34" charset="-122"/>
                <a:ea typeface="微软雅黑" pitchFamily="34" charset="-122"/>
              </a:rPr>
              <a:t>，高阻。当其它主设备使用</a:t>
            </a:r>
            <a:r>
              <a:rPr lang="en-US" altLang="zh-CN" sz="1600" b="1" dirty="0">
                <a:solidFill>
                  <a:srgbClr val="3E3D4F"/>
                </a:solidFill>
                <a:latin typeface="微软雅黑" pitchFamily="34" charset="-122"/>
                <a:ea typeface="微软雅黑" pitchFamily="34" charset="-122"/>
              </a:rPr>
              <a:t>AB</a:t>
            </a:r>
            <a:r>
              <a:rPr lang="zh-CN" altLang="en-US" sz="1600" b="1" dirty="0">
                <a:solidFill>
                  <a:srgbClr val="3E3D4F"/>
                </a:solidFill>
                <a:latin typeface="微软雅黑" pitchFamily="34" charset="-122"/>
                <a:ea typeface="微软雅黑" pitchFamily="34" charset="-122"/>
              </a:rPr>
              <a:t>时，</a:t>
            </a:r>
            <a:r>
              <a:rPr lang="en-US" altLang="zh-CN" sz="1600" b="1" dirty="0">
                <a:solidFill>
                  <a:srgbClr val="3E3D4F"/>
                </a:solidFill>
                <a:latin typeface="微软雅黑" pitchFamily="34" charset="-122"/>
                <a:ea typeface="微软雅黑" pitchFamily="34" charset="-122"/>
              </a:rPr>
              <a:t>CPU</a:t>
            </a:r>
            <a:r>
              <a:rPr lang="zh-CN" altLang="en-US" sz="1600" b="1" dirty="0">
                <a:solidFill>
                  <a:srgbClr val="3E3D4F"/>
                </a:solidFill>
                <a:latin typeface="微软雅黑" pitchFamily="34" charset="-122"/>
                <a:ea typeface="微软雅黑" pitchFamily="34" charset="-122"/>
              </a:rPr>
              <a:t>将其设为高阻</a:t>
            </a:r>
            <a:r>
              <a:rPr lang="en-US" altLang="zh-CN" sz="1600" b="1" dirty="0">
                <a:solidFill>
                  <a:srgbClr val="3E3D4F"/>
                </a:solidFill>
                <a:latin typeface="微软雅黑" pitchFamily="34" charset="-122"/>
                <a:ea typeface="微软雅黑" pitchFamily="34" charset="-122"/>
              </a:rPr>
              <a:t>(CPU</a:t>
            </a:r>
            <a:r>
              <a:rPr lang="zh-CN" altLang="en-US" sz="1600" b="1" dirty="0">
                <a:solidFill>
                  <a:srgbClr val="3E3D4F"/>
                </a:solidFill>
                <a:latin typeface="微软雅黑" pitchFamily="34" charset="-122"/>
                <a:ea typeface="微软雅黑" pitchFamily="34" charset="-122"/>
              </a:rPr>
              <a:t>与</a:t>
            </a:r>
            <a:r>
              <a:rPr lang="en-US" altLang="zh-CN" sz="1600" b="1" dirty="0">
                <a:solidFill>
                  <a:srgbClr val="3E3D4F"/>
                </a:solidFill>
                <a:latin typeface="微软雅黑" pitchFamily="34" charset="-122"/>
                <a:ea typeface="微软雅黑" pitchFamily="34" charset="-122"/>
              </a:rPr>
              <a:t>AB</a:t>
            </a:r>
            <a:r>
              <a:rPr lang="zh-CN" altLang="en-US" sz="1600" b="1" dirty="0">
                <a:solidFill>
                  <a:srgbClr val="3E3D4F"/>
                </a:solidFill>
                <a:latin typeface="微软雅黑" pitchFamily="34" charset="-122"/>
                <a:ea typeface="微软雅黑" pitchFamily="34" charset="-122"/>
              </a:rPr>
              <a:t>之间切断电气连接</a:t>
            </a:r>
            <a:r>
              <a:rPr lang="en-US" altLang="zh-CN" sz="1600" b="1" dirty="0">
                <a:solidFill>
                  <a:srgbClr val="3E3D4F"/>
                </a:solidFill>
                <a:latin typeface="微软雅黑" pitchFamily="34" charset="-122"/>
                <a:ea typeface="微软雅黑" pitchFamily="34" charset="-122"/>
              </a:rPr>
              <a:t>)</a:t>
            </a:r>
            <a:r>
              <a:rPr lang="zh-CN" altLang="en-US" sz="1600" b="1" dirty="0">
                <a:solidFill>
                  <a:srgbClr val="3E3D4F"/>
                </a:solidFill>
                <a:latin typeface="微软雅黑" pitchFamily="34" charset="-122"/>
                <a:ea typeface="微软雅黑" pitchFamily="34" charset="-122"/>
              </a:rPr>
              <a:t>。</a:t>
            </a:r>
          </a:p>
        </p:txBody>
      </p:sp>
      <p:pic>
        <p:nvPicPr>
          <p:cNvPr id="45" name="Picture 2" descr="C:\Documents and Settings\tdz\桌面\未标题-1 拷贝.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28860" y="5814781"/>
            <a:ext cx="834828" cy="782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1559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barn(inVertical)">
                                      <p:cBhvr>
                                        <p:cTn id="7" dur="500"/>
                                        <p:tgtEl>
                                          <p:spTgt spid="4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barn(inVertical)">
                                      <p:cBhvr>
                                        <p:cTn id="1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215528" y="2096271"/>
            <a:ext cx="2016224" cy="2520280"/>
          </a:xfrm>
          <a:prstGeom prst="roundRect">
            <a:avLst>
              <a:gd name="adj" fmla="val 4357"/>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3" name="圆角矩形 2"/>
          <p:cNvSpPr/>
          <p:nvPr/>
        </p:nvSpPr>
        <p:spPr>
          <a:xfrm>
            <a:off x="6840264" y="2096271"/>
            <a:ext cx="2016224" cy="2520280"/>
          </a:xfrm>
          <a:prstGeom prst="roundRect">
            <a:avLst>
              <a:gd name="adj" fmla="val 4357"/>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 name="矩形 3"/>
          <p:cNvSpPr/>
          <p:nvPr/>
        </p:nvSpPr>
        <p:spPr>
          <a:xfrm>
            <a:off x="2231752" y="2816351"/>
            <a:ext cx="3960440" cy="360040"/>
          </a:xfrm>
          <a:prstGeom prst="rect">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 name="直角三角形 4"/>
          <p:cNvSpPr/>
          <p:nvPr/>
        </p:nvSpPr>
        <p:spPr>
          <a:xfrm>
            <a:off x="5976168" y="2528319"/>
            <a:ext cx="864096" cy="648072"/>
          </a:xfrm>
          <a:prstGeom prst="rtTriangle">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6" name="矩形 5"/>
          <p:cNvSpPr/>
          <p:nvPr/>
        </p:nvSpPr>
        <p:spPr>
          <a:xfrm>
            <a:off x="2879824" y="3608439"/>
            <a:ext cx="3960440" cy="36004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7" name="直角三角形 6"/>
          <p:cNvSpPr/>
          <p:nvPr/>
        </p:nvSpPr>
        <p:spPr>
          <a:xfrm flipH="1" flipV="1">
            <a:off x="2231752" y="3608439"/>
            <a:ext cx="864000" cy="648000"/>
          </a:xfrm>
          <a:prstGeom prst="rtTriangle">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8" name="流程图: 过程 7"/>
          <p:cNvSpPr/>
          <p:nvPr/>
        </p:nvSpPr>
        <p:spPr>
          <a:xfrm>
            <a:off x="593587" y="2916771"/>
            <a:ext cx="1404145" cy="961065"/>
          </a:xfrm>
          <a:prstGeom prst="flowChartProcess">
            <a:avLst/>
          </a:prstGeom>
          <a:noFill/>
          <a:ln w="9525" cap="rnd">
            <a:noFill/>
            <a:prstDash val="solid"/>
            <a:round/>
            <a:headEnd/>
            <a:tailEnd/>
          </a:ln>
        </p:spPr>
        <p:txBody>
          <a:bodyPr/>
          <a:lstStyle/>
          <a:p>
            <a:pPr lvl="0" algn="ctr">
              <a:lnSpc>
                <a:spcPct val="120000"/>
              </a:lnSpc>
              <a:defRPr/>
            </a:pPr>
            <a:r>
              <a:rPr lang="en-US" altLang="zh-CN" sz="3200" b="1" kern="0" dirty="0">
                <a:solidFill>
                  <a:sysClr val="window" lastClr="FFFFFF">
                    <a:lumMod val="95000"/>
                  </a:sysClr>
                </a:solidFill>
                <a:latin typeface="微软雅黑" pitchFamily="34" charset="-122"/>
                <a:ea typeface="微软雅黑" pitchFamily="34" charset="-122"/>
              </a:rPr>
              <a:t>CPU</a:t>
            </a:r>
            <a:endParaRPr lang="zh-CN" altLang="en-US" sz="3200" b="1" kern="0" dirty="0">
              <a:solidFill>
                <a:sysClr val="window" lastClr="FFFFFF">
                  <a:lumMod val="95000"/>
                </a:sysClr>
              </a:solidFill>
              <a:latin typeface="微软雅黑" pitchFamily="34" charset="-122"/>
              <a:ea typeface="微软雅黑" pitchFamily="34" charset="-122"/>
            </a:endParaRPr>
          </a:p>
        </p:txBody>
      </p:sp>
      <p:sp>
        <p:nvSpPr>
          <p:cNvPr id="9" name="流程图: 过程 8"/>
          <p:cNvSpPr/>
          <p:nvPr/>
        </p:nvSpPr>
        <p:spPr>
          <a:xfrm>
            <a:off x="6696248" y="2538057"/>
            <a:ext cx="2340248" cy="1710190"/>
          </a:xfrm>
          <a:prstGeom prst="flowChartProcess">
            <a:avLst/>
          </a:prstGeom>
          <a:noFill/>
          <a:ln w="9525" cap="rnd">
            <a:noFill/>
            <a:prstDash val="solid"/>
            <a:round/>
            <a:headEnd/>
            <a:tailEnd/>
          </a:ln>
        </p:spPr>
        <p:txBody>
          <a:bodyPr/>
          <a:lstStyle/>
          <a:p>
            <a:pPr lvl="0" algn="ctr">
              <a:lnSpc>
                <a:spcPct val="120000"/>
              </a:lnSpc>
              <a:defRPr/>
            </a:pPr>
            <a:r>
              <a:rPr lang="zh-CN" altLang="en-US" sz="3200" b="1" kern="0" dirty="0">
                <a:solidFill>
                  <a:sysClr val="window" lastClr="FFFFFF">
                    <a:lumMod val="95000"/>
                  </a:sysClr>
                </a:solidFill>
                <a:latin typeface="微软雅黑" pitchFamily="34" charset="-122"/>
                <a:ea typeface="微软雅黑" pitchFamily="34" charset="-122"/>
              </a:rPr>
              <a:t>存储器</a:t>
            </a:r>
            <a:endParaRPr lang="en-US" altLang="zh-CN" sz="3200" b="1" kern="0" dirty="0">
              <a:solidFill>
                <a:sysClr val="window" lastClr="FFFFFF">
                  <a:lumMod val="95000"/>
                </a:sysClr>
              </a:solidFill>
              <a:latin typeface="微软雅黑" pitchFamily="34" charset="-122"/>
              <a:ea typeface="微软雅黑" pitchFamily="34" charset="-122"/>
            </a:endParaRPr>
          </a:p>
          <a:p>
            <a:pPr lvl="0" algn="ctr">
              <a:lnSpc>
                <a:spcPct val="120000"/>
              </a:lnSpc>
              <a:defRPr/>
            </a:pPr>
            <a:r>
              <a:rPr lang="zh-CN" altLang="en-US" sz="3200" b="1" kern="0" dirty="0">
                <a:solidFill>
                  <a:sysClr val="window" lastClr="FFFFFF">
                    <a:lumMod val="95000"/>
                  </a:sysClr>
                </a:solidFill>
                <a:latin typeface="微软雅黑" pitchFamily="34" charset="-122"/>
                <a:ea typeface="微软雅黑" pitchFamily="34" charset="-122"/>
              </a:rPr>
              <a:t>或</a:t>
            </a:r>
            <a:r>
              <a:rPr lang="en-US" altLang="zh-CN" sz="3200" b="1" kern="0" dirty="0">
                <a:solidFill>
                  <a:sysClr val="window" lastClr="FFFFFF">
                    <a:lumMod val="95000"/>
                  </a:sysClr>
                </a:solidFill>
                <a:latin typeface="微软雅黑" pitchFamily="34" charset="-122"/>
                <a:ea typeface="微软雅黑" pitchFamily="34" charset="-122"/>
              </a:rPr>
              <a:t>I/O</a:t>
            </a:r>
            <a:endParaRPr lang="zh-CN" altLang="en-US" sz="3200" b="1" kern="0" dirty="0">
              <a:solidFill>
                <a:sysClr val="window" lastClr="FFFFFF">
                  <a:lumMod val="95000"/>
                </a:sysClr>
              </a:solidFill>
              <a:latin typeface="微软雅黑" pitchFamily="34" charset="-122"/>
              <a:ea typeface="微软雅黑" pitchFamily="34" charset="-122"/>
            </a:endParaRPr>
          </a:p>
        </p:txBody>
      </p:sp>
      <p:sp>
        <p:nvSpPr>
          <p:cNvPr id="10" name="文本框 6"/>
          <p:cNvSpPr txBox="1"/>
          <p:nvPr/>
        </p:nvSpPr>
        <p:spPr>
          <a:xfrm>
            <a:off x="3102097" y="2239434"/>
            <a:ext cx="2484784"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just"/>
            <a:r>
              <a:rPr lang="zh-CN" altLang="en-US" sz="2000" b="1" kern="100" dirty="0">
                <a:solidFill>
                  <a:srgbClr val="E36C0A"/>
                </a:solidFill>
                <a:latin typeface="Times New Roman" panose="02020603050405020304" pitchFamily="18" charset="0"/>
                <a:ea typeface="微软雅黑" panose="020B0503020204020204" pitchFamily="34" charset="-122"/>
                <a:cs typeface="宋体" panose="02010600030101010101" pitchFamily="2" charset="-122"/>
              </a:rPr>
              <a:t>控制信号或时钟信号等</a:t>
            </a:r>
            <a:endParaRPr lang="zh-CN" altLang="en-US" sz="1400" kern="100" dirty="0">
              <a:latin typeface="Times New Roman" panose="02020603050405020304" pitchFamily="18" charset="0"/>
              <a:ea typeface="微软雅黑" panose="020B0503020204020204" pitchFamily="34" charset="-122"/>
              <a:cs typeface="宋体" panose="02010600030101010101" pitchFamily="2" charset="-122"/>
            </a:endParaRPr>
          </a:p>
        </p:txBody>
      </p:sp>
      <p:sp>
        <p:nvSpPr>
          <p:cNvPr id="12" name="文本框 19"/>
          <p:cNvSpPr txBox="1"/>
          <p:nvPr/>
        </p:nvSpPr>
        <p:spPr>
          <a:xfrm>
            <a:off x="2519784" y="4256439"/>
            <a:ext cx="4176464" cy="396697"/>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r"/>
            <a:r>
              <a:rPr lang="zh-CN" altLang="en-US" sz="2000" b="1" kern="100" dirty="0">
                <a:solidFill>
                  <a:srgbClr val="00B0F0"/>
                </a:solidFill>
                <a:latin typeface="Times New Roman" panose="02020603050405020304" pitchFamily="18" charset="0"/>
                <a:ea typeface="微软雅黑" panose="020B0503020204020204" pitchFamily="34" charset="-122"/>
                <a:cs typeface="宋体" panose="02010600030101010101" pitchFamily="2" charset="-122"/>
              </a:rPr>
              <a:t>状态信号、中断信号及总线请求信号等</a:t>
            </a:r>
            <a:endParaRPr lang="zh-CN" altLang="en-US" sz="1400" kern="100" dirty="0">
              <a:latin typeface="Times New Roman" panose="02020603050405020304" pitchFamily="18" charset="0"/>
              <a:ea typeface="微软雅黑" panose="020B0503020204020204" pitchFamily="34" charset="-122"/>
              <a:cs typeface="宋体" panose="02010600030101010101" pitchFamily="2" charset="-122"/>
            </a:endParaRPr>
          </a:p>
        </p:txBody>
      </p:sp>
      <p:sp>
        <p:nvSpPr>
          <p:cNvPr id="14" name="文本框 20"/>
          <p:cNvSpPr txBox="1"/>
          <p:nvPr/>
        </p:nvSpPr>
        <p:spPr>
          <a:xfrm>
            <a:off x="2231752" y="3186169"/>
            <a:ext cx="4608512" cy="422271"/>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ctr" anchorCtr="0" forceAA="0" compatLnSpc="1">
            <a:prstTxWarp prst="textNoShape">
              <a:avLst/>
            </a:prstTxWarp>
            <a:noAutofit/>
          </a:bodyPr>
          <a:lstStyle/>
          <a:p>
            <a:pPr algn="ctr"/>
            <a:r>
              <a:rPr lang="zh-CN" altLang="en-US" sz="20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rPr>
              <a:t>控制总线</a:t>
            </a:r>
            <a:endParaRPr lang="zh-CN" altLang="en-US" sz="1200" kern="100" dirty="0">
              <a:latin typeface="Times New Roman" panose="02020603050405020304" pitchFamily="18" charset="0"/>
              <a:ea typeface="微软雅黑" panose="020B0503020204020204" pitchFamily="34" charset="-122"/>
              <a:cs typeface="宋体" panose="02010600030101010101" pitchFamily="2" charset="-122"/>
            </a:endParaRPr>
          </a:p>
        </p:txBody>
      </p:sp>
      <p:cxnSp>
        <p:nvCxnSpPr>
          <p:cNvPr id="15" name="直接连接符 14"/>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6" name="Rectangle 2"/>
          <p:cNvSpPr>
            <a:spLocks noChangeArrowheads="1"/>
          </p:cNvSpPr>
          <p:nvPr/>
        </p:nvSpPr>
        <p:spPr bwMode="auto">
          <a:xfrm>
            <a:off x="3444921" y="521916"/>
            <a:ext cx="2254157"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控制总线</a:t>
            </a:r>
            <a:endParaRPr lang="zh-CN" altLang="en-US" sz="3200" b="1" dirty="0">
              <a:solidFill>
                <a:prstClr val="white">
                  <a:lumMod val="65000"/>
                </a:prstClr>
              </a:solidFill>
              <a:latin typeface="Arial"/>
              <a:ea typeface="微软雅黑" pitchFamily="34" charset="-122"/>
              <a:cs typeface="Arial"/>
            </a:endParaRPr>
          </a:p>
        </p:txBody>
      </p:sp>
    </p:spTree>
    <p:extLst>
      <p:ext uri="{BB962C8B-B14F-4D97-AF65-F5344CB8AC3E}">
        <p14:creationId xmlns:p14="http://schemas.microsoft.com/office/powerpoint/2010/main" val="3628577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down)">
                                      <p:cBhvr>
                                        <p:cTn id="10" dur="500"/>
                                        <p:tgtEl>
                                          <p:spTgt spid="1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down)">
                                      <p:cBhvr>
                                        <p:cTn id="21" dur="500"/>
                                        <p:tgtEl>
                                          <p:spTgt spid="7"/>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00"/>
                                        <p:tgtEl>
                                          <p:spTgt spid="6"/>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0" grpId="0"/>
      <p:bldP spid="12" grpId="0"/>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215528" y="2060848"/>
            <a:ext cx="2016224" cy="2520280"/>
          </a:xfrm>
          <a:prstGeom prst="roundRect">
            <a:avLst>
              <a:gd name="adj" fmla="val 4357"/>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3" name="圆角矩形 2"/>
          <p:cNvSpPr/>
          <p:nvPr/>
        </p:nvSpPr>
        <p:spPr>
          <a:xfrm>
            <a:off x="6840264" y="2060848"/>
            <a:ext cx="2016224" cy="2520280"/>
          </a:xfrm>
          <a:prstGeom prst="roundRect">
            <a:avLst>
              <a:gd name="adj" fmla="val 4357"/>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 name="矩形 3"/>
          <p:cNvSpPr/>
          <p:nvPr/>
        </p:nvSpPr>
        <p:spPr>
          <a:xfrm>
            <a:off x="2231752" y="2780928"/>
            <a:ext cx="3960440" cy="360040"/>
          </a:xfrm>
          <a:prstGeom prst="rect">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 name="直角三角形 4"/>
          <p:cNvSpPr/>
          <p:nvPr/>
        </p:nvSpPr>
        <p:spPr>
          <a:xfrm>
            <a:off x="5976168" y="2492896"/>
            <a:ext cx="864096" cy="648072"/>
          </a:xfrm>
          <a:prstGeom prst="rtTriangle">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6" name="矩形 5"/>
          <p:cNvSpPr/>
          <p:nvPr/>
        </p:nvSpPr>
        <p:spPr>
          <a:xfrm>
            <a:off x="2879824" y="3573016"/>
            <a:ext cx="3960440" cy="360040"/>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7" name="直角三角形 6"/>
          <p:cNvSpPr/>
          <p:nvPr/>
        </p:nvSpPr>
        <p:spPr>
          <a:xfrm flipH="1" flipV="1">
            <a:off x="2231752" y="3573016"/>
            <a:ext cx="864000" cy="648000"/>
          </a:xfrm>
          <a:prstGeom prst="rtTriangle">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8" name="流程图: 过程 7"/>
          <p:cNvSpPr/>
          <p:nvPr/>
        </p:nvSpPr>
        <p:spPr>
          <a:xfrm>
            <a:off x="593587" y="2881348"/>
            <a:ext cx="1404145" cy="961065"/>
          </a:xfrm>
          <a:prstGeom prst="flowChartProcess">
            <a:avLst/>
          </a:prstGeom>
          <a:noFill/>
          <a:ln w="9525" cap="rnd">
            <a:noFill/>
            <a:prstDash val="solid"/>
            <a:round/>
            <a:headEnd/>
            <a:tailEnd/>
          </a:ln>
        </p:spPr>
        <p:txBody>
          <a:bodyPr/>
          <a:lstStyle/>
          <a:p>
            <a:pPr lvl="0" algn="ctr">
              <a:lnSpc>
                <a:spcPct val="120000"/>
              </a:lnSpc>
              <a:defRPr/>
            </a:pPr>
            <a:r>
              <a:rPr lang="en-US" altLang="zh-CN" sz="3200" b="1" kern="0" dirty="0">
                <a:solidFill>
                  <a:sysClr val="window" lastClr="FFFFFF">
                    <a:lumMod val="95000"/>
                  </a:sysClr>
                </a:solidFill>
                <a:latin typeface="微软雅黑" pitchFamily="34" charset="-122"/>
                <a:ea typeface="微软雅黑" pitchFamily="34" charset="-122"/>
              </a:rPr>
              <a:t>CPU</a:t>
            </a:r>
            <a:endParaRPr lang="zh-CN" altLang="en-US" sz="3200" b="1" kern="0" dirty="0">
              <a:solidFill>
                <a:sysClr val="window" lastClr="FFFFFF">
                  <a:lumMod val="95000"/>
                </a:sysClr>
              </a:solidFill>
              <a:latin typeface="微软雅黑" pitchFamily="34" charset="-122"/>
              <a:ea typeface="微软雅黑" pitchFamily="34" charset="-122"/>
            </a:endParaRPr>
          </a:p>
        </p:txBody>
      </p:sp>
      <p:sp>
        <p:nvSpPr>
          <p:cNvPr id="9" name="流程图: 过程 8"/>
          <p:cNvSpPr/>
          <p:nvPr/>
        </p:nvSpPr>
        <p:spPr>
          <a:xfrm>
            <a:off x="6696248" y="2502634"/>
            <a:ext cx="2340248" cy="1710190"/>
          </a:xfrm>
          <a:prstGeom prst="flowChartProcess">
            <a:avLst/>
          </a:prstGeom>
          <a:noFill/>
          <a:ln w="9525" cap="rnd">
            <a:noFill/>
            <a:prstDash val="solid"/>
            <a:round/>
            <a:headEnd/>
            <a:tailEnd/>
          </a:ln>
        </p:spPr>
        <p:txBody>
          <a:bodyPr/>
          <a:lstStyle/>
          <a:p>
            <a:pPr lvl="0" algn="ctr">
              <a:lnSpc>
                <a:spcPct val="120000"/>
              </a:lnSpc>
              <a:defRPr/>
            </a:pPr>
            <a:r>
              <a:rPr lang="zh-CN" altLang="en-US" sz="3200" b="1" kern="0" dirty="0">
                <a:solidFill>
                  <a:sysClr val="window" lastClr="FFFFFF">
                    <a:lumMod val="95000"/>
                  </a:sysClr>
                </a:solidFill>
                <a:latin typeface="微软雅黑" pitchFamily="34" charset="-122"/>
                <a:ea typeface="微软雅黑" pitchFamily="34" charset="-122"/>
              </a:rPr>
              <a:t>存储器</a:t>
            </a:r>
            <a:endParaRPr lang="en-US" altLang="zh-CN" sz="3200" b="1" kern="0" dirty="0">
              <a:solidFill>
                <a:sysClr val="window" lastClr="FFFFFF">
                  <a:lumMod val="95000"/>
                </a:sysClr>
              </a:solidFill>
              <a:latin typeface="微软雅黑" pitchFamily="34" charset="-122"/>
              <a:ea typeface="微软雅黑" pitchFamily="34" charset="-122"/>
            </a:endParaRPr>
          </a:p>
          <a:p>
            <a:pPr lvl="0" algn="ctr">
              <a:lnSpc>
                <a:spcPct val="120000"/>
              </a:lnSpc>
              <a:defRPr/>
            </a:pPr>
            <a:r>
              <a:rPr lang="zh-CN" altLang="en-US" sz="3200" b="1" kern="0" dirty="0">
                <a:solidFill>
                  <a:sysClr val="window" lastClr="FFFFFF">
                    <a:lumMod val="95000"/>
                  </a:sysClr>
                </a:solidFill>
                <a:latin typeface="微软雅黑" pitchFamily="34" charset="-122"/>
                <a:ea typeface="微软雅黑" pitchFamily="34" charset="-122"/>
              </a:rPr>
              <a:t>或</a:t>
            </a:r>
            <a:r>
              <a:rPr lang="en-US" altLang="zh-CN" sz="3200" b="1" kern="0" dirty="0">
                <a:solidFill>
                  <a:sysClr val="window" lastClr="FFFFFF">
                    <a:lumMod val="95000"/>
                  </a:sysClr>
                </a:solidFill>
                <a:latin typeface="微软雅黑" pitchFamily="34" charset="-122"/>
                <a:ea typeface="微软雅黑" pitchFamily="34" charset="-122"/>
              </a:rPr>
              <a:t>I/O</a:t>
            </a:r>
            <a:endParaRPr lang="zh-CN" altLang="en-US" sz="3200" b="1" kern="0" dirty="0">
              <a:solidFill>
                <a:sysClr val="window" lastClr="FFFFFF">
                  <a:lumMod val="95000"/>
                </a:sysClr>
              </a:solidFill>
              <a:latin typeface="微软雅黑" pitchFamily="34" charset="-122"/>
              <a:ea typeface="微软雅黑" pitchFamily="34" charset="-122"/>
            </a:endParaRPr>
          </a:p>
        </p:txBody>
      </p:sp>
      <p:sp>
        <p:nvSpPr>
          <p:cNvPr id="10" name="文本框 6"/>
          <p:cNvSpPr txBox="1"/>
          <p:nvPr/>
        </p:nvSpPr>
        <p:spPr>
          <a:xfrm>
            <a:off x="4062082" y="2096820"/>
            <a:ext cx="947851"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zh-CN" altLang="en-US" sz="2000" b="1" kern="100" dirty="0">
                <a:solidFill>
                  <a:srgbClr val="E36C0A"/>
                </a:solidFill>
                <a:latin typeface="Times New Roman" panose="02020603050405020304" pitchFamily="18" charset="0"/>
                <a:ea typeface="微软雅黑" panose="020B0503020204020204" pitchFamily="34" charset="-122"/>
                <a:cs typeface="宋体" panose="02010600030101010101" pitchFamily="2" charset="-122"/>
              </a:rPr>
              <a:t>写数据</a:t>
            </a:r>
            <a:endParaRPr lang="zh-CN" altLang="en-US" sz="1400" kern="100" dirty="0">
              <a:latin typeface="Times New Roman" panose="02020603050405020304" pitchFamily="18" charset="0"/>
              <a:ea typeface="微软雅黑" panose="020B0503020204020204" pitchFamily="34" charset="-122"/>
              <a:cs typeface="宋体" panose="02010600030101010101" pitchFamily="2" charset="-122"/>
            </a:endParaRPr>
          </a:p>
        </p:txBody>
      </p:sp>
      <p:sp>
        <p:nvSpPr>
          <p:cNvPr id="11" name="文本框 19"/>
          <p:cNvSpPr txBox="1"/>
          <p:nvPr/>
        </p:nvSpPr>
        <p:spPr>
          <a:xfrm>
            <a:off x="4049948" y="4293096"/>
            <a:ext cx="972120" cy="396697"/>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zh-CN" altLang="en-US" sz="2000" b="1" kern="100" dirty="0">
                <a:solidFill>
                  <a:srgbClr val="00B0F0"/>
                </a:solidFill>
                <a:latin typeface="Times New Roman" panose="02020603050405020304" pitchFamily="18" charset="0"/>
                <a:ea typeface="微软雅黑" panose="020B0503020204020204" pitchFamily="34" charset="-122"/>
                <a:cs typeface="宋体" panose="02010600030101010101" pitchFamily="2" charset="-122"/>
              </a:rPr>
              <a:t>读数据</a:t>
            </a:r>
            <a:endParaRPr lang="zh-CN" altLang="en-US" sz="1400" kern="100" dirty="0">
              <a:latin typeface="Times New Roman" panose="02020603050405020304" pitchFamily="18" charset="0"/>
              <a:ea typeface="微软雅黑" panose="020B0503020204020204" pitchFamily="34" charset="-122"/>
              <a:cs typeface="宋体" panose="02010600030101010101" pitchFamily="2" charset="-122"/>
            </a:endParaRPr>
          </a:p>
        </p:txBody>
      </p:sp>
      <p:sp>
        <p:nvSpPr>
          <p:cNvPr id="12" name="文本框 20"/>
          <p:cNvSpPr txBox="1"/>
          <p:nvPr/>
        </p:nvSpPr>
        <p:spPr>
          <a:xfrm>
            <a:off x="2231752" y="3150746"/>
            <a:ext cx="4608512" cy="422271"/>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ctr" anchorCtr="0" forceAA="0" compatLnSpc="1">
            <a:prstTxWarp prst="textNoShape">
              <a:avLst/>
            </a:prstTxWarp>
            <a:noAutofit/>
          </a:bodyPr>
          <a:lstStyle/>
          <a:p>
            <a:pPr algn="ctr"/>
            <a:r>
              <a:rPr lang="zh-CN" altLang="en-US" sz="20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rPr>
              <a:t>数据总线</a:t>
            </a:r>
            <a:endParaRPr lang="zh-CN" altLang="en-US" sz="1200" kern="100" dirty="0">
              <a:latin typeface="Times New Roman" panose="02020603050405020304" pitchFamily="18" charset="0"/>
              <a:ea typeface="微软雅黑" panose="020B0503020204020204" pitchFamily="34" charset="-122"/>
              <a:cs typeface="宋体" panose="02010600030101010101" pitchFamily="2" charset="-122"/>
            </a:endParaRPr>
          </a:p>
        </p:txBody>
      </p:sp>
      <p:cxnSp>
        <p:nvCxnSpPr>
          <p:cNvPr id="13" name="直接连接符 1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4" name="Rectangle 2"/>
          <p:cNvSpPr>
            <a:spLocks noChangeArrowheads="1"/>
          </p:cNvSpPr>
          <p:nvPr/>
        </p:nvSpPr>
        <p:spPr bwMode="auto">
          <a:xfrm>
            <a:off x="3444921" y="521916"/>
            <a:ext cx="2254157"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数据总线</a:t>
            </a:r>
            <a:endParaRPr lang="zh-CN" altLang="en-US" sz="3200" b="1" dirty="0">
              <a:solidFill>
                <a:prstClr val="white">
                  <a:lumMod val="65000"/>
                </a:prstClr>
              </a:solidFill>
              <a:latin typeface="Arial"/>
              <a:ea typeface="微软雅黑" pitchFamily="34" charset="-122"/>
              <a:cs typeface="Arial"/>
            </a:endParaRPr>
          </a:p>
        </p:txBody>
      </p:sp>
      <p:sp>
        <p:nvSpPr>
          <p:cNvPr id="15" name="矩形 14"/>
          <p:cNvSpPr/>
          <p:nvPr/>
        </p:nvSpPr>
        <p:spPr>
          <a:xfrm>
            <a:off x="1871699" y="5951021"/>
            <a:ext cx="5148573" cy="584775"/>
          </a:xfrm>
          <a:prstGeom prst="rect">
            <a:avLst/>
          </a:prstGeom>
          <a:noFill/>
        </p:spPr>
        <p:txBody>
          <a:bodyPr wrap="square" lIns="91440" tIns="45720" rIns="91440" bIns="45720">
            <a:spAutoFit/>
          </a:bodyPr>
          <a:lstStyle/>
          <a:p>
            <a:r>
              <a:rPr lang="zh-CN" altLang="en-US" sz="1600" b="1" dirty="0">
                <a:solidFill>
                  <a:srgbClr val="ED7D31"/>
                </a:solidFill>
                <a:latin typeface="微软雅黑" pitchFamily="34" charset="-122"/>
                <a:ea typeface="微软雅黑" pitchFamily="34" charset="-122"/>
              </a:rPr>
              <a:t>数据总线的宽度</a:t>
            </a:r>
            <a:r>
              <a:rPr lang="zh-CN" altLang="en-US" sz="1600" b="1" dirty="0">
                <a:solidFill>
                  <a:srgbClr val="3E3D4F"/>
                </a:solidFill>
                <a:latin typeface="微软雅黑" pitchFamily="34" charset="-122"/>
                <a:ea typeface="微软雅黑" pitchFamily="34" charset="-122"/>
              </a:rPr>
              <a:t>决定了</a:t>
            </a:r>
            <a:r>
              <a:rPr lang="en-US" altLang="zh-CN" sz="1600" b="1" dirty="0">
                <a:solidFill>
                  <a:srgbClr val="3E3D4F"/>
                </a:solidFill>
                <a:latin typeface="微软雅黑" pitchFamily="34" charset="-122"/>
                <a:ea typeface="微软雅黑" pitchFamily="34" charset="-122"/>
              </a:rPr>
              <a:t>CPU</a:t>
            </a:r>
            <a:r>
              <a:rPr lang="zh-CN" altLang="en-US" sz="1600" b="1" dirty="0">
                <a:solidFill>
                  <a:srgbClr val="3E3D4F"/>
                </a:solidFill>
                <a:latin typeface="微软雅黑" pitchFamily="34" charset="-122"/>
                <a:ea typeface="微软雅黑" pitchFamily="34" charset="-122"/>
              </a:rPr>
              <a:t>与其它器件进行一次数据传送时的最大位数。注意和</a:t>
            </a:r>
            <a:r>
              <a:rPr lang="en-US" altLang="zh-CN" sz="1600" b="1" dirty="0">
                <a:solidFill>
                  <a:srgbClr val="ED7D31"/>
                </a:solidFill>
                <a:latin typeface="微软雅黑" pitchFamily="34" charset="-122"/>
                <a:ea typeface="微软雅黑" pitchFamily="34" charset="-122"/>
              </a:rPr>
              <a:t>CPU</a:t>
            </a:r>
            <a:r>
              <a:rPr lang="zh-CN" altLang="en-US" sz="1600" b="1" dirty="0">
                <a:solidFill>
                  <a:srgbClr val="ED7D31"/>
                </a:solidFill>
                <a:latin typeface="微软雅黑" pitchFamily="34" charset="-122"/>
                <a:ea typeface="微软雅黑" pitchFamily="34" charset="-122"/>
              </a:rPr>
              <a:t>的字长</a:t>
            </a:r>
            <a:r>
              <a:rPr lang="zh-CN" altLang="en-US" sz="1600" b="1" dirty="0">
                <a:solidFill>
                  <a:srgbClr val="3E3D4F"/>
                </a:solidFill>
                <a:latin typeface="微软雅黑" pitchFamily="34" charset="-122"/>
                <a:ea typeface="微软雅黑" pitchFamily="34" charset="-122"/>
              </a:rPr>
              <a:t>要有所区分哦。</a:t>
            </a:r>
          </a:p>
        </p:txBody>
      </p:sp>
      <p:pic>
        <p:nvPicPr>
          <p:cNvPr id="16" name="Picture 2" descr="C:\Documents and Settings\tdz\桌面\未标题-1 拷贝.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28860" y="5814781"/>
            <a:ext cx="834828" cy="782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14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00"/>
                                        <p:tgtEl>
                                          <p:spTgt spid="6"/>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down)">
                                      <p:cBhvr>
                                        <p:cTn id="24" dur="500"/>
                                        <p:tgtEl>
                                          <p:spTgt spid="7"/>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down)">
                                      <p:cBhvr>
                                        <p:cTn id="32" dur="500"/>
                                        <p:tgtEl>
                                          <p:spTgt spid="16"/>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down)">
                                      <p:cBhvr>
                                        <p:cTn id="3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0" grpId="0"/>
      <p:bldP spid="11" grpId="0"/>
      <p:bldP spid="12" grpId="0"/>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215528" y="2060848"/>
            <a:ext cx="2016224" cy="2520280"/>
          </a:xfrm>
          <a:prstGeom prst="roundRect">
            <a:avLst>
              <a:gd name="adj" fmla="val 4357"/>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3" name="圆角矩形 2"/>
          <p:cNvSpPr/>
          <p:nvPr/>
        </p:nvSpPr>
        <p:spPr>
          <a:xfrm>
            <a:off x="6840264" y="2060848"/>
            <a:ext cx="2016224" cy="2520280"/>
          </a:xfrm>
          <a:prstGeom prst="roundRect">
            <a:avLst>
              <a:gd name="adj" fmla="val 4357"/>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8" name="流程图: 过程 7"/>
          <p:cNvSpPr/>
          <p:nvPr/>
        </p:nvSpPr>
        <p:spPr>
          <a:xfrm>
            <a:off x="593587" y="2881348"/>
            <a:ext cx="1404145" cy="961065"/>
          </a:xfrm>
          <a:prstGeom prst="flowChartProcess">
            <a:avLst/>
          </a:prstGeom>
          <a:noFill/>
          <a:ln w="9525" cap="rnd">
            <a:noFill/>
            <a:prstDash val="solid"/>
            <a:round/>
            <a:headEnd/>
            <a:tailEnd/>
          </a:ln>
        </p:spPr>
        <p:txBody>
          <a:bodyPr/>
          <a:lstStyle/>
          <a:p>
            <a:pPr lvl="0" algn="ctr">
              <a:lnSpc>
                <a:spcPct val="120000"/>
              </a:lnSpc>
              <a:defRPr/>
            </a:pPr>
            <a:r>
              <a:rPr lang="en-US" altLang="zh-CN" sz="3200" b="1" kern="0" dirty="0">
                <a:solidFill>
                  <a:sysClr val="window" lastClr="FFFFFF">
                    <a:lumMod val="95000"/>
                  </a:sysClr>
                </a:solidFill>
                <a:latin typeface="微软雅黑" pitchFamily="34" charset="-122"/>
                <a:ea typeface="微软雅黑" pitchFamily="34" charset="-122"/>
              </a:rPr>
              <a:t>CPU</a:t>
            </a:r>
            <a:endParaRPr lang="zh-CN" altLang="en-US" sz="3200" b="1" kern="0" dirty="0">
              <a:solidFill>
                <a:sysClr val="window" lastClr="FFFFFF">
                  <a:lumMod val="95000"/>
                </a:sysClr>
              </a:solidFill>
              <a:latin typeface="微软雅黑" pitchFamily="34" charset="-122"/>
              <a:ea typeface="微软雅黑" pitchFamily="34" charset="-122"/>
            </a:endParaRPr>
          </a:p>
        </p:txBody>
      </p:sp>
      <p:sp>
        <p:nvSpPr>
          <p:cNvPr id="9" name="流程图: 过程 8"/>
          <p:cNvSpPr/>
          <p:nvPr/>
        </p:nvSpPr>
        <p:spPr>
          <a:xfrm>
            <a:off x="6696248" y="2502634"/>
            <a:ext cx="2340248" cy="1710190"/>
          </a:xfrm>
          <a:prstGeom prst="flowChartProcess">
            <a:avLst/>
          </a:prstGeom>
          <a:noFill/>
          <a:ln w="9525" cap="rnd">
            <a:noFill/>
            <a:prstDash val="solid"/>
            <a:round/>
            <a:headEnd/>
            <a:tailEnd/>
          </a:ln>
        </p:spPr>
        <p:txBody>
          <a:bodyPr/>
          <a:lstStyle/>
          <a:p>
            <a:pPr lvl="0" algn="ctr">
              <a:lnSpc>
                <a:spcPct val="120000"/>
              </a:lnSpc>
              <a:defRPr/>
            </a:pPr>
            <a:r>
              <a:rPr lang="zh-CN" altLang="en-US" sz="3200" b="1" kern="0" dirty="0">
                <a:solidFill>
                  <a:sysClr val="window" lastClr="FFFFFF">
                    <a:lumMod val="95000"/>
                  </a:sysClr>
                </a:solidFill>
                <a:latin typeface="微软雅黑" pitchFamily="34" charset="-122"/>
                <a:ea typeface="微软雅黑" pitchFamily="34" charset="-122"/>
              </a:rPr>
              <a:t>存储器</a:t>
            </a:r>
            <a:endParaRPr lang="en-US" altLang="zh-CN" sz="3200" b="1" kern="0" dirty="0">
              <a:solidFill>
                <a:sysClr val="window" lastClr="FFFFFF">
                  <a:lumMod val="95000"/>
                </a:sysClr>
              </a:solidFill>
              <a:latin typeface="微软雅黑" pitchFamily="34" charset="-122"/>
              <a:ea typeface="微软雅黑" pitchFamily="34" charset="-122"/>
            </a:endParaRPr>
          </a:p>
          <a:p>
            <a:pPr lvl="0" algn="ctr">
              <a:lnSpc>
                <a:spcPct val="120000"/>
              </a:lnSpc>
              <a:defRPr/>
            </a:pPr>
            <a:r>
              <a:rPr lang="zh-CN" altLang="en-US" sz="3200" b="1" kern="0" dirty="0">
                <a:solidFill>
                  <a:sysClr val="window" lastClr="FFFFFF">
                    <a:lumMod val="95000"/>
                  </a:sysClr>
                </a:solidFill>
                <a:latin typeface="微软雅黑" pitchFamily="34" charset="-122"/>
                <a:ea typeface="微软雅黑" pitchFamily="34" charset="-122"/>
              </a:rPr>
              <a:t>或</a:t>
            </a:r>
            <a:r>
              <a:rPr lang="en-US" altLang="zh-CN" sz="3200" b="1" kern="0" dirty="0">
                <a:solidFill>
                  <a:sysClr val="window" lastClr="FFFFFF">
                    <a:lumMod val="95000"/>
                  </a:sysClr>
                </a:solidFill>
                <a:latin typeface="微软雅黑" pitchFamily="34" charset="-122"/>
                <a:ea typeface="微软雅黑" pitchFamily="34" charset="-122"/>
              </a:rPr>
              <a:t>I/O</a:t>
            </a:r>
            <a:endParaRPr lang="zh-CN" altLang="en-US" sz="3200" b="1" kern="0" dirty="0">
              <a:solidFill>
                <a:sysClr val="window" lastClr="FFFFFF">
                  <a:lumMod val="95000"/>
                </a:sysClr>
              </a:solidFill>
              <a:latin typeface="微软雅黑" pitchFamily="34" charset="-122"/>
              <a:ea typeface="微软雅黑" pitchFamily="34" charset="-122"/>
            </a:endParaRPr>
          </a:p>
        </p:txBody>
      </p:sp>
      <p:sp>
        <p:nvSpPr>
          <p:cNvPr id="12" name="文本框 20"/>
          <p:cNvSpPr txBox="1"/>
          <p:nvPr/>
        </p:nvSpPr>
        <p:spPr>
          <a:xfrm>
            <a:off x="2231752" y="3582793"/>
            <a:ext cx="4608512" cy="422271"/>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ctr" anchorCtr="0" forceAA="0" compatLnSpc="1">
            <a:prstTxWarp prst="textNoShape">
              <a:avLst/>
            </a:prstTxWarp>
            <a:noAutofit/>
          </a:bodyPr>
          <a:lstStyle/>
          <a:p>
            <a:pPr algn="ctr"/>
            <a:r>
              <a:rPr lang="zh-CN" altLang="en-US" sz="20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rPr>
              <a:t>地址总线</a:t>
            </a:r>
            <a:endParaRPr lang="zh-CN" altLang="en-US" sz="1200" kern="100" dirty="0">
              <a:latin typeface="Times New Roman" panose="02020603050405020304" pitchFamily="18" charset="0"/>
              <a:ea typeface="微软雅黑" panose="020B0503020204020204" pitchFamily="34" charset="-122"/>
              <a:cs typeface="宋体" panose="02010600030101010101" pitchFamily="2" charset="-122"/>
            </a:endParaRPr>
          </a:p>
        </p:txBody>
      </p:sp>
      <p:cxnSp>
        <p:nvCxnSpPr>
          <p:cNvPr id="13" name="直接连接符 1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14" name="Rectangle 2"/>
          <p:cNvSpPr>
            <a:spLocks noChangeArrowheads="1"/>
          </p:cNvSpPr>
          <p:nvPr/>
        </p:nvSpPr>
        <p:spPr bwMode="auto">
          <a:xfrm>
            <a:off x="3444921" y="521916"/>
            <a:ext cx="2254157"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地址总线</a:t>
            </a:r>
            <a:endParaRPr lang="zh-CN" altLang="en-US" sz="3200" b="1" dirty="0">
              <a:solidFill>
                <a:prstClr val="white">
                  <a:lumMod val="65000"/>
                </a:prstClr>
              </a:solidFill>
              <a:latin typeface="Arial"/>
              <a:ea typeface="微软雅黑" pitchFamily="34" charset="-122"/>
              <a:cs typeface="Arial"/>
            </a:endParaRPr>
          </a:p>
        </p:txBody>
      </p:sp>
      <p:sp>
        <p:nvSpPr>
          <p:cNvPr id="19" name="下箭头 18"/>
          <p:cNvSpPr/>
          <p:nvPr/>
        </p:nvSpPr>
        <p:spPr>
          <a:xfrm rot="16200000">
            <a:off x="4121968" y="998724"/>
            <a:ext cx="828080" cy="4644528"/>
          </a:xfrm>
          <a:prstGeom prst="downArrow">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Tree>
    <p:extLst>
      <p:ext uri="{BB962C8B-B14F-4D97-AF65-F5344CB8AC3E}">
        <p14:creationId xmlns:p14="http://schemas.microsoft.com/office/powerpoint/2010/main" val="2305357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直接连接符 74"/>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77" name="Rectangle 2"/>
          <p:cNvSpPr>
            <a:spLocks noChangeArrowheads="1"/>
          </p:cNvSpPr>
          <p:nvPr/>
        </p:nvSpPr>
        <p:spPr bwMode="auto">
          <a:xfrm>
            <a:off x="3444921" y="521916"/>
            <a:ext cx="2254157"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algn="ct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存储器</a:t>
            </a:r>
            <a:endParaRPr lang="zh-CN" altLang="en-US" sz="3200" b="1" dirty="0">
              <a:solidFill>
                <a:prstClr val="white">
                  <a:lumMod val="65000"/>
                </a:prstClr>
              </a:solidFill>
              <a:latin typeface="Arial"/>
              <a:ea typeface="微软雅黑" pitchFamily="34" charset="-122"/>
              <a:cs typeface="Arial"/>
            </a:endParaRPr>
          </a:p>
        </p:txBody>
      </p:sp>
      <p:sp>
        <p:nvSpPr>
          <p:cNvPr id="5" name="圆角矩形 4"/>
          <p:cNvSpPr/>
          <p:nvPr/>
        </p:nvSpPr>
        <p:spPr>
          <a:xfrm>
            <a:off x="539552" y="3943483"/>
            <a:ext cx="3672408" cy="1717765"/>
          </a:xfrm>
          <a:prstGeom prst="roundRect">
            <a:avLst>
              <a:gd name="adj" fmla="val 5845"/>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 name="圆角矩形 12"/>
          <p:cNvSpPr/>
          <p:nvPr/>
        </p:nvSpPr>
        <p:spPr>
          <a:xfrm>
            <a:off x="539552" y="3283054"/>
            <a:ext cx="3672408" cy="588421"/>
          </a:xfrm>
          <a:prstGeom prst="roundRect">
            <a:avLst>
              <a:gd name="adj" fmla="val 8731"/>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ea typeface="微软雅黑" panose="020B0503020204020204" pitchFamily="34" charset="-122"/>
              </a:rPr>
              <a:t>内存</a:t>
            </a:r>
          </a:p>
        </p:txBody>
      </p:sp>
      <p:sp>
        <p:nvSpPr>
          <p:cNvPr id="14" name="圆角矩形 13"/>
          <p:cNvSpPr/>
          <p:nvPr/>
        </p:nvSpPr>
        <p:spPr>
          <a:xfrm>
            <a:off x="4860032" y="3283054"/>
            <a:ext cx="3746700" cy="588421"/>
          </a:xfrm>
          <a:prstGeom prst="roundRect">
            <a:avLst>
              <a:gd name="adj" fmla="val 8731"/>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ea typeface="微软雅黑" panose="020B0503020204020204" pitchFamily="34" charset="-122"/>
              </a:rPr>
              <a:t>外存</a:t>
            </a:r>
          </a:p>
        </p:txBody>
      </p:sp>
      <p:sp>
        <p:nvSpPr>
          <p:cNvPr id="15" name="矩形 14"/>
          <p:cNvSpPr/>
          <p:nvPr/>
        </p:nvSpPr>
        <p:spPr>
          <a:xfrm>
            <a:off x="539552" y="4066316"/>
            <a:ext cx="3672408" cy="1166473"/>
          </a:xfrm>
          <a:prstGeom prst="rect">
            <a:avLst/>
          </a:prstGeom>
        </p:spPr>
        <p:txBody>
          <a:bodyPr wrap="square">
            <a:spAutoFit/>
          </a:bodyPr>
          <a:lstStyle/>
          <a:p>
            <a:pPr marL="285750" indent="-285750">
              <a:lnSpc>
                <a:spcPct val="120000"/>
              </a:lnSpc>
              <a:spcBef>
                <a:spcPts val="600"/>
              </a:spcBef>
              <a:buFont typeface="Wingdings" panose="05000000000000000000" pitchFamily="2" charset="2"/>
              <a:buChar char="n"/>
            </a:pPr>
            <a:r>
              <a:rPr lang="zh-CN" altLang="en-US" dirty="0">
                <a:solidFill>
                  <a:schemeClr val="tx1">
                    <a:lumMod val="75000"/>
                    <a:lumOff val="25000"/>
                  </a:schemeClr>
                </a:solidFill>
                <a:latin typeface="微软雅黑" pitchFamily="34" charset="-122"/>
                <a:ea typeface="微软雅黑" pitchFamily="34" charset="-122"/>
              </a:rPr>
              <a:t>随机存取，速度快，容量小；</a:t>
            </a:r>
            <a:endParaRPr lang="en-US" altLang="zh-CN" dirty="0">
              <a:solidFill>
                <a:schemeClr val="tx1">
                  <a:lumMod val="75000"/>
                  <a:lumOff val="25000"/>
                </a:schemeClr>
              </a:solidFill>
              <a:latin typeface="微软雅黑" pitchFamily="34" charset="-122"/>
              <a:ea typeface="微软雅黑" pitchFamily="34" charset="-122"/>
            </a:endParaRPr>
          </a:p>
          <a:p>
            <a:pPr marL="285750" indent="-285750">
              <a:lnSpc>
                <a:spcPct val="120000"/>
              </a:lnSpc>
              <a:spcBef>
                <a:spcPts val="600"/>
              </a:spcBef>
              <a:buFont typeface="Wingdings" panose="05000000000000000000" pitchFamily="2" charset="2"/>
              <a:buChar char="n"/>
            </a:pPr>
            <a:r>
              <a:rPr lang="zh-CN" altLang="en-US" dirty="0">
                <a:solidFill>
                  <a:schemeClr val="tx1">
                    <a:lumMod val="75000"/>
                    <a:lumOff val="25000"/>
                  </a:schemeClr>
                </a:solidFill>
                <a:latin typeface="微软雅黑" pitchFamily="34" charset="-122"/>
                <a:ea typeface="微软雅黑" pitchFamily="34" charset="-122"/>
              </a:rPr>
              <a:t>程序与数据必须调入内存后才能被</a:t>
            </a:r>
            <a:r>
              <a:rPr lang="en-US" altLang="zh-CN" dirty="0">
                <a:solidFill>
                  <a:schemeClr val="tx1">
                    <a:lumMod val="75000"/>
                    <a:lumOff val="25000"/>
                  </a:schemeClr>
                </a:solidFill>
                <a:latin typeface="微软雅黑" pitchFamily="34" charset="-122"/>
                <a:ea typeface="微软雅黑" pitchFamily="34" charset="-122"/>
              </a:rPr>
              <a:t>CPU</a:t>
            </a:r>
            <a:r>
              <a:rPr lang="zh-CN" altLang="en-US" dirty="0">
                <a:solidFill>
                  <a:schemeClr val="tx1">
                    <a:lumMod val="75000"/>
                    <a:lumOff val="25000"/>
                  </a:schemeClr>
                </a:solidFill>
                <a:latin typeface="微软雅黑" pitchFamily="34" charset="-122"/>
                <a:ea typeface="微软雅黑" pitchFamily="34" charset="-122"/>
              </a:rPr>
              <a:t>执行与处理。</a:t>
            </a:r>
          </a:p>
        </p:txBody>
      </p:sp>
      <p:sp>
        <p:nvSpPr>
          <p:cNvPr id="16" name="圆角矩形 15"/>
          <p:cNvSpPr/>
          <p:nvPr/>
        </p:nvSpPr>
        <p:spPr>
          <a:xfrm>
            <a:off x="4860032" y="3943483"/>
            <a:ext cx="3746700" cy="1717765"/>
          </a:xfrm>
          <a:prstGeom prst="roundRect">
            <a:avLst>
              <a:gd name="adj" fmla="val 5845"/>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7" name="矩形 16"/>
          <p:cNvSpPr/>
          <p:nvPr/>
        </p:nvSpPr>
        <p:spPr>
          <a:xfrm>
            <a:off x="4860032" y="4066316"/>
            <a:ext cx="3746700" cy="1575816"/>
          </a:xfrm>
          <a:prstGeom prst="rect">
            <a:avLst/>
          </a:prstGeom>
        </p:spPr>
        <p:txBody>
          <a:bodyPr wrap="square">
            <a:spAutoFit/>
          </a:bodyPr>
          <a:lstStyle/>
          <a:p>
            <a:pPr marL="285750" indent="-285750">
              <a:lnSpc>
                <a:spcPct val="120000"/>
              </a:lnSpc>
              <a:spcBef>
                <a:spcPts val="600"/>
              </a:spcBef>
              <a:buFont typeface="Wingdings" panose="05000000000000000000" pitchFamily="2" charset="2"/>
              <a:buChar char="n"/>
            </a:pPr>
            <a:r>
              <a:rPr lang="zh-CN" altLang="en-US" dirty="0">
                <a:solidFill>
                  <a:schemeClr val="tx1">
                    <a:lumMod val="75000"/>
                    <a:lumOff val="25000"/>
                  </a:schemeClr>
                </a:solidFill>
                <a:latin typeface="微软雅黑" pitchFamily="34" charset="-122"/>
                <a:ea typeface="微软雅黑" pitchFamily="34" charset="-122"/>
              </a:rPr>
              <a:t>顺序存取，速度慢，容量大；</a:t>
            </a:r>
            <a:endParaRPr lang="en-US" altLang="zh-CN" dirty="0">
              <a:solidFill>
                <a:schemeClr val="tx1">
                  <a:lumMod val="75000"/>
                  <a:lumOff val="25000"/>
                </a:schemeClr>
              </a:solidFill>
              <a:latin typeface="微软雅黑" pitchFamily="34" charset="-122"/>
              <a:ea typeface="微软雅黑" pitchFamily="34" charset="-122"/>
            </a:endParaRPr>
          </a:p>
          <a:p>
            <a:pPr marL="285750" indent="-285750">
              <a:lnSpc>
                <a:spcPct val="120000"/>
              </a:lnSpc>
              <a:spcBef>
                <a:spcPts val="600"/>
              </a:spcBef>
              <a:buFont typeface="Wingdings" panose="05000000000000000000" pitchFamily="2" charset="2"/>
              <a:buChar char="n"/>
            </a:pPr>
            <a:r>
              <a:rPr lang="zh-CN" altLang="en-US" dirty="0">
                <a:solidFill>
                  <a:schemeClr val="tx1">
                    <a:lumMod val="75000"/>
                    <a:lumOff val="25000"/>
                  </a:schemeClr>
                </a:solidFill>
                <a:latin typeface="微软雅黑" pitchFamily="34" charset="-122"/>
                <a:ea typeface="微软雅黑" pitchFamily="34" charset="-122"/>
              </a:rPr>
              <a:t>外存包括硬盘、光盘、</a:t>
            </a:r>
            <a:r>
              <a:rPr lang="en-US" altLang="zh-CN" dirty="0">
                <a:solidFill>
                  <a:schemeClr val="tx1">
                    <a:lumMod val="75000"/>
                    <a:lumOff val="25000"/>
                  </a:schemeClr>
                </a:solidFill>
                <a:latin typeface="微软雅黑" pitchFamily="34" charset="-122"/>
                <a:ea typeface="微软雅黑" pitchFamily="34" charset="-122"/>
              </a:rPr>
              <a:t>U</a:t>
            </a:r>
            <a:r>
              <a:rPr lang="zh-CN" altLang="en-US" dirty="0">
                <a:solidFill>
                  <a:schemeClr val="tx1">
                    <a:lumMod val="75000"/>
                    <a:lumOff val="25000"/>
                  </a:schemeClr>
                </a:solidFill>
                <a:latin typeface="微软雅黑" pitchFamily="34" charset="-122"/>
                <a:ea typeface="微软雅黑" pitchFamily="34" charset="-122"/>
              </a:rPr>
              <a:t>盘等；</a:t>
            </a:r>
            <a:endParaRPr lang="en-US" altLang="zh-CN" dirty="0">
              <a:solidFill>
                <a:schemeClr val="tx1">
                  <a:lumMod val="75000"/>
                  <a:lumOff val="25000"/>
                </a:schemeClr>
              </a:solidFill>
              <a:latin typeface="微软雅黑" pitchFamily="34" charset="-122"/>
              <a:ea typeface="微软雅黑" pitchFamily="34" charset="-122"/>
            </a:endParaRPr>
          </a:p>
          <a:p>
            <a:pPr marL="285750" indent="-285750">
              <a:lnSpc>
                <a:spcPct val="120000"/>
              </a:lnSpc>
              <a:spcBef>
                <a:spcPts val="600"/>
              </a:spcBef>
              <a:buFont typeface="Wingdings" panose="05000000000000000000" pitchFamily="2" charset="2"/>
              <a:buChar char="n"/>
            </a:pPr>
            <a:r>
              <a:rPr lang="zh-CN" altLang="en-US" dirty="0">
                <a:solidFill>
                  <a:schemeClr val="tx1">
                    <a:lumMod val="75000"/>
                    <a:lumOff val="25000"/>
                  </a:schemeClr>
                </a:solidFill>
                <a:latin typeface="微软雅黑" pitchFamily="34" charset="-122"/>
                <a:ea typeface="微软雅黑" pitchFamily="34" charset="-122"/>
              </a:rPr>
              <a:t>外存中的程序与数据必须调入内存后才能被</a:t>
            </a:r>
            <a:r>
              <a:rPr lang="en-US" altLang="zh-CN" dirty="0">
                <a:solidFill>
                  <a:schemeClr val="tx1">
                    <a:lumMod val="75000"/>
                    <a:lumOff val="25000"/>
                  </a:schemeClr>
                </a:solidFill>
                <a:latin typeface="微软雅黑" pitchFamily="34" charset="-122"/>
                <a:ea typeface="微软雅黑" pitchFamily="34" charset="-122"/>
              </a:rPr>
              <a:t>CPU</a:t>
            </a:r>
            <a:r>
              <a:rPr lang="zh-CN" altLang="en-US" dirty="0">
                <a:solidFill>
                  <a:schemeClr val="tx1">
                    <a:lumMod val="75000"/>
                    <a:lumOff val="25000"/>
                  </a:schemeClr>
                </a:solidFill>
                <a:latin typeface="微软雅黑" pitchFamily="34" charset="-122"/>
                <a:ea typeface="微软雅黑" pitchFamily="34" charset="-122"/>
              </a:rPr>
              <a:t>执行与处理。</a:t>
            </a:r>
          </a:p>
        </p:txBody>
      </p:sp>
      <p:sp>
        <p:nvSpPr>
          <p:cNvPr id="22" name="Dark Gray"/>
          <p:cNvSpPr/>
          <p:nvPr/>
        </p:nvSpPr>
        <p:spPr bwMode="auto">
          <a:xfrm>
            <a:off x="558892" y="1783243"/>
            <a:ext cx="8064896" cy="1224136"/>
          </a:xfrm>
          <a:prstGeom prst="roundRect">
            <a:avLst>
              <a:gd name="adj" fmla="val 0"/>
            </a:avLst>
          </a:prstGeom>
          <a:solidFill>
            <a:srgbClr val="ED7D31"/>
          </a:solidFill>
          <a:ln w="9525" cap="flat" cmpd="sng" algn="ctr">
            <a:noFill/>
            <a:prstDash val="solid"/>
            <a:headEnd type="none" w="med" len="med"/>
            <a:tailEnd type="none" w="med" len="med"/>
          </a:ln>
          <a:effectLst/>
        </p:spPr>
        <p:txBody>
          <a:bodyPr vert="horz" wrap="square" lIns="216000" tIns="34292" rIns="216000" bIns="34292" numCol="1" rtlCol="0" anchor="ctr" anchorCtr="0" compatLnSpc="1">
            <a:prstTxWarp prst="textNoShape">
              <a:avLst/>
            </a:prstTxWarp>
          </a:bodyPr>
          <a:lstStyle/>
          <a:p>
            <a:pPr indent="457200" defTabSz="685637" fontAlgn="base">
              <a:lnSpc>
                <a:spcPct val="120000"/>
              </a:lnSpc>
              <a:spcBef>
                <a:spcPct val="0"/>
              </a:spcBef>
              <a:spcAft>
                <a:spcPct val="0"/>
              </a:spcAft>
              <a:defRPr/>
            </a:pPr>
            <a:endParaRPr lang="en-US" sz="1600" b="1" kern="0" dirty="0">
              <a:solidFill>
                <a:schemeClr val="bg1"/>
              </a:solidFill>
              <a:latin typeface="微软雅黑" pitchFamily="34" charset="-122"/>
              <a:ea typeface="微软雅黑" pitchFamily="34" charset="-122"/>
              <a:cs typeface="Arial Unicode MS" pitchFamily="34" charset="-122"/>
            </a:endParaRPr>
          </a:p>
        </p:txBody>
      </p:sp>
      <p:sp>
        <p:nvSpPr>
          <p:cNvPr id="23" name="矩形 22"/>
          <p:cNvSpPr>
            <a:spLocks noChangeArrowheads="1"/>
          </p:cNvSpPr>
          <p:nvPr/>
        </p:nvSpPr>
        <p:spPr bwMode="auto">
          <a:xfrm>
            <a:off x="772178" y="1943174"/>
            <a:ext cx="7813418" cy="886397"/>
          </a:xfrm>
          <a:prstGeom prst="rect">
            <a:avLst/>
          </a:prstGeom>
          <a:noFill/>
          <a:ln w="9525">
            <a:noFill/>
            <a:prstDash val="dash"/>
            <a:miter lim="800000"/>
            <a:headEnd/>
            <a:tailEnd/>
          </a:ln>
        </p:spPr>
        <p:txBody>
          <a:bodyPr wrap="square">
            <a:spAutoFit/>
          </a:bodyPr>
          <a:lstStyle/>
          <a:p>
            <a:pPr>
              <a:lnSpc>
                <a:spcPct val="129000"/>
              </a:lnSpc>
              <a:spcAft>
                <a:spcPts val="600"/>
              </a:spcAft>
              <a:defRPr/>
            </a:pPr>
            <a:r>
              <a:rPr lang="zh-CN" altLang="en-US" sz="2000" b="1" dirty="0">
                <a:solidFill>
                  <a:schemeClr val="bg1"/>
                </a:solidFill>
                <a:latin typeface="微软雅黑" pitchFamily="34" charset="-122"/>
                <a:ea typeface="微软雅黑" pitchFamily="34" charset="-122"/>
              </a:rPr>
              <a:t>存储器是微机中存储和记忆部件，用来存放用二进制形式表示的数据、文字、图像、程序，它以字节（</a:t>
            </a:r>
            <a:r>
              <a:rPr lang="en-US" altLang="zh-CN" sz="2000" b="1" dirty="0">
                <a:solidFill>
                  <a:schemeClr val="bg1"/>
                </a:solidFill>
                <a:latin typeface="微软雅黑" pitchFamily="34" charset="-122"/>
                <a:ea typeface="微软雅黑" pitchFamily="34" charset="-122"/>
              </a:rPr>
              <a:t>BYTE</a:t>
            </a:r>
            <a:r>
              <a:rPr lang="zh-CN" altLang="en-US" sz="2000" b="1" dirty="0">
                <a:solidFill>
                  <a:schemeClr val="bg1"/>
                </a:solidFill>
                <a:latin typeface="微软雅黑" pitchFamily="34" charset="-122"/>
                <a:ea typeface="微软雅黑" pitchFamily="34" charset="-122"/>
              </a:rPr>
              <a:t>）为单位。</a:t>
            </a:r>
          </a:p>
        </p:txBody>
      </p:sp>
    </p:spTree>
    <p:extLst>
      <p:ext uri="{BB962C8B-B14F-4D97-AF65-F5344CB8AC3E}">
        <p14:creationId xmlns:p14="http://schemas.microsoft.com/office/powerpoint/2010/main" val="1288884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32"/>
          <p:cNvSpPr>
            <a:spLocks/>
          </p:cNvSpPr>
          <p:nvPr/>
        </p:nvSpPr>
        <p:spPr bwMode="auto">
          <a:xfrm>
            <a:off x="4535309" y="1276946"/>
            <a:ext cx="762249" cy="1305903"/>
          </a:xfrm>
          <a:custGeom>
            <a:avLst/>
            <a:gdLst>
              <a:gd name="T0" fmla="*/ 0 w 673"/>
              <a:gd name="T1" fmla="*/ 1153 h 1153"/>
              <a:gd name="T2" fmla="*/ 0 w 673"/>
              <a:gd name="T3" fmla="*/ 0 h 1153"/>
              <a:gd name="T4" fmla="*/ 673 w 673"/>
              <a:gd name="T5" fmla="*/ 761 h 1153"/>
              <a:gd name="T6" fmla="*/ 0 w 673"/>
              <a:gd name="T7" fmla="*/ 1153 h 1153"/>
            </a:gdLst>
            <a:ahLst/>
            <a:cxnLst>
              <a:cxn ang="0">
                <a:pos x="T0" y="T1"/>
              </a:cxn>
              <a:cxn ang="0">
                <a:pos x="T2" y="T3"/>
              </a:cxn>
              <a:cxn ang="0">
                <a:pos x="T4" y="T5"/>
              </a:cxn>
              <a:cxn ang="0">
                <a:pos x="T6" y="T7"/>
              </a:cxn>
            </a:cxnLst>
            <a:rect l="0" t="0" r="r" b="b"/>
            <a:pathLst>
              <a:path w="673" h="1153">
                <a:moveTo>
                  <a:pt x="0" y="1153"/>
                </a:moveTo>
                <a:lnTo>
                  <a:pt x="0" y="0"/>
                </a:lnTo>
                <a:lnTo>
                  <a:pt x="673" y="761"/>
                </a:lnTo>
                <a:lnTo>
                  <a:pt x="0" y="1153"/>
                </a:lnTo>
                <a:close/>
              </a:path>
            </a:pathLst>
          </a:custGeom>
          <a:solidFill>
            <a:srgbClr val="A2DA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 name="Freeform 133"/>
          <p:cNvSpPr>
            <a:spLocks/>
          </p:cNvSpPr>
          <p:nvPr/>
        </p:nvSpPr>
        <p:spPr bwMode="auto">
          <a:xfrm>
            <a:off x="3898780" y="1276946"/>
            <a:ext cx="636529" cy="1305903"/>
          </a:xfrm>
          <a:custGeom>
            <a:avLst/>
            <a:gdLst>
              <a:gd name="T0" fmla="*/ 562 w 562"/>
              <a:gd name="T1" fmla="*/ 0 h 1153"/>
              <a:gd name="T2" fmla="*/ 0 w 562"/>
              <a:gd name="T3" fmla="*/ 777 h 1153"/>
              <a:gd name="T4" fmla="*/ 562 w 562"/>
              <a:gd name="T5" fmla="*/ 1153 h 1153"/>
              <a:gd name="T6" fmla="*/ 562 w 562"/>
              <a:gd name="T7" fmla="*/ 0 h 1153"/>
            </a:gdLst>
            <a:ahLst/>
            <a:cxnLst>
              <a:cxn ang="0">
                <a:pos x="T0" y="T1"/>
              </a:cxn>
              <a:cxn ang="0">
                <a:pos x="T2" y="T3"/>
              </a:cxn>
              <a:cxn ang="0">
                <a:pos x="T4" y="T5"/>
              </a:cxn>
              <a:cxn ang="0">
                <a:pos x="T6" y="T7"/>
              </a:cxn>
            </a:cxnLst>
            <a:rect l="0" t="0" r="r" b="b"/>
            <a:pathLst>
              <a:path w="562" h="1153">
                <a:moveTo>
                  <a:pt x="562" y="0"/>
                </a:moveTo>
                <a:lnTo>
                  <a:pt x="0" y="777"/>
                </a:lnTo>
                <a:lnTo>
                  <a:pt x="562" y="1153"/>
                </a:lnTo>
                <a:lnTo>
                  <a:pt x="562" y="0"/>
                </a:lnTo>
                <a:close/>
              </a:path>
            </a:pathLst>
          </a:custGeom>
          <a:solidFill>
            <a:srgbClr val="9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 name="Freeform 134"/>
          <p:cNvSpPr>
            <a:spLocks/>
          </p:cNvSpPr>
          <p:nvPr/>
        </p:nvSpPr>
        <p:spPr bwMode="auto">
          <a:xfrm>
            <a:off x="2733322" y="3218245"/>
            <a:ext cx="1788396" cy="1722705"/>
          </a:xfrm>
          <a:custGeom>
            <a:avLst/>
            <a:gdLst>
              <a:gd name="T0" fmla="*/ 340 w 1579"/>
              <a:gd name="T1" fmla="*/ 0 h 1521"/>
              <a:gd name="T2" fmla="*/ 0 w 1579"/>
              <a:gd name="T3" fmla="*/ 466 h 1521"/>
              <a:gd name="T4" fmla="*/ 1579 w 1579"/>
              <a:gd name="T5" fmla="*/ 1521 h 1521"/>
              <a:gd name="T6" fmla="*/ 1579 w 1579"/>
              <a:gd name="T7" fmla="*/ 829 h 1521"/>
              <a:gd name="T8" fmla="*/ 340 w 1579"/>
              <a:gd name="T9" fmla="*/ 0 h 1521"/>
            </a:gdLst>
            <a:ahLst/>
            <a:cxnLst>
              <a:cxn ang="0">
                <a:pos x="T0" y="T1"/>
              </a:cxn>
              <a:cxn ang="0">
                <a:pos x="T2" y="T3"/>
              </a:cxn>
              <a:cxn ang="0">
                <a:pos x="T4" y="T5"/>
              </a:cxn>
              <a:cxn ang="0">
                <a:pos x="T6" y="T7"/>
              </a:cxn>
              <a:cxn ang="0">
                <a:pos x="T8" y="T9"/>
              </a:cxn>
            </a:cxnLst>
            <a:rect l="0" t="0" r="r" b="b"/>
            <a:pathLst>
              <a:path w="1579" h="1521">
                <a:moveTo>
                  <a:pt x="340" y="0"/>
                </a:moveTo>
                <a:lnTo>
                  <a:pt x="0" y="466"/>
                </a:lnTo>
                <a:lnTo>
                  <a:pt x="1579" y="1521"/>
                </a:lnTo>
                <a:lnTo>
                  <a:pt x="1579" y="829"/>
                </a:lnTo>
                <a:lnTo>
                  <a:pt x="340" y="0"/>
                </a:lnTo>
                <a:close/>
              </a:path>
            </a:pathLst>
          </a:custGeom>
          <a:solidFill>
            <a:srgbClr val="E2A4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135"/>
          <p:cNvSpPr>
            <a:spLocks/>
          </p:cNvSpPr>
          <p:nvPr/>
        </p:nvSpPr>
        <p:spPr bwMode="auto">
          <a:xfrm>
            <a:off x="4521717" y="3177471"/>
            <a:ext cx="2167821" cy="1763479"/>
          </a:xfrm>
          <a:custGeom>
            <a:avLst/>
            <a:gdLst>
              <a:gd name="T0" fmla="*/ 0 w 1914"/>
              <a:gd name="T1" fmla="*/ 865 h 1557"/>
              <a:gd name="T2" fmla="*/ 0 w 1914"/>
              <a:gd name="T3" fmla="*/ 1557 h 1557"/>
              <a:gd name="T4" fmla="*/ 1914 w 1914"/>
              <a:gd name="T5" fmla="*/ 478 h 1557"/>
              <a:gd name="T6" fmla="*/ 1486 w 1914"/>
              <a:gd name="T7" fmla="*/ 0 h 1557"/>
              <a:gd name="T8" fmla="*/ 0 w 1914"/>
              <a:gd name="T9" fmla="*/ 865 h 1557"/>
            </a:gdLst>
            <a:ahLst/>
            <a:cxnLst>
              <a:cxn ang="0">
                <a:pos x="T0" y="T1"/>
              </a:cxn>
              <a:cxn ang="0">
                <a:pos x="T2" y="T3"/>
              </a:cxn>
              <a:cxn ang="0">
                <a:pos x="T4" y="T5"/>
              </a:cxn>
              <a:cxn ang="0">
                <a:pos x="T6" y="T7"/>
              </a:cxn>
              <a:cxn ang="0">
                <a:pos x="T8" y="T9"/>
              </a:cxn>
            </a:cxnLst>
            <a:rect l="0" t="0" r="r" b="b"/>
            <a:pathLst>
              <a:path w="1914" h="1557">
                <a:moveTo>
                  <a:pt x="0" y="865"/>
                </a:moveTo>
                <a:lnTo>
                  <a:pt x="0" y="1557"/>
                </a:lnTo>
                <a:lnTo>
                  <a:pt x="1914" y="478"/>
                </a:lnTo>
                <a:lnTo>
                  <a:pt x="1486" y="0"/>
                </a:lnTo>
                <a:lnTo>
                  <a:pt x="0" y="865"/>
                </a:lnTo>
                <a:close/>
              </a:path>
            </a:pathLst>
          </a:custGeom>
          <a:solidFill>
            <a:srgbClr val="FDBB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136"/>
          <p:cNvSpPr>
            <a:spLocks/>
          </p:cNvSpPr>
          <p:nvPr/>
        </p:nvSpPr>
        <p:spPr bwMode="auto">
          <a:xfrm>
            <a:off x="3209019" y="2698375"/>
            <a:ext cx="1317229" cy="1271925"/>
          </a:xfrm>
          <a:custGeom>
            <a:avLst/>
            <a:gdLst>
              <a:gd name="T0" fmla="*/ 254 w 1163"/>
              <a:gd name="T1" fmla="*/ 0 h 1123"/>
              <a:gd name="T2" fmla="*/ 0 w 1163"/>
              <a:gd name="T3" fmla="*/ 347 h 1123"/>
              <a:gd name="T4" fmla="*/ 1163 w 1163"/>
              <a:gd name="T5" fmla="*/ 1123 h 1123"/>
              <a:gd name="T6" fmla="*/ 1163 w 1163"/>
              <a:gd name="T7" fmla="*/ 609 h 1123"/>
              <a:gd name="T8" fmla="*/ 254 w 1163"/>
              <a:gd name="T9" fmla="*/ 0 h 1123"/>
            </a:gdLst>
            <a:ahLst/>
            <a:cxnLst>
              <a:cxn ang="0">
                <a:pos x="T0" y="T1"/>
              </a:cxn>
              <a:cxn ang="0">
                <a:pos x="T2" y="T3"/>
              </a:cxn>
              <a:cxn ang="0">
                <a:pos x="T4" y="T5"/>
              </a:cxn>
              <a:cxn ang="0">
                <a:pos x="T6" y="T7"/>
              </a:cxn>
              <a:cxn ang="0">
                <a:pos x="T8" y="T9"/>
              </a:cxn>
            </a:cxnLst>
            <a:rect l="0" t="0" r="r" b="b"/>
            <a:pathLst>
              <a:path w="1163" h="1123">
                <a:moveTo>
                  <a:pt x="254" y="0"/>
                </a:moveTo>
                <a:lnTo>
                  <a:pt x="0" y="347"/>
                </a:lnTo>
                <a:lnTo>
                  <a:pt x="1163" y="1123"/>
                </a:lnTo>
                <a:lnTo>
                  <a:pt x="1163" y="609"/>
                </a:lnTo>
                <a:lnTo>
                  <a:pt x="254" y="0"/>
                </a:lnTo>
                <a:close/>
              </a:path>
            </a:pathLst>
          </a:custGeom>
          <a:solidFill>
            <a:srgbClr val="E2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 name="Freeform 137"/>
          <p:cNvSpPr>
            <a:spLocks/>
          </p:cNvSpPr>
          <p:nvPr/>
        </p:nvSpPr>
        <p:spPr bwMode="auto">
          <a:xfrm>
            <a:off x="4530778" y="2666662"/>
            <a:ext cx="1590189" cy="1299108"/>
          </a:xfrm>
          <a:custGeom>
            <a:avLst/>
            <a:gdLst>
              <a:gd name="T0" fmla="*/ 0 w 1404"/>
              <a:gd name="T1" fmla="*/ 633 h 1147"/>
              <a:gd name="T2" fmla="*/ 0 w 1404"/>
              <a:gd name="T3" fmla="*/ 1147 h 1147"/>
              <a:gd name="T4" fmla="*/ 1404 w 1404"/>
              <a:gd name="T5" fmla="*/ 357 h 1147"/>
              <a:gd name="T6" fmla="*/ 1083 w 1404"/>
              <a:gd name="T7" fmla="*/ 0 h 1147"/>
              <a:gd name="T8" fmla="*/ 0 w 1404"/>
              <a:gd name="T9" fmla="*/ 633 h 1147"/>
            </a:gdLst>
            <a:ahLst/>
            <a:cxnLst>
              <a:cxn ang="0">
                <a:pos x="T0" y="T1"/>
              </a:cxn>
              <a:cxn ang="0">
                <a:pos x="T2" y="T3"/>
              </a:cxn>
              <a:cxn ang="0">
                <a:pos x="T4" y="T5"/>
              </a:cxn>
              <a:cxn ang="0">
                <a:pos x="T6" y="T7"/>
              </a:cxn>
              <a:cxn ang="0">
                <a:pos x="T8" y="T9"/>
              </a:cxn>
            </a:cxnLst>
            <a:rect l="0" t="0" r="r" b="b"/>
            <a:pathLst>
              <a:path w="1404" h="1147">
                <a:moveTo>
                  <a:pt x="0" y="633"/>
                </a:moveTo>
                <a:lnTo>
                  <a:pt x="0" y="1147"/>
                </a:lnTo>
                <a:lnTo>
                  <a:pt x="1404" y="357"/>
                </a:lnTo>
                <a:lnTo>
                  <a:pt x="1083" y="0"/>
                </a:lnTo>
                <a:lnTo>
                  <a:pt x="0" y="633"/>
                </a:lnTo>
                <a:close/>
              </a:path>
            </a:pathLst>
          </a:custGeom>
          <a:solidFill>
            <a:srgbClr val="FFE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 name="Freeform 138"/>
          <p:cNvSpPr>
            <a:spLocks/>
          </p:cNvSpPr>
          <p:nvPr/>
        </p:nvSpPr>
        <p:spPr bwMode="auto">
          <a:xfrm>
            <a:off x="3594108" y="2279308"/>
            <a:ext cx="938937" cy="904958"/>
          </a:xfrm>
          <a:custGeom>
            <a:avLst/>
            <a:gdLst>
              <a:gd name="T0" fmla="*/ 183 w 829"/>
              <a:gd name="T1" fmla="*/ 0 h 799"/>
              <a:gd name="T2" fmla="*/ 0 w 829"/>
              <a:gd name="T3" fmla="*/ 248 h 799"/>
              <a:gd name="T4" fmla="*/ 829 w 829"/>
              <a:gd name="T5" fmla="*/ 799 h 799"/>
              <a:gd name="T6" fmla="*/ 829 w 829"/>
              <a:gd name="T7" fmla="*/ 432 h 799"/>
              <a:gd name="T8" fmla="*/ 183 w 829"/>
              <a:gd name="T9" fmla="*/ 0 h 799"/>
            </a:gdLst>
            <a:ahLst/>
            <a:cxnLst>
              <a:cxn ang="0">
                <a:pos x="T0" y="T1"/>
              </a:cxn>
              <a:cxn ang="0">
                <a:pos x="T2" y="T3"/>
              </a:cxn>
              <a:cxn ang="0">
                <a:pos x="T4" y="T5"/>
              </a:cxn>
              <a:cxn ang="0">
                <a:pos x="T6" y="T7"/>
              </a:cxn>
              <a:cxn ang="0">
                <a:pos x="T8" y="T9"/>
              </a:cxn>
            </a:cxnLst>
            <a:rect l="0" t="0" r="r" b="b"/>
            <a:pathLst>
              <a:path w="829" h="799">
                <a:moveTo>
                  <a:pt x="183" y="0"/>
                </a:moveTo>
                <a:lnTo>
                  <a:pt x="0" y="248"/>
                </a:lnTo>
                <a:lnTo>
                  <a:pt x="829" y="799"/>
                </a:lnTo>
                <a:lnTo>
                  <a:pt x="829" y="432"/>
                </a:lnTo>
                <a:lnTo>
                  <a:pt x="183" y="0"/>
                </a:lnTo>
                <a:close/>
              </a:path>
            </a:pathLst>
          </a:custGeom>
          <a:solidFill>
            <a:srgbClr val="20AD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 name="Freeform 139"/>
          <p:cNvSpPr>
            <a:spLocks/>
          </p:cNvSpPr>
          <p:nvPr/>
        </p:nvSpPr>
        <p:spPr bwMode="auto">
          <a:xfrm>
            <a:off x="4533044" y="2261186"/>
            <a:ext cx="1126950" cy="923080"/>
          </a:xfrm>
          <a:custGeom>
            <a:avLst/>
            <a:gdLst>
              <a:gd name="T0" fmla="*/ 0 w 995"/>
              <a:gd name="T1" fmla="*/ 448 h 815"/>
              <a:gd name="T2" fmla="*/ 0 w 995"/>
              <a:gd name="T3" fmla="*/ 815 h 815"/>
              <a:gd name="T4" fmla="*/ 995 w 995"/>
              <a:gd name="T5" fmla="*/ 256 h 815"/>
              <a:gd name="T6" fmla="*/ 767 w 995"/>
              <a:gd name="T7" fmla="*/ 0 h 815"/>
              <a:gd name="T8" fmla="*/ 0 w 995"/>
              <a:gd name="T9" fmla="*/ 448 h 815"/>
            </a:gdLst>
            <a:ahLst/>
            <a:cxnLst>
              <a:cxn ang="0">
                <a:pos x="T0" y="T1"/>
              </a:cxn>
              <a:cxn ang="0">
                <a:pos x="T2" y="T3"/>
              </a:cxn>
              <a:cxn ang="0">
                <a:pos x="T4" y="T5"/>
              </a:cxn>
              <a:cxn ang="0">
                <a:pos x="T6" y="T7"/>
              </a:cxn>
              <a:cxn ang="0">
                <a:pos x="T8" y="T9"/>
              </a:cxn>
            </a:cxnLst>
            <a:rect l="0" t="0" r="r" b="b"/>
            <a:pathLst>
              <a:path w="995" h="815">
                <a:moveTo>
                  <a:pt x="0" y="448"/>
                </a:moveTo>
                <a:lnTo>
                  <a:pt x="0" y="815"/>
                </a:lnTo>
                <a:lnTo>
                  <a:pt x="995" y="256"/>
                </a:lnTo>
                <a:lnTo>
                  <a:pt x="767" y="0"/>
                </a:lnTo>
                <a:lnTo>
                  <a:pt x="0" y="448"/>
                </a:lnTo>
                <a:close/>
              </a:path>
            </a:pathLst>
          </a:custGeom>
          <a:solidFill>
            <a:srgbClr val="20BB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Freeform 140"/>
          <p:cNvSpPr>
            <a:spLocks/>
          </p:cNvSpPr>
          <p:nvPr/>
        </p:nvSpPr>
        <p:spPr bwMode="auto">
          <a:xfrm>
            <a:off x="2131904" y="3888752"/>
            <a:ext cx="2394344" cy="2276552"/>
          </a:xfrm>
          <a:custGeom>
            <a:avLst/>
            <a:gdLst>
              <a:gd name="T0" fmla="*/ 437 w 2114"/>
              <a:gd name="T1" fmla="*/ 0 h 2010"/>
              <a:gd name="T2" fmla="*/ 0 w 2114"/>
              <a:gd name="T3" fmla="*/ 599 h 2010"/>
              <a:gd name="T4" fmla="*/ 2114 w 2114"/>
              <a:gd name="T5" fmla="*/ 2010 h 2010"/>
              <a:gd name="T6" fmla="*/ 2114 w 2114"/>
              <a:gd name="T7" fmla="*/ 1125 h 2010"/>
              <a:gd name="T8" fmla="*/ 437 w 2114"/>
              <a:gd name="T9" fmla="*/ 0 h 2010"/>
            </a:gdLst>
            <a:ahLst/>
            <a:cxnLst>
              <a:cxn ang="0">
                <a:pos x="T0" y="T1"/>
              </a:cxn>
              <a:cxn ang="0">
                <a:pos x="T2" y="T3"/>
              </a:cxn>
              <a:cxn ang="0">
                <a:pos x="T4" y="T5"/>
              </a:cxn>
              <a:cxn ang="0">
                <a:pos x="T6" y="T7"/>
              </a:cxn>
              <a:cxn ang="0">
                <a:pos x="T8" y="T9"/>
              </a:cxn>
            </a:cxnLst>
            <a:rect l="0" t="0" r="r" b="b"/>
            <a:pathLst>
              <a:path w="2114" h="2010">
                <a:moveTo>
                  <a:pt x="437" y="0"/>
                </a:moveTo>
                <a:lnTo>
                  <a:pt x="0" y="599"/>
                </a:lnTo>
                <a:lnTo>
                  <a:pt x="2114" y="2010"/>
                </a:lnTo>
                <a:lnTo>
                  <a:pt x="2114" y="1125"/>
                </a:lnTo>
                <a:lnTo>
                  <a:pt x="437" y="0"/>
                </a:lnTo>
                <a:close/>
              </a:path>
            </a:pathLst>
          </a:custGeom>
          <a:solidFill>
            <a:srgbClr val="D658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Freeform 141"/>
          <p:cNvSpPr>
            <a:spLocks/>
          </p:cNvSpPr>
          <p:nvPr/>
        </p:nvSpPr>
        <p:spPr bwMode="auto">
          <a:xfrm>
            <a:off x="4526248" y="3838917"/>
            <a:ext cx="2891561" cy="2326387"/>
          </a:xfrm>
          <a:custGeom>
            <a:avLst/>
            <a:gdLst>
              <a:gd name="T0" fmla="*/ 0 w 2553"/>
              <a:gd name="T1" fmla="*/ 1169 h 2054"/>
              <a:gd name="T2" fmla="*/ 0 w 2553"/>
              <a:gd name="T3" fmla="*/ 2054 h 2054"/>
              <a:gd name="T4" fmla="*/ 2553 w 2553"/>
              <a:gd name="T5" fmla="*/ 617 h 2054"/>
              <a:gd name="T6" fmla="*/ 2004 w 2553"/>
              <a:gd name="T7" fmla="*/ 0 h 2054"/>
              <a:gd name="T8" fmla="*/ 0 w 2553"/>
              <a:gd name="T9" fmla="*/ 1169 h 2054"/>
            </a:gdLst>
            <a:ahLst/>
            <a:cxnLst>
              <a:cxn ang="0">
                <a:pos x="T0" y="T1"/>
              </a:cxn>
              <a:cxn ang="0">
                <a:pos x="T2" y="T3"/>
              </a:cxn>
              <a:cxn ang="0">
                <a:pos x="T4" y="T5"/>
              </a:cxn>
              <a:cxn ang="0">
                <a:pos x="T6" y="T7"/>
              </a:cxn>
              <a:cxn ang="0">
                <a:pos x="T8" y="T9"/>
              </a:cxn>
            </a:cxnLst>
            <a:rect l="0" t="0" r="r" b="b"/>
            <a:pathLst>
              <a:path w="2553" h="2054">
                <a:moveTo>
                  <a:pt x="0" y="1169"/>
                </a:moveTo>
                <a:lnTo>
                  <a:pt x="0" y="2054"/>
                </a:lnTo>
                <a:lnTo>
                  <a:pt x="2553" y="617"/>
                </a:lnTo>
                <a:lnTo>
                  <a:pt x="2004" y="0"/>
                </a:lnTo>
                <a:lnTo>
                  <a:pt x="0" y="1169"/>
                </a:lnTo>
                <a:close/>
              </a:path>
            </a:pathLst>
          </a:custGeom>
          <a:solidFill>
            <a:srgbClr val="F266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Freeform 142"/>
          <p:cNvSpPr>
            <a:spLocks/>
          </p:cNvSpPr>
          <p:nvPr/>
        </p:nvSpPr>
        <p:spPr bwMode="auto">
          <a:xfrm>
            <a:off x="3898780" y="1968972"/>
            <a:ext cx="636529" cy="613876"/>
          </a:xfrm>
          <a:custGeom>
            <a:avLst/>
            <a:gdLst>
              <a:gd name="T0" fmla="*/ 122 w 562"/>
              <a:gd name="T1" fmla="*/ 0 h 542"/>
              <a:gd name="T2" fmla="*/ 0 w 562"/>
              <a:gd name="T3" fmla="*/ 166 h 542"/>
              <a:gd name="T4" fmla="*/ 562 w 562"/>
              <a:gd name="T5" fmla="*/ 542 h 542"/>
              <a:gd name="T6" fmla="*/ 562 w 562"/>
              <a:gd name="T7" fmla="*/ 294 h 542"/>
              <a:gd name="T8" fmla="*/ 122 w 562"/>
              <a:gd name="T9" fmla="*/ 0 h 542"/>
            </a:gdLst>
            <a:ahLst/>
            <a:cxnLst>
              <a:cxn ang="0">
                <a:pos x="T0" y="T1"/>
              </a:cxn>
              <a:cxn ang="0">
                <a:pos x="T2" y="T3"/>
              </a:cxn>
              <a:cxn ang="0">
                <a:pos x="T4" y="T5"/>
              </a:cxn>
              <a:cxn ang="0">
                <a:pos x="T6" y="T7"/>
              </a:cxn>
              <a:cxn ang="0">
                <a:pos x="T8" y="T9"/>
              </a:cxn>
            </a:cxnLst>
            <a:rect l="0" t="0" r="r" b="b"/>
            <a:pathLst>
              <a:path w="562" h="542">
                <a:moveTo>
                  <a:pt x="122" y="0"/>
                </a:moveTo>
                <a:lnTo>
                  <a:pt x="0" y="166"/>
                </a:lnTo>
                <a:lnTo>
                  <a:pt x="562" y="542"/>
                </a:lnTo>
                <a:lnTo>
                  <a:pt x="562" y="294"/>
                </a:lnTo>
                <a:lnTo>
                  <a:pt x="122" y="0"/>
                </a:lnTo>
                <a:close/>
              </a:path>
            </a:pathLst>
          </a:custGeom>
          <a:solidFill>
            <a:srgbClr val="9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文本框 40"/>
          <p:cNvSpPr txBox="1"/>
          <p:nvPr/>
        </p:nvSpPr>
        <p:spPr>
          <a:xfrm>
            <a:off x="5292080" y="1304569"/>
            <a:ext cx="954107" cy="400110"/>
          </a:xfrm>
          <a:prstGeom prst="rect">
            <a:avLst/>
          </a:prstGeom>
          <a:solidFill>
            <a:srgbClr val="ED7D31"/>
          </a:solidFill>
        </p:spPr>
        <p:txBody>
          <a:bodyPr wrap="none" rtlCol="0">
            <a:spAutoFit/>
          </a:bodyPr>
          <a:lstStyle/>
          <a:p>
            <a:r>
              <a:rPr lang="zh-CN" altLang="en-US" sz="20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寄存器</a:t>
            </a:r>
          </a:p>
        </p:txBody>
      </p:sp>
      <p:sp>
        <p:nvSpPr>
          <p:cNvPr id="42" name="文本框 41"/>
          <p:cNvSpPr txBox="1"/>
          <p:nvPr/>
        </p:nvSpPr>
        <p:spPr>
          <a:xfrm>
            <a:off x="5768180" y="1903272"/>
            <a:ext cx="1495922" cy="400110"/>
          </a:xfrm>
          <a:prstGeom prst="rect">
            <a:avLst/>
          </a:prstGeom>
          <a:noFill/>
        </p:spPr>
        <p:txBody>
          <a:bodyPr wrap="none" rtlCol="0">
            <a:spAutoFit/>
          </a:bodyPr>
          <a:lstStyle/>
          <a:p>
            <a:r>
              <a:rPr lang="en-US" altLang="zh-CN"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rPr>
              <a:t>L1</a:t>
            </a:r>
            <a:r>
              <a:rPr lang="zh-CN" altLang="en-US"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rPr>
              <a:t>高速缓存</a:t>
            </a:r>
          </a:p>
        </p:txBody>
      </p:sp>
      <p:sp>
        <p:nvSpPr>
          <p:cNvPr id="43" name="文本框 42"/>
          <p:cNvSpPr txBox="1"/>
          <p:nvPr/>
        </p:nvSpPr>
        <p:spPr>
          <a:xfrm>
            <a:off x="6422479" y="2381917"/>
            <a:ext cx="1495922" cy="400110"/>
          </a:xfrm>
          <a:prstGeom prst="rect">
            <a:avLst/>
          </a:prstGeom>
          <a:noFill/>
        </p:spPr>
        <p:txBody>
          <a:bodyPr wrap="none" rtlCol="0">
            <a:spAutoFit/>
          </a:bodyPr>
          <a:lstStyle/>
          <a:p>
            <a:r>
              <a:rPr lang="en-US" altLang="zh-CN"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rPr>
              <a:t>L2</a:t>
            </a:r>
            <a:r>
              <a:rPr lang="zh-CN" altLang="en-US"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rPr>
              <a:t>高速缓存</a:t>
            </a:r>
            <a:endParaRPr lang="en-US" altLang="zh-CN"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44" name="文本框 43"/>
          <p:cNvSpPr txBox="1"/>
          <p:nvPr/>
        </p:nvSpPr>
        <p:spPr>
          <a:xfrm>
            <a:off x="7027992" y="3011209"/>
            <a:ext cx="1495922" cy="400110"/>
          </a:xfrm>
          <a:prstGeom prst="rect">
            <a:avLst/>
          </a:prstGeom>
          <a:noFill/>
        </p:spPr>
        <p:txBody>
          <a:bodyPr wrap="none" rtlCol="0">
            <a:spAutoFit/>
          </a:bodyPr>
          <a:lstStyle/>
          <a:p>
            <a:r>
              <a:rPr lang="en-US" altLang="zh-CN"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rPr>
              <a:t>L3</a:t>
            </a:r>
            <a:r>
              <a:rPr lang="zh-CN" altLang="en-US"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rPr>
              <a:t>高速缓存</a:t>
            </a:r>
          </a:p>
        </p:txBody>
      </p:sp>
      <p:sp>
        <p:nvSpPr>
          <p:cNvPr id="45" name="文本框 44"/>
          <p:cNvSpPr txBox="1"/>
          <p:nvPr/>
        </p:nvSpPr>
        <p:spPr>
          <a:xfrm>
            <a:off x="7515802" y="3800062"/>
            <a:ext cx="697627" cy="400110"/>
          </a:xfrm>
          <a:prstGeom prst="rect">
            <a:avLst/>
          </a:prstGeom>
          <a:solidFill>
            <a:srgbClr val="ED7D31"/>
          </a:solidFill>
        </p:spPr>
        <p:txBody>
          <a:bodyPr wrap="none" rtlCol="0">
            <a:spAutoFit/>
          </a:bodyPr>
          <a:lstStyle/>
          <a:p>
            <a:r>
              <a:rPr lang="zh-CN" altLang="en-US" sz="20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内存</a:t>
            </a:r>
          </a:p>
        </p:txBody>
      </p:sp>
      <p:cxnSp>
        <p:nvCxnSpPr>
          <p:cNvPr id="46" name="直接连接符 45"/>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47" name="Rectangle 2"/>
          <p:cNvSpPr>
            <a:spLocks noChangeArrowheads="1"/>
          </p:cNvSpPr>
          <p:nvPr/>
        </p:nvSpPr>
        <p:spPr bwMode="auto">
          <a:xfrm>
            <a:off x="2267744" y="504057"/>
            <a:ext cx="4421740"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广义存储器的层次结构</a:t>
            </a:r>
            <a:endParaRPr lang="zh-CN" altLang="en-US" sz="3200" b="1" dirty="0">
              <a:solidFill>
                <a:prstClr val="white">
                  <a:lumMod val="65000"/>
                </a:prstClr>
              </a:solidFill>
              <a:latin typeface="Arial"/>
              <a:ea typeface="微软雅黑" pitchFamily="34" charset="-122"/>
              <a:cs typeface="Arial"/>
            </a:endParaRPr>
          </a:p>
        </p:txBody>
      </p:sp>
      <p:sp>
        <p:nvSpPr>
          <p:cNvPr id="50" name="下箭头 49"/>
          <p:cNvSpPr/>
          <p:nvPr/>
        </p:nvSpPr>
        <p:spPr>
          <a:xfrm flipV="1">
            <a:off x="980906" y="1474239"/>
            <a:ext cx="218088" cy="2088232"/>
          </a:xfrm>
          <a:prstGeom prst="downArrow">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下箭头 52"/>
          <p:cNvSpPr/>
          <p:nvPr/>
        </p:nvSpPr>
        <p:spPr>
          <a:xfrm>
            <a:off x="980908" y="4066527"/>
            <a:ext cx="218085" cy="1931213"/>
          </a:xfrm>
          <a:prstGeom prst="downArrow">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1441878" y="1854850"/>
            <a:ext cx="697627" cy="1015663"/>
          </a:xfrm>
          <a:prstGeom prst="rect">
            <a:avLst/>
          </a:prstGeom>
          <a:noFill/>
        </p:spPr>
        <p:txBody>
          <a:bodyPr wrap="none" rtlCol="0">
            <a:spAutoFit/>
          </a:bodyPr>
          <a:lstStyle/>
          <a:p>
            <a:r>
              <a:rPr lang="zh-CN" altLang="en-US"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rPr>
              <a:t>更小</a:t>
            </a:r>
            <a:endParaRPr lang="en-US" altLang="zh-CN"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endParaRPr>
          </a:p>
          <a:p>
            <a:r>
              <a:rPr lang="zh-CN" altLang="en-US"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rPr>
              <a:t>更快</a:t>
            </a:r>
            <a:endParaRPr lang="en-US" altLang="zh-CN"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endParaRPr>
          </a:p>
          <a:p>
            <a:r>
              <a:rPr lang="zh-CN" altLang="en-US"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rPr>
              <a:t>更贵</a:t>
            </a:r>
          </a:p>
        </p:txBody>
      </p:sp>
      <p:sp>
        <p:nvSpPr>
          <p:cNvPr id="55" name="文本框 54"/>
          <p:cNvSpPr txBox="1"/>
          <p:nvPr/>
        </p:nvSpPr>
        <p:spPr>
          <a:xfrm>
            <a:off x="1313637" y="4508946"/>
            <a:ext cx="954107" cy="1015663"/>
          </a:xfrm>
          <a:prstGeom prst="rect">
            <a:avLst/>
          </a:prstGeom>
          <a:noFill/>
        </p:spPr>
        <p:txBody>
          <a:bodyPr wrap="none" rtlCol="0">
            <a:spAutoFit/>
          </a:bodyPr>
          <a:lstStyle/>
          <a:p>
            <a:pPr algn="ctr"/>
            <a:r>
              <a:rPr lang="zh-CN" altLang="en-US"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rPr>
              <a:t>更大</a:t>
            </a:r>
            <a:endParaRPr lang="en-US" altLang="zh-CN"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lgn="ctr"/>
            <a:r>
              <a:rPr lang="zh-CN" altLang="en-US"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rPr>
              <a:t>更慢</a:t>
            </a:r>
            <a:endParaRPr lang="en-US" altLang="zh-CN"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lgn="ctr"/>
            <a:r>
              <a:rPr lang="zh-CN" altLang="en-US"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rPr>
              <a:t>更便宜</a:t>
            </a:r>
          </a:p>
        </p:txBody>
      </p:sp>
      <p:sp>
        <p:nvSpPr>
          <p:cNvPr id="57" name="矩形 56"/>
          <p:cNvSpPr/>
          <p:nvPr/>
        </p:nvSpPr>
        <p:spPr>
          <a:xfrm>
            <a:off x="2356998" y="6177110"/>
            <a:ext cx="4796802" cy="387143"/>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8" name="矩形 57"/>
          <p:cNvSpPr/>
          <p:nvPr/>
        </p:nvSpPr>
        <p:spPr>
          <a:xfrm>
            <a:off x="2393924" y="6172389"/>
            <a:ext cx="4778954" cy="396583"/>
          </a:xfrm>
          <a:prstGeom prst="rect">
            <a:avLst/>
          </a:prstGeom>
        </p:spPr>
        <p:txBody>
          <a:bodyPr wrap="square">
            <a:spAutoFit/>
          </a:bodyPr>
          <a:lstStyle/>
          <a:p>
            <a:pPr>
              <a:lnSpc>
                <a:spcPct val="120000"/>
              </a:lnSpc>
              <a:spcBef>
                <a:spcPts val="600"/>
              </a:spcBef>
            </a:pPr>
            <a:r>
              <a:rPr lang="zh-CN" altLang="en-US" b="1" dirty="0">
                <a:solidFill>
                  <a:schemeClr val="bg1"/>
                </a:solidFill>
                <a:latin typeface="微软雅黑" pitchFamily="34" charset="-122"/>
                <a:ea typeface="微软雅黑" pitchFamily="34" charset="-122"/>
              </a:rPr>
              <a:t>本课程中存储器仅指内存，不涉及外存。</a:t>
            </a:r>
          </a:p>
        </p:txBody>
      </p:sp>
      <p:sp>
        <p:nvSpPr>
          <p:cNvPr id="59" name="矩形 58"/>
          <p:cNvSpPr/>
          <p:nvPr/>
        </p:nvSpPr>
        <p:spPr>
          <a:xfrm>
            <a:off x="1043607" y="6177110"/>
            <a:ext cx="1313392" cy="3871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itchFamily="34" charset="-122"/>
                <a:ea typeface="微软雅黑" pitchFamily="34" charset="-122"/>
              </a:rPr>
              <a:t>特别强调</a:t>
            </a:r>
          </a:p>
        </p:txBody>
      </p:sp>
      <p:sp>
        <p:nvSpPr>
          <p:cNvPr id="60" name="文本框 59"/>
          <p:cNvSpPr txBox="1"/>
          <p:nvPr/>
        </p:nvSpPr>
        <p:spPr>
          <a:xfrm>
            <a:off x="7956376" y="4653136"/>
            <a:ext cx="1210588" cy="400110"/>
          </a:xfrm>
          <a:prstGeom prst="rect">
            <a:avLst/>
          </a:prstGeom>
          <a:noFill/>
        </p:spPr>
        <p:txBody>
          <a:bodyPr wrap="none" rtlCol="0">
            <a:spAutoFit/>
          </a:bodyPr>
          <a:lstStyle/>
          <a:p>
            <a:r>
              <a:rPr lang="zh-CN" altLang="en-US" sz="2000" dirty="0">
                <a:solidFill>
                  <a:srgbClr val="605E5E"/>
                </a:solidFill>
                <a:latin typeface="Arial Unicode MS" panose="020B0604020202020204" pitchFamily="34" charset="-122"/>
                <a:ea typeface="Arial Unicode MS" panose="020B0604020202020204" pitchFamily="34" charset="-122"/>
                <a:cs typeface="Arial Unicode MS" panose="020B0604020202020204" pitchFamily="34" charset="-122"/>
              </a:rPr>
              <a:t>本地磁盘</a:t>
            </a:r>
          </a:p>
        </p:txBody>
      </p:sp>
    </p:spTree>
    <p:extLst>
      <p:ext uri="{BB962C8B-B14F-4D97-AF65-F5344CB8AC3E}">
        <p14:creationId xmlns:p14="http://schemas.microsoft.com/office/powerpoint/2010/main" val="1132163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1000"/>
                                        <p:tgtEl>
                                          <p:spTgt spid="57"/>
                                        </p:tgtEl>
                                      </p:cBhvr>
                                    </p:animEffect>
                                    <p:anim calcmode="lin" valueType="num">
                                      <p:cBhvr>
                                        <p:cTn id="8" dur="1000" fill="hold"/>
                                        <p:tgtEl>
                                          <p:spTgt spid="57"/>
                                        </p:tgtEl>
                                        <p:attrNameLst>
                                          <p:attrName>ppt_x</p:attrName>
                                        </p:attrNameLst>
                                      </p:cBhvr>
                                      <p:tavLst>
                                        <p:tav tm="0">
                                          <p:val>
                                            <p:strVal val="#ppt_x"/>
                                          </p:val>
                                        </p:tav>
                                        <p:tav tm="100000">
                                          <p:val>
                                            <p:strVal val="#ppt_x"/>
                                          </p:val>
                                        </p:tav>
                                      </p:tavLst>
                                    </p:anim>
                                    <p:anim calcmode="lin" valueType="num">
                                      <p:cBhvr>
                                        <p:cTn id="9" dur="1000" fill="hold"/>
                                        <p:tgtEl>
                                          <p:spTgt spid="5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fade">
                                      <p:cBhvr>
                                        <p:cTn id="12" dur="1000"/>
                                        <p:tgtEl>
                                          <p:spTgt spid="58"/>
                                        </p:tgtEl>
                                      </p:cBhvr>
                                    </p:animEffect>
                                    <p:anim calcmode="lin" valueType="num">
                                      <p:cBhvr>
                                        <p:cTn id="13" dur="1000" fill="hold"/>
                                        <p:tgtEl>
                                          <p:spTgt spid="58"/>
                                        </p:tgtEl>
                                        <p:attrNameLst>
                                          <p:attrName>ppt_x</p:attrName>
                                        </p:attrNameLst>
                                      </p:cBhvr>
                                      <p:tavLst>
                                        <p:tav tm="0">
                                          <p:val>
                                            <p:strVal val="#ppt_x"/>
                                          </p:val>
                                        </p:tav>
                                        <p:tav tm="100000">
                                          <p:val>
                                            <p:strVal val="#ppt_x"/>
                                          </p:val>
                                        </p:tav>
                                      </p:tavLst>
                                    </p:anim>
                                    <p:anim calcmode="lin" valueType="num">
                                      <p:cBhvr>
                                        <p:cTn id="14" dur="1000" fill="hold"/>
                                        <p:tgtEl>
                                          <p:spTgt spid="5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fade">
                                      <p:cBhvr>
                                        <p:cTn id="17" dur="1000"/>
                                        <p:tgtEl>
                                          <p:spTgt spid="59"/>
                                        </p:tgtEl>
                                      </p:cBhvr>
                                    </p:animEffect>
                                    <p:anim calcmode="lin" valueType="num">
                                      <p:cBhvr>
                                        <p:cTn id="18" dur="1000" fill="hold"/>
                                        <p:tgtEl>
                                          <p:spTgt spid="59"/>
                                        </p:tgtEl>
                                        <p:attrNameLst>
                                          <p:attrName>ppt_x</p:attrName>
                                        </p:attrNameLst>
                                      </p:cBhvr>
                                      <p:tavLst>
                                        <p:tav tm="0">
                                          <p:val>
                                            <p:strVal val="#ppt_x"/>
                                          </p:val>
                                        </p:tav>
                                        <p:tav tm="100000">
                                          <p:val>
                                            <p:strVal val="#ppt_x"/>
                                          </p:val>
                                        </p:tav>
                                      </p:tavLst>
                                    </p:anim>
                                    <p:anim calcmode="lin" valueType="num">
                                      <p:cBhvr>
                                        <p:cTn id="19"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grpId="0" nodeType="clickEffect">
                                  <p:stCondLst>
                                    <p:cond delay="0"/>
                                  </p:stCondLst>
                                  <p:childTnLst>
                                    <p:animEffect transition="out" filter="fade">
                                      <p:cBhvr>
                                        <p:cTn id="23" dur="500" tmFilter="0, 0; .2, .5; .8, .5; 1, 0"/>
                                        <p:tgtEl>
                                          <p:spTgt spid="41"/>
                                        </p:tgtEl>
                                      </p:cBhvr>
                                    </p:animEffect>
                                    <p:animScale>
                                      <p:cBhvr>
                                        <p:cTn id="24" dur="250" autoRev="1" fill="hold"/>
                                        <p:tgtEl>
                                          <p:spTgt spid="41"/>
                                        </p:tgtEl>
                                      </p:cBhvr>
                                      <p:by x="105000" y="105000"/>
                                    </p:animScale>
                                  </p:childTnLst>
                                </p:cTn>
                              </p:par>
                              <p:par>
                                <p:cTn id="25" presetID="26" presetClass="emph" presetSubtype="0" fill="hold" grpId="0" nodeType="withEffect">
                                  <p:stCondLst>
                                    <p:cond delay="0"/>
                                  </p:stCondLst>
                                  <p:childTnLst>
                                    <p:animEffect transition="out" filter="fade">
                                      <p:cBhvr>
                                        <p:cTn id="26" dur="500" tmFilter="0, 0; .2, .5; .8, .5; 1, 0"/>
                                        <p:tgtEl>
                                          <p:spTgt spid="45"/>
                                        </p:tgtEl>
                                      </p:cBhvr>
                                    </p:animEffect>
                                    <p:animScale>
                                      <p:cBhvr>
                                        <p:cTn id="27" dur="250" autoRev="1" fill="hold"/>
                                        <p:tgtEl>
                                          <p:spTgt spid="4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5" grpId="0" animBg="1"/>
      <p:bldP spid="57" grpId="0" animBg="1"/>
      <p:bldP spid="58" grpId="0"/>
      <p:bldP spid="5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右箭头 17"/>
          <p:cNvSpPr/>
          <p:nvPr/>
        </p:nvSpPr>
        <p:spPr>
          <a:xfrm rot="5400000">
            <a:off x="3954524" y="1810819"/>
            <a:ext cx="946919" cy="432048"/>
          </a:xfrm>
          <a:prstGeom prst="rightArrow">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5400000">
            <a:off x="831695" y="2349583"/>
            <a:ext cx="1936204" cy="21581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3468291" y="425048"/>
            <a:ext cx="2109187"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内存储器</a:t>
            </a:r>
            <a:endParaRPr lang="zh-CN" altLang="en-US" sz="3200" b="1" dirty="0">
              <a:solidFill>
                <a:prstClr val="white">
                  <a:lumMod val="65000"/>
                </a:prstClr>
              </a:solidFill>
              <a:latin typeface="Arial"/>
              <a:ea typeface="微软雅黑" pitchFamily="34" charset="-122"/>
              <a:cs typeface="Arial"/>
            </a:endParaRPr>
          </a:p>
        </p:txBody>
      </p:sp>
      <p:sp>
        <p:nvSpPr>
          <p:cNvPr id="6" name="圆角矩形 5"/>
          <p:cNvSpPr/>
          <p:nvPr/>
        </p:nvSpPr>
        <p:spPr>
          <a:xfrm>
            <a:off x="3419872" y="2489488"/>
            <a:ext cx="2016224" cy="1728192"/>
          </a:xfrm>
          <a:prstGeom prst="roundRect">
            <a:avLst>
              <a:gd name="adj" fmla="val 4357"/>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ea typeface="微软雅黑" panose="020B0503020204020204" pitchFamily="34" charset="-122"/>
              </a:rPr>
              <a:t>存储体</a:t>
            </a:r>
          </a:p>
        </p:txBody>
      </p:sp>
      <p:sp>
        <p:nvSpPr>
          <p:cNvPr id="10" name="矩形 9"/>
          <p:cNvSpPr/>
          <p:nvPr/>
        </p:nvSpPr>
        <p:spPr>
          <a:xfrm>
            <a:off x="1115616" y="1359770"/>
            <a:ext cx="6769174" cy="3376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右箭头 13"/>
          <p:cNvSpPr/>
          <p:nvPr/>
        </p:nvSpPr>
        <p:spPr>
          <a:xfrm>
            <a:off x="1726655" y="3101556"/>
            <a:ext cx="1712292" cy="432048"/>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右箭头 15"/>
          <p:cNvSpPr/>
          <p:nvPr/>
        </p:nvSpPr>
        <p:spPr>
          <a:xfrm rot="10800000">
            <a:off x="5409071" y="3106306"/>
            <a:ext cx="1712292" cy="432048"/>
          </a:xfrm>
          <a:prstGeom prst="rightArrow">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右箭头 16"/>
          <p:cNvSpPr/>
          <p:nvPr/>
        </p:nvSpPr>
        <p:spPr>
          <a:xfrm rot="16200000">
            <a:off x="6156176" y="2345472"/>
            <a:ext cx="1728192" cy="432048"/>
          </a:xfrm>
          <a:prstGeom prst="rightArrow">
            <a:avLst/>
          </a:prstGeom>
          <a:solidFill>
            <a:srgbClr val="FF3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6"/>
          <p:cNvSpPr txBox="1"/>
          <p:nvPr/>
        </p:nvSpPr>
        <p:spPr>
          <a:xfrm>
            <a:off x="6072421" y="3563644"/>
            <a:ext cx="947851"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zh-CN" altLang="en-US" sz="2000" b="1" kern="100" dirty="0">
                <a:solidFill>
                  <a:srgbClr val="FF0000"/>
                </a:solidFill>
                <a:latin typeface="Times New Roman" panose="02020603050405020304" pitchFamily="18" charset="0"/>
                <a:ea typeface="微软雅黑" panose="020B0503020204020204" pitchFamily="34" charset="-122"/>
                <a:cs typeface="宋体" panose="02010600030101010101" pitchFamily="2" charset="-122"/>
              </a:rPr>
              <a:t>数据</a:t>
            </a:r>
            <a:endParaRPr lang="zh-CN" altLang="en-US" sz="1400" kern="100" dirty="0">
              <a:solidFill>
                <a:srgbClr val="FF0000"/>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20" name="文本框 6"/>
          <p:cNvSpPr txBox="1"/>
          <p:nvPr/>
        </p:nvSpPr>
        <p:spPr>
          <a:xfrm>
            <a:off x="2051720" y="3563644"/>
            <a:ext cx="947851"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zh-CN" altLang="en-US" sz="20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rPr>
              <a:t>地址</a:t>
            </a:r>
            <a:endParaRPr lang="zh-CN" altLang="en-US" sz="14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21" name="文本框 6"/>
          <p:cNvSpPr txBox="1"/>
          <p:nvPr/>
        </p:nvSpPr>
        <p:spPr>
          <a:xfrm>
            <a:off x="4566127" y="1752920"/>
            <a:ext cx="947851" cy="700892"/>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zh-CN" altLang="en-US" sz="2000" b="1" kern="100" dirty="0">
                <a:solidFill>
                  <a:srgbClr val="FF9300"/>
                </a:solidFill>
                <a:latin typeface="Times New Roman" panose="02020603050405020304" pitchFamily="18" charset="0"/>
                <a:ea typeface="微软雅黑" panose="020B0503020204020204" pitchFamily="34" charset="-122"/>
                <a:cs typeface="宋体" panose="02010600030101010101" pitchFamily="2" charset="-122"/>
              </a:rPr>
              <a:t>读写</a:t>
            </a:r>
            <a:endParaRPr lang="en-US" altLang="zh-CN" sz="2000" b="1" kern="100" dirty="0">
              <a:solidFill>
                <a:srgbClr val="FF9300"/>
              </a:solidFill>
              <a:latin typeface="Times New Roman" panose="02020603050405020304" pitchFamily="18" charset="0"/>
              <a:ea typeface="微软雅黑" panose="020B0503020204020204" pitchFamily="34" charset="-122"/>
              <a:cs typeface="宋体" panose="02010600030101010101" pitchFamily="2" charset="-122"/>
            </a:endParaRPr>
          </a:p>
          <a:p>
            <a:pPr algn="ctr"/>
            <a:r>
              <a:rPr lang="zh-CN" altLang="en-US" sz="2000" b="1" kern="100" dirty="0">
                <a:solidFill>
                  <a:srgbClr val="FF9300"/>
                </a:solidFill>
                <a:latin typeface="Times New Roman" panose="02020603050405020304" pitchFamily="18" charset="0"/>
                <a:ea typeface="微软雅黑" panose="020B0503020204020204" pitchFamily="34" charset="-122"/>
                <a:cs typeface="宋体" panose="02010600030101010101" pitchFamily="2" charset="-122"/>
              </a:rPr>
              <a:t>控制</a:t>
            </a:r>
          </a:p>
        </p:txBody>
      </p:sp>
      <p:sp>
        <p:nvSpPr>
          <p:cNvPr id="36" name="矩形 35"/>
          <p:cNvSpPr/>
          <p:nvPr/>
        </p:nvSpPr>
        <p:spPr>
          <a:xfrm>
            <a:off x="1115616" y="4462916"/>
            <a:ext cx="6769173" cy="65763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ea typeface="微软雅黑" panose="020B0503020204020204" pitchFamily="34" charset="-122"/>
              </a:rPr>
              <a:t>写操作：</a:t>
            </a:r>
            <a:r>
              <a:rPr lang="en-US" altLang="zh-CN" sz="1600" b="1" dirty="0">
                <a:ea typeface="微软雅黑" panose="020B0503020204020204" pitchFamily="34" charset="-122"/>
              </a:rPr>
              <a:t>CPU</a:t>
            </a:r>
            <a:r>
              <a:rPr lang="zh-CN" altLang="en-US" sz="1600" b="1" dirty="0">
                <a:ea typeface="微软雅黑" panose="020B0503020204020204" pitchFamily="34" charset="-122"/>
              </a:rPr>
              <a:t>把要写入的内存单元的地址放到</a:t>
            </a:r>
            <a:r>
              <a:rPr lang="en-US" altLang="zh-CN" sz="1600" b="1" dirty="0">
                <a:ea typeface="微软雅黑" panose="020B0503020204020204" pitchFamily="34" charset="-122"/>
              </a:rPr>
              <a:t>AB</a:t>
            </a:r>
            <a:r>
              <a:rPr lang="zh-CN" altLang="en-US" sz="1600" b="1" dirty="0">
                <a:ea typeface="微软雅黑" panose="020B0503020204020204" pitchFamily="34" charset="-122"/>
              </a:rPr>
              <a:t>上， </a:t>
            </a:r>
            <a:r>
              <a:rPr lang="en-US" altLang="zh-CN" sz="1600" b="1" dirty="0">
                <a:ea typeface="微软雅黑" panose="020B0503020204020204" pitchFamily="34" charset="-122"/>
              </a:rPr>
              <a:t>CPU</a:t>
            </a:r>
            <a:r>
              <a:rPr lang="zh-CN" altLang="en-US" sz="1600" b="1" dirty="0">
                <a:ea typeface="微软雅黑" panose="020B0503020204020204" pitchFamily="34" charset="-122"/>
              </a:rPr>
              <a:t>紧接着把要写入的数据放到</a:t>
            </a:r>
            <a:r>
              <a:rPr lang="en-US" altLang="zh-CN" sz="1600" b="1" dirty="0">
                <a:ea typeface="微软雅黑" panose="020B0503020204020204" pitchFamily="34" charset="-122"/>
              </a:rPr>
              <a:t>DB</a:t>
            </a:r>
            <a:r>
              <a:rPr lang="zh-CN" altLang="en-US" sz="1600" b="1" dirty="0">
                <a:ea typeface="微软雅黑" panose="020B0503020204020204" pitchFamily="34" charset="-122"/>
              </a:rPr>
              <a:t>上，</a:t>
            </a:r>
            <a:r>
              <a:rPr lang="en-US" altLang="zh-CN" sz="1600" b="1" dirty="0">
                <a:ea typeface="微软雅黑" panose="020B0503020204020204" pitchFamily="34" charset="-122"/>
              </a:rPr>
              <a:t>CPU</a:t>
            </a:r>
            <a:r>
              <a:rPr lang="zh-CN" altLang="en-US" sz="1600" b="1" dirty="0">
                <a:ea typeface="微软雅黑" panose="020B0503020204020204" pitchFamily="34" charset="-122"/>
              </a:rPr>
              <a:t>发出写命令。</a:t>
            </a:r>
          </a:p>
        </p:txBody>
      </p:sp>
      <p:sp>
        <p:nvSpPr>
          <p:cNvPr id="40" name="矩形 39"/>
          <p:cNvSpPr/>
          <p:nvPr/>
        </p:nvSpPr>
        <p:spPr>
          <a:xfrm>
            <a:off x="1115616" y="5229200"/>
            <a:ext cx="6769172" cy="657637"/>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ea typeface="微软雅黑" panose="020B0503020204020204" pitchFamily="34" charset="-122"/>
              </a:rPr>
              <a:t>读操作：</a:t>
            </a:r>
            <a:r>
              <a:rPr lang="en-US" altLang="zh-CN" sz="1600" b="1" dirty="0">
                <a:ea typeface="微软雅黑" panose="020B0503020204020204" pitchFamily="34" charset="-122"/>
              </a:rPr>
              <a:t>CPU</a:t>
            </a:r>
            <a:r>
              <a:rPr lang="zh-CN" altLang="en-US" sz="1600" b="1" dirty="0">
                <a:ea typeface="微软雅黑" panose="020B0503020204020204" pitchFamily="34" charset="-122"/>
              </a:rPr>
              <a:t>把要读入的内存单元的地址放到</a:t>
            </a:r>
            <a:r>
              <a:rPr lang="en-US" altLang="zh-CN" sz="1600" b="1" dirty="0">
                <a:ea typeface="微软雅黑" panose="020B0503020204020204" pitchFamily="34" charset="-122"/>
              </a:rPr>
              <a:t>AB</a:t>
            </a:r>
            <a:r>
              <a:rPr lang="zh-CN" altLang="en-US" sz="1600" b="1" dirty="0">
                <a:ea typeface="微软雅黑" panose="020B0503020204020204" pitchFamily="34" charset="-122"/>
              </a:rPr>
              <a:t>上，</a:t>
            </a:r>
            <a:r>
              <a:rPr lang="en-US" altLang="zh-CN" sz="1600" b="1" dirty="0">
                <a:ea typeface="微软雅黑" panose="020B0503020204020204" pitchFamily="34" charset="-122"/>
              </a:rPr>
              <a:t>CPU</a:t>
            </a:r>
            <a:r>
              <a:rPr lang="zh-CN" altLang="en-US" sz="1600" b="1" dirty="0">
                <a:ea typeface="微软雅黑" panose="020B0503020204020204" pitchFamily="34" charset="-122"/>
              </a:rPr>
              <a:t>发出读写命令，从指定的单元读出到</a:t>
            </a:r>
            <a:r>
              <a:rPr lang="en-US" altLang="zh-CN" sz="1600" b="1" dirty="0">
                <a:ea typeface="微软雅黑" panose="020B0503020204020204" pitchFamily="34" charset="-122"/>
              </a:rPr>
              <a:t>DB</a:t>
            </a:r>
            <a:r>
              <a:rPr lang="zh-CN" altLang="en-US" sz="1600" b="1" dirty="0">
                <a:ea typeface="微软雅黑" panose="020B0503020204020204" pitchFamily="34" charset="-122"/>
              </a:rPr>
              <a:t>。</a:t>
            </a:r>
          </a:p>
        </p:txBody>
      </p:sp>
    </p:spTree>
    <p:extLst>
      <p:ext uri="{BB962C8B-B14F-4D97-AF65-F5344CB8AC3E}">
        <p14:creationId xmlns:p14="http://schemas.microsoft.com/office/powerpoint/2010/main" val="3827950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1"/>
                                        </p:tgtEl>
                                      </p:cBhvr>
                                    </p:animEffect>
                                    <p:animScale>
                                      <p:cBhvr>
                                        <p:cTn id="7" dur="250" autoRev="1" fill="hold"/>
                                        <p:tgtEl>
                                          <p:spTgt spid="21"/>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18"/>
                                        </p:tgtEl>
                                      </p:cBhvr>
                                    </p:animEffect>
                                    <p:animScale>
                                      <p:cBhvr>
                                        <p:cTn id="10" dur="250" autoRev="1" fill="hold"/>
                                        <p:tgtEl>
                                          <p:spTgt spid="18"/>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grpId="0" nodeType="clickEffect">
                                  <p:stCondLst>
                                    <p:cond delay="0"/>
                                  </p:stCondLst>
                                  <p:childTnLst>
                                    <p:animEffect transition="out" filter="fade">
                                      <p:cBhvr>
                                        <p:cTn id="14" dur="500" tmFilter="0, 0; .2, .5; .8, .5; 1, 0"/>
                                        <p:tgtEl>
                                          <p:spTgt spid="11"/>
                                        </p:tgtEl>
                                      </p:cBhvr>
                                    </p:animEffect>
                                    <p:animScale>
                                      <p:cBhvr>
                                        <p:cTn id="15" dur="250" autoRev="1" fill="hold"/>
                                        <p:tgtEl>
                                          <p:spTgt spid="11"/>
                                        </p:tgtEl>
                                      </p:cBhvr>
                                      <p:by x="105000" y="105000"/>
                                    </p:animScale>
                                  </p:childTnLst>
                                </p:cTn>
                              </p:par>
                              <p:par>
                                <p:cTn id="16" presetID="26" presetClass="emph" presetSubtype="0" fill="hold" grpId="0" nodeType="withEffect">
                                  <p:stCondLst>
                                    <p:cond delay="0"/>
                                  </p:stCondLst>
                                  <p:childTnLst>
                                    <p:animEffect transition="out" filter="fade">
                                      <p:cBhvr>
                                        <p:cTn id="17" dur="500" tmFilter="0, 0; .2, .5; .8, .5; 1, 0"/>
                                        <p:tgtEl>
                                          <p:spTgt spid="14"/>
                                        </p:tgtEl>
                                      </p:cBhvr>
                                    </p:animEffect>
                                    <p:animScale>
                                      <p:cBhvr>
                                        <p:cTn id="18" dur="250" autoRev="1" fill="hold"/>
                                        <p:tgtEl>
                                          <p:spTgt spid="14"/>
                                        </p:tgtEl>
                                      </p:cBhvr>
                                      <p:by x="105000" y="105000"/>
                                    </p:animScale>
                                  </p:childTnLst>
                                </p:cTn>
                              </p:par>
                              <p:par>
                                <p:cTn id="19" presetID="26" presetClass="emph" presetSubtype="0" fill="hold" grpId="0" nodeType="withEffect">
                                  <p:stCondLst>
                                    <p:cond delay="0"/>
                                  </p:stCondLst>
                                  <p:childTnLst>
                                    <p:animEffect transition="out" filter="fade">
                                      <p:cBhvr>
                                        <p:cTn id="20" dur="500" tmFilter="0, 0; .2, .5; .8, .5; 1, 0"/>
                                        <p:tgtEl>
                                          <p:spTgt spid="20"/>
                                        </p:tgtEl>
                                      </p:cBhvr>
                                    </p:animEffect>
                                    <p:animScale>
                                      <p:cBhvr>
                                        <p:cTn id="21" dur="250" autoRev="1" fill="hold"/>
                                        <p:tgtEl>
                                          <p:spTgt spid="20"/>
                                        </p:tgtEl>
                                      </p:cBhvr>
                                      <p:by x="105000" y="105000"/>
                                    </p:animScale>
                                  </p:childTnLst>
                                </p:cTn>
                              </p:par>
                            </p:childTnLst>
                          </p:cTn>
                        </p:par>
                      </p:childTnLst>
                    </p:cTn>
                  </p:par>
                  <p:par>
                    <p:cTn id="22" fill="hold">
                      <p:stCondLst>
                        <p:cond delay="indefinite"/>
                      </p:stCondLst>
                      <p:childTnLst>
                        <p:par>
                          <p:cTn id="23" fill="hold">
                            <p:stCondLst>
                              <p:cond delay="0"/>
                            </p:stCondLst>
                            <p:childTnLst>
                              <p:par>
                                <p:cTn id="24" presetID="26" presetClass="emph" presetSubtype="0" fill="hold" grpId="0" nodeType="clickEffect">
                                  <p:stCondLst>
                                    <p:cond delay="0"/>
                                  </p:stCondLst>
                                  <p:childTnLst>
                                    <p:animEffect transition="out" filter="fade">
                                      <p:cBhvr>
                                        <p:cTn id="25" dur="500" tmFilter="0, 0; .2, .5; .8, .5; 1, 0"/>
                                        <p:tgtEl>
                                          <p:spTgt spid="16"/>
                                        </p:tgtEl>
                                      </p:cBhvr>
                                    </p:animEffect>
                                    <p:animScale>
                                      <p:cBhvr>
                                        <p:cTn id="26" dur="250" autoRev="1" fill="hold"/>
                                        <p:tgtEl>
                                          <p:spTgt spid="16"/>
                                        </p:tgtEl>
                                      </p:cBhvr>
                                      <p:by x="105000" y="105000"/>
                                    </p:animScale>
                                  </p:childTnLst>
                                </p:cTn>
                              </p:par>
                              <p:par>
                                <p:cTn id="27" presetID="26" presetClass="emph" presetSubtype="0" fill="hold" grpId="0" nodeType="withEffect">
                                  <p:stCondLst>
                                    <p:cond delay="0"/>
                                  </p:stCondLst>
                                  <p:childTnLst>
                                    <p:animEffect transition="out" filter="fade">
                                      <p:cBhvr>
                                        <p:cTn id="28" dur="500" tmFilter="0, 0; .2, .5; .8, .5; 1, 0"/>
                                        <p:tgtEl>
                                          <p:spTgt spid="17"/>
                                        </p:tgtEl>
                                      </p:cBhvr>
                                    </p:animEffect>
                                    <p:animScale>
                                      <p:cBhvr>
                                        <p:cTn id="29" dur="250" autoRev="1" fill="hold"/>
                                        <p:tgtEl>
                                          <p:spTgt spid="17"/>
                                        </p:tgtEl>
                                      </p:cBhvr>
                                      <p:by x="105000" y="105000"/>
                                    </p:animScale>
                                  </p:childTnLst>
                                </p:cTn>
                              </p:par>
                              <p:par>
                                <p:cTn id="30" presetID="26" presetClass="emph" presetSubtype="0" fill="hold" grpId="0" nodeType="withEffect">
                                  <p:stCondLst>
                                    <p:cond delay="0"/>
                                  </p:stCondLst>
                                  <p:childTnLst>
                                    <p:animEffect transition="out" filter="fade">
                                      <p:cBhvr>
                                        <p:cTn id="31" dur="500" tmFilter="0, 0; .2, .5; .8, .5; 1, 0"/>
                                        <p:tgtEl>
                                          <p:spTgt spid="19"/>
                                        </p:tgtEl>
                                      </p:cBhvr>
                                    </p:animEffect>
                                    <p:animScale>
                                      <p:cBhvr>
                                        <p:cTn id="32" dur="250" autoRev="1" fill="hold"/>
                                        <p:tgtEl>
                                          <p:spTgt spid="1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1" grpId="0" animBg="1"/>
      <p:bldP spid="14" grpId="0" animBg="1"/>
      <p:bldP spid="16" grpId="0" animBg="1"/>
      <p:bldP spid="17" grpId="0" animBg="1"/>
      <p:bldP spid="19" grpId="0"/>
      <p:bldP spid="20" grpId="0"/>
      <p:bldP spid="2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2039925" y="457468"/>
            <a:ext cx="5064149"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内存单元的地址和内容</a:t>
            </a:r>
            <a:endParaRPr lang="zh-CN" altLang="en-US" sz="3200" b="1" dirty="0">
              <a:solidFill>
                <a:prstClr val="white">
                  <a:lumMod val="65000"/>
                </a:prstClr>
              </a:solidFill>
              <a:latin typeface="Arial"/>
              <a:ea typeface="微软雅黑" pitchFamily="34" charset="-122"/>
              <a:cs typeface="Arial"/>
            </a:endParaRPr>
          </a:p>
        </p:txBody>
      </p:sp>
      <p:pic>
        <p:nvPicPr>
          <p:cNvPr id="4" name="图片 3" descr="未标题-1.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239644" y="132478"/>
            <a:ext cx="1490425" cy="1346351"/>
          </a:xfrm>
          <a:prstGeom prst="rect">
            <a:avLst/>
          </a:prstGeom>
        </p:spPr>
      </p:pic>
      <p:sp>
        <p:nvSpPr>
          <p:cNvPr id="5" name="圆角矩形 4"/>
          <p:cNvSpPr/>
          <p:nvPr/>
        </p:nvSpPr>
        <p:spPr>
          <a:xfrm>
            <a:off x="355607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6" name="圆角矩形 5"/>
          <p:cNvSpPr/>
          <p:nvPr/>
        </p:nvSpPr>
        <p:spPr>
          <a:xfrm>
            <a:off x="391611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7" name="圆角矩形 6"/>
          <p:cNvSpPr/>
          <p:nvPr/>
        </p:nvSpPr>
        <p:spPr>
          <a:xfrm>
            <a:off x="427615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8" name="圆角矩形 7"/>
          <p:cNvSpPr/>
          <p:nvPr/>
        </p:nvSpPr>
        <p:spPr>
          <a:xfrm>
            <a:off x="463619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9" name="圆角矩形 8"/>
          <p:cNvSpPr/>
          <p:nvPr/>
        </p:nvSpPr>
        <p:spPr>
          <a:xfrm>
            <a:off x="499623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10" name="圆角矩形 9"/>
          <p:cNvSpPr/>
          <p:nvPr/>
        </p:nvSpPr>
        <p:spPr>
          <a:xfrm>
            <a:off x="535627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11" name="圆角矩形 10"/>
          <p:cNvSpPr/>
          <p:nvPr/>
        </p:nvSpPr>
        <p:spPr>
          <a:xfrm>
            <a:off x="571631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12" name="圆角矩形 11"/>
          <p:cNvSpPr/>
          <p:nvPr/>
        </p:nvSpPr>
        <p:spPr>
          <a:xfrm>
            <a:off x="607635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16" name="圆角矩形 15"/>
          <p:cNvSpPr/>
          <p:nvPr/>
        </p:nvSpPr>
        <p:spPr>
          <a:xfrm>
            <a:off x="355607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17" name="圆角矩形 16"/>
          <p:cNvSpPr/>
          <p:nvPr/>
        </p:nvSpPr>
        <p:spPr>
          <a:xfrm>
            <a:off x="391611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18" name="圆角矩形 17"/>
          <p:cNvSpPr/>
          <p:nvPr/>
        </p:nvSpPr>
        <p:spPr>
          <a:xfrm>
            <a:off x="427615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19" name="圆角矩形 18"/>
          <p:cNvSpPr/>
          <p:nvPr/>
        </p:nvSpPr>
        <p:spPr>
          <a:xfrm>
            <a:off x="463619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20" name="圆角矩形 19"/>
          <p:cNvSpPr/>
          <p:nvPr/>
        </p:nvSpPr>
        <p:spPr>
          <a:xfrm>
            <a:off x="499623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21" name="圆角矩形 20"/>
          <p:cNvSpPr/>
          <p:nvPr/>
        </p:nvSpPr>
        <p:spPr>
          <a:xfrm>
            <a:off x="535627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22" name="圆角矩形 21"/>
          <p:cNvSpPr/>
          <p:nvPr/>
        </p:nvSpPr>
        <p:spPr>
          <a:xfrm>
            <a:off x="571631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23" name="圆角矩形 22"/>
          <p:cNvSpPr/>
          <p:nvPr/>
        </p:nvSpPr>
        <p:spPr>
          <a:xfrm>
            <a:off x="607635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31" name="圆角矩形 30"/>
          <p:cNvSpPr/>
          <p:nvPr/>
        </p:nvSpPr>
        <p:spPr>
          <a:xfrm>
            <a:off x="3552230" y="3668695"/>
            <a:ext cx="295232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ea typeface="微软雅黑" panose="020B0503020204020204" pitchFamily="34" charset="-122"/>
            </a:endParaRPr>
          </a:p>
        </p:txBody>
      </p:sp>
      <p:sp>
        <p:nvSpPr>
          <p:cNvPr id="32" name="圆角矩形 31"/>
          <p:cNvSpPr/>
          <p:nvPr/>
        </p:nvSpPr>
        <p:spPr>
          <a:xfrm>
            <a:off x="3552230" y="4195184"/>
            <a:ext cx="295232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ea typeface="微软雅黑" panose="020B0503020204020204" pitchFamily="34" charset="-122"/>
            </a:endParaRPr>
          </a:p>
        </p:txBody>
      </p:sp>
      <p:sp>
        <p:nvSpPr>
          <p:cNvPr id="33" name="文本框 6"/>
          <p:cNvSpPr txBox="1"/>
          <p:nvPr/>
        </p:nvSpPr>
        <p:spPr>
          <a:xfrm>
            <a:off x="2547963" y="4852086"/>
            <a:ext cx="1008112"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rPr>
              <a:t>38F04H</a:t>
            </a:r>
            <a:endParaRPr lang="zh-CN" altLang="en-US" sz="14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34" name="文本框 6"/>
          <p:cNvSpPr txBox="1"/>
          <p:nvPr/>
        </p:nvSpPr>
        <p:spPr>
          <a:xfrm>
            <a:off x="219708" y="3886652"/>
            <a:ext cx="1872208"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zh-CN" altLang="en-US" sz="2000" b="1" kern="100" dirty="0">
                <a:solidFill>
                  <a:srgbClr val="1D8DE5"/>
                </a:solidFill>
                <a:latin typeface="Times New Roman" panose="02020603050405020304" pitchFamily="18" charset="0"/>
                <a:ea typeface="微软雅黑" panose="020B0503020204020204" pitchFamily="34" charset="-122"/>
                <a:cs typeface="宋体" panose="02010600030101010101" pitchFamily="2" charset="-122"/>
              </a:rPr>
              <a:t>内存单元的地址</a:t>
            </a:r>
          </a:p>
        </p:txBody>
      </p:sp>
      <p:cxnSp>
        <p:nvCxnSpPr>
          <p:cNvPr id="35" name="直接连接符 34"/>
          <p:cNvCxnSpPr/>
          <p:nvPr/>
        </p:nvCxnSpPr>
        <p:spPr>
          <a:xfrm>
            <a:off x="243998" y="4265241"/>
            <a:ext cx="1816106" cy="0"/>
          </a:xfrm>
          <a:prstGeom prst="line">
            <a:avLst/>
          </a:prstGeom>
          <a:noFill/>
          <a:ln w="9525" cap="flat" cmpd="sng">
            <a:solidFill>
              <a:srgbClr val="C00000"/>
            </a:solidFill>
            <a:prstDash val="dash"/>
            <a:round/>
            <a:headEnd type="oval" w="med" len="med"/>
            <a:tailEnd type="oval"/>
          </a:ln>
          <a:extLst>
            <a:ext uri="{909E8E84-426E-40DD-AFC4-6F175D3DCCD1}">
              <a14:hiddenFill xmlns:a14="http://schemas.microsoft.com/office/drawing/2010/main">
                <a:noFill/>
              </a14:hiddenFill>
            </a:ext>
          </a:extLst>
        </p:spPr>
      </p:cxnSp>
      <p:cxnSp>
        <p:nvCxnSpPr>
          <p:cNvPr id="37" name="直接连接符 36"/>
          <p:cNvCxnSpPr/>
          <p:nvPr/>
        </p:nvCxnSpPr>
        <p:spPr>
          <a:xfrm>
            <a:off x="2060104" y="4268234"/>
            <a:ext cx="495672" cy="672934"/>
          </a:xfrm>
          <a:prstGeom prst="line">
            <a:avLst/>
          </a:prstGeom>
          <a:noFill/>
          <a:ln w="9525" cap="flat" cmpd="sng">
            <a:solidFill>
              <a:srgbClr val="C00000"/>
            </a:solidFill>
            <a:prstDash val="dash"/>
            <a:round/>
            <a:headEnd type="oval" w="med" len="med"/>
            <a:tailEnd type="oval"/>
          </a:ln>
          <a:extLst>
            <a:ext uri="{909E8E84-426E-40DD-AFC4-6F175D3DCCD1}">
              <a14:hiddenFill xmlns:a14="http://schemas.microsoft.com/office/drawing/2010/main">
                <a:noFill/>
              </a14:hiddenFill>
            </a:ext>
          </a:extLst>
        </p:spPr>
      </p:cxnSp>
      <p:cxnSp>
        <p:nvCxnSpPr>
          <p:cNvPr id="40" name="直接连接符 39"/>
          <p:cNvCxnSpPr/>
          <p:nvPr/>
        </p:nvCxnSpPr>
        <p:spPr>
          <a:xfrm flipV="1">
            <a:off x="5716315" y="2082149"/>
            <a:ext cx="655885" cy="811477"/>
          </a:xfrm>
          <a:prstGeom prst="line">
            <a:avLst/>
          </a:prstGeom>
          <a:noFill/>
          <a:ln w="9525" cap="flat" cmpd="sng">
            <a:solidFill>
              <a:srgbClr val="1D8DE5"/>
            </a:solidFill>
            <a:prstDash val="dash"/>
            <a:round/>
            <a:headEnd type="oval" w="med" len="med"/>
            <a:tailEnd type="oval"/>
          </a:ln>
          <a:extLst>
            <a:ext uri="{909E8E84-426E-40DD-AFC4-6F175D3DCCD1}">
              <a14:hiddenFill xmlns:a14="http://schemas.microsoft.com/office/drawing/2010/main">
                <a:noFill/>
              </a14:hiddenFill>
            </a:ext>
          </a:extLst>
        </p:spPr>
      </p:cxnSp>
      <p:cxnSp>
        <p:nvCxnSpPr>
          <p:cNvPr id="42" name="直接连接符 41"/>
          <p:cNvCxnSpPr/>
          <p:nvPr/>
        </p:nvCxnSpPr>
        <p:spPr>
          <a:xfrm>
            <a:off x="6372200" y="2082149"/>
            <a:ext cx="1816106" cy="0"/>
          </a:xfrm>
          <a:prstGeom prst="line">
            <a:avLst/>
          </a:prstGeom>
          <a:noFill/>
          <a:ln w="9525" cap="flat" cmpd="sng">
            <a:solidFill>
              <a:srgbClr val="1D8DE5"/>
            </a:solidFill>
            <a:prstDash val="dash"/>
            <a:round/>
            <a:headEnd type="oval" w="med" len="med"/>
            <a:tailEnd type="oval"/>
          </a:ln>
          <a:extLst>
            <a:ext uri="{909E8E84-426E-40DD-AFC4-6F175D3DCCD1}">
              <a14:hiddenFill xmlns:a14="http://schemas.microsoft.com/office/drawing/2010/main">
                <a:noFill/>
              </a14:hiddenFill>
            </a:ext>
          </a:extLst>
        </p:spPr>
      </p:cxnSp>
      <p:sp>
        <p:nvSpPr>
          <p:cNvPr id="43" name="文本框 6"/>
          <p:cNvSpPr txBox="1"/>
          <p:nvPr/>
        </p:nvSpPr>
        <p:spPr>
          <a:xfrm>
            <a:off x="6372200" y="1628800"/>
            <a:ext cx="1872208"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zh-CN" altLang="en-US" sz="2000" b="1" kern="100" dirty="0">
                <a:solidFill>
                  <a:srgbClr val="1D8DE5"/>
                </a:solidFill>
                <a:latin typeface="Times New Roman" panose="02020603050405020304" pitchFamily="18" charset="0"/>
                <a:ea typeface="微软雅黑" panose="020B0503020204020204" pitchFamily="34" charset="-122"/>
                <a:cs typeface="宋体" panose="02010600030101010101" pitchFamily="2" charset="-122"/>
              </a:rPr>
              <a:t>内存单元的内容</a:t>
            </a:r>
            <a:endParaRPr lang="zh-CN" altLang="en-US" sz="1400" b="1" kern="100" dirty="0">
              <a:solidFill>
                <a:srgbClr val="1D8DE5"/>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44" name="文本框 6"/>
          <p:cNvSpPr txBox="1"/>
          <p:nvPr/>
        </p:nvSpPr>
        <p:spPr>
          <a:xfrm>
            <a:off x="6477698" y="5214085"/>
            <a:ext cx="1008112"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Bit</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47" name="文本框 6"/>
          <p:cNvSpPr txBox="1"/>
          <p:nvPr/>
        </p:nvSpPr>
        <p:spPr>
          <a:xfrm>
            <a:off x="3598609"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7</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48" name="文本框 6"/>
          <p:cNvSpPr txBox="1"/>
          <p:nvPr/>
        </p:nvSpPr>
        <p:spPr>
          <a:xfrm>
            <a:off x="3936341"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6</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49" name="文本框 6"/>
          <p:cNvSpPr txBox="1"/>
          <p:nvPr/>
        </p:nvSpPr>
        <p:spPr>
          <a:xfrm>
            <a:off x="4337684"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5</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50" name="文本框 6"/>
          <p:cNvSpPr txBox="1"/>
          <p:nvPr/>
        </p:nvSpPr>
        <p:spPr>
          <a:xfrm>
            <a:off x="4681527"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4</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51" name="文本框 6"/>
          <p:cNvSpPr txBox="1"/>
          <p:nvPr/>
        </p:nvSpPr>
        <p:spPr>
          <a:xfrm>
            <a:off x="5068243"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3</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52" name="文本框 6"/>
          <p:cNvSpPr txBox="1"/>
          <p:nvPr/>
        </p:nvSpPr>
        <p:spPr>
          <a:xfrm>
            <a:off x="5412205"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2</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53" name="文本框 6"/>
          <p:cNvSpPr txBox="1"/>
          <p:nvPr/>
        </p:nvSpPr>
        <p:spPr>
          <a:xfrm>
            <a:off x="5788323"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1</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54" name="文本框 6"/>
          <p:cNvSpPr txBox="1"/>
          <p:nvPr/>
        </p:nvSpPr>
        <p:spPr>
          <a:xfrm>
            <a:off x="6148363"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0</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60" name="矩形 59"/>
          <p:cNvSpPr/>
          <p:nvPr/>
        </p:nvSpPr>
        <p:spPr>
          <a:xfrm>
            <a:off x="2012982" y="5877272"/>
            <a:ext cx="5079298" cy="646331"/>
          </a:xfrm>
          <a:prstGeom prst="rect">
            <a:avLst/>
          </a:prstGeom>
          <a:noFill/>
        </p:spPr>
        <p:txBody>
          <a:bodyPr wrap="square" lIns="91440" tIns="45720" rIns="91440" bIns="45720">
            <a:spAutoFit/>
          </a:bodyPr>
          <a:lstStyle/>
          <a:p>
            <a:r>
              <a:rPr lang="zh-CN" altLang="en-US" b="1" dirty="0">
                <a:ln w="17780" cmpd="sng">
                  <a:noFill/>
                  <a:prstDash val="solid"/>
                  <a:miter lim="800000"/>
                </a:ln>
                <a:solidFill>
                  <a:srgbClr val="1D8DE5"/>
                </a:solidFill>
                <a:latin typeface="微软雅黑" pitchFamily="34" charset="-122"/>
                <a:ea typeface="微软雅黑" pitchFamily="34" charset="-122"/>
              </a:rPr>
              <a:t>内存单元的编号称为内存单元的</a:t>
            </a:r>
            <a:r>
              <a:rPr lang="zh-CN" altLang="en-US" b="1" dirty="0">
                <a:ln w="17780" cmpd="sng">
                  <a:noFill/>
                  <a:prstDash val="solid"/>
                  <a:miter lim="800000"/>
                </a:ln>
                <a:solidFill>
                  <a:srgbClr val="FF0000"/>
                </a:solidFill>
                <a:latin typeface="微软雅黑" pitchFamily="34" charset="-122"/>
                <a:ea typeface="微软雅黑" pitchFamily="34" charset="-122"/>
              </a:rPr>
              <a:t>地址</a:t>
            </a:r>
            <a:r>
              <a:rPr lang="zh-CN" altLang="en-US" b="1" dirty="0">
                <a:ln w="17780" cmpd="sng">
                  <a:noFill/>
                  <a:prstDash val="solid"/>
                  <a:miter lim="800000"/>
                </a:ln>
                <a:solidFill>
                  <a:srgbClr val="1D8DE5"/>
                </a:solidFill>
                <a:latin typeface="微软雅黑" pitchFamily="34" charset="-122"/>
                <a:ea typeface="微软雅黑" pitchFamily="34" charset="-122"/>
              </a:rPr>
              <a:t>。常用</a:t>
            </a:r>
            <a:r>
              <a:rPr lang="en-US" altLang="zh-CN" b="1" dirty="0">
                <a:ln w="17780" cmpd="sng">
                  <a:noFill/>
                  <a:prstDash val="solid"/>
                  <a:miter lim="800000"/>
                </a:ln>
                <a:solidFill>
                  <a:srgbClr val="1D8DE5"/>
                </a:solidFill>
                <a:latin typeface="微软雅黑" pitchFamily="34" charset="-122"/>
                <a:ea typeface="微软雅黑" pitchFamily="34" charset="-122"/>
              </a:rPr>
              <a:t>16</a:t>
            </a:r>
            <a:r>
              <a:rPr lang="zh-CN" altLang="en-US" b="1" dirty="0">
                <a:ln w="17780" cmpd="sng">
                  <a:noFill/>
                  <a:prstDash val="solid"/>
                  <a:miter lim="800000"/>
                </a:ln>
                <a:solidFill>
                  <a:srgbClr val="1D8DE5"/>
                </a:solidFill>
                <a:latin typeface="微软雅黑" pitchFamily="34" charset="-122"/>
                <a:ea typeface="微软雅黑" pitchFamily="34" charset="-122"/>
              </a:rPr>
              <a:t>进制表示地址和内容，</a:t>
            </a:r>
            <a:r>
              <a:rPr lang="zh-CN" altLang="en-US" b="1" dirty="0">
                <a:ln w="17780" cmpd="sng">
                  <a:noFill/>
                  <a:prstDash val="solid"/>
                  <a:miter lim="800000"/>
                </a:ln>
                <a:solidFill>
                  <a:srgbClr val="FF3255"/>
                </a:solidFill>
                <a:latin typeface="微软雅黑" pitchFamily="34" charset="-122"/>
                <a:ea typeface="微软雅黑" pitchFamily="34" charset="-122"/>
              </a:rPr>
              <a:t>字母开头的</a:t>
            </a:r>
            <a:r>
              <a:rPr lang="en-US" altLang="zh-CN" b="1" dirty="0">
                <a:ln w="17780" cmpd="sng">
                  <a:noFill/>
                  <a:prstDash val="solid"/>
                  <a:miter lim="800000"/>
                </a:ln>
                <a:solidFill>
                  <a:srgbClr val="FF3255"/>
                </a:solidFill>
                <a:latin typeface="微软雅黑" pitchFamily="34" charset="-122"/>
                <a:ea typeface="微软雅黑" pitchFamily="34" charset="-122"/>
              </a:rPr>
              <a:t>16</a:t>
            </a:r>
            <a:r>
              <a:rPr lang="zh-CN" altLang="en-US" b="1" dirty="0">
                <a:ln w="17780" cmpd="sng">
                  <a:noFill/>
                  <a:prstDash val="solid"/>
                  <a:miter lim="800000"/>
                </a:ln>
                <a:solidFill>
                  <a:srgbClr val="FF3255"/>
                </a:solidFill>
                <a:latin typeface="微软雅黑" pitchFamily="34" charset="-122"/>
                <a:ea typeface="微软雅黑" pitchFamily="34" charset="-122"/>
              </a:rPr>
              <a:t>进制数前加</a:t>
            </a:r>
            <a:r>
              <a:rPr lang="en-US" altLang="zh-CN" b="1" dirty="0">
                <a:ln w="17780" cmpd="sng">
                  <a:noFill/>
                  <a:prstDash val="solid"/>
                  <a:miter lim="800000"/>
                </a:ln>
                <a:solidFill>
                  <a:srgbClr val="FF3255"/>
                </a:solidFill>
                <a:latin typeface="微软雅黑" pitchFamily="34" charset="-122"/>
                <a:ea typeface="微软雅黑" pitchFamily="34" charset="-122"/>
              </a:rPr>
              <a:t>0</a:t>
            </a:r>
            <a:r>
              <a:rPr lang="zh-CN" altLang="en-US" b="1" dirty="0">
                <a:ln w="17780" cmpd="sng">
                  <a:noFill/>
                  <a:prstDash val="solid"/>
                  <a:miter lim="800000"/>
                </a:ln>
                <a:solidFill>
                  <a:srgbClr val="FF3255"/>
                </a:solidFill>
                <a:latin typeface="微软雅黑" pitchFamily="34" charset="-122"/>
                <a:ea typeface="微软雅黑" pitchFamily="34" charset="-122"/>
              </a:rPr>
              <a:t>。</a:t>
            </a:r>
          </a:p>
        </p:txBody>
      </p:sp>
      <p:sp>
        <p:nvSpPr>
          <p:cNvPr id="62" name="矩形 61"/>
          <p:cNvSpPr/>
          <p:nvPr/>
        </p:nvSpPr>
        <p:spPr>
          <a:xfrm>
            <a:off x="4342180" y="2080349"/>
            <a:ext cx="1398748" cy="461665"/>
          </a:xfrm>
          <a:prstGeom prst="rect">
            <a:avLst/>
          </a:prstGeom>
        </p:spPr>
        <p:txBody>
          <a:bodyPr wrap="square">
            <a:spAutoFit/>
          </a:bodyPr>
          <a:lstStyle/>
          <a:p>
            <a:pPr algn="ctr"/>
            <a:r>
              <a:rPr lang="zh-CN" altLang="en-US" sz="2400" b="1" dirty="0">
                <a:solidFill>
                  <a:srgbClr val="FF0000"/>
                </a:solidFill>
                <a:ea typeface="微软雅黑" panose="020B0503020204020204" pitchFamily="34" charset="-122"/>
              </a:rPr>
              <a:t>存储体</a:t>
            </a:r>
            <a:endParaRPr lang="zh-CN" altLang="en-US" sz="2400" dirty="0">
              <a:solidFill>
                <a:srgbClr val="FF0000"/>
              </a:solidFill>
            </a:endParaRPr>
          </a:p>
        </p:txBody>
      </p:sp>
      <p:sp>
        <p:nvSpPr>
          <p:cNvPr id="45" name="圆角矩形 44"/>
          <p:cNvSpPr/>
          <p:nvPr/>
        </p:nvSpPr>
        <p:spPr>
          <a:xfrm>
            <a:off x="356388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46" name="圆角矩形 45"/>
          <p:cNvSpPr/>
          <p:nvPr/>
        </p:nvSpPr>
        <p:spPr>
          <a:xfrm>
            <a:off x="392392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55" name="圆角矩形 54"/>
          <p:cNvSpPr/>
          <p:nvPr/>
        </p:nvSpPr>
        <p:spPr>
          <a:xfrm>
            <a:off x="428396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56" name="圆角矩形 55"/>
          <p:cNvSpPr/>
          <p:nvPr/>
        </p:nvSpPr>
        <p:spPr>
          <a:xfrm>
            <a:off x="464400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57" name="圆角矩形 56"/>
          <p:cNvSpPr/>
          <p:nvPr/>
        </p:nvSpPr>
        <p:spPr>
          <a:xfrm>
            <a:off x="500404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58" name="圆角矩形 57"/>
          <p:cNvSpPr/>
          <p:nvPr/>
        </p:nvSpPr>
        <p:spPr>
          <a:xfrm>
            <a:off x="536408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59" name="圆角矩形 58"/>
          <p:cNvSpPr/>
          <p:nvPr/>
        </p:nvSpPr>
        <p:spPr>
          <a:xfrm>
            <a:off x="572412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61" name="圆角矩形 60"/>
          <p:cNvSpPr/>
          <p:nvPr/>
        </p:nvSpPr>
        <p:spPr>
          <a:xfrm>
            <a:off x="608416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63" name="文本框 6"/>
          <p:cNvSpPr txBox="1"/>
          <p:nvPr/>
        </p:nvSpPr>
        <p:spPr>
          <a:xfrm>
            <a:off x="2555776" y="4329068"/>
            <a:ext cx="1008112"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rPr>
              <a:t>38F03H</a:t>
            </a:r>
            <a:endParaRPr lang="zh-CN" altLang="en-US" sz="14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64" name="文本框 6"/>
          <p:cNvSpPr txBox="1"/>
          <p:nvPr/>
        </p:nvSpPr>
        <p:spPr>
          <a:xfrm>
            <a:off x="2555776" y="3789040"/>
            <a:ext cx="1008112"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rPr>
              <a:t>38F02H</a:t>
            </a:r>
            <a:endParaRPr lang="zh-CN" altLang="en-US" sz="14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65" name="文本框 6"/>
          <p:cNvSpPr txBox="1"/>
          <p:nvPr/>
        </p:nvSpPr>
        <p:spPr>
          <a:xfrm>
            <a:off x="2555776" y="3248948"/>
            <a:ext cx="1008112"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rPr>
              <a:t>38F01H</a:t>
            </a:r>
            <a:endParaRPr lang="zh-CN" altLang="en-US" sz="14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66" name="文本框 6"/>
          <p:cNvSpPr txBox="1"/>
          <p:nvPr/>
        </p:nvSpPr>
        <p:spPr>
          <a:xfrm>
            <a:off x="2555776" y="2708920"/>
            <a:ext cx="1008112"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rPr>
              <a:t>38F00H</a:t>
            </a:r>
            <a:endParaRPr lang="zh-CN" altLang="en-US" sz="14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endParaRPr>
          </a:p>
        </p:txBody>
      </p:sp>
      <p:pic>
        <p:nvPicPr>
          <p:cNvPr id="81" name="Picture 2" descr="C:\Documents and Settings\tdz\桌面\未标题-1 拷贝.pn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71600" y="5733256"/>
            <a:ext cx="834828" cy="782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037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down)">
                                      <p:cBhvr>
                                        <p:cTn id="7" dur="500"/>
                                        <p:tgtEl>
                                          <p:spTgt spid="60"/>
                                        </p:tgtEl>
                                      </p:cBhvr>
                                    </p:animEffect>
                                  </p:childTnLst>
                                </p:cTn>
                              </p:par>
                              <p:par>
                                <p:cTn id="8" presetID="22" presetClass="entr" presetSubtype="4" fill="hold" nodeType="withEffect">
                                  <p:stCondLst>
                                    <p:cond delay="0"/>
                                  </p:stCondLst>
                                  <p:childTnLst>
                                    <p:set>
                                      <p:cBhvr>
                                        <p:cTn id="9" dur="1" fill="hold">
                                          <p:stCondLst>
                                            <p:cond delay="0"/>
                                          </p:stCondLst>
                                        </p:cTn>
                                        <p:tgtEl>
                                          <p:spTgt spid="81"/>
                                        </p:tgtEl>
                                        <p:attrNameLst>
                                          <p:attrName>style.visibility</p:attrName>
                                        </p:attrNameLst>
                                      </p:cBhvr>
                                      <p:to>
                                        <p:strVal val="visible"/>
                                      </p:to>
                                    </p:set>
                                    <p:animEffect transition="in" filter="wipe(down)">
                                      <p:cBhvr>
                                        <p:cTn id="10" dur="500"/>
                                        <p:tgtEl>
                                          <p:spTgt spid="81"/>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animEffect transition="in" filter="fade">
                                      <p:cBhvr>
                                        <p:cTn id="15" dur="1000"/>
                                        <p:tgtEl>
                                          <p:spTgt spid="23">
                                            <p:txEl>
                                              <p:pRg st="0" end="0"/>
                                            </p:txEl>
                                          </p:spTgt>
                                        </p:tgtEl>
                                      </p:cBhvr>
                                    </p:animEffect>
                                    <p:anim calcmode="lin" valueType="num">
                                      <p:cBhvr>
                                        <p:cTn id="16" dur="1000" fill="hold"/>
                                        <p:tgtEl>
                                          <p:spTgt spid="23">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22">
                                            <p:txEl>
                                              <p:pRg st="0" end="0"/>
                                            </p:txEl>
                                          </p:spTgt>
                                        </p:tgtEl>
                                        <p:attrNameLst>
                                          <p:attrName>style.visibility</p:attrName>
                                        </p:attrNameLst>
                                      </p:cBhvr>
                                      <p:to>
                                        <p:strVal val="visible"/>
                                      </p:to>
                                    </p:set>
                                    <p:animEffect transition="in" filter="fade">
                                      <p:cBhvr>
                                        <p:cTn id="22" dur="1000"/>
                                        <p:tgtEl>
                                          <p:spTgt spid="22">
                                            <p:txEl>
                                              <p:pRg st="0" end="0"/>
                                            </p:txEl>
                                          </p:spTgt>
                                        </p:tgtEl>
                                      </p:cBhvr>
                                    </p:animEffect>
                                    <p:anim calcmode="lin" valueType="num">
                                      <p:cBhvr>
                                        <p:cTn id="23" dur="1000" fill="hold"/>
                                        <p:tgtEl>
                                          <p:spTgt spid="22">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2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21">
                                            <p:txEl>
                                              <p:pRg st="0" end="0"/>
                                            </p:txEl>
                                          </p:spTgt>
                                        </p:tgtEl>
                                        <p:attrNameLst>
                                          <p:attrName>style.visibility</p:attrName>
                                        </p:attrNameLst>
                                      </p:cBhvr>
                                      <p:to>
                                        <p:strVal val="visible"/>
                                      </p:to>
                                    </p:set>
                                    <p:animEffect transition="in" filter="fade">
                                      <p:cBhvr>
                                        <p:cTn id="29" dur="1000"/>
                                        <p:tgtEl>
                                          <p:spTgt spid="21">
                                            <p:txEl>
                                              <p:pRg st="0" end="0"/>
                                            </p:txEl>
                                          </p:spTgt>
                                        </p:tgtEl>
                                      </p:cBhvr>
                                    </p:animEffect>
                                    <p:anim calcmode="lin" valueType="num">
                                      <p:cBhvr>
                                        <p:cTn id="30"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0">
                                            <p:txEl>
                                              <p:pRg st="0" end="0"/>
                                            </p:txEl>
                                          </p:spTgt>
                                        </p:tgtEl>
                                        <p:attrNameLst>
                                          <p:attrName>style.visibility</p:attrName>
                                        </p:attrNameLst>
                                      </p:cBhvr>
                                      <p:to>
                                        <p:strVal val="visible"/>
                                      </p:to>
                                    </p:set>
                                    <p:animEffect transition="in" filter="fade">
                                      <p:cBhvr>
                                        <p:cTn id="36" dur="1000"/>
                                        <p:tgtEl>
                                          <p:spTgt spid="20">
                                            <p:txEl>
                                              <p:pRg st="0" end="0"/>
                                            </p:txEl>
                                          </p:spTgt>
                                        </p:tgtEl>
                                      </p:cBhvr>
                                    </p:animEffect>
                                    <p:anim calcmode="lin" valueType="num">
                                      <p:cBhvr>
                                        <p:cTn id="37"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38"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9">
                                            <p:txEl>
                                              <p:pRg st="0" end="0"/>
                                            </p:txEl>
                                          </p:spTgt>
                                        </p:tgtEl>
                                        <p:attrNameLst>
                                          <p:attrName>style.visibility</p:attrName>
                                        </p:attrNameLst>
                                      </p:cBhvr>
                                      <p:to>
                                        <p:strVal val="visible"/>
                                      </p:to>
                                    </p:set>
                                    <p:animEffect transition="in" filter="fade">
                                      <p:cBhvr>
                                        <p:cTn id="43" dur="1000"/>
                                        <p:tgtEl>
                                          <p:spTgt spid="19">
                                            <p:txEl>
                                              <p:pRg st="0" end="0"/>
                                            </p:txEl>
                                          </p:spTgt>
                                        </p:tgtEl>
                                      </p:cBhvr>
                                    </p:animEffect>
                                    <p:anim calcmode="lin" valueType="num">
                                      <p:cBhvr>
                                        <p:cTn id="44"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45" dur="10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18">
                                            <p:txEl>
                                              <p:pRg st="0" end="0"/>
                                            </p:txEl>
                                          </p:spTgt>
                                        </p:tgtEl>
                                        <p:attrNameLst>
                                          <p:attrName>style.visibility</p:attrName>
                                        </p:attrNameLst>
                                      </p:cBhvr>
                                      <p:to>
                                        <p:strVal val="visible"/>
                                      </p:to>
                                    </p:set>
                                    <p:anim calcmode="lin" valueType="num">
                                      <p:cBhvr additive="base">
                                        <p:cTn id="50"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17">
                                            <p:txEl>
                                              <p:pRg st="0" end="0"/>
                                            </p:txEl>
                                          </p:spTgt>
                                        </p:tgtEl>
                                        <p:attrNameLst>
                                          <p:attrName>style.visibility</p:attrName>
                                        </p:attrNameLst>
                                      </p:cBhvr>
                                      <p:to>
                                        <p:strVal val="visible"/>
                                      </p:to>
                                    </p:set>
                                    <p:anim calcmode="lin" valueType="num">
                                      <p:cBhvr additive="base">
                                        <p:cTn id="56"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16">
                                            <p:txEl>
                                              <p:pRg st="0" end="0"/>
                                            </p:txEl>
                                          </p:spTgt>
                                        </p:tgtEl>
                                        <p:attrNameLst>
                                          <p:attrName>style.visibility</p:attrName>
                                        </p:attrNameLst>
                                      </p:cBhvr>
                                      <p:to>
                                        <p:strVal val="visible"/>
                                      </p:to>
                                    </p:set>
                                    <p:anim calcmode="lin" valueType="num">
                                      <p:cBhvr additive="base">
                                        <p:cTn id="62"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2039925" y="457468"/>
            <a:ext cx="5064149"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内存单元的地址和内容</a:t>
            </a:r>
            <a:endParaRPr lang="zh-CN" altLang="en-US" sz="3200" b="1" dirty="0">
              <a:solidFill>
                <a:prstClr val="white">
                  <a:lumMod val="65000"/>
                </a:prstClr>
              </a:solidFill>
              <a:latin typeface="Arial"/>
              <a:ea typeface="微软雅黑" pitchFamily="34" charset="-122"/>
              <a:cs typeface="Arial"/>
            </a:endParaRPr>
          </a:p>
        </p:txBody>
      </p:sp>
      <p:sp>
        <p:nvSpPr>
          <p:cNvPr id="5" name="圆角矩形 4"/>
          <p:cNvSpPr/>
          <p:nvPr/>
        </p:nvSpPr>
        <p:spPr>
          <a:xfrm>
            <a:off x="355607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6" name="圆角矩形 5"/>
          <p:cNvSpPr/>
          <p:nvPr/>
        </p:nvSpPr>
        <p:spPr>
          <a:xfrm>
            <a:off x="391611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7" name="圆角矩形 6"/>
          <p:cNvSpPr/>
          <p:nvPr/>
        </p:nvSpPr>
        <p:spPr>
          <a:xfrm>
            <a:off x="427615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8" name="圆角矩形 7"/>
          <p:cNvSpPr/>
          <p:nvPr/>
        </p:nvSpPr>
        <p:spPr>
          <a:xfrm>
            <a:off x="463619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9" name="圆角矩形 8"/>
          <p:cNvSpPr/>
          <p:nvPr/>
        </p:nvSpPr>
        <p:spPr>
          <a:xfrm>
            <a:off x="499623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10" name="圆角矩形 9"/>
          <p:cNvSpPr/>
          <p:nvPr/>
        </p:nvSpPr>
        <p:spPr>
          <a:xfrm>
            <a:off x="535627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11" name="圆角矩形 10"/>
          <p:cNvSpPr/>
          <p:nvPr/>
        </p:nvSpPr>
        <p:spPr>
          <a:xfrm>
            <a:off x="571631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12" name="圆角矩形 11"/>
          <p:cNvSpPr/>
          <p:nvPr/>
        </p:nvSpPr>
        <p:spPr>
          <a:xfrm>
            <a:off x="6076355" y="262262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16" name="圆角矩形 15"/>
          <p:cNvSpPr/>
          <p:nvPr/>
        </p:nvSpPr>
        <p:spPr>
          <a:xfrm>
            <a:off x="355607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17" name="圆角矩形 16"/>
          <p:cNvSpPr/>
          <p:nvPr/>
        </p:nvSpPr>
        <p:spPr>
          <a:xfrm>
            <a:off x="391611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18" name="圆角矩形 17"/>
          <p:cNvSpPr/>
          <p:nvPr/>
        </p:nvSpPr>
        <p:spPr>
          <a:xfrm>
            <a:off x="427615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19" name="圆角矩形 18"/>
          <p:cNvSpPr/>
          <p:nvPr/>
        </p:nvSpPr>
        <p:spPr>
          <a:xfrm>
            <a:off x="463619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20" name="圆角矩形 19"/>
          <p:cNvSpPr/>
          <p:nvPr/>
        </p:nvSpPr>
        <p:spPr>
          <a:xfrm>
            <a:off x="499623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21" name="圆角矩形 20"/>
          <p:cNvSpPr/>
          <p:nvPr/>
        </p:nvSpPr>
        <p:spPr>
          <a:xfrm>
            <a:off x="535627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22" name="圆角矩形 21"/>
          <p:cNvSpPr/>
          <p:nvPr/>
        </p:nvSpPr>
        <p:spPr>
          <a:xfrm>
            <a:off x="571631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23" name="圆角矩形 22"/>
          <p:cNvSpPr/>
          <p:nvPr/>
        </p:nvSpPr>
        <p:spPr>
          <a:xfrm>
            <a:off x="6076355" y="4721673"/>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33" name="文本框 6"/>
          <p:cNvSpPr txBox="1"/>
          <p:nvPr/>
        </p:nvSpPr>
        <p:spPr>
          <a:xfrm>
            <a:off x="2547963" y="4852086"/>
            <a:ext cx="1008112"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rPr>
              <a:t>38F04H</a:t>
            </a:r>
            <a:endParaRPr lang="zh-CN" altLang="en-US" sz="14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44" name="文本框 6"/>
          <p:cNvSpPr txBox="1"/>
          <p:nvPr/>
        </p:nvSpPr>
        <p:spPr>
          <a:xfrm>
            <a:off x="6477698" y="5214085"/>
            <a:ext cx="1008112"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Bit</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47" name="文本框 6"/>
          <p:cNvSpPr txBox="1"/>
          <p:nvPr/>
        </p:nvSpPr>
        <p:spPr>
          <a:xfrm>
            <a:off x="3598609"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7</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48" name="文本框 6"/>
          <p:cNvSpPr txBox="1"/>
          <p:nvPr/>
        </p:nvSpPr>
        <p:spPr>
          <a:xfrm>
            <a:off x="3936341"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6</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49" name="文本框 6"/>
          <p:cNvSpPr txBox="1"/>
          <p:nvPr/>
        </p:nvSpPr>
        <p:spPr>
          <a:xfrm>
            <a:off x="4337684"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5</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50" name="文本框 6"/>
          <p:cNvSpPr txBox="1"/>
          <p:nvPr/>
        </p:nvSpPr>
        <p:spPr>
          <a:xfrm>
            <a:off x="4681527"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4</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51" name="文本框 6"/>
          <p:cNvSpPr txBox="1"/>
          <p:nvPr/>
        </p:nvSpPr>
        <p:spPr>
          <a:xfrm>
            <a:off x="5068243"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3</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52" name="文本框 6"/>
          <p:cNvSpPr txBox="1"/>
          <p:nvPr/>
        </p:nvSpPr>
        <p:spPr>
          <a:xfrm>
            <a:off x="5412205"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2</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53" name="文本框 6"/>
          <p:cNvSpPr txBox="1"/>
          <p:nvPr/>
        </p:nvSpPr>
        <p:spPr>
          <a:xfrm>
            <a:off x="5788323"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1</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54" name="文本框 6"/>
          <p:cNvSpPr txBox="1"/>
          <p:nvPr/>
        </p:nvSpPr>
        <p:spPr>
          <a:xfrm>
            <a:off x="6148363" y="5229200"/>
            <a:ext cx="331840"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rPr>
              <a:t>0</a:t>
            </a:r>
            <a:endParaRPr lang="zh-CN" altLang="en-US" sz="1400" b="1" kern="100" dirty="0">
              <a:solidFill>
                <a:schemeClr val="tx1">
                  <a:lumMod val="65000"/>
                  <a:lumOff val="35000"/>
                </a:schemeClr>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60" name="矩形 59"/>
          <p:cNvSpPr/>
          <p:nvPr/>
        </p:nvSpPr>
        <p:spPr>
          <a:xfrm>
            <a:off x="1857172" y="6021288"/>
            <a:ext cx="5595148" cy="584775"/>
          </a:xfrm>
          <a:prstGeom prst="rect">
            <a:avLst/>
          </a:prstGeom>
          <a:noFill/>
        </p:spPr>
        <p:txBody>
          <a:bodyPr wrap="square" lIns="91440" tIns="45720" rIns="91440" bIns="45720">
            <a:spAutoFit/>
          </a:bodyPr>
          <a:lstStyle/>
          <a:p>
            <a:r>
              <a:rPr lang="zh-CN" altLang="en-US" sz="1600" b="1" dirty="0">
                <a:ln w="17780" cmpd="sng">
                  <a:noFill/>
                  <a:prstDash val="solid"/>
                  <a:miter lim="800000"/>
                </a:ln>
                <a:solidFill>
                  <a:srgbClr val="1D8DE5"/>
                </a:solidFill>
                <a:latin typeface="微软雅黑" pitchFamily="34" charset="-122"/>
                <a:ea typeface="微软雅黑" pitchFamily="34" charset="-122"/>
              </a:rPr>
              <a:t>字、双字、四字分别占</a:t>
            </a:r>
            <a:r>
              <a:rPr lang="en-US" altLang="zh-CN" sz="1600" b="1" dirty="0">
                <a:ln w="17780" cmpd="sng">
                  <a:noFill/>
                  <a:prstDash val="solid"/>
                  <a:miter lim="800000"/>
                </a:ln>
                <a:solidFill>
                  <a:srgbClr val="FF0000"/>
                </a:solidFill>
                <a:latin typeface="微软雅黑" pitchFamily="34" charset="-122"/>
                <a:ea typeface="微软雅黑" pitchFamily="34" charset="-122"/>
              </a:rPr>
              <a:t>2</a:t>
            </a:r>
            <a:r>
              <a:rPr lang="zh-CN" altLang="en-US" sz="1600" b="1" dirty="0">
                <a:ln w="17780" cmpd="sng">
                  <a:noFill/>
                  <a:prstDash val="solid"/>
                  <a:miter lim="800000"/>
                </a:ln>
                <a:solidFill>
                  <a:srgbClr val="FF0000"/>
                </a:solidFill>
                <a:latin typeface="微软雅黑" pitchFamily="34" charset="-122"/>
                <a:ea typeface="微软雅黑" pitchFamily="34" charset="-122"/>
              </a:rPr>
              <a:t>、</a:t>
            </a:r>
            <a:r>
              <a:rPr lang="en-US" altLang="zh-CN" sz="1600" b="1" dirty="0">
                <a:ln w="17780" cmpd="sng">
                  <a:noFill/>
                  <a:prstDash val="solid"/>
                  <a:miter lim="800000"/>
                </a:ln>
                <a:solidFill>
                  <a:srgbClr val="FF0000"/>
                </a:solidFill>
                <a:latin typeface="微软雅黑" pitchFamily="34" charset="-122"/>
                <a:ea typeface="微软雅黑" pitchFamily="34" charset="-122"/>
              </a:rPr>
              <a:t>4</a:t>
            </a:r>
            <a:r>
              <a:rPr lang="zh-CN" altLang="en-US" sz="1600" b="1" dirty="0">
                <a:ln w="17780" cmpd="sng">
                  <a:noFill/>
                  <a:prstDash val="solid"/>
                  <a:miter lim="800000"/>
                </a:ln>
                <a:solidFill>
                  <a:srgbClr val="FF0000"/>
                </a:solidFill>
                <a:latin typeface="微软雅黑" pitchFamily="34" charset="-122"/>
                <a:ea typeface="微软雅黑" pitchFamily="34" charset="-122"/>
              </a:rPr>
              <a:t>、</a:t>
            </a:r>
            <a:r>
              <a:rPr lang="en-US" altLang="zh-CN" sz="1600" b="1" dirty="0">
                <a:ln w="17780" cmpd="sng">
                  <a:noFill/>
                  <a:prstDash val="solid"/>
                  <a:miter lim="800000"/>
                </a:ln>
                <a:solidFill>
                  <a:srgbClr val="FF0000"/>
                </a:solidFill>
                <a:latin typeface="微软雅黑" pitchFamily="34" charset="-122"/>
                <a:ea typeface="微软雅黑" pitchFamily="34" charset="-122"/>
              </a:rPr>
              <a:t>8</a:t>
            </a:r>
            <a:r>
              <a:rPr lang="zh-CN" altLang="en-US" sz="1600" b="1" dirty="0">
                <a:ln w="17780" cmpd="sng">
                  <a:noFill/>
                  <a:prstDash val="solid"/>
                  <a:miter lim="800000"/>
                </a:ln>
                <a:solidFill>
                  <a:srgbClr val="1D8DE5"/>
                </a:solidFill>
                <a:latin typeface="微软雅黑" pitchFamily="34" charset="-122"/>
                <a:ea typeface="微软雅黑" pitchFamily="34" charset="-122"/>
              </a:rPr>
              <a:t>个字节，其地址指的是它的起始地址，存放规则是</a:t>
            </a:r>
            <a:r>
              <a:rPr lang="zh-CN" altLang="en-US" sz="1600" b="1" dirty="0">
                <a:ln w="17780" cmpd="sng">
                  <a:noFill/>
                  <a:prstDash val="solid"/>
                  <a:miter lim="800000"/>
                </a:ln>
                <a:solidFill>
                  <a:srgbClr val="FF0000"/>
                </a:solidFill>
                <a:latin typeface="微软雅黑" pitchFamily="34" charset="-122"/>
                <a:ea typeface="微软雅黑" pitchFamily="34" charset="-122"/>
              </a:rPr>
              <a:t>高位放在高地址，低位放在低地址</a:t>
            </a:r>
            <a:r>
              <a:rPr lang="zh-CN" altLang="en-US" sz="1600" b="1" dirty="0">
                <a:ln w="17780" cmpd="sng">
                  <a:noFill/>
                  <a:prstDash val="solid"/>
                  <a:miter lim="800000"/>
                </a:ln>
                <a:solidFill>
                  <a:srgbClr val="1D8DE5"/>
                </a:solidFill>
                <a:latin typeface="微软雅黑" pitchFamily="34" charset="-122"/>
                <a:ea typeface="微软雅黑" pitchFamily="34" charset="-122"/>
              </a:rPr>
              <a:t>。</a:t>
            </a:r>
          </a:p>
        </p:txBody>
      </p:sp>
      <p:sp>
        <p:nvSpPr>
          <p:cNvPr id="62" name="矩形 61"/>
          <p:cNvSpPr/>
          <p:nvPr/>
        </p:nvSpPr>
        <p:spPr>
          <a:xfrm>
            <a:off x="4342180" y="2080349"/>
            <a:ext cx="1398748" cy="461665"/>
          </a:xfrm>
          <a:prstGeom prst="rect">
            <a:avLst/>
          </a:prstGeom>
        </p:spPr>
        <p:txBody>
          <a:bodyPr wrap="square">
            <a:spAutoFit/>
          </a:bodyPr>
          <a:lstStyle/>
          <a:p>
            <a:pPr algn="ctr"/>
            <a:r>
              <a:rPr lang="zh-CN" altLang="en-US" sz="2400" b="1" dirty="0">
                <a:solidFill>
                  <a:srgbClr val="FF0000"/>
                </a:solidFill>
                <a:ea typeface="微软雅黑" panose="020B0503020204020204" pitchFamily="34" charset="-122"/>
              </a:rPr>
              <a:t>存储体</a:t>
            </a:r>
            <a:endParaRPr lang="zh-CN" altLang="en-US" sz="2400" dirty="0">
              <a:solidFill>
                <a:srgbClr val="FF0000"/>
              </a:solidFill>
            </a:endParaRPr>
          </a:p>
        </p:txBody>
      </p:sp>
      <p:sp>
        <p:nvSpPr>
          <p:cNvPr id="45" name="圆角矩形 44"/>
          <p:cNvSpPr/>
          <p:nvPr/>
        </p:nvSpPr>
        <p:spPr>
          <a:xfrm>
            <a:off x="356388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46" name="圆角矩形 45"/>
          <p:cNvSpPr/>
          <p:nvPr/>
        </p:nvSpPr>
        <p:spPr>
          <a:xfrm>
            <a:off x="392392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55" name="圆角矩形 54"/>
          <p:cNvSpPr/>
          <p:nvPr/>
        </p:nvSpPr>
        <p:spPr>
          <a:xfrm>
            <a:off x="428396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56" name="圆角矩形 55"/>
          <p:cNvSpPr/>
          <p:nvPr/>
        </p:nvSpPr>
        <p:spPr>
          <a:xfrm>
            <a:off x="464400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57" name="圆角矩形 56"/>
          <p:cNvSpPr/>
          <p:nvPr/>
        </p:nvSpPr>
        <p:spPr>
          <a:xfrm>
            <a:off x="500404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58" name="圆角矩形 57"/>
          <p:cNvSpPr/>
          <p:nvPr/>
        </p:nvSpPr>
        <p:spPr>
          <a:xfrm>
            <a:off x="536408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59" name="圆角矩形 58"/>
          <p:cNvSpPr/>
          <p:nvPr/>
        </p:nvSpPr>
        <p:spPr>
          <a:xfrm>
            <a:off x="572412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61" name="圆角矩形 60"/>
          <p:cNvSpPr/>
          <p:nvPr/>
        </p:nvSpPr>
        <p:spPr>
          <a:xfrm>
            <a:off x="6084168" y="3140968"/>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63" name="文本框 6"/>
          <p:cNvSpPr txBox="1"/>
          <p:nvPr/>
        </p:nvSpPr>
        <p:spPr>
          <a:xfrm>
            <a:off x="2555776" y="4329068"/>
            <a:ext cx="1008112"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rPr>
              <a:t>38F03H</a:t>
            </a:r>
            <a:endParaRPr lang="zh-CN" altLang="en-US" sz="14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64" name="文本框 6"/>
          <p:cNvSpPr txBox="1"/>
          <p:nvPr/>
        </p:nvSpPr>
        <p:spPr>
          <a:xfrm>
            <a:off x="2555776" y="3789040"/>
            <a:ext cx="1008112"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rPr>
              <a:t>38F02H</a:t>
            </a:r>
            <a:endParaRPr lang="zh-CN" altLang="en-US" sz="14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65" name="文本框 6"/>
          <p:cNvSpPr txBox="1"/>
          <p:nvPr/>
        </p:nvSpPr>
        <p:spPr>
          <a:xfrm>
            <a:off x="2555776" y="3248948"/>
            <a:ext cx="1008112"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rPr>
              <a:t>38F01H</a:t>
            </a:r>
            <a:endParaRPr lang="zh-CN" altLang="en-US" sz="14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66" name="文本框 6"/>
          <p:cNvSpPr txBox="1"/>
          <p:nvPr/>
        </p:nvSpPr>
        <p:spPr>
          <a:xfrm>
            <a:off x="2555776" y="2708920"/>
            <a:ext cx="1008112" cy="3960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en-US" altLang="zh-CN" sz="20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rPr>
              <a:t>38F00H</a:t>
            </a:r>
            <a:endParaRPr lang="zh-CN" altLang="en-US" sz="1400" b="1" kern="100" dirty="0">
              <a:solidFill>
                <a:srgbClr val="00B050"/>
              </a:solidFill>
              <a:latin typeface="Times New Roman" panose="02020603050405020304" pitchFamily="18" charset="0"/>
              <a:ea typeface="微软雅黑" panose="020B0503020204020204" pitchFamily="34" charset="-122"/>
              <a:cs typeface="宋体" panose="02010600030101010101" pitchFamily="2" charset="-122"/>
            </a:endParaRPr>
          </a:p>
        </p:txBody>
      </p:sp>
      <p:sp>
        <p:nvSpPr>
          <p:cNvPr id="67" name="文本框 6"/>
          <p:cNvSpPr txBox="1"/>
          <p:nvPr/>
        </p:nvSpPr>
        <p:spPr>
          <a:xfrm>
            <a:off x="611560" y="1773533"/>
            <a:ext cx="1512168" cy="431331"/>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zh-CN" altLang="en-US" sz="2000" b="1" kern="100" dirty="0">
                <a:solidFill>
                  <a:srgbClr val="1D8DE5"/>
                </a:solidFill>
                <a:latin typeface="Times New Roman" panose="02020603050405020304" pitchFamily="18" charset="0"/>
                <a:ea typeface="微软雅黑" panose="020B0503020204020204" pitchFamily="34" charset="-122"/>
                <a:cs typeface="宋体" panose="02010600030101010101" pitchFamily="2" charset="-122"/>
              </a:rPr>
              <a:t>物理地址</a:t>
            </a:r>
          </a:p>
        </p:txBody>
      </p:sp>
      <p:cxnSp>
        <p:nvCxnSpPr>
          <p:cNvPr id="68" name="直接连接符 67"/>
          <p:cNvCxnSpPr/>
          <p:nvPr/>
        </p:nvCxnSpPr>
        <p:spPr>
          <a:xfrm flipV="1">
            <a:off x="643943" y="2151407"/>
            <a:ext cx="1447973" cy="2991"/>
          </a:xfrm>
          <a:prstGeom prst="line">
            <a:avLst/>
          </a:prstGeom>
          <a:noFill/>
          <a:ln w="9525" cap="flat" cmpd="sng">
            <a:solidFill>
              <a:srgbClr val="C00000"/>
            </a:solidFill>
            <a:prstDash val="dash"/>
            <a:round/>
            <a:headEnd type="oval" w="med" len="med"/>
            <a:tailEnd type="oval"/>
          </a:ln>
          <a:extLst>
            <a:ext uri="{909E8E84-426E-40DD-AFC4-6F175D3DCCD1}">
              <a14:hiddenFill xmlns:a14="http://schemas.microsoft.com/office/drawing/2010/main">
                <a:noFill/>
              </a14:hiddenFill>
            </a:ext>
          </a:extLst>
        </p:spPr>
      </p:cxnSp>
      <p:cxnSp>
        <p:nvCxnSpPr>
          <p:cNvPr id="69" name="直接连接符 68"/>
          <p:cNvCxnSpPr/>
          <p:nvPr/>
        </p:nvCxnSpPr>
        <p:spPr>
          <a:xfrm>
            <a:off x="2091916" y="2154398"/>
            <a:ext cx="495672" cy="672934"/>
          </a:xfrm>
          <a:prstGeom prst="line">
            <a:avLst/>
          </a:prstGeom>
          <a:noFill/>
          <a:ln w="9525" cap="flat" cmpd="sng">
            <a:solidFill>
              <a:srgbClr val="C00000"/>
            </a:solidFill>
            <a:prstDash val="dash"/>
            <a:round/>
            <a:headEnd type="oval" w="med" len="med"/>
            <a:tailEnd type="oval"/>
          </a:ln>
          <a:extLst>
            <a:ext uri="{909E8E84-426E-40DD-AFC4-6F175D3DCCD1}">
              <a14:hiddenFill xmlns:a14="http://schemas.microsoft.com/office/drawing/2010/main">
                <a:noFill/>
              </a14:hiddenFill>
            </a:ext>
          </a:extLst>
        </p:spPr>
      </p:cxnSp>
      <p:pic>
        <p:nvPicPr>
          <p:cNvPr id="81" name="Picture 2" descr="C:\Documents and Settings\tdz\桌面\未标题-1 拷贝.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99592" y="5733256"/>
            <a:ext cx="834828" cy="782571"/>
          </a:xfrm>
          <a:prstGeom prst="rect">
            <a:avLst/>
          </a:prstGeom>
          <a:noFill/>
          <a:extLst>
            <a:ext uri="{909E8E84-426E-40DD-AFC4-6F175D3DCCD1}">
              <a14:hiddenFill xmlns:a14="http://schemas.microsoft.com/office/drawing/2010/main">
                <a:solidFill>
                  <a:srgbClr val="FFFFFF"/>
                </a:solidFill>
              </a14:hiddenFill>
            </a:ext>
          </a:extLst>
        </p:spPr>
      </p:pic>
      <p:sp>
        <p:nvSpPr>
          <p:cNvPr id="70" name="圆角矩形 69"/>
          <p:cNvSpPr/>
          <p:nvPr/>
        </p:nvSpPr>
        <p:spPr>
          <a:xfrm>
            <a:off x="3556075" y="3669319"/>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72" name="圆角矩形 71"/>
          <p:cNvSpPr/>
          <p:nvPr/>
        </p:nvSpPr>
        <p:spPr>
          <a:xfrm>
            <a:off x="3916115" y="3669319"/>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73" name="圆角矩形 72"/>
          <p:cNvSpPr/>
          <p:nvPr/>
        </p:nvSpPr>
        <p:spPr>
          <a:xfrm>
            <a:off x="4276155" y="3669319"/>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74" name="圆角矩形 73"/>
          <p:cNvSpPr/>
          <p:nvPr/>
        </p:nvSpPr>
        <p:spPr>
          <a:xfrm>
            <a:off x="4636195" y="3669319"/>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75" name="圆角矩形 74"/>
          <p:cNvSpPr/>
          <p:nvPr/>
        </p:nvSpPr>
        <p:spPr>
          <a:xfrm>
            <a:off x="4996235" y="3669319"/>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76" name="圆角矩形 75"/>
          <p:cNvSpPr/>
          <p:nvPr/>
        </p:nvSpPr>
        <p:spPr>
          <a:xfrm>
            <a:off x="5356275" y="3669319"/>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77" name="圆角矩形 76"/>
          <p:cNvSpPr/>
          <p:nvPr/>
        </p:nvSpPr>
        <p:spPr>
          <a:xfrm>
            <a:off x="5716315" y="3669319"/>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78" name="圆角矩形 77"/>
          <p:cNvSpPr/>
          <p:nvPr/>
        </p:nvSpPr>
        <p:spPr>
          <a:xfrm>
            <a:off x="6076355" y="3669319"/>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79" name="圆角矩形 78"/>
          <p:cNvSpPr/>
          <p:nvPr/>
        </p:nvSpPr>
        <p:spPr>
          <a:xfrm>
            <a:off x="3556075" y="4195496"/>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80" name="圆角矩形 79"/>
          <p:cNvSpPr/>
          <p:nvPr/>
        </p:nvSpPr>
        <p:spPr>
          <a:xfrm>
            <a:off x="3916115" y="4195496"/>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82" name="圆角矩形 81"/>
          <p:cNvSpPr/>
          <p:nvPr/>
        </p:nvSpPr>
        <p:spPr>
          <a:xfrm>
            <a:off x="4276155" y="4195496"/>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83" name="圆角矩形 82"/>
          <p:cNvSpPr/>
          <p:nvPr/>
        </p:nvSpPr>
        <p:spPr>
          <a:xfrm>
            <a:off x="4636195" y="4195496"/>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84" name="圆角矩形 83"/>
          <p:cNvSpPr/>
          <p:nvPr/>
        </p:nvSpPr>
        <p:spPr>
          <a:xfrm>
            <a:off x="4996235" y="4195496"/>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0</a:t>
            </a:r>
            <a:endParaRPr lang="zh-CN" altLang="en-US" sz="3200" b="1" dirty="0">
              <a:ea typeface="微软雅黑" panose="020B0503020204020204" pitchFamily="34" charset="-122"/>
            </a:endParaRPr>
          </a:p>
        </p:txBody>
      </p:sp>
      <p:sp>
        <p:nvSpPr>
          <p:cNvPr id="85" name="圆角矩形 84"/>
          <p:cNvSpPr/>
          <p:nvPr/>
        </p:nvSpPr>
        <p:spPr>
          <a:xfrm>
            <a:off x="5356275" y="4195496"/>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86" name="圆角矩形 85"/>
          <p:cNvSpPr/>
          <p:nvPr/>
        </p:nvSpPr>
        <p:spPr>
          <a:xfrm>
            <a:off x="5716315" y="4195496"/>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sp>
        <p:nvSpPr>
          <p:cNvPr id="87" name="圆角矩形 86"/>
          <p:cNvSpPr/>
          <p:nvPr/>
        </p:nvSpPr>
        <p:spPr>
          <a:xfrm>
            <a:off x="6076355" y="4195496"/>
            <a:ext cx="432048" cy="507464"/>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ea typeface="微软雅黑" panose="020B0503020204020204" pitchFamily="34" charset="-122"/>
              </a:rPr>
              <a:t>1</a:t>
            </a:r>
            <a:endParaRPr lang="zh-CN" altLang="en-US" sz="3200" b="1" dirty="0">
              <a:ea typeface="微软雅黑" panose="020B0503020204020204" pitchFamily="34" charset="-122"/>
            </a:endParaRPr>
          </a:p>
        </p:txBody>
      </p:sp>
      <p:pic>
        <p:nvPicPr>
          <p:cNvPr id="88" name="图片 87" descr="问号01.png"/>
          <p:cNvPicPr>
            <a:picLocks noChangeAspect="1"/>
          </p:cNvPicPr>
          <p:nvPr/>
        </p:nvPicPr>
        <p:blipFill>
          <a:blip r:embed="rId4"/>
          <a:stretch>
            <a:fillRect/>
          </a:stretch>
        </p:blipFill>
        <p:spPr>
          <a:xfrm>
            <a:off x="7176689" y="3815159"/>
            <a:ext cx="1355751" cy="1054001"/>
          </a:xfrm>
          <a:prstGeom prst="rect">
            <a:avLst/>
          </a:prstGeom>
        </p:spPr>
      </p:pic>
      <p:sp>
        <p:nvSpPr>
          <p:cNvPr id="89" name="Text Box 44"/>
          <p:cNvSpPr txBox="1">
            <a:spLocks noChangeArrowheads="1"/>
          </p:cNvSpPr>
          <p:nvPr/>
        </p:nvSpPr>
        <p:spPr bwMode="auto">
          <a:xfrm>
            <a:off x="6444208" y="1412776"/>
            <a:ext cx="2664296" cy="1214179"/>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indent="0"/>
            <a:r>
              <a:rPr lang="zh-CN" altLang="en-US" sz="1800" b="1" dirty="0">
                <a:solidFill>
                  <a:schemeClr val="tx1">
                    <a:lumMod val="65000"/>
                    <a:lumOff val="35000"/>
                  </a:schemeClr>
                </a:solidFill>
              </a:rPr>
              <a:t>写出地址为</a:t>
            </a:r>
            <a:r>
              <a:rPr lang="en-US" altLang="zh-CN" sz="1800" b="1" dirty="0">
                <a:solidFill>
                  <a:srgbClr val="FF0000"/>
                </a:solidFill>
              </a:rPr>
              <a:t>38F00H</a:t>
            </a:r>
            <a:r>
              <a:rPr lang="zh-CN" altLang="en-US" sz="1800" b="1" dirty="0">
                <a:solidFill>
                  <a:schemeClr val="tx1">
                    <a:lumMod val="65000"/>
                    <a:lumOff val="35000"/>
                  </a:schemeClr>
                </a:solidFill>
              </a:rPr>
              <a:t>开始的一个字节（字、双字）存储单元的内容</a:t>
            </a:r>
            <a:r>
              <a:rPr lang="zh-CN" altLang="en-US" sz="1800" b="1" u="sng" dirty="0">
                <a:solidFill>
                  <a:srgbClr val="FF0000"/>
                </a:solidFill>
              </a:rPr>
              <a:t>           </a:t>
            </a:r>
            <a:r>
              <a:rPr lang="zh-CN" altLang="en-US" sz="1800" b="1" dirty="0">
                <a:solidFill>
                  <a:schemeClr val="tx1">
                    <a:lumMod val="65000"/>
                    <a:lumOff val="35000"/>
                  </a:schemeClr>
                </a:solidFill>
              </a:rPr>
              <a:t>。</a:t>
            </a:r>
          </a:p>
        </p:txBody>
      </p:sp>
      <p:sp>
        <p:nvSpPr>
          <p:cNvPr id="90" name="TextBox 17"/>
          <p:cNvSpPr txBox="1"/>
          <p:nvPr/>
        </p:nvSpPr>
        <p:spPr>
          <a:xfrm>
            <a:off x="467544" y="3429000"/>
            <a:ext cx="2018729" cy="911019"/>
          </a:xfrm>
          <a:prstGeom prst="rect">
            <a:avLst/>
          </a:prstGeom>
          <a:noFill/>
        </p:spPr>
        <p:txBody>
          <a:bodyPr wrap="square">
            <a:spAutoFit/>
          </a:bodyPr>
          <a:lstStyle/>
          <a:p>
            <a:pPr>
              <a:lnSpc>
                <a:spcPct val="133000"/>
              </a:lnSpc>
              <a:defRPr/>
            </a:pPr>
            <a:r>
              <a:rPr lang="zh-CN" altLang="en-US" sz="2000" b="1" kern="100" dirty="0">
                <a:solidFill>
                  <a:srgbClr val="1D8DE5"/>
                </a:solidFill>
                <a:latin typeface="Times New Roman" panose="02020603050405020304" pitchFamily="18" charset="0"/>
                <a:ea typeface="微软雅黑" panose="020B0503020204020204" pitchFamily="34" charset="-122"/>
                <a:cs typeface="宋体" panose="02010600030101010101" pitchFamily="2" charset="-122"/>
              </a:rPr>
              <a:t>物理地址与存储单元一一对应</a:t>
            </a:r>
          </a:p>
        </p:txBody>
      </p:sp>
      <p:cxnSp>
        <p:nvCxnSpPr>
          <p:cNvPr id="91" name="直接连接符 90"/>
          <p:cNvCxnSpPr/>
          <p:nvPr/>
        </p:nvCxnSpPr>
        <p:spPr>
          <a:xfrm flipV="1">
            <a:off x="684139" y="4337251"/>
            <a:ext cx="1447973" cy="2991"/>
          </a:xfrm>
          <a:prstGeom prst="line">
            <a:avLst/>
          </a:prstGeom>
          <a:noFill/>
          <a:ln w="9525" cap="flat" cmpd="sng">
            <a:solidFill>
              <a:srgbClr val="C00000"/>
            </a:solidFill>
            <a:prstDash val="dash"/>
            <a:round/>
            <a:headEnd type="oval" w="med" len="med"/>
            <a:tailEnd type="oval"/>
          </a:ln>
          <a:extLst>
            <a:ext uri="{909E8E84-426E-40DD-AFC4-6F175D3DCCD1}">
              <a14:hiddenFill xmlns:a14="http://schemas.microsoft.com/office/drawing/2010/main">
                <a:noFill/>
              </a14:hiddenFill>
            </a:ext>
          </a:extLst>
        </p:spPr>
      </p:cxnSp>
      <p:cxnSp>
        <p:nvCxnSpPr>
          <p:cNvPr id="92" name="直接连接符 91"/>
          <p:cNvCxnSpPr/>
          <p:nvPr/>
        </p:nvCxnSpPr>
        <p:spPr>
          <a:xfrm>
            <a:off x="2132112" y="4340242"/>
            <a:ext cx="495672" cy="672934"/>
          </a:xfrm>
          <a:prstGeom prst="line">
            <a:avLst/>
          </a:prstGeom>
          <a:noFill/>
          <a:ln w="9525" cap="flat" cmpd="sng">
            <a:solidFill>
              <a:srgbClr val="C00000"/>
            </a:solidFill>
            <a:prstDash val="dash"/>
            <a:round/>
            <a:headEnd type="oval" w="med" len="med"/>
            <a:tailEnd type="oval"/>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838612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1000"/>
                                        <p:tgtEl>
                                          <p:spTgt spid="60"/>
                                        </p:tgtEl>
                                      </p:cBhvr>
                                    </p:animEffect>
                                    <p:anim calcmode="lin" valueType="num">
                                      <p:cBhvr>
                                        <p:cTn id="8" dur="1000" fill="hold"/>
                                        <p:tgtEl>
                                          <p:spTgt spid="60"/>
                                        </p:tgtEl>
                                        <p:attrNameLst>
                                          <p:attrName>ppt_x</p:attrName>
                                        </p:attrNameLst>
                                      </p:cBhvr>
                                      <p:tavLst>
                                        <p:tav tm="0">
                                          <p:val>
                                            <p:strVal val="#ppt_x"/>
                                          </p:val>
                                        </p:tav>
                                        <p:tav tm="100000">
                                          <p:val>
                                            <p:strVal val="#ppt_x"/>
                                          </p:val>
                                        </p:tav>
                                      </p:tavLst>
                                    </p:anim>
                                    <p:anim calcmode="lin" valueType="num">
                                      <p:cBhvr>
                                        <p:cTn id="9" dur="1000" fill="hold"/>
                                        <p:tgtEl>
                                          <p:spTgt spid="6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1"/>
                                        </p:tgtEl>
                                        <p:attrNameLst>
                                          <p:attrName>style.visibility</p:attrName>
                                        </p:attrNameLst>
                                      </p:cBhvr>
                                      <p:to>
                                        <p:strVal val="visible"/>
                                      </p:to>
                                    </p:set>
                                    <p:animEffect transition="in" filter="fade">
                                      <p:cBhvr>
                                        <p:cTn id="12" dur="1000"/>
                                        <p:tgtEl>
                                          <p:spTgt spid="81"/>
                                        </p:tgtEl>
                                      </p:cBhvr>
                                    </p:animEffect>
                                    <p:anim calcmode="lin" valueType="num">
                                      <p:cBhvr>
                                        <p:cTn id="13" dur="1000" fill="hold"/>
                                        <p:tgtEl>
                                          <p:spTgt spid="81"/>
                                        </p:tgtEl>
                                        <p:attrNameLst>
                                          <p:attrName>ppt_x</p:attrName>
                                        </p:attrNameLst>
                                      </p:cBhvr>
                                      <p:tavLst>
                                        <p:tav tm="0">
                                          <p:val>
                                            <p:strVal val="#ppt_x"/>
                                          </p:val>
                                        </p:tav>
                                        <p:tav tm="100000">
                                          <p:val>
                                            <p:strVal val="#ppt_x"/>
                                          </p:val>
                                        </p:tav>
                                      </p:tavLst>
                                    </p:anim>
                                    <p:anim calcmode="lin" valueType="num">
                                      <p:cBhvr>
                                        <p:cTn id="14"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89"/>
                                        </p:tgtEl>
                                        <p:attrNameLst>
                                          <p:attrName>style.visibility</p:attrName>
                                        </p:attrNameLst>
                                      </p:cBhvr>
                                      <p:to>
                                        <p:strVal val="visible"/>
                                      </p:to>
                                    </p:set>
                                    <p:anim calcmode="lin" valueType="num">
                                      <p:cBhvr>
                                        <p:cTn id="19" dur="1000" fill="hold"/>
                                        <p:tgtEl>
                                          <p:spTgt spid="89"/>
                                        </p:tgtEl>
                                        <p:attrNameLst>
                                          <p:attrName>ppt_w</p:attrName>
                                        </p:attrNameLst>
                                      </p:cBhvr>
                                      <p:tavLst>
                                        <p:tav tm="0">
                                          <p:val>
                                            <p:fltVal val="0"/>
                                          </p:val>
                                        </p:tav>
                                        <p:tav tm="100000">
                                          <p:val>
                                            <p:strVal val="#ppt_w"/>
                                          </p:val>
                                        </p:tav>
                                      </p:tavLst>
                                    </p:anim>
                                    <p:anim calcmode="lin" valueType="num">
                                      <p:cBhvr>
                                        <p:cTn id="20" dur="1000" fill="hold"/>
                                        <p:tgtEl>
                                          <p:spTgt spid="89"/>
                                        </p:tgtEl>
                                        <p:attrNameLst>
                                          <p:attrName>ppt_h</p:attrName>
                                        </p:attrNameLst>
                                      </p:cBhvr>
                                      <p:tavLst>
                                        <p:tav tm="0">
                                          <p:val>
                                            <p:fltVal val="0"/>
                                          </p:val>
                                        </p:tav>
                                        <p:tav tm="100000">
                                          <p:val>
                                            <p:strVal val="#ppt_h"/>
                                          </p:val>
                                        </p:tav>
                                      </p:tavLst>
                                    </p:anim>
                                    <p:anim calcmode="lin" valueType="num">
                                      <p:cBhvr>
                                        <p:cTn id="21" dur="1000" fill="hold"/>
                                        <p:tgtEl>
                                          <p:spTgt spid="89"/>
                                        </p:tgtEl>
                                        <p:attrNameLst>
                                          <p:attrName>style.rotation</p:attrName>
                                        </p:attrNameLst>
                                      </p:cBhvr>
                                      <p:tavLst>
                                        <p:tav tm="0">
                                          <p:val>
                                            <p:fltVal val="90"/>
                                          </p:val>
                                        </p:tav>
                                        <p:tav tm="100000">
                                          <p:val>
                                            <p:fltVal val="0"/>
                                          </p:val>
                                        </p:tav>
                                      </p:tavLst>
                                    </p:anim>
                                    <p:animEffect transition="in" filter="fade">
                                      <p:cBhvr>
                                        <p:cTn id="22" dur="1000"/>
                                        <p:tgtEl>
                                          <p:spTgt spid="89"/>
                                        </p:tgtEl>
                                      </p:cBhvr>
                                    </p:animEffect>
                                  </p:childTnLst>
                                </p:cTn>
                              </p:par>
                              <p:par>
                                <p:cTn id="23" presetID="31" presetClass="entr" presetSubtype="0" fill="hold" nodeType="withEffect">
                                  <p:stCondLst>
                                    <p:cond delay="0"/>
                                  </p:stCondLst>
                                  <p:childTnLst>
                                    <p:set>
                                      <p:cBhvr>
                                        <p:cTn id="24" dur="1" fill="hold">
                                          <p:stCondLst>
                                            <p:cond delay="0"/>
                                          </p:stCondLst>
                                        </p:cTn>
                                        <p:tgtEl>
                                          <p:spTgt spid="88"/>
                                        </p:tgtEl>
                                        <p:attrNameLst>
                                          <p:attrName>style.visibility</p:attrName>
                                        </p:attrNameLst>
                                      </p:cBhvr>
                                      <p:to>
                                        <p:strVal val="visible"/>
                                      </p:to>
                                    </p:set>
                                    <p:anim calcmode="lin" valueType="num">
                                      <p:cBhvr>
                                        <p:cTn id="25" dur="1000" fill="hold"/>
                                        <p:tgtEl>
                                          <p:spTgt spid="88"/>
                                        </p:tgtEl>
                                        <p:attrNameLst>
                                          <p:attrName>ppt_w</p:attrName>
                                        </p:attrNameLst>
                                      </p:cBhvr>
                                      <p:tavLst>
                                        <p:tav tm="0">
                                          <p:val>
                                            <p:fltVal val="0"/>
                                          </p:val>
                                        </p:tav>
                                        <p:tav tm="100000">
                                          <p:val>
                                            <p:strVal val="#ppt_w"/>
                                          </p:val>
                                        </p:tav>
                                      </p:tavLst>
                                    </p:anim>
                                    <p:anim calcmode="lin" valueType="num">
                                      <p:cBhvr>
                                        <p:cTn id="26" dur="1000" fill="hold"/>
                                        <p:tgtEl>
                                          <p:spTgt spid="88"/>
                                        </p:tgtEl>
                                        <p:attrNameLst>
                                          <p:attrName>ppt_h</p:attrName>
                                        </p:attrNameLst>
                                      </p:cBhvr>
                                      <p:tavLst>
                                        <p:tav tm="0">
                                          <p:val>
                                            <p:fltVal val="0"/>
                                          </p:val>
                                        </p:tav>
                                        <p:tav tm="100000">
                                          <p:val>
                                            <p:strVal val="#ppt_h"/>
                                          </p:val>
                                        </p:tav>
                                      </p:tavLst>
                                    </p:anim>
                                    <p:anim calcmode="lin" valueType="num">
                                      <p:cBhvr>
                                        <p:cTn id="27" dur="1000" fill="hold"/>
                                        <p:tgtEl>
                                          <p:spTgt spid="88"/>
                                        </p:tgtEl>
                                        <p:attrNameLst>
                                          <p:attrName>style.rotation</p:attrName>
                                        </p:attrNameLst>
                                      </p:cBhvr>
                                      <p:tavLst>
                                        <p:tav tm="0">
                                          <p:val>
                                            <p:fltVal val="90"/>
                                          </p:val>
                                        </p:tav>
                                        <p:tav tm="100000">
                                          <p:val>
                                            <p:fltVal val="0"/>
                                          </p:val>
                                        </p:tav>
                                      </p:tavLst>
                                    </p:anim>
                                    <p:animEffect transition="in" filter="fade">
                                      <p:cBhvr>
                                        <p:cTn id="28" dur="10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8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3" name="Rectangle 2"/>
          <p:cNvSpPr>
            <a:spLocks noChangeArrowheads="1"/>
          </p:cNvSpPr>
          <p:nvPr/>
        </p:nvSpPr>
        <p:spPr bwMode="auto">
          <a:xfrm>
            <a:off x="2909918" y="404664"/>
            <a:ext cx="3324163"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输入</a:t>
            </a:r>
            <a:r>
              <a:rPr lang="en-US" altLang="zh-CN" sz="3800" b="1" dirty="0">
                <a:solidFill>
                  <a:srgbClr val="00C4F0"/>
                </a:solidFill>
                <a:latin typeface="微软雅黑" pitchFamily="34" charset="-122"/>
                <a:ea typeface="微软雅黑" pitchFamily="34" charset="-122"/>
              </a:rPr>
              <a:t>/</a:t>
            </a:r>
            <a:r>
              <a:rPr lang="zh-CN" altLang="en-US" sz="3800" b="1" dirty="0">
                <a:solidFill>
                  <a:srgbClr val="00C4F0"/>
                </a:solidFill>
                <a:latin typeface="微软雅黑" pitchFamily="34" charset="-122"/>
                <a:ea typeface="微软雅黑" pitchFamily="34" charset="-122"/>
              </a:rPr>
              <a:t>输出接口</a:t>
            </a:r>
            <a:endParaRPr lang="zh-CN" altLang="en-US" sz="3200" b="1" dirty="0">
              <a:solidFill>
                <a:prstClr val="white">
                  <a:lumMod val="65000"/>
                </a:prstClr>
              </a:solidFill>
              <a:latin typeface="Arial"/>
              <a:ea typeface="微软雅黑" pitchFamily="34" charset="-122"/>
              <a:cs typeface="Arial"/>
            </a:endParaRPr>
          </a:p>
        </p:txBody>
      </p:sp>
      <p:sp>
        <p:nvSpPr>
          <p:cNvPr id="4" name="Dark Gray"/>
          <p:cNvSpPr/>
          <p:nvPr/>
        </p:nvSpPr>
        <p:spPr bwMode="auto">
          <a:xfrm>
            <a:off x="558892" y="1354054"/>
            <a:ext cx="8064896" cy="1224136"/>
          </a:xfrm>
          <a:prstGeom prst="roundRect">
            <a:avLst>
              <a:gd name="adj" fmla="val 0"/>
            </a:avLst>
          </a:prstGeom>
          <a:solidFill>
            <a:srgbClr val="ED7D31"/>
          </a:solidFill>
          <a:ln w="9525" cap="flat" cmpd="sng" algn="ctr">
            <a:noFill/>
            <a:prstDash val="solid"/>
            <a:headEnd type="none" w="med" len="med"/>
            <a:tailEnd type="none" w="med" len="med"/>
          </a:ln>
          <a:effectLst/>
        </p:spPr>
        <p:txBody>
          <a:bodyPr vert="horz" wrap="square" lIns="216000" tIns="34292" rIns="216000" bIns="34292" numCol="1" rtlCol="0" anchor="ctr" anchorCtr="0" compatLnSpc="1">
            <a:prstTxWarp prst="textNoShape">
              <a:avLst/>
            </a:prstTxWarp>
          </a:bodyPr>
          <a:lstStyle/>
          <a:p>
            <a:pPr indent="457200" defTabSz="685637" fontAlgn="base">
              <a:lnSpc>
                <a:spcPct val="120000"/>
              </a:lnSpc>
              <a:spcBef>
                <a:spcPct val="0"/>
              </a:spcBef>
              <a:spcAft>
                <a:spcPct val="0"/>
              </a:spcAft>
              <a:defRPr/>
            </a:pPr>
            <a:endParaRPr lang="en-US" sz="1600" b="1" kern="0" dirty="0">
              <a:solidFill>
                <a:schemeClr val="bg1"/>
              </a:solidFill>
              <a:latin typeface="微软雅黑" pitchFamily="34" charset="-122"/>
              <a:ea typeface="微软雅黑" pitchFamily="34" charset="-122"/>
              <a:cs typeface="Arial Unicode MS" pitchFamily="34" charset="-122"/>
            </a:endParaRPr>
          </a:p>
        </p:txBody>
      </p:sp>
      <p:sp>
        <p:nvSpPr>
          <p:cNvPr id="5" name="矩形 4"/>
          <p:cNvSpPr>
            <a:spLocks noChangeArrowheads="1"/>
          </p:cNvSpPr>
          <p:nvPr/>
        </p:nvSpPr>
        <p:spPr bwMode="auto">
          <a:xfrm>
            <a:off x="558892" y="1513985"/>
            <a:ext cx="8064896" cy="886397"/>
          </a:xfrm>
          <a:prstGeom prst="rect">
            <a:avLst/>
          </a:prstGeom>
          <a:noFill/>
          <a:ln w="9525">
            <a:noFill/>
            <a:prstDash val="dash"/>
            <a:miter lim="800000"/>
            <a:headEnd/>
            <a:tailEnd/>
          </a:ln>
        </p:spPr>
        <p:txBody>
          <a:bodyPr wrap="square">
            <a:spAutoFit/>
          </a:bodyPr>
          <a:lstStyle/>
          <a:p>
            <a:pPr>
              <a:lnSpc>
                <a:spcPct val="129000"/>
              </a:lnSpc>
              <a:spcAft>
                <a:spcPts val="600"/>
              </a:spcAft>
              <a:defRPr/>
            </a:pPr>
            <a:r>
              <a:rPr lang="zh-CN" altLang="en-US" sz="2000" b="1" dirty="0">
                <a:solidFill>
                  <a:schemeClr val="bg1"/>
                </a:solidFill>
                <a:latin typeface="微软雅黑" pitchFamily="34" charset="-122"/>
                <a:ea typeface="微软雅黑" pitchFamily="34" charset="-122"/>
              </a:rPr>
              <a:t>输入</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输出接口：简写为</a:t>
            </a:r>
            <a:r>
              <a:rPr lang="en-US" altLang="zh-CN" sz="2000" b="1" dirty="0">
                <a:solidFill>
                  <a:schemeClr val="bg1"/>
                </a:solidFill>
                <a:latin typeface="微软雅黑" pitchFamily="34" charset="-122"/>
                <a:ea typeface="微软雅黑" pitchFamily="34" charset="-122"/>
              </a:rPr>
              <a:t>I/O</a:t>
            </a:r>
            <a:r>
              <a:rPr lang="zh-CN" altLang="en-US" sz="2000" b="1" dirty="0">
                <a:solidFill>
                  <a:schemeClr val="bg1"/>
                </a:solidFill>
                <a:latin typeface="微软雅黑" pitchFamily="34" charset="-122"/>
                <a:ea typeface="微软雅黑" pitchFamily="34" charset="-122"/>
              </a:rPr>
              <a:t>接口，连接外设备和系统总线，完成信号转换、数据缓冲与</a:t>
            </a:r>
            <a:r>
              <a:rPr lang="en-US" altLang="zh-CN" sz="2000" b="1" dirty="0">
                <a:solidFill>
                  <a:schemeClr val="bg1"/>
                </a:solidFill>
                <a:latin typeface="微软雅黑" pitchFamily="34" charset="-122"/>
                <a:ea typeface="微软雅黑" pitchFamily="34" charset="-122"/>
              </a:rPr>
              <a:t>CPU</a:t>
            </a:r>
            <a:r>
              <a:rPr lang="zh-CN" altLang="en-US" sz="2000" b="1" dirty="0">
                <a:solidFill>
                  <a:schemeClr val="bg1"/>
                </a:solidFill>
                <a:latin typeface="微软雅黑" pitchFamily="34" charset="-122"/>
                <a:ea typeface="微软雅黑" pitchFamily="34" charset="-122"/>
              </a:rPr>
              <a:t>进行信号联络等工作，是</a:t>
            </a:r>
            <a:r>
              <a:rPr lang="en-US" altLang="zh-CN" sz="2000" b="1" dirty="0">
                <a:solidFill>
                  <a:schemeClr val="bg1"/>
                </a:solidFill>
                <a:latin typeface="微软雅黑" pitchFamily="34" charset="-122"/>
                <a:ea typeface="微软雅黑" pitchFamily="34" charset="-122"/>
              </a:rPr>
              <a:t>CPU</a:t>
            </a:r>
            <a:r>
              <a:rPr lang="zh-CN" altLang="en-US" sz="2000" b="1" dirty="0">
                <a:solidFill>
                  <a:schemeClr val="bg1"/>
                </a:solidFill>
                <a:latin typeface="微软雅黑" pitchFamily="34" charset="-122"/>
                <a:ea typeface="微软雅黑" pitchFamily="34" charset="-122"/>
              </a:rPr>
              <a:t>与外设间的桥梁。</a:t>
            </a:r>
          </a:p>
        </p:txBody>
      </p:sp>
      <p:sp>
        <p:nvSpPr>
          <p:cNvPr id="6" name="圆角矩形 5"/>
          <p:cNvSpPr/>
          <p:nvPr/>
        </p:nvSpPr>
        <p:spPr>
          <a:xfrm>
            <a:off x="1043608" y="4748977"/>
            <a:ext cx="1296144" cy="1296143"/>
          </a:xfrm>
          <a:prstGeom prst="roundRect">
            <a:avLst>
              <a:gd name="adj" fmla="val 4357"/>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ea typeface="微软雅黑" panose="020B0503020204020204" pitchFamily="34" charset="-122"/>
              </a:rPr>
              <a:t>CPU</a:t>
            </a:r>
            <a:endParaRPr lang="zh-CN" altLang="en-US" dirty="0">
              <a:ea typeface="微软雅黑" panose="020B0503020204020204" pitchFamily="34" charset="-122"/>
            </a:endParaRPr>
          </a:p>
        </p:txBody>
      </p:sp>
      <p:sp>
        <p:nvSpPr>
          <p:cNvPr id="7" name="圆角矩形 6"/>
          <p:cNvSpPr/>
          <p:nvPr/>
        </p:nvSpPr>
        <p:spPr>
          <a:xfrm>
            <a:off x="3697811" y="4725144"/>
            <a:ext cx="1296144" cy="1296143"/>
          </a:xfrm>
          <a:prstGeom prst="roundRect">
            <a:avLst>
              <a:gd name="adj" fmla="val 4357"/>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ea typeface="微软雅黑" panose="020B0503020204020204" pitchFamily="34" charset="-122"/>
              </a:rPr>
              <a:t>I/O</a:t>
            </a:r>
            <a:r>
              <a:rPr lang="zh-CN" altLang="en-US" sz="2400" b="1" dirty="0">
                <a:ea typeface="微软雅黑" panose="020B0503020204020204" pitchFamily="34" charset="-122"/>
              </a:rPr>
              <a:t>接口</a:t>
            </a:r>
          </a:p>
        </p:txBody>
      </p:sp>
      <p:sp>
        <p:nvSpPr>
          <p:cNvPr id="8" name="圆角矩形 7"/>
          <p:cNvSpPr/>
          <p:nvPr/>
        </p:nvSpPr>
        <p:spPr>
          <a:xfrm>
            <a:off x="6444208" y="4725144"/>
            <a:ext cx="1296144" cy="1296143"/>
          </a:xfrm>
          <a:prstGeom prst="roundRect">
            <a:avLst>
              <a:gd name="adj" fmla="val 43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ea typeface="微软雅黑" panose="020B0503020204020204" pitchFamily="34" charset="-122"/>
              </a:rPr>
              <a:t>外设</a:t>
            </a:r>
            <a:endParaRPr lang="zh-CN" altLang="en-US" b="1" dirty="0">
              <a:ea typeface="微软雅黑" panose="020B0503020204020204" pitchFamily="34" charset="-122"/>
            </a:endParaRPr>
          </a:p>
        </p:txBody>
      </p:sp>
      <p:sp>
        <p:nvSpPr>
          <p:cNvPr id="12" name="左右箭头 11"/>
          <p:cNvSpPr/>
          <p:nvPr/>
        </p:nvSpPr>
        <p:spPr>
          <a:xfrm>
            <a:off x="2339752" y="5156981"/>
            <a:ext cx="1409987" cy="432468"/>
          </a:xfrm>
          <a:prstGeom prst="lef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左右箭头 12"/>
          <p:cNvSpPr/>
          <p:nvPr/>
        </p:nvSpPr>
        <p:spPr>
          <a:xfrm>
            <a:off x="4981851" y="5156981"/>
            <a:ext cx="1462358" cy="432468"/>
          </a:xfrm>
          <a:prstGeom prst="lef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a:spLocks noChangeAspect="1"/>
          </p:cNvSpPr>
          <p:nvPr/>
        </p:nvSpPr>
        <p:spPr>
          <a:xfrm>
            <a:off x="558892" y="2893877"/>
            <a:ext cx="8064896" cy="1615243"/>
          </a:xfrm>
          <a:prstGeom prst="rect">
            <a:avLst/>
          </a:prstGeom>
          <a:ln>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dirty="0">
              <a:ea typeface="微软雅黑" panose="020B0503020204020204" pitchFamily="34" charset="-122"/>
            </a:endParaRPr>
          </a:p>
        </p:txBody>
      </p:sp>
      <p:sp>
        <p:nvSpPr>
          <p:cNvPr id="15" name="TextBox 17"/>
          <p:cNvSpPr txBox="1"/>
          <p:nvPr/>
        </p:nvSpPr>
        <p:spPr>
          <a:xfrm>
            <a:off x="1401237" y="3006824"/>
            <a:ext cx="7134353" cy="1197636"/>
          </a:xfrm>
          <a:prstGeom prst="rect">
            <a:avLst/>
          </a:prstGeom>
          <a:noFill/>
        </p:spPr>
        <p:txBody>
          <a:bodyPr wrap="square">
            <a:spAutoFit/>
          </a:bodyPr>
          <a:lstStyle/>
          <a:p>
            <a:pPr marL="342900" indent="-342900">
              <a:lnSpc>
                <a:spcPct val="133000"/>
              </a:lnSpc>
              <a:buFont typeface="+mj-lt"/>
              <a:buAutoNum type="arabicPeriod"/>
              <a:defRPr/>
            </a:pPr>
            <a:r>
              <a:rPr lang="zh-CN" altLang="en-US" b="1" dirty="0">
                <a:solidFill>
                  <a:schemeClr val="tx1">
                    <a:lumMod val="65000"/>
                    <a:lumOff val="35000"/>
                  </a:schemeClr>
                </a:solidFill>
                <a:latin typeface="微软雅黑" pitchFamily="34" charset="-122"/>
                <a:ea typeface="微软雅黑" pitchFamily="34" charset="-122"/>
              </a:rPr>
              <a:t>提供驱动外设的电压或电流；</a:t>
            </a:r>
            <a:endParaRPr lang="en-US" altLang="zh-CN" b="1" dirty="0">
              <a:solidFill>
                <a:schemeClr val="tx1">
                  <a:lumMod val="65000"/>
                  <a:lumOff val="35000"/>
                </a:schemeClr>
              </a:solidFill>
              <a:latin typeface="微软雅黑" pitchFamily="34" charset="-122"/>
              <a:ea typeface="微软雅黑" pitchFamily="34" charset="-122"/>
            </a:endParaRPr>
          </a:p>
          <a:p>
            <a:pPr marL="342900" indent="-342900">
              <a:lnSpc>
                <a:spcPct val="133000"/>
              </a:lnSpc>
              <a:buFont typeface="+mj-lt"/>
              <a:buAutoNum type="arabicPeriod"/>
              <a:defRPr/>
            </a:pPr>
            <a:r>
              <a:rPr lang="zh-CN" altLang="en-US" b="1" dirty="0">
                <a:solidFill>
                  <a:schemeClr val="tx1">
                    <a:lumMod val="65000"/>
                    <a:lumOff val="35000"/>
                  </a:schemeClr>
                </a:solidFill>
                <a:latin typeface="微软雅黑" pitchFamily="34" charset="-122"/>
                <a:ea typeface="微软雅黑" pitchFamily="34" charset="-122"/>
              </a:rPr>
              <a:t>匹配</a:t>
            </a:r>
            <a:r>
              <a:rPr lang="en-US" altLang="zh-CN" b="1" dirty="0">
                <a:solidFill>
                  <a:schemeClr val="tx1">
                    <a:lumMod val="65000"/>
                    <a:lumOff val="35000"/>
                  </a:schemeClr>
                </a:solidFill>
                <a:latin typeface="微软雅黑" pitchFamily="34" charset="-122"/>
                <a:ea typeface="微软雅黑" pitchFamily="34" charset="-122"/>
              </a:rPr>
              <a:t>CPU</a:t>
            </a:r>
            <a:r>
              <a:rPr lang="zh-CN" altLang="en-US" b="1" dirty="0">
                <a:solidFill>
                  <a:schemeClr val="tx1">
                    <a:lumMod val="65000"/>
                    <a:lumOff val="35000"/>
                  </a:schemeClr>
                </a:solidFill>
                <a:latin typeface="微软雅黑" pitchFamily="34" charset="-122"/>
                <a:ea typeface="微软雅黑" pitchFamily="34" charset="-122"/>
              </a:rPr>
              <a:t>与外设之间的信号电平、信号类型、数据格式等；</a:t>
            </a:r>
            <a:endParaRPr lang="en-US" altLang="zh-CN" b="1" dirty="0">
              <a:solidFill>
                <a:schemeClr val="tx1">
                  <a:lumMod val="65000"/>
                  <a:lumOff val="35000"/>
                </a:schemeClr>
              </a:solidFill>
              <a:latin typeface="微软雅黑" pitchFamily="34" charset="-122"/>
              <a:ea typeface="微软雅黑" pitchFamily="34" charset="-122"/>
            </a:endParaRPr>
          </a:p>
          <a:p>
            <a:pPr marL="342900" indent="-342900">
              <a:lnSpc>
                <a:spcPct val="133000"/>
              </a:lnSpc>
              <a:buFont typeface="+mj-lt"/>
              <a:buAutoNum type="arabicPeriod"/>
              <a:defRPr/>
            </a:pPr>
            <a:r>
              <a:rPr lang="zh-CN" altLang="en-US" b="1" dirty="0">
                <a:solidFill>
                  <a:schemeClr val="tx1">
                    <a:lumMod val="65000"/>
                    <a:lumOff val="35000"/>
                  </a:schemeClr>
                </a:solidFill>
                <a:latin typeface="微软雅黑" pitchFamily="34" charset="-122"/>
                <a:ea typeface="微软雅黑" pitchFamily="34" charset="-122"/>
              </a:rPr>
              <a:t>缓存发给外设的数据、控制命令和外设提供的运行状态信息。</a:t>
            </a:r>
            <a:endParaRPr lang="en-US" altLang="zh-CN" b="1" dirty="0">
              <a:solidFill>
                <a:schemeClr val="tx1">
                  <a:lumMod val="65000"/>
                  <a:lumOff val="35000"/>
                </a:schemeClr>
              </a:solidFill>
              <a:latin typeface="微软雅黑" pitchFamily="34" charset="-122"/>
              <a:ea typeface="微软雅黑" pitchFamily="34" charset="-122"/>
            </a:endParaRPr>
          </a:p>
        </p:txBody>
      </p:sp>
      <p:pic>
        <p:nvPicPr>
          <p:cNvPr id="16" name="Picture 2" descr="E:\仝德志文件，勿删！\03-参考文档\！PPT图片及版面资源\06-PPT精选插图\12-标签\蓝色燕尾01.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rot="16200000">
            <a:off x="211928" y="3276878"/>
            <a:ext cx="1530368" cy="56504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9"/>
          <p:cNvSpPr txBox="1"/>
          <p:nvPr/>
        </p:nvSpPr>
        <p:spPr>
          <a:xfrm>
            <a:off x="761668" y="2917709"/>
            <a:ext cx="430887" cy="1416328"/>
          </a:xfrm>
          <a:prstGeom prst="rect">
            <a:avLst/>
          </a:prstGeom>
          <a:noFill/>
        </p:spPr>
        <p:txBody>
          <a:bodyPr vert="eaVert" wrap="square" rtlCol="0">
            <a:spAutoFit/>
          </a:bodyPr>
          <a:lstStyle/>
          <a:p>
            <a:r>
              <a:rPr lang="zh-CN" altLang="en-US" sz="1600" b="1" dirty="0">
                <a:solidFill>
                  <a:schemeClr val="bg1"/>
                </a:solidFill>
                <a:latin typeface="微软雅黑" pitchFamily="34" charset="-122"/>
                <a:ea typeface="微软雅黑" pitchFamily="34" charset="-122"/>
              </a:rPr>
              <a:t>接口的功能</a:t>
            </a:r>
          </a:p>
        </p:txBody>
      </p:sp>
    </p:spTree>
    <p:extLst>
      <p:ext uri="{BB962C8B-B14F-4D97-AF65-F5344CB8AC3E}">
        <p14:creationId xmlns:p14="http://schemas.microsoft.com/office/powerpoint/2010/main" val="148717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p:cNvGraphicFramePr/>
          <p:nvPr>
            <p:extLst>
              <p:ext uri="{D42A27DB-BD31-4B8C-83A1-F6EECF244321}">
                <p14:modId xmlns:p14="http://schemas.microsoft.com/office/powerpoint/2010/main" val="764708090"/>
              </p:ext>
            </p:extLst>
          </p:nvPr>
        </p:nvGraphicFramePr>
        <p:xfrm>
          <a:off x="1187624" y="1700808"/>
          <a:ext cx="6483252" cy="38884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3" name="直接连接符 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4" name="Rectangle 2"/>
          <p:cNvSpPr>
            <a:spLocks noChangeArrowheads="1"/>
          </p:cNvSpPr>
          <p:nvPr/>
        </p:nvSpPr>
        <p:spPr bwMode="auto">
          <a:xfrm>
            <a:off x="3452927" y="404664"/>
            <a:ext cx="2238146"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r>
              <a:rPr lang="zh-CN" altLang="en-US" sz="3800" b="1" dirty="0">
                <a:solidFill>
                  <a:srgbClr val="00C4F0"/>
                </a:solidFill>
                <a:latin typeface="微软雅黑" pitchFamily="34" charset="-122"/>
                <a:ea typeface="微软雅黑" pitchFamily="34" charset="-122"/>
              </a:rPr>
              <a:t>常用外设</a:t>
            </a:r>
          </a:p>
        </p:txBody>
      </p:sp>
    </p:spTree>
    <p:extLst>
      <p:ext uri="{BB962C8B-B14F-4D97-AF65-F5344CB8AC3E}">
        <p14:creationId xmlns:p14="http://schemas.microsoft.com/office/powerpoint/2010/main" val="968890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
          <p:cNvSpPr txBox="1"/>
          <p:nvPr/>
        </p:nvSpPr>
        <p:spPr>
          <a:xfrm>
            <a:off x="4716239" y="2011784"/>
            <a:ext cx="2232025" cy="841375"/>
          </a:xfrm>
          <a:prstGeom prst="roundRect">
            <a:avLst>
              <a:gd name="adj" fmla="val 8176"/>
            </a:avLst>
          </a:prstGeom>
          <a:solidFill>
            <a:schemeClr val="bg1"/>
          </a:solidFill>
          <a:ln w="19050">
            <a:solidFill>
              <a:schemeClr val="bg1">
                <a:lumMod val="65000"/>
              </a:schemeClr>
            </a:solidFill>
          </a:ln>
        </p:spPr>
        <p:txBody>
          <a:bodyPr wrap="none" anchor="ctr"/>
          <a:lstStyle/>
          <a:p>
            <a:pPr algn="ctr">
              <a:defRPr/>
            </a:pPr>
            <a:r>
              <a:rPr lang="zh-CN" altLang="en-US" sz="2400" b="1" dirty="0">
                <a:solidFill>
                  <a:srgbClr val="A6A6A6"/>
                </a:solidFill>
                <a:latin typeface="微软雅黑" pitchFamily="34" charset="-122"/>
                <a:ea typeface="微软雅黑" pitchFamily="34" charset="-122"/>
              </a:rPr>
              <a:t>基本</a:t>
            </a:r>
            <a:r>
              <a:rPr lang="zh-CN" altLang="en-US" sz="3200" b="1" dirty="0">
                <a:solidFill>
                  <a:srgbClr val="00C4F0"/>
                </a:solidFill>
                <a:latin typeface="微软雅黑" pitchFamily="34" charset="-122"/>
                <a:ea typeface="微软雅黑" pitchFamily="34" charset="-122"/>
              </a:rPr>
              <a:t>概念</a:t>
            </a:r>
          </a:p>
        </p:txBody>
      </p:sp>
      <p:sp>
        <p:nvSpPr>
          <p:cNvPr id="3" name="椭圆 2"/>
          <p:cNvSpPr/>
          <p:nvPr/>
        </p:nvSpPr>
        <p:spPr>
          <a:xfrm>
            <a:off x="4403501" y="2119734"/>
            <a:ext cx="625475" cy="62547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Arial Unicode MS" pitchFamily="34" charset="-122"/>
                <a:ea typeface="Arial Unicode MS" pitchFamily="34" charset="-122"/>
                <a:cs typeface="Arial Unicode MS" pitchFamily="34" charset="-122"/>
              </a:rPr>
              <a:t>1</a:t>
            </a:r>
            <a:endParaRPr lang="zh-CN" altLang="en-US" sz="2800" b="1" dirty="0">
              <a:solidFill>
                <a:srgbClr val="FFC000"/>
              </a:solidFill>
              <a:latin typeface="Arial Unicode MS" pitchFamily="34" charset="-122"/>
              <a:ea typeface="Arial Unicode MS" pitchFamily="34" charset="-122"/>
              <a:cs typeface="Arial Unicode MS" pitchFamily="34" charset="-122"/>
            </a:endParaRPr>
          </a:p>
        </p:txBody>
      </p:sp>
      <p:sp>
        <p:nvSpPr>
          <p:cNvPr id="4" name="TextBox 9"/>
          <p:cNvSpPr txBox="1"/>
          <p:nvPr/>
        </p:nvSpPr>
        <p:spPr>
          <a:xfrm>
            <a:off x="4716239" y="3164309"/>
            <a:ext cx="2232025" cy="841375"/>
          </a:xfrm>
          <a:prstGeom prst="roundRect">
            <a:avLst>
              <a:gd name="adj" fmla="val 8176"/>
            </a:avLst>
          </a:prstGeom>
          <a:noFill/>
          <a:ln w="19050">
            <a:solidFill>
              <a:schemeClr val="bg1">
                <a:lumMod val="65000"/>
              </a:schemeClr>
            </a:solidFill>
          </a:ln>
        </p:spPr>
        <p:txBody>
          <a:bodyPr wrap="none" anchor="ctr"/>
          <a:lstStyle/>
          <a:p>
            <a:pPr algn="ctr">
              <a:defRPr/>
            </a:pPr>
            <a:r>
              <a:rPr lang="zh-CN" altLang="en-US" sz="2400" b="1" dirty="0">
                <a:solidFill>
                  <a:srgbClr val="A6A6A6"/>
                </a:solidFill>
                <a:latin typeface="微软雅黑" pitchFamily="34" charset="-122"/>
                <a:ea typeface="微软雅黑" pitchFamily="34" charset="-122"/>
              </a:rPr>
              <a:t>组成</a:t>
            </a:r>
            <a:r>
              <a:rPr lang="zh-CN" altLang="en-US" sz="3200" b="1" dirty="0">
                <a:solidFill>
                  <a:srgbClr val="00C4F0"/>
                </a:solidFill>
                <a:latin typeface="微软雅黑" pitchFamily="34" charset="-122"/>
                <a:ea typeface="微软雅黑" pitchFamily="34" charset="-122"/>
              </a:rPr>
              <a:t>结构</a:t>
            </a:r>
          </a:p>
        </p:txBody>
      </p:sp>
      <p:sp>
        <p:nvSpPr>
          <p:cNvPr id="5" name="椭圆 4"/>
          <p:cNvSpPr/>
          <p:nvPr/>
        </p:nvSpPr>
        <p:spPr>
          <a:xfrm>
            <a:off x="4403501" y="3272259"/>
            <a:ext cx="625475" cy="62547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Arial Unicode MS" pitchFamily="34" charset="-122"/>
                <a:ea typeface="Arial Unicode MS" pitchFamily="34" charset="-122"/>
                <a:cs typeface="Arial Unicode MS" pitchFamily="34" charset="-122"/>
              </a:rPr>
              <a:t>2</a:t>
            </a:r>
            <a:endParaRPr lang="zh-CN" altLang="en-US" sz="2800" b="1" dirty="0">
              <a:solidFill>
                <a:srgbClr val="FFC000"/>
              </a:solidFill>
              <a:latin typeface="Arial Unicode MS" pitchFamily="34" charset="-122"/>
              <a:ea typeface="Arial Unicode MS" pitchFamily="34" charset="-122"/>
              <a:cs typeface="Arial Unicode MS" pitchFamily="34" charset="-122"/>
            </a:endParaRPr>
          </a:p>
        </p:txBody>
      </p:sp>
      <p:sp>
        <p:nvSpPr>
          <p:cNvPr id="6" name="TextBox 11"/>
          <p:cNvSpPr txBox="1"/>
          <p:nvPr/>
        </p:nvSpPr>
        <p:spPr>
          <a:xfrm>
            <a:off x="4708301" y="4243809"/>
            <a:ext cx="2232025" cy="841375"/>
          </a:xfrm>
          <a:prstGeom prst="roundRect">
            <a:avLst>
              <a:gd name="adj" fmla="val 8176"/>
            </a:avLst>
          </a:prstGeom>
          <a:solidFill>
            <a:srgbClr val="5DCB08"/>
          </a:solidFill>
          <a:ln w="19050">
            <a:solidFill>
              <a:schemeClr val="bg1">
                <a:lumMod val="65000"/>
              </a:schemeClr>
            </a:solidFill>
          </a:ln>
        </p:spPr>
        <p:txBody>
          <a:bodyPr wrap="none" anchor="ctr"/>
          <a:lstStyle/>
          <a:p>
            <a:pPr algn="ctr">
              <a:defRPr/>
            </a:pPr>
            <a:r>
              <a:rPr lang="zh-CN" altLang="en-US" sz="2400" b="1" dirty="0">
                <a:solidFill>
                  <a:schemeClr val="bg1"/>
                </a:solidFill>
                <a:latin typeface="微软雅黑" pitchFamily="34" charset="-122"/>
                <a:ea typeface="微软雅黑" pitchFamily="34" charset="-122"/>
              </a:rPr>
              <a:t>工作</a:t>
            </a:r>
            <a:r>
              <a:rPr lang="zh-CN" altLang="en-US" sz="3200" b="1" dirty="0">
                <a:latin typeface="微软雅黑" pitchFamily="34" charset="-122"/>
                <a:ea typeface="微软雅黑" pitchFamily="34" charset="-122"/>
              </a:rPr>
              <a:t>过程</a:t>
            </a:r>
          </a:p>
        </p:txBody>
      </p:sp>
      <p:sp>
        <p:nvSpPr>
          <p:cNvPr id="7" name="椭圆 6"/>
          <p:cNvSpPr/>
          <p:nvPr/>
        </p:nvSpPr>
        <p:spPr>
          <a:xfrm>
            <a:off x="4395564" y="4351759"/>
            <a:ext cx="625475" cy="625475"/>
          </a:xfrm>
          <a:prstGeom prst="ellipse">
            <a:avLst/>
          </a:prstGeom>
          <a:solidFill>
            <a:schemeClr val="bg1"/>
          </a:solidFill>
          <a:ln w="19050">
            <a:solidFill>
              <a:schemeClr val="bg1">
                <a:lumMod val="65000"/>
              </a:schemeClr>
            </a:solidFill>
          </a:ln>
        </p:spPr>
        <p:txBody>
          <a:bodyPr wrap="none" anchor="ctr"/>
          <a:lstStyle/>
          <a:p>
            <a:pPr algn="ctr">
              <a:defRPr/>
            </a:pPr>
            <a:r>
              <a:rPr lang="en-US" altLang="zh-CN" sz="2800" b="1" dirty="0">
                <a:solidFill>
                  <a:srgbClr val="FFC000"/>
                </a:solidFill>
                <a:latin typeface="Arial Unicode MS" pitchFamily="34" charset="-122"/>
                <a:ea typeface="Arial Unicode MS" pitchFamily="34" charset="-122"/>
                <a:cs typeface="Arial Unicode MS" pitchFamily="34" charset="-122"/>
              </a:rPr>
              <a:t>3</a:t>
            </a:r>
            <a:endParaRPr lang="zh-CN" altLang="en-US" sz="2800" b="1" dirty="0">
              <a:solidFill>
                <a:srgbClr val="FFC000"/>
              </a:solidFill>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199339493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fltVal val="0"/>
                                          </p:val>
                                        </p:tav>
                                        <p:tav tm="100000">
                                          <p:val>
                                            <p:strVal val="#ppt_h"/>
                                          </p:val>
                                        </p:tav>
                                      </p:tavLst>
                                    </p:anim>
                                    <p:animEffect transition="in" filter="fade">
                                      <p:cBhvr>
                                        <p:cTn id="3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8461631" y="6348095"/>
            <a:ext cx="360000" cy="360000"/>
          </a:xfrm>
          <a:prstGeom prst="ellipse">
            <a:avLst/>
          </a:prstGeom>
          <a:solidFill>
            <a:schemeClr val="bg1">
              <a:lumMod val="75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10" name="TextBox 15"/>
          <p:cNvSpPr txBox="1"/>
          <p:nvPr/>
        </p:nvSpPr>
        <p:spPr>
          <a:xfrm>
            <a:off x="8316416" y="6358818"/>
            <a:ext cx="650430" cy="338554"/>
          </a:xfrm>
          <a:prstGeom prst="rect">
            <a:avLst/>
          </a:prstGeom>
          <a:noFill/>
        </p:spPr>
        <p:txBody>
          <a:bodyPr wrap="square" rtlCol="0">
            <a:spAutoFit/>
          </a:bodyPr>
          <a:lstStyle/>
          <a:p>
            <a:pPr algn="ctr"/>
            <a:fld id="{2EEF1883-7A0E-4F66-9932-E581691AD397}" type="slidenum">
              <a:rPr lang="zh-CN" altLang="en-US" sz="1600" smtClean="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ctr"/>
              <a:t>35</a:t>
            </a:fld>
            <a:r>
              <a:rPr lang="zh-CN" altLang="en-US" sz="16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1" name="TextBox 10"/>
          <p:cNvSpPr txBox="1">
            <a:spLocks noChangeArrowheads="1"/>
          </p:cNvSpPr>
          <p:nvPr/>
        </p:nvSpPr>
        <p:spPr bwMode="auto">
          <a:xfrm>
            <a:off x="2643174" y="2500306"/>
            <a:ext cx="4105548" cy="11621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a:lnSpc>
                <a:spcPct val="114000"/>
              </a:lnSpc>
            </a:pPr>
            <a:r>
              <a:rPr lang="zh-CN" altLang="en-US" sz="6600" b="1" dirty="0">
                <a:solidFill>
                  <a:schemeClr val="tx1">
                    <a:lumMod val="65000"/>
                    <a:lumOff val="35000"/>
                  </a:schemeClr>
                </a:solidFill>
                <a:latin typeface="微软雅黑" pitchFamily="34" charset="-122"/>
                <a:ea typeface="微软雅黑" pitchFamily="34" charset="-122"/>
              </a:rPr>
              <a:t>工作</a:t>
            </a:r>
            <a:r>
              <a:rPr lang="zh-CN" altLang="en-US" sz="6600" b="1" dirty="0">
                <a:solidFill>
                  <a:srgbClr val="00C4F0"/>
                </a:solidFill>
                <a:latin typeface="微软雅黑" pitchFamily="34" charset="-122"/>
                <a:ea typeface="微软雅黑" pitchFamily="34" charset="-122"/>
              </a:rPr>
              <a:t>过程</a:t>
            </a:r>
          </a:p>
        </p:txBody>
      </p:sp>
      <p:sp>
        <p:nvSpPr>
          <p:cNvPr id="12" name="TextBox 15"/>
          <p:cNvSpPr txBox="1">
            <a:spLocks noChangeArrowheads="1"/>
          </p:cNvSpPr>
          <p:nvPr/>
        </p:nvSpPr>
        <p:spPr bwMode="auto">
          <a:xfrm>
            <a:off x="2966244" y="4118769"/>
            <a:ext cx="3177392" cy="1176387"/>
          </a:xfrm>
          <a:prstGeom prst="rect">
            <a:avLst/>
          </a:prstGeom>
          <a:noFill/>
          <a:ln w="9525">
            <a:noFill/>
            <a:miter lim="800000"/>
            <a:headEnd/>
            <a:tailEnd/>
          </a:ln>
        </p:spPr>
        <p:txBody>
          <a:bodyPr wrap="square" lIns="67730" tIns="33865" rIns="67730" bIns="33865">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indent="-285750" defTabSz="762000">
              <a:buFont typeface="Wingdings" pitchFamily="2" charset="2"/>
              <a:buChar char="u"/>
            </a:pPr>
            <a:r>
              <a:rPr lang="zh-CN" altLang="en-US" sz="2400" b="1" dirty="0">
                <a:solidFill>
                  <a:srgbClr val="FF3255"/>
                </a:solidFill>
                <a:latin typeface="微软雅黑" pitchFamily="34" charset="-122"/>
                <a:ea typeface="微软雅黑" pitchFamily="34" charset="-122"/>
              </a:rPr>
              <a:t> 计算机的工作原理</a:t>
            </a:r>
            <a:endParaRPr lang="en-US" altLang="zh-CN" sz="2400" b="1" dirty="0">
              <a:solidFill>
                <a:srgbClr val="FF3255"/>
              </a:solidFill>
              <a:latin typeface="微软雅黑" pitchFamily="34" charset="-122"/>
              <a:ea typeface="微软雅黑" pitchFamily="34" charset="-122"/>
            </a:endParaRPr>
          </a:p>
          <a:p>
            <a:pPr indent="-285750" defTabSz="762000">
              <a:buFont typeface="Wingdings" pitchFamily="2" charset="2"/>
              <a:buChar char="u"/>
            </a:pPr>
            <a:endParaRPr lang="zh-CN" altLang="en-US" sz="2400" b="1" dirty="0">
              <a:solidFill>
                <a:srgbClr val="FF3255"/>
              </a:solidFill>
              <a:latin typeface="微软雅黑" pitchFamily="34" charset="-122"/>
              <a:ea typeface="微软雅黑" pitchFamily="34" charset="-122"/>
            </a:endParaRPr>
          </a:p>
          <a:p>
            <a:pPr defTabSz="762000">
              <a:buFont typeface="Wingdings" pitchFamily="2" charset="2"/>
              <a:buChar char="u"/>
            </a:pPr>
            <a:r>
              <a:rPr lang="zh-CN" altLang="en-US" sz="2400" b="1" dirty="0">
                <a:solidFill>
                  <a:srgbClr val="FF3255"/>
                </a:solidFill>
                <a:latin typeface="微软雅黑" pitchFamily="34" charset="-122"/>
                <a:ea typeface="微软雅黑" pitchFamily="34" charset="-122"/>
              </a:rPr>
              <a:t> 程序的执行过程</a:t>
            </a:r>
            <a:endParaRPr lang="en-US" altLang="zh-CN" sz="2400" b="1" dirty="0">
              <a:solidFill>
                <a:srgbClr val="FF3255"/>
              </a:solidFill>
              <a:latin typeface="微软雅黑" pitchFamily="34" charset="-122"/>
              <a:ea typeface="微软雅黑" pitchFamily="34" charset="-122"/>
            </a:endParaRPr>
          </a:p>
        </p:txBody>
      </p:sp>
      <p:sp>
        <p:nvSpPr>
          <p:cNvPr id="13" name="TextBox 2"/>
          <p:cNvSpPr txBox="1"/>
          <p:nvPr/>
        </p:nvSpPr>
        <p:spPr>
          <a:xfrm>
            <a:off x="1620044" y="1848644"/>
            <a:ext cx="1107996" cy="369332"/>
          </a:xfrm>
          <a:prstGeom prst="rect">
            <a:avLst/>
          </a:prstGeom>
          <a:solidFill>
            <a:sysClr val="window" lastClr="FFFFFF">
              <a:lumMod val="85000"/>
            </a:sysClr>
          </a:solidFill>
        </p:spPr>
        <p:txBody>
          <a:bodyPr wrap="none">
            <a:spAutoFit/>
          </a:bodyP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a:defRPr/>
            </a:pPr>
            <a:r>
              <a:rPr lang="zh-CN" altLang="en-US" dirty="0">
                <a:solidFill>
                  <a:schemeClr val="tx1">
                    <a:lumMod val="65000"/>
                    <a:lumOff val="35000"/>
                  </a:schemeClr>
                </a:solidFill>
                <a:latin typeface="微软雅黑" pitchFamily="34" charset="-122"/>
                <a:ea typeface="微软雅黑" pitchFamily="34" charset="-122"/>
              </a:rPr>
              <a:t>第三小节</a:t>
            </a:r>
          </a:p>
        </p:txBody>
      </p:sp>
      <p:cxnSp>
        <p:nvCxnSpPr>
          <p:cNvPr id="14" name="直接连接符 13"/>
          <p:cNvCxnSpPr/>
          <p:nvPr/>
        </p:nvCxnSpPr>
        <p:spPr>
          <a:xfrm>
            <a:off x="1404144" y="2207419"/>
            <a:ext cx="6264275" cy="1587"/>
          </a:xfrm>
          <a:prstGeom prst="line">
            <a:avLst/>
          </a:prstGeom>
          <a:noFill/>
          <a:ln w="9525" cap="flat" cmpd="sng" algn="ctr">
            <a:solidFill>
              <a:sysClr val="window" lastClr="FFFFFF">
                <a:lumMod val="85000"/>
              </a:sysClr>
            </a:solidFill>
            <a:prstDash val="solid"/>
          </a:ln>
          <a:effectLst/>
        </p:spPr>
      </p:cxnSp>
      <p:cxnSp>
        <p:nvCxnSpPr>
          <p:cNvPr id="15" name="直接连接符 14"/>
          <p:cNvCxnSpPr/>
          <p:nvPr/>
        </p:nvCxnSpPr>
        <p:spPr>
          <a:xfrm>
            <a:off x="1475582" y="3936206"/>
            <a:ext cx="6264275" cy="1588"/>
          </a:xfrm>
          <a:prstGeom prst="line">
            <a:avLst/>
          </a:prstGeom>
          <a:noFill/>
          <a:ln w="9525" cap="flat" cmpd="sng" algn="ctr">
            <a:solidFill>
              <a:sysClr val="window" lastClr="FFFFFF">
                <a:lumMod val="85000"/>
              </a:sysClr>
            </a:solidFill>
            <a:prstDash val="solid"/>
          </a:ln>
          <a:effectLst/>
        </p:spPr>
      </p:cxnSp>
    </p:spTree>
    <p:extLst>
      <p:ext uri="{BB962C8B-B14F-4D97-AF65-F5344CB8AC3E}">
        <p14:creationId xmlns:p14="http://schemas.microsoft.com/office/powerpoint/2010/main" val="176117710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Bottom)">
                                      <p:cBhvr>
                                        <p:cTn id="7" dur="500"/>
                                        <p:tgtEl>
                                          <p:spTgt spid="13"/>
                                        </p:tgtEl>
                                      </p:cBhvr>
                                    </p:animEffect>
                                  </p:childTnLst>
                                </p:cTn>
                              </p:par>
                              <p:par>
                                <p:cTn id="8" presetID="1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slide(fromBottom)">
                                      <p:cBhvr>
                                        <p:cTn id="10" dur="500"/>
                                        <p:tgtEl>
                                          <p:spTgt spid="14"/>
                                        </p:tgtEl>
                                      </p:cBhvr>
                                    </p:animEffect>
                                  </p:childTnLst>
                                </p:cTn>
                              </p:par>
                              <p:par>
                                <p:cTn id="11" presetID="12" presetClass="entr" presetSubtype="4"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slide(fromBottom)">
                                      <p:cBhvr>
                                        <p:cTn id="13" dur="500"/>
                                        <p:tgtEl>
                                          <p:spTgt spid="15"/>
                                        </p:tgtEl>
                                      </p:cBhvr>
                                    </p:animEffect>
                                  </p:childTnLst>
                                </p:cTn>
                              </p:par>
                              <p:par>
                                <p:cTn id="14" presetID="53"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1000" fill="hold"/>
                                        <p:tgtEl>
                                          <p:spTgt spid="11"/>
                                        </p:tgtEl>
                                        <p:attrNameLst>
                                          <p:attrName>ppt_w</p:attrName>
                                        </p:attrNameLst>
                                      </p:cBhvr>
                                      <p:tavLst>
                                        <p:tav tm="0">
                                          <p:val>
                                            <p:fltVal val="0"/>
                                          </p:val>
                                        </p:tav>
                                        <p:tav tm="100000">
                                          <p:val>
                                            <p:strVal val="#ppt_w"/>
                                          </p:val>
                                        </p:tav>
                                      </p:tavLst>
                                    </p:anim>
                                    <p:anim calcmode="lin" valueType="num">
                                      <p:cBhvr>
                                        <p:cTn id="17" dur="1000" fill="hold"/>
                                        <p:tgtEl>
                                          <p:spTgt spid="11"/>
                                        </p:tgtEl>
                                        <p:attrNameLst>
                                          <p:attrName>ppt_h</p:attrName>
                                        </p:attrNameLst>
                                      </p:cBhvr>
                                      <p:tavLst>
                                        <p:tav tm="0">
                                          <p:val>
                                            <p:fltVal val="0"/>
                                          </p:val>
                                        </p:tav>
                                        <p:tav tm="100000">
                                          <p:val>
                                            <p:strVal val="#ppt_h"/>
                                          </p:val>
                                        </p:tav>
                                      </p:tavLst>
                                    </p:anim>
                                    <p:animEffect transition="in" filter="fade">
                                      <p:cBhvr>
                                        <p:cTn id="18" dur="1000"/>
                                        <p:tgtEl>
                                          <p:spTgt spid="11"/>
                                        </p:tgtEl>
                                      </p:cBhvr>
                                    </p:animEffect>
                                  </p:childTnLst>
                                </p:cTn>
                              </p:par>
                            </p:childTnLst>
                          </p:cTn>
                        </p:par>
                        <p:par>
                          <p:cTn id="19" fill="hold">
                            <p:stCondLst>
                              <p:cond delay="1000"/>
                            </p:stCondLst>
                            <p:childTnLst>
                              <p:par>
                                <p:cTn id="20" presetID="22" presetClass="entr" presetSubtype="1"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up)">
                                      <p:cBhvr>
                                        <p:cTn id="2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844092" y="5589240"/>
            <a:ext cx="1417501" cy="8186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2637226218"/>
              </p:ext>
            </p:extLst>
          </p:nvPr>
        </p:nvGraphicFramePr>
        <p:xfrm>
          <a:off x="1403648" y="3877814"/>
          <a:ext cx="5237012" cy="2600433"/>
        </p:xfrm>
        <a:graphic>
          <a:graphicData uri="http://schemas.openxmlformats.org/presentationml/2006/ole">
            <mc:AlternateContent xmlns:mc="http://schemas.openxmlformats.org/markup-compatibility/2006">
              <mc:Choice xmlns:v="urn:schemas-microsoft-com:vml" Requires="v">
                <p:oleObj spid="_x0000_s3282" name="Visio" r:id="rId4" imgW="6124454" imgH="3038580" progId="Visio.Drawing.15">
                  <p:embed/>
                </p:oleObj>
              </mc:Choice>
              <mc:Fallback>
                <p:oleObj name="Visio" r:id="rId4" imgW="6124454" imgH="3038580" progId="Visio.Drawing.15">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648" y="3877814"/>
                        <a:ext cx="5237012" cy="2600433"/>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098115042"/>
              </p:ext>
            </p:extLst>
          </p:nvPr>
        </p:nvGraphicFramePr>
        <p:xfrm>
          <a:off x="5937125" y="5635850"/>
          <a:ext cx="1443187" cy="794098"/>
        </p:xfrm>
        <a:graphic>
          <a:graphicData uri="http://schemas.openxmlformats.org/presentationml/2006/ole">
            <mc:AlternateContent xmlns:mc="http://schemas.openxmlformats.org/markup-compatibility/2006">
              <mc:Choice xmlns:v="urn:schemas-microsoft-com:vml" Requires="v">
                <p:oleObj spid="_x0000_s3283" name="Visio" r:id="rId6" imgW="1990610" imgH="1095390" progId="Visio.Drawing.15">
                  <p:embed/>
                </p:oleObj>
              </mc:Choice>
              <mc:Fallback>
                <p:oleObj name="Visio" r:id="rId6" imgW="1990610" imgH="1095390" progId="Visio.Drawing.15">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37125" y="5635850"/>
                        <a:ext cx="1443187" cy="794098"/>
                      </a:xfrm>
                      <a:prstGeom prst="rect">
                        <a:avLst/>
                      </a:prstGeom>
                      <a:noFill/>
                    </p:spPr>
                  </p:pic>
                </p:oleObj>
              </mc:Fallback>
            </mc:AlternateContent>
          </a:graphicData>
        </a:graphic>
      </p:graphicFrame>
      <p:sp>
        <p:nvSpPr>
          <p:cNvPr id="12" name="矩形 11"/>
          <p:cNvSpPr/>
          <p:nvPr/>
        </p:nvSpPr>
        <p:spPr>
          <a:xfrm>
            <a:off x="755576" y="1340768"/>
            <a:ext cx="7705859" cy="2392136"/>
          </a:xfrm>
          <a:prstGeom prst="rect">
            <a:avLst/>
          </a:prstGeom>
          <a:ln>
            <a:solidFill>
              <a:srgbClr val="36B2E6"/>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sp>
        <p:nvSpPr>
          <p:cNvPr id="15" name="TextBox 16"/>
          <p:cNvSpPr txBox="1"/>
          <p:nvPr/>
        </p:nvSpPr>
        <p:spPr>
          <a:xfrm>
            <a:off x="2411975" y="1365120"/>
            <a:ext cx="5905425" cy="1197636"/>
          </a:xfrm>
          <a:prstGeom prst="rect">
            <a:avLst/>
          </a:prstGeom>
          <a:noFill/>
        </p:spPr>
        <p:txBody>
          <a:bodyPr wrap="square">
            <a:spAutoFit/>
          </a:bodyPr>
          <a:lstStyle/>
          <a:p>
            <a:pPr>
              <a:lnSpc>
                <a:spcPct val="133000"/>
              </a:lnSpc>
              <a:defRPr/>
            </a:pPr>
            <a:r>
              <a:rPr lang="zh-CN" altLang="en-US" b="1" dirty="0">
                <a:solidFill>
                  <a:schemeClr val="tx1">
                    <a:lumMod val="65000"/>
                    <a:lumOff val="35000"/>
                  </a:schemeClr>
                </a:solidFill>
                <a:latin typeface="微软雅黑" pitchFamily="34" charset="-122"/>
                <a:ea typeface="微软雅黑" pitchFamily="34" charset="-122"/>
              </a:rPr>
              <a:t>以运算器为核心、以存储程序原理为基础，将计算过程描述为由许多条</a:t>
            </a:r>
            <a:r>
              <a:rPr lang="zh-CN" altLang="en-US" b="1" dirty="0">
                <a:solidFill>
                  <a:srgbClr val="FF0000"/>
                </a:solidFill>
                <a:latin typeface="微软雅黑" pitchFamily="34" charset="-122"/>
                <a:ea typeface="微软雅黑" pitchFamily="34" charset="-122"/>
              </a:rPr>
              <a:t>指令按一定顺序组成</a:t>
            </a:r>
            <a:r>
              <a:rPr lang="zh-CN" altLang="en-US" b="1" dirty="0">
                <a:solidFill>
                  <a:schemeClr val="tx1">
                    <a:lumMod val="65000"/>
                    <a:lumOff val="35000"/>
                  </a:schemeClr>
                </a:solidFill>
                <a:latin typeface="微软雅黑" pitchFamily="34" charset="-122"/>
                <a:ea typeface="微软雅黑" pitchFamily="34" charset="-122"/>
              </a:rPr>
              <a:t>的程序，即程序是由多条有逻辑关系的指令组成。</a:t>
            </a:r>
            <a:endParaRPr lang="zh-CN" altLang="en-US" b="1" dirty="0">
              <a:solidFill>
                <a:schemeClr val="tx1">
                  <a:lumMod val="65000"/>
                  <a:lumOff val="35000"/>
                </a:schemeClr>
              </a:solidFill>
              <a:latin typeface="Arial" charset="0"/>
              <a:ea typeface="宋体" charset="-122"/>
            </a:endParaRPr>
          </a:p>
        </p:txBody>
      </p:sp>
      <p:sp>
        <p:nvSpPr>
          <p:cNvPr id="16" name="TextBox 17"/>
          <p:cNvSpPr txBox="1"/>
          <p:nvPr/>
        </p:nvSpPr>
        <p:spPr>
          <a:xfrm>
            <a:off x="2411975" y="2479875"/>
            <a:ext cx="5905425" cy="1197636"/>
          </a:xfrm>
          <a:prstGeom prst="rect">
            <a:avLst/>
          </a:prstGeom>
          <a:noFill/>
        </p:spPr>
        <p:txBody>
          <a:bodyPr wrap="square">
            <a:spAutoFit/>
          </a:bodyPr>
          <a:lstStyle/>
          <a:p>
            <a:pPr>
              <a:lnSpc>
                <a:spcPct val="133000"/>
              </a:lnSpc>
              <a:defRPr/>
            </a:pPr>
            <a:r>
              <a:rPr lang="zh-CN" altLang="en-US" b="1" dirty="0">
                <a:solidFill>
                  <a:schemeClr val="tx1">
                    <a:lumMod val="65000"/>
                    <a:lumOff val="35000"/>
                  </a:schemeClr>
                </a:solidFill>
                <a:latin typeface="微软雅黑" pitchFamily="34" charset="-122"/>
                <a:ea typeface="微软雅黑" pitchFamily="34" charset="-122"/>
              </a:rPr>
              <a:t>数据和程序均以二进制代码的形式不加区别地存放在存储器中，存放位置由地址指定，地址也是二进制形式。由</a:t>
            </a:r>
            <a:r>
              <a:rPr lang="zh-CN" altLang="en-US" b="1" dirty="0">
                <a:solidFill>
                  <a:srgbClr val="FF0000"/>
                </a:solidFill>
                <a:latin typeface="微软雅黑" pitchFamily="34" charset="-122"/>
                <a:ea typeface="微软雅黑" pitchFamily="34" charset="-122"/>
              </a:rPr>
              <a:t>控制器控制整个程序和数据的存取及程序的执行</a:t>
            </a:r>
            <a:r>
              <a:rPr lang="zh-CN" altLang="en-US" b="1" dirty="0">
                <a:solidFill>
                  <a:schemeClr val="tx1">
                    <a:lumMod val="65000"/>
                    <a:lumOff val="35000"/>
                  </a:schemeClr>
                </a:solidFill>
                <a:latin typeface="微软雅黑" pitchFamily="34" charset="-122"/>
                <a:ea typeface="微软雅黑" pitchFamily="34" charset="-122"/>
              </a:rPr>
              <a:t>。</a:t>
            </a:r>
            <a:endParaRPr lang="zh-CN" altLang="en-US" b="1" dirty="0">
              <a:solidFill>
                <a:schemeClr val="tx1">
                  <a:lumMod val="65000"/>
                  <a:lumOff val="35000"/>
                </a:schemeClr>
              </a:solidFill>
              <a:latin typeface="Arial" charset="0"/>
              <a:ea typeface="宋体" charset="-122"/>
            </a:endParaRPr>
          </a:p>
        </p:txBody>
      </p:sp>
      <p:cxnSp>
        <p:nvCxnSpPr>
          <p:cNvPr id="20" name="直接连接符 19"/>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21" name="Rectangle 2"/>
          <p:cNvSpPr>
            <a:spLocks noChangeArrowheads="1"/>
          </p:cNvSpPr>
          <p:nvPr/>
        </p:nvSpPr>
        <p:spPr bwMode="auto">
          <a:xfrm>
            <a:off x="2572593" y="405952"/>
            <a:ext cx="4071823"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r>
              <a:rPr lang="zh-CN" altLang="en-US" sz="3800" b="1" dirty="0">
                <a:solidFill>
                  <a:srgbClr val="00C4F0"/>
                </a:solidFill>
                <a:latin typeface="微软雅黑" pitchFamily="34" charset="-122"/>
                <a:ea typeface="微软雅黑" pitchFamily="34" charset="-122"/>
              </a:rPr>
              <a:t>计算机的工作原理</a:t>
            </a:r>
          </a:p>
        </p:txBody>
      </p:sp>
      <p:pic>
        <p:nvPicPr>
          <p:cNvPr id="23" name="图片 22" descr="http://pic.baike.soso.com/p/20140212/20140212142358-100212375.jpg"/>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23917" y="1538369"/>
            <a:ext cx="1343938" cy="1656184"/>
          </a:xfrm>
          <a:prstGeom prst="rect">
            <a:avLst/>
          </a:prstGeom>
          <a:noFill/>
          <a:ln>
            <a:noFill/>
          </a:ln>
        </p:spPr>
      </p:pic>
      <p:sp>
        <p:nvSpPr>
          <p:cNvPr id="24" name="文本框 6"/>
          <p:cNvSpPr txBox="1"/>
          <p:nvPr/>
        </p:nvSpPr>
        <p:spPr>
          <a:xfrm>
            <a:off x="755576" y="3324246"/>
            <a:ext cx="1656399" cy="30235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18000" tIns="3600" rIns="10800" bIns="3600" numCol="1" spcCol="0" rtlCol="0" fromWordArt="0" anchor="t" anchorCtr="0" forceAA="0" compatLnSpc="1">
            <a:prstTxWarp prst="textNoShape">
              <a:avLst/>
            </a:prstTxWarp>
            <a:noAutofit/>
          </a:bodyPr>
          <a:lstStyle/>
          <a:p>
            <a:pPr algn="ctr"/>
            <a:r>
              <a:rPr lang="zh-CN" altLang="en-US" sz="1400" b="1" kern="100" dirty="0">
                <a:solidFill>
                  <a:srgbClr val="FF0000"/>
                </a:solidFill>
                <a:latin typeface="Times New Roman" panose="02020603050405020304" pitchFamily="18" charset="0"/>
                <a:ea typeface="微软雅黑" panose="020B0503020204020204" pitchFamily="34" charset="-122"/>
                <a:cs typeface="宋体" panose="02010600030101010101" pitchFamily="2" charset="-122"/>
              </a:rPr>
              <a:t>冯诺依曼计算机</a:t>
            </a:r>
          </a:p>
        </p:txBody>
      </p:sp>
    </p:spTree>
    <p:extLst>
      <p:ext uri="{BB962C8B-B14F-4D97-AF65-F5344CB8AC3E}">
        <p14:creationId xmlns:p14="http://schemas.microsoft.com/office/powerpoint/2010/main" val="87690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par>
                                <p:cTn id="15" presetID="26" presetClass="emph" presetSubtype="0" fill="hold" grpId="0" nodeType="withEffect">
                                  <p:stCondLst>
                                    <p:cond delay="0"/>
                                  </p:stCondLst>
                                  <p:childTnLst>
                                    <p:animEffect transition="out" filter="fade">
                                      <p:cBhvr>
                                        <p:cTn id="16" dur="500" tmFilter="0, 0; .2, .5; .8, .5; 1, 0"/>
                                        <p:tgtEl>
                                          <p:spTgt spid="24"/>
                                        </p:tgtEl>
                                      </p:cBhvr>
                                    </p:animEffect>
                                    <p:animScale>
                                      <p:cBhvr>
                                        <p:cTn id="17" dur="250" autoRev="1" fill="hold"/>
                                        <p:tgtEl>
                                          <p:spTgt spid="2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67544" y="3108393"/>
            <a:ext cx="1474438" cy="581099"/>
            <a:chOff x="244645" y="3186673"/>
            <a:chExt cx="3528392" cy="581099"/>
          </a:xfrm>
          <a:solidFill>
            <a:srgbClr val="FF9300"/>
          </a:solidFill>
        </p:grpSpPr>
        <p:sp>
          <p:nvSpPr>
            <p:cNvPr id="3" name="圆角矩形 2"/>
            <p:cNvSpPr/>
            <p:nvPr/>
          </p:nvSpPr>
          <p:spPr>
            <a:xfrm>
              <a:off x="244645" y="3186673"/>
              <a:ext cx="352839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微软雅黑" panose="020B0503020204020204" pitchFamily="34" charset="-122"/>
              </a:endParaRPr>
            </a:p>
          </p:txBody>
        </p:sp>
        <p:sp>
          <p:nvSpPr>
            <p:cNvPr id="4" name="TextBox 6"/>
            <p:cNvSpPr txBox="1"/>
            <p:nvPr/>
          </p:nvSpPr>
          <p:spPr>
            <a:xfrm>
              <a:off x="317994" y="3266487"/>
              <a:ext cx="3455043" cy="417358"/>
            </a:xfrm>
            <a:prstGeom prst="rect">
              <a:avLst/>
            </a:prstGeom>
            <a:grpFill/>
          </p:spPr>
          <p:txBody>
            <a:bodyPr wrap="square" rtlCol="0">
              <a:spAutoFit/>
            </a:bodyPr>
            <a:lstStyle/>
            <a:p>
              <a:pPr algn="ctr">
                <a:lnSpc>
                  <a:spcPct val="130000"/>
                </a:lnSpc>
              </a:pPr>
              <a:r>
                <a:rPr lang="zh-CN" altLang="en-US" b="1" dirty="0">
                  <a:solidFill>
                    <a:schemeClr val="bg1"/>
                  </a:solidFill>
                  <a:latin typeface="微软雅黑" pitchFamily="34" charset="-122"/>
                  <a:ea typeface="微软雅黑" pitchFamily="34" charset="-122"/>
                </a:rPr>
                <a:t>指令</a:t>
              </a:r>
              <a:r>
                <a:rPr lang="en-US" altLang="zh-CN" b="1" dirty="0">
                  <a:solidFill>
                    <a:schemeClr val="bg1"/>
                  </a:solidFill>
                  <a:latin typeface="微软雅黑" pitchFamily="34" charset="-122"/>
                  <a:ea typeface="微软雅黑" pitchFamily="34" charset="-122"/>
                </a:rPr>
                <a:t>2</a:t>
              </a:r>
              <a:endParaRPr lang="zh-CN" altLang="en-US" b="1" dirty="0">
                <a:solidFill>
                  <a:schemeClr val="bg1"/>
                </a:solidFill>
                <a:latin typeface="微软雅黑" pitchFamily="34" charset="-122"/>
                <a:ea typeface="微软雅黑" pitchFamily="34" charset="-122"/>
              </a:endParaRPr>
            </a:p>
          </p:txBody>
        </p:sp>
      </p:grpSp>
      <p:grpSp>
        <p:nvGrpSpPr>
          <p:cNvPr id="8" name="组合 7"/>
          <p:cNvGrpSpPr/>
          <p:nvPr/>
        </p:nvGrpSpPr>
        <p:grpSpPr>
          <a:xfrm>
            <a:off x="467544" y="2438723"/>
            <a:ext cx="1474438" cy="581099"/>
            <a:chOff x="244645" y="3186673"/>
            <a:chExt cx="3528392" cy="581099"/>
          </a:xfrm>
          <a:solidFill>
            <a:srgbClr val="FF9300"/>
          </a:solidFill>
        </p:grpSpPr>
        <p:sp>
          <p:nvSpPr>
            <p:cNvPr id="9" name="圆角矩形 8"/>
            <p:cNvSpPr/>
            <p:nvPr/>
          </p:nvSpPr>
          <p:spPr>
            <a:xfrm>
              <a:off x="244645" y="3186673"/>
              <a:ext cx="352839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微软雅黑" panose="020B0503020204020204" pitchFamily="34" charset="-122"/>
              </a:endParaRPr>
            </a:p>
          </p:txBody>
        </p:sp>
        <p:sp>
          <p:nvSpPr>
            <p:cNvPr id="10" name="TextBox 6"/>
            <p:cNvSpPr txBox="1"/>
            <p:nvPr/>
          </p:nvSpPr>
          <p:spPr>
            <a:xfrm>
              <a:off x="317994" y="3266487"/>
              <a:ext cx="3455043" cy="417358"/>
            </a:xfrm>
            <a:prstGeom prst="rect">
              <a:avLst/>
            </a:prstGeom>
            <a:grpFill/>
          </p:spPr>
          <p:txBody>
            <a:bodyPr wrap="square" rtlCol="0">
              <a:spAutoFit/>
            </a:bodyPr>
            <a:lstStyle/>
            <a:p>
              <a:pPr algn="ctr">
                <a:lnSpc>
                  <a:spcPct val="130000"/>
                </a:lnSpc>
              </a:pPr>
              <a:r>
                <a:rPr lang="zh-CN" altLang="en-US" b="1" dirty="0">
                  <a:solidFill>
                    <a:schemeClr val="bg1"/>
                  </a:solidFill>
                  <a:latin typeface="微软雅黑" pitchFamily="34" charset="-122"/>
                  <a:ea typeface="微软雅黑" pitchFamily="34" charset="-122"/>
                </a:rPr>
                <a:t>指令</a:t>
              </a:r>
              <a:r>
                <a:rPr lang="en-US" altLang="zh-CN" b="1" dirty="0">
                  <a:solidFill>
                    <a:schemeClr val="bg1"/>
                  </a:solidFill>
                  <a:latin typeface="微软雅黑" pitchFamily="34" charset="-122"/>
                  <a:ea typeface="微软雅黑" pitchFamily="34" charset="-122"/>
                </a:rPr>
                <a:t>1</a:t>
              </a:r>
              <a:endParaRPr lang="zh-CN" altLang="en-US" b="1" dirty="0">
                <a:solidFill>
                  <a:schemeClr val="bg1"/>
                </a:solidFill>
                <a:latin typeface="微软雅黑" pitchFamily="34" charset="-122"/>
                <a:ea typeface="微软雅黑" pitchFamily="34" charset="-122"/>
              </a:endParaRPr>
            </a:p>
          </p:txBody>
        </p:sp>
      </p:grpSp>
      <p:grpSp>
        <p:nvGrpSpPr>
          <p:cNvPr id="11" name="组合 10"/>
          <p:cNvGrpSpPr/>
          <p:nvPr/>
        </p:nvGrpSpPr>
        <p:grpSpPr>
          <a:xfrm>
            <a:off x="3779913" y="2438723"/>
            <a:ext cx="1368157" cy="581099"/>
            <a:chOff x="244645" y="3186673"/>
            <a:chExt cx="6548882" cy="581099"/>
          </a:xfrm>
          <a:solidFill>
            <a:srgbClr val="1D8DE5"/>
          </a:solidFill>
        </p:grpSpPr>
        <p:sp>
          <p:nvSpPr>
            <p:cNvPr id="12" name="圆角矩形 11"/>
            <p:cNvSpPr/>
            <p:nvPr/>
          </p:nvSpPr>
          <p:spPr>
            <a:xfrm>
              <a:off x="244645" y="3186673"/>
              <a:ext cx="654888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80C417"/>
                </a:solidFill>
                <a:ea typeface="微软雅黑" panose="020B0503020204020204" pitchFamily="34" charset="-122"/>
              </a:endParaRPr>
            </a:p>
          </p:txBody>
        </p:sp>
        <p:sp>
          <p:nvSpPr>
            <p:cNvPr id="13" name="TextBox 6"/>
            <p:cNvSpPr txBox="1"/>
            <p:nvPr/>
          </p:nvSpPr>
          <p:spPr>
            <a:xfrm>
              <a:off x="317995" y="3266487"/>
              <a:ext cx="6475532" cy="417358"/>
            </a:xfrm>
            <a:prstGeom prst="rect">
              <a:avLst/>
            </a:prstGeom>
            <a:grpFill/>
          </p:spPr>
          <p:txBody>
            <a:bodyPr wrap="square" rtlCol="0">
              <a:spAutoFit/>
            </a:bodyPr>
            <a:lstStyle/>
            <a:p>
              <a:pPr algn="ctr">
                <a:lnSpc>
                  <a:spcPct val="130000"/>
                </a:lnSpc>
              </a:pPr>
              <a:r>
                <a:rPr lang="zh-CN" altLang="en-US" b="1" dirty="0">
                  <a:solidFill>
                    <a:schemeClr val="bg1"/>
                  </a:solidFill>
                  <a:latin typeface="微软雅黑" pitchFamily="34" charset="-122"/>
                  <a:ea typeface="微软雅黑" pitchFamily="34" charset="-122"/>
                </a:rPr>
                <a:t>取指令</a:t>
              </a:r>
            </a:p>
          </p:txBody>
        </p:sp>
      </p:grpSp>
      <p:grpSp>
        <p:nvGrpSpPr>
          <p:cNvPr id="14" name="组合 13"/>
          <p:cNvGrpSpPr/>
          <p:nvPr/>
        </p:nvGrpSpPr>
        <p:grpSpPr>
          <a:xfrm>
            <a:off x="468757" y="4488014"/>
            <a:ext cx="1474438" cy="581099"/>
            <a:chOff x="244645" y="3186673"/>
            <a:chExt cx="3528392" cy="581099"/>
          </a:xfrm>
          <a:solidFill>
            <a:srgbClr val="FF9300"/>
          </a:solidFill>
        </p:grpSpPr>
        <p:sp>
          <p:nvSpPr>
            <p:cNvPr id="15" name="圆角矩形 14"/>
            <p:cNvSpPr/>
            <p:nvPr/>
          </p:nvSpPr>
          <p:spPr>
            <a:xfrm>
              <a:off x="244645" y="3186673"/>
              <a:ext cx="352839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微软雅黑" panose="020B0503020204020204" pitchFamily="34" charset="-122"/>
              </a:endParaRPr>
            </a:p>
          </p:txBody>
        </p:sp>
        <p:sp>
          <p:nvSpPr>
            <p:cNvPr id="16" name="TextBox 6"/>
            <p:cNvSpPr txBox="1"/>
            <p:nvPr/>
          </p:nvSpPr>
          <p:spPr>
            <a:xfrm>
              <a:off x="317994" y="3266487"/>
              <a:ext cx="3455043" cy="417358"/>
            </a:xfrm>
            <a:prstGeom prst="rect">
              <a:avLst/>
            </a:prstGeom>
            <a:grpFill/>
          </p:spPr>
          <p:txBody>
            <a:bodyPr wrap="square" rtlCol="0">
              <a:spAutoFit/>
            </a:bodyPr>
            <a:lstStyle/>
            <a:p>
              <a:pPr algn="ctr">
                <a:lnSpc>
                  <a:spcPct val="130000"/>
                </a:lnSpc>
              </a:pPr>
              <a:r>
                <a:rPr lang="zh-CN" altLang="en-US" b="1" dirty="0">
                  <a:solidFill>
                    <a:schemeClr val="bg1"/>
                  </a:solidFill>
                  <a:latin typeface="微软雅黑" pitchFamily="34" charset="-122"/>
                  <a:ea typeface="微软雅黑" pitchFamily="34" charset="-122"/>
                </a:rPr>
                <a:t>指令</a:t>
              </a:r>
              <a:r>
                <a:rPr lang="en-US" altLang="zh-CN" b="1" dirty="0">
                  <a:solidFill>
                    <a:schemeClr val="bg1"/>
                  </a:solidFill>
                  <a:latin typeface="微软雅黑" pitchFamily="34" charset="-122"/>
                  <a:ea typeface="微软雅黑" pitchFamily="34" charset="-122"/>
                </a:rPr>
                <a:t>4</a:t>
              </a:r>
              <a:endParaRPr lang="zh-CN" altLang="en-US" b="1" dirty="0">
                <a:solidFill>
                  <a:schemeClr val="bg1"/>
                </a:solidFill>
                <a:latin typeface="微软雅黑" pitchFamily="34" charset="-122"/>
                <a:ea typeface="微软雅黑" pitchFamily="34" charset="-122"/>
              </a:endParaRPr>
            </a:p>
          </p:txBody>
        </p:sp>
      </p:grpSp>
      <p:grpSp>
        <p:nvGrpSpPr>
          <p:cNvPr id="17" name="组合 16"/>
          <p:cNvGrpSpPr/>
          <p:nvPr/>
        </p:nvGrpSpPr>
        <p:grpSpPr>
          <a:xfrm>
            <a:off x="468757" y="3818344"/>
            <a:ext cx="1474438" cy="581099"/>
            <a:chOff x="244645" y="3186673"/>
            <a:chExt cx="3528392" cy="581099"/>
          </a:xfrm>
          <a:solidFill>
            <a:srgbClr val="FF9300"/>
          </a:solidFill>
        </p:grpSpPr>
        <p:sp>
          <p:nvSpPr>
            <p:cNvPr id="18" name="圆角矩形 17"/>
            <p:cNvSpPr/>
            <p:nvPr/>
          </p:nvSpPr>
          <p:spPr>
            <a:xfrm>
              <a:off x="244645" y="3186673"/>
              <a:ext cx="352839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微软雅黑" panose="020B0503020204020204" pitchFamily="34" charset="-122"/>
              </a:endParaRPr>
            </a:p>
          </p:txBody>
        </p:sp>
        <p:sp>
          <p:nvSpPr>
            <p:cNvPr id="19" name="TextBox 6"/>
            <p:cNvSpPr txBox="1"/>
            <p:nvPr/>
          </p:nvSpPr>
          <p:spPr>
            <a:xfrm>
              <a:off x="317994" y="3266487"/>
              <a:ext cx="3455043" cy="417358"/>
            </a:xfrm>
            <a:prstGeom prst="rect">
              <a:avLst/>
            </a:prstGeom>
            <a:grpFill/>
          </p:spPr>
          <p:txBody>
            <a:bodyPr wrap="square" rtlCol="0">
              <a:spAutoFit/>
            </a:bodyPr>
            <a:lstStyle/>
            <a:p>
              <a:pPr algn="ctr">
                <a:lnSpc>
                  <a:spcPct val="130000"/>
                </a:lnSpc>
              </a:pPr>
              <a:r>
                <a:rPr lang="zh-CN" altLang="en-US" b="1" dirty="0">
                  <a:solidFill>
                    <a:schemeClr val="bg1"/>
                  </a:solidFill>
                  <a:latin typeface="微软雅黑" pitchFamily="34" charset="-122"/>
                  <a:ea typeface="微软雅黑" pitchFamily="34" charset="-122"/>
                </a:rPr>
                <a:t>指令</a:t>
              </a:r>
              <a:r>
                <a:rPr lang="en-US" altLang="zh-CN" b="1" dirty="0">
                  <a:solidFill>
                    <a:schemeClr val="bg1"/>
                  </a:solidFill>
                  <a:latin typeface="微软雅黑" pitchFamily="34" charset="-122"/>
                  <a:ea typeface="微软雅黑" pitchFamily="34" charset="-122"/>
                </a:rPr>
                <a:t>3</a:t>
              </a:r>
              <a:endParaRPr lang="zh-CN" altLang="en-US" b="1" dirty="0">
                <a:solidFill>
                  <a:schemeClr val="bg1"/>
                </a:solidFill>
                <a:latin typeface="微软雅黑" pitchFamily="34" charset="-122"/>
                <a:ea typeface="微软雅黑" pitchFamily="34" charset="-122"/>
              </a:endParaRPr>
            </a:p>
          </p:txBody>
        </p:sp>
      </p:grpSp>
      <p:grpSp>
        <p:nvGrpSpPr>
          <p:cNvPr id="20" name="组合 19"/>
          <p:cNvGrpSpPr/>
          <p:nvPr/>
        </p:nvGrpSpPr>
        <p:grpSpPr>
          <a:xfrm>
            <a:off x="468757" y="5231682"/>
            <a:ext cx="1474438" cy="581099"/>
            <a:chOff x="244645" y="3186673"/>
            <a:chExt cx="3528392" cy="581099"/>
          </a:xfrm>
          <a:solidFill>
            <a:srgbClr val="FF9300"/>
          </a:solidFill>
        </p:grpSpPr>
        <p:sp>
          <p:nvSpPr>
            <p:cNvPr id="21" name="圆角矩形 20"/>
            <p:cNvSpPr/>
            <p:nvPr/>
          </p:nvSpPr>
          <p:spPr>
            <a:xfrm>
              <a:off x="244645" y="3186673"/>
              <a:ext cx="352839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微软雅黑" panose="020B0503020204020204" pitchFamily="34" charset="-122"/>
              </a:endParaRPr>
            </a:p>
          </p:txBody>
        </p:sp>
        <p:sp>
          <p:nvSpPr>
            <p:cNvPr id="22" name="TextBox 6"/>
            <p:cNvSpPr txBox="1"/>
            <p:nvPr/>
          </p:nvSpPr>
          <p:spPr>
            <a:xfrm>
              <a:off x="317994" y="3266487"/>
              <a:ext cx="3455043" cy="452432"/>
            </a:xfrm>
            <a:prstGeom prst="rect">
              <a:avLst/>
            </a:prstGeom>
            <a:grpFill/>
          </p:spPr>
          <p:txBody>
            <a:bodyPr wrap="square" rtlCol="0">
              <a:spAutoFit/>
            </a:bodyPr>
            <a:lstStyle/>
            <a:p>
              <a:pPr algn="ctr">
                <a:lnSpc>
                  <a:spcPct val="130000"/>
                </a:lnSpc>
              </a:pPr>
              <a:r>
                <a:rPr lang="zh-CN" altLang="en-US" b="1" dirty="0">
                  <a:solidFill>
                    <a:schemeClr val="bg1"/>
                  </a:solidFill>
                  <a:latin typeface="微软雅黑" pitchFamily="34" charset="-122"/>
                  <a:ea typeface="微软雅黑" pitchFamily="34" charset="-122"/>
                </a:rPr>
                <a:t>指令</a:t>
              </a:r>
              <a:r>
                <a:rPr lang="en-US" altLang="zh-CN" b="1" dirty="0">
                  <a:solidFill>
                    <a:schemeClr val="bg1"/>
                  </a:solidFill>
                  <a:latin typeface="微软雅黑" pitchFamily="34" charset="-122"/>
                  <a:ea typeface="微软雅黑" pitchFamily="34" charset="-122"/>
                </a:rPr>
                <a:t>N</a:t>
              </a:r>
              <a:endParaRPr lang="zh-CN" altLang="en-US" b="1" dirty="0">
                <a:solidFill>
                  <a:schemeClr val="bg1"/>
                </a:solidFill>
                <a:latin typeface="微软雅黑" pitchFamily="34" charset="-122"/>
                <a:ea typeface="微软雅黑" pitchFamily="34" charset="-122"/>
              </a:endParaRPr>
            </a:p>
          </p:txBody>
        </p:sp>
      </p:grpSp>
      <p:grpSp>
        <p:nvGrpSpPr>
          <p:cNvPr id="23" name="组合 22"/>
          <p:cNvGrpSpPr/>
          <p:nvPr/>
        </p:nvGrpSpPr>
        <p:grpSpPr>
          <a:xfrm>
            <a:off x="3779912" y="3108393"/>
            <a:ext cx="1368157" cy="581099"/>
            <a:chOff x="244645" y="3186673"/>
            <a:chExt cx="6548882" cy="581099"/>
          </a:xfrm>
          <a:solidFill>
            <a:srgbClr val="1D8DE5"/>
          </a:solidFill>
        </p:grpSpPr>
        <p:sp>
          <p:nvSpPr>
            <p:cNvPr id="24" name="圆角矩形 23"/>
            <p:cNvSpPr/>
            <p:nvPr/>
          </p:nvSpPr>
          <p:spPr>
            <a:xfrm>
              <a:off x="244645" y="3186673"/>
              <a:ext cx="654888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80C417"/>
                </a:solidFill>
                <a:ea typeface="微软雅黑" panose="020B0503020204020204" pitchFamily="34" charset="-122"/>
              </a:endParaRPr>
            </a:p>
          </p:txBody>
        </p:sp>
        <p:sp>
          <p:nvSpPr>
            <p:cNvPr id="25" name="TextBox 6"/>
            <p:cNvSpPr txBox="1"/>
            <p:nvPr/>
          </p:nvSpPr>
          <p:spPr>
            <a:xfrm>
              <a:off x="317995" y="3266487"/>
              <a:ext cx="6475532" cy="417358"/>
            </a:xfrm>
            <a:prstGeom prst="rect">
              <a:avLst/>
            </a:prstGeom>
            <a:grpFill/>
          </p:spPr>
          <p:txBody>
            <a:bodyPr wrap="square" rtlCol="0">
              <a:spAutoFit/>
            </a:bodyPr>
            <a:lstStyle/>
            <a:p>
              <a:pPr algn="ctr">
                <a:lnSpc>
                  <a:spcPct val="130000"/>
                </a:lnSpc>
              </a:pPr>
              <a:r>
                <a:rPr lang="zh-CN" altLang="en-US" b="1" dirty="0">
                  <a:solidFill>
                    <a:schemeClr val="bg1"/>
                  </a:solidFill>
                  <a:latin typeface="微软雅黑" pitchFamily="34" charset="-122"/>
                  <a:ea typeface="微软雅黑" pitchFamily="34" charset="-122"/>
                </a:rPr>
                <a:t>指令译码</a:t>
              </a:r>
            </a:p>
          </p:txBody>
        </p:sp>
      </p:grpSp>
      <p:grpSp>
        <p:nvGrpSpPr>
          <p:cNvPr id="26" name="组合 25"/>
          <p:cNvGrpSpPr/>
          <p:nvPr/>
        </p:nvGrpSpPr>
        <p:grpSpPr>
          <a:xfrm>
            <a:off x="3779915" y="3818344"/>
            <a:ext cx="1368157" cy="581099"/>
            <a:chOff x="244645" y="3186673"/>
            <a:chExt cx="6548882" cy="581099"/>
          </a:xfrm>
          <a:solidFill>
            <a:srgbClr val="1D8DE5"/>
          </a:solidFill>
        </p:grpSpPr>
        <p:sp>
          <p:nvSpPr>
            <p:cNvPr id="27" name="圆角矩形 26"/>
            <p:cNvSpPr/>
            <p:nvPr/>
          </p:nvSpPr>
          <p:spPr>
            <a:xfrm>
              <a:off x="244645" y="3186673"/>
              <a:ext cx="654888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80C417"/>
                </a:solidFill>
                <a:ea typeface="微软雅黑" panose="020B0503020204020204" pitchFamily="34" charset="-122"/>
              </a:endParaRPr>
            </a:p>
          </p:txBody>
        </p:sp>
        <p:sp>
          <p:nvSpPr>
            <p:cNvPr id="28" name="TextBox 6"/>
            <p:cNvSpPr txBox="1"/>
            <p:nvPr/>
          </p:nvSpPr>
          <p:spPr>
            <a:xfrm>
              <a:off x="317995" y="3266487"/>
              <a:ext cx="6475532" cy="417358"/>
            </a:xfrm>
            <a:prstGeom prst="rect">
              <a:avLst/>
            </a:prstGeom>
            <a:grpFill/>
          </p:spPr>
          <p:txBody>
            <a:bodyPr wrap="square" rtlCol="0">
              <a:spAutoFit/>
            </a:bodyPr>
            <a:lstStyle/>
            <a:p>
              <a:pPr algn="ctr">
                <a:lnSpc>
                  <a:spcPct val="130000"/>
                </a:lnSpc>
              </a:pPr>
              <a:r>
                <a:rPr lang="zh-CN" altLang="en-US" b="1" dirty="0">
                  <a:solidFill>
                    <a:schemeClr val="bg1"/>
                  </a:solidFill>
                  <a:latin typeface="微软雅黑" pitchFamily="34" charset="-122"/>
                  <a:ea typeface="微软雅黑" pitchFamily="34" charset="-122"/>
                </a:rPr>
                <a:t>取操作数</a:t>
              </a:r>
            </a:p>
          </p:txBody>
        </p:sp>
      </p:grpSp>
      <p:grpSp>
        <p:nvGrpSpPr>
          <p:cNvPr id="29" name="组合 28"/>
          <p:cNvGrpSpPr/>
          <p:nvPr/>
        </p:nvGrpSpPr>
        <p:grpSpPr>
          <a:xfrm>
            <a:off x="3779914" y="4488014"/>
            <a:ext cx="1368157" cy="581099"/>
            <a:chOff x="244645" y="3186673"/>
            <a:chExt cx="6548882" cy="581099"/>
          </a:xfrm>
          <a:solidFill>
            <a:srgbClr val="1D8DE5"/>
          </a:solidFill>
        </p:grpSpPr>
        <p:sp>
          <p:nvSpPr>
            <p:cNvPr id="30" name="圆角矩形 29"/>
            <p:cNvSpPr/>
            <p:nvPr/>
          </p:nvSpPr>
          <p:spPr>
            <a:xfrm>
              <a:off x="244645" y="3186673"/>
              <a:ext cx="654888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80C417"/>
                </a:solidFill>
                <a:ea typeface="微软雅黑" panose="020B0503020204020204" pitchFamily="34" charset="-122"/>
              </a:endParaRPr>
            </a:p>
          </p:txBody>
        </p:sp>
        <p:sp>
          <p:nvSpPr>
            <p:cNvPr id="31" name="TextBox 6"/>
            <p:cNvSpPr txBox="1"/>
            <p:nvPr/>
          </p:nvSpPr>
          <p:spPr>
            <a:xfrm>
              <a:off x="317995" y="3266487"/>
              <a:ext cx="6475532" cy="417358"/>
            </a:xfrm>
            <a:prstGeom prst="rect">
              <a:avLst/>
            </a:prstGeom>
            <a:grpFill/>
          </p:spPr>
          <p:txBody>
            <a:bodyPr wrap="square" rtlCol="0">
              <a:spAutoFit/>
            </a:bodyPr>
            <a:lstStyle/>
            <a:p>
              <a:pPr algn="ctr">
                <a:lnSpc>
                  <a:spcPct val="130000"/>
                </a:lnSpc>
              </a:pPr>
              <a:r>
                <a:rPr lang="zh-CN" altLang="en-US" b="1" dirty="0">
                  <a:solidFill>
                    <a:schemeClr val="bg1"/>
                  </a:solidFill>
                  <a:latin typeface="微软雅黑" pitchFamily="34" charset="-122"/>
                  <a:ea typeface="微软雅黑" pitchFamily="34" charset="-122"/>
                </a:rPr>
                <a:t>执行指令</a:t>
              </a:r>
            </a:p>
          </p:txBody>
        </p:sp>
      </p:grpSp>
      <p:grpSp>
        <p:nvGrpSpPr>
          <p:cNvPr id="32" name="组合 31"/>
          <p:cNvGrpSpPr/>
          <p:nvPr/>
        </p:nvGrpSpPr>
        <p:grpSpPr>
          <a:xfrm>
            <a:off x="3779912" y="5213129"/>
            <a:ext cx="1368157" cy="581099"/>
            <a:chOff x="244645" y="3186673"/>
            <a:chExt cx="6548882" cy="581099"/>
          </a:xfrm>
          <a:solidFill>
            <a:srgbClr val="1D8DE5"/>
          </a:solidFill>
        </p:grpSpPr>
        <p:sp>
          <p:nvSpPr>
            <p:cNvPr id="33" name="圆角矩形 32"/>
            <p:cNvSpPr/>
            <p:nvPr/>
          </p:nvSpPr>
          <p:spPr>
            <a:xfrm>
              <a:off x="244645" y="3186673"/>
              <a:ext cx="654888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80C417"/>
                </a:solidFill>
                <a:ea typeface="微软雅黑" panose="020B0503020204020204" pitchFamily="34" charset="-122"/>
              </a:endParaRPr>
            </a:p>
          </p:txBody>
        </p:sp>
        <p:sp>
          <p:nvSpPr>
            <p:cNvPr id="34" name="TextBox 6"/>
            <p:cNvSpPr txBox="1"/>
            <p:nvPr/>
          </p:nvSpPr>
          <p:spPr>
            <a:xfrm>
              <a:off x="317995" y="3266487"/>
              <a:ext cx="6475532" cy="417358"/>
            </a:xfrm>
            <a:prstGeom prst="rect">
              <a:avLst/>
            </a:prstGeom>
            <a:grpFill/>
          </p:spPr>
          <p:txBody>
            <a:bodyPr wrap="square" rtlCol="0">
              <a:spAutoFit/>
            </a:bodyPr>
            <a:lstStyle/>
            <a:p>
              <a:pPr algn="ctr">
                <a:lnSpc>
                  <a:spcPct val="130000"/>
                </a:lnSpc>
              </a:pPr>
              <a:r>
                <a:rPr lang="zh-CN" altLang="en-US" b="1" dirty="0">
                  <a:solidFill>
                    <a:schemeClr val="bg1"/>
                  </a:solidFill>
                  <a:latin typeface="微软雅黑" pitchFamily="34" charset="-122"/>
                  <a:ea typeface="微软雅黑" pitchFamily="34" charset="-122"/>
                </a:rPr>
                <a:t>存储结果</a:t>
              </a:r>
            </a:p>
          </p:txBody>
        </p:sp>
      </p:grpSp>
      <p:cxnSp>
        <p:nvCxnSpPr>
          <p:cNvPr id="38" name="直接箭头连接符 37"/>
          <p:cNvCxnSpPr/>
          <p:nvPr/>
        </p:nvCxnSpPr>
        <p:spPr>
          <a:xfrm>
            <a:off x="1907704" y="2729273"/>
            <a:ext cx="1837930" cy="279044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1907704" y="2729273"/>
            <a:ext cx="183793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2483768" y="1929571"/>
            <a:ext cx="862883" cy="419309"/>
            <a:chOff x="244645" y="3186673"/>
            <a:chExt cx="6548882" cy="581099"/>
          </a:xfrm>
          <a:solidFill>
            <a:schemeClr val="tx1">
              <a:lumMod val="65000"/>
              <a:lumOff val="35000"/>
            </a:schemeClr>
          </a:solidFill>
        </p:grpSpPr>
        <p:sp>
          <p:nvSpPr>
            <p:cNvPr id="47" name="圆角矩形 46"/>
            <p:cNvSpPr/>
            <p:nvPr/>
          </p:nvSpPr>
          <p:spPr>
            <a:xfrm>
              <a:off x="244645" y="3186673"/>
              <a:ext cx="654888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rgbClr val="80C417"/>
                </a:solidFill>
                <a:ea typeface="微软雅黑" panose="020B0503020204020204" pitchFamily="34" charset="-122"/>
              </a:endParaRPr>
            </a:p>
          </p:txBody>
        </p:sp>
        <p:sp>
          <p:nvSpPr>
            <p:cNvPr id="48" name="TextBox 6"/>
            <p:cNvSpPr txBox="1"/>
            <p:nvPr/>
          </p:nvSpPr>
          <p:spPr>
            <a:xfrm>
              <a:off x="244645" y="3213579"/>
              <a:ext cx="6475532" cy="493627"/>
            </a:xfrm>
            <a:prstGeom prst="rect">
              <a:avLst/>
            </a:prstGeom>
            <a:grpFill/>
          </p:spPr>
          <p:txBody>
            <a:bodyPr wrap="square" rtlCol="0">
              <a:spAutoFit/>
            </a:bodyPr>
            <a:lstStyle/>
            <a:p>
              <a:pPr algn="ctr">
                <a:lnSpc>
                  <a:spcPct val="130000"/>
                </a:lnSpc>
              </a:pPr>
              <a:r>
                <a:rPr lang="zh-CN" altLang="en-US" sz="1600" b="1" dirty="0">
                  <a:solidFill>
                    <a:schemeClr val="bg1"/>
                  </a:solidFill>
                  <a:latin typeface="微软雅黑" pitchFamily="34" charset="-122"/>
                  <a:ea typeface="微软雅黑" pitchFamily="34" charset="-122"/>
                </a:rPr>
                <a:t>操作数</a:t>
              </a:r>
            </a:p>
          </p:txBody>
        </p:sp>
      </p:grpSp>
      <p:grpSp>
        <p:nvGrpSpPr>
          <p:cNvPr id="49" name="组合 48"/>
          <p:cNvGrpSpPr/>
          <p:nvPr/>
        </p:nvGrpSpPr>
        <p:grpSpPr>
          <a:xfrm>
            <a:off x="2499314" y="1480379"/>
            <a:ext cx="831793" cy="432372"/>
            <a:chOff x="244645" y="3186673"/>
            <a:chExt cx="3528392" cy="615312"/>
          </a:xfrm>
          <a:solidFill>
            <a:srgbClr val="FF3255"/>
          </a:solidFill>
        </p:grpSpPr>
        <p:sp>
          <p:nvSpPr>
            <p:cNvPr id="50" name="圆角矩形 49"/>
            <p:cNvSpPr/>
            <p:nvPr/>
          </p:nvSpPr>
          <p:spPr>
            <a:xfrm>
              <a:off x="244645" y="3186673"/>
              <a:ext cx="3528392" cy="581099"/>
            </a:xfrm>
            <a:prstGeom prst="roundRect">
              <a:avLst>
                <a:gd name="adj" fmla="val 437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prstClr val="white"/>
                </a:solidFill>
                <a:ea typeface="微软雅黑" panose="020B0503020204020204" pitchFamily="34" charset="-122"/>
              </a:endParaRPr>
            </a:p>
          </p:txBody>
        </p:sp>
        <p:sp>
          <p:nvSpPr>
            <p:cNvPr id="51" name="TextBox 6"/>
            <p:cNvSpPr txBox="1"/>
            <p:nvPr/>
          </p:nvSpPr>
          <p:spPr>
            <a:xfrm>
              <a:off x="317992" y="3215065"/>
              <a:ext cx="3455045" cy="586920"/>
            </a:xfrm>
            <a:prstGeom prst="rect">
              <a:avLst/>
            </a:prstGeom>
            <a:grpFill/>
          </p:spPr>
          <p:txBody>
            <a:bodyPr wrap="square" rtlCol="0">
              <a:spAutoFit/>
            </a:bodyPr>
            <a:lstStyle/>
            <a:p>
              <a:pPr algn="ctr">
                <a:lnSpc>
                  <a:spcPct val="130000"/>
                </a:lnSpc>
              </a:pPr>
              <a:r>
                <a:rPr lang="zh-CN" altLang="en-US" sz="1600" b="1" dirty="0">
                  <a:solidFill>
                    <a:schemeClr val="bg1"/>
                  </a:solidFill>
                  <a:latin typeface="微软雅黑" pitchFamily="34" charset="-122"/>
                  <a:ea typeface="微软雅黑" pitchFamily="34" charset="-122"/>
                </a:rPr>
                <a:t>操作码</a:t>
              </a:r>
            </a:p>
          </p:txBody>
        </p:sp>
      </p:grpSp>
      <p:cxnSp>
        <p:nvCxnSpPr>
          <p:cNvPr id="53" name="直接连接符 5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54" name="Rectangle 2"/>
          <p:cNvSpPr>
            <a:spLocks noChangeArrowheads="1"/>
          </p:cNvSpPr>
          <p:nvPr/>
        </p:nvSpPr>
        <p:spPr bwMode="auto">
          <a:xfrm>
            <a:off x="2572593" y="405952"/>
            <a:ext cx="4071823"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r>
              <a:rPr lang="zh-CN" altLang="en-US" sz="3800" b="1" dirty="0">
                <a:solidFill>
                  <a:srgbClr val="00C4F0"/>
                </a:solidFill>
                <a:latin typeface="微软雅黑" pitchFamily="34" charset="-122"/>
                <a:ea typeface="微软雅黑" pitchFamily="34" charset="-122"/>
              </a:rPr>
              <a:t>程序的执行过程</a:t>
            </a:r>
          </a:p>
        </p:txBody>
      </p:sp>
      <p:sp>
        <p:nvSpPr>
          <p:cNvPr id="65" name="Text Box 44"/>
          <p:cNvSpPr txBox="1">
            <a:spLocks noChangeArrowheads="1"/>
          </p:cNvSpPr>
          <p:nvPr/>
        </p:nvSpPr>
        <p:spPr bwMode="auto">
          <a:xfrm>
            <a:off x="5438327" y="2421884"/>
            <a:ext cx="3503563" cy="345787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marL="285750" indent="-285750">
              <a:buFont typeface="Wingdings" pitchFamily="2" charset="2"/>
              <a:buChar char="ü"/>
            </a:pPr>
            <a:r>
              <a:rPr lang="en-US" altLang="zh-CN" sz="1800" b="1" dirty="0">
                <a:solidFill>
                  <a:schemeClr val="tx1">
                    <a:lumMod val="65000"/>
                    <a:lumOff val="35000"/>
                  </a:schemeClr>
                </a:solidFill>
              </a:rPr>
              <a:t>CPU</a:t>
            </a:r>
            <a:r>
              <a:rPr lang="zh-CN" altLang="en-US" sz="1800" b="1" dirty="0">
                <a:solidFill>
                  <a:schemeClr val="tx1">
                    <a:lumMod val="65000"/>
                    <a:lumOff val="35000"/>
                  </a:schemeClr>
                </a:solidFill>
              </a:rPr>
              <a:t>如何知道从哪里取出程序的第一条指令？</a:t>
            </a:r>
            <a:r>
              <a:rPr lang="en-US" altLang="zh-CN" sz="1800" b="1" dirty="0">
                <a:solidFill>
                  <a:schemeClr val="tx1">
                    <a:lumMod val="65000"/>
                    <a:lumOff val="35000"/>
                  </a:schemeClr>
                </a:solidFill>
              </a:rPr>
              <a:t>——</a:t>
            </a:r>
            <a:r>
              <a:rPr lang="zh-CN" altLang="en-US" sz="1800" b="1" dirty="0">
                <a:solidFill>
                  <a:srgbClr val="00B050"/>
                </a:solidFill>
              </a:rPr>
              <a:t>操作系统</a:t>
            </a:r>
            <a:endParaRPr lang="en-US" altLang="zh-CN" sz="1800" b="1" dirty="0">
              <a:solidFill>
                <a:srgbClr val="00B050"/>
              </a:solidFill>
            </a:endParaRPr>
          </a:p>
          <a:p>
            <a:pPr marL="285750" indent="-285750">
              <a:buFont typeface="Wingdings" pitchFamily="2" charset="2"/>
              <a:buChar char="ü"/>
            </a:pPr>
            <a:r>
              <a:rPr lang="zh-CN" altLang="en-US" sz="1800" b="1" dirty="0">
                <a:solidFill>
                  <a:schemeClr val="tx1">
                    <a:lumMod val="65000"/>
                    <a:lumOff val="35000"/>
                  </a:schemeClr>
                </a:solidFill>
              </a:rPr>
              <a:t>指令和数据都存放在内存中，那么</a:t>
            </a:r>
            <a:r>
              <a:rPr lang="en-US" altLang="zh-CN" sz="1800" b="1" dirty="0">
                <a:solidFill>
                  <a:schemeClr val="tx1">
                    <a:lumMod val="65000"/>
                    <a:lumOff val="35000"/>
                  </a:schemeClr>
                </a:solidFill>
              </a:rPr>
              <a:t>CPU</a:t>
            </a:r>
            <a:r>
              <a:rPr lang="zh-CN" altLang="en-US" sz="1800" b="1" dirty="0">
                <a:solidFill>
                  <a:schemeClr val="tx1">
                    <a:lumMod val="65000"/>
                    <a:lumOff val="35000"/>
                  </a:schemeClr>
                </a:solidFill>
              </a:rPr>
              <a:t>怎么区分是指令还是数据呢？</a:t>
            </a:r>
            <a:r>
              <a:rPr lang="en-US" altLang="zh-CN" sz="1800" b="1" dirty="0">
                <a:solidFill>
                  <a:schemeClr val="tx1">
                    <a:lumMod val="65000"/>
                    <a:lumOff val="35000"/>
                  </a:schemeClr>
                </a:solidFill>
              </a:rPr>
              <a:t> ——</a:t>
            </a:r>
            <a:r>
              <a:rPr lang="zh-CN" altLang="en-US" sz="1800" b="1" dirty="0">
                <a:solidFill>
                  <a:srgbClr val="00B050"/>
                </a:solidFill>
              </a:rPr>
              <a:t>指令编码</a:t>
            </a:r>
            <a:endParaRPr lang="en-US" altLang="zh-CN" sz="1800" b="1" dirty="0">
              <a:solidFill>
                <a:schemeClr val="tx1">
                  <a:lumMod val="65000"/>
                  <a:lumOff val="35000"/>
                </a:schemeClr>
              </a:solidFill>
            </a:endParaRPr>
          </a:p>
          <a:p>
            <a:pPr marL="285750" indent="-285750">
              <a:buFont typeface="Wingdings" pitchFamily="2" charset="2"/>
              <a:buChar char="ü"/>
            </a:pPr>
            <a:r>
              <a:rPr lang="en-US" altLang="zh-CN" sz="1800" b="1" dirty="0">
                <a:solidFill>
                  <a:schemeClr val="tx1">
                    <a:lumMod val="65000"/>
                    <a:lumOff val="35000"/>
                  </a:schemeClr>
                </a:solidFill>
              </a:rPr>
              <a:t>CPU</a:t>
            </a:r>
            <a:r>
              <a:rPr lang="zh-CN" altLang="en-US" sz="1800" b="1" dirty="0">
                <a:solidFill>
                  <a:schemeClr val="tx1">
                    <a:lumMod val="65000"/>
                    <a:lumOff val="35000"/>
                  </a:schemeClr>
                </a:solidFill>
              </a:rPr>
              <a:t>如何按程序控制流执行指令？</a:t>
            </a:r>
            <a:r>
              <a:rPr lang="en-US" altLang="zh-CN" sz="1800" b="1" dirty="0">
                <a:solidFill>
                  <a:schemeClr val="tx1">
                    <a:lumMod val="65000"/>
                    <a:lumOff val="35000"/>
                  </a:schemeClr>
                </a:solidFill>
              </a:rPr>
              <a:t> ——</a:t>
            </a:r>
            <a:r>
              <a:rPr lang="zh-CN" altLang="en-US" sz="1800" b="1" dirty="0">
                <a:solidFill>
                  <a:srgbClr val="00B050"/>
                </a:solidFill>
              </a:rPr>
              <a:t>程序计数器</a:t>
            </a:r>
            <a:endParaRPr lang="en-US" altLang="zh-CN" sz="1800" b="1" dirty="0">
              <a:solidFill>
                <a:srgbClr val="00B050"/>
              </a:solidFill>
            </a:endParaRPr>
          </a:p>
          <a:p>
            <a:pPr marL="285750" indent="-285750">
              <a:buFont typeface="Wingdings" pitchFamily="2" charset="2"/>
              <a:buChar char="ü"/>
            </a:pPr>
            <a:r>
              <a:rPr lang="en-US" altLang="zh-CN" sz="1800" b="1" dirty="0">
                <a:solidFill>
                  <a:schemeClr val="tx1">
                    <a:lumMod val="65000"/>
                    <a:lumOff val="35000"/>
                  </a:schemeClr>
                </a:solidFill>
              </a:rPr>
              <a:t>CPU</a:t>
            </a:r>
            <a:r>
              <a:rPr lang="zh-CN" altLang="en-US" sz="1800" b="1" dirty="0">
                <a:solidFill>
                  <a:schemeClr val="tx1">
                    <a:lumMod val="65000"/>
                    <a:lumOff val="35000"/>
                  </a:schemeClr>
                </a:solidFill>
              </a:rPr>
              <a:t>如何知道从哪里取操作数？</a:t>
            </a:r>
            <a:r>
              <a:rPr lang="en-US" altLang="zh-CN" sz="1800" b="1" dirty="0">
                <a:solidFill>
                  <a:schemeClr val="tx1">
                    <a:lumMod val="65000"/>
                    <a:lumOff val="35000"/>
                  </a:schemeClr>
                </a:solidFill>
              </a:rPr>
              <a:t> ——</a:t>
            </a:r>
            <a:r>
              <a:rPr lang="zh-CN" altLang="en-US" sz="1800" b="1" dirty="0">
                <a:solidFill>
                  <a:srgbClr val="00B050"/>
                </a:solidFill>
              </a:rPr>
              <a:t>地址、寻址方式</a:t>
            </a:r>
          </a:p>
        </p:txBody>
      </p:sp>
      <p:pic>
        <p:nvPicPr>
          <p:cNvPr id="66" name="图片 65" descr="问号01.png"/>
          <p:cNvPicPr>
            <a:picLocks noChangeAspect="1"/>
          </p:cNvPicPr>
          <p:nvPr/>
        </p:nvPicPr>
        <p:blipFill>
          <a:blip r:embed="rId2"/>
          <a:stretch>
            <a:fillRect/>
          </a:stretch>
        </p:blipFill>
        <p:spPr>
          <a:xfrm>
            <a:off x="7775456" y="995313"/>
            <a:ext cx="1355751" cy="1054001"/>
          </a:xfrm>
          <a:prstGeom prst="rect">
            <a:avLst/>
          </a:prstGeom>
        </p:spPr>
      </p:pic>
      <p:cxnSp>
        <p:nvCxnSpPr>
          <p:cNvPr id="67" name="直接连接符 66"/>
          <p:cNvCxnSpPr/>
          <p:nvPr/>
        </p:nvCxnSpPr>
        <p:spPr bwMode="auto">
          <a:xfrm>
            <a:off x="5364088" y="1480379"/>
            <a:ext cx="0" cy="4684925"/>
          </a:xfrm>
          <a:prstGeom prst="line">
            <a:avLst/>
          </a:prstGeom>
          <a:noFill/>
          <a:ln w="28575" cap="flat" cmpd="sng" algn="ctr">
            <a:solidFill>
              <a:srgbClr val="00B050"/>
            </a:solidFill>
            <a:prstDash val="sysDot"/>
          </a:ln>
          <a:effectLst/>
        </p:spPr>
      </p:cxnSp>
      <p:sp>
        <p:nvSpPr>
          <p:cNvPr id="45" name="圆角矩形 44"/>
          <p:cNvSpPr/>
          <p:nvPr/>
        </p:nvSpPr>
        <p:spPr>
          <a:xfrm>
            <a:off x="498195" y="1480379"/>
            <a:ext cx="1479421" cy="872070"/>
          </a:xfrm>
          <a:prstGeom prst="roundRect">
            <a:avLst>
              <a:gd name="adj" fmla="val 4357"/>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MOV AL, 5C</a:t>
            </a:r>
            <a:endParaRPr lang="zh-CN" altLang="en-US" sz="2000" b="1" dirty="0">
              <a:ea typeface="微软雅黑" panose="020B0503020204020204" pitchFamily="34" charset="-122"/>
            </a:endParaRPr>
          </a:p>
        </p:txBody>
      </p:sp>
      <p:sp>
        <p:nvSpPr>
          <p:cNvPr id="52" name="圆角矩形 51"/>
          <p:cNvSpPr/>
          <p:nvPr/>
        </p:nvSpPr>
        <p:spPr>
          <a:xfrm>
            <a:off x="3779912" y="1484784"/>
            <a:ext cx="1368157" cy="408387"/>
          </a:xfrm>
          <a:prstGeom prst="roundRect">
            <a:avLst>
              <a:gd name="adj" fmla="val 4357"/>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B0</a:t>
            </a:r>
            <a:endParaRPr lang="zh-CN" altLang="en-US" sz="2000" b="1" dirty="0">
              <a:ea typeface="微软雅黑" panose="020B0503020204020204" pitchFamily="34" charset="-122"/>
            </a:endParaRPr>
          </a:p>
        </p:txBody>
      </p:sp>
      <p:sp>
        <p:nvSpPr>
          <p:cNvPr id="55" name="圆角矩形 54"/>
          <p:cNvSpPr/>
          <p:nvPr/>
        </p:nvSpPr>
        <p:spPr>
          <a:xfrm>
            <a:off x="3779912" y="1940493"/>
            <a:ext cx="1368157" cy="408387"/>
          </a:xfrm>
          <a:prstGeom prst="roundRect">
            <a:avLst>
              <a:gd name="adj" fmla="val 4357"/>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ea typeface="微软雅黑" panose="020B0503020204020204" pitchFamily="34" charset="-122"/>
              </a:rPr>
              <a:t>5C</a:t>
            </a:r>
            <a:endParaRPr lang="zh-CN" altLang="en-US" sz="2000" b="1" dirty="0">
              <a:ea typeface="微软雅黑" panose="020B0503020204020204" pitchFamily="34" charset="-122"/>
            </a:endParaRPr>
          </a:p>
        </p:txBody>
      </p:sp>
    </p:spTree>
    <p:extLst>
      <p:ext uri="{BB962C8B-B14F-4D97-AF65-F5344CB8AC3E}">
        <p14:creationId xmlns:p14="http://schemas.microsoft.com/office/powerpoint/2010/main" val="1668212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par>
                                <p:cTn id="8" presetID="10" presetClass="entr" presetSubtype="0"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fade">
                                      <p:cBhvr>
                                        <p:cTn id="10" dur="500"/>
                                        <p:tgtEl>
                                          <p:spTgt spid="4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500"/>
                                        <p:tgtEl>
                                          <p:spTgt spid="5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500"/>
                                        <p:tgtEl>
                                          <p:spTgt spid="5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anim calcmode="lin" valueType="num">
                                      <p:cBhvr additive="base">
                                        <p:cTn id="28" dur="500" fill="hold"/>
                                        <p:tgtEl>
                                          <p:spTgt spid="23"/>
                                        </p:tgtEl>
                                        <p:attrNameLst>
                                          <p:attrName>ppt_x</p:attrName>
                                        </p:attrNameLst>
                                      </p:cBhvr>
                                      <p:tavLst>
                                        <p:tav tm="0">
                                          <p:val>
                                            <p:strVal val="#ppt_x"/>
                                          </p:val>
                                        </p:tav>
                                        <p:tav tm="100000">
                                          <p:val>
                                            <p:strVal val="#ppt_x"/>
                                          </p:val>
                                        </p:tav>
                                      </p:tavLst>
                                    </p:anim>
                                    <p:anim calcmode="lin" valueType="num">
                                      <p:cBhvr additive="base">
                                        <p:cTn id="29" dur="500" fill="hold"/>
                                        <p:tgtEl>
                                          <p:spTgt spid="23"/>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 calcmode="lin" valueType="num">
                                      <p:cBhvr additive="base">
                                        <p:cTn id="32" dur="500" fill="hold"/>
                                        <p:tgtEl>
                                          <p:spTgt spid="26"/>
                                        </p:tgtEl>
                                        <p:attrNameLst>
                                          <p:attrName>ppt_x</p:attrName>
                                        </p:attrNameLst>
                                      </p:cBhvr>
                                      <p:tavLst>
                                        <p:tav tm="0">
                                          <p:val>
                                            <p:strVal val="#ppt_x"/>
                                          </p:val>
                                        </p:tav>
                                        <p:tav tm="100000">
                                          <p:val>
                                            <p:strVal val="#ppt_x"/>
                                          </p:val>
                                        </p:tav>
                                      </p:tavLst>
                                    </p:anim>
                                    <p:anim calcmode="lin" valueType="num">
                                      <p:cBhvr additive="base">
                                        <p:cTn id="33" dur="500" fill="hold"/>
                                        <p:tgtEl>
                                          <p:spTgt spid="26"/>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29"/>
                                        </p:tgtEl>
                                        <p:attrNameLst>
                                          <p:attrName>style.visibility</p:attrName>
                                        </p:attrNameLst>
                                      </p:cBhvr>
                                      <p:to>
                                        <p:strVal val="visible"/>
                                      </p:to>
                                    </p:set>
                                    <p:anim calcmode="lin" valueType="num">
                                      <p:cBhvr additive="base">
                                        <p:cTn id="36" dur="500" fill="hold"/>
                                        <p:tgtEl>
                                          <p:spTgt spid="29"/>
                                        </p:tgtEl>
                                        <p:attrNameLst>
                                          <p:attrName>ppt_x</p:attrName>
                                        </p:attrNameLst>
                                      </p:cBhvr>
                                      <p:tavLst>
                                        <p:tav tm="0">
                                          <p:val>
                                            <p:strVal val="#ppt_x"/>
                                          </p:val>
                                        </p:tav>
                                        <p:tav tm="100000">
                                          <p:val>
                                            <p:strVal val="#ppt_x"/>
                                          </p:val>
                                        </p:tav>
                                      </p:tavLst>
                                    </p:anim>
                                    <p:anim calcmode="lin" valueType="num">
                                      <p:cBhvr additive="base">
                                        <p:cTn id="37" dur="500" fill="hold"/>
                                        <p:tgtEl>
                                          <p:spTgt spid="29"/>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32"/>
                                        </p:tgtEl>
                                        <p:attrNameLst>
                                          <p:attrName>style.visibility</p:attrName>
                                        </p:attrNameLst>
                                      </p:cBhvr>
                                      <p:to>
                                        <p:strVal val="visible"/>
                                      </p:to>
                                    </p:set>
                                    <p:anim calcmode="lin" valueType="num">
                                      <p:cBhvr additive="base">
                                        <p:cTn id="40" dur="500" fill="hold"/>
                                        <p:tgtEl>
                                          <p:spTgt spid="32"/>
                                        </p:tgtEl>
                                        <p:attrNameLst>
                                          <p:attrName>ppt_x</p:attrName>
                                        </p:attrNameLst>
                                      </p:cBhvr>
                                      <p:tavLst>
                                        <p:tav tm="0">
                                          <p:val>
                                            <p:strVal val="#ppt_x"/>
                                          </p:val>
                                        </p:tav>
                                        <p:tav tm="100000">
                                          <p:val>
                                            <p:strVal val="#ppt_x"/>
                                          </p:val>
                                        </p:tav>
                                      </p:tavLst>
                                    </p:anim>
                                    <p:anim calcmode="lin" valueType="num">
                                      <p:cBhvr additive="base">
                                        <p:cTn id="41" dur="500" fill="hold"/>
                                        <p:tgtEl>
                                          <p:spTgt spid="32"/>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38"/>
                                        </p:tgtEl>
                                        <p:attrNameLst>
                                          <p:attrName>style.visibility</p:attrName>
                                        </p:attrNameLst>
                                      </p:cBhvr>
                                      <p:to>
                                        <p:strVal val="visible"/>
                                      </p:to>
                                    </p:set>
                                    <p:anim calcmode="lin" valueType="num">
                                      <p:cBhvr additive="base">
                                        <p:cTn id="44" dur="500" fill="hold"/>
                                        <p:tgtEl>
                                          <p:spTgt spid="38"/>
                                        </p:tgtEl>
                                        <p:attrNameLst>
                                          <p:attrName>ppt_x</p:attrName>
                                        </p:attrNameLst>
                                      </p:cBhvr>
                                      <p:tavLst>
                                        <p:tav tm="0">
                                          <p:val>
                                            <p:strVal val="#ppt_x"/>
                                          </p:val>
                                        </p:tav>
                                        <p:tav tm="100000">
                                          <p:val>
                                            <p:strVal val="#ppt_x"/>
                                          </p:val>
                                        </p:tav>
                                      </p:tavLst>
                                    </p:anim>
                                    <p:anim calcmode="lin" valueType="num">
                                      <p:cBhvr additive="base">
                                        <p:cTn id="45" dur="500" fill="hold"/>
                                        <p:tgtEl>
                                          <p:spTgt spid="38"/>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41"/>
                                        </p:tgtEl>
                                        <p:attrNameLst>
                                          <p:attrName>style.visibility</p:attrName>
                                        </p:attrNameLst>
                                      </p:cBhvr>
                                      <p:to>
                                        <p:strVal val="visible"/>
                                      </p:to>
                                    </p:set>
                                    <p:anim calcmode="lin" valueType="num">
                                      <p:cBhvr additive="base">
                                        <p:cTn id="48" dur="500" fill="hold"/>
                                        <p:tgtEl>
                                          <p:spTgt spid="41"/>
                                        </p:tgtEl>
                                        <p:attrNameLst>
                                          <p:attrName>ppt_x</p:attrName>
                                        </p:attrNameLst>
                                      </p:cBhvr>
                                      <p:tavLst>
                                        <p:tav tm="0">
                                          <p:val>
                                            <p:strVal val="#ppt_x"/>
                                          </p:val>
                                        </p:tav>
                                        <p:tav tm="100000">
                                          <p:val>
                                            <p:strVal val="#ppt_x"/>
                                          </p:val>
                                        </p:tav>
                                      </p:tavLst>
                                    </p:anim>
                                    <p:anim calcmode="lin" valueType="num">
                                      <p:cBhvr additive="base">
                                        <p:cTn id="49"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nodeType="clickEffect">
                                  <p:stCondLst>
                                    <p:cond delay="0"/>
                                  </p:stCondLst>
                                  <p:childTnLst>
                                    <p:set>
                                      <p:cBhvr>
                                        <p:cTn id="53" dur="1" fill="hold">
                                          <p:stCondLst>
                                            <p:cond delay="0"/>
                                          </p:stCondLst>
                                        </p:cTn>
                                        <p:tgtEl>
                                          <p:spTgt spid="67"/>
                                        </p:tgtEl>
                                        <p:attrNameLst>
                                          <p:attrName>style.visibility</p:attrName>
                                        </p:attrNameLst>
                                      </p:cBhvr>
                                      <p:to>
                                        <p:strVal val="visible"/>
                                      </p:to>
                                    </p:set>
                                    <p:animEffect transition="in" filter="randombar(horizontal)">
                                      <p:cBhvr>
                                        <p:cTn id="54" dur="500"/>
                                        <p:tgtEl>
                                          <p:spTgt spid="67"/>
                                        </p:tgtEl>
                                      </p:cBhvr>
                                    </p:animEffect>
                                  </p:childTnLst>
                                </p:cTn>
                              </p:par>
                              <p:par>
                                <p:cTn id="55" presetID="14" presetClass="entr" presetSubtype="10" fill="hold" nodeType="withEffect">
                                  <p:stCondLst>
                                    <p:cond delay="0"/>
                                  </p:stCondLst>
                                  <p:childTnLst>
                                    <p:set>
                                      <p:cBhvr>
                                        <p:cTn id="56" dur="1" fill="hold">
                                          <p:stCondLst>
                                            <p:cond delay="0"/>
                                          </p:stCondLst>
                                        </p:cTn>
                                        <p:tgtEl>
                                          <p:spTgt spid="66"/>
                                        </p:tgtEl>
                                        <p:attrNameLst>
                                          <p:attrName>style.visibility</p:attrName>
                                        </p:attrNameLst>
                                      </p:cBhvr>
                                      <p:to>
                                        <p:strVal val="visible"/>
                                      </p:to>
                                    </p:set>
                                    <p:animEffect transition="in" filter="randombar(horizontal)">
                                      <p:cBhvr>
                                        <p:cTn id="57" dur="500"/>
                                        <p:tgtEl>
                                          <p:spTgt spid="66"/>
                                        </p:tgtEl>
                                      </p:cBhvr>
                                    </p:animEffect>
                                  </p:childTnLst>
                                </p:cTn>
                              </p:par>
                              <p:par>
                                <p:cTn id="58" presetID="14" presetClass="entr" presetSubtype="10" fill="hold" grpId="0" nodeType="withEffect">
                                  <p:stCondLst>
                                    <p:cond delay="0"/>
                                  </p:stCondLst>
                                  <p:childTnLst>
                                    <p:set>
                                      <p:cBhvr>
                                        <p:cTn id="59" dur="1" fill="hold">
                                          <p:stCondLst>
                                            <p:cond delay="0"/>
                                          </p:stCondLst>
                                        </p:cTn>
                                        <p:tgtEl>
                                          <p:spTgt spid="65"/>
                                        </p:tgtEl>
                                        <p:attrNameLst>
                                          <p:attrName>style.visibility</p:attrName>
                                        </p:attrNameLst>
                                      </p:cBhvr>
                                      <p:to>
                                        <p:strVal val="visible"/>
                                      </p:to>
                                    </p:set>
                                    <p:animEffect transition="in" filter="randombar(horizontal)">
                                      <p:cBhvr>
                                        <p:cTn id="60" dur="500"/>
                                        <p:tgtEl>
                                          <p:spTgt spid="6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65">
                                            <p:txEl>
                                              <p:pRg st="0" end="0"/>
                                            </p:txEl>
                                          </p:spTgt>
                                        </p:tgtEl>
                                        <p:attrNameLst>
                                          <p:attrName>style.visibility</p:attrName>
                                        </p:attrNameLst>
                                      </p:cBhvr>
                                      <p:to>
                                        <p:strVal val="visible"/>
                                      </p:to>
                                    </p:set>
                                    <p:animEffect transition="in" filter="wipe(down)">
                                      <p:cBhvr>
                                        <p:cTn id="65" dur="500"/>
                                        <p:tgtEl>
                                          <p:spTgt spid="65">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65">
                                            <p:txEl>
                                              <p:pRg st="1" end="1"/>
                                            </p:txEl>
                                          </p:spTgt>
                                        </p:tgtEl>
                                        <p:attrNameLst>
                                          <p:attrName>style.visibility</p:attrName>
                                        </p:attrNameLst>
                                      </p:cBhvr>
                                      <p:to>
                                        <p:strVal val="visible"/>
                                      </p:to>
                                    </p:set>
                                    <p:animEffect transition="in" filter="wipe(down)">
                                      <p:cBhvr>
                                        <p:cTn id="70" dur="500"/>
                                        <p:tgtEl>
                                          <p:spTgt spid="65">
                                            <p:txEl>
                                              <p:pRg st="1" end="1"/>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65">
                                            <p:txEl>
                                              <p:pRg st="2" end="2"/>
                                            </p:txEl>
                                          </p:spTgt>
                                        </p:tgtEl>
                                        <p:attrNameLst>
                                          <p:attrName>style.visibility</p:attrName>
                                        </p:attrNameLst>
                                      </p:cBhvr>
                                      <p:to>
                                        <p:strVal val="visible"/>
                                      </p:to>
                                    </p:set>
                                    <p:animEffect transition="in" filter="wipe(down)">
                                      <p:cBhvr>
                                        <p:cTn id="75" dur="500"/>
                                        <p:tgtEl>
                                          <p:spTgt spid="65">
                                            <p:txEl>
                                              <p:pRg st="2" end="2"/>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65">
                                            <p:txEl>
                                              <p:pRg st="3" end="3"/>
                                            </p:txEl>
                                          </p:spTgt>
                                        </p:tgtEl>
                                        <p:attrNameLst>
                                          <p:attrName>style.visibility</p:attrName>
                                        </p:attrNameLst>
                                      </p:cBhvr>
                                      <p:to>
                                        <p:strVal val="visible"/>
                                      </p:to>
                                    </p:set>
                                    <p:animEffect transition="in" filter="wipe(down)">
                                      <p:cBhvr>
                                        <p:cTn id="80" dur="500"/>
                                        <p:tgtEl>
                                          <p:spTgt spid="6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45" grpId="0" animBg="1"/>
      <p:bldP spid="52" grpId="0" animBg="1"/>
      <p:bldP spid="5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532384" y="5940569"/>
            <a:ext cx="1512168" cy="584775"/>
          </a:xfrm>
          <a:prstGeom prst="rect">
            <a:avLst/>
          </a:prstGeom>
          <a:noFill/>
        </p:spPr>
        <p:txBody>
          <a:bodyPr wrap="square" lIns="91440" tIns="45720" rIns="91440" bIns="45720">
            <a:spAutoFit/>
          </a:bodyPr>
          <a:lstStyle/>
          <a:p>
            <a:r>
              <a:rPr lang="en-US" altLang="zh-CN" sz="1600" b="1" dirty="0">
                <a:ln w="17780" cmpd="sng">
                  <a:noFill/>
                  <a:prstDash val="solid"/>
                  <a:miter lim="800000"/>
                </a:ln>
                <a:solidFill>
                  <a:srgbClr val="FF0000"/>
                </a:solidFill>
                <a:latin typeface="微软雅黑" pitchFamily="34" charset="-122"/>
                <a:ea typeface="微软雅黑" pitchFamily="34" charset="-122"/>
              </a:rPr>
              <a:t>MOV AL, 5C</a:t>
            </a:r>
          </a:p>
          <a:p>
            <a:r>
              <a:rPr lang="en-US" altLang="zh-CN" sz="1600" b="1" dirty="0">
                <a:ln w="17780" cmpd="sng">
                  <a:noFill/>
                  <a:prstDash val="solid"/>
                  <a:miter lim="800000"/>
                </a:ln>
                <a:solidFill>
                  <a:srgbClr val="FF0000"/>
                </a:solidFill>
                <a:latin typeface="微软雅黑" pitchFamily="34" charset="-122"/>
                <a:ea typeface="微软雅黑" pitchFamily="34" charset="-122"/>
              </a:rPr>
              <a:t>ADD  AL, 2E</a:t>
            </a:r>
            <a:endParaRPr lang="zh-CN" altLang="en-US" sz="1600" b="1" dirty="0">
              <a:ln w="17780" cmpd="sng">
                <a:noFill/>
                <a:prstDash val="solid"/>
                <a:miter lim="800000"/>
              </a:ln>
              <a:solidFill>
                <a:srgbClr val="FF0000"/>
              </a:solidFill>
              <a:latin typeface="微软雅黑" pitchFamily="34" charset="-122"/>
              <a:ea typeface="微软雅黑" pitchFamily="34" charset="-122"/>
            </a:endParaRPr>
          </a:p>
        </p:txBody>
      </p:sp>
    </p:spTree>
    <p:controls>
      <mc:AlternateContent xmlns:mc="http://schemas.openxmlformats.org/markup-compatibility/2006">
        <mc:Choice xmlns:v="urn:schemas-microsoft-com:vml" Requires="v">
          <p:control spid="4183" name="ShockwaveFlash2" r:id="rId2" imgW="1828800" imgH="1828800"/>
        </mc:Choice>
        <mc:Fallback>
          <p:control name="ShockwaveFlash2" r:id="rId2" imgW="1828800" imgH="1828800">
            <p:pic>
              <p:nvPicPr>
                <p:cNvPr id="3" name="ShockwaveFlash2"/>
                <p:cNvPicPr>
                  <a:picLocks noChangeAspect="1"/>
                </p:cNvPicPr>
                <p:nvPr>
                  <p:custDataLst>
                    <p:tags r:id="rId3"/>
                  </p:custDataLst>
                </p:nvPr>
              </p:nvPicPr>
              <p:blipFill>
                <a:blip r:embed="rId5"/>
                <a:stretch>
                  <a:fillRect/>
                </a:stretch>
              </p:blipFill>
              <p:spPr>
                <a:xfrm>
                  <a:off x="971600" y="980728"/>
                  <a:ext cx="6633737" cy="4824536"/>
                </a:xfrm>
                <a:prstGeom prst="rect">
                  <a:avLst/>
                </a:prstGeom>
              </p:spPr>
            </p:pic>
          </p:control>
        </mc:Fallback>
      </mc:AlternateContent>
    </p:controls>
    <p:extLst>
      <p:ext uri="{BB962C8B-B14F-4D97-AF65-F5344CB8AC3E}">
        <p14:creationId xmlns:p14="http://schemas.microsoft.com/office/powerpoint/2010/main" val="1508628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问号01.png"/>
          <p:cNvPicPr>
            <a:picLocks noChangeAspect="1"/>
          </p:cNvPicPr>
          <p:nvPr/>
        </p:nvPicPr>
        <p:blipFill>
          <a:blip r:embed="rId2"/>
          <a:stretch>
            <a:fillRect/>
          </a:stretch>
        </p:blipFill>
        <p:spPr>
          <a:xfrm>
            <a:off x="7515043" y="157306"/>
            <a:ext cx="1614899" cy="1255470"/>
          </a:xfrm>
          <a:prstGeom prst="rect">
            <a:avLst/>
          </a:prstGeom>
        </p:spPr>
      </p:pic>
      <p:cxnSp>
        <p:nvCxnSpPr>
          <p:cNvPr id="3" name="直接连接符 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4" name="Rectangle 2"/>
          <p:cNvSpPr>
            <a:spLocks noChangeArrowheads="1"/>
          </p:cNvSpPr>
          <p:nvPr/>
        </p:nvSpPr>
        <p:spPr bwMode="auto">
          <a:xfrm>
            <a:off x="3702006" y="419266"/>
            <a:ext cx="1739987"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检测点</a:t>
            </a:r>
            <a:endParaRPr lang="zh-CN" altLang="en-US" sz="3200" b="1" dirty="0">
              <a:solidFill>
                <a:prstClr val="white">
                  <a:lumMod val="65000"/>
                </a:prstClr>
              </a:solidFill>
              <a:latin typeface="Arial"/>
              <a:ea typeface="微软雅黑" pitchFamily="34" charset="-122"/>
              <a:cs typeface="Arial"/>
            </a:endParaRPr>
          </a:p>
        </p:txBody>
      </p:sp>
      <p:sp>
        <p:nvSpPr>
          <p:cNvPr id="6" name="矩形 5"/>
          <p:cNvSpPr/>
          <p:nvPr/>
        </p:nvSpPr>
        <p:spPr>
          <a:xfrm>
            <a:off x="1043607" y="2755527"/>
            <a:ext cx="7921091" cy="864096"/>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ea typeface="微软雅黑" panose="020B0503020204020204" pitchFamily="34" charset="-122"/>
              </a:rPr>
              <a:t>1KB</a:t>
            </a:r>
            <a:r>
              <a:rPr lang="zh-CN" altLang="en-US" sz="2000" b="1" dirty="0">
                <a:ea typeface="微软雅黑" panose="020B0503020204020204" pitchFamily="34" charset="-122"/>
              </a:rPr>
              <a:t>个存储器有</a:t>
            </a:r>
            <a:r>
              <a:rPr lang="zh-CN" altLang="en-US" sz="2000" b="1" u="sng" dirty="0">
                <a:ea typeface="微软雅黑" panose="020B0503020204020204" pitchFamily="34" charset="-122"/>
              </a:rPr>
              <a:t>                    </a:t>
            </a:r>
            <a:r>
              <a:rPr lang="zh-CN" altLang="en-US" sz="2000" b="1" dirty="0">
                <a:ea typeface="微软雅黑" panose="020B0503020204020204" pitchFamily="34" charset="-122"/>
              </a:rPr>
              <a:t>个存储单元，编号从</a:t>
            </a:r>
            <a:r>
              <a:rPr lang="zh-CN" altLang="en-US" sz="2000" b="1" u="sng" dirty="0">
                <a:ea typeface="微软雅黑" panose="020B0503020204020204" pitchFamily="34" charset="-122"/>
              </a:rPr>
              <a:t>                 </a:t>
            </a:r>
            <a:r>
              <a:rPr lang="zh-CN" altLang="en-US" sz="2000" b="1" dirty="0">
                <a:ea typeface="微软雅黑" panose="020B0503020204020204" pitchFamily="34" charset="-122"/>
              </a:rPr>
              <a:t>到 </a:t>
            </a:r>
            <a:r>
              <a:rPr lang="zh-CN" altLang="en-US" sz="2000" b="1" u="sng" dirty="0">
                <a:ea typeface="微软雅黑" panose="020B0503020204020204" pitchFamily="34" charset="-122"/>
              </a:rPr>
              <a:t>                        </a:t>
            </a:r>
            <a:r>
              <a:rPr lang="zh-CN" altLang="en-US" sz="2000" b="1" dirty="0">
                <a:ea typeface="微软雅黑" panose="020B0503020204020204" pitchFamily="34" charset="-122"/>
              </a:rPr>
              <a:t>。</a:t>
            </a:r>
          </a:p>
        </p:txBody>
      </p:sp>
      <p:sp>
        <p:nvSpPr>
          <p:cNvPr id="7" name="矩形 6"/>
          <p:cNvSpPr/>
          <p:nvPr/>
        </p:nvSpPr>
        <p:spPr>
          <a:xfrm>
            <a:off x="1043608" y="3742835"/>
            <a:ext cx="7921092" cy="86409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ea typeface="微软雅黑" panose="020B0503020204020204" pitchFamily="34" charset="-122"/>
              </a:rPr>
              <a:t>1KB</a:t>
            </a:r>
            <a:r>
              <a:rPr lang="zh-CN" altLang="en-US" sz="2000" b="1" dirty="0">
                <a:ea typeface="微软雅黑" panose="020B0503020204020204" pitchFamily="34" charset="-122"/>
              </a:rPr>
              <a:t>、</a:t>
            </a:r>
            <a:r>
              <a:rPr lang="en-US" altLang="zh-CN" sz="2000" b="1" dirty="0">
                <a:ea typeface="微软雅黑" panose="020B0503020204020204" pitchFamily="34" charset="-122"/>
              </a:rPr>
              <a:t>1MB</a:t>
            </a:r>
            <a:r>
              <a:rPr lang="zh-CN" altLang="en-US" sz="2000" b="1" dirty="0">
                <a:ea typeface="微软雅黑" panose="020B0503020204020204" pitchFamily="34" charset="-122"/>
              </a:rPr>
              <a:t>、</a:t>
            </a:r>
            <a:r>
              <a:rPr lang="en-US" altLang="zh-CN" sz="2000" b="1" dirty="0">
                <a:ea typeface="微软雅黑" panose="020B0503020204020204" pitchFamily="34" charset="-122"/>
              </a:rPr>
              <a:t>1GB</a:t>
            </a:r>
            <a:r>
              <a:rPr lang="zh-CN" altLang="en-US" sz="2000" b="1" dirty="0">
                <a:ea typeface="微软雅黑" panose="020B0503020204020204" pitchFamily="34" charset="-122"/>
              </a:rPr>
              <a:t>分别是 </a:t>
            </a:r>
            <a:r>
              <a:rPr lang="zh-CN" altLang="en-US" sz="2000" b="1" u="sng" dirty="0">
                <a:ea typeface="微软雅黑" panose="020B0503020204020204" pitchFamily="34" charset="-122"/>
              </a:rPr>
              <a:t>           、               、                   </a:t>
            </a:r>
            <a:r>
              <a:rPr lang="en-US" altLang="zh-CN" sz="2000" b="1" dirty="0">
                <a:ea typeface="微软雅黑" panose="020B0503020204020204" pitchFamily="34" charset="-122"/>
              </a:rPr>
              <a:t>BYTE</a:t>
            </a:r>
            <a:r>
              <a:rPr lang="zh-CN" altLang="en-US" sz="2000" b="1" dirty="0">
                <a:ea typeface="微软雅黑" panose="020B0503020204020204" pitchFamily="34" charset="-122"/>
              </a:rPr>
              <a:t>。</a:t>
            </a:r>
            <a:endParaRPr lang="zh-CN" altLang="en-US" sz="2000" b="1" u="sng" dirty="0">
              <a:solidFill>
                <a:schemeClr val="bg1"/>
              </a:solidFill>
              <a:ea typeface="微软雅黑" panose="020B0503020204020204" pitchFamily="34" charset="-122"/>
            </a:endParaRPr>
          </a:p>
        </p:txBody>
      </p:sp>
      <p:sp>
        <p:nvSpPr>
          <p:cNvPr id="8" name="矩形 7"/>
          <p:cNvSpPr/>
          <p:nvPr/>
        </p:nvSpPr>
        <p:spPr>
          <a:xfrm>
            <a:off x="1043607" y="4725143"/>
            <a:ext cx="7921091" cy="86409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微型计算机的组成部分包括以为</a:t>
            </a:r>
            <a:r>
              <a:rPr lang="zh-CN" altLang="en-US" sz="2000" b="1" u="sng" dirty="0">
                <a:ea typeface="微软雅黑" panose="020B0503020204020204" pitchFamily="34" charset="-122"/>
              </a:rPr>
              <a:t>                 </a:t>
            </a:r>
            <a:r>
              <a:rPr lang="zh-CN" altLang="en-US" sz="2000" b="1" dirty="0">
                <a:ea typeface="微软雅黑" panose="020B0503020204020204" pitchFamily="34" charset="-122"/>
              </a:rPr>
              <a:t>核心， 配上</a:t>
            </a:r>
            <a:r>
              <a:rPr lang="zh-CN" altLang="en-US" sz="2000" b="1" u="sng" dirty="0">
                <a:ea typeface="微软雅黑" panose="020B0503020204020204" pitchFamily="34" charset="-122"/>
              </a:rPr>
              <a:t>            </a:t>
            </a:r>
            <a:r>
              <a:rPr lang="zh-CN" altLang="en-US" sz="2000" b="1" dirty="0">
                <a:ea typeface="微软雅黑" panose="020B0503020204020204" pitchFamily="34" charset="-122"/>
              </a:rPr>
              <a:t> 、</a:t>
            </a:r>
            <a:r>
              <a:rPr lang="zh-CN" altLang="en-US" sz="2000" b="1" u="sng" dirty="0">
                <a:ea typeface="微软雅黑" panose="020B0503020204020204" pitchFamily="34" charset="-122"/>
              </a:rPr>
              <a:t>              </a:t>
            </a:r>
            <a:r>
              <a:rPr lang="zh-CN" altLang="en-US" sz="2000" b="1" dirty="0">
                <a:ea typeface="微软雅黑" panose="020B0503020204020204" pitchFamily="34" charset="-122"/>
              </a:rPr>
              <a:t>、</a:t>
            </a:r>
            <a:r>
              <a:rPr lang="zh-CN" altLang="en-US" sz="2000" b="1" u="sng" dirty="0">
                <a:ea typeface="微软雅黑" panose="020B0503020204020204" pitchFamily="34" charset="-122"/>
              </a:rPr>
              <a:t>              </a:t>
            </a:r>
            <a:r>
              <a:rPr lang="zh-CN" altLang="en-US" sz="2000" b="1" dirty="0">
                <a:ea typeface="微软雅黑" panose="020B0503020204020204" pitchFamily="34" charset="-122"/>
              </a:rPr>
              <a:t>及 </a:t>
            </a:r>
            <a:r>
              <a:rPr lang="zh-CN" altLang="en-US" sz="2000" b="1" u="sng" dirty="0">
                <a:ea typeface="微软雅黑" panose="020B0503020204020204" pitchFamily="34" charset="-122"/>
              </a:rPr>
              <a:t>                           </a:t>
            </a:r>
            <a:r>
              <a:rPr lang="zh-CN" altLang="en-US" sz="2000" b="1" dirty="0">
                <a:ea typeface="微软雅黑" panose="020B0503020204020204" pitchFamily="34" charset="-122"/>
              </a:rPr>
              <a:t>。</a:t>
            </a:r>
            <a:endParaRPr lang="zh-CN" altLang="en-US" sz="2000" b="1" u="sng" dirty="0">
              <a:solidFill>
                <a:schemeClr val="bg1"/>
              </a:solidFill>
              <a:ea typeface="微软雅黑" panose="020B0503020204020204" pitchFamily="34" charset="-122"/>
            </a:endParaRPr>
          </a:p>
        </p:txBody>
      </p:sp>
      <p:sp>
        <p:nvSpPr>
          <p:cNvPr id="9" name="矩形 8"/>
          <p:cNvSpPr/>
          <p:nvPr/>
        </p:nvSpPr>
        <p:spPr>
          <a:xfrm>
            <a:off x="1043396" y="1772816"/>
            <a:ext cx="7921092" cy="86409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ea typeface="微软雅黑" panose="020B0503020204020204" pitchFamily="34" charset="-122"/>
              </a:rPr>
              <a:t>1</a:t>
            </a:r>
            <a:r>
              <a:rPr lang="zh-CN" altLang="en-US" sz="2000" b="1" dirty="0">
                <a:ea typeface="微软雅黑" panose="020B0503020204020204" pitchFamily="34" charset="-122"/>
              </a:rPr>
              <a:t>个</a:t>
            </a:r>
            <a:r>
              <a:rPr lang="en-US" altLang="zh-CN" sz="2000" b="1" dirty="0">
                <a:ea typeface="微软雅黑" panose="020B0503020204020204" pitchFamily="34" charset="-122"/>
              </a:rPr>
              <a:t>CPU</a:t>
            </a:r>
            <a:r>
              <a:rPr lang="zh-CN" altLang="en-US" sz="2000" b="1" dirty="0">
                <a:ea typeface="微软雅黑" panose="020B0503020204020204" pitchFamily="34" charset="-122"/>
              </a:rPr>
              <a:t>的寻址能力是</a:t>
            </a:r>
            <a:r>
              <a:rPr lang="en-US" altLang="zh-CN" sz="2000" b="1" dirty="0">
                <a:ea typeface="微软雅黑" panose="020B0503020204020204" pitchFamily="34" charset="-122"/>
              </a:rPr>
              <a:t>8KB</a:t>
            </a:r>
            <a:r>
              <a:rPr lang="zh-CN" altLang="en-US" sz="2000" b="1" dirty="0">
                <a:ea typeface="微软雅黑" panose="020B0503020204020204" pitchFamily="34" charset="-122"/>
              </a:rPr>
              <a:t>，那么它的地址总线的宽度为</a:t>
            </a:r>
            <a:r>
              <a:rPr lang="zh-CN" altLang="en-US" sz="2000" b="1" u="sng" dirty="0">
                <a:solidFill>
                  <a:schemeClr val="bg1"/>
                </a:solidFill>
                <a:ea typeface="微软雅黑" panose="020B0503020204020204" pitchFamily="34" charset="-122"/>
              </a:rPr>
              <a:t>                   </a:t>
            </a:r>
            <a:r>
              <a:rPr lang="zh-CN" altLang="en-US" sz="2000" b="1" dirty="0">
                <a:solidFill>
                  <a:schemeClr val="bg1"/>
                </a:solidFill>
                <a:ea typeface="微软雅黑" panose="020B0503020204020204" pitchFamily="34" charset="-122"/>
              </a:rPr>
              <a:t>位。</a:t>
            </a:r>
            <a:r>
              <a:rPr lang="zh-CN" altLang="en-US" sz="2000" b="1" u="sng" dirty="0">
                <a:solidFill>
                  <a:schemeClr val="bg1"/>
                </a:solidFill>
                <a:ea typeface="微软雅黑" panose="020B0503020204020204" pitchFamily="34" charset="-122"/>
              </a:rPr>
              <a:t> </a:t>
            </a:r>
          </a:p>
        </p:txBody>
      </p:sp>
      <p:sp>
        <p:nvSpPr>
          <p:cNvPr id="10" name="矩形 9"/>
          <p:cNvSpPr/>
          <p:nvPr/>
        </p:nvSpPr>
        <p:spPr>
          <a:xfrm>
            <a:off x="467544" y="1772816"/>
            <a:ext cx="575852" cy="8640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1</a:t>
            </a:r>
            <a:endParaRPr lang="zh-CN" altLang="en-US" sz="3200" dirty="0">
              <a:latin typeface="Arial Black" pitchFamily="34" charset="0"/>
            </a:endParaRPr>
          </a:p>
        </p:txBody>
      </p:sp>
      <p:sp>
        <p:nvSpPr>
          <p:cNvPr id="12" name="矩形 11"/>
          <p:cNvSpPr/>
          <p:nvPr/>
        </p:nvSpPr>
        <p:spPr>
          <a:xfrm>
            <a:off x="467544" y="2755526"/>
            <a:ext cx="575852" cy="8640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2</a:t>
            </a:r>
            <a:endParaRPr lang="zh-CN" altLang="en-US" sz="3200" dirty="0">
              <a:latin typeface="Arial Black" pitchFamily="34" charset="0"/>
            </a:endParaRPr>
          </a:p>
        </p:txBody>
      </p:sp>
      <p:sp>
        <p:nvSpPr>
          <p:cNvPr id="13" name="矩形 12"/>
          <p:cNvSpPr/>
          <p:nvPr/>
        </p:nvSpPr>
        <p:spPr>
          <a:xfrm>
            <a:off x="467544" y="3742834"/>
            <a:ext cx="575852" cy="8640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3</a:t>
            </a:r>
            <a:endParaRPr lang="zh-CN" altLang="en-US" sz="3200" dirty="0">
              <a:latin typeface="Arial Black" pitchFamily="34" charset="0"/>
            </a:endParaRPr>
          </a:p>
        </p:txBody>
      </p:sp>
      <p:sp>
        <p:nvSpPr>
          <p:cNvPr id="14" name="矩形 13"/>
          <p:cNvSpPr/>
          <p:nvPr/>
        </p:nvSpPr>
        <p:spPr>
          <a:xfrm>
            <a:off x="467544" y="4725141"/>
            <a:ext cx="575852" cy="8640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4</a:t>
            </a:r>
            <a:endParaRPr lang="zh-CN" altLang="en-US" sz="3200" dirty="0">
              <a:latin typeface="Arial Black" pitchFamily="34" charset="0"/>
            </a:endParaRPr>
          </a:p>
        </p:txBody>
      </p:sp>
    </p:spTree>
    <p:extLst>
      <p:ext uri="{BB962C8B-B14F-4D97-AF65-F5344CB8AC3E}">
        <p14:creationId xmlns:p14="http://schemas.microsoft.com/office/powerpoint/2010/main" val="4294731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down)">
                                      <p:cBhvr>
                                        <p:cTn id="25" dur="500"/>
                                        <p:tgtEl>
                                          <p:spTgt spid="9"/>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down)">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xit" presetSubtype="4" fill="hold" grpId="1" nodeType="clickEffect">
                                  <p:stCondLst>
                                    <p:cond delay="0"/>
                                  </p:stCondLst>
                                  <p:childTnLst>
                                    <p:animEffect transition="out" filter="wipe(down)">
                                      <p:cBhvr>
                                        <p:cTn id="32" dur="500"/>
                                        <p:tgtEl>
                                          <p:spTgt spid="9"/>
                                        </p:tgtEl>
                                      </p:cBhvr>
                                    </p:animEffect>
                                    <p:set>
                                      <p:cBhvr>
                                        <p:cTn id="33" dur="1" fill="hold">
                                          <p:stCondLst>
                                            <p:cond delay="499"/>
                                          </p:stCondLst>
                                        </p:cTn>
                                        <p:tgtEl>
                                          <p:spTgt spid="9"/>
                                        </p:tgtEl>
                                        <p:attrNameLst>
                                          <p:attrName>style.visibility</p:attrName>
                                        </p:attrNameLst>
                                      </p:cBhvr>
                                      <p:to>
                                        <p:strVal val="hidden"/>
                                      </p:to>
                                    </p:set>
                                  </p:childTnLst>
                                </p:cTn>
                              </p:par>
                              <p:par>
                                <p:cTn id="34" presetID="22" presetClass="exit" presetSubtype="4" fill="hold" grpId="1" nodeType="withEffect">
                                  <p:stCondLst>
                                    <p:cond delay="0"/>
                                  </p:stCondLst>
                                  <p:childTnLst>
                                    <p:animEffect transition="out" filter="wipe(down)">
                                      <p:cBhvr>
                                        <p:cTn id="35" dur="500"/>
                                        <p:tgtEl>
                                          <p:spTgt spid="10"/>
                                        </p:tgtEl>
                                      </p:cBhvr>
                                    </p:animEffect>
                                    <p:set>
                                      <p:cBhvr>
                                        <p:cTn id="36" dur="1" fill="hold">
                                          <p:stCondLst>
                                            <p:cond delay="499"/>
                                          </p:stCondLst>
                                        </p:cTn>
                                        <p:tgtEl>
                                          <p:spTgt spid="1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down)">
                                      <p:cBhvr>
                                        <p:cTn id="41" dur="500"/>
                                        <p:tgtEl>
                                          <p:spTgt spid="6"/>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down)">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xit" presetSubtype="4" fill="hold" grpId="1" nodeType="clickEffect">
                                  <p:stCondLst>
                                    <p:cond delay="0"/>
                                  </p:stCondLst>
                                  <p:childTnLst>
                                    <p:animEffect transition="out" filter="wipe(down)">
                                      <p:cBhvr>
                                        <p:cTn id="48" dur="500"/>
                                        <p:tgtEl>
                                          <p:spTgt spid="6"/>
                                        </p:tgtEl>
                                      </p:cBhvr>
                                    </p:animEffect>
                                    <p:set>
                                      <p:cBhvr>
                                        <p:cTn id="49" dur="1" fill="hold">
                                          <p:stCondLst>
                                            <p:cond delay="499"/>
                                          </p:stCondLst>
                                        </p:cTn>
                                        <p:tgtEl>
                                          <p:spTgt spid="6"/>
                                        </p:tgtEl>
                                        <p:attrNameLst>
                                          <p:attrName>style.visibility</p:attrName>
                                        </p:attrNameLst>
                                      </p:cBhvr>
                                      <p:to>
                                        <p:strVal val="hidden"/>
                                      </p:to>
                                    </p:set>
                                  </p:childTnLst>
                                </p:cTn>
                              </p:par>
                              <p:par>
                                <p:cTn id="50" presetID="22" presetClass="exit" presetSubtype="4" fill="hold" grpId="1" nodeType="withEffect">
                                  <p:stCondLst>
                                    <p:cond delay="0"/>
                                  </p:stCondLst>
                                  <p:childTnLst>
                                    <p:animEffect transition="out" filter="wipe(down)">
                                      <p:cBhvr>
                                        <p:cTn id="51" dur="500"/>
                                        <p:tgtEl>
                                          <p:spTgt spid="12"/>
                                        </p:tgtEl>
                                      </p:cBhvr>
                                    </p:animEffect>
                                    <p:set>
                                      <p:cBhvr>
                                        <p:cTn id="52" dur="1" fill="hold">
                                          <p:stCondLst>
                                            <p:cond delay="499"/>
                                          </p:stCondLst>
                                        </p:cTn>
                                        <p:tgtEl>
                                          <p:spTgt spid="12"/>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wipe(down)">
                                      <p:cBhvr>
                                        <p:cTn id="57" dur="500"/>
                                        <p:tgtEl>
                                          <p:spTgt spid="7"/>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wipe(down)">
                                      <p:cBhvr>
                                        <p:cTn id="60" dur="500"/>
                                        <p:tgtEl>
                                          <p:spTgt spid="1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xit" presetSubtype="4" fill="hold" grpId="1" nodeType="clickEffect">
                                  <p:stCondLst>
                                    <p:cond delay="0"/>
                                  </p:stCondLst>
                                  <p:childTnLst>
                                    <p:animEffect transition="out" filter="wipe(down)">
                                      <p:cBhvr>
                                        <p:cTn id="64" dur="500"/>
                                        <p:tgtEl>
                                          <p:spTgt spid="7"/>
                                        </p:tgtEl>
                                      </p:cBhvr>
                                    </p:animEffect>
                                    <p:set>
                                      <p:cBhvr>
                                        <p:cTn id="65" dur="1" fill="hold">
                                          <p:stCondLst>
                                            <p:cond delay="499"/>
                                          </p:stCondLst>
                                        </p:cTn>
                                        <p:tgtEl>
                                          <p:spTgt spid="7"/>
                                        </p:tgtEl>
                                        <p:attrNameLst>
                                          <p:attrName>style.visibility</p:attrName>
                                        </p:attrNameLst>
                                      </p:cBhvr>
                                      <p:to>
                                        <p:strVal val="hidden"/>
                                      </p:to>
                                    </p:set>
                                  </p:childTnLst>
                                </p:cTn>
                              </p:par>
                              <p:par>
                                <p:cTn id="66" presetID="22" presetClass="exit" presetSubtype="4" fill="hold" grpId="1" nodeType="withEffect">
                                  <p:stCondLst>
                                    <p:cond delay="0"/>
                                  </p:stCondLst>
                                  <p:childTnLst>
                                    <p:animEffect transition="out" filter="wipe(down)">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8"/>
                                        </p:tgtEl>
                                        <p:attrNameLst>
                                          <p:attrName>style.visibility</p:attrName>
                                        </p:attrNameLst>
                                      </p:cBhvr>
                                      <p:to>
                                        <p:strVal val="visible"/>
                                      </p:to>
                                    </p:set>
                                    <p:animEffect transition="in" filter="wipe(down)">
                                      <p:cBhvr>
                                        <p:cTn id="73" dur="500"/>
                                        <p:tgtEl>
                                          <p:spTgt spid="8"/>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wipe(down)">
                                      <p:cBhvr>
                                        <p:cTn id="76" dur="500"/>
                                        <p:tgtEl>
                                          <p:spTgt spid="14"/>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xit" presetSubtype="4" fill="hold" grpId="1" nodeType="clickEffect">
                                  <p:stCondLst>
                                    <p:cond delay="0"/>
                                  </p:stCondLst>
                                  <p:childTnLst>
                                    <p:animEffect transition="out" filter="wipe(down)">
                                      <p:cBhvr>
                                        <p:cTn id="80" dur="500"/>
                                        <p:tgtEl>
                                          <p:spTgt spid="8"/>
                                        </p:tgtEl>
                                      </p:cBhvr>
                                    </p:animEffect>
                                    <p:set>
                                      <p:cBhvr>
                                        <p:cTn id="81" dur="1" fill="hold">
                                          <p:stCondLst>
                                            <p:cond delay="499"/>
                                          </p:stCondLst>
                                        </p:cTn>
                                        <p:tgtEl>
                                          <p:spTgt spid="8"/>
                                        </p:tgtEl>
                                        <p:attrNameLst>
                                          <p:attrName>style.visibility</p:attrName>
                                        </p:attrNameLst>
                                      </p:cBhvr>
                                      <p:to>
                                        <p:strVal val="hidden"/>
                                      </p:to>
                                    </p:set>
                                  </p:childTnLst>
                                </p:cTn>
                              </p:par>
                              <p:par>
                                <p:cTn id="82" presetID="22" presetClass="exit" presetSubtype="4" fill="hold" grpId="1" nodeType="withEffect">
                                  <p:stCondLst>
                                    <p:cond delay="0"/>
                                  </p:stCondLst>
                                  <p:childTnLst>
                                    <p:animEffect transition="out" filter="wipe(down)">
                                      <p:cBhvr>
                                        <p:cTn id="83" dur="500"/>
                                        <p:tgtEl>
                                          <p:spTgt spid="14"/>
                                        </p:tgtEl>
                                      </p:cBhvr>
                                    </p:animEffect>
                                    <p:set>
                                      <p:cBhvr>
                                        <p:cTn id="84"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2" grpId="0" animBg="1"/>
      <p:bldP spid="12" grpId="1" animBg="1"/>
      <p:bldP spid="13" grpId="0" animBg="1"/>
      <p:bldP spid="13" grpId="1" animBg="1"/>
      <p:bldP spid="14" grpId="0" animBg="1"/>
      <p:bldP spid="14"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4" name="Rectangle 2"/>
          <p:cNvSpPr>
            <a:spLocks noChangeArrowheads="1"/>
          </p:cNvSpPr>
          <p:nvPr/>
        </p:nvSpPr>
        <p:spPr bwMode="auto">
          <a:xfrm>
            <a:off x="3491880" y="508795"/>
            <a:ext cx="1739987" cy="45367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zh-CN" altLang="en-US" sz="3800" b="1" dirty="0">
                <a:solidFill>
                  <a:srgbClr val="00C4F0"/>
                </a:solidFill>
                <a:latin typeface="微软雅黑" pitchFamily="34" charset="-122"/>
                <a:ea typeface="微软雅黑" pitchFamily="34" charset="-122"/>
              </a:rPr>
              <a:t>检测点答案</a:t>
            </a:r>
            <a:endParaRPr lang="zh-CN" altLang="en-US" sz="3200" b="1" dirty="0">
              <a:solidFill>
                <a:prstClr val="white">
                  <a:lumMod val="65000"/>
                </a:prstClr>
              </a:solidFill>
              <a:latin typeface="Arial"/>
              <a:ea typeface="微软雅黑" pitchFamily="34" charset="-122"/>
              <a:cs typeface="Arial"/>
            </a:endParaRPr>
          </a:p>
        </p:txBody>
      </p:sp>
      <p:sp>
        <p:nvSpPr>
          <p:cNvPr id="6" name="矩形 5"/>
          <p:cNvSpPr/>
          <p:nvPr/>
        </p:nvSpPr>
        <p:spPr>
          <a:xfrm>
            <a:off x="899591" y="2720159"/>
            <a:ext cx="8137115" cy="873661"/>
          </a:xfrm>
          <a:prstGeom prst="rect">
            <a:avLst/>
          </a:prstGeom>
          <a:solidFill>
            <a:srgbClr val="1D8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ea typeface="微软雅黑" panose="020B0503020204020204" pitchFamily="34" charset="-122"/>
              </a:rPr>
              <a:t>1KB</a:t>
            </a:r>
            <a:r>
              <a:rPr lang="zh-CN" altLang="en-US" sz="2000" b="1" dirty="0">
                <a:ea typeface="微软雅黑" panose="020B0503020204020204" pitchFamily="34" charset="-122"/>
              </a:rPr>
              <a:t>个存储器有</a:t>
            </a:r>
            <a:r>
              <a:rPr lang="zh-CN" altLang="en-US" sz="2000" b="1" u="sng" dirty="0">
                <a:ea typeface="微软雅黑" panose="020B0503020204020204" pitchFamily="34" charset="-122"/>
              </a:rPr>
              <a:t>  </a:t>
            </a:r>
            <a:r>
              <a:rPr lang="en-US" altLang="zh-CN" sz="2000" b="1" u="sng" dirty="0">
                <a:ea typeface="微软雅黑" panose="020B0503020204020204" pitchFamily="34" charset="-122"/>
              </a:rPr>
              <a:t>1024</a:t>
            </a:r>
            <a:r>
              <a:rPr lang="zh-CN" altLang="en-US" sz="2000" b="1" u="sng" dirty="0">
                <a:ea typeface="微软雅黑" panose="020B0503020204020204" pitchFamily="34" charset="-122"/>
              </a:rPr>
              <a:t>   </a:t>
            </a:r>
            <a:r>
              <a:rPr lang="zh-CN" altLang="en-US" sz="2000" b="1" dirty="0">
                <a:ea typeface="微软雅黑" panose="020B0503020204020204" pitchFamily="34" charset="-122"/>
              </a:rPr>
              <a:t>个存储单元，地址编号从</a:t>
            </a:r>
            <a:r>
              <a:rPr lang="zh-CN" altLang="en-US" sz="2000" b="1" u="sng" dirty="0">
                <a:ea typeface="微软雅黑" panose="020B0503020204020204" pitchFamily="34" charset="-122"/>
              </a:rPr>
              <a:t>    </a:t>
            </a:r>
            <a:r>
              <a:rPr lang="en-US" altLang="zh-CN" sz="2000" b="1" u="sng" dirty="0">
                <a:ea typeface="微软雅黑" panose="020B0503020204020204" pitchFamily="34" charset="-122"/>
              </a:rPr>
              <a:t>000</a:t>
            </a:r>
            <a:r>
              <a:rPr lang="zh-CN" altLang="en-US" sz="2000" b="1" u="sng" dirty="0">
                <a:ea typeface="微软雅黑" panose="020B0503020204020204" pitchFamily="34" charset="-122"/>
              </a:rPr>
              <a:t>   </a:t>
            </a:r>
            <a:r>
              <a:rPr lang="zh-CN" altLang="en-US" sz="2000" b="1" dirty="0">
                <a:ea typeface="微软雅黑" panose="020B0503020204020204" pitchFamily="34" charset="-122"/>
              </a:rPr>
              <a:t>到 </a:t>
            </a:r>
            <a:r>
              <a:rPr lang="zh-CN" altLang="en-US" sz="2000" b="1" u="sng" dirty="0">
                <a:ea typeface="微软雅黑" panose="020B0503020204020204" pitchFamily="34" charset="-122"/>
              </a:rPr>
              <a:t>     </a:t>
            </a:r>
            <a:r>
              <a:rPr lang="en-US" altLang="zh-CN" sz="2000" b="1" u="sng" dirty="0">
                <a:ea typeface="微软雅黑" panose="020B0503020204020204" pitchFamily="34" charset="-122"/>
              </a:rPr>
              <a:t>3FFH</a:t>
            </a:r>
            <a:r>
              <a:rPr lang="zh-CN" altLang="en-US" sz="2000" b="1" u="sng" dirty="0">
                <a:ea typeface="微软雅黑" panose="020B0503020204020204" pitchFamily="34" charset="-122"/>
              </a:rPr>
              <a:t>  </a:t>
            </a:r>
            <a:r>
              <a:rPr lang="zh-CN" altLang="en-US" sz="2000" b="1" dirty="0">
                <a:ea typeface="微软雅黑" panose="020B0503020204020204" pitchFamily="34" charset="-122"/>
              </a:rPr>
              <a:t>。</a:t>
            </a:r>
          </a:p>
        </p:txBody>
      </p:sp>
      <p:sp>
        <p:nvSpPr>
          <p:cNvPr id="7" name="矩形 6"/>
          <p:cNvSpPr/>
          <p:nvPr/>
        </p:nvSpPr>
        <p:spPr>
          <a:xfrm>
            <a:off x="899592" y="3779475"/>
            <a:ext cx="8137116" cy="87366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ea typeface="微软雅黑" panose="020B0503020204020204" pitchFamily="34" charset="-122"/>
              </a:rPr>
              <a:t>1KB</a:t>
            </a:r>
            <a:r>
              <a:rPr lang="zh-CN" altLang="en-US" sz="2000" b="1" dirty="0">
                <a:ea typeface="微软雅黑" panose="020B0503020204020204" pitchFamily="34" charset="-122"/>
              </a:rPr>
              <a:t>、</a:t>
            </a:r>
            <a:r>
              <a:rPr lang="en-US" altLang="zh-CN" sz="2000" b="1" dirty="0">
                <a:ea typeface="微软雅黑" panose="020B0503020204020204" pitchFamily="34" charset="-122"/>
              </a:rPr>
              <a:t>1MB</a:t>
            </a:r>
            <a:r>
              <a:rPr lang="zh-CN" altLang="en-US" sz="2000" b="1" dirty="0">
                <a:ea typeface="微软雅黑" panose="020B0503020204020204" pitchFamily="34" charset="-122"/>
              </a:rPr>
              <a:t>、</a:t>
            </a:r>
            <a:r>
              <a:rPr lang="en-US" altLang="zh-CN" sz="2000" b="1" dirty="0">
                <a:ea typeface="微软雅黑" panose="020B0503020204020204" pitchFamily="34" charset="-122"/>
              </a:rPr>
              <a:t>1GB</a:t>
            </a:r>
            <a:r>
              <a:rPr lang="zh-CN" altLang="en-US" sz="2000" b="1" dirty="0">
                <a:ea typeface="微软雅黑" panose="020B0503020204020204" pitchFamily="34" charset="-122"/>
              </a:rPr>
              <a:t>分别是 </a:t>
            </a:r>
            <a:r>
              <a:rPr lang="zh-CN" altLang="en-US" sz="2000" b="1" u="sng" dirty="0">
                <a:ea typeface="微软雅黑" panose="020B0503020204020204" pitchFamily="34" charset="-122"/>
              </a:rPr>
              <a:t>   </a:t>
            </a:r>
            <a:r>
              <a:rPr lang="en-US" altLang="zh-CN" sz="2800" b="1" u="sng" dirty="0">
                <a:ea typeface="微软雅黑" panose="020B0503020204020204" pitchFamily="34" charset="-122"/>
              </a:rPr>
              <a:t>2</a:t>
            </a:r>
            <a:r>
              <a:rPr lang="en-US" altLang="zh-CN" sz="2800" b="1" u="sng" baseline="30000" dirty="0">
                <a:ea typeface="微软雅黑" panose="020B0503020204020204" pitchFamily="34" charset="-122"/>
              </a:rPr>
              <a:t>10</a:t>
            </a:r>
            <a:r>
              <a:rPr lang="zh-CN" altLang="en-US" sz="2000" b="1" u="sng" dirty="0">
                <a:ea typeface="微软雅黑" panose="020B0503020204020204" pitchFamily="34" charset="-122"/>
              </a:rPr>
              <a:t>   、 </a:t>
            </a:r>
            <a:r>
              <a:rPr lang="en-US" altLang="zh-CN" sz="2800" b="1" u="sng" dirty="0">
                <a:ea typeface="微软雅黑" panose="020B0503020204020204" pitchFamily="34" charset="-122"/>
              </a:rPr>
              <a:t>2</a:t>
            </a:r>
            <a:r>
              <a:rPr lang="en-US" altLang="zh-CN" sz="2800" b="1" u="sng" baseline="30000" dirty="0">
                <a:ea typeface="微软雅黑" panose="020B0503020204020204" pitchFamily="34" charset="-122"/>
              </a:rPr>
              <a:t>10</a:t>
            </a:r>
            <a:r>
              <a:rPr lang="zh-CN" altLang="en-US" sz="2000" b="1" u="sng" dirty="0">
                <a:ea typeface="微软雅黑" panose="020B0503020204020204" pitchFamily="34" charset="-122"/>
              </a:rPr>
              <a:t>   、 </a:t>
            </a:r>
            <a:r>
              <a:rPr lang="en-US" altLang="zh-CN" sz="2800" b="1" u="sng" dirty="0">
                <a:ea typeface="微软雅黑" panose="020B0503020204020204" pitchFamily="34" charset="-122"/>
              </a:rPr>
              <a:t>2</a:t>
            </a:r>
            <a:r>
              <a:rPr lang="en-US" altLang="zh-CN" sz="2800" b="1" u="sng" baseline="30000" dirty="0">
                <a:ea typeface="微软雅黑" panose="020B0503020204020204" pitchFamily="34" charset="-122"/>
              </a:rPr>
              <a:t>30</a:t>
            </a:r>
            <a:r>
              <a:rPr lang="zh-CN" altLang="en-US" sz="2000" b="1" u="sng" dirty="0">
                <a:ea typeface="微软雅黑" panose="020B0503020204020204" pitchFamily="34" charset="-122"/>
              </a:rPr>
              <a:t>    </a:t>
            </a:r>
            <a:r>
              <a:rPr lang="en-US" altLang="zh-CN" sz="2000" b="1" dirty="0">
                <a:ea typeface="微软雅黑" panose="020B0503020204020204" pitchFamily="34" charset="-122"/>
              </a:rPr>
              <a:t>BYTE</a:t>
            </a:r>
            <a:r>
              <a:rPr lang="zh-CN" altLang="en-US" sz="2000" b="1" dirty="0">
                <a:ea typeface="微软雅黑" panose="020B0503020204020204" pitchFamily="34" charset="-122"/>
              </a:rPr>
              <a:t>。</a:t>
            </a:r>
            <a:endParaRPr lang="zh-CN" altLang="en-US" sz="2000" b="1" u="sng" dirty="0">
              <a:solidFill>
                <a:schemeClr val="bg1"/>
              </a:solidFill>
              <a:ea typeface="微软雅黑" panose="020B0503020204020204" pitchFamily="34" charset="-122"/>
            </a:endParaRPr>
          </a:p>
        </p:txBody>
      </p:sp>
      <p:sp>
        <p:nvSpPr>
          <p:cNvPr id="8" name="矩形 7"/>
          <p:cNvSpPr/>
          <p:nvPr/>
        </p:nvSpPr>
        <p:spPr>
          <a:xfrm>
            <a:off x="899591" y="4859595"/>
            <a:ext cx="8137115" cy="873661"/>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ea typeface="微软雅黑" panose="020B0503020204020204" pitchFamily="34" charset="-122"/>
              </a:rPr>
              <a:t>微型计算机的组成部分包括以为</a:t>
            </a:r>
            <a:r>
              <a:rPr lang="zh-CN" altLang="en-US" sz="2000" b="1" u="sng" dirty="0">
                <a:ea typeface="微软雅黑" panose="020B0503020204020204" pitchFamily="34" charset="-122"/>
              </a:rPr>
              <a:t>              </a:t>
            </a:r>
            <a:r>
              <a:rPr lang="zh-CN" altLang="en-US" sz="2000" b="1" dirty="0">
                <a:ea typeface="微软雅黑" panose="020B0503020204020204" pitchFamily="34" charset="-122"/>
              </a:rPr>
              <a:t>核心， 配上</a:t>
            </a:r>
            <a:r>
              <a:rPr lang="zh-CN" altLang="en-US" sz="2000" b="1" u="sng" dirty="0">
                <a:ea typeface="微软雅黑" panose="020B0503020204020204" pitchFamily="34" charset="-122"/>
              </a:rPr>
              <a:t>             </a:t>
            </a:r>
            <a:r>
              <a:rPr lang="zh-CN" altLang="en-US" sz="2000" b="1" dirty="0">
                <a:ea typeface="微软雅黑" panose="020B0503020204020204" pitchFamily="34" charset="-122"/>
              </a:rPr>
              <a:t> 、</a:t>
            </a:r>
            <a:r>
              <a:rPr lang="zh-CN" altLang="en-US" sz="2000" b="1" u="sng" dirty="0">
                <a:ea typeface="微软雅黑" panose="020B0503020204020204" pitchFamily="34" charset="-122"/>
              </a:rPr>
              <a:t>               </a:t>
            </a:r>
            <a:r>
              <a:rPr lang="zh-CN" altLang="en-US" sz="2000" b="1" dirty="0">
                <a:ea typeface="微软雅黑" panose="020B0503020204020204" pitchFamily="34" charset="-122"/>
              </a:rPr>
              <a:t>、</a:t>
            </a:r>
            <a:r>
              <a:rPr lang="zh-CN" altLang="en-US" sz="2000" b="1" u="sng" dirty="0">
                <a:ea typeface="微软雅黑" panose="020B0503020204020204" pitchFamily="34" charset="-122"/>
              </a:rPr>
              <a:t>              </a:t>
            </a:r>
            <a:r>
              <a:rPr lang="zh-CN" altLang="en-US" sz="2000" b="1" dirty="0">
                <a:ea typeface="微软雅黑" panose="020B0503020204020204" pitchFamily="34" charset="-122"/>
              </a:rPr>
              <a:t>及 </a:t>
            </a:r>
            <a:r>
              <a:rPr lang="zh-CN" altLang="en-US" sz="2000" b="1" u="sng" dirty="0">
                <a:ea typeface="微软雅黑" panose="020B0503020204020204" pitchFamily="34" charset="-122"/>
              </a:rPr>
              <a:t>                           </a:t>
            </a:r>
            <a:r>
              <a:rPr lang="zh-CN" altLang="en-US" sz="2000" b="1" dirty="0">
                <a:ea typeface="微软雅黑" panose="020B0503020204020204" pitchFamily="34" charset="-122"/>
              </a:rPr>
              <a:t>。</a:t>
            </a:r>
            <a:endParaRPr lang="zh-CN" altLang="en-US" sz="2000" b="1" u="sng" dirty="0">
              <a:solidFill>
                <a:schemeClr val="bg1"/>
              </a:solidFill>
              <a:ea typeface="微软雅黑" panose="020B0503020204020204" pitchFamily="34" charset="-122"/>
            </a:endParaRPr>
          </a:p>
        </p:txBody>
      </p:sp>
      <p:sp>
        <p:nvSpPr>
          <p:cNvPr id="9" name="矩形 8"/>
          <p:cNvSpPr/>
          <p:nvPr/>
        </p:nvSpPr>
        <p:spPr>
          <a:xfrm>
            <a:off x="899380" y="1630473"/>
            <a:ext cx="8137116" cy="873661"/>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ea typeface="微软雅黑" panose="020B0503020204020204" pitchFamily="34" charset="-122"/>
              </a:rPr>
              <a:t>1</a:t>
            </a:r>
            <a:r>
              <a:rPr lang="zh-CN" altLang="en-US" sz="2000" b="1" dirty="0">
                <a:ea typeface="微软雅黑" panose="020B0503020204020204" pitchFamily="34" charset="-122"/>
              </a:rPr>
              <a:t>个</a:t>
            </a:r>
            <a:r>
              <a:rPr lang="en-US" altLang="zh-CN" sz="2000" b="1" dirty="0">
                <a:ea typeface="微软雅黑" panose="020B0503020204020204" pitchFamily="34" charset="-122"/>
              </a:rPr>
              <a:t>CPU</a:t>
            </a:r>
            <a:r>
              <a:rPr lang="zh-CN" altLang="en-US" sz="2000" b="1" dirty="0">
                <a:ea typeface="微软雅黑" panose="020B0503020204020204" pitchFamily="34" charset="-122"/>
              </a:rPr>
              <a:t>的寻址能力是</a:t>
            </a:r>
            <a:r>
              <a:rPr lang="en-US" altLang="zh-CN" sz="2000" b="1" dirty="0">
                <a:ea typeface="微软雅黑" panose="020B0503020204020204" pitchFamily="34" charset="-122"/>
              </a:rPr>
              <a:t>8KB</a:t>
            </a:r>
            <a:r>
              <a:rPr lang="zh-CN" altLang="en-US" sz="2000" b="1" dirty="0">
                <a:ea typeface="微软雅黑" panose="020B0503020204020204" pitchFamily="34" charset="-122"/>
              </a:rPr>
              <a:t>，那么它的地址总线的宽度为</a:t>
            </a:r>
            <a:r>
              <a:rPr lang="zh-CN" altLang="en-US" sz="2000" b="1" u="sng" dirty="0">
                <a:solidFill>
                  <a:schemeClr val="bg1"/>
                </a:solidFill>
                <a:ea typeface="微软雅黑" panose="020B0503020204020204" pitchFamily="34" charset="-122"/>
              </a:rPr>
              <a:t>    </a:t>
            </a:r>
            <a:r>
              <a:rPr lang="en-US" altLang="zh-CN" sz="2000" b="1" u="sng" dirty="0">
                <a:solidFill>
                  <a:schemeClr val="bg1"/>
                </a:solidFill>
                <a:ea typeface="微软雅黑" panose="020B0503020204020204" pitchFamily="34" charset="-122"/>
              </a:rPr>
              <a:t>13</a:t>
            </a:r>
            <a:r>
              <a:rPr lang="zh-CN" altLang="en-US" sz="2000" b="1" u="sng" dirty="0">
                <a:solidFill>
                  <a:schemeClr val="bg1"/>
                </a:solidFill>
                <a:ea typeface="微软雅黑" panose="020B0503020204020204" pitchFamily="34" charset="-122"/>
              </a:rPr>
              <a:t>     </a:t>
            </a:r>
            <a:r>
              <a:rPr lang="zh-CN" altLang="en-US" sz="2000" b="1" dirty="0">
                <a:solidFill>
                  <a:schemeClr val="bg1"/>
                </a:solidFill>
                <a:ea typeface="微软雅黑" panose="020B0503020204020204" pitchFamily="34" charset="-122"/>
              </a:rPr>
              <a:t>位。</a:t>
            </a:r>
            <a:r>
              <a:rPr lang="zh-CN" altLang="en-US" sz="2000" b="1" u="sng" dirty="0">
                <a:solidFill>
                  <a:schemeClr val="bg1"/>
                </a:solidFill>
                <a:ea typeface="微软雅黑" panose="020B0503020204020204" pitchFamily="34" charset="-122"/>
              </a:rPr>
              <a:t> </a:t>
            </a:r>
          </a:p>
        </p:txBody>
      </p:sp>
      <p:sp>
        <p:nvSpPr>
          <p:cNvPr id="10" name="矩形 9"/>
          <p:cNvSpPr/>
          <p:nvPr/>
        </p:nvSpPr>
        <p:spPr>
          <a:xfrm>
            <a:off x="323528" y="1630473"/>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1</a:t>
            </a:r>
            <a:endParaRPr lang="zh-CN" altLang="en-US" sz="3200" dirty="0">
              <a:latin typeface="Arial Black" pitchFamily="34" charset="0"/>
            </a:endParaRPr>
          </a:p>
        </p:txBody>
      </p:sp>
      <p:sp>
        <p:nvSpPr>
          <p:cNvPr id="12" name="矩形 11"/>
          <p:cNvSpPr/>
          <p:nvPr/>
        </p:nvSpPr>
        <p:spPr>
          <a:xfrm>
            <a:off x="323528" y="2720158"/>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2</a:t>
            </a:r>
            <a:endParaRPr lang="zh-CN" altLang="en-US" sz="3200" dirty="0">
              <a:latin typeface="Arial Black" pitchFamily="34" charset="0"/>
            </a:endParaRPr>
          </a:p>
        </p:txBody>
      </p:sp>
      <p:sp>
        <p:nvSpPr>
          <p:cNvPr id="13" name="矩形 12"/>
          <p:cNvSpPr/>
          <p:nvPr/>
        </p:nvSpPr>
        <p:spPr>
          <a:xfrm>
            <a:off x="323528" y="3779474"/>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3</a:t>
            </a:r>
            <a:endParaRPr lang="zh-CN" altLang="en-US" sz="3200" dirty="0">
              <a:latin typeface="Arial Black" pitchFamily="34" charset="0"/>
            </a:endParaRPr>
          </a:p>
        </p:txBody>
      </p:sp>
      <p:sp>
        <p:nvSpPr>
          <p:cNvPr id="14" name="矩形 13"/>
          <p:cNvSpPr/>
          <p:nvPr/>
        </p:nvSpPr>
        <p:spPr>
          <a:xfrm>
            <a:off x="323528" y="4859593"/>
            <a:ext cx="575852" cy="8736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Black" pitchFamily="34" charset="0"/>
              </a:rPr>
              <a:t>4</a:t>
            </a:r>
            <a:endParaRPr lang="zh-CN" altLang="en-US" sz="3200" dirty="0">
              <a:latin typeface="Arial Black" pitchFamily="34" charset="0"/>
            </a:endParaRPr>
          </a:p>
        </p:txBody>
      </p:sp>
    </p:spTree>
    <p:extLst>
      <p:ext uri="{BB962C8B-B14F-4D97-AF65-F5344CB8AC3E}">
        <p14:creationId xmlns:p14="http://schemas.microsoft.com/office/powerpoint/2010/main" val="2095715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4"/>
          <p:cNvSpPr>
            <a:spLocks noChangeArrowheads="1"/>
          </p:cNvSpPr>
          <p:nvPr/>
        </p:nvSpPr>
        <p:spPr bwMode="auto">
          <a:xfrm>
            <a:off x="590792" y="1670025"/>
            <a:ext cx="8157672" cy="3487108"/>
          </a:xfrm>
          <a:prstGeom prst="rect">
            <a:avLst/>
          </a:prstGeom>
          <a:noFill/>
          <a:ln w="9525">
            <a:noFill/>
            <a:miter lim="800000"/>
            <a:headEnd/>
            <a:tailEnd/>
          </a:ln>
        </p:spPr>
        <p:txBody>
          <a:bodyPr wrap="square">
            <a:spAutoFit/>
          </a:bodyPr>
          <a:lstStyle/>
          <a:p>
            <a:pPr marL="285750" indent="-285750">
              <a:lnSpc>
                <a:spcPct val="130000"/>
              </a:lnSpc>
              <a:spcBef>
                <a:spcPts val="200"/>
              </a:spcBef>
              <a:spcAft>
                <a:spcPts val="60"/>
              </a:spcAft>
              <a:buFont typeface="Wingdings" panose="05000000000000000000" pitchFamily="2" charset="2"/>
              <a:buChar char="n"/>
            </a:pPr>
            <a:r>
              <a:rPr lang="zh-CN" altLang="en-US" b="1" dirty="0">
                <a:solidFill>
                  <a:srgbClr val="1D8DE5"/>
                </a:solidFill>
                <a:latin typeface="微软雅黑" pitchFamily="34" charset="-122"/>
                <a:ea typeface="微软雅黑" pitchFamily="34" charset="-122"/>
              </a:rPr>
              <a:t>电脑内存或文件内容只是一个一维二进制字节数组及其对应的二进制地址；</a:t>
            </a:r>
            <a:endParaRPr lang="en-US" altLang="zh-CN" b="1" dirty="0">
              <a:solidFill>
                <a:srgbClr val="1D8DE5"/>
              </a:solidFill>
              <a:latin typeface="微软雅黑" pitchFamily="34" charset="-122"/>
              <a:ea typeface="微软雅黑" pitchFamily="34" charset="-122"/>
            </a:endParaRPr>
          </a:p>
          <a:p>
            <a:pPr marL="285750" indent="-285750">
              <a:lnSpc>
                <a:spcPct val="130000"/>
              </a:lnSpc>
              <a:spcBef>
                <a:spcPts val="200"/>
              </a:spcBef>
              <a:spcAft>
                <a:spcPts val="60"/>
              </a:spcAft>
              <a:buFont typeface="Wingdings" panose="05000000000000000000" pitchFamily="2" charset="2"/>
              <a:buChar char="n"/>
            </a:pPr>
            <a:r>
              <a:rPr lang="zh-CN" altLang="en-US" b="1" dirty="0">
                <a:solidFill>
                  <a:srgbClr val="FF3255"/>
                </a:solidFill>
                <a:latin typeface="微软雅黑" pitchFamily="34" charset="-122"/>
                <a:ea typeface="微软雅黑" pitchFamily="34" charset="-122"/>
              </a:rPr>
              <a:t>人脑才将电脑内存或文件内容中的这个一维二进制字节数组及其对应的二进制地址的某些部分看成是</a:t>
            </a:r>
            <a:r>
              <a:rPr lang="zh-CN" altLang="en-US" b="1" dirty="0">
                <a:solidFill>
                  <a:schemeClr val="tx1">
                    <a:lumMod val="50000"/>
                    <a:lumOff val="50000"/>
                  </a:schemeClr>
                </a:solidFill>
                <a:latin typeface="微软雅黑" pitchFamily="34" charset="-122"/>
                <a:ea typeface="微软雅黑" pitchFamily="34" charset="-122"/>
              </a:rPr>
              <a:t>：</a:t>
            </a:r>
            <a:endParaRPr lang="en-US" altLang="zh-CN" b="1" dirty="0">
              <a:solidFill>
                <a:schemeClr val="tx1">
                  <a:lumMod val="50000"/>
                  <a:lumOff val="50000"/>
                </a:schemeClr>
              </a:solidFill>
              <a:latin typeface="微软雅黑" pitchFamily="34" charset="-122"/>
              <a:ea typeface="微软雅黑" pitchFamily="34" charset="-122"/>
            </a:endParaRPr>
          </a:p>
          <a:p>
            <a:pPr marL="742950" lvl="1" indent="-285750">
              <a:lnSpc>
                <a:spcPct val="130000"/>
              </a:lnSpc>
              <a:spcBef>
                <a:spcPts val="200"/>
              </a:spcBef>
              <a:spcAft>
                <a:spcPts val="60"/>
              </a:spcAft>
              <a:buFont typeface="Wingdings" panose="05000000000000000000" pitchFamily="2" charset="2"/>
              <a:buChar char="u"/>
            </a:pPr>
            <a:r>
              <a:rPr lang="zh-CN" altLang="en-US" b="1" dirty="0">
                <a:solidFill>
                  <a:schemeClr val="tx1">
                    <a:lumMod val="50000"/>
                    <a:lumOff val="50000"/>
                  </a:schemeClr>
                </a:solidFill>
                <a:latin typeface="微软雅黑" pitchFamily="34" charset="-122"/>
                <a:ea typeface="微软雅黑" pitchFamily="34" charset="-122"/>
              </a:rPr>
              <a:t>整数、有符号数</a:t>
            </a:r>
            <a:r>
              <a:rPr lang="en-US" altLang="zh-CN" b="1" dirty="0">
                <a:solidFill>
                  <a:schemeClr val="tx1">
                    <a:lumMod val="50000"/>
                    <a:lumOff val="50000"/>
                  </a:schemeClr>
                </a:solidFill>
                <a:latin typeface="微软雅黑" pitchFamily="34" charset="-122"/>
                <a:ea typeface="微软雅黑" pitchFamily="34" charset="-122"/>
              </a:rPr>
              <a:t>/</a:t>
            </a:r>
            <a:r>
              <a:rPr lang="zh-CN" altLang="en-US" b="1" dirty="0">
                <a:solidFill>
                  <a:schemeClr val="tx1">
                    <a:lumMod val="50000"/>
                    <a:lumOff val="50000"/>
                  </a:schemeClr>
                </a:solidFill>
                <a:latin typeface="微软雅黑" pitchFamily="34" charset="-122"/>
                <a:ea typeface="微软雅黑" pitchFamily="34" charset="-122"/>
              </a:rPr>
              <a:t>无符号数、浮点数、复数、英文字母、阿拉伯数字、中文</a:t>
            </a:r>
            <a:r>
              <a:rPr lang="en-US" altLang="zh-CN" b="1" dirty="0">
                <a:solidFill>
                  <a:schemeClr val="tx1">
                    <a:lumMod val="50000"/>
                    <a:lumOff val="50000"/>
                  </a:schemeClr>
                </a:solidFill>
                <a:latin typeface="微软雅黑" pitchFamily="34" charset="-122"/>
                <a:ea typeface="微软雅黑" pitchFamily="34" charset="-122"/>
              </a:rPr>
              <a:t>/</a:t>
            </a:r>
            <a:r>
              <a:rPr lang="zh-CN" altLang="en-US" b="1" dirty="0">
                <a:solidFill>
                  <a:schemeClr val="tx1">
                    <a:lumMod val="50000"/>
                    <a:lumOff val="50000"/>
                  </a:schemeClr>
                </a:solidFill>
                <a:latin typeface="微软雅黑" pitchFamily="34" charset="-122"/>
                <a:ea typeface="微软雅黑" pitchFamily="34" charset="-122"/>
              </a:rPr>
              <a:t>韩文</a:t>
            </a:r>
            <a:r>
              <a:rPr lang="en-US" altLang="zh-CN" b="1" dirty="0">
                <a:solidFill>
                  <a:schemeClr val="tx1">
                    <a:lumMod val="50000"/>
                    <a:lumOff val="50000"/>
                  </a:schemeClr>
                </a:solidFill>
                <a:latin typeface="微软雅黑" pitchFamily="34" charset="-122"/>
                <a:ea typeface="微软雅黑" pitchFamily="34" charset="-122"/>
              </a:rPr>
              <a:t>/</a:t>
            </a:r>
            <a:r>
              <a:rPr lang="zh-CN" altLang="en-US" b="1" dirty="0">
                <a:solidFill>
                  <a:schemeClr val="tx1">
                    <a:lumMod val="50000"/>
                    <a:lumOff val="50000"/>
                  </a:schemeClr>
                </a:solidFill>
                <a:latin typeface="微软雅黑" pitchFamily="34" charset="-122"/>
                <a:ea typeface="微软雅黑" pitchFamily="34" charset="-122"/>
              </a:rPr>
              <a:t>法文、字符</a:t>
            </a:r>
            <a:r>
              <a:rPr lang="en-US" altLang="zh-CN" b="1" dirty="0">
                <a:solidFill>
                  <a:schemeClr val="tx1">
                    <a:lumMod val="50000"/>
                    <a:lumOff val="50000"/>
                  </a:schemeClr>
                </a:solidFill>
                <a:latin typeface="微软雅黑" pitchFamily="34" charset="-122"/>
                <a:ea typeface="微软雅黑" pitchFamily="34" charset="-122"/>
              </a:rPr>
              <a:t>/</a:t>
            </a:r>
            <a:r>
              <a:rPr lang="zh-CN" altLang="en-US" b="1" dirty="0">
                <a:solidFill>
                  <a:schemeClr val="tx1">
                    <a:lumMod val="50000"/>
                    <a:lumOff val="50000"/>
                  </a:schemeClr>
                </a:solidFill>
                <a:latin typeface="微软雅黑" pitchFamily="34" charset="-122"/>
                <a:ea typeface="微软雅黑" pitchFamily="34" charset="-122"/>
              </a:rPr>
              <a:t>字符串；</a:t>
            </a:r>
            <a:endParaRPr lang="en-US" altLang="zh-CN" b="1" dirty="0">
              <a:solidFill>
                <a:schemeClr val="tx1">
                  <a:lumMod val="50000"/>
                  <a:lumOff val="50000"/>
                </a:schemeClr>
              </a:solidFill>
              <a:latin typeface="微软雅黑" pitchFamily="34" charset="-122"/>
              <a:ea typeface="微软雅黑" pitchFamily="34" charset="-122"/>
            </a:endParaRPr>
          </a:p>
          <a:p>
            <a:pPr marL="742950" lvl="1" indent="-285750">
              <a:lnSpc>
                <a:spcPct val="130000"/>
              </a:lnSpc>
              <a:spcBef>
                <a:spcPts val="200"/>
              </a:spcBef>
              <a:spcAft>
                <a:spcPts val="60"/>
              </a:spcAft>
              <a:buFont typeface="Wingdings" panose="05000000000000000000" pitchFamily="2" charset="2"/>
              <a:buChar char="u"/>
            </a:pPr>
            <a:r>
              <a:rPr lang="zh-CN" altLang="en-US" b="1" dirty="0">
                <a:solidFill>
                  <a:schemeClr val="tx1">
                    <a:lumMod val="50000"/>
                    <a:lumOff val="50000"/>
                  </a:schemeClr>
                </a:solidFill>
                <a:latin typeface="微软雅黑" pitchFamily="34" charset="-122"/>
                <a:ea typeface="微软雅黑" pitchFamily="34" charset="-122"/>
              </a:rPr>
              <a:t>汇编指令、函数、函数参数、堆、栈、数组、指针、数组指针、指针数组、数组的数组、指针的指针、二维数组；</a:t>
            </a:r>
            <a:endParaRPr lang="en-US" altLang="zh-CN" b="1" dirty="0">
              <a:solidFill>
                <a:schemeClr val="tx1">
                  <a:lumMod val="50000"/>
                  <a:lumOff val="50000"/>
                </a:schemeClr>
              </a:solidFill>
              <a:latin typeface="微软雅黑" pitchFamily="34" charset="-122"/>
              <a:ea typeface="微软雅黑" pitchFamily="34" charset="-122"/>
            </a:endParaRPr>
          </a:p>
          <a:p>
            <a:pPr marL="742950" lvl="1" indent="-285750">
              <a:lnSpc>
                <a:spcPct val="130000"/>
              </a:lnSpc>
              <a:spcBef>
                <a:spcPts val="200"/>
              </a:spcBef>
              <a:spcAft>
                <a:spcPts val="60"/>
              </a:spcAft>
              <a:buFont typeface="Wingdings" panose="05000000000000000000" pitchFamily="2" charset="2"/>
              <a:buChar char="u"/>
            </a:pPr>
            <a:r>
              <a:rPr lang="zh-CN" altLang="en-US" b="1" dirty="0">
                <a:solidFill>
                  <a:schemeClr val="tx1">
                    <a:lumMod val="50000"/>
                    <a:lumOff val="50000"/>
                  </a:schemeClr>
                </a:solidFill>
                <a:latin typeface="微软雅黑" pitchFamily="34" charset="-122"/>
                <a:ea typeface="微软雅黑" pitchFamily="34" charset="-122"/>
              </a:rPr>
              <a:t>字符点阵、字符笔画的坐标、黑白二值图片、灰度图片、彩色图片、录音、视频、指纹信息、身份证信息</a:t>
            </a:r>
            <a:r>
              <a:rPr lang="en-US" altLang="zh-CN" b="1" dirty="0">
                <a:solidFill>
                  <a:schemeClr val="tx1">
                    <a:lumMod val="50000"/>
                    <a:lumOff val="50000"/>
                  </a:schemeClr>
                </a:solidFill>
                <a:latin typeface="微软雅黑" pitchFamily="34" charset="-122"/>
                <a:ea typeface="微软雅黑" pitchFamily="34" charset="-122"/>
              </a:rPr>
              <a:t>……</a:t>
            </a:r>
            <a:r>
              <a:rPr lang="zh-CN" altLang="en-US" b="1" dirty="0">
                <a:solidFill>
                  <a:schemeClr val="tx1">
                    <a:lumMod val="50000"/>
                    <a:lumOff val="50000"/>
                  </a:schemeClr>
                </a:solidFill>
                <a:latin typeface="微软雅黑" pitchFamily="34" charset="-122"/>
                <a:ea typeface="微软雅黑" pitchFamily="34" charset="-122"/>
              </a:rPr>
              <a:t>。</a:t>
            </a:r>
          </a:p>
        </p:txBody>
      </p:sp>
      <p:pic>
        <p:nvPicPr>
          <p:cNvPr id="4" name="图片 3"/>
          <p:cNvPicPr>
            <a:picLocks noChangeAspect="1"/>
          </p:cNvPicPr>
          <p:nvPr/>
        </p:nvPicPr>
        <p:blipFill>
          <a:blip r:embed="rId2"/>
          <a:stretch>
            <a:fillRect/>
          </a:stretch>
        </p:blipFill>
        <p:spPr>
          <a:xfrm>
            <a:off x="3312393" y="5445224"/>
            <a:ext cx="2771775" cy="933450"/>
          </a:xfrm>
          <a:prstGeom prst="rect">
            <a:avLst/>
          </a:prstGeom>
        </p:spPr>
      </p:pic>
      <p:cxnSp>
        <p:nvCxnSpPr>
          <p:cNvPr id="5" name="直接连接符 4"/>
          <p:cNvCxnSpPr/>
          <p:nvPr/>
        </p:nvCxnSpPr>
        <p:spPr bwMode="auto">
          <a:xfrm>
            <a:off x="1619250" y="1123963"/>
            <a:ext cx="5905500" cy="0"/>
          </a:xfrm>
          <a:prstGeom prst="line">
            <a:avLst/>
          </a:prstGeom>
          <a:noFill/>
          <a:ln w="28575" cap="flat" cmpd="sng" algn="ctr">
            <a:solidFill>
              <a:srgbClr val="FFC000"/>
            </a:solidFill>
            <a:prstDash val="sysDot"/>
          </a:ln>
          <a:effectLst/>
        </p:spPr>
      </p:cxnSp>
      <p:sp>
        <p:nvSpPr>
          <p:cNvPr id="6" name="Rectangle 2"/>
          <p:cNvSpPr>
            <a:spLocks noChangeArrowheads="1"/>
          </p:cNvSpPr>
          <p:nvPr/>
        </p:nvSpPr>
        <p:spPr bwMode="auto">
          <a:xfrm>
            <a:off x="2843808" y="508795"/>
            <a:ext cx="3816424" cy="61516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p>
            <a:pPr eaLnBrk="0" hangingPunct="0">
              <a:buFont typeface="Wingdings" pitchFamily="2" charset="2"/>
              <a:buNone/>
            </a:pPr>
            <a:r>
              <a:rPr lang="en-US" altLang="zh-CN" sz="3800" b="1" dirty="0">
                <a:solidFill>
                  <a:srgbClr val="00B0F0"/>
                </a:solidFill>
                <a:latin typeface="Arial"/>
                <a:ea typeface="微软雅黑" pitchFamily="34" charset="-122"/>
                <a:cs typeface="Arial"/>
              </a:rPr>
              <a:t>CSDN</a:t>
            </a:r>
            <a:r>
              <a:rPr lang="zh-CN" altLang="en-US" sz="3800" b="1" dirty="0">
                <a:solidFill>
                  <a:srgbClr val="00B0F0"/>
                </a:solidFill>
                <a:latin typeface="Arial"/>
                <a:ea typeface="微软雅黑" pitchFamily="34" charset="-122"/>
                <a:cs typeface="Arial"/>
              </a:rPr>
              <a:t>著名回帖</a:t>
            </a:r>
          </a:p>
        </p:txBody>
      </p:sp>
    </p:spTree>
    <p:extLst>
      <p:ext uri="{BB962C8B-B14F-4D97-AF65-F5344CB8AC3E}">
        <p14:creationId xmlns:p14="http://schemas.microsoft.com/office/powerpoint/2010/main" val="1685051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42500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MANAGE_ASSETS" val="FALSE"/>
  <p:tag name="MMPROD_IS_H264" val="0"/>
</p:tagLst>
</file>

<file path=ppt/theme/theme1.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2686</TotalTime>
  <Words>3141</Words>
  <Application>Microsoft Office PowerPoint</Application>
  <PresentationFormat>全屏显示(4:3)</PresentationFormat>
  <Paragraphs>427</Paragraphs>
  <Slides>42</Slides>
  <Notes>23</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42</vt:i4>
      </vt:variant>
    </vt:vector>
  </HeadingPairs>
  <TitlesOfParts>
    <vt:vector size="57" baseType="lpstr">
      <vt:lpstr>Arial Unicode MS</vt:lpstr>
      <vt:lpstr>经典繁仿黑</vt:lpstr>
      <vt:lpstr>楷体</vt:lpstr>
      <vt:lpstr>宋体</vt:lpstr>
      <vt:lpstr>微软简综艺</vt:lpstr>
      <vt:lpstr>微软雅黑</vt:lpstr>
      <vt:lpstr>Arial</vt:lpstr>
      <vt:lpstr>Arial Black</vt:lpstr>
      <vt:lpstr>Broadway</vt:lpstr>
      <vt:lpstr>Calibri</vt:lpstr>
      <vt:lpstr>Tahoma</vt:lpstr>
      <vt:lpstr>Times New Roman</vt:lpstr>
      <vt:lpstr>Wingdings</vt:lpstr>
      <vt:lpstr>2_Office 主题​​</vt:lpstr>
      <vt:lpstr>Visio</vt:lpstr>
      <vt:lpstr>PowerPoint 演示文稿</vt:lpstr>
      <vt:lpstr>PowerPoint 演示文稿</vt:lpstr>
      <vt:lpstr>课程背景• BACKGROUND</vt:lpstr>
      <vt:lpstr>课程目标• OBJECTIVE</vt:lpstr>
      <vt:lpstr>课程收获• GAINS</vt:lpstr>
      <vt:lpstr>课程内容• CONTENT</vt:lpstr>
      <vt:lpstr>先修课程• COURSE</vt:lpstr>
      <vt:lpstr>参考资料• REFERENCE</vt:lpstr>
      <vt:lpstr>学习方法• METHOD</vt:lpstr>
      <vt:lpstr>学习方法• METHOD</vt:lpstr>
      <vt:lpstr>考试方法• SCORE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houxy</cp:lastModifiedBy>
  <cp:revision>322</cp:revision>
  <dcterms:created xsi:type="dcterms:W3CDTF">2012-06-23T00:51:09Z</dcterms:created>
  <dcterms:modified xsi:type="dcterms:W3CDTF">2016-07-30T11:05:25Z</dcterms:modified>
</cp:coreProperties>
</file>