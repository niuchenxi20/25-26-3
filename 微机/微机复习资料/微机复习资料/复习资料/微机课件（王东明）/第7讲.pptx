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4" r:id="rId1"/>
  </p:sldMasterIdLst>
  <p:notesMasterIdLst>
    <p:notesMasterId r:id="rId19"/>
  </p:notesMasterIdLst>
  <p:sldIdLst>
    <p:sldId id="303" r:id="rId2"/>
    <p:sldId id="593" r:id="rId3"/>
    <p:sldId id="599" r:id="rId4"/>
    <p:sldId id="600" r:id="rId5"/>
    <p:sldId id="594" r:id="rId6"/>
    <p:sldId id="595" r:id="rId7"/>
    <p:sldId id="598" r:id="rId8"/>
    <p:sldId id="601" r:id="rId9"/>
    <p:sldId id="602" r:id="rId10"/>
    <p:sldId id="603" r:id="rId11"/>
    <p:sldId id="604" r:id="rId12"/>
    <p:sldId id="605" r:id="rId13"/>
    <p:sldId id="606" r:id="rId14"/>
    <p:sldId id="607" r:id="rId15"/>
    <p:sldId id="608" r:id="rId16"/>
    <p:sldId id="609" r:id="rId17"/>
    <p:sldId id="300" r:id="rId1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255"/>
    <a:srgbClr val="FD7A2A"/>
    <a:srgbClr val="1D8DE5"/>
    <a:srgbClr val="00B050"/>
    <a:srgbClr val="608F60"/>
    <a:srgbClr val="5DCB08"/>
    <a:srgbClr val="2ABDF2"/>
    <a:srgbClr val="FF9300"/>
    <a:srgbClr val="FBFBFB"/>
    <a:srgbClr val="7F7F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8B1032C-EA38-4F05-BA0D-38AFFFC7BED3}" styleName="浅色样式 3 - 强调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801" autoAdjust="0"/>
    <p:restoredTop sz="72926" autoAdjust="0"/>
  </p:normalViewPr>
  <p:slideViewPr>
    <p:cSldViewPr>
      <p:cViewPr varScale="1">
        <p:scale>
          <a:sx n="49" d="100"/>
          <a:sy n="49" d="100"/>
        </p:scale>
        <p:origin x="1620" y="48"/>
      </p:cViewPr>
      <p:guideLst>
        <p:guide orient="horz" pos="2160"/>
        <p:guide pos="2880"/>
      </p:guideLst>
    </p:cSldViewPr>
  </p:slideViewPr>
  <p:notesTextViewPr>
    <p:cViewPr>
      <p:scale>
        <a:sx n="125" d="100"/>
        <a:sy n="12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84524F-5C8C-4CF8-964C-68B44E826FEE}" type="datetimeFigureOut">
              <a:rPr lang="en-US" smtClean="0"/>
              <a:t>4/19/2016</a:t>
            </a:fld>
            <a:endParaRPr 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E00F3E-42E3-47B8-AD52-3484E0D8A9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02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微软雅黑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微软雅黑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微软雅黑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微软雅黑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E00F3E-42E3-47B8-AD52-3484E0D8A9E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9463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E00F3E-42E3-47B8-AD52-3484E0D8A9E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4628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蓝色表示伪指令，红色表示指令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E00F3E-42E3-47B8-AD52-3484E0D8A9E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3751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蓝色表示伪指令，红色表示指令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E00F3E-42E3-47B8-AD52-3484E0D8A9E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79576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E00F3E-42E3-47B8-AD52-3484E0D8A9E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4929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蓝色表示伪指令，红色表示指令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E00F3E-42E3-47B8-AD52-3484E0D8A9E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20557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蓝色表示伪指令，红色表示指令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E00F3E-42E3-47B8-AD52-3484E0D8A9E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31982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蓝色表示伪指令，红色表示指令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E00F3E-42E3-47B8-AD52-3484E0D8A9E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167672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蓝色表示伪指令，红色表示指令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E00F3E-42E3-47B8-AD52-3484E0D8A9E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849654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E00F3E-42E3-47B8-AD52-3484E0D8A9E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721680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蓝色表示伪指令，红色表示指令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E00F3E-42E3-47B8-AD52-3484E0D8A9E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956820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E00F3E-42E3-47B8-AD52-3484E0D8A9E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548747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蓝色表示伪指令，红色表示指令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E00F3E-42E3-47B8-AD52-3484E0D8A9EB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395491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E00F3E-42E3-47B8-AD52-3484E0D8A9EB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35905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hyperlink" Target="http://www.eyefulpresentations.co.uk/" TargetMode="External"/><Relationship Id="rId7" Type="http://schemas.openxmlformats.org/officeDocument/2006/relationships/image" Target="../media/image7.png"/><Relationship Id="rId2" Type="http://schemas.openxmlformats.org/officeDocument/2006/relationships/hyperlink" Target="mailto:info@eyefulpresentations.co.uk" TargetMode="External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jpg"/><Relationship Id="rId5" Type="http://schemas.openxmlformats.org/officeDocument/2006/relationships/image" Target="../media/image5.jpg"/><Relationship Id="rId4" Type="http://schemas.openxmlformats.org/officeDocument/2006/relationships/image" Target="../media/image4.jpg"/><Relationship Id="rId9" Type="http://schemas.openxmlformats.org/officeDocument/2006/relationships/image" Target="../media/image9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 1032"/>
          <p:cNvSpPr txBox="1">
            <a:spLocks noChangeArrowheads="1"/>
          </p:cNvSpPr>
          <p:nvPr userDrawn="1"/>
        </p:nvSpPr>
        <p:spPr bwMode="auto">
          <a:xfrm>
            <a:off x="539552" y="1187777"/>
            <a:ext cx="7488832" cy="8925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b" anchorCtr="1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9pPr>
          </a:lstStyle>
          <a:p>
            <a:pPr algn="l" eaLnBrk="1" hangingPunct="1">
              <a:lnSpc>
                <a:spcPct val="130000"/>
              </a:lnSpc>
              <a:defRPr/>
            </a:pPr>
            <a:r>
              <a:rPr lang="zh-CN" altLang="en-US" sz="400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第四章  </a:t>
            </a:r>
            <a:r>
              <a:rPr lang="en-US" altLang="zh-CN" sz="400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8086</a:t>
            </a:r>
            <a:r>
              <a:rPr lang="zh-CN" altLang="en-US" sz="400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汇编语言程序设计</a:t>
            </a:r>
          </a:p>
        </p:txBody>
      </p:sp>
      <p:cxnSp>
        <p:nvCxnSpPr>
          <p:cNvPr id="8" name="直接连接符 7"/>
          <p:cNvCxnSpPr/>
          <p:nvPr userDrawn="1"/>
        </p:nvCxnSpPr>
        <p:spPr bwMode="auto">
          <a:xfrm>
            <a:off x="755576" y="2349500"/>
            <a:ext cx="7129288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algn="ctr" rotWithShape="0">
              <a:prstClr val="black">
                <a:alpha val="64000"/>
              </a:prstClr>
            </a:outerShdw>
          </a:effectLst>
        </p:spPr>
      </p:cxnSp>
      <p:sp>
        <p:nvSpPr>
          <p:cNvPr id="9" name="矩形 8"/>
          <p:cNvSpPr>
            <a:spLocks noChangeArrowheads="1"/>
          </p:cNvSpPr>
          <p:nvPr userDrawn="1"/>
        </p:nvSpPr>
        <p:spPr bwMode="auto">
          <a:xfrm>
            <a:off x="755576" y="549275"/>
            <a:ext cx="395922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微机系统与接口</a:t>
            </a:r>
            <a:r>
              <a:rPr lang="en-US" altLang="zh-CN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——</a:t>
            </a:r>
            <a:endParaRPr lang="zh-CN" altLang="en-US" b="1" dirty="0">
              <a:solidFill>
                <a:schemeClr val="tx1">
                  <a:lumMod val="65000"/>
                  <a:lumOff val="35000"/>
                </a:schemeClr>
              </a:solidFill>
              <a:ea typeface="微软雅黑" panose="020B0503020204020204" pitchFamily="34" charset="-122"/>
            </a:endParaRPr>
          </a:p>
        </p:txBody>
      </p:sp>
      <p:sp>
        <p:nvSpPr>
          <p:cNvPr id="10" name="TextBox 9"/>
          <p:cNvSpPr txBox="1">
            <a:spLocks noChangeArrowheads="1"/>
          </p:cNvSpPr>
          <p:nvPr userDrawn="1"/>
        </p:nvSpPr>
        <p:spPr bwMode="auto">
          <a:xfrm>
            <a:off x="827089" y="2508250"/>
            <a:ext cx="3096840" cy="354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1700" b="1" dirty="0">
                <a:solidFill>
                  <a:srgbClr val="FC6204"/>
                </a:solidFill>
                <a:latin typeface="微软雅黑" pitchFamily="34" charset="-122"/>
                <a:ea typeface="微软雅黑" pitchFamily="34" charset="-122"/>
                <a:cs typeface="Tahoma" pitchFamily="34" charset="0"/>
              </a:rPr>
              <a:t>东南大学信息科学与工程学院</a:t>
            </a:r>
            <a:endParaRPr lang="en-US" altLang="zh-CN" sz="1700" b="1" dirty="0">
              <a:solidFill>
                <a:srgbClr val="FC6204"/>
              </a:solidFill>
              <a:latin typeface="微软雅黑" pitchFamily="34" charset="-122"/>
              <a:ea typeface="微软雅黑" pitchFamily="34" charset="-122"/>
              <a:cs typeface="Tahoma" pitchFamily="34" charset="0"/>
            </a:endParaRPr>
          </a:p>
        </p:txBody>
      </p:sp>
      <p:sp>
        <p:nvSpPr>
          <p:cNvPr id="17" name="TextBox 18"/>
          <p:cNvSpPr txBox="1"/>
          <p:nvPr userDrawn="1"/>
        </p:nvSpPr>
        <p:spPr>
          <a:xfrm>
            <a:off x="7235825" y="5733256"/>
            <a:ext cx="1152599" cy="46166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reflection blurRad="6350" stA="55000" endA="300" endPos="45500" dir="5400000" sy="-100000" algn="bl" rotWithShape="0"/>
                </a:effectLst>
                <a:latin typeface="Broadway" pitchFamily="82" charset="0"/>
                <a:ea typeface="微软雅黑" panose="020B0503020204020204" pitchFamily="34" charset="-122"/>
                <a:cs typeface="经典繁仿黑" pitchFamily="49" charset="-122"/>
              </a:rPr>
              <a:t>王东明</a:t>
            </a:r>
          </a:p>
        </p:txBody>
      </p:sp>
      <p:pic>
        <p:nvPicPr>
          <p:cNvPr id="18" name="Picture 2" descr="D:\Teliss_Tong\Copy\定期备份\工作备份\！PPT图片及版面资源\06-PPT精选插图\04-图标\59E394F1F59BE1688CBD1D9A59D1E886.png"/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555776" y="2986582"/>
            <a:ext cx="2885504" cy="3138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812145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7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2" presetClass="entr" presetSubtype="4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0" grpId="0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1043608" y="0"/>
            <a:ext cx="1080120" cy="1052736"/>
          </a:xfrm>
          <a:prstGeom prst="rect">
            <a:avLst/>
          </a:prstGeom>
          <a:solidFill>
            <a:srgbClr val="FF910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3" name="TextBox 2"/>
          <p:cNvSpPr txBox="1"/>
          <p:nvPr userDrawn="1"/>
        </p:nvSpPr>
        <p:spPr>
          <a:xfrm>
            <a:off x="1043608" y="548680"/>
            <a:ext cx="10801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前言</a:t>
            </a:r>
          </a:p>
        </p:txBody>
      </p:sp>
      <p:sp>
        <p:nvSpPr>
          <p:cNvPr id="4" name="椭圆 3"/>
          <p:cNvSpPr/>
          <p:nvPr userDrawn="1"/>
        </p:nvSpPr>
        <p:spPr>
          <a:xfrm>
            <a:off x="8461631" y="6348095"/>
            <a:ext cx="360000" cy="360000"/>
          </a:xfrm>
          <a:prstGeom prst="ellipse">
            <a:avLst/>
          </a:prstGeom>
          <a:solidFill>
            <a:schemeClr val="bg1">
              <a:lumMod val="75000"/>
              <a:alpha val="3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TextBox 15"/>
          <p:cNvSpPr txBox="1"/>
          <p:nvPr userDrawn="1"/>
        </p:nvSpPr>
        <p:spPr>
          <a:xfrm>
            <a:off x="8316416" y="6358818"/>
            <a:ext cx="6504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2EEF1883-7A0E-4F66-9932-E581691AD397}" type="slidenum">
              <a:rPr lang="zh-CN" altLang="en-US" sz="160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pPr algn="ctr"/>
              <a:t>‹#›</a:t>
            </a:fld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</a:t>
            </a:r>
            <a:endParaRPr lang="zh-CN" altLang="en-US" sz="1600" b="0" dirty="0">
              <a:solidFill>
                <a:schemeClr val="tx1">
                  <a:lumMod val="65000"/>
                  <a:lumOff val="3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374160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1043608" y="0"/>
            <a:ext cx="1080120" cy="1052736"/>
          </a:xfrm>
          <a:prstGeom prst="rect">
            <a:avLst/>
          </a:prstGeom>
          <a:solidFill>
            <a:srgbClr val="FF910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3" name="TextBox 2"/>
          <p:cNvSpPr txBox="1"/>
          <p:nvPr userDrawn="1"/>
        </p:nvSpPr>
        <p:spPr>
          <a:xfrm>
            <a:off x="1043608" y="526368"/>
            <a:ext cx="10801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目录页</a:t>
            </a:r>
          </a:p>
        </p:txBody>
      </p:sp>
      <p:sp>
        <p:nvSpPr>
          <p:cNvPr id="6" name="椭圆 5"/>
          <p:cNvSpPr/>
          <p:nvPr userDrawn="1"/>
        </p:nvSpPr>
        <p:spPr>
          <a:xfrm>
            <a:off x="8461631" y="6348095"/>
            <a:ext cx="360000" cy="360000"/>
          </a:xfrm>
          <a:prstGeom prst="ellipse">
            <a:avLst/>
          </a:prstGeom>
          <a:solidFill>
            <a:schemeClr val="bg1">
              <a:lumMod val="75000"/>
              <a:alpha val="3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TextBox 15"/>
          <p:cNvSpPr txBox="1"/>
          <p:nvPr userDrawn="1"/>
        </p:nvSpPr>
        <p:spPr>
          <a:xfrm>
            <a:off x="8316416" y="6358818"/>
            <a:ext cx="6504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2EEF1883-7A0E-4F66-9932-E581691AD397}" type="slidenum">
              <a:rPr lang="zh-CN" altLang="en-US" sz="160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pPr algn="ctr"/>
              <a:t>‹#›</a:t>
            </a:fld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</a:t>
            </a:r>
            <a:endParaRPr lang="zh-CN" altLang="en-US" sz="1600" b="0" dirty="0">
              <a:solidFill>
                <a:schemeClr val="tx1">
                  <a:lumMod val="65000"/>
                  <a:lumOff val="3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pic>
        <p:nvPicPr>
          <p:cNvPr id="18" name="Picture 3" descr="D:\Teliss_Tong\Copy\定期备份\工作备份\！PPT图片及版面资源\06-PPT精选插图\04-图标\西装小人.png"/>
          <p:cNvPicPr>
            <a:picLocks noChangeAspect="1" noChangeArrowheads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043608" y="1852068"/>
            <a:ext cx="2210937" cy="30980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107665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1043608" y="0"/>
            <a:ext cx="1080120" cy="1052736"/>
          </a:xfrm>
          <a:prstGeom prst="rect">
            <a:avLst/>
          </a:prstGeom>
          <a:solidFill>
            <a:srgbClr val="FF910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3" name="TextBox 2"/>
          <p:cNvSpPr txBox="1"/>
          <p:nvPr userDrawn="1"/>
        </p:nvSpPr>
        <p:spPr>
          <a:xfrm>
            <a:off x="1043608" y="526368"/>
            <a:ext cx="10801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过渡页</a:t>
            </a:r>
          </a:p>
        </p:txBody>
      </p:sp>
      <p:sp>
        <p:nvSpPr>
          <p:cNvPr id="6" name="椭圆 5"/>
          <p:cNvSpPr/>
          <p:nvPr userDrawn="1"/>
        </p:nvSpPr>
        <p:spPr>
          <a:xfrm>
            <a:off x="8461631" y="6348095"/>
            <a:ext cx="360000" cy="360000"/>
          </a:xfrm>
          <a:prstGeom prst="ellipse">
            <a:avLst/>
          </a:prstGeom>
          <a:solidFill>
            <a:schemeClr val="bg1">
              <a:lumMod val="75000"/>
              <a:alpha val="3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TextBox 15"/>
          <p:cNvSpPr txBox="1"/>
          <p:nvPr userDrawn="1"/>
        </p:nvSpPr>
        <p:spPr>
          <a:xfrm>
            <a:off x="8316416" y="6358818"/>
            <a:ext cx="6504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2EEF1883-7A0E-4F66-9932-E581691AD397}" type="slidenum">
              <a:rPr lang="zh-CN" altLang="en-US" sz="160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pPr algn="ctr"/>
              <a:t>‹#›</a:t>
            </a:fld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</a:t>
            </a:r>
            <a:endParaRPr lang="zh-CN" altLang="en-US" sz="1600" b="0" dirty="0">
              <a:solidFill>
                <a:schemeClr val="tx1">
                  <a:lumMod val="65000"/>
                  <a:lumOff val="3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461693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643541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 userDrawn="1"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3" name="Rectangle 2"/>
          <p:cNvSpPr>
            <a:spLocks noChangeArrowheads="1"/>
          </p:cNvSpPr>
          <p:nvPr userDrawn="1"/>
        </p:nvSpPr>
        <p:spPr bwMode="auto">
          <a:xfrm>
            <a:off x="1619251" y="548680"/>
            <a:ext cx="5905499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eaLnBrk="0" hangingPunct="0">
              <a:buFont typeface="Wingdings" pitchFamily="2" charset="2"/>
              <a:buNone/>
            </a:pPr>
            <a:endParaRPr lang="zh-CN" altLang="en-US" sz="3200" b="1" dirty="0">
              <a:solidFill>
                <a:prstClr val="white">
                  <a:lumMod val="65000"/>
                </a:prstClr>
              </a:solidFill>
              <a:latin typeface="Times New Roman" panose="02020603050405020304" pitchFamily="18" charset="0"/>
              <a:ea typeface="微软雅黑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23491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60">
            <a:hlinkClick r:id="rId2"/>
          </p:cNvPr>
          <p:cNvSpPr>
            <a:spLocks noChangeArrowheads="1"/>
          </p:cNvSpPr>
          <p:nvPr userDrawn="1"/>
        </p:nvSpPr>
        <p:spPr bwMode="auto">
          <a:xfrm>
            <a:off x="5004049" y="2757241"/>
            <a:ext cx="444010" cy="523875"/>
          </a:xfrm>
          <a:prstGeom prst="ellipse">
            <a:avLst/>
          </a:prstGeom>
          <a:solidFill>
            <a:srgbClr val="0079C5">
              <a:alpha val="0"/>
            </a:srgbClr>
          </a:solidFill>
          <a:ln w="33338">
            <a:noFill/>
            <a:miter lim="800000"/>
            <a:headEnd/>
            <a:tailEnd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solidFill>
                <a:srgbClr val="000000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3" name="Oval 61">
            <a:hlinkClick r:id="rId3"/>
          </p:cNvPr>
          <p:cNvSpPr>
            <a:spLocks noChangeArrowheads="1"/>
          </p:cNvSpPr>
          <p:nvPr userDrawn="1"/>
        </p:nvSpPr>
        <p:spPr bwMode="auto">
          <a:xfrm>
            <a:off x="5016011" y="3565675"/>
            <a:ext cx="420086" cy="521494"/>
          </a:xfrm>
          <a:prstGeom prst="ellipse">
            <a:avLst/>
          </a:prstGeom>
          <a:solidFill>
            <a:srgbClr val="0079C5">
              <a:alpha val="0"/>
            </a:srgbClr>
          </a:solidFill>
          <a:ln w="33338">
            <a:noFill/>
            <a:miter lim="800000"/>
            <a:headEnd/>
            <a:tailEnd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solidFill>
                <a:srgbClr val="000000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4" name="矩形​​ 5"/>
          <p:cNvSpPr>
            <a:spLocks noChangeArrowheads="1"/>
          </p:cNvSpPr>
          <p:nvPr userDrawn="1"/>
        </p:nvSpPr>
        <p:spPr bwMode="auto">
          <a:xfrm>
            <a:off x="98301" y="538162"/>
            <a:ext cx="8964613" cy="3946525"/>
          </a:xfrm>
          <a:prstGeom prst="rect">
            <a:avLst/>
          </a:prstGeom>
          <a:solidFill>
            <a:srgbClr val="00ADDC"/>
          </a:solidFill>
          <a:ln w="9525" cmpd="sng">
            <a:noFill/>
            <a:miter lim="800000"/>
            <a:headEnd/>
            <a:tailEnd/>
          </a:ln>
        </p:spPr>
        <p:txBody>
          <a:bodyPr lIns="288000" anchor="b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zh-CN" sz="2800" dirty="0">
              <a:solidFill>
                <a:prstClr val="white"/>
              </a:solidFill>
              <a:ea typeface="微软雅黑" panose="020B0503020204020204" pitchFamily="34" charset="-122"/>
              <a:sym typeface="Arial" pitchFamily="34" charset="0"/>
            </a:endParaRPr>
          </a:p>
        </p:txBody>
      </p:sp>
      <p:sp>
        <p:nvSpPr>
          <p:cNvPr id="6" name="Line 33"/>
          <p:cNvSpPr>
            <a:spLocks noChangeShapeType="1"/>
          </p:cNvSpPr>
          <p:nvPr userDrawn="1"/>
        </p:nvSpPr>
        <p:spPr bwMode="auto">
          <a:xfrm flipV="1">
            <a:off x="5224465" y="1671390"/>
            <a:ext cx="1587" cy="2700338"/>
          </a:xfrm>
          <a:prstGeom prst="line">
            <a:avLst/>
          </a:prstGeom>
          <a:noFill/>
          <a:ln w="33338">
            <a:solidFill>
              <a:srgbClr val="FFFFFF"/>
            </a:solidFill>
            <a:miter lim="800000"/>
            <a:headEnd/>
            <a:tailEnd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solidFill>
                <a:srgbClr val="FFFFFF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8" name="Freeform 18"/>
          <p:cNvSpPr>
            <a:spLocks/>
          </p:cNvSpPr>
          <p:nvPr userDrawn="1"/>
        </p:nvSpPr>
        <p:spPr bwMode="auto">
          <a:xfrm>
            <a:off x="1366838" y="2767956"/>
            <a:ext cx="201612" cy="1279922"/>
          </a:xfrm>
          <a:custGeom>
            <a:avLst/>
            <a:gdLst>
              <a:gd name="T0" fmla="*/ 127 w 127"/>
              <a:gd name="T1" fmla="*/ 0 h 1075"/>
              <a:gd name="T2" fmla="*/ 0 w 127"/>
              <a:gd name="T3" fmla="*/ 1075 h 1075"/>
              <a:gd name="T4" fmla="*/ 127 w 127"/>
              <a:gd name="T5" fmla="*/ 0 h 1075"/>
              <a:gd name="T6" fmla="*/ 0 60000 65536"/>
              <a:gd name="T7" fmla="*/ 0 60000 65536"/>
              <a:gd name="T8" fmla="*/ 0 60000 65536"/>
              <a:gd name="T9" fmla="*/ 0 w 127"/>
              <a:gd name="T10" fmla="*/ 0 h 1075"/>
              <a:gd name="T11" fmla="*/ 127 w 127"/>
              <a:gd name="T12" fmla="*/ 1075 h 107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27" h="1075">
                <a:moveTo>
                  <a:pt x="127" y="0"/>
                </a:moveTo>
                <a:lnTo>
                  <a:pt x="0" y="1075"/>
                </a:lnTo>
                <a:lnTo>
                  <a:pt x="127" y="0"/>
                </a:lnTo>
                <a:close/>
              </a:path>
            </a:pathLst>
          </a:cu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solidFill>
                <a:srgbClr val="FFFFFF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10" name="Freeform 20"/>
          <p:cNvSpPr>
            <a:spLocks/>
          </p:cNvSpPr>
          <p:nvPr userDrawn="1"/>
        </p:nvSpPr>
        <p:spPr bwMode="auto">
          <a:xfrm>
            <a:off x="2717800" y="2561978"/>
            <a:ext cx="7938" cy="1806178"/>
          </a:xfrm>
          <a:custGeom>
            <a:avLst/>
            <a:gdLst>
              <a:gd name="T0" fmla="*/ 0 w 5"/>
              <a:gd name="T1" fmla="*/ 0 h 1517"/>
              <a:gd name="T2" fmla="*/ 5 w 5"/>
              <a:gd name="T3" fmla="*/ 1517 h 1517"/>
              <a:gd name="T4" fmla="*/ 0 w 5"/>
              <a:gd name="T5" fmla="*/ 0 h 1517"/>
              <a:gd name="T6" fmla="*/ 0 60000 65536"/>
              <a:gd name="T7" fmla="*/ 0 60000 65536"/>
              <a:gd name="T8" fmla="*/ 0 60000 65536"/>
              <a:gd name="T9" fmla="*/ 0 w 5"/>
              <a:gd name="T10" fmla="*/ 0 h 1517"/>
              <a:gd name="T11" fmla="*/ 5 w 5"/>
              <a:gd name="T12" fmla="*/ 1517 h 151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5" h="1517">
                <a:moveTo>
                  <a:pt x="0" y="0"/>
                </a:moveTo>
                <a:lnTo>
                  <a:pt x="5" y="151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solidFill>
                <a:srgbClr val="FFFFFF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12" name="Oval 22"/>
          <p:cNvSpPr>
            <a:spLocks noChangeArrowheads="1"/>
          </p:cNvSpPr>
          <p:nvPr userDrawn="1"/>
        </p:nvSpPr>
        <p:spPr bwMode="auto">
          <a:xfrm>
            <a:off x="4716019" y="692696"/>
            <a:ext cx="1008109" cy="978694"/>
          </a:xfrm>
          <a:prstGeom prst="ellipse">
            <a:avLst/>
          </a:prstGeom>
          <a:noFill/>
          <a:ln w="33338">
            <a:solidFill>
              <a:srgbClr val="FFFFFF"/>
            </a:solidFill>
            <a:miter lim="800000"/>
            <a:headEnd/>
            <a:tailEnd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solidFill>
                  <a:prstClr val="white"/>
                </a:solidFill>
                <a:ea typeface="微软雅黑" panose="020B0503020204020204" pitchFamily="34" charset="-122"/>
              </a:rPr>
              <a:t>授课教师</a:t>
            </a:r>
          </a:p>
        </p:txBody>
      </p:sp>
      <p:sp>
        <p:nvSpPr>
          <p:cNvPr id="14" name="Oval 25"/>
          <p:cNvSpPr>
            <a:spLocks noChangeArrowheads="1"/>
          </p:cNvSpPr>
          <p:nvPr userDrawn="1"/>
        </p:nvSpPr>
        <p:spPr bwMode="auto">
          <a:xfrm>
            <a:off x="4944003" y="1965479"/>
            <a:ext cx="564102" cy="523876"/>
          </a:xfrm>
          <a:prstGeom prst="ellipse">
            <a:avLst/>
          </a:prstGeom>
          <a:solidFill>
            <a:schemeClr val="accent1"/>
          </a:solidFill>
          <a:ln w="33338">
            <a:solidFill>
              <a:srgbClr val="FFFFFF"/>
            </a:solidFill>
            <a:miter lim="800000"/>
            <a:headEnd/>
            <a:tailEnd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solidFill>
                <a:srgbClr val="000000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grpSp>
        <p:nvGrpSpPr>
          <p:cNvPr id="16" name="Group 63"/>
          <p:cNvGrpSpPr>
            <a:grpSpLocks/>
          </p:cNvGrpSpPr>
          <p:nvPr userDrawn="1"/>
        </p:nvGrpSpPr>
        <p:grpSpPr bwMode="auto">
          <a:xfrm>
            <a:off x="4944004" y="2757241"/>
            <a:ext cx="564100" cy="523875"/>
            <a:chOff x="3073" y="2610"/>
            <a:chExt cx="438" cy="440"/>
          </a:xfrm>
        </p:grpSpPr>
        <p:sp>
          <p:nvSpPr>
            <p:cNvPr id="17" name="Rectangle 28"/>
            <p:cNvSpPr>
              <a:spLocks noChangeArrowheads="1"/>
            </p:cNvSpPr>
            <p:nvPr/>
          </p:nvSpPr>
          <p:spPr bwMode="auto">
            <a:xfrm>
              <a:off x="3181" y="2748"/>
              <a:ext cx="222" cy="164"/>
            </a:xfrm>
            <a:prstGeom prst="rect">
              <a:avLst/>
            </a:prstGeom>
            <a:solidFill>
              <a:srgbClr val="FFFFFF"/>
            </a:solidFill>
            <a:ln w="11113">
              <a:noFill/>
              <a:miter lim="800000"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endParaRPr>
            </a:p>
          </p:txBody>
        </p:sp>
        <p:sp>
          <p:nvSpPr>
            <p:cNvPr id="18" name="Freeform 29"/>
            <p:cNvSpPr>
              <a:spLocks/>
            </p:cNvSpPr>
            <p:nvPr/>
          </p:nvSpPr>
          <p:spPr bwMode="auto">
            <a:xfrm>
              <a:off x="3182" y="2748"/>
              <a:ext cx="220" cy="110"/>
            </a:xfrm>
            <a:custGeom>
              <a:avLst/>
              <a:gdLst>
                <a:gd name="T0" fmla="*/ 0 w 278"/>
                <a:gd name="T1" fmla="*/ 0 h 140"/>
                <a:gd name="T2" fmla="*/ 138 w 278"/>
                <a:gd name="T3" fmla="*/ 140 h 140"/>
                <a:gd name="T4" fmla="*/ 278 w 278"/>
                <a:gd name="T5" fmla="*/ 0 h 140"/>
                <a:gd name="T6" fmla="*/ 0 w 278"/>
                <a:gd name="T7" fmla="*/ 0 h 14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78"/>
                <a:gd name="T13" fmla="*/ 0 h 140"/>
                <a:gd name="T14" fmla="*/ 278 w 278"/>
                <a:gd name="T15" fmla="*/ 140 h 14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78" h="140">
                  <a:moveTo>
                    <a:pt x="0" y="0"/>
                  </a:moveTo>
                  <a:lnTo>
                    <a:pt x="138" y="140"/>
                  </a:lnTo>
                  <a:lnTo>
                    <a:pt x="27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19050" cap="flat" cmpd="sng">
              <a:solidFill>
                <a:schemeClr val="accent1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dirty="0">
                <a:solidFill>
                  <a:srgbClr val="FFFFFF"/>
                </a:solidFill>
                <a:latin typeface="Times New Roman" panose="02020603050405020304" pitchFamily="18" charset="0"/>
                <a:ea typeface="微软雅黑" panose="020B0503020204020204" pitchFamily="34" charset="-122"/>
              </a:endParaRPr>
            </a:p>
          </p:txBody>
        </p:sp>
        <p:sp>
          <p:nvSpPr>
            <p:cNvPr id="19" name="Oval 27"/>
            <p:cNvSpPr>
              <a:spLocks noChangeArrowheads="1"/>
            </p:cNvSpPr>
            <p:nvPr/>
          </p:nvSpPr>
          <p:spPr bwMode="auto">
            <a:xfrm>
              <a:off x="3073" y="2610"/>
              <a:ext cx="438" cy="440"/>
            </a:xfrm>
            <a:prstGeom prst="ellipse">
              <a:avLst/>
            </a:prstGeom>
            <a:solidFill>
              <a:schemeClr val="accent1"/>
            </a:solidFill>
            <a:ln w="33338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0" name="Group 64"/>
          <p:cNvGrpSpPr>
            <a:grpSpLocks/>
          </p:cNvGrpSpPr>
          <p:nvPr userDrawn="1"/>
        </p:nvGrpSpPr>
        <p:grpSpPr bwMode="auto">
          <a:xfrm>
            <a:off x="4944004" y="3565675"/>
            <a:ext cx="564100" cy="521494"/>
            <a:chOff x="3073" y="3289"/>
            <a:chExt cx="438" cy="438"/>
          </a:xfrm>
        </p:grpSpPr>
        <p:sp>
          <p:nvSpPr>
            <p:cNvPr id="21" name="Freeform 32"/>
            <p:cNvSpPr>
              <a:spLocks/>
            </p:cNvSpPr>
            <p:nvPr/>
          </p:nvSpPr>
          <p:spPr bwMode="auto">
            <a:xfrm>
              <a:off x="3173" y="3389"/>
              <a:ext cx="240" cy="241"/>
            </a:xfrm>
            <a:custGeom>
              <a:avLst/>
              <a:gdLst>
                <a:gd name="T0" fmla="*/ 303 w 303"/>
                <a:gd name="T1" fmla="*/ 263 h 305"/>
                <a:gd name="T2" fmla="*/ 171 w 303"/>
                <a:gd name="T3" fmla="*/ 131 h 305"/>
                <a:gd name="T4" fmla="*/ 223 w 303"/>
                <a:gd name="T5" fmla="*/ 77 h 305"/>
                <a:gd name="T6" fmla="*/ 0 w 303"/>
                <a:gd name="T7" fmla="*/ 0 h 305"/>
                <a:gd name="T8" fmla="*/ 76 w 303"/>
                <a:gd name="T9" fmla="*/ 224 h 305"/>
                <a:gd name="T10" fmla="*/ 129 w 303"/>
                <a:gd name="T11" fmla="*/ 170 h 305"/>
                <a:gd name="T12" fmla="*/ 262 w 303"/>
                <a:gd name="T13" fmla="*/ 305 h 305"/>
                <a:gd name="T14" fmla="*/ 303 w 303"/>
                <a:gd name="T15" fmla="*/ 263 h 305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303"/>
                <a:gd name="T25" fmla="*/ 0 h 305"/>
                <a:gd name="T26" fmla="*/ 303 w 303"/>
                <a:gd name="T27" fmla="*/ 305 h 305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303" h="305">
                  <a:moveTo>
                    <a:pt x="303" y="263"/>
                  </a:moveTo>
                  <a:lnTo>
                    <a:pt x="171" y="131"/>
                  </a:lnTo>
                  <a:lnTo>
                    <a:pt x="223" y="77"/>
                  </a:lnTo>
                  <a:lnTo>
                    <a:pt x="0" y="0"/>
                  </a:lnTo>
                  <a:lnTo>
                    <a:pt x="76" y="224"/>
                  </a:lnTo>
                  <a:lnTo>
                    <a:pt x="129" y="170"/>
                  </a:lnTo>
                  <a:lnTo>
                    <a:pt x="262" y="305"/>
                  </a:lnTo>
                  <a:lnTo>
                    <a:pt x="303" y="263"/>
                  </a:lnTo>
                  <a:close/>
                </a:path>
              </a:pathLst>
            </a:custGeom>
            <a:solidFill>
              <a:schemeClr val="bg1"/>
            </a:solidFill>
            <a:ln w="11113" cap="flat">
              <a:noFill/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dirty="0">
                <a:solidFill>
                  <a:srgbClr val="FFFFFF"/>
                </a:solidFill>
                <a:latin typeface="Times New Roman" panose="02020603050405020304" pitchFamily="18" charset="0"/>
                <a:ea typeface="微软雅黑" panose="020B0503020204020204" pitchFamily="34" charset="-122"/>
              </a:endParaRPr>
            </a:p>
          </p:txBody>
        </p:sp>
        <p:sp>
          <p:nvSpPr>
            <p:cNvPr id="22" name="Oval 30"/>
            <p:cNvSpPr>
              <a:spLocks noChangeArrowheads="1"/>
            </p:cNvSpPr>
            <p:nvPr/>
          </p:nvSpPr>
          <p:spPr bwMode="auto">
            <a:xfrm>
              <a:off x="3073" y="3289"/>
              <a:ext cx="438" cy="438"/>
            </a:xfrm>
            <a:prstGeom prst="ellipse">
              <a:avLst/>
            </a:prstGeom>
            <a:solidFill>
              <a:schemeClr val="accent1"/>
            </a:solidFill>
            <a:ln w="33338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endParaRPr>
            </a:p>
          </p:txBody>
        </p:sp>
      </p:grpSp>
      <p:sp>
        <p:nvSpPr>
          <p:cNvPr id="23" name="Line 43"/>
          <p:cNvSpPr>
            <a:spLocks noChangeShapeType="1"/>
          </p:cNvSpPr>
          <p:nvPr userDrawn="1"/>
        </p:nvSpPr>
        <p:spPr bwMode="auto">
          <a:xfrm>
            <a:off x="774700" y="2878685"/>
            <a:ext cx="1588" cy="1190"/>
          </a:xfrm>
          <a:prstGeom prst="line">
            <a:avLst/>
          </a:prstGeom>
          <a:noFill/>
          <a:ln w="9525">
            <a:noFill/>
            <a:round/>
            <a:headEnd/>
            <a:tailEnd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solidFill>
                <a:srgbClr val="FFFFFF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24" name="Line 45"/>
          <p:cNvSpPr>
            <a:spLocks noChangeShapeType="1"/>
          </p:cNvSpPr>
          <p:nvPr userDrawn="1"/>
        </p:nvSpPr>
        <p:spPr bwMode="auto">
          <a:xfrm>
            <a:off x="3741739" y="910581"/>
            <a:ext cx="1587" cy="1191"/>
          </a:xfrm>
          <a:prstGeom prst="line">
            <a:avLst/>
          </a:prstGeom>
          <a:noFill/>
          <a:ln w="9525">
            <a:noFill/>
            <a:round/>
            <a:headEnd/>
            <a:tailEnd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solidFill>
                <a:srgbClr val="FFFFFF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31" name="Text Box 52"/>
          <p:cNvSpPr txBox="1">
            <a:spLocks noChangeArrowheads="1"/>
          </p:cNvSpPr>
          <p:nvPr userDrawn="1"/>
        </p:nvSpPr>
        <p:spPr bwMode="auto">
          <a:xfrm>
            <a:off x="5802759" y="2051200"/>
            <a:ext cx="3233737" cy="3512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altLang="zh-CN" dirty="0">
                <a:solidFill>
                  <a:srgbClr val="FFFFFF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Tel</a:t>
            </a:r>
            <a:r>
              <a:rPr lang="zh-CN" altLang="en-US" dirty="0">
                <a:solidFill>
                  <a:srgbClr val="FFFFFF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：</a:t>
            </a:r>
            <a:r>
              <a:rPr lang="en-US" altLang="zh-CN" dirty="0">
                <a:solidFill>
                  <a:srgbClr val="FFFFFF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13915982595</a:t>
            </a:r>
            <a:endParaRPr lang="en-GB" altLang="zh-CN" dirty="0">
              <a:solidFill>
                <a:srgbClr val="FFFFFF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32" name="Text Box 54"/>
          <p:cNvSpPr txBox="1">
            <a:spLocks noChangeArrowheads="1"/>
          </p:cNvSpPr>
          <p:nvPr userDrawn="1"/>
        </p:nvSpPr>
        <p:spPr bwMode="auto">
          <a:xfrm>
            <a:off x="5796136" y="2842965"/>
            <a:ext cx="2952328" cy="3512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altLang="zh-CN" dirty="0">
                <a:solidFill>
                  <a:srgbClr val="FFFFFF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wangdm@seu.edu.cn</a:t>
            </a:r>
          </a:p>
        </p:txBody>
      </p:sp>
      <p:sp>
        <p:nvSpPr>
          <p:cNvPr id="33" name="Text Box 59"/>
          <p:cNvSpPr txBox="1">
            <a:spLocks noChangeArrowheads="1"/>
          </p:cNvSpPr>
          <p:nvPr userDrawn="1"/>
        </p:nvSpPr>
        <p:spPr bwMode="auto">
          <a:xfrm>
            <a:off x="5796136" y="3668617"/>
            <a:ext cx="1728192" cy="3512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1600" b="1" dirty="0">
                <a:solidFill>
                  <a:srgbClr val="FFFFFF"/>
                </a:solidFill>
                <a:ea typeface="微软雅黑" panose="020B0503020204020204" pitchFamily="34" charset="-122"/>
              </a:rPr>
              <a:t>无线谷</a:t>
            </a:r>
            <a:r>
              <a:rPr lang="en-US" altLang="zh-CN" sz="1600" b="1" dirty="0">
                <a:solidFill>
                  <a:srgbClr val="FFFFFF"/>
                </a:solidFill>
                <a:ea typeface="微软雅黑" panose="020B0503020204020204" pitchFamily="34" charset="-122"/>
              </a:rPr>
              <a:t>1-205</a:t>
            </a:r>
            <a:endParaRPr lang="en-US" altLang="zh-CN" sz="1600" b="1" dirty="0">
              <a:solidFill>
                <a:srgbClr val="FFFFFF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34" name="Text Box 62"/>
          <p:cNvSpPr txBox="1">
            <a:spLocks noChangeArrowheads="1"/>
          </p:cNvSpPr>
          <p:nvPr userDrawn="1"/>
        </p:nvSpPr>
        <p:spPr bwMode="auto">
          <a:xfrm>
            <a:off x="5796136" y="764704"/>
            <a:ext cx="3252000" cy="919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1600" b="1" dirty="0">
                <a:solidFill>
                  <a:srgbClr val="FFFFFF"/>
                </a:solidFill>
                <a:ea typeface="微软雅黑" panose="020B0503020204020204" pitchFamily="34" charset="-122"/>
              </a:rPr>
              <a:t>王东明</a:t>
            </a:r>
            <a:endParaRPr lang="en-US" altLang="zh-CN" sz="1600" b="1" dirty="0">
              <a:solidFill>
                <a:srgbClr val="FFFFFF"/>
              </a:solidFill>
              <a:ea typeface="微软雅黑" panose="020B0503020204020204" pitchFamily="34" charset="-122"/>
            </a:endParaRPr>
          </a:p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1400" b="1" dirty="0">
                <a:solidFill>
                  <a:srgbClr val="FFFFFF"/>
                </a:solidFill>
                <a:ea typeface="微软雅黑" panose="020B0503020204020204" pitchFamily="34" charset="-122"/>
              </a:rPr>
              <a:t>移动通信国家重点实验室</a:t>
            </a:r>
            <a:endParaRPr lang="en-GB" altLang="zh-CN" sz="1100" b="1" dirty="0">
              <a:solidFill>
                <a:srgbClr val="FFFFFF"/>
              </a:solidFill>
              <a:ea typeface="微软雅黑" panose="020B0503020204020204" pitchFamily="34" charset="-122"/>
            </a:endParaRPr>
          </a:p>
        </p:txBody>
      </p:sp>
      <p:sp>
        <p:nvSpPr>
          <p:cNvPr id="35" name="TextBox 34"/>
          <p:cNvSpPr txBox="1"/>
          <p:nvPr userDrawn="1"/>
        </p:nvSpPr>
        <p:spPr>
          <a:xfrm>
            <a:off x="969273" y="1916832"/>
            <a:ext cx="2954655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5400" b="1" dirty="0">
                <a:solidFill>
                  <a:srgbClr val="FFFFFF"/>
                </a:solidFill>
                <a:ea typeface="微软雅黑" panose="020B0503020204020204" pitchFamily="34" charset="-122"/>
              </a:rPr>
              <a:t>谢谢听讲</a:t>
            </a:r>
          </a:p>
        </p:txBody>
      </p:sp>
      <p:pic>
        <p:nvPicPr>
          <p:cNvPr id="37" name="图片 36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1699" y="4609838"/>
            <a:ext cx="2889201" cy="1909115"/>
          </a:xfrm>
          <a:prstGeom prst="rect">
            <a:avLst/>
          </a:prstGeom>
        </p:spPr>
      </p:pic>
      <p:pic>
        <p:nvPicPr>
          <p:cNvPr id="38" name="图片 37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9579" y="4609838"/>
            <a:ext cx="3024336" cy="1921895"/>
          </a:xfrm>
          <a:prstGeom prst="rect">
            <a:avLst/>
          </a:prstGeom>
        </p:spPr>
      </p:pic>
      <p:pic>
        <p:nvPicPr>
          <p:cNvPr id="46" name="图片 45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4603449"/>
            <a:ext cx="2863673" cy="1909115"/>
          </a:xfrm>
          <a:prstGeom prst="rect">
            <a:avLst/>
          </a:prstGeom>
        </p:spPr>
      </p:pic>
      <p:pic>
        <p:nvPicPr>
          <p:cNvPr id="40" name="图片 39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40742" y="2823944"/>
            <a:ext cx="402490" cy="402490"/>
          </a:xfrm>
          <a:prstGeom prst="rect">
            <a:avLst/>
          </a:prstGeom>
        </p:spPr>
      </p:pic>
      <p:pic>
        <p:nvPicPr>
          <p:cNvPr id="41" name="Picture 4" descr="E:\仝德志文件，勿删！\03-参考文档\！PPT图片及版面资源\06-PPT精选插图\04-图标\home256.png"/>
          <p:cNvPicPr>
            <a:picLocks noChangeAspect="1" noChangeArrowheads="1"/>
          </p:cNvPicPr>
          <p:nvPr userDrawn="1"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063037" y="3651103"/>
            <a:ext cx="357899" cy="3578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2" name="Picture 5" descr="E:\仝德志文件，勿删！\03-参考文档\！PPT图片及版面资源\06-PPT精选插图\04-图标\png-0030.png"/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055260" y="2054293"/>
            <a:ext cx="348142" cy="3481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461693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6" presetClass="entr" presetSubtype="21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6" presetClass="entr" presetSubtype="21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8" grpId="0" animBg="1"/>
      <p:bldP spid="10" grpId="0" animBg="1"/>
      <p:bldP spid="12" grpId="0" animBg="1"/>
      <p:bldP spid="23" grpId="0"/>
      <p:bldP spid="24" grpId="0"/>
      <p:bldP spid="31" grpId="0"/>
      <p:bldP spid="32" grpId="0"/>
      <p:bldP spid="33" grpId="0"/>
      <p:bldP spid="34" grpId="0"/>
      <p:bldP spid="35" grpId="0"/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/>
        </p:nvCxnSpPr>
        <p:spPr>
          <a:xfrm>
            <a:off x="-32" y="6599238"/>
            <a:ext cx="7307263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 flipV="1">
            <a:off x="7367588" y="6165850"/>
            <a:ext cx="0" cy="431800"/>
          </a:xfrm>
          <a:prstGeom prst="line">
            <a:avLst/>
          </a:prstGeom>
          <a:ln w="381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 flipV="1">
            <a:off x="7451725" y="6308725"/>
            <a:ext cx="0" cy="288925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 flipV="1">
            <a:off x="611188" y="-26988"/>
            <a:ext cx="0" cy="431801"/>
          </a:xfrm>
          <a:prstGeom prst="line">
            <a:avLst/>
          </a:prstGeom>
          <a:ln w="762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768350" y="0"/>
            <a:ext cx="0" cy="287338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椭圆 8"/>
          <p:cNvSpPr/>
          <p:nvPr userDrawn="1"/>
        </p:nvSpPr>
        <p:spPr>
          <a:xfrm>
            <a:off x="431188" y="6201750"/>
            <a:ext cx="360000" cy="360000"/>
          </a:xfrm>
          <a:prstGeom prst="ellipse">
            <a:avLst/>
          </a:prstGeom>
          <a:solidFill>
            <a:schemeClr val="bg1">
              <a:lumMod val="75000"/>
              <a:alpha val="3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4" name="TextBox 15"/>
          <p:cNvSpPr txBox="1"/>
          <p:nvPr userDrawn="1"/>
        </p:nvSpPr>
        <p:spPr>
          <a:xfrm>
            <a:off x="285973" y="6212473"/>
            <a:ext cx="6504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2EEF1883-7A0E-4F66-9932-E581691AD397}" type="slidenum">
              <a:rPr lang="zh-CN" altLang="en-US" sz="160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pPr algn="ctr"/>
              <a:t>‹#›</a:t>
            </a:fld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</a:t>
            </a:r>
            <a:endParaRPr lang="zh-CN" altLang="en-US" sz="1600" b="0" dirty="0">
              <a:solidFill>
                <a:schemeClr val="tx1">
                  <a:lumMod val="65000"/>
                  <a:lumOff val="3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0569" y="6043193"/>
            <a:ext cx="705847" cy="698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06697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66" r:id="rId2"/>
    <p:sldLayoutId id="2147483671" r:id="rId3"/>
    <p:sldLayoutId id="2147483676" r:id="rId4"/>
    <p:sldLayoutId id="2147483677" r:id="rId5"/>
    <p:sldLayoutId id="2147483681" r:id="rId6"/>
    <p:sldLayoutId id="2147483678" r:id="rId7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878047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椭圆 8"/>
          <p:cNvSpPr/>
          <p:nvPr/>
        </p:nvSpPr>
        <p:spPr>
          <a:xfrm>
            <a:off x="8461631" y="6348095"/>
            <a:ext cx="360000" cy="360000"/>
          </a:xfrm>
          <a:prstGeom prst="ellipse">
            <a:avLst/>
          </a:prstGeom>
          <a:solidFill>
            <a:schemeClr val="bg1">
              <a:lumMod val="75000"/>
              <a:alpha val="3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Box 15"/>
          <p:cNvSpPr txBox="1"/>
          <p:nvPr/>
        </p:nvSpPr>
        <p:spPr>
          <a:xfrm>
            <a:off x="8316416" y="6358818"/>
            <a:ext cx="6504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2EEF1883-7A0E-4F66-9932-E581691AD397}" type="slidenum">
              <a:rPr lang="zh-CN" altLang="en-US" sz="160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pPr algn="ctr"/>
              <a:t>2</a:t>
            </a:fld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 </a:t>
            </a:r>
            <a:endParaRPr lang="zh-CN" altLang="en-US" sz="1600" b="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2" name="TextBox 15"/>
          <p:cNvSpPr txBox="1">
            <a:spLocks noChangeArrowheads="1"/>
          </p:cNvSpPr>
          <p:nvPr/>
        </p:nvSpPr>
        <p:spPr bwMode="auto">
          <a:xfrm>
            <a:off x="2966244" y="4119885"/>
            <a:ext cx="3405956" cy="18842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67730" tIns="33865" rIns="67730" bIns="33865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9pPr>
          </a:lstStyle>
          <a:p>
            <a:pPr indent="-342900" defTabSz="762000">
              <a:lnSpc>
                <a:spcPct val="150000"/>
              </a:lnSpc>
              <a:spcAft>
                <a:spcPts val="600"/>
              </a:spcAft>
              <a:buFont typeface="Wingdings" pitchFamily="2" charset="2"/>
              <a:buChar char="u"/>
            </a:pP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分支与循环</a:t>
            </a:r>
            <a:endParaRPr lang="en-US" altLang="zh-CN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defTabSz="762000">
              <a:lnSpc>
                <a:spcPct val="150000"/>
              </a:lnSpc>
              <a:spcAft>
                <a:spcPts val="600"/>
              </a:spcAft>
              <a:buFont typeface="Wingdings" pitchFamily="2" charset="2"/>
              <a:buChar char="u"/>
            </a:pP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DOS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中断调用</a:t>
            </a:r>
            <a:endParaRPr lang="en-US" altLang="zh-CN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defTabSz="762000">
              <a:lnSpc>
                <a:spcPct val="150000"/>
              </a:lnSpc>
              <a:spcAft>
                <a:spcPts val="600"/>
              </a:spcAft>
              <a:buFont typeface="Wingdings" pitchFamily="2" charset="2"/>
              <a:buChar char="u"/>
            </a:pP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子程序设计</a:t>
            </a:r>
            <a:endParaRPr lang="en-US" altLang="zh-CN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" name="TextBox 2"/>
          <p:cNvSpPr txBox="1"/>
          <p:nvPr/>
        </p:nvSpPr>
        <p:spPr>
          <a:xfrm>
            <a:off x="1620044" y="1848644"/>
            <a:ext cx="1107996" cy="369332"/>
          </a:xfrm>
          <a:prstGeom prst="rect">
            <a:avLst/>
          </a:prstGeom>
          <a:solidFill>
            <a:sysClr val="window" lastClr="FFFFFF">
              <a:lumMod val="85000"/>
            </a:sysClr>
          </a:solidFill>
        </p:spPr>
        <p:txBody>
          <a:bodyPr wrap="none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9pPr>
          </a:lstStyle>
          <a:p>
            <a:pPr>
              <a:defRPr/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第四小节</a:t>
            </a:r>
          </a:p>
        </p:txBody>
      </p:sp>
      <p:cxnSp>
        <p:nvCxnSpPr>
          <p:cNvPr id="14" name="直接连接符 13"/>
          <p:cNvCxnSpPr/>
          <p:nvPr/>
        </p:nvCxnSpPr>
        <p:spPr>
          <a:xfrm>
            <a:off x="1404144" y="2207419"/>
            <a:ext cx="6264275" cy="1587"/>
          </a:xfrm>
          <a:prstGeom prst="line">
            <a:avLst/>
          </a:prstGeom>
          <a:noFill/>
          <a:ln w="9525" cap="flat" cmpd="sng" algn="ctr">
            <a:solidFill>
              <a:sysClr val="window" lastClr="FFFFFF">
                <a:lumMod val="85000"/>
              </a:sysClr>
            </a:solidFill>
            <a:prstDash val="solid"/>
          </a:ln>
          <a:effectLst/>
        </p:spPr>
      </p:cxnSp>
      <p:cxnSp>
        <p:nvCxnSpPr>
          <p:cNvPr id="15" name="直接连接符 14"/>
          <p:cNvCxnSpPr/>
          <p:nvPr/>
        </p:nvCxnSpPr>
        <p:spPr>
          <a:xfrm>
            <a:off x="1475582" y="3936206"/>
            <a:ext cx="6264275" cy="1588"/>
          </a:xfrm>
          <a:prstGeom prst="line">
            <a:avLst/>
          </a:prstGeom>
          <a:noFill/>
          <a:ln w="9525" cap="flat" cmpd="sng" algn="ctr">
            <a:solidFill>
              <a:sysClr val="window" lastClr="FFFFFF">
                <a:lumMod val="85000"/>
              </a:sysClr>
            </a:solidFill>
            <a:prstDash val="solid"/>
          </a:ln>
          <a:effectLst/>
        </p:spPr>
      </p:cxnSp>
      <p:sp>
        <p:nvSpPr>
          <p:cNvPr id="16" name="TextBox 10"/>
          <p:cNvSpPr txBox="1">
            <a:spLocks noChangeArrowheads="1"/>
          </p:cNvSpPr>
          <p:nvPr/>
        </p:nvSpPr>
        <p:spPr bwMode="auto">
          <a:xfrm>
            <a:off x="1475697" y="2491517"/>
            <a:ext cx="6985934" cy="11621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>
              <a:lnSpc>
                <a:spcPct val="114000"/>
              </a:lnSpc>
            </a:pPr>
            <a:r>
              <a:rPr lang="zh-CN" altLang="en-US" sz="6600" b="1" dirty="0">
                <a:solidFill>
                  <a:srgbClr val="00C4F0"/>
                </a:solidFill>
                <a:latin typeface="微软雅黑" pitchFamily="34" charset="-122"/>
                <a:ea typeface="微软雅黑" pitchFamily="34" charset="-122"/>
              </a:rPr>
              <a:t>汇编语言程序设计</a:t>
            </a:r>
            <a:endParaRPr lang="zh-CN" altLang="en-US" sz="8000" b="1" dirty="0">
              <a:solidFill>
                <a:srgbClr val="00C4F0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793152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 animBg="1"/>
      <p:bldP spid="1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直接连接符 13"/>
          <p:cNvCxnSpPr/>
          <p:nvPr/>
        </p:nvCxnSpPr>
        <p:spPr>
          <a:xfrm>
            <a:off x="611560" y="1124744"/>
            <a:ext cx="7992888" cy="0"/>
          </a:xfrm>
          <a:prstGeom prst="line">
            <a:avLst/>
          </a:prstGeom>
          <a:ln w="28575">
            <a:solidFill>
              <a:srgbClr val="1D8DE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/>
        </p:nvSpPr>
        <p:spPr>
          <a:xfrm>
            <a:off x="611560" y="631563"/>
            <a:ext cx="500110" cy="490346"/>
          </a:xfrm>
          <a:prstGeom prst="rect">
            <a:avLst/>
          </a:prstGeom>
          <a:solidFill>
            <a:srgbClr val="1D8DE5"/>
          </a:solidFill>
          <a:ln w="9525" cap="rnd">
            <a:solidFill>
              <a:srgbClr val="1D8DE5"/>
            </a:solidFill>
            <a:prstDash val="solid"/>
            <a:round/>
            <a:headEnd/>
            <a:tailEnd/>
          </a:ln>
        </p:spPr>
        <p:txBody>
          <a:bodyPr anchor="ctr"/>
          <a:lstStyle/>
          <a:p>
            <a:pPr algn="ctr"/>
            <a:r>
              <a:rPr lang="en-US" altLang="zh-CN" sz="2800" b="1" kern="0" dirty="0">
                <a:solidFill>
                  <a:sysClr val="window" lastClr="FFFFFF">
                    <a:lumMod val="95000"/>
                  </a:sys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2800" b="1" kern="0" dirty="0">
              <a:solidFill>
                <a:sysClr val="window" lastClr="FFFFFF">
                  <a:lumMod val="95000"/>
                </a:sys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TextBox 11"/>
          <p:cNvSpPr txBox="1"/>
          <p:nvPr/>
        </p:nvSpPr>
        <p:spPr>
          <a:xfrm>
            <a:off x="1119384" y="620688"/>
            <a:ext cx="72613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1D8DE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例子</a:t>
            </a:r>
          </a:p>
        </p:txBody>
      </p:sp>
      <p:sp>
        <p:nvSpPr>
          <p:cNvPr id="17" name="矩形 16"/>
          <p:cNvSpPr/>
          <p:nvPr/>
        </p:nvSpPr>
        <p:spPr>
          <a:xfrm>
            <a:off x="8380710" y="620688"/>
            <a:ext cx="223738" cy="490346"/>
          </a:xfrm>
          <a:prstGeom prst="rect">
            <a:avLst/>
          </a:prstGeom>
          <a:solidFill>
            <a:srgbClr val="1D8DE5"/>
          </a:solidFill>
          <a:ln w="9525" cap="rnd">
            <a:solidFill>
              <a:srgbClr val="1D8DE5"/>
            </a:solidFill>
            <a:prstDash val="solid"/>
            <a:round/>
            <a:headEnd/>
            <a:tailEnd/>
          </a:ln>
        </p:spPr>
        <p:txBody>
          <a:bodyPr/>
          <a:lstStyle/>
          <a:p>
            <a:pPr algn="ctr">
              <a:lnSpc>
                <a:spcPct val="120000"/>
              </a:lnSpc>
            </a:pPr>
            <a:endParaRPr lang="zh-CN" altLang="en-US" b="1" kern="0" dirty="0">
              <a:solidFill>
                <a:sysClr val="window" lastClr="FFFFFF">
                  <a:lumMod val="95000"/>
                </a:sys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8" name="直接连接符 17"/>
          <p:cNvCxnSpPr/>
          <p:nvPr/>
        </p:nvCxnSpPr>
        <p:spPr>
          <a:xfrm>
            <a:off x="611560" y="631563"/>
            <a:ext cx="7992888" cy="0"/>
          </a:xfrm>
          <a:prstGeom prst="line">
            <a:avLst/>
          </a:prstGeom>
          <a:ln w="28575">
            <a:solidFill>
              <a:srgbClr val="1D8DE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矩形 3"/>
          <p:cNvSpPr>
            <a:spLocks noChangeArrowheads="1"/>
          </p:cNvSpPr>
          <p:nvPr/>
        </p:nvSpPr>
        <p:spPr bwMode="auto">
          <a:xfrm>
            <a:off x="1843411" y="1772816"/>
            <a:ext cx="2296541" cy="489365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MOV  </a:t>
            </a:r>
            <a:r>
              <a:rPr lang="en-US" altLang="zh-CN" sz="20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AL,</a:t>
            </a:r>
            <a:r>
              <a:rPr lang="en-US" altLang="zh-CN" sz="20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000" b="1" dirty="0">
                <a:solidFill>
                  <a:srgbClr val="5DCB08"/>
                </a:solidFill>
                <a:latin typeface="微软雅黑" pitchFamily="34" charset="-122"/>
                <a:ea typeface="微软雅黑" pitchFamily="34" charset="-122"/>
              </a:rPr>
              <a:t>80H</a:t>
            </a:r>
          </a:p>
        </p:txBody>
      </p:sp>
      <p:sp>
        <p:nvSpPr>
          <p:cNvPr id="20" name="矩形 19"/>
          <p:cNvSpPr>
            <a:spLocks noChangeArrowheads="1"/>
          </p:cNvSpPr>
          <p:nvPr/>
        </p:nvSpPr>
        <p:spPr bwMode="auto">
          <a:xfrm>
            <a:off x="683568" y="3683978"/>
            <a:ext cx="1730904" cy="489365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EQUAL:</a:t>
            </a:r>
          </a:p>
        </p:txBody>
      </p:sp>
      <p:sp>
        <p:nvSpPr>
          <p:cNvPr id="22" name="矩形 3"/>
          <p:cNvSpPr>
            <a:spLocks noChangeArrowheads="1"/>
          </p:cNvSpPr>
          <p:nvPr/>
        </p:nvSpPr>
        <p:spPr bwMode="auto">
          <a:xfrm>
            <a:off x="1843411" y="2172753"/>
            <a:ext cx="2296541" cy="489365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CMP   </a:t>
            </a:r>
            <a:r>
              <a:rPr lang="en-US" altLang="zh-CN" sz="20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AL, </a:t>
            </a:r>
            <a:r>
              <a:rPr lang="en-US" altLang="zh-CN" sz="2000" b="1" dirty="0">
                <a:solidFill>
                  <a:srgbClr val="5DCB08"/>
                </a:solidFill>
                <a:latin typeface="微软雅黑" pitchFamily="34" charset="-122"/>
                <a:ea typeface="微软雅黑" pitchFamily="34" charset="-122"/>
              </a:rPr>
              <a:t>80H</a:t>
            </a:r>
          </a:p>
        </p:txBody>
      </p:sp>
      <p:sp>
        <p:nvSpPr>
          <p:cNvPr id="23" name="矩形 3"/>
          <p:cNvSpPr>
            <a:spLocks noChangeArrowheads="1"/>
          </p:cNvSpPr>
          <p:nvPr/>
        </p:nvSpPr>
        <p:spPr bwMode="auto">
          <a:xfrm>
            <a:off x="1843411" y="2530633"/>
            <a:ext cx="2296541" cy="451149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JE  </a:t>
            </a:r>
            <a:r>
              <a:rPr lang="en-US" altLang="zh-CN" sz="2000" b="1" dirty="0">
                <a:solidFill>
                  <a:srgbClr val="5DCB08"/>
                </a:solidFill>
                <a:latin typeface="微软雅黑" pitchFamily="34" charset="-122"/>
                <a:ea typeface="微软雅黑" pitchFamily="34" charset="-122"/>
              </a:rPr>
              <a:t>     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EQUAL</a:t>
            </a:r>
          </a:p>
        </p:txBody>
      </p:sp>
      <p:sp>
        <p:nvSpPr>
          <p:cNvPr id="26" name="矩形 3"/>
          <p:cNvSpPr>
            <a:spLocks noChangeArrowheads="1"/>
          </p:cNvSpPr>
          <p:nvPr/>
        </p:nvSpPr>
        <p:spPr bwMode="auto">
          <a:xfrm>
            <a:off x="1843411" y="2930570"/>
            <a:ext cx="2296541" cy="489365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MOV  </a:t>
            </a:r>
            <a:r>
              <a:rPr lang="en-US" altLang="zh-CN" sz="20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DL</a:t>
            </a:r>
            <a:r>
              <a:rPr lang="en-US" altLang="zh-CN" sz="2000" b="1" dirty="0">
                <a:solidFill>
                  <a:srgbClr val="5DCB08"/>
                </a:solidFill>
                <a:latin typeface="微软雅黑" pitchFamily="34" charset="-122"/>
                <a:ea typeface="微软雅黑" pitchFamily="34" charset="-122"/>
              </a:rPr>
              <a:t>, 0H</a:t>
            </a:r>
            <a:endParaRPr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8" name="矩形 3"/>
          <p:cNvSpPr>
            <a:spLocks noChangeArrowheads="1"/>
          </p:cNvSpPr>
          <p:nvPr/>
        </p:nvSpPr>
        <p:spPr bwMode="auto">
          <a:xfrm>
            <a:off x="1843411" y="3271509"/>
            <a:ext cx="2296541" cy="451149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JMP   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LABEL</a:t>
            </a:r>
          </a:p>
        </p:txBody>
      </p:sp>
      <p:sp>
        <p:nvSpPr>
          <p:cNvPr id="29" name="矩形 3"/>
          <p:cNvSpPr>
            <a:spLocks noChangeArrowheads="1"/>
          </p:cNvSpPr>
          <p:nvPr/>
        </p:nvSpPr>
        <p:spPr bwMode="auto">
          <a:xfrm>
            <a:off x="1843410" y="4010458"/>
            <a:ext cx="2296541" cy="489365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MOV  </a:t>
            </a:r>
            <a:r>
              <a:rPr lang="en-US" altLang="zh-CN" sz="20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DL</a:t>
            </a:r>
            <a:r>
              <a:rPr lang="en-US" altLang="zh-CN" sz="2000" b="1" dirty="0">
                <a:solidFill>
                  <a:srgbClr val="5DCB08"/>
                </a:solidFill>
                <a:latin typeface="微软雅黑" pitchFamily="34" charset="-122"/>
                <a:ea typeface="微软雅黑" pitchFamily="34" charset="-122"/>
              </a:rPr>
              <a:t>, 80H</a:t>
            </a:r>
            <a:endParaRPr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0" name="矩形 29"/>
          <p:cNvSpPr>
            <a:spLocks noChangeArrowheads="1"/>
          </p:cNvSpPr>
          <p:nvPr/>
        </p:nvSpPr>
        <p:spPr bwMode="auto">
          <a:xfrm>
            <a:off x="683568" y="4499823"/>
            <a:ext cx="1730904" cy="451149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LABEL:</a:t>
            </a:r>
          </a:p>
        </p:txBody>
      </p:sp>
      <p:cxnSp>
        <p:nvCxnSpPr>
          <p:cNvPr id="31" name="直接连接符 30"/>
          <p:cNvCxnSpPr/>
          <p:nvPr/>
        </p:nvCxnSpPr>
        <p:spPr>
          <a:xfrm>
            <a:off x="4719784" y="1181038"/>
            <a:ext cx="0" cy="3976154"/>
          </a:xfrm>
          <a:prstGeom prst="line">
            <a:avLst/>
          </a:prstGeom>
          <a:ln w="12700">
            <a:solidFill>
              <a:srgbClr val="1D8DE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矩形 3"/>
          <p:cNvSpPr>
            <a:spLocks noChangeArrowheads="1"/>
          </p:cNvSpPr>
          <p:nvPr/>
        </p:nvSpPr>
        <p:spPr bwMode="auto">
          <a:xfrm>
            <a:off x="6307907" y="1772816"/>
            <a:ext cx="2296541" cy="489365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MOV  </a:t>
            </a:r>
            <a:r>
              <a:rPr lang="en-US" altLang="zh-CN" sz="20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AL,</a:t>
            </a:r>
            <a:r>
              <a:rPr lang="en-US" altLang="zh-CN" sz="20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000" b="1" dirty="0">
                <a:solidFill>
                  <a:srgbClr val="5DCB08"/>
                </a:solidFill>
                <a:latin typeface="微软雅黑" pitchFamily="34" charset="-122"/>
                <a:ea typeface="微软雅黑" pitchFamily="34" charset="-122"/>
              </a:rPr>
              <a:t>80H</a:t>
            </a:r>
          </a:p>
        </p:txBody>
      </p:sp>
      <p:sp>
        <p:nvSpPr>
          <p:cNvPr id="33" name="矩形 32"/>
          <p:cNvSpPr>
            <a:spLocks noChangeArrowheads="1"/>
          </p:cNvSpPr>
          <p:nvPr/>
        </p:nvSpPr>
        <p:spPr bwMode="auto">
          <a:xfrm>
            <a:off x="5148064" y="3683978"/>
            <a:ext cx="1730904" cy="489365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EQUAL:</a:t>
            </a:r>
          </a:p>
        </p:txBody>
      </p:sp>
      <p:sp>
        <p:nvSpPr>
          <p:cNvPr id="34" name="矩形 3"/>
          <p:cNvSpPr>
            <a:spLocks noChangeArrowheads="1"/>
          </p:cNvSpPr>
          <p:nvPr/>
        </p:nvSpPr>
        <p:spPr bwMode="auto">
          <a:xfrm>
            <a:off x="6307907" y="2172753"/>
            <a:ext cx="2296541" cy="489365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TEST  </a:t>
            </a:r>
            <a:r>
              <a:rPr lang="en-US" altLang="zh-CN" sz="20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AL, </a:t>
            </a:r>
            <a:r>
              <a:rPr lang="en-US" altLang="zh-CN" sz="2000" b="1" dirty="0">
                <a:solidFill>
                  <a:srgbClr val="5DCB08"/>
                </a:solidFill>
                <a:latin typeface="微软雅黑" pitchFamily="34" charset="-122"/>
                <a:ea typeface="微软雅黑" pitchFamily="34" charset="-122"/>
              </a:rPr>
              <a:t>80H</a:t>
            </a:r>
          </a:p>
        </p:txBody>
      </p:sp>
      <p:sp>
        <p:nvSpPr>
          <p:cNvPr id="35" name="矩形 3"/>
          <p:cNvSpPr>
            <a:spLocks noChangeArrowheads="1"/>
          </p:cNvSpPr>
          <p:nvPr/>
        </p:nvSpPr>
        <p:spPr bwMode="auto">
          <a:xfrm>
            <a:off x="6307907" y="2530633"/>
            <a:ext cx="2296541" cy="451149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JE  </a:t>
            </a:r>
            <a:r>
              <a:rPr lang="en-US" altLang="zh-CN" sz="2000" b="1" dirty="0">
                <a:solidFill>
                  <a:srgbClr val="5DCB08"/>
                </a:solidFill>
                <a:latin typeface="微软雅黑" pitchFamily="34" charset="-122"/>
                <a:ea typeface="微软雅黑" pitchFamily="34" charset="-122"/>
              </a:rPr>
              <a:t>     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EQUAL</a:t>
            </a:r>
          </a:p>
        </p:txBody>
      </p:sp>
      <p:sp>
        <p:nvSpPr>
          <p:cNvPr id="36" name="矩形 3"/>
          <p:cNvSpPr>
            <a:spLocks noChangeArrowheads="1"/>
          </p:cNvSpPr>
          <p:nvPr/>
        </p:nvSpPr>
        <p:spPr bwMode="auto">
          <a:xfrm>
            <a:off x="6307907" y="2930570"/>
            <a:ext cx="2296541" cy="489365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MOV  </a:t>
            </a:r>
            <a:r>
              <a:rPr lang="en-US" altLang="zh-CN" sz="20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DL</a:t>
            </a:r>
            <a:r>
              <a:rPr lang="en-US" altLang="zh-CN" sz="2000" b="1" dirty="0">
                <a:solidFill>
                  <a:srgbClr val="5DCB08"/>
                </a:solidFill>
                <a:latin typeface="微软雅黑" pitchFamily="34" charset="-122"/>
                <a:ea typeface="微软雅黑" pitchFamily="34" charset="-122"/>
              </a:rPr>
              <a:t>, 0H</a:t>
            </a:r>
            <a:endParaRPr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7" name="矩形 3"/>
          <p:cNvSpPr>
            <a:spLocks noChangeArrowheads="1"/>
          </p:cNvSpPr>
          <p:nvPr/>
        </p:nvSpPr>
        <p:spPr bwMode="auto">
          <a:xfrm>
            <a:off x="6307907" y="3271509"/>
            <a:ext cx="2296541" cy="451149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JMP   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LABEL</a:t>
            </a:r>
          </a:p>
        </p:txBody>
      </p:sp>
      <p:sp>
        <p:nvSpPr>
          <p:cNvPr id="38" name="矩形 3"/>
          <p:cNvSpPr>
            <a:spLocks noChangeArrowheads="1"/>
          </p:cNvSpPr>
          <p:nvPr/>
        </p:nvSpPr>
        <p:spPr bwMode="auto">
          <a:xfrm>
            <a:off x="6307906" y="4010458"/>
            <a:ext cx="2296541" cy="489365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MOV  </a:t>
            </a:r>
            <a:r>
              <a:rPr lang="en-US" altLang="zh-CN" sz="20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DL</a:t>
            </a:r>
            <a:r>
              <a:rPr lang="en-US" altLang="zh-CN" sz="2000" b="1" dirty="0">
                <a:solidFill>
                  <a:srgbClr val="5DCB08"/>
                </a:solidFill>
                <a:latin typeface="微软雅黑" pitchFamily="34" charset="-122"/>
                <a:ea typeface="微软雅黑" pitchFamily="34" charset="-122"/>
              </a:rPr>
              <a:t>, 80H</a:t>
            </a:r>
            <a:endParaRPr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9" name="矩形 38"/>
          <p:cNvSpPr>
            <a:spLocks noChangeArrowheads="1"/>
          </p:cNvSpPr>
          <p:nvPr/>
        </p:nvSpPr>
        <p:spPr bwMode="auto">
          <a:xfrm>
            <a:off x="5148064" y="4499823"/>
            <a:ext cx="1730904" cy="451149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LABEL:</a:t>
            </a:r>
          </a:p>
        </p:txBody>
      </p:sp>
      <p:sp>
        <p:nvSpPr>
          <p:cNvPr id="40" name="矩形 3"/>
          <p:cNvSpPr>
            <a:spLocks noChangeArrowheads="1"/>
          </p:cNvSpPr>
          <p:nvPr/>
        </p:nvSpPr>
        <p:spPr bwMode="auto">
          <a:xfrm>
            <a:off x="2560900" y="5310767"/>
            <a:ext cx="4317768" cy="568745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zh-CN" altLang="en-US" sz="24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两段程序执行后 </a:t>
            </a:r>
            <a:r>
              <a:rPr lang="en-US" altLang="zh-CN" sz="24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DL</a:t>
            </a:r>
            <a:r>
              <a:rPr lang="zh-CN" altLang="en-US" sz="24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分别等于？</a:t>
            </a:r>
            <a:endParaRPr lang="en-US" altLang="zh-CN" sz="2400" b="1" dirty="0">
              <a:solidFill>
                <a:srgbClr val="1D8DE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1971998" y="5877727"/>
            <a:ext cx="5120282" cy="7571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让别人更容易读懂你的代码，右边代码最好用 </a:t>
            </a:r>
            <a:r>
              <a:rPr lang="en-US" altLang="zh-CN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JZ</a:t>
            </a:r>
            <a:r>
              <a:rPr lang="zh-CN" altLang="en-US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或者</a:t>
            </a:r>
            <a:r>
              <a:rPr lang="en-US" altLang="zh-CN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JNZ</a:t>
            </a:r>
            <a:r>
              <a:rPr lang="zh-CN" altLang="en-US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更容易让人理解。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2" name="Picture 2" descr="C:\Documents and Settings\tdz\桌面\未标题-1 拷贝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35894" y="5814781"/>
            <a:ext cx="834828" cy="7825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799231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9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9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9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9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9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22" grpId="0"/>
      <p:bldP spid="23" grpId="0"/>
      <p:bldP spid="26" grpId="0"/>
      <p:bldP spid="28" grpId="0"/>
      <p:bldP spid="29" grpId="0"/>
      <p:bldP spid="30" grpId="0"/>
      <p:bldP spid="32" grpId="0"/>
      <p:bldP spid="33" grpId="0"/>
      <p:bldP spid="34" grpId="0"/>
      <p:bldP spid="35" grpId="0"/>
      <p:bldP spid="36" grpId="0"/>
      <p:bldP spid="37" grpId="0"/>
      <p:bldP spid="38" grpId="0"/>
      <p:bldP spid="39" grpId="0"/>
      <p:bldP spid="40" grpId="0"/>
      <p:bldP spid="4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/>
          <p:cNvCxnSpPr/>
          <p:nvPr/>
        </p:nvCxnSpPr>
        <p:spPr>
          <a:xfrm>
            <a:off x="611560" y="1124744"/>
            <a:ext cx="7992888" cy="0"/>
          </a:xfrm>
          <a:prstGeom prst="line">
            <a:avLst/>
          </a:prstGeom>
          <a:ln w="28575">
            <a:solidFill>
              <a:srgbClr val="1D8DE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>
            <a:off x="611560" y="631563"/>
            <a:ext cx="500110" cy="490346"/>
          </a:xfrm>
          <a:prstGeom prst="rect">
            <a:avLst/>
          </a:prstGeom>
          <a:solidFill>
            <a:srgbClr val="1D8DE5"/>
          </a:solidFill>
          <a:ln w="9525" cap="rnd">
            <a:solidFill>
              <a:srgbClr val="1D8DE5"/>
            </a:solidFill>
            <a:prstDash val="solid"/>
            <a:round/>
            <a:headEnd/>
            <a:tailEnd/>
          </a:ln>
        </p:spPr>
        <p:txBody>
          <a:bodyPr anchor="ctr"/>
          <a:lstStyle/>
          <a:p>
            <a:pPr algn="ctr"/>
            <a:r>
              <a:rPr lang="en-US" altLang="zh-CN" sz="2800" b="1" kern="0" dirty="0">
                <a:solidFill>
                  <a:sysClr val="window" lastClr="FFFFFF">
                    <a:lumMod val="95000"/>
                  </a:sys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sz="2800" b="1" kern="0" dirty="0">
              <a:solidFill>
                <a:sysClr val="window" lastClr="FFFFFF">
                  <a:lumMod val="95000"/>
                </a:sys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TextBox 11"/>
          <p:cNvSpPr txBox="1"/>
          <p:nvPr/>
        </p:nvSpPr>
        <p:spPr>
          <a:xfrm>
            <a:off x="1119384" y="620688"/>
            <a:ext cx="72613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1D8DE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求无符号数组</a:t>
            </a:r>
            <a:r>
              <a:rPr lang="en-US" altLang="zh-CN" sz="2400" b="1" dirty="0">
                <a:solidFill>
                  <a:srgbClr val="1D8DE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VAR</a:t>
            </a:r>
            <a:r>
              <a:rPr lang="zh-CN" altLang="en-US" sz="2400" b="1" dirty="0">
                <a:solidFill>
                  <a:srgbClr val="1D8DE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的最大值</a:t>
            </a:r>
          </a:p>
        </p:txBody>
      </p:sp>
      <p:sp>
        <p:nvSpPr>
          <p:cNvPr id="7" name="矩形 6"/>
          <p:cNvSpPr/>
          <p:nvPr/>
        </p:nvSpPr>
        <p:spPr>
          <a:xfrm>
            <a:off x="8380710" y="620688"/>
            <a:ext cx="223738" cy="490346"/>
          </a:xfrm>
          <a:prstGeom prst="rect">
            <a:avLst/>
          </a:prstGeom>
          <a:solidFill>
            <a:srgbClr val="1D8DE5"/>
          </a:solidFill>
          <a:ln w="9525" cap="rnd">
            <a:solidFill>
              <a:srgbClr val="1D8DE5"/>
            </a:solidFill>
            <a:prstDash val="solid"/>
            <a:round/>
            <a:headEnd/>
            <a:tailEnd/>
          </a:ln>
        </p:spPr>
        <p:txBody>
          <a:bodyPr/>
          <a:lstStyle/>
          <a:p>
            <a:pPr algn="ctr">
              <a:lnSpc>
                <a:spcPct val="120000"/>
              </a:lnSpc>
            </a:pPr>
            <a:endParaRPr lang="zh-CN" altLang="en-US" b="1" kern="0" dirty="0">
              <a:solidFill>
                <a:sysClr val="window" lastClr="FFFFFF">
                  <a:lumMod val="95000"/>
                </a:sys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611560" y="631563"/>
            <a:ext cx="7992888" cy="0"/>
          </a:xfrm>
          <a:prstGeom prst="line">
            <a:avLst/>
          </a:prstGeom>
          <a:ln w="28575">
            <a:solidFill>
              <a:srgbClr val="1D8DE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流程图: 过程 2"/>
          <p:cNvSpPr/>
          <p:nvPr/>
        </p:nvSpPr>
        <p:spPr>
          <a:xfrm>
            <a:off x="1918617" y="1745303"/>
            <a:ext cx="2016223" cy="648072"/>
          </a:xfrm>
          <a:prstGeom prst="flowChartProcess">
            <a:avLst/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CX=N, SI=0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0" name="直接箭头连接符 9"/>
          <p:cNvCxnSpPr>
            <a:stCxn id="3" idx="2"/>
          </p:cNvCxnSpPr>
          <p:nvPr/>
        </p:nvCxnSpPr>
        <p:spPr>
          <a:xfrm>
            <a:off x="2926729" y="2393375"/>
            <a:ext cx="10914" cy="4320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流程图: 过程 12"/>
          <p:cNvSpPr/>
          <p:nvPr/>
        </p:nvSpPr>
        <p:spPr>
          <a:xfrm>
            <a:off x="1907704" y="2842745"/>
            <a:ext cx="2016223" cy="648072"/>
          </a:xfrm>
          <a:prstGeom prst="flowChartProcess">
            <a:avLst/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数组第一个元素赋值给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AL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dirty="0"/>
              <a:t> CX=CX-1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5" name="直接箭头连接符 14"/>
          <p:cNvCxnSpPr/>
          <p:nvPr/>
        </p:nvCxnSpPr>
        <p:spPr>
          <a:xfrm>
            <a:off x="2937642" y="3508139"/>
            <a:ext cx="0" cy="4320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/>
          <p:cNvCxnSpPr/>
          <p:nvPr/>
        </p:nvCxnSpPr>
        <p:spPr>
          <a:xfrm>
            <a:off x="2937642" y="4533573"/>
            <a:ext cx="0" cy="4320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流程图: 决策 11"/>
          <p:cNvSpPr/>
          <p:nvPr/>
        </p:nvSpPr>
        <p:spPr>
          <a:xfrm>
            <a:off x="1918617" y="3957509"/>
            <a:ext cx="2016224" cy="576064"/>
          </a:xfrm>
          <a:prstGeom prst="flowChartDecision">
            <a:avLst/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CX==0?</a:t>
            </a:r>
            <a:endParaRPr lang="zh-CN" altLang="en-US" dirty="0"/>
          </a:p>
        </p:txBody>
      </p:sp>
      <p:sp>
        <p:nvSpPr>
          <p:cNvPr id="19" name="流程图: 终止 18"/>
          <p:cNvSpPr/>
          <p:nvPr/>
        </p:nvSpPr>
        <p:spPr>
          <a:xfrm>
            <a:off x="1979711" y="4985663"/>
            <a:ext cx="1872208" cy="532779"/>
          </a:xfrm>
          <a:prstGeom prst="flowChartTerminator">
            <a:avLst/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结束</a:t>
            </a:r>
          </a:p>
        </p:txBody>
      </p:sp>
      <p:cxnSp>
        <p:nvCxnSpPr>
          <p:cNvPr id="28" name="直接连接符 27"/>
          <p:cNvCxnSpPr>
            <a:stCxn id="12" idx="3"/>
          </p:cNvCxnSpPr>
          <p:nvPr/>
        </p:nvCxnSpPr>
        <p:spPr>
          <a:xfrm>
            <a:off x="3934841" y="4245541"/>
            <a:ext cx="73099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/>
          <p:cNvCxnSpPr/>
          <p:nvPr/>
        </p:nvCxnSpPr>
        <p:spPr>
          <a:xfrm flipV="1">
            <a:off x="4665834" y="1601287"/>
            <a:ext cx="0" cy="264425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箭头连接符 37"/>
          <p:cNvCxnSpPr/>
          <p:nvPr/>
        </p:nvCxnSpPr>
        <p:spPr>
          <a:xfrm>
            <a:off x="6038841" y="1601287"/>
            <a:ext cx="0" cy="1440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流程图: 过程 39"/>
          <p:cNvSpPr/>
          <p:nvPr/>
        </p:nvSpPr>
        <p:spPr>
          <a:xfrm>
            <a:off x="5102737" y="1738590"/>
            <a:ext cx="1872208" cy="648072"/>
          </a:xfrm>
          <a:prstGeom prst="flowChartProcess">
            <a:avLst/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SI=SI+1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3" name="直接连接符 42"/>
          <p:cNvCxnSpPr/>
          <p:nvPr/>
        </p:nvCxnSpPr>
        <p:spPr>
          <a:xfrm>
            <a:off x="4665834" y="1601287"/>
            <a:ext cx="137300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流程图: 决策 43"/>
          <p:cNvSpPr/>
          <p:nvPr/>
        </p:nvSpPr>
        <p:spPr>
          <a:xfrm>
            <a:off x="5030729" y="2825423"/>
            <a:ext cx="2016224" cy="838696"/>
          </a:xfrm>
          <a:prstGeom prst="flowChartDecision">
            <a:avLst/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比较</a:t>
            </a:r>
            <a:r>
              <a:rPr lang="en-US" altLang="zh-CN" dirty="0"/>
              <a:t>AL, VAR[SI]</a:t>
            </a:r>
            <a:endParaRPr lang="zh-CN" altLang="en-US" dirty="0"/>
          </a:p>
        </p:txBody>
      </p:sp>
      <p:cxnSp>
        <p:nvCxnSpPr>
          <p:cNvPr id="45" name="直接箭头连接符 44"/>
          <p:cNvCxnSpPr/>
          <p:nvPr/>
        </p:nvCxnSpPr>
        <p:spPr>
          <a:xfrm>
            <a:off x="6038841" y="2386662"/>
            <a:ext cx="0" cy="4320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流程图: 过程 45"/>
          <p:cNvSpPr/>
          <p:nvPr/>
        </p:nvSpPr>
        <p:spPr>
          <a:xfrm>
            <a:off x="5102737" y="3940187"/>
            <a:ext cx="1872208" cy="648072"/>
          </a:xfrm>
          <a:prstGeom prst="flowChartProcess">
            <a:avLst/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VAR[SI]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给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AL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9" name="直接箭头连接符 48"/>
          <p:cNvCxnSpPr/>
          <p:nvPr/>
        </p:nvCxnSpPr>
        <p:spPr>
          <a:xfrm>
            <a:off x="6038841" y="3664119"/>
            <a:ext cx="0" cy="2345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流程图: 决策 56"/>
          <p:cNvSpPr/>
          <p:nvPr/>
        </p:nvSpPr>
        <p:spPr>
          <a:xfrm>
            <a:off x="5030729" y="4822552"/>
            <a:ext cx="2016224" cy="838696"/>
          </a:xfrm>
          <a:prstGeom prst="flowChartDecision">
            <a:avLst/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CX=CX-1</a:t>
            </a:r>
          </a:p>
          <a:p>
            <a:pPr algn="ctr"/>
            <a:r>
              <a:rPr lang="en-US" altLang="zh-CN" dirty="0"/>
              <a:t>CX==0?</a:t>
            </a:r>
            <a:endParaRPr lang="zh-CN" altLang="en-US" dirty="0"/>
          </a:p>
        </p:txBody>
      </p:sp>
      <p:cxnSp>
        <p:nvCxnSpPr>
          <p:cNvPr id="61" name="直接箭头连接符 60"/>
          <p:cNvCxnSpPr/>
          <p:nvPr/>
        </p:nvCxnSpPr>
        <p:spPr>
          <a:xfrm>
            <a:off x="6038841" y="4588031"/>
            <a:ext cx="0" cy="2345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接连接符 61"/>
          <p:cNvCxnSpPr/>
          <p:nvPr/>
        </p:nvCxnSpPr>
        <p:spPr>
          <a:xfrm>
            <a:off x="6974945" y="5230655"/>
            <a:ext cx="73099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接连接符 62"/>
          <p:cNvCxnSpPr/>
          <p:nvPr/>
        </p:nvCxnSpPr>
        <p:spPr>
          <a:xfrm flipV="1">
            <a:off x="7693527" y="1601287"/>
            <a:ext cx="0" cy="361948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接连接符 64"/>
          <p:cNvCxnSpPr/>
          <p:nvPr/>
        </p:nvCxnSpPr>
        <p:spPr>
          <a:xfrm>
            <a:off x="6038841" y="1601287"/>
            <a:ext cx="1654686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矩形 69"/>
          <p:cNvSpPr/>
          <p:nvPr/>
        </p:nvSpPr>
        <p:spPr>
          <a:xfrm>
            <a:off x="4085164" y="3898640"/>
            <a:ext cx="37221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" name="矩形 70"/>
          <p:cNvSpPr/>
          <p:nvPr/>
        </p:nvSpPr>
        <p:spPr>
          <a:xfrm>
            <a:off x="2519680" y="4564931"/>
            <a:ext cx="3241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72" name="直接连接符 71"/>
          <p:cNvCxnSpPr/>
          <p:nvPr/>
        </p:nvCxnSpPr>
        <p:spPr>
          <a:xfrm>
            <a:off x="6974945" y="3244771"/>
            <a:ext cx="36549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接连接符 73"/>
          <p:cNvCxnSpPr/>
          <p:nvPr/>
        </p:nvCxnSpPr>
        <p:spPr>
          <a:xfrm flipV="1">
            <a:off x="7340441" y="3244771"/>
            <a:ext cx="0" cy="146052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矩形 76"/>
          <p:cNvSpPr/>
          <p:nvPr/>
        </p:nvSpPr>
        <p:spPr>
          <a:xfrm>
            <a:off x="5975010" y="3568078"/>
            <a:ext cx="6463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小于</a:t>
            </a:r>
          </a:p>
        </p:txBody>
      </p:sp>
      <p:sp>
        <p:nvSpPr>
          <p:cNvPr id="79" name="矩形 78"/>
          <p:cNvSpPr/>
          <p:nvPr/>
        </p:nvSpPr>
        <p:spPr>
          <a:xfrm>
            <a:off x="6883845" y="2636912"/>
            <a:ext cx="64633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大于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等于</a:t>
            </a:r>
          </a:p>
        </p:txBody>
      </p:sp>
      <p:cxnSp>
        <p:nvCxnSpPr>
          <p:cNvPr id="80" name="直接连接符 79"/>
          <p:cNvCxnSpPr/>
          <p:nvPr/>
        </p:nvCxnSpPr>
        <p:spPr>
          <a:xfrm>
            <a:off x="6038841" y="4702513"/>
            <a:ext cx="1301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矩形 81"/>
          <p:cNvSpPr/>
          <p:nvPr/>
        </p:nvSpPr>
        <p:spPr>
          <a:xfrm>
            <a:off x="7123815" y="4882720"/>
            <a:ext cx="37221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3" name="矩形 82"/>
          <p:cNvSpPr/>
          <p:nvPr/>
        </p:nvSpPr>
        <p:spPr>
          <a:xfrm>
            <a:off x="4751928" y="4854480"/>
            <a:ext cx="3241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9" name="直接连接符 38"/>
          <p:cNvCxnSpPr/>
          <p:nvPr/>
        </p:nvCxnSpPr>
        <p:spPr>
          <a:xfrm>
            <a:off x="4665834" y="5230655"/>
            <a:ext cx="36489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/>
          <p:cNvCxnSpPr/>
          <p:nvPr/>
        </p:nvCxnSpPr>
        <p:spPr>
          <a:xfrm flipV="1">
            <a:off x="4665834" y="4702513"/>
            <a:ext cx="0" cy="52814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连接符 46"/>
          <p:cNvCxnSpPr/>
          <p:nvPr/>
        </p:nvCxnSpPr>
        <p:spPr>
          <a:xfrm>
            <a:off x="2937642" y="4702513"/>
            <a:ext cx="172819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81704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092344" y="273721"/>
            <a:ext cx="5495880" cy="61863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altLang="zh-CN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lang="pt-BR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pt-BR" altLang="zh-CN" sz="2200" b="1" dirty="0">
                <a:solidFill>
                  <a:srgbClr val="1D8DE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SEGMENT</a:t>
            </a:r>
          </a:p>
          <a:p>
            <a:r>
              <a:rPr lang="pt-BR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       </a:t>
            </a:r>
            <a:r>
              <a:rPr lang="pt-BR" altLang="zh-CN" sz="2200" b="1" dirty="0">
                <a:solidFill>
                  <a:srgbClr val="1D8DE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DB</a:t>
            </a:r>
            <a:r>
              <a:rPr lang="pt-BR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5,  7,  19H,  23H,  0A0H</a:t>
            </a:r>
          </a:p>
          <a:p>
            <a:r>
              <a:rPr lang="pt-BR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           </a:t>
            </a:r>
            <a:r>
              <a:rPr lang="pt-BR" altLang="zh-CN" sz="2200" b="1" dirty="0">
                <a:solidFill>
                  <a:srgbClr val="1D8DE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EQU</a:t>
            </a:r>
            <a:r>
              <a:rPr lang="pt-BR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pt-BR" altLang="zh-CN" sz="2200" b="1" dirty="0">
                <a:solidFill>
                  <a:srgbClr val="1D8DE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$</a:t>
            </a:r>
            <a:r>
              <a:rPr lang="pt-BR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-VAR</a:t>
            </a:r>
          </a:p>
          <a:p>
            <a:r>
              <a:rPr lang="pt-BR" altLang="zh-CN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lang="pt-BR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pt-BR" altLang="zh-CN" sz="2200" b="1" dirty="0">
                <a:solidFill>
                  <a:srgbClr val="1D8DE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ENDS</a:t>
            </a:r>
            <a:endParaRPr lang="zh-CN" altLang="en-US" sz="2200" b="1" dirty="0">
              <a:solidFill>
                <a:srgbClr val="1D8DE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CN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CODE</a:t>
            </a:r>
            <a:r>
              <a:rPr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CN" sz="2200" b="1" dirty="0">
                <a:solidFill>
                  <a:srgbClr val="1D8DE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SEGMENT</a:t>
            </a:r>
          </a:p>
          <a:p>
            <a:r>
              <a:rPr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</a:t>
            </a:r>
            <a:r>
              <a:rPr lang="en-US" altLang="zh-CN" sz="2200" b="1" dirty="0">
                <a:solidFill>
                  <a:srgbClr val="1D8DE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ASSUME</a:t>
            </a:r>
            <a:r>
              <a:rPr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CS: CODE,  DS: DATA</a:t>
            </a:r>
          </a:p>
          <a:p>
            <a:endParaRPr lang="en-US" altLang="zh-CN" sz="22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START:</a:t>
            </a:r>
          </a:p>
          <a:p>
            <a:r>
              <a:rPr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</a:t>
            </a:r>
            <a:r>
              <a:rPr lang="en-US" altLang="zh-CN" sz="2200" b="1" dirty="0">
                <a:solidFill>
                  <a:srgbClr val="FF32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</a:t>
            </a:r>
            <a:r>
              <a:rPr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AX, DATA</a:t>
            </a:r>
          </a:p>
          <a:p>
            <a:r>
              <a:rPr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</a:t>
            </a:r>
            <a:r>
              <a:rPr lang="en-US" altLang="zh-CN" sz="2200" b="1" dirty="0">
                <a:solidFill>
                  <a:srgbClr val="FF32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</a:t>
            </a:r>
            <a:r>
              <a:rPr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DS, AX</a:t>
            </a:r>
          </a:p>
          <a:p>
            <a:r>
              <a:rPr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</a:p>
          <a:p>
            <a:r>
              <a:rPr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</a:t>
            </a:r>
            <a:r>
              <a:rPr lang="en-US" altLang="zh-CN" sz="2200" b="1" dirty="0">
                <a:solidFill>
                  <a:srgbClr val="FF32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</a:t>
            </a:r>
            <a:r>
              <a:rPr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CX, N</a:t>
            </a:r>
          </a:p>
          <a:p>
            <a:endParaRPr lang="en-US" altLang="zh-CN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200" b="1" dirty="0">
                <a:solidFill>
                  <a:srgbClr val="FF32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MOV</a:t>
            </a:r>
            <a:r>
              <a:rPr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SI, 0</a:t>
            </a:r>
          </a:p>
          <a:p>
            <a:r>
              <a:rPr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</a:t>
            </a:r>
            <a:r>
              <a:rPr lang="en-US" altLang="zh-CN" sz="2200" b="1" dirty="0">
                <a:solidFill>
                  <a:srgbClr val="FF32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</a:t>
            </a:r>
            <a:r>
              <a:rPr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AL, VAR[SI]</a:t>
            </a:r>
          </a:p>
          <a:p>
            <a:r>
              <a:rPr lang="en-US" altLang="zh-CN" sz="2200" b="1" dirty="0">
                <a:solidFill>
                  <a:srgbClr val="FF32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DEC</a:t>
            </a:r>
            <a:r>
              <a:rPr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CX         </a:t>
            </a:r>
          </a:p>
          <a:p>
            <a:r>
              <a:rPr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</a:t>
            </a:r>
            <a:r>
              <a:rPr lang="en-US" altLang="zh-CN" sz="2200" b="1" dirty="0">
                <a:solidFill>
                  <a:srgbClr val="FF32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JCXZ</a:t>
            </a:r>
            <a:r>
              <a:rPr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LAST</a:t>
            </a:r>
          </a:p>
        </p:txBody>
      </p:sp>
      <p:sp>
        <p:nvSpPr>
          <p:cNvPr id="11" name="矩形 10"/>
          <p:cNvSpPr/>
          <p:nvPr/>
        </p:nvSpPr>
        <p:spPr>
          <a:xfrm>
            <a:off x="1043608" y="339035"/>
            <a:ext cx="5544616" cy="1433781"/>
          </a:xfrm>
          <a:prstGeom prst="rect">
            <a:avLst/>
          </a:prstGeom>
          <a:noFill/>
          <a:ln w="9525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6636961" y="339034"/>
            <a:ext cx="2327528" cy="1433782"/>
          </a:xfrm>
          <a:prstGeom prst="rect">
            <a:avLst/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ea typeface="微软雅黑" panose="020B0503020204020204" pitchFamily="34" charset="-122"/>
              </a:rPr>
              <a:t>N </a:t>
            </a:r>
            <a:r>
              <a:rPr lang="zh-CN" altLang="en-US" sz="2400" b="1" dirty="0">
                <a:ea typeface="微软雅黑" panose="020B0503020204020204" pitchFamily="34" charset="-122"/>
              </a:rPr>
              <a:t>等于多少？</a:t>
            </a:r>
          </a:p>
        </p:txBody>
      </p:sp>
      <p:sp>
        <p:nvSpPr>
          <p:cNvPr id="13" name="矩形 12"/>
          <p:cNvSpPr/>
          <p:nvPr/>
        </p:nvSpPr>
        <p:spPr>
          <a:xfrm>
            <a:off x="1043608" y="1923211"/>
            <a:ext cx="5544616" cy="1001733"/>
          </a:xfrm>
          <a:prstGeom prst="rect">
            <a:avLst/>
          </a:prstGeom>
          <a:noFill/>
          <a:ln w="9525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6636961" y="1923210"/>
            <a:ext cx="2327528" cy="1001734"/>
          </a:xfrm>
          <a:prstGeom prst="rect">
            <a:avLst/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ea typeface="微软雅黑" panose="020B0503020204020204" pitchFamily="34" charset="-122"/>
              </a:rPr>
              <a:t>ASSUME</a:t>
            </a:r>
            <a:r>
              <a:rPr lang="zh-CN" altLang="en-US" sz="2400" b="1" dirty="0">
                <a:ea typeface="微软雅黑" panose="020B0503020204020204" pitchFamily="34" charset="-122"/>
              </a:rPr>
              <a:t>作用？</a:t>
            </a:r>
          </a:p>
        </p:txBody>
      </p:sp>
      <p:sp>
        <p:nvSpPr>
          <p:cNvPr id="15" name="矩形 14"/>
          <p:cNvSpPr/>
          <p:nvPr/>
        </p:nvSpPr>
        <p:spPr>
          <a:xfrm>
            <a:off x="1043608" y="2996953"/>
            <a:ext cx="3888432" cy="1104784"/>
          </a:xfrm>
          <a:prstGeom prst="rect">
            <a:avLst/>
          </a:prstGeom>
          <a:noFill/>
          <a:ln w="9525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5076056" y="2996951"/>
            <a:ext cx="2327528" cy="1104785"/>
          </a:xfrm>
          <a:prstGeom prst="rect">
            <a:avLst/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ea typeface="微软雅黑" panose="020B0503020204020204" pitchFamily="34" charset="-122"/>
              </a:rPr>
              <a:t>作用？第一条指令的寻址方式</a:t>
            </a:r>
          </a:p>
        </p:txBody>
      </p:sp>
      <p:sp>
        <p:nvSpPr>
          <p:cNvPr id="9" name="矩形 8"/>
          <p:cNvSpPr/>
          <p:nvPr/>
        </p:nvSpPr>
        <p:spPr>
          <a:xfrm>
            <a:off x="1043608" y="4221089"/>
            <a:ext cx="3888432" cy="720079"/>
          </a:xfrm>
          <a:prstGeom prst="rect">
            <a:avLst/>
          </a:prstGeom>
          <a:noFill/>
          <a:ln w="9525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5076056" y="4221088"/>
            <a:ext cx="2327528" cy="720080"/>
          </a:xfrm>
          <a:prstGeom prst="rect">
            <a:avLst/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ea typeface="微软雅黑" panose="020B0503020204020204" pitchFamily="34" charset="-122"/>
              </a:rPr>
              <a:t>寻址方式？</a:t>
            </a:r>
          </a:p>
        </p:txBody>
      </p:sp>
      <p:sp>
        <p:nvSpPr>
          <p:cNvPr id="17" name="矩形 16"/>
          <p:cNvSpPr/>
          <p:nvPr/>
        </p:nvSpPr>
        <p:spPr>
          <a:xfrm>
            <a:off x="1043608" y="5019555"/>
            <a:ext cx="3888432" cy="1361773"/>
          </a:xfrm>
          <a:prstGeom prst="rect">
            <a:avLst/>
          </a:prstGeom>
          <a:noFill/>
          <a:ln w="9525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5076056" y="5019554"/>
            <a:ext cx="2327528" cy="1361774"/>
          </a:xfrm>
          <a:prstGeom prst="rect">
            <a:avLst/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ea typeface="微软雅黑" panose="020B0503020204020204" pitchFamily="34" charset="-122"/>
              </a:rPr>
              <a:t>功能？</a:t>
            </a:r>
          </a:p>
        </p:txBody>
      </p:sp>
    </p:spTree>
    <p:extLst>
      <p:ext uri="{BB962C8B-B14F-4D97-AF65-F5344CB8AC3E}">
        <p14:creationId xmlns:p14="http://schemas.microsoft.com/office/powerpoint/2010/main" val="1087108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1" grpId="1" animBg="1"/>
      <p:bldP spid="12" grpId="0" animBg="1"/>
      <p:bldP spid="12" grpId="1" animBg="1"/>
      <p:bldP spid="13" grpId="0" animBg="1"/>
      <p:bldP spid="13" grpId="1" animBg="1"/>
      <p:bldP spid="14" grpId="0" animBg="1"/>
      <p:bldP spid="14" grpId="1" animBg="1"/>
      <p:bldP spid="15" grpId="0" animBg="1"/>
      <p:bldP spid="15" grpId="1" animBg="1"/>
      <p:bldP spid="16" grpId="0" animBg="1"/>
      <p:bldP spid="16" grpId="1" animBg="1"/>
      <p:bldP spid="9" grpId="0" animBg="1"/>
      <p:bldP spid="9" grpId="1" animBg="1"/>
      <p:bldP spid="10" grpId="0" animBg="1"/>
      <p:bldP spid="10" grpId="1" animBg="1"/>
      <p:bldP spid="17" grpId="0" animBg="1"/>
      <p:bldP spid="17" grpId="1" animBg="1"/>
      <p:bldP spid="18" grpId="0" animBg="1"/>
      <p:bldP spid="18" grpId="1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187624" y="339035"/>
            <a:ext cx="5495880" cy="61863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altLang="zh-CN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AGAIN:</a:t>
            </a:r>
          </a:p>
          <a:p>
            <a:r>
              <a:rPr lang="pt-BR" altLang="zh-CN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pt-BR" altLang="zh-CN" sz="2200" b="1" dirty="0">
                <a:solidFill>
                  <a:srgbClr val="FF32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   </a:t>
            </a:r>
            <a:r>
              <a:rPr lang="pt-BR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SI</a:t>
            </a:r>
          </a:p>
          <a:p>
            <a:r>
              <a:rPr lang="pt-BR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pt-BR" altLang="zh-CN" sz="2200" b="1" dirty="0">
                <a:solidFill>
                  <a:srgbClr val="FF32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CMP</a:t>
            </a:r>
            <a:r>
              <a:rPr lang="pt-BR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AL, VAR[SI]</a:t>
            </a:r>
          </a:p>
          <a:p>
            <a:r>
              <a:rPr lang="pt-BR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</a:p>
          <a:p>
            <a:r>
              <a:rPr lang="pt-BR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pt-BR" altLang="zh-CN" sz="2200" b="1" dirty="0">
                <a:solidFill>
                  <a:srgbClr val="FF32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JAE</a:t>
            </a:r>
            <a:r>
              <a:rPr lang="pt-BR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NEXT</a:t>
            </a:r>
          </a:p>
          <a:p>
            <a:r>
              <a:rPr lang="pt-BR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</a:p>
          <a:p>
            <a:r>
              <a:rPr lang="pt-BR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pt-BR" altLang="zh-CN" sz="2200" b="1" dirty="0">
                <a:solidFill>
                  <a:srgbClr val="FF32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</a:t>
            </a:r>
            <a:r>
              <a:rPr lang="pt-BR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AL, VAR[SI]</a:t>
            </a:r>
          </a:p>
          <a:p>
            <a:r>
              <a:rPr lang="pt-BR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</a:p>
          <a:p>
            <a:r>
              <a:rPr lang="pt-BR" altLang="zh-CN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NEXT:    </a:t>
            </a:r>
          </a:p>
          <a:p>
            <a:r>
              <a:rPr lang="pt-BR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pt-BR" altLang="zh-CN" sz="2200" b="1" dirty="0">
                <a:solidFill>
                  <a:srgbClr val="FF32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LOOP</a:t>
            </a:r>
            <a:r>
              <a:rPr lang="pt-BR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AGAIN</a:t>
            </a:r>
          </a:p>
          <a:p>
            <a:r>
              <a:rPr lang="pt-BR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</a:p>
          <a:p>
            <a:r>
              <a:rPr lang="pt-BR" altLang="zh-CN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LAST:    </a:t>
            </a:r>
          </a:p>
          <a:p>
            <a:r>
              <a:rPr lang="pt-BR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pt-BR" altLang="zh-CN" sz="2200" b="1" dirty="0">
                <a:solidFill>
                  <a:srgbClr val="FF32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</a:t>
            </a:r>
            <a:r>
              <a:rPr lang="pt-BR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AH, 4CH</a:t>
            </a:r>
          </a:p>
          <a:p>
            <a:r>
              <a:rPr lang="pt-BR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pt-BR" altLang="zh-CN" sz="2200" b="1" dirty="0">
                <a:solidFill>
                  <a:srgbClr val="FF32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pt-BR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21H</a:t>
            </a:r>
          </a:p>
          <a:p>
            <a:endParaRPr lang="pt-BR" altLang="zh-CN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pt-BR" altLang="zh-CN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CODE</a:t>
            </a:r>
            <a:r>
              <a:rPr lang="pt-BR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altLang="zh-CN" sz="2200" b="1" dirty="0">
                <a:solidFill>
                  <a:srgbClr val="1D8DE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ENDS</a:t>
            </a:r>
          </a:p>
          <a:p>
            <a:r>
              <a:rPr lang="pt-BR" altLang="zh-CN" sz="2200" b="1" dirty="0">
                <a:solidFill>
                  <a:srgbClr val="1D8DE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  <a:r>
              <a:rPr lang="pt-BR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altLang="zh-CN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START</a:t>
            </a:r>
          </a:p>
          <a:p>
            <a:endParaRPr lang="en-US" altLang="zh-CN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043608" y="339035"/>
            <a:ext cx="4104456" cy="1145749"/>
          </a:xfrm>
          <a:prstGeom prst="rect">
            <a:avLst/>
          </a:prstGeom>
          <a:noFill/>
          <a:ln w="9525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5220072" y="339034"/>
            <a:ext cx="2327528" cy="1145750"/>
          </a:xfrm>
          <a:prstGeom prst="rect">
            <a:avLst/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ea typeface="微软雅黑" panose="020B0503020204020204" pitchFamily="34" charset="-122"/>
              </a:rPr>
              <a:t>功能？</a:t>
            </a:r>
            <a:r>
              <a:rPr lang="en-US" altLang="zh-CN" sz="2400" b="1" dirty="0">
                <a:ea typeface="微软雅黑" panose="020B0503020204020204" pitchFamily="34" charset="-122"/>
              </a:rPr>
              <a:t>CMP</a:t>
            </a:r>
            <a:r>
              <a:rPr lang="zh-CN" altLang="en-US" sz="2400" b="1" dirty="0">
                <a:ea typeface="微软雅黑" panose="020B0503020204020204" pitchFamily="34" charset="-122"/>
              </a:rPr>
              <a:t>源操作数寻址方式？</a:t>
            </a:r>
          </a:p>
        </p:txBody>
      </p:sp>
      <p:sp>
        <p:nvSpPr>
          <p:cNvPr id="7" name="矩形 6"/>
          <p:cNvSpPr/>
          <p:nvPr/>
        </p:nvSpPr>
        <p:spPr>
          <a:xfrm>
            <a:off x="1043608" y="1628801"/>
            <a:ext cx="4104456" cy="576063"/>
          </a:xfrm>
          <a:prstGeom prst="rect">
            <a:avLst/>
          </a:prstGeom>
          <a:noFill/>
          <a:ln w="9525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5220072" y="1628800"/>
            <a:ext cx="2327528" cy="576063"/>
          </a:xfrm>
          <a:prstGeom prst="rect">
            <a:avLst/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ea typeface="微软雅黑" panose="020B0503020204020204" pitchFamily="34" charset="-122"/>
              </a:rPr>
              <a:t>功能？</a:t>
            </a:r>
          </a:p>
        </p:txBody>
      </p:sp>
      <p:sp>
        <p:nvSpPr>
          <p:cNvPr id="9" name="矩形 8"/>
          <p:cNvSpPr/>
          <p:nvPr/>
        </p:nvSpPr>
        <p:spPr>
          <a:xfrm>
            <a:off x="1043608" y="2276873"/>
            <a:ext cx="4104456" cy="576063"/>
          </a:xfrm>
          <a:prstGeom prst="rect">
            <a:avLst/>
          </a:prstGeom>
          <a:noFill/>
          <a:ln w="9525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5220072" y="2276872"/>
            <a:ext cx="2327528" cy="576063"/>
          </a:xfrm>
          <a:prstGeom prst="rect">
            <a:avLst/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ea typeface="微软雅黑" panose="020B0503020204020204" pitchFamily="34" charset="-122"/>
              </a:rPr>
              <a:t>功能？</a:t>
            </a:r>
          </a:p>
        </p:txBody>
      </p:sp>
      <p:sp>
        <p:nvSpPr>
          <p:cNvPr id="11" name="矩形 10"/>
          <p:cNvSpPr/>
          <p:nvPr/>
        </p:nvSpPr>
        <p:spPr>
          <a:xfrm>
            <a:off x="1043608" y="2996953"/>
            <a:ext cx="4104456" cy="864095"/>
          </a:xfrm>
          <a:prstGeom prst="rect">
            <a:avLst/>
          </a:prstGeom>
          <a:noFill/>
          <a:ln w="9525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5220072" y="2996952"/>
            <a:ext cx="2327528" cy="864095"/>
          </a:xfrm>
          <a:prstGeom prst="rect">
            <a:avLst/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ea typeface="微软雅黑" panose="020B0503020204020204" pitchFamily="34" charset="-122"/>
              </a:rPr>
              <a:t>功能？</a:t>
            </a:r>
          </a:p>
        </p:txBody>
      </p:sp>
      <p:sp>
        <p:nvSpPr>
          <p:cNvPr id="13" name="矩形 12"/>
          <p:cNvSpPr/>
          <p:nvPr/>
        </p:nvSpPr>
        <p:spPr>
          <a:xfrm>
            <a:off x="1043608" y="4005065"/>
            <a:ext cx="4104456" cy="1145749"/>
          </a:xfrm>
          <a:prstGeom prst="rect">
            <a:avLst/>
          </a:prstGeom>
          <a:noFill/>
          <a:ln w="9525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5220072" y="4005064"/>
            <a:ext cx="2327528" cy="1145750"/>
          </a:xfrm>
          <a:prstGeom prst="rect">
            <a:avLst/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ea typeface="微软雅黑" panose="020B0503020204020204" pitchFamily="34" charset="-122"/>
              </a:rPr>
              <a:t>功能？</a:t>
            </a:r>
          </a:p>
        </p:txBody>
      </p:sp>
      <p:sp>
        <p:nvSpPr>
          <p:cNvPr id="15" name="矩形 14"/>
          <p:cNvSpPr/>
          <p:nvPr/>
        </p:nvSpPr>
        <p:spPr>
          <a:xfrm>
            <a:off x="1043608" y="5229201"/>
            <a:ext cx="4104456" cy="576063"/>
          </a:xfrm>
          <a:prstGeom prst="rect">
            <a:avLst/>
          </a:prstGeom>
          <a:noFill/>
          <a:ln w="9525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5220072" y="5229200"/>
            <a:ext cx="2327528" cy="576063"/>
          </a:xfrm>
          <a:prstGeom prst="rect">
            <a:avLst/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ea typeface="微软雅黑" panose="020B0503020204020204" pitchFamily="34" charset="-122"/>
              </a:rPr>
              <a:t>功能？</a:t>
            </a:r>
          </a:p>
        </p:txBody>
      </p:sp>
      <p:sp>
        <p:nvSpPr>
          <p:cNvPr id="17" name="矩形 16"/>
          <p:cNvSpPr/>
          <p:nvPr/>
        </p:nvSpPr>
        <p:spPr>
          <a:xfrm>
            <a:off x="1043608" y="5805265"/>
            <a:ext cx="4104456" cy="576063"/>
          </a:xfrm>
          <a:prstGeom prst="rect">
            <a:avLst/>
          </a:prstGeom>
          <a:noFill/>
          <a:ln w="9525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5220072" y="5805264"/>
            <a:ext cx="2327528" cy="576063"/>
          </a:xfrm>
          <a:prstGeom prst="rect">
            <a:avLst/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ea typeface="微软雅黑" panose="020B0503020204020204" pitchFamily="34" charset="-122"/>
              </a:rPr>
              <a:t>功能？</a:t>
            </a:r>
          </a:p>
        </p:txBody>
      </p:sp>
      <p:sp>
        <p:nvSpPr>
          <p:cNvPr id="19" name="矩形 18"/>
          <p:cNvSpPr/>
          <p:nvPr/>
        </p:nvSpPr>
        <p:spPr>
          <a:xfrm>
            <a:off x="5220072" y="1556793"/>
            <a:ext cx="2909814" cy="792087"/>
          </a:xfrm>
          <a:prstGeom prst="rect">
            <a:avLst/>
          </a:prstGeom>
          <a:solidFill>
            <a:srgbClr val="FF32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zh-CN" altLang="en-US" sz="2400" b="1" dirty="0">
                <a:ea typeface="微软雅黑" panose="020B0503020204020204" pitchFamily="34" charset="-122"/>
              </a:rPr>
              <a:t>如果这里换成</a:t>
            </a:r>
            <a:r>
              <a:rPr lang="en-US" altLang="zh-CN" sz="2400" b="1" dirty="0">
                <a:ea typeface="微软雅黑" panose="020B0503020204020204" pitchFamily="34" charset="-122"/>
              </a:rPr>
              <a:t>JGE</a:t>
            </a:r>
            <a:r>
              <a:rPr lang="zh-CN" altLang="en-US" sz="2400" b="1" dirty="0">
                <a:ea typeface="微软雅黑" panose="020B0503020204020204" pitchFamily="34" charset="-122"/>
              </a:rPr>
              <a:t>结果是什么？</a:t>
            </a:r>
            <a:endParaRPr lang="en-US" altLang="zh-CN" sz="2400" b="1" dirty="0"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977574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  <p:bldP spid="4" grpId="0" animBg="1"/>
      <p:bldP spid="4" grpId="1" animBg="1"/>
      <p:bldP spid="7" grpId="0" animBg="1"/>
      <p:bldP spid="7" grpId="1" animBg="1"/>
      <p:bldP spid="8" grpId="0" animBg="1"/>
      <p:bldP spid="8" grpId="1" animBg="1"/>
      <p:bldP spid="9" grpId="0" animBg="1"/>
      <p:bldP spid="9" grpId="1" animBg="1"/>
      <p:bldP spid="10" grpId="0" animBg="1"/>
      <p:bldP spid="10" grpId="1" animBg="1"/>
      <p:bldP spid="11" grpId="0" animBg="1"/>
      <p:bldP spid="11" grpId="1" animBg="1"/>
      <p:bldP spid="12" grpId="0" animBg="1"/>
      <p:bldP spid="12" grpId="1" animBg="1"/>
      <p:bldP spid="13" grpId="0" animBg="1"/>
      <p:bldP spid="13" grpId="1" animBg="1"/>
      <p:bldP spid="14" grpId="0" animBg="1"/>
      <p:bldP spid="14" grpId="1" animBg="1"/>
      <p:bldP spid="15" grpId="0" animBg="1"/>
      <p:bldP spid="15" grpId="1" animBg="1"/>
      <p:bldP spid="16" grpId="0" animBg="1"/>
      <p:bldP spid="16" grpId="1" animBg="1"/>
      <p:bldP spid="17" grpId="0" animBg="1"/>
      <p:bldP spid="17" grpId="1" animBg="1"/>
      <p:bldP spid="18" grpId="0" animBg="1"/>
      <p:bldP spid="18" grpId="1" animBg="1"/>
      <p:bldP spid="1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/>
          <p:cNvCxnSpPr/>
          <p:nvPr/>
        </p:nvCxnSpPr>
        <p:spPr>
          <a:xfrm>
            <a:off x="611560" y="1124744"/>
            <a:ext cx="7992888" cy="0"/>
          </a:xfrm>
          <a:prstGeom prst="line">
            <a:avLst/>
          </a:prstGeom>
          <a:ln w="28575">
            <a:solidFill>
              <a:srgbClr val="1D8DE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>
            <a:off x="611560" y="631563"/>
            <a:ext cx="500110" cy="490346"/>
          </a:xfrm>
          <a:prstGeom prst="rect">
            <a:avLst/>
          </a:prstGeom>
          <a:solidFill>
            <a:srgbClr val="1D8DE5"/>
          </a:solidFill>
          <a:ln w="9525" cap="rnd">
            <a:solidFill>
              <a:srgbClr val="1D8DE5"/>
            </a:solidFill>
            <a:prstDash val="solid"/>
            <a:round/>
            <a:headEnd/>
            <a:tailEnd/>
          </a:ln>
        </p:spPr>
        <p:txBody>
          <a:bodyPr anchor="ctr"/>
          <a:lstStyle/>
          <a:p>
            <a:pPr algn="ctr"/>
            <a:r>
              <a:rPr lang="en-US" altLang="zh-CN" sz="2800" b="1" kern="0" dirty="0">
                <a:solidFill>
                  <a:sysClr val="window" lastClr="FFFFFF">
                    <a:lumMod val="95000"/>
                  </a:sys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zh-CN" altLang="en-US" sz="2800" b="1" kern="0" dirty="0">
              <a:solidFill>
                <a:sysClr val="window" lastClr="FFFFFF">
                  <a:lumMod val="95000"/>
                </a:sys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TextBox 11"/>
          <p:cNvSpPr txBox="1"/>
          <p:nvPr/>
        </p:nvSpPr>
        <p:spPr>
          <a:xfrm>
            <a:off x="1119384" y="620688"/>
            <a:ext cx="72613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1D8DE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密码判断程序</a:t>
            </a:r>
          </a:p>
        </p:txBody>
      </p:sp>
      <p:sp>
        <p:nvSpPr>
          <p:cNvPr id="7" name="矩形 6"/>
          <p:cNvSpPr/>
          <p:nvPr/>
        </p:nvSpPr>
        <p:spPr>
          <a:xfrm>
            <a:off x="8380710" y="620688"/>
            <a:ext cx="223738" cy="490346"/>
          </a:xfrm>
          <a:prstGeom prst="rect">
            <a:avLst/>
          </a:prstGeom>
          <a:solidFill>
            <a:srgbClr val="1D8DE5"/>
          </a:solidFill>
          <a:ln w="9525" cap="rnd">
            <a:solidFill>
              <a:srgbClr val="1D8DE5"/>
            </a:solidFill>
            <a:prstDash val="solid"/>
            <a:round/>
            <a:headEnd/>
            <a:tailEnd/>
          </a:ln>
        </p:spPr>
        <p:txBody>
          <a:bodyPr/>
          <a:lstStyle/>
          <a:p>
            <a:pPr algn="ctr">
              <a:lnSpc>
                <a:spcPct val="120000"/>
              </a:lnSpc>
            </a:pPr>
            <a:endParaRPr lang="zh-CN" altLang="en-US" b="1" kern="0" dirty="0">
              <a:solidFill>
                <a:sysClr val="window" lastClr="FFFFFF">
                  <a:lumMod val="95000"/>
                </a:sys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611560" y="631563"/>
            <a:ext cx="7992888" cy="0"/>
          </a:xfrm>
          <a:prstGeom prst="line">
            <a:avLst/>
          </a:prstGeom>
          <a:ln w="28575">
            <a:solidFill>
              <a:srgbClr val="1D8DE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流程图: 过程 2"/>
          <p:cNvSpPr/>
          <p:nvPr/>
        </p:nvSpPr>
        <p:spPr>
          <a:xfrm>
            <a:off x="1918617" y="1745303"/>
            <a:ext cx="2016223" cy="648072"/>
          </a:xfrm>
          <a:prstGeom prst="flowChartProcess">
            <a:avLst/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输入密码</a:t>
            </a:r>
          </a:p>
        </p:txBody>
      </p:sp>
      <p:cxnSp>
        <p:nvCxnSpPr>
          <p:cNvPr id="10" name="直接箭头连接符 9"/>
          <p:cNvCxnSpPr>
            <a:stCxn id="3" idx="2"/>
          </p:cNvCxnSpPr>
          <p:nvPr/>
        </p:nvCxnSpPr>
        <p:spPr>
          <a:xfrm>
            <a:off x="2926729" y="2393375"/>
            <a:ext cx="10914" cy="4320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/>
          <p:cNvCxnSpPr>
            <a:stCxn id="12" idx="2"/>
          </p:cNvCxnSpPr>
          <p:nvPr/>
        </p:nvCxnSpPr>
        <p:spPr>
          <a:xfrm flipH="1">
            <a:off x="2937642" y="3429000"/>
            <a:ext cx="5569" cy="5111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/>
          <p:cNvCxnSpPr/>
          <p:nvPr/>
        </p:nvCxnSpPr>
        <p:spPr>
          <a:xfrm>
            <a:off x="2937642" y="4533573"/>
            <a:ext cx="0" cy="4320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流程图: 决策 11"/>
          <p:cNvSpPr/>
          <p:nvPr/>
        </p:nvSpPr>
        <p:spPr>
          <a:xfrm>
            <a:off x="1746469" y="2852936"/>
            <a:ext cx="2393483" cy="576064"/>
          </a:xfrm>
          <a:prstGeom prst="flowChartDecision">
            <a:avLst/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长度不等？</a:t>
            </a:r>
          </a:p>
        </p:txBody>
      </p:sp>
      <p:sp>
        <p:nvSpPr>
          <p:cNvPr id="19" name="流程图: 终止 18"/>
          <p:cNvSpPr/>
          <p:nvPr/>
        </p:nvSpPr>
        <p:spPr>
          <a:xfrm>
            <a:off x="1979711" y="4985663"/>
            <a:ext cx="1872208" cy="532779"/>
          </a:xfrm>
          <a:prstGeom prst="flowChartTerminator">
            <a:avLst/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结束</a:t>
            </a:r>
          </a:p>
        </p:txBody>
      </p:sp>
      <p:cxnSp>
        <p:nvCxnSpPr>
          <p:cNvPr id="28" name="直接连接符 27"/>
          <p:cNvCxnSpPr>
            <a:stCxn id="12" idx="3"/>
          </p:cNvCxnSpPr>
          <p:nvPr/>
        </p:nvCxnSpPr>
        <p:spPr>
          <a:xfrm>
            <a:off x="4139952" y="3140968"/>
            <a:ext cx="46789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箭头连接符 37"/>
          <p:cNvCxnSpPr/>
          <p:nvPr/>
        </p:nvCxnSpPr>
        <p:spPr>
          <a:xfrm>
            <a:off x="6038841" y="1601287"/>
            <a:ext cx="0" cy="1440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流程图: 过程 39"/>
          <p:cNvSpPr/>
          <p:nvPr/>
        </p:nvSpPr>
        <p:spPr>
          <a:xfrm>
            <a:off x="5102737" y="1738590"/>
            <a:ext cx="1872208" cy="648072"/>
          </a:xfrm>
          <a:prstGeom prst="flowChartProcess">
            <a:avLst/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串比较</a:t>
            </a:r>
          </a:p>
        </p:txBody>
      </p:sp>
      <p:cxnSp>
        <p:nvCxnSpPr>
          <p:cNvPr id="43" name="直接连接符 42"/>
          <p:cNvCxnSpPr/>
          <p:nvPr/>
        </p:nvCxnSpPr>
        <p:spPr>
          <a:xfrm>
            <a:off x="4607845" y="1601287"/>
            <a:ext cx="143099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流程图: 决策 43"/>
          <p:cNvSpPr/>
          <p:nvPr/>
        </p:nvSpPr>
        <p:spPr>
          <a:xfrm>
            <a:off x="5030729" y="2825423"/>
            <a:ext cx="2016224" cy="838696"/>
          </a:xfrm>
          <a:prstGeom prst="flowChartDecision">
            <a:avLst/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相等</a:t>
            </a:r>
          </a:p>
        </p:txBody>
      </p:sp>
      <p:cxnSp>
        <p:nvCxnSpPr>
          <p:cNvPr id="45" name="直接箭头连接符 44"/>
          <p:cNvCxnSpPr/>
          <p:nvPr/>
        </p:nvCxnSpPr>
        <p:spPr>
          <a:xfrm>
            <a:off x="6038841" y="2386662"/>
            <a:ext cx="0" cy="4320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流程图: 过程 45"/>
          <p:cNvSpPr/>
          <p:nvPr/>
        </p:nvSpPr>
        <p:spPr>
          <a:xfrm>
            <a:off x="5102737" y="3940187"/>
            <a:ext cx="1872208" cy="648072"/>
          </a:xfrm>
          <a:prstGeom prst="flowChartProcess">
            <a:avLst/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打印密码正确</a:t>
            </a:r>
          </a:p>
        </p:txBody>
      </p:sp>
      <p:cxnSp>
        <p:nvCxnSpPr>
          <p:cNvPr id="49" name="直接箭头连接符 48"/>
          <p:cNvCxnSpPr/>
          <p:nvPr/>
        </p:nvCxnSpPr>
        <p:spPr>
          <a:xfrm>
            <a:off x="6038841" y="3664119"/>
            <a:ext cx="0" cy="2345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接箭头连接符 60"/>
          <p:cNvCxnSpPr/>
          <p:nvPr/>
        </p:nvCxnSpPr>
        <p:spPr>
          <a:xfrm>
            <a:off x="6038841" y="4588031"/>
            <a:ext cx="0" cy="234521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矩形 69"/>
          <p:cNvSpPr/>
          <p:nvPr/>
        </p:nvSpPr>
        <p:spPr>
          <a:xfrm>
            <a:off x="4085164" y="2708920"/>
            <a:ext cx="37221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" name="矩形 70"/>
          <p:cNvSpPr/>
          <p:nvPr/>
        </p:nvSpPr>
        <p:spPr>
          <a:xfrm>
            <a:off x="2447672" y="3501008"/>
            <a:ext cx="3241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72" name="直接连接符 71"/>
          <p:cNvCxnSpPr/>
          <p:nvPr/>
        </p:nvCxnSpPr>
        <p:spPr>
          <a:xfrm>
            <a:off x="4607845" y="3244771"/>
            <a:ext cx="46821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接连接符 73"/>
          <p:cNvCxnSpPr/>
          <p:nvPr/>
        </p:nvCxnSpPr>
        <p:spPr>
          <a:xfrm flipV="1">
            <a:off x="4607845" y="3244771"/>
            <a:ext cx="0" cy="479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矩形 81"/>
          <p:cNvSpPr/>
          <p:nvPr/>
        </p:nvSpPr>
        <p:spPr>
          <a:xfrm>
            <a:off x="4658354" y="3218940"/>
            <a:ext cx="37221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流程图: 过程 40"/>
          <p:cNvSpPr/>
          <p:nvPr/>
        </p:nvSpPr>
        <p:spPr>
          <a:xfrm>
            <a:off x="1910263" y="3932106"/>
            <a:ext cx="2016223" cy="648072"/>
          </a:xfrm>
          <a:prstGeom prst="flowChartProcess">
            <a:avLst/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打印密码错误</a:t>
            </a:r>
          </a:p>
        </p:txBody>
      </p:sp>
      <p:sp>
        <p:nvSpPr>
          <p:cNvPr id="42" name="矩形 41"/>
          <p:cNvSpPr/>
          <p:nvPr/>
        </p:nvSpPr>
        <p:spPr>
          <a:xfrm>
            <a:off x="6156176" y="3563724"/>
            <a:ext cx="3241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7" name="直接连接符 46"/>
          <p:cNvCxnSpPr/>
          <p:nvPr/>
        </p:nvCxnSpPr>
        <p:spPr>
          <a:xfrm flipV="1">
            <a:off x="4607845" y="1601287"/>
            <a:ext cx="0" cy="153968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连接符 50"/>
          <p:cNvCxnSpPr/>
          <p:nvPr/>
        </p:nvCxnSpPr>
        <p:spPr>
          <a:xfrm>
            <a:off x="2937642" y="3724163"/>
            <a:ext cx="167020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连接符 52"/>
          <p:cNvCxnSpPr/>
          <p:nvPr/>
        </p:nvCxnSpPr>
        <p:spPr>
          <a:xfrm>
            <a:off x="2937642" y="4835671"/>
            <a:ext cx="310119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63453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092344" y="273721"/>
            <a:ext cx="7800136" cy="58477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altLang="zh-CN" sz="2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</a:t>
            </a:r>
            <a:r>
              <a:rPr lang="pt-BR" altLang="zh-CN" sz="2200" b="1" dirty="0">
                <a:solidFill>
                  <a:srgbClr val="1D8DE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SEGMENT</a:t>
            </a:r>
          </a:p>
          <a:p>
            <a:r>
              <a:rPr lang="pt-BR" altLang="zh-CN" sz="2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PASSWORD   </a:t>
            </a:r>
            <a:r>
              <a:rPr lang="pt-BR" altLang="zh-CN" sz="2200" b="1" dirty="0">
                <a:solidFill>
                  <a:srgbClr val="1D8DE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DB</a:t>
            </a:r>
            <a:r>
              <a:rPr lang="pt-BR" altLang="zh-CN" sz="2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'12AB'</a:t>
            </a:r>
          </a:p>
          <a:p>
            <a:r>
              <a:rPr lang="pt-BR" altLang="zh-CN" sz="2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                      </a:t>
            </a:r>
            <a:r>
              <a:rPr lang="pt-BR" altLang="zh-CN" sz="2200" b="1" dirty="0">
                <a:solidFill>
                  <a:srgbClr val="1D8DE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EQU   $</a:t>
            </a:r>
            <a:r>
              <a:rPr lang="pt-BR" altLang="zh-CN" sz="2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PASSWORD</a:t>
            </a:r>
          </a:p>
          <a:p>
            <a:r>
              <a:rPr lang="pt-BR" altLang="zh-CN" sz="2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STR_PRINT   </a:t>
            </a:r>
            <a:r>
              <a:rPr lang="pt-BR" altLang="zh-CN" sz="2200" b="1" dirty="0">
                <a:solidFill>
                  <a:srgbClr val="1D8DE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DB</a:t>
            </a:r>
            <a:r>
              <a:rPr lang="pt-BR" altLang="zh-CN" sz="2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'PASSWORD ?', 0DH, 0AH, '$'</a:t>
            </a:r>
          </a:p>
          <a:p>
            <a:endParaRPr lang="en-US" altLang="zh-CN" sz="2200" b="1" dirty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PASSWORD_IN </a:t>
            </a:r>
            <a:r>
              <a:rPr lang="en-US" altLang="zh-CN" sz="2200" b="1" dirty="0">
                <a:solidFill>
                  <a:srgbClr val="1D8DE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DB</a:t>
            </a:r>
            <a:r>
              <a:rPr lang="en-US" altLang="zh-CN" sz="2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20, ?, 20 DUP(?)</a:t>
            </a:r>
          </a:p>
          <a:p>
            <a:r>
              <a:rPr lang="en-US" altLang="zh-CN" sz="2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STR_OK              </a:t>
            </a:r>
            <a:r>
              <a:rPr lang="en-US" altLang="zh-CN" sz="2200" b="1" dirty="0">
                <a:solidFill>
                  <a:srgbClr val="1D8DE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DB</a:t>
            </a:r>
            <a:r>
              <a:rPr lang="en-US" altLang="zh-CN" sz="2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0DH, 0AH, 'OK!$'</a:t>
            </a:r>
          </a:p>
          <a:p>
            <a:r>
              <a:rPr lang="en-US" altLang="zh-CN" sz="2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STR_WRONG    </a:t>
            </a:r>
            <a:r>
              <a:rPr lang="en-US" altLang="zh-CN" sz="2200" b="1" dirty="0">
                <a:solidFill>
                  <a:srgbClr val="1D8DE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DB</a:t>
            </a:r>
            <a:r>
              <a:rPr lang="en-US" altLang="zh-CN" sz="2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0DH, 0AH, 'INVALID PASSWORD!$'</a:t>
            </a:r>
          </a:p>
          <a:p>
            <a:r>
              <a:rPr lang="en-US" altLang="zh-CN" sz="2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</a:t>
            </a:r>
            <a:r>
              <a:rPr lang="en-US" altLang="zh-CN" sz="2200" b="1" dirty="0">
                <a:solidFill>
                  <a:srgbClr val="1D8DE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ENDS</a:t>
            </a:r>
          </a:p>
          <a:p>
            <a:endParaRPr lang="en-US" altLang="zh-CN" sz="2200" b="1" dirty="0">
              <a:solidFill>
                <a:srgbClr val="1D8DE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CODE </a:t>
            </a:r>
            <a:r>
              <a:rPr lang="en-US" altLang="zh-CN" sz="2200" b="1" dirty="0">
                <a:solidFill>
                  <a:srgbClr val="1D8DE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SEGMENT</a:t>
            </a:r>
          </a:p>
          <a:p>
            <a:r>
              <a:rPr lang="en-US" altLang="zh-CN" sz="2200" b="1" dirty="0">
                <a:solidFill>
                  <a:srgbClr val="1D8DE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ASSUME </a:t>
            </a:r>
            <a:r>
              <a:rPr lang="en-US" altLang="zh-CN" sz="2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CS: CODE, DS: DATA, ES: DATA</a:t>
            </a:r>
          </a:p>
          <a:p>
            <a:r>
              <a:rPr lang="en-US" altLang="zh-CN" sz="2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</a:p>
          <a:p>
            <a:r>
              <a:rPr lang="en-US" altLang="zh-CN" sz="2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START:</a:t>
            </a:r>
          </a:p>
          <a:p>
            <a:r>
              <a:rPr lang="en-US" altLang="zh-CN" sz="2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en-US" altLang="zh-CN" sz="2200" b="1" dirty="0">
                <a:solidFill>
                  <a:srgbClr val="FF32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</a:t>
            </a:r>
            <a:r>
              <a:rPr lang="en-US" altLang="zh-CN" sz="2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AX, DATA</a:t>
            </a:r>
          </a:p>
          <a:p>
            <a:r>
              <a:rPr lang="en-US" altLang="zh-CN" sz="2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en-US" altLang="zh-CN" sz="2200" b="1" dirty="0">
                <a:solidFill>
                  <a:srgbClr val="FF32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</a:t>
            </a:r>
            <a:r>
              <a:rPr lang="en-US" altLang="zh-CN" sz="2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DS, AX</a:t>
            </a:r>
          </a:p>
          <a:p>
            <a:r>
              <a:rPr lang="en-US" altLang="zh-CN" sz="2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en-US" altLang="zh-CN" sz="2200" b="1" dirty="0">
                <a:solidFill>
                  <a:srgbClr val="FF32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</a:t>
            </a:r>
            <a:r>
              <a:rPr lang="en-US" altLang="zh-CN" sz="2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ES, AX</a:t>
            </a:r>
          </a:p>
        </p:txBody>
      </p:sp>
      <p:sp>
        <p:nvSpPr>
          <p:cNvPr id="11" name="矩形 10"/>
          <p:cNvSpPr/>
          <p:nvPr/>
        </p:nvSpPr>
        <p:spPr>
          <a:xfrm>
            <a:off x="1043607" y="195334"/>
            <a:ext cx="7850741" cy="3217707"/>
          </a:xfrm>
          <a:prstGeom prst="rect">
            <a:avLst/>
          </a:prstGeom>
          <a:noFill/>
          <a:ln w="9525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92059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187624" y="339035"/>
            <a:ext cx="5495880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altLang="zh-CN" sz="2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pt-BR" altLang="zh-CN" sz="2200" b="1" dirty="0">
                <a:solidFill>
                  <a:srgbClr val="FF32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</a:t>
            </a:r>
            <a:r>
              <a:rPr lang="pt-BR" altLang="zh-CN" sz="2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DX, STR_PRINT</a:t>
            </a:r>
          </a:p>
          <a:p>
            <a:r>
              <a:rPr lang="pt-BR" altLang="zh-CN" sz="2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pt-BR" altLang="zh-CN" sz="2200" b="1" dirty="0">
                <a:solidFill>
                  <a:srgbClr val="FF32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</a:t>
            </a:r>
            <a:r>
              <a:rPr lang="pt-BR" altLang="zh-CN" sz="2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AH, 9</a:t>
            </a:r>
          </a:p>
          <a:p>
            <a:r>
              <a:rPr lang="pt-BR" altLang="zh-CN" sz="2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pt-BR" altLang="zh-CN" sz="2200" b="1" dirty="0">
                <a:solidFill>
                  <a:srgbClr val="FF32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pt-BR" altLang="zh-CN" sz="2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21H</a:t>
            </a:r>
          </a:p>
          <a:p>
            <a:r>
              <a:rPr lang="pt-BR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</a:p>
          <a:p>
            <a:r>
              <a:rPr lang="en-US" altLang="zh-CN" sz="2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en-US" altLang="zh-CN" sz="2200" b="1" dirty="0">
                <a:solidFill>
                  <a:srgbClr val="FF32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</a:t>
            </a:r>
            <a:r>
              <a:rPr lang="en-US" altLang="zh-CN" sz="2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DX, PASSWORD_IN</a:t>
            </a:r>
          </a:p>
          <a:p>
            <a:r>
              <a:rPr lang="en-US" altLang="zh-CN" sz="2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en-US" altLang="zh-CN" sz="2200" b="1" dirty="0">
                <a:solidFill>
                  <a:srgbClr val="FF32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</a:t>
            </a:r>
            <a:r>
              <a:rPr lang="en-US" altLang="zh-CN" sz="2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AH, 0AH</a:t>
            </a:r>
          </a:p>
          <a:p>
            <a:r>
              <a:rPr lang="en-US" altLang="zh-CN" sz="2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en-US" altLang="zh-CN" sz="2200" b="1" dirty="0">
                <a:solidFill>
                  <a:srgbClr val="FF32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zh-CN" sz="2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21H</a:t>
            </a:r>
          </a:p>
          <a:p>
            <a:endParaRPr lang="pt-BR" altLang="zh-CN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pt-BR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it-IT" altLang="zh-CN" sz="2200" b="1" dirty="0">
                <a:solidFill>
                  <a:srgbClr val="FF32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</a:t>
            </a:r>
            <a:r>
              <a:rPr lang="it-IT" altLang="zh-CN" sz="2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SI, PASSWORD</a:t>
            </a:r>
          </a:p>
          <a:p>
            <a:r>
              <a:rPr lang="it-IT" altLang="zh-CN" sz="2200" b="1" dirty="0">
                <a:solidFill>
                  <a:srgbClr val="FF32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LEA    </a:t>
            </a:r>
            <a:r>
              <a:rPr lang="it-IT" altLang="zh-CN" sz="2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DI, PASSWORD_IN</a:t>
            </a:r>
            <a:endParaRPr lang="pt-BR" altLang="zh-CN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pt-BR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</a:p>
          <a:p>
            <a:r>
              <a:rPr lang="pt-BR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it-IT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it-IT" altLang="zh-CN" sz="2200" b="1" dirty="0">
                <a:solidFill>
                  <a:srgbClr val="FF32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CMP</a:t>
            </a:r>
            <a:r>
              <a:rPr lang="it-IT" altLang="zh-CN" sz="2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it-IT" altLang="zh-CN" sz="2200" b="1" dirty="0">
                <a:solidFill>
                  <a:srgbClr val="1D8DE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BYTE PTR </a:t>
            </a:r>
            <a:r>
              <a:rPr lang="it-IT" altLang="zh-CN" sz="2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[DI+1], N</a:t>
            </a:r>
            <a:r>
              <a:rPr lang="pt-BR" altLang="zh-CN" sz="2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</a:p>
          <a:p>
            <a:r>
              <a:rPr lang="pt-BR" altLang="zh-CN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pt-BR" altLang="zh-CN" sz="2200" b="1" dirty="0">
                <a:solidFill>
                  <a:srgbClr val="FF32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JNE</a:t>
            </a:r>
            <a:r>
              <a:rPr lang="pt-BR" altLang="zh-CN" sz="2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WRONG       </a:t>
            </a:r>
          </a:p>
        </p:txBody>
      </p:sp>
      <p:sp>
        <p:nvSpPr>
          <p:cNvPr id="7" name="矩形 6"/>
          <p:cNvSpPr/>
          <p:nvPr/>
        </p:nvSpPr>
        <p:spPr>
          <a:xfrm>
            <a:off x="1043608" y="1628801"/>
            <a:ext cx="4896544" cy="1224134"/>
          </a:xfrm>
          <a:prstGeom prst="rect">
            <a:avLst/>
          </a:prstGeom>
          <a:noFill/>
          <a:ln w="9525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6054674" y="1628800"/>
            <a:ext cx="2327528" cy="1224135"/>
          </a:xfrm>
          <a:prstGeom prst="rect">
            <a:avLst/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ea typeface="微软雅黑" panose="020B0503020204020204" pitchFamily="34" charset="-122"/>
              </a:rPr>
              <a:t>功能？</a:t>
            </a:r>
          </a:p>
        </p:txBody>
      </p:sp>
      <p:sp>
        <p:nvSpPr>
          <p:cNvPr id="13" name="矩形 12"/>
          <p:cNvSpPr/>
          <p:nvPr/>
        </p:nvSpPr>
        <p:spPr>
          <a:xfrm>
            <a:off x="1043608" y="4005065"/>
            <a:ext cx="4896544" cy="1310079"/>
          </a:xfrm>
          <a:prstGeom prst="rect">
            <a:avLst/>
          </a:prstGeom>
          <a:noFill/>
          <a:ln w="9525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6054674" y="4005063"/>
            <a:ext cx="2327528" cy="1310079"/>
          </a:xfrm>
          <a:prstGeom prst="rect">
            <a:avLst/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ea typeface="微软雅黑" panose="020B0503020204020204" pitchFamily="34" charset="-122"/>
              </a:rPr>
              <a:t>功能？</a:t>
            </a:r>
          </a:p>
        </p:txBody>
      </p:sp>
    </p:spTree>
    <p:extLst>
      <p:ext uri="{BB962C8B-B14F-4D97-AF65-F5344CB8AC3E}">
        <p14:creationId xmlns:p14="http://schemas.microsoft.com/office/powerpoint/2010/main" val="10519151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  <p:bldP spid="8" grpId="0" animBg="1"/>
      <p:bldP spid="8" grpId="1" animBg="1"/>
      <p:bldP spid="13" grpId="0" animBg="1"/>
      <p:bldP spid="13" grpId="1" animBg="1"/>
      <p:bldP spid="14" grpId="0" animBg="1"/>
      <p:bldP spid="14" grpId="1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187624" y="339035"/>
            <a:ext cx="5495880" cy="58477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altLang="zh-CN" sz="2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pt-BR" altLang="zh-CN" sz="2200" b="1" dirty="0">
                <a:solidFill>
                  <a:srgbClr val="FF32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CLD</a:t>
            </a:r>
          </a:p>
          <a:p>
            <a:r>
              <a:rPr lang="pt-BR" altLang="zh-CN" sz="2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pt-BR" altLang="zh-CN" sz="2200" b="1" dirty="0">
                <a:solidFill>
                  <a:srgbClr val="FF32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</a:t>
            </a:r>
            <a:r>
              <a:rPr lang="pt-BR" altLang="zh-CN" sz="2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DI, PASSWORD_IN+2</a:t>
            </a:r>
          </a:p>
          <a:p>
            <a:r>
              <a:rPr lang="pt-BR" altLang="zh-CN" sz="2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pt-BR" altLang="zh-CN" sz="2200" b="1" dirty="0">
                <a:solidFill>
                  <a:srgbClr val="FF32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</a:t>
            </a:r>
            <a:r>
              <a:rPr lang="pt-BR" altLang="zh-CN" sz="2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CX, N</a:t>
            </a:r>
          </a:p>
          <a:p>
            <a:r>
              <a:rPr lang="pt-BR" altLang="zh-CN" sz="2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pt-BR" altLang="zh-CN" sz="2200" b="1" dirty="0">
                <a:solidFill>
                  <a:srgbClr val="FF32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REPZ</a:t>
            </a:r>
            <a:r>
              <a:rPr lang="pt-BR" altLang="zh-CN" sz="2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pt-BR" altLang="zh-CN" sz="2200" b="1" dirty="0">
                <a:solidFill>
                  <a:srgbClr val="FF32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CMPSB</a:t>
            </a:r>
          </a:p>
          <a:p>
            <a:r>
              <a:rPr lang="pt-BR" altLang="zh-CN" sz="2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</a:p>
          <a:p>
            <a:r>
              <a:rPr lang="pt-BR" altLang="zh-CN" sz="2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pt-BR" altLang="zh-CN" sz="2200" b="1" dirty="0">
                <a:solidFill>
                  <a:srgbClr val="FF32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JZ</a:t>
            </a:r>
            <a:r>
              <a:rPr lang="pt-BR" altLang="zh-CN" sz="2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RIGHT</a:t>
            </a:r>
            <a:r>
              <a:rPr lang="pt-BR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</a:p>
          <a:p>
            <a:r>
              <a:rPr lang="en-US" altLang="zh-CN" sz="2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</a:p>
          <a:p>
            <a:r>
              <a:rPr lang="en-US" altLang="zh-CN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WRONG:</a:t>
            </a:r>
          </a:p>
          <a:p>
            <a:r>
              <a:rPr lang="en-US" altLang="zh-CN" sz="2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en-US" altLang="zh-CN" sz="2200" b="1" dirty="0">
                <a:solidFill>
                  <a:srgbClr val="FF32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</a:t>
            </a:r>
            <a:r>
              <a:rPr lang="en-US" altLang="zh-CN" sz="2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DX, STR_WRONG</a:t>
            </a:r>
          </a:p>
          <a:p>
            <a:r>
              <a:rPr lang="en-US" altLang="zh-CN" sz="2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en-US" altLang="zh-CN" sz="2200" b="1" dirty="0">
                <a:solidFill>
                  <a:srgbClr val="FF32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</a:t>
            </a:r>
            <a:r>
              <a:rPr lang="en-US" altLang="zh-CN" sz="2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AH, 09</a:t>
            </a:r>
          </a:p>
          <a:p>
            <a:r>
              <a:rPr lang="en-US" altLang="zh-CN" sz="2200" b="1" dirty="0">
                <a:solidFill>
                  <a:srgbClr val="FF32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INT     </a:t>
            </a:r>
            <a:r>
              <a:rPr lang="en-US" altLang="zh-CN" sz="2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21H</a:t>
            </a:r>
          </a:p>
          <a:p>
            <a:r>
              <a:rPr lang="en-US" altLang="zh-CN" sz="2200" b="1" dirty="0">
                <a:solidFill>
                  <a:srgbClr val="FF32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JMP    </a:t>
            </a:r>
            <a:r>
              <a:rPr lang="en-US" altLang="zh-CN" sz="2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LAST</a:t>
            </a:r>
          </a:p>
          <a:p>
            <a:endParaRPr lang="en-US" altLang="zh-CN" sz="2200" b="1" dirty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RIGHT:</a:t>
            </a:r>
          </a:p>
          <a:p>
            <a:r>
              <a:rPr lang="en-US" altLang="zh-CN" sz="2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en-US" altLang="zh-CN" sz="2200" b="1" dirty="0">
                <a:solidFill>
                  <a:srgbClr val="FF32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</a:t>
            </a:r>
            <a:r>
              <a:rPr lang="en-US" altLang="zh-CN" sz="2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DX, STR_OK</a:t>
            </a:r>
          </a:p>
          <a:p>
            <a:r>
              <a:rPr lang="en-US" altLang="zh-CN" sz="2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en-US" altLang="zh-CN" sz="2200" b="1" dirty="0">
                <a:solidFill>
                  <a:srgbClr val="FF32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</a:t>
            </a:r>
            <a:r>
              <a:rPr lang="en-US" altLang="zh-CN" sz="2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AH, 09</a:t>
            </a:r>
          </a:p>
          <a:p>
            <a:r>
              <a:rPr lang="en-US" altLang="zh-CN" sz="2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en-US" altLang="zh-CN" sz="2200" b="1" dirty="0">
                <a:solidFill>
                  <a:srgbClr val="FF32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zh-CN" sz="2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21H</a:t>
            </a:r>
            <a:endParaRPr lang="pt-BR" altLang="zh-CN" sz="2200" b="1" dirty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043608" y="339035"/>
            <a:ext cx="4896544" cy="2225869"/>
          </a:xfrm>
          <a:prstGeom prst="rect">
            <a:avLst/>
          </a:prstGeom>
          <a:noFill/>
          <a:ln w="9525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1043608" y="2708920"/>
            <a:ext cx="4896544" cy="1872210"/>
          </a:xfrm>
          <a:prstGeom prst="rect">
            <a:avLst/>
          </a:prstGeom>
          <a:noFill/>
          <a:ln w="9525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1052860" y="4653138"/>
            <a:ext cx="4896544" cy="1800200"/>
          </a:xfrm>
          <a:prstGeom prst="rect">
            <a:avLst/>
          </a:prstGeom>
          <a:noFill/>
          <a:ln w="9525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97408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  <p:bldP spid="9" grpId="0" animBg="1"/>
      <p:bldP spid="9" grpId="1" animBg="1"/>
      <p:bldP spid="10" grpId="0" animBg="1"/>
      <p:bldP spid="10" grpId="1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187624" y="339035"/>
            <a:ext cx="5495880" cy="24622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LAST:</a:t>
            </a:r>
          </a:p>
          <a:p>
            <a:r>
              <a:rPr lang="en-US" altLang="zh-CN" sz="2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en-US" altLang="zh-CN" sz="2200" b="1" dirty="0">
                <a:solidFill>
                  <a:srgbClr val="FF32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</a:t>
            </a:r>
            <a:r>
              <a:rPr lang="en-US" altLang="zh-CN" sz="2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AH, 4CH</a:t>
            </a:r>
          </a:p>
          <a:p>
            <a:r>
              <a:rPr lang="en-US" altLang="zh-CN" sz="2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en-US" altLang="zh-CN" sz="2200" b="1" dirty="0">
                <a:solidFill>
                  <a:srgbClr val="FF32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zh-CN" sz="2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21H</a:t>
            </a:r>
          </a:p>
          <a:p>
            <a:endParaRPr lang="en-US" altLang="zh-CN" sz="2200" b="1" dirty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CODE </a:t>
            </a:r>
            <a:r>
              <a:rPr lang="en-US" altLang="zh-CN" sz="2200" b="1" dirty="0">
                <a:solidFill>
                  <a:srgbClr val="1D8DE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ENDS</a:t>
            </a:r>
          </a:p>
          <a:p>
            <a:endParaRPr lang="en-US" altLang="zh-CN" sz="2200" b="1" dirty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200" b="1" dirty="0">
                <a:solidFill>
                  <a:srgbClr val="1D8DE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  <a:r>
              <a:rPr lang="en-US" altLang="zh-CN" sz="2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START</a:t>
            </a:r>
            <a:endParaRPr lang="pt-BR" altLang="zh-CN" sz="2200" b="1" dirty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17312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/>
          <p:cNvCxnSpPr/>
          <p:nvPr/>
        </p:nvCxnSpPr>
        <p:spPr>
          <a:xfrm>
            <a:off x="611560" y="1124744"/>
            <a:ext cx="7992888" cy="0"/>
          </a:xfrm>
          <a:prstGeom prst="line">
            <a:avLst/>
          </a:prstGeom>
          <a:ln w="28575">
            <a:solidFill>
              <a:srgbClr val="1D8DE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>
            <a:off x="611560" y="631563"/>
            <a:ext cx="500110" cy="490346"/>
          </a:xfrm>
          <a:prstGeom prst="rect">
            <a:avLst/>
          </a:prstGeom>
          <a:solidFill>
            <a:srgbClr val="1D8DE5"/>
          </a:solidFill>
          <a:ln w="9525" cap="rnd">
            <a:solidFill>
              <a:srgbClr val="1D8DE5"/>
            </a:solidFill>
            <a:prstDash val="solid"/>
            <a:round/>
            <a:headEnd/>
            <a:tailEnd/>
          </a:ln>
        </p:spPr>
        <p:txBody>
          <a:bodyPr anchor="ctr"/>
          <a:lstStyle/>
          <a:p>
            <a:pPr algn="ctr"/>
            <a:r>
              <a:rPr lang="en-US" altLang="zh-CN" sz="2800" b="1" kern="0" dirty="0">
                <a:solidFill>
                  <a:sysClr val="window" lastClr="FFFFFF">
                    <a:lumMod val="95000"/>
                  </a:sys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zh-CN" altLang="en-US" sz="2800" b="1" kern="0" dirty="0">
              <a:solidFill>
                <a:sysClr val="window" lastClr="FFFFFF">
                  <a:lumMod val="95000"/>
                </a:sys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TextBox 11"/>
          <p:cNvSpPr txBox="1"/>
          <p:nvPr/>
        </p:nvSpPr>
        <p:spPr>
          <a:xfrm>
            <a:off x="1119384" y="620688"/>
            <a:ext cx="72613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1D8DE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冒泡法排序：从小到大排序</a:t>
            </a:r>
          </a:p>
        </p:txBody>
      </p:sp>
      <p:sp>
        <p:nvSpPr>
          <p:cNvPr id="7" name="矩形 6"/>
          <p:cNvSpPr/>
          <p:nvPr/>
        </p:nvSpPr>
        <p:spPr>
          <a:xfrm>
            <a:off x="8380710" y="620688"/>
            <a:ext cx="223738" cy="490346"/>
          </a:xfrm>
          <a:prstGeom prst="rect">
            <a:avLst/>
          </a:prstGeom>
          <a:solidFill>
            <a:srgbClr val="1D8DE5"/>
          </a:solidFill>
          <a:ln w="9525" cap="rnd">
            <a:solidFill>
              <a:srgbClr val="1D8DE5"/>
            </a:solidFill>
            <a:prstDash val="solid"/>
            <a:round/>
            <a:headEnd/>
            <a:tailEnd/>
          </a:ln>
        </p:spPr>
        <p:txBody>
          <a:bodyPr/>
          <a:lstStyle/>
          <a:p>
            <a:pPr algn="ctr">
              <a:lnSpc>
                <a:spcPct val="120000"/>
              </a:lnSpc>
            </a:pPr>
            <a:endParaRPr lang="zh-CN" altLang="en-US" b="1" kern="0" dirty="0">
              <a:solidFill>
                <a:sysClr val="window" lastClr="FFFFFF">
                  <a:lumMod val="95000"/>
                </a:sys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611560" y="631563"/>
            <a:ext cx="7992888" cy="0"/>
          </a:xfrm>
          <a:prstGeom prst="line">
            <a:avLst/>
          </a:prstGeom>
          <a:ln w="28575">
            <a:solidFill>
              <a:srgbClr val="1D8DE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流程图: 过程 2"/>
          <p:cNvSpPr/>
          <p:nvPr/>
        </p:nvSpPr>
        <p:spPr>
          <a:xfrm>
            <a:off x="2710705" y="1385263"/>
            <a:ext cx="2016223" cy="648072"/>
          </a:xfrm>
          <a:prstGeom prst="flowChartProcess">
            <a:avLst/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CX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等于比较次数</a:t>
            </a:r>
          </a:p>
        </p:txBody>
      </p:sp>
      <p:sp>
        <p:nvSpPr>
          <p:cNvPr id="12" name="流程图: 决策 11"/>
          <p:cNvSpPr/>
          <p:nvPr/>
        </p:nvSpPr>
        <p:spPr>
          <a:xfrm>
            <a:off x="2339752" y="2492896"/>
            <a:ext cx="2736304" cy="576064"/>
          </a:xfrm>
          <a:prstGeom prst="flowChartDecision">
            <a:avLst/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相邻数比较</a:t>
            </a:r>
          </a:p>
        </p:txBody>
      </p:sp>
      <p:cxnSp>
        <p:nvCxnSpPr>
          <p:cNvPr id="28" name="直接连接符 27"/>
          <p:cNvCxnSpPr>
            <a:stCxn id="12" idx="3"/>
          </p:cNvCxnSpPr>
          <p:nvPr/>
        </p:nvCxnSpPr>
        <p:spPr>
          <a:xfrm>
            <a:off x="5076056" y="2780928"/>
            <a:ext cx="172819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流程图: 过程 45"/>
          <p:cNvSpPr/>
          <p:nvPr/>
        </p:nvSpPr>
        <p:spPr>
          <a:xfrm>
            <a:off x="5912048" y="2438189"/>
            <a:ext cx="1872208" cy="648072"/>
          </a:xfrm>
          <a:prstGeom prst="flowChartProcess">
            <a:avLst/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交换</a:t>
            </a:r>
          </a:p>
        </p:txBody>
      </p:sp>
      <p:sp>
        <p:nvSpPr>
          <p:cNvPr id="70" name="矩形 69"/>
          <p:cNvSpPr/>
          <p:nvPr/>
        </p:nvSpPr>
        <p:spPr>
          <a:xfrm>
            <a:off x="4885266" y="2348880"/>
            <a:ext cx="134291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大于</a:t>
            </a:r>
          </a:p>
        </p:txBody>
      </p:sp>
      <p:sp>
        <p:nvSpPr>
          <p:cNvPr id="71" name="矩形 70"/>
          <p:cNvSpPr/>
          <p:nvPr/>
        </p:nvSpPr>
        <p:spPr>
          <a:xfrm>
            <a:off x="2627784" y="3140968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小于等于</a:t>
            </a:r>
          </a:p>
        </p:txBody>
      </p:sp>
      <p:cxnSp>
        <p:nvCxnSpPr>
          <p:cNvPr id="48" name="直接箭头连接符 47"/>
          <p:cNvCxnSpPr/>
          <p:nvPr/>
        </p:nvCxnSpPr>
        <p:spPr>
          <a:xfrm>
            <a:off x="3729730" y="2033335"/>
            <a:ext cx="0" cy="4320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箭头连接符 51"/>
          <p:cNvCxnSpPr>
            <a:stCxn id="12" idx="2"/>
          </p:cNvCxnSpPr>
          <p:nvPr/>
        </p:nvCxnSpPr>
        <p:spPr>
          <a:xfrm>
            <a:off x="3707904" y="3068960"/>
            <a:ext cx="0" cy="6993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流程图: 决策 54"/>
          <p:cNvSpPr/>
          <p:nvPr/>
        </p:nvSpPr>
        <p:spPr>
          <a:xfrm>
            <a:off x="2361578" y="4935806"/>
            <a:ext cx="2736304" cy="590718"/>
          </a:xfrm>
          <a:prstGeom prst="flowChartDecision">
            <a:avLst/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CX==0</a:t>
            </a:r>
            <a:endParaRPr lang="zh-CN" altLang="en-US" dirty="0"/>
          </a:p>
        </p:txBody>
      </p:sp>
      <p:sp>
        <p:nvSpPr>
          <p:cNvPr id="56" name="流程图: 终止 55"/>
          <p:cNvSpPr/>
          <p:nvPr/>
        </p:nvSpPr>
        <p:spPr>
          <a:xfrm>
            <a:off x="2771800" y="5969074"/>
            <a:ext cx="1872208" cy="532779"/>
          </a:xfrm>
          <a:prstGeom prst="flowChartTerminator">
            <a:avLst/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结束</a:t>
            </a:r>
          </a:p>
        </p:txBody>
      </p:sp>
      <p:cxnSp>
        <p:nvCxnSpPr>
          <p:cNvPr id="57" name="直接箭头连接符 56"/>
          <p:cNvCxnSpPr>
            <a:stCxn id="46" idx="2"/>
          </p:cNvCxnSpPr>
          <p:nvPr/>
        </p:nvCxnSpPr>
        <p:spPr>
          <a:xfrm>
            <a:off x="6848152" y="3086261"/>
            <a:ext cx="0" cy="424039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连接符 57"/>
          <p:cNvCxnSpPr/>
          <p:nvPr/>
        </p:nvCxnSpPr>
        <p:spPr>
          <a:xfrm>
            <a:off x="3746953" y="3510300"/>
            <a:ext cx="310119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接箭头连接符 58"/>
          <p:cNvCxnSpPr/>
          <p:nvPr/>
        </p:nvCxnSpPr>
        <p:spPr>
          <a:xfrm>
            <a:off x="1331640" y="2249359"/>
            <a:ext cx="0" cy="2981806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接连接符 59"/>
          <p:cNvCxnSpPr/>
          <p:nvPr/>
        </p:nvCxnSpPr>
        <p:spPr>
          <a:xfrm>
            <a:off x="1353466" y="5231165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接连接符 61"/>
          <p:cNvCxnSpPr/>
          <p:nvPr/>
        </p:nvCxnSpPr>
        <p:spPr>
          <a:xfrm>
            <a:off x="1353466" y="2234836"/>
            <a:ext cx="2376264" cy="0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矩形 62"/>
          <p:cNvSpPr/>
          <p:nvPr/>
        </p:nvSpPr>
        <p:spPr>
          <a:xfrm>
            <a:off x="1793604" y="4797152"/>
            <a:ext cx="37221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</a:p>
        </p:txBody>
      </p:sp>
      <p:sp>
        <p:nvSpPr>
          <p:cNvPr id="64" name="流程图: 过程 63"/>
          <p:cNvSpPr/>
          <p:nvPr/>
        </p:nvSpPr>
        <p:spPr>
          <a:xfrm>
            <a:off x="2793999" y="3845184"/>
            <a:ext cx="1872208" cy="648072"/>
          </a:xfrm>
          <a:prstGeom prst="flowChartProcess">
            <a:avLst/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修改指针</a:t>
            </a:r>
          </a:p>
          <a:p>
            <a:pPr algn="ctr"/>
            <a:r>
              <a:rPr lang="en-US" altLang="zh-CN" dirty="0"/>
              <a:t>CX=CX-1</a:t>
            </a:r>
            <a:endParaRPr lang="zh-CN" altLang="en-US" dirty="0"/>
          </a:p>
        </p:txBody>
      </p:sp>
      <p:cxnSp>
        <p:nvCxnSpPr>
          <p:cNvPr id="75" name="直接箭头连接符 74"/>
          <p:cNvCxnSpPr/>
          <p:nvPr/>
        </p:nvCxnSpPr>
        <p:spPr>
          <a:xfrm>
            <a:off x="3707904" y="4493256"/>
            <a:ext cx="0" cy="4320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接箭头连接符 75"/>
          <p:cNvCxnSpPr/>
          <p:nvPr/>
        </p:nvCxnSpPr>
        <p:spPr>
          <a:xfrm flipH="1">
            <a:off x="3695937" y="5526524"/>
            <a:ext cx="11967" cy="4674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矩形 77"/>
          <p:cNvSpPr/>
          <p:nvPr/>
        </p:nvSpPr>
        <p:spPr>
          <a:xfrm>
            <a:off x="3927705" y="5524570"/>
            <a:ext cx="3241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</a:p>
        </p:txBody>
      </p:sp>
    </p:spTree>
    <p:extLst>
      <p:ext uri="{BB962C8B-B14F-4D97-AF65-F5344CB8AC3E}">
        <p14:creationId xmlns:p14="http://schemas.microsoft.com/office/powerpoint/2010/main" val="11926231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187624" y="339035"/>
            <a:ext cx="5495880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SUBP        </a:t>
            </a:r>
            <a:r>
              <a:rPr lang="en-US" altLang="zh-CN" sz="2400" b="1" dirty="0">
                <a:solidFill>
                  <a:srgbClr val="1D8DE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</a:t>
            </a:r>
            <a:endParaRPr lang="en-US" altLang="zh-CN" sz="2400" b="1" dirty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400" b="1" dirty="0">
                <a:solidFill>
                  <a:srgbClr val="FF32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PUSH   </a:t>
            </a: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CX</a:t>
            </a:r>
          </a:p>
          <a:p>
            <a:r>
              <a:rPr lang="en-US" altLang="zh-CN" sz="2400" b="1" dirty="0">
                <a:solidFill>
                  <a:srgbClr val="FF32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MOV   </a:t>
            </a: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SI, 0</a:t>
            </a:r>
          </a:p>
          <a:p>
            <a:r>
              <a:rPr lang="en-US" altLang="zh-CN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RECMP:</a:t>
            </a:r>
          </a:p>
          <a:p>
            <a:r>
              <a:rPr lang="en-US" altLang="zh-CN" sz="2400" b="1" dirty="0">
                <a:solidFill>
                  <a:srgbClr val="FF32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MOV    </a:t>
            </a: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AL, VAR[SI]</a:t>
            </a:r>
          </a:p>
          <a:p>
            <a:r>
              <a:rPr lang="en-US" altLang="zh-CN" sz="2400" b="1" dirty="0">
                <a:solidFill>
                  <a:srgbClr val="FF32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CMP     </a:t>
            </a: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AL, VAR[SI+1]</a:t>
            </a:r>
          </a:p>
          <a:p>
            <a:r>
              <a:rPr lang="en-US" altLang="zh-CN" sz="2400" b="1" dirty="0">
                <a:solidFill>
                  <a:srgbClr val="FF32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JLE      </a:t>
            </a: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NOXCHG</a:t>
            </a:r>
          </a:p>
          <a:p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</a:t>
            </a:r>
          </a:p>
          <a:p>
            <a:r>
              <a:rPr lang="en-US" altLang="zh-CN" sz="2400" b="1" dirty="0">
                <a:solidFill>
                  <a:srgbClr val="FF32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XCHG   </a:t>
            </a: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AL, VAR[SI+1]</a:t>
            </a:r>
          </a:p>
          <a:p>
            <a:r>
              <a:rPr lang="en-US" altLang="zh-CN" sz="2400" b="1" dirty="0">
                <a:solidFill>
                  <a:srgbClr val="FF32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XCHG   </a:t>
            </a: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AL, VAR[SI]</a:t>
            </a:r>
          </a:p>
          <a:p>
            <a:r>
              <a:rPr lang="en-US" altLang="zh-CN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NOXCHG:</a:t>
            </a:r>
          </a:p>
          <a:p>
            <a:r>
              <a:rPr lang="en-US" altLang="zh-CN" sz="2400" b="1" dirty="0">
                <a:solidFill>
                  <a:srgbClr val="FF32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INC </a:t>
            </a: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</a:t>
            </a:r>
          </a:p>
          <a:p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altLang="zh-CN" sz="2400" b="1" dirty="0">
                <a:solidFill>
                  <a:srgbClr val="FF32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LOOP</a:t>
            </a: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RECMP</a:t>
            </a:r>
          </a:p>
          <a:p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altLang="zh-CN" sz="2400" b="1" dirty="0">
                <a:solidFill>
                  <a:srgbClr val="FF32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POP</a:t>
            </a: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CX</a:t>
            </a:r>
          </a:p>
          <a:p>
            <a:r>
              <a:rPr lang="en-US" altLang="zh-CN" sz="2400" b="1" dirty="0">
                <a:solidFill>
                  <a:srgbClr val="FF32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RET</a:t>
            </a:r>
          </a:p>
          <a:p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SUBP        </a:t>
            </a:r>
            <a:r>
              <a:rPr lang="en-US" altLang="zh-CN" sz="2400" b="1" dirty="0">
                <a:solidFill>
                  <a:srgbClr val="1D8DE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ENDP</a:t>
            </a: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endParaRPr lang="pt-BR" altLang="zh-CN" sz="2400" b="1" dirty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5724128" y="692696"/>
            <a:ext cx="3024336" cy="713701"/>
          </a:xfrm>
          <a:prstGeom prst="rect">
            <a:avLst/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CX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存放比较次数</a:t>
            </a:r>
          </a:p>
        </p:txBody>
      </p:sp>
      <p:sp>
        <p:nvSpPr>
          <p:cNvPr id="5" name="矩形 4"/>
          <p:cNvSpPr/>
          <p:nvPr/>
        </p:nvSpPr>
        <p:spPr>
          <a:xfrm>
            <a:off x="5724128" y="2492896"/>
            <a:ext cx="3024336" cy="713701"/>
          </a:xfrm>
          <a:prstGeom prst="rect">
            <a:avLst/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比较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交换</a:t>
            </a:r>
          </a:p>
        </p:txBody>
      </p:sp>
      <p:sp>
        <p:nvSpPr>
          <p:cNvPr id="6" name="矩形 5"/>
          <p:cNvSpPr/>
          <p:nvPr/>
        </p:nvSpPr>
        <p:spPr>
          <a:xfrm>
            <a:off x="5724128" y="4293096"/>
            <a:ext cx="3024336" cy="713701"/>
          </a:xfrm>
          <a:prstGeom prst="rect">
            <a:avLst/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修改指针和比较次数</a:t>
            </a:r>
          </a:p>
        </p:txBody>
      </p:sp>
      <p:sp>
        <p:nvSpPr>
          <p:cNvPr id="8" name="矩形 7"/>
          <p:cNvSpPr/>
          <p:nvPr/>
        </p:nvSpPr>
        <p:spPr>
          <a:xfrm>
            <a:off x="5724128" y="5157192"/>
            <a:ext cx="3024336" cy="713701"/>
          </a:xfrm>
          <a:prstGeom prst="rect">
            <a:avLst/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返回</a:t>
            </a:r>
          </a:p>
        </p:txBody>
      </p:sp>
    </p:spTree>
    <p:extLst>
      <p:ext uri="{BB962C8B-B14F-4D97-AF65-F5344CB8AC3E}">
        <p14:creationId xmlns:p14="http://schemas.microsoft.com/office/powerpoint/2010/main" val="14853866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8" grpId="0" animBg="1"/>
      <p:bldP spid="8" grpId="1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/>
          <p:cNvCxnSpPr/>
          <p:nvPr/>
        </p:nvCxnSpPr>
        <p:spPr>
          <a:xfrm>
            <a:off x="611560" y="1124744"/>
            <a:ext cx="7992888" cy="0"/>
          </a:xfrm>
          <a:prstGeom prst="line">
            <a:avLst/>
          </a:prstGeom>
          <a:ln w="28575">
            <a:solidFill>
              <a:srgbClr val="1D8DE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>
            <a:off x="611560" y="631563"/>
            <a:ext cx="500110" cy="490346"/>
          </a:xfrm>
          <a:prstGeom prst="rect">
            <a:avLst/>
          </a:prstGeom>
          <a:solidFill>
            <a:srgbClr val="1D8DE5"/>
          </a:solidFill>
          <a:ln w="9525" cap="rnd">
            <a:solidFill>
              <a:srgbClr val="1D8DE5"/>
            </a:solidFill>
            <a:prstDash val="solid"/>
            <a:round/>
            <a:headEnd/>
            <a:tailEnd/>
          </a:ln>
        </p:spPr>
        <p:txBody>
          <a:bodyPr anchor="ctr"/>
          <a:lstStyle/>
          <a:p>
            <a:pPr algn="ctr"/>
            <a:r>
              <a:rPr lang="en-US" altLang="zh-CN" sz="2800" b="1" kern="0" dirty="0">
                <a:solidFill>
                  <a:sysClr val="window" lastClr="FFFFFF">
                    <a:lumMod val="95000"/>
                  </a:sys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endParaRPr lang="zh-CN" altLang="en-US" sz="2800" b="1" kern="0" dirty="0">
              <a:solidFill>
                <a:sysClr val="window" lastClr="FFFFFF">
                  <a:lumMod val="95000"/>
                </a:sys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TextBox 11"/>
          <p:cNvSpPr txBox="1"/>
          <p:nvPr/>
        </p:nvSpPr>
        <p:spPr>
          <a:xfrm>
            <a:off x="1119384" y="620688"/>
            <a:ext cx="72613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1D8DE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用栈传递参数</a:t>
            </a:r>
          </a:p>
        </p:txBody>
      </p:sp>
      <p:sp>
        <p:nvSpPr>
          <p:cNvPr id="7" name="矩形 6"/>
          <p:cNvSpPr/>
          <p:nvPr/>
        </p:nvSpPr>
        <p:spPr>
          <a:xfrm>
            <a:off x="8380710" y="620688"/>
            <a:ext cx="223738" cy="490346"/>
          </a:xfrm>
          <a:prstGeom prst="rect">
            <a:avLst/>
          </a:prstGeom>
          <a:solidFill>
            <a:srgbClr val="1D8DE5"/>
          </a:solidFill>
          <a:ln w="9525" cap="rnd">
            <a:solidFill>
              <a:srgbClr val="1D8DE5"/>
            </a:solidFill>
            <a:prstDash val="solid"/>
            <a:round/>
            <a:headEnd/>
            <a:tailEnd/>
          </a:ln>
        </p:spPr>
        <p:txBody>
          <a:bodyPr/>
          <a:lstStyle/>
          <a:p>
            <a:pPr algn="ctr">
              <a:lnSpc>
                <a:spcPct val="120000"/>
              </a:lnSpc>
            </a:pPr>
            <a:endParaRPr lang="zh-CN" altLang="en-US" b="1" kern="0" dirty="0">
              <a:solidFill>
                <a:sysClr val="window" lastClr="FFFFFF">
                  <a:lumMod val="95000"/>
                </a:sys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611560" y="631563"/>
            <a:ext cx="7992888" cy="0"/>
          </a:xfrm>
          <a:prstGeom prst="line">
            <a:avLst/>
          </a:prstGeom>
          <a:ln w="28575">
            <a:solidFill>
              <a:srgbClr val="1D8DE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10"/>
          <p:cNvSpPr txBox="1">
            <a:spLocks noChangeArrowheads="1"/>
          </p:cNvSpPr>
          <p:nvPr/>
        </p:nvSpPr>
        <p:spPr bwMode="auto">
          <a:xfrm>
            <a:off x="855703" y="1812943"/>
            <a:ext cx="7316697" cy="3250121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342900" indent="-342900" algn="just">
              <a:lnSpc>
                <a:spcPct val="114000"/>
              </a:lnSpc>
              <a:buFont typeface="Wingdings" panose="05000000000000000000" pitchFamily="2" charset="2"/>
              <a:buChar char="n"/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这种技术与高级语言的编译器的工作原理密切相关。下面结合函数调用，了解用栈传递参数。</a:t>
            </a:r>
            <a:endParaRPr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方法：</a:t>
            </a:r>
            <a:r>
              <a:rPr lang="zh-CN" altLang="en-US" sz="2000" b="1" dirty="0">
                <a:solidFill>
                  <a:srgbClr val="FD7A2A"/>
                </a:solidFill>
                <a:latin typeface="微软雅黑" pitchFamily="34" charset="-122"/>
                <a:ea typeface="微软雅黑" pitchFamily="34" charset="-122"/>
              </a:rPr>
              <a:t>调用者将要传递的参数压栈，然后调用子程序，子程序从栈中取参数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例子：计算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  (a – b)^3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a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和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b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为</a:t>
            </a:r>
            <a:r>
              <a:rPr lang="zh-CN" altLang="en-US" sz="20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字型数据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en-US" sz="20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参数：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调用子程序前已将，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a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和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b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压栈。调用子程序后栈顶为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IP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，后面依次为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a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b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en-US" sz="20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结果：</a:t>
            </a:r>
            <a:r>
              <a:rPr lang="en-US" altLang="zh-CN" sz="20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DX</a:t>
            </a:r>
            <a:r>
              <a:rPr lang="zh-CN" altLang="en-US" sz="20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：</a:t>
            </a:r>
            <a:r>
              <a:rPr lang="en-US" altLang="zh-CN" sz="20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AX 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= (a – b)^3</a:t>
            </a:r>
          </a:p>
        </p:txBody>
      </p:sp>
    </p:spTree>
    <p:extLst>
      <p:ext uri="{BB962C8B-B14F-4D97-AF65-F5344CB8AC3E}">
        <p14:creationId xmlns:p14="http://schemas.microsoft.com/office/powerpoint/2010/main" val="18544502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187624" y="429733"/>
            <a:ext cx="5495880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DIFCUBE        </a:t>
            </a:r>
            <a:r>
              <a:rPr lang="en-US" altLang="zh-CN" sz="2400" b="1" dirty="0">
                <a:solidFill>
                  <a:srgbClr val="1D8DE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</a:t>
            </a:r>
          </a:p>
          <a:p>
            <a:endParaRPr lang="en-US" altLang="zh-CN" sz="2400" b="1" dirty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400" b="1" dirty="0">
                <a:solidFill>
                  <a:srgbClr val="FF32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PUSH   </a:t>
            </a: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BP</a:t>
            </a:r>
          </a:p>
          <a:p>
            <a:r>
              <a:rPr lang="en-US" altLang="zh-CN" sz="2400" b="1" dirty="0">
                <a:solidFill>
                  <a:srgbClr val="FF32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MOV   </a:t>
            </a: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BP, SP</a:t>
            </a:r>
          </a:p>
          <a:p>
            <a:r>
              <a:rPr lang="en-US" altLang="zh-CN" sz="2400" b="1" dirty="0">
                <a:solidFill>
                  <a:srgbClr val="FF32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MOV    </a:t>
            </a: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AX, [BP+4]</a:t>
            </a:r>
          </a:p>
          <a:p>
            <a:r>
              <a:rPr lang="en-US" altLang="zh-CN" sz="2400" b="1" dirty="0">
                <a:solidFill>
                  <a:srgbClr val="FF32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SUB      </a:t>
            </a: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AX, [BP+6]</a:t>
            </a:r>
          </a:p>
          <a:p>
            <a:r>
              <a:rPr lang="en-US" altLang="zh-CN" sz="2400" b="1" dirty="0">
                <a:solidFill>
                  <a:srgbClr val="FF32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MOV   </a:t>
            </a: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BP, AX</a:t>
            </a:r>
            <a:endParaRPr lang="en-US" altLang="zh-CN" sz="24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altLang="zh-CN" sz="2400" b="1" dirty="0">
                <a:solidFill>
                  <a:srgbClr val="FF32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</a:t>
            </a:r>
            <a:r>
              <a:rPr lang="en-US" altLang="zh-CN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BP</a:t>
            </a:r>
            <a:endParaRPr lang="en-US" altLang="zh-CN" sz="24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400" b="1" dirty="0">
                <a:solidFill>
                  <a:srgbClr val="FF32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MUL</a:t>
            </a:r>
            <a:r>
              <a:rPr lang="en-US" altLang="zh-CN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BP</a:t>
            </a:r>
          </a:p>
          <a:p>
            <a:r>
              <a:rPr lang="en-US" altLang="zh-CN" sz="2400" b="1" dirty="0">
                <a:solidFill>
                  <a:srgbClr val="FF32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POP</a:t>
            </a: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BP</a:t>
            </a:r>
          </a:p>
          <a:p>
            <a:r>
              <a:rPr lang="en-US" altLang="zh-CN" sz="2400" b="1" dirty="0">
                <a:solidFill>
                  <a:srgbClr val="FF32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RET      </a:t>
            </a: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  <a:p>
            <a:endParaRPr lang="en-US" altLang="zh-CN" sz="2400" b="1" dirty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DIFCUBE        </a:t>
            </a:r>
            <a:r>
              <a:rPr lang="en-US" altLang="zh-CN" sz="2400" b="1" dirty="0">
                <a:solidFill>
                  <a:srgbClr val="1D8DE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ENDP</a:t>
            </a: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endParaRPr lang="pt-BR" altLang="zh-CN" sz="2400" b="1" dirty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" name="直接连接符 2"/>
          <p:cNvCxnSpPr/>
          <p:nvPr/>
        </p:nvCxnSpPr>
        <p:spPr>
          <a:xfrm>
            <a:off x="6800368" y="933789"/>
            <a:ext cx="0" cy="321488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连接符 3"/>
          <p:cNvCxnSpPr/>
          <p:nvPr/>
        </p:nvCxnSpPr>
        <p:spPr>
          <a:xfrm>
            <a:off x="7952918" y="933789"/>
            <a:ext cx="0" cy="321488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>
            <a:off x="6800157" y="2657221"/>
            <a:ext cx="1152128" cy="50405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D7A2A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Calibri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6800157" y="2158186"/>
            <a:ext cx="1152128" cy="50405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D7A2A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Calibri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6800368" y="1666465"/>
            <a:ext cx="1152128" cy="50405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D7A2A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Calibri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6800161" y="3156256"/>
            <a:ext cx="1152128" cy="50405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D7A2A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Calibri"/>
              <a:ea typeface="微软雅黑" panose="020B0503020204020204" pitchFamily="3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6800157" y="3658363"/>
            <a:ext cx="1152128" cy="50405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D7A2A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Calibri"/>
              <a:ea typeface="微软雅黑" panose="020B0503020204020204" pitchFamily="34" charset="-122"/>
            </a:endParaRPr>
          </a:p>
        </p:txBody>
      </p:sp>
      <p:sp>
        <p:nvSpPr>
          <p:cNvPr id="11" name="矩形 4"/>
          <p:cNvSpPr>
            <a:spLocks noChangeArrowheads="1"/>
          </p:cNvSpPr>
          <p:nvPr/>
        </p:nvSpPr>
        <p:spPr bwMode="auto">
          <a:xfrm>
            <a:off x="7236296" y="3144158"/>
            <a:ext cx="720080" cy="5256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200"/>
              </a:spcBef>
              <a:spcAft>
                <a:spcPts val="60"/>
              </a:spcAft>
            </a:pPr>
            <a:r>
              <a:rPr lang="en-US" altLang="zh-CN" sz="24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b</a:t>
            </a:r>
            <a:endParaRPr lang="zh-CN" altLang="en-US" sz="2000" b="1" dirty="0">
              <a:solidFill>
                <a:srgbClr val="1D8DE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" name="矩形 4"/>
          <p:cNvSpPr>
            <a:spLocks noChangeArrowheads="1"/>
          </p:cNvSpPr>
          <p:nvPr/>
        </p:nvSpPr>
        <p:spPr bwMode="auto">
          <a:xfrm>
            <a:off x="7236296" y="2665581"/>
            <a:ext cx="720080" cy="5256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200"/>
              </a:spcBef>
              <a:spcAft>
                <a:spcPts val="60"/>
              </a:spcAft>
            </a:pPr>
            <a:r>
              <a:rPr lang="en-US" altLang="zh-CN" sz="24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a</a:t>
            </a:r>
            <a:endParaRPr lang="zh-CN" altLang="en-US" sz="2000" b="1" dirty="0">
              <a:solidFill>
                <a:srgbClr val="1D8DE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4" name="矩形 4"/>
          <p:cNvSpPr>
            <a:spLocks noChangeArrowheads="1"/>
          </p:cNvSpPr>
          <p:nvPr/>
        </p:nvSpPr>
        <p:spPr bwMode="auto">
          <a:xfrm>
            <a:off x="7164288" y="2161525"/>
            <a:ext cx="720080" cy="5256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200"/>
              </a:spcBef>
              <a:spcAft>
                <a:spcPts val="60"/>
              </a:spcAft>
            </a:pPr>
            <a:r>
              <a:rPr lang="en-US" altLang="zh-CN" sz="24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IP</a:t>
            </a:r>
            <a:endParaRPr lang="zh-CN" altLang="en-US" sz="2000" b="1" dirty="0">
              <a:solidFill>
                <a:srgbClr val="1D8DE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2" name="矩形 4"/>
          <p:cNvSpPr>
            <a:spLocks noChangeArrowheads="1"/>
          </p:cNvSpPr>
          <p:nvPr/>
        </p:nvSpPr>
        <p:spPr bwMode="auto">
          <a:xfrm>
            <a:off x="7164288" y="1653869"/>
            <a:ext cx="720080" cy="5256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200"/>
              </a:spcBef>
              <a:spcAft>
                <a:spcPts val="60"/>
              </a:spcAft>
            </a:pPr>
            <a:r>
              <a:rPr lang="en-US" altLang="zh-CN" sz="24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BP</a:t>
            </a:r>
            <a:endParaRPr lang="zh-CN" altLang="en-US" sz="2000" b="1" dirty="0">
              <a:solidFill>
                <a:srgbClr val="1D8DE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659261" y="5523611"/>
            <a:ext cx="6942795" cy="71370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rgbClr val="FF32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RET</a:t>
            </a:r>
            <a:r>
              <a:rPr lang="zh-CN" altLang="en-US" sz="2400" b="1" dirty="0">
                <a:solidFill>
                  <a:srgbClr val="FF32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b="1" dirty="0">
                <a:solidFill>
                  <a:srgbClr val="FF32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 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表示从栈顶弹出</a:t>
            </a: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IP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后，</a:t>
            </a: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SP=SP+N (N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偶数</a:t>
            </a: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1891784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1" grpId="0"/>
      <p:bldP spid="13" grpId="0"/>
      <p:bldP spid="14" grpId="0"/>
      <p:bldP spid="22" grpId="0"/>
      <p:bldP spid="2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1187624" y="429733"/>
            <a:ext cx="549588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altLang="zh-CN" sz="2400" b="1" dirty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400" b="1" dirty="0">
                <a:solidFill>
                  <a:srgbClr val="FF32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MOV   </a:t>
            </a: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AX, 1</a:t>
            </a:r>
          </a:p>
          <a:p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PUSH   AX</a:t>
            </a:r>
          </a:p>
          <a:p>
            <a:r>
              <a:rPr lang="en-US" altLang="zh-CN" sz="2400" b="1" dirty="0">
                <a:solidFill>
                  <a:srgbClr val="FF32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MOV    </a:t>
            </a: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AX, 3</a:t>
            </a:r>
          </a:p>
          <a:p>
            <a:r>
              <a:rPr lang="en-US" altLang="zh-CN" sz="2400" b="1" dirty="0">
                <a:solidFill>
                  <a:srgbClr val="FF32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PUSH   </a:t>
            </a: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AX</a:t>
            </a:r>
          </a:p>
          <a:p>
            <a:r>
              <a:rPr lang="en-US" altLang="zh-CN" sz="2400" b="1" dirty="0">
                <a:solidFill>
                  <a:srgbClr val="FF32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CALL   </a:t>
            </a: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DIFCUBE</a:t>
            </a:r>
            <a:endParaRPr lang="pt-BR" altLang="zh-CN" sz="2400" b="1" dirty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09894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34250017"/>
      </p:ext>
    </p:extLst>
  </p:cSld>
  <p:clrMapOvr>
    <a:masterClrMapping/>
  </p:clrMapOvr>
</p:sld>
</file>

<file path=ppt/theme/theme1.xml><?xml version="1.0" encoding="utf-8"?>
<a:theme xmlns:a="http://schemas.openxmlformats.org/drawingml/2006/main" name="2_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13113</TotalTime>
  <Words>880</Words>
  <Application>Microsoft Office PowerPoint</Application>
  <PresentationFormat>全屏显示(4:3)</PresentationFormat>
  <Paragraphs>248</Paragraphs>
  <Slides>17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8" baseType="lpstr">
      <vt:lpstr>Arial Unicode MS</vt:lpstr>
      <vt:lpstr>经典繁仿黑</vt:lpstr>
      <vt:lpstr>宋体</vt:lpstr>
      <vt:lpstr>微软雅黑</vt:lpstr>
      <vt:lpstr>Arial</vt:lpstr>
      <vt:lpstr>Broadway</vt:lpstr>
      <vt:lpstr>Calibri</vt:lpstr>
      <vt:lpstr>Tahoma</vt:lpstr>
      <vt:lpstr>Times New Roman</vt:lpstr>
      <vt:lpstr>Wingdings</vt:lpstr>
      <vt:lpstr>2_Office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user</dc:creator>
  <cp:lastModifiedBy>houxy</cp:lastModifiedBy>
  <cp:revision>2356</cp:revision>
  <dcterms:created xsi:type="dcterms:W3CDTF">2012-06-23T00:51:09Z</dcterms:created>
  <dcterms:modified xsi:type="dcterms:W3CDTF">2016-04-18T22:51:30Z</dcterms:modified>
</cp:coreProperties>
</file>