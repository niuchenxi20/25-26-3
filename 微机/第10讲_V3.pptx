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303" r:id="rId2"/>
    <p:sldId id="594" r:id="rId3"/>
    <p:sldId id="597" r:id="rId4"/>
    <p:sldId id="261" r:id="rId5"/>
    <p:sldId id="665" r:id="rId6"/>
    <p:sldId id="667" r:id="rId7"/>
    <p:sldId id="668" r:id="rId8"/>
    <p:sldId id="528" r:id="rId9"/>
    <p:sldId id="659" r:id="rId10"/>
    <p:sldId id="669" r:id="rId11"/>
    <p:sldId id="672" r:id="rId12"/>
    <p:sldId id="719" r:id="rId13"/>
    <p:sldId id="670" r:id="rId14"/>
    <p:sldId id="671" r:id="rId15"/>
    <p:sldId id="678" r:id="rId16"/>
    <p:sldId id="794" r:id="rId17"/>
    <p:sldId id="673" r:id="rId18"/>
    <p:sldId id="674" r:id="rId19"/>
    <p:sldId id="679" r:id="rId20"/>
    <p:sldId id="793" r:id="rId21"/>
    <p:sldId id="685" r:id="rId22"/>
    <p:sldId id="686" r:id="rId23"/>
    <p:sldId id="680" r:id="rId24"/>
    <p:sldId id="675" r:id="rId25"/>
    <p:sldId id="762" r:id="rId26"/>
    <p:sldId id="677" r:id="rId27"/>
    <p:sldId id="683" r:id="rId28"/>
    <p:sldId id="684" r:id="rId29"/>
    <p:sldId id="715" r:id="rId30"/>
    <p:sldId id="840" r:id="rId31"/>
    <p:sldId id="687" r:id="rId32"/>
    <p:sldId id="688" r:id="rId33"/>
    <p:sldId id="690" r:id="rId34"/>
    <p:sldId id="716" r:id="rId35"/>
    <p:sldId id="691" r:id="rId36"/>
    <p:sldId id="694" r:id="rId37"/>
    <p:sldId id="693" r:id="rId38"/>
    <p:sldId id="717" r:id="rId39"/>
    <p:sldId id="702" r:id="rId40"/>
    <p:sldId id="704" r:id="rId41"/>
    <p:sldId id="718" r:id="rId42"/>
    <p:sldId id="836" r:id="rId43"/>
    <p:sldId id="837" r:id="rId44"/>
    <p:sldId id="707" r:id="rId45"/>
    <p:sldId id="838" r:id="rId46"/>
    <p:sldId id="839" r:id="rId47"/>
    <p:sldId id="710" r:id="rId48"/>
    <p:sldId id="835" r:id="rId49"/>
    <p:sldId id="712" r:id="rId50"/>
    <p:sldId id="695" r:id="rId51"/>
    <p:sldId id="699" r:id="rId52"/>
    <p:sldId id="713" r:id="rId53"/>
    <p:sldId id="714" r:id="rId54"/>
    <p:sldId id="721" r:id="rId55"/>
    <p:sldId id="696" r:id="rId56"/>
    <p:sldId id="697" r:id="rId57"/>
    <p:sldId id="300" r:id="rId5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ABDF2"/>
    <a:srgbClr val="FF3255"/>
    <a:srgbClr val="1D8DE5"/>
    <a:srgbClr val="FD7A2A"/>
    <a:srgbClr val="00B853"/>
    <a:srgbClr val="FF9300"/>
    <a:srgbClr val="00B050"/>
    <a:srgbClr val="5DCB08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9592" autoAdjust="0"/>
    <p:restoredTop sz="90428" autoAdjust="0"/>
  </p:normalViewPr>
  <p:slideViewPr>
    <p:cSldViewPr>
      <p:cViewPr>
        <p:scale>
          <a:sx n="110" d="100"/>
          <a:sy n="110" d="100"/>
        </p:scale>
        <p:origin x="-516" y="96"/>
      </p:cViewPr>
      <p:guideLst>
        <p:guide orient="horz" pos="2180"/>
        <p:guide pos="2868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83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4524F-5C8C-4CF8-964C-68B44E826FEE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00F3E-42E3-47B8-AD52-3484E0D8A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908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本章需要回答这几个非常重要的问题。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73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2965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E00F3E-42E3-47B8-AD52-3484E0D8A9EB}" type="slidenum">
              <a:rPr lang="en-US" smtClean="0"/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hyperlink" Target="http://www.eyefulpresentations.co.uk/" TargetMode="External"/><Relationship Id="rId7" Type="http://schemas.openxmlformats.org/officeDocument/2006/relationships/image" Target="../media/image7.png"/><Relationship Id="rId2" Type="http://schemas.openxmlformats.org/officeDocument/2006/relationships/hyperlink" Target="mailto:info@eyefulpresentations.co.uk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32"/>
          <p:cNvSpPr txBox="1">
            <a:spLocks noChangeArrowheads="1"/>
          </p:cNvSpPr>
          <p:nvPr userDrawn="1"/>
        </p:nvSpPr>
        <p:spPr bwMode="auto">
          <a:xfrm>
            <a:off x="539552" y="1265747"/>
            <a:ext cx="7488832" cy="814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 anchorCtr="1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defRPr/>
            </a:pPr>
            <a:r>
              <a:rPr lang="zh-CN" altLang="en-US" sz="4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第七章 可编程接口芯片及应用</a:t>
            </a:r>
          </a:p>
        </p:txBody>
      </p:sp>
      <p:cxnSp>
        <p:nvCxnSpPr>
          <p:cNvPr id="8" name="直接连接符 7"/>
          <p:cNvCxnSpPr/>
          <p:nvPr userDrawn="1"/>
        </p:nvCxnSpPr>
        <p:spPr bwMode="auto">
          <a:xfrm>
            <a:off x="755576" y="2349500"/>
            <a:ext cx="71292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algn="ctr" rotWithShape="0">
              <a:prstClr val="black">
                <a:alpha val="64000"/>
              </a:prstClr>
            </a:outerShdw>
          </a:effectLst>
        </p:spPr>
      </p:cxnSp>
      <p:sp>
        <p:nvSpPr>
          <p:cNvPr id="9" name="矩形 8"/>
          <p:cNvSpPr>
            <a:spLocks noChangeArrowheads="1"/>
          </p:cNvSpPr>
          <p:nvPr userDrawn="1"/>
        </p:nvSpPr>
        <p:spPr bwMode="auto">
          <a:xfrm>
            <a:off x="755576" y="549275"/>
            <a:ext cx="39592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计算机组织与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827089" y="2508250"/>
            <a:ext cx="3096840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700" b="1" dirty="0">
                <a:solidFill>
                  <a:srgbClr val="FC620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ahoma" panose="020B0604030504040204" pitchFamily="34" charset="0"/>
              </a:rPr>
              <a:t>东南大学信息科学与工程学院</a:t>
            </a:r>
            <a:endParaRPr lang="en-US" altLang="zh-CN" sz="1700" b="1" dirty="0">
              <a:solidFill>
                <a:srgbClr val="FC620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ahoma" panose="020B0604030504040204" pitchFamily="34" charset="0"/>
            </a:endParaRPr>
          </a:p>
        </p:txBody>
      </p:sp>
      <p:sp>
        <p:nvSpPr>
          <p:cNvPr id="17" name="TextBox 18"/>
          <p:cNvSpPr txBox="1"/>
          <p:nvPr userDrawn="1"/>
        </p:nvSpPr>
        <p:spPr>
          <a:xfrm>
            <a:off x="7235825" y="5733256"/>
            <a:ext cx="1152599" cy="4603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  <a:latin typeface="Broadway" panose="04040905080B02020502" pitchFamily="82" charset="0"/>
                <a:ea typeface="微软雅黑" panose="020B0503020204020204" pitchFamily="34" charset="-122"/>
                <a:cs typeface="经典繁仿黑" pitchFamily="49" charset="-122"/>
              </a:rPr>
              <a:t>李卫东</a:t>
            </a:r>
          </a:p>
        </p:txBody>
      </p:sp>
      <p:pic>
        <p:nvPicPr>
          <p:cNvPr id="18" name="Picture 2" descr="D:\Teliss_Tong\Copy\定期备份\工作备份\！PPT图片及版面资源\06-PPT精选插图\04-图标\59E394F1F59BE1688CBD1D9A59D1E886.png"/>
          <p:cNvPicPr>
            <a:picLocks noChangeAspect="1"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2555776" y="2986582"/>
            <a:ext cx="2885504" cy="313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7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48680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前言</a:t>
            </a:r>
          </a:p>
        </p:txBody>
      </p:sp>
      <p:sp>
        <p:nvSpPr>
          <p:cNvPr id="4" name="椭圆 3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18" name="Picture 3" descr="D:\Teliss_Tong\Copy\定期备份\工作备份\！PPT图片及版面资源\06-PPT精选插图\04-图标\西装小人.png"/>
          <p:cNvPicPr>
            <a:picLocks noChangeAspect="1" noChangeArrowheads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 bwMode="auto">
          <a:xfrm>
            <a:off x="1043608" y="1852068"/>
            <a:ext cx="2210937" cy="3098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43608" y="0"/>
            <a:ext cx="1080120" cy="1052736"/>
          </a:xfrm>
          <a:prstGeom prst="rect">
            <a:avLst/>
          </a:prstGeom>
          <a:solidFill>
            <a:srgbClr val="FF91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 userDrawn="1"/>
        </p:nvSpPr>
        <p:spPr>
          <a:xfrm>
            <a:off x="1043608" y="5263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过渡页</a:t>
            </a:r>
          </a:p>
        </p:txBody>
      </p:sp>
      <p:sp>
        <p:nvSpPr>
          <p:cNvPr id="6" name="椭圆 5"/>
          <p:cNvSpPr/>
          <p:nvPr userDrawn="1"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15"/>
          <p:cNvSpPr txBox="1"/>
          <p:nvPr userDrawn="1"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 userDrawn="1"/>
        </p:nvSpPr>
        <p:spPr bwMode="auto">
          <a:xfrm>
            <a:off x="1619251" y="548680"/>
            <a:ext cx="5905499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anose="05000000000000000000" pitchFamily="2" charset="2"/>
              <a:buNone/>
            </a:pP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0">
            <a:hlinkClick r:id="rId2"/>
          </p:cNvPr>
          <p:cNvSpPr>
            <a:spLocks noChangeArrowheads="1"/>
          </p:cNvSpPr>
          <p:nvPr userDrawn="1"/>
        </p:nvSpPr>
        <p:spPr bwMode="auto">
          <a:xfrm>
            <a:off x="5004049" y="2757241"/>
            <a:ext cx="444010" cy="523875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Oval 61">
            <a:hlinkClick r:id="rId3"/>
          </p:cNvPr>
          <p:cNvSpPr>
            <a:spLocks noChangeArrowheads="1"/>
          </p:cNvSpPr>
          <p:nvPr userDrawn="1"/>
        </p:nvSpPr>
        <p:spPr bwMode="auto">
          <a:xfrm>
            <a:off x="5016011" y="3565675"/>
            <a:ext cx="420086" cy="521494"/>
          </a:xfrm>
          <a:prstGeom prst="ellipse">
            <a:avLst/>
          </a:prstGeom>
          <a:solidFill>
            <a:srgbClr val="0079C5">
              <a:alpha val="0"/>
            </a:srgbClr>
          </a:solidFill>
          <a:ln w="33338">
            <a:noFill/>
            <a:miter lim="800000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矩形​​ 5"/>
          <p:cNvSpPr>
            <a:spLocks noChangeArrowheads="1"/>
          </p:cNvSpPr>
          <p:nvPr userDrawn="1"/>
        </p:nvSpPr>
        <p:spPr bwMode="auto">
          <a:xfrm>
            <a:off x="98301" y="538162"/>
            <a:ext cx="8964613" cy="3946525"/>
          </a:xfrm>
          <a:prstGeom prst="rect">
            <a:avLst/>
          </a:prstGeom>
          <a:solidFill>
            <a:srgbClr val="00ADDC"/>
          </a:solidFill>
          <a:ln w="9525" cmpd="sng">
            <a:noFill/>
            <a:miter lim="800000"/>
          </a:ln>
        </p:spPr>
        <p:txBody>
          <a:bodyPr lIns="288000" anchor="b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zh-CN" sz="2800" dirty="0">
              <a:solidFill>
                <a:prstClr val="white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Line 33"/>
          <p:cNvSpPr>
            <a:spLocks noChangeShapeType="1"/>
          </p:cNvSpPr>
          <p:nvPr userDrawn="1"/>
        </p:nvSpPr>
        <p:spPr bwMode="auto">
          <a:xfrm flipV="1">
            <a:off x="5224465" y="1671390"/>
            <a:ext cx="1587" cy="2700338"/>
          </a:xfrm>
          <a:prstGeom prst="line">
            <a:avLst/>
          </a:prstGeom>
          <a:noFill/>
          <a:ln w="33338">
            <a:solidFill>
              <a:srgbClr val="FFFFFF"/>
            </a:solidFill>
            <a:miter lim="800000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Freeform 18"/>
          <p:cNvSpPr/>
          <p:nvPr userDrawn="1"/>
        </p:nvSpPr>
        <p:spPr bwMode="auto">
          <a:xfrm>
            <a:off x="1366838" y="2767956"/>
            <a:ext cx="201612" cy="1279922"/>
          </a:xfrm>
          <a:custGeom>
            <a:avLst/>
            <a:gdLst>
              <a:gd name="T0" fmla="*/ 127 w 127"/>
              <a:gd name="T1" fmla="*/ 0 h 1075"/>
              <a:gd name="T2" fmla="*/ 0 w 127"/>
              <a:gd name="T3" fmla="*/ 1075 h 1075"/>
              <a:gd name="T4" fmla="*/ 127 w 127"/>
              <a:gd name="T5" fmla="*/ 0 h 1075"/>
              <a:gd name="T6" fmla="*/ 0 60000 65536"/>
              <a:gd name="T7" fmla="*/ 0 60000 65536"/>
              <a:gd name="T8" fmla="*/ 0 60000 65536"/>
              <a:gd name="T9" fmla="*/ 0 w 127"/>
              <a:gd name="T10" fmla="*/ 0 h 1075"/>
              <a:gd name="T11" fmla="*/ 127 w 127"/>
              <a:gd name="T12" fmla="*/ 1075 h 10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" h="1075">
                <a:moveTo>
                  <a:pt x="127" y="0"/>
                </a:moveTo>
                <a:lnTo>
                  <a:pt x="0" y="1075"/>
                </a:lnTo>
                <a:lnTo>
                  <a:pt x="127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Freeform 20"/>
          <p:cNvSpPr/>
          <p:nvPr userDrawn="1"/>
        </p:nvSpPr>
        <p:spPr bwMode="auto">
          <a:xfrm>
            <a:off x="2717800" y="2561978"/>
            <a:ext cx="7938" cy="1806178"/>
          </a:xfrm>
          <a:custGeom>
            <a:avLst/>
            <a:gdLst>
              <a:gd name="T0" fmla="*/ 0 w 5"/>
              <a:gd name="T1" fmla="*/ 0 h 1517"/>
              <a:gd name="T2" fmla="*/ 5 w 5"/>
              <a:gd name="T3" fmla="*/ 1517 h 1517"/>
              <a:gd name="T4" fmla="*/ 0 w 5"/>
              <a:gd name="T5" fmla="*/ 0 h 1517"/>
              <a:gd name="T6" fmla="*/ 0 60000 65536"/>
              <a:gd name="T7" fmla="*/ 0 60000 65536"/>
              <a:gd name="T8" fmla="*/ 0 60000 65536"/>
              <a:gd name="T9" fmla="*/ 0 w 5"/>
              <a:gd name="T10" fmla="*/ 0 h 1517"/>
              <a:gd name="T11" fmla="*/ 5 w 5"/>
              <a:gd name="T12" fmla="*/ 1517 h 151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1517">
                <a:moveTo>
                  <a:pt x="0" y="0"/>
                </a:moveTo>
                <a:lnTo>
                  <a:pt x="5" y="15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Oval 22"/>
          <p:cNvSpPr>
            <a:spLocks noChangeArrowheads="1"/>
          </p:cNvSpPr>
          <p:nvPr userDrawn="1"/>
        </p:nvSpPr>
        <p:spPr bwMode="auto">
          <a:xfrm>
            <a:off x="4716019" y="692696"/>
            <a:ext cx="1008109" cy="978694"/>
          </a:xfrm>
          <a:prstGeom prst="ellipse">
            <a:avLst/>
          </a:prstGeom>
          <a:noFill/>
          <a:ln w="33338">
            <a:solidFill>
              <a:srgbClr val="FFFFFF"/>
            </a:solidFill>
            <a:miter lim="800000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prstClr val="white"/>
                </a:solidFill>
                <a:ea typeface="微软雅黑" panose="020B0503020204020204" pitchFamily="34" charset="-122"/>
              </a:rPr>
              <a:t>授课教师</a:t>
            </a:r>
          </a:p>
        </p:txBody>
      </p:sp>
      <p:sp>
        <p:nvSpPr>
          <p:cNvPr id="14" name="Oval 25"/>
          <p:cNvSpPr>
            <a:spLocks noChangeArrowheads="1"/>
          </p:cNvSpPr>
          <p:nvPr userDrawn="1"/>
        </p:nvSpPr>
        <p:spPr bwMode="auto">
          <a:xfrm>
            <a:off x="4944003" y="1965479"/>
            <a:ext cx="564102" cy="523876"/>
          </a:xfrm>
          <a:prstGeom prst="ellipse">
            <a:avLst/>
          </a:prstGeom>
          <a:solidFill>
            <a:schemeClr val="accent1"/>
          </a:solidFill>
          <a:ln w="33338">
            <a:solidFill>
              <a:srgbClr val="FFFFFF"/>
            </a:solidFill>
            <a:miter lim="800000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16" name="Group 63"/>
          <p:cNvGrpSpPr/>
          <p:nvPr userDrawn="1"/>
        </p:nvGrpSpPr>
        <p:grpSpPr bwMode="auto">
          <a:xfrm>
            <a:off x="4944004" y="2757241"/>
            <a:ext cx="564100" cy="523875"/>
            <a:chOff x="3073" y="2610"/>
            <a:chExt cx="438" cy="440"/>
          </a:xfrm>
        </p:grpSpPr>
        <p:sp>
          <p:nvSpPr>
            <p:cNvPr id="17" name="Rectangle 28"/>
            <p:cNvSpPr>
              <a:spLocks noChangeArrowheads="1"/>
            </p:cNvSpPr>
            <p:nvPr/>
          </p:nvSpPr>
          <p:spPr bwMode="auto">
            <a:xfrm>
              <a:off x="3181" y="2748"/>
              <a:ext cx="222" cy="164"/>
            </a:xfrm>
            <a:prstGeom prst="rect">
              <a:avLst/>
            </a:prstGeom>
            <a:solidFill>
              <a:srgbClr val="FFFFFF"/>
            </a:solidFill>
            <a:ln w="11113">
              <a:noFill/>
              <a:miter lim="800000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8" name="Freeform 29"/>
            <p:cNvSpPr/>
            <p:nvPr/>
          </p:nvSpPr>
          <p:spPr bwMode="auto">
            <a:xfrm>
              <a:off x="3182" y="2748"/>
              <a:ext cx="220" cy="110"/>
            </a:xfrm>
            <a:custGeom>
              <a:avLst/>
              <a:gdLst>
                <a:gd name="T0" fmla="*/ 0 w 278"/>
                <a:gd name="T1" fmla="*/ 0 h 140"/>
                <a:gd name="T2" fmla="*/ 138 w 278"/>
                <a:gd name="T3" fmla="*/ 140 h 140"/>
                <a:gd name="T4" fmla="*/ 278 w 278"/>
                <a:gd name="T5" fmla="*/ 0 h 140"/>
                <a:gd name="T6" fmla="*/ 0 w 278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8"/>
                <a:gd name="T13" fmla="*/ 0 h 140"/>
                <a:gd name="T14" fmla="*/ 278 w 278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8" h="140">
                  <a:moveTo>
                    <a:pt x="0" y="0"/>
                  </a:moveTo>
                  <a:lnTo>
                    <a:pt x="138" y="140"/>
                  </a:lnTo>
                  <a:lnTo>
                    <a:pt x="2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accent1"/>
              </a:solidFill>
              <a:prstDash val="solid"/>
              <a:miter lim="800000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19" name="Oval 27"/>
            <p:cNvSpPr>
              <a:spLocks noChangeArrowheads="1"/>
            </p:cNvSpPr>
            <p:nvPr/>
          </p:nvSpPr>
          <p:spPr bwMode="auto">
            <a:xfrm>
              <a:off x="3073" y="2610"/>
              <a:ext cx="438" cy="440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64"/>
          <p:cNvGrpSpPr/>
          <p:nvPr userDrawn="1"/>
        </p:nvGrpSpPr>
        <p:grpSpPr bwMode="auto">
          <a:xfrm>
            <a:off x="4944004" y="3565675"/>
            <a:ext cx="564100" cy="521494"/>
            <a:chOff x="3073" y="3289"/>
            <a:chExt cx="438" cy="438"/>
          </a:xfrm>
        </p:grpSpPr>
        <p:sp>
          <p:nvSpPr>
            <p:cNvPr id="21" name="Freeform 32"/>
            <p:cNvSpPr/>
            <p:nvPr/>
          </p:nvSpPr>
          <p:spPr bwMode="auto">
            <a:xfrm>
              <a:off x="3173" y="3389"/>
              <a:ext cx="240" cy="241"/>
            </a:xfrm>
            <a:custGeom>
              <a:avLst/>
              <a:gdLst>
                <a:gd name="T0" fmla="*/ 303 w 303"/>
                <a:gd name="T1" fmla="*/ 263 h 305"/>
                <a:gd name="T2" fmla="*/ 171 w 303"/>
                <a:gd name="T3" fmla="*/ 131 h 305"/>
                <a:gd name="T4" fmla="*/ 223 w 303"/>
                <a:gd name="T5" fmla="*/ 77 h 305"/>
                <a:gd name="T6" fmla="*/ 0 w 303"/>
                <a:gd name="T7" fmla="*/ 0 h 305"/>
                <a:gd name="T8" fmla="*/ 76 w 303"/>
                <a:gd name="T9" fmla="*/ 224 h 305"/>
                <a:gd name="T10" fmla="*/ 129 w 303"/>
                <a:gd name="T11" fmla="*/ 170 h 305"/>
                <a:gd name="T12" fmla="*/ 262 w 303"/>
                <a:gd name="T13" fmla="*/ 305 h 305"/>
                <a:gd name="T14" fmla="*/ 303 w 303"/>
                <a:gd name="T15" fmla="*/ 263 h 3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03"/>
                <a:gd name="T25" fmla="*/ 0 h 305"/>
                <a:gd name="T26" fmla="*/ 303 w 303"/>
                <a:gd name="T27" fmla="*/ 305 h 3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03" h="305">
                  <a:moveTo>
                    <a:pt x="303" y="263"/>
                  </a:moveTo>
                  <a:lnTo>
                    <a:pt x="171" y="131"/>
                  </a:lnTo>
                  <a:lnTo>
                    <a:pt x="223" y="77"/>
                  </a:lnTo>
                  <a:lnTo>
                    <a:pt x="0" y="0"/>
                  </a:lnTo>
                  <a:lnTo>
                    <a:pt x="76" y="224"/>
                  </a:lnTo>
                  <a:lnTo>
                    <a:pt x="129" y="170"/>
                  </a:lnTo>
                  <a:lnTo>
                    <a:pt x="262" y="305"/>
                  </a:lnTo>
                  <a:lnTo>
                    <a:pt x="303" y="263"/>
                  </a:lnTo>
                  <a:close/>
                </a:path>
              </a:pathLst>
            </a:custGeom>
            <a:solidFill>
              <a:schemeClr val="bg1"/>
            </a:solidFill>
            <a:ln w="11113" cap="flat">
              <a:noFill/>
              <a:prstDash val="solid"/>
              <a:miter lim="800000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Oval 30"/>
            <p:cNvSpPr>
              <a:spLocks noChangeArrowheads="1"/>
            </p:cNvSpPr>
            <p:nvPr/>
          </p:nvSpPr>
          <p:spPr bwMode="auto">
            <a:xfrm>
              <a:off x="3073" y="3289"/>
              <a:ext cx="438" cy="438"/>
            </a:xfrm>
            <a:prstGeom prst="ellipse">
              <a:avLst/>
            </a:prstGeom>
            <a:solidFill>
              <a:schemeClr val="accent1"/>
            </a:solidFill>
            <a:ln w="33338">
              <a:solidFill>
                <a:srgbClr val="FFFFFF"/>
              </a:solidFill>
              <a:miter lim="800000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Line 43"/>
          <p:cNvSpPr>
            <a:spLocks noChangeShapeType="1"/>
          </p:cNvSpPr>
          <p:nvPr userDrawn="1"/>
        </p:nvSpPr>
        <p:spPr bwMode="auto">
          <a:xfrm>
            <a:off x="774700" y="2878685"/>
            <a:ext cx="1588" cy="1190"/>
          </a:xfrm>
          <a:prstGeom prst="line">
            <a:avLst/>
          </a:prstGeom>
          <a:noFill/>
          <a:ln w="9525">
            <a:noFill/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Line 45"/>
          <p:cNvSpPr>
            <a:spLocks noChangeShapeType="1"/>
          </p:cNvSpPr>
          <p:nvPr userDrawn="1"/>
        </p:nvSpPr>
        <p:spPr bwMode="auto">
          <a:xfrm>
            <a:off x="3741739" y="910581"/>
            <a:ext cx="1587" cy="1191"/>
          </a:xfrm>
          <a:prstGeom prst="line">
            <a:avLst/>
          </a:prstGeom>
          <a:noFill/>
          <a:ln w="9525">
            <a:noFill/>
            <a:rou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Text Box 52"/>
          <p:cNvSpPr txBox="1">
            <a:spLocks noChangeArrowheads="1"/>
          </p:cNvSpPr>
          <p:nvPr userDrawn="1"/>
        </p:nvSpPr>
        <p:spPr bwMode="auto">
          <a:xfrm>
            <a:off x="5802759" y="2051200"/>
            <a:ext cx="3233737" cy="351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Tel</a:t>
            </a:r>
            <a:r>
              <a:rPr lang="zh-CN" altLang="en-US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13675162078</a:t>
            </a:r>
            <a:endParaRPr lang="en-GB" altLang="zh-CN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Text Box 54"/>
          <p:cNvSpPr txBox="1">
            <a:spLocks noChangeArrowheads="1"/>
          </p:cNvSpPr>
          <p:nvPr userDrawn="1"/>
        </p:nvSpPr>
        <p:spPr bwMode="auto">
          <a:xfrm>
            <a:off x="5796136" y="2842965"/>
            <a:ext cx="2952328" cy="35123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dirty="0">
                <a:solidFill>
                  <a:srgbClr val="FFFFF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wdli@seu.edu.cn</a:t>
            </a:r>
          </a:p>
        </p:txBody>
      </p:sp>
      <p:sp>
        <p:nvSpPr>
          <p:cNvPr id="33" name="Text Box 59"/>
          <p:cNvSpPr txBox="1">
            <a:spLocks noChangeArrowheads="1"/>
          </p:cNvSpPr>
          <p:nvPr userDrawn="1"/>
        </p:nvSpPr>
        <p:spPr bwMode="auto">
          <a:xfrm>
            <a:off x="5796136" y="3668617"/>
            <a:ext cx="1728192" cy="351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无线谷</a:t>
            </a:r>
            <a:r>
              <a:rPr lang="en-US" altLang="zh-CN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A3-217</a:t>
            </a:r>
            <a:endParaRPr lang="en-US" altLang="zh-CN" sz="1600" b="1" dirty="0">
              <a:solidFill>
                <a:srgbClr val="FFFFFF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Text Box 62"/>
          <p:cNvSpPr txBox="1">
            <a:spLocks noChangeArrowheads="1"/>
          </p:cNvSpPr>
          <p:nvPr userDrawn="1"/>
        </p:nvSpPr>
        <p:spPr bwMode="auto">
          <a:xfrm>
            <a:off x="5796136" y="764704"/>
            <a:ext cx="3252000" cy="9191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00" b="1" dirty="0">
                <a:solidFill>
                  <a:srgbClr val="FFFFFF"/>
                </a:solidFill>
                <a:ea typeface="微软雅黑" panose="020B0503020204020204" pitchFamily="34" charset="-122"/>
              </a:rPr>
              <a:t>李卫东</a:t>
            </a:r>
            <a:endParaRPr lang="en-US" altLang="zh-CN" sz="16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FFFFFF"/>
                </a:solidFill>
                <a:ea typeface="微软雅黑" panose="020B0503020204020204" pitchFamily="34" charset="-122"/>
              </a:rPr>
              <a:t>毫米波国家重点实验室</a:t>
            </a:r>
            <a:endParaRPr lang="en-GB" altLang="zh-CN" sz="1100" b="1" dirty="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 userDrawn="1"/>
        </p:nvSpPr>
        <p:spPr>
          <a:xfrm>
            <a:off x="969273" y="1916832"/>
            <a:ext cx="295465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5400" b="1" dirty="0">
                <a:solidFill>
                  <a:srgbClr val="FFFFFF"/>
                </a:solidFill>
                <a:ea typeface="微软雅黑" panose="020B0503020204020204" pitchFamily="34" charset="-122"/>
              </a:rPr>
              <a:t>谢谢听讲</a:t>
            </a:r>
          </a:p>
        </p:txBody>
      </p: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699" y="4609838"/>
            <a:ext cx="2889201" cy="190911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579" y="4609838"/>
            <a:ext cx="3024336" cy="192189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603449"/>
            <a:ext cx="2863673" cy="1909115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040742" y="2823944"/>
            <a:ext cx="402490" cy="402490"/>
          </a:xfrm>
          <a:prstGeom prst="rect">
            <a:avLst/>
          </a:prstGeom>
        </p:spPr>
      </p:pic>
      <p:pic>
        <p:nvPicPr>
          <p:cNvPr id="41" name="Picture 4" descr="E:\仝德志文件，勿删！\03-参考文档\！PPT图片及版面资源\06-PPT精选插图\04-图标\home256.png"/>
          <p:cNvPicPr>
            <a:picLocks noChangeAspect="1" noChangeArrowheads="1"/>
          </p:cNvPicPr>
          <p:nvPr userDrawn="1"/>
        </p:nvPicPr>
        <p:blipFill>
          <a:blip r:embed="rId8" cstate="screen"/>
          <a:srcRect/>
          <a:stretch>
            <a:fillRect/>
          </a:stretch>
        </p:blipFill>
        <p:spPr bwMode="auto">
          <a:xfrm>
            <a:off x="5063037" y="3651103"/>
            <a:ext cx="357899" cy="35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5" descr="E:\仝德志文件，勿删！\03-参考文档\！PPT图片及版面资源\06-PPT精选插图\04-图标\png-0030.png"/>
          <p:cNvPicPr>
            <a:picLocks noChangeAspect="1" noChangeArrowheads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055260" y="2054293"/>
            <a:ext cx="348142" cy="34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10" grpId="0" animBg="1"/>
      <p:bldP spid="12" grpId="0" animBg="1"/>
      <p:bldP spid="23" grpId="0"/>
      <p:bldP spid="24" grpId="0"/>
      <p:bldP spid="31" grpId="0"/>
      <p:bldP spid="32" grpId="0"/>
      <p:bldP spid="33" grpId="0"/>
      <p:bldP spid="34" grpId="0"/>
      <p:bldP spid="35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-32" y="6599238"/>
            <a:ext cx="730726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7367588" y="6165850"/>
            <a:ext cx="0" cy="431800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7451725" y="6308725"/>
            <a:ext cx="0" cy="288925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611188" y="-26988"/>
            <a:ext cx="0" cy="431801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68350" y="0"/>
            <a:ext cx="0" cy="287338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/>
          <p:cNvSpPr/>
          <p:nvPr/>
        </p:nvSpPr>
        <p:spPr>
          <a:xfrm>
            <a:off x="431188" y="6201750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5"/>
          <p:cNvSpPr txBox="1"/>
          <p:nvPr/>
        </p:nvSpPr>
        <p:spPr>
          <a:xfrm>
            <a:off x="285973" y="6212473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0569" y="6043193"/>
            <a:ext cx="705847" cy="6981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baike.baidu.com/item/%E5%A4%84%E7%90%86%E5%99%A8/0?fromModule=lemma_inlink" TargetMode="External"/><Relationship Id="rId5" Type="http://schemas.openxmlformats.org/officeDocument/2006/relationships/hyperlink" Target="https://baike.baidu.com/item/%E5%88%86%E5%B8%83%E5%BC%8F/19276232?fromModule=lemma_inlink" TargetMode="External"/><Relationship Id="rId4" Type="http://schemas.openxmlformats.org/officeDocument/2006/relationships/hyperlink" Target="https://baike.baidu.com/item/%E9%98%B5%E5%88%97%E5%A4%84%E7%90%86%E6%9C%BA/0?fromModule=lemma_inlink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jpeg"/><Relationship Id="rId4" Type="http://schemas.openxmlformats.org/officeDocument/2006/relationships/image" Target="../media/image1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3851274" y="1000116"/>
            <a:ext cx="5007006" cy="11430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本节</a:t>
            </a:r>
            <a:r>
              <a:rPr lang="zh-CN" altLang="en-US" sz="5300" dirty="0">
                <a:solidFill>
                  <a:srgbClr val="00C4F0"/>
                </a:solidFill>
                <a:ea typeface="微软雅黑" panose="020B0503020204020204" pitchFamily="34" charset="-122"/>
                <a:cs typeface="+mn-cs"/>
              </a:rPr>
              <a:t>目标</a:t>
            </a:r>
            <a:r>
              <a:rPr lang="en-US" altLang="zh-CN" dirty="0">
                <a:latin typeface="Arial" panose="020B0604020202020204"/>
                <a:ea typeface="微软雅黑" panose="020B0503020204020204" pitchFamily="34" charset="-122"/>
                <a:cs typeface="Arial" panose="020B0604020202020204"/>
              </a:rPr>
              <a:t>• </a:t>
            </a:r>
            <a:r>
              <a:rPr lang="en-US" altLang="zh-CN" sz="2800" b="0" dirty="0">
                <a:solidFill>
                  <a:srgbClr val="FFC000"/>
                </a:solidFill>
                <a:latin typeface="Tahoma" panose="020B0604030504040204" pitchFamily="34" charset="0"/>
                <a:ea typeface="微软简综艺" pitchFamily="49" charset="-122"/>
                <a:cs typeface="Tahoma" panose="020B0604030504040204" pitchFamily="34" charset="0"/>
              </a:rPr>
              <a:t>OBJECTIVE</a:t>
            </a:r>
            <a:endParaRPr lang="zh-CN" altLang="en-US" sz="1800" b="0" dirty="0">
              <a:solidFill>
                <a:srgbClr val="FFC000"/>
              </a:solidFill>
              <a:latin typeface="Tahoma" panose="020B0604030504040204" pitchFamily="34" charset="0"/>
              <a:ea typeface="微软简综艺" pitchFamily="49" charset="-122"/>
              <a:cs typeface="Tahoma" panose="020B0604030504040204" pitchFamily="34" charset="0"/>
            </a:endParaRPr>
          </a:p>
        </p:txBody>
      </p:sp>
      <p:sp>
        <p:nvSpPr>
          <p:cNvPr id="4099" name="矩形 4"/>
          <p:cNvSpPr>
            <a:spLocks noChangeArrowheads="1"/>
          </p:cNvSpPr>
          <p:nvPr/>
        </p:nvSpPr>
        <p:spPr bwMode="auto">
          <a:xfrm>
            <a:off x="3851275" y="2276872"/>
            <a:ext cx="5113338" cy="19343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了解定时的基本概念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外部特性（重点）</a:t>
            </a:r>
            <a:endParaRPr lang="en-US" altLang="zh-CN" sz="2000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工作模式（重点）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34000"/>
              </a:lnSpc>
              <a:spcBef>
                <a:spcPts val="400"/>
              </a:spcBef>
              <a:spcAft>
                <a:spcPts val="6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初始化（重点）</a:t>
            </a:r>
            <a:endParaRPr lang="en-US" altLang="zh-CN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4" descr="http://lusongsong.com/upload/173_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5576" y="2060848"/>
            <a:ext cx="2808312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09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5253127"/>
            <a:ext cx="1728439" cy="1343740"/>
          </a:xfrm>
          <a:prstGeom prst="rect">
            <a:avLst/>
          </a:prstGeom>
        </p:spPr>
      </p:pic>
      <p:sp>
        <p:nvSpPr>
          <p:cNvPr id="5" name="流程图: 可选过程 4"/>
          <p:cNvSpPr/>
          <p:nvPr/>
        </p:nvSpPr>
        <p:spPr>
          <a:xfrm>
            <a:off x="2278872" y="1628800"/>
            <a:ext cx="6397584" cy="902445"/>
          </a:xfrm>
          <a:prstGeom prst="flowChartAlternateProcess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外部特性：有几个计数器？计数通道的信号线作用？</a:t>
            </a:r>
          </a:p>
        </p:txBody>
      </p:sp>
      <p:sp>
        <p:nvSpPr>
          <p:cNvPr id="19" name="流程图: 可选过程 18"/>
          <p:cNvSpPr/>
          <p:nvPr/>
        </p:nvSpPr>
        <p:spPr>
          <a:xfrm>
            <a:off x="2267744" y="2780928"/>
            <a:ext cx="6397584" cy="902445"/>
          </a:xfrm>
          <a:prstGeom prst="flowChartAlternateProcess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有几种工作模式？哪些是自动重复计数的？</a:t>
            </a:r>
          </a:p>
        </p:txBody>
      </p:sp>
      <p:sp>
        <p:nvSpPr>
          <p:cNvPr id="21" name="流程图: 可选过程 20"/>
          <p:cNvSpPr/>
          <p:nvPr/>
        </p:nvSpPr>
        <p:spPr>
          <a:xfrm>
            <a:off x="2267744" y="3894707"/>
            <a:ext cx="6397584" cy="902445"/>
          </a:xfrm>
          <a:prstGeom prst="flowChartAlternateProcess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的初始化过程如何完成？</a:t>
            </a:r>
          </a:p>
        </p:txBody>
      </p:sp>
      <p:sp>
        <p:nvSpPr>
          <p:cNvPr id="33" name="椭圆 32"/>
          <p:cNvSpPr/>
          <p:nvPr/>
        </p:nvSpPr>
        <p:spPr>
          <a:xfrm>
            <a:off x="1259632" y="1767902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1259632" y="294877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1259632" y="4028897"/>
            <a:ext cx="624239" cy="624239"/>
          </a:xfrm>
          <a:prstGeom prst="ellipse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0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定时基本概念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8253</a:t>
            </a:r>
            <a:r>
              <a:rPr lang="zh-CN" altLang="en-US" dirty="0"/>
              <a:t>定时器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定时的基本概念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>
            <a:spLocks noChangeAspect="1"/>
          </p:cNvSpPr>
          <p:nvPr/>
        </p:nvSpPr>
        <p:spPr>
          <a:xfrm>
            <a:off x="899592" y="1484785"/>
            <a:ext cx="7452617" cy="3096344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"/>
          <p:cNvSpPr txBox="1"/>
          <p:nvPr/>
        </p:nvSpPr>
        <p:spPr>
          <a:xfrm>
            <a:off x="1079401" y="1556793"/>
            <a:ext cx="7272808" cy="295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在微机系统或智能化仪器仪表的工作中，常需要使系统处于定时工作状态或对外部过程计数。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定时或计数的工作实质均体现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为对脉冲信号的计数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如果计数的对象是标准的内部时钟，由于其周期恒定，故计数值就恒定地对应于一定的时间，这一过程即为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如果计数的对象是与外部过程相对应的脉冲信号（周期可以不相等），则此时即为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1907704" y="5013176"/>
            <a:ext cx="5796855" cy="794064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软件方法：用一段程序实现延时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硬件方法：定时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</a:p>
        </p:txBody>
      </p:sp>
      <p:sp>
        <p:nvSpPr>
          <p:cNvPr id="11" name="矩形 10"/>
          <p:cNvSpPr/>
          <p:nvPr/>
        </p:nvSpPr>
        <p:spPr>
          <a:xfrm>
            <a:off x="899592" y="4869160"/>
            <a:ext cx="7452617" cy="108012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 rot="16200000">
            <a:off x="928791" y="4947164"/>
            <a:ext cx="893766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9"/>
          <p:cNvSpPr txBox="1"/>
          <p:nvPr/>
        </p:nvSpPr>
        <p:spPr>
          <a:xfrm>
            <a:off x="1132358" y="4935983"/>
            <a:ext cx="461665" cy="9412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17" name="矩形 16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"/>
          <p:cNvSpPr>
            <a:spLocks noChangeArrowheads="1"/>
          </p:cNvSpPr>
          <p:nvPr/>
        </p:nvSpPr>
        <p:spPr bwMode="auto">
          <a:xfrm>
            <a:off x="6235899" y="1874330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  </a:t>
            </a:r>
            <a:r>
              <a:rPr lang="en-US" altLang="zh-CN" sz="2000" b="1" dirty="0" smtClean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 </a:t>
            </a:r>
            <a:endParaRPr lang="en-US" altLang="zh-CN" sz="20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5076056" y="2640323"/>
            <a:ext cx="1730904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LP:</a:t>
            </a:r>
          </a:p>
        </p:txBody>
      </p:sp>
      <p:sp>
        <p:nvSpPr>
          <p:cNvPr id="34" name="矩形 3"/>
          <p:cNvSpPr>
            <a:spLocks noChangeArrowheads="1"/>
          </p:cNvSpPr>
          <p:nvPr/>
        </p:nvSpPr>
        <p:spPr bwMode="auto">
          <a:xfrm>
            <a:off x="6235899" y="2274267"/>
            <a:ext cx="2471338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 </a:t>
            </a:r>
            <a:r>
              <a:rPr lang="en-US" altLang="zh-CN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CX, </a:t>
            </a:r>
            <a:r>
              <a:rPr lang="en-US" altLang="zh-CN" sz="20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37209</a:t>
            </a:r>
          </a:p>
        </p:txBody>
      </p:sp>
      <p:sp>
        <p:nvSpPr>
          <p:cNvPr id="35" name="矩形 3"/>
          <p:cNvSpPr>
            <a:spLocks noChangeArrowheads="1"/>
          </p:cNvSpPr>
          <p:nvPr/>
        </p:nvSpPr>
        <p:spPr bwMode="auto">
          <a:xfrm>
            <a:off x="6235899" y="2632147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PUSHF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"/>
          <p:cNvSpPr>
            <a:spLocks noChangeArrowheads="1"/>
          </p:cNvSpPr>
          <p:nvPr/>
        </p:nvSpPr>
        <p:spPr bwMode="auto">
          <a:xfrm>
            <a:off x="6235899" y="3032084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POPF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"/>
          <p:cNvSpPr>
            <a:spLocks noChangeArrowheads="1"/>
          </p:cNvSpPr>
          <p:nvPr/>
        </p:nvSpPr>
        <p:spPr bwMode="auto">
          <a:xfrm>
            <a:off x="6235899" y="3373023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  </a:t>
            </a:r>
            <a:r>
              <a:rPr lang="en-US" altLang="zh-CN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LP </a:t>
            </a:r>
            <a:r>
              <a:rPr lang="en-US" altLang="zh-CN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</a:t>
            </a:r>
            <a:r>
              <a:rPr lang="en-US" altLang="zh-CN"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CX-1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"/>
          <p:cNvSpPr>
            <a:spLocks noChangeArrowheads="1"/>
          </p:cNvSpPr>
          <p:nvPr/>
        </p:nvSpPr>
        <p:spPr bwMode="auto">
          <a:xfrm>
            <a:off x="6235898" y="4111972"/>
            <a:ext cx="2296541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17"/>
          <p:cNvSpPr txBox="1"/>
          <p:nvPr/>
        </p:nvSpPr>
        <p:spPr>
          <a:xfrm>
            <a:off x="706139" y="1485577"/>
            <a:ext cx="3799506" cy="295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编写子程序，要求延时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8086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的时钟是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8MHz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，一个时钟周期是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T=0.125us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用执行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POPF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循环次数：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04255" y="4437112"/>
            <a:ext cx="4155777" cy="46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20000/(14+12+17)/0.125=37209</a:t>
            </a: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5076055" y="1484784"/>
            <a:ext cx="3631181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DELAY20MS  PROC</a:t>
            </a:r>
          </a:p>
        </p:txBody>
      </p:sp>
      <p:sp>
        <p:nvSpPr>
          <p:cNvPr id="45" name="矩形 3"/>
          <p:cNvSpPr>
            <a:spLocks noChangeArrowheads="1"/>
          </p:cNvSpPr>
          <p:nvPr/>
        </p:nvSpPr>
        <p:spPr bwMode="auto">
          <a:xfrm>
            <a:off x="6235898" y="3739667"/>
            <a:ext cx="2296541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     </a:t>
            </a:r>
            <a:r>
              <a:rPr lang="en-US" altLang="zh-CN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10"/>
          <p:cNvSpPr txBox="1">
            <a:spLocks noChangeArrowheads="1"/>
          </p:cNvSpPr>
          <p:nvPr/>
        </p:nvSpPr>
        <p:spPr bwMode="auto">
          <a:xfrm>
            <a:off x="1626983" y="5179366"/>
            <a:ext cx="6185377" cy="794064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误差较大：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PUSH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POP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不能从事其它工作，降低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利用率。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1636" y="5138057"/>
            <a:ext cx="7832812" cy="93808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8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 rot="16200000">
            <a:off x="511578" y="5345242"/>
            <a:ext cx="1080120" cy="560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TextBox 19"/>
          <p:cNvSpPr txBox="1"/>
          <p:nvPr/>
        </p:nvSpPr>
        <p:spPr>
          <a:xfrm>
            <a:off x="844326" y="5085184"/>
            <a:ext cx="461665" cy="11044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软件缺点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5076055" y="4556162"/>
            <a:ext cx="3631181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DELAY20MS  ENDP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6" grpId="0"/>
      <p:bldP spid="37" grpId="0"/>
      <p:bldP spid="43" grpId="0"/>
      <p:bldP spid="46" grpId="0"/>
      <p:bldP spid="47" grpId="0" animBg="1"/>
      <p:bldP spid="4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定时基本概念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8253</a:t>
            </a:r>
            <a:r>
              <a:rPr lang="zh-CN" altLang="en-US" dirty="0"/>
              <a:t>定时器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外部特性</a:t>
            </a:r>
            <a:endParaRPr lang="en-US" altLang="zh-CN" sz="2400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编程结构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66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功能介绍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703436" y="1913530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功能概述</a:t>
            </a:r>
          </a:p>
        </p:txBody>
      </p:sp>
      <p:sp>
        <p:nvSpPr>
          <p:cNvPr id="9" name="矩形 8"/>
          <p:cNvSpPr/>
          <p:nvPr/>
        </p:nvSpPr>
        <p:spPr>
          <a:xfrm>
            <a:off x="2379488" y="191353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8253</a:t>
            </a:r>
            <a:r>
              <a:rPr lang="zh-CN" altLang="en-US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是一种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可编程的计数器</a:t>
            </a:r>
            <a:r>
              <a:rPr lang="en-US" altLang="zh-CN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定时器</a:t>
            </a:r>
            <a:r>
              <a:rPr lang="zh-CN" altLang="en-US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接口芯片，最高计数频率为</a:t>
            </a:r>
            <a:r>
              <a:rPr lang="en-US" altLang="zh-CN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2MHz</a:t>
            </a:r>
            <a:r>
              <a:rPr lang="zh-CN" altLang="en-US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，可用于产生各种定时波形，也可用于对外部事件计数。 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379488" y="2576874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03436" y="2954436"/>
            <a:ext cx="1442637" cy="663344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芯片特点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2379488" y="3617780"/>
            <a:ext cx="6224960" cy="0"/>
          </a:xfrm>
          <a:prstGeom prst="line">
            <a:avLst/>
          </a:prstGeom>
          <a:ln>
            <a:solidFill>
              <a:srgbClr val="FD7A2A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2379488" y="2961760"/>
            <a:ext cx="6224960" cy="68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内部有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三个独立的计数器</a:t>
            </a:r>
            <a:r>
              <a:rPr lang="zh-CN" altLang="en-US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，通过设置控制字，各计数器可以工作于</a:t>
            </a:r>
            <a:r>
              <a:rPr lang="en-US" altLang="zh-CN" sz="16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1600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种工作</a:t>
            </a:r>
            <a:r>
              <a:rPr lang="zh-CN" altLang="en-US" sz="1600" b="1" kern="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方式</a:t>
            </a:r>
            <a:r>
              <a:rPr lang="zh-CN" altLang="en-US" sz="1600" b="1" kern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1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芯片引脚功能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3491880" y="1772817"/>
            <a:ext cx="1512168" cy="3573900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387508" y="493564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87508" y="4649455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387508" y="436326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CLK1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387508" y="4077073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387508" y="3790882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387508" y="350469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CLK2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387508" y="320377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387508" y="291758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387508" y="263139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5387508" y="2345199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5387508" y="2059008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5387508" y="1772817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Vcc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572000" y="493564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72000" y="464945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4572000" y="43632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72000" y="407707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572000" y="379088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4572000" y="350469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572000" y="3203772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4572000" y="291758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572000" y="263139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572000" y="234519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572000" y="205900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4572000" y="1772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箭头连接符 54"/>
          <p:cNvCxnSpPr/>
          <p:nvPr/>
        </p:nvCxnSpPr>
        <p:spPr>
          <a:xfrm flipH="1">
            <a:off x="5004048" y="486924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 flipH="1">
            <a:off x="5013146" y="51572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>
            <a:off x="5006796" y="4276292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flipH="1">
            <a:off x="5013146" y="454946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>
            <a:off x="4997698" y="369807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 flipH="1">
            <a:off x="5006796" y="398610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 flipH="1">
            <a:off x="5010398" y="3069048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 flipH="1">
            <a:off x="5019496" y="33570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 flipH="1">
            <a:off x="4994950" y="256499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5004048" y="2853024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/>
          <p:nvPr/>
        </p:nvCxnSpPr>
        <p:spPr>
          <a:xfrm flipH="1">
            <a:off x="5007650" y="1935970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5016748" y="2224002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/>
          <p:cNvSpPr txBox="1"/>
          <p:nvPr/>
        </p:nvSpPr>
        <p:spPr>
          <a:xfrm>
            <a:off x="3488165" y="4935646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552285" y="464945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552285" y="436326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552285" y="407707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552285" y="379088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552285" y="350469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552285" y="320377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3552285" y="29175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552285" y="263139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552285" y="234519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3488165" y="205900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3488165" y="177281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2660353" y="2649125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2660353" y="2362934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2660353" y="207674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660353" y="179055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660353" y="3784576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2660353" y="349782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660353" y="3211632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660353" y="2925441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195736" y="463327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2336800" y="4347083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2375272" y="406089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2339752" y="49095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GND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H="1">
            <a:off x="3047019" y="254575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箭头连接符 95"/>
          <p:cNvCxnSpPr/>
          <p:nvPr/>
        </p:nvCxnSpPr>
        <p:spPr>
          <a:xfrm flipH="1">
            <a:off x="3056117" y="2833791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/>
          <p:nvPr/>
        </p:nvCxnSpPr>
        <p:spPr>
          <a:xfrm flipH="1">
            <a:off x="3059719" y="1916737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/>
          <p:nvPr/>
        </p:nvCxnSpPr>
        <p:spPr>
          <a:xfrm flipH="1">
            <a:off x="3068817" y="2204769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H="1">
            <a:off x="3037921" y="370834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3047019" y="3996378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flipH="1">
            <a:off x="3050621" y="3079324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/>
          <p:nvPr/>
        </p:nvCxnSpPr>
        <p:spPr>
          <a:xfrm flipH="1">
            <a:off x="3059719" y="3367356"/>
            <a:ext cx="432048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/>
          <p:cNvCxnSpPr/>
          <p:nvPr/>
        </p:nvCxnSpPr>
        <p:spPr>
          <a:xfrm flipH="1">
            <a:off x="3047019" y="509619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/>
          <p:nvPr/>
        </p:nvCxnSpPr>
        <p:spPr>
          <a:xfrm flipH="1">
            <a:off x="3037921" y="4524109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/>
        </p:nvCxnSpPr>
        <p:spPr>
          <a:xfrm flipH="1">
            <a:off x="3059832" y="4814359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/>
          <p:nvPr/>
        </p:nvCxnSpPr>
        <p:spPr>
          <a:xfrm flipH="1">
            <a:off x="3059719" y="425151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7"/>
          <p:cNvSpPr txBox="1"/>
          <p:nvPr/>
        </p:nvSpPr>
        <p:spPr>
          <a:xfrm>
            <a:off x="1259632" y="2348318"/>
            <a:ext cx="1250679" cy="1197636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数据总线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3000"/>
              </a:lnSpc>
              <a:defRPr/>
            </a:pP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5970365" y="2593587"/>
            <a:ext cx="1152128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片选信号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TextBox 17"/>
          <p:cNvSpPr txBox="1"/>
          <p:nvPr/>
        </p:nvSpPr>
        <p:spPr>
          <a:xfrm>
            <a:off x="5970365" y="2092127"/>
            <a:ext cx="1152128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读写信号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TextBox 17"/>
          <p:cNvSpPr txBox="1"/>
          <p:nvPr/>
        </p:nvSpPr>
        <p:spPr>
          <a:xfrm>
            <a:off x="923146" y="4308954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120" name="TextBox 17"/>
          <p:cNvSpPr txBox="1"/>
          <p:nvPr/>
        </p:nvSpPr>
        <p:spPr>
          <a:xfrm>
            <a:off x="6301104" y="3674919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21" name="TextBox 17"/>
          <p:cNvSpPr txBox="1"/>
          <p:nvPr/>
        </p:nvSpPr>
        <p:spPr>
          <a:xfrm>
            <a:off x="6301104" y="4587802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22" name="TextBox 17"/>
          <p:cNvSpPr txBox="1"/>
          <p:nvPr/>
        </p:nvSpPr>
        <p:spPr>
          <a:xfrm>
            <a:off x="5956895" y="3080149"/>
            <a:ext cx="1250679" cy="423642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地址线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TextBox 17"/>
          <p:cNvSpPr txBox="1"/>
          <p:nvPr/>
        </p:nvSpPr>
        <p:spPr>
          <a:xfrm>
            <a:off x="3185467" y="5517232"/>
            <a:ext cx="2215088" cy="460767"/>
          </a:xfrm>
          <a:prstGeom prst="rect">
            <a:avLst/>
          </a:prstGeom>
          <a:solidFill>
            <a:srgbClr val="1D8DE5"/>
          </a:solidFill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有几个端口？</a:t>
            </a:r>
            <a:endParaRPr lang="en-US" altLang="zh-CN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8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9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5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5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6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7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9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23" grpId="0"/>
      <p:bldP spid="24" grpId="0"/>
      <p:bldP spid="34" grpId="0"/>
      <p:bldP spid="35" grpId="0"/>
      <p:bldP spid="36" grpId="0"/>
      <p:bldP spid="37" grpId="0"/>
      <p:bldP spid="38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91" grpId="0"/>
      <p:bldP spid="92" grpId="0"/>
      <p:bldP spid="93" grpId="0"/>
      <p:bldP spid="109" grpId="0" animBg="1"/>
      <p:bldP spid="109" grpId="1" animBg="1"/>
      <p:bldP spid="111" grpId="0" animBg="1"/>
      <p:bldP spid="111" grpId="1" animBg="1"/>
      <p:bldP spid="112" grpId="0" animBg="1"/>
      <p:bldP spid="112" grpId="1" animBg="1"/>
      <p:bldP spid="119" grpId="0" animBg="1"/>
      <p:bldP spid="119" grpId="1" animBg="1"/>
      <p:bldP spid="120" grpId="0" animBg="1"/>
      <p:bldP spid="120" grpId="1" animBg="1"/>
      <p:bldP spid="121" grpId="0" animBg="1"/>
      <p:bldP spid="121" grpId="1" animBg="1"/>
      <p:bldP spid="122" grpId="0" animBg="1"/>
      <p:bldP spid="122" grpId="1" animBg="1"/>
      <p:bldP spid="1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5576" y="1985490"/>
            <a:ext cx="1512168" cy="2880158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013146" y="1985328"/>
            <a:ext cx="1368152" cy="288032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565181" y="436159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M/IO*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1822827" y="288580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822827" y="254434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2286375" y="3070468"/>
            <a:ext cx="272677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2286375" y="2688362"/>
            <a:ext cx="2726771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031777" y="288306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031777" y="254160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013146" y="414556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691680" y="356037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691680" y="321891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264498" y="3785690"/>
            <a:ext cx="274864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2264498" y="3403584"/>
            <a:ext cx="274864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5031777" y="3560374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5031777" y="321891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1" name="左右箭头 50"/>
          <p:cNvSpPr/>
          <p:nvPr/>
        </p:nvSpPr>
        <p:spPr>
          <a:xfrm>
            <a:off x="2286376" y="2202890"/>
            <a:ext cx="2726770" cy="187455"/>
          </a:xfrm>
          <a:prstGeom prst="left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1431772" y="211251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031777" y="2088856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093917" y="4956239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CPU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4558018" y="4313605"/>
            <a:ext cx="455128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5282615" y="4983559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8253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89866" y="4018356"/>
            <a:ext cx="1368152" cy="677333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文本框 77"/>
          <p:cNvSpPr txBox="1"/>
          <p:nvPr/>
        </p:nvSpPr>
        <p:spPr>
          <a:xfrm>
            <a:off x="3233172" y="41723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地址译码器</a:t>
            </a:r>
          </a:p>
        </p:txBody>
      </p:sp>
      <p:cxnSp>
        <p:nvCxnSpPr>
          <p:cNvPr id="81" name="直接连接符 80"/>
          <p:cNvCxnSpPr/>
          <p:nvPr/>
        </p:nvCxnSpPr>
        <p:spPr>
          <a:xfrm>
            <a:off x="2246921" y="4541688"/>
            <a:ext cx="902436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445194" y="43523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586258" y="39330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624730" y="3501008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H="1">
            <a:off x="6390396" y="4505608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/>
          <p:nvPr/>
        </p:nvCxnSpPr>
        <p:spPr>
          <a:xfrm flipH="1">
            <a:off x="6381298" y="364847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H="1">
            <a:off x="6390396" y="4082365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连接图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" name="直接连接符 9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7" name="右箭头 96"/>
          <p:cNvSpPr/>
          <p:nvPr/>
        </p:nvSpPr>
        <p:spPr>
          <a:xfrm>
            <a:off x="2299539" y="4126137"/>
            <a:ext cx="849818" cy="216024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标注 102"/>
          <p:cNvSpPr/>
          <p:nvPr/>
        </p:nvSpPr>
        <p:spPr>
          <a:xfrm>
            <a:off x="7164288" y="2921198"/>
            <a:ext cx="1584176" cy="579810"/>
          </a:xfrm>
          <a:prstGeom prst="wedgeRectCallout">
            <a:avLst>
              <a:gd name="adj1" fmla="val -68485"/>
              <a:gd name="adj2" fmla="val 64626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输入脉冲信号</a:t>
            </a:r>
          </a:p>
        </p:txBody>
      </p:sp>
      <p:sp>
        <p:nvSpPr>
          <p:cNvPr id="104" name="矩形标注 103"/>
          <p:cNvSpPr/>
          <p:nvPr/>
        </p:nvSpPr>
        <p:spPr>
          <a:xfrm>
            <a:off x="7154065" y="3682849"/>
            <a:ext cx="1584176" cy="579810"/>
          </a:xfrm>
          <a:prstGeom prst="wedgeRectCallout">
            <a:avLst>
              <a:gd name="adj1" fmla="val -72986"/>
              <a:gd name="adj2" fmla="val 15682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输出波形</a:t>
            </a:r>
          </a:p>
        </p:txBody>
      </p:sp>
      <p:sp>
        <p:nvSpPr>
          <p:cNvPr id="105" name="矩形标注 104"/>
          <p:cNvSpPr/>
          <p:nvPr/>
        </p:nvSpPr>
        <p:spPr>
          <a:xfrm>
            <a:off x="7151285" y="4403749"/>
            <a:ext cx="1584176" cy="579810"/>
          </a:xfrm>
          <a:prstGeom prst="wedgeRectCallout">
            <a:avLst>
              <a:gd name="adj1" fmla="val -72012"/>
              <a:gd name="adj2" fmla="val -35074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输入门控信号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" grpId="0" animBg="1"/>
      <p:bldP spid="104" grpId="0" animBg="1"/>
      <p:bldP spid="10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端口编址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755576" y="1412938"/>
            <a:ext cx="1512168" cy="4824536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07904" y="3550837"/>
            <a:ext cx="1368152" cy="2589002"/>
          </a:xfrm>
          <a:prstGeom prst="rect">
            <a:avLst/>
          </a:prstGeom>
          <a:noFill/>
          <a:ln>
            <a:solidFill>
              <a:srgbClr val="1D8D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012160" y="1412776"/>
            <a:ext cx="1368152" cy="2710361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797704" y="556706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A5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97704" y="53134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A6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00950" y="485986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A8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264498" y="5769365"/>
            <a:ext cx="507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264498" y="5044534"/>
            <a:ext cx="43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797704" y="429249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A4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00950" y="39858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A3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800950" y="364442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A2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2264498" y="4477158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264498" y="4170542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264498" y="3788436"/>
            <a:ext cx="144340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3779912" y="569626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G2B*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779912" y="5229200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G2A*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783158" y="4722176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79912" y="427663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783158" y="397002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B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783158" y="3628565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570925" y="571212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Y7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4570925" y="541673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Y6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570925" y="512135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Y5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570925" y="4235192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Y2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4570925" y="3939806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Y1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570925" y="364442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Y0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570925" y="4825964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Y4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570925" y="4530578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Y3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*</a:t>
            </a:r>
          </a:p>
        </p:txBody>
      </p:sp>
      <p:sp>
        <p:nvSpPr>
          <p:cNvPr id="51" name="流程图: 延期 50"/>
          <p:cNvSpPr/>
          <p:nvPr/>
        </p:nvSpPr>
        <p:spPr>
          <a:xfrm>
            <a:off x="2716586" y="5684633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2595001" y="5713276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1565181" y="586814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M/IO*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>
            <a:off x="2203706" y="6003663"/>
            <a:ext cx="5073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/>
          <p:cNvSpPr/>
          <p:nvPr/>
        </p:nvSpPr>
        <p:spPr>
          <a:xfrm>
            <a:off x="2583786" y="5940831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3220642" y="5830748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/>
          <p:nvPr/>
        </p:nvCxnSpPr>
        <p:spPr>
          <a:xfrm>
            <a:off x="3347864" y="5893439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822827" y="231325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822827" y="197179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61" name="直接连接符 60"/>
          <p:cNvCxnSpPr/>
          <p:nvPr/>
        </p:nvCxnSpPr>
        <p:spPr>
          <a:xfrm>
            <a:off x="2286375" y="2497916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2286375" y="2115810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6030791" y="231050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A1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030791" y="196905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A0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012160" y="3635732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CS*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691680" y="298782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1691680" y="2646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70" name="直接连接符 69"/>
          <p:cNvCxnSpPr/>
          <p:nvPr/>
        </p:nvCxnSpPr>
        <p:spPr>
          <a:xfrm>
            <a:off x="2264498" y="3213138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2264498" y="2831032"/>
            <a:ext cx="37257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/>
          <p:nvPr/>
        </p:nvSpPr>
        <p:spPr>
          <a:xfrm>
            <a:off x="6030791" y="2987822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WR*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6030791" y="2646366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RD*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4" name="左右箭头 73"/>
          <p:cNvSpPr/>
          <p:nvPr/>
        </p:nvSpPr>
        <p:spPr>
          <a:xfrm>
            <a:off x="2286375" y="1642654"/>
            <a:ext cx="3703908" cy="202332"/>
          </a:xfrm>
          <a:prstGeom prst="left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431772" y="153996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030791" y="1516304"/>
            <a:ext cx="909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D0~D7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755576" y="3629307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CPU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>
            <a:off x="5076056" y="3803769"/>
            <a:ext cx="9547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3707904" y="6118755"/>
            <a:ext cx="14189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74LS138</a:t>
            </a:r>
            <a:endParaRPr lang="zh-CN" altLang="en-US" sz="2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490325" y="2483604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IO</a:t>
            </a:r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芯片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1798166" y="4640876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A9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2" name="流程图: 延期 81"/>
          <p:cNvSpPr/>
          <p:nvPr/>
        </p:nvSpPr>
        <p:spPr>
          <a:xfrm>
            <a:off x="2699792" y="4722176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4" name="直接连接符 83"/>
          <p:cNvCxnSpPr/>
          <p:nvPr/>
        </p:nvCxnSpPr>
        <p:spPr>
          <a:xfrm>
            <a:off x="3203848" y="4938200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2253416" y="4844013"/>
            <a:ext cx="4352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2267744" y="5284816"/>
            <a:ext cx="41546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流程图: 延期 87"/>
          <p:cNvSpPr/>
          <p:nvPr/>
        </p:nvSpPr>
        <p:spPr>
          <a:xfrm>
            <a:off x="2715005" y="5190908"/>
            <a:ext cx="504056" cy="432048"/>
          </a:xfrm>
          <a:prstGeom prst="flowChartDela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/>
          <p:cNvSpPr/>
          <p:nvPr/>
        </p:nvSpPr>
        <p:spPr>
          <a:xfrm>
            <a:off x="2593420" y="5219551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连接符 106"/>
          <p:cNvCxnSpPr/>
          <p:nvPr/>
        </p:nvCxnSpPr>
        <p:spPr>
          <a:xfrm>
            <a:off x="2267744" y="5519114"/>
            <a:ext cx="3546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椭圆 107"/>
          <p:cNvSpPr/>
          <p:nvPr/>
        </p:nvSpPr>
        <p:spPr>
          <a:xfrm>
            <a:off x="2582205" y="5447106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3219061" y="5337023"/>
            <a:ext cx="144016" cy="14401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0" name="直接连接符 109"/>
          <p:cNvCxnSpPr/>
          <p:nvPr/>
        </p:nvCxnSpPr>
        <p:spPr>
          <a:xfrm>
            <a:off x="3363077" y="5408890"/>
            <a:ext cx="3448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文本框 110"/>
          <p:cNvSpPr txBox="1"/>
          <p:nvPr/>
        </p:nvSpPr>
        <p:spPr>
          <a:xfrm>
            <a:off x="1810266" y="508390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A7</a:t>
            </a:r>
            <a:endParaRPr lang="zh-CN" altLang="en-US" b="1" dirty="0">
              <a:solidFill>
                <a:schemeClr val="accent3">
                  <a:lumMod val="7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5399346" y="4745651"/>
            <a:ext cx="379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A9 A8 A7 A6 A5 A4 A3 A2  A1  A0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5399346" y="5034885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1     1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6145353" y="5034885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0    0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839947" y="50348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7182348" y="5044534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0   0    0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5330635" y="5665207"/>
            <a:ext cx="2576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四个端口：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300H~303H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78" name="文本框 126"/>
          <p:cNvSpPr txBox="1"/>
          <p:nvPr/>
        </p:nvSpPr>
        <p:spPr>
          <a:xfrm>
            <a:off x="8266861" y="5939988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  </a:t>
            </a:r>
            <a:r>
              <a:rPr lang="en-US" altLang="zh-CN" b="1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 b="1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</a:p>
        </p:txBody>
      </p:sp>
      <p:sp>
        <p:nvSpPr>
          <p:cNvPr id="79" name="文本框 126"/>
          <p:cNvSpPr txBox="1"/>
          <p:nvPr/>
        </p:nvSpPr>
        <p:spPr>
          <a:xfrm>
            <a:off x="8244408" y="505729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0    0</a:t>
            </a:r>
            <a:endParaRPr lang="en-US" altLang="zh-CN" b="1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1" name="文本框 126"/>
          <p:cNvSpPr txBox="1"/>
          <p:nvPr/>
        </p:nvSpPr>
        <p:spPr>
          <a:xfrm>
            <a:off x="8244408" y="536392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0    1</a:t>
            </a:r>
            <a:endParaRPr lang="en-US" altLang="zh-CN" b="1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3" name="文本框 126"/>
          <p:cNvSpPr txBox="1"/>
          <p:nvPr/>
        </p:nvSpPr>
        <p:spPr>
          <a:xfrm>
            <a:off x="8244408" y="565195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1    0</a:t>
            </a:r>
            <a:endParaRPr lang="en-US" altLang="zh-CN" b="1" dirty="0">
              <a:solidFill>
                <a:srgbClr val="FF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27" grpId="0"/>
      <p:bldP spid="128" grpId="0"/>
      <p:bldP spid="129" grpId="0"/>
      <p:bldP spid="130" grpId="0"/>
      <p:bldP spid="132" grpId="0"/>
      <p:bldP spid="78" grpId="0"/>
      <p:bldP spid="79" grpId="0"/>
      <p:bldP spid="81" grpId="0"/>
      <p:bldP spid="8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13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外部特性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编程结构</a:t>
            </a:r>
            <a:endParaRPr lang="en-US" altLang="zh-CN" sz="2400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en-US" altLang="zh-CN" sz="66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66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芯片特性</a:t>
            </a:r>
            <a:endParaRPr lang="zh-CN" altLang="en-US" sz="80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69192" y="1929442"/>
            <a:ext cx="1440160" cy="14401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数据总线缓冲器</a:t>
            </a:r>
          </a:p>
        </p:txBody>
      </p:sp>
      <p:sp>
        <p:nvSpPr>
          <p:cNvPr id="3" name="矩形 2"/>
          <p:cNvSpPr/>
          <p:nvPr/>
        </p:nvSpPr>
        <p:spPr>
          <a:xfrm>
            <a:off x="2169192" y="3440938"/>
            <a:ext cx="1440160" cy="169726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读写控制逻辑</a:t>
            </a:r>
          </a:p>
        </p:txBody>
      </p:sp>
      <p:sp>
        <p:nvSpPr>
          <p:cNvPr id="9" name="左右箭头 8"/>
          <p:cNvSpPr/>
          <p:nvPr/>
        </p:nvSpPr>
        <p:spPr>
          <a:xfrm>
            <a:off x="1100661" y="2505506"/>
            <a:ext cx="1080120" cy="288032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1460701" y="3729642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1460701" y="4017674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1449112" y="4305706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1464768" y="4593738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7"/>
          <p:cNvSpPr txBox="1"/>
          <p:nvPr/>
        </p:nvSpPr>
        <p:spPr>
          <a:xfrm>
            <a:off x="1001037" y="2081864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D0~D7</a:t>
            </a:r>
          </a:p>
        </p:txBody>
      </p:sp>
      <p:sp>
        <p:nvSpPr>
          <p:cNvPr id="16" name="TextBox 17"/>
          <p:cNvSpPr txBox="1"/>
          <p:nvPr/>
        </p:nvSpPr>
        <p:spPr>
          <a:xfrm>
            <a:off x="558473" y="3522025"/>
            <a:ext cx="1250679" cy="46076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RD*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473" y="3815373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8472" y="4108721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</a:p>
        </p:txBody>
      </p:sp>
      <p:sp>
        <p:nvSpPr>
          <p:cNvPr id="19" name="TextBox 17"/>
          <p:cNvSpPr txBox="1"/>
          <p:nvPr/>
        </p:nvSpPr>
        <p:spPr>
          <a:xfrm>
            <a:off x="558472" y="4381917"/>
            <a:ext cx="1250679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</a:t>
            </a:r>
          </a:p>
        </p:txBody>
      </p:sp>
      <p:sp>
        <p:nvSpPr>
          <p:cNvPr id="39" name="左右箭头 38"/>
          <p:cNvSpPr/>
          <p:nvPr/>
        </p:nvSpPr>
        <p:spPr>
          <a:xfrm>
            <a:off x="3597763" y="2505506"/>
            <a:ext cx="659661" cy="288032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150984" y="3796500"/>
            <a:ext cx="1587462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/>
          <p:cNvCxnSpPr/>
          <p:nvPr/>
        </p:nvCxnSpPr>
        <p:spPr>
          <a:xfrm flipH="1">
            <a:off x="3609352" y="5661248"/>
            <a:ext cx="314576" cy="0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2"/>
          <p:cNvSpPr>
            <a:spLocks noChangeArrowheads="1"/>
          </p:cNvSpPr>
          <p:nvPr/>
        </p:nvSpPr>
        <p:spPr bwMode="auto">
          <a:xfrm>
            <a:off x="902026" y="257769"/>
            <a:ext cx="2645121" cy="15192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</a:p>
          <a:p>
            <a:pPr algn="ctr" eaLnBrk="0" hangingPunct="0"/>
            <a:r>
              <a:rPr lang="zh-CN" altLang="en-US" sz="36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内部结构</a:t>
            </a:r>
            <a:endParaRPr lang="zh-CN" altLang="en-US" sz="36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>
            <a:off x="6746070" y="2853081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 flipV="1">
            <a:off x="6749257" y="3502972"/>
            <a:ext cx="43204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17"/>
          <p:cNvSpPr txBox="1"/>
          <p:nvPr/>
        </p:nvSpPr>
        <p:spPr>
          <a:xfrm>
            <a:off x="7223582" y="2636912"/>
            <a:ext cx="902230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CLK0</a:t>
            </a:r>
          </a:p>
        </p:txBody>
      </p:sp>
      <p:cxnSp>
        <p:nvCxnSpPr>
          <p:cNvPr id="89" name="直接箭头连接符 88"/>
          <p:cNvCxnSpPr/>
          <p:nvPr/>
        </p:nvCxnSpPr>
        <p:spPr>
          <a:xfrm flipH="1">
            <a:off x="6720127" y="3174027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17"/>
          <p:cNvSpPr txBox="1"/>
          <p:nvPr/>
        </p:nvSpPr>
        <p:spPr>
          <a:xfrm>
            <a:off x="7223582" y="2925089"/>
            <a:ext cx="962046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GATE0</a:t>
            </a: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1460752" y="4908246"/>
            <a:ext cx="720080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17"/>
          <p:cNvSpPr txBox="1"/>
          <p:nvPr/>
        </p:nvSpPr>
        <p:spPr>
          <a:xfrm>
            <a:off x="539552" y="4696425"/>
            <a:ext cx="1250679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CS*</a:t>
            </a:r>
          </a:p>
        </p:txBody>
      </p:sp>
      <p:sp>
        <p:nvSpPr>
          <p:cNvPr id="69" name="矩形 68"/>
          <p:cNvSpPr/>
          <p:nvPr/>
        </p:nvSpPr>
        <p:spPr>
          <a:xfrm>
            <a:off x="5148064" y="4941313"/>
            <a:ext cx="1587462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 flipH="1">
            <a:off x="6732339" y="3954418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/>
          <p:nvPr/>
        </p:nvCxnSpPr>
        <p:spPr>
          <a:xfrm flipV="1">
            <a:off x="6735526" y="4604309"/>
            <a:ext cx="43204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17"/>
          <p:cNvSpPr txBox="1"/>
          <p:nvPr/>
        </p:nvSpPr>
        <p:spPr>
          <a:xfrm>
            <a:off x="7209851" y="3738249"/>
            <a:ext cx="90223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CLK1</a:t>
            </a:r>
          </a:p>
        </p:txBody>
      </p:sp>
      <p:cxnSp>
        <p:nvCxnSpPr>
          <p:cNvPr id="85" name="直接箭头连接符 84"/>
          <p:cNvCxnSpPr/>
          <p:nvPr/>
        </p:nvCxnSpPr>
        <p:spPr>
          <a:xfrm flipH="1">
            <a:off x="6706396" y="4275364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17"/>
          <p:cNvSpPr txBox="1"/>
          <p:nvPr/>
        </p:nvSpPr>
        <p:spPr>
          <a:xfrm>
            <a:off x="7209851" y="4026426"/>
            <a:ext cx="962046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GATE1</a:t>
            </a:r>
          </a:p>
        </p:txBody>
      </p:sp>
      <p:cxnSp>
        <p:nvCxnSpPr>
          <p:cNvPr id="98" name="直接箭头连接符 97"/>
          <p:cNvCxnSpPr/>
          <p:nvPr/>
        </p:nvCxnSpPr>
        <p:spPr>
          <a:xfrm flipH="1">
            <a:off x="6729152" y="5111747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V="1">
            <a:off x="6732339" y="5761638"/>
            <a:ext cx="432048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17"/>
          <p:cNvSpPr txBox="1"/>
          <p:nvPr/>
        </p:nvSpPr>
        <p:spPr>
          <a:xfrm>
            <a:off x="7206664" y="4895578"/>
            <a:ext cx="90223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CLK2</a:t>
            </a:r>
          </a:p>
        </p:txBody>
      </p:sp>
      <p:sp>
        <p:nvSpPr>
          <p:cNvPr id="101" name="TextBox 17"/>
          <p:cNvSpPr txBox="1"/>
          <p:nvPr/>
        </p:nvSpPr>
        <p:spPr>
          <a:xfrm>
            <a:off x="7206664" y="5543795"/>
            <a:ext cx="92037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OUT2</a:t>
            </a:r>
          </a:p>
        </p:txBody>
      </p:sp>
      <p:cxnSp>
        <p:nvCxnSpPr>
          <p:cNvPr id="102" name="直接箭头连接符 101"/>
          <p:cNvCxnSpPr/>
          <p:nvPr/>
        </p:nvCxnSpPr>
        <p:spPr>
          <a:xfrm flipH="1">
            <a:off x="6703209" y="5432693"/>
            <a:ext cx="432048" cy="0"/>
          </a:xfrm>
          <a:prstGeom prst="straightConnector1">
            <a:avLst/>
          </a:prstGeom>
          <a:ln w="127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7"/>
          <p:cNvSpPr txBox="1"/>
          <p:nvPr/>
        </p:nvSpPr>
        <p:spPr>
          <a:xfrm>
            <a:off x="7206664" y="5183755"/>
            <a:ext cx="962046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GATE2</a:t>
            </a:r>
          </a:p>
        </p:txBody>
      </p:sp>
      <p:sp>
        <p:nvSpPr>
          <p:cNvPr id="104" name="TextBox 17"/>
          <p:cNvSpPr txBox="1"/>
          <p:nvPr/>
        </p:nvSpPr>
        <p:spPr>
          <a:xfrm>
            <a:off x="7209851" y="4386466"/>
            <a:ext cx="92037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OUT1</a:t>
            </a:r>
          </a:p>
        </p:txBody>
      </p:sp>
      <p:sp>
        <p:nvSpPr>
          <p:cNvPr id="105" name="TextBox 17"/>
          <p:cNvSpPr txBox="1"/>
          <p:nvPr/>
        </p:nvSpPr>
        <p:spPr>
          <a:xfrm>
            <a:off x="7223582" y="3285129"/>
            <a:ext cx="920370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OUT0</a:t>
            </a:r>
          </a:p>
        </p:txBody>
      </p:sp>
      <p:cxnSp>
        <p:nvCxnSpPr>
          <p:cNvPr id="106" name="直接箭头连接符 105"/>
          <p:cNvCxnSpPr/>
          <p:nvPr/>
        </p:nvCxnSpPr>
        <p:spPr>
          <a:xfrm>
            <a:off x="3923928" y="4805559"/>
            <a:ext cx="0" cy="855689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3609352" y="4795280"/>
            <a:ext cx="314576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3597763" y="4320750"/>
            <a:ext cx="1550301" cy="0"/>
          </a:xfrm>
          <a:prstGeom prst="line">
            <a:avLst/>
          </a:prstGeom>
          <a:ln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/>
          <p:cNvCxnSpPr/>
          <p:nvPr/>
        </p:nvCxnSpPr>
        <p:spPr>
          <a:xfrm>
            <a:off x="3609352" y="4555723"/>
            <a:ext cx="458592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/>
          <p:cNvCxnSpPr/>
          <p:nvPr/>
        </p:nvCxnSpPr>
        <p:spPr>
          <a:xfrm>
            <a:off x="4067944" y="4548945"/>
            <a:ext cx="0" cy="883748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>
            <a:off x="4067944" y="5432693"/>
            <a:ext cx="1053576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>
            <a:off x="3609352" y="3954418"/>
            <a:ext cx="458592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箭头连接符 114"/>
          <p:cNvCxnSpPr/>
          <p:nvPr/>
        </p:nvCxnSpPr>
        <p:spPr>
          <a:xfrm>
            <a:off x="4067944" y="3144928"/>
            <a:ext cx="0" cy="815497"/>
          </a:xfrm>
          <a:prstGeom prst="straightConnector1">
            <a:avLst/>
          </a:prstGeom>
          <a:ln w="1270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/>
          <p:cNvCxnSpPr/>
          <p:nvPr/>
        </p:nvCxnSpPr>
        <p:spPr>
          <a:xfrm>
            <a:off x="4067944" y="3144928"/>
            <a:ext cx="1091399" cy="0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>
            <a:off x="2915816" y="6097499"/>
            <a:ext cx="0" cy="283829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/>
          <p:nvPr/>
        </p:nvCxnSpPr>
        <p:spPr>
          <a:xfrm>
            <a:off x="2915816" y="6390730"/>
            <a:ext cx="187220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箭头连接符 118"/>
          <p:cNvCxnSpPr/>
          <p:nvPr/>
        </p:nvCxnSpPr>
        <p:spPr>
          <a:xfrm>
            <a:off x="4788024" y="3440938"/>
            <a:ext cx="0" cy="2940390"/>
          </a:xfrm>
          <a:prstGeom prst="straightConnector1">
            <a:avLst/>
          </a:prstGeom>
          <a:ln w="1270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/>
          <p:cNvCxnSpPr/>
          <p:nvPr/>
        </p:nvCxnSpPr>
        <p:spPr>
          <a:xfrm flipV="1">
            <a:off x="4788024" y="3422559"/>
            <a:ext cx="36004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箭头连接符 120"/>
          <p:cNvCxnSpPr/>
          <p:nvPr/>
        </p:nvCxnSpPr>
        <p:spPr>
          <a:xfrm flipV="1">
            <a:off x="4788024" y="4577246"/>
            <a:ext cx="36004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/>
          <p:cNvCxnSpPr/>
          <p:nvPr/>
        </p:nvCxnSpPr>
        <p:spPr>
          <a:xfrm flipV="1">
            <a:off x="4788024" y="5733255"/>
            <a:ext cx="360040" cy="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左右箭头 122"/>
          <p:cNvSpPr/>
          <p:nvPr/>
        </p:nvSpPr>
        <p:spPr>
          <a:xfrm>
            <a:off x="3608915" y="5867688"/>
            <a:ext cx="542972" cy="222480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4247850" y="1929442"/>
            <a:ext cx="177355" cy="459590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左右箭头 127"/>
          <p:cNvSpPr/>
          <p:nvPr/>
        </p:nvSpPr>
        <p:spPr>
          <a:xfrm>
            <a:off x="4382519" y="2772579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左右箭头 128"/>
          <p:cNvSpPr/>
          <p:nvPr/>
        </p:nvSpPr>
        <p:spPr>
          <a:xfrm>
            <a:off x="4382519" y="3941392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左右箭头 129"/>
          <p:cNvSpPr/>
          <p:nvPr/>
        </p:nvSpPr>
        <p:spPr>
          <a:xfrm>
            <a:off x="4357720" y="5097280"/>
            <a:ext cx="773327" cy="281278"/>
          </a:xfrm>
          <a:prstGeom prst="left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矩形 130"/>
          <p:cNvSpPr/>
          <p:nvPr/>
        </p:nvSpPr>
        <p:spPr>
          <a:xfrm>
            <a:off x="4647322" y="174460"/>
            <a:ext cx="4389173" cy="224642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1" name="曲线连接符 60"/>
          <p:cNvCxnSpPr/>
          <p:nvPr/>
        </p:nvCxnSpPr>
        <p:spPr>
          <a:xfrm rot="5400000" flipH="1" flipV="1">
            <a:off x="6064295" y="2480440"/>
            <a:ext cx="432087" cy="31290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5159343" y="2691797"/>
            <a:ext cx="1587462" cy="946083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/>
          <p:cNvSpPr/>
          <p:nvPr/>
        </p:nvSpPr>
        <p:spPr>
          <a:xfrm>
            <a:off x="4825026" y="33265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3" name="矩形 132"/>
          <p:cNvSpPr/>
          <p:nvPr/>
        </p:nvSpPr>
        <p:spPr>
          <a:xfrm>
            <a:off x="5940152" y="33265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6" name="矩形 135"/>
          <p:cNvSpPr/>
          <p:nvPr/>
        </p:nvSpPr>
        <p:spPr>
          <a:xfrm>
            <a:off x="4825026" y="1763793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7" name="矩形 136"/>
          <p:cNvSpPr/>
          <p:nvPr/>
        </p:nvSpPr>
        <p:spPr>
          <a:xfrm>
            <a:off x="5940152" y="1763793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41" name="下箭头 140"/>
          <p:cNvSpPr/>
          <p:nvPr/>
        </p:nvSpPr>
        <p:spPr>
          <a:xfrm>
            <a:off x="5868143" y="1556791"/>
            <a:ext cx="103501" cy="207001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/>
          <p:cNvSpPr/>
          <p:nvPr/>
        </p:nvSpPr>
        <p:spPr>
          <a:xfrm>
            <a:off x="4825026" y="106172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5" name="矩形 134"/>
          <p:cNvSpPr/>
          <p:nvPr/>
        </p:nvSpPr>
        <p:spPr>
          <a:xfrm>
            <a:off x="5940152" y="1061726"/>
            <a:ext cx="1118441" cy="513079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42" name="TextBox 17"/>
          <p:cNvSpPr txBox="1"/>
          <p:nvPr/>
        </p:nvSpPr>
        <p:spPr>
          <a:xfrm>
            <a:off x="7052974" y="369100"/>
            <a:ext cx="1886635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计数初值寄存器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TextBox 17"/>
          <p:cNvSpPr txBox="1"/>
          <p:nvPr/>
        </p:nvSpPr>
        <p:spPr>
          <a:xfrm>
            <a:off x="7071956" y="1093746"/>
            <a:ext cx="1886635" cy="4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减一计数寄存器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4" name="TextBox 17"/>
          <p:cNvSpPr txBox="1"/>
          <p:nvPr/>
        </p:nvSpPr>
        <p:spPr>
          <a:xfrm>
            <a:off x="7057100" y="1786667"/>
            <a:ext cx="1886635" cy="423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输出锁存寄存器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下箭头 144"/>
          <p:cNvSpPr/>
          <p:nvPr/>
        </p:nvSpPr>
        <p:spPr>
          <a:xfrm>
            <a:off x="5868144" y="836712"/>
            <a:ext cx="103501" cy="207001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169192" y="5301208"/>
            <a:ext cx="1440160" cy="864097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148" name="矩形 147"/>
          <p:cNvSpPr/>
          <p:nvPr/>
        </p:nvSpPr>
        <p:spPr>
          <a:xfrm>
            <a:off x="4769182" y="6157564"/>
            <a:ext cx="2546824" cy="449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几个端口作用是什么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6" grpId="0" animBg="1"/>
      <p:bldP spid="137" grpId="0" animBg="1"/>
      <p:bldP spid="141" grpId="0" animBg="1"/>
      <p:bldP spid="134" grpId="0" animBg="1"/>
      <p:bldP spid="135" grpId="0" animBg="1"/>
      <p:bldP spid="142" grpId="0"/>
      <p:bldP spid="143" grpId="0"/>
      <p:bldP spid="144" grpId="0"/>
      <p:bldP spid="145" grpId="0" animBg="1"/>
      <p:bldP spid="1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67545"/>
            <a:ext cx="6912768" cy="56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anose="05000000000000000000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编程结构：端口地址与寄存器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18197" y="2035917"/>
            <a:ext cx="2639880" cy="1257456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</a:t>
            </a: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788024" y="1412776"/>
            <a:ext cx="3751630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659334" y="1631435"/>
            <a:ext cx="2688712" cy="80111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计数初值寄存器</a:t>
            </a:r>
          </a:p>
        </p:txBody>
      </p:sp>
      <p:sp>
        <p:nvSpPr>
          <p:cNvPr id="19" name="矩形 18"/>
          <p:cNvSpPr/>
          <p:nvPr/>
        </p:nvSpPr>
        <p:spPr>
          <a:xfrm>
            <a:off x="5659334" y="2495531"/>
            <a:ext cx="2688712" cy="80111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输出锁存寄存器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当前计数器的值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17"/>
          <p:cNvSpPr txBox="1"/>
          <p:nvPr/>
        </p:nvSpPr>
        <p:spPr>
          <a:xfrm>
            <a:off x="4788024" y="1750198"/>
            <a:ext cx="943318" cy="58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17"/>
          <p:cNvSpPr txBox="1"/>
          <p:nvPr/>
        </p:nvSpPr>
        <p:spPr>
          <a:xfrm>
            <a:off x="4788024" y="2640793"/>
            <a:ext cx="943318" cy="583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827584" y="1412776"/>
            <a:ext cx="3126680" cy="2459930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左右箭头 27"/>
          <p:cNvSpPr/>
          <p:nvPr/>
        </p:nvSpPr>
        <p:spPr>
          <a:xfrm>
            <a:off x="3972629" y="2475705"/>
            <a:ext cx="798007" cy="377881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1141504" y="4523495"/>
            <a:ext cx="2639880" cy="905089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端口号的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A0A1=11</a:t>
            </a:r>
          </a:p>
        </p:txBody>
      </p:sp>
      <p:sp>
        <p:nvSpPr>
          <p:cNvPr id="31" name="矩形 30"/>
          <p:cNvSpPr/>
          <p:nvPr/>
        </p:nvSpPr>
        <p:spPr>
          <a:xfrm>
            <a:off x="4788024" y="4293096"/>
            <a:ext cx="3751630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686718" y="4523495"/>
            <a:ext cx="2688712" cy="80111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控制寄存器</a:t>
            </a:r>
          </a:p>
        </p:txBody>
      </p:sp>
      <p:sp>
        <p:nvSpPr>
          <p:cNvPr id="34" name="TextBox 17"/>
          <p:cNvSpPr txBox="1"/>
          <p:nvPr/>
        </p:nvSpPr>
        <p:spPr>
          <a:xfrm>
            <a:off x="4788024" y="4642258"/>
            <a:ext cx="943318" cy="533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3000"/>
              </a:lnSpc>
              <a:defRPr/>
            </a:pPr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只写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827584" y="4293096"/>
            <a:ext cx="3126680" cy="1364768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右箭头 37"/>
          <p:cNvSpPr/>
          <p:nvPr/>
        </p:nvSpPr>
        <p:spPr>
          <a:xfrm>
            <a:off x="4036137" y="4760424"/>
            <a:ext cx="705651" cy="43011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5010840" y="3368650"/>
            <a:ext cx="24486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相应计数器</a:t>
            </a:r>
            <a:r>
              <a:rPr lang="en-US" altLang="zh-CN" sz="24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0~2</a:t>
            </a:r>
            <a:endParaRPr lang="zh-CN" altLang="en-US" sz="2400" dirty="0">
              <a:solidFill>
                <a:srgbClr val="FF3255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99592" y="6021288"/>
            <a:ext cx="6408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定时和计数需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写入计数器初值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，计数需</a:t>
            </a:r>
            <a:r>
              <a:rPr lang="zh-CN" altLang="en-US" sz="2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读出计数器的值</a:t>
            </a: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331640" y="467545"/>
            <a:ext cx="6912768" cy="56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anose="05000000000000000000" pitchFamily="2" charset="2"/>
              <a:buNone/>
            </a:pPr>
            <a:r>
              <a:rPr lang="en-US" altLang="zh-CN" sz="3800" b="1" dirty="0" smtClean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800" b="1" dirty="0" smtClean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的寻址与选择表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247443"/>
            <a:ext cx="8352928" cy="48195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43" y="157306"/>
            <a:ext cx="1614899" cy="125547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anose="05000000000000000000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检测点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259631" y="2771363"/>
            <a:ext cx="7345027" cy="73843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ea typeface="微软雅黑" panose="020B0503020204020204" pitchFamily="34" charset="-122"/>
              </a:rPr>
              <a:t>每个计数通道与外设接口有哪些信号线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，每个信号线的用途是什么？</a:t>
            </a:r>
          </a:p>
        </p:txBody>
      </p:sp>
      <p:sp>
        <p:nvSpPr>
          <p:cNvPr id="7" name="矩形 6"/>
          <p:cNvSpPr/>
          <p:nvPr/>
        </p:nvSpPr>
        <p:spPr>
          <a:xfrm>
            <a:off x="1259632" y="3635459"/>
            <a:ext cx="7345028" cy="94566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ea typeface="微软雅黑" panose="020B0503020204020204" pitchFamily="34" charset="-122"/>
              </a:rPr>
              <a:t>占用几个端口？各个端口分别对应什么？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59420" y="1744898"/>
            <a:ext cx="7345028" cy="882448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ea typeface="微软雅黑" panose="020B0503020204020204" pitchFamily="34" charset="-122"/>
              </a:rPr>
              <a:t>有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个定时通道，每个计数器是</a:t>
            </a:r>
            <a:r>
              <a:rPr lang="zh-CN" altLang="en-US" sz="2000" b="1" u="sng" dirty="0">
                <a:ea typeface="微软雅黑" panose="020B0503020204020204" pitchFamily="34" charset="-122"/>
              </a:rPr>
              <a:t>           </a:t>
            </a:r>
            <a:r>
              <a:rPr lang="zh-CN" altLang="en-US" sz="2000" b="1" dirty="0">
                <a:ea typeface="微软雅黑" panose="020B0503020204020204" pitchFamily="34" charset="-122"/>
              </a:rPr>
              <a:t>位计数。每个计数器是加一计数还是</a:t>
            </a:r>
            <a:r>
              <a:rPr lang="zh-CN" altLang="en-US" sz="2000" b="1" dirty="0">
                <a:solidFill>
                  <a:srgbClr val="FFFF00"/>
                </a:solidFill>
                <a:ea typeface="微软雅黑" panose="020B0503020204020204" pitchFamily="34" charset="-122"/>
              </a:rPr>
              <a:t>减一</a:t>
            </a:r>
            <a:r>
              <a:rPr lang="zh-CN" altLang="en-US" sz="2000" b="1" dirty="0">
                <a:ea typeface="微软雅黑" panose="020B0503020204020204" pitchFamily="34" charset="-122"/>
              </a:rPr>
              <a:t>计数？</a:t>
            </a:r>
            <a:endParaRPr lang="zh-CN" altLang="en-US" sz="2000" b="1" u="sng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83568" y="1744898"/>
            <a:ext cx="538872" cy="8824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1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83568" y="2771362"/>
            <a:ext cx="538872" cy="7384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2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3568" y="3635458"/>
            <a:ext cx="538872" cy="94566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Arial Black" panose="020B0A04020102020204" pitchFamily="34" charset="0"/>
              </a:rPr>
              <a:t>3</a:t>
            </a:r>
            <a:endParaRPr lang="zh-CN" altLang="en-US" sz="32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18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控制字格式</a:t>
            </a:r>
            <a:endParaRPr lang="en-US" altLang="zh-CN" sz="2400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工作方式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465267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SC1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401371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SC0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337475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RW1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273579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RW0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145787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M1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081891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M0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7017995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BCD</a:t>
            </a:r>
            <a:endParaRPr lang="zh-CN" altLang="en-US" sz="2000" b="1" dirty="0"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209683" y="1556792"/>
            <a:ext cx="891183" cy="723899"/>
          </a:xfrm>
          <a:prstGeom prst="roundRect">
            <a:avLst>
              <a:gd name="adj" fmla="val 435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ea typeface="微软雅黑" panose="020B0503020204020204" pitchFamily="34" charset="-122"/>
              </a:rPr>
              <a:t>M2</a:t>
            </a:r>
            <a:endParaRPr lang="zh-CN" altLang="en-US" sz="1600" b="1" dirty="0"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971600" y="292494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450043" y="2276872"/>
            <a:ext cx="0" cy="5049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09283" y="2276872"/>
            <a:ext cx="0" cy="11900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833419" y="2279802"/>
            <a:ext cx="0" cy="645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338349" y="3501008"/>
          <a:ext cx="207113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950"/>
                <a:gridCol w="432048"/>
                <a:gridCol w="12241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选计数器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选计数器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选计数器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无意义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圆角矩形 20"/>
          <p:cNvSpPr/>
          <p:nvPr/>
        </p:nvSpPr>
        <p:spPr>
          <a:xfrm>
            <a:off x="6660232" y="2689234"/>
            <a:ext cx="2376264" cy="638346"/>
          </a:xfrm>
          <a:prstGeom prst="roundRect">
            <a:avLst>
              <a:gd name="adj" fmla="val 435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ea typeface="微软雅黑" panose="020B0503020204020204" pitchFamily="34" charset="-122"/>
              </a:rPr>
              <a:t>：计数值为</a:t>
            </a:r>
            <a:r>
              <a:rPr lang="en-US" altLang="zh-CN" sz="1600" dirty="0">
                <a:ea typeface="微软雅黑" panose="020B0503020204020204" pitchFamily="34" charset="-122"/>
              </a:rPr>
              <a:t>BCD</a:t>
            </a:r>
            <a:r>
              <a:rPr lang="zh-CN" altLang="en-US" sz="1600" dirty="0">
                <a:ea typeface="微软雅黑" panose="020B0503020204020204" pitchFamily="34" charset="-122"/>
              </a:rPr>
              <a:t>码格式</a:t>
            </a:r>
            <a:endParaRPr lang="en-US" altLang="zh-CN" sz="1600" dirty="0">
              <a:ea typeface="微软雅黑" panose="020B0503020204020204" pitchFamily="34" charset="-122"/>
            </a:endParaRPr>
          </a:p>
          <a:p>
            <a:r>
              <a:rPr lang="en-US" altLang="zh-CN" sz="1600" dirty="0"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ea typeface="微软雅黑" panose="020B0503020204020204" pitchFamily="34" charset="-122"/>
              </a:rPr>
              <a:t>：计数值为二进制格式</a:t>
            </a:r>
          </a:p>
        </p:txBody>
      </p:sp>
      <p:cxnSp>
        <p:nvCxnSpPr>
          <p:cNvPr id="23" name="直接连接符 2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24" name="Rectangle 2"/>
          <p:cNvSpPr>
            <a:spLocks noChangeArrowheads="1"/>
          </p:cNvSpPr>
          <p:nvPr/>
        </p:nvSpPr>
        <p:spPr bwMode="auto">
          <a:xfrm>
            <a:off x="3702006" y="419266"/>
            <a:ext cx="1739987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eaLnBrk="0" hangingPunct="0">
              <a:buFont typeface="Wingdings" panose="05000000000000000000" pitchFamily="2" charset="2"/>
              <a:buNone/>
            </a:pPr>
            <a:r>
              <a:rPr lang="zh-CN" altLang="en-US" sz="38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</a:t>
            </a:r>
            <a:endParaRPr lang="zh-CN" altLang="en-US" sz="3200" b="1" dirty="0">
              <a:solidFill>
                <a:prstClr val="white">
                  <a:lumMod val="65000"/>
                </a:prstClr>
              </a:solidFill>
              <a:latin typeface="Arial" panose="020B0604020202020204"/>
              <a:ea typeface="微软雅黑" panose="020B0503020204020204" pitchFamily="34" charset="-122"/>
              <a:cs typeface="Arial" panose="020B0604020202020204"/>
            </a:endParaRPr>
          </a:p>
        </p:txBody>
      </p:sp>
      <p:cxnSp>
        <p:nvCxnSpPr>
          <p:cNvPr id="29" name="直接连接符 28"/>
          <p:cNvCxnSpPr/>
          <p:nvPr/>
        </p:nvCxnSpPr>
        <p:spPr>
          <a:xfrm>
            <a:off x="971600" y="2924944"/>
            <a:ext cx="8618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2783066" y="2280691"/>
            <a:ext cx="0" cy="12203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9" name="表格 38"/>
          <p:cNvGraphicFramePr>
            <a:graphicFrameLocks noGrp="1"/>
          </p:cNvGraphicFramePr>
          <p:nvPr/>
        </p:nvGraphicFramePr>
        <p:xfrm>
          <a:off x="2625506" y="3501008"/>
          <a:ext cx="247535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5829"/>
                <a:gridCol w="429858"/>
                <a:gridCol w="152967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对计数器进行锁存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只读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写低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位字节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只读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写高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8</a:t>
                      </a:r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位字节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先读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写低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位字节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再读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写高</a:t>
                      </a:r>
                      <a:r>
                        <a:rPr lang="en-US" altLang="zh-CN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a typeface="微软雅黑" panose="020B0503020204020204" pitchFamily="34" charset="-122"/>
                        </a:rPr>
                        <a:t>位字节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cxnSp>
        <p:nvCxnSpPr>
          <p:cNvPr id="41" name="直接连接符 40"/>
          <p:cNvCxnSpPr/>
          <p:nvPr/>
        </p:nvCxnSpPr>
        <p:spPr>
          <a:xfrm>
            <a:off x="3777635" y="2279802"/>
            <a:ext cx="0" cy="645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347864" y="2924944"/>
            <a:ext cx="4297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3347864" y="292494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698817" y="2249550"/>
            <a:ext cx="0" cy="891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5511657" y="2249550"/>
            <a:ext cx="67" cy="6753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endCxn id="51" idx="0"/>
          </p:cNvCxnSpPr>
          <p:nvPr/>
        </p:nvCxnSpPr>
        <p:spPr>
          <a:xfrm>
            <a:off x="6513939" y="2279802"/>
            <a:ext cx="11841" cy="12297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表格 50"/>
          <p:cNvGraphicFramePr>
            <a:graphicFrameLocks noGrp="1"/>
          </p:cNvGraphicFramePr>
          <p:nvPr/>
        </p:nvGraphicFramePr>
        <p:xfrm>
          <a:off x="5313486" y="3509558"/>
          <a:ext cx="242458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373"/>
                <a:gridCol w="504056"/>
                <a:gridCol w="504056"/>
                <a:gridCol w="93610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模式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  <a:endParaRPr lang="zh-CN" altLang="en-US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模式</a:t>
                      </a:r>
                      <a:r>
                        <a:rPr lang="en-US" altLang="zh-CN" sz="1800" b="0" kern="12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微软雅黑" panose="020B0503020204020204" pitchFamily="34" charset="-122"/>
                          <a:cs typeface="+mn-cs"/>
                        </a:rPr>
                        <a:t>5</a:t>
                      </a:r>
                      <a:endParaRPr lang="zh-CN" altLang="en-US" sz="1800" b="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0" name="直接连接符 59"/>
          <p:cNvCxnSpPr/>
          <p:nvPr/>
        </p:nvCxnSpPr>
        <p:spPr>
          <a:xfrm>
            <a:off x="5511657" y="2924944"/>
            <a:ext cx="52531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>
            <a:off x="6029719" y="2933494"/>
            <a:ext cx="0" cy="576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4698817" y="3140968"/>
            <a:ext cx="8128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5511657" y="3145602"/>
            <a:ext cx="0" cy="3639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214237" y="2498029"/>
            <a:ext cx="2373987" cy="833660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sz="2200" b="1" dirty="0">
                <a:ea typeface="微软雅黑" panose="020B0503020204020204" pitchFamily="34" charset="-122"/>
              </a:rPr>
              <a:t>设定十进制或二进制计数方式。</a:t>
            </a:r>
            <a:endParaRPr lang="en-US" altLang="zh-CN" sz="2200" b="1" dirty="0">
              <a:solidFill>
                <a:srgbClr val="FFFF00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3" grpId="0" animBg="1"/>
      <p:bldP spid="33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控制字的解读：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RW1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RW0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/>
          <p:nvPr/>
        </p:nvSpPr>
        <p:spPr>
          <a:xfrm>
            <a:off x="2694902" y="1484784"/>
            <a:ext cx="5909546" cy="10801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对某个（高两位决定）计数器发出的锁存命令，此时控制字的低四位无用。</a:t>
            </a:r>
          </a:p>
        </p:txBody>
      </p:sp>
      <p:sp>
        <p:nvSpPr>
          <p:cNvPr id="10" name="矩形 9"/>
          <p:cNvSpPr/>
          <p:nvPr/>
        </p:nvSpPr>
        <p:spPr>
          <a:xfrm>
            <a:off x="755576" y="1484784"/>
            <a:ext cx="1939326" cy="108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0     0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8170" y="2780928"/>
            <a:ext cx="8076565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 设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8253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的端口地址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300H~303H, 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读取计数器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的当前计数值，试写</a:t>
            </a:r>
          </a:p>
          <a:p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初始化程序。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15060" y="3573016"/>
            <a:ext cx="599757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DX, 303H    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控制寄存器端口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AL, 00H        ;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锁存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DX, AL           ; 发送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锁存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  <a:p>
            <a:pPr algn="l"/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DX, 300H     ; 计数器0端口</a:t>
            </a:r>
          </a:p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AL, DX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; 从计数器0读取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2"/>
          <p:cNvSpPr txBox="1"/>
          <p:nvPr/>
        </p:nvSpPr>
        <p:spPr>
          <a:xfrm>
            <a:off x="1115060" y="5301208"/>
            <a:ext cx="5997575" cy="101566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AH, AL          </a:t>
            </a:r>
          </a:p>
          <a:p>
            <a:pPr algn="l"/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 DX</a:t>
            </a:r>
            <a:r>
              <a:rPr lang="en-US" altLang="zh-CN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         ; 从计数器0读取</a:t>
            </a:r>
            <a:r>
              <a:rPr lang="zh-CN" altLang="en-US" sz="20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endParaRPr lang="en-US" altLang="zh-CN" sz="2000" b="1" dirty="0" smtClean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/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XCHG AH,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         ; AH=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位，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AL=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</a:t>
            </a:r>
            <a:r>
              <a:rPr lang="en-US" altLang="zh-CN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sz="20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endParaRPr lang="en-US" altLang="zh-CN" sz="20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0" grpId="0" bldLvl="0" animBg="1"/>
      <p:bldP spid="2" grpId="0"/>
      <p:bldP spid="2" grpId="1"/>
      <p:bldP spid="3" grpId="0"/>
      <p:bldP spid="3" grpId="1"/>
      <p:bldP spid="11" grpId="0" animBg="1"/>
      <p:bldP spid="1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控制字的解读：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RW1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RW0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2694902" y="1560840"/>
            <a:ext cx="5909546" cy="1296144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设定计数器的计数初值写入或计数值的读取方法。</a:t>
            </a:r>
            <a:r>
              <a:rPr lang="zh-CN" altLang="en-US" sz="2400" b="1" dirty="0">
                <a:solidFill>
                  <a:srgbClr val="FFFF00"/>
                </a:solidFill>
                <a:ea typeface="微软雅黑" panose="020B0503020204020204" pitchFamily="34" charset="-122"/>
              </a:rPr>
              <a:t>为什么要这么设计？解决</a:t>
            </a:r>
            <a:r>
              <a:rPr lang="en-US" altLang="zh-CN" sz="2400" b="1" dirty="0">
                <a:solidFill>
                  <a:srgbClr val="FFFF00"/>
                </a:solidFill>
                <a:ea typeface="微软雅黑" panose="020B0503020204020204" pitchFamily="34" charset="-122"/>
              </a:rPr>
              <a:t>16</a:t>
            </a:r>
            <a:r>
              <a:rPr lang="zh-CN" altLang="en-US" sz="2400" b="1" dirty="0">
                <a:solidFill>
                  <a:srgbClr val="FFFF00"/>
                </a:solidFill>
                <a:ea typeface="微软雅黑" panose="020B0503020204020204" pitchFamily="34" charset="-122"/>
              </a:rPr>
              <a:t>位计数器，而每个计数器只有一个端口的问题。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1560840"/>
            <a:ext cx="1939326" cy="129614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0     1</a:t>
            </a:r>
          </a:p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1     0</a:t>
            </a:r>
          </a:p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1     1</a:t>
            </a:r>
          </a:p>
        </p:txBody>
      </p:sp>
      <p:sp>
        <p:nvSpPr>
          <p:cNvPr id="11" name="矩形 10"/>
          <p:cNvSpPr>
            <a:spLocks noChangeAspect="1"/>
          </p:cNvSpPr>
          <p:nvPr/>
        </p:nvSpPr>
        <p:spPr>
          <a:xfrm>
            <a:off x="755576" y="3067102"/>
            <a:ext cx="7848872" cy="1806106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 rot="16200000">
            <a:off x="747479" y="3181758"/>
            <a:ext cx="968358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9"/>
          <p:cNvSpPr txBox="1"/>
          <p:nvPr/>
        </p:nvSpPr>
        <p:spPr>
          <a:xfrm>
            <a:off x="988342" y="3133281"/>
            <a:ext cx="461665" cy="10198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</a:t>
            </a:r>
          </a:p>
        </p:txBody>
      </p:sp>
      <p:sp>
        <p:nvSpPr>
          <p:cNvPr id="14" name="TextBox 17"/>
          <p:cNvSpPr txBox="1"/>
          <p:nvPr/>
        </p:nvSpPr>
        <p:spPr>
          <a:xfrm>
            <a:off x="1692564" y="3073008"/>
            <a:ext cx="669586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若控制字里规定只写低八位，则写入低八位，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en-US" altLang="zh-CN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位自动置</a:t>
            </a:r>
            <a:r>
              <a:rPr lang="en-US" altLang="zh-CN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；若只写高八位，则写入高八位，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位自动置</a:t>
            </a:r>
            <a:r>
              <a:rPr lang="en-US" altLang="zh-CN" sz="20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若是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位计数值，则分两次写入，先写入低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位，再写入高八位。（读取也需要分两次）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11" grpId="0" bldLvl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控制字的解读：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计数方式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7" name="矩形 6"/>
          <p:cNvSpPr/>
          <p:nvPr/>
        </p:nvSpPr>
        <p:spPr>
          <a:xfrm>
            <a:off x="2694902" y="2690128"/>
            <a:ext cx="5909546" cy="88288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采用二进制减法计数。</a:t>
            </a:r>
          </a:p>
        </p:txBody>
      </p:sp>
      <p:sp>
        <p:nvSpPr>
          <p:cNvPr id="8" name="矩形 7"/>
          <p:cNvSpPr/>
          <p:nvPr/>
        </p:nvSpPr>
        <p:spPr>
          <a:xfrm>
            <a:off x="755576" y="2690128"/>
            <a:ext cx="1939326" cy="88288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二进制计数</a:t>
            </a:r>
            <a:endParaRPr lang="en-US" altLang="zh-CN" sz="2400" b="1" dirty="0"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94902" y="1700808"/>
            <a:ext cx="5909546" cy="845303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十进制计数：实现方法采用</a:t>
            </a:r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减法计数。</a:t>
            </a:r>
          </a:p>
        </p:txBody>
      </p:sp>
      <p:sp>
        <p:nvSpPr>
          <p:cNvPr id="10" name="矩形 9"/>
          <p:cNvSpPr/>
          <p:nvPr/>
        </p:nvSpPr>
        <p:spPr>
          <a:xfrm>
            <a:off x="755576" y="1700808"/>
            <a:ext cx="1939326" cy="84530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ea typeface="微软雅黑" panose="020B0503020204020204" pitchFamily="34" charset="-122"/>
              </a:rPr>
              <a:t>BCD</a:t>
            </a:r>
            <a:r>
              <a:rPr lang="zh-CN" altLang="en-US" sz="2400" b="1" dirty="0">
                <a:ea typeface="微软雅黑" panose="020B0503020204020204" pitchFamily="34" charset="-122"/>
              </a:rPr>
              <a:t>计数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>
            <a:spLocks noChangeAspect="1"/>
          </p:cNvSpPr>
          <p:nvPr/>
        </p:nvSpPr>
        <p:spPr>
          <a:xfrm>
            <a:off x="755576" y="4130590"/>
            <a:ext cx="7848872" cy="156966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 rot="16200000">
            <a:off x="756950" y="4235775"/>
            <a:ext cx="949416" cy="63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9"/>
          <p:cNvSpPr txBox="1"/>
          <p:nvPr/>
        </p:nvSpPr>
        <p:spPr>
          <a:xfrm>
            <a:off x="988342" y="4196769"/>
            <a:ext cx="461665" cy="99989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564" y="4305597"/>
            <a:ext cx="6695860" cy="132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的减一计数规则：先减一再判断是否为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若以二进制计数，最大计数次数是多少？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若以十进制计数，最大计数次数是多少？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732240" y="4797152"/>
            <a:ext cx="1406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baseline="30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=65536</a:t>
            </a:r>
            <a:endParaRPr lang="zh-CN" altLang="en-US" dirty="0">
              <a:solidFill>
                <a:srgbClr val="FF3255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6732240" y="5196667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en-US" altLang="zh-CN" b="1" baseline="30000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=10000</a:t>
            </a:r>
            <a:endParaRPr lang="zh-CN" altLang="en-US" dirty="0">
              <a:solidFill>
                <a:srgbClr val="FF325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5" grpId="0" animBg="1"/>
      <p:bldP spid="17" grpId="0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 bwMode="auto">
          <a:xfrm>
            <a:off x="1619250" y="69343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259210" y="12121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的初始化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619250" y="69343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矩形 8"/>
          <p:cNvSpPr/>
          <p:nvPr/>
        </p:nvSpPr>
        <p:spPr>
          <a:xfrm>
            <a:off x="2694940" y="1921510"/>
            <a:ext cx="5909310" cy="96012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计数初始值经由各计数器的端口地址写入。</a:t>
            </a:r>
          </a:p>
        </p:txBody>
      </p:sp>
      <p:sp>
        <p:nvSpPr>
          <p:cNvPr id="10" name="矩形 9"/>
          <p:cNvSpPr/>
          <p:nvPr/>
        </p:nvSpPr>
        <p:spPr>
          <a:xfrm>
            <a:off x="720090" y="1921510"/>
            <a:ext cx="1974850" cy="95948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写入计数初始值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694940" y="840105"/>
            <a:ext cx="5909310" cy="960120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ea typeface="微软雅黑" panose="020B0503020204020204" pitchFamily="34" charset="-122"/>
              </a:rPr>
              <a:t>任一计数器的控制字都要从控制口写入，控制哪个计数器由控制字的</a:t>
            </a:r>
            <a:r>
              <a:rPr lang="en-US" altLang="zh-CN" sz="2400" b="1" dirty="0">
                <a:ea typeface="微软雅黑" panose="020B0503020204020204" pitchFamily="34" charset="-122"/>
              </a:rPr>
              <a:t>D7D6</a:t>
            </a:r>
            <a:r>
              <a:rPr lang="zh-CN" altLang="en-US" sz="2400" b="1" dirty="0">
                <a:ea typeface="微软雅黑" panose="020B0503020204020204" pitchFamily="34" charset="-122"/>
              </a:rPr>
              <a:t>位来决定。</a:t>
            </a:r>
          </a:p>
        </p:txBody>
      </p:sp>
      <p:sp>
        <p:nvSpPr>
          <p:cNvPr id="12" name="矩形 11"/>
          <p:cNvSpPr/>
          <p:nvPr/>
        </p:nvSpPr>
        <p:spPr>
          <a:xfrm>
            <a:off x="720090" y="840105"/>
            <a:ext cx="1974850" cy="960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ea typeface="微软雅黑" panose="020B0503020204020204" pitchFamily="34" charset="-122"/>
              </a:rPr>
              <a:t>写入控制字</a:t>
            </a:r>
            <a:endParaRPr lang="zh-CN" altLang="en-US" sz="2400" dirty="0"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3935" y="3592195"/>
            <a:ext cx="5997575" cy="30251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DX, 303H     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控制寄存器端口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AL, 36H        ;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 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00110110B</a:t>
            </a: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DX, AL           ;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DX, 300H     ; 计数器0端口</a:t>
            </a: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AX, 2000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 ;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初值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2000</a:t>
            </a: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OUT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DX, AL           ;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写入低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XCHG AH, AL        </a:t>
            </a:r>
          </a:p>
          <a:p>
            <a:pPr algn="l" fontAlgn="auto">
              <a:lnSpc>
                <a:spcPts val="2860"/>
              </a:lnSpc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OUT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DX, AL           ; 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写入高</a:t>
            </a:r>
            <a:r>
              <a:rPr lang="en-US" altLang="zh-CN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8170" y="2929890"/>
            <a:ext cx="815340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 设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8253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的端口地址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300H~303H,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计数器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0,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工作方式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3, 16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位计数器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</a:p>
          <a:p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二进制模式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, 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初值</a:t>
            </a: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2000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，试写初始化程序。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215" y="3501008"/>
            <a:ext cx="3208759" cy="2648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6"/>
          <p:cNvSpPr/>
          <p:nvPr/>
        </p:nvSpPr>
        <p:spPr>
          <a:xfrm>
            <a:off x="8715320" y="3636645"/>
            <a:ext cx="4651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</a:t>
            </a:r>
            <a:endParaRPr lang="zh-CN" altLang="en-US" sz="1600" dirty="0"/>
          </a:p>
        </p:txBody>
      </p:sp>
      <p:sp>
        <p:nvSpPr>
          <p:cNvPr id="13" name="矩形 12"/>
          <p:cNvSpPr/>
          <p:nvPr/>
        </p:nvSpPr>
        <p:spPr>
          <a:xfrm>
            <a:off x="8740968" y="4136422"/>
            <a:ext cx="4395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7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8461631" y="6348095"/>
            <a:ext cx="360000" cy="360000"/>
          </a:xfrm>
          <a:prstGeom prst="ellipse">
            <a:avLst/>
          </a:prstGeom>
          <a:solidFill>
            <a:schemeClr val="bg1">
              <a:lumMod val="75000"/>
              <a:alpha val="3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/>
          <p:cNvSpPr txBox="1"/>
          <p:nvPr/>
        </p:nvSpPr>
        <p:spPr>
          <a:xfrm>
            <a:off x="8316416" y="6358818"/>
            <a:ext cx="650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2EEF1883-7A0E-4F66-9932-E581691AD397}" type="slidenum">
              <a:rPr lang="zh-CN" altLang="en-US" sz="160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24</a:t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endParaRPr lang="zh-CN" altLang="en-US" sz="16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966244" y="4119885"/>
            <a:ext cx="3405956" cy="1253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67730" tIns="33865" rIns="67730" bIns="33865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控制字格式</a:t>
            </a:r>
            <a:endParaRPr lang="en-US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620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工作方式</a:t>
            </a:r>
            <a:endParaRPr lang="en-US" altLang="zh-CN" sz="2400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1620044" y="1848644"/>
            <a:ext cx="1107996" cy="369332"/>
          </a:xfrm>
          <a:prstGeom prst="rect">
            <a:avLst/>
          </a:prstGeom>
          <a:solidFill>
            <a:sysClr val="window" lastClr="FFFFFF">
              <a:lumMod val="85000"/>
            </a:sysClr>
          </a:solidFill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第二小节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1404144" y="2207419"/>
            <a:ext cx="6264275" cy="1587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cxnSp>
        <p:nvCxnSpPr>
          <p:cNvPr id="15" name="直接连接符 14"/>
          <p:cNvCxnSpPr/>
          <p:nvPr/>
        </p:nvCxnSpPr>
        <p:spPr>
          <a:xfrm>
            <a:off x="1475582" y="3936206"/>
            <a:ext cx="6264275" cy="1588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85000"/>
              </a:sysClr>
            </a:solidFill>
            <a:prstDash val="solid"/>
          </a:ln>
          <a:effectLst/>
        </p:spPr>
      </p:cxnSp>
      <p:sp>
        <p:nvSpPr>
          <p:cNvPr id="16" name="TextBox 10"/>
          <p:cNvSpPr txBox="1">
            <a:spLocks noChangeArrowheads="1"/>
          </p:cNvSpPr>
          <p:nvPr/>
        </p:nvSpPr>
        <p:spPr bwMode="auto">
          <a:xfrm>
            <a:off x="1475697" y="2491517"/>
            <a:ext cx="6985934" cy="11621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14000"/>
              </a:lnSpc>
            </a:pPr>
            <a:r>
              <a:rPr lang="zh-CN" altLang="en-US" sz="6600" b="1" dirty="0">
                <a:solidFill>
                  <a:srgbClr val="00C4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控制字和工作方式</a:t>
            </a:r>
            <a:endParaRPr lang="zh-CN" altLang="en-US" sz="80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zh-CN" altLang="en-US" sz="32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共同点（软件启动）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118585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54589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54589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90593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90593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226597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226597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62601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62601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98605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98605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334609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334609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70613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70613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406617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406617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442621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442621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78625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78625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14882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14882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50886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50886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586890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586890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22894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22894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58898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58898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694902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94902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30906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30906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66910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66910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02914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029143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389183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389183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1185853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545893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545893" y="2458528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3346093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3345815" y="2098675"/>
            <a:ext cx="5113020" cy="33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1185853" y="2745692"/>
            <a:ext cx="3780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等腰三角形 69"/>
          <p:cNvSpPr/>
          <p:nvPr/>
        </p:nvSpPr>
        <p:spPr>
          <a:xfrm>
            <a:off x="3616123" y="154625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10800000">
            <a:off x="3976162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696243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40691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131293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6859013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0800000">
            <a:off x="7579093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 rot="10800000">
            <a:off x="8299173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0" name="直接连接符 79"/>
          <p:cNvCxnSpPr/>
          <p:nvPr/>
        </p:nvCxnSpPr>
        <p:spPr>
          <a:xfrm>
            <a:off x="4966273" y="2746957"/>
            <a:ext cx="1044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6010275" y="2745740"/>
            <a:ext cx="2592705" cy="34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1475740" y="3789045"/>
            <a:ext cx="6264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7683568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7738745" y="3357245"/>
            <a:ext cx="9359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3"/>
          <p:cNvSpPr>
            <a:spLocks noChangeArrowheads="1"/>
          </p:cNvSpPr>
          <p:nvPr/>
        </p:nvSpPr>
        <p:spPr bwMode="auto">
          <a:xfrm>
            <a:off x="3778141" y="3223695"/>
            <a:ext cx="360040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4066172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786253" y="1815040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3"/>
          <p:cNvSpPr>
            <a:spLocks noChangeArrowheads="1"/>
          </p:cNvSpPr>
          <p:nvPr/>
        </p:nvSpPr>
        <p:spPr bwMode="auto">
          <a:xfrm>
            <a:off x="4545339" y="3223695"/>
            <a:ext cx="384930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5369077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057656" y="322610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784809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7511962" y="3217744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359281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373710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215771" y="2753628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506" y="333936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4275804"/>
            <a:ext cx="8546193" cy="230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3000"/>
              </a:lnSpc>
              <a:buFont typeface="Wingdings" panose="05000000000000000000" charset="0"/>
              <a:buChar char="n"/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端进入初始状态，方式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低电平，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其它方式为高电平。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写入计数初值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暂存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写信号后沿经一个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上升沿，验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？如是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计数初值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，开始计数。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每过一个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计数器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减为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OUT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输出电平跳变（高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低或低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-&gt;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高）。</a:t>
            </a:r>
            <a:endParaRPr lang="zh-CN" altLang="en-US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487293" y="1870285"/>
            <a:ext cx="0" cy="1902604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6188333" y="1853775"/>
            <a:ext cx="0" cy="1902604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961128" y="1837265"/>
            <a:ext cx="0" cy="1902604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7662168" y="1820755"/>
            <a:ext cx="0" cy="1902604"/>
          </a:xfrm>
          <a:prstGeom prst="line">
            <a:avLst/>
          </a:prstGeom>
          <a:noFill/>
          <a:ln w="9525" cap="flat" cmpd="sng" algn="ctr">
            <a:solidFill>
              <a:srgbClr val="00B050"/>
            </a:solidFill>
            <a:prstDash val="lg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113790" y="3356610"/>
            <a:ext cx="360045" cy="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H="1" flipV="1">
            <a:off x="1457325" y="3374390"/>
            <a:ext cx="18415" cy="414655"/>
          </a:xfrm>
          <a:prstGeom prst="line">
            <a:avLst/>
          </a:prstGeom>
          <a:noFill/>
          <a:ln w="9525" cap="flat" cmpd="sng" algn="ctr">
            <a:solidFill>
              <a:srgbClr val="4F81BD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97280" y="3770630"/>
            <a:ext cx="360045" cy="0"/>
          </a:xfrm>
          <a:prstGeom prst="line">
            <a:avLst/>
          </a:prstGeom>
          <a:noFill/>
          <a:ln w="9525" cap="flat" cmpd="sng" algn="ctr">
            <a:solidFill>
              <a:srgbClr val="9BBB59"/>
            </a:solidFill>
            <a:prstDash val="sysDash"/>
          </a:ln>
          <a:effectLst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3707904" y="177281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88"/>
          <p:cNvSpPr/>
          <p:nvPr/>
        </p:nvSpPr>
        <p:spPr>
          <a:xfrm>
            <a:off x="1547664" y="2215897"/>
            <a:ext cx="17267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写控制字，写初值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n=5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的工作过程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9" name="TextBox 17"/>
          <p:cNvSpPr txBox="1"/>
          <p:nvPr/>
        </p:nvSpPr>
        <p:spPr>
          <a:xfrm>
            <a:off x="827584" y="1334365"/>
            <a:ext cx="7776864" cy="4592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的工作方式：</a:t>
            </a:r>
            <a:endParaRPr lang="en-US" altLang="zh-CN" sz="2400" b="1" dirty="0">
              <a:solidFill>
                <a:srgbClr val="FD7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3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此时，全部控制逻辑电路复位，输出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为初始状态（高电平或低电平）；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设置计数初值到初值寄存器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，第一个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信号使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的内容置入计数寄存器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以后每来一个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信号：</a:t>
            </a:r>
            <a:endParaRPr lang="en-US" altLang="zh-CN" sz="2400" b="1" dirty="0">
              <a:solidFill>
                <a:srgbClr val="FD7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3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的上升沿时，计数器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对门控信号</a:t>
            </a:r>
            <a:r>
              <a:rPr lang="en-US" altLang="zh-CN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进行采样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，来决定工作状态（计数、触发、停止、重新置初值）；</a:t>
            </a:r>
          </a:p>
          <a:p>
            <a:pPr marL="800100" lvl="1" indent="-342900">
              <a:lnSpc>
                <a:spcPct val="133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的下降沿时，计数器执行部件从初值开始作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lvl="1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减到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sz="2400" b="1" dirty="0">
                <a:solidFill>
                  <a:srgbClr val="FD7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端输出一特殊波形的信号。</a:t>
            </a:r>
            <a:endParaRPr lang="en-US" altLang="zh-CN" sz="2400" b="1" dirty="0">
              <a:solidFill>
                <a:srgbClr val="FD7A2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：计数结束产生中断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04360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43608" y="2458528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2843808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2843808" y="2098488"/>
            <a:ext cx="39815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83568" y="2745692"/>
            <a:ext cx="3780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等腰三角形 69"/>
          <p:cNvSpPr/>
          <p:nvPr/>
        </p:nvSpPr>
        <p:spPr>
          <a:xfrm>
            <a:off x="3113838" y="154625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622183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34655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7074278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0800000">
            <a:off x="7794358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 rot="10800000">
            <a:off x="8514438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4463988" y="274656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4463988" y="3105732"/>
            <a:ext cx="10441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508104" y="27456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508104" y="2745692"/>
            <a:ext cx="32763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3568" y="3754672"/>
            <a:ext cx="7920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8616383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8604448" y="3394632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3"/>
          <p:cNvSpPr>
            <a:spLocks noChangeArrowheads="1"/>
          </p:cNvSpPr>
          <p:nvPr/>
        </p:nvSpPr>
        <p:spPr bwMode="auto">
          <a:xfrm>
            <a:off x="3275856" y="3223695"/>
            <a:ext cx="360040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3563887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283968" y="1815040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5724128" y="1852068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8616383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3"/>
          <p:cNvSpPr>
            <a:spLocks noChangeArrowheads="1"/>
          </p:cNvSpPr>
          <p:nvPr/>
        </p:nvSpPr>
        <p:spPr bwMode="auto">
          <a:xfrm>
            <a:off x="4043054" y="3223695"/>
            <a:ext cx="384930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5436096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6230137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6918716" y="322610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7645869" y="32236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8373022" y="3217744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44016" y="2753628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333936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845274"/>
            <a:ext cx="8546193" cy="2667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端输出低电平为起始电平，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写入计数初值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暂存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写信号后沿经一个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，计数初值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，每过一个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下降沿计数器减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时计数结束，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由低电平变为高电平并保持，不开始重新计数。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GATE=0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停止计数，直至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恢复高电平，再继续计数。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80330" y="2177664"/>
            <a:ext cx="17267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写控制字，写初值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n=5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817971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变低电平，计数结束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输出高电平。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4021303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端应保持高电平。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628800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软件启动，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不自动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重复计数。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628800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817970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4021302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148064" y="1772816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01110000B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148064" y="223054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5148064" y="2660429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0F5H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5148064" y="3132374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5148064" y="354532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0FH</a:t>
            </a:r>
          </a:p>
        </p:txBody>
      </p:sp>
      <p:sp>
        <p:nvSpPr>
          <p:cNvPr id="31" name="矩形 3"/>
          <p:cNvSpPr>
            <a:spLocks noChangeArrowheads="1"/>
          </p:cNvSpPr>
          <p:nvPr/>
        </p:nvSpPr>
        <p:spPr bwMode="auto">
          <a:xfrm>
            <a:off x="5148064" y="3991990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93824" y="1484784"/>
            <a:ext cx="3601889" cy="3530903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端口地址范围是：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40H~43H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号计数器工作在方式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，计数初值为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0FF5H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，二进制计数。写出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29"/>
          <a:stretch/>
        </p:blipFill>
        <p:spPr bwMode="auto">
          <a:xfrm>
            <a:off x="507311" y="4941169"/>
            <a:ext cx="4045896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323528" y="76470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27152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 anchor="ctr"/>
          <a:lstStyle/>
          <a:p>
            <a:pPr algn="ctr"/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26064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b="1" dirty="0" smtClean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计算机之母</a:t>
            </a:r>
            <a:r>
              <a:rPr lang="en-US" altLang="zh-CN" sz="2400" b="1" dirty="0" smtClean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夏培肃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26064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260648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ttps://bkimg.cdn.bcebos.com/pic/9e3df8dcd100baa1891503ed4810b912c8fc2eae?x-bce-process=image/format,f_auto/resize,m_lfit,limit_1,h_65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60" y="3300727"/>
            <a:ext cx="1750694" cy="2614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/>
        </p:nvSpPr>
        <p:spPr>
          <a:xfrm>
            <a:off x="2699792" y="908720"/>
            <a:ext cx="58681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1940</a:t>
            </a:r>
            <a:r>
              <a:rPr lang="zh-CN" altLang="en-US" b="1" dirty="0" smtClean="0"/>
              <a:t>年，考入中央大学电机系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东南大学无线电系</a:t>
            </a:r>
            <a:r>
              <a:rPr lang="en-US" altLang="zh-CN" b="1" dirty="0" smtClean="0"/>
              <a:t>)</a:t>
            </a:r>
            <a:r>
              <a:rPr lang="zh-CN" altLang="en-US" b="1" dirty="0" smtClean="0"/>
              <a:t>；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2664296" y="1340768"/>
            <a:ext cx="60841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1947</a:t>
            </a:r>
            <a:r>
              <a:rPr lang="zh-CN" altLang="en-US" b="1" dirty="0" smtClean="0"/>
              <a:t>年，赴英国爱丁堡大学电机</a:t>
            </a:r>
            <a:r>
              <a:rPr lang="zh-CN" altLang="en-US" b="1" dirty="0"/>
              <a:t>系学习</a:t>
            </a:r>
            <a:r>
              <a:rPr lang="zh-CN" altLang="en-US" b="1" dirty="0" smtClean="0"/>
              <a:t>。期间，提出</a:t>
            </a:r>
            <a:r>
              <a:rPr lang="zh-CN" altLang="en-US" b="1" dirty="0"/>
              <a:t>了一种解非线性常微分方程的图解法，并利用非线性理论研究</a:t>
            </a:r>
            <a:r>
              <a:rPr lang="zh-CN" altLang="en-US" b="1" u="sng" dirty="0">
                <a:solidFill>
                  <a:srgbClr val="0000FF"/>
                </a:solidFill>
              </a:rPr>
              <a:t>电子线路的变参数振荡</a:t>
            </a:r>
            <a:r>
              <a:rPr lang="zh-CN" altLang="en-US" b="1" dirty="0" smtClean="0"/>
              <a:t>；</a:t>
            </a:r>
            <a:endParaRPr lang="zh-CN" altLang="en-US" b="1" dirty="0"/>
          </a:p>
        </p:txBody>
      </p:sp>
      <p:sp>
        <p:nvSpPr>
          <p:cNvPr id="9" name="矩形 8"/>
          <p:cNvSpPr/>
          <p:nvPr/>
        </p:nvSpPr>
        <p:spPr>
          <a:xfrm>
            <a:off x="2699792" y="2350621"/>
            <a:ext cx="59401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1960</a:t>
            </a:r>
            <a:r>
              <a:rPr lang="zh-CN" altLang="en-US" b="1" dirty="0"/>
              <a:t>年，夏培肃设计试制成功中国</a:t>
            </a:r>
            <a:r>
              <a:rPr lang="zh-CN" altLang="en-US" b="1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第一台自行设计</a:t>
            </a:r>
            <a:r>
              <a:rPr lang="zh-CN" altLang="en-US" b="1" dirty="0"/>
              <a:t>的电子计算机</a:t>
            </a:r>
            <a:r>
              <a:rPr lang="en-US" altLang="zh-CN" b="1" dirty="0" smtClean="0"/>
              <a:t>—107</a:t>
            </a:r>
            <a:r>
              <a:rPr lang="zh-CN" altLang="en-US" b="1" dirty="0" smtClean="0"/>
              <a:t>计算机；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2699792" y="3070701"/>
            <a:ext cx="58681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1960</a:t>
            </a:r>
            <a:r>
              <a:rPr lang="zh-CN" altLang="en-US" b="1" dirty="0"/>
              <a:t>年代中期</a:t>
            </a:r>
            <a:r>
              <a:rPr lang="zh-CN" altLang="en-US" b="1" dirty="0" smtClean="0"/>
              <a:t>，有效</a:t>
            </a:r>
            <a:r>
              <a:rPr lang="zh-CN" altLang="en-US" b="1" dirty="0"/>
              <a:t>地解决了大型计算机中的高速信号传输时出现的</a:t>
            </a:r>
            <a:r>
              <a:rPr lang="zh-CN" altLang="en-US" b="1" u="sng" dirty="0">
                <a:solidFill>
                  <a:srgbClr val="0000FF"/>
                </a:solidFill>
              </a:rPr>
              <a:t>波形畸变</a:t>
            </a:r>
            <a:r>
              <a:rPr lang="zh-CN" altLang="en-US" b="1" dirty="0"/>
              <a:t>问题。</a:t>
            </a:r>
          </a:p>
        </p:txBody>
      </p:sp>
      <p:sp>
        <p:nvSpPr>
          <p:cNvPr id="11" name="矩形 10"/>
          <p:cNvSpPr/>
          <p:nvPr/>
        </p:nvSpPr>
        <p:spPr>
          <a:xfrm>
            <a:off x="2699792" y="3801814"/>
            <a:ext cx="551212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1970</a:t>
            </a:r>
            <a:r>
              <a:rPr lang="zh-CN" altLang="en-US" b="1" dirty="0"/>
              <a:t>年代末期，主持研制高速</a:t>
            </a:r>
            <a:r>
              <a:rPr lang="zh-CN" altLang="en-US" b="1" dirty="0">
                <a:hlinkClick r:id="rId4"/>
              </a:rPr>
              <a:t>阵列处理机</a:t>
            </a:r>
            <a:r>
              <a:rPr lang="en-US" altLang="zh-CN" b="1" dirty="0"/>
              <a:t>150-AP</a:t>
            </a:r>
            <a:r>
              <a:rPr lang="zh-CN" altLang="en-US" b="1" dirty="0"/>
              <a:t>并得以成功。最高运算速度为每秒</a:t>
            </a:r>
            <a:r>
              <a:rPr lang="en-US" altLang="zh-CN" b="1" dirty="0"/>
              <a:t>1400</a:t>
            </a:r>
            <a:r>
              <a:rPr lang="zh-CN" altLang="en-US" b="1" dirty="0"/>
              <a:t>万次，高于美国当时对中国禁运的同类产品的运算</a:t>
            </a:r>
            <a:r>
              <a:rPr lang="zh-CN" altLang="en-US" b="1" dirty="0" smtClean="0"/>
              <a:t>速度；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2699792" y="4859868"/>
            <a:ext cx="5724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/>
              <a:t>1980-90</a:t>
            </a:r>
            <a:r>
              <a:rPr lang="zh-CN" altLang="en-US" b="1" dirty="0"/>
              <a:t>年代，夏培肃研究</a:t>
            </a:r>
            <a:r>
              <a:rPr lang="zh-CN" altLang="en-US" b="1" dirty="0">
                <a:hlinkClick r:id="rId5"/>
              </a:rPr>
              <a:t>分布式</a:t>
            </a:r>
            <a:r>
              <a:rPr lang="zh-CN" altLang="en-US" b="1" dirty="0"/>
              <a:t>计算机和</a:t>
            </a:r>
            <a:r>
              <a:rPr lang="zh-CN" altLang="en-US" b="1" dirty="0" smtClean="0"/>
              <a:t>并行计算机；</a:t>
            </a: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2699792" y="5385990"/>
            <a:ext cx="58326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建议中国开展高性能</a:t>
            </a:r>
            <a:r>
              <a:rPr lang="zh-CN" altLang="en-US" b="1" dirty="0">
                <a:hlinkClick r:id="rId6"/>
              </a:rPr>
              <a:t>处理器</a:t>
            </a:r>
            <a:r>
              <a:rPr lang="zh-CN" altLang="en-US" b="1" dirty="0"/>
              <a:t>芯片的设计、大力支持通用</a:t>
            </a:r>
            <a:r>
              <a:rPr lang="en-US" altLang="zh-CN" b="1" dirty="0"/>
              <a:t>CPU</a:t>
            </a:r>
            <a:r>
              <a:rPr lang="zh-CN" altLang="en-US" b="1" dirty="0"/>
              <a:t>芯片及其产业的发展，否则，中国在高性能计算技术领域将永远受制于人。</a:t>
            </a:r>
          </a:p>
        </p:txBody>
      </p:sp>
      <p:pic>
        <p:nvPicPr>
          <p:cNvPr id="2052" name="Picture 4" descr="https://bkimg.cdn.bcebos.com/pic/6159252dd42a283426643c4559b5c9ea14cebfb9?x-bce-process=image/format,f_auto/resize,m_lfit,limit_1,h_63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60" y="761869"/>
            <a:ext cx="1736155" cy="250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97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：可编程单稳态触发器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104360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43608" y="2458528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2843808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2843808" y="2098488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86895" y="3105732"/>
            <a:ext cx="24302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等腰三角形 69"/>
          <p:cNvSpPr/>
          <p:nvPr/>
        </p:nvSpPr>
        <p:spPr>
          <a:xfrm>
            <a:off x="3113838" y="154625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631311" y="155842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34655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4914037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3113838" y="274569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3113838" y="2750872"/>
            <a:ext cx="2106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5220072" y="275362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5220072" y="3113668"/>
            <a:ext cx="3672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3568" y="3397111"/>
            <a:ext cx="2880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3563888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3563887" y="3756066"/>
            <a:ext cx="28726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3563887" y="1810456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4283968" y="1815040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444208" y="1852068"/>
            <a:ext cx="0" cy="190260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3275856" y="333789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3995936" y="333789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4788024" y="333789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5436096" y="333789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6084168" y="333789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44016" y="2753628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333936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845274"/>
            <a:ext cx="8546193" cy="1931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仅有一个上升沿：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端输出高电平为起始电平。须等待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的上升沿，并经过一个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变低电平，开始计数，每一个计数脉冲，计数器值减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计数到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变成高电平，负脉冲结束，脉冲宽度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Tc×n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为时钟周期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变低，不影响计数。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V="1">
            <a:off x="6436568" y="339463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6436568" y="3396610"/>
            <a:ext cx="2455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等腰三角形 111"/>
          <p:cNvSpPr/>
          <p:nvPr/>
        </p:nvSpPr>
        <p:spPr>
          <a:xfrm>
            <a:off x="3020555" y="285370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/>
          <p:cNvSpPr/>
          <p:nvPr/>
        </p:nvSpPr>
        <p:spPr>
          <a:xfrm>
            <a:off x="1080330" y="2177664"/>
            <a:ext cx="17267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写控制字，写初值</a:t>
            </a:r>
            <a:r>
              <a:rPr lang="en-US" altLang="zh-CN" sz="12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n=4</a:t>
            </a:r>
            <a:endParaRPr lang="zh-CN" alt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：可编程单稳态触发器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/>
        </p:nvCxnSpPr>
        <p:spPr>
          <a:xfrm>
            <a:off x="686895" y="2490634"/>
            <a:ext cx="21781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5631311" y="155842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6346558" y="155842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/>
          <p:cNvCxnSpPr/>
          <p:nvPr/>
        </p:nvCxnSpPr>
        <p:spPr>
          <a:xfrm flipV="1">
            <a:off x="2865083" y="213059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2865083" y="2135774"/>
            <a:ext cx="1058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/>
          <p:cNvCxnSpPr/>
          <p:nvPr/>
        </p:nvCxnSpPr>
        <p:spPr>
          <a:xfrm flipV="1">
            <a:off x="3923928" y="213853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3923928" y="2505084"/>
            <a:ext cx="10241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/>
        </p:nvCxnSpPr>
        <p:spPr>
          <a:xfrm>
            <a:off x="683568" y="2854021"/>
            <a:ext cx="28803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3563888" y="285154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>
            <a:off x="3563887" y="3212976"/>
            <a:ext cx="50405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3563887" y="1810456"/>
            <a:ext cx="0" cy="1474528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5724128" y="1842715"/>
            <a:ext cx="0" cy="1442269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6444208" y="1852068"/>
            <a:ext cx="0" cy="1432916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3275856" y="272279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4067944" y="2720388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4788024" y="272279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7668344" y="2720388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8388424" y="271443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44016" y="213853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79627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790358"/>
            <a:ext cx="8546193" cy="1934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不止产生一个上升沿：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在计数过程中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，如再次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触发，在之后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脉冲的下降沿，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重新装入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值，开始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。（可以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通过该方法改变脉冲的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宽度）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如果是计数结束后，再次产生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的上升沿触发，则重新装入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V="1">
            <a:off x="8604448" y="285154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>
            <a:off x="8604448" y="2853520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等腰三角形 111"/>
          <p:cNvSpPr/>
          <p:nvPr/>
        </p:nvSpPr>
        <p:spPr>
          <a:xfrm>
            <a:off x="2771800" y="223860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/>
          <p:cNvCxnSpPr/>
          <p:nvPr/>
        </p:nvCxnSpPr>
        <p:spPr>
          <a:xfrm flipV="1">
            <a:off x="4948111" y="2137108"/>
            <a:ext cx="0" cy="3679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4948111" y="2138530"/>
            <a:ext cx="40163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3"/>
          <p:cNvSpPr>
            <a:spLocks noChangeArrowheads="1"/>
          </p:cNvSpPr>
          <p:nvPr/>
        </p:nvSpPr>
        <p:spPr bwMode="auto">
          <a:xfrm>
            <a:off x="5508104" y="2743652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3"/>
          <p:cNvSpPr>
            <a:spLocks noChangeArrowheads="1"/>
          </p:cNvSpPr>
          <p:nvPr/>
        </p:nvSpPr>
        <p:spPr bwMode="auto">
          <a:xfrm>
            <a:off x="6228184" y="274124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3"/>
          <p:cNvSpPr>
            <a:spLocks noChangeArrowheads="1"/>
          </p:cNvSpPr>
          <p:nvPr/>
        </p:nvSpPr>
        <p:spPr bwMode="auto">
          <a:xfrm>
            <a:off x="6948264" y="2743652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等腰三角形 81"/>
          <p:cNvSpPr/>
          <p:nvPr/>
        </p:nvSpPr>
        <p:spPr>
          <a:xfrm>
            <a:off x="4860032" y="227687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740964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端变高电平，计数开始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端变为低电平，计数结束后又变高。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944296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再次上升沿触发，则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端负脉冲拉宽为两次计数过程之和。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551793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门控信号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的上升沿启动计数（硬件启动），</a:t>
            </a:r>
            <a:r>
              <a:rPr lang="en-US" altLang="zh-CN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的跳变可重复触发计数。</a:t>
            </a:r>
            <a:endParaRPr lang="en-US" altLang="zh-CN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55179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740963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944295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91256" y="5147627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计数过程中写入新初值不影响本次计数。下次触发在装入新的初值。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191" y="514762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148064" y="1268760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01110011B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148064" y="172648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5148064" y="2156373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0H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5148064" y="2628318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5148064" y="304126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10H</a:t>
            </a:r>
          </a:p>
        </p:txBody>
      </p:sp>
      <p:sp>
        <p:nvSpPr>
          <p:cNvPr id="31" name="矩形 3"/>
          <p:cNvSpPr>
            <a:spLocks noChangeArrowheads="1"/>
          </p:cNvSpPr>
          <p:nvPr/>
        </p:nvSpPr>
        <p:spPr bwMode="auto">
          <a:xfrm>
            <a:off x="5148064" y="3487934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82333" y="1340768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2MHz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号计数器产生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el-GR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μ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的负脉冲。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500/0.5 = 1000</a:t>
            </a: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5098247" y="4695063"/>
            <a:ext cx="3528392" cy="1341521"/>
          </a:xfrm>
          <a:prstGeom prst="rect">
            <a:avLst/>
          </a:prstGeom>
          <a:solidFill>
            <a:schemeClr val="bg2">
              <a:lumMod val="90000"/>
            </a:schemeClr>
          </a:solidFill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16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smtClean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r>
              <a:rPr lang="en-US" altLang="zh-CN" sz="16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en-US" altLang="zh-CN" sz="1600" b="1" dirty="0" smtClean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0011B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16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en-US" altLang="zh-CN" sz="16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b="1" dirty="0" smtClean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16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smtClean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10H</a:t>
            </a:r>
          </a:p>
          <a:p>
            <a:pPr>
              <a:lnSpc>
                <a:spcPct val="130000"/>
              </a:lnSpc>
              <a:defRPr/>
            </a:pP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16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en-US" altLang="zh-CN" sz="16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1600" b="1" dirty="0" smtClean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  <a:endParaRPr lang="en-US" altLang="zh-CN" sz="16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7740352" y="2440745"/>
            <a:ext cx="216024" cy="1331561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051429" y="2506360"/>
            <a:ext cx="4154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先低</a:t>
            </a:r>
            <a:endParaRPr lang="en-US" altLang="zh-CN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后高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035192" y="5365823"/>
            <a:ext cx="9361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写高位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29"/>
          <a:stretch/>
        </p:blipFill>
        <p:spPr bwMode="auto">
          <a:xfrm>
            <a:off x="507311" y="4599898"/>
            <a:ext cx="4272849" cy="1901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  <p:bldP spid="21" grpId="0"/>
      <p:bldP spid="31" grpId="0"/>
      <p:bldP spid="17" grpId="0" animBg="1"/>
      <p:bldP spid="7" grpId="0" animBg="1"/>
      <p:bldP spid="8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：分频器（矩形波）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H="1" flipV="1">
            <a:off x="1043305" y="2099310"/>
            <a:ext cx="635" cy="321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>
            <a:off x="1043940" y="2420620"/>
            <a:ext cx="720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1764030" y="2132330"/>
            <a:ext cx="0" cy="288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1763395" y="2115820"/>
            <a:ext cx="7129085" cy="17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>
          <a:xfrm rot="10800000">
            <a:off x="3473877" y="154438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54752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4914037" y="155842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5" name="直接连接符 84"/>
          <p:cNvCxnSpPr/>
          <p:nvPr/>
        </p:nvCxnSpPr>
        <p:spPr>
          <a:xfrm flipV="1">
            <a:off x="683568" y="2918033"/>
            <a:ext cx="3600400" cy="24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 flipV="1">
            <a:off x="4283968" y="291803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>
            <a:off x="2123728" y="1810456"/>
            <a:ext cx="0" cy="1546536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4283967" y="1815040"/>
            <a:ext cx="1" cy="1541952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7164287" y="1852068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3"/>
          <p:cNvSpPr>
            <a:spLocks noChangeArrowheads="1"/>
          </p:cNvSpPr>
          <p:nvPr/>
        </p:nvSpPr>
        <p:spPr bwMode="auto">
          <a:xfrm>
            <a:off x="1835696" y="2852936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矩形 3"/>
          <p:cNvSpPr>
            <a:spLocks noChangeArrowheads="1"/>
          </p:cNvSpPr>
          <p:nvPr/>
        </p:nvSpPr>
        <p:spPr bwMode="auto">
          <a:xfrm>
            <a:off x="2555776" y="283383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3284857" y="2833835"/>
            <a:ext cx="342037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4067944" y="283383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4720511" y="2785241"/>
            <a:ext cx="355545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941685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789040"/>
            <a:ext cx="8546193" cy="230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端输出高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装入计数初值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每一个计数脉冲下降沿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变高，产生一个与时钟脉冲周期一样宽的负脉冲。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自动装入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重新计数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，输出频率为：</a:t>
            </a:r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b="1" baseline="-25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计数过程中，允许重新装入新的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值，下一个计数周期按新的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9" name="直接连接符 108"/>
          <p:cNvCxnSpPr/>
          <p:nvPr/>
        </p:nvCxnSpPr>
        <p:spPr>
          <a:xfrm flipV="1">
            <a:off x="7884368" y="291803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/>
          <p:cNvCxnSpPr/>
          <p:nvPr/>
        </p:nvCxnSpPr>
        <p:spPr>
          <a:xfrm flipV="1">
            <a:off x="7884368" y="2918033"/>
            <a:ext cx="1080120" cy="19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5004048" y="2924944"/>
            <a:ext cx="216024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043608" y="1988840"/>
            <a:ext cx="734507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等腰三角形 95"/>
          <p:cNvSpPr/>
          <p:nvPr/>
        </p:nvSpPr>
        <p:spPr>
          <a:xfrm rot="10800000">
            <a:off x="2769584" y="1543739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V="1">
            <a:off x="4283968" y="292581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4283967" y="3284984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500404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V="1">
            <a:off x="716428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V="1">
            <a:off x="7164288" y="293272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7164287" y="3291895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3"/>
          <p:cNvSpPr>
            <a:spLocks noChangeArrowheads="1"/>
          </p:cNvSpPr>
          <p:nvPr/>
        </p:nvSpPr>
        <p:spPr bwMode="auto">
          <a:xfrm>
            <a:off x="4644008" y="2475269"/>
            <a:ext cx="401592" cy="44967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endParaRPr lang="en-US" altLang="zh-CN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3"/>
          <p:cNvSpPr>
            <a:spLocks noChangeArrowheads="1"/>
          </p:cNvSpPr>
          <p:nvPr/>
        </p:nvSpPr>
        <p:spPr bwMode="auto">
          <a:xfrm>
            <a:off x="5436096" y="2905843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3"/>
          <p:cNvSpPr>
            <a:spLocks noChangeArrowheads="1"/>
          </p:cNvSpPr>
          <p:nvPr/>
        </p:nvSpPr>
        <p:spPr bwMode="auto">
          <a:xfrm>
            <a:off x="6165177" y="2905843"/>
            <a:ext cx="342037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3"/>
          <p:cNvSpPr>
            <a:spLocks noChangeArrowheads="1"/>
          </p:cNvSpPr>
          <p:nvPr/>
        </p:nvSpPr>
        <p:spPr bwMode="auto">
          <a:xfrm>
            <a:off x="6948264" y="285888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3"/>
          <p:cNvSpPr>
            <a:spLocks noChangeArrowheads="1"/>
          </p:cNvSpPr>
          <p:nvPr/>
        </p:nvSpPr>
        <p:spPr bwMode="auto">
          <a:xfrm>
            <a:off x="7600831" y="2857249"/>
            <a:ext cx="355545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：分频器（矩形波）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83568" y="2099356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/>
        </p:nvCxnSpPr>
        <p:spPr>
          <a:xfrm flipV="1">
            <a:off x="2123728" y="209935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2123728" y="2456792"/>
            <a:ext cx="1663731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3779912" y="2098488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3779912" y="2098488"/>
            <a:ext cx="51845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3"/>
          <p:cNvSpPr>
            <a:spLocks noChangeArrowheads="1"/>
          </p:cNvSpPr>
          <p:nvPr/>
        </p:nvSpPr>
        <p:spPr bwMode="auto">
          <a:xfrm>
            <a:off x="158445" y="2041485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35496" y="2924944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789040"/>
            <a:ext cx="8546193" cy="119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GATE=0</a:t>
            </a:r>
            <a:r>
              <a:rPr lang="zh-CN" altLang="en-US" b="1" dirty="0" smtClean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时：</a:t>
            </a:r>
            <a:r>
              <a:rPr lang="en-US" altLang="zh-CN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硬件启动）</a:t>
            </a:r>
            <a:endParaRPr lang="en-US" altLang="zh-CN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＝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，停止计数，并强迫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输出高电平，在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变为高电平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上升沿触发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连接符 109"/>
          <p:cNvCxnSpPr/>
          <p:nvPr/>
        </p:nvCxnSpPr>
        <p:spPr>
          <a:xfrm>
            <a:off x="611560" y="2918033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2123728" y="2918034"/>
            <a:ext cx="3600400" cy="1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V="1">
            <a:off x="1403648" y="292581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 flipV="1">
            <a:off x="1403648" y="3285852"/>
            <a:ext cx="720080" cy="69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212372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V="1">
            <a:off x="6444208" y="292494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V="1">
            <a:off x="5724128" y="293272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 flipV="1">
            <a:off x="5724128" y="3291895"/>
            <a:ext cx="720080" cy="2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 flipH="1">
            <a:off x="4283967" y="1815040"/>
            <a:ext cx="1" cy="1541952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3"/>
          <p:cNvSpPr>
            <a:spLocks noChangeArrowheads="1"/>
          </p:cNvSpPr>
          <p:nvPr/>
        </p:nvSpPr>
        <p:spPr bwMode="auto">
          <a:xfrm>
            <a:off x="4060396" y="283143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矩形 3"/>
          <p:cNvSpPr>
            <a:spLocks noChangeArrowheads="1"/>
          </p:cNvSpPr>
          <p:nvPr/>
        </p:nvSpPr>
        <p:spPr bwMode="auto">
          <a:xfrm>
            <a:off x="4780476" y="283383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3"/>
          <p:cNvSpPr>
            <a:spLocks noChangeArrowheads="1"/>
          </p:cNvSpPr>
          <p:nvPr/>
        </p:nvSpPr>
        <p:spPr bwMode="auto">
          <a:xfrm>
            <a:off x="5436096" y="2831430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6156176" y="2825479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2" name="直接连接符 111"/>
          <p:cNvCxnSpPr/>
          <p:nvPr/>
        </p:nvCxnSpPr>
        <p:spPr>
          <a:xfrm>
            <a:off x="6444208" y="2924946"/>
            <a:ext cx="1440160" cy="77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636696" y="2064472"/>
            <a:ext cx="65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n=3</a:t>
            </a:r>
            <a:endParaRPr lang="zh-CN" altLang="en-US" dirty="0"/>
          </a:p>
        </p:txBody>
      </p: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180076" y="2858887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3"/>
          <p:cNvSpPr>
            <a:spLocks noChangeArrowheads="1"/>
          </p:cNvSpPr>
          <p:nvPr/>
        </p:nvSpPr>
        <p:spPr bwMode="auto">
          <a:xfrm>
            <a:off x="1835696" y="2852936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等腰三角形 93"/>
          <p:cNvSpPr/>
          <p:nvPr/>
        </p:nvSpPr>
        <p:spPr>
          <a:xfrm>
            <a:off x="3671900" y="2204864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等腰三角形 94"/>
          <p:cNvSpPr/>
          <p:nvPr/>
        </p:nvSpPr>
        <p:spPr>
          <a:xfrm rot="10800000">
            <a:off x="4175956" y="1543739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等腰三角形 95"/>
          <p:cNvSpPr/>
          <p:nvPr/>
        </p:nvSpPr>
        <p:spPr>
          <a:xfrm rot="10800000">
            <a:off x="4896036" y="1556793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等腰三角形 97"/>
          <p:cNvSpPr/>
          <p:nvPr/>
        </p:nvSpPr>
        <p:spPr>
          <a:xfrm rot="10800000">
            <a:off x="5652120" y="1556793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等腰三角形 98"/>
          <p:cNvSpPr/>
          <p:nvPr/>
        </p:nvSpPr>
        <p:spPr>
          <a:xfrm rot="10800000">
            <a:off x="6372200" y="1556793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等腰三角形 99"/>
          <p:cNvSpPr/>
          <p:nvPr/>
        </p:nvSpPr>
        <p:spPr>
          <a:xfrm rot="10800000">
            <a:off x="705627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3" name="直接连接符 82"/>
          <p:cNvCxnSpPr/>
          <p:nvPr/>
        </p:nvCxnSpPr>
        <p:spPr>
          <a:xfrm flipV="1">
            <a:off x="7884368" y="3312617"/>
            <a:ext cx="648072" cy="12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 3"/>
          <p:cNvSpPr>
            <a:spLocks noChangeArrowheads="1"/>
          </p:cNvSpPr>
          <p:nvPr/>
        </p:nvSpPr>
        <p:spPr bwMode="auto">
          <a:xfrm>
            <a:off x="7596336" y="2852936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5" name="直接连接符 84"/>
          <p:cNvCxnSpPr/>
          <p:nvPr/>
        </p:nvCxnSpPr>
        <p:spPr>
          <a:xfrm flipV="1">
            <a:off x="7884368" y="295257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矩形 3"/>
          <p:cNvSpPr>
            <a:spLocks noChangeArrowheads="1"/>
          </p:cNvSpPr>
          <p:nvPr/>
        </p:nvSpPr>
        <p:spPr bwMode="auto">
          <a:xfrm>
            <a:off x="6102170" y="2524256"/>
            <a:ext cx="450050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3)</a:t>
            </a:r>
            <a:endParaRPr lang="en-US" altLang="zh-CN" sz="2000" dirty="0">
              <a:solidFill>
                <a:srgbClr val="5DCB08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6999969" y="2852936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2" name="直接连接符 101"/>
          <p:cNvCxnSpPr/>
          <p:nvPr/>
        </p:nvCxnSpPr>
        <p:spPr>
          <a:xfrm flipV="1">
            <a:off x="8536458" y="293315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8189217" y="287102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6" name="直接连接符 115"/>
          <p:cNvCxnSpPr/>
          <p:nvPr/>
        </p:nvCxnSpPr>
        <p:spPr>
          <a:xfrm>
            <a:off x="8530356" y="2933952"/>
            <a:ext cx="57814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端变高电平，计数到最后一个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输出负脉冲，并连续重复此过程。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为计数的控制信号：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变低计数停止，再变高时的下一个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下降沿，从初值开始重新计数。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软、硬件启动，自动重复计数。要求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计数过程中修改初值不影响本轮计数过程，下一个计数周期按新的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值计数。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3"/>
          <p:cNvSpPr>
            <a:spLocks noChangeArrowheads="1"/>
          </p:cNvSpPr>
          <p:nvPr/>
        </p:nvSpPr>
        <p:spPr bwMode="auto">
          <a:xfrm>
            <a:off x="5148064" y="2148769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01010100B</a:t>
            </a:r>
          </a:p>
        </p:txBody>
      </p:sp>
      <p:sp>
        <p:nvSpPr>
          <p:cNvPr id="18" name="矩形 3"/>
          <p:cNvSpPr>
            <a:spLocks noChangeArrowheads="1"/>
          </p:cNvSpPr>
          <p:nvPr/>
        </p:nvSpPr>
        <p:spPr bwMode="auto">
          <a:xfrm>
            <a:off x="5148064" y="2606494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3"/>
          <p:cNvSpPr>
            <a:spLocks noChangeArrowheads="1"/>
          </p:cNvSpPr>
          <p:nvPr/>
        </p:nvSpPr>
        <p:spPr bwMode="auto">
          <a:xfrm>
            <a:off x="5148064" y="3036382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</a:p>
        </p:txBody>
      </p:sp>
      <p:sp>
        <p:nvSpPr>
          <p:cNvPr id="20" name="矩形 3"/>
          <p:cNvSpPr>
            <a:spLocks noChangeArrowheads="1"/>
          </p:cNvSpPr>
          <p:nvPr/>
        </p:nvSpPr>
        <p:spPr bwMode="auto">
          <a:xfrm>
            <a:off x="5148064" y="3508327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41H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89616" y="1709335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2MHz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号计数器输出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40KHz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序列负脉冲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采用二进制计数。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2000/40 = 50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058375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：方波频率发生器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058375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21148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21148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571527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等腰三角形 70"/>
          <p:cNvSpPr/>
          <p:nvPr/>
        </p:nvSpPr>
        <p:spPr>
          <a:xfrm rot="10800000">
            <a:off x="3473877" y="1305455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4193958" y="1308593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4914037" y="1319498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/>
          <p:cNvCxnSpPr/>
          <p:nvPr/>
        </p:nvCxnSpPr>
        <p:spPr>
          <a:xfrm flipV="1">
            <a:off x="5004047" y="263206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 flipH="1">
            <a:off x="3572892" y="1743032"/>
            <a:ext cx="1" cy="1541952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H="1">
            <a:off x="6453210" y="1708156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3"/>
          <p:cNvSpPr>
            <a:spLocks noChangeArrowheads="1"/>
          </p:cNvSpPr>
          <p:nvPr/>
        </p:nvSpPr>
        <p:spPr bwMode="auto">
          <a:xfrm>
            <a:off x="1855943" y="2579595"/>
            <a:ext cx="342037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矩形 3"/>
          <p:cNvSpPr>
            <a:spLocks noChangeArrowheads="1"/>
          </p:cNvSpPr>
          <p:nvPr/>
        </p:nvSpPr>
        <p:spPr bwMode="auto">
          <a:xfrm>
            <a:off x="2617064" y="2579595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矩形 3"/>
          <p:cNvSpPr>
            <a:spLocks noChangeArrowheads="1"/>
          </p:cNvSpPr>
          <p:nvPr/>
        </p:nvSpPr>
        <p:spPr bwMode="auto">
          <a:xfrm>
            <a:off x="3296104" y="2560488"/>
            <a:ext cx="355545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196752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3"/>
          <p:cNvSpPr>
            <a:spLocks noChangeArrowheads="1"/>
          </p:cNvSpPr>
          <p:nvPr/>
        </p:nvSpPr>
        <p:spPr bwMode="auto">
          <a:xfrm>
            <a:off x="144016" y="2641892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sp>
        <p:nvSpPr>
          <p:cNvPr id="111" name="TextBox 17"/>
          <p:cNvSpPr txBox="1"/>
          <p:nvPr/>
        </p:nvSpPr>
        <p:spPr>
          <a:xfrm>
            <a:off x="251520" y="3501008"/>
            <a:ext cx="8546193" cy="3039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 smtClean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GATE=1:</a:t>
            </a:r>
            <a:r>
              <a:rPr lang="zh-CN" altLang="en-US" b="1" dirty="0" smtClean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（软件启动）输出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频率为：</a:t>
            </a:r>
            <a:r>
              <a:rPr lang="en-US" altLang="zh-CN" b="1" dirty="0" err="1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fclk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/n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的方波。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端输出低电平作为起始电平，装入计数值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后，变为高电平。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为偶数，每个时钟脉冲下降沿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后，电平变为低电平，并继续减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，然后改变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电平，重新装入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为奇数，输出高电平宽度为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(n+1)/2,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低电平宽度为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(n-1)/2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3000"/>
              </a:lnSpc>
              <a:defRPr/>
            </a:pPr>
            <a:r>
              <a:rPr lang="en-US" altLang="zh-CN" b="1" dirty="0" smtClean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GATE=0:</a:t>
            </a:r>
            <a:r>
              <a:rPr lang="zh-CN" altLang="en-US" b="1" dirty="0" smtClean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（硬件启动）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停止计数，并强迫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输出高电平，在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变高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上升沿触发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重新将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连接符 109"/>
          <p:cNvCxnSpPr/>
          <p:nvPr/>
        </p:nvCxnSpPr>
        <p:spPr>
          <a:xfrm>
            <a:off x="6444206" y="2996952"/>
            <a:ext cx="144016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/>
          <p:cNvCxnSpPr/>
          <p:nvPr/>
        </p:nvCxnSpPr>
        <p:spPr>
          <a:xfrm flipV="1">
            <a:off x="3563888" y="2996951"/>
            <a:ext cx="144016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等腰三角形 95"/>
          <p:cNvSpPr/>
          <p:nvPr/>
        </p:nvSpPr>
        <p:spPr>
          <a:xfrm rot="10800000">
            <a:off x="2769584" y="1304810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连接符 96"/>
          <p:cNvCxnSpPr/>
          <p:nvPr/>
        </p:nvCxnSpPr>
        <p:spPr>
          <a:xfrm flipV="1">
            <a:off x="2123729" y="2626019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/>
          <p:cNvCxnSpPr/>
          <p:nvPr/>
        </p:nvCxnSpPr>
        <p:spPr>
          <a:xfrm>
            <a:off x="2123728" y="2643726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 flipV="1">
            <a:off x="3563888" y="262515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/>
          <p:cNvCxnSpPr/>
          <p:nvPr/>
        </p:nvCxnSpPr>
        <p:spPr>
          <a:xfrm flipV="1">
            <a:off x="7884369" y="262515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/>
          <p:nvPr/>
        </p:nvCxnSpPr>
        <p:spPr>
          <a:xfrm flipV="1">
            <a:off x="7884369" y="263293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/>
          <p:cNvCxnSpPr/>
          <p:nvPr/>
        </p:nvCxnSpPr>
        <p:spPr>
          <a:xfrm>
            <a:off x="7884368" y="2636912"/>
            <a:ext cx="11521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/>
        </p:nvCxnSpPr>
        <p:spPr>
          <a:xfrm>
            <a:off x="5004048" y="2636912"/>
            <a:ext cx="1440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/>
        </p:nvCxnSpPr>
        <p:spPr>
          <a:xfrm flipV="1">
            <a:off x="6444208" y="2629464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矩形 3"/>
          <p:cNvSpPr>
            <a:spLocks noChangeArrowheads="1"/>
          </p:cNvSpPr>
          <p:nvPr/>
        </p:nvSpPr>
        <p:spPr bwMode="auto">
          <a:xfrm>
            <a:off x="4644008" y="2154361"/>
            <a:ext cx="552608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4)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矩形 3"/>
          <p:cNvSpPr>
            <a:spLocks noChangeArrowheads="1"/>
          </p:cNvSpPr>
          <p:nvPr/>
        </p:nvSpPr>
        <p:spPr bwMode="auto">
          <a:xfrm>
            <a:off x="4042460" y="258358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6" name="矩形 3"/>
          <p:cNvSpPr>
            <a:spLocks noChangeArrowheads="1"/>
          </p:cNvSpPr>
          <p:nvPr/>
        </p:nvSpPr>
        <p:spPr bwMode="auto">
          <a:xfrm>
            <a:off x="4758773" y="2579594"/>
            <a:ext cx="342037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矩形 3"/>
          <p:cNvSpPr>
            <a:spLocks noChangeArrowheads="1"/>
          </p:cNvSpPr>
          <p:nvPr/>
        </p:nvSpPr>
        <p:spPr bwMode="auto">
          <a:xfrm>
            <a:off x="5469855" y="2586466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矩形 3"/>
          <p:cNvSpPr>
            <a:spLocks noChangeArrowheads="1"/>
          </p:cNvSpPr>
          <p:nvPr/>
        </p:nvSpPr>
        <p:spPr bwMode="auto">
          <a:xfrm>
            <a:off x="6180088" y="2560488"/>
            <a:ext cx="355545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2" name="直接连接符 91"/>
          <p:cNvCxnSpPr/>
          <p:nvPr/>
        </p:nvCxnSpPr>
        <p:spPr>
          <a:xfrm>
            <a:off x="632627" y="1898023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 flipV="1">
            <a:off x="992364" y="1897977"/>
            <a:ext cx="635" cy="3213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>
            <a:off x="992999" y="2219287"/>
            <a:ext cx="7200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 flipV="1">
            <a:off x="1713089" y="1930997"/>
            <a:ext cx="0" cy="288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/>
          <p:cNvCxnSpPr/>
          <p:nvPr/>
        </p:nvCxnSpPr>
        <p:spPr>
          <a:xfrm flipV="1">
            <a:off x="1712454" y="1897342"/>
            <a:ext cx="7252034" cy="34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107504" y="1840152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1280699" y="1859515"/>
            <a:ext cx="312757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1" name="直接连接符 120"/>
          <p:cNvCxnSpPr/>
          <p:nvPr/>
        </p:nvCxnSpPr>
        <p:spPr>
          <a:xfrm>
            <a:off x="1223628" y="2985191"/>
            <a:ext cx="900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等腰三角形 121"/>
          <p:cNvSpPr/>
          <p:nvPr/>
        </p:nvSpPr>
        <p:spPr>
          <a:xfrm rot="10800000">
            <a:off x="2017960" y="1332397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矩形 3"/>
          <p:cNvSpPr>
            <a:spLocks noChangeArrowheads="1"/>
          </p:cNvSpPr>
          <p:nvPr/>
        </p:nvSpPr>
        <p:spPr bwMode="auto">
          <a:xfrm>
            <a:off x="6898026" y="2568891"/>
            <a:ext cx="360040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矩形 3"/>
          <p:cNvSpPr>
            <a:spLocks noChangeArrowheads="1"/>
          </p:cNvSpPr>
          <p:nvPr/>
        </p:nvSpPr>
        <p:spPr bwMode="auto">
          <a:xfrm>
            <a:off x="7614339" y="2564904"/>
            <a:ext cx="342037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端变高电平，然后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连续输出对称方波。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N+1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为高，后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/2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为低。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软、硬件启动，自动重复计数。要求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计数中修改初值不影响本半轮计数过程，其余与方式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611560" y="1124744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11560" y="631563"/>
            <a:ext cx="500110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 anchor="ctr"/>
          <a:lstStyle/>
          <a:p>
            <a:pPr algn="ctr"/>
            <a:r>
              <a:rPr lang="en-US" altLang="zh-CN" sz="2800" b="1" kern="0" dirty="0">
                <a:solidFill>
                  <a:sysClr val="window" lastClr="FFFFFF">
                    <a:lumMod val="95000"/>
                  </a:sys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sz="2800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1"/>
          <p:cNvSpPr txBox="1"/>
          <p:nvPr/>
        </p:nvSpPr>
        <p:spPr>
          <a:xfrm>
            <a:off x="1119384" y="620688"/>
            <a:ext cx="7261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</a:p>
        </p:txBody>
      </p:sp>
      <p:sp>
        <p:nvSpPr>
          <p:cNvPr id="5" name="矩形 4"/>
          <p:cNvSpPr/>
          <p:nvPr/>
        </p:nvSpPr>
        <p:spPr>
          <a:xfrm>
            <a:off x="8380710" y="620688"/>
            <a:ext cx="223738" cy="490346"/>
          </a:xfrm>
          <a:prstGeom prst="rect">
            <a:avLst/>
          </a:prstGeom>
          <a:solidFill>
            <a:srgbClr val="1D8DE5"/>
          </a:solidFill>
          <a:ln w="9525" cap="rnd">
            <a:solidFill>
              <a:srgbClr val="1D8DE5"/>
            </a:solidFill>
            <a:prstDash val="solid"/>
            <a:round/>
          </a:ln>
        </p:spPr>
        <p:txBody>
          <a:bodyPr/>
          <a:lstStyle/>
          <a:p>
            <a:pPr algn="ctr">
              <a:lnSpc>
                <a:spcPct val="120000"/>
              </a:lnSpc>
            </a:pPr>
            <a:endParaRPr lang="zh-CN" altLang="en-US" b="1" kern="0" dirty="0">
              <a:solidFill>
                <a:sysClr val="window" lastClr="FFFFFF">
                  <a:lumMod val="95000"/>
                </a:sys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11560" y="631563"/>
            <a:ext cx="7992888" cy="0"/>
          </a:xfrm>
          <a:prstGeom prst="line">
            <a:avLst/>
          </a:prstGeom>
          <a:ln w="28575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719784" y="118103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10"/>
          <p:cNvSpPr txBox="1">
            <a:spLocks noChangeArrowheads="1"/>
          </p:cNvSpPr>
          <p:nvPr/>
        </p:nvSpPr>
        <p:spPr bwMode="auto">
          <a:xfrm>
            <a:off x="689616" y="1709335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2MHz</a:t>
            </a: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号计数器输出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2KHz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的方波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采用二进制计数。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写出初始化程序。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2000/2 = 1000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148064" y="1865217"/>
            <a:ext cx="3528392" cy="52290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00110110B</a:t>
            </a:r>
          </a:p>
        </p:txBody>
      </p:sp>
      <p:sp>
        <p:nvSpPr>
          <p:cNvPr id="14" name="矩形 3"/>
          <p:cNvSpPr>
            <a:spLocks noChangeArrowheads="1"/>
          </p:cNvSpPr>
          <p:nvPr/>
        </p:nvSpPr>
        <p:spPr bwMode="auto">
          <a:xfrm>
            <a:off x="5148064" y="2322942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3"/>
          <p:cNvSpPr>
            <a:spLocks noChangeArrowheads="1"/>
          </p:cNvSpPr>
          <p:nvPr/>
        </p:nvSpPr>
        <p:spPr bwMode="auto">
          <a:xfrm>
            <a:off x="5148064" y="2752830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AX,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</a:p>
        </p:txBody>
      </p:sp>
      <p:sp>
        <p:nvSpPr>
          <p:cNvPr id="21" name="矩形 3"/>
          <p:cNvSpPr>
            <a:spLocks noChangeArrowheads="1"/>
          </p:cNvSpPr>
          <p:nvPr/>
        </p:nvSpPr>
        <p:spPr bwMode="auto">
          <a:xfrm>
            <a:off x="5148064" y="3224775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5148064" y="3637722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AH</a:t>
            </a:r>
          </a:p>
        </p:txBody>
      </p:sp>
      <p:sp>
        <p:nvSpPr>
          <p:cNvPr id="24" name="矩形 3"/>
          <p:cNvSpPr>
            <a:spLocks noChangeArrowheads="1"/>
          </p:cNvSpPr>
          <p:nvPr/>
        </p:nvSpPr>
        <p:spPr bwMode="auto">
          <a:xfrm>
            <a:off x="5148064" y="408439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7" grpId="0"/>
      <p:bldP spid="21" grpId="0"/>
      <p:bldP spid="23" grpId="0"/>
      <p:bldP spid="2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：软件触发选通脉冲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1934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端变为高电平，写入初始值后，计数器作减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电平保持不变。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计数器减至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端输出一个脉冲周期的负脉冲，然后停止计数，只有输入新的计数值后，才能开始新的计数。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683568" y="2046711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1043608" y="204671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043608" y="2405883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284380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2843808" y="2045843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2708920"/>
            <a:ext cx="540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H="1">
            <a:off x="3563886" y="1651685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3275856" y="234888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3999943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4678888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5400552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3"/>
          <p:cNvSpPr>
            <a:spLocks noChangeArrowheads="1"/>
          </p:cNvSpPr>
          <p:nvPr/>
        </p:nvSpPr>
        <p:spPr bwMode="auto">
          <a:xfrm>
            <a:off x="6203454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6444208" y="270892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6444208" y="306809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7164288" y="270805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7164288" y="2708052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267568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cxnSp>
        <p:nvCxnSpPr>
          <p:cNvPr id="127" name="直接连接符 126"/>
          <p:cNvCxnSpPr/>
          <p:nvPr/>
        </p:nvCxnSpPr>
        <p:spPr>
          <a:xfrm flipH="1">
            <a:off x="6444206" y="1709282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3"/>
          <p:cNvSpPr>
            <a:spLocks noChangeArrowheads="1"/>
          </p:cNvSpPr>
          <p:nvPr/>
        </p:nvSpPr>
        <p:spPr bwMode="auto">
          <a:xfrm>
            <a:off x="1475656" y="1988840"/>
            <a:ext cx="936104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 = 4</a:t>
            </a:r>
            <a:endParaRPr lang="en-US" altLang="zh-CN" sz="2000" b="1" dirty="0">
              <a:solidFill>
                <a:srgbClr val="5DCB08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等腰三角形 71"/>
          <p:cNvSpPr/>
          <p:nvPr/>
        </p:nvSpPr>
        <p:spPr>
          <a:xfrm rot="10800000">
            <a:off x="3473877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417595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 rot="10800000">
            <a:off x="489603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等腰三角形 74"/>
          <p:cNvSpPr/>
          <p:nvPr/>
        </p:nvSpPr>
        <p:spPr>
          <a:xfrm rot="10800000">
            <a:off x="5652120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/>
          <p:cNvSpPr/>
          <p:nvPr/>
        </p:nvSpPr>
        <p:spPr>
          <a:xfrm rot="10800000">
            <a:off x="633619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59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：软件触发选通脉冲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74279" y="4221088"/>
            <a:ext cx="8546193" cy="1197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在计数中改变：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变低电平，停止计数，在其变高后，重新将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装入，开始计数。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1" name="直接连接符 80"/>
          <p:cNvCxnSpPr/>
          <p:nvPr/>
        </p:nvCxnSpPr>
        <p:spPr>
          <a:xfrm>
            <a:off x="683568" y="2046711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/>
        </p:nvCxnSpPr>
        <p:spPr>
          <a:xfrm flipV="1">
            <a:off x="1043608" y="204671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1043608" y="2405883"/>
            <a:ext cx="1800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284380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2843808" y="2045843"/>
            <a:ext cx="61206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</a:t>
            </a: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3427770"/>
            <a:ext cx="69127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3275856" y="306773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5583196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6262141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6983805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3"/>
          <p:cNvSpPr>
            <a:spLocks noChangeArrowheads="1"/>
          </p:cNvSpPr>
          <p:nvPr/>
        </p:nvSpPr>
        <p:spPr bwMode="auto">
          <a:xfrm>
            <a:off x="7631877" y="306773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7956376" y="342900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956376" y="378694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76456" y="342690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8676456" y="3426902"/>
            <a:ext cx="28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339453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cxnSp>
        <p:nvCxnSpPr>
          <p:cNvPr id="71" name="直接连接符 70"/>
          <p:cNvCxnSpPr/>
          <p:nvPr/>
        </p:nvCxnSpPr>
        <p:spPr>
          <a:xfrm>
            <a:off x="1043608" y="2636912"/>
            <a:ext cx="26642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3707904" y="263901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707904" y="2996952"/>
            <a:ext cx="1008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4716016" y="263691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4716016" y="2636912"/>
            <a:ext cx="4248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3"/>
          <p:cNvSpPr>
            <a:spLocks noChangeArrowheads="1"/>
          </p:cNvSpPr>
          <p:nvPr/>
        </p:nvSpPr>
        <p:spPr bwMode="auto">
          <a:xfrm>
            <a:off x="4834379" y="3045533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矩形 3"/>
          <p:cNvSpPr>
            <a:spLocks noChangeArrowheads="1"/>
          </p:cNvSpPr>
          <p:nvPr/>
        </p:nvSpPr>
        <p:spPr bwMode="auto">
          <a:xfrm>
            <a:off x="125971" y="2681230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sp>
        <p:nvSpPr>
          <p:cNvPr id="76" name="等腰三角形 75"/>
          <p:cNvSpPr/>
          <p:nvPr/>
        </p:nvSpPr>
        <p:spPr>
          <a:xfrm rot="10800000">
            <a:off x="489603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/>
          <p:cNvSpPr/>
          <p:nvPr/>
        </p:nvSpPr>
        <p:spPr>
          <a:xfrm rot="10800000">
            <a:off x="561611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/>
          <p:cNvSpPr/>
          <p:nvPr/>
        </p:nvSpPr>
        <p:spPr>
          <a:xfrm rot="10800000">
            <a:off x="633619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等腰三角形 79"/>
          <p:cNvSpPr/>
          <p:nvPr/>
        </p:nvSpPr>
        <p:spPr>
          <a:xfrm rot="10800000">
            <a:off x="705627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等腰三角形 85"/>
          <p:cNvSpPr/>
          <p:nvPr/>
        </p:nvSpPr>
        <p:spPr>
          <a:xfrm rot="10800000">
            <a:off x="777635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等腰三角形 89"/>
          <p:cNvSpPr/>
          <p:nvPr/>
        </p:nvSpPr>
        <p:spPr>
          <a:xfrm>
            <a:off x="4644008" y="2708920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7733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装入初值后输出端变高电平，计数结束输出一个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宽度的负脉冲。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端应保持高电平。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软件启动，不自动重复计数。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：硬件触发选通脉冲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1934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产生一个上升沿：</a:t>
            </a:r>
            <a:endParaRPr lang="en-US" altLang="zh-CN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写入控制字后，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端变为高电平，写入初始值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后，必须等待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的上升沿触发才转入计数。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计数器减至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端输出一个脉冲周期的负脉冲。然后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值自动装入计数器，但要等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的上升沿来后才再次开始计数。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1043608" y="2405883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176368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/>
          <p:cNvCxnSpPr/>
          <p:nvPr/>
        </p:nvCxnSpPr>
        <p:spPr>
          <a:xfrm>
            <a:off x="1763688" y="2045843"/>
            <a:ext cx="7200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2708920"/>
            <a:ext cx="3960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H="1">
            <a:off x="2123726" y="1651685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906781" y="234888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2702876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3381821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4103485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3"/>
          <p:cNvSpPr>
            <a:spLocks noChangeArrowheads="1"/>
          </p:cNvSpPr>
          <p:nvPr/>
        </p:nvSpPr>
        <p:spPr bwMode="auto">
          <a:xfrm>
            <a:off x="4763294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5004048" y="270892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5004048" y="306809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5724128" y="270805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5724128" y="2708052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267568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cxnSp>
        <p:nvCxnSpPr>
          <p:cNvPr id="127" name="直接连接符 126"/>
          <p:cNvCxnSpPr/>
          <p:nvPr/>
        </p:nvCxnSpPr>
        <p:spPr>
          <a:xfrm flipH="1">
            <a:off x="5004046" y="1709282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等腰三角形 68"/>
          <p:cNvSpPr/>
          <p:nvPr/>
        </p:nvSpPr>
        <p:spPr>
          <a:xfrm rot="10800000">
            <a:off x="489603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等腰三角形 69"/>
          <p:cNvSpPr/>
          <p:nvPr/>
        </p:nvSpPr>
        <p:spPr>
          <a:xfrm rot="10800000">
            <a:off x="417595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等腰三角形 70"/>
          <p:cNvSpPr/>
          <p:nvPr/>
        </p:nvSpPr>
        <p:spPr>
          <a:xfrm rot="10800000">
            <a:off x="345587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等腰三角形 71"/>
          <p:cNvSpPr/>
          <p:nvPr/>
        </p:nvSpPr>
        <p:spPr>
          <a:xfrm rot="10800000">
            <a:off x="2735796" y="1556791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等腰三角形 72"/>
          <p:cNvSpPr/>
          <p:nvPr/>
        </p:nvSpPr>
        <p:spPr>
          <a:xfrm rot="10800000">
            <a:off x="2015716" y="1556792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等腰三角形 73"/>
          <p:cNvSpPr/>
          <p:nvPr/>
        </p:nvSpPr>
        <p:spPr>
          <a:xfrm>
            <a:off x="1655676" y="213285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49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：硬件触发选通脉冲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16" name="直接连接符 15"/>
          <p:cNvCxnSpPr/>
          <p:nvPr/>
        </p:nvCxnSpPr>
        <p:spPr>
          <a:xfrm>
            <a:off x="6835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10436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10436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4036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4036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17636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7636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1237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21237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24837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4837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28438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8438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 flipV="1">
            <a:off x="32038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32038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35638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35638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V="1">
            <a:off x="39239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39239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42839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42839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 flipV="1">
            <a:off x="46440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46440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50040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>
            <a:off x="50040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3640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536408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41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572412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 flipV="1">
            <a:off x="60841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608416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4442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644420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68042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>
            <a:off x="680424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16428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716428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2432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752432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788436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88436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824440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8244408" y="145041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8604448" y="1450416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604448" y="1810456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矩形 3"/>
          <p:cNvSpPr>
            <a:spLocks noChangeArrowheads="1"/>
          </p:cNvSpPr>
          <p:nvPr/>
        </p:nvSpPr>
        <p:spPr bwMode="auto">
          <a:xfrm>
            <a:off x="144016" y="1435681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endParaRPr lang="en-US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TextBox 17"/>
          <p:cNvSpPr txBox="1"/>
          <p:nvPr/>
        </p:nvSpPr>
        <p:spPr>
          <a:xfrm>
            <a:off x="251520" y="3429000"/>
            <a:ext cx="8546193" cy="1160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计数过程中，若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变低电平，不影响计数，但其上升沿将使得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重新装入计数器，开始计数。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如果是计数结束后，再一次产生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的上升沿，则再次计数。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3" name="直接连接符 82"/>
          <p:cNvCxnSpPr/>
          <p:nvPr/>
        </p:nvCxnSpPr>
        <p:spPr>
          <a:xfrm>
            <a:off x="1043608" y="2405883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 flipV="1">
            <a:off x="1763688" y="2045843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矩形 3"/>
          <p:cNvSpPr>
            <a:spLocks noChangeArrowheads="1"/>
          </p:cNvSpPr>
          <p:nvPr/>
        </p:nvSpPr>
        <p:spPr bwMode="auto">
          <a:xfrm>
            <a:off x="158445" y="1988840"/>
            <a:ext cx="765874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</a:p>
        </p:txBody>
      </p:sp>
      <p:cxnSp>
        <p:nvCxnSpPr>
          <p:cNvPr id="93" name="直接连接符 92"/>
          <p:cNvCxnSpPr/>
          <p:nvPr/>
        </p:nvCxnSpPr>
        <p:spPr>
          <a:xfrm>
            <a:off x="1043608" y="2708920"/>
            <a:ext cx="6840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H="1">
            <a:off x="2123726" y="1651685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矩形 3"/>
          <p:cNvSpPr>
            <a:spLocks noChangeArrowheads="1"/>
          </p:cNvSpPr>
          <p:nvPr/>
        </p:nvSpPr>
        <p:spPr bwMode="auto">
          <a:xfrm>
            <a:off x="1835696" y="2348880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矩形 3"/>
          <p:cNvSpPr>
            <a:spLocks noChangeArrowheads="1"/>
          </p:cNvSpPr>
          <p:nvPr/>
        </p:nvSpPr>
        <p:spPr bwMode="auto">
          <a:xfrm>
            <a:off x="2559783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矩形 3"/>
          <p:cNvSpPr>
            <a:spLocks noChangeArrowheads="1"/>
          </p:cNvSpPr>
          <p:nvPr/>
        </p:nvSpPr>
        <p:spPr bwMode="auto">
          <a:xfrm>
            <a:off x="3238728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矩形 3"/>
          <p:cNvSpPr>
            <a:spLocks noChangeArrowheads="1"/>
          </p:cNvSpPr>
          <p:nvPr/>
        </p:nvSpPr>
        <p:spPr bwMode="auto">
          <a:xfrm>
            <a:off x="3960392" y="2348880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2" name="直接连接符 121"/>
          <p:cNvCxnSpPr/>
          <p:nvPr/>
        </p:nvCxnSpPr>
        <p:spPr>
          <a:xfrm flipV="1">
            <a:off x="7884368" y="2708920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>
            <a:off x="7884368" y="3068092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/>
          <p:cNvCxnSpPr/>
          <p:nvPr/>
        </p:nvCxnSpPr>
        <p:spPr>
          <a:xfrm flipV="1">
            <a:off x="8604448" y="2708052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/>
          <p:cNvCxnSpPr/>
          <p:nvPr/>
        </p:nvCxnSpPr>
        <p:spPr>
          <a:xfrm>
            <a:off x="8604448" y="2708052"/>
            <a:ext cx="360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矩形 3"/>
          <p:cNvSpPr>
            <a:spLocks noChangeArrowheads="1"/>
          </p:cNvSpPr>
          <p:nvPr/>
        </p:nvSpPr>
        <p:spPr bwMode="auto">
          <a:xfrm>
            <a:off x="126902" y="2675683"/>
            <a:ext cx="1259210" cy="415307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OUTPUT</a:t>
            </a:r>
          </a:p>
        </p:txBody>
      </p:sp>
      <p:cxnSp>
        <p:nvCxnSpPr>
          <p:cNvPr id="127" name="直接连接符 126"/>
          <p:cNvCxnSpPr/>
          <p:nvPr/>
        </p:nvCxnSpPr>
        <p:spPr>
          <a:xfrm flipH="1">
            <a:off x="5004046" y="1709282"/>
            <a:ext cx="1" cy="1504924"/>
          </a:xfrm>
          <a:prstGeom prst="line">
            <a:avLst/>
          </a:prstGeom>
          <a:ln>
            <a:solidFill>
              <a:srgbClr val="00B05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/>
        </p:nvCxnSpPr>
        <p:spPr>
          <a:xfrm>
            <a:off x="1763686" y="2039571"/>
            <a:ext cx="15841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3347864" y="2044107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3347864" y="2401780"/>
            <a:ext cx="11161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 flipV="1">
            <a:off x="4463988" y="2039571"/>
            <a:ext cx="0" cy="360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4463988" y="2039571"/>
            <a:ext cx="3240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3"/>
          <p:cNvSpPr>
            <a:spLocks noChangeArrowheads="1"/>
          </p:cNvSpPr>
          <p:nvPr/>
        </p:nvSpPr>
        <p:spPr bwMode="auto">
          <a:xfrm>
            <a:off x="4722608" y="2329771"/>
            <a:ext cx="324499" cy="48936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3"/>
          <p:cNvSpPr>
            <a:spLocks noChangeArrowheads="1"/>
          </p:cNvSpPr>
          <p:nvPr/>
        </p:nvSpPr>
        <p:spPr bwMode="auto">
          <a:xfrm>
            <a:off x="5498755" y="2325471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3"/>
          <p:cNvSpPr>
            <a:spLocks noChangeArrowheads="1"/>
          </p:cNvSpPr>
          <p:nvPr/>
        </p:nvSpPr>
        <p:spPr bwMode="auto">
          <a:xfrm>
            <a:off x="6177700" y="2325471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3"/>
          <p:cNvSpPr>
            <a:spLocks noChangeArrowheads="1"/>
          </p:cNvSpPr>
          <p:nvPr/>
        </p:nvSpPr>
        <p:spPr bwMode="auto">
          <a:xfrm>
            <a:off x="6899364" y="2325471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矩形 3"/>
          <p:cNvSpPr>
            <a:spLocks noChangeArrowheads="1"/>
          </p:cNvSpPr>
          <p:nvPr/>
        </p:nvSpPr>
        <p:spPr bwMode="auto">
          <a:xfrm>
            <a:off x="7661580" y="2306362"/>
            <a:ext cx="324499" cy="451149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endParaRPr lang="en-US" altLang="zh-CN" sz="2000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等腰三角形 77"/>
          <p:cNvSpPr/>
          <p:nvPr/>
        </p:nvSpPr>
        <p:spPr>
          <a:xfrm>
            <a:off x="4355976" y="2132856"/>
            <a:ext cx="180020" cy="144016"/>
          </a:xfrm>
          <a:prstGeom prst="triangle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715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6" name="矩形 5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写入初值时，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端应保持低电平，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每出现一次正脉冲，计数一个周期，然后停止计数。</a:t>
            </a:r>
          </a:p>
        </p:txBody>
      </p:sp>
      <p:sp>
        <p:nvSpPr>
          <p:cNvPr id="7" name="矩形 6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每个计数周期结束时（减到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时），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端输出一个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宽度的负脉冲。计数过程中修改初值不影响本轮计数过程。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硬件启动，不自动重复计数，但是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上升沿可重复触发。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OUT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端波形与方式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工作方式总结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信号的有效形式：方式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，电平控制；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，上升沿触发（硬件触发）；方式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，电平和上升沿都起作用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内容装入计数部件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的时刻：方式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初值后</a:t>
            </a: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下降沿；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，硬件触发；方式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，写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初值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下降沿，硬件触发和自动重装。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置方式字时，起到逻辑复位的功能。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计数最大值为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b="1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0,1,4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后，并未停止计数，而是从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0-&gt;0FFFFH-&gt;0FFFFEH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继续减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计数。在方式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CE计数到0后，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自动装入初值。</a:t>
            </a:r>
          </a:p>
        </p:txBody>
      </p:sp>
      <p:sp>
        <p:nvSpPr>
          <p:cNvPr id="12" name="矩形 11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工作方式总结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5" name="矩形 4"/>
          <p:cNvSpPr/>
          <p:nvPr/>
        </p:nvSpPr>
        <p:spPr>
          <a:xfrm>
            <a:off x="1691467" y="2673955"/>
            <a:ext cx="6408923" cy="873661"/>
          </a:xfrm>
          <a:prstGeom prst="rect">
            <a:avLst/>
          </a:prstGeom>
          <a:solidFill>
            <a:srgbClr val="1D8D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，虽然不自动重复，但是，可通过产生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上升沿即通过硬件重复触发。</a:t>
            </a:r>
          </a:p>
        </p:txBody>
      </p:sp>
      <p:sp>
        <p:nvSpPr>
          <p:cNvPr id="6" name="矩形 5"/>
          <p:cNvSpPr/>
          <p:nvPr/>
        </p:nvSpPr>
        <p:spPr>
          <a:xfrm>
            <a:off x="1691468" y="3877287"/>
            <a:ext cx="6408924" cy="873661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用于计数结束产生中断。方式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产生一个宽度为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的负脉冲。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91256" y="1484784"/>
            <a:ext cx="6408924" cy="873661"/>
          </a:xfrm>
          <a:prstGeom prst="rect">
            <a:avLst/>
          </a:prstGeom>
          <a:solidFill>
            <a:srgbClr val="FF32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自动重复计数，常用作分频，要求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15403" y="148478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15403" y="2673954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403" y="3877286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91256" y="5080618"/>
            <a:ext cx="6408924" cy="873661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波形相同，产生选通信号，但门控信号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要求不同，方式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GATE=1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，方式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GATE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上升沿。</a:t>
            </a:r>
            <a:endParaRPr lang="zh-CN" altLang="en-US" b="1" u="sng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115191" y="5080617"/>
            <a:ext cx="545206" cy="87366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3200" dirty="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/>
          <p:cNvSpPr txBox="1"/>
          <p:nvPr/>
        </p:nvSpPr>
        <p:spPr>
          <a:xfrm>
            <a:off x="4292127" y="1867768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定时基本概念</a:t>
            </a:r>
          </a:p>
        </p:txBody>
      </p:sp>
      <p:sp>
        <p:nvSpPr>
          <p:cNvPr id="3" name="椭圆 2"/>
          <p:cNvSpPr/>
          <p:nvPr/>
        </p:nvSpPr>
        <p:spPr>
          <a:xfrm>
            <a:off x="3859857" y="1916832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4292127" y="3020293"/>
            <a:ext cx="3240137" cy="841375"/>
          </a:xfrm>
          <a:prstGeom prst="roundRect">
            <a:avLst>
              <a:gd name="adj" fmla="val 8176"/>
            </a:avLst>
          </a:prstGeom>
          <a:noFill/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solidFill>
                  <a:srgbClr val="A6A6A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8253</a:t>
            </a:r>
            <a:r>
              <a:rPr lang="zh-CN" altLang="en-US" dirty="0"/>
              <a:t>定时器</a:t>
            </a:r>
          </a:p>
        </p:txBody>
      </p:sp>
      <p:sp>
        <p:nvSpPr>
          <p:cNvPr id="5" name="椭圆 4"/>
          <p:cNvSpPr/>
          <p:nvPr/>
        </p:nvSpPr>
        <p:spPr>
          <a:xfrm>
            <a:off x="3859857" y="3069357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284190" y="4171801"/>
            <a:ext cx="3240137" cy="841375"/>
          </a:xfrm>
          <a:prstGeom prst="roundRect">
            <a:avLst>
              <a:gd name="adj" fmla="val 8176"/>
            </a:avLst>
          </a:prstGeom>
          <a:solidFill>
            <a:srgbClr val="5DCB08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>
            <a:defPPr>
              <a:defRPr lang="en-US"/>
            </a:defPPr>
            <a:lvl1pPr algn="ctr"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应用举例</a:t>
            </a:r>
          </a:p>
        </p:txBody>
      </p:sp>
      <p:sp>
        <p:nvSpPr>
          <p:cNvPr id="7" name="椭圆 6"/>
          <p:cNvSpPr/>
          <p:nvPr/>
        </p:nvSpPr>
        <p:spPr>
          <a:xfrm>
            <a:off x="3851920" y="4220865"/>
            <a:ext cx="745008" cy="73342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直接连接符 60"/>
          <p:cNvCxnSpPr/>
          <p:nvPr/>
        </p:nvCxnSpPr>
        <p:spPr>
          <a:xfrm>
            <a:off x="5019279" y="2918644"/>
            <a:ext cx="3448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827410" y="260648"/>
            <a:ext cx="7993061" cy="1063946"/>
          </a:xfrm>
          <a:prstGeom prst="rect">
            <a:avLst/>
          </a:prstGeom>
          <a:noFill/>
          <a:ln w="9525">
            <a:solidFill>
              <a:srgbClr val="FF9300"/>
            </a:solidFill>
            <a:prstDash val="dash"/>
            <a:miter lim="800000"/>
          </a:ln>
        </p:spPr>
        <p:txBody>
          <a:bodyPr wrap="square">
            <a:spAutoFit/>
          </a:bodyPr>
          <a:lstStyle/>
          <a:p>
            <a:pPr algn="just">
              <a:lnSpc>
                <a:spcPct val="139000"/>
              </a:lnSpc>
              <a:spcAft>
                <a:spcPts val="600"/>
              </a:spcAft>
              <a:defRPr/>
            </a:pPr>
            <a:r>
              <a:rPr lang="zh-CN" altLang="en-US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下图是用</a:t>
            </a:r>
            <a:r>
              <a:rPr lang="en-US" altLang="zh-CN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监视的一个生产流水线示意图，每通过</a:t>
            </a:r>
            <a:r>
              <a:rPr lang="en-US" altLang="zh-CN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个工件扬声器响</a:t>
            </a:r>
            <a:r>
              <a:rPr lang="en-US" altLang="zh-CN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秒钟，频率为</a:t>
            </a:r>
            <a:r>
              <a:rPr lang="en-US" altLang="zh-CN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2000Hz</a:t>
            </a:r>
            <a:r>
              <a:rPr lang="zh-CN" altLang="en-US" sz="2400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3275856" y="2141166"/>
            <a:ext cx="1765188" cy="1872208"/>
          </a:xfrm>
          <a:prstGeom prst="rect">
            <a:avLst/>
          </a:prstGeom>
          <a:solidFill>
            <a:srgbClr val="00B8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2838145" y="3350493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242301" y="2330024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03829" y="3581829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70193" y="3165827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270193" y="3644042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00997" y="23455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2743480" y="3828708"/>
            <a:ext cx="526713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H="1">
            <a:off x="5004048" y="2514690"/>
            <a:ext cx="6840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5041044" y="3797331"/>
            <a:ext cx="1115132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5693347" y="2309270"/>
            <a:ext cx="144016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 flipH="1" flipV="1">
            <a:off x="5693347" y="2093228"/>
            <a:ext cx="144016" cy="1613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5837363" y="2082624"/>
            <a:ext cx="0" cy="43206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V="1">
            <a:off x="5693347" y="1445174"/>
            <a:ext cx="0" cy="6480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837363" y="2281641"/>
            <a:ext cx="5040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305911" y="2480659"/>
            <a:ext cx="7200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6310020" y="1855726"/>
            <a:ext cx="7200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5691323" y="1661198"/>
            <a:ext cx="650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6341419" y="1653388"/>
            <a:ext cx="0" cy="194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6341419" y="2082624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6341419" y="2696683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6269411" y="3084113"/>
            <a:ext cx="1440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5128896" y="1412776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652120" y="2888215"/>
            <a:ext cx="72008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连接符 63"/>
          <p:cNvCxnSpPr/>
          <p:nvPr/>
        </p:nvCxnSpPr>
        <p:spPr>
          <a:xfrm flipV="1">
            <a:off x="5687628" y="3104239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5615620" y="3491669"/>
            <a:ext cx="14401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5688124" y="2502968"/>
            <a:ext cx="0" cy="387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6156176" y="3423839"/>
            <a:ext cx="426329" cy="8097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驱动器</a:t>
            </a:r>
          </a:p>
        </p:txBody>
      </p:sp>
      <p:cxnSp>
        <p:nvCxnSpPr>
          <p:cNvPr id="70" name="直接连接符 69"/>
          <p:cNvCxnSpPr/>
          <p:nvPr/>
        </p:nvCxnSpPr>
        <p:spPr>
          <a:xfrm>
            <a:off x="6582505" y="3828707"/>
            <a:ext cx="6500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7232601" y="3766495"/>
            <a:ext cx="75703" cy="2468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梯形 71"/>
          <p:cNvSpPr/>
          <p:nvPr/>
        </p:nvSpPr>
        <p:spPr>
          <a:xfrm rot="16200000">
            <a:off x="7234697" y="3798950"/>
            <a:ext cx="339463" cy="192249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7627964" y="37202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扬声器</a:t>
            </a:r>
          </a:p>
        </p:txBody>
      </p:sp>
      <p:cxnSp>
        <p:nvCxnSpPr>
          <p:cNvPr id="74" name="直接箭头连接符 73"/>
          <p:cNvCxnSpPr/>
          <p:nvPr/>
        </p:nvCxnSpPr>
        <p:spPr>
          <a:xfrm flipH="1">
            <a:off x="6475505" y="2584962"/>
            <a:ext cx="15910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7258549" y="2091930"/>
            <a:ext cx="256361" cy="162676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7094021" y="16107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工件</a:t>
            </a:r>
          </a:p>
        </p:txBody>
      </p:sp>
      <p:cxnSp>
        <p:nvCxnSpPr>
          <p:cNvPr id="79" name="直接箭头连接符 78"/>
          <p:cNvCxnSpPr>
            <a:stCxn id="76" idx="2"/>
          </p:cNvCxnSpPr>
          <p:nvPr/>
        </p:nvCxnSpPr>
        <p:spPr>
          <a:xfrm flipH="1">
            <a:off x="7386729" y="2254606"/>
            <a:ext cx="1" cy="741621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/>
        </p:nvSpPr>
        <p:spPr>
          <a:xfrm>
            <a:off x="8030125" y="240029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光源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6524879" y="22196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光敏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6524879" y="264389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电阻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1768127" y="3697287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8255PC0</a:t>
            </a:r>
            <a:endParaRPr lang="zh-CN" altLang="en-US" sz="14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022623" y="3140968"/>
            <a:ext cx="8931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1.4MHz</a:t>
            </a:r>
            <a:endParaRPr lang="zh-CN" altLang="en-US" sz="16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122644" y="2359913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INT</a:t>
            </a:r>
            <a:endParaRPr lang="zh-CN" altLang="en-US" sz="12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grpSp>
        <p:nvGrpSpPr>
          <p:cNvPr id="88" name="组合 87"/>
          <p:cNvGrpSpPr/>
          <p:nvPr/>
        </p:nvGrpSpPr>
        <p:grpSpPr>
          <a:xfrm>
            <a:off x="2707476" y="2407169"/>
            <a:ext cx="275818" cy="215042"/>
            <a:chOff x="5786718" y="2564904"/>
            <a:chExt cx="551637" cy="304797"/>
          </a:xfrm>
        </p:grpSpPr>
        <p:sp>
          <p:nvSpPr>
            <p:cNvPr id="86" name="等腰三角形 85"/>
            <p:cNvSpPr/>
            <p:nvPr/>
          </p:nvSpPr>
          <p:spPr>
            <a:xfrm rot="16200000">
              <a:off x="5966665" y="2498011"/>
              <a:ext cx="304797" cy="438583"/>
            </a:xfrm>
            <a:prstGeom prst="triangl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椭圆 86"/>
            <p:cNvSpPr/>
            <p:nvPr/>
          </p:nvSpPr>
          <p:spPr>
            <a:xfrm>
              <a:off x="5786718" y="2635739"/>
              <a:ext cx="144016" cy="14401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90" name="直接连接符 89"/>
          <p:cNvCxnSpPr/>
          <p:nvPr/>
        </p:nvCxnSpPr>
        <p:spPr>
          <a:xfrm flipH="1">
            <a:off x="2996571" y="2525294"/>
            <a:ext cx="273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/>
        </p:nvCxnSpPr>
        <p:spPr>
          <a:xfrm flipH="1">
            <a:off x="2433854" y="2520286"/>
            <a:ext cx="2736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17"/>
          <p:cNvSpPr txBox="1"/>
          <p:nvPr/>
        </p:nvSpPr>
        <p:spPr>
          <a:xfrm>
            <a:off x="887717" y="4365103"/>
            <a:ext cx="7920878" cy="156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分频方式，每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CLK0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产生一个中断，控制字为：</a:t>
            </a:r>
            <a:r>
              <a:rPr lang="en-US" altLang="zh-CN" b="1" dirty="0" smtClean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00010101B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初值只写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计数，初值为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50H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方波，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控制字为：</a:t>
            </a:r>
            <a:r>
              <a:rPr lang="en-US" altLang="zh-CN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01110111B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，即方式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，先低后高，</a:t>
            </a:r>
            <a:r>
              <a:rPr lang="en-US" altLang="zh-CN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计数。</a:t>
            </a:r>
            <a:endParaRPr lang="en-US" altLang="zh-CN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815534" y="4365104"/>
            <a:ext cx="7993061" cy="1638077"/>
          </a:xfrm>
          <a:prstGeom prst="rect">
            <a:avLst/>
          </a:prstGeom>
          <a:noFill/>
          <a:ln w="12700">
            <a:solidFill>
              <a:srgbClr val="1D8DE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/>
          <p:cNvSpPr/>
          <p:nvPr/>
        </p:nvSpPr>
        <p:spPr>
          <a:xfrm>
            <a:off x="2555776" y="5504285"/>
            <a:ext cx="5348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初值（分频比）=（1.4×10</a:t>
            </a:r>
            <a:r>
              <a:rPr lang="zh-CN" altLang="en-US" b="1" baseline="300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）/2000=700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4062765" y="2733279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55" name="直接连接符 54"/>
          <p:cNvCxnSpPr/>
          <p:nvPr/>
        </p:nvCxnSpPr>
        <p:spPr>
          <a:xfrm flipV="1">
            <a:off x="5360133" y="1855727"/>
            <a:ext cx="0" cy="1062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5355301" y="1853758"/>
            <a:ext cx="3360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755576" y="2387188"/>
            <a:ext cx="648072" cy="1646558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文本框 53"/>
          <p:cNvSpPr txBox="1"/>
          <p:nvPr/>
        </p:nvSpPr>
        <p:spPr>
          <a:xfrm>
            <a:off x="755576" y="2934962"/>
            <a:ext cx="619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CPU</a:t>
            </a:r>
            <a:endParaRPr lang="zh-CN" altLang="en-US" sz="1600" b="1" dirty="0">
              <a:solidFill>
                <a:srgbClr val="FF3255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1763688" y="3648977"/>
            <a:ext cx="936104" cy="384769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7" name="直接箭头连接符 96"/>
          <p:cNvCxnSpPr>
            <a:stCxn id="92" idx="1"/>
          </p:cNvCxnSpPr>
          <p:nvPr/>
        </p:nvCxnSpPr>
        <p:spPr>
          <a:xfrm flipH="1" flipV="1">
            <a:off x="1403648" y="3828708"/>
            <a:ext cx="360040" cy="12654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矩形 97"/>
          <p:cNvSpPr/>
          <p:nvPr/>
        </p:nvSpPr>
        <p:spPr>
          <a:xfrm>
            <a:off x="1642774" y="2383708"/>
            <a:ext cx="552962" cy="384769"/>
          </a:xfrm>
          <a:prstGeom prst="rect">
            <a:avLst/>
          </a:prstGeom>
          <a:noFill/>
          <a:ln>
            <a:solidFill>
              <a:srgbClr val="FD7A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619672" y="2401143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b="1" dirty="0" smtClean="0">
                <a:solidFill>
                  <a:srgbClr val="FF3255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8259</a:t>
            </a:r>
            <a:endParaRPr lang="zh-CN" altLang="en-US" sz="1400" dirty="0"/>
          </a:p>
        </p:txBody>
      </p:sp>
      <p:cxnSp>
        <p:nvCxnSpPr>
          <p:cNvPr id="100" name="直接箭头连接符 99"/>
          <p:cNvCxnSpPr/>
          <p:nvPr/>
        </p:nvCxnSpPr>
        <p:spPr>
          <a:xfrm flipH="1">
            <a:off x="1374656" y="2556035"/>
            <a:ext cx="268118" cy="8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75656" y="908720"/>
            <a:ext cx="2448272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15H</a:t>
            </a: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43H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50H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	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40H,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63H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77H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43H, 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00H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41H,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07H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41H,  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STI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NOP</a:t>
            </a: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JMP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LOP</a:t>
            </a:r>
          </a:p>
        </p:txBody>
      </p:sp>
      <p:sp>
        <p:nvSpPr>
          <p:cNvPr id="7" name="矩形 6"/>
          <p:cNvSpPr/>
          <p:nvPr/>
        </p:nvSpPr>
        <p:spPr>
          <a:xfrm>
            <a:off x="4891724" y="974724"/>
            <a:ext cx="3976588" cy="42567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置计数器</a:t>
            </a:r>
            <a:r>
              <a:rPr lang="en-US" altLang="zh-CN" sz="2200" dirty="0">
                <a:ea typeface="微软雅黑" panose="020B0503020204020204" pitchFamily="34" charset="-122"/>
              </a:rPr>
              <a:t>0</a:t>
            </a:r>
            <a:r>
              <a:rPr lang="zh-CN" altLang="en-US" sz="2200" dirty="0">
                <a:ea typeface="微软雅黑" panose="020B0503020204020204" pitchFamily="34" charset="-122"/>
              </a:rPr>
              <a:t>的工作方式</a:t>
            </a:r>
          </a:p>
        </p:txBody>
      </p:sp>
      <p:sp>
        <p:nvSpPr>
          <p:cNvPr id="8" name="矩形 7"/>
          <p:cNvSpPr/>
          <p:nvPr/>
        </p:nvSpPr>
        <p:spPr>
          <a:xfrm>
            <a:off x="4891724" y="157536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装初值</a:t>
            </a:r>
          </a:p>
        </p:txBody>
      </p:sp>
      <p:sp>
        <p:nvSpPr>
          <p:cNvPr id="10" name="矩形 9"/>
          <p:cNvSpPr/>
          <p:nvPr/>
        </p:nvSpPr>
        <p:spPr>
          <a:xfrm>
            <a:off x="4891724" y="2235378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关</a:t>
            </a:r>
            <a:r>
              <a:rPr lang="en-US" altLang="zh-CN" sz="2200" dirty="0">
                <a:ea typeface="微软雅黑" panose="020B0503020204020204" pitchFamily="34" charset="-122"/>
              </a:rPr>
              <a:t>8255</a:t>
            </a:r>
            <a:r>
              <a:rPr lang="zh-CN" altLang="en-US" sz="2200" dirty="0"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ea typeface="微软雅黑" panose="020B0503020204020204" pitchFamily="34" charset="-122"/>
              </a:rPr>
              <a:t>PC0</a:t>
            </a:r>
            <a:endParaRPr lang="zh-CN" altLang="en-US" sz="2200" dirty="0"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891724" y="2908803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置计数器</a:t>
            </a:r>
            <a:r>
              <a:rPr lang="en-US" altLang="zh-CN" sz="2200" dirty="0">
                <a:ea typeface="微软雅黑" panose="020B0503020204020204" pitchFamily="34" charset="-122"/>
              </a:rPr>
              <a:t>1</a:t>
            </a:r>
            <a:r>
              <a:rPr lang="zh-CN" altLang="en-US" sz="2200" dirty="0">
                <a:ea typeface="微软雅黑" panose="020B0503020204020204" pitchFamily="34" charset="-122"/>
              </a:rPr>
              <a:t>的工作方式</a:t>
            </a:r>
          </a:p>
        </p:txBody>
      </p:sp>
      <p:sp>
        <p:nvSpPr>
          <p:cNvPr id="12" name="矩形 11"/>
          <p:cNvSpPr/>
          <p:nvPr/>
        </p:nvSpPr>
        <p:spPr>
          <a:xfrm>
            <a:off x="4891724" y="344941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装初值，低</a:t>
            </a:r>
            <a:r>
              <a:rPr lang="en-US" altLang="zh-CN" sz="2200" dirty="0"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3" name="矩形 12"/>
          <p:cNvSpPr/>
          <p:nvPr/>
        </p:nvSpPr>
        <p:spPr>
          <a:xfrm>
            <a:off x="4891724" y="4036135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装初值，高</a:t>
            </a:r>
            <a:r>
              <a:rPr lang="en-US" altLang="zh-CN" sz="2200" dirty="0">
                <a:ea typeface="微软雅黑" panose="020B0503020204020204" pitchFamily="34" charset="-122"/>
              </a:rPr>
              <a:t>8</a:t>
            </a:r>
            <a:r>
              <a:rPr lang="zh-CN" altLang="en-US" sz="2200" dirty="0">
                <a:ea typeface="微软雅黑" panose="020B0503020204020204" pitchFamily="34" charset="-122"/>
              </a:rPr>
              <a:t>位</a:t>
            </a:r>
          </a:p>
        </p:txBody>
      </p:sp>
      <p:sp>
        <p:nvSpPr>
          <p:cNvPr id="14" name="矩形 13"/>
          <p:cNvSpPr/>
          <p:nvPr/>
        </p:nvSpPr>
        <p:spPr>
          <a:xfrm>
            <a:off x="4891724" y="4567688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开中断</a:t>
            </a:r>
          </a:p>
        </p:txBody>
      </p:sp>
      <p:sp>
        <p:nvSpPr>
          <p:cNvPr id="15" name="矩形 14"/>
          <p:cNvSpPr/>
          <p:nvPr/>
        </p:nvSpPr>
        <p:spPr>
          <a:xfrm>
            <a:off x="4891724" y="5293655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 </a:t>
            </a:r>
            <a:r>
              <a:rPr lang="zh-CN" altLang="en-US" sz="2200" dirty="0">
                <a:ea typeface="微软雅黑" panose="020B0503020204020204" pitchFamily="34" charset="-122"/>
              </a:rPr>
              <a:t>进入循环等待中断</a:t>
            </a:r>
          </a:p>
        </p:txBody>
      </p:sp>
      <p:sp>
        <p:nvSpPr>
          <p:cNvPr id="3" name="矩形 2"/>
          <p:cNvSpPr/>
          <p:nvPr/>
        </p:nvSpPr>
        <p:spPr>
          <a:xfrm>
            <a:off x="736824" y="4873670"/>
            <a:ext cx="7360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LOP:</a:t>
            </a:r>
          </a:p>
        </p:txBody>
      </p:sp>
      <p:sp>
        <p:nvSpPr>
          <p:cNvPr id="5" name="右大括号 4"/>
          <p:cNvSpPr/>
          <p:nvPr/>
        </p:nvSpPr>
        <p:spPr>
          <a:xfrm>
            <a:off x="3779912" y="2276872"/>
            <a:ext cx="144016" cy="39055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大括号 16"/>
          <p:cNvSpPr/>
          <p:nvPr/>
        </p:nvSpPr>
        <p:spPr>
          <a:xfrm>
            <a:off x="3762490" y="1700808"/>
            <a:ext cx="144016" cy="39055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右大括号 17"/>
          <p:cNvSpPr/>
          <p:nvPr/>
        </p:nvSpPr>
        <p:spPr>
          <a:xfrm>
            <a:off x="3762490" y="1052736"/>
            <a:ext cx="144016" cy="39055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右大括号 18"/>
          <p:cNvSpPr/>
          <p:nvPr/>
        </p:nvSpPr>
        <p:spPr>
          <a:xfrm>
            <a:off x="3788296" y="2908803"/>
            <a:ext cx="144016" cy="39055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大括号 19"/>
          <p:cNvSpPr/>
          <p:nvPr/>
        </p:nvSpPr>
        <p:spPr>
          <a:xfrm>
            <a:off x="3779912" y="3514912"/>
            <a:ext cx="152400" cy="1052776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75656" y="908720"/>
            <a:ext cx="3240360" cy="298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1pPr>
            <a:lvl2pPr marL="1143000" indent="-285750">
              <a:spcBef>
                <a:spcPct val="20000"/>
              </a:spcBef>
              <a:buChar char="–"/>
              <a:defRPr kumimoji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2pPr>
            <a:lvl3pPr marL="1333500" indent="-228600">
              <a:spcBef>
                <a:spcPct val="20000"/>
              </a:spcBef>
              <a:buChar char="•"/>
              <a:defRPr kumimoji="1"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3pPr>
            <a:lvl4pPr marL="1524000" indent="-2286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charset="-122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INTP</a:t>
            </a:r>
            <a:r>
              <a:rPr lang="zh-CN" altLang="en-US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PROC</a:t>
            </a:r>
            <a:endParaRPr lang="zh-CN" altLang="en-US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FF3255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01H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63H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CALL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DLY5S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00H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63H</a:t>
            </a:r>
            <a:r>
              <a:rPr lang="zh-CN" altLang="en-US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1D8DE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</a:t>
            </a:r>
          </a:p>
          <a:p>
            <a:pPr lvl="1"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IRET</a:t>
            </a:r>
          </a:p>
          <a:p>
            <a:pPr algn="just">
              <a:spcBef>
                <a:spcPct val="0"/>
              </a:spcBef>
              <a:buNone/>
            </a:pPr>
            <a:endParaRPr lang="en-US" altLang="zh-CN" b="1" dirty="0">
              <a:solidFill>
                <a:srgbClr val="00B853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None/>
            </a:pPr>
            <a:r>
              <a:rPr lang="en-US" altLang="zh-CN" b="1" dirty="0">
                <a:solidFill>
                  <a:srgbClr val="00B853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INTP</a:t>
            </a:r>
            <a:r>
              <a:rPr lang="en-US" altLang="zh-CN" b="1" dirty="0">
                <a:solidFill>
                  <a:srgbClr val="FF325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ENDP</a:t>
            </a:r>
          </a:p>
        </p:txBody>
      </p:sp>
      <p:sp>
        <p:nvSpPr>
          <p:cNvPr id="7" name="矩形 6"/>
          <p:cNvSpPr/>
          <p:nvPr/>
        </p:nvSpPr>
        <p:spPr>
          <a:xfrm>
            <a:off x="4890843" y="1557903"/>
            <a:ext cx="3976588" cy="425670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</a:t>
            </a:r>
            <a:r>
              <a:rPr lang="zh-CN" altLang="en-US" sz="2200" dirty="0">
                <a:ea typeface="微软雅黑" panose="020B0503020204020204" pitchFamily="34" charset="-122"/>
              </a:rPr>
              <a:t>开</a:t>
            </a:r>
            <a:r>
              <a:rPr lang="en-US" altLang="zh-CN" sz="2200" dirty="0">
                <a:ea typeface="微软雅黑" panose="020B0503020204020204" pitchFamily="34" charset="-122"/>
              </a:rPr>
              <a:t>8255</a:t>
            </a:r>
            <a:r>
              <a:rPr lang="zh-CN" altLang="en-US" sz="2200" dirty="0"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ea typeface="微软雅黑" panose="020B0503020204020204" pitchFamily="34" charset="-122"/>
              </a:rPr>
              <a:t>PC0</a:t>
            </a:r>
            <a:endParaRPr lang="zh-CN" altLang="en-US" sz="2200" dirty="0"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90843" y="203333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</a:t>
            </a:r>
            <a:r>
              <a:rPr lang="zh-CN" altLang="en-US" sz="2200" dirty="0">
                <a:ea typeface="微软雅黑" panose="020B0503020204020204" pitchFamily="34" charset="-122"/>
              </a:rPr>
              <a:t>调</a:t>
            </a:r>
            <a:r>
              <a:rPr lang="en-US" altLang="zh-CN" sz="2200" dirty="0">
                <a:ea typeface="微软雅黑" panose="020B0503020204020204" pitchFamily="34" charset="-122"/>
              </a:rPr>
              <a:t>5S</a:t>
            </a:r>
            <a:r>
              <a:rPr lang="zh-CN" altLang="en-US" sz="2200" dirty="0">
                <a:ea typeface="微软雅黑" panose="020B0503020204020204" pitchFamily="34" charset="-122"/>
              </a:rPr>
              <a:t>延迟子程序</a:t>
            </a:r>
          </a:p>
        </p:txBody>
      </p:sp>
      <p:sp>
        <p:nvSpPr>
          <p:cNvPr id="10" name="矩形 9"/>
          <p:cNvSpPr/>
          <p:nvPr/>
        </p:nvSpPr>
        <p:spPr>
          <a:xfrm>
            <a:off x="4890843" y="2564904"/>
            <a:ext cx="3976588" cy="432048"/>
          </a:xfrm>
          <a:prstGeom prst="rect">
            <a:avLst/>
          </a:prstGeom>
          <a:solidFill>
            <a:srgbClr val="FD7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200" dirty="0">
                <a:ea typeface="微软雅黑" panose="020B0503020204020204" pitchFamily="34" charset="-122"/>
              </a:rPr>
              <a:t>;</a:t>
            </a:r>
            <a:r>
              <a:rPr lang="zh-CN" altLang="en-US" sz="2200" dirty="0">
                <a:ea typeface="微软雅黑" panose="020B0503020204020204" pitchFamily="34" charset="-122"/>
              </a:rPr>
              <a:t>关</a:t>
            </a:r>
            <a:r>
              <a:rPr lang="en-US" altLang="zh-CN" sz="2200" dirty="0">
                <a:ea typeface="微软雅黑" panose="020B0503020204020204" pitchFamily="34" charset="-122"/>
              </a:rPr>
              <a:t>8255</a:t>
            </a:r>
            <a:r>
              <a:rPr lang="zh-CN" altLang="en-US" sz="2200" dirty="0"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ea typeface="微软雅黑" panose="020B0503020204020204" pitchFamily="34" charset="-122"/>
              </a:rPr>
              <a:t>PC0</a:t>
            </a:r>
            <a:endParaRPr lang="zh-CN" altLang="en-US" sz="2200" dirty="0">
              <a:ea typeface="微软雅黑" panose="020B0503020204020204" pitchFamily="34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497360" y="4698657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如何知道当前通过了多少个工件？</a:t>
            </a:r>
            <a:endParaRPr lang="zh-CN" altLang="en-US" sz="24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849499" y="5423593"/>
            <a:ext cx="7920880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2400" b="1" dirty="0">
                <a:solidFill>
                  <a:srgbClr val="FF32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可以在中断服务子程序中设置一个变量记录中断的次数。</a:t>
            </a:r>
          </a:p>
        </p:txBody>
      </p:sp>
      <p:pic>
        <p:nvPicPr>
          <p:cNvPr id="11" name="图片 10" descr="问号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4322287"/>
            <a:ext cx="1224260" cy="9517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如何读取计数器的值？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cxnSp>
        <p:nvCxnSpPr>
          <p:cNvPr id="6" name="直接连接符 5"/>
          <p:cNvCxnSpPr/>
          <p:nvPr/>
        </p:nvCxnSpPr>
        <p:spPr>
          <a:xfrm>
            <a:off x="4719784" y="1340768"/>
            <a:ext cx="0" cy="3976154"/>
          </a:xfrm>
          <a:prstGeom prst="line">
            <a:avLst/>
          </a:prstGeom>
          <a:ln w="12700">
            <a:solidFill>
              <a:srgbClr val="1D8DE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10"/>
          <p:cNvSpPr txBox="1">
            <a:spLocks noChangeArrowheads="1"/>
          </p:cNvSpPr>
          <p:nvPr/>
        </p:nvSpPr>
        <p:spPr bwMode="auto">
          <a:xfrm>
            <a:off x="754087" y="1869066"/>
            <a:ext cx="3601889" cy="3039678"/>
          </a:xfrm>
          <a:prstGeom prst="rect">
            <a:avLst/>
          </a:prstGeom>
          <a:noFill/>
          <a:ln w="9525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号计数器，采用二进制计数，计数初值为</a:t>
            </a: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14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写出读取计数器计数值的程序。</a:t>
            </a:r>
            <a:endParaRPr lang="en-US" altLang="zh-CN" sz="28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14000"/>
              </a:lnSpc>
            </a:pPr>
            <a:r>
              <a:rPr lang="en-US" altLang="zh-CN" sz="2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800" b="1" dirty="0">
              <a:solidFill>
                <a:srgbClr val="FF32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5148064" y="1844824"/>
            <a:ext cx="3528392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00000000B</a:t>
            </a:r>
          </a:p>
        </p:txBody>
      </p:sp>
      <p:sp>
        <p:nvSpPr>
          <p:cNvPr id="9" name="矩形 3"/>
          <p:cNvSpPr>
            <a:spLocks noChangeArrowheads="1"/>
          </p:cNvSpPr>
          <p:nvPr/>
        </p:nvSpPr>
        <p:spPr bwMode="auto">
          <a:xfrm>
            <a:off x="5148064" y="2302549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 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43H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AL</a:t>
            </a:r>
            <a:endParaRPr lang="en-US" altLang="zh-CN" sz="2400" b="1" dirty="0">
              <a:solidFill>
                <a:srgbClr val="5DCB0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148064" y="2760535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 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AL,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</a:p>
        </p:txBody>
      </p:sp>
      <p:sp>
        <p:nvSpPr>
          <p:cNvPr id="11" name="矩形 3"/>
          <p:cNvSpPr>
            <a:spLocks noChangeArrowheads="1"/>
          </p:cNvSpPr>
          <p:nvPr/>
        </p:nvSpPr>
        <p:spPr bwMode="auto">
          <a:xfrm>
            <a:off x="5148064" y="3173482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AH,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</a:t>
            </a:r>
          </a:p>
        </p:txBody>
      </p:sp>
      <p:sp>
        <p:nvSpPr>
          <p:cNvPr id="12" name="矩形 3"/>
          <p:cNvSpPr>
            <a:spLocks noChangeArrowheads="1"/>
          </p:cNvSpPr>
          <p:nvPr/>
        </p:nvSpPr>
        <p:spPr bwMode="auto">
          <a:xfrm>
            <a:off x="5148064" y="3620151"/>
            <a:ext cx="2952328" cy="568745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      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 </a:t>
            </a:r>
            <a:r>
              <a:rPr lang="en-US" altLang="zh-CN" sz="2400" b="1" dirty="0">
                <a:solidFill>
                  <a:srgbClr val="5DCB0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40H</a:t>
            </a:r>
          </a:p>
        </p:txBody>
      </p:sp>
      <p:sp>
        <p:nvSpPr>
          <p:cNvPr id="13" name="矩形 3"/>
          <p:cNvSpPr>
            <a:spLocks noChangeArrowheads="1"/>
          </p:cNvSpPr>
          <p:nvPr/>
        </p:nvSpPr>
        <p:spPr bwMode="auto">
          <a:xfrm>
            <a:off x="5148064" y="4109329"/>
            <a:ext cx="2952328" cy="522900"/>
          </a:xfrm>
          <a:prstGeom prst="rect">
            <a:avLst/>
          </a:prstGeom>
          <a:noFill/>
          <a:ln w="9525">
            <a:noFill/>
            <a:prstDash val="dash"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29000"/>
              </a:lnSpc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XCHG </a:t>
            </a:r>
            <a:r>
              <a:rPr lang="en-US" altLang="zh-CN" sz="2400" b="1" dirty="0">
                <a:solidFill>
                  <a:srgbClr val="1D8DE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AL, AH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886205" y="691184"/>
            <a:ext cx="7430211" cy="2952328"/>
            <a:chOff x="1846734" y="1456184"/>
            <a:chExt cx="9937104" cy="3904659"/>
          </a:xfrm>
        </p:grpSpPr>
        <p:sp>
          <p:nvSpPr>
            <p:cNvPr id="15" name="矩形 14"/>
            <p:cNvSpPr/>
            <p:nvPr/>
          </p:nvSpPr>
          <p:spPr>
            <a:xfrm>
              <a:off x="1846734" y="1512424"/>
              <a:ext cx="9937104" cy="3848419"/>
            </a:xfrm>
            <a:prstGeom prst="rect">
              <a:avLst/>
            </a:prstGeom>
            <a:ln>
              <a:solidFill>
                <a:srgbClr val="7BC143"/>
              </a:solidFill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solidFill>
                  <a:srgbClr val="7BC143"/>
                </a:solidFill>
                <a:ea typeface="微软雅黑" panose="020B0503020204020204" pitchFamily="34" charset="-122"/>
              </a:endParaRPr>
            </a:p>
          </p:txBody>
        </p:sp>
        <p:pic>
          <p:nvPicPr>
            <p:cNvPr id="16" name="Picture 8" descr="C:\Documents and Settings\tdz\桌面\绿色箭头标签01.png"/>
            <p:cNvPicPr>
              <a:picLocks noChangeAspect="1" noChangeArrowheads="1"/>
            </p:cNvPicPr>
            <p:nvPr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10527109" y="1456184"/>
              <a:ext cx="10033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10" descr="C:\Documents and Settings\tdz\Local Settings\Temp\SoEasy\2ED57B32DAFDACEEB44B8E85F3D00E28.png"/>
            <p:cNvPicPr>
              <a:picLocks noChangeAspect="1" noChangeArrowheads="1"/>
            </p:cNvPicPr>
            <p:nvPr/>
          </p:nvPicPr>
          <p:blipFill rotWithShape="1">
            <a:blip r:embed="rId3" cstate="email"/>
            <a:srcRect/>
            <a:stretch>
              <a:fillRect/>
            </a:stretch>
          </p:blipFill>
          <p:spPr bwMode="auto">
            <a:xfrm>
              <a:off x="10455100" y="4367129"/>
              <a:ext cx="1184721" cy="993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30"/>
            <p:cNvSpPr txBox="1"/>
            <p:nvPr/>
          </p:nvSpPr>
          <p:spPr>
            <a:xfrm>
              <a:off x="10702950" y="1550372"/>
              <a:ext cx="658589" cy="104863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</a:t>
              </a:r>
            </a:p>
          </p:txBody>
        </p:sp>
      </p:grpSp>
      <p:sp>
        <p:nvSpPr>
          <p:cNvPr id="19" name="TextBox 32"/>
          <p:cNvSpPr txBox="1"/>
          <p:nvPr/>
        </p:nvSpPr>
        <p:spPr>
          <a:xfrm>
            <a:off x="1187624" y="971026"/>
            <a:ext cx="2160240" cy="116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CLK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频率为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2MHz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，要求在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OUT1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端产生频率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2Hz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的脉冲。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>
            <a:spLocks noChangeAspect="1"/>
          </p:cNvSpPr>
          <p:nvPr/>
        </p:nvSpPr>
        <p:spPr>
          <a:xfrm>
            <a:off x="886205" y="4003551"/>
            <a:ext cx="7430211" cy="1800201"/>
          </a:xfrm>
          <a:prstGeom prst="rect">
            <a:avLst/>
          </a:prstGeom>
          <a:ln>
            <a:solidFill>
              <a:srgbClr val="0883C8"/>
            </a:solidFill>
            <a:prstDash val="soli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Picture 2" descr="E:\仝德志文件，勿删！\03-参考文档\！PPT图片及版面资源\06-PPT精选插图\12-标签\蓝色燕尾01.png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 rot="16200000">
            <a:off x="597280" y="4422151"/>
            <a:ext cx="1656184" cy="674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9"/>
          <p:cNvSpPr txBox="1"/>
          <p:nvPr/>
        </p:nvSpPr>
        <p:spPr>
          <a:xfrm>
            <a:off x="1191259" y="4051241"/>
            <a:ext cx="461665" cy="135663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解决方法</a:t>
            </a:r>
          </a:p>
        </p:txBody>
      </p:sp>
      <p:sp>
        <p:nvSpPr>
          <p:cNvPr id="23" name="TextBox 17"/>
          <p:cNvSpPr txBox="1"/>
          <p:nvPr/>
        </p:nvSpPr>
        <p:spPr>
          <a:xfrm>
            <a:off x="1969421" y="4075560"/>
            <a:ext cx="6157500" cy="172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可将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个或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个计数通道串联起来使用，甚至可把多个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串联起来使用；</a:t>
            </a:r>
            <a:endParaRPr lang="en-US" altLang="zh-CN" sz="2000" b="1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3000"/>
              </a:lnSpc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这个题目中，可将计数器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串联，工作方式都均为方式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，计数初值为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24" name="Picture 3" descr="E:\仝德志文件，勿删！\03-参考文档\！PPT图片及版面资源\06-PPT精选插图\06-问号\锐普论坛实用商务PPT图片-疑问感慨 (18).jpg"/>
          <p:cNvPicPr>
            <a:picLocks noChangeAspect="1" noChangeArrowheads="1"/>
          </p:cNvPicPr>
          <p:nvPr/>
        </p:nvPicPr>
        <p:blipFill rotWithShape="1">
          <a:blip r:embed="rId5"/>
          <a:srcRect t="43570"/>
          <a:stretch>
            <a:fillRect/>
          </a:stretch>
        </p:blipFill>
        <p:spPr bwMode="auto">
          <a:xfrm>
            <a:off x="3851920" y="835200"/>
            <a:ext cx="3144516" cy="2664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32"/>
          <p:cNvSpPr txBox="1"/>
          <p:nvPr/>
        </p:nvSpPr>
        <p:spPr>
          <a:xfrm>
            <a:off x="1187624" y="2563392"/>
            <a:ext cx="2160240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3000"/>
              </a:lnSpc>
              <a:defRPr/>
            </a:pPr>
            <a:r>
              <a:rPr lang="zh-CN" altLang="en-US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计数值为</a:t>
            </a:r>
            <a:r>
              <a:rPr lang="en-US" altLang="zh-CN" sz="3200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en-US" altLang="zh-CN" sz="3200" baseline="30000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solidFill>
                  <a:srgbClr val="FF3255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怎么实现？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4"/>
          <p:cNvGrpSpPr/>
          <p:nvPr/>
        </p:nvGrpSpPr>
        <p:grpSpPr bwMode="auto">
          <a:xfrm>
            <a:off x="4596283" y="3231257"/>
            <a:ext cx="2343150" cy="485775"/>
            <a:chOff x="3581" y="2469"/>
            <a:chExt cx="2119" cy="306"/>
          </a:xfrm>
        </p:grpSpPr>
        <p:sp>
          <p:nvSpPr>
            <p:cNvPr id="24" name="Line 25"/>
            <p:cNvSpPr>
              <a:spLocks noChangeShapeType="1"/>
            </p:cNvSpPr>
            <p:nvPr/>
          </p:nvSpPr>
          <p:spPr bwMode="auto">
            <a:xfrm>
              <a:off x="3581" y="2766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6"/>
            <p:cNvSpPr>
              <a:spLocks noChangeShapeType="1"/>
            </p:cNvSpPr>
            <p:nvPr/>
          </p:nvSpPr>
          <p:spPr bwMode="auto">
            <a:xfrm flipV="1">
              <a:off x="3886" y="2469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Line 27"/>
            <p:cNvSpPr>
              <a:spLocks noChangeShapeType="1"/>
            </p:cNvSpPr>
            <p:nvPr/>
          </p:nvSpPr>
          <p:spPr bwMode="auto">
            <a:xfrm>
              <a:off x="3886" y="2469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Line 28"/>
            <p:cNvSpPr>
              <a:spLocks noChangeShapeType="1"/>
            </p:cNvSpPr>
            <p:nvPr/>
          </p:nvSpPr>
          <p:spPr bwMode="auto">
            <a:xfrm flipV="1">
              <a:off x="4187" y="2470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29"/>
            <p:cNvSpPr>
              <a:spLocks noChangeShapeType="1"/>
            </p:cNvSpPr>
            <p:nvPr/>
          </p:nvSpPr>
          <p:spPr bwMode="auto">
            <a:xfrm>
              <a:off x="4184" y="2774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Line 30"/>
            <p:cNvSpPr>
              <a:spLocks noChangeShapeType="1"/>
            </p:cNvSpPr>
            <p:nvPr/>
          </p:nvSpPr>
          <p:spPr bwMode="auto">
            <a:xfrm flipV="1">
              <a:off x="4489" y="2477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31"/>
            <p:cNvSpPr>
              <a:spLocks noChangeShapeType="1"/>
            </p:cNvSpPr>
            <p:nvPr/>
          </p:nvSpPr>
          <p:spPr bwMode="auto">
            <a:xfrm>
              <a:off x="4489" y="2477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32"/>
            <p:cNvSpPr>
              <a:spLocks noChangeShapeType="1"/>
            </p:cNvSpPr>
            <p:nvPr/>
          </p:nvSpPr>
          <p:spPr bwMode="auto">
            <a:xfrm flipV="1">
              <a:off x="4790" y="2478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33"/>
            <p:cNvSpPr>
              <a:spLocks noChangeShapeType="1"/>
            </p:cNvSpPr>
            <p:nvPr/>
          </p:nvSpPr>
          <p:spPr bwMode="auto">
            <a:xfrm>
              <a:off x="4793" y="2774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34"/>
            <p:cNvSpPr>
              <a:spLocks noChangeShapeType="1"/>
            </p:cNvSpPr>
            <p:nvPr/>
          </p:nvSpPr>
          <p:spPr bwMode="auto">
            <a:xfrm flipV="1">
              <a:off x="5098" y="2477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35"/>
            <p:cNvSpPr>
              <a:spLocks noChangeShapeType="1"/>
            </p:cNvSpPr>
            <p:nvPr/>
          </p:nvSpPr>
          <p:spPr bwMode="auto">
            <a:xfrm>
              <a:off x="5098" y="2477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36"/>
            <p:cNvSpPr>
              <a:spLocks noChangeShapeType="1"/>
            </p:cNvSpPr>
            <p:nvPr/>
          </p:nvSpPr>
          <p:spPr bwMode="auto">
            <a:xfrm flipV="1">
              <a:off x="5399" y="2478"/>
              <a:ext cx="0" cy="29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37"/>
            <p:cNvSpPr>
              <a:spLocks noChangeShapeType="1"/>
            </p:cNvSpPr>
            <p:nvPr/>
          </p:nvSpPr>
          <p:spPr bwMode="auto">
            <a:xfrm>
              <a:off x="5399" y="2771"/>
              <a:ext cx="301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7" name="Group 38"/>
          <p:cNvGrpSpPr/>
          <p:nvPr/>
        </p:nvGrpSpPr>
        <p:grpSpPr bwMode="auto">
          <a:xfrm>
            <a:off x="4524275" y="1844824"/>
            <a:ext cx="2640013" cy="504825"/>
            <a:chOff x="3481" y="1093"/>
            <a:chExt cx="1663" cy="396"/>
          </a:xfrm>
        </p:grpSpPr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3481" y="1489"/>
              <a:ext cx="503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9" name="Line 40"/>
            <p:cNvSpPr>
              <a:spLocks noChangeShapeType="1"/>
            </p:cNvSpPr>
            <p:nvPr/>
          </p:nvSpPr>
          <p:spPr bwMode="auto">
            <a:xfrm flipV="1">
              <a:off x="3991" y="1097"/>
              <a:ext cx="0" cy="39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3990" y="1097"/>
              <a:ext cx="622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Line 42"/>
            <p:cNvSpPr>
              <a:spLocks noChangeShapeType="1"/>
            </p:cNvSpPr>
            <p:nvPr/>
          </p:nvSpPr>
          <p:spPr bwMode="auto">
            <a:xfrm>
              <a:off x="4614" y="1482"/>
              <a:ext cx="530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2" name="Line 43"/>
            <p:cNvSpPr>
              <a:spLocks noChangeShapeType="1"/>
            </p:cNvSpPr>
            <p:nvPr/>
          </p:nvSpPr>
          <p:spPr bwMode="auto">
            <a:xfrm flipV="1">
              <a:off x="4612" y="1093"/>
              <a:ext cx="0" cy="39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4" name="Group 45"/>
          <p:cNvGrpSpPr/>
          <p:nvPr/>
        </p:nvGrpSpPr>
        <p:grpSpPr bwMode="auto">
          <a:xfrm>
            <a:off x="4627437" y="4509120"/>
            <a:ext cx="1697038" cy="552450"/>
            <a:chOff x="3809" y="3158"/>
            <a:chExt cx="1069" cy="348"/>
          </a:xfrm>
        </p:grpSpPr>
        <p:sp>
          <p:nvSpPr>
            <p:cNvPr id="45" name="Line 46"/>
            <p:cNvSpPr>
              <a:spLocks noChangeShapeType="1"/>
            </p:cNvSpPr>
            <p:nvPr/>
          </p:nvSpPr>
          <p:spPr bwMode="auto">
            <a:xfrm>
              <a:off x="3809" y="3506"/>
              <a:ext cx="114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46" name="Group 47"/>
            <p:cNvGrpSpPr/>
            <p:nvPr/>
          </p:nvGrpSpPr>
          <p:grpSpPr bwMode="auto">
            <a:xfrm>
              <a:off x="3921" y="3158"/>
              <a:ext cx="138" cy="348"/>
              <a:chOff x="3900" y="3158"/>
              <a:chExt cx="138" cy="348"/>
            </a:xfrm>
          </p:grpSpPr>
          <p:sp>
            <p:nvSpPr>
              <p:cNvPr id="77" name="Line 4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8" name="Line 4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9" name="Line 5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80" name="Line 5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7" name="Group 52"/>
            <p:cNvGrpSpPr/>
            <p:nvPr/>
          </p:nvGrpSpPr>
          <p:grpSpPr bwMode="auto">
            <a:xfrm>
              <a:off x="4057" y="3158"/>
              <a:ext cx="138" cy="348"/>
              <a:chOff x="3900" y="3158"/>
              <a:chExt cx="138" cy="348"/>
            </a:xfrm>
          </p:grpSpPr>
          <p:sp>
            <p:nvSpPr>
              <p:cNvPr id="73" name="Line 53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4" name="Line 54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5" name="Line 55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6" name="Line 56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8" name="Group 57"/>
            <p:cNvGrpSpPr/>
            <p:nvPr/>
          </p:nvGrpSpPr>
          <p:grpSpPr bwMode="auto">
            <a:xfrm>
              <a:off x="4195" y="3158"/>
              <a:ext cx="138" cy="348"/>
              <a:chOff x="3900" y="3158"/>
              <a:chExt cx="138" cy="348"/>
            </a:xfrm>
          </p:grpSpPr>
          <p:sp>
            <p:nvSpPr>
              <p:cNvPr id="69" name="Line 5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0" name="Line 5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" name="Line 6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6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9" name="Group 62"/>
            <p:cNvGrpSpPr/>
            <p:nvPr/>
          </p:nvGrpSpPr>
          <p:grpSpPr bwMode="auto">
            <a:xfrm>
              <a:off x="4332" y="3158"/>
              <a:ext cx="138" cy="348"/>
              <a:chOff x="3900" y="3158"/>
              <a:chExt cx="138" cy="348"/>
            </a:xfrm>
          </p:grpSpPr>
          <p:sp>
            <p:nvSpPr>
              <p:cNvPr id="65" name="Line 63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64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66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0" name="Group 67"/>
            <p:cNvGrpSpPr/>
            <p:nvPr/>
          </p:nvGrpSpPr>
          <p:grpSpPr bwMode="auto">
            <a:xfrm>
              <a:off x="4468" y="3158"/>
              <a:ext cx="138" cy="348"/>
              <a:chOff x="3900" y="3158"/>
              <a:chExt cx="138" cy="348"/>
            </a:xfrm>
          </p:grpSpPr>
          <p:sp>
            <p:nvSpPr>
              <p:cNvPr id="61" name="Line 6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6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7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7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1" name="Group 72"/>
            <p:cNvGrpSpPr/>
            <p:nvPr/>
          </p:nvGrpSpPr>
          <p:grpSpPr bwMode="auto">
            <a:xfrm>
              <a:off x="4604" y="3158"/>
              <a:ext cx="138" cy="348"/>
              <a:chOff x="3900" y="3158"/>
              <a:chExt cx="138" cy="348"/>
            </a:xfrm>
          </p:grpSpPr>
          <p:sp>
            <p:nvSpPr>
              <p:cNvPr id="57" name="Line 73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8" name="Line 74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75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60" name="Line 76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" name="Group 77"/>
            <p:cNvGrpSpPr/>
            <p:nvPr/>
          </p:nvGrpSpPr>
          <p:grpSpPr bwMode="auto">
            <a:xfrm>
              <a:off x="4740" y="3158"/>
              <a:ext cx="138" cy="348"/>
              <a:chOff x="3900" y="3158"/>
              <a:chExt cx="138" cy="348"/>
            </a:xfrm>
          </p:grpSpPr>
          <p:sp>
            <p:nvSpPr>
              <p:cNvPr id="53" name="Line 78"/>
              <p:cNvSpPr>
                <a:spLocks noChangeShapeType="1"/>
              </p:cNvSpPr>
              <p:nvPr/>
            </p:nvSpPr>
            <p:spPr bwMode="auto">
              <a:xfrm flipV="1">
                <a:off x="3900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4" name="Line 79"/>
              <p:cNvSpPr>
                <a:spLocks noChangeShapeType="1"/>
              </p:cNvSpPr>
              <p:nvPr/>
            </p:nvSpPr>
            <p:spPr bwMode="auto">
              <a:xfrm>
                <a:off x="3900" y="3158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5" name="Line 80"/>
              <p:cNvSpPr>
                <a:spLocks noChangeShapeType="1"/>
              </p:cNvSpPr>
              <p:nvPr/>
            </p:nvSpPr>
            <p:spPr bwMode="auto">
              <a:xfrm flipV="1">
                <a:off x="3969" y="3158"/>
                <a:ext cx="0" cy="348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56" name="Line 81"/>
              <p:cNvSpPr>
                <a:spLocks noChangeShapeType="1"/>
              </p:cNvSpPr>
              <p:nvPr/>
            </p:nvSpPr>
            <p:spPr bwMode="auto">
              <a:xfrm>
                <a:off x="3969" y="3505"/>
                <a:ext cx="69" cy="0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81" name="矩形 80"/>
          <p:cNvSpPr/>
          <p:nvPr/>
        </p:nvSpPr>
        <p:spPr>
          <a:xfrm>
            <a:off x="1931987" y="2057336"/>
            <a:ext cx="1368152" cy="288032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/>
          <p:cNvSpPr txBox="1"/>
          <p:nvPr/>
        </p:nvSpPr>
        <p:spPr>
          <a:xfrm>
            <a:off x="2213364" y="4983559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8253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2364035" y="395739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2505099" y="353814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543571" y="4382769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CLK0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flipH="1">
            <a:off x="3309237" y="4577616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/>
          <p:nvPr/>
        </p:nvCxnSpPr>
        <p:spPr>
          <a:xfrm flipH="1">
            <a:off x="3300139" y="4149080"/>
            <a:ext cx="4320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H="1">
            <a:off x="3309237" y="3717032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2364035" y="2552100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GATE1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05099" y="2132856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OUT1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2543571" y="2987660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CLK1</a:t>
            </a:r>
            <a:endParaRPr lang="zh-CN" altLang="en-US" b="1" dirty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98" name="直接箭头连接符 97"/>
          <p:cNvCxnSpPr/>
          <p:nvPr/>
        </p:nvCxnSpPr>
        <p:spPr>
          <a:xfrm flipH="1">
            <a:off x="3309237" y="3170957"/>
            <a:ext cx="422950" cy="4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/>
          <p:nvPr/>
        </p:nvCxnSpPr>
        <p:spPr>
          <a:xfrm flipH="1">
            <a:off x="3300139" y="2317968"/>
            <a:ext cx="4320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/>
          <p:cNvCxnSpPr/>
          <p:nvPr/>
        </p:nvCxnSpPr>
        <p:spPr>
          <a:xfrm flipH="1">
            <a:off x="3309237" y="2751857"/>
            <a:ext cx="432048" cy="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连接符 101"/>
          <p:cNvCxnSpPr/>
          <p:nvPr/>
        </p:nvCxnSpPr>
        <p:spPr>
          <a:xfrm>
            <a:off x="3732187" y="3170957"/>
            <a:ext cx="0" cy="546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3687592" y="2569873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3687592" y="3995772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+5V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3687592" y="4427820"/>
            <a:ext cx="802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2MHz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3687592" y="2132856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2Hz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108" name="直接连接符 107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  <p:sp>
        <p:nvSpPr>
          <p:cNvPr id="109" name="Rectangle 2"/>
          <p:cNvSpPr>
            <a:spLocks noChangeArrowheads="1"/>
          </p:cNvSpPr>
          <p:nvPr/>
        </p:nvSpPr>
        <p:spPr bwMode="auto">
          <a:xfrm>
            <a:off x="1259210" y="551748"/>
            <a:ext cx="6625158" cy="4536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26" tIns="45713" rIns="91426" bIns="45713" anchor="ctr"/>
          <a:lstStyle/>
          <a:p>
            <a:pPr algn="ctr" eaLnBrk="0" hangingPunct="0"/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扩展定时</a:t>
            </a:r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计数范围</a:t>
            </a:r>
            <a:endParaRPr lang="zh-CN" altLang="en-US" sz="3200" b="1" dirty="0">
              <a:solidFill>
                <a:srgbClr val="00C4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连接符 109"/>
          <p:cNvCxnSpPr/>
          <p:nvPr/>
        </p:nvCxnSpPr>
        <p:spPr bwMode="auto">
          <a:xfrm>
            <a:off x="1619250" y="1123963"/>
            <a:ext cx="5905500" cy="0"/>
          </a:xfrm>
          <a:prstGeom prst="line">
            <a:avLst/>
          </a:prstGeom>
          <a:noFill/>
          <a:ln w="28575" cap="flat" cmpd="sng" algn="ctr">
            <a:solidFill>
              <a:srgbClr val="FFC000"/>
            </a:solidFill>
            <a:prstDash val="sysDot"/>
          </a:ln>
          <a:effectLst/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7747</TotalTime>
  <Words>4120</Words>
  <Application>Microsoft Office PowerPoint</Application>
  <PresentationFormat>全屏显示(4:3)</PresentationFormat>
  <Paragraphs>801</Paragraphs>
  <Slides>57</Slides>
  <Notes>23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58" baseType="lpstr">
      <vt:lpstr>2_Office 主题​​</vt:lpstr>
      <vt:lpstr>PowerPoint 演示文稿</vt:lpstr>
      <vt:lpstr>本节目标• OBJECTIVE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wdli</cp:lastModifiedBy>
  <cp:revision>3766</cp:revision>
  <dcterms:created xsi:type="dcterms:W3CDTF">2012-06-23T00:51:00Z</dcterms:created>
  <dcterms:modified xsi:type="dcterms:W3CDTF">2026-04-19T12:36:59Z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E00986A55C8748F28D03477C995DE85E</vt:lpwstr>
  </property>
</Properties>
</file>