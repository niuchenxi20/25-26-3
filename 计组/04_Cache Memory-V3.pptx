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5" r:id="rId1"/>
  </p:sldMasterIdLst>
  <p:notesMasterIdLst>
    <p:notesMasterId r:id="rId80"/>
  </p:notesMasterIdLst>
  <p:handoutMasterIdLst>
    <p:handoutMasterId r:id="rId81"/>
  </p:handoutMasterIdLst>
  <p:sldIdLst>
    <p:sldId id="256" r:id="rId2"/>
    <p:sldId id="359" r:id="rId3"/>
    <p:sldId id="360" r:id="rId4"/>
    <p:sldId id="345" r:id="rId5"/>
    <p:sldId id="334" r:id="rId6"/>
    <p:sldId id="335" r:id="rId7"/>
    <p:sldId id="259" r:id="rId8"/>
    <p:sldId id="260" r:id="rId9"/>
    <p:sldId id="261" r:id="rId10"/>
    <p:sldId id="347" r:id="rId11"/>
    <p:sldId id="262" r:id="rId12"/>
    <p:sldId id="263" r:id="rId13"/>
    <p:sldId id="264" r:id="rId14"/>
    <p:sldId id="258" r:id="rId15"/>
    <p:sldId id="265" r:id="rId16"/>
    <p:sldId id="266" r:id="rId17"/>
    <p:sldId id="268" r:id="rId18"/>
    <p:sldId id="257" r:id="rId19"/>
    <p:sldId id="326" r:id="rId20"/>
    <p:sldId id="269" r:id="rId21"/>
    <p:sldId id="336" r:id="rId22"/>
    <p:sldId id="361" r:id="rId23"/>
    <p:sldId id="362" r:id="rId24"/>
    <p:sldId id="366" r:id="rId25"/>
    <p:sldId id="346" r:id="rId26"/>
    <p:sldId id="364" r:id="rId27"/>
    <p:sldId id="280" r:id="rId28"/>
    <p:sldId id="331" r:id="rId29"/>
    <p:sldId id="281" r:id="rId30"/>
    <p:sldId id="332" r:id="rId31"/>
    <p:sldId id="312" r:id="rId32"/>
    <p:sldId id="348" r:id="rId33"/>
    <p:sldId id="283" r:id="rId34"/>
    <p:sldId id="282" r:id="rId35"/>
    <p:sldId id="349" r:id="rId36"/>
    <p:sldId id="329" r:id="rId37"/>
    <p:sldId id="367" r:id="rId38"/>
    <p:sldId id="337" r:id="rId39"/>
    <p:sldId id="351" r:id="rId40"/>
    <p:sldId id="352" r:id="rId41"/>
    <p:sldId id="353" r:id="rId42"/>
    <p:sldId id="284" r:id="rId43"/>
    <p:sldId id="285" r:id="rId44"/>
    <p:sldId id="288" r:id="rId45"/>
    <p:sldId id="343" r:id="rId46"/>
    <p:sldId id="286" r:id="rId47"/>
    <p:sldId id="313" r:id="rId48"/>
    <p:sldId id="314" r:id="rId49"/>
    <p:sldId id="320" r:id="rId50"/>
    <p:sldId id="290" r:id="rId51"/>
    <p:sldId id="289" r:id="rId52"/>
    <p:sldId id="315" r:id="rId53"/>
    <p:sldId id="316" r:id="rId54"/>
    <p:sldId id="291" r:id="rId55"/>
    <p:sldId id="321" r:id="rId56"/>
    <p:sldId id="292" r:id="rId57"/>
    <p:sldId id="350" r:id="rId58"/>
    <p:sldId id="293" r:id="rId59"/>
    <p:sldId id="295" r:id="rId60"/>
    <p:sldId id="318" r:id="rId61"/>
    <p:sldId id="317" r:id="rId62"/>
    <p:sldId id="322" r:id="rId63"/>
    <p:sldId id="338" r:id="rId64"/>
    <p:sldId id="356" r:id="rId65"/>
    <p:sldId id="354" r:id="rId66"/>
    <p:sldId id="296" r:id="rId67"/>
    <p:sldId id="298" r:id="rId68"/>
    <p:sldId id="357" r:id="rId69"/>
    <p:sldId id="358" r:id="rId70"/>
    <p:sldId id="297" r:id="rId71"/>
    <p:sldId id="299" r:id="rId72"/>
    <p:sldId id="300" r:id="rId73"/>
    <p:sldId id="355" r:id="rId74"/>
    <p:sldId id="344" r:id="rId75"/>
    <p:sldId id="339" r:id="rId76"/>
    <p:sldId id="340" r:id="rId77"/>
    <p:sldId id="365" r:id="rId78"/>
    <p:sldId id="341" r:id="rId7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69" autoAdjust="0"/>
    <p:restoredTop sz="81627" autoAdjust="0"/>
  </p:normalViewPr>
  <p:slideViewPr>
    <p:cSldViewPr>
      <p:cViewPr varScale="1">
        <p:scale>
          <a:sx n="93" d="100"/>
          <a:sy n="93" d="100"/>
        </p:scale>
        <p:origin x="190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6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6.xml"/><Relationship Id="rId18" Type="http://schemas.openxmlformats.org/officeDocument/2006/relationships/slide" Target="slides/slide26.xml"/><Relationship Id="rId26" Type="http://schemas.openxmlformats.org/officeDocument/2006/relationships/slide" Target="slides/slide43.xml"/><Relationship Id="rId39" Type="http://schemas.openxmlformats.org/officeDocument/2006/relationships/slide" Target="slides/slide64.xml"/><Relationship Id="rId21" Type="http://schemas.openxmlformats.org/officeDocument/2006/relationships/slide" Target="slides/slide33.xml"/><Relationship Id="rId34" Type="http://schemas.openxmlformats.org/officeDocument/2006/relationships/slide" Target="slides/slide56.xml"/><Relationship Id="rId42" Type="http://schemas.openxmlformats.org/officeDocument/2006/relationships/slide" Target="slides/slide69.xml"/><Relationship Id="rId47" Type="http://schemas.openxmlformats.org/officeDocument/2006/relationships/slide" Target="slides/slide76.xml"/><Relationship Id="rId7" Type="http://schemas.openxmlformats.org/officeDocument/2006/relationships/slide" Target="slides/slide10.xml"/><Relationship Id="rId2" Type="http://schemas.openxmlformats.org/officeDocument/2006/relationships/slide" Target="slides/slide5.xml"/><Relationship Id="rId16" Type="http://schemas.openxmlformats.org/officeDocument/2006/relationships/slide" Target="slides/slide20.xml"/><Relationship Id="rId29" Type="http://schemas.openxmlformats.org/officeDocument/2006/relationships/slide" Target="slides/slide49.xml"/><Relationship Id="rId1" Type="http://schemas.openxmlformats.org/officeDocument/2006/relationships/slide" Target="slides/slide1.xml"/><Relationship Id="rId6" Type="http://schemas.openxmlformats.org/officeDocument/2006/relationships/slide" Target="slides/slide9.xml"/><Relationship Id="rId11" Type="http://schemas.openxmlformats.org/officeDocument/2006/relationships/slide" Target="slides/slide14.xml"/><Relationship Id="rId24" Type="http://schemas.openxmlformats.org/officeDocument/2006/relationships/slide" Target="slides/slide38.xml"/><Relationship Id="rId32" Type="http://schemas.openxmlformats.org/officeDocument/2006/relationships/slide" Target="slides/slide54.xml"/><Relationship Id="rId37" Type="http://schemas.openxmlformats.org/officeDocument/2006/relationships/slide" Target="slides/slide62.xml"/><Relationship Id="rId40" Type="http://schemas.openxmlformats.org/officeDocument/2006/relationships/slide" Target="slides/slide66.xml"/><Relationship Id="rId45" Type="http://schemas.openxmlformats.org/officeDocument/2006/relationships/slide" Target="slides/slide72.xml"/><Relationship Id="rId5" Type="http://schemas.openxmlformats.org/officeDocument/2006/relationships/slide" Target="slides/slide8.xml"/><Relationship Id="rId15" Type="http://schemas.openxmlformats.org/officeDocument/2006/relationships/slide" Target="slides/slide18.xml"/><Relationship Id="rId23" Type="http://schemas.openxmlformats.org/officeDocument/2006/relationships/slide" Target="slides/slide35.xml"/><Relationship Id="rId28" Type="http://schemas.openxmlformats.org/officeDocument/2006/relationships/slide" Target="slides/slide46.xml"/><Relationship Id="rId36" Type="http://schemas.openxmlformats.org/officeDocument/2006/relationships/slide" Target="slides/slide59.xml"/><Relationship Id="rId10" Type="http://schemas.openxmlformats.org/officeDocument/2006/relationships/slide" Target="slides/slide13.xml"/><Relationship Id="rId19" Type="http://schemas.openxmlformats.org/officeDocument/2006/relationships/slide" Target="slides/slide27.xml"/><Relationship Id="rId31" Type="http://schemas.openxmlformats.org/officeDocument/2006/relationships/slide" Target="slides/slide51.xml"/><Relationship Id="rId44" Type="http://schemas.openxmlformats.org/officeDocument/2006/relationships/slide" Target="slides/slide71.xml"/><Relationship Id="rId4" Type="http://schemas.openxmlformats.org/officeDocument/2006/relationships/slide" Target="slides/slide7.xml"/><Relationship Id="rId9" Type="http://schemas.openxmlformats.org/officeDocument/2006/relationships/slide" Target="slides/slide12.xml"/><Relationship Id="rId14" Type="http://schemas.openxmlformats.org/officeDocument/2006/relationships/slide" Target="slides/slide17.xml"/><Relationship Id="rId22" Type="http://schemas.openxmlformats.org/officeDocument/2006/relationships/slide" Target="slides/slide34.xml"/><Relationship Id="rId27" Type="http://schemas.openxmlformats.org/officeDocument/2006/relationships/slide" Target="slides/slide44.xml"/><Relationship Id="rId30" Type="http://schemas.openxmlformats.org/officeDocument/2006/relationships/slide" Target="slides/slide50.xml"/><Relationship Id="rId35" Type="http://schemas.openxmlformats.org/officeDocument/2006/relationships/slide" Target="slides/slide58.xml"/><Relationship Id="rId43" Type="http://schemas.openxmlformats.org/officeDocument/2006/relationships/slide" Target="slides/slide70.xml"/><Relationship Id="rId8" Type="http://schemas.openxmlformats.org/officeDocument/2006/relationships/slide" Target="slides/slide11.xml"/><Relationship Id="rId3" Type="http://schemas.openxmlformats.org/officeDocument/2006/relationships/slide" Target="slides/slide6.xml"/><Relationship Id="rId12" Type="http://schemas.openxmlformats.org/officeDocument/2006/relationships/slide" Target="slides/slide15.xml"/><Relationship Id="rId17" Type="http://schemas.openxmlformats.org/officeDocument/2006/relationships/slide" Target="slides/slide25.xml"/><Relationship Id="rId25" Type="http://schemas.openxmlformats.org/officeDocument/2006/relationships/slide" Target="slides/slide42.xml"/><Relationship Id="rId33" Type="http://schemas.openxmlformats.org/officeDocument/2006/relationships/slide" Target="slides/slide55.xml"/><Relationship Id="rId38" Type="http://schemas.openxmlformats.org/officeDocument/2006/relationships/slide" Target="slides/slide63.xml"/><Relationship Id="rId46" Type="http://schemas.openxmlformats.org/officeDocument/2006/relationships/slide" Target="slides/slide75.xml"/><Relationship Id="rId20" Type="http://schemas.openxmlformats.org/officeDocument/2006/relationships/slide" Target="slides/slide29.xml"/><Relationship Id="rId41" Type="http://schemas.openxmlformats.org/officeDocument/2006/relationships/slide" Target="slides/slide6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4CA837-47C9-46EE-972F-4AEF03F46D9E}" type="doc">
      <dgm:prSet loTypeId="urn:microsoft.com/office/officeart/2005/8/layout/arrow1" loCatId="relationship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69097938-7E76-4553-BEF2-7EA79030D905}">
      <dgm:prSet phldrT="[文本]"/>
      <dgm:spPr/>
      <dgm:t>
        <a:bodyPr/>
        <a:lstStyle/>
        <a:p>
          <a:r>
            <a:rPr lang="en-US" altLang="zh-CN" dirty="0"/>
            <a:t>Computer </a:t>
          </a:r>
          <a:r>
            <a:rPr lang="en-US" altLang="zh-CN" b="1" dirty="0"/>
            <a:t>architecture</a:t>
          </a:r>
          <a:endParaRPr lang="zh-CN" altLang="en-US" b="1" dirty="0"/>
        </a:p>
      </dgm:t>
    </dgm:pt>
    <dgm:pt modelId="{BBF1FF11-A97D-4E93-B0FA-43CEF91E054E}" type="parTrans" cxnId="{BED028BA-9366-4932-BB51-AFE79143D0D9}">
      <dgm:prSet/>
      <dgm:spPr/>
      <dgm:t>
        <a:bodyPr/>
        <a:lstStyle/>
        <a:p>
          <a:endParaRPr lang="zh-CN" altLang="en-US"/>
        </a:p>
      </dgm:t>
    </dgm:pt>
    <dgm:pt modelId="{B8FB41F9-33F1-4FF5-89DD-730D33987068}" type="sibTrans" cxnId="{BED028BA-9366-4932-BB51-AFE79143D0D9}">
      <dgm:prSet/>
      <dgm:spPr/>
      <dgm:t>
        <a:bodyPr/>
        <a:lstStyle/>
        <a:p>
          <a:endParaRPr lang="zh-CN" altLang="en-US"/>
        </a:p>
      </dgm:t>
    </dgm:pt>
    <dgm:pt modelId="{F9A1E650-44AB-4438-97C4-451319B82A16}">
      <dgm:prSet phldrT="[文本]"/>
      <dgm:spPr/>
      <dgm:t>
        <a:bodyPr/>
        <a:lstStyle/>
        <a:p>
          <a:r>
            <a:rPr lang="en-US" altLang="zh-CN" dirty="0"/>
            <a:t>Computer </a:t>
          </a:r>
          <a:r>
            <a:rPr lang="en-US" altLang="zh-CN" b="1" dirty="0"/>
            <a:t>Organization</a:t>
          </a:r>
          <a:endParaRPr lang="zh-CN" altLang="en-US" b="1" dirty="0"/>
        </a:p>
      </dgm:t>
    </dgm:pt>
    <dgm:pt modelId="{4B923A72-C11C-4153-8B35-2DD949750F25}" type="parTrans" cxnId="{D082D352-E690-47B5-81C9-43717B53C85B}">
      <dgm:prSet/>
      <dgm:spPr/>
      <dgm:t>
        <a:bodyPr/>
        <a:lstStyle/>
        <a:p>
          <a:endParaRPr lang="zh-CN" altLang="en-US"/>
        </a:p>
      </dgm:t>
    </dgm:pt>
    <dgm:pt modelId="{45DC8AA2-8175-4B87-9CB5-C0543DD2CD75}" type="sibTrans" cxnId="{D082D352-E690-47B5-81C9-43717B53C85B}">
      <dgm:prSet/>
      <dgm:spPr/>
      <dgm:t>
        <a:bodyPr/>
        <a:lstStyle/>
        <a:p>
          <a:endParaRPr lang="zh-CN" altLang="en-US"/>
        </a:p>
      </dgm:t>
    </dgm:pt>
    <dgm:pt modelId="{4E632C84-5EEE-4E8D-91DE-905C3032E8A4}" type="pres">
      <dgm:prSet presAssocID="{5F4CA837-47C9-46EE-972F-4AEF03F46D9E}" presName="cycle" presStyleCnt="0">
        <dgm:presLayoutVars>
          <dgm:dir/>
          <dgm:resizeHandles val="exact"/>
        </dgm:presLayoutVars>
      </dgm:prSet>
      <dgm:spPr/>
    </dgm:pt>
    <dgm:pt modelId="{6BEA0524-34D0-443B-8294-608D50925DC3}" type="pres">
      <dgm:prSet presAssocID="{69097938-7E76-4553-BEF2-7EA79030D905}" presName="arrow" presStyleLbl="node1" presStyleIdx="0" presStyleCnt="2" custScaleY="100038">
        <dgm:presLayoutVars>
          <dgm:bulletEnabled val="1"/>
        </dgm:presLayoutVars>
      </dgm:prSet>
      <dgm:spPr/>
    </dgm:pt>
    <dgm:pt modelId="{3E42FB76-954A-40C7-82BA-1389A9CB6A2E}" type="pres">
      <dgm:prSet presAssocID="{F9A1E650-44AB-4438-97C4-451319B82A16}" presName="arrow" presStyleLbl="node1" presStyleIdx="1" presStyleCnt="2">
        <dgm:presLayoutVars>
          <dgm:bulletEnabled val="1"/>
        </dgm:presLayoutVars>
      </dgm:prSet>
      <dgm:spPr/>
    </dgm:pt>
  </dgm:ptLst>
  <dgm:cxnLst>
    <dgm:cxn modelId="{3CDA1020-2891-4E6A-98C8-D72DF99BED55}" type="presOf" srcId="{69097938-7E76-4553-BEF2-7EA79030D905}" destId="{6BEA0524-34D0-443B-8294-608D50925DC3}" srcOrd="0" destOrd="0" presId="urn:microsoft.com/office/officeart/2005/8/layout/arrow1"/>
    <dgm:cxn modelId="{D082D352-E690-47B5-81C9-43717B53C85B}" srcId="{5F4CA837-47C9-46EE-972F-4AEF03F46D9E}" destId="{F9A1E650-44AB-4438-97C4-451319B82A16}" srcOrd="1" destOrd="0" parTransId="{4B923A72-C11C-4153-8B35-2DD949750F25}" sibTransId="{45DC8AA2-8175-4B87-9CB5-C0543DD2CD75}"/>
    <dgm:cxn modelId="{7F2F3CB3-AFF4-498E-9F9F-AB85F867CE3B}" type="presOf" srcId="{5F4CA837-47C9-46EE-972F-4AEF03F46D9E}" destId="{4E632C84-5EEE-4E8D-91DE-905C3032E8A4}" srcOrd="0" destOrd="0" presId="urn:microsoft.com/office/officeart/2005/8/layout/arrow1"/>
    <dgm:cxn modelId="{BED028BA-9366-4932-BB51-AFE79143D0D9}" srcId="{5F4CA837-47C9-46EE-972F-4AEF03F46D9E}" destId="{69097938-7E76-4553-BEF2-7EA79030D905}" srcOrd="0" destOrd="0" parTransId="{BBF1FF11-A97D-4E93-B0FA-43CEF91E054E}" sibTransId="{B8FB41F9-33F1-4FF5-89DD-730D33987068}"/>
    <dgm:cxn modelId="{9D85A2BA-A4E2-4A1E-96ED-88BD648DBFAA}" type="presOf" srcId="{F9A1E650-44AB-4438-97C4-451319B82A16}" destId="{3E42FB76-954A-40C7-82BA-1389A9CB6A2E}" srcOrd="0" destOrd="0" presId="urn:microsoft.com/office/officeart/2005/8/layout/arrow1"/>
    <dgm:cxn modelId="{5F587A24-EA8A-4AB9-8D2D-A3A7784A72C8}" type="presParOf" srcId="{4E632C84-5EEE-4E8D-91DE-905C3032E8A4}" destId="{6BEA0524-34D0-443B-8294-608D50925DC3}" srcOrd="0" destOrd="0" presId="urn:microsoft.com/office/officeart/2005/8/layout/arrow1"/>
    <dgm:cxn modelId="{32AC45E5-3168-4CCD-8F48-F109C00A74E9}" type="presParOf" srcId="{4E632C84-5EEE-4E8D-91DE-905C3032E8A4}" destId="{3E42FB76-954A-40C7-82BA-1389A9CB6A2E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58CDAF-1BA1-482E-93FE-AADA964E182A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9C657A1-5FBA-48DC-A9D0-4ED19178C87D}">
      <dgm:prSet phldrT="[文本]" custT="1"/>
      <dgm:spPr/>
      <dgm:t>
        <a:bodyPr/>
        <a:lstStyle/>
        <a:p>
          <a:r>
            <a:rPr lang="en-US" altLang="zh-CN" sz="1100" dirty="0"/>
            <a:t>  Computer</a:t>
          </a:r>
          <a:endParaRPr lang="zh-CN" altLang="en-US" sz="1100" dirty="0"/>
        </a:p>
      </dgm:t>
    </dgm:pt>
    <dgm:pt modelId="{49019BBD-E49D-4377-A5C3-9583CA66DA44}" type="parTrans" cxnId="{4F5DE6C0-47BA-4149-9092-80FFAA74CDD3}">
      <dgm:prSet/>
      <dgm:spPr/>
      <dgm:t>
        <a:bodyPr/>
        <a:lstStyle/>
        <a:p>
          <a:endParaRPr lang="zh-CN" altLang="en-US"/>
        </a:p>
      </dgm:t>
    </dgm:pt>
    <dgm:pt modelId="{0EA27E3C-31FA-4C00-93C7-2D573F467F9E}" type="sibTrans" cxnId="{4F5DE6C0-47BA-4149-9092-80FFAA74CDD3}">
      <dgm:prSet/>
      <dgm:spPr/>
      <dgm:t>
        <a:bodyPr/>
        <a:lstStyle/>
        <a:p>
          <a:endParaRPr lang="zh-CN" altLang="en-US"/>
        </a:p>
      </dgm:t>
    </dgm:pt>
    <dgm:pt modelId="{82A2E251-D9F1-4F9C-A415-5C985C0DF367}">
      <dgm:prSet phldrT="[文本]" custT="1"/>
      <dgm:spPr/>
      <dgm:t>
        <a:bodyPr/>
        <a:lstStyle/>
        <a:p>
          <a:r>
            <a:rPr lang="en-US" altLang="zh-CN" sz="900" dirty="0"/>
            <a:t>  </a:t>
          </a:r>
          <a:r>
            <a:rPr lang="en-US" altLang="zh-CN" sz="900" b="1" dirty="0"/>
            <a:t>CPU</a:t>
          </a:r>
          <a:endParaRPr lang="zh-CN" altLang="en-US" sz="900" b="1" dirty="0"/>
        </a:p>
      </dgm:t>
    </dgm:pt>
    <dgm:pt modelId="{2F163EFA-10CC-4A20-BC21-1106B5885818}" type="parTrans" cxnId="{2964BD0F-4AC8-4FAB-A7EE-65081180B61D}">
      <dgm:prSet/>
      <dgm:spPr/>
      <dgm:t>
        <a:bodyPr/>
        <a:lstStyle/>
        <a:p>
          <a:endParaRPr lang="zh-CN" altLang="en-US"/>
        </a:p>
      </dgm:t>
    </dgm:pt>
    <dgm:pt modelId="{9E015776-5FDE-4BD8-A951-22A1D9920BB0}" type="sibTrans" cxnId="{2964BD0F-4AC8-4FAB-A7EE-65081180B61D}">
      <dgm:prSet/>
      <dgm:spPr/>
      <dgm:t>
        <a:bodyPr/>
        <a:lstStyle/>
        <a:p>
          <a:endParaRPr lang="zh-CN" altLang="en-US"/>
        </a:p>
      </dgm:t>
    </dgm:pt>
    <dgm:pt modelId="{8698719E-8B44-4AA4-959D-39181477D31F}">
      <dgm:prSet phldrT="[文本]" custT="1"/>
      <dgm:spPr/>
      <dgm:t>
        <a:bodyPr/>
        <a:lstStyle/>
        <a:p>
          <a:r>
            <a:rPr lang="en-US" altLang="zh-CN" sz="1000" dirty="0"/>
            <a:t>Register</a:t>
          </a:r>
          <a:r>
            <a:rPr lang="en-US" altLang="zh-CN" sz="800" dirty="0"/>
            <a:t>  </a:t>
          </a:r>
          <a:endParaRPr lang="zh-CN" altLang="en-US" sz="800" dirty="0"/>
        </a:p>
      </dgm:t>
    </dgm:pt>
    <dgm:pt modelId="{8292168E-90C8-4835-B657-23F729D656A2}" type="parTrans" cxnId="{6EBADF93-8EEF-48C9-A298-539A32AB6002}">
      <dgm:prSet/>
      <dgm:spPr/>
      <dgm:t>
        <a:bodyPr/>
        <a:lstStyle/>
        <a:p>
          <a:endParaRPr lang="zh-CN" altLang="en-US"/>
        </a:p>
      </dgm:t>
    </dgm:pt>
    <dgm:pt modelId="{12B0BCBA-D99E-43B3-B98E-0EFAF480DF38}" type="sibTrans" cxnId="{6EBADF93-8EEF-48C9-A298-539A32AB6002}">
      <dgm:prSet/>
      <dgm:spPr/>
      <dgm:t>
        <a:bodyPr/>
        <a:lstStyle/>
        <a:p>
          <a:endParaRPr lang="zh-CN" altLang="en-US"/>
        </a:p>
      </dgm:t>
    </dgm:pt>
    <dgm:pt modelId="{65D22B4A-DD99-48E6-A426-C584F482A385}">
      <dgm:prSet phldrT="[文本]" custT="1"/>
      <dgm:spPr/>
      <dgm:t>
        <a:bodyPr/>
        <a:lstStyle/>
        <a:p>
          <a:r>
            <a:rPr lang="en-US" altLang="zh-CN" sz="900" dirty="0"/>
            <a:t>  </a:t>
          </a:r>
          <a:r>
            <a:rPr lang="en-US" altLang="zh-CN" sz="1050" dirty="0"/>
            <a:t>ALU</a:t>
          </a:r>
          <a:endParaRPr lang="zh-CN" altLang="en-US" sz="900" dirty="0"/>
        </a:p>
      </dgm:t>
    </dgm:pt>
    <dgm:pt modelId="{47B69679-DC77-4CAE-BFAD-4D3D4A25EA22}" type="parTrans" cxnId="{4E9B8266-A992-40A6-BB54-949FF53C0F4D}">
      <dgm:prSet/>
      <dgm:spPr/>
      <dgm:t>
        <a:bodyPr/>
        <a:lstStyle/>
        <a:p>
          <a:endParaRPr lang="zh-CN" altLang="en-US"/>
        </a:p>
      </dgm:t>
    </dgm:pt>
    <dgm:pt modelId="{0D46732B-9294-4292-B958-6487FB78D2D2}" type="sibTrans" cxnId="{4E9B8266-A992-40A6-BB54-949FF53C0F4D}">
      <dgm:prSet/>
      <dgm:spPr/>
      <dgm:t>
        <a:bodyPr/>
        <a:lstStyle/>
        <a:p>
          <a:endParaRPr lang="zh-CN" altLang="en-US"/>
        </a:p>
      </dgm:t>
    </dgm:pt>
    <dgm:pt modelId="{EC293F71-DDDA-4DB9-821F-DB821DAF2633}">
      <dgm:prSet phldrT="[文本]" custT="1"/>
      <dgm:spPr/>
      <dgm:t>
        <a:bodyPr/>
        <a:lstStyle/>
        <a:p>
          <a:r>
            <a:rPr lang="en-US" altLang="zh-CN" sz="900" b="1" dirty="0"/>
            <a:t>  Memory</a:t>
          </a:r>
          <a:endParaRPr lang="zh-CN" altLang="en-US" sz="900" b="1" dirty="0"/>
        </a:p>
      </dgm:t>
    </dgm:pt>
    <dgm:pt modelId="{E78916C2-6BC4-4C75-98A7-0F4D0E173405}" type="parTrans" cxnId="{BD8F5696-0CDA-45D5-906F-EF8B03559B13}">
      <dgm:prSet/>
      <dgm:spPr/>
      <dgm:t>
        <a:bodyPr/>
        <a:lstStyle/>
        <a:p>
          <a:endParaRPr lang="zh-CN" altLang="en-US"/>
        </a:p>
      </dgm:t>
    </dgm:pt>
    <dgm:pt modelId="{FA48CB3C-82C1-4A73-83D6-66B1F94734F0}" type="sibTrans" cxnId="{BD8F5696-0CDA-45D5-906F-EF8B03559B13}">
      <dgm:prSet/>
      <dgm:spPr/>
      <dgm:t>
        <a:bodyPr/>
        <a:lstStyle/>
        <a:p>
          <a:endParaRPr lang="zh-CN" altLang="en-US"/>
        </a:p>
      </dgm:t>
    </dgm:pt>
    <dgm:pt modelId="{3B6323AA-F14A-45DB-B558-BCCC7EF51294}">
      <dgm:prSet phldrT="[文本]" custT="1"/>
      <dgm:spPr/>
      <dgm:t>
        <a:bodyPr/>
        <a:lstStyle/>
        <a:p>
          <a:r>
            <a:rPr lang="en-US" altLang="zh-CN" sz="1000" dirty="0"/>
            <a:t>I/O</a:t>
          </a:r>
          <a:endParaRPr lang="zh-CN" altLang="en-US" sz="1000" dirty="0"/>
        </a:p>
      </dgm:t>
    </dgm:pt>
    <dgm:pt modelId="{C6489A56-8893-430B-ACBD-F1F13927F431}" type="parTrans" cxnId="{E08781A7-966A-4380-BD24-3AD2D7C275AF}">
      <dgm:prSet/>
      <dgm:spPr/>
      <dgm:t>
        <a:bodyPr/>
        <a:lstStyle/>
        <a:p>
          <a:endParaRPr lang="zh-CN" altLang="en-US"/>
        </a:p>
      </dgm:t>
    </dgm:pt>
    <dgm:pt modelId="{7CEE296E-3E55-4E9A-9EFF-54F3CF61146F}" type="sibTrans" cxnId="{E08781A7-966A-4380-BD24-3AD2D7C275AF}">
      <dgm:prSet/>
      <dgm:spPr/>
      <dgm:t>
        <a:bodyPr/>
        <a:lstStyle/>
        <a:p>
          <a:endParaRPr lang="zh-CN" altLang="en-US"/>
        </a:p>
      </dgm:t>
    </dgm:pt>
    <dgm:pt modelId="{FC0F570F-61FC-4CAD-9C4A-110057944B8C}">
      <dgm:prSet phldrT="[文本]"/>
      <dgm:spPr/>
      <dgm:t>
        <a:bodyPr/>
        <a:lstStyle/>
        <a:p>
          <a:pPr algn="l"/>
          <a:r>
            <a:rPr lang="en-US" altLang="zh-CN" dirty="0"/>
            <a:t>  Top</a:t>
          </a:r>
          <a:endParaRPr lang="zh-CN" altLang="en-US" dirty="0"/>
        </a:p>
      </dgm:t>
    </dgm:pt>
    <dgm:pt modelId="{566A1A74-CC1F-40F3-A935-C677D7EB420E}" type="parTrans" cxnId="{DC444116-4300-4B9E-B897-332ABB937B22}">
      <dgm:prSet/>
      <dgm:spPr/>
      <dgm:t>
        <a:bodyPr/>
        <a:lstStyle/>
        <a:p>
          <a:endParaRPr lang="zh-CN" altLang="en-US"/>
        </a:p>
      </dgm:t>
    </dgm:pt>
    <dgm:pt modelId="{170A4A1B-EB0D-4D1C-B82A-A5EFED64F5BF}" type="sibTrans" cxnId="{DC444116-4300-4B9E-B897-332ABB937B22}">
      <dgm:prSet/>
      <dgm:spPr/>
      <dgm:t>
        <a:bodyPr/>
        <a:lstStyle/>
        <a:p>
          <a:endParaRPr lang="zh-CN" altLang="en-US"/>
        </a:p>
      </dgm:t>
    </dgm:pt>
    <dgm:pt modelId="{C669834F-351F-459F-BE89-E8D25BA6E5E0}">
      <dgm:prSet phldrT="[文本]"/>
      <dgm:spPr/>
      <dgm:t>
        <a:bodyPr/>
        <a:lstStyle/>
        <a:p>
          <a:pPr algn="l"/>
          <a:r>
            <a:rPr lang="en-US" altLang="zh-CN" dirty="0"/>
            <a:t>  Level 1</a:t>
          </a:r>
          <a:endParaRPr lang="zh-CN" altLang="en-US" dirty="0"/>
        </a:p>
      </dgm:t>
    </dgm:pt>
    <dgm:pt modelId="{33C35D5F-A675-4DCD-AF7F-821945253553}" type="parTrans" cxnId="{79B26072-B902-4E68-883B-76DFA794D905}">
      <dgm:prSet/>
      <dgm:spPr/>
      <dgm:t>
        <a:bodyPr/>
        <a:lstStyle/>
        <a:p>
          <a:endParaRPr lang="zh-CN" altLang="en-US"/>
        </a:p>
      </dgm:t>
    </dgm:pt>
    <dgm:pt modelId="{D4CFA1CB-2D8F-414C-8541-DDE03BF7BD2B}" type="sibTrans" cxnId="{79B26072-B902-4E68-883B-76DFA794D905}">
      <dgm:prSet/>
      <dgm:spPr/>
      <dgm:t>
        <a:bodyPr/>
        <a:lstStyle/>
        <a:p>
          <a:endParaRPr lang="zh-CN" altLang="en-US"/>
        </a:p>
      </dgm:t>
    </dgm:pt>
    <dgm:pt modelId="{70A4104E-9721-4032-8FA5-862E5A57F557}">
      <dgm:prSet phldrT="[文本]"/>
      <dgm:spPr/>
      <dgm:t>
        <a:bodyPr/>
        <a:lstStyle/>
        <a:p>
          <a:pPr algn="l"/>
          <a:r>
            <a:rPr lang="en-US" altLang="zh-CN" dirty="0"/>
            <a:t>  Level 2</a:t>
          </a:r>
          <a:endParaRPr lang="zh-CN" altLang="en-US" dirty="0"/>
        </a:p>
      </dgm:t>
    </dgm:pt>
    <dgm:pt modelId="{7BDEC721-7AEF-4234-BEB0-2E4DE8E325A9}" type="parTrans" cxnId="{31ABE433-1E06-4A92-9CE8-8B14292D5FA8}">
      <dgm:prSet/>
      <dgm:spPr/>
      <dgm:t>
        <a:bodyPr/>
        <a:lstStyle/>
        <a:p>
          <a:endParaRPr lang="zh-CN" altLang="en-US"/>
        </a:p>
      </dgm:t>
    </dgm:pt>
    <dgm:pt modelId="{2A9192FF-7D51-4CF6-84A7-B256AEEE8450}" type="sibTrans" cxnId="{31ABE433-1E06-4A92-9CE8-8B14292D5FA8}">
      <dgm:prSet/>
      <dgm:spPr/>
      <dgm:t>
        <a:bodyPr/>
        <a:lstStyle/>
        <a:p>
          <a:endParaRPr lang="zh-CN" altLang="en-US"/>
        </a:p>
      </dgm:t>
    </dgm:pt>
    <dgm:pt modelId="{DE939D5A-BA0D-419F-92DE-AE34C2015916}">
      <dgm:prSet phldrT="[文本]"/>
      <dgm:spPr/>
      <dgm:t>
        <a:bodyPr/>
        <a:lstStyle/>
        <a:p>
          <a:r>
            <a:rPr lang="en-US" altLang="zh-CN" dirty="0"/>
            <a:t>Control Unit</a:t>
          </a:r>
          <a:endParaRPr lang="zh-CN" altLang="en-US" dirty="0"/>
        </a:p>
      </dgm:t>
    </dgm:pt>
    <dgm:pt modelId="{FA33273A-A76B-41B0-823D-1D6D1C27F913}" type="parTrans" cxnId="{25468E3A-6076-4026-BFB8-91280B430232}">
      <dgm:prSet/>
      <dgm:spPr/>
      <dgm:t>
        <a:bodyPr/>
        <a:lstStyle/>
        <a:p>
          <a:endParaRPr lang="zh-CN" altLang="en-US"/>
        </a:p>
      </dgm:t>
    </dgm:pt>
    <dgm:pt modelId="{57C740B0-A9EF-45D3-89F4-646449ED28C9}" type="sibTrans" cxnId="{25468E3A-6076-4026-BFB8-91280B430232}">
      <dgm:prSet/>
      <dgm:spPr/>
      <dgm:t>
        <a:bodyPr/>
        <a:lstStyle/>
        <a:p>
          <a:endParaRPr lang="zh-CN" altLang="en-US"/>
        </a:p>
      </dgm:t>
    </dgm:pt>
    <dgm:pt modelId="{21BBD826-8443-45D6-91BE-6BDF55286BC8}" type="pres">
      <dgm:prSet presAssocID="{A058CDAF-1BA1-482E-93FE-AADA964E182A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8B4B913-3556-46B9-AB20-680CE4A3A662}" type="pres">
      <dgm:prSet presAssocID="{A058CDAF-1BA1-482E-93FE-AADA964E182A}" presName="hierFlow" presStyleCnt="0"/>
      <dgm:spPr/>
    </dgm:pt>
    <dgm:pt modelId="{F38CC805-B1C8-421D-8771-75BCC880C1DE}" type="pres">
      <dgm:prSet presAssocID="{A058CDAF-1BA1-482E-93FE-AADA964E182A}" presName="firstBuf" presStyleCnt="0"/>
      <dgm:spPr/>
    </dgm:pt>
    <dgm:pt modelId="{3B1C859C-F71A-4D5B-B45C-B3B50C6FA42A}" type="pres">
      <dgm:prSet presAssocID="{A058CDAF-1BA1-482E-93FE-AADA964E182A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13A8432-28DD-4993-B817-8CB13382B2BF}" type="pres">
      <dgm:prSet presAssocID="{89C657A1-5FBA-48DC-A9D0-4ED19178C87D}" presName="Name14" presStyleCnt="0"/>
      <dgm:spPr/>
    </dgm:pt>
    <dgm:pt modelId="{568CFAEE-D564-4AF3-B2FB-4B663DF1D38C}" type="pres">
      <dgm:prSet presAssocID="{89C657A1-5FBA-48DC-A9D0-4ED19178C87D}" presName="level1Shape" presStyleLbl="node0" presStyleIdx="0" presStyleCnt="1" custScaleX="189594">
        <dgm:presLayoutVars>
          <dgm:chPref val="3"/>
        </dgm:presLayoutVars>
      </dgm:prSet>
      <dgm:spPr/>
    </dgm:pt>
    <dgm:pt modelId="{427E174A-690C-4BBF-B930-B8FFBE3B5D7D}" type="pres">
      <dgm:prSet presAssocID="{89C657A1-5FBA-48DC-A9D0-4ED19178C87D}" presName="hierChild2" presStyleCnt="0"/>
      <dgm:spPr/>
    </dgm:pt>
    <dgm:pt modelId="{291AD477-EE83-4DE5-A3FF-B75331A36212}" type="pres">
      <dgm:prSet presAssocID="{2F163EFA-10CC-4A20-BC21-1106B5885818}" presName="Name19" presStyleLbl="parChTrans1D2" presStyleIdx="0" presStyleCnt="3"/>
      <dgm:spPr/>
    </dgm:pt>
    <dgm:pt modelId="{7A202558-C151-4D15-9AE2-41F94EFEAD2E}" type="pres">
      <dgm:prSet presAssocID="{82A2E251-D9F1-4F9C-A415-5C985C0DF367}" presName="Name21" presStyleCnt="0"/>
      <dgm:spPr/>
    </dgm:pt>
    <dgm:pt modelId="{B70CDA8A-EF15-4B68-8B8F-352AAFE85F0C}" type="pres">
      <dgm:prSet presAssocID="{82A2E251-D9F1-4F9C-A415-5C985C0DF367}" presName="level2Shape" presStyleLbl="node2" presStyleIdx="0" presStyleCnt="3"/>
      <dgm:spPr/>
    </dgm:pt>
    <dgm:pt modelId="{AD0E81CD-E4B5-48E0-9B44-BBCE35174764}" type="pres">
      <dgm:prSet presAssocID="{82A2E251-D9F1-4F9C-A415-5C985C0DF367}" presName="hierChild3" presStyleCnt="0"/>
      <dgm:spPr/>
    </dgm:pt>
    <dgm:pt modelId="{84D36576-E315-46F1-8AB2-2D4295DB955C}" type="pres">
      <dgm:prSet presAssocID="{8292168E-90C8-4835-B657-23F729D656A2}" presName="Name19" presStyleLbl="parChTrans1D3" presStyleIdx="0" presStyleCnt="3"/>
      <dgm:spPr/>
    </dgm:pt>
    <dgm:pt modelId="{B681479A-B039-43AC-BD9C-8029A85C76D9}" type="pres">
      <dgm:prSet presAssocID="{8698719E-8B44-4AA4-959D-39181477D31F}" presName="Name21" presStyleCnt="0"/>
      <dgm:spPr/>
    </dgm:pt>
    <dgm:pt modelId="{4FF774DA-5F62-4F6F-97A6-CDF8DC0A48B6}" type="pres">
      <dgm:prSet presAssocID="{8698719E-8B44-4AA4-959D-39181477D31F}" presName="level2Shape" presStyleLbl="node3" presStyleIdx="0" presStyleCnt="3" custScaleX="117585"/>
      <dgm:spPr/>
    </dgm:pt>
    <dgm:pt modelId="{212BC8C1-CB2B-42C2-8CDF-87B9770B1FE1}" type="pres">
      <dgm:prSet presAssocID="{8698719E-8B44-4AA4-959D-39181477D31F}" presName="hierChild3" presStyleCnt="0"/>
      <dgm:spPr/>
    </dgm:pt>
    <dgm:pt modelId="{188B2957-74BC-4119-9B35-42BFCA3DEEDC}" type="pres">
      <dgm:prSet presAssocID="{47B69679-DC77-4CAE-BFAD-4D3D4A25EA22}" presName="Name19" presStyleLbl="parChTrans1D3" presStyleIdx="1" presStyleCnt="3"/>
      <dgm:spPr/>
    </dgm:pt>
    <dgm:pt modelId="{F0502FE9-3B93-456A-A2B5-57F4BF82A091}" type="pres">
      <dgm:prSet presAssocID="{65D22B4A-DD99-48E6-A426-C584F482A385}" presName="Name21" presStyleCnt="0"/>
      <dgm:spPr/>
    </dgm:pt>
    <dgm:pt modelId="{E9643D92-56A0-4D62-8652-C09A08615684}" type="pres">
      <dgm:prSet presAssocID="{65D22B4A-DD99-48E6-A426-C584F482A385}" presName="level2Shape" presStyleLbl="node3" presStyleIdx="1" presStyleCnt="3"/>
      <dgm:spPr/>
    </dgm:pt>
    <dgm:pt modelId="{E41848C5-E1FF-4334-88F6-5A6CEBE2D36D}" type="pres">
      <dgm:prSet presAssocID="{65D22B4A-DD99-48E6-A426-C584F482A385}" presName="hierChild3" presStyleCnt="0"/>
      <dgm:spPr/>
    </dgm:pt>
    <dgm:pt modelId="{92E2AA59-0090-48EF-844B-1B873F49CB2B}" type="pres">
      <dgm:prSet presAssocID="{FA33273A-A76B-41B0-823D-1D6D1C27F913}" presName="Name19" presStyleLbl="parChTrans1D3" presStyleIdx="2" presStyleCnt="3"/>
      <dgm:spPr/>
    </dgm:pt>
    <dgm:pt modelId="{E34C4503-CFF8-401D-BBCD-783A748ACD66}" type="pres">
      <dgm:prSet presAssocID="{DE939D5A-BA0D-419F-92DE-AE34C2015916}" presName="Name21" presStyleCnt="0"/>
      <dgm:spPr/>
    </dgm:pt>
    <dgm:pt modelId="{1569CCC8-A2CB-484A-8247-75A7C2165611}" type="pres">
      <dgm:prSet presAssocID="{DE939D5A-BA0D-419F-92DE-AE34C2015916}" presName="level2Shape" presStyleLbl="node3" presStyleIdx="2" presStyleCnt="3"/>
      <dgm:spPr/>
    </dgm:pt>
    <dgm:pt modelId="{BB00BE59-7C89-493C-9FE9-0E4924FB9137}" type="pres">
      <dgm:prSet presAssocID="{DE939D5A-BA0D-419F-92DE-AE34C2015916}" presName="hierChild3" presStyleCnt="0"/>
      <dgm:spPr/>
    </dgm:pt>
    <dgm:pt modelId="{8C8696CB-206D-48D0-BD62-412008FB2713}" type="pres">
      <dgm:prSet presAssocID="{E78916C2-6BC4-4C75-98A7-0F4D0E173405}" presName="Name19" presStyleLbl="parChTrans1D2" presStyleIdx="1" presStyleCnt="3"/>
      <dgm:spPr/>
    </dgm:pt>
    <dgm:pt modelId="{F70EB3C8-0E7E-4EA7-A54E-F7F0440D7A1F}" type="pres">
      <dgm:prSet presAssocID="{EC293F71-DDDA-4DB9-821F-DB821DAF2633}" presName="Name21" presStyleCnt="0"/>
      <dgm:spPr/>
    </dgm:pt>
    <dgm:pt modelId="{334790AB-7310-4C7F-AAE5-309E47C4DEDE}" type="pres">
      <dgm:prSet presAssocID="{EC293F71-DDDA-4DB9-821F-DB821DAF2633}" presName="level2Shape" presStyleLbl="node2" presStyleIdx="1" presStyleCnt="3" custScaleX="138707"/>
      <dgm:spPr/>
    </dgm:pt>
    <dgm:pt modelId="{34EF7C92-2C68-4177-AFD7-7736E5069B63}" type="pres">
      <dgm:prSet presAssocID="{EC293F71-DDDA-4DB9-821F-DB821DAF2633}" presName="hierChild3" presStyleCnt="0"/>
      <dgm:spPr/>
    </dgm:pt>
    <dgm:pt modelId="{73CD7681-1F04-4891-9452-F8A761E000F9}" type="pres">
      <dgm:prSet presAssocID="{C6489A56-8893-430B-ACBD-F1F13927F431}" presName="Name19" presStyleLbl="parChTrans1D2" presStyleIdx="2" presStyleCnt="3"/>
      <dgm:spPr/>
    </dgm:pt>
    <dgm:pt modelId="{C2DC4B43-4526-402F-A5C5-8C6C68474347}" type="pres">
      <dgm:prSet presAssocID="{3B6323AA-F14A-45DB-B558-BCCC7EF51294}" presName="Name21" presStyleCnt="0"/>
      <dgm:spPr/>
    </dgm:pt>
    <dgm:pt modelId="{C2F2D2A1-F62A-4521-9156-79DD53412274}" type="pres">
      <dgm:prSet presAssocID="{3B6323AA-F14A-45DB-B558-BCCC7EF51294}" presName="level2Shape" presStyleLbl="node2" presStyleIdx="2" presStyleCnt="3"/>
      <dgm:spPr/>
    </dgm:pt>
    <dgm:pt modelId="{E9D0FB97-8830-43EB-910C-E63130078B79}" type="pres">
      <dgm:prSet presAssocID="{3B6323AA-F14A-45DB-B558-BCCC7EF51294}" presName="hierChild3" presStyleCnt="0"/>
      <dgm:spPr/>
    </dgm:pt>
    <dgm:pt modelId="{C6F4114C-4E8A-43EA-8EEF-51FFCABDF2AA}" type="pres">
      <dgm:prSet presAssocID="{A058CDAF-1BA1-482E-93FE-AADA964E182A}" presName="bgShapesFlow" presStyleCnt="0"/>
      <dgm:spPr/>
    </dgm:pt>
    <dgm:pt modelId="{B390669C-72B0-45B1-8AA1-B8E99C1D6F69}" type="pres">
      <dgm:prSet presAssocID="{FC0F570F-61FC-4CAD-9C4A-110057944B8C}" presName="rectComp" presStyleCnt="0"/>
      <dgm:spPr/>
    </dgm:pt>
    <dgm:pt modelId="{F1D1C6B5-E15D-4C97-8130-F00C6B90E146}" type="pres">
      <dgm:prSet presAssocID="{FC0F570F-61FC-4CAD-9C4A-110057944B8C}" presName="bgRect" presStyleLbl="bgShp" presStyleIdx="0" presStyleCnt="3" custLinFactNeighborX="-11424" custLinFactNeighborY="2364"/>
      <dgm:spPr/>
    </dgm:pt>
    <dgm:pt modelId="{8F2711E3-6FDF-4798-8D53-A4A964926F5B}" type="pres">
      <dgm:prSet presAssocID="{FC0F570F-61FC-4CAD-9C4A-110057944B8C}" presName="bgRectTx" presStyleLbl="bgShp" presStyleIdx="0" presStyleCnt="3">
        <dgm:presLayoutVars>
          <dgm:bulletEnabled val="1"/>
        </dgm:presLayoutVars>
      </dgm:prSet>
      <dgm:spPr/>
    </dgm:pt>
    <dgm:pt modelId="{1D01F32F-ABB5-4BC3-B617-99CF70061926}" type="pres">
      <dgm:prSet presAssocID="{FC0F570F-61FC-4CAD-9C4A-110057944B8C}" presName="spComp" presStyleCnt="0"/>
      <dgm:spPr/>
    </dgm:pt>
    <dgm:pt modelId="{08FC9318-ABCB-487E-BD6B-F2EF2525BC97}" type="pres">
      <dgm:prSet presAssocID="{FC0F570F-61FC-4CAD-9C4A-110057944B8C}" presName="vSp" presStyleCnt="0"/>
      <dgm:spPr/>
    </dgm:pt>
    <dgm:pt modelId="{12C78A87-73D1-427E-8A9D-61D4BC0A8B1E}" type="pres">
      <dgm:prSet presAssocID="{C669834F-351F-459F-BE89-E8D25BA6E5E0}" presName="rectComp" presStyleCnt="0"/>
      <dgm:spPr/>
    </dgm:pt>
    <dgm:pt modelId="{66D94F92-73AA-4C70-9E0A-7F45FD6F003F}" type="pres">
      <dgm:prSet presAssocID="{C669834F-351F-459F-BE89-E8D25BA6E5E0}" presName="bgRect" presStyleLbl="bgShp" presStyleIdx="1" presStyleCnt="3"/>
      <dgm:spPr/>
    </dgm:pt>
    <dgm:pt modelId="{E6B9E98D-348E-4342-8323-DF9F1DC91D85}" type="pres">
      <dgm:prSet presAssocID="{C669834F-351F-459F-BE89-E8D25BA6E5E0}" presName="bgRectTx" presStyleLbl="bgShp" presStyleIdx="1" presStyleCnt="3">
        <dgm:presLayoutVars>
          <dgm:bulletEnabled val="1"/>
        </dgm:presLayoutVars>
      </dgm:prSet>
      <dgm:spPr/>
    </dgm:pt>
    <dgm:pt modelId="{0FD55F54-CB15-4F60-AD8F-F882F0E3B685}" type="pres">
      <dgm:prSet presAssocID="{C669834F-351F-459F-BE89-E8D25BA6E5E0}" presName="spComp" presStyleCnt="0"/>
      <dgm:spPr/>
    </dgm:pt>
    <dgm:pt modelId="{9A65FFD6-6BA9-4C7D-A5E9-173315E324B4}" type="pres">
      <dgm:prSet presAssocID="{C669834F-351F-459F-BE89-E8D25BA6E5E0}" presName="vSp" presStyleCnt="0"/>
      <dgm:spPr/>
    </dgm:pt>
    <dgm:pt modelId="{5112ABE8-FF2A-4FB8-B2F1-18758CFCADF6}" type="pres">
      <dgm:prSet presAssocID="{70A4104E-9721-4032-8FA5-862E5A57F557}" presName="rectComp" presStyleCnt="0"/>
      <dgm:spPr/>
    </dgm:pt>
    <dgm:pt modelId="{DC029289-105A-4075-99B4-DB0A9CC20C51}" type="pres">
      <dgm:prSet presAssocID="{70A4104E-9721-4032-8FA5-862E5A57F557}" presName="bgRect" presStyleLbl="bgShp" presStyleIdx="2" presStyleCnt="3"/>
      <dgm:spPr/>
    </dgm:pt>
    <dgm:pt modelId="{E5A51AD7-8E85-4730-BC9B-29D1698F297C}" type="pres">
      <dgm:prSet presAssocID="{70A4104E-9721-4032-8FA5-862E5A57F557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2964BD0F-4AC8-4FAB-A7EE-65081180B61D}" srcId="{89C657A1-5FBA-48DC-A9D0-4ED19178C87D}" destId="{82A2E251-D9F1-4F9C-A415-5C985C0DF367}" srcOrd="0" destOrd="0" parTransId="{2F163EFA-10CC-4A20-BC21-1106B5885818}" sibTransId="{9E015776-5FDE-4BD8-A951-22A1D9920BB0}"/>
    <dgm:cxn modelId="{DC444116-4300-4B9E-B897-332ABB937B22}" srcId="{A058CDAF-1BA1-482E-93FE-AADA964E182A}" destId="{FC0F570F-61FC-4CAD-9C4A-110057944B8C}" srcOrd="1" destOrd="0" parTransId="{566A1A74-CC1F-40F3-A935-C677D7EB420E}" sibTransId="{170A4A1B-EB0D-4D1C-B82A-A5EFED64F5BF}"/>
    <dgm:cxn modelId="{D27E2B19-6105-44F9-94AB-22A4D79AE3C3}" type="presOf" srcId="{E78916C2-6BC4-4C75-98A7-0F4D0E173405}" destId="{8C8696CB-206D-48D0-BD62-412008FB2713}" srcOrd="0" destOrd="0" presId="urn:microsoft.com/office/officeart/2005/8/layout/hierarchy6"/>
    <dgm:cxn modelId="{6D34362D-098F-40B6-9C5D-AA78A0C869B6}" type="presOf" srcId="{EC293F71-DDDA-4DB9-821F-DB821DAF2633}" destId="{334790AB-7310-4C7F-AAE5-309E47C4DEDE}" srcOrd="0" destOrd="0" presId="urn:microsoft.com/office/officeart/2005/8/layout/hierarchy6"/>
    <dgm:cxn modelId="{7925992F-12F8-4114-B579-E3239C609D38}" type="presOf" srcId="{DE939D5A-BA0D-419F-92DE-AE34C2015916}" destId="{1569CCC8-A2CB-484A-8247-75A7C2165611}" srcOrd="0" destOrd="0" presId="urn:microsoft.com/office/officeart/2005/8/layout/hierarchy6"/>
    <dgm:cxn modelId="{00D55F30-9096-4E42-AF5B-B7A1401DD30F}" type="presOf" srcId="{70A4104E-9721-4032-8FA5-862E5A57F557}" destId="{DC029289-105A-4075-99B4-DB0A9CC20C51}" srcOrd="0" destOrd="0" presId="urn:microsoft.com/office/officeart/2005/8/layout/hierarchy6"/>
    <dgm:cxn modelId="{31ABE433-1E06-4A92-9CE8-8B14292D5FA8}" srcId="{A058CDAF-1BA1-482E-93FE-AADA964E182A}" destId="{70A4104E-9721-4032-8FA5-862E5A57F557}" srcOrd="3" destOrd="0" parTransId="{7BDEC721-7AEF-4234-BEB0-2E4DE8E325A9}" sibTransId="{2A9192FF-7D51-4CF6-84A7-B256AEEE8450}"/>
    <dgm:cxn modelId="{25468E3A-6076-4026-BFB8-91280B430232}" srcId="{82A2E251-D9F1-4F9C-A415-5C985C0DF367}" destId="{DE939D5A-BA0D-419F-92DE-AE34C2015916}" srcOrd="2" destOrd="0" parTransId="{FA33273A-A76B-41B0-823D-1D6D1C27F913}" sibTransId="{57C740B0-A9EF-45D3-89F4-646449ED28C9}"/>
    <dgm:cxn modelId="{8B405764-3AE4-4075-9F6C-F7BF9071D2E3}" type="presOf" srcId="{FC0F570F-61FC-4CAD-9C4A-110057944B8C}" destId="{F1D1C6B5-E15D-4C97-8130-F00C6B90E146}" srcOrd="0" destOrd="0" presId="urn:microsoft.com/office/officeart/2005/8/layout/hierarchy6"/>
    <dgm:cxn modelId="{B66BB464-88EB-44E9-9E27-DC96D37473BD}" type="presOf" srcId="{47B69679-DC77-4CAE-BFAD-4D3D4A25EA22}" destId="{188B2957-74BC-4119-9B35-42BFCA3DEEDC}" srcOrd="0" destOrd="0" presId="urn:microsoft.com/office/officeart/2005/8/layout/hierarchy6"/>
    <dgm:cxn modelId="{4E9B8266-A992-40A6-BB54-949FF53C0F4D}" srcId="{82A2E251-D9F1-4F9C-A415-5C985C0DF367}" destId="{65D22B4A-DD99-48E6-A426-C584F482A385}" srcOrd="1" destOrd="0" parTransId="{47B69679-DC77-4CAE-BFAD-4D3D4A25EA22}" sibTransId="{0D46732B-9294-4292-B958-6487FB78D2D2}"/>
    <dgm:cxn modelId="{79B26072-B902-4E68-883B-76DFA794D905}" srcId="{A058CDAF-1BA1-482E-93FE-AADA964E182A}" destId="{C669834F-351F-459F-BE89-E8D25BA6E5E0}" srcOrd="2" destOrd="0" parTransId="{33C35D5F-A675-4DCD-AF7F-821945253553}" sibTransId="{D4CFA1CB-2D8F-414C-8541-DDE03BF7BD2B}"/>
    <dgm:cxn modelId="{483F9052-F293-4B06-A0FE-756488FC8481}" type="presOf" srcId="{65D22B4A-DD99-48E6-A426-C584F482A385}" destId="{E9643D92-56A0-4D62-8652-C09A08615684}" srcOrd="0" destOrd="0" presId="urn:microsoft.com/office/officeart/2005/8/layout/hierarchy6"/>
    <dgm:cxn modelId="{73741758-A689-4BFC-B43B-76CA968DC12D}" type="presOf" srcId="{3B6323AA-F14A-45DB-B558-BCCC7EF51294}" destId="{C2F2D2A1-F62A-4521-9156-79DD53412274}" srcOrd="0" destOrd="0" presId="urn:microsoft.com/office/officeart/2005/8/layout/hierarchy6"/>
    <dgm:cxn modelId="{E204A07E-24CB-4531-A50D-76E8EC555B06}" type="presOf" srcId="{A058CDAF-1BA1-482E-93FE-AADA964E182A}" destId="{21BBD826-8443-45D6-91BE-6BDF55286BC8}" srcOrd="0" destOrd="0" presId="urn:microsoft.com/office/officeart/2005/8/layout/hierarchy6"/>
    <dgm:cxn modelId="{74C77B91-BADB-4F8C-933F-E756C689C9D6}" type="presOf" srcId="{C669834F-351F-459F-BE89-E8D25BA6E5E0}" destId="{E6B9E98D-348E-4342-8323-DF9F1DC91D85}" srcOrd="1" destOrd="0" presId="urn:microsoft.com/office/officeart/2005/8/layout/hierarchy6"/>
    <dgm:cxn modelId="{6EBADF93-8EEF-48C9-A298-539A32AB6002}" srcId="{82A2E251-D9F1-4F9C-A415-5C985C0DF367}" destId="{8698719E-8B44-4AA4-959D-39181477D31F}" srcOrd="0" destOrd="0" parTransId="{8292168E-90C8-4835-B657-23F729D656A2}" sibTransId="{12B0BCBA-D99E-43B3-B98E-0EFAF480DF38}"/>
    <dgm:cxn modelId="{165EF995-C0DC-48EF-A9D3-2D26C2F057C3}" type="presOf" srcId="{89C657A1-5FBA-48DC-A9D0-4ED19178C87D}" destId="{568CFAEE-D564-4AF3-B2FB-4B663DF1D38C}" srcOrd="0" destOrd="0" presId="urn:microsoft.com/office/officeart/2005/8/layout/hierarchy6"/>
    <dgm:cxn modelId="{BD8F5696-0CDA-45D5-906F-EF8B03559B13}" srcId="{89C657A1-5FBA-48DC-A9D0-4ED19178C87D}" destId="{EC293F71-DDDA-4DB9-821F-DB821DAF2633}" srcOrd="1" destOrd="0" parTransId="{E78916C2-6BC4-4C75-98A7-0F4D0E173405}" sibTransId="{FA48CB3C-82C1-4A73-83D6-66B1F94734F0}"/>
    <dgm:cxn modelId="{784BBE9E-8C38-422F-8979-2E976CC1785C}" type="presOf" srcId="{70A4104E-9721-4032-8FA5-862E5A57F557}" destId="{E5A51AD7-8E85-4730-BC9B-29D1698F297C}" srcOrd="1" destOrd="0" presId="urn:microsoft.com/office/officeart/2005/8/layout/hierarchy6"/>
    <dgm:cxn modelId="{E08781A7-966A-4380-BD24-3AD2D7C275AF}" srcId="{89C657A1-5FBA-48DC-A9D0-4ED19178C87D}" destId="{3B6323AA-F14A-45DB-B558-BCCC7EF51294}" srcOrd="2" destOrd="0" parTransId="{C6489A56-8893-430B-ACBD-F1F13927F431}" sibTransId="{7CEE296E-3E55-4E9A-9EFF-54F3CF61146F}"/>
    <dgm:cxn modelId="{00D8E6B0-381D-43DD-8DE0-6B6149AEE41F}" type="presOf" srcId="{82A2E251-D9F1-4F9C-A415-5C985C0DF367}" destId="{B70CDA8A-EF15-4B68-8B8F-352AAFE85F0C}" srcOrd="0" destOrd="0" presId="urn:microsoft.com/office/officeart/2005/8/layout/hierarchy6"/>
    <dgm:cxn modelId="{4FB28CB3-EA9F-40F0-B68B-A4612AC4D47E}" type="presOf" srcId="{8698719E-8B44-4AA4-959D-39181477D31F}" destId="{4FF774DA-5F62-4F6F-97A6-CDF8DC0A48B6}" srcOrd="0" destOrd="0" presId="urn:microsoft.com/office/officeart/2005/8/layout/hierarchy6"/>
    <dgm:cxn modelId="{4F5DE6C0-47BA-4149-9092-80FFAA74CDD3}" srcId="{A058CDAF-1BA1-482E-93FE-AADA964E182A}" destId="{89C657A1-5FBA-48DC-A9D0-4ED19178C87D}" srcOrd="0" destOrd="0" parTransId="{49019BBD-E49D-4377-A5C3-9583CA66DA44}" sibTransId="{0EA27E3C-31FA-4C00-93C7-2D573F467F9E}"/>
    <dgm:cxn modelId="{412795C9-36D4-4AC0-9D8E-B68924ADA077}" type="presOf" srcId="{8292168E-90C8-4835-B657-23F729D656A2}" destId="{84D36576-E315-46F1-8AB2-2D4295DB955C}" srcOrd="0" destOrd="0" presId="urn:microsoft.com/office/officeart/2005/8/layout/hierarchy6"/>
    <dgm:cxn modelId="{D19550E6-AE38-4795-9055-CA7BF2AC3F6A}" type="presOf" srcId="{C669834F-351F-459F-BE89-E8D25BA6E5E0}" destId="{66D94F92-73AA-4C70-9E0A-7F45FD6F003F}" srcOrd="0" destOrd="0" presId="urn:microsoft.com/office/officeart/2005/8/layout/hierarchy6"/>
    <dgm:cxn modelId="{3B0C99ED-7C65-4D28-B8D2-4890EAC8757D}" type="presOf" srcId="{FC0F570F-61FC-4CAD-9C4A-110057944B8C}" destId="{8F2711E3-6FDF-4798-8D53-A4A964926F5B}" srcOrd="1" destOrd="0" presId="urn:microsoft.com/office/officeart/2005/8/layout/hierarchy6"/>
    <dgm:cxn modelId="{AB3B5AF0-153D-4001-B5D4-448B8F779E9F}" type="presOf" srcId="{FA33273A-A76B-41B0-823D-1D6D1C27F913}" destId="{92E2AA59-0090-48EF-844B-1B873F49CB2B}" srcOrd="0" destOrd="0" presId="urn:microsoft.com/office/officeart/2005/8/layout/hierarchy6"/>
    <dgm:cxn modelId="{9BF960F8-99A5-455B-AB9B-3CE739C23F1C}" type="presOf" srcId="{2F163EFA-10CC-4A20-BC21-1106B5885818}" destId="{291AD477-EE83-4DE5-A3FF-B75331A36212}" srcOrd="0" destOrd="0" presId="urn:microsoft.com/office/officeart/2005/8/layout/hierarchy6"/>
    <dgm:cxn modelId="{EACB84FF-7DC8-4DE0-9281-E3ACB8E0A501}" type="presOf" srcId="{C6489A56-8893-430B-ACBD-F1F13927F431}" destId="{73CD7681-1F04-4891-9452-F8A761E000F9}" srcOrd="0" destOrd="0" presId="urn:microsoft.com/office/officeart/2005/8/layout/hierarchy6"/>
    <dgm:cxn modelId="{6D4670B7-B98C-4801-A829-D690B1D32D08}" type="presParOf" srcId="{21BBD826-8443-45D6-91BE-6BDF55286BC8}" destId="{A8B4B913-3556-46B9-AB20-680CE4A3A662}" srcOrd="0" destOrd="0" presId="urn:microsoft.com/office/officeart/2005/8/layout/hierarchy6"/>
    <dgm:cxn modelId="{9091C253-F332-49FB-AA9D-B177B976D288}" type="presParOf" srcId="{A8B4B913-3556-46B9-AB20-680CE4A3A662}" destId="{F38CC805-B1C8-421D-8771-75BCC880C1DE}" srcOrd="0" destOrd="0" presId="urn:microsoft.com/office/officeart/2005/8/layout/hierarchy6"/>
    <dgm:cxn modelId="{733D1232-D9ED-4CAC-9AD7-435C2920B336}" type="presParOf" srcId="{A8B4B913-3556-46B9-AB20-680CE4A3A662}" destId="{3B1C859C-F71A-4D5B-B45C-B3B50C6FA42A}" srcOrd="1" destOrd="0" presId="urn:microsoft.com/office/officeart/2005/8/layout/hierarchy6"/>
    <dgm:cxn modelId="{584BAB7F-5653-4DE2-A04E-88F0F6F8EFDF}" type="presParOf" srcId="{3B1C859C-F71A-4D5B-B45C-B3B50C6FA42A}" destId="{013A8432-28DD-4993-B817-8CB13382B2BF}" srcOrd="0" destOrd="0" presId="urn:microsoft.com/office/officeart/2005/8/layout/hierarchy6"/>
    <dgm:cxn modelId="{235B6A95-22F2-4319-919D-42967AF3C9BB}" type="presParOf" srcId="{013A8432-28DD-4993-B817-8CB13382B2BF}" destId="{568CFAEE-D564-4AF3-B2FB-4B663DF1D38C}" srcOrd="0" destOrd="0" presId="urn:microsoft.com/office/officeart/2005/8/layout/hierarchy6"/>
    <dgm:cxn modelId="{A78D06A5-81C1-4D18-ACC7-C84F39C6504B}" type="presParOf" srcId="{013A8432-28DD-4993-B817-8CB13382B2BF}" destId="{427E174A-690C-4BBF-B930-B8FFBE3B5D7D}" srcOrd="1" destOrd="0" presId="urn:microsoft.com/office/officeart/2005/8/layout/hierarchy6"/>
    <dgm:cxn modelId="{751BE098-295A-4060-A640-8FD54A9438E7}" type="presParOf" srcId="{427E174A-690C-4BBF-B930-B8FFBE3B5D7D}" destId="{291AD477-EE83-4DE5-A3FF-B75331A36212}" srcOrd="0" destOrd="0" presId="urn:microsoft.com/office/officeart/2005/8/layout/hierarchy6"/>
    <dgm:cxn modelId="{3766F8E0-EEE7-4A75-859F-F568A0D3DCC8}" type="presParOf" srcId="{427E174A-690C-4BBF-B930-B8FFBE3B5D7D}" destId="{7A202558-C151-4D15-9AE2-41F94EFEAD2E}" srcOrd="1" destOrd="0" presId="urn:microsoft.com/office/officeart/2005/8/layout/hierarchy6"/>
    <dgm:cxn modelId="{BD28F727-BACB-4E6C-9595-D2CE200D3723}" type="presParOf" srcId="{7A202558-C151-4D15-9AE2-41F94EFEAD2E}" destId="{B70CDA8A-EF15-4B68-8B8F-352AAFE85F0C}" srcOrd="0" destOrd="0" presId="urn:microsoft.com/office/officeart/2005/8/layout/hierarchy6"/>
    <dgm:cxn modelId="{B8F96B23-A88B-4368-828C-961BEE84EE2D}" type="presParOf" srcId="{7A202558-C151-4D15-9AE2-41F94EFEAD2E}" destId="{AD0E81CD-E4B5-48E0-9B44-BBCE35174764}" srcOrd="1" destOrd="0" presId="urn:microsoft.com/office/officeart/2005/8/layout/hierarchy6"/>
    <dgm:cxn modelId="{F2E01FFA-F0D0-4200-B590-BF87545F832B}" type="presParOf" srcId="{AD0E81CD-E4B5-48E0-9B44-BBCE35174764}" destId="{84D36576-E315-46F1-8AB2-2D4295DB955C}" srcOrd="0" destOrd="0" presId="urn:microsoft.com/office/officeart/2005/8/layout/hierarchy6"/>
    <dgm:cxn modelId="{BBF0B85E-D82C-4290-A13B-DF2139C32618}" type="presParOf" srcId="{AD0E81CD-E4B5-48E0-9B44-BBCE35174764}" destId="{B681479A-B039-43AC-BD9C-8029A85C76D9}" srcOrd="1" destOrd="0" presId="urn:microsoft.com/office/officeart/2005/8/layout/hierarchy6"/>
    <dgm:cxn modelId="{A3595954-F43F-437D-A6EC-3801842E3141}" type="presParOf" srcId="{B681479A-B039-43AC-BD9C-8029A85C76D9}" destId="{4FF774DA-5F62-4F6F-97A6-CDF8DC0A48B6}" srcOrd="0" destOrd="0" presId="urn:microsoft.com/office/officeart/2005/8/layout/hierarchy6"/>
    <dgm:cxn modelId="{B1DB5B29-0BC2-4307-ABFF-88FE17A81C79}" type="presParOf" srcId="{B681479A-B039-43AC-BD9C-8029A85C76D9}" destId="{212BC8C1-CB2B-42C2-8CDF-87B9770B1FE1}" srcOrd="1" destOrd="0" presId="urn:microsoft.com/office/officeart/2005/8/layout/hierarchy6"/>
    <dgm:cxn modelId="{C33C2C94-5BA2-4780-89E0-072DC4800644}" type="presParOf" srcId="{AD0E81CD-E4B5-48E0-9B44-BBCE35174764}" destId="{188B2957-74BC-4119-9B35-42BFCA3DEEDC}" srcOrd="2" destOrd="0" presId="urn:microsoft.com/office/officeart/2005/8/layout/hierarchy6"/>
    <dgm:cxn modelId="{31798C37-F833-4284-94D2-1E58D8DCE557}" type="presParOf" srcId="{AD0E81CD-E4B5-48E0-9B44-BBCE35174764}" destId="{F0502FE9-3B93-456A-A2B5-57F4BF82A091}" srcOrd="3" destOrd="0" presId="urn:microsoft.com/office/officeart/2005/8/layout/hierarchy6"/>
    <dgm:cxn modelId="{D52BEDFC-084A-46F8-81D2-108768A785CF}" type="presParOf" srcId="{F0502FE9-3B93-456A-A2B5-57F4BF82A091}" destId="{E9643D92-56A0-4D62-8652-C09A08615684}" srcOrd="0" destOrd="0" presId="urn:microsoft.com/office/officeart/2005/8/layout/hierarchy6"/>
    <dgm:cxn modelId="{845A5C49-A03D-4ACA-828A-FBC98F81824C}" type="presParOf" srcId="{F0502FE9-3B93-456A-A2B5-57F4BF82A091}" destId="{E41848C5-E1FF-4334-88F6-5A6CEBE2D36D}" srcOrd="1" destOrd="0" presId="urn:microsoft.com/office/officeart/2005/8/layout/hierarchy6"/>
    <dgm:cxn modelId="{61151DC5-9BC8-4826-9205-8008AF0AE000}" type="presParOf" srcId="{AD0E81CD-E4B5-48E0-9B44-BBCE35174764}" destId="{92E2AA59-0090-48EF-844B-1B873F49CB2B}" srcOrd="4" destOrd="0" presId="urn:microsoft.com/office/officeart/2005/8/layout/hierarchy6"/>
    <dgm:cxn modelId="{0F062B46-2061-4772-8D1F-EA9AAC042B2A}" type="presParOf" srcId="{AD0E81CD-E4B5-48E0-9B44-BBCE35174764}" destId="{E34C4503-CFF8-401D-BBCD-783A748ACD66}" srcOrd="5" destOrd="0" presId="urn:microsoft.com/office/officeart/2005/8/layout/hierarchy6"/>
    <dgm:cxn modelId="{CEB93C64-306B-48A1-813D-95CB71A277C8}" type="presParOf" srcId="{E34C4503-CFF8-401D-BBCD-783A748ACD66}" destId="{1569CCC8-A2CB-484A-8247-75A7C2165611}" srcOrd="0" destOrd="0" presId="urn:microsoft.com/office/officeart/2005/8/layout/hierarchy6"/>
    <dgm:cxn modelId="{9D6D2E00-11E2-470F-B6EA-1376805D366A}" type="presParOf" srcId="{E34C4503-CFF8-401D-BBCD-783A748ACD66}" destId="{BB00BE59-7C89-493C-9FE9-0E4924FB9137}" srcOrd="1" destOrd="0" presId="urn:microsoft.com/office/officeart/2005/8/layout/hierarchy6"/>
    <dgm:cxn modelId="{78636442-26F5-4798-BCE8-40A45B0170A6}" type="presParOf" srcId="{427E174A-690C-4BBF-B930-B8FFBE3B5D7D}" destId="{8C8696CB-206D-48D0-BD62-412008FB2713}" srcOrd="2" destOrd="0" presId="urn:microsoft.com/office/officeart/2005/8/layout/hierarchy6"/>
    <dgm:cxn modelId="{4E24CEC7-4BDC-4E12-A813-029A30548272}" type="presParOf" srcId="{427E174A-690C-4BBF-B930-B8FFBE3B5D7D}" destId="{F70EB3C8-0E7E-4EA7-A54E-F7F0440D7A1F}" srcOrd="3" destOrd="0" presId="urn:microsoft.com/office/officeart/2005/8/layout/hierarchy6"/>
    <dgm:cxn modelId="{E7BED4B9-BA73-410A-AE89-7EC1BCC3AE8A}" type="presParOf" srcId="{F70EB3C8-0E7E-4EA7-A54E-F7F0440D7A1F}" destId="{334790AB-7310-4C7F-AAE5-309E47C4DEDE}" srcOrd="0" destOrd="0" presId="urn:microsoft.com/office/officeart/2005/8/layout/hierarchy6"/>
    <dgm:cxn modelId="{D086A8CC-2F23-421E-9DC3-A55902116518}" type="presParOf" srcId="{F70EB3C8-0E7E-4EA7-A54E-F7F0440D7A1F}" destId="{34EF7C92-2C68-4177-AFD7-7736E5069B63}" srcOrd="1" destOrd="0" presId="urn:microsoft.com/office/officeart/2005/8/layout/hierarchy6"/>
    <dgm:cxn modelId="{7893F162-2754-444D-B387-4EA2EC5D327D}" type="presParOf" srcId="{427E174A-690C-4BBF-B930-B8FFBE3B5D7D}" destId="{73CD7681-1F04-4891-9452-F8A761E000F9}" srcOrd="4" destOrd="0" presId="urn:microsoft.com/office/officeart/2005/8/layout/hierarchy6"/>
    <dgm:cxn modelId="{6ACFF438-7050-4987-BF0D-3678ADDD6AF3}" type="presParOf" srcId="{427E174A-690C-4BBF-B930-B8FFBE3B5D7D}" destId="{C2DC4B43-4526-402F-A5C5-8C6C68474347}" srcOrd="5" destOrd="0" presId="urn:microsoft.com/office/officeart/2005/8/layout/hierarchy6"/>
    <dgm:cxn modelId="{6D5B63E2-492E-45E0-B266-9155177DE349}" type="presParOf" srcId="{C2DC4B43-4526-402F-A5C5-8C6C68474347}" destId="{C2F2D2A1-F62A-4521-9156-79DD53412274}" srcOrd="0" destOrd="0" presId="urn:microsoft.com/office/officeart/2005/8/layout/hierarchy6"/>
    <dgm:cxn modelId="{F4B56D92-89CE-47CD-B65C-65A7032A4A9C}" type="presParOf" srcId="{C2DC4B43-4526-402F-A5C5-8C6C68474347}" destId="{E9D0FB97-8830-43EB-910C-E63130078B79}" srcOrd="1" destOrd="0" presId="urn:microsoft.com/office/officeart/2005/8/layout/hierarchy6"/>
    <dgm:cxn modelId="{AA983342-B100-4D0C-A40B-57C8BC79F2CA}" type="presParOf" srcId="{21BBD826-8443-45D6-91BE-6BDF55286BC8}" destId="{C6F4114C-4E8A-43EA-8EEF-51FFCABDF2AA}" srcOrd="1" destOrd="0" presId="urn:microsoft.com/office/officeart/2005/8/layout/hierarchy6"/>
    <dgm:cxn modelId="{36956C1E-BBC2-4759-93FD-3ACBCE7CFE22}" type="presParOf" srcId="{C6F4114C-4E8A-43EA-8EEF-51FFCABDF2AA}" destId="{B390669C-72B0-45B1-8AA1-B8E99C1D6F69}" srcOrd="0" destOrd="0" presId="urn:microsoft.com/office/officeart/2005/8/layout/hierarchy6"/>
    <dgm:cxn modelId="{6A3A7FC8-CC89-442D-AC26-5AB46F226D39}" type="presParOf" srcId="{B390669C-72B0-45B1-8AA1-B8E99C1D6F69}" destId="{F1D1C6B5-E15D-4C97-8130-F00C6B90E146}" srcOrd="0" destOrd="0" presId="urn:microsoft.com/office/officeart/2005/8/layout/hierarchy6"/>
    <dgm:cxn modelId="{F0C72047-2933-43F3-A7F6-455E3BDA662A}" type="presParOf" srcId="{B390669C-72B0-45B1-8AA1-B8E99C1D6F69}" destId="{8F2711E3-6FDF-4798-8D53-A4A964926F5B}" srcOrd="1" destOrd="0" presId="urn:microsoft.com/office/officeart/2005/8/layout/hierarchy6"/>
    <dgm:cxn modelId="{8445A885-C6AF-4C2E-8223-D14741DA9010}" type="presParOf" srcId="{C6F4114C-4E8A-43EA-8EEF-51FFCABDF2AA}" destId="{1D01F32F-ABB5-4BC3-B617-99CF70061926}" srcOrd="1" destOrd="0" presId="urn:microsoft.com/office/officeart/2005/8/layout/hierarchy6"/>
    <dgm:cxn modelId="{A901F58C-6998-4C75-B162-29E2C7EC7753}" type="presParOf" srcId="{1D01F32F-ABB5-4BC3-B617-99CF70061926}" destId="{08FC9318-ABCB-487E-BD6B-F2EF2525BC97}" srcOrd="0" destOrd="0" presId="urn:microsoft.com/office/officeart/2005/8/layout/hierarchy6"/>
    <dgm:cxn modelId="{35760588-0613-4B59-AB3A-2C1F6180B49F}" type="presParOf" srcId="{C6F4114C-4E8A-43EA-8EEF-51FFCABDF2AA}" destId="{12C78A87-73D1-427E-8A9D-61D4BC0A8B1E}" srcOrd="2" destOrd="0" presId="urn:microsoft.com/office/officeart/2005/8/layout/hierarchy6"/>
    <dgm:cxn modelId="{2E87E0E1-C45D-48D6-91FE-3C1865DCCF77}" type="presParOf" srcId="{12C78A87-73D1-427E-8A9D-61D4BC0A8B1E}" destId="{66D94F92-73AA-4C70-9E0A-7F45FD6F003F}" srcOrd="0" destOrd="0" presId="urn:microsoft.com/office/officeart/2005/8/layout/hierarchy6"/>
    <dgm:cxn modelId="{13BFAE03-163C-4411-AC3E-EE1EB54A16DB}" type="presParOf" srcId="{12C78A87-73D1-427E-8A9D-61D4BC0A8B1E}" destId="{E6B9E98D-348E-4342-8323-DF9F1DC91D85}" srcOrd="1" destOrd="0" presId="urn:microsoft.com/office/officeart/2005/8/layout/hierarchy6"/>
    <dgm:cxn modelId="{C705D6B0-5214-4495-8930-FF563058593B}" type="presParOf" srcId="{C6F4114C-4E8A-43EA-8EEF-51FFCABDF2AA}" destId="{0FD55F54-CB15-4F60-AD8F-F882F0E3B685}" srcOrd="3" destOrd="0" presId="urn:microsoft.com/office/officeart/2005/8/layout/hierarchy6"/>
    <dgm:cxn modelId="{529573F4-45E9-48A8-99AA-295D4602CE99}" type="presParOf" srcId="{0FD55F54-CB15-4F60-AD8F-F882F0E3B685}" destId="{9A65FFD6-6BA9-4C7D-A5E9-173315E324B4}" srcOrd="0" destOrd="0" presId="urn:microsoft.com/office/officeart/2005/8/layout/hierarchy6"/>
    <dgm:cxn modelId="{10931EDC-FF76-41DC-9282-89BEB87B0A27}" type="presParOf" srcId="{C6F4114C-4E8A-43EA-8EEF-51FFCABDF2AA}" destId="{5112ABE8-FF2A-4FB8-B2F1-18758CFCADF6}" srcOrd="4" destOrd="0" presId="urn:microsoft.com/office/officeart/2005/8/layout/hierarchy6"/>
    <dgm:cxn modelId="{417DC184-13F1-466B-BA97-2A432BF84906}" type="presParOf" srcId="{5112ABE8-FF2A-4FB8-B2F1-18758CFCADF6}" destId="{DC029289-105A-4075-99B4-DB0A9CC20C51}" srcOrd="0" destOrd="0" presId="urn:microsoft.com/office/officeart/2005/8/layout/hierarchy6"/>
    <dgm:cxn modelId="{793ADAC9-B10D-4BF7-882E-6036B4BCD42C}" type="presParOf" srcId="{5112ABE8-FF2A-4FB8-B2F1-18758CFCADF6}" destId="{E5A51AD7-8E85-4730-BC9B-29D1698F297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EA0524-34D0-443B-8294-608D50925DC3}">
      <dsp:nvSpPr>
        <dsp:cNvPr id="0" name=""/>
        <dsp:cNvSpPr/>
      </dsp:nvSpPr>
      <dsp:spPr>
        <a:xfrm rot="16200000">
          <a:off x="633" y="496"/>
          <a:ext cx="2144367" cy="2145182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/>
            <a:t>Computer </a:t>
          </a:r>
          <a:r>
            <a:rPr lang="en-US" altLang="zh-CN" sz="1600" b="1" kern="1200" dirty="0"/>
            <a:t>architecture</a:t>
          </a:r>
          <a:endParaRPr lang="zh-CN" altLang="en-US" sz="1600" b="1" kern="1200" dirty="0"/>
        </a:p>
      </dsp:txBody>
      <dsp:txXfrm rot="5400000">
        <a:off x="375490" y="536995"/>
        <a:ext cx="1769918" cy="1072183"/>
      </dsp:txXfrm>
    </dsp:sp>
    <dsp:sp modelId="{3E42FB76-954A-40C7-82BA-1389A9CB6A2E}">
      <dsp:nvSpPr>
        <dsp:cNvPr id="0" name=""/>
        <dsp:cNvSpPr/>
      </dsp:nvSpPr>
      <dsp:spPr>
        <a:xfrm rot="5400000">
          <a:off x="2761886" y="904"/>
          <a:ext cx="2144367" cy="2144367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5">
                <a:hueOff val="2290198"/>
                <a:satOff val="0"/>
                <a:lumOff val="-38039"/>
                <a:alphaOff val="0"/>
                <a:shade val="51000"/>
                <a:satMod val="130000"/>
              </a:schemeClr>
            </a:gs>
            <a:gs pos="80000">
              <a:schemeClr val="accent5">
                <a:hueOff val="2290198"/>
                <a:satOff val="0"/>
                <a:lumOff val="-38039"/>
                <a:alphaOff val="0"/>
                <a:shade val="93000"/>
                <a:satMod val="130000"/>
              </a:schemeClr>
            </a:gs>
            <a:gs pos="100000">
              <a:schemeClr val="accent5">
                <a:hueOff val="2290198"/>
                <a:satOff val="0"/>
                <a:lumOff val="-380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/>
            <a:t>Computer </a:t>
          </a:r>
          <a:r>
            <a:rPr lang="en-US" altLang="zh-CN" sz="1600" b="1" kern="1200" dirty="0"/>
            <a:t>Organization</a:t>
          </a:r>
          <a:endParaRPr lang="zh-CN" altLang="en-US" sz="1600" b="1" kern="1200" dirty="0"/>
        </a:p>
      </dsp:txBody>
      <dsp:txXfrm rot="-5400000">
        <a:off x="2761886" y="536996"/>
        <a:ext cx="1769103" cy="10721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29289-105A-4075-99B4-DB0A9CC20C51}">
      <dsp:nvSpPr>
        <dsp:cNvPr id="0" name=""/>
        <dsp:cNvSpPr/>
      </dsp:nvSpPr>
      <dsp:spPr>
        <a:xfrm>
          <a:off x="0" y="1490427"/>
          <a:ext cx="4320480" cy="4371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  Level 2</a:t>
          </a:r>
          <a:endParaRPr lang="zh-CN" altLang="en-US" sz="1500" kern="1200" dirty="0"/>
        </a:p>
      </dsp:txBody>
      <dsp:txXfrm>
        <a:off x="0" y="1490427"/>
        <a:ext cx="1296144" cy="437111"/>
      </dsp:txXfrm>
    </dsp:sp>
    <dsp:sp modelId="{66D94F92-73AA-4C70-9E0A-7F45FD6F003F}">
      <dsp:nvSpPr>
        <dsp:cNvPr id="0" name=""/>
        <dsp:cNvSpPr/>
      </dsp:nvSpPr>
      <dsp:spPr>
        <a:xfrm>
          <a:off x="0" y="980464"/>
          <a:ext cx="4320480" cy="4371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  Level 1</a:t>
          </a:r>
          <a:endParaRPr lang="zh-CN" altLang="en-US" sz="1500" kern="1200" dirty="0"/>
        </a:p>
      </dsp:txBody>
      <dsp:txXfrm>
        <a:off x="0" y="980464"/>
        <a:ext cx="1296144" cy="437111"/>
      </dsp:txXfrm>
    </dsp:sp>
    <dsp:sp modelId="{F1D1C6B5-E15D-4C97-8130-F00C6B90E146}">
      <dsp:nvSpPr>
        <dsp:cNvPr id="0" name=""/>
        <dsp:cNvSpPr/>
      </dsp:nvSpPr>
      <dsp:spPr>
        <a:xfrm>
          <a:off x="0" y="480834"/>
          <a:ext cx="4320480" cy="4371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  Top</a:t>
          </a:r>
          <a:endParaRPr lang="zh-CN" altLang="en-US" sz="1500" kern="1200" dirty="0"/>
        </a:p>
      </dsp:txBody>
      <dsp:txXfrm>
        <a:off x="0" y="480834"/>
        <a:ext cx="1296144" cy="437111"/>
      </dsp:txXfrm>
    </dsp:sp>
    <dsp:sp modelId="{568CFAEE-D564-4AF3-B2FB-4B663DF1D38C}">
      <dsp:nvSpPr>
        <dsp:cNvPr id="0" name=""/>
        <dsp:cNvSpPr/>
      </dsp:nvSpPr>
      <dsp:spPr>
        <a:xfrm>
          <a:off x="2626320" y="506927"/>
          <a:ext cx="1035920" cy="3642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/>
            <a:t>  Computer</a:t>
          </a:r>
          <a:endParaRPr lang="zh-CN" altLang="en-US" sz="1100" kern="1200" dirty="0"/>
        </a:p>
      </dsp:txBody>
      <dsp:txXfrm>
        <a:off x="2636989" y="517596"/>
        <a:ext cx="1014582" cy="342921"/>
      </dsp:txXfrm>
    </dsp:sp>
    <dsp:sp modelId="{291AD477-EE83-4DE5-A3FF-B75331A36212}">
      <dsp:nvSpPr>
        <dsp:cNvPr id="0" name=""/>
        <dsp:cNvSpPr/>
      </dsp:nvSpPr>
      <dsp:spPr>
        <a:xfrm>
          <a:off x="2328229" y="871186"/>
          <a:ext cx="816050" cy="145703"/>
        </a:xfrm>
        <a:custGeom>
          <a:avLst/>
          <a:gdLst/>
          <a:ahLst/>
          <a:cxnLst/>
          <a:rect l="0" t="0" r="0" b="0"/>
          <a:pathLst>
            <a:path>
              <a:moveTo>
                <a:pt x="816050" y="0"/>
              </a:moveTo>
              <a:lnTo>
                <a:pt x="816050" y="72851"/>
              </a:lnTo>
              <a:lnTo>
                <a:pt x="0" y="72851"/>
              </a:lnTo>
              <a:lnTo>
                <a:pt x="0" y="14570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0CDA8A-EF15-4B68-8B8F-352AAFE85F0C}">
      <dsp:nvSpPr>
        <dsp:cNvPr id="0" name=""/>
        <dsp:cNvSpPr/>
      </dsp:nvSpPr>
      <dsp:spPr>
        <a:xfrm>
          <a:off x="2055035" y="1016890"/>
          <a:ext cx="546388" cy="3642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kern="1200" dirty="0"/>
            <a:t>  </a:t>
          </a:r>
          <a:r>
            <a:rPr lang="en-US" altLang="zh-CN" sz="900" b="1" kern="1200" dirty="0"/>
            <a:t>CPU</a:t>
          </a:r>
          <a:endParaRPr lang="zh-CN" altLang="en-US" sz="900" b="1" kern="1200" dirty="0"/>
        </a:p>
      </dsp:txBody>
      <dsp:txXfrm>
        <a:off x="2065704" y="1027559"/>
        <a:ext cx="525050" cy="342921"/>
      </dsp:txXfrm>
    </dsp:sp>
    <dsp:sp modelId="{84D36576-E315-46F1-8AB2-2D4295DB955C}">
      <dsp:nvSpPr>
        <dsp:cNvPr id="0" name=""/>
        <dsp:cNvSpPr/>
      </dsp:nvSpPr>
      <dsp:spPr>
        <a:xfrm>
          <a:off x="1617924" y="1381149"/>
          <a:ext cx="710305" cy="145703"/>
        </a:xfrm>
        <a:custGeom>
          <a:avLst/>
          <a:gdLst/>
          <a:ahLst/>
          <a:cxnLst/>
          <a:rect l="0" t="0" r="0" b="0"/>
          <a:pathLst>
            <a:path>
              <a:moveTo>
                <a:pt x="710305" y="0"/>
              </a:moveTo>
              <a:lnTo>
                <a:pt x="710305" y="72851"/>
              </a:lnTo>
              <a:lnTo>
                <a:pt x="0" y="72851"/>
              </a:lnTo>
              <a:lnTo>
                <a:pt x="0" y="14570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F774DA-5F62-4F6F-97A6-CDF8DC0A48B6}">
      <dsp:nvSpPr>
        <dsp:cNvPr id="0" name=""/>
        <dsp:cNvSpPr/>
      </dsp:nvSpPr>
      <dsp:spPr>
        <a:xfrm>
          <a:off x="1296688" y="1526853"/>
          <a:ext cx="642471" cy="3642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kern="1200" dirty="0"/>
            <a:t>Register</a:t>
          </a:r>
          <a:r>
            <a:rPr lang="en-US" altLang="zh-CN" sz="800" kern="1200" dirty="0"/>
            <a:t>  </a:t>
          </a:r>
          <a:endParaRPr lang="zh-CN" altLang="en-US" sz="800" kern="1200" dirty="0"/>
        </a:p>
      </dsp:txBody>
      <dsp:txXfrm>
        <a:off x="1307357" y="1537522"/>
        <a:ext cx="621133" cy="342921"/>
      </dsp:txXfrm>
    </dsp:sp>
    <dsp:sp modelId="{188B2957-74BC-4119-9B35-42BFCA3DEEDC}">
      <dsp:nvSpPr>
        <dsp:cNvPr id="0" name=""/>
        <dsp:cNvSpPr/>
      </dsp:nvSpPr>
      <dsp:spPr>
        <a:xfrm>
          <a:off x="2282509" y="1381149"/>
          <a:ext cx="91440" cy="14570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2851"/>
              </a:lnTo>
              <a:lnTo>
                <a:pt x="93761" y="72851"/>
              </a:lnTo>
              <a:lnTo>
                <a:pt x="93761" y="14570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643D92-56A0-4D62-8652-C09A08615684}">
      <dsp:nvSpPr>
        <dsp:cNvPr id="0" name=""/>
        <dsp:cNvSpPr/>
      </dsp:nvSpPr>
      <dsp:spPr>
        <a:xfrm>
          <a:off x="2103076" y="1526853"/>
          <a:ext cx="546388" cy="3642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kern="1200" dirty="0"/>
            <a:t>  </a:t>
          </a:r>
          <a:r>
            <a:rPr lang="en-US" altLang="zh-CN" sz="1050" kern="1200" dirty="0"/>
            <a:t>ALU</a:t>
          </a:r>
          <a:endParaRPr lang="zh-CN" altLang="en-US" sz="900" kern="1200" dirty="0"/>
        </a:p>
      </dsp:txBody>
      <dsp:txXfrm>
        <a:off x="2113745" y="1537522"/>
        <a:ext cx="525050" cy="342921"/>
      </dsp:txXfrm>
    </dsp:sp>
    <dsp:sp modelId="{92E2AA59-0090-48EF-844B-1B873F49CB2B}">
      <dsp:nvSpPr>
        <dsp:cNvPr id="0" name=""/>
        <dsp:cNvSpPr/>
      </dsp:nvSpPr>
      <dsp:spPr>
        <a:xfrm>
          <a:off x="2328229" y="1381149"/>
          <a:ext cx="758346" cy="1457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851"/>
              </a:lnTo>
              <a:lnTo>
                <a:pt x="758346" y="72851"/>
              </a:lnTo>
              <a:lnTo>
                <a:pt x="758346" y="14570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69CCC8-A2CB-484A-8247-75A7C2165611}">
      <dsp:nvSpPr>
        <dsp:cNvPr id="0" name=""/>
        <dsp:cNvSpPr/>
      </dsp:nvSpPr>
      <dsp:spPr>
        <a:xfrm>
          <a:off x="2813382" y="1526853"/>
          <a:ext cx="546388" cy="3642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kern="1200" dirty="0"/>
            <a:t>Control Unit</a:t>
          </a:r>
          <a:endParaRPr lang="zh-CN" altLang="en-US" sz="900" kern="1200" dirty="0"/>
        </a:p>
      </dsp:txBody>
      <dsp:txXfrm>
        <a:off x="2824051" y="1537522"/>
        <a:ext cx="525050" cy="342921"/>
      </dsp:txXfrm>
    </dsp:sp>
    <dsp:sp modelId="{8C8696CB-206D-48D0-BD62-412008FB2713}">
      <dsp:nvSpPr>
        <dsp:cNvPr id="0" name=""/>
        <dsp:cNvSpPr/>
      </dsp:nvSpPr>
      <dsp:spPr>
        <a:xfrm>
          <a:off x="3098560" y="871186"/>
          <a:ext cx="91440" cy="14570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70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4790AB-7310-4C7F-AAE5-309E47C4DEDE}">
      <dsp:nvSpPr>
        <dsp:cNvPr id="0" name=""/>
        <dsp:cNvSpPr/>
      </dsp:nvSpPr>
      <dsp:spPr>
        <a:xfrm>
          <a:off x="2765340" y="1016890"/>
          <a:ext cx="757879" cy="3642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b="1" kern="1200" dirty="0"/>
            <a:t>  Memory</a:t>
          </a:r>
          <a:endParaRPr lang="zh-CN" altLang="en-US" sz="900" b="1" kern="1200" dirty="0"/>
        </a:p>
      </dsp:txBody>
      <dsp:txXfrm>
        <a:off x="2776009" y="1027559"/>
        <a:ext cx="736541" cy="342921"/>
      </dsp:txXfrm>
    </dsp:sp>
    <dsp:sp modelId="{73CD7681-1F04-4891-9452-F8A761E000F9}">
      <dsp:nvSpPr>
        <dsp:cNvPr id="0" name=""/>
        <dsp:cNvSpPr/>
      </dsp:nvSpPr>
      <dsp:spPr>
        <a:xfrm>
          <a:off x="3144280" y="871186"/>
          <a:ext cx="816050" cy="1457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851"/>
              </a:lnTo>
              <a:lnTo>
                <a:pt x="816050" y="72851"/>
              </a:lnTo>
              <a:lnTo>
                <a:pt x="816050" y="14570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F2D2A1-F62A-4521-9156-79DD53412274}">
      <dsp:nvSpPr>
        <dsp:cNvPr id="0" name=""/>
        <dsp:cNvSpPr/>
      </dsp:nvSpPr>
      <dsp:spPr>
        <a:xfrm>
          <a:off x="3687136" y="1016890"/>
          <a:ext cx="546388" cy="3642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kern="1200" dirty="0"/>
            <a:t>I/O</a:t>
          </a:r>
          <a:endParaRPr lang="zh-CN" altLang="en-US" sz="1000" kern="1200" dirty="0"/>
        </a:p>
      </dsp:txBody>
      <dsp:txXfrm>
        <a:off x="3697805" y="1027559"/>
        <a:ext cx="525050" cy="3429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026">
            <a:extLst>
              <a:ext uri="{FF2B5EF4-FFF2-40B4-BE49-F238E27FC236}">
                <a16:creationId xmlns:a16="http://schemas.microsoft.com/office/drawing/2014/main" id="{3DEB2960-7315-4C1B-BC18-2323EB344D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4995" name="Rectangle 1027">
            <a:extLst>
              <a:ext uri="{FF2B5EF4-FFF2-40B4-BE49-F238E27FC236}">
                <a16:creationId xmlns:a16="http://schemas.microsoft.com/office/drawing/2014/main" id="{6113C3AC-2E31-49EF-9197-C276C57DAF9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6" name="Rectangle 1028">
            <a:extLst>
              <a:ext uri="{FF2B5EF4-FFF2-40B4-BE49-F238E27FC236}">
                <a16:creationId xmlns:a16="http://schemas.microsoft.com/office/drawing/2014/main" id="{A4FB076D-CE40-46AC-9227-32EB6584100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7" name="Rectangle 1029">
            <a:extLst>
              <a:ext uri="{FF2B5EF4-FFF2-40B4-BE49-F238E27FC236}">
                <a16:creationId xmlns:a16="http://schemas.microsoft.com/office/drawing/2014/main" id="{04B6C48F-E350-4723-8118-3B5263051BD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14140D-03A1-4D75-BED3-BD0D5A81598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7532C1E3-9089-473A-9A62-9BB37CC5CB6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318B661-E779-41A1-94F4-7D7F5B1D30A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642556C-FF9E-44D8-A0B1-A6B58C8E004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78DABFA8-32D2-4B4E-B85C-FF33A76CF7A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83974" name="Rectangle 6">
            <a:extLst>
              <a:ext uri="{FF2B5EF4-FFF2-40B4-BE49-F238E27FC236}">
                <a16:creationId xmlns:a16="http://schemas.microsoft.com/office/drawing/2014/main" id="{58C0530D-A2D0-45C4-A176-3BCABE93A1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5" name="Rectangle 7">
            <a:extLst>
              <a:ext uri="{FF2B5EF4-FFF2-40B4-BE49-F238E27FC236}">
                <a16:creationId xmlns:a16="http://schemas.microsoft.com/office/drawing/2014/main" id="{E1F5D510-9A5C-4B8E-A222-725F4EC15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D3957FB-5981-4C74-AB0A-07D23C53E5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03267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A4040437-CFCB-441B-9B50-60D8310C9E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0414AD-815B-41D1-9CAA-370A7388AA56}" type="slidenum">
              <a:rPr lang="zh-CN" altLang="en-US" sz="1200" smtClean="0"/>
              <a:pPr/>
              <a:t>1</a:t>
            </a:fld>
            <a:endParaRPr lang="en-US" altLang="zh-CN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EDA5C239-54BB-4B26-AB93-ECBAB783B1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D88ED20B-2D31-4D3C-B72C-4C036D039D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EF7521DE-9765-4386-9BF8-3BD599CF64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819B316F-893B-4DA0-80F1-CCDC763AF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08628D20-ED85-442C-84C1-A0A786B20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240B395-558A-43FF-8138-CB465E23EE61}" type="slidenum">
              <a:rPr lang="zh-CN" altLang="en-US" sz="1200" smtClean="0"/>
              <a:pPr/>
              <a:t>2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>
            <a:extLst>
              <a:ext uri="{FF2B5EF4-FFF2-40B4-BE49-F238E27FC236}">
                <a16:creationId xmlns:a16="http://schemas.microsoft.com/office/drawing/2014/main" id="{0ED3A2E5-E9E3-4866-828F-C23964F444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B85FE943-387F-4E6A-9B5B-57857ED0D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4" name="灯片编号占位符 3">
            <a:extLst>
              <a:ext uri="{FF2B5EF4-FFF2-40B4-BE49-F238E27FC236}">
                <a16:creationId xmlns:a16="http://schemas.microsoft.com/office/drawing/2014/main" id="{62DD1E8C-88FA-4DD5-9F6E-EC5AB9EF2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27EE26F-5A12-4B40-9114-2422AB4E4C32}" type="slidenum">
              <a:rPr lang="zh-CN" altLang="en-US" sz="1200" smtClean="0"/>
              <a:pPr/>
              <a:t>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0F0AD7B8-8A3C-46E6-A936-C4EE067C80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备注占位符 2">
            <a:extLst>
              <a:ext uri="{FF2B5EF4-FFF2-40B4-BE49-F238E27FC236}">
                <a16:creationId xmlns:a16="http://schemas.microsoft.com/office/drawing/2014/main" id="{BC674B93-9103-48B1-9263-B6DFB8162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/>
              <a:t>要点：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- </a:t>
            </a:r>
            <a:r>
              <a:rPr lang="zh-CN" altLang="en-US" dirty="0"/>
              <a:t>计算机存储器的层级结构是什么样的？</a:t>
            </a:r>
            <a:endParaRPr lang="en-US" altLang="zh-CN" dirty="0"/>
          </a:p>
          <a:p>
            <a:pPr marL="171450" indent="-171450">
              <a:buFontTx/>
              <a:buChar char="-"/>
              <a:defRPr/>
            </a:pPr>
            <a:r>
              <a:rPr lang="zh-CN" altLang="en-US" dirty="0"/>
              <a:t>存储器层级结构 自顶向下的特征？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- Cache</a:t>
            </a:r>
            <a:r>
              <a:rPr lang="zh-CN" altLang="en-US" dirty="0"/>
              <a:t>有什么用？</a:t>
            </a:r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729DDCB6-8E95-45D9-951D-2FC608D2D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E114AD3-D549-4D68-8391-36A08EA0F0EB}" type="slidenum">
              <a:rPr lang="zh-CN" altLang="en-US" sz="1200" smtClean="0"/>
              <a:pPr/>
              <a:t>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>
            <a:extLst>
              <a:ext uri="{FF2B5EF4-FFF2-40B4-BE49-F238E27FC236}">
                <a16:creationId xmlns:a16="http://schemas.microsoft.com/office/drawing/2014/main" id="{3B964CB7-8571-4BD2-B388-63E1495756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备注占位符 2">
            <a:extLst>
              <a:ext uri="{FF2B5EF4-FFF2-40B4-BE49-F238E27FC236}">
                <a16:creationId xmlns:a16="http://schemas.microsoft.com/office/drawing/2014/main" id="{3213E5B6-D3AA-4CD4-A0E3-8D4C6F1FE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2000"/>
              <a:t>板书：</a:t>
            </a:r>
            <a:r>
              <a:rPr lang="en-US" altLang="zh-CN" sz="2400" b="1"/>
              <a:t>processor </a:t>
            </a:r>
            <a:r>
              <a:rPr lang="en-US" altLang="zh-CN" sz="2000" b="1"/>
              <a:t>registers</a:t>
            </a:r>
            <a:r>
              <a:rPr lang="en-US" altLang="zh-CN" sz="2000" b="1">
                <a:sym typeface="Wingdings" panose="05000000000000000000" pitchFamily="2" charset="2"/>
              </a:rPr>
              <a:t> L1 (L2…</a:t>
            </a:r>
            <a:r>
              <a:rPr lang="en-US" altLang="zh-CN" sz="2000" b="1"/>
              <a:t>) cache</a:t>
            </a:r>
            <a:r>
              <a:rPr lang="en-US" altLang="zh-CN" sz="2000" b="1">
                <a:sym typeface="Wingdings" panose="05000000000000000000" pitchFamily="2" charset="2"/>
              </a:rPr>
              <a:t> main memory external memory</a:t>
            </a:r>
          </a:p>
          <a:p>
            <a:endParaRPr lang="en-US" altLang="zh-CN" sz="2000" b="1">
              <a:sym typeface="Wingdings" panose="05000000000000000000" pitchFamily="2" charset="2"/>
            </a:endParaRPr>
          </a:p>
          <a:p>
            <a:r>
              <a:rPr lang="en-US" altLang="zh-CN" sz="2000" b="1">
                <a:sym typeface="Wingdings" panose="05000000000000000000" pitchFamily="2" charset="2"/>
              </a:rPr>
              <a:t>Cost/bit</a:t>
            </a:r>
            <a:r>
              <a:rPr lang="zh-CN" altLang="en-US" sz="2000" b="1">
                <a:sym typeface="Wingdings" panose="05000000000000000000" pitchFamily="2" charset="2"/>
              </a:rPr>
              <a:t>：</a:t>
            </a:r>
            <a:endParaRPr lang="en-US" altLang="zh-CN" sz="2000" b="1">
              <a:sym typeface="Wingdings" panose="05000000000000000000" pitchFamily="2" charset="2"/>
            </a:endParaRPr>
          </a:p>
          <a:p>
            <a:r>
              <a:rPr lang="en-US" altLang="zh-CN" sz="2000"/>
              <a:t>Capacity:</a:t>
            </a:r>
          </a:p>
          <a:p>
            <a:r>
              <a:rPr lang="en-US" altLang="zh-CN" sz="2000"/>
              <a:t>Access time:</a:t>
            </a:r>
          </a:p>
          <a:p>
            <a:endParaRPr lang="en-US" altLang="zh-CN" sz="2000"/>
          </a:p>
          <a:p>
            <a:r>
              <a:rPr lang="en-US" altLang="zh-CN" sz="2000"/>
              <a:t>Locality: </a:t>
            </a:r>
          </a:p>
          <a:p>
            <a:endParaRPr lang="zh-CN" altLang="en-US" sz="2000"/>
          </a:p>
        </p:txBody>
      </p:sp>
      <p:sp>
        <p:nvSpPr>
          <p:cNvPr id="14340" name="灯片编号占位符 3">
            <a:extLst>
              <a:ext uri="{FF2B5EF4-FFF2-40B4-BE49-F238E27FC236}">
                <a16:creationId xmlns:a16="http://schemas.microsoft.com/office/drawing/2014/main" id="{B1F7DBE7-F3F5-4EDB-B56A-D84FBA675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79E704A-B775-4914-97E6-ECFCBB9CD17F}" type="slidenum">
              <a:rPr lang="zh-CN" altLang="en-US" sz="1200" smtClean="0"/>
              <a:pPr/>
              <a:t>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FA098418-505C-431A-ABAA-26566E505E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1CF1099-4CC2-4637-8EA1-D73B24F6A575}" type="slidenum">
              <a:rPr lang="zh-CN" altLang="en-US" sz="1200" smtClean="0"/>
              <a:pPr/>
              <a:t>7</a:t>
            </a:fld>
            <a:endParaRPr lang="en-US" altLang="zh-CN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66DFF939-FD5A-4FF7-9185-DF4AD1A4F2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FB1B97D3-C5EB-401E-9856-037D11C815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/>
              <a:t>传送单位</a:t>
            </a:r>
            <a:r>
              <a:rPr lang="en-US" altLang="zh-CN" b="1"/>
              <a:t>unit</a:t>
            </a:r>
            <a:r>
              <a:rPr lang="zh-CN" altLang="en-US" b="1"/>
              <a:t> </a:t>
            </a:r>
            <a:r>
              <a:rPr lang="en-US" altLang="zh-CN" b="1"/>
              <a:t>of transfer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对于</a:t>
            </a:r>
            <a:r>
              <a:rPr lang="zh-CN" altLang="en-US" b="1"/>
              <a:t>主存</a:t>
            </a:r>
            <a:r>
              <a:rPr lang="zh-CN" altLang="en-US"/>
              <a:t>，就是每次读</a:t>
            </a:r>
            <a:r>
              <a:rPr lang="en-US" altLang="zh-CN"/>
              <a:t>/</a:t>
            </a:r>
            <a:r>
              <a:rPr lang="zh-CN" altLang="en-US"/>
              <a:t>写数据的位数，经常是一个</a:t>
            </a:r>
            <a:r>
              <a:rPr lang="zh-CN" altLang="en-US" b="1"/>
              <a:t>字</a:t>
            </a:r>
            <a:r>
              <a:rPr lang="zh-CN" altLang="en-US"/>
              <a:t>或者一个寻址单元；</a:t>
            </a:r>
            <a:endParaRPr lang="en-US" altLang="zh-CN"/>
          </a:p>
          <a:p>
            <a:r>
              <a:rPr lang="zh-CN" altLang="en-US"/>
              <a:t>对于</a:t>
            </a:r>
            <a:r>
              <a:rPr lang="zh-CN" altLang="en-US" b="1"/>
              <a:t>外存</a:t>
            </a:r>
            <a:r>
              <a:rPr lang="zh-CN" altLang="en-US"/>
              <a:t>，通常是一个</a:t>
            </a:r>
            <a:r>
              <a:rPr lang="zh-CN" altLang="en-US" b="1"/>
              <a:t>块</a:t>
            </a:r>
            <a:r>
              <a:rPr lang="zh-CN" altLang="en-US"/>
              <a:t>，比一个字大得多；</a:t>
            </a:r>
            <a:endParaRPr lang="en-US" altLang="zh-CN"/>
          </a:p>
          <a:p>
            <a:endParaRPr lang="en-US" altLang="zh-CN"/>
          </a:p>
          <a:p>
            <a:endParaRPr lang="en-GB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E0A41E18-6FA7-4F79-91B9-137BB50D89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7BB7A21-E982-44B4-88E0-C86D9F72C638}" type="slidenum">
              <a:rPr lang="zh-CN" altLang="en-US" sz="1200" smtClean="0"/>
              <a:pPr/>
              <a:t>8</a:t>
            </a:fld>
            <a:endParaRPr lang="en-US" altLang="zh-CN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05376E92-1287-4E00-9FA3-239D62BB04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959FC97-3DDA-4812-93B6-D6EC4ABF71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1D441FC1-793B-4C7E-865D-29D86005F1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848BB2-B749-48D5-8946-A76C29CBD9A4}" type="slidenum">
              <a:rPr lang="zh-CN" altLang="en-US" sz="1200" smtClean="0"/>
              <a:pPr/>
              <a:t>9</a:t>
            </a:fld>
            <a:endParaRPr lang="en-US" altLang="zh-CN" sz="12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D1B8F910-E11E-4A13-8B54-5468DE0146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E171EE5C-46DA-4EF7-BF57-D30C589AA1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F07F72F8-C855-4C2D-84C3-5996E0B3CE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8FCFF1A-6D84-4680-AF30-34493E19254D}" type="slidenum">
              <a:rPr lang="zh-CN" altLang="en-US" sz="1200" smtClean="0"/>
              <a:pPr/>
              <a:t>10</a:t>
            </a:fld>
            <a:endParaRPr lang="en-US" altLang="zh-CN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E0070792-3F79-4A35-B5A8-A0CC1BF3C2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29F09F83-77B7-4AF1-A2DB-5D9512DAF9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/>
              <a:t>可寻址单位</a:t>
            </a:r>
            <a:r>
              <a:rPr lang="en-GB" altLang="zh-CN" b="1"/>
              <a:t>Addressable unit</a:t>
            </a:r>
            <a:r>
              <a:rPr lang="zh-CN" altLang="en-US" b="1"/>
              <a:t>：</a:t>
            </a:r>
            <a:endParaRPr lang="en-US" altLang="zh-CN" b="1"/>
          </a:p>
          <a:p>
            <a:r>
              <a:rPr lang="zh-CN" altLang="en-US"/>
              <a:t>某些系统，可寻址单位是</a:t>
            </a:r>
            <a:r>
              <a:rPr lang="zh-CN" altLang="en-US" b="1"/>
              <a:t>字</a:t>
            </a:r>
            <a:r>
              <a:rPr lang="zh-CN" altLang="en-US"/>
              <a:t>；多数系统，可寻址单位是</a:t>
            </a:r>
            <a:r>
              <a:rPr lang="zh-CN" altLang="en-US" b="1"/>
              <a:t>字节</a:t>
            </a:r>
            <a:r>
              <a:rPr lang="zh-CN" altLang="en-US"/>
              <a:t>，</a:t>
            </a:r>
            <a:endParaRPr lang="en-US" altLang="zh-CN"/>
          </a:p>
          <a:p>
            <a:r>
              <a:rPr lang="zh-CN" altLang="en-US"/>
              <a:t>地址长度</a:t>
            </a:r>
            <a:r>
              <a:rPr lang="en-US" altLang="zh-CN"/>
              <a:t>A</a:t>
            </a:r>
            <a:r>
              <a:rPr lang="zh-CN" altLang="en-US"/>
              <a:t>，可寻址单位数</a:t>
            </a:r>
            <a:r>
              <a:rPr lang="en-US" altLang="zh-CN" b="1"/>
              <a:t>N=2^A (</a:t>
            </a:r>
            <a:r>
              <a:rPr lang="zh-CN" altLang="en-US" b="1">
                <a:solidFill>
                  <a:srgbClr val="FF0000"/>
                </a:solidFill>
              </a:rPr>
              <a:t>板书</a:t>
            </a:r>
            <a:r>
              <a:rPr lang="en-US" altLang="zh-CN" b="1"/>
              <a:t>)</a:t>
            </a:r>
          </a:p>
          <a:p>
            <a:endParaRPr lang="en-US" altLang="zh-CN"/>
          </a:p>
          <a:p>
            <a:endParaRPr lang="en-US" altLang="zh-CN"/>
          </a:p>
          <a:p>
            <a:endParaRPr lang="en-GB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D8FD47EF-6561-4C3A-8F97-99C5286BC3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0481D6B-6B2F-42FB-845A-59C43DF7422F}" type="slidenum">
              <a:rPr lang="zh-CN" altLang="en-US" sz="1200" smtClean="0"/>
              <a:pPr/>
              <a:t>11</a:t>
            </a:fld>
            <a:endParaRPr lang="en-US" altLang="zh-CN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97A0C4F-0F6D-409A-8654-2B8622DDA0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6C2B9345-86A6-4B2D-9332-94BAA48218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/>
              <a:t>传送单位</a:t>
            </a:r>
            <a:r>
              <a:rPr lang="en-US" altLang="zh-CN" b="1"/>
              <a:t>unit</a:t>
            </a:r>
            <a:r>
              <a:rPr lang="zh-CN" altLang="en-US" b="1"/>
              <a:t> </a:t>
            </a:r>
            <a:r>
              <a:rPr lang="en-US" altLang="zh-CN" b="1"/>
              <a:t>of transfer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 b="1"/>
              <a:t>内存</a:t>
            </a:r>
            <a:r>
              <a:rPr lang="zh-CN" altLang="en-US"/>
              <a:t>，由数据总线决定（字节 或 字）；每次读</a:t>
            </a:r>
            <a:r>
              <a:rPr lang="en-US" altLang="zh-CN"/>
              <a:t>/</a:t>
            </a:r>
            <a:r>
              <a:rPr lang="zh-CN" altLang="en-US"/>
              <a:t>写主存的</a:t>
            </a:r>
            <a:r>
              <a:rPr lang="zh-CN" altLang="en-US" b="1"/>
              <a:t>位数，</a:t>
            </a:r>
            <a:r>
              <a:rPr lang="zh-CN" altLang="en-US"/>
              <a:t>不一定等于一个</a:t>
            </a:r>
            <a:r>
              <a:rPr lang="zh-CN" altLang="en-US" b="1"/>
              <a:t>字</a:t>
            </a:r>
            <a:r>
              <a:rPr lang="zh-CN" altLang="en-US"/>
              <a:t>或</a:t>
            </a:r>
            <a:r>
              <a:rPr lang="zh-CN" altLang="en-US" b="1"/>
              <a:t>寻址单位；</a:t>
            </a:r>
            <a:endParaRPr lang="en-US" altLang="zh-CN" b="1"/>
          </a:p>
          <a:p>
            <a:r>
              <a:rPr lang="en-US" altLang="zh-CN" b="1"/>
              <a:t>      </a:t>
            </a:r>
            <a:r>
              <a:rPr lang="zh-CN" altLang="en-US"/>
              <a:t>比如</a:t>
            </a:r>
            <a:r>
              <a:rPr lang="en-US" altLang="zh-CN"/>
              <a:t>PC</a:t>
            </a:r>
            <a:r>
              <a:rPr lang="zh-CN" altLang="en-US"/>
              <a:t>中，</a:t>
            </a:r>
            <a:r>
              <a:rPr lang="en-US" altLang="zh-CN" b="1"/>
              <a:t>DDR2</a:t>
            </a:r>
            <a:r>
              <a:rPr lang="en-US" altLang="zh-CN"/>
              <a:t> </a:t>
            </a:r>
            <a:r>
              <a:rPr lang="zh-CN" altLang="en-US"/>
              <a:t>和</a:t>
            </a:r>
            <a:r>
              <a:rPr lang="en-US" altLang="zh-CN" b="1"/>
              <a:t>CPU</a:t>
            </a:r>
            <a:r>
              <a:rPr lang="zh-CN" altLang="en-US"/>
              <a:t>之间总线</a:t>
            </a:r>
            <a:r>
              <a:rPr lang="en-US" altLang="zh-CN" b="1"/>
              <a:t>64</a:t>
            </a:r>
            <a:r>
              <a:rPr lang="zh-CN" altLang="en-US" b="1"/>
              <a:t>位</a:t>
            </a:r>
            <a:r>
              <a:rPr lang="zh-CN" altLang="en-US"/>
              <a:t>，可以由</a:t>
            </a:r>
            <a:r>
              <a:rPr lang="en-US" altLang="zh-CN" b="1"/>
              <a:t>4</a:t>
            </a:r>
            <a:r>
              <a:rPr lang="zh-CN" altLang="en-US" b="1"/>
              <a:t>块</a:t>
            </a:r>
            <a:r>
              <a:rPr lang="en-US" altLang="zh-CN" b="1"/>
              <a:t>16</a:t>
            </a:r>
            <a:r>
              <a:rPr lang="zh-CN" altLang="en-US" b="1"/>
              <a:t>位</a:t>
            </a:r>
            <a:r>
              <a:rPr lang="zh-CN" altLang="en-US"/>
              <a:t>的</a:t>
            </a:r>
            <a:r>
              <a:rPr lang="en-US" altLang="zh-CN"/>
              <a:t>DDR2</a:t>
            </a:r>
            <a:r>
              <a:rPr lang="zh-CN" altLang="en-US"/>
              <a:t>芯片组合，也可以由</a:t>
            </a:r>
            <a:r>
              <a:rPr lang="en-US" altLang="zh-CN" b="1"/>
              <a:t>8</a:t>
            </a:r>
            <a:r>
              <a:rPr lang="zh-CN" altLang="en-US" b="1"/>
              <a:t>块</a:t>
            </a:r>
            <a:r>
              <a:rPr lang="en-US" altLang="zh-CN" b="1"/>
              <a:t>8</a:t>
            </a:r>
            <a:r>
              <a:rPr lang="zh-CN" altLang="en-US" b="1"/>
              <a:t>位</a:t>
            </a:r>
            <a:r>
              <a:rPr lang="zh-CN" altLang="en-US"/>
              <a:t>的芯片组合。（</a:t>
            </a:r>
            <a:r>
              <a:rPr lang="zh-CN" altLang="en-US" b="1"/>
              <a:t>板书画图</a:t>
            </a:r>
            <a:r>
              <a:rPr lang="zh-CN" altLang="en-US"/>
              <a:t>）</a:t>
            </a:r>
            <a:endParaRPr lang="en-US" altLang="zh-CN"/>
          </a:p>
          <a:p>
            <a:endParaRPr lang="en-US" altLang="zh-CN"/>
          </a:p>
          <a:p>
            <a:r>
              <a:rPr lang="zh-CN" altLang="en-US" b="1"/>
              <a:t>外存</a:t>
            </a:r>
            <a:r>
              <a:rPr lang="zh-CN" altLang="en-US"/>
              <a:t>，通常是一个</a:t>
            </a:r>
            <a:r>
              <a:rPr lang="zh-CN" altLang="en-US" b="1"/>
              <a:t>块</a:t>
            </a:r>
            <a:r>
              <a:rPr lang="zh-CN" altLang="en-US"/>
              <a:t>，比一个字大得多；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GB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4D0A509B-EA95-41B1-B90A-BE874CE176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84C28D0-7532-48E7-B2C0-D7382AA1D6D1}" type="slidenum">
              <a:rPr lang="zh-CN" altLang="en-US" sz="1200" smtClean="0"/>
              <a:pPr/>
              <a:t>12</a:t>
            </a:fld>
            <a:endParaRPr lang="en-US" altLang="zh-CN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3CB0397C-83E4-40B5-B765-65DCAF8F32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FB6F330E-11E0-4952-B782-D8CDF07AE2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顺序存取：以特定的线性顺序方式存取，</a:t>
            </a:r>
            <a:endParaRPr lang="en-US" altLang="zh-CN" dirty="0"/>
          </a:p>
          <a:p>
            <a:r>
              <a:rPr lang="zh-CN" altLang="en-US" dirty="0"/>
              <a:t>　　　　　存取不同记录的</a:t>
            </a:r>
            <a:r>
              <a:rPr lang="zh-CN" altLang="en-US" b="1" dirty="0"/>
              <a:t>时间相差很大</a:t>
            </a:r>
            <a:r>
              <a:rPr lang="zh-CN" altLang="en-US" dirty="0"/>
              <a:t>，比如磁带系统。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直接存取：单个快有唯一地址，</a:t>
            </a:r>
            <a:r>
              <a:rPr lang="zh-CN" altLang="en-US" b="1" dirty="0"/>
              <a:t>存取</a:t>
            </a:r>
            <a:r>
              <a:rPr lang="en-US" altLang="zh-CN" b="1" dirty="0"/>
              <a:t>=〉</a:t>
            </a:r>
            <a:r>
              <a:rPr lang="zh-CN" altLang="en-US" b="1" dirty="0"/>
              <a:t>跳到块附近 </a:t>
            </a:r>
            <a:r>
              <a:rPr lang="en-US" altLang="zh-CN" b="1" dirty="0"/>
              <a:t>+ </a:t>
            </a:r>
            <a:r>
              <a:rPr lang="zh-CN" altLang="en-US" b="1" dirty="0"/>
              <a:t>顺序搜索</a:t>
            </a:r>
            <a:r>
              <a:rPr lang="zh-CN" altLang="en-US" dirty="0"/>
              <a:t>；硬盘系统。</a:t>
            </a:r>
            <a:endParaRPr lang="en-US" altLang="zh-CN" dirty="0"/>
          </a:p>
          <a:p>
            <a:endParaRPr lang="en-GB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C0CFD755-2395-441F-AE48-6CD351B98D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BEBE5E1-87B8-4725-98AA-44699DA308EA}" type="slidenum">
              <a:rPr lang="zh-CN" altLang="en-US" sz="1200" smtClean="0"/>
              <a:pPr/>
              <a:t>13</a:t>
            </a:fld>
            <a:endParaRPr lang="en-US" altLang="zh-CN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0B30E53E-2BD3-496A-A576-819238634C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EAE314CE-2033-4000-BABA-A9F1DC8D8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随机存取：每个存储位置对应于唯一的物理编排寻址机制；</a:t>
            </a:r>
            <a:endParaRPr lang="en-US" altLang="zh-CN"/>
          </a:p>
          <a:p>
            <a:r>
              <a:rPr lang="en-US" altLang="zh-CN"/>
              <a:t>          </a:t>
            </a:r>
            <a:r>
              <a:rPr lang="zh-CN" altLang="en-US"/>
              <a:t>存取时间固定，不依赖于</a:t>
            </a:r>
            <a:r>
              <a:rPr lang="en-US" altLang="zh-CN"/>
              <a:t>Location</a:t>
            </a:r>
            <a:r>
              <a:rPr lang="zh-CN" altLang="en-US"/>
              <a:t>和</a:t>
            </a:r>
            <a:r>
              <a:rPr lang="en-GB" altLang="zh-CN">
                <a:latin typeface="Verdana" panose="020B0604030504040204" pitchFamily="34" charset="0"/>
              </a:rPr>
              <a:t>previous access</a:t>
            </a:r>
          </a:p>
          <a:p>
            <a:endParaRPr lang="en-GB" altLang="zh-CN">
              <a:latin typeface="Verdana" panose="020B0604030504040204" pitchFamily="34" charset="0"/>
            </a:endParaRPr>
          </a:p>
          <a:p>
            <a:r>
              <a:rPr lang="zh-CN" altLang="en-US">
                <a:latin typeface="Verdana" panose="020B0604030504040204" pitchFamily="34" charset="0"/>
              </a:rPr>
              <a:t>关联存取：一种随机存取类的存储方式，</a:t>
            </a:r>
            <a:endParaRPr lang="en-GB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2B8D78B5-4DD2-4BAA-8077-93EA1B7AA9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E6E873D-948B-4019-BC77-E50D68D42C4F}" type="slidenum">
              <a:rPr lang="zh-CN" altLang="en-US" sz="1200" smtClean="0"/>
              <a:pPr/>
              <a:t>14</a:t>
            </a:fld>
            <a:endParaRPr lang="en-US" altLang="zh-CN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1163D94C-A04E-4AB2-B6C0-4599A9D99B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5399C52D-0DE6-4C80-A146-B4C98510E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Tn</a:t>
            </a:r>
            <a:r>
              <a:rPr lang="zh-CN" altLang="en-US"/>
              <a:t>：读</a:t>
            </a:r>
            <a:r>
              <a:rPr lang="en-US" altLang="zh-CN"/>
              <a:t>/</a:t>
            </a:r>
            <a:r>
              <a:rPr lang="zh-CN" altLang="en-US"/>
              <a:t>写</a:t>
            </a:r>
            <a:r>
              <a:rPr lang="en-US" altLang="zh-CN"/>
              <a:t>n</a:t>
            </a:r>
            <a:r>
              <a:rPr lang="zh-CN" altLang="en-US"/>
              <a:t>位的平均时间；</a:t>
            </a:r>
            <a:endParaRPr lang="en-US" altLang="zh-CN"/>
          </a:p>
          <a:p>
            <a:r>
              <a:rPr lang="en-US" altLang="zh-CN"/>
              <a:t>Ta</a:t>
            </a:r>
            <a:r>
              <a:rPr lang="zh-CN" altLang="en-US"/>
              <a:t>：平均存取时间；</a:t>
            </a:r>
            <a:endParaRPr lang="en-US" altLang="zh-CN"/>
          </a:p>
          <a:p>
            <a:r>
              <a:rPr lang="en-US" altLang="zh-CN"/>
              <a:t>N</a:t>
            </a:r>
            <a:r>
              <a:rPr lang="zh-CN" altLang="en-US"/>
              <a:t>： 数据位数；</a:t>
            </a:r>
            <a:endParaRPr lang="en-US" altLang="zh-CN"/>
          </a:p>
          <a:p>
            <a:r>
              <a:rPr lang="en-US" altLang="zh-CN"/>
              <a:t>R</a:t>
            </a:r>
            <a:r>
              <a:rPr lang="zh-CN" altLang="en-US"/>
              <a:t>： 传输率，单位</a:t>
            </a:r>
            <a:r>
              <a:rPr lang="en-US" altLang="zh-CN"/>
              <a:t>b/s</a:t>
            </a:r>
            <a:r>
              <a:rPr lang="zh-CN" altLang="en-US"/>
              <a:t>；</a:t>
            </a:r>
            <a:endParaRPr lang="en-GB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28AC80F-3D2B-45BD-97B8-8A4819C96A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DCDFF76-6A7D-4B7C-B57B-CCA94F878112}" type="slidenum">
              <a:rPr lang="zh-CN" altLang="en-US" sz="1200" smtClean="0"/>
              <a:pPr/>
              <a:t>15</a:t>
            </a:fld>
            <a:endParaRPr lang="en-US" altLang="zh-CN" sz="1200"/>
          </a:p>
        </p:txBody>
      </p:sp>
      <p:sp>
        <p:nvSpPr>
          <p:cNvPr id="33795" name="Rectangle 1026">
            <a:extLst>
              <a:ext uri="{FF2B5EF4-FFF2-40B4-BE49-F238E27FC236}">
                <a16:creationId xmlns:a16="http://schemas.microsoft.com/office/drawing/2014/main" id="{4DE54139-D344-4701-924A-16C1329066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1027">
            <a:extLst>
              <a:ext uri="{FF2B5EF4-FFF2-40B4-BE49-F238E27FC236}">
                <a16:creationId xmlns:a16="http://schemas.microsoft.com/office/drawing/2014/main" id="{A13C7346-8F8B-4640-AD4D-9200441C3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半导体</a:t>
            </a:r>
            <a:endParaRPr lang="en-US" altLang="zh-CN"/>
          </a:p>
          <a:p>
            <a:r>
              <a:rPr lang="zh-CN" altLang="en-US"/>
              <a:t>磁表面存储器</a:t>
            </a:r>
            <a:endParaRPr lang="en-US" altLang="zh-CN"/>
          </a:p>
          <a:p>
            <a:r>
              <a:rPr lang="zh-CN" altLang="en-US"/>
              <a:t>光学存储器</a:t>
            </a:r>
            <a:endParaRPr lang="en-GB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5AFDDFE0-4CC3-4319-A3EC-D92EB272A5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BCB36E-6489-4B95-B84E-5BCB0635C557}" type="slidenum">
              <a:rPr lang="zh-CN" altLang="en-US" sz="1200" smtClean="0"/>
              <a:pPr/>
              <a:t>16</a:t>
            </a:fld>
            <a:endParaRPr lang="en-US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3DD3A713-8E90-4AD2-ABF3-18EF4C53B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E0C9200-49B5-49DF-B2B2-3895FEA0F2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zh-CN" dirty="0"/>
              <a:t>Volatility</a:t>
            </a:r>
            <a:r>
              <a:rPr lang="zh-CN" altLang="en-US" dirty="0"/>
              <a:t>：易散失性</a:t>
            </a:r>
            <a:r>
              <a:rPr lang="en-US" altLang="zh-CN" dirty="0"/>
              <a:t>——</a:t>
            </a:r>
            <a:r>
              <a:rPr lang="zh-CN" altLang="en-US" dirty="0"/>
              <a:t>断电后，信息自动衰减</a:t>
            </a:r>
            <a:r>
              <a:rPr lang="en-US" altLang="zh-CN" dirty="0"/>
              <a:t>decay</a:t>
            </a:r>
            <a:r>
              <a:rPr lang="zh-CN" altLang="en-US" dirty="0"/>
              <a:t>，需要依靠电源来维持信息；</a:t>
            </a:r>
            <a:endParaRPr lang="en-US" altLang="zh-CN" dirty="0"/>
          </a:p>
          <a:p>
            <a:r>
              <a:rPr lang="en-US" altLang="zh-CN" dirty="0"/>
              <a:t>Erasable</a:t>
            </a:r>
            <a:r>
              <a:rPr lang="zh-CN" altLang="en-US" dirty="0"/>
              <a:t>：可擦除性</a:t>
            </a:r>
            <a:r>
              <a:rPr lang="en-US" altLang="zh-CN" dirty="0"/>
              <a:t>——</a:t>
            </a:r>
            <a:r>
              <a:rPr lang="zh-CN" altLang="en-US" dirty="0"/>
              <a:t>记录信息可以修改；</a:t>
            </a:r>
            <a:endParaRPr lang="en-US" altLang="zh-CN" dirty="0"/>
          </a:p>
          <a:p>
            <a:r>
              <a:rPr lang="zh-CN" altLang="en-US" dirty="0"/>
              <a:t>固态硬盘：好处，读写速度快，启动快，不拍震动，不容易坏，</a:t>
            </a:r>
            <a:endParaRPr lang="en-US" altLang="zh-CN" dirty="0"/>
          </a:p>
          <a:p>
            <a:r>
              <a:rPr lang="zh-CN" altLang="en-US" dirty="0"/>
              <a:t>ＨＤＤ：５４００／７２００转，</a:t>
            </a:r>
            <a:endParaRPr lang="en-GB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73EAFA4A-3C34-4F19-9709-0F7465FD57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818EE66-4A3E-40DC-ADA6-A940AA66A5E1}" type="slidenum">
              <a:rPr lang="zh-CN" altLang="en-US" sz="1200" smtClean="0"/>
              <a:pPr/>
              <a:t>17</a:t>
            </a:fld>
            <a:endParaRPr lang="en-US" altLang="zh-CN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B22B2A4F-EC82-4DE5-9504-72FC4B2116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3CD3A7D5-C1EE-42E9-AC86-3D907CA2CB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zh-CN"/>
              <a:t>Dilemma</a:t>
            </a:r>
            <a:r>
              <a:rPr lang="zh-CN" altLang="en-US"/>
              <a:t>困境</a:t>
            </a:r>
            <a:endParaRPr lang="en-GB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4C56D649-C731-40F8-B94E-8F2581EBBC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8A27376-380F-4911-A667-FF0DC7557E99}" type="slidenum">
              <a:rPr lang="zh-CN" altLang="en-US" sz="1200" smtClean="0"/>
              <a:pPr/>
              <a:t>18</a:t>
            </a:fld>
            <a:endParaRPr lang="en-US" altLang="zh-CN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AF3459A3-41ED-4EED-95E5-5CFEB7D8CB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677A93C5-757D-4F7C-B7E5-F67D086D4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>
            <a:extLst>
              <a:ext uri="{FF2B5EF4-FFF2-40B4-BE49-F238E27FC236}">
                <a16:creationId xmlns:a16="http://schemas.microsoft.com/office/drawing/2014/main" id="{2B97FBF1-6783-46D8-A931-9C11080751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备注占位符 2">
            <a:extLst>
              <a:ext uri="{FF2B5EF4-FFF2-40B4-BE49-F238E27FC236}">
                <a16:creationId xmlns:a16="http://schemas.microsoft.com/office/drawing/2014/main" id="{A8218C45-09FB-4AD6-8D30-AEF5F22BB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Ｂｏｏｋ　图４．１，</a:t>
            </a:r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id="{F155B076-0EFA-43B4-8124-B74E84423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6044ED5-A56F-4FDC-B674-D7735A23155F}" type="slidenum">
              <a:rPr lang="zh-CN" altLang="en-US" sz="1200" smtClean="0"/>
              <a:pPr/>
              <a:t>19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42C76DF0-7E0A-4436-9D4E-9DA6DD7940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FD346D5-E103-465F-A7CF-64A72FDFD751}" type="slidenum">
              <a:rPr lang="zh-CN" altLang="en-US" sz="1200" smtClean="0"/>
              <a:pPr/>
              <a:t>20</a:t>
            </a:fld>
            <a:endParaRPr lang="en-US" altLang="zh-CN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1780EA85-B7F9-4367-B1FC-F136B714E7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1CD2146D-FCC7-456E-ABF3-2FB8473D05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>
            <a:extLst>
              <a:ext uri="{FF2B5EF4-FFF2-40B4-BE49-F238E27FC236}">
                <a16:creationId xmlns:a16="http://schemas.microsoft.com/office/drawing/2014/main" id="{3D12742B-2249-41D8-850C-46403D6846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>
            <a:extLst>
              <a:ext uri="{FF2B5EF4-FFF2-40B4-BE49-F238E27FC236}">
                <a16:creationId xmlns:a16="http://schemas.microsoft.com/office/drawing/2014/main" id="{86B4AF49-6DAB-45B7-9FFC-13E9C68C7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横轴</a:t>
            </a:r>
            <a:r>
              <a:rPr lang="en-US" altLang="zh-CN"/>
              <a:t>-H</a:t>
            </a:r>
            <a:r>
              <a:rPr lang="zh-CN" altLang="en-US"/>
              <a:t>（命中率）：在较快的存储器（如</a:t>
            </a:r>
            <a:r>
              <a:rPr lang="en-US" altLang="zh-CN"/>
              <a:t>cache</a:t>
            </a:r>
            <a:r>
              <a:rPr lang="zh-CN" altLang="en-US"/>
              <a:t>）中完成存取所占的百分比；（</a:t>
            </a:r>
            <a:r>
              <a:rPr lang="en-US" altLang="zh-CN"/>
              <a:t>Hit</a:t>
            </a:r>
            <a:r>
              <a:rPr lang="zh-CN" altLang="en-US"/>
              <a:t>，命中率）</a:t>
            </a:r>
            <a:r>
              <a:rPr lang="en-US" altLang="zh-CN"/>
              <a:t>(</a:t>
            </a:r>
            <a:r>
              <a:rPr lang="zh-CN" altLang="en-US" b="1"/>
              <a:t>板书公式，参考</a:t>
            </a:r>
            <a:r>
              <a:rPr lang="en-US" altLang="zh-CN" b="1"/>
              <a:t>Appendix 4A.2</a:t>
            </a:r>
            <a:r>
              <a:rPr lang="zh-CN" altLang="en-US" b="1"/>
              <a:t> 和 例题</a:t>
            </a:r>
            <a:r>
              <a:rPr lang="en-US" altLang="zh-CN" b="1"/>
              <a:t>4.1</a:t>
            </a:r>
            <a:r>
              <a:rPr lang="en-US" altLang="zh-CN"/>
              <a:t>)</a:t>
            </a:r>
          </a:p>
          <a:p>
            <a:r>
              <a:rPr lang="zh-CN" altLang="en-US"/>
              <a:t>纵轴</a:t>
            </a:r>
            <a:r>
              <a:rPr lang="en-US" altLang="zh-CN"/>
              <a:t>-T</a:t>
            </a:r>
            <a:r>
              <a:rPr lang="zh-CN" altLang="en-US"/>
              <a:t>：平均存取时间；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T1</a:t>
            </a:r>
            <a:r>
              <a:rPr lang="zh-CN" altLang="en-US"/>
              <a:t>：较快的存储器平均存取时间；</a:t>
            </a:r>
            <a:endParaRPr lang="en-US" altLang="zh-CN"/>
          </a:p>
          <a:p>
            <a:r>
              <a:rPr lang="en-US" altLang="zh-CN"/>
              <a:t>T2</a:t>
            </a:r>
            <a:r>
              <a:rPr lang="zh-CN" altLang="en-US"/>
              <a:t>：较慢的存储器平均存取时间；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T1+T2</a:t>
            </a:r>
            <a:r>
              <a:rPr lang="zh-CN" altLang="en-US"/>
              <a:t>是因为，计算机设计中，总是先从</a:t>
            </a:r>
            <a:r>
              <a:rPr lang="en-US" altLang="zh-CN"/>
              <a:t>cache</a:t>
            </a:r>
            <a:r>
              <a:rPr lang="zh-CN" altLang="en-US"/>
              <a:t>中查找（</a:t>
            </a:r>
            <a:r>
              <a:rPr lang="en-US" altLang="zh-CN"/>
              <a:t>T1</a:t>
            </a:r>
            <a:r>
              <a:rPr lang="zh-CN" altLang="en-US"/>
              <a:t>），找不到才去</a:t>
            </a:r>
            <a:r>
              <a:rPr lang="en-US" altLang="zh-CN"/>
              <a:t>2</a:t>
            </a:r>
            <a:r>
              <a:rPr lang="zh-CN" altLang="en-US"/>
              <a:t>级存储器查找</a:t>
            </a:r>
          </a:p>
        </p:txBody>
      </p:sp>
      <p:sp>
        <p:nvSpPr>
          <p:cNvPr id="46084" name="灯片编号占位符 3">
            <a:extLst>
              <a:ext uri="{FF2B5EF4-FFF2-40B4-BE49-F238E27FC236}">
                <a16:creationId xmlns:a16="http://schemas.microsoft.com/office/drawing/2014/main" id="{46183A49-59FA-4E00-97D5-B032F95BC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E5A728A-1D0E-43B3-9EBD-B1C9CCFFC32A}" type="slidenum">
              <a:rPr lang="zh-CN" altLang="en-US" sz="1200" smtClean="0"/>
              <a:pPr/>
              <a:t>21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71225DD6-A78E-462F-86B2-19D4822F0E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960C223E-1A5C-407B-84DD-5809759BB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横轴</a:t>
            </a:r>
            <a:r>
              <a:rPr lang="en-US" altLang="zh-CN"/>
              <a:t>-H</a:t>
            </a:r>
            <a:r>
              <a:rPr lang="zh-CN" altLang="en-US"/>
              <a:t>（命中率）：在较快的存储器（如</a:t>
            </a:r>
            <a:r>
              <a:rPr lang="en-US" altLang="zh-CN"/>
              <a:t>cache</a:t>
            </a:r>
            <a:r>
              <a:rPr lang="zh-CN" altLang="en-US"/>
              <a:t>）中完成存取所占的百分比；（</a:t>
            </a:r>
            <a:r>
              <a:rPr lang="en-US" altLang="zh-CN"/>
              <a:t>Hit</a:t>
            </a:r>
            <a:r>
              <a:rPr lang="zh-CN" altLang="en-US"/>
              <a:t>，命中率）</a:t>
            </a:r>
            <a:r>
              <a:rPr lang="en-US" altLang="zh-CN"/>
              <a:t>(</a:t>
            </a:r>
            <a:r>
              <a:rPr lang="zh-CN" altLang="en-US" b="1"/>
              <a:t>板书公式，参考</a:t>
            </a:r>
            <a:r>
              <a:rPr lang="en-US" altLang="zh-CN" b="1"/>
              <a:t>Appendix 4A.2</a:t>
            </a:r>
            <a:r>
              <a:rPr lang="zh-CN" altLang="en-US" b="1"/>
              <a:t> 和 例题</a:t>
            </a:r>
            <a:r>
              <a:rPr lang="en-US" altLang="zh-CN" b="1"/>
              <a:t>4.1</a:t>
            </a:r>
            <a:r>
              <a:rPr lang="en-US" altLang="zh-CN"/>
              <a:t>)</a:t>
            </a:r>
          </a:p>
          <a:p>
            <a:r>
              <a:rPr lang="zh-CN" altLang="en-US"/>
              <a:t>纵轴</a:t>
            </a:r>
            <a:r>
              <a:rPr lang="en-US" altLang="zh-CN"/>
              <a:t>-T</a:t>
            </a:r>
            <a:r>
              <a:rPr lang="zh-CN" altLang="en-US"/>
              <a:t>：平均存取时间；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T1</a:t>
            </a:r>
            <a:r>
              <a:rPr lang="zh-CN" altLang="en-US"/>
              <a:t>：较快的存储器平均存取时间；</a:t>
            </a:r>
            <a:endParaRPr lang="en-US" altLang="zh-CN"/>
          </a:p>
          <a:p>
            <a:r>
              <a:rPr lang="en-US" altLang="zh-CN"/>
              <a:t>T2</a:t>
            </a:r>
            <a:r>
              <a:rPr lang="zh-CN" altLang="en-US"/>
              <a:t>：较慢的存储器平均存取时间；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T1+T2</a:t>
            </a:r>
            <a:r>
              <a:rPr lang="zh-CN" altLang="en-US"/>
              <a:t>是因为，计算机设计中，总是先从</a:t>
            </a:r>
            <a:r>
              <a:rPr lang="en-US" altLang="zh-CN"/>
              <a:t>cache</a:t>
            </a:r>
            <a:r>
              <a:rPr lang="zh-CN" altLang="en-US"/>
              <a:t>中查找（</a:t>
            </a:r>
            <a:r>
              <a:rPr lang="en-US" altLang="zh-CN"/>
              <a:t>T1</a:t>
            </a:r>
            <a:r>
              <a:rPr lang="zh-CN" altLang="en-US"/>
              <a:t>），找不到才去</a:t>
            </a:r>
            <a:r>
              <a:rPr lang="en-US" altLang="zh-CN"/>
              <a:t>2</a:t>
            </a:r>
            <a:r>
              <a:rPr lang="zh-CN" altLang="en-US"/>
              <a:t>级存储器查找</a:t>
            </a:r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123C950A-449D-4B0B-8E34-19E098063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14F6418-BAA7-45B0-90E9-4337DD278079}" type="slidenum">
              <a:rPr lang="zh-CN" altLang="en-US" sz="1200" smtClean="0"/>
              <a:pPr/>
              <a:t>22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CB2B3B29-FD02-4A61-B821-F408850934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610712F3-96BD-436D-93B4-CFA64A22F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横轴</a:t>
            </a:r>
            <a:r>
              <a:rPr lang="en-US" altLang="zh-CN"/>
              <a:t>-H</a:t>
            </a:r>
            <a:r>
              <a:rPr lang="zh-CN" altLang="en-US"/>
              <a:t>（命中率）：在较快的存储器（如</a:t>
            </a:r>
            <a:r>
              <a:rPr lang="en-US" altLang="zh-CN"/>
              <a:t>cache</a:t>
            </a:r>
            <a:r>
              <a:rPr lang="zh-CN" altLang="en-US"/>
              <a:t>）中完成存取所占的百分比；（</a:t>
            </a:r>
            <a:r>
              <a:rPr lang="en-US" altLang="zh-CN"/>
              <a:t>Hit</a:t>
            </a:r>
            <a:r>
              <a:rPr lang="zh-CN" altLang="en-US"/>
              <a:t>，命中率）</a:t>
            </a:r>
            <a:r>
              <a:rPr lang="en-US" altLang="zh-CN"/>
              <a:t>(</a:t>
            </a:r>
            <a:r>
              <a:rPr lang="zh-CN" altLang="en-US" b="1"/>
              <a:t>板书公式，参考</a:t>
            </a:r>
            <a:r>
              <a:rPr lang="en-US" altLang="zh-CN" b="1"/>
              <a:t>Appendix 4A.2</a:t>
            </a:r>
            <a:r>
              <a:rPr lang="zh-CN" altLang="en-US" b="1"/>
              <a:t> 和 例题</a:t>
            </a:r>
            <a:r>
              <a:rPr lang="en-US" altLang="zh-CN" b="1"/>
              <a:t>4.1</a:t>
            </a:r>
            <a:r>
              <a:rPr lang="en-US" altLang="zh-CN"/>
              <a:t>)</a:t>
            </a:r>
          </a:p>
          <a:p>
            <a:r>
              <a:rPr lang="zh-CN" altLang="en-US"/>
              <a:t>纵轴</a:t>
            </a:r>
            <a:r>
              <a:rPr lang="en-US" altLang="zh-CN"/>
              <a:t>-T</a:t>
            </a:r>
            <a:r>
              <a:rPr lang="zh-CN" altLang="en-US"/>
              <a:t>：平均存取时间；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T1</a:t>
            </a:r>
            <a:r>
              <a:rPr lang="zh-CN" altLang="en-US"/>
              <a:t>：较快的存储器平均存取时间；</a:t>
            </a:r>
            <a:endParaRPr lang="en-US" altLang="zh-CN"/>
          </a:p>
          <a:p>
            <a:r>
              <a:rPr lang="en-US" altLang="zh-CN"/>
              <a:t>T2</a:t>
            </a:r>
            <a:r>
              <a:rPr lang="zh-CN" altLang="en-US"/>
              <a:t>：较慢的存储器平均存取时间；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T1+T2</a:t>
            </a:r>
            <a:r>
              <a:rPr lang="zh-CN" altLang="en-US"/>
              <a:t>是因为，计算机设计中，总是先从</a:t>
            </a:r>
            <a:r>
              <a:rPr lang="en-US" altLang="zh-CN"/>
              <a:t>cache</a:t>
            </a:r>
            <a:r>
              <a:rPr lang="zh-CN" altLang="en-US"/>
              <a:t>中查找（</a:t>
            </a:r>
            <a:r>
              <a:rPr lang="en-US" altLang="zh-CN"/>
              <a:t>T1</a:t>
            </a:r>
            <a:r>
              <a:rPr lang="zh-CN" altLang="en-US"/>
              <a:t>），找不到才去</a:t>
            </a:r>
            <a:r>
              <a:rPr lang="en-US" altLang="zh-CN"/>
              <a:t>2</a:t>
            </a:r>
            <a:r>
              <a:rPr lang="zh-CN" altLang="en-US"/>
              <a:t>级存储器查找</a:t>
            </a:r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3C27CE7C-4797-4B9C-A316-FCCCF2251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629A14-F263-4694-960D-61A3B619E71C}" type="slidenum">
              <a:rPr lang="zh-CN" altLang="en-US" sz="1200" smtClean="0"/>
              <a:pPr/>
              <a:t>23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CB2B3B29-FD02-4A61-B821-F408850934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610712F3-96BD-436D-93B4-CFA64A22F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横轴</a:t>
            </a:r>
            <a:r>
              <a:rPr lang="en-US" altLang="zh-CN"/>
              <a:t>-H</a:t>
            </a:r>
            <a:r>
              <a:rPr lang="zh-CN" altLang="en-US"/>
              <a:t>（命中率）：在较快的存储器（如</a:t>
            </a:r>
            <a:r>
              <a:rPr lang="en-US" altLang="zh-CN"/>
              <a:t>cache</a:t>
            </a:r>
            <a:r>
              <a:rPr lang="zh-CN" altLang="en-US"/>
              <a:t>）中完成存取所占的百分比；（</a:t>
            </a:r>
            <a:r>
              <a:rPr lang="en-US" altLang="zh-CN"/>
              <a:t>Hit</a:t>
            </a:r>
            <a:r>
              <a:rPr lang="zh-CN" altLang="en-US"/>
              <a:t>，命中率）</a:t>
            </a:r>
            <a:r>
              <a:rPr lang="en-US" altLang="zh-CN"/>
              <a:t>(</a:t>
            </a:r>
            <a:r>
              <a:rPr lang="zh-CN" altLang="en-US" b="1"/>
              <a:t>板书公式，参考</a:t>
            </a:r>
            <a:r>
              <a:rPr lang="en-US" altLang="zh-CN" b="1"/>
              <a:t>Appendix 4A.2</a:t>
            </a:r>
            <a:r>
              <a:rPr lang="zh-CN" altLang="en-US" b="1"/>
              <a:t> 和 例题</a:t>
            </a:r>
            <a:r>
              <a:rPr lang="en-US" altLang="zh-CN" b="1"/>
              <a:t>4.1</a:t>
            </a:r>
            <a:r>
              <a:rPr lang="en-US" altLang="zh-CN"/>
              <a:t>)</a:t>
            </a:r>
          </a:p>
          <a:p>
            <a:r>
              <a:rPr lang="zh-CN" altLang="en-US"/>
              <a:t>纵轴</a:t>
            </a:r>
            <a:r>
              <a:rPr lang="en-US" altLang="zh-CN"/>
              <a:t>-T</a:t>
            </a:r>
            <a:r>
              <a:rPr lang="zh-CN" altLang="en-US"/>
              <a:t>：平均存取时间；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T1</a:t>
            </a:r>
            <a:r>
              <a:rPr lang="zh-CN" altLang="en-US"/>
              <a:t>：较快的存储器平均存取时间；</a:t>
            </a:r>
            <a:endParaRPr lang="en-US" altLang="zh-CN"/>
          </a:p>
          <a:p>
            <a:r>
              <a:rPr lang="en-US" altLang="zh-CN"/>
              <a:t>T2</a:t>
            </a:r>
            <a:r>
              <a:rPr lang="zh-CN" altLang="en-US"/>
              <a:t>：较慢的存储器平均存取时间；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T1+T2</a:t>
            </a:r>
            <a:r>
              <a:rPr lang="zh-CN" altLang="en-US"/>
              <a:t>是因为，计算机设计中，总是先从</a:t>
            </a:r>
            <a:r>
              <a:rPr lang="en-US" altLang="zh-CN"/>
              <a:t>cache</a:t>
            </a:r>
            <a:r>
              <a:rPr lang="zh-CN" altLang="en-US"/>
              <a:t>中查找（</a:t>
            </a:r>
            <a:r>
              <a:rPr lang="en-US" altLang="zh-CN"/>
              <a:t>T1</a:t>
            </a:r>
            <a:r>
              <a:rPr lang="zh-CN" altLang="en-US"/>
              <a:t>），找不到才去</a:t>
            </a:r>
            <a:r>
              <a:rPr lang="en-US" altLang="zh-CN"/>
              <a:t>2</a:t>
            </a:r>
            <a:r>
              <a:rPr lang="zh-CN" altLang="en-US"/>
              <a:t>级存储器查找</a:t>
            </a:r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3C27CE7C-4797-4B9C-A316-FCCCF2251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629A14-F263-4694-960D-61A3B619E71C}" type="slidenum">
              <a:rPr lang="zh-CN" altLang="en-US" sz="1200" smtClean="0"/>
              <a:pPr/>
              <a:t>24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8085959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947B6CF6-248E-4204-B853-DCAB30F44B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7E792E-FCFB-4EF3-A9F7-6C0DBCA14A89}" type="slidenum">
              <a:rPr lang="zh-CN" altLang="en-US" sz="1200" smtClean="0"/>
              <a:pPr/>
              <a:t>25</a:t>
            </a:fld>
            <a:endParaRPr lang="en-US" altLang="zh-CN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0DF5FE81-02D1-4D8F-BA4B-66974653C3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D182884A-8F2E-4EDF-83E9-2DCEF2C44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/>
              <a:t>两级存储器性能优越性的基础</a:t>
            </a:r>
            <a:r>
              <a:rPr lang="en-US" altLang="zh-CN" b="1"/>
              <a:t>——</a:t>
            </a:r>
            <a:r>
              <a:rPr lang="zh-CN" altLang="en-US" b="1"/>
              <a:t>访问局部性原理</a:t>
            </a:r>
            <a:r>
              <a:rPr lang="zh-CN" altLang="en-US"/>
              <a:t>；</a:t>
            </a:r>
            <a:endParaRPr lang="en-US" altLang="zh-CN"/>
          </a:p>
          <a:p>
            <a:r>
              <a:rPr lang="zh-CN" altLang="en-US"/>
              <a:t>理由：</a:t>
            </a:r>
            <a:endParaRPr lang="en-US" altLang="zh-CN"/>
          </a:p>
          <a:p>
            <a:r>
              <a:rPr lang="en-US" altLang="zh-CN"/>
              <a:t>-</a:t>
            </a:r>
            <a:r>
              <a:rPr lang="zh-CN" altLang="en-US"/>
              <a:t>程序大多是顺序执行的，除了分支和调用指令（</a:t>
            </a:r>
            <a:r>
              <a:rPr lang="zh-CN" altLang="en-US" b="1"/>
              <a:t>比例很少，参考教材表</a:t>
            </a:r>
            <a:r>
              <a:rPr lang="en-US" altLang="zh-CN" b="1"/>
              <a:t>4.8</a:t>
            </a:r>
            <a:r>
              <a:rPr lang="zh-CN" altLang="en-US"/>
              <a:t>）；</a:t>
            </a:r>
            <a:endParaRPr lang="en-US" altLang="zh-CN"/>
          </a:p>
          <a:p>
            <a:r>
              <a:rPr lang="en-US" altLang="zh-CN"/>
              <a:t>-</a:t>
            </a:r>
            <a:r>
              <a:rPr lang="zh-CN" altLang="en-US"/>
              <a:t>在短时间内，程序通常会限制在较窄的子程序激活窗口内；（</a:t>
            </a:r>
            <a:r>
              <a:rPr lang="en-US" altLang="zh-CN" b="1"/>
              <a:t>procedure</a:t>
            </a:r>
            <a:r>
              <a:rPr lang="zh-CN" altLang="en-US" b="1"/>
              <a:t>指：调用</a:t>
            </a:r>
            <a:r>
              <a:rPr lang="en-US" altLang="zh-CN" b="1"/>
              <a:t>-</a:t>
            </a:r>
            <a:r>
              <a:rPr lang="zh-CN" altLang="en-US" b="1"/>
              <a:t>返回过程，参考第</a:t>
            </a:r>
            <a:r>
              <a:rPr lang="en-US" altLang="zh-CN" b="1"/>
              <a:t>8</a:t>
            </a:r>
            <a:r>
              <a:rPr lang="zh-CN" altLang="en-US" b="1"/>
              <a:t>版教材图</a:t>
            </a:r>
            <a:r>
              <a:rPr lang="en-US" altLang="zh-CN" b="1"/>
              <a:t>4.21</a:t>
            </a:r>
            <a:r>
              <a:rPr lang="zh-CN" altLang="en-US"/>
              <a:t>）</a:t>
            </a:r>
            <a:endParaRPr lang="en-US" altLang="zh-CN"/>
          </a:p>
          <a:p>
            <a:r>
              <a:rPr lang="en-US" altLang="zh-CN"/>
              <a:t>-</a:t>
            </a:r>
            <a:r>
              <a:rPr lang="zh-CN" altLang="en-US"/>
              <a:t>迭代结构都是由较少的指令组成，这些指令一般都放在一起，迭代运行期间，程序集中在局部完成；（以</a:t>
            </a:r>
            <a:r>
              <a:rPr lang="zh-CN" altLang="en-US" b="1"/>
              <a:t>循环指令</a:t>
            </a:r>
            <a:r>
              <a:rPr lang="zh-CN" altLang="en-US"/>
              <a:t>为例，</a:t>
            </a:r>
            <a:r>
              <a:rPr lang="zh-CN" altLang="en-US" b="1"/>
              <a:t>板书</a:t>
            </a:r>
            <a:r>
              <a:rPr lang="zh-CN" altLang="en-US"/>
              <a:t>循环调用某函数）</a:t>
            </a:r>
            <a:endParaRPr lang="en-US" altLang="zh-CN"/>
          </a:p>
          <a:p>
            <a:r>
              <a:rPr lang="en-US" altLang="zh-CN"/>
              <a:t>-</a:t>
            </a:r>
            <a:r>
              <a:rPr lang="zh-CN" altLang="en-US"/>
              <a:t>数组</a:t>
            </a:r>
            <a:r>
              <a:rPr lang="en-US" altLang="zh-CN"/>
              <a:t>/</a:t>
            </a:r>
            <a:r>
              <a:rPr lang="zh-CN" altLang="en-US"/>
              <a:t>顺序存放的数据，集中在局部，访问具有局部性；</a:t>
            </a:r>
            <a:endParaRPr lang="en-US" altLang="zh-CN"/>
          </a:p>
          <a:p>
            <a:endParaRPr lang="en-US" altLang="zh-CN"/>
          </a:p>
          <a:p>
            <a:r>
              <a:rPr lang="zh-CN" altLang="en-US" b="1"/>
              <a:t>空间</a:t>
            </a:r>
            <a:r>
              <a:rPr lang="zh-CN" altLang="en-US"/>
              <a:t>局部性原理：存取</a:t>
            </a:r>
            <a:r>
              <a:rPr lang="zh-CN" altLang="en-US" b="1"/>
              <a:t>顺序位置</a:t>
            </a:r>
            <a:r>
              <a:rPr lang="zh-CN" altLang="en-US"/>
              <a:t>的倾向性；比如顺序取指令</a:t>
            </a:r>
            <a:r>
              <a:rPr lang="en-US" altLang="zh-CN"/>
              <a:t>PC+1</a:t>
            </a:r>
            <a:r>
              <a:rPr lang="zh-CN" altLang="en-US"/>
              <a:t>；处理表格数组 </a:t>
            </a:r>
            <a:r>
              <a:rPr lang="en-US" altLang="zh-CN"/>
              <a:t>for (i=0;i&lt;10;i++) b[i]=0;</a:t>
            </a:r>
          </a:p>
          <a:p>
            <a:endParaRPr lang="en-US" altLang="zh-CN"/>
          </a:p>
          <a:p>
            <a:r>
              <a:rPr lang="zh-CN" altLang="en-US" b="1"/>
              <a:t>时间</a:t>
            </a:r>
            <a:r>
              <a:rPr lang="zh-CN" altLang="en-US"/>
              <a:t>局部性原理：存取</a:t>
            </a:r>
            <a:r>
              <a:rPr lang="zh-CN" altLang="en-US" b="1"/>
              <a:t>最近位置</a:t>
            </a:r>
            <a:r>
              <a:rPr lang="zh-CN" altLang="en-US"/>
              <a:t>的倾向性；比如循环指令，重复执行同一个指令，</a:t>
            </a:r>
            <a:r>
              <a:rPr lang="en-US" altLang="zh-CN"/>
              <a:t>for (i=0;i&lt;10;i++) a=a+1;</a:t>
            </a:r>
          </a:p>
          <a:p>
            <a:endParaRPr lang="en-US" altLang="zh-CN"/>
          </a:p>
          <a:p>
            <a:endParaRPr lang="en-GB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947B6CF6-248E-4204-B853-DCAB30F44B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7E792E-FCFB-4EF3-A9F7-6C0DBCA14A89}" type="slidenum">
              <a:rPr lang="zh-CN" altLang="en-US" sz="1200" smtClean="0"/>
              <a:pPr/>
              <a:t>26</a:t>
            </a:fld>
            <a:endParaRPr lang="en-US" altLang="zh-CN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0DF5FE81-02D1-4D8F-BA4B-66974653C3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D182884A-8F2E-4EDF-83E9-2DCEF2C44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 dirty="0"/>
              <a:t>两级存储器性能优越性的基础</a:t>
            </a:r>
            <a:r>
              <a:rPr lang="en-US" altLang="zh-CN" b="1" dirty="0"/>
              <a:t>——</a:t>
            </a:r>
            <a:r>
              <a:rPr lang="zh-CN" altLang="en-US" b="1" dirty="0"/>
              <a:t>访问局部性原理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理由：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程序大多是顺序执行的，除了分支和调用指令（</a:t>
            </a:r>
            <a:r>
              <a:rPr lang="zh-CN" altLang="en-US" b="1" dirty="0"/>
              <a:t>比例很少，参考教材表</a:t>
            </a:r>
            <a:r>
              <a:rPr lang="en-US" altLang="zh-CN" b="1" dirty="0"/>
              <a:t>4.8</a:t>
            </a:r>
            <a:r>
              <a:rPr lang="zh-CN" altLang="en-US" dirty="0"/>
              <a:t>）；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在短时间内，程序通常会限制在较窄的子程序激活窗口内；（</a:t>
            </a:r>
            <a:r>
              <a:rPr lang="en-US" altLang="zh-CN" b="1" dirty="0"/>
              <a:t>procedure</a:t>
            </a:r>
            <a:r>
              <a:rPr lang="zh-CN" altLang="en-US" b="1" dirty="0"/>
              <a:t>指：调用</a:t>
            </a:r>
            <a:r>
              <a:rPr lang="en-US" altLang="zh-CN" b="1" dirty="0"/>
              <a:t>-</a:t>
            </a:r>
            <a:r>
              <a:rPr lang="zh-CN" altLang="en-US" b="1" dirty="0"/>
              <a:t>返回过程，参考第</a:t>
            </a:r>
            <a:r>
              <a:rPr lang="en-US" altLang="zh-CN" b="1" dirty="0"/>
              <a:t>8</a:t>
            </a:r>
            <a:r>
              <a:rPr lang="zh-CN" altLang="en-US" b="1" dirty="0"/>
              <a:t>版教材图</a:t>
            </a:r>
            <a:r>
              <a:rPr lang="en-US" altLang="zh-CN" b="1" dirty="0"/>
              <a:t>4.21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迭代结构都是由较少的指令组成，这些指令一般都放在一起，迭代运行期间，程序集中在局部完成；（以</a:t>
            </a:r>
            <a:r>
              <a:rPr lang="zh-CN" altLang="en-US" b="1" dirty="0"/>
              <a:t>循环指令</a:t>
            </a:r>
            <a:r>
              <a:rPr lang="zh-CN" altLang="en-US" dirty="0"/>
              <a:t>为例，</a:t>
            </a:r>
            <a:r>
              <a:rPr lang="zh-CN" altLang="en-US" b="1" dirty="0"/>
              <a:t>板书</a:t>
            </a:r>
            <a:r>
              <a:rPr lang="zh-CN" altLang="en-US" dirty="0"/>
              <a:t>循环调用某函数）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数组</a:t>
            </a:r>
            <a:r>
              <a:rPr lang="en-US" altLang="zh-CN" dirty="0"/>
              <a:t>/</a:t>
            </a:r>
            <a:r>
              <a:rPr lang="zh-CN" altLang="en-US" dirty="0"/>
              <a:t>顺序存放的数据，集中在局部，访问具有局部性；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空间</a:t>
            </a:r>
            <a:r>
              <a:rPr lang="zh-CN" altLang="en-US" dirty="0"/>
              <a:t>局部性原理：存取</a:t>
            </a:r>
            <a:r>
              <a:rPr lang="zh-CN" altLang="en-US" b="1" dirty="0"/>
              <a:t>顺序位置</a:t>
            </a:r>
            <a:r>
              <a:rPr lang="zh-CN" altLang="en-US" dirty="0"/>
              <a:t>的倾向性；比如顺序取指令</a:t>
            </a:r>
            <a:r>
              <a:rPr lang="en-US" altLang="zh-CN" dirty="0"/>
              <a:t>PC+1</a:t>
            </a:r>
            <a:r>
              <a:rPr lang="zh-CN" altLang="en-US" dirty="0"/>
              <a:t>；处理表格数组 </a:t>
            </a:r>
            <a:r>
              <a:rPr lang="en-US" altLang="zh-CN" dirty="0"/>
              <a:t>for (</a:t>
            </a:r>
            <a:r>
              <a:rPr lang="en-US" altLang="zh-CN" dirty="0" err="1"/>
              <a:t>i</a:t>
            </a:r>
            <a:r>
              <a:rPr lang="en-US" altLang="zh-CN" dirty="0"/>
              <a:t>=0;i&lt;10;i++) b[</a:t>
            </a:r>
            <a:r>
              <a:rPr lang="en-US" altLang="zh-CN" dirty="0" err="1"/>
              <a:t>i</a:t>
            </a:r>
            <a:r>
              <a:rPr lang="en-US" altLang="zh-CN" dirty="0"/>
              <a:t>]=0;</a:t>
            </a:r>
          </a:p>
          <a:p>
            <a:endParaRPr lang="en-US" altLang="zh-CN" dirty="0"/>
          </a:p>
          <a:p>
            <a:r>
              <a:rPr lang="zh-CN" altLang="en-US" b="1" dirty="0"/>
              <a:t>时间</a:t>
            </a:r>
            <a:r>
              <a:rPr lang="zh-CN" altLang="en-US" dirty="0"/>
              <a:t>局部性原理：存取</a:t>
            </a:r>
            <a:r>
              <a:rPr lang="zh-CN" altLang="en-US" b="1" dirty="0"/>
              <a:t>最近位置</a:t>
            </a:r>
            <a:r>
              <a:rPr lang="zh-CN" altLang="en-US" dirty="0"/>
              <a:t>的倾向性；比如循环指令，重复执行同一个指令，</a:t>
            </a:r>
            <a:r>
              <a:rPr lang="en-US" altLang="zh-CN" dirty="0"/>
              <a:t>for (</a:t>
            </a:r>
            <a:r>
              <a:rPr lang="en-US" altLang="zh-CN" dirty="0" err="1"/>
              <a:t>i</a:t>
            </a:r>
            <a:r>
              <a:rPr lang="en-US" altLang="zh-CN" dirty="0"/>
              <a:t>=0;i&lt;10;i++) a=a+1;</a:t>
            </a:r>
          </a:p>
          <a:p>
            <a:endParaRPr lang="en-US" altLang="zh-CN" dirty="0"/>
          </a:p>
          <a:p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9768612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4292BCA9-ECD9-4314-B376-D7DC06643A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6C135E4-A1AF-42ED-91CF-514838AED976}" type="slidenum">
              <a:rPr lang="zh-CN" altLang="en-US" sz="1200" smtClean="0"/>
              <a:pPr/>
              <a:t>27</a:t>
            </a:fld>
            <a:endParaRPr lang="en-US" altLang="zh-CN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A702977C-4FCD-4F15-AAE6-51917CD74E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6A8A8062-F1B9-46D5-A1E6-B091D1D54B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zh-CN"/>
              <a:t>Catch:</a:t>
            </a:r>
            <a:r>
              <a:rPr lang="zh-CN" altLang="en-US"/>
              <a:t>高速缓存</a:t>
            </a:r>
            <a:endParaRPr lang="en-US" altLang="zh-CN"/>
          </a:p>
          <a:p>
            <a:endParaRPr lang="en-GB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A39B2DC7-F408-4B33-BF35-A4E35A029B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5F10764E-785E-41BF-BDC6-007EDB020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Fig 4.4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Tag</a:t>
            </a:r>
            <a:r>
              <a:rPr lang="zh-CN" altLang="en-US"/>
              <a:t>：标记</a:t>
            </a:r>
            <a:r>
              <a:rPr lang="en-US" altLang="zh-CN"/>
              <a:t>——Main Mem</a:t>
            </a:r>
            <a:r>
              <a:rPr lang="zh-CN" altLang="en-US"/>
              <a:t>的块数（</a:t>
            </a:r>
            <a:r>
              <a:rPr lang="en-US" altLang="zh-CN"/>
              <a:t>block</a:t>
            </a:r>
            <a:r>
              <a:rPr lang="zh-CN" altLang="en-US"/>
              <a:t>）多于</a:t>
            </a:r>
            <a:r>
              <a:rPr lang="en-US" altLang="zh-CN"/>
              <a:t>Cache</a:t>
            </a:r>
            <a:r>
              <a:rPr lang="zh-CN" altLang="en-US"/>
              <a:t>的行数（</a:t>
            </a:r>
            <a:r>
              <a:rPr lang="en-US" altLang="zh-CN"/>
              <a:t>line</a:t>
            </a:r>
            <a:r>
              <a:rPr lang="zh-CN" altLang="en-US"/>
              <a:t>），因此通过</a:t>
            </a:r>
            <a:r>
              <a:rPr lang="en-US" altLang="zh-CN"/>
              <a:t>tag</a:t>
            </a:r>
            <a:r>
              <a:rPr lang="zh-CN" altLang="en-US"/>
              <a:t>位来标识，是</a:t>
            </a:r>
            <a:r>
              <a:rPr lang="en-US" altLang="zh-CN"/>
              <a:t>main mem</a:t>
            </a:r>
            <a:r>
              <a:rPr lang="zh-CN" altLang="en-US"/>
              <a:t>中的哪个数据块；</a:t>
            </a:r>
            <a:endParaRPr lang="en-US" altLang="zh-CN"/>
          </a:p>
          <a:p>
            <a:r>
              <a:rPr lang="zh-CN" altLang="en-US" b="1"/>
              <a:t>板书公式： </a:t>
            </a:r>
            <a:r>
              <a:rPr lang="en-US" altLang="zh-CN" b="1"/>
              <a:t>M=2^n/K   ;C&lt;&lt;M  </a:t>
            </a:r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484F94FB-20C4-4351-A8CE-F981DDE86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22A7536-412A-4DA5-B4B7-7A447576699B}" type="slidenum">
              <a:rPr lang="zh-CN" altLang="en-US" sz="1200" smtClean="0"/>
              <a:pPr/>
              <a:t>28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631A09CE-3498-489E-939B-C0A22F5E31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000ED3A-D9FC-4C56-8777-16BA042F83A8}" type="slidenum">
              <a:rPr lang="zh-CN" altLang="en-US" sz="1200" smtClean="0"/>
              <a:pPr/>
              <a:t>29</a:t>
            </a:fld>
            <a:endParaRPr lang="en-US" altLang="zh-CN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1AA1F6B-7768-4AB2-9074-6A89EAC635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F7763A22-103D-42B0-9724-D95075D05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>
            <a:extLst>
              <a:ext uri="{FF2B5EF4-FFF2-40B4-BE49-F238E27FC236}">
                <a16:creationId xmlns:a16="http://schemas.microsoft.com/office/drawing/2014/main" id="{A8AAEFF6-97F5-4EFA-9E9D-8A892FD85B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EFB95E94-1F54-43F8-8DA1-3D6809476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solidFill>
                  <a:srgbClr val="FF0000"/>
                </a:solidFill>
              </a:rPr>
              <a:t>Fig 4.5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右边最后两个操作</a:t>
            </a:r>
            <a:r>
              <a:rPr lang="zh-CN" altLang="en-US" b="1"/>
              <a:t>并行</a:t>
            </a:r>
            <a:r>
              <a:rPr lang="zh-CN" altLang="en-US"/>
              <a:t>出现</a:t>
            </a:r>
          </a:p>
        </p:txBody>
      </p:sp>
      <p:sp>
        <p:nvSpPr>
          <p:cNvPr id="60420" name="灯片编号占位符 3">
            <a:extLst>
              <a:ext uri="{FF2B5EF4-FFF2-40B4-BE49-F238E27FC236}">
                <a16:creationId xmlns:a16="http://schemas.microsoft.com/office/drawing/2014/main" id="{9B9D2964-BE49-4727-849E-11C4902D0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011B94B-79E3-4E8C-92F2-75E480B09841}" type="slidenum">
              <a:rPr lang="zh-CN" altLang="en-US" sz="1200" smtClean="0"/>
              <a:pPr/>
              <a:t>30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AF15DB8B-C216-4D71-B50F-A5BD354E26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9ADBE0-E212-4446-BE05-B6A9393F54D8}" type="slidenum">
              <a:rPr lang="zh-CN" altLang="en-US" sz="1200" smtClean="0"/>
              <a:pPr/>
              <a:t>31</a:t>
            </a:fld>
            <a:endParaRPr lang="en-US" altLang="zh-CN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F4C014F7-1267-437B-AEA5-0EC4329F0D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ABAA8855-62FE-4A34-8ADC-F7027D32E4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solidFill>
                  <a:srgbClr val="FF0000"/>
                </a:solidFill>
              </a:rPr>
              <a:t>Fig 4.6 </a:t>
            </a:r>
            <a:r>
              <a:rPr lang="zh-CN" altLang="en-US">
                <a:solidFill>
                  <a:srgbClr val="FF0000"/>
                </a:solidFill>
              </a:rPr>
              <a:t>典型</a:t>
            </a:r>
            <a:r>
              <a:rPr lang="en-US" altLang="zh-CN">
                <a:solidFill>
                  <a:srgbClr val="FF0000"/>
                </a:solidFill>
              </a:rPr>
              <a:t>cache</a:t>
            </a:r>
            <a:r>
              <a:rPr lang="zh-CN" altLang="en-US">
                <a:solidFill>
                  <a:srgbClr val="FF0000"/>
                </a:solidFill>
              </a:rPr>
              <a:t>组织</a:t>
            </a:r>
          </a:p>
          <a:p>
            <a:r>
              <a:rPr lang="en-US" altLang="zh-CN"/>
              <a:t>Cache hit</a:t>
            </a:r>
            <a:r>
              <a:rPr lang="zh-CN" altLang="en-US"/>
              <a:t>： 两个</a:t>
            </a:r>
            <a:r>
              <a:rPr lang="en-US" altLang="zh-CN"/>
              <a:t>buffer </a:t>
            </a:r>
            <a:r>
              <a:rPr lang="zh-CN" altLang="en-US"/>
              <a:t>关闭</a:t>
            </a:r>
            <a:endParaRPr lang="en-US" altLang="zh-CN"/>
          </a:p>
          <a:p>
            <a:r>
              <a:rPr lang="en-US" altLang="zh-CN"/>
              <a:t>Cache miss</a:t>
            </a:r>
            <a:r>
              <a:rPr lang="zh-CN" altLang="en-US"/>
              <a:t>： 所要求地址加载到</a:t>
            </a:r>
            <a:r>
              <a:rPr lang="en-US" altLang="zh-CN"/>
              <a:t>system Bus</a:t>
            </a:r>
            <a:r>
              <a:rPr lang="zh-CN" altLang="en-US"/>
              <a:t>，数据通过</a:t>
            </a:r>
            <a:r>
              <a:rPr lang="en-US" altLang="zh-CN"/>
              <a:t>buffer</a:t>
            </a:r>
            <a:r>
              <a:rPr lang="zh-CN" altLang="en-US"/>
              <a:t>返回给</a:t>
            </a:r>
            <a:r>
              <a:rPr lang="en-US" altLang="zh-CN"/>
              <a:t>cache</a:t>
            </a:r>
            <a:r>
              <a:rPr lang="zh-CN" altLang="en-US"/>
              <a:t>和</a:t>
            </a:r>
            <a:r>
              <a:rPr lang="en-US" altLang="zh-CN"/>
              <a:t>processor</a:t>
            </a:r>
          </a:p>
          <a:p>
            <a:endParaRPr lang="en-US" altLang="zh-CN"/>
          </a:p>
          <a:p>
            <a:r>
              <a:rPr lang="zh-CN" altLang="en-US"/>
              <a:t>其他组织中，</a:t>
            </a:r>
            <a:r>
              <a:rPr lang="en-US" altLang="zh-CN"/>
              <a:t>cache miss</a:t>
            </a:r>
            <a:r>
              <a:rPr lang="zh-CN" altLang="en-US"/>
              <a:t>时，数据块先入</a:t>
            </a:r>
            <a:r>
              <a:rPr lang="en-US" altLang="zh-CN"/>
              <a:t>cache</a:t>
            </a:r>
            <a:r>
              <a:rPr lang="zh-CN" altLang="en-US"/>
              <a:t>，再由</a:t>
            </a:r>
            <a:r>
              <a:rPr lang="en-US" altLang="zh-CN"/>
              <a:t>cache</a:t>
            </a:r>
            <a:r>
              <a:rPr lang="zh-CN" altLang="en-US"/>
              <a:t>传给</a:t>
            </a:r>
            <a:r>
              <a:rPr lang="en-US" altLang="zh-CN"/>
              <a:t>processor</a:t>
            </a:r>
            <a:endParaRPr lang="en-GB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2544E02A-8626-4D8D-8601-C16CF3CE43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C1C880C-6780-41C0-8ECA-6FC959703F27}" type="slidenum">
              <a:rPr lang="zh-CN" altLang="en-US" sz="1200" smtClean="0"/>
              <a:pPr/>
              <a:t>32</a:t>
            </a:fld>
            <a:endParaRPr lang="en-US" altLang="zh-CN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667DAB3-3402-4AF5-A692-020D3A7EFA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4B9E69EC-1F48-4B5A-811F-AA1D1B018C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solidFill>
                  <a:srgbClr val="FF0000"/>
                </a:solidFill>
              </a:rPr>
              <a:t>Fig 4.6 </a:t>
            </a:r>
            <a:r>
              <a:rPr lang="zh-CN" altLang="en-US">
                <a:solidFill>
                  <a:srgbClr val="FF0000"/>
                </a:solidFill>
              </a:rPr>
              <a:t>典型</a:t>
            </a:r>
            <a:r>
              <a:rPr lang="en-US" altLang="zh-CN">
                <a:solidFill>
                  <a:srgbClr val="FF0000"/>
                </a:solidFill>
              </a:rPr>
              <a:t>cache</a:t>
            </a:r>
            <a:r>
              <a:rPr lang="zh-CN" altLang="en-US">
                <a:solidFill>
                  <a:srgbClr val="FF0000"/>
                </a:solidFill>
              </a:rPr>
              <a:t>组织</a:t>
            </a:r>
          </a:p>
          <a:p>
            <a:r>
              <a:rPr lang="en-US" altLang="zh-CN"/>
              <a:t>Cache hit</a:t>
            </a:r>
            <a:r>
              <a:rPr lang="zh-CN" altLang="en-US"/>
              <a:t>： 两个</a:t>
            </a:r>
            <a:r>
              <a:rPr lang="en-US" altLang="zh-CN"/>
              <a:t>buffer </a:t>
            </a:r>
            <a:r>
              <a:rPr lang="zh-CN" altLang="en-US"/>
              <a:t>关闭</a:t>
            </a:r>
            <a:endParaRPr lang="en-US" altLang="zh-CN"/>
          </a:p>
          <a:p>
            <a:r>
              <a:rPr lang="en-US" altLang="zh-CN"/>
              <a:t>Cache miss</a:t>
            </a:r>
            <a:r>
              <a:rPr lang="zh-CN" altLang="en-US"/>
              <a:t>： 所要求地址加载到</a:t>
            </a:r>
            <a:r>
              <a:rPr lang="en-US" altLang="zh-CN"/>
              <a:t>system Bus</a:t>
            </a:r>
            <a:r>
              <a:rPr lang="zh-CN" altLang="en-US"/>
              <a:t>，数据通过</a:t>
            </a:r>
            <a:r>
              <a:rPr lang="en-US" altLang="zh-CN"/>
              <a:t>buffer</a:t>
            </a:r>
            <a:r>
              <a:rPr lang="zh-CN" altLang="en-US"/>
              <a:t>返回给</a:t>
            </a:r>
            <a:r>
              <a:rPr lang="en-US" altLang="zh-CN"/>
              <a:t>cache</a:t>
            </a:r>
            <a:r>
              <a:rPr lang="zh-CN" altLang="en-US"/>
              <a:t>和</a:t>
            </a:r>
            <a:r>
              <a:rPr lang="en-US" altLang="zh-CN"/>
              <a:t>processor</a:t>
            </a:r>
          </a:p>
          <a:p>
            <a:endParaRPr lang="en-US" altLang="zh-CN"/>
          </a:p>
          <a:p>
            <a:r>
              <a:rPr lang="zh-CN" altLang="en-US"/>
              <a:t>其他组织中，</a:t>
            </a:r>
            <a:r>
              <a:rPr lang="en-US" altLang="zh-CN"/>
              <a:t>cache miss</a:t>
            </a:r>
            <a:r>
              <a:rPr lang="zh-CN" altLang="en-US"/>
              <a:t>时，数据块先入</a:t>
            </a:r>
            <a:r>
              <a:rPr lang="en-US" altLang="zh-CN"/>
              <a:t>cache</a:t>
            </a:r>
            <a:r>
              <a:rPr lang="zh-CN" altLang="en-US"/>
              <a:t>，再由</a:t>
            </a:r>
            <a:r>
              <a:rPr lang="en-US" altLang="zh-CN"/>
              <a:t>cache</a:t>
            </a:r>
            <a:r>
              <a:rPr lang="zh-CN" altLang="en-US"/>
              <a:t>传给</a:t>
            </a:r>
            <a:r>
              <a:rPr lang="en-US" altLang="zh-CN"/>
              <a:t>processor</a:t>
            </a:r>
            <a:endParaRPr lang="en-GB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B61E7972-4E79-4187-BC3D-D8A9338078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744C8D9-26C4-4CA6-A2B1-F4479D8F127F}" type="slidenum">
              <a:rPr lang="zh-CN" altLang="en-US" sz="1200" smtClean="0"/>
              <a:pPr/>
              <a:t>33</a:t>
            </a:fld>
            <a:endParaRPr lang="en-US" altLang="zh-CN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69C1B1BD-2378-49BF-80D5-026D0CD889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D0909092-395E-440C-8737-404454AD6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F7F8D6A7-37A0-4468-B04A-75435F283D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05DDC85-2A96-420F-A573-D7097FF317D0}" type="slidenum">
              <a:rPr lang="zh-CN" altLang="en-US" sz="1200" smtClean="0"/>
              <a:pPr/>
              <a:t>34</a:t>
            </a:fld>
            <a:endParaRPr lang="en-US" altLang="zh-CN" sz="12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CA4DF7C4-88EA-4D01-A2D3-7A9E11936B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54126CE0-5029-47A0-B573-F62CC3245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大多</a:t>
            </a:r>
            <a:r>
              <a:rPr lang="en-US" altLang="zh-CN" dirty="0"/>
              <a:t>CPU</a:t>
            </a:r>
            <a:r>
              <a:rPr lang="zh-CN" altLang="en-US" dirty="0"/>
              <a:t>支持虚拟内存，利用</a:t>
            </a:r>
            <a:r>
              <a:rPr lang="en-US" altLang="zh-CN" dirty="0"/>
              <a:t>MMU</a:t>
            </a:r>
            <a:r>
              <a:rPr lang="zh-CN" altLang="en-US" dirty="0"/>
              <a:t>把</a:t>
            </a:r>
            <a:r>
              <a:rPr lang="en-US" altLang="zh-CN" dirty="0"/>
              <a:t>virtual address</a:t>
            </a:r>
            <a:r>
              <a:rPr lang="zh-CN" altLang="en-US" dirty="0"/>
              <a:t>翻译成</a:t>
            </a:r>
            <a:r>
              <a:rPr lang="en-US" altLang="zh-CN" dirty="0"/>
              <a:t>physical address</a:t>
            </a:r>
          </a:p>
          <a:p>
            <a:r>
              <a:rPr lang="en-US" altLang="zh-CN" dirty="0"/>
              <a:t>Logical cache </a:t>
            </a:r>
            <a:r>
              <a:rPr lang="zh-CN" altLang="en-US" dirty="0"/>
              <a:t>优点：</a:t>
            </a:r>
            <a:r>
              <a:rPr lang="en-US" altLang="zh-CN" dirty="0"/>
              <a:t>faster</a:t>
            </a:r>
          </a:p>
          <a:p>
            <a:r>
              <a:rPr lang="zh-CN" altLang="en-US" dirty="0"/>
              <a:t>缺点：</a:t>
            </a:r>
            <a:r>
              <a:rPr lang="en-US" altLang="zh-CN" dirty="0"/>
              <a:t>add switch or bits </a:t>
            </a:r>
            <a:r>
              <a:rPr lang="zh-CN" altLang="en-US" dirty="0"/>
              <a:t>不同的应用程序虚拟地址都是</a:t>
            </a:r>
            <a:r>
              <a:rPr lang="en-US" altLang="zh-CN" dirty="0"/>
              <a:t>0</a:t>
            </a:r>
            <a:r>
              <a:rPr lang="zh-CN" altLang="en-US" dirty="0"/>
              <a:t>开始，但是对应于不同的物理地址，</a:t>
            </a:r>
            <a:endParaRPr lang="en-US" altLang="zh-CN" dirty="0"/>
          </a:p>
          <a:p>
            <a:r>
              <a:rPr lang="en-US" altLang="zh-CN" dirty="0"/>
              <a:t>Cache</a:t>
            </a:r>
            <a:r>
              <a:rPr lang="zh-CN" altLang="en-US" dirty="0"/>
              <a:t>必须利对不同应用程序，用开关刷新，或在每一</a:t>
            </a:r>
            <a:r>
              <a:rPr lang="en-US" altLang="zh-CN" dirty="0"/>
              <a:t>cache line</a:t>
            </a:r>
            <a:r>
              <a:rPr lang="zh-CN" altLang="en-US" dirty="0"/>
              <a:t>增加</a:t>
            </a:r>
            <a:r>
              <a:rPr lang="en-US" altLang="zh-CN" dirty="0"/>
              <a:t>bits</a:t>
            </a:r>
            <a:r>
              <a:rPr lang="zh-CN" altLang="en-US" dirty="0"/>
              <a:t>来标记是哪个虚拟地址。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70ED5214-3B00-4453-BADF-60F9CD9263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C6BA062-D5F8-421F-85BC-204462B1EB66}" type="slidenum">
              <a:rPr lang="zh-CN" altLang="en-US" sz="1200" smtClean="0"/>
              <a:pPr/>
              <a:t>35</a:t>
            </a:fld>
            <a:endParaRPr lang="en-US" altLang="zh-CN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D004B2B3-3E04-4F77-B526-1E7521F7BF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AD20CB8C-1912-4655-BE90-00083D301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Cache</a:t>
            </a:r>
            <a:r>
              <a:rPr lang="zh-CN" altLang="en-US"/>
              <a:t>的设计要素</a:t>
            </a:r>
            <a:endParaRPr lang="en-US" altLang="zh-CN"/>
          </a:p>
          <a:p>
            <a:r>
              <a:rPr lang="en-US" altLang="zh-CN"/>
              <a:t>Cache </a:t>
            </a:r>
            <a:r>
              <a:rPr lang="zh-CN" altLang="en-US"/>
              <a:t>容量：希望</a:t>
            </a:r>
            <a:r>
              <a:rPr lang="en-US" altLang="zh-CN"/>
              <a:t>cache</a:t>
            </a:r>
            <a:r>
              <a:rPr lang="zh-CN" altLang="en-US"/>
              <a:t>小</a:t>
            </a:r>
            <a:r>
              <a:rPr lang="en-US" altLang="zh-CN"/>
              <a:t>-〉price/bit</a:t>
            </a:r>
            <a:r>
              <a:rPr lang="zh-CN" altLang="en-US"/>
              <a:t>接近主存；</a:t>
            </a:r>
            <a:endParaRPr lang="en-US" altLang="zh-CN"/>
          </a:p>
          <a:p>
            <a:r>
              <a:rPr lang="en-US" altLang="zh-CN"/>
              <a:t>            </a:t>
            </a:r>
            <a:r>
              <a:rPr lang="zh-CN" altLang="en-US"/>
              <a:t>希望</a:t>
            </a:r>
            <a:r>
              <a:rPr lang="en-US" altLang="zh-CN"/>
              <a:t>cache</a:t>
            </a:r>
            <a:r>
              <a:rPr lang="zh-CN" altLang="en-US"/>
              <a:t>大</a:t>
            </a:r>
            <a:r>
              <a:rPr lang="en-US" altLang="zh-CN"/>
              <a:t>-〉</a:t>
            </a:r>
            <a:r>
              <a:rPr lang="zh-CN" altLang="en-US"/>
              <a:t>平均存取时间接近于单个</a:t>
            </a:r>
            <a:r>
              <a:rPr lang="en-US" altLang="zh-CN"/>
              <a:t>cache</a:t>
            </a:r>
            <a:r>
              <a:rPr lang="zh-CN" altLang="en-US"/>
              <a:t>，寻址电路越复杂。</a:t>
            </a:r>
            <a:endParaRPr lang="en-US" altLang="zh-CN"/>
          </a:p>
          <a:p>
            <a:r>
              <a:rPr lang="en-US" altLang="zh-CN"/>
              <a:t>            </a:t>
            </a:r>
            <a:r>
              <a:rPr lang="zh-CN" altLang="en-US"/>
              <a:t>没有最优的容量。</a:t>
            </a:r>
            <a:endParaRPr lang="en-US" altLang="zh-CN"/>
          </a:p>
          <a:p>
            <a:endParaRPr lang="en-GB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>
            <a:extLst>
              <a:ext uri="{FF2B5EF4-FFF2-40B4-BE49-F238E27FC236}">
                <a16:creationId xmlns:a16="http://schemas.microsoft.com/office/drawing/2014/main" id="{5AD69D95-F125-43D9-B487-CBDD6DAB7E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>
            <a:extLst>
              <a:ext uri="{FF2B5EF4-FFF2-40B4-BE49-F238E27FC236}">
                <a16:creationId xmlns:a16="http://schemas.microsoft.com/office/drawing/2014/main" id="{53C495DD-BFBB-4ABA-A5D3-E0991A216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2708" name="灯片编号占位符 3">
            <a:extLst>
              <a:ext uri="{FF2B5EF4-FFF2-40B4-BE49-F238E27FC236}">
                <a16:creationId xmlns:a16="http://schemas.microsoft.com/office/drawing/2014/main" id="{28E1BA08-3F3B-4DBA-9C22-C1931FBF7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85AC5AC-2A68-4DB1-8AFA-6A7CFD8E2386}" type="slidenum">
              <a:rPr lang="zh-CN" altLang="en-US" sz="1200" smtClean="0"/>
              <a:pPr/>
              <a:t>36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3D V-Cache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是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AMD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开发的一项新技术，采用业界首创的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Hybrid bond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加穿透硅通孔技术（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TSV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）工艺（互连密度是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2D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小芯片的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200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倍多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，是现有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3D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堆叠方案的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15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倍多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），可以让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L3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缓存垂直堆叠，在不改变处理器面积的前提下，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可用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L3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缓存（</a:t>
            </a:r>
            <a:r>
              <a:rPr kumimoji="1" lang="en-US" altLang="zh-CN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SRAM</a:t>
            </a:r>
            <a:r>
              <a:rPr kumimoji="1" lang="zh-CN" alt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）总数增加三倍。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3957FB-5981-4C74-AB0A-07D23C53E5E4}" type="slidenum">
              <a:rPr lang="zh-CN" altLang="en-US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31222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>
            <a:extLst>
              <a:ext uri="{FF2B5EF4-FFF2-40B4-BE49-F238E27FC236}">
                <a16:creationId xmlns:a16="http://schemas.microsoft.com/office/drawing/2014/main" id="{9FBC4C2E-2D6A-4C30-A53E-7D8DC0E1B1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>
            <a:extLst>
              <a:ext uri="{FF2B5EF4-FFF2-40B4-BE49-F238E27FC236}">
                <a16:creationId xmlns:a16="http://schemas.microsoft.com/office/drawing/2014/main" id="{F132458A-1314-4E0A-9E1E-C09902BE5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映射的概念来自数学；</a:t>
            </a:r>
            <a:endParaRPr lang="en-US" altLang="zh-CN"/>
          </a:p>
          <a:p>
            <a:r>
              <a:rPr lang="zh-CN" altLang="en-US"/>
              <a:t>映射算法：　主存较多的</a:t>
            </a:r>
            <a:r>
              <a:rPr lang="en-US" altLang="zh-CN"/>
              <a:t>block-〉cache</a:t>
            </a:r>
            <a:r>
              <a:rPr lang="zh-CN" altLang="en-US"/>
              <a:t>较少的</a:t>
            </a:r>
            <a:r>
              <a:rPr lang="en-US" altLang="zh-CN"/>
              <a:t>line</a:t>
            </a:r>
            <a:endParaRPr lang="zh-CN" altLang="en-US"/>
          </a:p>
        </p:txBody>
      </p:sp>
      <p:sp>
        <p:nvSpPr>
          <p:cNvPr id="74756" name="灯片编号占位符 3">
            <a:extLst>
              <a:ext uri="{FF2B5EF4-FFF2-40B4-BE49-F238E27FC236}">
                <a16:creationId xmlns:a16="http://schemas.microsoft.com/office/drawing/2014/main" id="{0AEED53D-029F-495B-ABA4-2650ACBC2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35B3200-49A0-44D7-9ACA-1CAF7442F48D}" type="slidenum">
              <a:rPr lang="zh-CN" altLang="en-US" sz="1200" smtClean="0"/>
              <a:pPr/>
              <a:t>38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>
            <a:extLst>
              <a:ext uri="{FF2B5EF4-FFF2-40B4-BE49-F238E27FC236}">
                <a16:creationId xmlns:a16="http://schemas.microsoft.com/office/drawing/2014/main" id="{B92C07F1-A7BE-4CD4-A5AD-0A0AFC32BE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>
            <a:extLst>
              <a:ext uri="{FF2B5EF4-FFF2-40B4-BE49-F238E27FC236}">
                <a16:creationId xmlns:a16="http://schemas.microsoft.com/office/drawing/2014/main" id="{3D61E2B5-9823-411F-910C-DC3259CFC1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俗话说</a:t>
            </a:r>
            <a:r>
              <a:rPr lang="en-US" altLang="zh-CN"/>
              <a:t>:“</a:t>
            </a:r>
            <a:r>
              <a:rPr lang="zh-CN" altLang="en-US"/>
              <a:t>没有规矩</a:t>
            </a:r>
            <a:r>
              <a:rPr lang="en-US" altLang="zh-CN"/>
              <a:t>,</a:t>
            </a:r>
            <a:r>
              <a:rPr lang="zh-CN" altLang="en-US"/>
              <a:t>不成方圆”，这里的规矩就是</a:t>
            </a:r>
            <a:r>
              <a:rPr lang="en-US" altLang="zh-CN"/>
              <a:t>mod</a:t>
            </a:r>
            <a:endParaRPr lang="zh-CN" altLang="en-US"/>
          </a:p>
        </p:txBody>
      </p:sp>
      <p:sp>
        <p:nvSpPr>
          <p:cNvPr id="76804" name="灯片编号占位符 3">
            <a:extLst>
              <a:ext uri="{FF2B5EF4-FFF2-40B4-BE49-F238E27FC236}">
                <a16:creationId xmlns:a16="http://schemas.microsoft.com/office/drawing/2014/main" id="{BB7ED559-46B5-4B31-9FDB-4D9900DB1C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748781E-E3CE-4DE8-ACAD-E646FA7DFA4C}" type="slidenum">
              <a:rPr lang="zh-CN" altLang="en-US" sz="1200" smtClean="0"/>
              <a:pPr/>
              <a:t>39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>
            <a:extLst>
              <a:ext uri="{FF2B5EF4-FFF2-40B4-BE49-F238E27FC236}">
                <a16:creationId xmlns:a16="http://schemas.microsoft.com/office/drawing/2014/main" id="{A99D8A43-DAAA-4EF8-9FCE-A0E113BB08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>
            <a:extLst>
              <a:ext uri="{FF2B5EF4-FFF2-40B4-BE49-F238E27FC236}">
                <a16:creationId xmlns:a16="http://schemas.microsoft.com/office/drawing/2014/main" id="{18776F1B-6E9C-40C0-A428-E4D9FCC3C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生命诚可贵 爱情价更高 若为自由故 两者皆可抛。匈牙利诗人裴多菲的诗歌</a:t>
            </a:r>
            <a:r>
              <a:rPr lang="en-US" altLang="zh-CN" dirty="0"/>
              <a:t>《</a:t>
            </a:r>
            <a:r>
              <a:rPr lang="zh-CN" altLang="en-US" dirty="0"/>
              <a:t>自由与爱情</a:t>
            </a:r>
            <a:r>
              <a:rPr lang="en-US" altLang="zh-CN" dirty="0"/>
              <a:t>》</a:t>
            </a:r>
          </a:p>
          <a:p>
            <a:r>
              <a:rPr lang="zh-CN" altLang="en-US" dirty="0"/>
              <a:t>电影</a:t>
            </a:r>
            <a:r>
              <a:rPr lang="en-US" altLang="zh-CN" dirty="0"/>
              <a:t>《</a:t>
            </a:r>
            <a:r>
              <a:rPr lang="zh-CN" altLang="en-US" dirty="0"/>
              <a:t>勇敢的心</a:t>
            </a:r>
            <a:r>
              <a:rPr lang="en-US" altLang="zh-CN" dirty="0"/>
              <a:t>》</a:t>
            </a:r>
            <a:r>
              <a:rPr lang="zh-CN" altLang="en-US" dirty="0"/>
              <a:t>最后一句台词“</a:t>
            </a:r>
            <a:r>
              <a:rPr lang="en-US" altLang="zh-CN" dirty="0"/>
              <a:t>freedom</a:t>
            </a:r>
            <a:r>
              <a:rPr lang="zh-CN" altLang="en-US" dirty="0"/>
              <a:t>”。</a:t>
            </a:r>
            <a:endParaRPr lang="en-US" altLang="zh-CN" dirty="0"/>
          </a:p>
          <a:p>
            <a:r>
              <a:rPr lang="zh-CN" altLang="en-US" dirty="0"/>
              <a:t>缺点：需要复杂电路来并行检查全部高速缓存行的标签。</a:t>
            </a:r>
          </a:p>
        </p:txBody>
      </p:sp>
      <p:sp>
        <p:nvSpPr>
          <p:cNvPr id="78852" name="灯片编号占位符 3">
            <a:extLst>
              <a:ext uri="{FF2B5EF4-FFF2-40B4-BE49-F238E27FC236}">
                <a16:creationId xmlns:a16="http://schemas.microsoft.com/office/drawing/2014/main" id="{34CDB154-6B72-4EC6-B8F2-4D9EDF7201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85C39BC-5313-4A5F-85B4-17E217282230}" type="slidenum">
              <a:rPr lang="zh-CN" altLang="en-US" sz="1200" smtClean="0"/>
              <a:pPr/>
              <a:t>40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>
            <a:extLst>
              <a:ext uri="{FF2B5EF4-FFF2-40B4-BE49-F238E27FC236}">
                <a16:creationId xmlns:a16="http://schemas.microsoft.com/office/drawing/2014/main" id="{586520CD-056E-4A27-84F8-A55A26B134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>
            <a:extLst>
              <a:ext uri="{FF2B5EF4-FFF2-40B4-BE49-F238E27FC236}">
                <a16:creationId xmlns:a16="http://schemas.microsoft.com/office/drawing/2014/main" id="{60551D64-8BB9-4879-9CCC-1DC9DD5F58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古代儒家思想中，一个重要的思想“中庸之道”。</a:t>
            </a:r>
          </a:p>
        </p:txBody>
      </p:sp>
      <p:sp>
        <p:nvSpPr>
          <p:cNvPr id="80900" name="灯片编号占位符 3">
            <a:extLst>
              <a:ext uri="{FF2B5EF4-FFF2-40B4-BE49-F238E27FC236}">
                <a16:creationId xmlns:a16="http://schemas.microsoft.com/office/drawing/2014/main" id="{ABC9F4A8-6FD6-4FE3-9595-CAB28A8FCE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3FFBC3B-0155-4FD3-8C31-E588E2B9BC84}" type="slidenum">
              <a:rPr lang="zh-CN" altLang="en-US" sz="1200" smtClean="0"/>
              <a:pPr/>
              <a:t>41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6E16B81D-86C5-4443-90D7-754C80C842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84FEA26-F79E-44B2-AA8F-57BA07C63224}" type="slidenum">
              <a:rPr lang="zh-CN" altLang="en-US" sz="1200" smtClean="0"/>
              <a:pPr/>
              <a:t>42</a:t>
            </a:fld>
            <a:endParaRPr lang="en-US" altLang="zh-CN" sz="12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A874054F-21F8-416F-B761-D6F9380149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8467032C-9F6F-4F09-84B6-1C30749BAC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注：二进制中 </a:t>
            </a:r>
            <a:r>
              <a:rPr lang="en-US" altLang="zh-CN"/>
              <a:t>2^10=1k, 2^20=1M;</a:t>
            </a:r>
          </a:p>
          <a:p>
            <a:endParaRPr lang="en-US" altLang="zh-CN"/>
          </a:p>
          <a:p>
            <a:r>
              <a:rPr lang="zh-CN" altLang="en-US" b="1"/>
              <a:t>板书示意</a:t>
            </a:r>
            <a:endParaRPr lang="en-US" altLang="zh-CN" b="1"/>
          </a:p>
          <a:p>
            <a:r>
              <a:rPr lang="en-US" altLang="zh-CN"/>
              <a:t>16k</a:t>
            </a:r>
            <a:r>
              <a:rPr lang="zh-CN" altLang="en-US"/>
              <a:t>（</a:t>
            </a:r>
            <a:r>
              <a:rPr lang="en-US" altLang="zh-CN"/>
              <a:t>2^14</a:t>
            </a:r>
            <a:r>
              <a:rPr lang="zh-CN" altLang="en-US"/>
              <a:t>）行的</a:t>
            </a:r>
            <a:r>
              <a:rPr lang="en-US" altLang="zh-CN"/>
              <a:t>Cache</a:t>
            </a:r>
            <a:r>
              <a:rPr lang="zh-CN" altLang="en-US"/>
              <a:t>，每行一个</a:t>
            </a:r>
            <a:r>
              <a:rPr lang="en-US" altLang="zh-CN"/>
              <a:t>block</a:t>
            </a:r>
            <a:r>
              <a:rPr lang="zh-CN" altLang="en-US"/>
              <a:t>（</a:t>
            </a:r>
            <a:r>
              <a:rPr lang="en-US" altLang="zh-CN"/>
              <a:t>4 bytes</a:t>
            </a:r>
            <a:r>
              <a:rPr lang="zh-CN" altLang="en-US"/>
              <a:t>）；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16M</a:t>
            </a:r>
            <a:r>
              <a:rPr lang="zh-CN" altLang="en-US"/>
              <a:t>（</a:t>
            </a:r>
            <a:r>
              <a:rPr lang="en-US" altLang="zh-CN"/>
              <a:t>2^24</a:t>
            </a:r>
            <a:r>
              <a:rPr lang="zh-CN" altLang="en-US"/>
              <a:t>）行的</a:t>
            </a:r>
            <a:r>
              <a:rPr lang="en-US" altLang="zh-CN"/>
              <a:t>main mem</a:t>
            </a:r>
            <a:r>
              <a:rPr lang="zh-CN" altLang="en-US"/>
              <a:t>，每行一个</a:t>
            </a:r>
            <a:r>
              <a:rPr lang="en-US" altLang="zh-CN"/>
              <a:t>byte</a:t>
            </a:r>
            <a:r>
              <a:rPr lang="zh-CN" altLang="en-US"/>
              <a:t>，每</a:t>
            </a:r>
            <a:r>
              <a:rPr lang="en-US" altLang="zh-CN"/>
              <a:t>4</a:t>
            </a:r>
            <a:r>
              <a:rPr lang="zh-CN" altLang="en-US"/>
              <a:t>行一个</a:t>
            </a:r>
            <a:r>
              <a:rPr lang="en-US" altLang="zh-CN"/>
              <a:t>block</a:t>
            </a:r>
            <a:r>
              <a:rPr lang="zh-CN" altLang="en-US"/>
              <a:t>，共有</a:t>
            </a:r>
            <a:r>
              <a:rPr lang="en-US" altLang="zh-CN"/>
              <a:t>4M</a:t>
            </a:r>
            <a:r>
              <a:rPr lang="zh-CN" altLang="en-US"/>
              <a:t>（</a:t>
            </a:r>
            <a:r>
              <a:rPr lang="en-US" altLang="zh-CN"/>
              <a:t>2^22</a:t>
            </a:r>
            <a:r>
              <a:rPr lang="zh-CN" altLang="en-US"/>
              <a:t>）个</a:t>
            </a:r>
            <a:r>
              <a:rPr lang="en-US" altLang="zh-CN"/>
              <a:t>block</a:t>
            </a:r>
            <a:r>
              <a:rPr lang="zh-CN" altLang="en-US"/>
              <a:t>；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GB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C48B3232-E935-435A-9965-525A1C727B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C0F593-1F72-4999-87FC-3C42FE41E39F}" type="slidenum">
              <a:rPr lang="zh-CN" altLang="en-US" sz="1200" smtClean="0"/>
              <a:pPr/>
              <a:t>43</a:t>
            </a:fld>
            <a:endParaRPr lang="en-US" altLang="zh-CN" sz="1200"/>
          </a:p>
        </p:txBody>
      </p:sp>
      <p:sp>
        <p:nvSpPr>
          <p:cNvPr id="84995" name="Rectangle 1026">
            <a:extLst>
              <a:ext uri="{FF2B5EF4-FFF2-40B4-BE49-F238E27FC236}">
                <a16:creationId xmlns:a16="http://schemas.microsoft.com/office/drawing/2014/main" id="{4E09DEED-709D-4186-B8B8-7A7DA46D27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1027">
            <a:extLst>
              <a:ext uri="{FF2B5EF4-FFF2-40B4-BE49-F238E27FC236}">
                <a16:creationId xmlns:a16="http://schemas.microsoft.com/office/drawing/2014/main" id="{AD0B064A-3FEA-41BD-8079-4695336D70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435D6814-DC04-44D7-8112-CC4B8574B2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1E28EBB-F550-4618-AE48-FD07250E4C32}" type="slidenum">
              <a:rPr lang="zh-CN" altLang="en-US" sz="1200" smtClean="0"/>
              <a:pPr/>
              <a:t>44</a:t>
            </a:fld>
            <a:endParaRPr lang="en-US" altLang="zh-CN" sz="12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7507B69D-36F7-41CA-B322-8B8195E500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683AF7E-6D77-428D-80ED-2F7AB0FFE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7F9D6564-DC0E-4D69-873E-AF3B890F0E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C75143-FC36-4B1C-A317-5581F4E86EC9}" type="slidenum">
              <a:rPr lang="zh-CN" altLang="en-US" sz="1200" smtClean="0"/>
              <a:pPr/>
              <a:t>45</a:t>
            </a:fld>
            <a:endParaRPr lang="en-US" altLang="zh-CN" sz="1200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F92883A7-5EBC-4DC6-AF3E-D54BD7B6B9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7F7957E4-B413-4A6C-9878-F70618AB3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EE366C6E-CA6F-47C3-B3B7-6CDBC963CA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50D6D7D-DED9-4841-AF3C-335BE339CA63}" type="slidenum">
              <a:rPr lang="zh-CN" altLang="en-US" sz="1200" smtClean="0"/>
              <a:pPr/>
              <a:t>46</a:t>
            </a:fld>
            <a:endParaRPr lang="en-US" altLang="zh-CN" sz="120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345A4E7B-70E1-4C2C-8C72-BB71574D49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9932A09A-47C3-4A5A-9A3E-ED1984D0A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A330610-135D-4467-BBB4-796B19F1C2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AE6EFE2-7CF7-4650-A311-B4C053038C2A}" type="slidenum">
              <a:rPr lang="zh-CN" altLang="en-US" sz="1200" smtClean="0"/>
              <a:pPr/>
              <a:t>47</a:t>
            </a:fld>
            <a:endParaRPr lang="en-US" altLang="zh-CN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8BD92ED-6F6A-428A-9F9B-E83C10783F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24E19F4-C817-4913-9EDF-09FA3C5E8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solidFill>
                  <a:srgbClr val="FF0000"/>
                </a:solidFill>
              </a:rPr>
              <a:t>Fig 4.9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983045B3-5251-4920-A601-7D1A4D7F87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EFE50B7-4F57-4350-878E-8AFD1B2589DB}" type="slidenum">
              <a:rPr lang="zh-CN" altLang="en-US" sz="1200" smtClean="0"/>
              <a:pPr/>
              <a:t>48</a:t>
            </a:fld>
            <a:endParaRPr lang="en-US" altLang="zh-CN" sz="120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D8645A0E-09B7-4294-A1DA-E7D93A1EEE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4FC9F881-8BCB-4C69-BC98-3D2282EA4C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solidFill>
                  <a:srgbClr val="FF0000"/>
                </a:solidFill>
              </a:rPr>
              <a:t>Fig 4.8</a:t>
            </a:r>
          </a:p>
          <a:p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首先分清 地址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数据；</a:t>
            </a:r>
          </a:p>
          <a:p>
            <a:endParaRPr lang="en-GB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4AF8C210-EEA6-445A-8EF2-1F8E172DD8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C402693-E74D-4C0C-88AD-C3EA9FA55DE9}" type="slidenum">
              <a:rPr lang="zh-CN" altLang="en-US" sz="1200" smtClean="0"/>
              <a:pPr/>
              <a:t>50</a:t>
            </a:fld>
            <a:endParaRPr lang="en-US" altLang="zh-CN" sz="120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00A50CE2-D894-498A-9B7E-8B0D598FBC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217A5565-E25D-452C-932B-DD610D7B60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AF283D11-7D75-480B-955B-EE53C8AF27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D2E0743-0FA4-463F-BA4E-A69DB6B525A4}" type="slidenum">
              <a:rPr lang="zh-CN" altLang="en-US" sz="1200" smtClean="0"/>
              <a:pPr/>
              <a:t>51</a:t>
            </a:fld>
            <a:endParaRPr lang="en-US" altLang="zh-CN" sz="1200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CB09B5D8-E943-42B6-8DEF-84F80D0505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CA317609-F6D8-4479-9817-8AB068C552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/>
              <a:t>关联映射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en-US" altLang="zh-CN" dirty="0"/>
              <a:t>Expensive</a:t>
            </a:r>
            <a:r>
              <a:rPr lang="zh-CN" altLang="en-US" dirty="0"/>
              <a:t>：</a:t>
            </a:r>
            <a:endParaRPr lang="en-US" altLang="zh-CN" dirty="0"/>
          </a:p>
          <a:p>
            <a:pPr marL="228600" indent="-228600">
              <a:buFontTx/>
              <a:buAutoNum type="arabicPeriod"/>
              <a:defRPr/>
            </a:pPr>
            <a:r>
              <a:rPr lang="en-US" altLang="zh-CN" dirty="0"/>
              <a:t>Hardware complex</a:t>
            </a:r>
          </a:p>
          <a:p>
            <a:pPr marL="228600" indent="-228600">
              <a:buFontTx/>
              <a:buAutoNum type="arabicPeriod"/>
              <a:defRPr/>
            </a:pPr>
            <a:r>
              <a:rPr lang="en-US" altLang="zh-CN" dirty="0"/>
              <a:t>Time consuming</a:t>
            </a:r>
          </a:p>
          <a:p>
            <a:pPr>
              <a:defRPr/>
            </a:pPr>
            <a:endParaRPr lang="en-GB" altLang="zh-CN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2ABE2D5A-5FF8-482E-AA9E-039A4ECB04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C5854F2-008F-43EE-A886-977BBCE669A6}" type="slidenum">
              <a:rPr lang="zh-CN" altLang="en-US" sz="1200" smtClean="0"/>
              <a:pPr/>
              <a:t>52</a:t>
            </a:fld>
            <a:endParaRPr lang="en-US" altLang="zh-CN" sz="1200"/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C01C4FD6-86AD-4565-990C-CE4AAA6DFD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695C725A-5A49-424A-ADA9-96AFECE4A1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4.9</a:t>
            </a:r>
          </a:p>
          <a:p>
            <a:r>
              <a:rPr lang="zh-CN" altLang="en-US"/>
              <a:t>全关联</a:t>
            </a:r>
            <a:r>
              <a:rPr lang="en-US" altLang="zh-CN"/>
              <a:t>cache</a:t>
            </a:r>
            <a:r>
              <a:rPr lang="zh-CN" altLang="en-US"/>
              <a:t>组织</a:t>
            </a:r>
            <a:endParaRPr lang="en-GB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BA379A8D-ED83-4B0A-BC50-01192FBB06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498AFEF-4269-48BA-BE64-CCAD3A01FA79}" type="slidenum">
              <a:rPr lang="zh-CN" altLang="en-US" sz="1200" smtClean="0"/>
              <a:pPr/>
              <a:t>53</a:t>
            </a:fld>
            <a:endParaRPr lang="en-US" altLang="zh-CN" sz="1200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6E89EB85-E11A-462E-AA12-349256F84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A309B36D-0E54-48B5-A7C3-D8E41EE800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FFFFF8/4=3FFFFE</a:t>
            </a:r>
          </a:p>
          <a:p>
            <a:r>
              <a:rPr lang="en-US" altLang="zh-CN" dirty="0"/>
              <a:t>FFFFFC/4=3FFFFF</a:t>
            </a:r>
            <a:endParaRPr lang="en-GB" altLang="zh-CN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09A38D8B-F502-4D62-85D9-0C5F3B8D10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41B12C0-DAEA-4DC9-B736-269262288D6E}" type="slidenum">
              <a:rPr lang="zh-CN" altLang="en-US" sz="1200" smtClean="0"/>
              <a:pPr/>
              <a:t>54</a:t>
            </a:fld>
            <a:endParaRPr lang="en-US" altLang="zh-CN" sz="1200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D63BCA33-6E41-49AD-B382-C478F88FB1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507241DF-F2B3-4649-9959-AC7E46784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A63348FE-D82C-48D3-A35D-610E28D686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4CAA783-9D00-4515-8514-0E167D3188E0}" type="slidenum">
              <a:rPr lang="zh-CN" altLang="en-US" sz="1200" smtClean="0"/>
              <a:pPr/>
              <a:t>56</a:t>
            </a:fld>
            <a:endParaRPr lang="en-US" altLang="zh-CN" sz="1200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A6D22E12-602B-44C4-AAC9-D94B1324BD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F7BC2ADD-749C-4E67-A863-5F9A69F293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组相关映射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Line-cache</a:t>
            </a:r>
          </a:p>
          <a:p>
            <a:endParaRPr lang="en-US" altLang="zh-CN"/>
          </a:p>
          <a:p>
            <a:r>
              <a:rPr lang="en-US" altLang="zh-CN"/>
              <a:t>Line-set-cache</a:t>
            </a:r>
            <a:endParaRPr lang="en-GB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3F8095E3-5A49-4324-9268-BE23021A8D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D78B075-7D31-4660-A3AA-36E5E0C48763}" type="slidenum">
              <a:rPr lang="zh-CN" altLang="en-US" sz="1200" smtClean="0"/>
              <a:pPr/>
              <a:t>58</a:t>
            </a:fld>
            <a:endParaRPr lang="en-US" altLang="zh-CN" sz="1200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B3133F46-8686-46F7-9A3D-340B904681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CE2E015A-38AB-4764-9C15-3A7A7300A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0D5523D4-CDE5-4E9F-8DA2-F22A85F2C5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E347B3-0439-4624-A052-B15D7EC568D2}" type="slidenum">
              <a:rPr lang="zh-CN" altLang="en-US" sz="1200" smtClean="0"/>
              <a:pPr/>
              <a:t>59</a:t>
            </a:fld>
            <a:endParaRPr lang="en-US" altLang="zh-CN" sz="1200"/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227397D7-BF43-448B-855D-80DF5096E0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115251ED-5C88-4705-8A77-5ADB93EB98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地址</a:t>
            </a:r>
            <a:r>
              <a:rPr lang="en-US" altLang="zh-CN" dirty="0"/>
              <a:t>0x002000/4=0x800</a:t>
            </a:r>
          </a:p>
          <a:p>
            <a:r>
              <a:rPr lang="en-US" altLang="zh-CN" dirty="0"/>
              <a:t>0x800 mod 0x2000=0x800</a:t>
            </a:r>
            <a:endParaRPr lang="en-GB" altLang="zh-CN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01BFAA94-3FA3-4DED-8738-FDCAD03519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3A41A29-35EC-4445-A3AA-FC93AC7054BB}" type="slidenum">
              <a:rPr lang="zh-CN" altLang="en-US" sz="1200" smtClean="0"/>
              <a:pPr/>
              <a:t>60</a:t>
            </a:fld>
            <a:endParaRPr lang="en-US" altLang="zh-CN" sz="1200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90EBD9A2-877D-4A2E-A6FB-E49E5DAB0B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6898A74C-B467-4A7A-A963-B86158CF1C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>
              <a:buFontTx/>
              <a:buAutoNum type="arabicPeriod"/>
            </a:pPr>
            <a:r>
              <a:rPr lang="zh-CN" altLang="en-US"/>
              <a:t>首先，对</a:t>
            </a:r>
            <a:r>
              <a:rPr lang="en-US" altLang="zh-CN"/>
              <a:t>main mem</a:t>
            </a:r>
            <a:r>
              <a:rPr lang="zh-CN" altLang="en-US"/>
              <a:t>进行划分，对组数</a:t>
            </a:r>
            <a:r>
              <a:rPr lang="en-US" altLang="zh-CN"/>
              <a:t>set No</a:t>
            </a:r>
            <a:r>
              <a:rPr lang="zh-CN" altLang="en-US"/>
              <a:t>取模；每个小块可以对应完整的一路；</a:t>
            </a:r>
            <a:endParaRPr lang="en-US" altLang="zh-CN"/>
          </a:p>
          <a:p>
            <a:pPr marL="228600" indent="-228600">
              <a:buFontTx/>
              <a:buAutoNum type="arabicPeriod"/>
            </a:pPr>
            <a:r>
              <a:rPr lang="en-US" altLang="zh-CN"/>
              <a:t>Main mem</a:t>
            </a:r>
            <a:r>
              <a:rPr lang="zh-CN" altLang="en-US"/>
              <a:t>中每个小块的第</a:t>
            </a:r>
            <a:r>
              <a:rPr lang="en-US" altLang="zh-CN"/>
              <a:t>i</a:t>
            </a:r>
            <a:r>
              <a:rPr lang="zh-CN" altLang="en-US"/>
              <a:t>行就对应</a:t>
            </a:r>
            <a:r>
              <a:rPr lang="en-US" altLang="zh-CN"/>
              <a:t>cache</a:t>
            </a:r>
            <a:r>
              <a:rPr lang="zh-CN" altLang="en-US"/>
              <a:t>中的第</a:t>
            </a:r>
            <a:r>
              <a:rPr lang="en-US" altLang="zh-CN"/>
              <a:t>i</a:t>
            </a:r>
            <a:r>
              <a:rPr lang="zh-CN" altLang="en-US"/>
              <a:t>组，这是确定的</a:t>
            </a:r>
            <a:r>
              <a:rPr lang="en-US" altLang="zh-CN"/>
              <a:t>determined</a:t>
            </a:r>
            <a:r>
              <a:rPr lang="zh-CN" altLang="en-US"/>
              <a:t>；</a:t>
            </a:r>
            <a:endParaRPr lang="en-US" altLang="zh-CN"/>
          </a:p>
          <a:p>
            <a:pPr marL="228600" indent="-228600">
              <a:buFontTx/>
              <a:buAutoNum type="arabicPeriod"/>
            </a:pPr>
            <a:r>
              <a:rPr lang="zh-CN" altLang="en-US"/>
              <a:t>至于第</a:t>
            </a:r>
            <a:r>
              <a:rPr lang="en-US" altLang="zh-CN"/>
              <a:t>i</a:t>
            </a:r>
            <a:r>
              <a:rPr lang="zh-CN" altLang="en-US"/>
              <a:t>组中的第几路是不确定的，</a:t>
            </a:r>
            <a:endParaRPr lang="en-US" altLang="zh-CN"/>
          </a:p>
          <a:p>
            <a:pPr marL="228600" indent="-228600">
              <a:buFontTx/>
              <a:buAutoNum type="arabicPeriod"/>
            </a:pPr>
            <a:r>
              <a:rPr lang="zh-CN" altLang="en-US"/>
              <a:t>需要</a:t>
            </a:r>
            <a:r>
              <a:rPr lang="en-US" altLang="zh-CN"/>
              <a:t>tag</a:t>
            </a:r>
            <a:r>
              <a:rPr lang="zh-CN" altLang="en-US"/>
              <a:t>来确定是否</a:t>
            </a:r>
            <a:r>
              <a:rPr lang="en-US" altLang="zh-CN"/>
              <a:t>hit</a:t>
            </a:r>
            <a:r>
              <a:rPr lang="zh-CN" altLang="en-US"/>
              <a:t>；</a:t>
            </a:r>
            <a:endParaRPr lang="en-US" altLang="zh-CN"/>
          </a:p>
          <a:p>
            <a:pPr marL="228600" indent="-228600">
              <a:buFontTx/>
              <a:buAutoNum type="arabicPeriod"/>
            </a:pPr>
            <a:endParaRPr lang="en-US" altLang="zh-CN"/>
          </a:p>
          <a:p>
            <a:pPr marL="228600" indent="-228600">
              <a:buFontTx/>
              <a:buAutoNum type="arabicPeriod"/>
            </a:pPr>
            <a:endParaRPr lang="en-GB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3386046A-05AE-435E-BAA2-0A9455F148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EC852B4-8068-401E-B8E4-71BC068E4EAF}" type="slidenum">
              <a:rPr lang="zh-CN" altLang="en-US" sz="1200" smtClean="0"/>
              <a:pPr/>
              <a:t>61</a:t>
            </a:fld>
            <a:endParaRPr lang="en-US" altLang="zh-CN" sz="1200"/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0EB6566B-8566-4EF3-8AE3-C81F03CD4F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16668C53-3191-4042-BFCE-75B95EBDD2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1800"/>
              <a:t>图</a:t>
            </a:r>
            <a:r>
              <a:rPr lang="en-US" altLang="zh-CN" sz="1800"/>
              <a:t>4.11</a:t>
            </a:r>
            <a:endParaRPr lang="en-GB" altLang="zh-CN" sz="1800"/>
          </a:p>
          <a:p>
            <a:r>
              <a:rPr lang="en-GB" altLang="zh-CN" sz="1800"/>
              <a:t>K</a:t>
            </a:r>
            <a:r>
              <a:rPr lang="zh-CN" altLang="en-US" sz="1800"/>
              <a:t>路，表示每个</a:t>
            </a:r>
            <a:r>
              <a:rPr lang="en-US" altLang="zh-CN" sz="1800"/>
              <a:t>set</a:t>
            </a:r>
            <a:r>
              <a:rPr lang="zh-CN" altLang="en-US" sz="1800"/>
              <a:t>中有</a:t>
            </a:r>
            <a:r>
              <a:rPr lang="en-US" altLang="zh-CN" sz="1800"/>
              <a:t>k</a:t>
            </a:r>
            <a:r>
              <a:rPr lang="zh-CN" altLang="en-US" sz="1800"/>
              <a:t>行，每次比较</a:t>
            </a:r>
            <a:r>
              <a:rPr lang="en-US" altLang="zh-CN" sz="1800"/>
              <a:t>tag</a:t>
            </a:r>
            <a:r>
              <a:rPr lang="zh-CN" altLang="en-US" sz="1800"/>
              <a:t>位的时候只需要比较这</a:t>
            </a:r>
            <a:r>
              <a:rPr lang="en-US" altLang="zh-CN" sz="1800"/>
              <a:t>k</a:t>
            </a:r>
            <a:r>
              <a:rPr lang="zh-CN" altLang="en-US" sz="1800"/>
              <a:t>行就可以了；</a:t>
            </a:r>
            <a:endParaRPr lang="en-GB" altLang="zh-CN" sz="18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幻灯片图像占位符 1">
            <a:extLst>
              <a:ext uri="{FF2B5EF4-FFF2-40B4-BE49-F238E27FC236}">
                <a16:creationId xmlns:a16="http://schemas.microsoft.com/office/drawing/2014/main" id="{ABC6019B-AEF3-47F7-91C3-08E2D12137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备注占位符 2">
            <a:extLst>
              <a:ext uri="{FF2B5EF4-FFF2-40B4-BE49-F238E27FC236}">
                <a16:creationId xmlns:a16="http://schemas.microsoft.com/office/drawing/2014/main" id="{F727F429-9A74-45FF-8409-D716892DE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路组相关映射，提高命中率的思考：</a:t>
            </a:r>
            <a:endParaRPr lang="en-US" altLang="zh-CN"/>
          </a:p>
          <a:p>
            <a:r>
              <a:rPr lang="zh-CN" altLang="en-US"/>
              <a:t>为两条可能被频繁调用，而又具有同一组号（</a:t>
            </a:r>
            <a:r>
              <a:rPr lang="en-US" altLang="zh-CN"/>
              <a:t>set number</a:t>
            </a:r>
            <a:r>
              <a:rPr lang="zh-CN" altLang="en-US"/>
              <a:t>）的指令提供了同时位于</a:t>
            </a:r>
            <a:r>
              <a:rPr lang="en-US" altLang="zh-CN"/>
              <a:t>cache </a:t>
            </a:r>
            <a:r>
              <a:rPr lang="zh-CN" altLang="en-US"/>
              <a:t>的可能；避免了</a:t>
            </a:r>
            <a:r>
              <a:rPr lang="en-US" altLang="zh-CN"/>
              <a:t>direct map</a:t>
            </a:r>
            <a:r>
              <a:rPr lang="zh-CN" altLang="en-US"/>
              <a:t>中需要反复访问内存的情况；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4</a:t>
            </a:r>
            <a:r>
              <a:rPr lang="zh-CN" altLang="en-US"/>
              <a:t>路组相关，只是提高了一些；再增加组数，已经基本不提高性能了；</a:t>
            </a:r>
          </a:p>
        </p:txBody>
      </p:sp>
      <p:sp>
        <p:nvSpPr>
          <p:cNvPr id="121860" name="灯片编号占位符 3">
            <a:extLst>
              <a:ext uri="{FF2B5EF4-FFF2-40B4-BE49-F238E27FC236}">
                <a16:creationId xmlns:a16="http://schemas.microsoft.com/office/drawing/2014/main" id="{03B20833-E54C-4BB3-B6D6-C1FC56033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4E54754-0A95-4408-A13F-C137AA673584}" type="slidenum">
              <a:rPr lang="zh-CN" altLang="en-US" sz="1200" smtClean="0"/>
              <a:pPr/>
              <a:t>63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幻灯片图像占位符 1">
            <a:extLst>
              <a:ext uri="{FF2B5EF4-FFF2-40B4-BE49-F238E27FC236}">
                <a16:creationId xmlns:a16="http://schemas.microsoft.com/office/drawing/2014/main" id="{42774A6D-9667-4153-A7A1-98D448B1C9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备注占位符 2">
            <a:extLst>
              <a:ext uri="{FF2B5EF4-FFF2-40B4-BE49-F238E27FC236}">
                <a16:creationId xmlns:a16="http://schemas.microsoft.com/office/drawing/2014/main" id="{D5209A43-1A06-41C1-80E9-A55202F1E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路组相关映射，提高命中率的思考：</a:t>
            </a:r>
            <a:endParaRPr lang="en-US" altLang="zh-CN"/>
          </a:p>
          <a:p>
            <a:r>
              <a:rPr lang="zh-CN" altLang="en-US"/>
              <a:t>为两条可能被频繁调用，而又具有同一组号（</a:t>
            </a:r>
            <a:r>
              <a:rPr lang="en-US" altLang="zh-CN"/>
              <a:t>set number</a:t>
            </a:r>
            <a:r>
              <a:rPr lang="zh-CN" altLang="en-US"/>
              <a:t>）的指令提供了同时位于</a:t>
            </a:r>
            <a:r>
              <a:rPr lang="en-US" altLang="zh-CN"/>
              <a:t>cache </a:t>
            </a:r>
            <a:r>
              <a:rPr lang="zh-CN" altLang="en-US"/>
              <a:t>的可能；避免了</a:t>
            </a:r>
            <a:r>
              <a:rPr lang="en-US" altLang="zh-CN"/>
              <a:t>direct map</a:t>
            </a:r>
            <a:r>
              <a:rPr lang="zh-CN" altLang="en-US"/>
              <a:t>中需要反复访问内存的情况；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4</a:t>
            </a:r>
            <a:r>
              <a:rPr lang="zh-CN" altLang="en-US"/>
              <a:t>路组相关，只是提高了一些；再增加组数，已经基本不提高性能了；</a:t>
            </a:r>
          </a:p>
        </p:txBody>
      </p:sp>
      <p:sp>
        <p:nvSpPr>
          <p:cNvPr id="123908" name="灯片编号占位符 3">
            <a:extLst>
              <a:ext uri="{FF2B5EF4-FFF2-40B4-BE49-F238E27FC236}">
                <a16:creationId xmlns:a16="http://schemas.microsoft.com/office/drawing/2014/main" id="{DDE2230F-D8B4-4D7A-89AA-0FFF4158F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C5F528F-367C-44A7-B3BC-40665081760B}" type="slidenum">
              <a:rPr lang="zh-CN" altLang="en-US" sz="1200" smtClean="0"/>
              <a:pPr/>
              <a:t>64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幻灯片图像占位符 1">
            <a:extLst>
              <a:ext uri="{FF2B5EF4-FFF2-40B4-BE49-F238E27FC236}">
                <a16:creationId xmlns:a16="http://schemas.microsoft.com/office/drawing/2014/main" id="{EFAB26BD-3077-466E-8307-7445141B38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备注占位符 2">
            <a:extLst>
              <a:ext uri="{FF2B5EF4-FFF2-40B4-BE49-F238E27FC236}">
                <a16:creationId xmlns:a16="http://schemas.microsoft.com/office/drawing/2014/main" id="{D2B322D2-7742-4E41-B483-B255909CEF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Cache size </a:t>
            </a:r>
            <a:r>
              <a:rPr lang="zh-CN" altLang="en-US"/>
              <a:t>增大到</a:t>
            </a:r>
            <a:r>
              <a:rPr lang="en-US" altLang="zh-CN"/>
              <a:t>32k bytes</a:t>
            </a:r>
            <a:r>
              <a:rPr lang="zh-CN" altLang="en-US"/>
              <a:t>后</a:t>
            </a:r>
            <a:r>
              <a:rPr lang="en-US" altLang="zh-CN"/>
              <a:t>hit ratio</a:t>
            </a:r>
            <a:r>
              <a:rPr lang="zh-CN" altLang="en-US"/>
              <a:t>没有明显提高了。</a:t>
            </a:r>
          </a:p>
        </p:txBody>
      </p:sp>
      <p:sp>
        <p:nvSpPr>
          <p:cNvPr id="125956" name="灯片编号占位符 3">
            <a:extLst>
              <a:ext uri="{FF2B5EF4-FFF2-40B4-BE49-F238E27FC236}">
                <a16:creationId xmlns:a16="http://schemas.microsoft.com/office/drawing/2014/main" id="{46F75759-73CE-4D7A-BC3B-6540352346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9C60B9C-648A-49B6-8C6F-3CCE4643FAFC}" type="slidenum">
              <a:rPr lang="zh-CN" altLang="en-US" sz="1200" smtClean="0"/>
              <a:pPr/>
              <a:t>65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3AFD0944-8667-4F8F-923B-31BF6A577B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12178D8-ECC9-4314-9422-307696A58DA7}" type="slidenum">
              <a:rPr lang="zh-CN" altLang="en-US" sz="1200" smtClean="0"/>
              <a:pPr/>
              <a:t>66</a:t>
            </a:fld>
            <a:endParaRPr lang="en-US" altLang="zh-CN" sz="1200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31F135F1-71B4-4098-BCF9-0A2344F601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8702A1A9-2456-4DE2-8CE7-3A2814A198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6D93298C-3A3A-4672-A9E4-244F5EE2B6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F8C9708-0E3B-46B2-B006-7799A105ED4B}" type="slidenum">
              <a:rPr lang="zh-CN" altLang="en-US" sz="1200" smtClean="0"/>
              <a:pPr/>
              <a:t>67</a:t>
            </a:fld>
            <a:endParaRPr lang="en-US" altLang="zh-CN" sz="1200"/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D45FD9DC-0739-4168-B7E0-6638DE0D2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D509DFEA-5A61-428B-9DBD-2892601041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zh-CN" sz="1800" b="1" i="0" u="none" strike="noStrike" baseline="0">
                <a:latin typeface="TimesTenLTStd-Bold"/>
              </a:rPr>
              <a:t>Least recently </a:t>
            </a:r>
            <a:r>
              <a:rPr lang="en-US" altLang="zh-CN" sz="1800" b="1" i="0" u="none" strike="noStrike" baseline="0" dirty="0">
                <a:latin typeface="TimesTenLTStd-Bold"/>
              </a:rPr>
              <a:t>used (LRU)</a:t>
            </a:r>
            <a:r>
              <a:rPr lang="en-US" altLang="zh-CN" sz="1800" b="0" i="0" u="none" strike="noStrike" baseline="0" dirty="0">
                <a:latin typeface="TimesTenLTStd-Roman"/>
              </a:rPr>
              <a:t>: Replace that block in the set that has been in the cache longest</a:t>
            </a:r>
          </a:p>
          <a:p>
            <a:pPr algn="l"/>
            <a:r>
              <a:rPr lang="en-US" altLang="zh-CN" sz="1800" b="0" i="0" u="none" strike="noStrike" baseline="0" dirty="0">
                <a:latin typeface="TimesTenLTStd-Roman"/>
              </a:rPr>
              <a:t>with no reference to it.</a:t>
            </a:r>
            <a:endParaRPr lang="en-GB" altLang="zh-CN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CFF95CB5-19C5-49AD-B31C-44BC4630A2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08E177-4BED-415B-8665-2299FA76064E}" type="slidenum">
              <a:rPr lang="zh-CN" altLang="en-US" sz="1200" smtClean="0"/>
              <a:pPr/>
              <a:t>69</a:t>
            </a:fld>
            <a:endParaRPr lang="en-US" altLang="zh-CN" sz="1200"/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5DCE0A03-BD8C-44C3-A740-D983A0C2BD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468FFE10-7185-4D46-9ADD-ECCC4E76BA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旧块在</a:t>
            </a:r>
            <a:r>
              <a:rPr lang="en-US" altLang="zh-CN" dirty="0"/>
              <a:t>Cache</a:t>
            </a:r>
            <a:r>
              <a:rPr lang="zh-CN" altLang="en-US" dirty="0"/>
              <a:t>被修改，则主存也必须同步修改后，新块才能去</a:t>
            </a:r>
            <a:r>
              <a:rPr lang="en-US" altLang="zh-CN" dirty="0"/>
              <a:t>cache</a:t>
            </a:r>
            <a:r>
              <a:rPr lang="zh-CN" altLang="en-US" dirty="0"/>
              <a:t>替换旧块；</a:t>
            </a:r>
            <a:endParaRPr lang="en-US" altLang="zh-CN" dirty="0"/>
          </a:p>
          <a:p>
            <a:endParaRPr lang="en-GB" altLang="zh-CN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0FD1F786-8F74-47A0-8213-16CCC9F178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E158F8C-9A8B-48EC-81F3-C774F281C7D4}" type="slidenum">
              <a:rPr lang="zh-CN" altLang="en-US" sz="1200" smtClean="0"/>
              <a:pPr/>
              <a:t>70</a:t>
            </a:fld>
            <a:endParaRPr lang="en-US" altLang="zh-CN" sz="1200"/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AD9D101A-5872-4399-A35C-FDD6D14723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21084E08-7849-4091-9FDC-3645535A61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Cache</a:t>
            </a:r>
            <a:r>
              <a:rPr lang="zh-CN" altLang="en-US"/>
              <a:t>被修改，则主存也必须同步修改后，才能替换该</a:t>
            </a:r>
            <a:r>
              <a:rPr lang="en-US" altLang="zh-CN"/>
              <a:t>cache</a:t>
            </a:r>
            <a:r>
              <a:rPr lang="zh-CN" altLang="en-US"/>
              <a:t>；</a:t>
            </a:r>
            <a:endParaRPr lang="en-US" altLang="zh-CN"/>
          </a:p>
          <a:p>
            <a:endParaRPr lang="en-GB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0C4723C9-9A43-480C-9002-23B130A5E1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7E12051-6CE7-4145-A1A4-F0799654E3F5}" type="slidenum">
              <a:rPr lang="zh-CN" altLang="en-US" sz="1200" smtClean="0"/>
              <a:pPr/>
              <a:t>71</a:t>
            </a:fld>
            <a:endParaRPr lang="en-US" altLang="zh-CN" sz="1200"/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24F16A56-823F-4ECF-830E-E5D8E03A99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44983232-7699-4FCE-8364-62076FBAF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84EB3604-D904-423C-B2D5-520975C3C8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03E89E5-ED92-4514-9D5C-24F636885A83}" type="slidenum">
              <a:rPr lang="zh-CN" altLang="en-US" sz="1200" smtClean="0"/>
              <a:pPr/>
              <a:t>72</a:t>
            </a:fld>
            <a:endParaRPr lang="en-US" altLang="zh-CN" sz="1200"/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B6A73F3F-DD11-4AF6-A02B-FA27E0752D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4D626AD6-8E19-4984-B48D-E25FD3FE1A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zh-CN"/>
              <a:t>Update</a:t>
            </a:r>
            <a:r>
              <a:rPr lang="zh-CN" altLang="en-US"/>
              <a:t>在</a:t>
            </a:r>
            <a:r>
              <a:rPr lang="en-US" altLang="zh-CN"/>
              <a:t>cache</a:t>
            </a:r>
            <a:r>
              <a:rPr lang="zh-CN" altLang="en-US"/>
              <a:t>中完成，并有</a:t>
            </a:r>
            <a:r>
              <a:rPr lang="en-US" altLang="zh-CN"/>
              <a:t>set</a:t>
            </a:r>
            <a:r>
              <a:rPr lang="zh-CN" altLang="en-US"/>
              <a:t>位标记，以确定是否写回</a:t>
            </a:r>
            <a:r>
              <a:rPr lang="en-US" altLang="zh-CN"/>
              <a:t>main mem</a:t>
            </a:r>
            <a:r>
              <a:rPr lang="zh-CN" altLang="en-US"/>
              <a:t>；</a:t>
            </a:r>
            <a:endParaRPr lang="en-GB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幻灯片图像占位符 1">
            <a:extLst>
              <a:ext uri="{FF2B5EF4-FFF2-40B4-BE49-F238E27FC236}">
                <a16:creationId xmlns:a16="http://schemas.microsoft.com/office/drawing/2014/main" id="{188B4803-1BD3-47EF-8214-42392DB61B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备注占位符 2">
            <a:extLst>
              <a:ext uri="{FF2B5EF4-FFF2-40B4-BE49-F238E27FC236}">
                <a16:creationId xmlns:a16="http://schemas.microsoft.com/office/drawing/2014/main" id="{677C7192-DF35-4C31-AFB0-0FF27F494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第一张图：多个</a:t>
            </a:r>
            <a:r>
              <a:rPr lang="en-US" altLang="zh-CN"/>
              <a:t>cache</a:t>
            </a:r>
            <a:r>
              <a:rPr lang="zh-CN" altLang="en-US"/>
              <a:t>共享主存总线，某个</a:t>
            </a:r>
            <a:r>
              <a:rPr lang="en-US" altLang="zh-CN"/>
              <a:t>cache</a:t>
            </a:r>
            <a:r>
              <a:rPr lang="zh-CN" altLang="en-US"/>
              <a:t>字被修改的话，其他</a:t>
            </a:r>
            <a:r>
              <a:rPr lang="en-US" altLang="zh-CN"/>
              <a:t>cache</a:t>
            </a:r>
            <a:r>
              <a:rPr lang="zh-CN" altLang="en-US"/>
              <a:t>中这个字与主存中这个字就无效。</a:t>
            </a:r>
          </a:p>
        </p:txBody>
      </p:sp>
      <p:sp>
        <p:nvSpPr>
          <p:cNvPr id="142340" name="灯片编号占位符 3">
            <a:extLst>
              <a:ext uri="{FF2B5EF4-FFF2-40B4-BE49-F238E27FC236}">
                <a16:creationId xmlns:a16="http://schemas.microsoft.com/office/drawing/2014/main" id="{AA6685CA-B80F-40A2-9B56-73140E044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7519E3A-93E0-422A-8A6A-7C299EC655E1}" type="slidenum">
              <a:rPr lang="zh-CN" altLang="en-US" sz="1200" smtClean="0"/>
              <a:pPr/>
              <a:t>74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幻灯片图像占位符 1">
            <a:extLst>
              <a:ext uri="{FF2B5EF4-FFF2-40B4-BE49-F238E27FC236}">
                <a16:creationId xmlns:a16="http://schemas.microsoft.com/office/drawing/2014/main" id="{66AA9595-B809-4A01-86AD-0CC7EF4F9D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备注占位符 2">
            <a:extLst>
              <a:ext uri="{FF2B5EF4-FFF2-40B4-BE49-F238E27FC236}">
                <a16:creationId xmlns:a16="http://schemas.microsoft.com/office/drawing/2014/main" id="{124AF126-2FB2-4534-BE23-66E2F2C88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没有确定的值，当块太大时，导致替换，从而</a:t>
            </a:r>
            <a:r>
              <a:rPr lang="en-US" altLang="zh-CN"/>
              <a:t>hit</a:t>
            </a:r>
            <a:r>
              <a:rPr lang="zh-CN" altLang="en-US"/>
              <a:t>降低；</a:t>
            </a:r>
          </a:p>
        </p:txBody>
      </p:sp>
      <p:sp>
        <p:nvSpPr>
          <p:cNvPr id="144388" name="灯片编号占位符 3">
            <a:extLst>
              <a:ext uri="{FF2B5EF4-FFF2-40B4-BE49-F238E27FC236}">
                <a16:creationId xmlns:a16="http://schemas.microsoft.com/office/drawing/2014/main" id="{FAE57CB4-8477-4BBA-B308-73BDE5920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7AEE6E6-8854-46B5-BBAD-EE8589C672A9}" type="slidenum">
              <a:rPr lang="zh-CN" altLang="en-US" sz="1200" smtClean="0"/>
              <a:pPr/>
              <a:t>75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>
            <a:extLst>
              <a:ext uri="{FF2B5EF4-FFF2-40B4-BE49-F238E27FC236}">
                <a16:creationId xmlns:a16="http://schemas.microsoft.com/office/drawing/2014/main" id="{FF449F48-A087-41AD-8440-B8BDAC2A77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514600"/>
            <a:ext cx="81534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689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533400"/>
            <a:ext cx="7721600" cy="1905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028950"/>
            <a:ext cx="6400800" cy="1771650"/>
          </a:xfrm>
        </p:spPr>
        <p:txBody>
          <a:bodyPr/>
          <a:lstStyle>
            <a:lvl1pPr marL="0" indent="0">
              <a:buFontTx/>
              <a:buNone/>
              <a:defRPr>
                <a:latin typeface="Arial Black" pitchFamily="34" charset="0"/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A2A4F-6C54-445F-9EBC-6121CDCCA2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11200" y="6229350"/>
            <a:ext cx="1930400" cy="5143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5E574E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01FB8-F820-4391-B744-17546A0621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49600" y="6229350"/>
            <a:ext cx="2844800" cy="5143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5E574E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65D699-6538-433E-A843-98C67734B9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604000" y="6229350"/>
            <a:ext cx="1828800" cy="5143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5E574E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33DCE6E-888D-4A5C-8A7F-4DCA8B2F2C41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61110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97692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693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132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066800"/>
            <a:ext cx="40132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72771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80461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7986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0166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01968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28318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19049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8600" y="152400"/>
            <a:ext cx="2057400" cy="6553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6400" y="152400"/>
            <a:ext cx="6019800" cy="6553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03981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152400"/>
            <a:ext cx="8204200" cy="838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13200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2800" y="1066800"/>
            <a:ext cx="4013200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1023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152400"/>
            <a:ext cx="8204200" cy="838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457200" y="1066800"/>
            <a:ext cx="4013200" cy="5638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22800" y="1066800"/>
            <a:ext cx="4013200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57710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3C4AE30-E809-4215-8AE4-38AFDAA36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152400"/>
            <a:ext cx="8204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8F958A3-793C-4E2A-BD6C-C57D42EB8C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1788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1028" name="Line 4">
            <a:extLst>
              <a:ext uri="{FF2B5EF4-FFF2-40B4-BE49-F238E27FC236}">
                <a16:creationId xmlns:a16="http://schemas.microsoft.com/office/drawing/2014/main" id="{BC8A0BD7-C91C-4BFC-BF15-FB1F03986A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990600"/>
            <a:ext cx="81534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44" r:id="rId2"/>
    <p:sldLayoutId id="2147484045" r:id="rId3"/>
    <p:sldLayoutId id="2147484046" r:id="rId4"/>
    <p:sldLayoutId id="2147484047" r:id="rId5"/>
    <p:sldLayoutId id="2147484048" r:id="rId6"/>
    <p:sldLayoutId id="2147484049" r:id="rId7"/>
    <p:sldLayoutId id="2147484050" r:id="rId8"/>
    <p:sldLayoutId id="2147484051" r:id="rId9"/>
    <p:sldLayoutId id="2147484052" r:id="rId10"/>
    <p:sldLayoutId id="2147484053" r:id="rId11"/>
    <p:sldLayoutId id="2147484054" r:id="rId12"/>
    <p:sldLayoutId id="2147484055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—"/>
        <a:defRPr kumimoji="1"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+"/>
        <a:defRPr kumimoji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o"/>
        <a:defRPr kumimoji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o"/>
        <a:defRPr kumimoji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o"/>
        <a:defRPr kumimoji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o"/>
        <a:defRPr kumimoji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o"/>
        <a:defRPr kumimoji="1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2.xml"/><Relationship Id="rId7" Type="http://schemas.openxmlformats.org/officeDocument/2006/relationships/diagramColors" Target="../diagrams/colors1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.png"/><Relationship Id="rId5" Type="http://schemas.openxmlformats.org/officeDocument/2006/relationships/diagramLayout" Target="../diagrams/layout1.xml"/><Relationship Id="rId10" Type="http://schemas.openxmlformats.org/officeDocument/2006/relationships/oleObject" Target="../embeddings/oleObject1.bin"/><Relationship Id="rId4" Type="http://schemas.openxmlformats.org/officeDocument/2006/relationships/diagramData" Target="../diagrams/data1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mage:Computer_storage_types.sv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notesSlide" Target="../notesSlides/notesSlide44.xml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5.emf"/><Relationship Id="rId5" Type="http://schemas.openxmlformats.org/officeDocument/2006/relationships/image" Target="../media/image43.wmf"/><Relationship Id="rId4" Type="http://schemas.openxmlformats.org/officeDocument/2006/relationships/oleObject" Target="../embeddings/oleObject4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56.wmf"/><Relationship Id="rId4" Type="http://schemas.openxmlformats.org/officeDocument/2006/relationships/oleObject" Target="../embeddings/oleObject6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e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emf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8">
            <a:extLst>
              <a:ext uri="{FF2B5EF4-FFF2-40B4-BE49-F238E27FC236}">
                <a16:creationId xmlns:a16="http://schemas.microsoft.com/office/drawing/2014/main" id="{BFA8F21F-0767-4E68-B07C-48F8B00D6D0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William Stallings </a:t>
            </a:r>
            <a:br>
              <a:rPr lang="en-GB" altLang="zh-CN" dirty="0">
                <a:ea typeface="宋体" panose="02010600030101010101" pitchFamily="2" charset="-122"/>
              </a:rPr>
            </a:br>
            <a:r>
              <a:rPr lang="en-GB" altLang="zh-CN" dirty="0">
                <a:ea typeface="宋体" panose="02010600030101010101" pitchFamily="2" charset="-122"/>
              </a:rPr>
              <a:t>Computer Organization </a:t>
            </a:r>
            <a:br>
              <a:rPr lang="en-GB" altLang="zh-CN" dirty="0">
                <a:ea typeface="宋体" panose="02010600030101010101" pitchFamily="2" charset="-122"/>
              </a:rPr>
            </a:br>
            <a:r>
              <a:rPr lang="en-GB" altLang="zh-CN" dirty="0">
                <a:ea typeface="宋体" panose="02010600030101010101" pitchFamily="2" charset="-122"/>
              </a:rPr>
              <a:t>and Architecture</a:t>
            </a:r>
            <a:br>
              <a:rPr lang="en-GB" altLang="zh-CN" dirty="0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10</a:t>
            </a:r>
            <a:r>
              <a:rPr lang="en-GB" altLang="zh-CN">
                <a:ea typeface="宋体" panose="02010600030101010101" pitchFamily="2" charset="-122"/>
              </a:rPr>
              <a:t>th</a:t>
            </a:r>
            <a:r>
              <a:rPr lang="en-GB" altLang="zh-CN" dirty="0">
                <a:ea typeface="宋体" panose="02010600030101010101" pitchFamily="2" charset="-122"/>
              </a:rPr>
              <a:t> Edition</a:t>
            </a:r>
          </a:p>
        </p:txBody>
      </p:sp>
      <p:sp>
        <p:nvSpPr>
          <p:cNvPr id="5123" name="Rectangle 19">
            <a:extLst>
              <a:ext uri="{FF2B5EF4-FFF2-40B4-BE49-F238E27FC236}">
                <a16:creationId xmlns:a16="http://schemas.microsoft.com/office/drawing/2014/main" id="{E122E0AA-D013-4525-91AD-B5024685A3E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Chapter 4</a:t>
            </a:r>
          </a:p>
          <a:p>
            <a:r>
              <a:rPr lang="en-GB" altLang="zh-CN">
                <a:ea typeface="宋体" panose="02010600030101010101" pitchFamily="2" charset="-122"/>
              </a:rPr>
              <a:t>Cache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916EE233-260E-4126-B850-61ED87CB56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Review</a:t>
            </a:r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2D2998CE-7563-45F1-BFDF-F7C0EB418A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71033" y="1124744"/>
          <a:ext cx="4906888" cy="2146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172" name="文本框 4">
            <a:extLst>
              <a:ext uri="{FF2B5EF4-FFF2-40B4-BE49-F238E27FC236}">
                <a16:creationId xmlns:a16="http://schemas.microsoft.com/office/drawing/2014/main" id="{55269C48-59B5-48E4-97C7-275CF61AB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1484313"/>
            <a:ext cx="1501775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173" name="图片 5">
            <a:extLst>
              <a:ext uri="{FF2B5EF4-FFF2-40B4-BE49-F238E27FC236}">
                <a16:creationId xmlns:a16="http://schemas.microsoft.com/office/drawing/2014/main" id="{354690FD-0682-4195-AED3-CF20BF433B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1484313"/>
            <a:ext cx="1901825" cy="157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矩形 6">
            <a:extLst>
              <a:ext uri="{FF2B5EF4-FFF2-40B4-BE49-F238E27FC236}">
                <a16:creationId xmlns:a16="http://schemas.microsoft.com/office/drawing/2014/main" id="{C3522585-CCC3-462A-9027-E4869F07D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650" y="1484313"/>
            <a:ext cx="2128838" cy="1385887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u="sng">
                <a:latin typeface="Times New Roman" panose="02020603050405020304" pitchFamily="18" charset="0"/>
                <a:ea typeface="宋体" panose="02010600030101010101" pitchFamily="2" charset="-122"/>
              </a:rPr>
              <a:t>how features are implemented</a:t>
            </a:r>
          </a:p>
        </p:txBody>
      </p:sp>
      <p:sp>
        <p:nvSpPr>
          <p:cNvPr id="7175" name="矩形 7">
            <a:extLst>
              <a:ext uri="{FF2B5EF4-FFF2-40B4-BE49-F238E27FC236}">
                <a16:creationId xmlns:a16="http://schemas.microsoft.com/office/drawing/2014/main" id="{368BF69D-23EC-41E0-A320-3F3D8462B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3090863"/>
            <a:ext cx="20113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Instruction set,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addressing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176" name="对象 1">
            <a:extLst>
              <a:ext uri="{FF2B5EF4-FFF2-40B4-BE49-F238E27FC236}">
                <a16:creationId xmlns:a16="http://schemas.microsoft.com/office/drawing/2014/main" id="{D14EACF9-958F-4B18-8768-1D1CFBB5E9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4538" y="3933825"/>
          <a:ext cx="3355975" cy="270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Bitmap Image" r:id="rId10" imgW="5563377" imgH="4476190" progId="PBrush">
                  <p:embed/>
                </p:oleObj>
              </mc:Choice>
              <mc:Fallback>
                <p:oleObj name="Bitmap Image" r:id="rId10" imgW="5563377" imgH="4476190" progId="PBrush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3933825"/>
                        <a:ext cx="3355975" cy="270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7" name="Picture 7" descr="bridge">
            <a:extLst>
              <a:ext uri="{FF2B5EF4-FFF2-40B4-BE49-F238E27FC236}">
                <a16:creationId xmlns:a16="http://schemas.microsoft.com/office/drawing/2014/main" id="{13704566-F34B-48E4-8FCD-FFDC93D11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183063"/>
            <a:ext cx="3313112" cy="2376487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8" name="矩形 1">
            <a:extLst>
              <a:ext uri="{FF2B5EF4-FFF2-40B4-BE49-F238E27FC236}">
                <a16:creationId xmlns:a16="http://schemas.microsoft.com/office/drawing/2014/main" id="{0DBA530A-8761-4401-910E-52815BB24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9138" y="4037013"/>
            <a:ext cx="22320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>
              <a:spcBef>
                <a:spcPct val="0"/>
              </a:spcBef>
              <a:buClrTx/>
              <a:buFontTx/>
              <a:buNone/>
            </a:pPr>
            <a:r>
              <a:rPr kumimoji="0" lang="en-GB" altLang="zh-CN">
                <a:latin typeface="Times New Roman" panose="02020603050405020304" pitchFamily="18" charset="0"/>
                <a:ea typeface="宋体" panose="02010600030101010101" pitchFamily="2" charset="-122"/>
              </a:rPr>
              <a:t>Is there a multiply instruction?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B8DE1B29-E202-404E-B27E-A4ABAB5141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Review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19" name="文本框 4">
            <a:extLst>
              <a:ext uri="{FF2B5EF4-FFF2-40B4-BE49-F238E27FC236}">
                <a16:creationId xmlns:a16="http://schemas.microsoft.com/office/drawing/2014/main" id="{EF2BA81B-1467-4604-B31D-9EDFFB578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1484313"/>
            <a:ext cx="1501775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77098D04-0EC9-415B-AB6A-7D08FD917947}"/>
              </a:ext>
            </a:extLst>
          </p:cNvPr>
          <p:cNvGraphicFramePr/>
          <p:nvPr/>
        </p:nvGraphicFramePr>
        <p:xfrm>
          <a:off x="869149" y="1699994"/>
          <a:ext cx="4320480" cy="2398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221" name="矩形 10">
            <a:extLst>
              <a:ext uri="{FF2B5EF4-FFF2-40B4-BE49-F238E27FC236}">
                <a16:creationId xmlns:a16="http://schemas.microsoft.com/office/drawing/2014/main" id="{6A85CD44-9149-4EBA-8C48-1F5CEE630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04900"/>
            <a:ext cx="7932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The </a:t>
            </a:r>
            <a:r>
              <a:rPr kumimoji="0"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hierarchical</a:t>
            </a:r>
            <a:r>
              <a:rPr kumimoji="0"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nature of most complex systems</a:t>
            </a:r>
            <a:endParaRPr kumimoji="0" lang="zh-CN" altLang="en-US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B9C1D6-DBEC-4653-A2EC-831D017383E4}"/>
              </a:ext>
            </a:extLst>
          </p:cNvPr>
          <p:cNvSpPr/>
          <p:nvPr/>
        </p:nvSpPr>
        <p:spPr>
          <a:xfrm>
            <a:off x="5569249" y="1872406"/>
            <a:ext cx="3395240" cy="181588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2800" kern="0" dirty="0">
                <a:ea typeface="宋体" panose="02010600030101010101" pitchFamily="2" charset="-122"/>
              </a:rPr>
              <a:t>At each level, the designer is concerned with </a:t>
            </a:r>
            <a:r>
              <a:rPr lang="en-US" altLang="zh-CN" sz="2800" b="1" kern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ea typeface="宋体" panose="02010600030101010101" pitchFamily="2" charset="-122"/>
              </a:rPr>
              <a:t>structure</a:t>
            </a:r>
            <a:r>
              <a:rPr lang="en-US" altLang="zh-CN" sz="2800" kern="0" dirty="0">
                <a:ea typeface="宋体" panose="02010600030101010101" pitchFamily="2" charset="-122"/>
              </a:rPr>
              <a:t> and </a:t>
            </a:r>
            <a:r>
              <a:rPr lang="en-US" altLang="zh-CN" sz="2800" b="1" kern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reflection blurRad="6350" stA="55000" endA="300" endPos="45500" dir="5400000" sy="-100000" algn="bl" rotWithShape="0"/>
                </a:effectLst>
                <a:ea typeface="宋体" panose="02010600030101010101" pitchFamily="2" charset="-122"/>
              </a:rPr>
              <a:t>function</a:t>
            </a:r>
            <a:r>
              <a:rPr lang="en-US" altLang="zh-CN" sz="2800" kern="0" dirty="0"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9223" name="矩形 12">
            <a:extLst>
              <a:ext uri="{FF2B5EF4-FFF2-40B4-BE49-F238E27FC236}">
                <a16:creationId xmlns:a16="http://schemas.microsoft.com/office/drawing/2014/main" id="{3C89834F-B165-45D1-B6C6-1819D9170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337050"/>
            <a:ext cx="38909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400" u="sng">
                <a:latin typeface="Times New Roman" panose="02020603050405020304" pitchFamily="18" charset="0"/>
                <a:ea typeface="宋体" panose="02010600030101010101" pitchFamily="2" charset="-122"/>
              </a:rPr>
              <a:t>Structure</a:t>
            </a:r>
            <a:r>
              <a:rPr kumimoji="0" lang="en-GB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is </a:t>
            </a:r>
            <a:r>
              <a:rPr kumimoji="0" lang="en-GB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the way </a:t>
            </a:r>
            <a:r>
              <a:rPr kumimoji="0" lang="en-GB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in which components are interrelated.</a:t>
            </a:r>
          </a:p>
        </p:txBody>
      </p:sp>
      <p:sp>
        <p:nvSpPr>
          <p:cNvPr id="9224" name="矩形 13">
            <a:extLst>
              <a:ext uri="{FF2B5EF4-FFF2-40B4-BE49-F238E27FC236}">
                <a16:creationId xmlns:a16="http://schemas.microsoft.com/office/drawing/2014/main" id="{78C19D14-29E3-4B46-9021-A741EBF43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5084763"/>
            <a:ext cx="42402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400" u="sng">
                <a:latin typeface="Times New Roman" panose="02020603050405020304" pitchFamily="18" charset="0"/>
                <a:ea typeface="宋体" panose="02010600030101010101" pitchFamily="2" charset="-122"/>
              </a:rPr>
              <a:t>Function</a:t>
            </a:r>
            <a:r>
              <a:rPr kumimoji="0" lang="en-GB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is the </a:t>
            </a:r>
            <a:r>
              <a:rPr kumimoji="0" lang="en-GB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operation</a:t>
            </a:r>
            <a:r>
              <a:rPr kumimoji="0" lang="en-GB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of individual components as part of the structure.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81F5CD-A118-438C-8431-C75A88C07577}"/>
              </a:ext>
            </a:extLst>
          </p:cNvPr>
          <p:cNvSpPr/>
          <p:nvPr/>
        </p:nvSpPr>
        <p:spPr>
          <a:xfrm>
            <a:off x="5422900" y="4378325"/>
            <a:ext cx="3654425" cy="193833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All computer functions are:</a:t>
            </a:r>
          </a:p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1) Data processing</a:t>
            </a:r>
          </a:p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2) Data storage</a:t>
            </a:r>
          </a:p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3) Data movement</a:t>
            </a:r>
          </a:p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4) Control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9241471-7227-4D3C-A9DF-560D0DF3700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4213" y="2276475"/>
            <a:ext cx="0" cy="1411288"/>
          </a:xfrm>
          <a:prstGeom prst="straightConnector1">
            <a:avLst/>
          </a:prstGeom>
          <a:noFill/>
          <a:ln w="47625" algn="ctr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0F539651-B37D-4A91-9F4C-7A4BEDBF721D}"/>
              </a:ext>
            </a:extLst>
          </p:cNvPr>
          <p:cNvSpPr/>
          <p:nvPr/>
        </p:nvSpPr>
        <p:spPr>
          <a:xfrm>
            <a:off x="0" y="2201769"/>
            <a:ext cx="86914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kern="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ea typeface="宋体" panose="02010600030101010101" pitchFamily="2" charset="-122"/>
              </a:rPr>
              <a:t>Top</a:t>
            </a:r>
          </a:p>
          <a:p>
            <a:pPr algn="ctr">
              <a:defRPr/>
            </a:pPr>
            <a:r>
              <a:rPr lang="en-US" altLang="zh-CN" kern="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ea typeface="宋体" panose="02010600030101010101" pitchFamily="2" charset="-122"/>
              </a:rPr>
              <a:t>-</a:t>
            </a:r>
          </a:p>
          <a:p>
            <a:pPr>
              <a:defRPr/>
            </a:pPr>
            <a:r>
              <a:rPr lang="en-US" altLang="zh-CN" kern="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ea typeface="宋体" panose="02010600030101010101" pitchFamily="2" charset="-122"/>
              </a:rPr>
              <a:t>down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151ED3E-940B-4797-89B6-B4BB8B8140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Consider from key points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297BE2E5-7DF2-43E0-9E9A-65E20F8FE1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What is the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hierarchical organization </a:t>
            </a:r>
            <a:r>
              <a:rPr lang="en-US" altLang="zh-CN">
                <a:ea typeface="宋体" panose="02010600030101010101" pitchFamily="2" charset="-122"/>
              </a:rPr>
              <a:t>of computer memory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</a:p>
          <a:p>
            <a:r>
              <a:rPr lang="en-US" altLang="zh-CN">
                <a:ea typeface="宋体" panose="02010600030101010101" pitchFamily="2" charset="-122"/>
              </a:rPr>
              <a:t>What are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the characteristics </a:t>
            </a:r>
            <a:r>
              <a:rPr lang="en-US" altLang="zh-CN">
                <a:ea typeface="宋体" panose="02010600030101010101" pitchFamily="2" charset="-122"/>
              </a:rPr>
              <a:t>of memory hierarchy from top down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</a:p>
          <a:p>
            <a:r>
              <a:rPr lang="en-US" altLang="zh-CN">
                <a:ea typeface="宋体" panose="02010600030101010101" pitchFamily="2" charset="-122"/>
              </a:rPr>
              <a:t>What is the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cache </a:t>
            </a:r>
            <a:r>
              <a:rPr lang="en-US" altLang="zh-CN">
                <a:ea typeface="宋体" panose="02010600030101010101" pitchFamily="2" charset="-122"/>
              </a:rPr>
              <a:t>for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5EC03E9-4F7C-47C4-ABFB-0EABA1A254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Key points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9B60CE9-7A23-45D9-91DA-EDBD23220E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Computer memory is organized into a hierarchy. (*</a:t>
            </a:r>
            <a:r>
              <a:rPr lang="en-US" altLang="zh-CN" b="1">
                <a:ea typeface="宋体" panose="02010600030101010101" pitchFamily="2" charset="-122"/>
              </a:rPr>
              <a:t>processor registers</a:t>
            </a:r>
            <a:r>
              <a:rPr lang="en-US" altLang="zh-CN" b="1">
                <a:ea typeface="宋体" panose="02010600030101010101" pitchFamily="2" charset="-122"/>
                <a:sym typeface="Wingdings" panose="05000000000000000000" pitchFamily="2" charset="2"/>
              </a:rPr>
              <a:t> L1 (L2…</a:t>
            </a:r>
            <a:r>
              <a:rPr lang="en-US" altLang="zh-CN" b="1">
                <a:ea typeface="宋体" panose="02010600030101010101" pitchFamily="2" charset="-122"/>
              </a:rPr>
              <a:t>) cache</a:t>
            </a:r>
            <a:r>
              <a:rPr lang="en-US" altLang="zh-CN" b="1">
                <a:ea typeface="宋体" panose="02010600030101010101" pitchFamily="2" charset="-122"/>
                <a:sym typeface="Wingdings" panose="05000000000000000000" pitchFamily="2" charset="2"/>
              </a:rPr>
              <a:t> main memory external memory</a:t>
            </a: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)</a:t>
            </a:r>
          </a:p>
          <a:p>
            <a:r>
              <a:rPr lang="en-US" altLang="zh-CN" b="1">
                <a:ea typeface="宋体" panose="02010600030101010101" pitchFamily="2" charset="-122"/>
                <a:sym typeface="Wingdings" panose="05000000000000000000" pitchFamily="2" charset="2"/>
              </a:rPr>
              <a:t>Decreasing cost/bit, increasing capacity, slower access time</a:t>
            </a:r>
          </a:p>
          <a:p>
            <a:r>
              <a:rPr lang="en-US" altLang="zh-CN" b="1">
                <a:ea typeface="宋体" panose="02010600030101010101" pitchFamily="2" charset="-122"/>
                <a:sym typeface="Wingdings" panose="05000000000000000000" pitchFamily="2" charset="2"/>
              </a:rPr>
              <a:t>Locality</a:t>
            </a: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 of reference makes proper designs of cache improve computer performance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AC137C9-8A24-41AD-B370-CDE7EE2D37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4.1 Computer memory system overview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00773A7-8608-4D49-989E-4BBC4BB967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Characteristics of memory systems</a:t>
            </a:r>
          </a:p>
          <a:p>
            <a:r>
              <a:rPr lang="en-US" altLang="zh-CN">
                <a:ea typeface="宋体" panose="02010600030101010101" pitchFamily="2" charset="-122"/>
              </a:rPr>
              <a:t>The memory hierarchy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B5A3D58-E754-4E48-B10B-924B95E8A1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Characteristics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5A82435-07EC-4EFD-A1A1-07ED190E6F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Location</a:t>
            </a:r>
          </a:p>
          <a:p>
            <a:r>
              <a:rPr lang="en-GB" altLang="zh-CN">
                <a:ea typeface="宋体" panose="02010600030101010101" pitchFamily="2" charset="-122"/>
              </a:rPr>
              <a:t>Capacity</a:t>
            </a:r>
          </a:p>
          <a:p>
            <a:r>
              <a:rPr lang="en-GB" altLang="zh-CN">
                <a:ea typeface="宋体" panose="02010600030101010101" pitchFamily="2" charset="-122"/>
              </a:rPr>
              <a:t>Unit of transfer</a:t>
            </a:r>
          </a:p>
          <a:p>
            <a:r>
              <a:rPr lang="en-GB" altLang="zh-CN">
                <a:ea typeface="宋体" panose="02010600030101010101" pitchFamily="2" charset="-122"/>
              </a:rPr>
              <a:t>Access method</a:t>
            </a:r>
          </a:p>
          <a:p>
            <a:r>
              <a:rPr lang="en-GB" altLang="zh-CN">
                <a:ea typeface="宋体" panose="02010600030101010101" pitchFamily="2" charset="-122"/>
              </a:rPr>
              <a:t>Performance</a:t>
            </a:r>
          </a:p>
          <a:p>
            <a:r>
              <a:rPr lang="en-GB" altLang="zh-CN">
                <a:ea typeface="宋体" panose="02010600030101010101" pitchFamily="2" charset="-122"/>
              </a:rPr>
              <a:t>Physical type</a:t>
            </a:r>
          </a:p>
          <a:p>
            <a:r>
              <a:rPr lang="en-GB" altLang="zh-CN">
                <a:ea typeface="宋体" panose="02010600030101010101" pitchFamily="2" charset="-122"/>
              </a:rPr>
              <a:t>Physical characteristics</a:t>
            </a:r>
          </a:p>
          <a:p>
            <a:r>
              <a:rPr lang="en-GB" altLang="zh-CN">
                <a:ea typeface="宋体" panose="02010600030101010101" pitchFamily="2" charset="-122"/>
              </a:rPr>
              <a:t>Organization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791BB0F-6FE7-4C4B-BA7A-5F93819B76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Location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77FAC41-64B6-47F1-84A8-7F1ADB3AD4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178800" cy="1066800"/>
          </a:xfrm>
        </p:spPr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CPU: 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Register, Control memory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A00710E-5D06-4EC9-8D2C-3CB5B3A00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133600"/>
            <a:ext cx="4967287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GB" altLang="zh-CN">
                <a:ea typeface="宋体" panose="02010600030101010101" pitchFamily="2" charset="-122"/>
              </a:rPr>
              <a:t>Internal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Cache, Main memory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FCA33BCA-DC3F-4EBB-ADF3-B1CCDDF24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130550"/>
            <a:ext cx="5111750" cy="217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GB" altLang="zh-CN">
                <a:ea typeface="宋体" panose="02010600030101010101" pitchFamily="2" charset="-122"/>
              </a:rPr>
              <a:t>External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Disk, Tape, CD, DVD</a:t>
            </a:r>
          </a:p>
        </p:txBody>
      </p:sp>
      <p:pic>
        <p:nvPicPr>
          <p:cNvPr id="7" name="Picture 5" descr="Various forms of storage, divided according to their distance from the central processing unit. The fundamental components of a general-purpose computer are arithmetic and logic unit, control circuitry, storage space, and input/output devices. Technology and capacity as in common home computers around 2005.">
            <a:hlinkClick r:id="rId3" tooltip="Various forms of storage, divided according to their distance from the central processing unit. The fundamental components of a general-purpose computer are arithmetic and logic unit, control circuitry, storage space, and input/output devices. Technology and capacity as in common home computers around 2005."/>
            <a:extLst>
              <a:ext uri="{FF2B5EF4-FFF2-40B4-BE49-F238E27FC236}">
                <a16:creationId xmlns:a16="http://schemas.microsoft.com/office/drawing/2014/main" id="{AC0C06B2-3D76-41C4-8195-9AAEDE538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1557338"/>
            <a:ext cx="3671887" cy="523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D4ECB8C-558F-42A3-A7AE-2848DE489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Capacity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AA0FF3C-3B3D-4843-8F4E-498AA58BDE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178800" cy="4090988"/>
          </a:xfrm>
        </p:spPr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Word size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The </a:t>
            </a:r>
            <a:r>
              <a:rPr lang="en-GB" altLang="zh-CN">
                <a:solidFill>
                  <a:srgbClr val="FF0000"/>
                </a:solidFill>
                <a:ea typeface="宋体" panose="02010600030101010101" pitchFamily="2" charset="-122"/>
              </a:rPr>
              <a:t>natural</a:t>
            </a:r>
            <a:r>
              <a:rPr lang="en-GB" altLang="zh-CN">
                <a:ea typeface="宋体" panose="02010600030101010101" pitchFamily="2" charset="-122"/>
              </a:rPr>
              <a:t> unit of organisation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Intel x86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word size=32bits</a:t>
            </a:r>
            <a:endParaRPr lang="en-GB" altLang="zh-CN">
              <a:ea typeface="宋体" panose="02010600030101010101" pitchFamily="2" charset="-122"/>
            </a:endParaRPr>
          </a:p>
          <a:p>
            <a:r>
              <a:rPr lang="en-GB" altLang="zh-CN">
                <a:ea typeface="宋体" panose="02010600030101010101" pitchFamily="2" charset="-122"/>
              </a:rPr>
              <a:t>Number of words</a:t>
            </a:r>
          </a:p>
          <a:p>
            <a:endParaRPr lang="en-GB" altLang="zh-CN">
              <a:ea typeface="宋体" panose="02010600030101010101" pitchFamily="2" charset="-122"/>
            </a:endParaRPr>
          </a:p>
          <a:p>
            <a:pPr lvl="1"/>
            <a:r>
              <a:rPr lang="en-GB" altLang="zh-CN">
                <a:ea typeface="宋体" panose="02010600030101010101" pitchFamily="2" charset="-122"/>
              </a:rPr>
              <a:t>or Bytes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5D7D7D-5EA6-4FF4-8D55-59A7090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997200"/>
            <a:ext cx="8496300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GB" altLang="zh-CN">
                <a:ea typeface="宋体" panose="02010600030101010101" pitchFamily="2" charset="-122"/>
              </a:rPr>
              <a:t>Capacity=</a:t>
            </a:r>
            <a:r>
              <a:rPr lang="en-GB" altLang="zh-CN" b="1" i="1">
                <a:ea typeface="宋体" panose="02010600030101010101" pitchFamily="2" charset="-122"/>
              </a:rPr>
              <a:t>Word size </a:t>
            </a:r>
            <a:r>
              <a:rPr lang="en-GB" altLang="zh-CN">
                <a:ea typeface="宋体" panose="02010600030101010101" pitchFamily="2" charset="-122"/>
              </a:rPr>
              <a:t>* </a:t>
            </a:r>
            <a:r>
              <a:rPr lang="en-GB" altLang="zh-CN" b="1" i="1">
                <a:ea typeface="宋体" panose="02010600030101010101" pitchFamily="2" charset="-122"/>
              </a:rPr>
              <a:t>Number of words</a:t>
            </a:r>
          </a:p>
          <a:p>
            <a:endParaRPr lang="en-GB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>
            <a:extLst>
              <a:ext uri="{FF2B5EF4-FFF2-40B4-BE49-F238E27FC236}">
                <a16:creationId xmlns:a16="http://schemas.microsoft.com/office/drawing/2014/main" id="{6404D9FF-2CA1-400B-8342-A4B5557EDC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Addressable unit</a:t>
            </a:r>
          </a:p>
        </p:txBody>
      </p:sp>
      <p:sp>
        <p:nvSpPr>
          <p:cNvPr id="10243" name="Rectangle 5">
            <a:extLst>
              <a:ext uri="{FF2B5EF4-FFF2-40B4-BE49-F238E27FC236}">
                <a16:creationId xmlns:a16="http://schemas.microsoft.com/office/drawing/2014/main" id="{4776A7CF-4527-49C1-8C99-B748608B1A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Addressable unit</a:t>
            </a:r>
          </a:p>
          <a:p>
            <a:pPr lvl="1">
              <a:defRPr/>
            </a:pPr>
            <a:r>
              <a:rPr lang="en-GB" altLang="zh-CN" dirty="0">
                <a:ea typeface="宋体" panose="02010600030101010101" pitchFamily="2" charset="-122"/>
              </a:rPr>
              <a:t>Smallest location which can be uniquely addressed</a:t>
            </a:r>
          </a:p>
          <a:p>
            <a:pPr lvl="1">
              <a:defRPr/>
            </a:pPr>
            <a:endParaRPr lang="en-GB" altLang="zh-CN" dirty="0"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en-GB" altLang="zh-CN" i="1" dirty="0">
                <a:ea typeface="宋体" panose="02010600030101010101" pitchFamily="2" charset="-122"/>
              </a:rPr>
              <a:t>Word</a:t>
            </a:r>
            <a:r>
              <a:rPr lang="en-GB" altLang="zh-CN" dirty="0">
                <a:ea typeface="宋体" panose="02010600030101010101" pitchFamily="2" charset="-122"/>
              </a:rPr>
              <a:t> or byte</a:t>
            </a:r>
          </a:p>
          <a:p>
            <a:pPr lvl="1">
              <a:defRPr/>
            </a:pPr>
            <a:endParaRPr lang="en-GB" altLang="zh-CN" b="1" dirty="0"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en-GB" altLang="zh-CN" i="1" dirty="0">
                <a:ea typeface="宋体" panose="02010600030101010101" pitchFamily="2" charset="-122"/>
              </a:rPr>
              <a:t>Address length :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GB" altLang="zh-CN" i="1" dirty="0">
                <a:ea typeface="宋体" panose="02010600030101010101" pitchFamily="2" charset="-122"/>
              </a:rPr>
              <a:t> bits</a:t>
            </a:r>
          </a:p>
          <a:p>
            <a:pPr lvl="1">
              <a:defRPr/>
            </a:pPr>
            <a:r>
              <a:rPr lang="en-GB" altLang="zh-CN" i="1" dirty="0">
                <a:ea typeface="宋体" panose="02010600030101010101" pitchFamily="2" charset="-122"/>
              </a:rPr>
              <a:t>the number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GB" altLang="zh-CN" i="1" dirty="0">
                <a:ea typeface="宋体" panose="02010600030101010101" pitchFamily="2" charset="-122"/>
              </a:rPr>
              <a:t> of addressable units is </a:t>
            </a:r>
            <a:r>
              <a:rPr lang="en-GB" altLang="zh-CN" i="1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2</a:t>
            </a:r>
            <a:r>
              <a:rPr lang="en-GB" altLang="zh-CN" i="1" baseline="300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A</a:t>
            </a:r>
            <a:r>
              <a:rPr lang="en-GB" altLang="zh-CN" i="1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 =N</a:t>
            </a:r>
          </a:p>
          <a:p>
            <a:pPr lvl="1">
              <a:defRPr/>
            </a:pPr>
            <a:r>
              <a:rPr lang="en-GB" altLang="zh-CN" dirty="0">
                <a:ea typeface="宋体" panose="02010600030101010101" pitchFamily="2" charset="-122"/>
              </a:rPr>
              <a:t>32bits,  </a:t>
            </a:r>
            <a:r>
              <a:rPr lang="en-GB" altLang="zh-CN" i="1" dirty="0">
                <a:ea typeface="宋体" panose="02010600030101010101" pitchFamily="2" charset="-122"/>
              </a:rPr>
              <a:t>N</a:t>
            </a:r>
            <a:r>
              <a:rPr lang="en-GB" altLang="zh-CN" dirty="0">
                <a:ea typeface="宋体" panose="02010600030101010101" pitchFamily="2" charset="-122"/>
              </a:rPr>
              <a:t>=</a:t>
            </a:r>
            <a:r>
              <a:rPr lang="en-GB" altLang="zh-CN" i="1" dirty="0">
                <a:ea typeface="宋体" panose="02010600030101010101" pitchFamily="2" charset="-122"/>
              </a:rPr>
              <a:t>2</a:t>
            </a:r>
            <a:r>
              <a:rPr lang="en-GB" altLang="zh-CN" i="1" baseline="30000" dirty="0">
                <a:ea typeface="宋体" panose="02010600030101010101" pitchFamily="2" charset="-122"/>
              </a:rPr>
              <a:t>32</a:t>
            </a:r>
            <a:r>
              <a:rPr lang="en-GB" altLang="zh-CN" i="1" dirty="0">
                <a:ea typeface="宋体" panose="02010600030101010101" pitchFamily="2" charset="-122"/>
              </a:rPr>
              <a:t> </a:t>
            </a:r>
            <a:endParaRPr lang="en-GB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>
            <a:extLst>
              <a:ext uri="{FF2B5EF4-FFF2-40B4-BE49-F238E27FC236}">
                <a16:creationId xmlns:a16="http://schemas.microsoft.com/office/drawing/2014/main" id="{111A0803-34EA-485D-A28A-63C3B9E4C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Unit of Transfer</a:t>
            </a:r>
          </a:p>
        </p:txBody>
      </p:sp>
      <p:sp>
        <p:nvSpPr>
          <p:cNvPr id="24579" name="Rectangle 5">
            <a:extLst>
              <a:ext uri="{FF2B5EF4-FFF2-40B4-BE49-F238E27FC236}">
                <a16:creationId xmlns:a16="http://schemas.microsoft.com/office/drawing/2014/main" id="{1E366ED6-6830-4F4E-A8D1-28C17C0470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Main memory</a:t>
            </a:r>
            <a:endParaRPr lang="en-GB" altLang="zh-CN" dirty="0">
              <a:ea typeface="宋体" panose="02010600030101010101" pitchFamily="2" charset="-122"/>
            </a:endParaRP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Usually governed by </a:t>
            </a:r>
            <a:r>
              <a:rPr lang="en-GB" altLang="zh-CN" b="1" i="1" dirty="0">
                <a:ea typeface="宋体" panose="02010600030101010101" pitchFamily="2" charset="-122"/>
              </a:rPr>
              <a:t>data bus width </a:t>
            </a:r>
            <a:r>
              <a:rPr lang="en-GB" altLang="zh-CN" dirty="0">
                <a:ea typeface="宋体" panose="02010600030101010101" pitchFamily="2" charset="-122"/>
              </a:rPr>
              <a:t>(Byte, Word)</a:t>
            </a:r>
          </a:p>
          <a:p>
            <a:pPr lvl="1"/>
            <a:endParaRPr lang="en-GB" altLang="zh-CN" dirty="0">
              <a:ea typeface="宋体" panose="02010600030101010101" pitchFamily="2" charset="-122"/>
            </a:endParaRPr>
          </a:p>
          <a:p>
            <a:pPr lvl="1"/>
            <a:endParaRPr lang="en-GB" altLang="zh-CN" dirty="0">
              <a:ea typeface="宋体" panose="02010600030101010101" pitchFamily="2" charset="-122"/>
            </a:endParaRPr>
          </a:p>
          <a:p>
            <a:pPr lvl="1"/>
            <a:endParaRPr lang="en-GB" altLang="zh-CN" dirty="0">
              <a:ea typeface="宋体" panose="02010600030101010101" pitchFamily="2" charset="-122"/>
            </a:endParaRPr>
          </a:p>
          <a:p>
            <a:pPr lvl="1"/>
            <a:endParaRPr lang="en-GB" altLang="zh-CN" dirty="0">
              <a:ea typeface="宋体" panose="02010600030101010101" pitchFamily="2" charset="-122"/>
            </a:endParaRPr>
          </a:p>
          <a:p>
            <a:pPr lvl="1"/>
            <a:endParaRPr lang="en-GB" altLang="zh-CN" dirty="0">
              <a:ea typeface="宋体" panose="02010600030101010101" pitchFamily="2" charset="-122"/>
            </a:endParaRPr>
          </a:p>
          <a:p>
            <a:pPr lvl="1"/>
            <a:endParaRPr lang="en-GB" altLang="zh-CN" dirty="0">
              <a:ea typeface="宋体" panose="02010600030101010101" pitchFamily="2" charset="-122"/>
            </a:endParaRPr>
          </a:p>
          <a:p>
            <a:pPr lvl="1"/>
            <a:endParaRPr lang="en-GB" altLang="zh-CN" dirty="0">
              <a:ea typeface="宋体" panose="02010600030101010101" pitchFamily="2" charset="-122"/>
            </a:endParaRPr>
          </a:p>
          <a:p>
            <a:endParaRPr lang="en-GB" altLang="zh-CN" dirty="0">
              <a:ea typeface="宋体" panose="02010600030101010101" pitchFamily="2" charset="-122"/>
            </a:endParaRP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Usually a </a:t>
            </a:r>
            <a:r>
              <a:rPr lang="en-GB" altLang="zh-CN" b="1" i="1" dirty="0">
                <a:ea typeface="宋体" panose="02010600030101010101" pitchFamily="2" charset="-122"/>
              </a:rPr>
              <a:t>block</a:t>
            </a:r>
            <a:r>
              <a:rPr lang="en-GB" altLang="zh-CN" dirty="0">
                <a:ea typeface="宋体" panose="02010600030101010101" pitchFamily="2" charset="-122"/>
              </a:rPr>
              <a:t> which is much larger than a word (Block)</a:t>
            </a:r>
          </a:p>
        </p:txBody>
      </p:sp>
      <p:pic>
        <p:nvPicPr>
          <p:cNvPr id="24580" name="Picture 5">
            <a:extLst>
              <a:ext uri="{FF2B5EF4-FFF2-40B4-BE49-F238E27FC236}">
                <a16:creationId xmlns:a16="http://schemas.microsoft.com/office/drawing/2014/main" id="{00A3104B-D9FE-4D34-ABFD-A25486F4C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2033588"/>
            <a:ext cx="4391025" cy="383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1" name="Picture 8">
            <a:extLst>
              <a:ext uri="{FF2B5EF4-FFF2-40B4-BE49-F238E27FC236}">
                <a16:creationId xmlns:a16="http://schemas.microsoft.com/office/drawing/2014/main" id="{FAC1D902-EA85-4A9F-961B-AEB3132FD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374900"/>
            <a:ext cx="3757612" cy="310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82" name="矩形 2">
            <a:extLst>
              <a:ext uri="{FF2B5EF4-FFF2-40B4-BE49-F238E27FC236}">
                <a16:creationId xmlns:a16="http://schemas.microsoft.com/office/drawing/2014/main" id="{5767E8D7-A560-42AD-9833-BC9B34661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8075" y="5391150"/>
            <a:ext cx="25542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2000" i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bus width=64bits </a:t>
            </a:r>
            <a:endParaRPr kumimoji="0" lang="zh-CN" altLang="en-US" sz="200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CC8D006-8280-4826-BFD4-8F7D37B2D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562" y="3040299"/>
            <a:ext cx="3143815" cy="1396813"/>
          </a:xfrm>
          <a:prstGeom prst="rect">
            <a:avLst/>
          </a:prstGeom>
        </p:spPr>
      </p:pic>
      <p:sp>
        <p:nvSpPr>
          <p:cNvPr id="26626" name="Rectangle 1028">
            <a:extLst>
              <a:ext uri="{FF2B5EF4-FFF2-40B4-BE49-F238E27FC236}">
                <a16:creationId xmlns:a16="http://schemas.microsoft.com/office/drawing/2014/main" id="{C2F0D12D-234B-4CFE-8CFF-3CB69BCF9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Access Methods (1)</a:t>
            </a:r>
          </a:p>
        </p:txBody>
      </p:sp>
      <p:sp>
        <p:nvSpPr>
          <p:cNvPr id="26627" name="Rectangle 1029">
            <a:extLst>
              <a:ext uri="{FF2B5EF4-FFF2-40B4-BE49-F238E27FC236}">
                <a16:creationId xmlns:a16="http://schemas.microsoft.com/office/drawing/2014/main" id="{199BF03C-9991-43A3-B363-88E3C04172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Sequential</a:t>
            </a:r>
          </a:p>
          <a:p>
            <a:endParaRPr lang="en-GB" altLang="zh-CN" dirty="0">
              <a:ea typeface="宋体" panose="02010600030101010101" pitchFamily="2" charset="-122"/>
            </a:endParaRPr>
          </a:p>
          <a:p>
            <a:endParaRPr lang="en-GB" altLang="zh-CN" dirty="0">
              <a:ea typeface="宋体" panose="02010600030101010101" pitchFamily="2" charset="-122"/>
            </a:endParaRPr>
          </a:p>
          <a:p>
            <a:endParaRPr lang="en-GB" altLang="zh-CN" dirty="0">
              <a:ea typeface="宋体" panose="02010600030101010101" pitchFamily="2" charset="-122"/>
            </a:endParaRPr>
          </a:p>
          <a:p>
            <a:endParaRPr lang="en-GB" altLang="zh-CN" dirty="0">
              <a:ea typeface="宋体" panose="02010600030101010101" pitchFamily="2" charset="-122"/>
            </a:endParaRPr>
          </a:p>
          <a:p>
            <a:r>
              <a:rPr lang="en-GB" altLang="zh-CN" dirty="0">
                <a:ea typeface="宋体" panose="02010600030101010101" pitchFamily="2" charset="-122"/>
              </a:rPr>
              <a:t>Direct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B6720DDD-7A42-4BE3-9F73-6679416F6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557338"/>
            <a:ext cx="817880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 algn="just"/>
            <a:r>
              <a:rPr lang="en-GB" altLang="zh-CN" dirty="0">
                <a:ea typeface="宋体" panose="02010600030101010101" pitchFamily="2" charset="-122"/>
              </a:rPr>
              <a:t>Start at the beginning and read through in order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Access time is highly variable and depends on </a:t>
            </a:r>
            <a:r>
              <a:rPr lang="en-GB" altLang="zh-CN" i="1" dirty="0">
                <a:ea typeface="宋体" panose="02010600030101010101" pitchFamily="2" charset="-122"/>
              </a:rPr>
              <a:t>location of data </a:t>
            </a:r>
            <a:r>
              <a:rPr lang="en-GB" altLang="zh-CN" dirty="0">
                <a:ea typeface="宋体" panose="02010600030101010101" pitchFamily="2" charset="-122"/>
              </a:rPr>
              <a:t>and </a:t>
            </a:r>
            <a:r>
              <a:rPr lang="en-GB" altLang="zh-CN" i="1" dirty="0">
                <a:ea typeface="宋体" panose="02010600030101010101" pitchFamily="2" charset="-122"/>
              </a:rPr>
              <a:t>previous location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e.g. </a:t>
            </a:r>
            <a:r>
              <a:rPr lang="en-GB" altLang="zh-CN" dirty="0">
                <a:solidFill>
                  <a:srgbClr val="00B0F0"/>
                </a:solidFill>
                <a:ea typeface="宋体" panose="02010600030101010101" pitchFamily="2" charset="-122"/>
              </a:rPr>
              <a:t>tape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482C236A-4EDA-4F1B-AFAF-8894DFFE7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149725"/>
            <a:ext cx="8178800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/>
            <a:r>
              <a:rPr lang="en-GB" altLang="zh-CN" dirty="0">
                <a:ea typeface="宋体" panose="02010600030101010101" pitchFamily="2" charset="-122"/>
              </a:rPr>
              <a:t>Individual blocks have </a:t>
            </a:r>
            <a:r>
              <a:rPr lang="en-GB" altLang="zh-CN" i="1" dirty="0">
                <a:ea typeface="宋体" panose="02010600030101010101" pitchFamily="2" charset="-122"/>
              </a:rPr>
              <a:t>unique</a:t>
            </a:r>
            <a:r>
              <a:rPr lang="en-GB" altLang="zh-CN" dirty="0">
                <a:ea typeface="宋体" panose="02010600030101010101" pitchFamily="2" charset="-122"/>
              </a:rPr>
              <a:t> address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Access is by jumping to vicinity </a:t>
            </a:r>
            <a:r>
              <a:rPr lang="en-GB" altLang="zh-CN" i="1" dirty="0">
                <a:ea typeface="宋体" panose="02010600030101010101" pitchFamily="2" charset="-122"/>
              </a:rPr>
              <a:t>plus sequential search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Access time depends on </a:t>
            </a:r>
            <a:r>
              <a:rPr lang="en-GB" altLang="zh-CN" i="1" dirty="0">
                <a:ea typeface="宋体" panose="02010600030101010101" pitchFamily="2" charset="-122"/>
              </a:rPr>
              <a:t>location</a:t>
            </a:r>
            <a:r>
              <a:rPr lang="en-GB" altLang="zh-CN" dirty="0">
                <a:ea typeface="宋体" panose="02010600030101010101" pitchFamily="2" charset="-122"/>
              </a:rPr>
              <a:t> and </a:t>
            </a:r>
            <a:r>
              <a:rPr lang="en-GB" altLang="zh-CN" i="1" dirty="0">
                <a:ea typeface="宋体" panose="02010600030101010101" pitchFamily="2" charset="-122"/>
              </a:rPr>
              <a:t>previous location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e.g. </a:t>
            </a:r>
            <a:r>
              <a:rPr lang="en-GB" altLang="zh-CN" dirty="0">
                <a:solidFill>
                  <a:srgbClr val="00B0F0"/>
                </a:solidFill>
                <a:ea typeface="宋体" panose="02010600030101010101" pitchFamily="2" charset="-122"/>
              </a:rPr>
              <a:t>disk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ECA4F6A-0446-4E03-8CF3-45B8B72B1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6083" y="3184821"/>
            <a:ext cx="1909018" cy="98713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2936960-A189-4F3D-AB7B-728F21E37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0305" y="3157553"/>
            <a:ext cx="990267" cy="11255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8">
            <a:extLst>
              <a:ext uri="{FF2B5EF4-FFF2-40B4-BE49-F238E27FC236}">
                <a16:creationId xmlns:a16="http://schemas.microsoft.com/office/drawing/2014/main" id="{821F54A8-7C0C-46BA-953E-C1DB27512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Access Methods (2)</a:t>
            </a:r>
          </a:p>
        </p:txBody>
      </p:sp>
      <p:sp>
        <p:nvSpPr>
          <p:cNvPr id="28675" name="Rectangle 1029">
            <a:extLst>
              <a:ext uri="{FF2B5EF4-FFF2-40B4-BE49-F238E27FC236}">
                <a16:creationId xmlns:a16="http://schemas.microsoft.com/office/drawing/2014/main" id="{7BA5925B-E5F3-4D6A-B858-AB0783896D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Random</a:t>
            </a:r>
          </a:p>
          <a:p>
            <a:endParaRPr lang="en-GB" altLang="zh-CN">
              <a:ea typeface="宋体" panose="02010600030101010101" pitchFamily="2" charset="-122"/>
            </a:endParaRPr>
          </a:p>
          <a:p>
            <a:endParaRPr lang="en-GB" altLang="zh-CN">
              <a:ea typeface="宋体" panose="02010600030101010101" pitchFamily="2" charset="-122"/>
            </a:endParaRPr>
          </a:p>
          <a:p>
            <a:endParaRPr lang="en-GB" altLang="zh-CN">
              <a:ea typeface="宋体" panose="02010600030101010101" pitchFamily="2" charset="-122"/>
            </a:endParaRPr>
          </a:p>
          <a:p>
            <a:endParaRPr lang="en-GB" altLang="zh-CN">
              <a:ea typeface="宋体" panose="02010600030101010101" pitchFamily="2" charset="-122"/>
            </a:endParaRPr>
          </a:p>
          <a:p>
            <a:r>
              <a:rPr lang="en-GB" altLang="zh-CN">
                <a:ea typeface="宋体" panose="02010600030101010101" pitchFamily="2" charset="-122"/>
              </a:rPr>
              <a:t>Associative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C9F6E29C-1595-438E-B001-05A82777E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628775"/>
            <a:ext cx="8178800" cy="177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/>
            <a:r>
              <a:rPr lang="en-GB" altLang="zh-CN" dirty="0">
                <a:ea typeface="宋体" panose="02010600030101010101" pitchFamily="2" charset="-122"/>
              </a:rPr>
              <a:t>Individual addresses identify locations exactly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Access time is independent of location or previous access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e.g. </a:t>
            </a:r>
            <a:r>
              <a:rPr lang="en-GB" altLang="zh-CN" dirty="0">
                <a:solidFill>
                  <a:srgbClr val="00B0F0"/>
                </a:solidFill>
                <a:ea typeface="宋体" panose="02010600030101010101" pitchFamily="2" charset="-122"/>
              </a:rPr>
              <a:t>main memory and some cache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19D507DC-9992-4955-B5AD-9A6278416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4221163"/>
            <a:ext cx="817880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/>
            <a:r>
              <a:rPr lang="en-GB" altLang="zh-CN">
                <a:ea typeface="宋体" panose="02010600030101010101" pitchFamily="2" charset="-122"/>
              </a:rPr>
              <a:t>Data is located by a </a:t>
            </a:r>
            <a:r>
              <a:rPr lang="en-GB" altLang="zh-CN" i="1">
                <a:ea typeface="宋体" panose="02010600030101010101" pitchFamily="2" charset="-122"/>
              </a:rPr>
              <a:t>comparison</a:t>
            </a:r>
            <a:r>
              <a:rPr lang="en-GB" altLang="zh-CN">
                <a:ea typeface="宋体" panose="02010600030101010101" pitchFamily="2" charset="-122"/>
              </a:rPr>
              <a:t> with </a:t>
            </a:r>
            <a:r>
              <a:rPr lang="en-GB" altLang="zh-CN" b="1">
                <a:solidFill>
                  <a:srgbClr val="C00000"/>
                </a:solidFill>
                <a:ea typeface="宋体" panose="02010600030101010101" pitchFamily="2" charset="-122"/>
              </a:rPr>
              <a:t>contents</a:t>
            </a:r>
            <a:r>
              <a:rPr lang="en-GB" altLang="zh-CN">
                <a:ea typeface="宋体" panose="02010600030101010101" pitchFamily="2" charset="-122"/>
              </a:rPr>
              <a:t> of a portion of the store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Access time is independent of location or previous access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e.g. </a:t>
            </a:r>
            <a:r>
              <a:rPr lang="en-GB" altLang="zh-CN">
                <a:solidFill>
                  <a:srgbClr val="00B0F0"/>
                </a:solidFill>
                <a:ea typeface="宋体" panose="02010600030101010101" pitchFamily="2" charset="-122"/>
              </a:rPr>
              <a:t>cache</a:t>
            </a:r>
          </a:p>
        </p:txBody>
      </p:sp>
      <p:sp>
        <p:nvSpPr>
          <p:cNvPr id="6" name="五角星 5">
            <a:extLst>
              <a:ext uri="{FF2B5EF4-FFF2-40B4-BE49-F238E27FC236}">
                <a16:creationId xmlns:a16="http://schemas.microsoft.com/office/drawing/2014/main" id="{C7B9D9C4-51CB-4B33-B9C9-F611CF7BAB49}"/>
              </a:ext>
            </a:extLst>
          </p:cNvPr>
          <p:cNvSpPr/>
          <p:nvPr/>
        </p:nvSpPr>
        <p:spPr bwMode="auto">
          <a:xfrm>
            <a:off x="50800" y="3622675"/>
            <a:ext cx="406400" cy="423863"/>
          </a:xfrm>
          <a:prstGeom prst="star5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/>
          <a:p>
            <a:pPr>
              <a:defRPr/>
            </a:pPr>
            <a:endParaRPr lang="zh-CN" altLang="en-US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608B3F5-EE82-4AAC-8C68-D02362B58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210" y="5565645"/>
            <a:ext cx="4347989" cy="1129734"/>
          </a:xfrm>
          <a:prstGeom prst="rect">
            <a:avLst/>
          </a:prstGeom>
        </p:spPr>
      </p:pic>
      <p:sp>
        <p:nvSpPr>
          <p:cNvPr id="30722" name="Rectangle 4">
            <a:extLst>
              <a:ext uri="{FF2B5EF4-FFF2-40B4-BE49-F238E27FC236}">
                <a16:creationId xmlns:a16="http://schemas.microsoft.com/office/drawing/2014/main" id="{BB1EDB92-7F83-488E-B54E-E87ADA7DA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Performance</a:t>
            </a:r>
          </a:p>
        </p:txBody>
      </p:sp>
      <p:sp>
        <p:nvSpPr>
          <p:cNvPr id="30723" name="Rectangle 5">
            <a:extLst>
              <a:ext uri="{FF2B5EF4-FFF2-40B4-BE49-F238E27FC236}">
                <a16:creationId xmlns:a16="http://schemas.microsoft.com/office/drawing/2014/main" id="{6E1F3C78-9C7D-44AC-B4F0-1001F16EF1A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66800"/>
            <a:ext cx="8147050" cy="4883150"/>
          </a:xfrm>
        </p:spPr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Access time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Time between presenting </a:t>
            </a:r>
            <a:r>
              <a:rPr lang="en-GB" altLang="zh-CN" i="1" dirty="0">
                <a:ea typeface="宋体" panose="02010600030101010101" pitchFamily="2" charset="-122"/>
              </a:rPr>
              <a:t>the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address</a:t>
            </a:r>
            <a:r>
              <a:rPr lang="en-GB" altLang="zh-CN" i="1" dirty="0">
                <a:ea typeface="宋体" panose="02010600030101010101" pitchFamily="2" charset="-122"/>
              </a:rPr>
              <a:t> </a:t>
            </a:r>
            <a:r>
              <a:rPr lang="en-GB" altLang="zh-CN" dirty="0">
                <a:ea typeface="宋体" panose="02010600030101010101" pitchFamily="2" charset="-122"/>
              </a:rPr>
              <a:t>and </a:t>
            </a:r>
            <a:r>
              <a:rPr lang="en-GB" altLang="zh-CN" i="1" dirty="0">
                <a:ea typeface="宋体" panose="02010600030101010101" pitchFamily="2" charset="-122"/>
              </a:rPr>
              <a:t>getting the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valid data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Memory Cycle time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Time may be required for the memory to “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recover</a:t>
            </a:r>
            <a:r>
              <a:rPr lang="en-GB" altLang="zh-CN" dirty="0">
                <a:ea typeface="宋体" panose="02010600030101010101" pitchFamily="2" charset="-122"/>
              </a:rPr>
              <a:t>” before next access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Cycle time is </a:t>
            </a:r>
            <a:r>
              <a:rPr lang="en-GB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access + recovery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Transfer Rate </a:t>
            </a:r>
            <a:r>
              <a:rPr lang="en-US" altLang="zh-CN" i="1" dirty="0">
                <a:ea typeface="宋体" panose="02010600030101010101" pitchFamily="2" charset="-122"/>
              </a:rPr>
              <a:t>R</a:t>
            </a:r>
            <a:endParaRPr lang="en-GB" altLang="zh-CN" i="1" dirty="0">
              <a:ea typeface="宋体" panose="02010600030101010101" pitchFamily="2" charset="-122"/>
            </a:endParaRP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Rate at which data can be moved</a:t>
            </a:r>
          </a:p>
          <a:p>
            <a:pPr lvl="1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en-US" altLang="zh-CN" dirty="0">
                <a:ea typeface="宋体" panose="02010600030101010101" pitchFamily="2" charset="-122"/>
              </a:rPr>
              <a:t>random-access : </a:t>
            </a:r>
            <a:r>
              <a:rPr lang="en-US" altLang="zh-CN" i="1" dirty="0">
                <a:ea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</a:rPr>
              <a:t>=1/(cycle time) </a:t>
            </a:r>
          </a:p>
          <a:p>
            <a:pPr lvl="1"/>
            <a:r>
              <a:rPr lang="en-GB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en-GB" altLang="zh-CN" dirty="0">
                <a:ea typeface="宋体" panose="02010600030101010101" pitchFamily="2" charset="-122"/>
              </a:rPr>
              <a:t>non-random-access:</a:t>
            </a:r>
          </a:p>
        </p:txBody>
      </p:sp>
      <p:graphicFrame>
        <p:nvGraphicFramePr>
          <p:cNvPr id="30724" name="Object 1024">
            <a:extLst>
              <a:ext uri="{FF2B5EF4-FFF2-40B4-BE49-F238E27FC236}">
                <a16:creationId xmlns:a16="http://schemas.microsoft.com/office/drawing/2014/main" id="{2FC6F2EE-C187-4A69-83B6-226FA1A48B16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17519504"/>
              </p:ext>
            </p:extLst>
          </p:nvPr>
        </p:nvGraphicFramePr>
        <p:xfrm>
          <a:off x="1473066" y="6026150"/>
          <a:ext cx="287972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公式" r:id="rId5" imgW="965200" imgH="228600" progId="Equation.3">
                  <p:embed/>
                </p:oleObj>
              </mc:Choice>
              <mc:Fallback>
                <p:oleObj name="公式" r:id="rId5" imgW="965200" imgH="2286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066" y="6026150"/>
                        <a:ext cx="287972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FC0DBE0-30B2-4BBF-8E6B-22D5D5750C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Physical Types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3A60B943-89DE-4A86-8AD9-F06C254065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Semiconductor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RAM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Magnetic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Disk &amp; Tape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Optical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CD &amp; DVD</a:t>
            </a:r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28A6C3C5-63F9-4090-B857-E3181CC28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724400"/>
            <a:ext cx="3313112" cy="172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4" name="Picture 8">
            <a:extLst>
              <a:ext uri="{FF2B5EF4-FFF2-40B4-BE49-F238E27FC236}">
                <a16:creationId xmlns:a16="http://schemas.microsoft.com/office/drawing/2014/main" id="{B330A110-5AC2-4344-B1F8-A0E69119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75" y="1425575"/>
            <a:ext cx="3978275" cy="257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5" name="Picture 9">
            <a:extLst>
              <a:ext uri="{FF2B5EF4-FFF2-40B4-BE49-F238E27FC236}">
                <a16:creationId xmlns:a16="http://schemas.microsoft.com/office/drawing/2014/main" id="{5C9059C2-0F18-4383-BBE8-1E130B1D8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788" y="4292600"/>
            <a:ext cx="3294062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6" name="Picture 10">
            <a:extLst>
              <a:ext uri="{FF2B5EF4-FFF2-40B4-BE49-F238E27FC236}">
                <a16:creationId xmlns:a16="http://schemas.microsoft.com/office/drawing/2014/main" id="{AE849B7D-3056-44FF-86C0-FA7510F07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75" y="5084763"/>
            <a:ext cx="1411288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5CE17DC5-1935-417A-AE38-AE92A4961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Physical Characteristics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97D1E59B-695D-414B-BAD7-B486D3D10F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Decay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Volatility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Erasable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Power consumption</a:t>
            </a:r>
          </a:p>
          <a:p>
            <a:endParaRPr lang="en-GB" altLang="zh-CN" dirty="0">
              <a:ea typeface="宋体" panose="02010600030101010101" pitchFamily="2" charset="-122"/>
            </a:endParaRPr>
          </a:p>
        </p:txBody>
      </p:sp>
      <p:pic>
        <p:nvPicPr>
          <p:cNvPr id="34820" name="Picture 4">
            <a:extLst>
              <a:ext uri="{FF2B5EF4-FFF2-40B4-BE49-F238E27FC236}">
                <a16:creationId xmlns:a16="http://schemas.microsoft.com/office/drawing/2014/main" id="{9DAB052A-49BA-49C1-9EAD-2B7DD781A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4783138"/>
            <a:ext cx="3270250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1" name="Picture 6">
            <a:extLst>
              <a:ext uri="{FF2B5EF4-FFF2-40B4-BE49-F238E27FC236}">
                <a16:creationId xmlns:a16="http://schemas.microsoft.com/office/drawing/2014/main" id="{CCCD3DBA-6F15-400B-A3E7-A263853CA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1052513"/>
            <a:ext cx="3822700" cy="352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2" name="Picture 7">
            <a:extLst>
              <a:ext uri="{FF2B5EF4-FFF2-40B4-BE49-F238E27FC236}">
                <a16:creationId xmlns:a16="http://schemas.microsoft.com/office/drawing/2014/main" id="{53AE30B8-78C3-451B-B7C3-BCB21A039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3154363"/>
            <a:ext cx="2792412" cy="227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23" name="矩形 1">
            <a:extLst>
              <a:ext uri="{FF2B5EF4-FFF2-40B4-BE49-F238E27FC236}">
                <a16:creationId xmlns:a16="http://schemas.microsoft.com/office/drawing/2014/main" id="{8F61A7F1-7369-4A47-8DC3-660463172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4868863"/>
            <a:ext cx="1146175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volatile</a:t>
            </a:r>
            <a:endParaRPr kumimoji="0"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4" name="矩形 2">
            <a:extLst>
              <a:ext uri="{FF2B5EF4-FFF2-40B4-BE49-F238E27FC236}">
                <a16:creationId xmlns:a16="http://schemas.microsoft.com/office/drawing/2014/main" id="{5080C0C3-E5E5-45C7-B4BA-57B5BB14F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1388" y="1268413"/>
            <a:ext cx="18129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Non-volatile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5" name="矩形 3">
            <a:extLst>
              <a:ext uri="{FF2B5EF4-FFF2-40B4-BE49-F238E27FC236}">
                <a16:creationId xmlns:a16="http://schemas.microsoft.com/office/drawing/2014/main" id="{87D64A11-FB99-4F57-AC8E-C2FE9CA71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8" y="5884863"/>
            <a:ext cx="3033712" cy="4603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SSD</a:t>
            </a:r>
            <a:r>
              <a:rPr kumimoji="0" lang="zh-CN" altLang="en-US" sz="24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kumimoji="0" lang="en-US" altLang="zh-CN" sz="24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DRAM + flash</a:t>
            </a:r>
            <a:endParaRPr kumimoji="0" lang="zh-CN" altLang="en-US" sz="2400">
              <a:solidFill>
                <a:schemeClr val="accent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C5F0C4A-F02F-433E-BD85-AED6AE4C58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Memory design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5A6815A-17D5-4320-A64A-8BB068518A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178800" cy="4883150"/>
          </a:xfrm>
        </p:spPr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How much?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Capacity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How fast?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Time is money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How expensive?</a:t>
            </a:r>
          </a:p>
          <a:p>
            <a:endParaRPr lang="en-GB" altLang="zh-CN" dirty="0">
              <a:ea typeface="宋体" panose="02010600030101010101" pitchFamily="2" charset="-122"/>
            </a:endParaRPr>
          </a:p>
          <a:p>
            <a:r>
              <a:rPr lang="en-GB" altLang="zh-CN" dirty="0">
                <a:ea typeface="宋体" panose="02010600030101010101" pitchFamily="2" charset="-122"/>
              </a:rPr>
              <a:t>Dilemma: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Faster </a:t>
            </a:r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access time</a:t>
            </a:r>
            <a:r>
              <a:rPr lang="en-GB" altLang="zh-CN" dirty="0">
                <a:ea typeface="宋体" panose="02010600030101010101" pitchFamily="2" charset="-122"/>
              </a:rPr>
              <a:t>, greater cost per bit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Greater </a:t>
            </a:r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capacity</a:t>
            </a:r>
            <a:r>
              <a:rPr lang="en-GB" altLang="zh-CN" dirty="0">
                <a:ea typeface="宋体" panose="02010600030101010101" pitchFamily="2" charset="-122"/>
              </a:rPr>
              <a:t>, smaller </a:t>
            </a:r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cost</a:t>
            </a:r>
            <a:r>
              <a:rPr lang="en-GB" altLang="zh-CN" dirty="0">
                <a:ea typeface="宋体" panose="02010600030101010101" pitchFamily="2" charset="-122"/>
              </a:rPr>
              <a:t> per bit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Greater capacity, slower access time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The way out of the dilemma? </a:t>
            </a:r>
          </a:p>
          <a:p>
            <a:endParaRPr lang="en-GB" altLang="zh-CN" dirty="0">
              <a:ea typeface="宋体" panose="02010600030101010101" pitchFamily="2" charset="-122"/>
            </a:endParaRPr>
          </a:p>
        </p:txBody>
      </p:sp>
      <p:pic>
        <p:nvPicPr>
          <p:cNvPr id="36868" name="Picture 6">
            <a:extLst>
              <a:ext uri="{FF2B5EF4-FFF2-40B4-BE49-F238E27FC236}">
                <a16:creationId xmlns:a16="http://schemas.microsoft.com/office/drawing/2014/main" id="{E0060CC5-3E53-4FC6-B550-E578088A4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556" y="1268760"/>
            <a:ext cx="2627313" cy="157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9" name="Picture 5">
            <a:extLst>
              <a:ext uri="{FF2B5EF4-FFF2-40B4-BE49-F238E27FC236}">
                <a16:creationId xmlns:a16="http://schemas.microsoft.com/office/drawing/2014/main" id="{A8C415B5-44CB-45BA-850B-91D25B4E0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075" y="1269798"/>
            <a:ext cx="2297112" cy="172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1173303-4D8E-4874-9F39-EB9DF689BDA0}"/>
              </a:ext>
            </a:extLst>
          </p:cNvPr>
          <p:cNvSpPr/>
          <p:nvPr/>
        </p:nvSpPr>
        <p:spPr>
          <a:xfrm>
            <a:off x="6300192" y="6243935"/>
            <a:ext cx="273022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altLang="zh-CN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Memory Hierarchy</a:t>
            </a:r>
            <a:endParaRPr lang="zh-CN" altLang="en-US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28F289-219D-49C7-921D-361F53BEB1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5816" y="4039000"/>
            <a:ext cx="1764809" cy="9262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07D9EBF-CC28-4BF9-9154-97F46CD8F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Memory Hierarchy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160ADCC-8FDB-433B-AB48-7BE51BBA20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Registers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In CPU</a:t>
            </a:r>
          </a:p>
          <a:p>
            <a:r>
              <a:rPr lang="en-GB" altLang="zh-CN">
                <a:ea typeface="宋体" panose="02010600030101010101" pitchFamily="2" charset="-122"/>
              </a:rPr>
              <a:t>Internal or Main memory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May include one or more levels of cache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“RAM”</a:t>
            </a:r>
          </a:p>
          <a:p>
            <a:r>
              <a:rPr lang="en-GB" altLang="zh-CN">
                <a:ea typeface="宋体" panose="02010600030101010101" pitchFamily="2" charset="-122"/>
              </a:rPr>
              <a:t>External memory</a:t>
            </a:r>
          </a:p>
          <a:p>
            <a:pPr lvl="1"/>
            <a:r>
              <a:rPr lang="en-GB" altLang="zh-CN">
                <a:ea typeface="宋体" panose="02010600030101010101" pitchFamily="2" charset="-122"/>
              </a:rPr>
              <a:t>Backing store</a:t>
            </a:r>
          </a:p>
        </p:txBody>
      </p:sp>
      <p:pic>
        <p:nvPicPr>
          <p:cNvPr id="38916" name="Picture 8">
            <a:extLst>
              <a:ext uri="{FF2B5EF4-FFF2-40B4-BE49-F238E27FC236}">
                <a16:creationId xmlns:a16="http://schemas.microsoft.com/office/drawing/2014/main" id="{5BD46BA1-483F-41DD-AAEC-C22DA72EB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" t="1303" r="2591" b="568"/>
          <a:stretch>
            <a:fillRect/>
          </a:stretch>
        </p:blipFill>
        <p:spPr bwMode="auto">
          <a:xfrm>
            <a:off x="4067175" y="3068638"/>
            <a:ext cx="4913313" cy="367347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917" name="矩形 1">
            <a:extLst>
              <a:ext uri="{FF2B5EF4-FFF2-40B4-BE49-F238E27FC236}">
                <a16:creationId xmlns:a16="http://schemas.microsoft.com/office/drawing/2014/main" id="{96D01DEC-7F60-4C80-86B7-AA98404C3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997200"/>
            <a:ext cx="1728788" cy="360363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8" name="矩形 6">
            <a:extLst>
              <a:ext uri="{FF2B5EF4-FFF2-40B4-BE49-F238E27FC236}">
                <a16:creationId xmlns:a16="http://schemas.microsoft.com/office/drawing/2014/main" id="{2098095B-4015-4871-8CF3-5D83F0F1C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3429000"/>
            <a:ext cx="2447925" cy="8636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9" name="矩形 7">
            <a:extLst>
              <a:ext uri="{FF2B5EF4-FFF2-40B4-BE49-F238E27FC236}">
                <a16:creationId xmlns:a16="http://schemas.microsoft.com/office/drawing/2014/main" id="{A4AF956D-753C-431E-91E0-9D43988A3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4313" y="4365625"/>
            <a:ext cx="4956175" cy="2365375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8920" name="直接箭头连接符 3">
            <a:extLst>
              <a:ext uri="{FF2B5EF4-FFF2-40B4-BE49-F238E27FC236}">
                <a16:creationId xmlns:a16="http://schemas.microsoft.com/office/drawing/2014/main" id="{4F3426F3-3E4E-4C54-B3D9-73F3BF82860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700338" y="1700213"/>
            <a:ext cx="3095625" cy="1296987"/>
          </a:xfrm>
          <a:prstGeom prst="straightConnector1">
            <a:avLst/>
          </a:prstGeom>
          <a:noFill/>
          <a:ln w="19050" algn="ctr">
            <a:solidFill>
              <a:srgbClr val="C00000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1" name="直接箭头连接符 10">
            <a:extLst>
              <a:ext uri="{FF2B5EF4-FFF2-40B4-BE49-F238E27FC236}">
                <a16:creationId xmlns:a16="http://schemas.microsoft.com/office/drawing/2014/main" id="{A1310191-C91B-4FFB-8139-925C278921C3}"/>
              </a:ext>
            </a:extLst>
          </p:cNvPr>
          <p:cNvCxnSpPr>
            <a:cxnSpLocks noChangeShapeType="1"/>
            <a:stCxn id="38918" idx="1"/>
          </p:cNvCxnSpPr>
          <p:nvPr/>
        </p:nvCxnSpPr>
        <p:spPr bwMode="auto">
          <a:xfrm flipH="1" flipV="1">
            <a:off x="3059113" y="3068638"/>
            <a:ext cx="2233612" cy="792162"/>
          </a:xfrm>
          <a:prstGeom prst="straightConnector1">
            <a:avLst/>
          </a:prstGeom>
          <a:noFill/>
          <a:ln w="19050" algn="ctr">
            <a:solidFill>
              <a:srgbClr val="C00000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2" name="直接箭头连接符 13">
            <a:extLst>
              <a:ext uri="{FF2B5EF4-FFF2-40B4-BE49-F238E27FC236}">
                <a16:creationId xmlns:a16="http://schemas.microsoft.com/office/drawing/2014/main" id="{B461585D-5AC0-478D-8F4D-561A4E2EBCFF}"/>
              </a:ext>
            </a:extLst>
          </p:cNvPr>
          <p:cNvCxnSpPr>
            <a:cxnSpLocks noChangeShapeType="1"/>
            <a:stCxn id="38919" idx="1"/>
          </p:cNvCxnSpPr>
          <p:nvPr/>
        </p:nvCxnSpPr>
        <p:spPr bwMode="auto">
          <a:xfrm flipH="1" flipV="1">
            <a:off x="2051050" y="4581525"/>
            <a:ext cx="1973263" cy="966788"/>
          </a:xfrm>
          <a:prstGeom prst="straightConnector1">
            <a:avLst/>
          </a:prstGeom>
          <a:noFill/>
          <a:ln w="19050" algn="ctr">
            <a:solidFill>
              <a:srgbClr val="C00000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42CFF24-133B-4ED6-9172-15A5A7BF36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Memory Hierarchy - Diagram</a:t>
            </a:r>
          </a:p>
        </p:txBody>
      </p:sp>
      <p:pic>
        <p:nvPicPr>
          <p:cNvPr id="36867" name="Picture 4">
            <a:extLst>
              <a:ext uri="{FF2B5EF4-FFF2-40B4-BE49-F238E27FC236}">
                <a16:creationId xmlns:a16="http://schemas.microsoft.com/office/drawing/2014/main" id="{E9053AF1-2100-4A2C-876C-78F61073E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4" t="18182" r="8824" b="20454"/>
          <a:stretch>
            <a:fillRect/>
          </a:stretch>
        </p:blipFill>
        <p:spPr bwMode="auto">
          <a:xfrm>
            <a:off x="26988" y="1141413"/>
            <a:ext cx="5943600" cy="573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1D991C-8EAD-4E41-AFB3-E6ECF5EC4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1557338"/>
            <a:ext cx="19859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Ten-Roman"/>
                <a:ea typeface="宋体" panose="02010600030101010101" pitchFamily="2" charset="-122"/>
              </a:rPr>
              <a:t>1.Cost per bit?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34E6CB-3348-497D-BCF3-8363A602E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4275" y="1557338"/>
            <a:ext cx="16462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00B0F0"/>
                </a:solidFill>
                <a:latin typeface="TimesTen-Roman"/>
                <a:ea typeface="宋体" panose="02010600030101010101" pitchFamily="2" charset="-122"/>
              </a:rPr>
              <a:t>Decreasing</a:t>
            </a:r>
            <a:r>
              <a:rPr kumimoji="0" lang="en-US" altLang="zh-CN" sz="2400">
                <a:latin typeface="TimesTen-Roman"/>
                <a:ea typeface="宋体" panose="02010600030101010101" pitchFamily="2" charset="-122"/>
              </a:rPr>
              <a:t> 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1FE93B-9F2B-45D7-B530-90AA792E4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475" y="2017713"/>
            <a:ext cx="1643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TimesTen-Roman"/>
                <a:ea typeface="宋体" panose="02010600030101010101" pitchFamily="2" charset="-122"/>
              </a:rPr>
              <a:t>2.Capacity?</a:t>
            </a:r>
            <a:endParaRPr kumimoji="0"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8DABB1-0F0D-4FD3-8F4B-208D691D0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2888" y="2435225"/>
            <a:ext cx="2044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Ten-Roman"/>
                <a:ea typeface="宋体" panose="02010600030101010101" pitchFamily="2" charset="-122"/>
              </a:rPr>
              <a:t>3.Access time?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285DE1-B1F0-41D2-8B1B-0FE9FAFE6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5338" y="1965325"/>
            <a:ext cx="1465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7030A0"/>
                </a:solidFill>
                <a:latin typeface="TimesTen-Roman"/>
                <a:ea typeface="宋体" panose="02010600030101010101" pitchFamily="2" charset="-122"/>
              </a:rPr>
              <a:t>Increasing</a:t>
            </a:r>
            <a:endParaRPr kumimoji="0" lang="zh-CN" altLang="en-US" sz="240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409752-9E78-4219-A297-99F0DEBA6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7913" y="2427288"/>
            <a:ext cx="14652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7030A0"/>
                </a:solidFill>
                <a:latin typeface="TimesTen-Roman"/>
                <a:ea typeface="宋体" panose="02010600030101010101" pitchFamily="2" charset="-122"/>
              </a:rPr>
              <a:t>Increasing</a:t>
            </a:r>
            <a:endParaRPr kumimoji="0" lang="zh-CN" altLang="en-US" sz="240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151E77-EBE2-4BAC-8A80-83F8AE2B2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2888" y="2843213"/>
            <a:ext cx="38211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TimesTen-Roman"/>
                <a:ea typeface="宋体" panose="02010600030101010101" pitchFamily="2" charset="-122"/>
              </a:rPr>
              <a:t>4.Frequency of access of the memory by the processor?</a:t>
            </a:r>
            <a:endParaRPr kumimoji="0"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CC358E-6642-400B-BFA3-938A63615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136" y="3553253"/>
            <a:ext cx="309703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solidFill>
                  <a:srgbClr val="00B0F0"/>
                </a:solidFill>
                <a:latin typeface="TimesTen-Roman"/>
                <a:ea typeface="宋体" panose="02010600030101010101" pitchFamily="2" charset="-122"/>
              </a:rPr>
              <a:t>Decreasing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solidFill>
                  <a:srgbClr val="00B0F0"/>
                </a:solidFill>
                <a:latin typeface="TimesTen-Roman"/>
                <a:ea typeface="宋体" panose="02010600030101010101" pitchFamily="2" charset="-122"/>
              </a:rPr>
              <a:t>: Locality of reference  </a:t>
            </a:r>
            <a:endParaRPr kumimoji="0" lang="zh-CN" altLang="en-US" sz="24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DC3FA38-24DA-4849-BAFC-D4DEA8A6BB2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19700" y="1557338"/>
            <a:ext cx="0" cy="2016125"/>
          </a:xfrm>
          <a:prstGeom prst="straightConnector1">
            <a:avLst/>
          </a:prstGeom>
          <a:noFill/>
          <a:ln w="57150" algn="ctr">
            <a:solidFill>
              <a:srgbClr val="00B05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CD7C531-9248-43E1-BB09-BD18FE7AA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Hierarchy List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6E3E53D9-C6B8-407B-B77F-D5C1C159A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Registers</a:t>
            </a:r>
          </a:p>
          <a:p>
            <a:r>
              <a:rPr lang="en-GB" altLang="zh-CN">
                <a:ea typeface="宋体" panose="02010600030101010101" pitchFamily="2" charset="-122"/>
              </a:rPr>
              <a:t>L1 Cache</a:t>
            </a:r>
          </a:p>
          <a:p>
            <a:r>
              <a:rPr lang="en-GB" altLang="zh-CN">
                <a:ea typeface="宋体" panose="02010600030101010101" pitchFamily="2" charset="-122"/>
              </a:rPr>
              <a:t>L2 Cache</a:t>
            </a:r>
          </a:p>
          <a:p>
            <a:r>
              <a:rPr lang="en-GB" altLang="zh-CN">
                <a:ea typeface="宋体" panose="02010600030101010101" pitchFamily="2" charset="-122"/>
              </a:rPr>
              <a:t>Main memory</a:t>
            </a:r>
          </a:p>
          <a:p>
            <a:r>
              <a:rPr lang="en-GB" altLang="zh-CN" i="1">
                <a:ea typeface="宋体" panose="02010600030101010101" pitchFamily="2" charset="-122"/>
              </a:rPr>
              <a:t>Disk cache</a:t>
            </a:r>
          </a:p>
          <a:p>
            <a:r>
              <a:rPr lang="en-GB" altLang="zh-CN">
                <a:ea typeface="宋体" panose="02010600030101010101" pitchFamily="2" charset="-122"/>
              </a:rPr>
              <a:t>Disk</a:t>
            </a:r>
          </a:p>
          <a:p>
            <a:r>
              <a:rPr lang="en-GB" altLang="zh-CN">
                <a:ea typeface="宋体" panose="02010600030101010101" pitchFamily="2" charset="-122"/>
              </a:rPr>
              <a:t>Optical</a:t>
            </a:r>
          </a:p>
          <a:p>
            <a:r>
              <a:rPr lang="en-GB" altLang="zh-CN">
                <a:ea typeface="宋体" panose="02010600030101010101" pitchFamily="2" charset="-122"/>
              </a:rPr>
              <a:t>Tape</a:t>
            </a:r>
          </a:p>
        </p:txBody>
      </p:sp>
      <p:pic>
        <p:nvPicPr>
          <p:cNvPr id="43012" name="Picture 8">
            <a:extLst>
              <a:ext uri="{FF2B5EF4-FFF2-40B4-BE49-F238E27FC236}">
                <a16:creationId xmlns:a16="http://schemas.microsoft.com/office/drawing/2014/main" id="{FCB3186F-548D-45C3-A18A-49FE03CC9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" t="1303" r="2591" b="568"/>
          <a:stretch>
            <a:fillRect/>
          </a:stretch>
        </p:blipFill>
        <p:spPr bwMode="auto">
          <a:xfrm>
            <a:off x="3494088" y="1268413"/>
            <a:ext cx="5470525" cy="5335587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61D1500-0A7F-4CC4-A9C4-29DD265391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Performance of two-level memory</a:t>
            </a:r>
          </a:p>
        </p:txBody>
      </p:sp>
      <p:pic>
        <p:nvPicPr>
          <p:cNvPr id="45059" name="图片 2">
            <a:extLst>
              <a:ext uri="{FF2B5EF4-FFF2-40B4-BE49-F238E27FC236}">
                <a16:creationId xmlns:a16="http://schemas.microsoft.com/office/drawing/2014/main" id="{4C93F12C-9DEC-4B18-8A06-A8527C238D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65"/>
          <a:stretch/>
        </p:blipFill>
        <p:spPr bwMode="auto">
          <a:xfrm>
            <a:off x="9525" y="1125538"/>
            <a:ext cx="9059863" cy="4175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3AA2192-3F81-4C75-8614-6EEAFED84909}"/>
              </a:ext>
            </a:extLst>
          </p:cNvPr>
          <p:cNvCxnSpPr/>
          <p:nvPr/>
        </p:nvCxnSpPr>
        <p:spPr bwMode="auto">
          <a:xfrm flipH="1">
            <a:off x="2987675" y="1844675"/>
            <a:ext cx="2447925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7ACC5F7-2854-4AB6-8F5C-4C950BA406BC}"/>
              </a:ext>
            </a:extLst>
          </p:cNvPr>
          <p:cNvCxnSpPr/>
          <p:nvPr/>
        </p:nvCxnSpPr>
        <p:spPr bwMode="auto">
          <a:xfrm flipH="1">
            <a:off x="539750" y="2060575"/>
            <a:ext cx="2447925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1AB2BBE-0ABD-4E7D-A681-24492555396E}"/>
              </a:ext>
            </a:extLst>
          </p:cNvPr>
          <p:cNvCxnSpPr/>
          <p:nvPr/>
        </p:nvCxnSpPr>
        <p:spPr bwMode="auto">
          <a:xfrm flipH="1">
            <a:off x="8172450" y="1557338"/>
            <a:ext cx="720725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56FF4C7-A315-486F-AC06-BD1F6227DE33}"/>
              </a:ext>
            </a:extLst>
          </p:cNvPr>
          <p:cNvCxnSpPr/>
          <p:nvPr/>
        </p:nvCxnSpPr>
        <p:spPr bwMode="auto">
          <a:xfrm flipH="1">
            <a:off x="5580063" y="1844675"/>
            <a:ext cx="720725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B41BA03-BBAF-4773-BA71-6EB1447008C2}"/>
              </a:ext>
            </a:extLst>
          </p:cNvPr>
          <p:cNvCxnSpPr/>
          <p:nvPr/>
        </p:nvCxnSpPr>
        <p:spPr bwMode="auto">
          <a:xfrm flipH="1">
            <a:off x="5076825" y="3500438"/>
            <a:ext cx="1079500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C5ADA2D-9C84-45E9-A461-5094C8A3B7A0}"/>
              </a:ext>
            </a:extLst>
          </p:cNvPr>
          <p:cNvCxnSpPr/>
          <p:nvPr/>
        </p:nvCxnSpPr>
        <p:spPr bwMode="auto">
          <a:xfrm flipH="1">
            <a:off x="8351838" y="3789363"/>
            <a:ext cx="541337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59CFF9F-FCD8-472E-B5CB-6A9206A7C664}"/>
              </a:ext>
            </a:extLst>
          </p:cNvPr>
          <p:cNvCxnSpPr/>
          <p:nvPr/>
        </p:nvCxnSpPr>
        <p:spPr bwMode="auto">
          <a:xfrm flipH="1">
            <a:off x="3203575" y="4076700"/>
            <a:ext cx="576263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2">
            <a:extLst>
              <a:ext uri="{FF2B5EF4-FFF2-40B4-BE49-F238E27FC236}">
                <a16:creationId xmlns:a16="http://schemas.microsoft.com/office/drawing/2014/main" id="{607EC078-4162-459F-AF1C-180C62AA24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51"/>
          <a:stretch/>
        </p:blipFill>
        <p:spPr bwMode="auto">
          <a:xfrm>
            <a:off x="7962" y="5547282"/>
            <a:ext cx="9059863" cy="945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B166F66-33F6-401E-9360-26D7A412BB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Performance of two-level memory</a:t>
            </a:r>
          </a:p>
        </p:txBody>
      </p:sp>
      <p:graphicFrame>
        <p:nvGraphicFramePr>
          <p:cNvPr id="47107" name="Object 4">
            <a:extLst>
              <a:ext uri="{FF2B5EF4-FFF2-40B4-BE49-F238E27FC236}">
                <a16:creationId xmlns:a16="http://schemas.microsoft.com/office/drawing/2014/main" id="{6C174C41-501C-4EA4-B67D-F706609D6F16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755650" y="4452938"/>
          <a:ext cx="65166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公式" r:id="rId4" imgW="2933700" imgH="228600" progId="Equation.3">
                  <p:embed/>
                </p:oleObj>
              </mc:Choice>
              <mc:Fallback>
                <p:oleObj name="公式" r:id="rId4" imgW="29337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452938"/>
                        <a:ext cx="651668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108" name="Group 18">
            <a:extLst>
              <a:ext uri="{FF2B5EF4-FFF2-40B4-BE49-F238E27FC236}">
                <a16:creationId xmlns:a16="http://schemas.microsoft.com/office/drawing/2014/main" id="{8A0739D3-CB2D-48DB-A428-A995F145CBF4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412875"/>
            <a:ext cx="5211763" cy="3070225"/>
            <a:chOff x="839" y="890"/>
            <a:chExt cx="3283" cy="1934"/>
          </a:xfrm>
        </p:grpSpPr>
        <p:sp>
          <p:nvSpPr>
            <p:cNvPr id="47115" name="Line 6">
              <a:extLst>
                <a:ext uri="{FF2B5EF4-FFF2-40B4-BE49-F238E27FC236}">
                  <a16:creationId xmlns:a16="http://schemas.microsoft.com/office/drawing/2014/main" id="{8F3F052B-738F-4F33-AF7C-14AD1D8DC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935"/>
              <a:ext cx="0" cy="15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7116" name="Line 7">
              <a:extLst>
                <a:ext uri="{FF2B5EF4-FFF2-40B4-BE49-F238E27FC236}">
                  <a16:creationId xmlns:a16="http://schemas.microsoft.com/office/drawing/2014/main" id="{9FF583E2-82DE-4391-A068-7BBADE00B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2478"/>
              <a:ext cx="25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7117" name="Line 8">
              <a:extLst>
                <a:ext uri="{FF2B5EF4-FFF2-40B4-BE49-F238E27FC236}">
                  <a16:creationId xmlns:a16="http://schemas.microsoft.com/office/drawing/2014/main" id="{F69A723F-2AC3-470A-BB78-2EF2454E68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026"/>
              <a:ext cx="2449" cy="9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7118" name="Text Box 9">
              <a:extLst>
                <a:ext uri="{FF2B5EF4-FFF2-40B4-BE49-F238E27FC236}">
                  <a16:creationId xmlns:a16="http://schemas.microsoft.com/office/drawing/2014/main" id="{7E6F42F0-F616-4573-BE5D-381107CFE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1917"/>
              <a:ext cx="2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Char char="—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Char char="–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0000"/>
                </a:buClr>
                <a:buChar char="+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kumimoji="0"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7119" name="Text Box 10">
              <a:extLst>
                <a:ext uri="{FF2B5EF4-FFF2-40B4-BE49-F238E27FC236}">
                  <a16:creationId xmlns:a16="http://schemas.microsoft.com/office/drawing/2014/main" id="{82241A79-65BB-413D-BBF9-38CEB98F0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3" y="1298"/>
              <a:ext cx="2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Char char="—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Char char="–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0000"/>
                </a:buClr>
                <a:buChar char="+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kumimoji="0"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7120" name="Text Box 11">
              <a:extLst>
                <a:ext uri="{FF2B5EF4-FFF2-40B4-BE49-F238E27FC236}">
                  <a16:creationId xmlns:a16="http://schemas.microsoft.com/office/drawing/2014/main" id="{F10F1AB6-2E5F-45AC-857A-D8CE2F006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890"/>
              <a:ext cx="63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Char char="—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Char char="–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0000"/>
                </a:buClr>
                <a:buChar char="+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kumimoji="0"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+ T</a:t>
              </a:r>
              <a:r>
                <a:rPr kumimoji="0"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21" name="Line 12">
              <a:extLst>
                <a:ext uri="{FF2B5EF4-FFF2-40B4-BE49-F238E27FC236}">
                  <a16:creationId xmlns:a16="http://schemas.microsoft.com/office/drawing/2014/main" id="{E4603FC5-BC0D-4B86-8EAC-7E7A4F483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054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7122" name="Line 13">
              <a:extLst>
                <a:ext uri="{FF2B5EF4-FFF2-40B4-BE49-F238E27FC236}">
                  <a16:creationId xmlns:a16="http://schemas.microsoft.com/office/drawing/2014/main" id="{932552D4-BFE7-4459-9828-83B38ADC0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434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7123" name="Line 14">
              <a:extLst>
                <a:ext uri="{FF2B5EF4-FFF2-40B4-BE49-F238E27FC236}">
                  <a16:creationId xmlns:a16="http://schemas.microsoft.com/office/drawing/2014/main" id="{7B1F8CFA-06AF-459B-81CC-CC30F8B642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1026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7124" name="Text Box 15">
              <a:extLst>
                <a:ext uri="{FF2B5EF4-FFF2-40B4-BE49-F238E27FC236}">
                  <a16:creationId xmlns:a16="http://schemas.microsoft.com/office/drawing/2014/main" id="{63961B09-F291-4280-BA99-7864AA16C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2" y="2490"/>
              <a:ext cx="2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Char char="—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Char char="–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0000"/>
                </a:buClr>
                <a:buChar char="+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7125" name="Text Box 16">
              <a:extLst>
                <a:ext uri="{FF2B5EF4-FFF2-40B4-BE49-F238E27FC236}">
                  <a16:creationId xmlns:a16="http://schemas.microsoft.com/office/drawing/2014/main" id="{D9D986F8-C2CF-414F-8FA7-3C98EACA0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2" y="2536"/>
              <a:ext cx="2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Char char="—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Char char="–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0000"/>
                </a:buClr>
                <a:buChar char="+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47109" name="矩形 1">
            <a:extLst>
              <a:ext uri="{FF2B5EF4-FFF2-40B4-BE49-F238E27FC236}">
                <a16:creationId xmlns:a16="http://schemas.microsoft.com/office/drawing/2014/main" id="{5A35C2EA-08D3-4E68-AA2D-0B6DBC93A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4392613"/>
            <a:ext cx="1335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(4.2)</a:t>
            </a:r>
            <a:endParaRPr kumimoji="0" lang="en-GB" altLang="zh-CN" sz="28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0" name="矩形 1">
            <a:extLst>
              <a:ext uri="{FF2B5EF4-FFF2-40B4-BE49-F238E27FC236}">
                <a16:creationId xmlns:a16="http://schemas.microsoft.com/office/drawing/2014/main" id="{32426D11-507D-423D-8665-D082BF07F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962525"/>
            <a:ext cx="7364413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average (system) access time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800" b="1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access time of M1 (e.g., cache, disk cache)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access time of M2 (e.g., main memory, disk)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: hit ratio (fraction of time reference is found in M1)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111" name="矩形 1">
            <a:extLst>
              <a:ext uri="{FF2B5EF4-FFF2-40B4-BE49-F238E27FC236}">
                <a16:creationId xmlns:a16="http://schemas.microsoft.com/office/drawing/2014/main" id="{FF3F3B43-1623-4420-8A4C-FDA878B029B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-922338" y="2708276"/>
            <a:ext cx="2270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average access time</a:t>
            </a:r>
          </a:p>
        </p:txBody>
      </p:sp>
      <p:sp>
        <p:nvSpPr>
          <p:cNvPr id="47112" name="矩形 2">
            <a:extLst>
              <a:ext uri="{FF2B5EF4-FFF2-40B4-BE49-F238E27FC236}">
                <a16:creationId xmlns:a16="http://schemas.microsoft.com/office/drawing/2014/main" id="{94C7FE9E-C5B4-4EE5-9E0F-FEDD7CA31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703638"/>
            <a:ext cx="4841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五角星 3">
            <a:extLst>
              <a:ext uri="{FF2B5EF4-FFF2-40B4-BE49-F238E27FC236}">
                <a16:creationId xmlns:a16="http://schemas.microsoft.com/office/drawing/2014/main" id="{F3F76DD3-E937-4277-BD65-70C5F41DD133}"/>
              </a:ext>
            </a:extLst>
          </p:cNvPr>
          <p:cNvSpPr/>
          <p:nvPr/>
        </p:nvSpPr>
        <p:spPr bwMode="auto">
          <a:xfrm>
            <a:off x="123825" y="4392613"/>
            <a:ext cx="554038" cy="436562"/>
          </a:xfrm>
          <a:prstGeom prst="star5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/>
          <a:p>
            <a:pPr>
              <a:defRPr/>
            </a:pPr>
            <a:endParaRPr lang="zh-CN" alt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47114" name="直接连接符 5">
            <a:extLst>
              <a:ext uri="{FF2B5EF4-FFF2-40B4-BE49-F238E27FC236}">
                <a16:creationId xmlns:a16="http://schemas.microsoft.com/office/drawing/2014/main" id="{D5CE12C6-FAD3-4FB8-B6D5-1D23F80064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8038" y="4916488"/>
            <a:ext cx="3902075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B073C355-5355-40C7-9A7C-F6453A093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Performance of three-level memory</a:t>
            </a:r>
          </a:p>
        </p:txBody>
      </p:sp>
      <p:sp>
        <p:nvSpPr>
          <p:cNvPr id="47110" name="矩形 1">
            <a:extLst>
              <a:ext uri="{FF2B5EF4-FFF2-40B4-BE49-F238E27FC236}">
                <a16:creationId xmlns:a16="http://schemas.microsoft.com/office/drawing/2014/main" id="{E71500D7-9EA6-479C-B126-76A8E5175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1125538"/>
            <a:ext cx="7364412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average (system) access time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800" b="1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access time of M1 (e.g. cache)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access time of M2 (e.g., main memory)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access time of M3 (e.g., disk)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hit ratio (fraction of time reference is found in M1)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hit ratio (fraction of time reference is found in M2)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1E6D1E-8207-4679-94E9-2DAB108C4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519488"/>
            <a:ext cx="4608513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For main memory and disk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avg2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+(1-</a:t>
            </a: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 (</a:t>
            </a: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A16917-1E5C-4CF2-AD6A-07749B19E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797425"/>
            <a:ext cx="457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For cache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avg1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+(1-</a:t>
            </a: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 (</a:t>
            </a: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avg2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kumimoji="0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0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+(1-</a:t>
            </a:r>
            <a:r>
              <a:rPr kumimoji="0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kumimoji="0"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)[</a:t>
            </a:r>
            <a:r>
              <a:rPr kumimoji="0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+(1-</a:t>
            </a:r>
            <a:r>
              <a:rPr kumimoji="0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kumimoji="0"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kumimoji="0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0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0" grpId="0"/>
      <p:bldP spid="3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B073C355-5355-40C7-9A7C-F6453A093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Performance of three-level memory</a:t>
            </a:r>
          </a:p>
        </p:txBody>
      </p:sp>
      <p:sp>
        <p:nvSpPr>
          <p:cNvPr id="47110" name="矩形 1">
            <a:extLst>
              <a:ext uri="{FF2B5EF4-FFF2-40B4-BE49-F238E27FC236}">
                <a16:creationId xmlns:a16="http://schemas.microsoft.com/office/drawing/2014/main" id="{E71500D7-9EA6-479C-B126-76A8E5175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1125538"/>
            <a:ext cx="7364412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average (system) access time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800" b="1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access time of M1 (e.g. cache)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access time of M2 (e.g., main memory)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access time of M3 (e.g., disk)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hit ratio (fraction of time reference is found in M1)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hit ratio (fraction of time reference is found in M2)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6DD469C-B14B-4DFA-9491-B03AD4A00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748114"/>
              </p:ext>
            </p:extLst>
          </p:nvPr>
        </p:nvGraphicFramePr>
        <p:xfrm>
          <a:off x="899591" y="3629026"/>
          <a:ext cx="6850584" cy="174419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83528">
                  <a:extLst>
                    <a:ext uri="{9D8B030D-6E8A-4147-A177-3AD203B41FA5}">
                      <a16:colId xmlns:a16="http://schemas.microsoft.com/office/drawing/2014/main" val="1759961022"/>
                    </a:ext>
                  </a:extLst>
                </a:gridCol>
                <a:gridCol w="2283528">
                  <a:extLst>
                    <a:ext uri="{9D8B030D-6E8A-4147-A177-3AD203B41FA5}">
                      <a16:colId xmlns:a16="http://schemas.microsoft.com/office/drawing/2014/main" val="2938670475"/>
                    </a:ext>
                  </a:extLst>
                </a:gridCol>
                <a:gridCol w="2283528">
                  <a:extLst>
                    <a:ext uri="{9D8B030D-6E8A-4147-A177-3AD203B41FA5}">
                      <a16:colId xmlns:a16="http://schemas.microsoft.com/office/drawing/2014/main" val="912330409"/>
                    </a:ext>
                  </a:extLst>
                </a:gridCol>
              </a:tblGrid>
              <a:tr h="581397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Cache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CN" sz="2000" dirty="0"/>
                        <a:t>T</a:t>
                      </a:r>
                      <a:r>
                        <a:rPr kumimoji="0" lang="en-US" altLang="zh-CN" sz="2000" baseline="-25000" dirty="0"/>
                        <a:t>1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CN" sz="2000" dirty="0"/>
                        <a:t>H</a:t>
                      </a:r>
                      <a:r>
                        <a:rPr kumimoji="0" lang="en-US" altLang="zh-CN" sz="2000" baseline="-25000" dirty="0"/>
                        <a:t>1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500740"/>
                  </a:ext>
                </a:extLst>
              </a:tr>
              <a:tr h="581397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Main Memory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dirty="0"/>
                        <a:t>T</a:t>
                      </a:r>
                      <a:r>
                        <a:rPr kumimoji="0" lang="en-US" altLang="zh-CN" sz="2000" baseline="-25000" dirty="0"/>
                        <a:t>1</a:t>
                      </a:r>
                      <a:r>
                        <a:rPr kumimoji="0" lang="en-US" altLang="zh-CN" sz="2000" dirty="0"/>
                        <a:t>+T</a:t>
                      </a:r>
                      <a:r>
                        <a:rPr kumimoji="0" lang="en-US" altLang="zh-CN" sz="2000" baseline="-25000" dirty="0"/>
                        <a:t>2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CN" sz="2000" dirty="0"/>
                        <a:t>(1-H</a:t>
                      </a:r>
                      <a:r>
                        <a:rPr kumimoji="0" lang="en-US" altLang="zh-CN" sz="2000" baseline="-25000" dirty="0"/>
                        <a:t>1</a:t>
                      </a:r>
                      <a:r>
                        <a:rPr kumimoji="0" lang="en-US" altLang="zh-CN" sz="2000" dirty="0"/>
                        <a:t>) H</a:t>
                      </a:r>
                      <a:r>
                        <a:rPr kumimoji="0" lang="en-US" altLang="zh-CN" sz="2000" baseline="-25000" dirty="0"/>
                        <a:t>2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193018"/>
                  </a:ext>
                </a:extLst>
              </a:tr>
              <a:tr h="581397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Disk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CN" sz="2000" dirty="0"/>
                        <a:t>T</a:t>
                      </a:r>
                      <a:r>
                        <a:rPr kumimoji="0" lang="en-US" altLang="zh-CN" sz="2000" baseline="-25000" dirty="0"/>
                        <a:t>1</a:t>
                      </a:r>
                      <a:r>
                        <a:rPr kumimoji="0" lang="en-US" altLang="zh-CN" sz="2000" dirty="0"/>
                        <a:t>+T</a:t>
                      </a:r>
                      <a:r>
                        <a:rPr kumimoji="0" lang="en-US" altLang="zh-CN" sz="2000" baseline="-25000" dirty="0"/>
                        <a:t>2</a:t>
                      </a:r>
                      <a:r>
                        <a:rPr kumimoji="0" lang="en-US" altLang="zh-CN" sz="2000" dirty="0"/>
                        <a:t>+T</a:t>
                      </a:r>
                      <a:r>
                        <a:rPr kumimoji="0" lang="en-US" altLang="zh-CN" sz="2000" baseline="-25000" dirty="0"/>
                        <a:t>3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CN" sz="2000" dirty="0"/>
                        <a:t>(1-H</a:t>
                      </a:r>
                      <a:r>
                        <a:rPr kumimoji="0" lang="en-US" altLang="zh-CN" sz="2000" baseline="-25000" dirty="0"/>
                        <a:t>1</a:t>
                      </a:r>
                      <a:r>
                        <a:rPr kumimoji="0" lang="en-US" altLang="zh-CN" sz="2000" dirty="0"/>
                        <a:t>) (1-H</a:t>
                      </a:r>
                      <a:r>
                        <a:rPr kumimoji="0" lang="en-US" altLang="zh-CN" sz="2000" baseline="-25000" dirty="0"/>
                        <a:t>2</a:t>
                      </a:r>
                      <a:r>
                        <a:rPr kumimoji="0" lang="en-US" altLang="zh-CN" sz="2000" dirty="0"/>
                        <a:t>) 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850489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F1AAE0C-4637-4201-9859-91F6026CE495}"/>
              </a:ext>
            </a:extLst>
          </p:cNvPr>
          <p:cNvSpPr/>
          <p:nvPr/>
        </p:nvSpPr>
        <p:spPr>
          <a:xfrm>
            <a:off x="1019969" y="5742959"/>
            <a:ext cx="720581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=</a:t>
            </a:r>
            <a:r>
              <a:rPr lang="en-US" altLang="zh-CN" i="1" dirty="0">
                <a:ea typeface="宋体" panose="02010600030101010101" pitchFamily="2" charset="-122"/>
              </a:rPr>
              <a:t> H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+(</a:t>
            </a:r>
            <a:r>
              <a:rPr lang="en-US" altLang="zh-CN" i="1" dirty="0"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+</a:t>
            </a:r>
            <a:r>
              <a:rPr lang="en-US" altLang="zh-CN" i="1" dirty="0"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)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(1-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H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H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2 </a:t>
            </a:r>
            <a:r>
              <a:rPr lang="en-US" altLang="zh-CN" dirty="0">
                <a:ea typeface="宋体" panose="02010600030101010101" pitchFamily="2" charset="-122"/>
              </a:rPr>
              <a:t>+ (</a:t>
            </a:r>
            <a:r>
              <a:rPr lang="en-US" altLang="zh-CN" i="1" dirty="0"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+</a:t>
            </a:r>
            <a:r>
              <a:rPr lang="en-US" altLang="zh-CN" i="1" dirty="0"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+</a:t>
            </a:r>
            <a:r>
              <a:rPr lang="en-US" altLang="zh-CN" i="1" dirty="0"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ea typeface="宋体" panose="02010600030101010101" pitchFamily="2" charset="-122"/>
              </a:rPr>
              <a:t>3</a:t>
            </a:r>
            <a:r>
              <a:rPr lang="en-US" altLang="zh-CN" dirty="0">
                <a:ea typeface="宋体" panose="02010600030101010101" pitchFamily="2" charset="-122"/>
              </a:rPr>
              <a:t>)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(1-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H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) (1-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H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</a:p>
          <a:p>
            <a:r>
              <a:rPr lang="en-US" altLang="zh-CN" i="1">
                <a:ea typeface="宋体" panose="02010600030101010101" pitchFamily="2" charset="-122"/>
              </a:rPr>
              <a:t>  =</a:t>
            </a:r>
            <a:r>
              <a:rPr lang="en-US" altLang="zh-CN" i="1" dirty="0"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+(1-</a:t>
            </a:r>
            <a:r>
              <a:rPr lang="en-US" altLang="zh-CN" i="1" dirty="0">
                <a:ea typeface="宋体" panose="02010600030101010101" pitchFamily="2" charset="-122"/>
              </a:rPr>
              <a:t>H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r>
              <a:rPr lang="en-US" altLang="zh-CN" i="1" dirty="0"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+(1-</a:t>
            </a:r>
            <a:r>
              <a:rPr lang="en-US" altLang="zh-CN" i="1" dirty="0">
                <a:ea typeface="宋体" panose="02010600030101010101" pitchFamily="2" charset="-122"/>
              </a:rPr>
              <a:t>H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) (1-</a:t>
            </a:r>
            <a:r>
              <a:rPr lang="en-US" altLang="zh-CN" i="1" dirty="0">
                <a:ea typeface="宋体" panose="02010600030101010101" pitchFamily="2" charset="-122"/>
              </a:rPr>
              <a:t>H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) </a:t>
            </a:r>
            <a:r>
              <a:rPr lang="en-US" altLang="zh-CN" i="1" dirty="0">
                <a:ea typeface="宋体" panose="02010600030101010101" pitchFamily="2" charset="-122"/>
              </a:rPr>
              <a:t>T</a:t>
            </a:r>
            <a:r>
              <a:rPr lang="en-US" altLang="zh-CN" baseline="-25000" dirty="0">
                <a:ea typeface="宋体" panose="02010600030101010101" pitchFamily="2" charset="-122"/>
              </a:rPr>
              <a:t>3</a:t>
            </a:r>
            <a:r>
              <a:rPr lang="en-US" altLang="zh-CN" dirty="0">
                <a:ea typeface="宋体" panose="02010600030101010101" pitchFamily="2" charset="-122"/>
              </a:rPr>
              <a:t>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785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E6A04067-31C1-4EEC-84A1-E0EE1779B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Locality of reference (Appendix 4A)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009FD534-A4B9-412A-830B-3D8B38A42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528" y="2730214"/>
            <a:ext cx="8178800" cy="3742779"/>
          </a:xfrm>
        </p:spPr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Behaviour of programs</a:t>
            </a:r>
          </a:p>
          <a:p>
            <a:pPr lvl="1"/>
            <a:r>
              <a:rPr lang="en-GB" altLang="zh-CN" dirty="0">
                <a:solidFill>
                  <a:srgbClr val="0070C0"/>
                </a:solidFill>
                <a:ea typeface="宋体" panose="02010600030101010101" pitchFamily="2" charset="-122"/>
              </a:rPr>
              <a:t>Sequential execution</a:t>
            </a:r>
          </a:p>
          <a:p>
            <a:pPr lvl="1"/>
            <a:r>
              <a:rPr lang="en-GB" altLang="zh-CN" dirty="0">
                <a:solidFill>
                  <a:srgbClr val="0070C0"/>
                </a:solidFill>
                <a:ea typeface="宋体" panose="02010600030101010101" pitchFamily="2" charset="-122"/>
              </a:rPr>
              <a:t>Few procedures</a:t>
            </a:r>
            <a:r>
              <a:rPr lang="zh-CN" altLang="en-US" dirty="0">
                <a:ea typeface="宋体" panose="02010600030101010101" pitchFamily="2" charset="-122"/>
              </a:rPr>
              <a:t>：</a:t>
            </a:r>
            <a:r>
              <a:rPr lang="en-US" altLang="zh-CN" dirty="0">
                <a:ea typeface="宋体" panose="02010600030101010101" pitchFamily="2" charset="-122"/>
              </a:rPr>
              <a:t>A program remains confined to a rather narrow window of procedure-invocation depth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/>
            <a:r>
              <a:rPr lang="en-GB" altLang="zh-CN" dirty="0">
                <a:solidFill>
                  <a:srgbClr val="0070C0"/>
                </a:solidFill>
                <a:ea typeface="宋体" panose="02010600030101010101" pitchFamily="2" charset="-122"/>
              </a:rPr>
              <a:t>Iterative constructs</a:t>
            </a:r>
            <a:r>
              <a:rPr lang="en-GB" altLang="zh-CN" dirty="0">
                <a:ea typeface="宋体" panose="02010600030101010101" pitchFamily="2" charset="-122"/>
              </a:rPr>
              <a:t>:</a:t>
            </a:r>
            <a:r>
              <a:rPr lang="en-US" altLang="zh-CN" dirty="0"/>
              <a:t> Most iterative constructs consist of a relatively small number of instructions repeated many times</a:t>
            </a:r>
            <a:endParaRPr lang="en-GB" altLang="zh-CN" dirty="0">
              <a:ea typeface="宋体" panose="02010600030101010101" pitchFamily="2" charset="-122"/>
            </a:endParaRPr>
          </a:p>
          <a:p>
            <a:pPr lvl="1"/>
            <a:r>
              <a:rPr lang="en-GB" altLang="zh-CN" dirty="0">
                <a:solidFill>
                  <a:srgbClr val="0070C0"/>
                </a:solidFill>
                <a:ea typeface="宋体" panose="02010600030101010101" pitchFamily="2" charset="-122"/>
              </a:rPr>
              <a:t>Arrays or sequences of records</a:t>
            </a:r>
          </a:p>
        </p:txBody>
      </p:sp>
      <p:sp>
        <p:nvSpPr>
          <p:cNvPr id="51204" name="矩形 1">
            <a:extLst>
              <a:ext uri="{FF2B5EF4-FFF2-40B4-BE49-F238E27FC236}">
                <a16:creationId xmlns:a16="http://schemas.microsoft.com/office/drawing/2014/main" id="{E42399E7-CBFB-45DD-9549-EEEC3DC85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96975"/>
            <a:ext cx="8353425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TimesTen-Roman"/>
                <a:ea typeface="宋体" panose="02010600030101010101" pitchFamily="2" charset="-122"/>
              </a:rPr>
              <a:t>Decreasing frequency of access of the memory by the processor?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 dirty="0">
                <a:latin typeface="TimesTen-Roman"/>
                <a:ea typeface="宋体" panose="02010600030101010101" pitchFamily="2" charset="-122"/>
              </a:rPr>
              <a:t>=&gt;</a:t>
            </a:r>
            <a:r>
              <a:rPr kumimoji="0" lang="en-US" altLang="zh-CN" sz="2400" b="1" u="sng" dirty="0">
                <a:latin typeface="TimesTen-Roman"/>
                <a:ea typeface="宋体" panose="02010600030101010101" pitchFamily="2" charset="-122"/>
              </a:rPr>
              <a:t>Locality of reference</a:t>
            </a:r>
            <a:r>
              <a:rPr kumimoji="0" lang="en-US" altLang="zh-CN" sz="2400" b="1" dirty="0">
                <a:latin typeface="TimesTen-Roman"/>
                <a:ea typeface="宋体" panose="02010600030101010101" pitchFamily="2" charset="-122"/>
              </a:rPr>
              <a:t>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 dirty="0">
                <a:solidFill>
                  <a:srgbClr val="00B050"/>
                </a:solidFill>
                <a:latin typeface="TimesTen-Roman"/>
                <a:ea typeface="宋体" panose="02010600030101010101" pitchFamily="2" charset="-122"/>
              </a:rPr>
              <a:t>    </a:t>
            </a:r>
            <a:r>
              <a:rPr kumimoji="0" lang="en-US" altLang="zh-CN" b="1" dirty="0">
                <a:solidFill>
                  <a:srgbClr val="FF0000"/>
                </a:solidFill>
                <a:latin typeface="TimesTen-Roman"/>
                <a:ea typeface="宋体" panose="02010600030101010101" pitchFamily="2" charset="-122"/>
              </a:rPr>
              <a:t>Memory references tend to cluster. </a:t>
            </a:r>
            <a:endParaRPr kumimoji="0" lang="zh-CN" altLang="en-US" sz="2400" b="1" dirty="0">
              <a:solidFill>
                <a:srgbClr val="FF0000"/>
              </a:solidFill>
              <a:latin typeface="TimesTen-Roman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E6A04067-31C1-4EEC-84A1-E0EE1779B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Locality of reference (Appendix 4A)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009FD534-A4B9-412A-830B-3D8B38A42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8770" y="1196752"/>
            <a:ext cx="8178800" cy="5445224"/>
          </a:xfrm>
        </p:spPr>
        <p:txBody>
          <a:bodyPr/>
          <a:lstStyle/>
          <a:p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Spatial locality </a:t>
            </a:r>
            <a:r>
              <a:rPr lang="en-US" altLang="zh-CN" dirty="0"/>
              <a:t>refers to the tendency of execution to involve a number of</a:t>
            </a:r>
            <a:br>
              <a:rPr lang="en-US" altLang="zh-CN" dirty="0"/>
            </a:br>
            <a:r>
              <a:rPr lang="en-US" altLang="zh-CN" dirty="0"/>
              <a:t>memory locations that are clustered. </a:t>
            </a:r>
            <a:br>
              <a:rPr lang="en-US" altLang="zh-CN" dirty="0"/>
            </a:br>
            <a:endParaRPr lang="en-GB" altLang="zh-CN" dirty="0">
              <a:ea typeface="宋体" panose="02010600030101010101" pitchFamily="2" charset="-122"/>
            </a:endParaRPr>
          </a:p>
          <a:p>
            <a:r>
              <a:rPr lang="en-US" altLang="zh-CN" dirty="0"/>
              <a:t>for (</a:t>
            </a:r>
            <a:r>
              <a:rPr lang="en-US" altLang="zh-CN" dirty="0" err="1"/>
              <a:t>i</a:t>
            </a:r>
            <a:r>
              <a:rPr lang="en-US" altLang="zh-CN" dirty="0"/>
              <a:t>=0;i&lt;10;i++) </a:t>
            </a:r>
            <a:r>
              <a:rPr lang="en-US" altLang="zh-CN" dirty="0">
                <a:solidFill>
                  <a:srgbClr val="FF0000"/>
                </a:solidFill>
              </a:rPr>
              <a:t>b[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  <a:r>
              <a:rPr lang="en-US" altLang="zh-CN" dirty="0"/>
              <a:t>=0</a:t>
            </a:r>
          </a:p>
          <a:p>
            <a:endParaRPr lang="en-US" altLang="zh-CN" dirty="0"/>
          </a:p>
          <a:p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Temporal locality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refers to the tendency for a processor to access memory locations that have been used recently </a:t>
            </a:r>
            <a:br>
              <a:rPr lang="en-US" altLang="zh-CN" dirty="0"/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/>
              <a:t>for (</a:t>
            </a:r>
            <a:r>
              <a:rPr lang="en-US" altLang="zh-CN" dirty="0" err="1"/>
              <a:t>i</a:t>
            </a:r>
            <a:r>
              <a:rPr lang="en-US" altLang="zh-CN" dirty="0"/>
              <a:t>=0;i&lt;10;i++) </a:t>
            </a:r>
            <a:r>
              <a:rPr lang="en-US" altLang="zh-CN" dirty="0">
                <a:solidFill>
                  <a:srgbClr val="0070C0"/>
                </a:solidFill>
              </a:rPr>
              <a:t>a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70C0"/>
                </a:solidFill>
              </a:rPr>
              <a:t>a</a:t>
            </a:r>
            <a:r>
              <a:rPr lang="en-US" altLang="zh-CN" dirty="0"/>
              <a:t>+1</a:t>
            </a:r>
            <a:endParaRPr lang="en-GB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7128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图片 2">
            <a:extLst>
              <a:ext uri="{FF2B5EF4-FFF2-40B4-BE49-F238E27FC236}">
                <a16:creationId xmlns:a16="http://schemas.microsoft.com/office/drawing/2014/main" id="{3EABFBF4-7EA2-4AB5-A01E-8F7F89450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282825"/>
            <a:ext cx="5689600" cy="450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1" name="Rectangle 2">
            <a:extLst>
              <a:ext uri="{FF2B5EF4-FFF2-40B4-BE49-F238E27FC236}">
                <a16:creationId xmlns:a16="http://schemas.microsoft.com/office/drawing/2014/main" id="{B7D82A91-D9EB-4657-8819-CEC077912C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4.2 Cache memory principles</a:t>
            </a:r>
            <a:endParaRPr lang="en-GB" altLang="zh-CN">
              <a:ea typeface="宋体" panose="02010600030101010101" pitchFamily="2" charset="-122"/>
            </a:endParaRP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E1B2E97-0EC9-4EFB-A6DC-C20FA374FF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178800" cy="1457325"/>
          </a:xfrm>
        </p:spPr>
        <p:txBody>
          <a:bodyPr/>
          <a:lstStyle/>
          <a:p>
            <a:r>
              <a:rPr lang="en-GB" altLang="zh-CN" sz="2400" dirty="0">
                <a:ea typeface="宋体" panose="02010600030101010101" pitchFamily="2" charset="-122"/>
              </a:rPr>
              <a:t>Small amount of fast memory</a:t>
            </a:r>
          </a:p>
          <a:p>
            <a:r>
              <a:rPr lang="en-GB" altLang="zh-CN" sz="2400" dirty="0">
                <a:ea typeface="宋体" panose="02010600030101010101" pitchFamily="2" charset="-122"/>
              </a:rPr>
              <a:t>Sits between normal main memory and CPU</a:t>
            </a:r>
          </a:p>
          <a:p>
            <a:r>
              <a:rPr lang="en-GB" altLang="zh-CN" sz="2400" dirty="0">
                <a:ea typeface="宋体" panose="02010600030101010101" pitchFamily="2" charset="-122"/>
              </a:rPr>
              <a:t>May be located on CPU chip or module</a:t>
            </a:r>
          </a:p>
          <a:p>
            <a:endParaRPr lang="en-GB" altLang="zh-CN" dirty="0"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57B175-A4A2-44B6-A33A-32470583ADC5}"/>
              </a:ext>
            </a:extLst>
          </p:cNvPr>
          <p:cNvSpPr/>
          <p:nvPr/>
        </p:nvSpPr>
        <p:spPr>
          <a:xfrm>
            <a:off x="6116638" y="4162425"/>
            <a:ext cx="195262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dirty="0">
                <a:solidFill>
                  <a:srgbClr val="FF0000"/>
                </a:solidFill>
                <a:latin typeface="+mn-lt"/>
                <a:ea typeface="宋体" pitchFamily="2" charset="-122"/>
              </a:rPr>
              <a:t>Large, slow</a:t>
            </a:r>
            <a:endParaRPr kumimoji="1" lang="zh-CN" altLang="en-US" dirty="0">
              <a:solidFill>
                <a:srgbClr val="FF0000"/>
              </a:solidFill>
              <a:latin typeface="+mn-lt"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69C616-4173-466B-AF1C-853A4C3924F0}"/>
              </a:ext>
            </a:extLst>
          </p:cNvPr>
          <p:cNvSpPr/>
          <p:nvPr/>
        </p:nvSpPr>
        <p:spPr>
          <a:xfrm>
            <a:off x="3340100" y="4194175"/>
            <a:ext cx="1846263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dirty="0">
                <a:solidFill>
                  <a:srgbClr val="FF0000"/>
                </a:solidFill>
                <a:latin typeface="+mn-lt"/>
                <a:ea typeface="宋体" pitchFamily="2" charset="-122"/>
              </a:rPr>
              <a:t>Small, fast</a:t>
            </a:r>
            <a:endParaRPr kumimoji="1" lang="zh-CN" altLang="en-US" dirty="0">
              <a:solidFill>
                <a:srgbClr val="FF0000"/>
              </a:solidFill>
              <a:latin typeface="+mn-lt"/>
              <a:ea typeface="宋体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439F4FF-B554-43CC-91A1-AE98359C368C}"/>
              </a:ext>
            </a:extLst>
          </p:cNvPr>
          <p:cNvSpPr/>
          <p:nvPr/>
        </p:nvSpPr>
        <p:spPr bwMode="auto">
          <a:xfrm>
            <a:off x="2555875" y="2420938"/>
            <a:ext cx="1223963" cy="863600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15AAB61-8604-4EC5-B1E1-932D554FE8A8}"/>
              </a:ext>
            </a:extLst>
          </p:cNvPr>
          <p:cNvSpPr/>
          <p:nvPr/>
        </p:nvSpPr>
        <p:spPr bwMode="auto">
          <a:xfrm>
            <a:off x="4284663" y="2276475"/>
            <a:ext cx="1223962" cy="865188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1B600CCD-8683-4135-81B2-F8BB9CA45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Cache/Main Memory Structure</a:t>
            </a:r>
          </a:p>
        </p:txBody>
      </p:sp>
      <p:pic>
        <p:nvPicPr>
          <p:cNvPr id="55299" name="Picture 4">
            <a:extLst>
              <a:ext uri="{FF2B5EF4-FFF2-40B4-BE49-F238E27FC236}">
                <a16:creationId xmlns:a16="http://schemas.microsoft.com/office/drawing/2014/main" id="{19999FBE-7F93-40A2-9320-D1B756B23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43"/>
          <a:stretch>
            <a:fillRect/>
          </a:stretch>
        </p:blipFill>
        <p:spPr bwMode="auto">
          <a:xfrm>
            <a:off x="609600" y="1063625"/>
            <a:ext cx="7866063" cy="579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椭圆 1">
            <a:extLst>
              <a:ext uri="{FF2B5EF4-FFF2-40B4-BE49-F238E27FC236}">
                <a16:creationId xmlns:a16="http://schemas.microsoft.com/office/drawing/2014/main" id="{205C5588-B003-4C73-A6C0-BB2E72630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90600"/>
            <a:ext cx="790575" cy="638175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301" name="椭圆 4">
            <a:extLst>
              <a:ext uri="{FF2B5EF4-FFF2-40B4-BE49-F238E27FC236}">
                <a16:creationId xmlns:a16="http://schemas.microsoft.com/office/drawing/2014/main" id="{F4B9746F-B885-4F93-BA88-45FF84FC2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196975"/>
            <a:ext cx="441325" cy="338138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302" name="椭圆 5">
            <a:extLst>
              <a:ext uri="{FF2B5EF4-FFF2-40B4-BE49-F238E27FC236}">
                <a16:creationId xmlns:a16="http://schemas.microsoft.com/office/drawing/2014/main" id="{B1539EB4-2B29-4E2A-9BF0-C9F4DBD76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1062038"/>
            <a:ext cx="792163" cy="638175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303" name="椭圆 6">
            <a:extLst>
              <a:ext uri="{FF2B5EF4-FFF2-40B4-BE49-F238E27FC236}">
                <a16:creationId xmlns:a16="http://schemas.microsoft.com/office/drawing/2014/main" id="{FEF69FFB-9713-46D8-88F8-3BAC92344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981075"/>
            <a:ext cx="792162" cy="638175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304" name="椭圆 7">
            <a:extLst>
              <a:ext uri="{FF2B5EF4-FFF2-40B4-BE49-F238E27FC236}">
                <a16:creationId xmlns:a16="http://schemas.microsoft.com/office/drawing/2014/main" id="{866C2923-2455-44CE-A7ED-F69C223C7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3213100"/>
            <a:ext cx="1008062" cy="638175"/>
          </a:xfrm>
          <a:prstGeom prst="ellipse">
            <a:avLst/>
          </a:prstGeom>
          <a:noFill/>
          <a:ln w="9525" algn="ctr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305" name="椭圆 8">
            <a:extLst>
              <a:ext uri="{FF2B5EF4-FFF2-40B4-BE49-F238E27FC236}">
                <a16:creationId xmlns:a16="http://schemas.microsoft.com/office/drawing/2014/main" id="{DCC686F4-19C4-4086-9010-F9891D1D0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1854200"/>
            <a:ext cx="792163" cy="638175"/>
          </a:xfrm>
          <a:prstGeom prst="ellipse">
            <a:avLst/>
          </a:prstGeom>
          <a:noFill/>
          <a:ln w="9525" algn="ctr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306" name="矩形 1">
            <a:extLst>
              <a:ext uri="{FF2B5EF4-FFF2-40B4-BE49-F238E27FC236}">
                <a16:creationId xmlns:a16="http://schemas.microsoft.com/office/drawing/2014/main" id="{9E072C8F-92E9-486C-B1AA-848AE53CD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5103813"/>
            <a:ext cx="47609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3600" i="1">
                <a:latin typeface="Times New Roman" panose="02020603050405020304" pitchFamily="18" charset="0"/>
                <a:ea typeface="宋体" panose="02010600030101010101" pitchFamily="2" charset="-122"/>
              </a:rPr>
              <a:t>No. of  Blocks </a:t>
            </a:r>
            <a:r>
              <a:rPr kumimoji="0" lang="en-US" altLang="zh-CN" sz="3600">
                <a:latin typeface="Times New Roman" panose="02020603050405020304" pitchFamily="18" charset="0"/>
                <a:ea typeface="宋体" panose="02010600030101010101" pitchFamily="2" charset="-122"/>
              </a:rPr>
              <a:t>:  </a:t>
            </a:r>
            <a:r>
              <a:rPr kumimoji="0" lang="en-US" altLang="zh-CN" sz="3600" b="1" i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0"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  <a:r>
              <a:rPr kumimoji="0" lang="en-US" altLang="zh-CN" sz="3600" b="1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0"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kumimoji="0" lang="en-US" altLang="zh-CN" sz="3600" b="1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3600" i="1">
                <a:latin typeface="Times New Roman" panose="02020603050405020304" pitchFamily="18" charset="0"/>
                <a:ea typeface="宋体" panose="02010600030101010101" pitchFamily="2" charset="-122"/>
              </a:rPr>
              <a:t>No. of lines </a:t>
            </a:r>
            <a:r>
              <a:rPr kumimoji="0" lang="en-US" altLang="zh-CN" sz="36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kumimoji="0" lang="en-US" altLang="zh-CN" sz="3600" b="1" i="1">
                <a:latin typeface="Times New Roman" panose="02020603050405020304" pitchFamily="18" charset="0"/>
                <a:ea typeface="宋体" panose="02010600030101010101" pitchFamily="2" charset="-122"/>
              </a:rPr>
              <a:t>C &lt;&lt; M</a:t>
            </a:r>
            <a:endParaRPr kumimoji="0" lang="zh-CN" altLang="en-US" sz="36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09B24A37-AAB5-4B3A-A4B6-4A344E6A4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Cache operation – overview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987D1B10-725D-44FE-9438-1091BC5E4F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CPU requests contents of </a:t>
            </a:r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memory location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Check cache for this data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If present, get from cache (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hit</a:t>
            </a:r>
            <a:r>
              <a:rPr lang="en-GB" altLang="zh-CN" dirty="0">
                <a:ea typeface="宋体" panose="02010600030101010101" pitchFamily="2" charset="-122"/>
              </a:rPr>
              <a:t>)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If not present (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miss</a:t>
            </a:r>
            <a:r>
              <a:rPr lang="en-GB" altLang="zh-CN" dirty="0">
                <a:ea typeface="宋体" panose="02010600030101010101" pitchFamily="2" charset="-122"/>
              </a:rPr>
              <a:t>), read required </a:t>
            </a:r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block</a:t>
            </a:r>
            <a:r>
              <a:rPr lang="en-GB" altLang="zh-CN" dirty="0">
                <a:ea typeface="宋体" panose="02010600030101010101" pitchFamily="2" charset="-122"/>
              </a:rPr>
              <a:t> from main memory to cache Then deliver from cache to CPU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Cache includes </a:t>
            </a:r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tags</a:t>
            </a:r>
            <a:r>
              <a:rPr lang="en-GB" altLang="zh-CN" dirty="0">
                <a:ea typeface="宋体" panose="02010600030101010101" pitchFamily="2" charset="-122"/>
              </a:rPr>
              <a:t> to identify which block of main memory is in each cache slot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DFC7480B-A1AE-4C78-8820-34FA3E4C0B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Cache Read Operation - Flowchart</a:t>
            </a:r>
          </a:p>
        </p:txBody>
      </p:sp>
      <p:pic>
        <p:nvPicPr>
          <p:cNvPr id="51203" name="Picture 4">
            <a:extLst>
              <a:ext uri="{FF2B5EF4-FFF2-40B4-BE49-F238E27FC236}">
                <a16:creationId xmlns:a16="http://schemas.microsoft.com/office/drawing/2014/main" id="{83201A54-6BC8-4E18-963C-E52DC6E33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14"/>
          <a:stretch>
            <a:fillRect/>
          </a:stretch>
        </p:blipFill>
        <p:spPr bwMode="auto">
          <a:xfrm>
            <a:off x="1692275" y="1125538"/>
            <a:ext cx="6048375" cy="562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24AE940A-4E78-4A1C-AE47-44F96066238A}"/>
              </a:ext>
            </a:extLst>
          </p:cNvPr>
          <p:cNvCxnSpPr>
            <a:cxnSpLocks/>
          </p:cNvCxnSpPr>
          <p:nvPr/>
        </p:nvCxnSpPr>
        <p:spPr bwMode="auto">
          <a:xfrm>
            <a:off x="2555875" y="1412875"/>
            <a:ext cx="0" cy="431800"/>
          </a:xfrm>
          <a:prstGeom prst="straightConnector1">
            <a:avLst/>
          </a:prstGeom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C7D7A32-57F6-4C62-8EF6-E119C3844EB7}"/>
              </a:ext>
            </a:extLst>
          </p:cNvPr>
          <p:cNvCxnSpPr>
            <a:cxnSpLocks/>
          </p:cNvCxnSpPr>
          <p:nvPr/>
        </p:nvCxnSpPr>
        <p:spPr bwMode="auto">
          <a:xfrm>
            <a:off x="2555875" y="2393950"/>
            <a:ext cx="0" cy="431800"/>
          </a:xfrm>
          <a:prstGeom prst="straightConnector1">
            <a:avLst/>
          </a:prstGeom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1B725AA-0FAC-4AF8-8B6A-E142AD4CB70A}"/>
              </a:ext>
            </a:extLst>
          </p:cNvPr>
          <p:cNvCxnSpPr>
            <a:cxnSpLocks/>
          </p:cNvCxnSpPr>
          <p:nvPr/>
        </p:nvCxnSpPr>
        <p:spPr bwMode="auto">
          <a:xfrm>
            <a:off x="2555875" y="3429000"/>
            <a:ext cx="0" cy="387350"/>
          </a:xfrm>
          <a:prstGeom prst="straightConnector1">
            <a:avLst/>
          </a:prstGeom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16520E9-18FD-48AC-8E3A-F21BCC9D18BC}"/>
              </a:ext>
            </a:extLst>
          </p:cNvPr>
          <p:cNvCxnSpPr>
            <a:cxnSpLocks/>
          </p:cNvCxnSpPr>
          <p:nvPr/>
        </p:nvCxnSpPr>
        <p:spPr bwMode="auto">
          <a:xfrm flipH="1">
            <a:off x="2555875" y="4392613"/>
            <a:ext cx="0" cy="2016125"/>
          </a:xfrm>
          <a:prstGeom prst="straightConnector1">
            <a:avLst/>
          </a:prstGeom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弧形 28">
            <a:extLst>
              <a:ext uri="{FF2B5EF4-FFF2-40B4-BE49-F238E27FC236}">
                <a16:creationId xmlns:a16="http://schemas.microsoft.com/office/drawing/2014/main" id="{DBD9F518-0104-4A0A-80DE-C2DC12F37236}"/>
              </a:ext>
            </a:extLst>
          </p:cNvPr>
          <p:cNvSpPr/>
          <p:nvPr/>
        </p:nvSpPr>
        <p:spPr bwMode="auto">
          <a:xfrm>
            <a:off x="2627313" y="3357563"/>
            <a:ext cx="3024187" cy="3095625"/>
          </a:xfrm>
          <a:prstGeom prst="arc">
            <a:avLst>
              <a:gd name="adj1" fmla="val 16133805"/>
              <a:gd name="adj2" fmla="val 5462281"/>
            </a:avLst>
          </a:prstGeom>
          <a:noFill/>
          <a:ln w="28575" cap="flat" cmpd="sng" algn="ctr">
            <a:solidFill>
              <a:schemeClr val="accent1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 lIns="90000" tIns="46800" rIns="90000" bIns="4680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8C30704-7AD8-4101-9F36-0E22E0292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025" y="5157788"/>
            <a:ext cx="12033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Parallel operation</a:t>
            </a:r>
            <a:endParaRPr kumimoji="0" lang="zh-CN" altLang="en-US" sz="200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BD7CA0A6-24F4-4DEB-80CD-DB9F1B382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Typical Cache Organization</a:t>
            </a:r>
          </a:p>
        </p:txBody>
      </p:sp>
      <p:pic>
        <p:nvPicPr>
          <p:cNvPr id="61443" name="Picture 4">
            <a:extLst>
              <a:ext uri="{FF2B5EF4-FFF2-40B4-BE49-F238E27FC236}">
                <a16:creationId xmlns:a16="http://schemas.microsoft.com/office/drawing/2014/main" id="{05D6F95C-68A9-4C5A-9DFF-9EE538026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63"/>
          <a:stretch>
            <a:fillRect/>
          </a:stretch>
        </p:blipFill>
        <p:spPr bwMode="auto">
          <a:xfrm>
            <a:off x="849313" y="1196975"/>
            <a:ext cx="7212012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弧形 3">
            <a:extLst>
              <a:ext uri="{FF2B5EF4-FFF2-40B4-BE49-F238E27FC236}">
                <a16:creationId xmlns:a16="http://schemas.microsoft.com/office/drawing/2014/main" id="{ED166D04-4806-495E-8E77-F1037F47E924}"/>
              </a:ext>
            </a:extLst>
          </p:cNvPr>
          <p:cNvSpPr/>
          <p:nvPr/>
        </p:nvSpPr>
        <p:spPr bwMode="auto">
          <a:xfrm>
            <a:off x="1979613" y="3213100"/>
            <a:ext cx="1800225" cy="863600"/>
          </a:xfrm>
          <a:prstGeom prst="arc">
            <a:avLst>
              <a:gd name="adj1" fmla="val 13088773"/>
              <a:gd name="adj2" fmla="val 8359335"/>
            </a:avLst>
          </a:prstGeom>
          <a:noFill/>
          <a:ln w="28575" cap="flat" cmpd="sng" algn="ctr">
            <a:solidFill>
              <a:srgbClr val="00B05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wrap="none" lIns="90000" tIns="46800" rIns="90000" bIns="4680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" name="禁止符 1">
            <a:extLst>
              <a:ext uri="{FF2B5EF4-FFF2-40B4-BE49-F238E27FC236}">
                <a16:creationId xmlns:a16="http://schemas.microsoft.com/office/drawing/2014/main" id="{B563A2E4-C8AD-49A8-8E6C-1473DDBA3FAB}"/>
              </a:ext>
            </a:extLst>
          </p:cNvPr>
          <p:cNvSpPr/>
          <p:nvPr/>
        </p:nvSpPr>
        <p:spPr bwMode="auto">
          <a:xfrm>
            <a:off x="7235825" y="1557338"/>
            <a:ext cx="215900" cy="215900"/>
          </a:xfrm>
          <a:prstGeom prst="noSmoking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禁止符 5">
            <a:extLst>
              <a:ext uri="{FF2B5EF4-FFF2-40B4-BE49-F238E27FC236}">
                <a16:creationId xmlns:a16="http://schemas.microsoft.com/office/drawing/2014/main" id="{EFE8DF9F-E4E6-4041-BE2D-AEB7488C8D59}"/>
              </a:ext>
            </a:extLst>
          </p:cNvPr>
          <p:cNvSpPr/>
          <p:nvPr/>
        </p:nvSpPr>
        <p:spPr bwMode="auto">
          <a:xfrm>
            <a:off x="7240588" y="5553075"/>
            <a:ext cx="215900" cy="215900"/>
          </a:xfrm>
          <a:prstGeom prst="noSmoking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61447" name="矩形 2">
            <a:extLst>
              <a:ext uri="{FF2B5EF4-FFF2-40B4-BE49-F238E27FC236}">
                <a16:creationId xmlns:a16="http://schemas.microsoft.com/office/drawing/2014/main" id="{059539F8-EA1F-4935-90C5-88B16EDE5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2852738"/>
            <a:ext cx="611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Hit</a:t>
            </a:r>
            <a:endParaRPr kumimoji="0" lang="zh-CN" altLang="en-US" sz="2400" b="1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D009B390-A5BE-474E-8B7D-24FF8E515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Typical Cache Organization</a:t>
            </a:r>
          </a:p>
        </p:txBody>
      </p:sp>
      <p:pic>
        <p:nvPicPr>
          <p:cNvPr id="53251" name="Picture 4">
            <a:extLst>
              <a:ext uri="{FF2B5EF4-FFF2-40B4-BE49-F238E27FC236}">
                <a16:creationId xmlns:a16="http://schemas.microsoft.com/office/drawing/2014/main" id="{367B039B-D473-4670-82FC-B8F8E8D57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63"/>
          <a:stretch>
            <a:fillRect/>
          </a:stretch>
        </p:blipFill>
        <p:spPr bwMode="auto">
          <a:xfrm>
            <a:off x="849313" y="1196975"/>
            <a:ext cx="7212012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FB83626-3757-480A-AF31-FA02AD522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2852738"/>
            <a:ext cx="800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Miss</a:t>
            </a:r>
            <a:endParaRPr kumimoji="0"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3581CC9-3A14-40EF-9133-F8F29ED4E0F4}"/>
              </a:ext>
            </a:extLst>
          </p:cNvPr>
          <p:cNvCxnSpPr>
            <a:cxnSpLocks/>
          </p:cNvCxnSpPr>
          <p:nvPr/>
        </p:nvCxnSpPr>
        <p:spPr bwMode="auto">
          <a:xfrm>
            <a:off x="7073900" y="1673225"/>
            <a:ext cx="576263" cy="0"/>
          </a:xfrm>
          <a:prstGeom prst="straightConnector1">
            <a:avLst/>
          </a:prstGeom>
          <a:noFill/>
          <a:ln w="476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53E5D7B8-4763-46E3-B229-9685A056E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3" y="5553075"/>
            <a:ext cx="358775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865C8887-0A7B-4788-ACD6-4D5D669D1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063" y="5553075"/>
            <a:ext cx="492125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04DAAA41-C3AE-434A-850B-46518B8D4AEC}"/>
              </a:ext>
            </a:extLst>
          </p:cNvPr>
          <p:cNvCxnSpPr>
            <a:cxnSpLocks/>
          </p:cNvCxnSpPr>
          <p:nvPr/>
        </p:nvCxnSpPr>
        <p:spPr bwMode="auto">
          <a:xfrm flipH="1">
            <a:off x="7104063" y="5661025"/>
            <a:ext cx="503237" cy="0"/>
          </a:xfrm>
          <a:prstGeom prst="straightConnector1">
            <a:avLst/>
          </a:prstGeom>
          <a:noFill/>
          <a:ln w="603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035B010-8958-47DF-AAA6-C5305987EBC4}"/>
              </a:ext>
            </a:extLst>
          </p:cNvPr>
          <p:cNvCxnSpPr>
            <a:cxnSpLocks/>
          </p:cNvCxnSpPr>
          <p:nvPr/>
        </p:nvCxnSpPr>
        <p:spPr bwMode="auto">
          <a:xfrm flipH="1">
            <a:off x="2411413" y="5661025"/>
            <a:ext cx="4248150" cy="0"/>
          </a:xfrm>
          <a:prstGeom prst="straightConnector1">
            <a:avLst/>
          </a:prstGeom>
          <a:noFill/>
          <a:ln w="6667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1" name="图片 30">
            <a:extLst>
              <a:ext uri="{FF2B5EF4-FFF2-40B4-BE49-F238E27FC236}">
                <a16:creationId xmlns:a16="http://schemas.microsoft.com/office/drawing/2014/main" id="{608BEF89-5E12-40F1-80F5-10F329FB5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38" y="5373688"/>
            <a:ext cx="492125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AC9E2EA-4E66-492C-AC46-C93B1D5C3AD0}"/>
              </a:ext>
            </a:extLst>
          </p:cNvPr>
          <p:cNvCxnSpPr>
            <a:cxnSpLocks/>
          </p:cNvCxnSpPr>
          <p:nvPr/>
        </p:nvCxnSpPr>
        <p:spPr bwMode="auto">
          <a:xfrm flipV="1">
            <a:off x="4572000" y="4627563"/>
            <a:ext cx="0" cy="1033462"/>
          </a:xfrm>
          <a:prstGeom prst="straightConnector1">
            <a:avLst/>
          </a:prstGeom>
          <a:noFill/>
          <a:ln w="603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8B7F3F6E-0BB9-4002-86C9-5AA09E65D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4.3 Elements of Cache Design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A5BEF63A-B470-49EA-93ED-CCEBCAC72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Cache Addresses</a:t>
            </a:r>
          </a:p>
          <a:p>
            <a:r>
              <a:rPr lang="en-GB" altLang="zh-CN">
                <a:ea typeface="宋体" panose="02010600030101010101" pitchFamily="2" charset="-122"/>
              </a:rPr>
              <a:t>Size</a:t>
            </a:r>
          </a:p>
          <a:p>
            <a:r>
              <a:rPr lang="en-GB" altLang="zh-CN">
                <a:ea typeface="宋体" panose="02010600030101010101" pitchFamily="2" charset="-122"/>
              </a:rPr>
              <a:t>Mapping Function</a:t>
            </a:r>
          </a:p>
          <a:p>
            <a:r>
              <a:rPr lang="en-GB" altLang="zh-CN">
                <a:ea typeface="宋体" panose="02010600030101010101" pitchFamily="2" charset="-122"/>
              </a:rPr>
              <a:t>Replacement Algorithm</a:t>
            </a:r>
          </a:p>
          <a:p>
            <a:r>
              <a:rPr lang="en-GB" altLang="zh-CN">
                <a:ea typeface="宋体" panose="02010600030101010101" pitchFamily="2" charset="-122"/>
              </a:rPr>
              <a:t>Write Policy</a:t>
            </a:r>
          </a:p>
          <a:p>
            <a:r>
              <a:rPr lang="en-GB" altLang="zh-CN">
                <a:ea typeface="宋体" panose="02010600030101010101" pitchFamily="2" charset="-122"/>
              </a:rPr>
              <a:t>Block Size</a:t>
            </a:r>
          </a:p>
          <a:p>
            <a:r>
              <a:rPr lang="en-GB" altLang="zh-CN">
                <a:ea typeface="宋体" panose="02010600030101010101" pitchFamily="2" charset="-122"/>
              </a:rPr>
              <a:t>Number of Caches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B7585713-1A7E-4DD6-B691-AF4FB42C2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Cache Addresses</a:t>
            </a:r>
          </a:p>
        </p:txBody>
      </p:sp>
      <p:pic>
        <p:nvPicPr>
          <p:cNvPr id="67587" name="图片 6">
            <a:extLst>
              <a:ext uri="{FF2B5EF4-FFF2-40B4-BE49-F238E27FC236}">
                <a16:creationId xmlns:a16="http://schemas.microsoft.com/office/drawing/2014/main" id="{E8DEF3EC-4C3A-4DB9-B623-37773615B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174750"/>
            <a:ext cx="7164387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8" name="图片 7">
            <a:extLst>
              <a:ext uri="{FF2B5EF4-FFF2-40B4-BE49-F238E27FC236}">
                <a16:creationId xmlns:a16="http://schemas.microsoft.com/office/drawing/2014/main" id="{FFAF1B7E-04A7-470D-977E-417E34176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076700"/>
            <a:ext cx="7164387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9" name="矩形 8">
            <a:extLst>
              <a:ext uri="{FF2B5EF4-FFF2-40B4-BE49-F238E27FC236}">
                <a16:creationId xmlns:a16="http://schemas.microsoft.com/office/drawing/2014/main" id="{14DFB333-5547-4EFA-9F1B-05C6D6C6A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463" y="2492375"/>
            <a:ext cx="2833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Logical/Virtual cache</a:t>
            </a:r>
            <a:endParaRPr kumimoji="0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590" name="矩形 9">
            <a:extLst>
              <a:ext uri="{FF2B5EF4-FFF2-40B4-BE49-F238E27FC236}">
                <a16:creationId xmlns:a16="http://schemas.microsoft.com/office/drawing/2014/main" id="{04A56E8B-D5EA-4B05-AC21-BC38B42C0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413375"/>
            <a:ext cx="2001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Physical cache</a:t>
            </a:r>
            <a:endParaRPr kumimoji="0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591" name="矩形 10">
            <a:extLst>
              <a:ext uri="{FF2B5EF4-FFF2-40B4-BE49-F238E27FC236}">
                <a16:creationId xmlns:a16="http://schemas.microsoft.com/office/drawing/2014/main" id="{6743626E-F4E9-431C-8C89-FFE1659F5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174750"/>
            <a:ext cx="25812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Memory Management Unit</a:t>
            </a:r>
            <a:endParaRPr kumimoji="0" lang="zh-CN" altLang="en-US" sz="16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592" name="椭圆 13">
            <a:extLst>
              <a:ext uri="{FF2B5EF4-FFF2-40B4-BE49-F238E27FC236}">
                <a16:creationId xmlns:a16="http://schemas.microsoft.com/office/drawing/2014/main" id="{FFBB0D91-0DEE-41C4-AE88-A5BCA07A6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1571625"/>
            <a:ext cx="1223962" cy="431800"/>
          </a:xfrm>
          <a:prstGeom prst="ellipse">
            <a:avLst/>
          </a:prstGeom>
          <a:noFill/>
          <a:ln w="158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593" name="椭圆 14">
            <a:extLst>
              <a:ext uri="{FF2B5EF4-FFF2-40B4-BE49-F238E27FC236}">
                <a16:creationId xmlns:a16="http://schemas.microsoft.com/office/drawing/2014/main" id="{0E690603-6EFD-45F8-B24D-A93FE34DD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1617663"/>
            <a:ext cx="1223962" cy="431800"/>
          </a:xfrm>
          <a:prstGeom prst="ellipse">
            <a:avLst/>
          </a:prstGeom>
          <a:noFill/>
          <a:ln w="158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594" name="椭圆 15">
            <a:extLst>
              <a:ext uri="{FF2B5EF4-FFF2-40B4-BE49-F238E27FC236}">
                <a16:creationId xmlns:a16="http://schemas.microsoft.com/office/drawing/2014/main" id="{B3002E1C-5792-46DC-AB4E-9E9DF7E02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425" y="1628775"/>
            <a:ext cx="1223963" cy="431800"/>
          </a:xfrm>
          <a:prstGeom prst="ellipse">
            <a:avLst/>
          </a:prstGeom>
          <a:noFill/>
          <a:ln w="158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7595" name="直接箭头连接符 2">
            <a:extLst>
              <a:ext uri="{FF2B5EF4-FFF2-40B4-BE49-F238E27FC236}">
                <a16:creationId xmlns:a16="http://schemas.microsoft.com/office/drawing/2014/main" id="{7889018F-69B6-4D9D-9720-1F240173E9A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76600" y="2636838"/>
            <a:ext cx="377825" cy="714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596" name="直接箭头连接符 4">
            <a:extLst>
              <a:ext uri="{FF2B5EF4-FFF2-40B4-BE49-F238E27FC236}">
                <a16:creationId xmlns:a16="http://schemas.microsoft.com/office/drawing/2014/main" id="{9D693338-2F7F-4B0E-AA61-D129627F7E5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878388" y="5516563"/>
            <a:ext cx="414337" cy="730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F962A1EA-AEB8-4BAD-A797-EED28868CA02}"/>
              </a:ext>
            </a:extLst>
          </p:cNvPr>
          <p:cNvSpPr/>
          <p:nvPr/>
        </p:nvSpPr>
        <p:spPr>
          <a:xfrm>
            <a:off x="4794464" y="2870497"/>
            <a:ext cx="9877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solidFill>
                  <a:schemeClr val="bg2"/>
                </a:solidFill>
              </a:rPr>
              <a:t>Faster</a:t>
            </a:r>
            <a:endParaRPr lang="zh-CN" altLang="en-US" i="1" dirty="0">
              <a:solidFill>
                <a:schemeClr val="bg2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8EF27F-41FF-418F-A98B-C8B5BAFDC452}"/>
              </a:ext>
            </a:extLst>
          </p:cNvPr>
          <p:cNvSpPr/>
          <p:nvPr/>
        </p:nvSpPr>
        <p:spPr>
          <a:xfrm>
            <a:off x="3726979" y="3500438"/>
            <a:ext cx="25266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solidFill>
                  <a:schemeClr val="bg2"/>
                </a:solidFill>
              </a:rPr>
              <a:t>Add switch or bits </a:t>
            </a:r>
            <a:endParaRPr lang="zh-CN" altLang="en-US" i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A284F73E-AB7A-431F-9D06-4B951D249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Size does matter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41C689DA-03CD-451E-8793-97C18DAA86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178800" cy="2506663"/>
          </a:xfrm>
        </p:spPr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Cost</a:t>
            </a:r>
          </a:p>
          <a:p>
            <a:endParaRPr lang="en-GB" altLang="zh-CN">
              <a:ea typeface="宋体" panose="02010600030101010101" pitchFamily="2" charset="-122"/>
            </a:endParaRPr>
          </a:p>
          <a:p>
            <a:r>
              <a:rPr lang="en-GB" altLang="zh-CN">
                <a:ea typeface="宋体" panose="02010600030101010101" pitchFamily="2" charset="-122"/>
              </a:rPr>
              <a:t>Speed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7359BA-3EF5-4816-8899-5D8079F50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651125"/>
            <a:ext cx="8178800" cy="2218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/>
            <a:r>
              <a:rPr lang="en-GB" altLang="zh-CN" dirty="0">
                <a:ea typeface="宋体" panose="02010600030101010101" pitchFamily="2" charset="-122"/>
              </a:rPr>
              <a:t>More cache is faster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Checking cache for data takes time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The available chip and board area also limits cache size.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/>
            <a:endParaRPr lang="en-GB" altLang="zh-CN" dirty="0">
              <a:ea typeface="宋体" panose="02010600030101010101" pitchFamily="2" charset="-122"/>
            </a:endParaRPr>
          </a:p>
          <a:p>
            <a:pPr marL="457200" lvl="1" indent="0">
              <a:buNone/>
            </a:pPr>
            <a:br>
              <a:rPr lang="en-US" altLang="zh-CN" dirty="0"/>
            </a:br>
            <a:endParaRPr lang="en-GB" altLang="zh-CN" dirty="0">
              <a:ea typeface="宋体" panose="0201060003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2A0A999-3949-4B5C-9A9C-DBD125598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557338"/>
            <a:ext cx="81788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/>
            <a:r>
              <a:rPr lang="en-GB" altLang="zh-CN">
                <a:ea typeface="宋体" panose="02010600030101010101" pitchFamily="2" charset="-122"/>
              </a:rPr>
              <a:t>More cache is expensive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A196DB-6B66-4755-A75B-A6209ECC3F72}"/>
              </a:ext>
            </a:extLst>
          </p:cNvPr>
          <p:cNvSpPr/>
          <p:nvPr/>
        </p:nvSpPr>
        <p:spPr>
          <a:xfrm>
            <a:off x="971600" y="5165489"/>
            <a:ext cx="5400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242021"/>
                </a:solidFill>
                <a:highlight>
                  <a:srgbClr val="FFFF00"/>
                </a:highlight>
                <a:latin typeface="TimesTenLTStd-Roman"/>
              </a:rPr>
              <a:t>No optimum </a:t>
            </a:r>
            <a:r>
              <a:rPr lang="en-US" altLang="zh-CN" sz="3200" dirty="0">
                <a:solidFill>
                  <a:srgbClr val="242021"/>
                </a:solidFill>
                <a:latin typeface="TimesTenLTStd-Roman"/>
              </a:rPr>
              <a:t>cache size.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68604CB8-6C1D-4D6B-9DA0-AAB173255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Comparison of Cache Sizes</a:t>
            </a:r>
          </a:p>
        </p:txBody>
      </p:sp>
      <p:sp>
        <p:nvSpPr>
          <p:cNvPr id="71683" name="Rectangle 5">
            <a:extLst>
              <a:ext uri="{FF2B5EF4-FFF2-40B4-BE49-F238E27FC236}">
                <a16:creationId xmlns:a16="http://schemas.microsoft.com/office/drawing/2014/main" id="{C37DEE99-9276-401B-B910-F4869A0B8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-4295775"/>
            <a:ext cx="91440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zh-CN" altLang="en-US" sz="1200"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684" name="Rectangle 627">
            <a:extLst>
              <a:ext uri="{FF2B5EF4-FFF2-40B4-BE49-F238E27FC236}">
                <a16:creationId xmlns:a16="http://schemas.microsoft.com/office/drawing/2014/main" id="{FCB28855-954A-4CB5-AD70-246033E78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050" y="6165676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zh-CN" altLang="en-US" sz="1200" dirty="0"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900" dirty="0"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1200" dirty="0"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Two values </a:t>
            </a:r>
            <a:r>
              <a:rPr kumimoji="0" lang="en-US" altLang="zh-CN" sz="1200" dirty="0" err="1"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seperated</a:t>
            </a:r>
            <a:r>
              <a:rPr kumimoji="0" lang="en-US" altLang="zh-CN" sz="1200" dirty="0"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by a slash refer to instruction and data caches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900" dirty="0"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1200" dirty="0"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Both caches are instruction only; no data caches</a:t>
            </a:r>
            <a:endParaRPr kumimoji="0"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1685" name="Group 1629">
            <a:extLst>
              <a:ext uri="{FF2B5EF4-FFF2-40B4-BE49-F238E27FC236}">
                <a16:creationId xmlns:a16="http://schemas.microsoft.com/office/drawing/2014/main" id="{65BDA194-E8D7-40B0-AAA4-26A526FF9AE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1196752"/>
            <a:ext cx="9144000" cy="5173663"/>
            <a:chOff x="-3" y="-3"/>
            <a:chExt cx="5748" cy="8699"/>
          </a:xfrm>
        </p:grpSpPr>
        <p:grpSp>
          <p:nvGrpSpPr>
            <p:cNvPr id="71689" name="Group 1627">
              <a:extLst>
                <a:ext uri="{FF2B5EF4-FFF2-40B4-BE49-F238E27FC236}">
                  <a16:creationId xmlns:a16="http://schemas.microsoft.com/office/drawing/2014/main" id="{51E50D75-BDF9-48BE-A59E-2B12A2B3425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0"/>
              <a:ext cx="5742" cy="8693"/>
              <a:chOff x="0" y="0"/>
              <a:chExt cx="5742" cy="8693"/>
            </a:xfrm>
          </p:grpSpPr>
          <p:grpSp>
            <p:nvGrpSpPr>
              <p:cNvPr id="71691" name="Group 1376">
                <a:extLst>
                  <a:ext uri="{FF2B5EF4-FFF2-40B4-BE49-F238E27FC236}">
                    <a16:creationId xmlns:a16="http://schemas.microsoft.com/office/drawing/2014/main" id="{2EF01E05-3DF2-4085-8C97-986DD38A47B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0"/>
                <a:ext cx="957" cy="518"/>
                <a:chOff x="0" y="0"/>
                <a:chExt cx="957" cy="518"/>
              </a:xfrm>
            </p:grpSpPr>
            <p:sp>
              <p:nvSpPr>
                <p:cNvPr id="72067" name="Rectangle 1249">
                  <a:extLst>
                    <a:ext uri="{FF2B5EF4-FFF2-40B4-BE49-F238E27FC236}">
                      <a16:creationId xmlns:a16="http://schemas.microsoft.com/office/drawing/2014/main" id="{4AF1E022-38AD-4024-B5AC-0C7C8779337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0"/>
                  <a:ext cx="871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b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Processor</a:t>
                  </a:r>
                  <a:endParaRPr kumimoji="0" lang="en-US" altLang="zh-CN" sz="1200">
                    <a:latin typeface="Times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68" name="Rectangle 1375">
                  <a:extLst>
                    <a:ext uri="{FF2B5EF4-FFF2-40B4-BE49-F238E27FC236}">
                      <a16:creationId xmlns:a16="http://schemas.microsoft.com/office/drawing/2014/main" id="{DD443DBF-A331-4DF6-A330-501B2AE0472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0"/>
                  <a:ext cx="957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692" name="Group 1378">
                <a:extLst>
                  <a:ext uri="{FF2B5EF4-FFF2-40B4-BE49-F238E27FC236}">
                    <a16:creationId xmlns:a16="http://schemas.microsoft.com/office/drawing/2014/main" id="{3B4C9477-D63D-4F90-BE68-B24A04D49DE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0"/>
                <a:ext cx="957" cy="518"/>
                <a:chOff x="957" y="0"/>
                <a:chExt cx="957" cy="518"/>
              </a:xfrm>
            </p:grpSpPr>
            <p:sp>
              <p:nvSpPr>
                <p:cNvPr id="72065" name="Rectangle 1250">
                  <a:extLst>
                    <a:ext uri="{FF2B5EF4-FFF2-40B4-BE49-F238E27FC236}">
                      <a16:creationId xmlns:a16="http://schemas.microsoft.com/office/drawing/2014/main" id="{B3B906D7-CFF8-47AF-A7A8-B5130D4DD22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0"/>
                  <a:ext cx="871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b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Type</a:t>
                  </a:r>
                  <a:endParaRPr kumimoji="0" lang="en-US" altLang="zh-CN" sz="1200">
                    <a:latin typeface="Times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66" name="Rectangle 1377">
                  <a:extLst>
                    <a:ext uri="{FF2B5EF4-FFF2-40B4-BE49-F238E27FC236}">
                      <a16:creationId xmlns:a16="http://schemas.microsoft.com/office/drawing/2014/main" id="{44F53952-9B27-4BF0-8659-7F13AEC8D54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0"/>
                  <a:ext cx="957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693" name="Group 1380">
                <a:extLst>
                  <a:ext uri="{FF2B5EF4-FFF2-40B4-BE49-F238E27FC236}">
                    <a16:creationId xmlns:a16="http://schemas.microsoft.com/office/drawing/2014/main" id="{D5375B2F-2D7D-423C-B653-ED16054DBCA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0"/>
                <a:ext cx="957" cy="518"/>
                <a:chOff x="1914" y="0"/>
                <a:chExt cx="957" cy="518"/>
              </a:xfrm>
            </p:grpSpPr>
            <p:sp>
              <p:nvSpPr>
                <p:cNvPr id="72063" name="Rectangle 1251">
                  <a:extLst>
                    <a:ext uri="{FF2B5EF4-FFF2-40B4-BE49-F238E27FC236}">
                      <a16:creationId xmlns:a16="http://schemas.microsoft.com/office/drawing/2014/main" id="{BDDB66FB-1212-417B-B05B-9663E74CE5D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0"/>
                  <a:ext cx="871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b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Year of Introduction</a:t>
                  </a:r>
                  <a:endParaRPr kumimoji="0" lang="en-US" altLang="zh-CN" sz="1200">
                    <a:latin typeface="Times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64" name="Rectangle 1379">
                  <a:extLst>
                    <a:ext uri="{FF2B5EF4-FFF2-40B4-BE49-F238E27FC236}">
                      <a16:creationId xmlns:a16="http://schemas.microsoft.com/office/drawing/2014/main" id="{49192AEB-708C-45E6-9941-491C48022CF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0"/>
                  <a:ext cx="957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694" name="Group 1382">
                <a:extLst>
                  <a:ext uri="{FF2B5EF4-FFF2-40B4-BE49-F238E27FC236}">
                    <a16:creationId xmlns:a16="http://schemas.microsoft.com/office/drawing/2014/main" id="{C91CC01B-1E42-4378-814E-40D90747EFD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0"/>
                <a:ext cx="957" cy="518"/>
                <a:chOff x="2871" y="0"/>
                <a:chExt cx="957" cy="518"/>
              </a:xfrm>
            </p:grpSpPr>
            <p:sp>
              <p:nvSpPr>
                <p:cNvPr id="72061" name="Rectangle 1252">
                  <a:extLst>
                    <a:ext uri="{FF2B5EF4-FFF2-40B4-BE49-F238E27FC236}">
                      <a16:creationId xmlns:a16="http://schemas.microsoft.com/office/drawing/2014/main" id="{69001B6A-8508-41F9-AE13-815ACB375A6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0"/>
                  <a:ext cx="871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b="1" dirty="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L1 </a:t>
                  </a:r>
                  <a:r>
                    <a:rPr kumimoji="0" lang="en-US" altLang="zh-CN" sz="1200" b="1" dirty="0" err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cache</a:t>
                  </a:r>
                  <a:r>
                    <a:rPr kumimoji="0" lang="en-US" altLang="zh-CN" sz="900" dirty="0" err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</a:t>
                  </a:r>
                  <a:endParaRPr kumimoji="0" lang="en-US" altLang="zh-CN" sz="1200" dirty="0">
                    <a:latin typeface="Times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62" name="Rectangle 1381">
                  <a:extLst>
                    <a:ext uri="{FF2B5EF4-FFF2-40B4-BE49-F238E27FC236}">
                      <a16:creationId xmlns:a16="http://schemas.microsoft.com/office/drawing/2014/main" id="{80F86173-0003-4A07-9482-C0CD5B4262E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0"/>
                  <a:ext cx="957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695" name="Group 1384">
                <a:extLst>
                  <a:ext uri="{FF2B5EF4-FFF2-40B4-BE49-F238E27FC236}">
                    <a16:creationId xmlns:a16="http://schemas.microsoft.com/office/drawing/2014/main" id="{03C27F17-858F-4C62-91E1-C0106A55118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0"/>
                <a:ext cx="957" cy="518"/>
                <a:chOff x="3828" y="0"/>
                <a:chExt cx="957" cy="518"/>
              </a:xfrm>
            </p:grpSpPr>
            <p:sp>
              <p:nvSpPr>
                <p:cNvPr id="72059" name="Rectangle 1253">
                  <a:extLst>
                    <a:ext uri="{FF2B5EF4-FFF2-40B4-BE49-F238E27FC236}">
                      <a16:creationId xmlns:a16="http://schemas.microsoft.com/office/drawing/2014/main" id="{597353F8-78BC-4E90-AF8D-CA2B6EB6754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0"/>
                  <a:ext cx="871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b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L2 cache</a:t>
                  </a:r>
                  <a:endParaRPr kumimoji="0" lang="en-US" altLang="zh-CN" sz="1200">
                    <a:latin typeface="Times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60" name="Rectangle 1383">
                  <a:extLst>
                    <a:ext uri="{FF2B5EF4-FFF2-40B4-BE49-F238E27FC236}">
                      <a16:creationId xmlns:a16="http://schemas.microsoft.com/office/drawing/2014/main" id="{324290CD-6806-405A-A670-0D284900D2A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0"/>
                  <a:ext cx="957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696" name="Group 1386">
                <a:extLst>
                  <a:ext uri="{FF2B5EF4-FFF2-40B4-BE49-F238E27FC236}">
                    <a16:creationId xmlns:a16="http://schemas.microsoft.com/office/drawing/2014/main" id="{468EA239-E8ED-40C6-B9AB-36CE2F92970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0"/>
                <a:ext cx="957" cy="518"/>
                <a:chOff x="4785" y="0"/>
                <a:chExt cx="957" cy="518"/>
              </a:xfrm>
            </p:grpSpPr>
            <p:sp>
              <p:nvSpPr>
                <p:cNvPr id="72057" name="Rectangle 1254">
                  <a:extLst>
                    <a:ext uri="{FF2B5EF4-FFF2-40B4-BE49-F238E27FC236}">
                      <a16:creationId xmlns:a16="http://schemas.microsoft.com/office/drawing/2014/main" id="{C6C4D665-8856-4D8F-AB70-C9AB17FF634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0"/>
                  <a:ext cx="871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b="1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L3 cache</a:t>
                  </a:r>
                  <a:endParaRPr kumimoji="0" lang="en-US" altLang="zh-CN" sz="1200">
                    <a:latin typeface="Times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58" name="Rectangle 1385">
                  <a:extLst>
                    <a:ext uri="{FF2B5EF4-FFF2-40B4-BE49-F238E27FC236}">
                      <a16:creationId xmlns:a16="http://schemas.microsoft.com/office/drawing/2014/main" id="{7E3ECD5C-366D-426B-A94C-3DF2026E9DF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0"/>
                  <a:ext cx="957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697" name="Group 1388">
                <a:extLst>
                  <a:ext uri="{FF2B5EF4-FFF2-40B4-BE49-F238E27FC236}">
                    <a16:creationId xmlns:a16="http://schemas.microsoft.com/office/drawing/2014/main" id="{37CB8D4E-F07B-4D75-BCCE-9CB284DF04E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518"/>
                <a:ext cx="957" cy="403"/>
                <a:chOff x="0" y="518"/>
                <a:chExt cx="957" cy="403"/>
              </a:xfrm>
            </p:grpSpPr>
            <p:sp>
              <p:nvSpPr>
                <p:cNvPr id="72055" name="Rectangle 1255">
                  <a:extLst>
                    <a:ext uri="{FF2B5EF4-FFF2-40B4-BE49-F238E27FC236}">
                      <a16:creationId xmlns:a16="http://schemas.microsoft.com/office/drawing/2014/main" id="{A1C65AFB-54F7-4FF1-B5D9-58BC29E4E82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51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dirty="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IBM 360/85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56" name="Rectangle 1387">
                  <a:extLst>
                    <a:ext uri="{FF2B5EF4-FFF2-40B4-BE49-F238E27FC236}">
                      <a16:creationId xmlns:a16="http://schemas.microsoft.com/office/drawing/2014/main" id="{DFDBDC23-AD4A-423D-B59A-558603EEAD8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51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698" name="Group 1390">
                <a:extLst>
                  <a:ext uri="{FF2B5EF4-FFF2-40B4-BE49-F238E27FC236}">
                    <a16:creationId xmlns:a16="http://schemas.microsoft.com/office/drawing/2014/main" id="{D76FC648-46DD-4253-A6A1-AECBE71141B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518"/>
                <a:ext cx="957" cy="403"/>
                <a:chOff x="957" y="518"/>
                <a:chExt cx="957" cy="403"/>
              </a:xfrm>
            </p:grpSpPr>
            <p:sp>
              <p:nvSpPr>
                <p:cNvPr id="72053" name="Rectangle 1256">
                  <a:extLst>
                    <a:ext uri="{FF2B5EF4-FFF2-40B4-BE49-F238E27FC236}">
                      <a16:creationId xmlns:a16="http://schemas.microsoft.com/office/drawing/2014/main" id="{28E64D8B-9AF4-43E4-A7A1-5D3955E5281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51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Mainframe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54" name="Rectangle 1389">
                  <a:extLst>
                    <a:ext uri="{FF2B5EF4-FFF2-40B4-BE49-F238E27FC236}">
                      <a16:creationId xmlns:a16="http://schemas.microsoft.com/office/drawing/2014/main" id="{5D19E19E-8914-46FC-9979-33417FD1892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51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699" name="Group 1392">
                <a:extLst>
                  <a:ext uri="{FF2B5EF4-FFF2-40B4-BE49-F238E27FC236}">
                    <a16:creationId xmlns:a16="http://schemas.microsoft.com/office/drawing/2014/main" id="{EB9D73B2-16DD-401C-A5FC-65CB85C3D6C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518"/>
                <a:ext cx="957" cy="403"/>
                <a:chOff x="1914" y="518"/>
                <a:chExt cx="957" cy="403"/>
              </a:xfrm>
            </p:grpSpPr>
            <p:sp>
              <p:nvSpPr>
                <p:cNvPr id="72051" name="Rectangle 1257">
                  <a:extLst>
                    <a:ext uri="{FF2B5EF4-FFF2-40B4-BE49-F238E27FC236}">
                      <a16:creationId xmlns:a16="http://schemas.microsoft.com/office/drawing/2014/main" id="{3B770C93-1D3B-4939-9E97-B5F344A3F79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51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1968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52" name="Rectangle 1391">
                  <a:extLst>
                    <a:ext uri="{FF2B5EF4-FFF2-40B4-BE49-F238E27FC236}">
                      <a16:creationId xmlns:a16="http://schemas.microsoft.com/office/drawing/2014/main" id="{D9EFF60C-B160-4AA9-8F0F-883C2CDCFD2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51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00" name="Group 1394">
                <a:extLst>
                  <a:ext uri="{FF2B5EF4-FFF2-40B4-BE49-F238E27FC236}">
                    <a16:creationId xmlns:a16="http://schemas.microsoft.com/office/drawing/2014/main" id="{B14E1067-3756-4E68-8FBE-DEA1D32AF84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518"/>
                <a:ext cx="957" cy="403"/>
                <a:chOff x="2871" y="518"/>
                <a:chExt cx="957" cy="403"/>
              </a:xfrm>
            </p:grpSpPr>
            <p:sp>
              <p:nvSpPr>
                <p:cNvPr id="72049" name="Rectangle 1258">
                  <a:extLst>
                    <a:ext uri="{FF2B5EF4-FFF2-40B4-BE49-F238E27FC236}">
                      <a16:creationId xmlns:a16="http://schemas.microsoft.com/office/drawing/2014/main" id="{B0F3EED0-7419-4FFA-84A1-C69BB2E87C2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51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16 to 32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50" name="Rectangle 1393">
                  <a:extLst>
                    <a:ext uri="{FF2B5EF4-FFF2-40B4-BE49-F238E27FC236}">
                      <a16:creationId xmlns:a16="http://schemas.microsoft.com/office/drawing/2014/main" id="{2B3DD21C-3DAF-4740-A9C4-B474C32A091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51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01" name="Group 1396">
                <a:extLst>
                  <a:ext uri="{FF2B5EF4-FFF2-40B4-BE49-F238E27FC236}">
                    <a16:creationId xmlns:a16="http://schemas.microsoft.com/office/drawing/2014/main" id="{4D3A6DAF-EBE7-47F3-ADC8-B87BABD1102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518"/>
                <a:ext cx="957" cy="403"/>
                <a:chOff x="3828" y="518"/>
                <a:chExt cx="957" cy="403"/>
              </a:xfrm>
            </p:grpSpPr>
            <p:sp>
              <p:nvSpPr>
                <p:cNvPr id="72047" name="Rectangle 1259">
                  <a:extLst>
                    <a:ext uri="{FF2B5EF4-FFF2-40B4-BE49-F238E27FC236}">
                      <a16:creationId xmlns:a16="http://schemas.microsoft.com/office/drawing/2014/main" id="{5B02F350-A31F-4FF7-93D5-66C89F3C7F7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51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48" name="Rectangle 1395">
                  <a:extLst>
                    <a:ext uri="{FF2B5EF4-FFF2-40B4-BE49-F238E27FC236}">
                      <a16:creationId xmlns:a16="http://schemas.microsoft.com/office/drawing/2014/main" id="{545CDBBE-EE0E-4E16-BC53-C36286D49DF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51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02" name="Group 1398">
                <a:extLst>
                  <a:ext uri="{FF2B5EF4-FFF2-40B4-BE49-F238E27FC236}">
                    <a16:creationId xmlns:a16="http://schemas.microsoft.com/office/drawing/2014/main" id="{C4AACC86-4DE3-41CE-ABFF-9388696F557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518"/>
                <a:ext cx="957" cy="403"/>
                <a:chOff x="4785" y="518"/>
                <a:chExt cx="957" cy="403"/>
              </a:xfrm>
            </p:grpSpPr>
            <p:sp>
              <p:nvSpPr>
                <p:cNvPr id="72045" name="Rectangle 1260">
                  <a:extLst>
                    <a:ext uri="{FF2B5EF4-FFF2-40B4-BE49-F238E27FC236}">
                      <a16:creationId xmlns:a16="http://schemas.microsoft.com/office/drawing/2014/main" id="{A03B5447-E4E5-4D46-BFA8-9D30D043487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51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46" name="Rectangle 1397">
                  <a:extLst>
                    <a:ext uri="{FF2B5EF4-FFF2-40B4-BE49-F238E27FC236}">
                      <a16:creationId xmlns:a16="http://schemas.microsoft.com/office/drawing/2014/main" id="{A6C7E3BE-CB36-4B09-99BE-B5F92B72929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51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03" name="Group 1400">
                <a:extLst>
                  <a:ext uri="{FF2B5EF4-FFF2-40B4-BE49-F238E27FC236}">
                    <a16:creationId xmlns:a16="http://schemas.microsoft.com/office/drawing/2014/main" id="{6930ED32-8FA6-4201-8DA1-F03E7C5E76D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921"/>
                <a:ext cx="957" cy="403"/>
                <a:chOff x="0" y="921"/>
                <a:chExt cx="957" cy="403"/>
              </a:xfrm>
            </p:grpSpPr>
            <p:sp>
              <p:nvSpPr>
                <p:cNvPr id="72043" name="Rectangle 1261">
                  <a:extLst>
                    <a:ext uri="{FF2B5EF4-FFF2-40B4-BE49-F238E27FC236}">
                      <a16:creationId xmlns:a16="http://schemas.microsoft.com/office/drawing/2014/main" id="{3ED42146-5DF7-477F-B205-F10CF212681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92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dirty="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PDP-11/70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44" name="Rectangle 1399">
                  <a:extLst>
                    <a:ext uri="{FF2B5EF4-FFF2-40B4-BE49-F238E27FC236}">
                      <a16:creationId xmlns:a16="http://schemas.microsoft.com/office/drawing/2014/main" id="{027025CF-CCD2-4B4E-87D5-B7082FEF4BD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92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04" name="Group 1402">
                <a:extLst>
                  <a:ext uri="{FF2B5EF4-FFF2-40B4-BE49-F238E27FC236}">
                    <a16:creationId xmlns:a16="http://schemas.microsoft.com/office/drawing/2014/main" id="{6A701D3B-9784-4E04-8C66-5574688E171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921"/>
                <a:ext cx="957" cy="403"/>
                <a:chOff x="957" y="921"/>
                <a:chExt cx="957" cy="403"/>
              </a:xfrm>
            </p:grpSpPr>
            <p:sp>
              <p:nvSpPr>
                <p:cNvPr id="72041" name="Rectangle 1262">
                  <a:extLst>
                    <a:ext uri="{FF2B5EF4-FFF2-40B4-BE49-F238E27FC236}">
                      <a16:creationId xmlns:a16="http://schemas.microsoft.com/office/drawing/2014/main" id="{2D795B19-45AB-4C3A-A275-0123D51ED8A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92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Minicomputer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42" name="Rectangle 1401">
                  <a:extLst>
                    <a:ext uri="{FF2B5EF4-FFF2-40B4-BE49-F238E27FC236}">
                      <a16:creationId xmlns:a16="http://schemas.microsoft.com/office/drawing/2014/main" id="{6B630FD4-AC53-4488-B569-5DBC1A3D85A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92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05" name="Group 1404">
                <a:extLst>
                  <a:ext uri="{FF2B5EF4-FFF2-40B4-BE49-F238E27FC236}">
                    <a16:creationId xmlns:a16="http://schemas.microsoft.com/office/drawing/2014/main" id="{C9A1F83D-C1BA-492F-82BB-6D0BD251523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921"/>
                <a:ext cx="957" cy="403"/>
                <a:chOff x="1914" y="921"/>
                <a:chExt cx="957" cy="403"/>
              </a:xfrm>
            </p:grpSpPr>
            <p:sp>
              <p:nvSpPr>
                <p:cNvPr id="72039" name="Rectangle 1263">
                  <a:extLst>
                    <a:ext uri="{FF2B5EF4-FFF2-40B4-BE49-F238E27FC236}">
                      <a16:creationId xmlns:a16="http://schemas.microsoft.com/office/drawing/2014/main" id="{478250C6-E184-442F-A98C-752348BD2A4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92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1975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40" name="Rectangle 1403">
                  <a:extLst>
                    <a:ext uri="{FF2B5EF4-FFF2-40B4-BE49-F238E27FC236}">
                      <a16:creationId xmlns:a16="http://schemas.microsoft.com/office/drawing/2014/main" id="{807AD18D-2C14-4153-A52E-644B1BE1F3D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92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06" name="Group 1406">
                <a:extLst>
                  <a:ext uri="{FF2B5EF4-FFF2-40B4-BE49-F238E27FC236}">
                    <a16:creationId xmlns:a16="http://schemas.microsoft.com/office/drawing/2014/main" id="{98247CB2-DCD3-49DA-A5CA-8418246FAED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921"/>
                <a:ext cx="957" cy="403"/>
                <a:chOff x="2871" y="921"/>
                <a:chExt cx="957" cy="403"/>
              </a:xfrm>
            </p:grpSpPr>
            <p:sp>
              <p:nvSpPr>
                <p:cNvPr id="72037" name="Rectangle 1264">
                  <a:extLst>
                    <a:ext uri="{FF2B5EF4-FFF2-40B4-BE49-F238E27FC236}">
                      <a16:creationId xmlns:a16="http://schemas.microsoft.com/office/drawing/2014/main" id="{1FC15E46-E62A-4A0C-AA98-B8F9B7EF87C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92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38" name="Rectangle 1405">
                  <a:extLst>
                    <a:ext uri="{FF2B5EF4-FFF2-40B4-BE49-F238E27FC236}">
                      <a16:creationId xmlns:a16="http://schemas.microsoft.com/office/drawing/2014/main" id="{4259A41C-9DD1-46CE-9CAB-06F8DCF0C45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92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07" name="Group 1408">
                <a:extLst>
                  <a:ext uri="{FF2B5EF4-FFF2-40B4-BE49-F238E27FC236}">
                    <a16:creationId xmlns:a16="http://schemas.microsoft.com/office/drawing/2014/main" id="{4BFC6501-669B-4211-AB41-81F19A5D840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921"/>
                <a:ext cx="957" cy="403"/>
                <a:chOff x="3828" y="921"/>
                <a:chExt cx="957" cy="403"/>
              </a:xfrm>
            </p:grpSpPr>
            <p:sp>
              <p:nvSpPr>
                <p:cNvPr id="72035" name="Rectangle 1265">
                  <a:extLst>
                    <a:ext uri="{FF2B5EF4-FFF2-40B4-BE49-F238E27FC236}">
                      <a16:creationId xmlns:a16="http://schemas.microsoft.com/office/drawing/2014/main" id="{483DABC9-53A3-43F0-8903-222DD44F07C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92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36" name="Rectangle 1407">
                  <a:extLst>
                    <a:ext uri="{FF2B5EF4-FFF2-40B4-BE49-F238E27FC236}">
                      <a16:creationId xmlns:a16="http://schemas.microsoft.com/office/drawing/2014/main" id="{C0E4D57F-D643-4C7F-9497-BD857398A5D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92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08" name="Group 1410">
                <a:extLst>
                  <a:ext uri="{FF2B5EF4-FFF2-40B4-BE49-F238E27FC236}">
                    <a16:creationId xmlns:a16="http://schemas.microsoft.com/office/drawing/2014/main" id="{92203722-5AF9-4678-B000-51061A7446D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921"/>
                <a:ext cx="957" cy="403"/>
                <a:chOff x="4785" y="921"/>
                <a:chExt cx="957" cy="403"/>
              </a:xfrm>
            </p:grpSpPr>
            <p:sp>
              <p:nvSpPr>
                <p:cNvPr id="72033" name="Rectangle 1266">
                  <a:extLst>
                    <a:ext uri="{FF2B5EF4-FFF2-40B4-BE49-F238E27FC236}">
                      <a16:creationId xmlns:a16="http://schemas.microsoft.com/office/drawing/2014/main" id="{E7A4A262-3F2D-4A28-BB0B-6C3CF683B33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92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34" name="Rectangle 1409">
                  <a:extLst>
                    <a:ext uri="{FF2B5EF4-FFF2-40B4-BE49-F238E27FC236}">
                      <a16:creationId xmlns:a16="http://schemas.microsoft.com/office/drawing/2014/main" id="{0E276991-A4DB-4B30-9942-6943DF549A9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92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09" name="Group 1412">
                <a:extLst>
                  <a:ext uri="{FF2B5EF4-FFF2-40B4-BE49-F238E27FC236}">
                    <a16:creationId xmlns:a16="http://schemas.microsoft.com/office/drawing/2014/main" id="{9163D253-20C4-4A46-BD22-A17B29C9957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1324"/>
                <a:ext cx="957" cy="403"/>
                <a:chOff x="0" y="1324"/>
                <a:chExt cx="957" cy="403"/>
              </a:xfrm>
            </p:grpSpPr>
            <p:sp>
              <p:nvSpPr>
                <p:cNvPr id="72031" name="Rectangle 1267">
                  <a:extLst>
                    <a:ext uri="{FF2B5EF4-FFF2-40B4-BE49-F238E27FC236}">
                      <a16:creationId xmlns:a16="http://schemas.microsoft.com/office/drawing/2014/main" id="{83FBF56D-CD73-4631-BA8B-8D061C8AD86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132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VAX 11/780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32" name="Rectangle 1411">
                  <a:extLst>
                    <a:ext uri="{FF2B5EF4-FFF2-40B4-BE49-F238E27FC236}">
                      <a16:creationId xmlns:a16="http://schemas.microsoft.com/office/drawing/2014/main" id="{60CEA013-0F6C-4B4F-8018-19D07A19DF5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132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10" name="Group 1414">
                <a:extLst>
                  <a:ext uri="{FF2B5EF4-FFF2-40B4-BE49-F238E27FC236}">
                    <a16:creationId xmlns:a16="http://schemas.microsoft.com/office/drawing/2014/main" id="{30799333-6800-4395-8938-2A8A7960BF6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1324"/>
                <a:ext cx="957" cy="403"/>
                <a:chOff x="957" y="1324"/>
                <a:chExt cx="957" cy="403"/>
              </a:xfrm>
            </p:grpSpPr>
            <p:sp>
              <p:nvSpPr>
                <p:cNvPr id="72029" name="Rectangle 1268">
                  <a:extLst>
                    <a:ext uri="{FF2B5EF4-FFF2-40B4-BE49-F238E27FC236}">
                      <a16:creationId xmlns:a16="http://schemas.microsoft.com/office/drawing/2014/main" id="{EFE91BEA-0EB0-4C37-85F3-C11650CDFEF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132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Minicomputer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30" name="Rectangle 1413">
                  <a:extLst>
                    <a:ext uri="{FF2B5EF4-FFF2-40B4-BE49-F238E27FC236}">
                      <a16:creationId xmlns:a16="http://schemas.microsoft.com/office/drawing/2014/main" id="{ECA76ACA-3E51-4A43-9B92-233BC9BD14E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132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11" name="Group 1416">
                <a:extLst>
                  <a:ext uri="{FF2B5EF4-FFF2-40B4-BE49-F238E27FC236}">
                    <a16:creationId xmlns:a16="http://schemas.microsoft.com/office/drawing/2014/main" id="{4B5AFE8B-B0D8-494F-B5BB-61C57BFE777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1324"/>
                <a:ext cx="957" cy="403"/>
                <a:chOff x="1914" y="1324"/>
                <a:chExt cx="957" cy="403"/>
              </a:xfrm>
            </p:grpSpPr>
            <p:sp>
              <p:nvSpPr>
                <p:cNvPr id="72027" name="Rectangle 1269">
                  <a:extLst>
                    <a:ext uri="{FF2B5EF4-FFF2-40B4-BE49-F238E27FC236}">
                      <a16:creationId xmlns:a16="http://schemas.microsoft.com/office/drawing/2014/main" id="{5BAF1685-FBFF-43BF-B79E-C8EC2C7F59A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132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1978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28" name="Rectangle 1415">
                  <a:extLst>
                    <a:ext uri="{FF2B5EF4-FFF2-40B4-BE49-F238E27FC236}">
                      <a16:creationId xmlns:a16="http://schemas.microsoft.com/office/drawing/2014/main" id="{C0160E74-E5BD-4C3C-9088-61C2CE55F38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132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12" name="Group 1418">
                <a:extLst>
                  <a:ext uri="{FF2B5EF4-FFF2-40B4-BE49-F238E27FC236}">
                    <a16:creationId xmlns:a16="http://schemas.microsoft.com/office/drawing/2014/main" id="{B61ED6D1-C553-4F4E-B75A-EEDB24CC5B2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1324"/>
                <a:ext cx="957" cy="403"/>
                <a:chOff x="2871" y="1324"/>
                <a:chExt cx="957" cy="403"/>
              </a:xfrm>
            </p:grpSpPr>
            <p:sp>
              <p:nvSpPr>
                <p:cNvPr id="72025" name="Rectangle 1270">
                  <a:extLst>
                    <a:ext uri="{FF2B5EF4-FFF2-40B4-BE49-F238E27FC236}">
                      <a16:creationId xmlns:a16="http://schemas.microsoft.com/office/drawing/2014/main" id="{0FDA6011-4243-463E-BDC1-FB824061A9E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132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16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26" name="Rectangle 1417">
                  <a:extLst>
                    <a:ext uri="{FF2B5EF4-FFF2-40B4-BE49-F238E27FC236}">
                      <a16:creationId xmlns:a16="http://schemas.microsoft.com/office/drawing/2014/main" id="{5D5044F2-A784-403B-8969-0D3DBFE9D81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132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13" name="Group 1420">
                <a:extLst>
                  <a:ext uri="{FF2B5EF4-FFF2-40B4-BE49-F238E27FC236}">
                    <a16:creationId xmlns:a16="http://schemas.microsoft.com/office/drawing/2014/main" id="{DCC0E93A-BF65-4462-A6AF-41FB079FB18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1324"/>
                <a:ext cx="957" cy="403"/>
                <a:chOff x="3828" y="1324"/>
                <a:chExt cx="957" cy="403"/>
              </a:xfrm>
            </p:grpSpPr>
            <p:sp>
              <p:nvSpPr>
                <p:cNvPr id="72023" name="Rectangle 1271">
                  <a:extLst>
                    <a:ext uri="{FF2B5EF4-FFF2-40B4-BE49-F238E27FC236}">
                      <a16:creationId xmlns:a16="http://schemas.microsoft.com/office/drawing/2014/main" id="{849F09A7-A9C4-45C1-A612-163AE6DEE42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132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24" name="Rectangle 1419">
                  <a:extLst>
                    <a:ext uri="{FF2B5EF4-FFF2-40B4-BE49-F238E27FC236}">
                      <a16:creationId xmlns:a16="http://schemas.microsoft.com/office/drawing/2014/main" id="{19F069FD-E740-4565-A59A-01324E1794B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132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14" name="Group 1422">
                <a:extLst>
                  <a:ext uri="{FF2B5EF4-FFF2-40B4-BE49-F238E27FC236}">
                    <a16:creationId xmlns:a16="http://schemas.microsoft.com/office/drawing/2014/main" id="{77C8AF00-2B56-4B61-8B3E-F118083B8CE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1324"/>
                <a:ext cx="957" cy="403"/>
                <a:chOff x="4785" y="1324"/>
                <a:chExt cx="957" cy="403"/>
              </a:xfrm>
            </p:grpSpPr>
            <p:sp>
              <p:nvSpPr>
                <p:cNvPr id="72021" name="Rectangle 1272">
                  <a:extLst>
                    <a:ext uri="{FF2B5EF4-FFF2-40B4-BE49-F238E27FC236}">
                      <a16:creationId xmlns:a16="http://schemas.microsoft.com/office/drawing/2014/main" id="{AA9D4322-BFD9-47A7-965A-B77C2217E35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132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22" name="Rectangle 1421">
                  <a:extLst>
                    <a:ext uri="{FF2B5EF4-FFF2-40B4-BE49-F238E27FC236}">
                      <a16:creationId xmlns:a16="http://schemas.microsoft.com/office/drawing/2014/main" id="{D94A5035-BE0D-4435-9ABB-24492EA1BB0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132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15" name="Group 1424">
                <a:extLst>
                  <a:ext uri="{FF2B5EF4-FFF2-40B4-BE49-F238E27FC236}">
                    <a16:creationId xmlns:a16="http://schemas.microsoft.com/office/drawing/2014/main" id="{77CB9372-5DD5-4B72-8BE7-1069531859D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1727"/>
                <a:ext cx="957" cy="403"/>
                <a:chOff x="0" y="1727"/>
                <a:chExt cx="957" cy="403"/>
              </a:xfrm>
            </p:grpSpPr>
            <p:sp>
              <p:nvSpPr>
                <p:cNvPr id="72019" name="Rectangle 1273">
                  <a:extLst>
                    <a:ext uri="{FF2B5EF4-FFF2-40B4-BE49-F238E27FC236}">
                      <a16:creationId xmlns:a16="http://schemas.microsoft.com/office/drawing/2014/main" id="{265286B5-3EDB-400A-B06A-1950FA8C1F6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1727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IBM 3033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20" name="Rectangle 1423">
                  <a:extLst>
                    <a:ext uri="{FF2B5EF4-FFF2-40B4-BE49-F238E27FC236}">
                      <a16:creationId xmlns:a16="http://schemas.microsoft.com/office/drawing/2014/main" id="{B7DC1514-EB0E-42D7-9119-5D227DA3857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1727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16" name="Group 1426">
                <a:extLst>
                  <a:ext uri="{FF2B5EF4-FFF2-40B4-BE49-F238E27FC236}">
                    <a16:creationId xmlns:a16="http://schemas.microsoft.com/office/drawing/2014/main" id="{A2DF6EEB-B3BA-4795-B65A-2A2EFE4E6E3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1727"/>
                <a:ext cx="957" cy="403"/>
                <a:chOff x="957" y="1727"/>
                <a:chExt cx="957" cy="403"/>
              </a:xfrm>
            </p:grpSpPr>
            <p:sp>
              <p:nvSpPr>
                <p:cNvPr id="72017" name="Rectangle 1274">
                  <a:extLst>
                    <a:ext uri="{FF2B5EF4-FFF2-40B4-BE49-F238E27FC236}">
                      <a16:creationId xmlns:a16="http://schemas.microsoft.com/office/drawing/2014/main" id="{79652F5B-49DA-4C15-A6A7-1D10E17F31C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1727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Mainframe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18" name="Rectangle 1425">
                  <a:extLst>
                    <a:ext uri="{FF2B5EF4-FFF2-40B4-BE49-F238E27FC236}">
                      <a16:creationId xmlns:a16="http://schemas.microsoft.com/office/drawing/2014/main" id="{0EF0D776-E7EB-4D37-8131-0AFCCC83245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1727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17" name="Group 1428">
                <a:extLst>
                  <a:ext uri="{FF2B5EF4-FFF2-40B4-BE49-F238E27FC236}">
                    <a16:creationId xmlns:a16="http://schemas.microsoft.com/office/drawing/2014/main" id="{08E3B13C-F500-43AB-9BC8-2666153BA6B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1727"/>
                <a:ext cx="957" cy="403"/>
                <a:chOff x="1914" y="1727"/>
                <a:chExt cx="957" cy="403"/>
              </a:xfrm>
            </p:grpSpPr>
            <p:sp>
              <p:nvSpPr>
                <p:cNvPr id="72015" name="Rectangle 1275">
                  <a:extLst>
                    <a:ext uri="{FF2B5EF4-FFF2-40B4-BE49-F238E27FC236}">
                      <a16:creationId xmlns:a16="http://schemas.microsoft.com/office/drawing/2014/main" id="{9DE8D437-BF0A-4B61-AF7A-25611FD5787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1727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1978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16" name="Rectangle 1427">
                  <a:extLst>
                    <a:ext uri="{FF2B5EF4-FFF2-40B4-BE49-F238E27FC236}">
                      <a16:creationId xmlns:a16="http://schemas.microsoft.com/office/drawing/2014/main" id="{FC257E5D-7B6D-4F8B-9828-049E8AC634A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1727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18" name="Group 1430">
                <a:extLst>
                  <a:ext uri="{FF2B5EF4-FFF2-40B4-BE49-F238E27FC236}">
                    <a16:creationId xmlns:a16="http://schemas.microsoft.com/office/drawing/2014/main" id="{AE282046-3461-4ACD-B318-EFD2972A34A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1727"/>
                <a:ext cx="957" cy="403"/>
                <a:chOff x="2871" y="1727"/>
                <a:chExt cx="957" cy="403"/>
              </a:xfrm>
            </p:grpSpPr>
            <p:sp>
              <p:nvSpPr>
                <p:cNvPr id="72013" name="Rectangle 1276">
                  <a:extLst>
                    <a:ext uri="{FF2B5EF4-FFF2-40B4-BE49-F238E27FC236}">
                      <a16:creationId xmlns:a16="http://schemas.microsoft.com/office/drawing/2014/main" id="{98943E35-0B69-498E-AC96-05EC03F3869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1727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64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14" name="Rectangle 1429">
                  <a:extLst>
                    <a:ext uri="{FF2B5EF4-FFF2-40B4-BE49-F238E27FC236}">
                      <a16:creationId xmlns:a16="http://schemas.microsoft.com/office/drawing/2014/main" id="{CF9F477C-FE4A-4E86-A167-9008708540C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1727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19" name="Group 1432">
                <a:extLst>
                  <a:ext uri="{FF2B5EF4-FFF2-40B4-BE49-F238E27FC236}">
                    <a16:creationId xmlns:a16="http://schemas.microsoft.com/office/drawing/2014/main" id="{0BF98500-B119-4D1E-88A2-B2D5AA5F447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1727"/>
                <a:ext cx="957" cy="403"/>
                <a:chOff x="3828" y="1727"/>
                <a:chExt cx="957" cy="403"/>
              </a:xfrm>
            </p:grpSpPr>
            <p:sp>
              <p:nvSpPr>
                <p:cNvPr id="72011" name="Rectangle 1277">
                  <a:extLst>
                    <a:ext uri="{FF2B5EF4-FFF2-40B4-BE49-F238E27FC236}">
                      <a16:creationId xmlns:a16="http://schemas.microsoft.com/office/drawing/2014/main" id="{94D7EC21-FAEA-49A3-9523-8AE4EC41EDD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1727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12" name="Rectangle 1431">
                  <a:extLst>
                    <a:ext uri="{FF2B5EF4-FFF2-40B4-BE49-F238E27FC236}">
                      <a16:creationId xmlns:a16="http://schemas.microsoft.com/office/drawing/2014/main" id="{62EFED12-3601-4278-8396-AD093B2A4D8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1727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20" name="Group 1434">
                <a:extLst>
                  <a:ext uri="{FF2B5EF4-FFF2-40B4-BE49-F238E27FC236}">
                    <a16:creationId xmlns:a16="http://schemas.microsoft.com/office/drawing/2014/main" id="{0B766EDD-6078-4DA5-AD81-F8719745332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1727"/>
                <a:ext cx="957" cy="403"/>
                <a:chOff x="4785" y="1727"/>
                <a:chExt cx="957" cy="403"/>
              </a:xfrm>
            </p:grpSpPr>
            <p:sp>
              <p:nvSpPr>
                <p:cNvPr id="72009" name="Rectangle 1278">
                  <a:extLst>
                    <a:ext uri="{FF2B5EF4-FFF2-40B4-BE49-F238E27FC236}">
                      <a16:creationId xmlns:a16="http://schemas.microsoft.com/office/drawing/2014/main" id="{76C21BD5-4DF6-4551-9719-570B7D6354D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1727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10" name="Rectangle 1433">
                  <a:extLst>
                    <a:ext uri="{FF2B5EF4-FFF2-40B4-BE49-F238E27FC236}">
                      <a16:creationId xmlns:a16="http://schemas.microsoft.com/office/drawing/2014/main" id="{77B6C525-8007-4500-8742-08E827F88AD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1727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21" name="Group 1436">
                <a:extLst>
                  <a:ext uri="{FF2B5EF4-FFF2-40B4-BE49-F238E27FC236}">
                    <a16:creationId xmlns:a16="http://schemas.microsoft.com/office/drawing/2014/main" id="{01A89E6B-4FFD-4633-8DAA-5FC26470B7A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2130"/>
                <a:ext cx="957" cy="403"/>
                <a:chOff x="0" y="2130"/>
                <a:chExt cx="957" cy="403"/>
              </a:xfrm>
            </p:grpSpPr>
            <p:sp>
              <p:nvSpPr>
                <p:cNvPr id="72007" name="Rectangle 1279">
                  <a:extLst>
                    <a:ext uri="{FF2B5EF4-FFF2-40B4-BE49-F238E27FC236}">
                      <a16:creationId xmlns:a16="http://schemas.microsoft.com/office/drawing/2014/main" id="{45942058-2627-4E3B-8EA0-3B218B4168E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2130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IBM 3090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08" name="Rectangle 1435">
                  <a:extLst>
                    <a:ext uri="{FF2B5EF4-FFF2-40B4-BE49-F238E27FC236}">
                      <a16:creationId xmlns:a16="http://schemas.microsoft.com/office/drawing/2014/main" id="{0EE38FF8-4D00-4A09-B7BD-565007B06E0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2130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22" name="Group 1438">
                <a:extLst>
                  <a:ext uri="{FF2B5EF4-FFF2-40B4-BE49-F238E27FC236}">
                    <a16:creationId xmlns:a16="http://schemas.microsoft.com/office/drawing/2014/main" id="{6E614994-E5DC-4D82-8890-79E4012866F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2130"/>
                <a:ext cx="957" cy="403"/>
                <a:chOff x="957" y="2130"/>
                <a:chExt cx="957" cy="403"/>
              </a:xfrm>
            </p:grpSpPr>
            <p:sp>
              <p:nvSpPr>
                <p:cNvPr id="72005" name="Rectangle 1280">
                  <a:extLst>
                    <a:ext uri="{FF2B5EF4-FFF2-40B4-BE49-F238E27FC236}">
                      <a16:creationId xmlns:a16="http://schemas.microsoft.com/office/drawing/2014/main" id="{7530799D-4049-4721-B5F2-F6162E30D48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2130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Mainframe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06" name="Rectangle 1437">
                  <a:extLst>
                    <a:ext uri="{FF2B5EF4-FFF2-40B4-BE49-F238E27FC236}">
                      <a16:creationId xmlns:a16="http://schemas.microsoft.com/office/drawing/2014/main" id="{524F4A33-8AE9-4283-A64E-E53B317C944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2130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23" name="Group 1440">
                <a:extLst>
                  <a:ext uri="{FF2B5EF4-FFF2-40B4-BE49-F238E27FC236}">
                    <a16:creationId xmlns:a16="http://schemas.microsoft.com/office/drawing/2014/main" id="{1F8201E5-14B1-42A9-AA9F-48D8409828B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2130"/>
                <a:ext cx="957" cy="403"/>
                <a:chOff x="1914" y="2130"/>
                <a:chExt cx="957" cy="403"/>
              </a:xfrm>
            </p:grpSpPr>
            <p:sp>
              <p:nvSpPr>
                <p:cNvPr id="72003" name="Rectangle 1281">
                  <a:extLst>
                    <a:ext uri="{FF2B5EF4-FFF2-40B4-BE49-F238E27FC236}">
                      <a16:creationId xmlns:a16="http://schemas.microsoft.com/office/drawing/2014/main" id="{28A0A8D8-447F-4E20-A8A3-542C6300210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2130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1985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04" name="Rectangle 1439">
                  <a:extLst>
                    <a:ext uri="{FF2B5EF4-FFF2-40B4-BE49-F238E27FC236}">
                      <a16:creationId xmlns:a16="http://schemas.microsoft.com/office/drawing/2014/main" id="{BB635E0D-0CD4-424E-AECE-90D317AB59F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2130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24" name="Group 1442">
                <a:extLst>
                  <a:ext uri="{FF2B5EF4-FFF2-40B4-BE49-F238E27FC236}">
                    <a16:creationId xmlns:a16="http://schemas.microsoft.com/office/drawing/2014/main" id="{B0720723-A861-4798-B155-F97F69BEAAB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2130"/>
                <a:ext cx="957" cy="403"/>
                <a:chOff x="2871" y="2130"/>
                <a:chExt cx="957" cy="403"/>
              </a:xfrm>
            </p:grpSpPr>
            <p:sp>
              <p:nvSpPr>
                <p:cNvPr id="72001" name="Rectangle 1282">
                  <a:extLst>
                    <a:ext uri="{FF2B5EF4-FFF2-40B4-BE49-F238E27FC236}">
                      <a16:creationId xmlns:a16="http://schemas.microsoft.com/office/drawing/2014/main" id="{56C9BC86-1DF6-47B7-B593-3DE34F42806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2130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128 to 256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02" name="Rectangle 1441">
                  <a:extLst>
                    <a:ext uri="{FF2B5EF4-FFF2-40B4-BE49-F238E27FC236}">
                      <a16:creationId xmlns:a16="http://schemas.microsoft.com/office/drawing/2014/main" id="{1CB2A255-F252-4C6B-BBA9-F00874DE9F4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2130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25" name="Group 1444">
                <a:extLst>
                  <a:ext uri="{FF2B5EF4-FFF2-40B4-BE49-F238E27FC236}">
                    <a16:creationId xmlns:a16="http://schemas.microsoft.com/office/drawing/2014/main" id="{8C4F39E2-9CBF-4A5D-A87E-F013C6B95B9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2130"/>
                <a:ext cx="957" cy="403"/>
                <a:chOff x="3828" y="2130"/>
                <a:chExt cx="957" cy="403"/>
              </a:xfrm>
            </p:grpSpPr>
            <p:sp>
              <p:nvSpPr>
                <p:cNvPr id="71999" name="Rectangle 1283">
                  <a:extLst>
                    <a:ext uri="{FF2B5EF4-FFF2-40B4-BE49-F238E27FC236}">
                      <a16:creationId xmlns:a16="http://schemas.microsoft.com/office/drawing/2014/main" id="{238FF0D6-45BE-4D13-A7C8-780F265DC1A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2130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00" name="Rectangle 1443">
                  <a:extLst>
                    <a:ext uri="{FF2B5EF4-FFF2-40B4-BE49-F238E27FC236}">
                      <a16:creationId xmlns:a16="http://schemas.microsoft.com/office/drawing/2014/main" id="{DD9A6007-0EFE-4CF3-B6D5-95D9E33FD3B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2130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26" name="Group 1446">
                <a:extLst>
                  <a:ext uri="{FF2B5EF4-FFF2-40B4-BE49-F238E27FC236}">
                    <a16:creationId xmlns:a16="http://schemas.microsoft.com/office/drawing/2014/main" id="{94825676-96DD-4ED6-BE58-D7FDCE55501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2130"/>
                <a:ext cx="957" cy="403"/>
                <a:chOff x="4785" y="2130"/>
                <a:chExt cx="957" cy="403"/>
              </a:xfrm>
            </p:grpSpPr>
            <p:sp>
              <p:nvSpPr>
                <p:cNvPr id="71997" name="Rectangle 1284">
                  <a:extLst>
                    <a:ext uri="{FF2B5EF4-FFF2-40B4-BE49-F238E27FC236}">
                      <a16:creationId xmlns:a16="http://schemas.microsoft.com/office/drawing/2014/main" id="{6A824E49-C356-41F0-A2E5-FDC2CBB89EF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2130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98" name="Rectangle 1445">
                  <a:extLst>
                    <a:ext uri="{FF2B5EF4-FFF2-40B4-BE49-F238E27FC236}">
                      <a16:creationId xmlns:a16="http://schemas.microsoft.com/office/drawing/2014/main" id="{8C1EDEB3-3B09-4CEB-B72F-BE35AECC803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2130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27" name="Group 1448">
                <a:extLst>
                  <a:ext uri="{FF2B5EF4-FFF2-40B4-BE49-F238E27FC236}">
                    <a16:creationId xmlns:a16="http://schemas.microsoft.com/office/drawing/2014/main" id="{9973DBAB-8F22-405E-893C-A2D9CCDCE48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2533"/>
                <a:ext cx="957" cy="403"/>
                <a:chOff x="0" y="2533"/>
                <a:chExt cx="957" cy="403"/>
              </a:xfrm>
            </p:grpSpPr>
            <p:sp>
              <p:nvSpPr>
                <p:cNvPr id="71995" name="Rectangle 1285">
                  <a:extLst>
                    <a:ext uri="{FF2B5EF4-FFF2-40B4-BE49-F238E27FC236}">
                      <a16:creationId xmlns:a16="http://schemas.microsoft.com/office/drawing/2014/main" id="{A6303283-A5E4-4A53-90FE-5BB3767F5F1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2533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Intel 80486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96" name="Rectangle 1447">
                  <a:extLst>
                    <a:ext uri="{FF2B5EF4-FFF2-40B4-BE49-F238E27FC236}">
                      <a16:creationId xmlns:a16="http://schemas.microsoft.com/office/drawing/2014/main" id="{7A4F7D4B-41B2-49E7-B6DF-AADA49E563A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2533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28" name="Group 1450">
                <a:extLst>
                  <a:ext uri="{FF2B5EF4-FFF2-40B4-BE49-F238E27FC236}">
                    <a16:creationId xmlns:a16="http://schemas.microsoft.com/office/drawing/2014/main" id="{53492FE3-C469-4DC6-874B-A807422ECFA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2533"/>
                <a:ext cx="957" cy="403"/>
                <a:chOff x="957" y="2533"/>
                <a:chExt cx="957" cy="403"/>
              </a:xfrm>
            </p:grpSpPr>
            <p:sp>
              <p:nvSpPr>
                <p:cNvPr id="71993" name="Rectangle 1286">
                  <a:extLst>
                    <a:ext uri="{FF2B5EF4-FFF2-40B4-BE49-F238E27FC236}">
                      <a16:creationId xmlns:a16="http://schemas.microsoft.com/office/drawing/2014/main" id="{EC2A99F5-9BCE-41C9-BB40-10BD86B817F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2533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PC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94" name="Rectangle 1449">
                  <a:extLst>
                    <a:ext uri="{FF2B5EF4-FFF2-40B4-BE49-F238E27FC236}">
                      <a16:creationId xmlns:a16="http://schemas.microsoft.com/office/drawing/2014/main" id="{E917B679-2511-483C-9CF8-C5808983C4D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2533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29" name="Group 1452">
                <a:extLst>
                  <a:ext uri="{FF2B5EF4-FFF2-40B4-BE49-F238E27FC236}">
                    <a16:creationId xmlns:a16="http://schemas.microsoft.com/office/drawing/2014/main" id="{3C3D16A9-2F7B-4D3C-BD3E-E45CF91F5C0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2533"/>
                <a:ext cx="957" cy="403"/>
                <a:chOff x="1914" y="2533"/>
                <a:chExt cx="957" cy="403"/>
              </a:xfrm>
            </p:grpSpPr>
            <p:sp>
              <p:nvSpPr>
                <p:cNvPr id="71991" name="Rectangle 1287">
                  <a:extLst>
                    <a:ext uri="{FF2B5EF4-FFF2-40B4-BE49-F238E27FC236}">
                      <a16:creationId xmlns:a16="http://schemas.microsoft.com/office/drawing/2014/main" id="{9914D787-3A90-4C1B-BC70-61DA1EF3DA5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2533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1989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92" name="Rectangle 1451">
                  <a:extLst>
                    <a:ext uri="{FF2B5EF4-FFF2-40B4-BE49-F238E27FC236}">
                      <a16:creationId xmlns:a16="http://schemas.microsoft.com/office/drawing/2014/main" id="{1C5C784A-F4AD-46DC-A35D-1CCDA9C86FA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2533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30" name="Group 1454">
                <a:extLst>
                  <a:ext uri="{FF2B5EF4-FFF2-40B4-BE49-F238E27FC236}">
                    <a16:creationId xmlns:a16="http://schemas.microsoft.com/office/drawing/2014/main" id="{7E2237B1-CED8-44AE-B660-91015986328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2533"/>
                <a:ext cx="957" cy="403"/>
                <a:chOff x="2871" y="2533"/>
                <a:chExt cx="957" cy="403"/>
              </a:xfrm>
            </p:grpSpPr>
            <p:sp>
              <p:nvSpPr>
                <p:cNvPr id="71989" name="Rectangle 1288">
                  <a:extLst>
                    <a:ext uri="{FF2B5EF4-FFF2-40B4-BE49-F238E27FC236}">
                      <a16:creationId xmlns:a16="http://schemas.microsoft.com/office/drawing/2014/main" id="{8783C64F-862B-4DCD-A3B9-4A07C360D39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2533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8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90" name="Rectangle 1453">
                  <a:extLst>
                    <a:ext uri="{FF2B5EF4-FFF2-40B4-BE49-F238E27FC236}">
                      <a16:creationId xmlns:a16="http://schemas.microsoft.com/office/drawing/2014/main" id="{45A38848-66E7-4FE2-885F-E23409C7A6F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2533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31" name="Group 1456">
                <a:extLst>
                  <a:ext uri="{FF2B5EF4-FFF2-40B4-BE49-F238E27FC236}">
                    <a16:creationId xmlns:a16="http://schemas.microsoft.com/office/drawing/2014/main" id="{FDBFF4C4-7E3E-4358-8BD5-698F9D5EF7E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2533"/>
                <a:ext cx="957" cy="403"/>
                <a:chOff x="3828" y="2533"/>
                <a:chExt cx="957" cy="403"/>
              </a:xfrm>
            </p:grpSpPr>
            <p:sp>
              <p:nvSpPr>
                <p:cNvPr id="71987" name="Rectangle 1289">
                  <a:extLst>
                    <a:ext uri="{FF2B5EF4-FFF2-40B4-BE49-F238E27FC236}">
                      <a16:creationId xmlns:a16="http://schemas.microsoft.com/office/drawing/2014/main" id="{8BD34857-5433-4CC1-8411-58294369CCB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2533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88" name="Rectangle 1455">
                  <a:extLst>
                    <a:ext uri="{FF2B5EF4-FFF2-40B4-BE49-F238E27FC236}">
                      <a16:creationId xmlns:a16="http://schemas.microsoft.com/office/drawing/2014/main" id="{84FD53FB-356F-49D2-BA89-7FE43A8AD0E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2533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32" name="Group 1458">
                <a:extLst>
                  <a:ext uri="{FF2B5EF4-FFF2-40B4-BE49-F238E27FC236}">
                    <a16:creationId xmlns:a16="http://schemas.microsoft.com/office/drawing/2014/main" id="{4A0FD984-7FB3-4D39-B532-CC4F6383981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2533"/>
                <a:ext cx="957" cy="403"/>
                <a:chOff x="4785" y="2533"/>
                <a:chExt cx="957" cy="403"/>
              </a:xfrm>
            </p:grpSpPr>
            <p:sp>
              <p:nvSpPr>
                <p:cNvPr id="71985" name="Rectangle 1290">
                  <a:extLst>
                    <a:ext uri="{FF2B5EF4-FFF2-40B4-BE49-F238E27FC236}">
                      <a16:creationId xmlns:a16="http://schemas.microsoft.com/office/drawing/2014/main" id="{8D61AAC4-9E84-4E19-93F5-871D6247D9E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2533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86" name="Rectangle 1457">
                  <a:extLst>
                    <a:ext uri="{FF2B5EF4-FFF2-40B4-BE49-F238E27FC236}">
                      <a16:creationId xmlns:a16="http://schemas.microsoft.com/office/drawing/2014/main" id="{6463ABCD-1C4B-4A7A-8BE8-093E51802CB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2533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33" name="Group 1460">
                <a:extLst>
                  <a:ext uri="{FF2B5EF4-FFF2-40B4-BE49-F238E27FC236}">
                    <a16:creationId xmlns:a16="http://schemas.microsoft.com/office/drawing/2014/main" id="{99F5ADC0-1C5F-479C-8880-60DFB75F7DA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2936"/>
                <a:ext cx="957" cy="403"/>
                <a:chOff x="0" y="2936"/>
                <a:chExt cx="957" cy="403"/>
              </a:xfrm>
            </p:grpSpPr>
            <p:sp>
              <p:nvSpPr>
                <p:cNvPr id="71983" name="Rectangle 1291">
                  <a:extLst>
                    <a:ext uri="{FF2B5EF4-FFF2-40B4-BE49-F238E27FC236}">
                      <a16:creationId xmlns:a16="http://schemas.microsoft.com/office/drawing/2014/main" id="{E7D8264F-3C80-45E1-9E06-3CE5E1B24A0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2936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dirty="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Pentium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84" name="Rectangle 1459">
                  <a:extLst>
                    <a:ext uri="{FF2B5EF4-FFF2-40B4-BE49-F238E27FC236}">
                      <a16:creationId xmlns:a16="http://schemas.microsoft.com/office/drawing/2014/main" id="{A8B42D08-E89B-4618-84A5-870B0E1EDB1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2936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34" name="Group 1462">
                <a:extLst>
                  <a:ext uri="{FF2B5EF4-FFF2-40B4-BE49-F238E27FC236}">
                    <a16:creationId xmlns:a16="http://schemas.microsoft.com/office/drawing/2014/main" id="{EA4B5D72-2876-44A0-9410-B5AFAFC25F9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2936"/>
                <a:ext cx="957" cy="403"/>
                <a:chOff x="957" y="2936"/>
                <a:chExt cx="957" cy="403"/>
              </a:xfrm>
            </p:grpSpPr>
            <p:sp>
              <p:nvSpPr>
                <p:cNvPr id="71981" name="Rectangle 1292">
                  <a:extLst>
                    <a:ext uri="{FF2B5EF4-FFF2-40B4-BE49-F238E27FC236}">
                      <a16:creationId xmlns:a16="http://schemas.microsoft.com/office/drawing/2014/main" id="{CCAAC643-0D6E-48D0-B74C-7A3BC9BFB94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2936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PC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82" name="Rectangle 1461">
                  <a:extLst>
                    <a:ext uri="{FF2B5EF4-FFF2-40B4-BE49-F238E27FC236}">
                      <a16:creationId xmlns:a16="http://schemas.microsoft.com/office/drawing/2014/main" id="{CBCDF679-135C-4FD9-8F51-522E6BA5C89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2936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35" name="Group 1464">
                <a:extLst>
                  <a:ext uri="{FF2B5EF4-FFF2-40B4-BE49-F238E27FC236}">
                    <a16:creationId xmlns:a16="http://schemas.microsoft.com/office/drawing/2014/main" id="{BD282E88-D718-43D2-8FEA-5D7085AE0D8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2936"/>
                <a:ext cx="957" cy="403"/>
                <a:chOff x="1914" y="2936"/>
                <a:chExt cx="957" cy="403"/>
              </a:xfrm>
            </p:grpSpPr>
            <p:sp>
              <p:nvSpPr>
                <p:cNvPr id="71979" name="Rectangle 1293">
                  <a:extLst>
                    <a:ext uri="{FF2B5EF4-FFF2-40B4-BE49-F238E27FC236}">
                      <a16:creationId xmlns:a16="http://schemas.microsoft.com/office/drawing/2014/main" id="{9C7946A8-ABC6-4DFD-90E7-C262D2F6447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2936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1993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80" name="Rectangle 1463">
                  <a:extLst>
                    <a:ext uri="{FF2B5EF4-FFF2-40B4-BE49-F238E27FC236}">
                      <a16:creationId xmlns:a16="http://schemas.microsoft.com/office/drawing/2014/main" id="{ABEA9663-8088-4EAD-9D51-89437FEBADD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2936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36" name="Group 1466">
                <a:extLst>
                  <a:ext uri="{FF2B5EF4-FFF2-40B4-BE49-F238E27FC236}">
                    <a16:creationId xmlns:a16="http://schemas.microsoft.com/office/drawing/2014/main" id="{5101681A-2CC0-4B6E-8D94-CC8DFCAB475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2936"/>
                <a:ext cx="957" cy="403"/>
                <a:chOff x="2871" y="2936"/>
                <a:chExt cx="957" cy="403"/>
              </a:xfrm>
            </p:grpSpPr>
            <p:sp>
              <p:nvSpPr>
                <p:cNvPr id="71977" name="Rectangle 1294">
                  <a:extLst>
                    <a:ext uri="{FF2B5EF4-FFF2-40B4-BE49-F238E27FC236}">
                      <a16:creationId xmlns:a16="http://schemas.microsoft.com/office/drawing/2014/main" id="{62612E0F-D94F-4D35-8923-73E4E490DE0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2936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8 KB/8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78" name="Rectangle 1465">
                  <a:extLst>
                    <a:ext uri="{FF2B5EF4-FFF2-40B4-BE49-F238E27FC236}">
                      <a16:creationId xmlns:a16="http://schemas.microsoft.com/office/drawing/2014/main" id="{25A18DB0-F4C7-48C7-AED8-4ED3014F594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2936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37" name="Group 1468">
                <a:extLst>
                  <a:ext uri="{FF2B5EF4-FFF2-40B4-BE49-F238E27FC236}">
                    <a16:creationId xmlns:a16="http://schemas.microsoft.com/office/drawing/2014/main" id="{79E6489C-D765-493F-A298-E3DC2735845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2936"/>
                <a:ext cx="957" cy="403"/>
                <a:chOff x="3828" y="2936"/>
                <a:chExt cx="957" cy="403"/>
              </a:xfrm>
            </p:grpSpPr>
            <p:sp>
              <p:nvSpPr>
                <p:cNvPr id="71975" name="Rectangle 1295">
                  <a:extLst>
                    <a:ext uri="{FF2B5EF4-FFF2-40B4-BE49-F238E27FC236}">
                      <a16:creationId xmlns:a16="http://schemas.microsoft.com/office/drawing/2014/main" id="{706A0E1D-A1A3-4F7F-BF7B-E9E15A59AE8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2936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256 to 512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76" name="Rectangle 1467">
                  <a:extLst>
                    <a:ext uri="{FF2B5EF4-FFF2-40B4-BE49-F238E27FC236}">
                      <a16:creationId xmlns:a16="http://schemas.microsoft.com/office/drawing/2014/main" id="{C5B65BD4-4594-4F6F-80FE-4C90A646D39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2936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38" name="Group 1470">
                <a:extLst>
                  <a:ext uri="{FF2B5EF4-FFF2-40B4-BE49-F238E27FC236}">
                    <a16:creationId xmlns:a16="http://schemas.microsoft.com/office/drawing/2014/main" id="{AF2F3C8F-7F15-4304-8969-0E8FED65363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2936"/>
                <a:ext cx="957" cy="403"/>
                <a:chOff x="4785" y="2936"/>
                <a:chExt cx="957" cy="403"/>
              </a:xfrm>
            </p:grpSpPr>
            <p:sp>
              <p:nvSpPr>
                <p:cNvPr id="71973" name="Rectangle 1296">
                  <a:extLst>
                    <a:ext uri="{FF2B5EF4-FFF2-40B4-BE49-F238E27FC236}">
                      <a16:creationId xmlns:a16="http://schemas.microsoft.com/office/drawing/2014/main" id="{A5D37018-52C6-4DE8-8792-87D6F870137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2936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74" name="Rectangle 1469">
                  <a:extLst>
                    <a:ext uri="{FF2B5EF4-FFF2-40B4-BE49-F238E27FC236}">
                      <a16:creationId xmlns:a16="http://schemas.microsoft.com/office/drawing/2014/main" id="{86C80EB6-7B45-4F7C-9696-9A844E7C0A3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2936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39" name="Group 1472">
                <a:extLst>
                  <a:ext uri="{FF2B5EF4-FFF2-40B4-BE49-F238E27FC236}">
                    <a16:creationId xmlns:a16="http://schemas.microsoft.com/office/drawing/2014/main" id="{C25AED69-2F1F-47F1-8B94-FD9E312585A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3339"/>
                <a:ext cx="957" cy="403"/>
                <a:chOff x="0" y="3339"/>
                <a:chExt cx="957" cy="403"/>
              </a:xfrm>
            </p:grpSpPr>
            <p:sp>
              <p:nvSpPr>
                <p:cNvPr id="71971" name="Rectangle 1297">
                  <a:extLst>
                    <a:ext uri="{FF2B5EF4-FFF2-40B4-BE49-F238E27FC236}">
                      <a16:creationId xmlns:a16="http://schemas.microsoft.com/office/drawing/2014/main" id="{112C4129-52C1-464C-B277-FBC69A312B9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3339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PowerPC 601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72" name="Rectangle 1471">
                  <a:extLst>
                    <a:ext uri="{FF2B5EF4-FFF2-40B4-BE49-F238E27FC236}">
                      <a16:creationId xmlns:a16="http://schemas.microsoft.com/office/drawing/2014/main" id="{F381C44D-D7F4-43B7-A665-85268799F78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3339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40" name="Group 1474">
                <a:extLst>
                  <a:ext uri="{FF2B5EF4-FFF2-40B4-BE49-F238E27FC236}">
                    <a16:creationId xmlns:a16="http://schemas.microsoft.com/office/drawing/2014/main" id="{7DA43403-C91D-47A8-ACEF-A66E45283F0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3339"/>
                <a:ext cx="957" cy="403"/>
                <a:chOff x="957" y="3339"/>
                <a:chExt cx="957" cy="403"/>
              </a:xfrm>
            </p:grpSpPr>
            <p:sp>
              <p:nvSpPr>
                <p:cNvPr id="71969" name="Rectangle 1298">
                  <a:extLst>
                    <a:ext uri="{FF2B5EF4-FFF2-40B4-BE49-F238E27FC236}">
                      <a16:creationId xmlns:a16="http://schemas.microsoft.com/office/drawing/2014/main" id="{92193D83-C847-4DB3-93A9-70120E47EB6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3339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PC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70" name="Rectangle 1473">
                  <a:extLst>
                    <a:ext uri="{FF2B5EF4-FFF2-40B4-BE49-F238E27FC236}">
                      <a16:creationId xmlns:a16="http://schemas.microsoft.com/office/drawing/2014/main" id="{8B8FF573-4CF7-4320-8ABC-5EBA2BBCF0D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3339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41" name="Group 1476">
                <a:extLst>
                  <a:ext uri="{FF2B5EF4-FFF2-40B4-BE49-F238E27FC236}">
                    <a16:creationId xmlns:a16="http://schemas.microsoft.com/office/drawing/2014/main" id="{239A4F9B-60E0-4135-959E-27B0AC2D71A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3339"/>
                <a:ext cx="957" cy="403"/>
                <a:chOff x="1914" y="3339"/>
                <a:chExt cx="957" cy="403"/>
              </a:xfrm>
            </p:grpSpPr>
            <p:sp>
              <p:nvSpPr>
                <p:cNvPr id="71967" name="Rectangle 1299">
                  <a:extLst>
                    <a:ext uri="{FF2B5EF4-FFF2-40B4-BE49-F238E27FC236}">
                      <a16:creationId xmlns:a16="http://schemas.microsoft.com/office/drawing/2014/main" id="{1CB5F485-290F-4631-82AC-A35797CFBEC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3339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1993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68" name="Rectangle 1475">
                  <a:extLst>
                    <a:ext uri="{FF2B5EF4-FFF2-40B4-BE49-F238E27FC236}">
                      <a16:creationId xmlns:a16="http://schemas.microsoft.com/office/drawing/2014/main" id="{A83DF4A0-29F7-4209-B202-8F8CE4783AE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3339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42" name="Group 1478">
                <a:extLst>
                  <a:ext uri="{FF2B5EF4-FFF2-40B4-BE49-F238E27FC236}">
                    <a16:creationId xmlns:a16="http://schemas.microsoft.com/office/drawing/2014/main" id="{4693AD2C-CE60-4135-BC45-654398F1EE6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3339"/>
                <a:ext cx="957" cy="403"/>
                <a:chOff x="2871" y="3339"/>
                <a:chExt cx="957" cy="403"/>
              </a:xfrm>
            </p:grpSpPr>
            <p:sp>
              <p:nvSpPr>
                <p:cNvPr id="71965" name="Rectangle 1300">
                  <a:extLst>
                    <a:ext uri="{FF2B5EF4-FFF2-40B4-BE49-F238E27FC236}">
                      <a16:creationId xmlns:a16="http://schemas.microsoft.com/office/drawing/2014/main" id="{C04C982E-488F-40B5-8B88-32137286D8A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3339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32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66" name="Rectangle 1477">
                  <a:extLst>
                    <a:ext uri="{FF2B5EF4-FFF2-40B4-BE49-F238E27FC236}">
                      <a16:creationId xmlns:a16="http://schemas.microsoft.com/office/drawing/2014/main" id="{1A7C43C0-12B4-48B8-A5B4-63803182A70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3339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43" name="Group 1480">
                <a:extLst>
                  <a:ext uri="{FF2B5EF4-FFF2-40B4-BE49-F238E27FC236}">
                    <a16:creationId xmlns:a16="http://schemas.microsoft.com/office/drawing/2014/main" id="{F39737FB-1691-4609-B5FB-4C07333BDCF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3339"/>
                <a:ext cx="957" cy="403"/>
                <a:chOff x="3828" y="3339"/>
                <a:chExt cx="957" cy="403"/>
              </a:xfrm>
            </p:grpSpPr>
            <p:sp>
              <p:nvSpPr>
                <p:cNvPr id="71963" name="Rectangle 1301">
                  <a:extLst>
                    <a:ext uri="{FF2B5EF4-FFF2-40B4-BE49-F238E27FC236}">
                      <a16:creationId xmlns:a16="http://schemas.microsoft.com/office/drawing/2014/main" id="{39EBF0DD-84A8-46B1-BFC2-3FB37F688C4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3339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64" name="Rectangle 1479">
                  <a:extLst>
                    <a:ext uri="{FF2B5EF4-FFF2-40B4-BE49-F238E27FC236}">
                      <a16:creationId xmlns:a16="http://schemas.microsoft.com/office/drawing/2014/main" id="{FF668849-9C23-4E76-96C1-8EB5B266385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3339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44" name="Group 1482">
                <a:extLst>
                  <a:ext uri="{FF2B5EF4-FFF2-40B4-BE49-F238E27FC236}">
                    <a16:creationId xmlns:a16="http://schemas.microsoft.com/office/drawing/2014/main" id="{C0393B3F-FF87-466E-951D-FDA4B6B0D4E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3339"/>
                <a:ext cx="957" cy="403"/>
                <a:chOff x="4785" y="3339"/>
                <a:chExt cx="957" cy="403"/>
              </a:xfrm>
            </p:grpSpPr>
            <p:sp>
              <p:nvSpPr>
                <p:cNvPr id="71961" name="Rectangle 1302">
                  <a:extLst>
                    <a:ext uri="{FF2B5EF4-FFF2-40B4-BE49-F238E27FC236}">
                      <a16:creationId xmlns:a16="http://schemas.microsoft.com/office/drawing/2014/main" id="{1746CBA8-DF82-414A-A547-EFC7618C43E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3339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62" name="Rectangle 1481">
                  <a:extLst>
                    <a:ext uri="{FF2B5EF4-FFF2-40B4-BE49-F238E27FC236}">
                      <a16:creationId xmlns:a16="http://schemas.microsoft.com/office/drawing/2014/main" id="{4416E258-70DA-4432-8B3B-68DEFFA8B04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3339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45" name="Group 1484">
                <a:extLst>
                  <a:ext uri="{FF2B5EF4-FFF2-40B4-BE49-F238E27FC236}">
                    <a16:creationId xmlns:a16="http://schemas.microsoft.com/office/drawing/2014/main" id="{631F5BA7-C238-4188-B2C0-10A906F6830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3742"/>
                <a:ext cx="957" cy="403"/>
                <a:chOff x="0" y="3742"/>
                <a:chExt cx="957" cy="403"/>
              </a:xfrm>
            </p:grpSpPr>
            <p:sp>
              <p:nvSpPr>
                <p:cNvPr id="71959" name="Rectangle 1303">
                  <a:extLst>
                    <a:ext uri="{FF2B5EF4-FFF2-40B4-BE49-F238E27FC236}">
                      <a16:creationId xmlns:a16="http://schemas.microsoft.com/office/drawing/2014/main" id="{50360A0A-C075-4BB3-9CC8-17118C1D0A8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3742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PowerPC 620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60" name="Rectangle 1483">
                  <a:extLst>
                    <a:ext uri="{FF2B5EF4-FFF2-40B4-BE49-F238E27FC236}">
                      <a16:creationId xmlns:a16="http://schemas.microsoft.com/office/drawing/2014/main" id="{D3C67B95-1D4A-423E-A738-BC8677DA27C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3742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46" name="Group 1486">
                <a:extLst>
                  <a:ext uri="{FF2B5EF4-FFF2-40B4-BE49-F238E27FC236}">
                    <a16:creationId xmlns:a16="http://schemas.microsoft.com/office/drawing/2014/main" id="{947F7B58-F3EE-4828-9A08-E223AC08D73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3742"/>
                <a:ext cx="957" cy="403"/>
                <a:chOff x="957" y="3742"/>
                <a:chExt cx="957" cy="403"/>
              </a:xfrm>
            </p:grpSpPr>
            <p:sp>
              <p:nvSpPr>
                <p:cNvPr id="71957" name="Rectangle 1304">
                  <a:extLst>
                    <a:ext uri="{FF2B5EF4-FFF2-40B4-BE49-F238E27FC236}">
                      <a16:creationId xmlns:a16="http://schemas.microsoft.com/office/drawing/2014/main" id="{0268B6A0-0AF5-4FC0-863B-9DE2BFE7F27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3742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PC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58" name="Rectangle 1485">
                  <a:extLst>
                    <a:ext uri="{FF2B5EF4-FFF2-40B4-BE49-F238E27FC236}">
                      <a16:creationId xmlns:a16="http://schemas.microsoft.com/office/drawing/2014/main" id="{2A57321B-BA85-4742-B3A8-C58C3EC3A94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3742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47" name="Group 1488">
                <a:extLst>
                  <a:ext uri="{FF2B5EF4-FFF2-40B4-BE49-F238E27FC236}">
                    <a16:creationId xmlns:a16="http://schemas.microsoft.com/office/drawing/2014/main" id="{94CF2562-6821-4F81-9153-243A3536C5E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3742"/>
                <a:ext cx="957" cy="403"/>
                <a:chOff x="1914" y="3742"/>
                <a:chExt cx="957" cy="403"/>
              </a:xfrm>
            </p:grpSpPr>
            <p:sp>
              <p:nvSpPr>
                <p:cNvPr id="71955" name="Rectangle 1305">
                  <a:extLst>
                    <a:ext uri="{FF2B5EF4-FFF2-40B4-BE49-F238E27FC236}">
                      <a16:creationId xmlns:a16="http://schemas.microsoft.com/office/drawing/2014/main" id="{C264E464-15A3-41B8-A319-DA4BE5004A2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3742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dirty="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1996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56" name="Rectangle 1487">
                  <a:extLst>
                    <a:ext uri="{FF2B5EF4-FFF2-40B4-BE49-F238E27FC236}">
                      <a16:creationId xmlns:a16="http://schemas.microsoft.com/office/drawing/2014/main" id="{0AEEF7BB-648B-400B-A897-C1D72BCFDA5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3742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48" name="Group 1490">
                <a:extLst>
                  <a:ext uri="{FF2B5EF4-FFF2-40B4-BE49-F238E27FC236}">
                    <a16:creationId xmlns:a16="http://schemas.microsoft.com/office/drawing/2014/main" id="{B4A2F5A3-1781-49A9-9348-0B06765FB54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3742"/>
                <a:ext cx="957" cy="403"/>
                <a:chOff x="2871" y="3742"/>
                <a:chExt cx="957" cy="403"/>
              </a:xfrm>
            </p:grpSpPr>
            <p:sp>
              <p:nvSpPr>
                <p:cNvPr id="71953" name="Rectangle 1306">
                  <a:extLst>
                    <a:ext uri="{FF2B5EF4-FFF2-40B4-BE49-F238E27FC236}">
                      <a16:creationId xmlns:a16="http://schemas.microsoft.com/office/drawing/2014/main" id="{A373D753-4249-4CC4-A552-CDA9E7F5144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3742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32 KB/32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54" name="Rectangle 1489">
                  <a:extLst>
                    <a:ext uri="{FF2B5EF4-FFF2-40B4-BE49-F238E27FC236}">
                      <a16:creationId xmlns:a16="http://schemas.microsoft.com/office/drawing/2014/main" id="{4EDA4657-2F30-4483-AB0F-1E470B39C92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3742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49" name="Group 1492">
                <a:extLst>
                  <a:ext uri="{FF2B5EF4-FFF2-40B4-BE49-F238E27FC236}">
                    <a16:creationId xmlns:a16="http://schemas.microsoft.com/office/drawing/2014/main" id="{BDCFACF4-BE1F-4C8A-AAE5-6CDDA62B1A1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3742"/>
                <a:ext cx="957" cy="403"/>
                <a:chOff x="3828" y="3742"/>
                <a:chExt cx="957" cy="403"/>
              </a:xfrm>
            </p:grpSpPr>
            <p:sp>
              <p:nvSpPr>
                <p:cNvPr id="71951" name="Rectangle 1307">
                  <a:extLst>
                    <a:ext uri="{FF2B5EF4-FFF2-40B4-BE49-F238E27FC236}">
                      <a16:creationId xmlns:a16="http://schemas.microsoft.com/office/drawing/2014/main" id="{BF85C6BC-22E4-4692-9C1F-99A826D54E0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3742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52" name="Rectangle 1491">
                  <a:extLst>
                    <a:ext uri="{FF2B5EF4-FFF2-40B4-BE49-F238E27FC236}">
                      <a16:creationId xmlns:a16="http://schemas.microsoft.com/office/drawing/2014/main" id="{4BC97C3F-A0FC-4CC2-A329-809C0013D34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3742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50" name="Group 1494">
                <a:extLst>
                  <a:ext uri="{FF2B5EF4-FFF2-40B4-BE49-F238E27FC236}">
                    <a16:creationId xmlns:a16="http://schemas.microsoft.com/office/drawing/2014/main" id="{A5018971-CBFC-4747-B03C-A293CE49AF4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3742"/>
                <a:ext cx="957" cy="403"/>
                <a:chOff x="4785" y="3742"/>
                <a:chExt cx="957" cy="403"/>
              </a:xfrm>
            </p:grpSpPr>
            <p:sp>
              <p:nvSpPr>
                <p:cNvPr id="71949" name="Rectangle 1308">
                  <a:extLst>
                    <a:ext uri="{FF2B5EF4-FFF2-40B4-BE49-F238E27FC236}">
                      <a16:creationId xmlns:a16="http://schemas.microsoft.com/office/drawing/2014/main" id="{0F698046-704A-4D8E-A6CD-D83FE5A09EF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3742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50" name="Rectangle 1493">
                  <a:extLst>
                    <a:ext uri="{FF2B5EF4-FFF2-40B4-BE49-F238E27FC236}">
                      <a16:creationId xmlns:a16="http://schemas.microsoft.com/office/drawing/2014/main" id="{CFD805B7-E03C-4679-8414-4F926418DFD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3742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51" name="Group 1496">
                <a:extLst>
                  <a:ext uri="{FF2B5EF4-FFF2-40B4-BE49-F238E27FC236}">
                    <a16:creationId xmlns:a16="http://schemas.microsoft.com/office/drawing/2014/main" id="{78308168-56E9-4B21-9299-BF81F47BC9E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4145"/>
                <a:ext cx="957" cy="403"/>
                <a:chOff x="0" y="4145"/>
                <a:chExt cx="957" cy="403"/>
              </a:xfrm>
            </p:grpSpPr>
            <p:sp>
              <p:nvSpPr>
                <p:cNvPr id="71947" name="Rectangle 1309">
                  <a:extLst>
                    <a:ext uri="{FF2B5EF4-FFF2-40B4-BE49-F238E27FC236}">
                      <a16:creationId xmlns:a16="http://schemas.microsoft.com/office/drawing/2014/main" id="{7856591D-8D44-4607-864B-8E21C5E8AC8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4145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PowerPC G4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48" name="Rectangle 1495">
                  <a:extLst>
                    <a:ext uri="{FF2B5EF4-FFF2-40B4-BE49-F238E27FC236}">
                      <a16:creationId xmlns:a16="http://schemas.microsoft.com/office/drawing/2014/main" id="{3232BD4B-0F80-4C63-8614-BBFB5F083C3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4145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52" name="Group 1498">
                <a:extLst>
                  <a:ext uri="{FF2B5EF4-FFF2-40B4-BE49-F238E27FC236}">
                    <a16:creationId xmlns:a16="http://schemas.microsoft.com/office/drawing/2014/main" id="{29498351-8C6C-4F5F-8906-4167B980717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4145"/>
                <a:ext cx="957" cy="403"/>
                <a:chOff x="957" y="4145"/>
                <a:chExt cx="957" cy="403"/>
              </a:xfrm>
            </p:grpSpPr>
            <p:sp>
              <p:nvSpPr>
                <p:cNvPr id="71945" name="Rectangle 1310">
                  <a:extLst>
                    <a:ext uri="{FF2B5EF4-FFF2-40B4-BE49-F238E27FC236}">
                      <a16:creationId xmlns:a16="http://schemas.microsoft.com/office/drawing/2014/main" id="{30CA28F9-59E8-4C57-98E0-7E652B3069E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4145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PC/server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46" name="Rectangle 1497">
                  <a:extLst>
                    <a:ext uri="{FF2B5EF4-FFF2-40B4-BE49-F238E27FC236}">
                      <a16:creationId xmlns:a16="http://schemas.microsoft.com/office/drawing/2014/main" id="{5C9CE2C1-14BE-4961-8604-9A7D893A641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4145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53" name="Group 1500">
                <a:extLst>
                  <a:ext uri="{FF2B5EF4-FFF2-40B4-BE49-F238E27FC236}">
                    <a16:creationId xmlns:a16="http://schemas.microsoft.com/office/drawing/2014/main" id="{E8709B47-5924-4ACE-946B-E2B240BF149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4145"/>
                <a:ext cx="957" cy="403"/>
                <a:chOff x="1914" y="4145"/>
                <a:chExt cx="957" cy="403"/>
              </a:xfrm>
            </p:grpSpPr>
            <p:sp>
              <p:nvSpPr>
                <p:cNvPr id="71943" name="Rectangle 1311">
                  <a:extLst>
                    <a:ext uri="{FF2B5EF4-FFF2-40B4-BE49-F238E27FC236}">
                      <a16:creationId xmlns:a16="http://schemas.microsoft.com/office/drawing/2014/main" id="{9C4CD305-219E-484A-90BD-497213515AB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4145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1999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44" name="Rectangle 1499">
                  <a:extLst>
                    <a:ext uri="{FF2B5EF4-FFF2-40B4-BE49-F238E27FC236}">
                      <a16:creationId xmlns:a16="http://schemas.microsoft.com/office/drawing/2014/main" id="{07A453F2-8232-4284-A1A2-3E4C85331A3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4145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54" name="Group 1502">
                <a:extLst>
                  <a:ext uri="{FF2B5EF4-FFF2-40B4-BE49-F238E27FC236}">
                    <a16:creationId xmlns:a16="http://schemas.microsoft.com/office/drawing/2014/main" id="{59E5F0E4-400C-4BCD-8820-48E3CAEBD42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4145"/>
                <a:ext cx="957" cy="403"/>
                <a:chOff x="2871" y="4145"/>
                <a:chExt cx="957" cy="403"/>
              </a:xfrm>
            </p:grpSpPr>
            <p:sp>
              <p:nvSpPr>
                <p:cNvPr id="71941" name="Rectangle 1312">
                  <a:extLst>
                    <a:ext uri="{FF2B5EF4-FFF2-40B4-BE49-F238E27FC236}">
                      <a16:creationId xmlns:a16="http://schemas.microsoft.com/office/drawing/2014/main" id="{44C81BE0-D0E2-4F8D-BFD5-8C864517DD9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4145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32 KB/32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42" name="Rectangle 1501">
                  <a:extLst>
                    <a:ext uri="{FF2B5EF4-FFF2-40B4-BE49-F238E27FC236}">
                      <a16:creationId xmlns:a16="http://schemas.microsoft.com/office/drawing/2014/main" id="{410FD7F0-B5A1-47F4-882D-F39F025F995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4145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55" name="Group 1504">
                <a:extLst>
                  <a:ext uri="{FF2B5EF4-FFF2-40B4-BE49-F238E27FC236}">
                    <a16:creationId xmlns:a16="http://schemas.microsoft.com/office/drawing/2014/main" id="{73D52C38-35E1-4217-A955-1207C5928D4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4145"/>
                <a:ext cx="957" cy="403"/>
                <a:chOff x="3828" y="4145"/>
                <a:chExt cx="957" cy="403"/>
              </a:xfrm>
            </p:grpSpPr>
            <p:sp>
              <p:nvSpPr>
                <p:cNvPr id="71939" name="Rectangle 1313">
                  <a:extLst>
                    <a:ext uri="{FF2B5EF4-FFF2-40B4-BE49-F238E27FC236}">
                      <a16:creationId xmlns:a16="http://schemas.microsoft.com/office/drawing/2014/main" id="{8B25D6C0-564B-467F-8284-175364E0DD0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4145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256 KB to 1 MB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40" name="Rectangle 1503">
                  <a:extLst>
                    <a:ext uri="{FF2B5EF4-FFF2-40B4-BE49-F238E27FC236}">
                      <a16:creationId xmlns:a16="http://schemas.microsoft.com/office/drawing/2014/main" id="{E6115434-9AC7-450A-AC30-B4B18F6F859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4145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56" name="Group 1506">
                <a:extLst>
                  <a:ext uri="{FF2B5EF4-FFF2-40B4-BE49-F238E27FC236}">
                    <a16:creationId xmlns:a16="http://schemas.microsoft.com/office/drawing/2014/main" id="{565045FE-3A35-416A-B108-67EC11D6426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4145"/>
                <a:ext cx="957" cy="403"/>
                <a:chOff x="4785" y="4145"/>
                <a:chExt cx="957" cy="403"/>
              </a:xfrm>
            </p:grpSpPr>
            <p:sp>
              <p:nvSpPr>
                <p:cNvPr id="71937" name="Rectangle 1314">
                  <a:extLst>
                    <a:ext uri="{FF2B5EF4-FFF2-40B4-BE49-F238E27FC236}">
                      <a16:creationId xmlns:a16="http://schemas.microsoft.com/office/drawing/2014/main" id="{3E96872E-7660-4F6F-B267-A85E8C86D5D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4145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 MB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38" name="Rectangle 1505">
                  <a:extLst>
                    <a:ext uri="{FF2B5EF4-FFF2-40B4-BE49-F238E27FC236}">
                      <a16:creationId xmlns:a16="http://schemas.microsoft.com/office/drawing/2014/main" id="{74587348-D671-40B2-97AC-C48CB018CC0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4145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57" name="Group 1508">
                <a:extLst>
                  <a:ext uri="{FF2B5EF4-FFF2-40B4-BE49-F238E27FC236}">
                    <a16:creationId xmlns:a16="http://schemas.microsoft.com/office/drawing/2014/main" id="{EED07EC1-2837-4A73-A0DC-F406EC69F81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4548"/>
                <a:ext cx="957" cy="403"/>
                <a:chOff x="0" y="4548"/>
                <a:chExt cx="957" cy="403"/>
              </a:xfrm>
            </p:grpSpPr>
            <p:sp>
              <p:nvSpPr>
                <p:cNvPr id="71935" name="Rectangle 1315">
                  <a:extLst>
                    <a:ext uri="{FF2B5EF4-FFF2-40B4-BE49-F238E27FC236}">
                      <a16:creationId xmlns:a16="http://schemas.microsoft.com/office/drawing/2014/main" id="{9796C284-FA0C-4DFE-AD3E-9D69CD9F4C0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454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IBM S/390 G4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36" name="Rectangle 1507">
                  <a:extLst>
                    <a:ext uri="{FF2B5EF4-FFF2-40B4-BE49-F238E27FC236}">
                      <a16:creationId xmlns:a16="http://schemas.microsoft.com/office/drawing/2014/main" id="{4DAF9644-DB51-4BFA-97CD-DF8C3929296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454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58" name="Group 1510">
                <a:extLst>
                  <a:ext uri="{FF2B5EF4-FFF2-40B4-BE49-F238E27FC236}">
                    <a16:creationId xmlns:a16="http://schemas.microsoft.com/office/drawing/2014/main" id="{BD682928-9774-490C-9E51-95649A7A680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4548"/>
                <a:ext cx="957" cy="403"/>
                <a:chOff x="957" y="4548"/>
                <a:chExt cx="957" cy="403"/>
              </a:xfrm>
            </p:grpSpPr>
            <p:sp>
              <p:nvSpPr>
                <p:cNvPr id="71933" name="Rectangle 1316">
                  <a:extLst>
                    <a:ext uri="{FF2B5EF4-FFF2-40B4-BE49-F238E27FC236}">
                      <a16:creationId xmlns:a16="http://schemas.microsoft.com/office/drawing/2014/main" id="{4701CA6E-D909-4A1B-9972-8421DF2D6F5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454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Mainframe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34" name="Rectangle 1509">
                  <a:extLst>
                    <a:ext uri="{FF2B5EF4-FFF2-40B4-BE49-F238E27FC236}">
                      <a16:creationId xmlns:a16="http://schemas.microsoft.com/office/drawing/2014/main" id="{F9C5D390-F264-4676-BA0C-77D32E498FA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454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59" name="Group 1512">
                <a:extLst>
                  <a:ext uri="{FF2B5EF4-FFF2-40B4-BE49-F238E27FC236}">
                    <a16:creationId xmlns:a16="http://schemas.microsoft.com/office/drawing/2014/main" id="{F1FAE078-1197-4418-B3FD-7561EE3A18A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4548"/>
                <a:ext cx="957" cy="403"/>
                <a:chOff x="1914" y="4548"/>
                <a:chExt cx="957" cy="403"/>
              </a:xfrm>
            </p:grpSpPr>
            <p:sp>
              <p:nvSpPr>
                <p:cNvPr id="71931" name="Rectangle 1317">
                  <a:extLst>
                    <a:ext uri="{FF2B5EF4-FFF2-40B4-BE49-F238E27FC236}">
                      <a16:creationId xmlns:a16="http://schemas.microsoft.com/office/drawing/2014/main" id="{C5BB7471-F606-43D4-BEC5-B13B7866109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454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1997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32" name="Rectangle 1511">
                  <a:extLst>
                    <a:ext uri="{FF2B5EF4-FFF2-40B4-BE49-F238E27FC236}">
                      <a16:creationId xmlns:a16="http://schemas.microsoft.com/office/drawing/2014/main" id="{F743A2F9-ED7D-4A73-A058-3F4130D078C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454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60" name="Group 1514">
                <a:extLst>
                  <a:ext uri="{FF2B5EF4-FFF2-40B4-BE49-F238E27FC236}">
                    <a16:creationId xmlns:a16="http://schemas.microsoft.com/office/drawing/2014/main" id="{DEB32EA6-D2AD-4433-A354-AADD6381F36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4548"/>
                <a:ext cx="957" cy="403"/>
                <a:chOff x="2871" y="4548"/>
                <a:chExt cx="957" cy="403"/>
              </a:xfrm>
            </p:grpSpPr>
            <p:sp>
              <p:nvSpPr>
                <p:cNvPr id="71929" name="Rectangle 1318">
                  <a:extLst>
                    <a:ext uri="{FF2B5EF4-FFF2-40B4-BE49-F238E27FC236}">
                      <a16:creationId xmlns:a16="http://schemas.microsoft.com/office/drawing/2014/main" id="{E7E69B1A-6C8E-4E70-9DED-4E71A89E32E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454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32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30" name="Rectangle 1513">
                  <a:extLst>
                    <a:ext uri="{FF2B5EF4-FFF2-40B4-BE49-F238E27FC236}">
                      <a16:creationId xmlns:a16="http://schemas.microsoft.com/office/drawing/2014/main" id="{18F9CC95-6710-4B91-BFD0-66F83B6CA76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454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61" name="Group 1516">
                <a:extLst>
                  <a:ext uri="{FF2B5EF4-FFF2-40B4-BE49-F238E27FC236}">
                    <a16:creationId xmlns:a16="http://schemas.microsoft.com/office/drawing/2014/main" id="{0E082C1B-F36C-42E1-8C64-23A2BA1082E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4548"/>
                <a:ext cx="957" cy="403"/>
                <a:chOff x="3828" y="4548"/>
                <a:chExt cx="957" cy="403"/>
              </a:xfrm>
            </p:grpSpPr>
            <p:sp>
              <p:nvSpPr>
                <p:cNvPr id="71927" name="Rectangle 1319">
                  <a:extLst>
                    <a:ext uri="{FF2B5EF4-FFF2-40B4-BE49-F238E27FC236}">
                      <a16:creationId xmlns:a16="http://schemas.microsoft.com/office/drawing/2014/main" id="{8156FC1F-AFAD-4D1C-8731-0711324DF83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454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256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28" name="Rectangle 1515">
                  <a:extLst>
                    <a:ext uri="{FF2B5EF4-FFF2-40B4-BE49-F238E27FC236}">
                      <a16:creationId xmlns:a16="http://schemas.microsoft.com/office/drawing/2014/main" id="{8065CA06-040F-4FB9-9D38-A128A83C60B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454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62" name="Group 1518">
                <a:extLst>
                  <a:ext uri="{FF2B5EF4-FFF2-40B4-BE49-F238E27FC236}">
                    <a16:creationId xmlns:a16="http://schemas.microsoft.com/office/drawing/2014/main" id="{E52B821A-243D-4912-90BA-AA28E285155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4548"/>
                <a:ext cx="957" cy="403"/>
                <a:chOff x="4785" y="4548"/>
                <a:chExt cx="957" cy="403"/>
              </a:xfrm>
            </p:grpSpPr>
            <p:sp>
              <p:nvSpPr>
                <p:cNvPr id="71925" name="Rectangle 1320">
                  <a:extLst>
                    <a:ext uri="{FF2B5EF4-FFF2-40B4-BE49-F238E27FC236}">
                      <a16:creationId xmlns:a16="http://schemas.microsoft.com/office/drawing/2014/main" id="{3D70475F-3951-4839-AF6C-FD4AB3AA8EB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454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 MB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26" name="Rectangle 1517">
                  <a:extLst>
                    <a:ext uri="{FF2B5EF4-FFF2-40B4-BE49-F238E27FC236}">
                      <a16:creationId xmlns:a16="http://schemas.microsoft.com/office/drawing/2014/main" id="{951D625E-81FA-456E-8404-412DA7A8C91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454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63" name="Group 1520">
                <a:extLst>
                  <a:ext uri="{FF2B5EF4-FFF2-40B4-BE49-F238E27FC236}">
                    <a16:creationId xmlns:a16="http://schemas.microsoft.com/office/drawing/2014/main" id="{10BC3308-FCE0-4B88-BD16-96DFFBBC720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4951"/>
                <a:ext cx="957" cy="403"/>
                <a:chOff x="0" y="4951"/>
                <a:chExt cx="957" cy="403"/>
              </a:xfrm>
            </p:grpSpPr>
            <p:sp>
              <p:nvSpPr>
                <p:cNvPr id="71923" name="Rectangle 1321">
                  <a:extLst>
                    <a:ext uri="{FF2B5EF4-FFF2-40B4-BE49-F238E27FC236}">
                      <a16:creationId xmlns:a16="http://schemas.microsoft.com/office/drawing/2014/main" id="{7028E6EF-BD4E-41CF-9544-CDE02FFA856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495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IBM S/390 G6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24" name="Rectangle 1519">
                  <a:extLst>
                    <a:ext uri="{FF2B5EF4-FFF2-40B4-BE49-F238E27FC236}">
                      <a16:creationId xmlns:a16="http://schemas.microsoft.com/office/drawing/2014/main" id="{3214ECD3-91DE-4A46-A032-52D0CECD4AE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495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64" name="Group 1522">
                <a:extLst>
                  <a:ext uri="{FF2B5EF4-FFF2-40B4-BE49-F238E27FC236}">
                    <a16:creationId xmlns:a16="http://schemas.microsoft.com/office/drawing/2014/main" id="{7DA8826D-1B3A-46AC-86C0-8A646DD8018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4951"/>
                <a:ext cx="957" cy="403"/>
                <a:chOff x="957" y="4951"/>
                <a:chExt cx="957" cy="403"/>
              </a:xfrm>
            </p:grpSpPr>
            <p:sp>
              <p:nvSpPr>
                <p:cNvPr id="71921" name="Rectangle 1322">
                  <a:extLst>
                    <a:ext uri="{FF2B5EF4-FFF2-40B4-BE49-F238E27FC236}">
                      <a16:creationId xmlns:a16="http://schemas.microsoft.com/office/drawing/2014/main" id="{DDBA3EAD-0B7B-47AC-A737-AA6ECC0B635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495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Mainframe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22" name="Rectangle 1521">
                  <a:extLst>
                    <a:ext uri="{FF2B5EF4-FFF2-40B4-BE49-F238E27FC236}">
                      <a16:creationId xmlns:a16="http://schemas.microsoft.com/office/drawing/2014/main" id="{04EC67D4-6DAF-423F-AC59-53A497F777E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495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65" name="Group 1524">
                <a:extLst>
                  <a:ext uri="{FF2B5EF4-FFF2-40B4-BE49-F238E27FC236}">
                    <a16:creationId xmlns:a16="http://schemas.microsoft.com/office/drawing/2014/main" id="{D663DA65-C71F-44C2-91CD-A2BA613FB69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4951"/>
                <a:ext cx="957" cy="403"/>
                <a:chOff x="1914" y="4951"/>
                <a:chExt cx="957" cy="403"/>
              </a:xfrm>
            </p:grpSpPr>
            <p:sp>
              <p:nvSpPr>
                <p:cNvPr id="71919" name="Rectangle 1323">
                  <a:extLst>
                    <a:ext uri="{FF2B5EF4-FFF2-40B4-BE49-F238E27FC236}">
                      <a16:creationId xmlns:a16="http://schemas.microsoft.com/office/drawing/2014/main" id="{9C836BE2-FEA3-4977-BAEB-29413550AA4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495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1999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20" name="Rectangle 1523">
                  <a:extLst>
                    <a:ext uri="{FF2B5EF4-FFF2-40B4-BE49-F238E27FC236}">
                      <a16:creationId xmlns:a16="http://schemas.microsoft.com/office/drawing/2014/main" id="{EBC3A501-C7BE-4112-A1F5-70BF9F9C14B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495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66" name="Group 1526">
                <a:extLst>
                  <a:ext uri="{FF2B5EF4-FFF2-40B4-BE49-F238E27FC236}">
                    <a16:creationId xmlns:a16="http://schemas.microsoft.com/office/drawing/2014/main" id="{E4E9232E-4EFD-4616-9A12-3C60B036728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4951"/>
                <a:ext cx="957" cy="403"/>
                <a:chOff x="2871" y="4951"/>
                <a:chExt cx="957" cy="403"/>
              </a:xfrm>
            </p:grpSpPr>
            <p:sp>
              <p:nvSpPr>
                <p:cNvPr id="71917" name="Rectangle 1324">
                  <a:extLst>
                    <a:ext uri="{FF2B5EF4-FFF2-40B4-BE49-F238E27FC236}">
                      <a16:creationId xmlns:a16="http://schemas.microsoft.com/office/drawing/2014/main" id="{BB7D33EF-DD53-43B3-9035-ED9A27020B3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495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256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18" name="Rectangle 1525">
                  <a:extLst>
                    <a:ext uri="{FF2B5EF4-FFF2-40B4-BE49-F238E27FC236}">
                      <a16:creationId xmlns:a16="http://schemas.microsoft.com/office/drawing/2014/main" id="{B96C0DC8-D2E7-4BDA-8C35-CB6B8180CBF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495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67" name="Group 1528">
                <a:extLst>
                  <a:ext uri="{FF2B5EF4-FFF2-40B4-BE49-F238E27FC236}">
                    <a16:creationId xmlns:a16="http://schemas.microsoft.com/office/drawing/2014/main" id="{3109D0F8-12B6-40DD-8E74-46EB9DEF487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4951"/>
                <a:ext cx="957" cy="403"/>
                <a:chOff x="3828" y="4951"/>
                <a:chExt cx="957" cy="403"/>
              </a:xfrm>
            </p:grpSpPr>
            <p:sp>
              <p:nvSpPr>
                <p:cNvPr id="71915" name="Rectangle 1325">
                  <a:extLst>
                    <a:ext uri="{FF2B5EF4-FFF2-40B4-BE49-F238E27FC236}">
                      <a16:creationId xmlns:a16="http://schemas.microsoft.com/office/drawing/2014/main" id="{410B5FCA-75B3-45F6-846E-79E47913C89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495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8 MB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16" name="Rectangle 1527">
                  <a:extLst>
                    <a:ext uri="{FF2B5EF4-FFF2-40B4-BE49-F238E27FC236}">
                      <a16:creationId xmlns:a16="http://schemas.microsoft.com/office/drawing/2014/main" id="{EE6EDD6F-5136-4734-9CA6-4ED75461C4E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495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68" name="Group 1530">
                <a:extLst>
                  <a:ext uri="{FF2B5EF4-FFF2-40B4-BE49-F238E27FC236}">
                    <a16:creationId xmlns:a16="http://schemas.microsoft.com/office/drawing/2014/main" id="{EF36F092-C9C9-4DF5-94FB-D63B8B5B419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4951"/>
                <a:ext cx="957" cy="403"/>
                <a:chOff x="4785" y="4951"/>
                <a:chExt cx="957" cy="403"/>
              </a:xfrm>
            </p:grpSpPr>
            <p:sp>
              <p:nvSpPr>
                <p:cNvPr id="71913" name="Rectangle 1326">
                  <a:extLst>
                    <a:ext uri="{FF2B5EF4-FFF2-40B4-BE49-F238E27FC236}">
                      <a16:creationId xmlns:a16="http://schemas.microsoft.com/office/drawing/2014/main" id="{2FDB2682-8D7D-4BB5-AB62-19C11EDF985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495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14" name="Rectangle 1529">
                  <a:extLst>
                    <a:ext uri="{FF2B5EF4-FFF2-40B4-BE49-F238E27FC236}">
                      <a16:creationId xmlns:a16="http://schemas.microsoft.com/office/drawing/2014/main" id="{3A785280-77D8-4DA0-81C6-A3795CE9C1A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495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69" name="Group 1532">
                <a:extLst>
                  <a:ext uri="{FF2B5EF4-FFF2-40B4-BE49-F238E27FC236}">
                    <a16:creationId xmlns:a16="http://schemas.microsoft.com/office/drawing/2014/main" id="{4BEF4DFE-4E8D-4EF4-9490-13E23AE69A6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5354"/>
                <a:ext cx="957" cy="403"/>
                <a:chOff x="0" y="5354"/>
                <a:chExt cx="957" cy="403"/>
              </a:xfrm>
            </p:grpSpPr>
            <p:sp>
              <p:nvSpPr>
                <p:cNvPr id="71911" name="Rectangle 1327">
                  <a:extLst>
                    <a:ext uri="{FF2B5EF4-FFF2-40B4-BE49-F238E27FC236}">
                      <a16:creationId xmlns:a16="http://schemas.microsoft.com/office/drawing/2014/main" id="{B53A2897-8969-4F85-AB91-EADAD1D5E34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535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Pentium 4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12" name="Rectangle 1531">
                  <a:extLst>
                    <a:ext uri="{FF2B5EF4-FFF2-40B4-BE49-F238E27FC236}">
                      <a16:creationId xmlns:a16="http://schemas.microsoft.com/office/drawing/2014/main" id="{DBA4B3E9-3188-4AE8-A34F-F293257CD39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535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70" name="Group 1534">
                <a:extLst>
                  <a:ext uri="{FF2B5EF4-FFF2-40B4-BE49-F238E27FC236}">
                    <a16:creationId xmlns:a16="http://schemas.microsoft.com/office/drawing/2014/main" id="{1ECC3CAF-CE8A-4811-985C-382E6E656CB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5354"/>
                <a:ext cx="957" cy="403"/>
                <a:chOff x="957" y="5354"/>
                <a:chExt cx="957" cy="403"/>
              </a:xfrm>
            </p:grpSpPr>
            <p:sp>
              <p:nvSpPr>
                <p:cNvPr id="71909" name="Rectangle 1328">
                  <a:extLst>
                    <a:ext uri="{FF2B5EF4-FFF2-40B4-BE49-F238E27FC236}">
                      <a16:creationId xmlns:a16="http://schemas.microsoft.com/office/drawing/2014/main" id="{0491A3D1-315F-4E59-A060-E433FF65B4D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535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PC/server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10" name="Rectangle 1533">
                  <a:extLst>
                    <a:ext uri="{FF2B5EF4-FFF2-40B4-BE49-F238E27FC236}">
                      <a16:creationId xmlns:a16="http://schemas.microsoft.com/office/drawing/2014/main" id="{4153AE0B-3097-4989-B2CC-592DA4A7B1E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535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71" name="Group 1536">
                <a:extLst>
                  <a:ext uri="{FF2B5EF4-FFF2-40B4-BE49-F238E27FC236}">
                    <a16:creationId xmlns:a16="http://schemas.microsoft.com/office/drawing/2014/main" id="{911C9A84-72BA-4FE2-BB74-12D07A98286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5354"/>
                <a:ext cx="957" cy="403"/>
                <a:chOff x="1914" y="5354"/>
                <a:chExt cx="957" cy="403"/>
              </a:xfrm>
            </p:grpSpPr>
            <p:sp>
              <p:nvSpPr>
                <p:cNvPr id="71907" name="Rectangle 1329">
                  <a:extLst>
                    <a:ext uri="{FF2B5EF4-FFF2-40B4-BE49-F238E27FC236}">
                      <a16:creationId xmlns:a16="http://schemas.microsoft.com/office/drawing/2014/main" id="{15BE3A97-F186-4DEA-9BB6-EB4B7322970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535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2000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08" name="Rectangle 1535">
                  <a:extLst>
                    <a:ext uri="{FF2B5EF4-FFF2-40B4-BE49-F238E27FC236}">
                      <a16:creationId xmlns:a16="http://schemas.microsoft.com/office/drawing/2014/main" id="{73BF3388-52D6-4BF0-A400-8E99185BA11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535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72" name="Group 1538">
                <a:extLst>
                  <a:ext uri="{FF2B5EF4-FFF2-40B4-BE49-F238E27FC236}">
                    <a16:creationId xmlns:a16="http://schemas.microsoft.com/office/drawing/2014/main" id="{A7A123DD-BC6B-4B93-BD97-94FF78D2087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5354"/>
                <a:ext cx="957" cy="403"/>
                <a:chOff x="2871" y="5354"/>
                <a:chExt cx="957" cy="403"/>
              </a:xfrm>
            </p:grpSpPr>
            <p:sp>
              <p:nvSpPr>
                <p:cNvPr id="71905" name="Rectangle 1330">
                  <a:extLst>
                    <a:ext uri="{FF2B5EF4-FFF2-40B4-BE49-F238E27FC236}">
                      <a16:creationId xmlns:a16="http://schemas.microsoft.com/office/drawing/2014/main" id="{046D5184-7A17-4DCC-A724-3FACAF61CC6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535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8 KB/8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06" name="Rectangle 1537">
                  <a:extLst>
                    <a:ext uri="{FF2B5EF4-FFF2-40B4-BE49-F238E27FC236}">
                      <a16:creationId xmlns:a16="http://schemas.microsoft.com/office/drawing/2014/main" id="{5313B08F-5BA4-466E-8CE0-8A4787E77E3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535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73" name="Group 1540">
                <a:extLst>
                  <a:ext uri="{FF2B5EF4-FFF2-40B4-BE49-F238E27FC236}">
                    <a16:creationId xmlns:a16="http://schemas.microsoft.com/office/drawing/2014/main" id="{FFAC0D94-D80B-480D-8A3F-F5E66855E5B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5354"/>
                <a:ext cx="957" cy="403"/>
                <a:chOff x="3828" y="5354"/>
                <a:chExt cx="957" cy="403"/>
              </a:xfrm>
            </p:grpSpPr>
            <p:sp>
              <p:nvSpPr>
                <p:cNvPr id="71903" name="Rectangle 1331">
                  <a:extLst>
                    <a:ext uri="{FF2B5EF4-FFF2-40B4-BE49-F238E27FC236}">
                      <a16:creationId xmlns:a16="http://schemas.microsoft.com/office/drawing/2014/main" id="{3240657B-2E04-4AF1-B2C1-DC4FB4135DA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535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256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04" name="Rectangle 1539">
                  <a:extLst>
                    <a:ext uri="{FF2B5EF4-FFF2-40B4-BE49-F238E27FC236}">
                      <a16:creationId xmlns:a16="http://schemas.microsoft.com/office/drawing/2014/main" id="{A89479E2-73E4-4C09-8D4B-7E2700300A0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535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74" name="Group 1542">
                <a:extLst>
                  <a:ext uri="{FF2B5EF4-FFF2-40B4-BE49-F238E27FC236}">
                    <a16:creationId xmlns:a16="http://schemas.microsoft.com/office/drawing/2014/main" id="{58735419-59A5-4601-858B-EB07A21A0C8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5354"/>
                <a:ext cx="957" cy="403"/>
                <a:chOff x="4785" y="5354"/>
                <a:chExt cx="957" cy="403"/>
              </a:xfrm>
            </p:grpSpPr>
            <p:sp>
              <p:nvSpPr>
                <p:cNvPr id="71901" name="Rectangle 1332">
                  <a:extLst>
                    <a:ext uri="{FF2B5EF4-FFF2-40B4-BE49-F238E27FC236}">
                      <a16:creationId xmlns:a16="http://schemas.microsoft.com/office/drawing/2014/main" id="{58AB3634-41E9-42EA-B230-66E0BCED587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535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02" name="Rectangle 1541">
                  <a:extLst>
                    <a:ext uri="{FF2B5EF4-FFF2-40B4-BE49-F238E27FC236}">
                      <a16:creationId xmlns:a16="http://schemas.microsoft.com/office/drawing/2014/main" id="{1D34FA43-8C82-47E7-B1CD-ACEE860DA16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535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75" name="Group 1544">
                <a:extLst>
                  <a:ext uri="{FF2B5EF4-FFF2-40B4-BE49-F238E27FC236}">
                    <a16:creationId xmlns:a16="http://schemas.microsoft.com/office/drawing/2014/main" id="{31372BCC-8012-4416-BE8E-66D6E9D37BC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5757"/>
                <a:ext cx="957" cy="518"/>
                <a:chOff x="0" y="5757"/>
                <a:chExt cx="957" cy="518"/>
              </a:xfrm>
            </p:grpSpPr>
            <p:sp>
              <p:nvSpPr>
                <p:cNvPr id="71899" name="Rectangle 1333">
                  <a:extLst>
                    <a:ext uri="{FF2B5EF4-FFF2-40B4-BE49-F238E27FC236}">
                      <a16:creationId xmlns:a16="http://schemas.microsoft.com/office/drawing/2014/main" id="{66D361B2-0A53-460A-AB94-DA4ACFD0162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5757"/>
                  <a:ext cx="871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IBM SP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00" name="Rectangle 1543">
                  <a:extLst>
                    <a:ext uri="{FF2B5EF4-FFF2-40B4-BE49-F238E27FC236}">
                      <a16:creationId xmlns:a16="http://schemas.microsoft.com/office/drawing/2014/main" id="{13598506-96A0-432B-8911-799C00B8DEB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5757"/>
                  <a:ext cx="957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76" name="Group 1546">
                <a:extLst>
                  <a:ext uri="{FF2B5EF4-FFF2-40B4-BE49-F238E27FC236}">
                    <a16:creationId xmlns:a16="http://schemas.microsoft.com/office/drawing/2014/main" id="{EAF98954-93AB-447B-8F87-6DDFF2B96A5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5757"/>
                <a:ext cx="957" cy="518"/>
                <a:chOff x="957" y="5757"/>
                <a:chExt cx="957" cy="518"/>
              </a:xfrm>
            </p:grpSpPr>
            <p:sp>
              <p:nvSpPr>
                <p:cNvPr id="71897" name="Rectangle 1334">
                  <a:extLst>
                    <a:ext uri="{FF2B5EF4-FFF2-40B4-BE49-F238E27FC236}">
                      <a16:creationId xmlns:a16="http://schemas.microsoft.com/office/drawing/2014/main" id="{316E7017-33CE-4141-9A41-1A93F151F7E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5757"/>
                  <a:ext cx="871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High-end server/ supercomputer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98" name="Rectangle 1545">
                  <a:extLst>
                    <a:ext uri="{FF2B5EF4-FFF2-40B4-BE49-F238E27FC236}">
                      <a16:creationId xmlns:a16="http://schemas.microsoft.com/office/drawing/2014/main" id="{F4F80E0F-D1B0-4EF7-9476-A872DEFF542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5757"/>
                  <a:ext cx="957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77" name="Group 1548">
                <a:extLst>
                  <a:ext uri="{FF2B5EF4-FFF2-40B4-BE49-F238E27FC236}">
                    <a16:creationId xmlns:a16="http://schemas.microsoft.com/office/drawing/2014/main" id="{C17831B8-5C5A-4A20-9862-207D5E470C6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5757"/>
                <a:ext cx="957" cy="518"/>
                <a:chOff x="1914" y="5757"/>
                <a:chExt cx="957" cy="518"/>
              </a:xfrm>
            </p:grpSpPr>
            <p:sp>
              <p:nvSpPr>
                <p:cNvPr id="71895" name="Rectangle 1335">
                  <a:extLst>
                    <a:ext uri="{FF2B5EF4-FFF2-40B4-BE49-F238E27FC236}">
                      <a16:creationId xmlns:a16="http://schemas.microsoft.com/office/drawing/2014/main" id="{932D8A23-0904-4ED9-9147-46694B00377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5757"/>
                  <a:ext cx="871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2000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96" name="Rectangle 1547">
                  <a:extLst>
                    <a:ext uri="{FF2B5EF4-FFF2-40B4-BE49-F238E27FC236}">
                      <a16:creationId xmlns:a16="http://schemas.microsoft.com/office/drawing/2014/main" id="{4F2D84E3-B921-4D86-8858-5D89C40575F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5757"/>
                  <a:ext cx="957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78" name="Group 1550">
                <a:extLst>
                  <a:ext uri="{FF2B5EF4-FFF2-40B4-BE49-F238E27FC236}">
                    <a16:creationId xmlns:a16="http://schemas.microsoft.com/office/drawing/2014/main" id="{741149B2-E9DB-43A7-B90F-DC4CDA717EC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5757"/>
                <a:ext cx="957" cy="518"/>
                <a:chOff x="2871" y="5757"/>
                <a:chExt cx="957" cy="518"/>
              </a:xfrm>
            </p:grpSpPr>
            <p:sp>
              <p:nvSpPr>
                <p:cNvPr id="71893" name="Rectangle 1336">
                  <a:extLst>
                    <a:ext uri="{FF2B5EF4-FFF2-40B4-BE49-F238E27FC236}">
                      <a16:creationId xmlns:a16="http://schemas.microsoft.com/office/drawing/2014/main" id="{6AE7131F-DFFD-48F2-B849-DAB0E6B0608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5757"/>
                  <a:ext cx="871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64 KB/32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94" name="Rectangle 1549">
                  <a:extLst>
                    <a:ext uri="{FF2B5EF4-FFF2-40B4-BE49-F238E27FC236}">
                      <a16:creationId xmlns:a16="http://schemas.microsoft.com/office/drawing/2014/main" id="{462F99BC-1C71-43A3-835A-35E9F34B28C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5757"/>
                  <a:ext cx="957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79" name="Group 1552">
                <a:extLst>
                  <a:ext uri="{FF2B5EF4-FFF2-40B4-BE49-F238E27FC236}">
                    <a16:creationId xmlns:a16="http://schemas.microsoft.com/office/drawing/2014/main" id="{2F3324E9-54EC-49C1-A785-FDA9DA52D11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5757"/>
                <a:ext cx="957" cy="518"/>
                <a:chOff x="3828" y="5757"/>
                <a:chExt cx="957" cy="518"/>
              </a:xfrm>
            </p:grpSpPr>
            <p:sp>
              <p:nvSpPr>
                <p:cNvPr id="71891" name="Rectangle 1337">
                  <a:extLst>
                    <a:ext uri="{FF2B5EF4-FFF2-40B4-BE49-F238E27FC236}">
                      <a16:creationId xmlns:a16="http://schemas.microsoft.com/office/drawing/2014/main" id="{D96E3FBA-9EFE-4493-81FB-092BCB631E5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5757"/>
                  <a:ext cx="871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8 MB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92" name="Rectangle 1551">
                  <a:extLst>
                    <a:ext uri="{FF2B5EF4-FFF2-40B4-BE49-F238E27FC236}">
                      <a16:creationId xmlns:a16="http://schemas.microsoft.com/office/drawing/2014/main" id="{C461F382-FEFC-4E10-91A2-FF86266E011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5757"/>
                  <a:ext cx="957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80" name="Group 1554">
                <a:extLst>
                  <a:ext uri="{FF2B5EF4-FFF2-40B4-BE49-F238E27FC236}">
                    <a16:creationId xmlns:a16="http://schemas.microsoft.com/office/drawing/2014/main" id="{5549D5DE-C4BC-455A-87E0-3876EC9A81B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5757"/>
                <a:ext cx="957" cy="518"/>
                <a:chOff x="4785" y="5757"/>
                <a:chExt cx="957" cy="518"/>
              </a:xfrm>
            </p:grpSpPr>
            <p:sp>
              <p:nvSpPr>
                <p:cNvPr id="71889" name="Rectangle 1338">
                  <a:extLst>
                    <a:ext uri="{FF2B5EF4-FFF2-40B4-BE49-F238E27FC236}">
                      <a16:creationId xmlns:a16="http://schemas.microsoft.com/office/drawing/2014/main" id="{BC33F980-1C93-4B58-8F52-FBE80B397E1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5757"/>
                  <a:ext cx="871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90" name="Rectangle 1553">
                  <a:extLst>
                    <a:ext uri="{FF2B5EF4-FFF2-40B4-BE49-F238E27FC236}">
                      <a16:creationId xmlns:a16="http://schemas.microsoft.com/office/drawing/2014/main" id="{E4BE030E-70B4-4BA0-888C-D398BF7AEA5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5757"/>
                  <a:ext cx="957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81" name="Group 1556">
                <a:extLst>
                  <a:ext uri="{FF2B5EF4-FFF2-40B4-BE49-F238E27FC236}">
                    <a16:creationId xmlns:a16="http://schemas.microsoft.com/office/drawing/2014/main" id="{917894EA-EE61-4257-B607-A43C3CA1881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6275"/>
                <a:ext cx="957" cy="403"/>
                <a:chOff x="0" y="6275"/>
                <a:chExt cx="957" cy="403"/>
              </a:xfrm>
            </p:grpSpPr>
            <p:sp>
              <p:nvSpPr>
                <p:cNvPr id="71887" name="Rectangle 1339">
                  <a:extLst>
                    <a:ext uri="{FF2B5EF4-FFF2-40B4-BE49-F238E27FC236}">
                      <a16:creationId xmlns:a16="http://schemas.microsoft.com/office/drawing/2014/main" id="{BFCE7B53-9FBE-474D-9B96-B5489B41152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6275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CRAY MTA</a:t>
                  </a:r>
                  <a:r>
                    <a:rPr kumimoji="0" lang="en-US" altLang="zh-CN" sz="9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endParaRPr kumimoji="0" lang="en-US" altLang="zh-CN" sz="1200">
                    <a:latin typeface="Times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88" name="Rectangle 1555">
                  <a:extLst>
                    <a:ext uri="{FF2B5EF4-FFF2-40B4-BE49-F238E27FC236}">
                      <a16:creationId xmlns:a16="http://schemas.microsoft.com/office/drawing/2014/main" id="{A5D64F4D-31A0-4B78-BFE5-CE30B49A3ED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6275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82" name="Group 1558">
                <a:extLst>
                  <a:ext uri="{FF2B5EF4-FFF2-40B4-BE49-F238E27FC236}">
                    <a16:creationId xmlns:a16="http://schemas.microsoft.com/office/drawing/2014/main" id="{48E6EC18-0281-4E62-B086-FBD15B8538D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6275"/>
                <a:ext cx="957" cy="403"/>
                <a:chOff x="957" y="6275"/>
                <a:chExt cx="957" cy="403"/>
              </a:xfrm>
            </p:grpSpPr>
            <p:sp>
              <p:nvSpPr>
                <p:cNvPr id="71885" name="Rectangle 1340">
                  <a:extLst>
                    <a:ext uri="{FF2B5EF4-FFF2-40B4-BE49-F238E27FC236}">
                      <a16:creationId xmlns:a16="http://schemas.microsoft.com/office/drawing/2014/main" id="{A1EDF8AF-1C92-4BA6-957D-55C1BD97753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6275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Supercomputer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86" name="Rectangle 1557">
                  <a:extLst>
                    <a:ext uri="{FF2B5EF4-FFF2-40B4-BE49-F238E27FC236}">
                      <a16:creationId xmlns:a16="http://schemas.microsoft.com/office/drawing/2014/main" id="{A69EC17D-894E-4310-89FD-E8F0C071BF7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6275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83" name="Group 1560">
                <a:extLst>
                  <a:ext uri="{FF2B5EF4-FFF2-40B4-BE49-F238E27FC236}">
                    <a16:creationId xmlns:a16="http://schemas.microsoft.com/office/drawing/2014/main" id="{92132202-BD25-41A2-86F9-33AD9D42012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6275"/>
                <a:ext cx="957" cy="403"/>
                <a:chOff x="1914" y="6275"/>
                <a:chExt cx="957" cy="403"/>
              </a:xfrm>
            </p:grpSpPr>
            <p:sp>
              <p:nvSpPr>
                <p:cNvPr id="71883" name="Rectangle 1341">
                  <a:extLst>
                    <a:ext uri="{FF2B5EF4-FFF2-40B4-BE49-F238E27FC236}">
                      <a16:creationId xmlns:a16="http://schemas.microsoft.com/office/drawing/2014/main" id="{57F50C8E-170F-4FB0-B51A-0A453759E54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6275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2000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84" name="Rectangle 1559">
                  <a:extLst>
                    <a:ext uri="{FF2B5EF4-FFF2-40B4-BE49-F238E27FC236}">
                      <a16:creationId xmlns:a16="http://schemas.microsoft.com/office/drawing/2014/main" id="{5AFE2E15-01E0-40A5-8327-71A62A9642B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6275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84" name="Group 1562">
                <a:extLst>
                  <a:ext uri="{FF2B5EF4-FFF2-40B4-BE49-F238E27FC236}">
                    <a16:creationId xmlns:a16="http://schemas.microsoft.com/office/drawing/2014/main" id="{4FF8A819-B5F1-4C8D-BDEF-E9C50B1F595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6275"/>
                <a:ext cx="957" cy="403"/>
                <a:chOff x="2871" y="6275"/>
                <a:chExt cx="957" cy="403"/>
              </a:xfrm>
            </p:grpSpPr>
            <p:sp>
              <p:nvSpPr>
                <p:cNvPr id="71881" name="Rectangle 1342">
                  <a:extLst>
                    <a:ext uri="{FF2B5EF4-FFF2-40B4-BE49-F238E27FC236}">
                      <a16:creationId xmlns:a16="http://schemas.microsoft.com/office/drawing/2014/main" id="{C2874F78-C61E-4F79-898D-B61B89EE079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6275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8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82" name="Rectangle 1561">
                  <a:extLst>
                    <a:ext uri="{FF2B5EF4-FFF2-40B4-BE49-F238E27FC236}">
                      <a16:creationId xmlns:a16="http://schemas.microsoft.com/office/drawing/2014/main" id="{E949F1C7-8034-4410-8CB2-BA965665643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6275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85" name="Group 1564">
                <a:extLst>
                  <a:ext uri="{FF2B5EF4-FFF2-40B4-BE49-F238E27FC236}">
                    <a16:creationId xmlns:a16="http://schemas.microsoft.com/office/drawing/2014/main" id="{F3AF2F2B-BD95-4C1E-A914-122C0B4B8E9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6275"/>
                <a:ext cx="957" cy="403"/>
                <a:chOff x="3828" y="6275"/>
                <a:chExt cx="957" cy="403"/>
              </a:xfrm>
            </p:grpSpPr>
            <p:sp>
              <p:nvSpPr>
                <p:cNvPr id="71879" name="Rectangle 1343">
                  <a:extLst>
                    <a:ext uri="{FF2B5EF4-FFF2-40B4-BE49-F238E27FC236}">
                      <a16:creationId xmlns:a16="http://schemas.microsoft.com/office/drawing/2014/main" id="{D9CCBCCC-809C-4245-920E-DB7E2E36F0F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6275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 MB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80" name="Rectangle 1563">
                  <a:extLst>
                    <a:ext uri="{FF2B5EF4-FFF2-40B4-BE49-F238E27FC236}">
                      <a16:creationId xmlns:a16="http://schemas.microsoft.com/office/drawing/2014/main" id="{96C56305-0815-4915-A5F7-3C73B6FEB38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6275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86" name="Group 1566">
                <a:extLst>
                  <a:ext uri="{FF2B5EF4-FFF2-40B4-BE49-F238E27FC236}">
                    <a16:creationId xmlns:a16="http://schemas.microsoft.com/office/drawing/2014/main" id="{9BE8DA10-E09F-4629-99A9-EE9E22171EB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6275"/>
                <a:ext cx="957" cy="403"/>
                <a:chOff x="4785" y="6275"/>
                <a:chExt cx="957" cy="403"/>
              </a:xfrm>
            </p:grpSpPr>
            <p:sp>
              <p:nvSpPr>
                <p:cNvPr id="71877" name="Rectangle 1344">
                  <a:extLst>
                    <a:ext uri="{FF2B5EF4-FFF2-40B4-BE49-F238E27FC236}">
                      <a16:creationId xmlns:a16="http://schemas.microsoft.com/office/drawing/2014/main" id="{7384FD5C-F2EE-45E1-A9FE-0AD5B0BC7C3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6275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78" name="Rectangle 1565">
                  <a:extLst>
                    <a:ext uri="{FF2B5EF4-FFF2-40B4-BE49-F238E27FC236}">
                      <a16:creationId xmlns:a16="http://schemas.microsoft.com/office/drawing/2014/main" id="{B8F3B597-0488-4F43-ACAB-859F652F494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6275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87" name="Group 1568">
                <a:extLst>
                  <a:ext uri="{FF2B5EF4-FFF2-40B4-BE49-F238E27FC236}">
                    <a16:creationId xmlns:a16="http://schemas.microsoft.com/office/drawing/2014/main" id="{961180F7-4C6B-453B-9D50-030D6D32716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6678"/>
                <a:ext cx="957" cy="403"/>
                <a:chOff x="0" y="6678"/>
                <a:chExt cx="957" cy="403"/>
              </a:xfrm>
            </p:grpSpPr>
            <p:sp>
              <p:nvSpPr>
                <p:cNvPr id="71875" name="Rectangle 1345">
                  <a:extLst>
                    <a:ext uri="{FF2B5EF4-FFF2-40B4-BE49-F238E27FC236}">
                      <a16:creationId xmlns:a16="http://schemas.microsoft.com/office/drawing/2014/main" id="{4521C2B8-F27E-43F8-9D9D-56151E25063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667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Itanium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76" name="Rectangle 1567">
                  <a:extLst>
                    <a:ext uri="{FF2B5EF4-FFF2-40B4-BE49-F238E27FC236}">
                      <a16:creationId xmlns:a16="http://schemas.microsoft.com/office/drawing/2014/main" id="{F62F4C6E-3FC3-4C67-A20A-E45032D8D87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667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88" name="Group 1570">
                <a:extLst>
                  <a:ext uri="{FF2B5EF4-FFF2-40B4-BE49-F238E27FC236}">
                    <a16:creationId xmlns:a16="http://schemas.microsoft.com/office/drawing/2014/main" id="{34683174-A2F8-48D3-A74F-D4E9DE66D55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6678"/>
                <a:ext cx="957" cy="403"/>
                <a:chOff x="957" y="6678"/>
                <a:chExt cx="957" cy="403"/>
              </a:xfrm>
            </p:grpSpPr>
            <p:sp>
              <p:nvSpPr>
                <p:cNvPr id="71873" name="Rectangle 1346">
                  <a:extLst>
                    <a:ext uri="{FF2B5EF4-FFF2-40B4-BE49-F238E27FC236}">
                      <a16:creationId xmlns:a16="http://schemas.microsoft.com/office/drawing/2014/main" id="{5140EBCA-1BB1-4412-BD7F-96BAAB7154C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667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PC/server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74" name="Rectangle 1569">
                  <a:extLst>
                    <a:ext uri="{FF2B5EF4-FFF2-40B4-BE49-F238E27FC236}">
                      <a16:creationId xmlns:a16="http://schemas.microsoft.com/office/drawing/2014/main" id="{AD75C2D1-18E6-4C83-B35C-7F2B9A3C2DB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667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89" name="Group 1572">
                <a:extLst>
                  <a:ext uri="{FF2B5EF4-FFF2-40B4-BE49-F238E27FC236}">
                    <a16:creationId xmlns:a16="http://schemas.microsoft.com/office/drawing/2014/main" id="{6BB3E713-A348-416D-892C-27F1AC83B61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6678"/>
                <a:ext cx="957" cy="403"/>
                <a:chOff x="1914" y="6678"/>
                <a:chExt cx="957" cy="403"/>
              </a:xfrm>
            </p:grpSpPr>
            <p:sp>
              <p:nvSpPr>
                <p:cNvPr id="71871" name="Rectangle 1347">
                  <a:extLst>
                    <a:ext uri="{FF2B5EF4-FFF2-40B4-BE49-F238E27FC236}">
                      <a16:creationId xmlns:a16="http://schemas.microsoft.com/office/drawing/2014/main" id="{345D2DFD-82C3-4F16-8273-B8AC3DA7C4E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667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dirty="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2001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72" name="Rectangle 1571">
                  <a:extLst>
                    <a:ext uri="{FF2B5EF4-FFF2-40B4-BE49-F238E27FC236}">
                      <a16:creationId xmlns:a16="http://schemas.microsoft.com/office/drawing/2014/main" id="{13B0E690-31FC-494A-9A41-86AE32F312A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667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90" name="Group 1574">
                <a:extLst>
                  <a:ext uri="{FF2B5EF4-FFF2-40B4-BE49-F238E27FC236}">
                    <a16:creationId xmlns:a16="http://schemas.microsoft.com/office/drawing/2014/main" id="{B3736375-1CE9-4527-8BC2-63FEA5F5286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6678"/>
                <a:ext cx="957" cy="403"/>
                <a:chOff x="2871" y="6678"/>
                <a:chExt cx="957" cy="403"/>
              </a:xfrm>
            </p:grpSpPr>
            <p:sp>
              <p:nvSpPr>
                <p:cNvPr id="71869" name="Rectangle 1348">
                  <a:extLst>
                    <a:ext uri="{FF2B5EF4-FFF2-40B4-BE49-F238E27FC236}">
                      <a16:creationId xmlns:a16="http://schemas.microsoft.com/office/drawing/2014/main" id="{A6479A8C-93A9-471D-8D4C-4B3F06866AD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667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16 KB/16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70" name="Rectangle 1573">
                  <a:extLst>
                    <a:ext uri="{FF2B5EF4-FFF2-40B4-BE49-F238E27FC236}">
                      <a16:creationId xmlns:a16="http://schemas.microsoft.com/office/drawing/2014/main" id="{BBB42313-1658-4749-B8E9-17690F42E93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667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91" name="Group 1576">
                <a:extLst>
                  <a:ext uri="{FF2B5EF4-FFF2-40B4-BE49-F238E27FC236}">
                    <a16:creationId xmlns:a16="http://schemas.microsoft.com/office/drawing/2014/main" id="{8B979D3F-56CB-4476-AB64-84381472380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6678"/>
                <a:ext cx="957" cy="403"/>
                <a:chOff x="3828" y="6678"/>
                <a:chExt cx="957" cy="403"/>
              </a:xfrm>
            </p:grpSpPr>
            <p:sp>
              <p:nvSpPr>
                <p:cNvPr id="71867" name="Rectangle 1349">
                  <a:extLst>
                    <a:ext uri="{FF2B5EF4-FFF2-40B4-BE49-F238E27FC236}">
                      <a16:creationId xmlns:a16="http://schemas.microsoft.com/office/drawing/2014/main" id="{EB8C44B4-86D7-4BBF-B1F8-D9FCC8ED60A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667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96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68" name="Rectangle 1575">
                  <a:extLst>
                    <a:ext uri="{FF2B5EF4-FFF2-40B4-BE49-F238E27FC236}">
                      <a16:creationId xmlns:a16="http://schemas.microsoft.com/office/drawing/2014/main" id="{425C7090-B685-4261-9AD5-C5AEE1EECBB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667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92" name="Group 1578">
                <a:extLst>
                  <a:ext uri="{FF2B5EF4-FFF2-40B4-BE49-F238E27FC236}">
                    <a16:creationId xmlns:a16="http://schemas.microsoft.com/office/drawing/2014/main" id="{FEA1A84C-F956-4970-B750-313411AA444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6678"/>
                <a:ext cx="957" cy="403"/>
                <a:chOff x="4785" y="6678"/>
                <a:chExt cx="957" cy="403"/>
              </a:xfrm>
            </p:grpSpPr>
            <p:sp>
              <p:nvSpPr>
                <p:cNvPr id="71865" name="Rectangle 1350">
                  <a:extLst>
                    <a:ext uri="{FF2B5EF4-FFF2-40B4-BE49-F238E27FC236}">
                      <a16:creationId xmlns:a16="http://schemas.microsoft.com/office/drawing/2014/main" id="{EAF7E848-61EF-4781-AA74-76A3ADC2BB3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667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4 MB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66" name="Rectangle 1577">
                  <a:extLst>
                    <a:ext uri="{FF2B5EF4-FFF2-40B4-BE49-F238E27FC236}">
                      <a16:creationId xmlns:a16="http://schemas.microsoft.com/office/drawing/2014/main" id="{3FDEA657-4C3C-4DBF-A3CD-19F7B05B715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6678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93" name="Group 1580">
                <a:extLst>
                  <a:ext uri="{FF2B5EF4-FFF2-40B4-BE49-F238E27FC236}">
                    <a16:creationId xmlns:a16="http://schemas.microsoft.com/office/drawing/2014/main" id="{C01D18CB-AE92-4DA4-8734-CE9C5C50AC9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7081"/>
                <a:ext cx="957" cy="403"/>
                <a:chOff x="0" y="7081"/>
                <a:chExt cx="957" cy="403"/>
              </a:xfrm>
            </p:grpSpPr>
            <p:sp>
              <p:nvSpPr>
                <p:cNvPr id="71863" name="Rectangle 1351">
                  <a:extLst>
                    <a:ext uri="{FF2B5EF4-FFF2-40B4-BE49-F238E27FC236}">
                      <a16:creationId xmlns:a16="http://schemas.microsoft.com/office/drawing/2014/main" id="{83243EB6-3DC9-44E2-BBF7-B691B4F2016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708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dirty="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SGI Origin 2001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64" name="Rectangle 1579">
                  <a:extLst>
                    <a:ext uri="{FF2B5EF4-FFF2-40B4-BE49-F238E27FC236}">
                      <a16:creationId xmlns:a16="http://schemas.microsoft.com/office/drawing/2014/main" id="{F135BB03-D201-4EB8-BA2B-5C0544D9EEC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708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94" name="Group 1582">
                <a:extLst>
                  <a:ext uri="{FF2B5EF4-FFF2-40B4-BE49-F238E27FC236}">
                    <a16:creationId xmlns:a16="http://schemas.microsoft.com/office/drawing/2014/main" id="{4EA0EA8F-1799-4AB7-8160-1B898874ACF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7081"/>
                <a:ext cx="957" cy="403"/>
                <a:chOff x="957" y="7081"/>
                <a:chExt cx="957" cy="403"/>
              </a:xfrm>
            </p:grpSpPr>
            <p:sp>
              <p:nvSpPr>
                <p:cNvPr id="71861" name="Rectangle 1352">
                  <a:extLst>
                    <a:ext uri="{FF2B5EF4-FFF2-40B4-BE49-F238E27FC236}">
                      <a16:creationId xmlns:a16="http://schemas.microsoft.com/office/drawing/2014/main" id="{D6D4CDDA-31A0-41BA-AC6F-87C07959272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708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High-end server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62" name="Rectangle 1581">
                  <a:extLst>
                    <a:ext uri="{FF2B5EF4-FFF2-40B4-BE49-F238E27FC236}">
                      <a16:creationId xmlns:a16="http://schemas.microsoft.com/office/drawing/2014/main" id="{7353178B-F968-4A19-95DA-498610325E8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708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95" name="Group 1584">
                <a:extLst>
                  <a:ext uri="{FF2B5EF4-FFF2-40B4-BE49-F238E27FC236}">
                    <a16:creationId xmlns:a16="http://schemas.microsoft.com/office/drawing/2014/main" id="{CBC2002F-54BE-4B81-AE1D-1628F40C4A5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7081"/>
                <a:ext cx="957" cy="403"/>
                <a:chOff x="1914" y="7081"/>
                <a:chExt cx="957" cy="403"/>
              </a:xfrm>
            </p:grpSpPr>
            <p:sp>
              <p:nvSpPr>
                <p:cNvPr id="71859" name="Rectangle 1353">
                  <a:extLst>
                    <a:ext uri="{FF2B5EF4-FFF2-40B4-BE49-F238E27FC236}">
                      <a16:creationId xmlns:a16="http://schemas.microsoft.com/office/drawing/2014/main" id="{2CAD6F88-2828-441C-B673-3A1EAE382C8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708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dirty="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2001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60" name="Rectangle 1583">
                  <a:extLst>
                    <a:ext uri="{FF2B5EF4-FFF2-40B4-BE49-F238E27FC236}">
                      <a16:creationId xmlns:a16="http://schemas.microsoft.com/office/drawing/2014/main" id="{16743BFD-2954-4C64-8A70-81D0D89B2CC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708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96" name="Group 1586">
                <a:extLst>
                  <a:ext uri="{FF2B5EF4-FFF2-40B4-BE49-F238E27FC236}">
                    <a16:creationId xmlns:a16="http://schemas.microsoft.com/office/drawing/2014/main" id="{9DF87000-3BFF-404D-B3FD-73BCAB5F76A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7081"/>
                <a:ext cx="957" cy="403"/>
                <a:chOff x="2871" y="7081"/>
                <a:chExt cx="957" cy="403"/>
              </a:xfrm>
            </p:grpSpPr>
            <p:sp>
              <p:nvSpPr>
                <p:cNvPr id="71857" name="Rectangle 1354">
                  <a:extLst>
                    <a:ext uri="{FF2B5EF4-FFF2-40B4-BE49-F238E27FC236}">
                      <a16:creationId xmlns:a16="http://schemas.microsoft.com/office/drawing/2014/main" id="{5E5478ED-6E33-4FAA-B1C3-0C2E7305616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708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32 KB/32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58" name="Rectangle 1585">
                  <a:extLst>
                    <a:ext uri="{FF2B5EF4-FFF2-40B4-BE49-F238E27FC236}">
                      <a16:creationId xmlns:a16="http://schemas.microsoft.com/office/drawing/2014/main" id="{8A09CFB5-9A9B-4DDA-AD44-39AA4AA9172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708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97" name="Group 1588">
                <a:extLst>
                  <a:ext uri="{FF2B5EF4-FFF2-40B4-BE49-F238E27FC236}">
                    <a16:creationId xmlns:a16="http://schemas.microsoft.com/office/drawing/2014/main" id="{788DCD3E-8DFE-4C89-9D79-94EA09907A0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7081"/>
                <a:ext cx="957" cy="403"/>
                <a:chOff x="3828" y="7081"/>
                <a:chExt cx="957" cy="403"/>
              </a:xfrm>
            </p:grpSpPr>
            <p:sp>
              <p:nvSpPr>
                <p:cNvPr id="71855" name="Rectangle 1355">
                  <a:extLst>
                    <a:ext uri="{FF2B5EF4-FFF2-40B4-BE49-F238E27FC236}">
                      <a16:creationId xmlns:a16="http://schemas.microsoft.com/office/drawing/2014/main" id="{916BA5DE-C593-4F80-AE85-F812430AEB7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708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4 MB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56" name="Rectangle 1587">
                  <a:extLst>
                    <a:ext uri="{FF2B5EF4-FFF2-40B4-BE49-F238E27FC236}">
                      <a16:creationId xmlns:a16="http://schemas.microsoft.com/office/drawing/2014/main" id="{677EC0D1-7684-466E-9034-0E66DD31D7B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708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98" name="Group 1590">
                <a:extLst>
                  <a:ext uri="{FF2B5EF4-FFF2-40B4-BE49-F238E27FC236}">
                    <a16:creationId xmlns:a16="http://schemas.microsoft.com/office/drawing/2014/main" id="{0C798AED-B87D-47C3-AE83-EF7B2584AB7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7081"/>
                <a:ext cx="957" cy="403"/>
                <a:chOff x="4785" y="7081"/>
                <a:chExt cx="957" cy="403"/>
              </a:xfrm>
            </p:grpSpPr>
            <p:sp>
              <p:nvSpPr>
                <p:cNvPr id="71853" name="Rectangle 1356">
                  <a:extLst>
                    <a:ext uri="{FF2B5EF4-FFF2-40B4-BE49-F238E27FC236}">
                      <a16:creationId xmlns:a16="http://schemas.microsoft.com/office/drawing/2014/main" id="{64C4EA74-337C-4AAE-AE61-1644D2B7DA5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7081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54" name="Rectangle 1589">
                  <a:extLst>
                    <a:ext uri="{FF2B5EF4-FFF2-40B4-BE49-F238E27FC236}">
                      <a16:creationId xmlns:a16="http://schemas.microsoft.com/office/drawing/2014/main" id="{0FD16CAB-A9EB-4688-A0F0-579E3E3A8FD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7081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799" name="Group 1592">
                <a:extLst>
                  <a:ext uri="{FF2B5EF4-FFF2-40B4-BE49-F238E27FC236}">
                    <a16:creationId xmlns:a16="http://schemas.microsoft.com/office/drawing/2014/main" id="{0A942EDC-FC9B-4F63-A809-6854AA81946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7484"/>
                <a:ext cx="957" cy="403"/>
                <a:chOff x="0" y="7484"/>
                <a:chExt cx="957" cy="403"/>
              </a:xfrm>
            </p:grpSpPr>
            <p:sp>
              <p:nvSpPr>
                <p:cNvPr id="71851" name="Rectangle 1357">
                  <a:extLst>
                    <a:ext uri="{FF2B5EF4-FFF2-40B4-BE49-F238E27FC236}">
                      <a16:creationId xmlns:a16="http://schemas.microsoft.com/office/drawing/2014/main" id="{C5DD5743-C7EC-4BB5-8136-512E54E9C9E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748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Itanium 2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52" name="Rectangle 1591">
                  <a:extLst>
                    <a:ext uri="{FF2B5EF4-FFF2-40B4-BE49-F238E27FC236}">
                      <a16:creationId xmlns:a16="http://schemas.microsoft.com/office/drawing/2014/main" id="{AD8CB505-61B2-48C6-BD2D-0743BB0CA5F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748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00" name="Group 1594">
                <a:extLst>
                  <a:ext uri="{FF2B5EF4-FFF2-40B4-BE49-F238E27FC236}">
                    <a16:creationId xmlns:a16="http://schemas.microsoft.com/office/drawing/2014/main" id="{4C4BF516-B235-4643-8EBA-45DD8E6678F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7484"/>
                <a:ext cx="957" cy="403"/>
                <a:chOff x="957" y="7484"/>
                <a:chExt cx="957" cy="403"/>
              </a:xfrm>
            </p:grpSpPr>
            <p:sp>
              <p:nvSpPr>
                <p:cNvPr id="71849" name="Rectangle 1358">
                  <a:extLst>
                    <a:ext uri="{FF2B5EF4-FFF2-40B4-BE49-F238E27FC236}">
                      <a16:creationId xmlns:a16="http://schemas.microsoft.com/office/drawing/2014/main" id="{5581985F-46CB-44A9-8FFC-610CA4DCBD5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748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PC/server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50" name="Rectangle 1593">
                  <a:extLst>
                    <a:ext uri="{FF2B5EF4-FFF2-40B4-BE49-F238E27FC236}">
                      <a16:creationId xmlns:a16="http://schemas.microsoft.com/office/drawing/2014/main" id="{81B2711B-F9E7-49FE-9241-902868366D5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748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01" name="Group 1596">
                <a:extLst>
                  <a:ext uri="{FF2B5EF4-FFF2-40B4-BE49-F238E27FC236}">
                    <a16:creationId xmlns:a16="http://schemas.microsoft.com/office/drawing/2014/main" id="{894A8800-2D74-4E81-A34C-E90B70B5489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7484"/>
                <a:ext cx="957" cy="403"/>
                <a:chOff x="1914" y="7484"/>
                <a:chExt cx="957" cy="403"/>
              </a:xfrm>
            </p:grpSpPr>
            <p:sp>
              <p:nvSpPr>
                <p:cNvPr id="71847" name="Rectangle 1359">
                  <a:extLst>
                    <a:ext uri="{FF2B5EF4-FFF2-40B4-BE49-F238E27FC236}">
                      <a16:creationId xmlns:a16="http://schemas.microsoft.com/office/drawing/2014/main" id="{C94FFAAD-A7B0-418C-A451-B4834554595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748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2002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48" name="Rectangle 1595">
                  <a:extLst>
                    <a:ext uri="{FF2B5EF4-FFF2-40B4-BE49-F238E27FC236}">
                      <a16:creationId xmlns:a16="http://schemas.microsoft.com/office/drawing/2014/main" id="{434C1A9F-14D9-4235-B59B-FC825FE3C23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748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02" name="Group 1598">
                <a:extLst>
                  <a:ext uri="{FF2B5EF4-FFF2-40B4-BE49-F238E27FC236}">
                    <a16:creationId xmlns:a16="http://schemas.microsoft.com/office/drawing/2014/main" id="{6619C890-644D-4D57-B973-A6CFE6503E5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7484"/>
                <a:ext cx="957" cy="403"/>
                <a:chOff x="2871" y="7484"/>
                <a:chExt cx="957" cy="403"/>
              </a:xfrm>
            </p:grpSpPr>
            <p:sp>
              <p:nvSpPr>
                <p:cNvPr id="71845" name="Rectangle 1360">
                  <a:extLst>
                    <a:ext uri="{FF2B5EF4-FFF2-40B4-BE49-F238E27FC236}">
                      <a16:creationId xmlns:a16="http://schemas.microsoft.com/office/drawing/2014/main" id="{7A10BACE-C608-47A5-A386-D5DB83E2433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748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32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46" name="Rectangle 1597">
                  <a:extLst>
                    <a:ext uri="{FF2B5EF4-FFF2-40B4-BE49-F238E27FC236}">
                      <a16:creationId xmlns:a16="http://schemas.microsoft.com/office/drawing/2014/main" id="{336F1E17-76D1-4C0C-87F0-74C72F6F6E9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748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03" name="Group 1600">
                <a:extLst>
                  <a:ext uri="{FF2B5EF4-FFF2-40B4-BE49-F238E27FC236}">
                    <a16:creationId xmlns:a16="http://schemas.microsoft.com/office/drawing/2014/main" id="{FD876B7E-9D90-4711-9A4A-29EDAB363AE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7484"/>
                <a:ext cx="957" cy="403"/>
                <a:chOff x="3828" y="7484"/>
                <a:chExt cx="957" cy="403"/>
              </a:xfrm>
            </p:grpSpPr>
            <p:sp>
              <p:nvSpPr>
                <p:cNvPr id="71843" name="Rectangle 1361">
                  <a:extLst>
                    <a:ext uri="{FF2B5EF4-FFF2-40B4-BE49-F238E27FC236}">
                      <a16:creationId xmlns:a16="http://schemas.microsoft.com/office/drawing/2014/main" id="{1D687114-30DC-42F2-94AE-77DD34EFDD1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748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256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44" name="Rectangle 1599">
                  <a:extLst>
                    <a:ext uri="{FF2B5EF4-FFF2-40B4-BE49-F238E27FC236}">
                      <a16:creationId xmlns:a16="http://schemas.microsoft.com/office/drawing/2014/main" id="{2406B75D-C7E0-4F18-9495-B2FB301B443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748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04" name="Group 1602">
                <a:extLst>
                  <a:ext uri="{FF2B5EF4-FFF2-40B4-BE49-F238E27FC236}">
                    <a16:creationId xmlns:a16="http://schemas.microsoft.com/office/drawing/2014/main" id="{4B8EFBF9-BE48-4E75-A64F-5583EE8FC97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7484"/>
                <a:ext cx="957" cy="403"/>
                <a:chOff x="4785" y="7484"/>
                <a:chExt cx="957" cy="403"/>
              </a:xfrm>
            </p:grpSpPr>
            <p:sp>
              <p:nvSpPr>
                <p:cNvPr id="71841" name="Rectangle 1362">
                  <a:extLst>
                    <a:ext uri="{FF2B5EF4-FFF2-40B4-BE49-F238E27FC236}">
                      <a16:creationId xmlns:a16="http://schemas.microsoft.com/office/drawing/2014/main" id="{1BB1374D-4412-4807-B4B9-0F401848433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7484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6 MB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42" name="Rectangle 1601">
                  <a:extLst>
                    <a:ext uri="{FF2B5EF4-FFF2-40B4-BE49-F238E27FC236}">
                      <a16:creationId xmlns:a16="http://schemas.microsoft.com/office/drawing/2014/main" id="{F1D1A5A7-A334-4F6E-8B60-E12115BD060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7484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05" name="Group 1604">
                <a:extLst>
                  <a:ext uri="{FF2B5EF4-FFF2-40B4-BE49-F238E27FC236}">
                    <a16:creationId xmlns:a16="http://schemas.microsoft.com/office/drawing/2014/main" id="{324FE4C4-56A6-4BB2-935A-D936AAF72F4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7887"/>
                <a:ext cx="957" cy="403"/>
                <a:chOff x="0" y="7887"/>
                <a:chExt cx="957" cy="403"/>
              </a:xfrm>
            </p:grpSpPr>
            <p:sp>
              <p:nvSpPr>
                <p:cNvPr id="71839" name="Rectangle 1363">
                  <a:extLst>
                    <a:ext uri="{FF2B5EF4-FFF2-40B4-BE49-F238E27FC236}">
                      <a16:creationId xmlns:a16="http://schemas.microsoft.com/office/drawing/2014/main" id="{EB9BFD88-9809-48F1-B73C-7D72DEBA7B8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7887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IBM POWER5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40" name="Rectangle 1603">
                  <a:extLst>
                    <a:ext uri="{FF2B5EF4-FFF2-40B4-BE49-F238E27FC236}">
                      <a16:creationId xmlns:a16="http://schemas.microsoft.com/office/drawing/2014/main" id="{DA039D72-1167-4AE4-9A59-D09714DB306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7887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06" name="Group 1606">
                <a:extLst>
                  <a:ext uri="{FF2B5EF4-FFF2-40B4-BE49-F238E27FC236}">
                    <a16:creationId xmlns:a16="http://schemas.microsoft.com/office/drawing/2014/main" id="{18197E91-238F-4488-9FF8-BA573CFE2D3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7887"/>
                <a:ext cx="957" cy="403"/>
                <a:chOff x="957" y="7887"/>
                <a:chExt cx="957" cy="403"/>
              </a:xfrm>
            </p:grpSpPr>
            <p:sp>
              <p:nvSpPr>
                <p:cNvPr id="71837" name="Rectangle 1364">
                  <a:extLst>
                    <a:ext uri="{FF2B5EF4-FFF2-40B4-BE49-F238E27FC236}">
                      <a16:creationId xmlns:a16="http://schemas.microsoft.com/office/drawing/2014/main" id="{41E1DB96-EA64-4623-B41E-3D0F6ECB6BC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7887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High-end server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38" name="Rectangle 1605">
                  <a:extLst>
                    <a:ext uri="{FF2B5EF4-FFF2-40B4-BE49-F238E27FC236}">
                      <a16:creationId xmlns:a16="http://schemas.microsoft.com/office/drawing/2014/main" id="{BABEE37C-C0BA-4CA5-831C-0439D8D6641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7887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07" name="Group 1608">
                <a:extLst>
                  <a:ext uri="{FF2B5EF4-FFF2-40B4-BE49-F238E27FC236}">
                    <a16:creationId xmlns:a16="http://schemas.microsoft.com/office/drawing/2014/main" id="{20BEC5B7-E1F7-43F1-BA66-ECB85744DF8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7887"/>
                <a:ext cx="957" cy="403"/>
                <a:chOff x="1914" y="7887"/>
                <a:chExt cx="957" cy="403"/>
              </a:xfrm>
            </p:grpSpPr>
            <p:sp>
              <p:nvSpPr>
                <p:cNvPr id="71835" name="Rectangle 1365">
                  <a:extLst>
                    <a:ext uri="{FF2B5EF4-FFF2-40B4-BE49-F238E27FC236}">
                      <a16:creationId xmlns:a16="http://schemas.microsoft.com/office/drawing/2014/main" id="{53C3A879-EA66-48C0-8F25-7225A3C11CA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7887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2003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36" name="Rectangle 1607">
                  <a:extLst>
                    <a:ext uri="{FF2B5EF4-FFF2-40B4-BE49-F238E27FC236}">
                      <a16:creationId xmlns:a16="http://schemas.microsoft.com/office/drawing/2014/main" id="{41D94E9F-F187-4FC5-82BE-6C6376E2536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7887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08" name="Group 1610">
                <a:extLst>
                  <a:ext uri="{FF2B5EF4-FFF2-40B4-BE49-F238E27FC236}">
                    <a16:creationId xmlns:a16="http://schemas.microsoft.com/office/drawing/2014/main" id="{C03A6354-4C01-435A-AE1C-415C36BA523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7887"/>
                <a:ext cx="957" cy="403"/>
                <a:chOff x="2871" y="7887"/>
                <a:chExt cx="957" cy="403"/>
              </a:xfrm>
            </p:grpSpPr>
            <p:sp>
              <p:nvSpPr>
                <p:cNvPr id="71833" name="Rectangle 1366">
                  <a:extLst>
                    <a:ext uri="{FF2B5EF4-FFF2-40B4-BE49-F238E27FC236}">
                      <a16:creationId xmlns:a16="http://schemas.microsoft.com/office/drawing/2014/main" id="{7AA0C76A-C8EE-4A1A-8C39-85C6DCA0355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7887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64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34" name="Rectangle 1609">
                  <a:extLst>
                    <a:ext uri="{FF2B5EF4-FFF2-40B4-BE49-F238E27FC236}">
                      <a16:creationId xmlns:a16="http://schemas.microsoft.com/office/drawing/2014/main" id="{62752A9E-E479-4D10-A5D8-D781B7C8997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7887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09" name="Group 1612">
                <a:extLst>
                  <a:ext uri="{FF2B5EF4-FFF2-40B4-BE49-F238E27FC236}">
                    <a16:creationId xmlns:a16="http://schemas.microsoft.com/office/drawing/2014/main" id="{0F46BF23-535B-4E56-BBBB-1A0F7EB7D13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7887"/>
                <a:ext cx="957" cy="403"/>
                <a:chOff x="3828" y="7887"/>
                <a:chExt cx="957" cy="403"/>
              </a:xfrm>
            </p:grpSpPr>
            <p:sp>
              <p:nvSpPr>
                <p:cNvPr id="71831" name="Rectangle 1367">
                  <a:extLst>
                    <a:ext uri="{FF2B5EF4-FFF2-40B4-BE49-F238E27FC236}">
                      <a16:creationId xmlns:a16="http://schemas.microsoft.com/office/drawing/2014/main" id="{FBEE8038-F7DF-4490-B3A4-166A4E132A7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7887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1.9 MB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32" name="Rectangle 1611">
                  <a:extLst>
                    <a:ext uri="{FF2B5EF4-FFF2-40B4-BE49-F238E27FC236}">
                      <a16:creationId xmlns:a16="http://schemas.microsoft.com/office/drawing/2014/main" id="{C6BBF360-0B92-4967-81B3-E1079FD4030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7887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10" name="Group 1614">
                <a:extLst>
                  <a:ext uri="{FF2B5EF4-FFF2-40B4-BE49-F238E27FC236}">
                    <a16:creationId xmlns:a16="http://schemas.microsoft.com/office/drawing/2014/main" id="{3CF28B91-A0D1-4888-8EA7-490BCA2210D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7865"/>
                <a:ext cx="957" cy="425"/>
                <a:chOff x="4785" y="7865"/>
                <a:chExt cx="957" cy="425"/>
              </a:xfrm>
            </p:grpSpPr>
            <p:sp>
              <p:nvSpPr>
                <p:cNvPr id="71829" name="Rectangle 1368">
                  <a:extLst>
                    <a:ext uri="{FF2B5EF4-FFF2-40B4-BE49-F238E27FC236}">
                      <a16:creationId xmlns:a16="http://schemas.microsoft.com/office/drawing/2014/main" id="{B10EF23D-2CED-4934-8166-63730CD3661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7865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36 MB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30" name="Rectangle 1613">
                  <a:extLst>
                    <a:ext uri="{FF2B5EF4-FFF2-40B4-BE49-F238E27FC236}">
                      <a16:creationId xmlns:a16="http://schemas.microsoft.com/office/drawing/2014/main" id="{761E8BB6-8BAA-4F7A-86B5-6753C76FF7E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7887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11" name="Group 1616">
                <a:extLst>
                  <a:ext uri="{FF2B5EF4-FFF2-40B4-BE49-F238E27FC236}">
                    <a16:creationId xmlns:a16="http://schemas.microsoft.com/office/drawing/2014/main" id="{E4F5A8A6-74CF-40AC-9648-FBBEECC6978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0" y="8268"/>
                <a:ext cx="957" cy="425"/>
                <a:chOff x="0" y="8268"/>
                <a:chExt cx="957" cy="425"/>
              </a:xfrm>
            </p:grpSpPr>
            <p:sp>
              <p:nvSpPr>
                <p:cNvPr id="71827" name="Rectangle 1369">
                  <a:extLst>
                    <a:ext uri="{FF2B5EF4-FFF2-40B4-BE49-F238E27FC236}">
                      <a16:creationId xmlns:a16="http://schemas.microsoft.com/office/drawing/2014/main" id="{55BE7EE7-00A7-4947-921D-91C8B36D67B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3" y="8268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dirty="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CRAY XD-1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28" name="Rectangle 1615">
                  <a:extLst>
                    <a:ext uri="{FF2B5EF4-FFF2-40B4-BE49-F238E27FC236}">
                      <a16:creationId xmlns:a16="http://schemas.microsoft.com/office/drawing/2014/main" id="{EA422182-137F-48A9-B99D-894C5A33DC9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8290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12" name="Group 1618">
                <a:extLst>
                  <a:ext uri="{FF2B5EF4-FFF2-40B4-BE49-F238E27FC236}">
                    <a16:creationId xmlns:a16="http://schemas.microsoft.com/office/drawing/2014/main" id="{CB5D7291-AF05-4840-8F58-4CD919CF671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957" y="8290"/>
                <a:ext cx="957" cy="403"/>
                <a:chOff x="957" y="8290"/>
                <a:chExt cx="957" cy="403"/>
              </a:xfrm>
            </p:grpSpPr>
            <p:sp>
              <p:nvSpPr>
                <p:cNvPr id="71825" name="Rectangle 1370">
                  <a:extLst>
                    <a:ext uri="{FF2B5EF4-FFF2-40B4-BE49-F238E27FC236}">
                      <a16:creationId xmlns:a16="http://schemas.microsoft.com/office/drawing/2014/main" id="{D86AFA43-8C70-443C-9330-08B33C9B5E7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000" y="8290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dirty="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Supercomputer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26" name="Rectangle 1617">
                  <a:extLst>
                    <a:ext uri="{FF2B5EF4-FFF2-40B4-BE49-F238E27FC236}">
                      <a16:creationId xmlns:a16="http://schemas.microsoft.com/office/drawing/2014/main" id="{6ACCAA87-DDC1-462D-83AA-6AEA83D12F6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57" y="8290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13" name="Group 1620">
                <a:extLst>
                  <a:ext uri="{FF2B5EF4-FFF2-40B4-BE49-F238E27FC236}">
                    <a16:creationId xmlns:a16="http://schemas.microsoft.com/office/drawing/2014/main" id="{8B140FFF-5BCD-40BB-8C13-23B4143EFBE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14" y="8290"/>
                <a:ext cx="957" cy="403"/>
                <a:chOff x="1914" y="8290"/>
                <a:chExt cx="957" cy="403"/>
              </a:xfrm>
            </p:grpSpPr>
            <p:sp>
              <p:nvSpPr>
                <p:cNvPr id="71823" name="Rectangle 1371">
                  <a:extLst>
                    <a:ext uri="{FF2B5EF4-FFF2-40B4-BE49-F238E27FC236}">
                      <a16:creationId xmlns:a16="http://schemas.microsoft.com/office/drawing/2014/main" id="{F35E3DBC-FD0D-4459-B794-A9A8A0DE154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57" y="8290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2004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24" name="Rectangle 1619">
                  <a:extLst>
                    <a:ext uri="{FF2B5EF4-FFF2-40B4-BE49-F238E27FC236}">
                      <a16:creationId xmlns:a16="http://schemas.microsoft.com/office/drawing/2014/main" id="{D1D3AF1E-DD67-4F88-827E-5DB31CEA289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914" y="8290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14" name="Group 1622">
                <a:extLst>
                  <a:ext uri="{FF2B5EF4-FFF2-40B4-BE49-F238E27FC236}">
                    <a16:creationId xmlns:a16="http://schemas.microsoft.com/office/drawing/2014/main" id="{D85554DF-3D12-45EB-925F-691994EACB9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71" y="8290"/>
                <a:ext cx="957" cy="403"/>
                <a:chOff x="2871" y="8290"/>
                <a:chExt cx="957" cy="403"/>
              </a:xfrm>
            </p:grpSpPr>
            <p:sp>
              <p:nvSpPr>
                <p:cNvPr id="71821" name="Rectangle 1372">
                  <a:extLst>
                    <a:ext uri="{FF2B5EF4-FFF2-40B4-BE49-F238E27FC236}">
                      <a16:creationId xmlns:a16="http://schemas.microsoft.com/office/drawing/2014/main" id="{DC95C918-93F5-4B52-8CB0-29C9A3E8765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914" y="8290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64 KB/64 KB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22" name="Rectangle 1621">
                  <a:extLst>
                    <a:ext uri="{FF2B5EF4-FFF2-40B4-BE49-F238E27FC236}">
                      <a16:creationId xmlns:a16="http://schemas.microsoft.com/office/drawing/2014/main" id="{A36BF735-C998-4525-9C24-DEA780887AC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71" y="8290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15" name="Group 1624">
                <a:extLst>
                  <a:ext uri="{FF2B5EF4-FFF2-40B4-BE49-F238E27FC236}">
                    <a16:creationId xmlns:a16="http://schemas.microsoft.com/office/drawing/2014/main" id="{9657398B-AC20-49BB-92D0-55B8DE95F4E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8" y="8290"/>
                <a:ext cx="957" cy="403"/>
                <a:chOff x="3828" y="8290"/>
                <a:chExt cx="957" cy="403"/>
              </a:xfrm>
            </p:grpSpPr>
            <p:sp>
              <p:nvSpPr>
                <p:cNvPr id="71819" name="Rectangle 1373">
                  <a:extLst>
                    <a:ext uri="{FF2B5EF4-FFF2-40B4-BE49-F238E27FC236}">
                      <a16:creationId xmlns:a16="http://schemas.microsoft.com/office/drawing/2014/main" id="{E881EE63-711C-4A60-85EF-7BB13329E21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8290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1MB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20" name="Rectangle 1623">
                  <a:extLst>
                    <a:ext uri="{FF2B5EF4-FFF2-40B4-BE49-F238E27FC236}">
                      <a16:creationId xmlns:a16="http://schemas.microsoft.com/office/drawing/2014/main" id="{D2AA9D07-7BF6-4EB7-8401-254BD753E4F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28" y="8290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1816" name="Group 1626">
                <a:extLst>
                  <a:ext uri="{FF2B5EF4-FFF2-40B4-BE49-F238E27FC236}">
                    <a16:creationId xmlns:a16="http://schemas.microsoft.com/office/drawing/2014/main" id="{1BD7C03A-530D-4C92-8606-187B5472F82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785" y="8290"/>
                <a:ext cx="957" cy="403"/>
                <a:chOff x="4785" y="8290"/>
                <a:chExt cx="957" cy="403"/>
              </a:xfrm>
            </p:grpSpPr>
            <p:sp>
              <p:nvSpPr>
                <p:cNvPr id="71817" name="Rectangle 1374">
                  <a:extLst>
                    <a:ext uri="{FF2B5EF4-FFF2-40B4-BE49-F238E27FC236}">
                      <a16:creationId xmlns:a16="http://schemas.microsoft.com/office/drawing/2014/main" id="{F32F8725-BAA4-43E5-A9F7-B81A04BB3D5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8" y="8290"/>
                  <a:ext cx="871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>
                      <a:latin typeface="Times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—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18" name="Rectangle 1625">
                  <a:extLst>
                    <a:ext uri="{FF2B5EF4-FFF2-40B4-BE49-F238E27FC236}">
                      <a16:creationId xmlns:a16="http://schemas.microsoft.com/office/drawing/2014/main" id="{1FB55A5B-9631-47CF-8002-06634F6FCC7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785" y="8290"/>
                  <a:ext cx="957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Char char="—"/>
                    <a:defRPr kumimoji="1"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+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o"/>
                    <a:defRPr kumimoji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71690" name="Rectangle 1628">
              <a:extLst>
                <a:ext uri="{FF2B5EF4-FFF2-40B4-BE49-F238E27FC236}">
                  <a16:creationId xmlns:a16="http://schemas.microsoft.com/office/drawing/2014/main" id="{47CDEBCA-6422-4D93-ACAC-AB3449C1B9B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-3" y="-3"/>
              <a:ext cx="5748" cy="8699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Char char="—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0000"/>
                </a:buClr>
                <a:buChar char="–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0000"/>
                </a:buClr>
                <a:buChar char="+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Char char="o"/>
                <a:defRPr kumimoji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71686" name="直接箭头连接符 2">
            <a:extLst>
              <a:ext uri="{FF2B5EF4-FFF2-40B4-BE49-F238E27FC236}">
                <a16:creationId xmlns:a16="http://schemas.microsoft.com/office/drawing/2014/main" id="{023AEDBE-0414-46BE-A38F-4F461B35B15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84888" y="1233488"/>
            <a:ext cx="0" cy="5075237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687" name="直接箭头连接符 387">
            <a:extLst>
              <a:ext uri="{FF2B5EF4-FFF2-40B4-BE49-F238E27FC236}">
                <a16:creationId xmlns:a16="http://schemas.microsoft.com/office/drawing/2014/main" id="{14F29CCE-3CBD-46B0-A08F-AB1D4E98A85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96188" y="1233488"/>
            <a:ext cx="0" cy="5075237"/>
          </a:xfrm>
          <a:prstGeom prst="straightConnector1">
            <a:avLst/>
          </a:prstGeom>
          <a:noFill/>
          <a:ln w="5715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688" name="直接箭头连接符 388">
            <a:extLst>
              <a:ext uri="{FF2B5EF4-FFF2-40B4-BE49-F238E27FC236}">
                <a16:creationId xmlns:a16="http://schemas.microsoft.com/office/drawing/2014/main" id="{FF305DCF-F81D-41B1-AEC1-3EA75B47390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964613" y="1233488"/>
            <a:ext cx="0" cy="5075237"/>
          </a:xfrm>
          <a:prstGeom prst="straightConnector1">
            <a:avLst/>
          </a:prstGeom>
          <a:noFill/>
          <a:ln w="635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614933-2064-4044-B01F-1CAE4270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3D V cache-</a:t>
            </a:r>
            <a:r>
              <a:rPr lang="zh-CN" altLang="en-US" kern="1200" dirty="0">
                <a:solidFill>
                  <a:schemeClr val="tx1"/>
                </a:solidFill>
                <a:latin typeface="Times New Roman" pitchFamily="18" charset="0"/>
              </a:rPr>
              <a:t>缓存垂直堆叠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CB5AC5-8E0C-40BA-86C8-FF9EC0078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36" y="4005064"/>
            <a:ext cx="3168352" cy="2488690"/>
          </a:xfrm>
        </p:spPr>
        <p:txBody>
          <a:bodyPr/>
          <a:lstStyle/>
          <a:p>
            <a:r>
              <a:rPr lang="en-US" altLang="zh-CN" sz="1800" b="1" dirty="0"/>
              <a:t>EPYC 9684X</a:t>
            </a:r>
            <a:r>
              <a:rPr lang="zh-CN" altLang="en-US" sz="1800" b="1" dirty="0"/>
              <a:t>：</a:t>
            </a:r>
            <a:endParaRPr lang="zh-CN" altLang="en-US" sz="1800" dirty="0"/>
          </a:p>
          <a:p>
            <a:pPr algn="just"/>
            <a:r>
              <a:rPr lang="en-US" altLang="zh-CN" sz="1800" dirty="0"/>
              <a:t>96</a:t>
            </a:r>
            <a:r>
              <a:rPr lang="zh-CN" altLang="en-US" sz="1800" dirty="0"/>
              <a:t>核心</a:t>
            </a:r>
            <a:r>
              <a:rPr lang="en-US" altLang="zh-CN" sz="1800" dirty="0"/>
              <a:t>192</a:t>
            </a:r>
            <a:r>
              <a:rPr lang="zh-CN" altLang="en-US" sz="1800" dirty="0"/>
              <a:t>线程，频率</a:t>
            </a:r>
            <a:r>
              <a:rPr lang="en-US" altLang="zh-CN" sz="1800" dirty="0"/>
              <a:t>2.55-3.7GHz</a:t>
            </a:r>
            <a:r>
              <a:rPr lang="zh-CN" altLang="en-US" sz="1800" dirty="0"/>
              <a:t>，</a:t>
            </a:r>
            <a:r>
              <a:rPr lang="zh-CN" altLang="en-US" sz="1800" b="1" dirty="0"/>
              <a:t>三级缓存</a:t>
            </a:r>
            <a:r>
              <a:rPr lang="en-US" altLang="zh-CN" sz="1800" b="1" dirty="0">
                <a:solidFill>
                  <a:srgbClr val="FF0000"/>
                </a:solidFill>
              </a:rPr>
              <a:t>1152MB</a:t>
            </a:r>
            <a:r>
              <a:rPr lang="en-US" altLang="zh-CN" sz="1800" b="1" dirty="0"/>
              <a:t>(384MB</a:t>
            </a:r>
            <a:r>
              <a:rPr lang="zh-CN" altLang="en-US" sz="1800" b="1" dirty="0"/>
              <a:t>＋</a:t>
            </a:r>
            <a:r>
              <a:rPr lang="en-US" altLang="zh-CN" sz="1800" b="1" dirty="0"/>
              <a:t>768MB)</a:t>
            </a:r>
            <a:r>
              <a:rPr lang="zh-CN" altLang="en-US" sz="1800" dirty="0"/>
              <a:t>，默认</a:t>
            </a:r>
            <a:r>
              <a:rPr lang="en-US" altLang="zh-CN" sz="1800" dirty="0"/>
              <a:t>TDP 400W</a:t>
            </a:r>
            <a:r>
              <a:rPr lang="zh-CN" altLang="en-US" sz="1800" dirty="0"/>
              <a:t>，可调范围</a:t>
            </a:r>
            <a:r>
              <a:rPr lang="en-US" altLang="zh-CN" sz="1800" dirty="0"/>
              <a:t>320-400W</a:t>
            </a:r>
          </a:p>
          <a:p>
            <a:endParaRPr lang="zh-CN" altLang="en-US" sz="1800" dirty="0"/>
          </a:p>
        </p:txBody>
      </p:sp>
      <p:pic>
        <p:nvPicPr>
          <p:cNvPr id="109570" name="Picture 2" descr="https://pics7.baidu.com/feed/0b7b02087bf40ad10f29971893649fd3abecced5.jpeg@f_auto?token=26e28c1b0088084411de20683ac1c459">
            <a:extLst>
              <a:ext uri="{FF2B5EF4-FFF2-40B4-BE49-F238E27FC236}">
                <a16:creationId xmlns:a16="http://schemas.microsoft.com/office/drawing/2014/main" id="{1DAF5803-5302-482E-A06D-5ED76FEE0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066800"/>
            <a:ext cx="4142483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574" name="Picture 6" descr="https://pics4.baidu.com/feed/2e2eb9389b504fc2c6db27c89b61b51d92ef6dbb.png@f_auto?token=d58276acaafc0489bafa57b493b4d456">
            <a:extLst>
              <a:ext uri="{FF2B5EF4-FFF2-40B4-BE49-F238E27FC236}">
                <a16:creationId xmlns:a16="http://schemas.microsoft.com/office/drawing/2014/main" id="{33332657-BDDD-4611-9089-93A3AD4BC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54" y="3501008"/>
            <a:ext cx="5559281" cy="2992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5C46EA5-69D8-4A2D-9D2B-08D89EC2F8A0}"/>
              </a:ext>
            </a:extLst>
          </p:cNvPr>
          <p:cNvSpPr/>
          <p:nvPr/>
        </p:nvSpPr>
        <p:spPr>
          <a:xfrm>
            <a:off x="251520" y="1276308"/>
            <a:ext cx="388843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222222"/>
                </a:solidFill>
                <a:latin typeface="arial" panose="020B0604020202020204" pitchFamily="34" charset="0"/>
              </a:rPr>
              <a:t>AMD R9-7945HX3D</a:t>
            </a:r>
          </a:p>
          <a:p>
            <a:r>
              <a:rPr lang="zh-CN" altLang="en-US" sz="1800" dirty="0">
                <a:solidFill>
                  <a:srgbClr val="222222"/>
                </a:solidFill>
                <a:latin typeface="arial" panose="020B0604020202020204" pitchFamily="34" charset="0"/>
              </a:rPr>
              <a:t>基于</a:t>
            </a:r>
            <a:r>
              <a:rPr lang="en-US" altLang="zh-CN" sz="1800" dirty="0">
                <a:solidFill>
                  <a:srgbClr val="222222"/>
                </a:solidFill>
                <a:latin typeface="arial" panose="020B0604020202020204" pitchFamily="34" charset="0"/>
              </a:rPr>
              <a:t>Zen4</a:t>
            </a:r>
            <a:r>
              <a:rPr lang="zh-CN" altLang="en-US" sz="1800" dirty="0">
                <a:solidFill>
                  <a:srgbClr val="222222"/>
                </a:solidFill>
                <a:latin typeface="arial" panose="020B0604020202020204" pitchFamily="34" charset="0"/>
              </a:rPr>
              <a:t>核心架构，双</a:t>
            </a:r>
            <a:r>
              <a:rPr lang="en-US" altLang="zh-CN" sz="1800" dirty="0">
                <a:solidFill>
                  <a:srgbClr val="222222"/>
                </a:solidFill>
                <a:latin typeface="arial" panose="020B0604020202020204" pitchFamily="34" charset="0"/>
              </a:rPr>
              <a:t>CCD</a:t>
            </a:r>
            <a:r>
              <a:rPr lang="zh-CN" altLang="en-US" sz="1800" dirty="0">
                <a:solidFill>
                  <a:srgbClr val="222222"/>
                </a:solidFill>
                <a:latin typeface="arial" panose="020B0604020202020204" pitchFamily="34" charset="0"/>
              </a:rPr>
              <a:t>设计，实现了</a:t>
            </a:r>
            <a:r>
              <a:rPr lang="en-US" altLang="zh-CN" sz="1800" dirty="0">
                <a:solidFill>
                  <a:srgbClr val="222222"/>
                </a:solidFill>
                <a:latin typeface="arial" panose="020B0604020202020204" pitchFamily="34" charset="0"/>
              </a:rPr>
              <a:t>16</a:t>
            </a:r>
            <a:r>
              <a:rPr lang="zh-CN" altLang="en-US" sz="1800" dirty="0">
                <a:solidFill>
                  <a:srgbClr val="222222"/>
                </a:solidFill>
                <a:latin typeface="arial" panose="020B0604020202020204" pitchFamily="34" charset="0"/>
              </a:rPr>
              <a:t>核</a:t>
            </a:r>
            <a:r>
              <a:rPr lang="en-US" altLang="zh-CN" sz="1800" dirty="0">
                <a:solidFill>
                  <a:srgbClr val="222222"/>
                </a:solidFill>
                <a:latin typeface="arial" panose="020B0604020202020204" pitchFamily="34" charset="0"/>
              </a:rPr>
              <a:t>32</a:t>
            </a:r>
            <a:r>
              <a:rPr lang="zh-CN" altLang="en-US" sz="1800" dirty="0">
                <a:solidFill>
                  <a:srgbClr val="222222"/>
                </a:solidFill>
                <a:latin typeface="arial" panose="020B0604020202020204" pitchFamily="34" charset="0"/>
              </a:rPr>
              <a:t>线程的搭配，加速频率</a:t>
            </a:r>
            <a:r>
              <a:rPr lang="en-US" altLang="zh-CN" sz="1800" dirty="0">
                <a:solidFill>
                  <a:srgbClr val="222222"/>
                </a:solidFill>
                <a:latin typeface="arial" panose="020B0604020202020204" pitchFamily="34" charset="0"/>
              </a:rPr>
              <a:t>5.4GHz</a:t>
            </a:r>
            <a:r>
              <a:rPr lang="zh-CN" altLang="en-US" sz="1800" dirty="0">
                <a:solidFill>
                  <a:srgbClr val="222222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1800" dirty="0">
                <a:solidFill>
                  <a:srgbClr val="222222"/>
                </a:solidFill>
                <a:latin typeface="arial" panose="020B0604020202020204" pitchFamily="34" charset="0"/>
              </a:rPr>
              <a:t>L3</a:t>
            </a:r>
            <a:r>
              <a:rPr lang="zh-CN" altLang="en-US" sz="1800" dirty="0">
                <a:solidFill>
                  <a:srgbClr val="222222"/>
                </a:solidFill>
                <a:latin typeface="arial" panose="020B0604020202020204" pitchFamily="34" charset="0"/>
              </a:rPr>
              <a:t>缓存高达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128MB</a:t>
            </a:r>
            <a:r>
              <a:rPr lang="zh-CN" altLang="en-US" sz="1800" dirty="0">
                <a:solidFill>
                  <a:srgbClr val="222222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1800" dirty="0">
                <a:solidFill>
                  <a:srgbClr val="222222"/>
                </a:solidFill>
                <a:latin typeface="arial" panose="020B0604020202020204" pitchFamily="34" charset="0"/>
              </a:rPr>
              <a:t>L2+L3</a:t>
            </a:r>
            <a:r>
              <a:rPr lang="zh-CN" altLang="en-US" sz="1800" dirty="0">
                <a:solidFill>
                  <a:srgbClr val="222222"/>
                </a:solidFill>
                <a:latin typeface="arial" panose="020B0604020202020204" pitchFamily="34" charset="0"/>
              </a:rPr>
              <a:t>缓存量达到了</a:t>
            </a:r>
            <a:r>
              <a:rPr lang="en-US" altLang="zh-CN" sz="1800" dirty="0">
                <a:solidFill>
                  <a:srgbClr val="222222"/>
                </a:solidFill>
                <a:latin typeface="arial" panose="020B0604020202020204" pitchFamily="34" charset="0"/>
              </a:rPr>
              <a:t>144MB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0495135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97C2B87F-5CD2-4253-8DE3-295A22079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Mapping Function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56C65544-BF8E-4F2E-8279-23EF7AFF5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Direct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Associative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Set associative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61BA11-0C67-45FB-B6EF-AA99293AB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2353072"/>
            <a:ext cx="6226465" cy="442872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A405CB9-2895-49CF-9795-867344D2A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125538"/>
            <a:ext cx="8031163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79" name="标题 1">
            <a:extLst>
              <a:ext uri="{FF2B5EF4-FFF2-40B4-BE49-F238E27FC236}">
                <a16:creationId xmlns:a16="http://schemas.microsoft.com/office/drawing/2014/main" id="{68076E6B-2F7F-41ED-9F60-9C8F862A3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Mapping Function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40653F0-B1A9-44ED-BE02-55B776FC9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438" y="1663700"/>
            <a:ext cx="14033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D2E3434-FF48-47D7-A297-CBEC2C49A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238" y="2054225"/>
            <a:ext cx="135890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F554103-8695-422D-96CD-834179D57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775" y="2422525"/>
            <a:ext cx="1370013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0664D3-F31E-4182-A41C-2E72D37BF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238" y="2792413"/>
            <a:ext cx="13589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2963A11-B64A-4C13-9DCA-C6B4CD83B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606550"/>
            <a:ext cx="917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solidFill>
                  <a:srgbClr val="06306F"/>
                </a:solidFill>
                <a:latin typeface="Bradley Hand ITC" panose="03070402050302030203" pitchFamily="66" charset="0"/>
                <a:ea typeface="宋体" panose="02010600030101010101" pitchFamily="2" charset="-122"/>
              </a:rPr>
              <a:t>line 0</a:t>
            </a:r>
            <a:endParaRPr kumimoji="0"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3E9086-CFA2-4253-85F6-A9FCD9FAB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2030413"/>
            <a:ext cx="917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solidFill>
                  <a:srgbClr val="06306F"/>
                </a:solidFill>
                <a:latin typeface="Bradley Hand ITC" panose="03070402050302030203" pitchFamily="66" charset="0"/>
                <a:ea typeface="宋体" panose="02010600030101010101" pitchFamily="2" charset="-122"/>
              </a:rPr>
              <a:t>line 1</a:t>
            </a:r>
            <a:endParaRPr kumimoji="0"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169229-F798-4C3E-9C04-CD1DE8C50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2454275"/>
            <a:ext cx="917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solidFill>
                  <a:srgbClr val="06306F"/>
                </a:solidFill>
                <a:latin typeface="Bradley Hand ITC" panose="03070402050302030203" pitchFamily="66" charset="0"/>
                <a:ea typeface="宋体" panose="02010600030101010101" pitchFamily="2" charset="-122"/>
              </a:rPr>
              <a:t>line 2</a:t>
            </a:r>
            <a:endParaRPr kumimoji="0"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F95A74-7B50-48D5-8532-CBF64CB89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2809875"/>
            <a:ext cx="917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solidFill>
                  <a:srgbClr val="06306F"/>
                </a:solidFill>
                <a:latin typeface="Bradley Hand ITC" panose="03070402050302030203" pitchFamily="66" charset="0"/>
                <a:ea typeface="宋体" panose="02010600030101010101" pitchFamily="2" charset="-122"/>
              </a:rPr>
              <a:t>line 3</a:t>
            </a:r>
            <a:endParaRPr kumimoji="0"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5" grpId="0"/>
      <p:bldP spid="1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>
            <a:extLst>
              <a:ext uri="{FF2B5EF4-FFF2-40B4-BE49-F238E27FC236}">
                <a16:creationId xmlns:a16="http://schemas.microsoft.com/office/drawing/2014/main" id="{3A122DCA-AF0A-418F-8F7F-69C5F5A70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Mapping Function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77827" name="图片 1">
            <a:extLst>
              <a:ext uri="{FF2B5EF4-FFF2-40B4-BE49-F238E27FC236}">
                <a16:creationId xmlns:a16="http://schemas.microsoft.com/office/drawing/2014/main" id="{4CE596CA-6A8D-45E6-893B-B09F8F671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196975"/>
            <a:ext cx="7507288" cy="559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>
            <a:extLst>
              <a:ext uri="{FF2B5EF4-FFF2-40B4-BE49-F238E27FC236}">
                <a16:creationId xmlns:a16="http://schemas.microsoft.com/office/drawing/2014/main" id="{41B30309-752E-4C12-9F39-3925776D1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Mapping Function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9875" name="内容占位符 2">
            <a:extLst>
              <a:ext uri="{FF2B5EF4-FFF2-40B4-BE49-F238E27FC236}">
                <a16:creationId xmlns:a16="http://schemas.microsoft.com/office/drawing/2014/main" id="{4F6891B4-A4C8-47E0-B512-4E8197224E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Set associative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79876" name="图片 2">
            <a:extLst>
              <a:ext uri="{FF2B5EF4-FFF2-40B4-BE49-F238E27FC236}">
                <a16:creationId xmlns:a16="http://schemas.microsoft.com/office/drawing/2014/main" id="{D6624AF2-529D-424C-B930-C0888FE4B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63" y="1916113"/>
            <a:ext cx="9194801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A1C8BEFF-C464-49BC-B99C-7A0A6BAD19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Mapping example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4DA556BA-80BB-4479-91A6-C84DA4579E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Cache </a:t>
            </a:r>
            <a:r>
              <a:rPr lang="en-US" altLang="zh-CN" dirty="0">
                <a:ea typeface="宋体" panose="02010600030101010101" pitchFamily="2" charset="-122"/>
              </a:rPr>
              <a:t>can hold</a:t>
            </a:r>
            <a:r>
              <a:rPr lang="en-GB" altLang="zh-CN" dirty="0">
                <a:ea typeface="宋体" panose="02010600030101010101" pitchFamily="2" charset="-122"/>
              </a:rPr>
              <a:t> 64kByte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Cache block of 4 bytes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i.e. </a:t>
            </a:r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cache is 16k (2</a:t>
            </a:r>
            <a:r>
              <a:rPr lang="en-GB" altLang="zh-CN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14</a:t>
            </a:r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 lines of 4 bytes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16MBytes main memory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24 bit address 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i.e.</a:t>
            </a:r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2</a:t>
            </a:r>
            <a:r>
              <a:rPr lang="en-GB" altLang="zh-CN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24</a:t>
            </a:r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=16M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8A7CB306-7786-4E24-9C8F-217FD91DF8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Direct Mapping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02D1A7CA-ED3B-4D42-B6EC-EC2211FEFB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Each block of main memory maps to only one cache line</a:t>
            </a:r>
          </a:p>
          <a:p>
            <a:pPr lvl="1"/>
            <a:r>
              <a:rPr lang="en-GB" altLang="zh-CN" dirty="0">
                <a:ea typeface="宋体" panose="02010600030101010101" pitchFamily="2" charset="-122"/>
              </a:rPr>
              <a:t>i.e. if a block is in cache, it must be in </a:t>
            </a:r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one specific place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Address is in two parts</a:t>
            </a:r>
          </a:p>
          <a:p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Least Significant w bits </a:t>
            </a:r>
            <a:r>
              <a:rPr lang="en-GB" altLang="zh-CN" dirty="0">
                <a:ea typeface="宋体" panose="02010600030101010101" pitchFamily="2" charset="-122"/>
              </a:rPr>
              <a:t>identify unique word or byte</a:t>
            </a:r>
          </a:p>
          <a:p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Most Significant s bits </a:t>
            </a:r>
            <a:r>
              <a:rPr lang="en-GB" altLang="zh-CN" dirty="0">
                <a:ea typeface="宋体" panose="02010600030101010101" pitchFamily="2" charset="-122"/>
              </a:rPr>
              <a:t>specify one memory block</a:t>
            </a:r>
          </a:p>
          <a:p>
            <a:r>
              <a:rPr lang="en-GB" altLang="zh-CN" dirty="0">
                <a:ea typeface="宋体" panose="02010600030101010101" pitchFamily="2" charset="-122"/>
              </a:rPr>
              <a:t>The MSBs are split into a cache line field r and a tag of s-r (most significant)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7FA00E1D-21B8-44A5-A041-C52DD0B058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Direct Mapping</a:t>
            </a:r>
            <a:br>
              <a:rPr lang="en-GB" altLang="zh-CN">
                <a:ea typeface="宋体" panose="02010600030101010101" pitchFamily="2" charset="-122"/>
              </a:rPr>
            </a:br>
            <a:r>
              <a:rPr lang="en-GB" altLang="zh-CN">
                <a:ea typeface="宋体" panose="02010600030101010101" pitchFamily="2" charset="-122"/>
              </a:rPr>
              <a:t>Address Structure</a:t>
            </a:r>
          </a:p>
        </p:txBody>
      </p:sp>
      <p:sp>
        <p:nvSpPr>
          <p:cNvPr id="86019" name="Rectangle 14">
            <a:extLst>
              <a:ext uri="{FF2B5EF4-FFF2-40B4-BE49-F238E27FC236}">
                <a16:creationId xmlns:a16="http://schemas.microsoft.com/office/drawing/2014/main" id="{CA15532C-208A-4AB0-A947-E473308EDE3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2998788"/>
            <a:ext cx="8407400" cy="3238500"/>
          </a:xfrm>
        </p:spPr>
        <p:txBody>
          <a:bodyPr/>
          <a:lstStyle/>
          <a:p>
            <a:r>
              <a:rPr lang="en-GB" altLang="zh-CN" sz="2000">
                <a:ea typeface="宋体" panose="02010600030101010101" pitchFamily="2" charset="-122"/>
              </a:rPr>
              <a:t>24 bit address 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(main memory)</a:t>
            </a:r>
            <a:endParaRPr lang="en-GB" altLang="zh-CN" sz="20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en-GB" altLang="zh-CN" sz="2000">
                <a:ea typeface="宋体" panose="02010600030101010101" pitchFamily="2" charset="-122"/>
              </a:rPr>
              <a:t>2 bit word identifier (4 byte block)</a:t>
            </a:r>
          </a:p>
          <a:p>
            <a:r>
              <a:rPr lang="en-GB" altLang="zh-CN" sz="2000">
                <a:ea typeface="宋体" panose="02010600030101010101" pitchFamily="2" charset="-122"/>
              </a:rPr>
              <a:t>22 bit block identifier</a:t>
            </a:r>
          </a:p>
          <a:p>
            <a:pPr lvl="1"/>
            <a:r>
              <a:rPr lang="en-GB" altLang="zh-CN" sz="1800">
                <a:ea typeface="宋体" panose="02010600030101010101" pitchFamily="2" charset="-122"/>
              </a:rPr>
              <a:t>8 bit tag (=22-14)</a:t>
            </a:r>
          </a:p>
          <a:p>
            <a:pPr lvl="1"/>
            <a:r>
              <a:rPr lang="en-GB" altLang="zh-CN" sz="1800">
                <a:ea typeface="宋体" panose="02010600030101010101" pitchFamily="2" charset="-122"/>
              </a:rPr>
              <a:t>14 bit slot or line </a:t>
            </a: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(Cache line number)</a:t>
            </a:r>
            <a:endParaRPr lang="en-GB" altLang="zh-CN" sz="1800">
              <a:ea typeface="宋体" panose="02010600030101010101" pitchFamily="2" charset="-122"/>
            </a:endParaRPr>
          </a:p>
          <a:p>
            <a:r>
              <a:rPr lang="en-GB" altLang="zh-CN" sz="2000">
                <a:ea typeface="宋体" panose="02010600030101010101" pitchFamily="2" charset="-122"/>
              </a:rPr>
              <a:t>No two blocks in the same line have the same Tag field</a:t>
            </a:r>
          </a:p>
          <a:p>
            <a:r>
              <a:rPr lang="en-GB" altLang="zh-CN" sz="2000">
                <a:ea typeface="宋体" panose="02010600030101010101" pitchFamily="2" charset="-122"/>
              </a:rPr>
              <a:t>Check contents of cache by </a:t>
            </a:r>
            <a:r>
              <a:rPr lang="en-GB" altLang="zh-CN" sz="2000">
                <a:solidFill>
                  <a:srgbClr val="FF0000"/>
                </a:solidFill>
                <a:ea typeface="宋体" panose="02010600030101010101" pitchFamily="2" charset="-122"/>
              </a:rPr>
              <a:t>finding line</a:t>
            </a:r>
            <a:r>
              <a:rPr lang="en-GB" altLang="zh-CN" sz="2000">
                <a:ea typeface="宋体" panose="02010600030101010101" pitchFamily="2" charset="-122"/>
              </a:rPr>
              <a:t> and </a:t>
            </a:r>
            <a:r>
              <a:rPr lang="en-GB" altLang="zh-CN" sz="2000">
                <a:solidFill>
                  <a:srgbClr val="FF0000"/>
                </a:solidFill>
                <a:ea typeface="宋体" panose="02010600030101010101" pitchFamily="2" charset="-122"/>
              </a:rPr>
              <a:t>checking Tag</a:t>
            </a:r>
          </a:p>
        </p:txBody>
      </p:sp>
      <p:pic>
        <p:nvPicPr>
          <p:cNvPr id="86020" name="图片 3">
            <a:extLst>
              <a:ext uri="{FF2B5EF4-FFF2-40B4-BE49-F238E27FC236}">
                <a16:creationId xmlns:a16="http://schemas.microsoft.com/office/drawing/2014/main" id="{692E86CF-0E6E-4CE1-B1FB-CB84066B8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1039813"/>
            <a:ext cx="6842125" cy="191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12"/>
          <p:cNvSpPr>
            <a:spLocks noChangeArrowheads="1"/>
          </p:cNvSpPr>
          <p:nvPr/>
        </p:nvSpPr>
        <p:spPr bwMode="auto">
          <a:xfrm>
            <a:off x="3571875" y="5847358"/>
            <a:ext cx="457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/>
            <a:r>
              <a:rPr lang="en-GB" altLang="zh-CN" dirty="0">
                <a:solidFill>
                  <a:srgbClr val="0000FF"/>
                </a:solidFill>
              </a:rPr>
              <a:t>11000110</a:t>
            </a:r>
            <a:r>
              <a:rPr lang="en-GB" altLang="zh-CN" dirty="0">
                <a:solidFill>
                  <a:srgbClr val="FF0000"/>
                </a:solidFill>
              </a:rPr>
              <a:t>01100010111000</a:t>
            </a:r>
            <a:r>
              <a:rPr lang="en-GB" altLang="zh-CN" dirty="0">
                <a:solidFill>
                  <a:srgbClr val="00B0F0"/>
                </a:solidFill>
              </a:rPr>
              <a:t>11</a:t>
            </a:r>
          </a:p>
        </p:txBody>
      </p:sp>
      <p:sp>
        <p:nvSpPr>
          <p:cNvPr id="6" name="矩形 13"/>
          <p:cNvSpPr>
            <a:spLocks noChangeArrowheads="1"/>
          </p:cNvSpPr>
          <p:nvPr/>
        </p:nvSpPr>
        <p:spPr bwMode="auto">
          <a:xfrm>
            <a:off x="1571625" y="5847358"/>
            <a:ext cx="1857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/>
            <a:r>
              <a:rPr lang="en-GB" altLang="zh-CN" dirty="0">
                <a:solidFill>
                  <a:srgbClr val="0000FF"/>
                </a:solidFill>
              </a:rPr>
              <a:t>C662E3:</a:t>
            </a:r>
            <a:endParaRPr lang="en-GB" altLang="zh-CN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/>
        </p:nvSpPr>
        <p:spPr bwMode="auto">
          <a:xfrm>
            <a:off x="1170521" y="2213248"/>
            <a:ext cx="3672408" cy="86409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圆角矩形 2"/>
          <p:cNvSpPr/>
          <p:nvPr/>
        </p:nvSpPr>
        <p:spPr bwMode="auto">
          <a:xfrm>
            <a:off x="1115616" y="1196752"/>
            <a:ext cx="3672408" cy="86409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D7EF7FC5-6883-44AA-8805-C2DE326B86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Direct Mapping function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8067" name="Text Box 4">
            <a:extLst>
              <a:ext uri="{FF2B5EF4-FFF2-40B4-BE49-F238E27FC236}">
                <a16:creationId xmlns:a16="http://schemas.microsoft.com/office/drawing/2014/main" id="{1E3E0C58-19FF-4AA3-ADB6-197F28B71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0" y="5033963"/>
            <a:ext cx="180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8068" name="Object 5">
            <a:extLst>
              <a:ext uri="{FF2B5EF4-FFF2-40B4-BE49-F238E27FC236}">
                <a16:creationId xmlns:a16="http://schemas.microsoft.com/office/drawing/2014/main" id="{E9BE55F0-FBEA-4DF7-8CBE-8A3E39593275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10256415"/>
              </p:ext>
            </p:extLst>
          </p:nvPr>
        </p:nvGraphicFramePr>
        <p:xfrm>
          <a:off x="1697038" y="1498600"/>
          <a:ext cx="200501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Equation" r:id="rId4" imgW="1091880" imgH="203040" progId="Equation.DSMT4">
                  <p:embed/>
                </p:oleObj>
              </mc:Choice>
              <mc:Fallback>
                <p:oleObj name="Equation" r:id="rId4" imgW="1091880" imgH="203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038" y="1498600"/>
                        <a:ext cx="2005012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9" name="Text Box 6">
            <a:extLst>
              <a:ext uri="{FF2B5EF4-FFF2-40B4-BE49-F238E27FC236}">
                <a16:creationId xmlns:a16="http://schemas.microsoft.com/office/drawing/2014/main" id="{48E65A1A-AE6C-48E3-811C-9279463DD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3284538"/>
            <a:ext cx="5400675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= cache line number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 [0, 2</a:t>
            </a:r>
            <a:r>
              <a:rPr kumimoji="0" lang="en-US" altLang="zh-CN" sz="2400" i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-1] main memory block number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=2</a:t>
            </a:r>
            <a:r>
              <a:rPr kumimoji="0" lang="en-US" altLang="zh-CN" sz="2400" i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kumimoji="0"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number of lines in the cache</a:t>
            </a:r>
          </a:p>
        </p:txBody>
      </p:sp>
      <p:pic>
        <p:nvPicPr>
          <p:cNvPr id="88070" name="图片 2">
            <a:extLst>
              <a:ext uri="{FF2B5EF4-FFF2-40B4-BE49-F238E27FC236}">
                <a16:creationId xmlns:a16="http://schemas.microsoft.com/office/drawing/2014/main" id="{B22CD81E-FFA3-4FC5-BF6E-176E9A627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4797425"/>
            <a:ext cx="65532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645798468"/>
              </p:ext>
            </p:extLst>
          </p:nvPr>
        </p:nvGraphicFramePr>
        <p:xfrm>
          <a:off x="1887538" y="2387600"/>
          <a:ext cx="2233612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Equation" r:id="rId7" imgW="749160" imgH="190440" progId="Equation.DSMT4">
                  <p:embed/>
                </p:oleObj>
              </mc:Choice>
              <mc:Fallback>
                <p:oleObj name="Equation" r:id="rId7" imgW="749160" imgH="190440" progId="Equation.DSMT4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8" y="2387600"/>
                        <a:ext cx="2233612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图片 24">
            <a:extLst>
              <a:ext uri="{FF2B5EF4-FFF2-40B4-BE49-F238E27FC236}">
                <a16:creationId xmlns:a16="http://schemas.microsoft.com/office/drawing/2014/main" id="{CA4AD469-6B26-4C2B-97B9-B9C937049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357563"/>
            <a:ext cx="743585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5" name="Rectangle 4">
            <a:extLst>
              <a:ext uri="{FF2B5EF4-FFF2-40B4-BE49-F238E27FC236}">
                <a16:creationId xmlns:a16="http://schemas.microsoft.com/office/drawing/2014/main" id="{55F19839-4071-45AB-B4FC-3C7CDC271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Direct Mapping </a:t>
            </a:r>
            <a:br>
              <a:rPr lang="en-GB" altLang="zh-CN">
                <a:ea typeface="宋体" panose="02010600030101010101" pitchFamily="2" charset="-122"/>
              </a:rPr>
            </a:br>
            <a:r>
              <a:rPr lang="en-GB" altLang="zh-CN">
                <a:ea typeface="宋体" panose="02010600030101010101" pitchFamily="2" charset="-122"/>
              </a:rPr>
              <a:t>Cache Line Table</a:t>
            </a:r>
          </a:p>
        </p:txBody>
      </p:sp>
      <p:pic>
        <p:nvPicPr>
          <p:cNvPr id="90116" name="图片 1">
            <a:extLst>
              <a:ext uri="{FF2B5EF4-FFF2-40B4-BE49-F238E27FC236}">
                <a16:creationId xmlns:a16="http://schemas.microsoft.com/office/drawing/2014/main" id="{EF9D763A-9837-4BC3-94A9-255F5505E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038225"/>
            <a:ext cx="5834063" cy="212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D4FF122-FF8E-4B3A-9BF0-E75CE29E4DA4}"/>
              </a:ext>
            </a:extLst>
          </p:cNvPr>
          <p:cNvCxnSpPr>
            <a:cxnSpLocks/>
          </p:cNvCxnSpPr>
          <p:nvPr/>
        </p:nvCxnSpPr>
        <p:spPr bwMode="auto">
          <a:xfrm flipV="1">
            <a:off x="3563938" y="3810000"/>
            <a:ext cx="1655762" cy="987425"/>
          </a:xfrm>
          <a:prstGeom prst="straightConnector1">
            <a:avLst/>
          </a:prstGeom>
          <a:noFill/>
          <a:ln w="9525" algn="ctr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EED2BA3-F5A7-463D-993B-0323AA53DAA5}"/>
              </a:ext>
            </a:extLst>
          </p:cNvPr>
          <p:cNvCxnSpPr>
            <a:cxnSpLocks/>
          </p:cNvCxnSpPr>
          <p:nvPr/>
        </p:nvCxnSpPr>
        <p:spPr bwMode="auto">
          <a:xfrm flipV="1">
            <a:off x="3563938" y="3810000"/>
            <a:ext cx="1655762" cy="2005013"/>
          </a:xfrm>
          <a:prstGeom prst="straightConnector1">
            <a:avLst/>
          </a:prstGeom>
          <a:noFill/>
          <a:ln w="9525" algn="ctr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991BEFE-D1B0-4E91-80AC-09AD0D6AABA4}"/>
              </a:ext>
            </a:extLst>
          </p:cNvPr>
          <p:cNvCxnSpPr>
            <a:cxnSpLocks/>
          </p:cNvCxnSpPr>
          <p:nvPr/>
        </p:nvCxnSpPr>
        <p:spPr bwMode="auto">
          <a:xfrm flipV="1">
            <a:off x="3563938" y="4044950"/>
            <a:ext cx="1655762" cy="942975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BE2AF73-A342-4C14-8AA5-E36AD73B9CDB}"/>
              </a:ext>
            </a:extLst>
          </p:cNvPr>
          <p:cNvCxnSpPr>
            <a:cxnSpLocks/>
          </p:cNvCxnSpPr>
          <p:nvPr/>
        </p:nvCxnSpPr>
        <p:spPr bwMode="auto">
          <a:xfrm flipV="1">
            <a:off x="3563938" y="4365625"/>
            <a:ext cx="1655762" cy="857250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5B977C0-B24F-41E7-A192-E95C20990461}"/>
              </a:ext>
            </a:extLst>
          </p:cNvPr>
          <p:cNvCxnSpPr/>
          <p:nvPr/>
        </p:nvCxnSpPr>
        <p:spPr bwMode="auto">
          <a:xfrm flipV="1">
            <a:off x="3563938" y="4613275"/>
            <a:ext cx="1655762" cy="831850"/>
          </a:xfrm>
          <a:prstGeom prst="straightConnector1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557AAE8-B0A9-4965-A655-E2C8FE5DCBD5}"/>
              </a:ext>
            </a:extLst>
          </p:cNvPr>
          <p:cNvCxnSpPr>
            <a:cxnSpLocks/>
          </p:cNvCxnSpPr>
          <p:nvPr/>
        </p:nvCxnSpPr>
        <p:spPr bwMode="auto">
          <a:xfrm flipV="1">
            <a:off x="3563938" y="4044950"/>
            <a:ext cx="1655762" cy="197643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87F7C5E-0CF9-4B91-8C34-9EC77B4966D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63938" y="4365625"/>
            <a:ext cx="1655762" cy="1892300"/>
          </a:xfrm>
          <a:prstGeom prst="straightConnector1">
            <a:avLst/>
          </a:prstGeom>
          <a:noFill/>
          <a:ln w="9525" algn="ctr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5F9A4E7-9431-469F-B3ED-AD4EC9C6D3AB}"/>
              </a:ext>
            </a:extLst>
          </p:cNvPr>
          <p:cNvCxnSpPr>
            <a:cxnSpLocks/>
          </p:cNvCxnSpPr>
          <p:nvPr/>
        </p:nvCxnSpPr>
        <p:spPr bwMode="auto">
          <a:xfrm flipV="1">
            <a:off x="3563938" y="4613275"/>
            <a:ext cx="1655762" cy="1835150"/>
          </a:xfrm>
          <a:prstGeom prst="straightConnector1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13FAB62C-EDB1-4555-ADF8-3E9E29D7E1EA}"/>
              </a:ext>
            </a:extLst>
          </p:cNvPr>
          <p:cNvGraphicFramePr>
            <a:graphicFrameLocks noGrp="1"/>
          </p:cNvGraphicFramePr>
          <p:nvPr/>
        </p:nvGraphicFramePr>
        <p:xfrm>
          <a:off x="6588125" y="4954588"/>
          <a:ext cx="2555875" cy="1889140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3079514"/>
                    </a:ext>
                  </a:extLst>
                </a:gridCol>
                <a:gridCol w="1547812">
                  <a:extLst>
                    <a:ext uri="{9D8B030D-6E8A-4147-A177-3AD203B41FA5}">
                      <a16:colId xmlns:a16="http://schemas.microsoft.com/office/drawing/2014/main" val="2986696110"/>
                    </a:ext>
                  </a:extLst>
                </a:gridCol>
              </a:tblGrid>
              <a:tr h="4265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Cache line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number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58" marB="456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Block number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58" marB="456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431450"/>
                  </a:ext>
                </a:extLst>
              </a:tr>
              <a:tr h="3656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58" marB="456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B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B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zh-CN" altLang="en-US" sz="1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58" marB="456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463115"/>
                  </a:ext>
                </a:extLst>
              </a:tr>
              <a:tr h="3656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58" marB="456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B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B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zh-CN" altLang="en-US" sz="1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58" marB="456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726967"/>
                  </a:ext>
                </a:extLst>
              </a:tr>
              <a:tr h="3656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58" marB="456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B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B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0" lang="zh-CN" altLang="en-US" sz="1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58" marB="456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439862"/>
                  </a:ext>
                </a:extLst>
              </a:tr>
              <a:tr h="3656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58" marB="456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defRPr kumimoji="1"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B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B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zh-CN" altLang="en-US" sz="1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58" marB="456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710563"/>
                  </a:ext>
                </a:extLst>
              </a:tr>
            </a:tbl>
          </a:graphicData>
        </a:graphic>
      </p:graphicFrame>
      <p:sp>
        <p:nvSpPr>
          <p:cNvPr id="90145" name="矩形 32">
            <a:extLst>
              <a:ext uri="{FF2B5EF4-FFF2-40B4-BE49-F238E27FC236}">
                <a16:creationId xmlns:a16="http://schemas.microsoft.com/office/drawing/2014/main" id="{174E5E41-4AD8-496B-AF1C-7B5929201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886325"/>
            <a:ext cx="7508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m=4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F733BEE0-3F88-4D92-895C-6F1246DA97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Direct Mapping Cache Organization</a:t>
            </a:r>
          </a:p>
        </p:txBody>
      </p:sp>
      <p:pic>
        <p:nvPicPr>
          <p:cNvPr id="92163" name="图片 1">
            <a:extLst>
              <a:ext uri="{FF2B5EF4-FFF2-40B4-BE49-F238E27FC236}">
                <a16:creationId xmlns:a16="http://schemas.microsoft.com/office/drawing/2014/main" id="{DA4A9843-153A-4415-8D12-C9985CECA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" y="985838"/>
            <a:ext cx="9144000" cy="592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图片 1">
            <a:extLst>
              <a:ext uri="{FF2B5EF4-FFF2-40B4-BE49-F238E27FC236}">
                <a16:creationId xmlns:a16="http://schemas.microsoft.com/office/drawing/2014/main" id="{81D38A83-2997-46F1-A0E6-7CBAFC8D4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8" y="1006475"/>
            <a:ext cx="6326187" cy="580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1" name="Rectangle 2">
            <a:extLst>
              <a:ext uri="{FF2B5EF4-FFF2-40B4-BE49-F238E27FC236}">
                <a16:creationId xmlns:a16="http://schemas.microsoft.com/office/drawing/2014/main" id="{D5B60DBF-197F-4781-9924-2451118C30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Direct Mapping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 Example</a:t>
            </a:r>
          </a:p>
        </p:txBody>
      </p:sp>
      <p:sp>
        <p:nvSpPr>
          <p:cNvPr id="94212" name="椭圆 1">
            <a:extLst>
              <a:ext uri="{FF2B5EF4-FFF2-40B4-BE49-F238E27FC236}">
                <a16:creationId xmlns:a16="http://schemas.microsoft.com/office/drawing/2014/main" id="{71552BA5-6595-4E1A-9580-83CE9D549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63638"/>
            <a:ext cx="431800" cy="360362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3" name="椭圆 4">
            <a:extLst>
              <a:ext uri="{FF2B5EF4-FFF2-40B4-BE49-F238E27FC236}">
                <a16:creationId xmlns:a16="http://schemas.microsoft.com/office/drawing/2014/main" id="{57E3074C-0F1C-41EC-B415-4008C973D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2924175"/>
            <a:ext cx="431800" cy="360363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4" name="椭圆 5">
            <a:extLst>
              <a:ext uri="{FF2B5EF4-FFF2-40B4-BE49-F238E27FC236}">
                <a16:creationId xmlns:a16="http://schemas.microsoft.com/office/drawing/2014/main" id="{26B7927E-0B6C-4029-A309-2F7C81181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924175"/>
            <a:ext cx="792162" cy="360363"/>
          </a:xfrm>
          <a:prstGeom prst="ellipse">
            <a:avLst/>
          </a:prstGeom>
          <a:noFill/>
          <a:ln w="19050" algn="ctr">
            <a:solidFill>
              <a:srgbClr val="C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5" name="椭圆 6">
            <a:extLst>
              <a:ext uri="{FF2B5EF4-FFF2-40B4-BE49-F238E27FC236}">
                <a16:creationId xmlns:a16="http://schemas.microsoft.com/office/drawing/2014/main" id="{58F12A81-9E67-4F6C-B030-98F7D32AC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981075"/>
            <a:ext cx="1944687" cy="287338"/>
          </a:xfrm>
          <a:prstGeom prst="ellipse">
            <a:avLst/>
          </a:prstGeom>
          <a:noFill/>
          <a:ln w="19050" algn="ctr">
            <a:solidFill>
              <a:srgbClr val="C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4216" name="图片 2">
            <a:extLst>
              <a:ext uri="{FF2B5EF4-FFF2-40B4-BE49-F238E27FC236}">
                <a16:creationId xmlns:a16="http://schemas.microsoft.com/office/drawing/2014/main" id="{CA547B99-2C76-40F2-B36E-13BDF20FD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213" y="1163638"/>
            <a:ext cx="434498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20AC6FD-20E0-4B2E-9DE7-32803E06E982}"/>
              </a:ext>
            </a:extLst>
          </p:cNvPr>
          <p:cNvSpPr/>
          <p:nvPr/>
        </p:nvSpPr>
        <p:spPr bwMode="auto">
          <a:xfrm>
            <a:off x="2538413" y="3573463"/>
            <a:ext cx="131762" cy="71437"/>
          </a:xfrm>
          <a:prstGeom prst="rect">
            <a:avLst/>
          </a:prstGeom>
          <a:solidFill>
            <a:schemeClr val="accent1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A73808-E728-4A19-ADBC-48A63A5633AF}"/>
              </a:ext>
            </a:extLst>
          </p:cNvPr>
          <p:cNvSpPr txBox="1"/>
          <p:nvPr/>
        </p:nvSpPr>
        <p:spPr>
          <a:xfrm>
            <a:off x="5123544" y="1994482"/>
            <a:ext cx="3842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u="sng" dirty="0"/>
              <a:t>0001</a:t>
            </a:r>
            <a:r>
              <a:rPr lang="en-US" altLang="zh-CN" u="sng" dirty="0">
                <a:solidFill>
                  <a:srgbClr val="FF0000"/>
                </a:solidFill>
              </a:rPr>
              <a:t>0110</a:t>
            </a:r>
            <a:r>
              <a:rPr lang="en-US" altLang="zh-CN" dirty="0">
                <a:highlight>
                  <a:srgbClr val="FFFF00"/>
                </a:highlight>
              </a:rPr>
              <a:t>0011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0011</a:t>
            </a:r>
            <a:r>
              <a:rPr lang="en-US" altLang="zh-CN" dirty="0">
                <a:highlight>
                  <a:srgbClr val="FFFF00"/>
                </a:highlight>
              </a:rPr>
              <a:t>1001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11</a:t>
            </a:r>
            <a:r>
              <a:rPr lang="en-US" altLang="zh-CN" u="sng" dirty="0">
                <a:solidFill>
                  <a:srgbClr val="FF0000"/>
                </a:solidFill>
              </a:rPr>
              <a:t>00</a:t>
            </a:r>
            <a:endParaRPr lang="zh-CN" altLang="en-US" u="sng" dirty="0">
              <a:solidFill>
                <a:srgbClr val="FF0000"/>
              </a:solidFill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F0E637F-2265-4436-B1BD-EE4ADC187BA9}"/>
              </a:ext>
            </a:extLst>
          </p:cNvPr>
          <p:cNvCxnSpPr>
            <a:cxnSpLocks/>
          </p:cNvCxnSpPr>
          <p:nvPr/>
        </p:nvCxnSpPr>
        <p:spPr bwMode="auto">
          <a:xfrm flipV="1">
            <a:off x="6372200" y="2456147"/>
            <a:ext cx="1080120" cy="140490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4">
            <a:extLst>
              <a:ext uri="{FF2B5EF4-FFF2-40B4-BE49-F238E27FC236}">
                <a16:creationId xmlns:a16="http://schemas.microsoft.com/office/drawing/2014/main" id="{3DD7BC26-3001-41C0-9CF2-E931FC3F8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Direct Mapping Summary</a:t>
            </a:r>
          </a:p>
        </p:txBody>
      </p:sp>
      <p:sp>
        <p:nvSpPr>
          <p:cNvPr id="96259" name="Rectangle 5">
            <a:extLst>
              <a:ext uri="{FF2B5EF4-FFF2-40B4-BE49-F238E27FC236}">
                <a16:creationId xmlns:a16="http://schemas.microsoft.com/office/drawing/2014/main" id="{D17EDE9B-1A79-4738-B3D0-366E65881B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Address length = (</a:t>
            </a:r>
            <a:r>
              <a:rPr lang="en-GB" altLang="zh-CN" i="1">
                <a:ea typeface="宋体" panose="02010600030101010101" pitchFamily="2" charset="-122"/>
              </a:rPr>
              <a:t>s + w</a:t>
            </a:r>
            <a:r>
              <a:rPr lang="en-GB" altLang="zh-CN">
                <a:ea typeface="宋体" panose="02010600030101010101" pitchFamily="2" charset="-122"/>
              </a:rPr>
              <a:t>) bits</a:t>
            </a:r>
          </a:p>
          <a:p>
            <a:r>
              <a:rPr lang="en-GB" altLang="zh-CN">
                <a:ea typeface="宋体" panose="02010600030101010101" pitchFamily="2" charset="-122"/>
              </a:rPr>
              <a:t>Number of addressable units = 2</a:t>
            </a:r>
            <a:r>
              <a:rPr lang="en-GB" altLang="zh-CN" i="1" baseline="30000">
                <a:ea typeface="宋体" panose="02010600030101010101" pitchFamily="2" charset="-122"/>
              </a:rPr>
              <a:t>s+w</a:t>
            </a:r>
            <a:r>
              <a:rPr lang="en-GB" altLang="zh-CN">
                <a:ea typeface="宋体" panose="02010600030101010101" pitchFamily="2" charset="-122"/>
              </a:rPr>
              <a:t> words or bytes</a:t>
            </a:r>
          </a:p>
          <a:p>
            <a:r>
              <a:rPr lang="en-GB" altLang="zh-CN">
                <a:ea typeface="宋体" panose="02010600030101010101" pitchFamily="2" charset="-122"/>
              </a:rPr>
              <a:t>Block size = line size = 2</a:t>
            </a:r>
            <a:r>
              <a:rPr lang="en-GB" altLang="zh-CN" i="1" baseline="30000">
                <a:ea typeface="宋体" panose="02010600030101010101" pitchFamily="2" charset="-122"/>
              </a:rPr>
              <a:t>w</a:t>
            </a:r>
            <a:r>
              <a:rPr lang="en-GB" altLang="zh-CN">
                <a:ea typeface="宋体" panose="02010600030101010101" pitchFamily="2" charset="-122"/>
              </a:rPr>
              <a:t> words or bytes</a:t>
            </a:r>
          </a:p>
          <a:p>
            <a:r>
              <a:rPr lang="en-GB" altLang="zh-CN">
                <a:ea typeface="宋体" panose="02010600030101010101" pitchFamily="2" charset="-122"/>
              </a:rPr>
              <a:t>Number of blocks in main memory = 2</a:t>
            </a:r>
            <a:r>
              <a:rPr lang="en-GB" altLang="zh-CN" i="1" baseline="30000">
                <a:ea typeface="宋体" panose="02010600030101010101" pitchFamily="2" charset="-122"/>
              </a:rPr>
              <a:t>s+ w</a:t>
            </a:r>
            <a:r>
              <a:rPr lang="en-GB" altLang="zh-CN">
                <a:ea typeface="宋体" panose="02010600030101010101" pitchFamily="2" charset="-122"/>
              </a:rPr>
              <a:t> /2</a:t>
            </a:r>
            <a:r>
              <a:rPr lang="en-GB" altLang="zh-CN" i="1" baseline="30000">
                <a:ea typeface="宋体" panose="02010600030101010101" pitchFamily="2" charset="-122"/>
              </a:rPr>
              <a:t>w</a:t>
            </a:r>
            <a:r>
              <a:rPr lang="en-GB" altLang="zh-CN">
                <a:ea typeface="宋体" panose="02010600030101010101" pitchFamily="2" charset="-122"/>
              </a:rPr>
              <a:t> = 2</a:t>
            </a:r>
            <a:r>
              <a:rPr lang="en-GB" altLang="zh-CN" i="1" baseline="30000">
                <a:ea typeface="宋体" panose="02010600030101010101" pitchFamily="2" charset="-122"/>
              </a:rPr>
              <a:t>s</a:t>
            </a:r>
          </a:p>
          <a:p>
            <a:r>
              <a:rPr lang="en-GB" altLang="zh-CN">
                <a:ea typeface="宋体" panose="02010600030101010101" pitchFamily="2" charset="-122"/>
              </a:rPr>
              <a:t>Number of lines in cache = </a:t>
            </a:r>
            <a:r>
              <a:rPr lang="en-GB" altLang="zh-CN" i="1">
                <a:ea typeface="宋体" panose="02010600030101010101" pitchFamily="2" charset="-122"/>
              </a:rPr>
              <a:t>m</a:t>
            </a:r>
            <a:r>
              <a:rPr lang="en-GB" altLang="zh-CN">
                <a:ea typeface="宋体" panose="02010600030101010101" pitchFamily="2" charset="-122"/>
              </a:rPr>
              <a:t> = 2</a:t>
            </a:r>
            <a:r>
              <a:rPr lang="en-GB" altLang="zh-CN" i="1" baseline="30000">
                <a:ea typeface="宋体" panose="02010600030101010101" pitchFamily="2" charset="-122"/>
              </a:rPr>
              <a:t>r</a:t>
            </a:r>
          </a:p>
          <a:p>
            <a:r>
              <a:rPr lang="en-GB" altLang="zh-CN">
                <a:ea typeface="宋体" panose="02010600030101010101" pitchFamily="2" charset="-122"/>
              </a:rPr>
              <a:t>Size of tag = (</a:t>
            </a:r>
            <a:r>
              <a:rPr lang="en-GB" altLang="zh-CN" i="1">
                <a:ea typeface="宋体" panose="02010600030101010101" pitchFamily="2" charset="-122"/>
              </a:rPr>
              <a:t>s – r</a:t>
            </a:r>
            <a:r>
              <a:rPr lang="en-GB" altLang="zh-CN">
                <a:ea typeface="宋体" panose="02010600030101010101" pitchFamily="2" charset="-122"/>
              </a:rPr>
              <a:t>) bits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78D18AC7-788A-4353-B67E-66E66DD56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sz="2400">
                <a:ea typeface="宋体" panose="02010600030101010101" pitchFamily="2" charset="-122"/>
              </a:rPr>
              <a:t>Advantages and disadvantages of Direct Mapping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131AB54-2739-4C9D-8855-3E16B9DAA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178800" cy="56388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Adv.</a:t>
            </a:r>
            <a:endParaRPr lang="en-GB" altLang="zh-CN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Simple</a:t>
            </a:r>
          </a:p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Inexpensive</a:t>
            </a:r>
          </a:p>
          <a:p>
            <a:pPr marL="0" indent="0">
              <a:buFontTx/>
              <a:buNone/>
              <a:defRPr/>
            </a:pPr>
            <a:r>
              <a:rPr lang="en-US" altLang="zh-CN" dirty="0" err="1">
                <a:ea typeface="宋体" panose="02010600030101010101" pitchFamily="2" charset="-122"/>
              </a:rPr>
              <a:t>Disadv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GB" altLang="zh-CN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GB" altLang="zh-CN" dirty="0">
                <a:ea typeface="宋体" panose="02010600030101010101" pitchFamily="2" charset="-122"/>
              </a:rPr>
              <a:t>Fixed location for given block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(cache thrashing </a:t>
            </a:r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颠簸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乒乓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endParaRPr lang="en-GB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en-GB" altLang="zh-CN" dirty="0">
                <a:ea typeface="宋体" panose="02010600030101010101" pitchFamily="2" charset="-122"/>
              </a:rPr>
              <a:t>If a program accesses 2 blocks that map to the same line repeatedly, cache misses are very high</a:t>
            </a:r>
          </a:p>
          <a:p>
            <a:pPr marL="0" indent="0">
              <a:buFontTx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One solution.</a:t>
            </a:r>
            <a:endParaRPr lang="en-GB" altLang="zh-CN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Victim Cache:4-16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cache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lines, fully associative</a:t>
            </a:r>
            <a:endParaRPr lang="en-GB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4">
            <a:extLst>
              <a:ext uri="{FF2B5EF4-FFF2-40B4-BE49-F238E27FC236}">
                <a16:creationId xmlns:a16="http://schemas.microsoft.com/office/drawing/2014/main" id="{7D3F9927-6FBD-4B53-90B8-858F099E3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Associative Mapping</a:t>
            </a:r>
          </a:p>
        </p:txBody>
      </p:sp>
      <p:sp>
        <p:nvSpPr>
          <p:cNvPr id="99331" name="Rectangle 5">
            <a:extLst>
              <a:ext uri="{FF2B5EF4-FFF2-40B4-BE49-F238E27FC236}">
                <a16:creationId xmlns:a16="http://schemas.microsoft.com/office/drawing/2014/main" id="{B08A8CDE-D850-42F7-B6BA-077CE7E26E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178800" cy="2722563"/>
          </a:xfrm>
        </p:spPr>
        <p:txBody>
          <a:bodyPr/>
          <a:lstStyle/>
          <a:p>
            <a:r>
              <a:rPr lang="en-GB" altLang="zh-CN" sz="2400" dirty="0">
                <a:ea typeface="宋体" panose="02010600030101010101" pitchFamily="2" charset="-122"/>
              </a:rPr>
              <a:t>A main memory block can load into </a:t>
            </a:r>
            <a:r>
              <a:rPr lang="en-GB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any</a:t>
            </a:r>
            <a:r>
              <a:rPr lang="en-GB" altLang="zh-CN" sz="2400" dirty="0">
                <a:ea typeface="宋体" panose="02010600030101010101" pitchFamily="2" charset="-122"/>
              </a:rPr>
              <a:t> line of cache</a:t>
            </a:r>
          </a:p>
          <a:p>
            <a:r>
              <a:rPr lang="en-GB" altLang="zh-CN" sz="2400" dirty="0">
                <a:ea typeface="宋体" panose="02010600030101010101" pitchFamily="2" charset="-122"/>
              </a:rPr>
              <a:t>Memory address is interpreted as </a:t>
            </a:r>
            <a:r>
              <a:rPr lang="en-GB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tag and word</a:t>
            </a:r>
          </a:p>
          <a:p>
            <a:r>
              <a:rPr lang="en-GB" altLang="zh-CN" sz="2400" dirty="0">
                <a:ea typeface="宋体" panose="02010600030101010101" pitchFamily="2" charset="-122"/>
              </a:rPr>
              <a:t>Tag </a:t>
            </a:r>
            <a:r>
              <a:rPr lang="en-GB" altLang="zh-CN" sz="2400" i="1" dirty="0">
                <a:ea typeface="宋体" panose="02010600030101010101" pitchFamily="2" charset="-122"/>
              </a:rPr>
              <a:t>uniquely</a:t>
            </a:r>
            <a:r>
              <a:rPr lang="en-GB" altLang="zh-CN" sz="2400" dirty="0">
                <a:ea typeface="宋体" panose="02010600030101010101" pitchFamily="2" charset="-122"/>
              </a:rPr>
              <a:t> identifies block of memory</a:t>
            </a:r>
          </a:p>
          <a:p>
            <a:r>
              <a:rPr lang="en-GB" altLang="zh-CN" sz="2400" i="1" dirty="0">
                <a:ea typeface="宋体" panose="02010600030101010101" pitchFamily="2" charset="-122"/>
              </a:rPr>
              <a:t>Every</a:t>
            </a:r>
            <a:r>
              <a:rPr lang="en-GB" altLang="zh-CN" sz="2400" dirty="0">
                <a:ea typeface="宋体" panose="02010600030101010101" pitchFamily="2" charset="-122"/>
              </a:rPr>
              <a:t> line’s tag is examined for a match</a:t>
            </a:r>
          </a:p>
          <a:p>
            <a:r>
              <a:rPr lang="en-GB" altLang="zh-CN" sz="2400" dirty="0">
                <a:ea typeface="宋体" panose="02010600030101010101" pitchFamily="2" charset="-122"/>
              </a:rPr>
              <a:t>Cache searching gets </a:t>
            </a:r>
            <a:r>
              <a:rPr lang="en-GB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expensive</a:t>
            </a:r>
          </a:p>
          <a:p>
            <a:endParaRPr lang="en-GB" altLang="zh-CN" dirty="0">
              <a:ea typeface="宋体" panose="02010600030101010101" pitchFamily="2" charset="-122"/>
            </a:endParaRPr>
          </a:p>
        </p:txBody>
      </p:sp>
      <p:pic>
        <p:nvPicPr>
          <p:cNvPr id="99332" name="图片 2">
            <a:extLst>
              <a:ext uri="{FF2B5EF4-FFF2-40B4-BE49-F238E27FC236}">
                <a16:creationId xmlns:a16="http://schemas.microsoft.com/office/drawing/2014/main" id="{D9458D27-BBCD-4BEF-AB1A-F1938B1A5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630613"/>
            <a:ext cx="6754812" cy="307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360058C8-7CF5-4908-A713-CF69F241AB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Fully Associative Cache Organization</a:t>
            </a:r>
          </a:p>
        </p:txBody>
      </p:sp>
      <p:pic>
        <p:nvPicPr>
          <p:cNvPr id="101379" name="图片 1">
            <a:extLst>
              <a:ext uri="{FF2B5EF4-FFF2-40B4-BE49-F238E27FC236}">
                <a16:creationId xmlns:a16="http://schemas.microsoft.com/office/drawing/2014/main" id="{DE2B6277-E671-4A81-85DC-E4F53FD46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5538"/>
            <a:ext cx="9036050" cy="561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0" name="椭圆 6">
            <a:extLst>
              <a:ext uri="{FF2B5EF4-FFF2-40B4-BE49-F238E27FC236}">
                <a16:creationId xmlns:a16="http://schemas.microsoft.com/office/drawing/2014/main" id="{FC6E4C90-A420-4332-AAE3-365A98E1D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420938"/>
            <a:ext cx="1511300" cy="287337"/>
          </a:xfrm>
          <a:prstGeom prst="ellipse">
            <a:avLst/>
          </a:prstGeom>
          <a:noFill/>
          <a:ln w="19050" algn="ctr">
            <a:solidFill>
              <a:srgbClr val="C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381" name="椭圆 6">
            <a:extLst>
              <a:ext uri="{FF2B5EF4-FFF2-40B4-BE49-F238E27FC236}">
                <a16:creationId xmlns:a16="http://schemas.microsoft.com/office/drawing/2014/main" id="{2C14602F-25B5-4A8E-B90F-512BFC469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508500"/>
            <a:ext cx="1512887" cy="649288"/>
          </a:xfrm>
          <a:prstGeom prst="ellipse">
            <a:avLst/>
          </a:prstGeom>
          <a:noFill/>
          <a:ln w="19050" algn="ctr">
            <a:solidFill>
              <a:srgbClr val="C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5">
            <a:extLst>
              <a:ext uri="{FF2B5EF4-FFF2-40B4-BE49-F238E27FC236}">
                <a16:creationId xmlns:a16="http://schemas.microsoft.com/office/drawing/2014/main" id="{6797C815-A832-4F62-9CC7-230F2B6B8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56"/>
          <a:stretch>
            <a:fillRect/>
          </a:stretch>
        </p:blipFill>
        <p:spPr bwMode="auto">
          <a:xfrm>
            <a:off x="3762375" y="0"/>
            <a:ext cx="53816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7" name="Rectangle 2">
            <a:extLst>
              <a:ext uri="{FF2B5EF4-FFF2-40B4-BE49-F238E27FC236}">
                <a16:creationId xmlns:a16="http://schemas.microsoft.com/office/drawing/2014/main" id="{4A99FCF2-D1E8-4D30-A773-ED4BA42BA6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Associative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Mapping Example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25517AE-B621-4EE7-AD52-548E7257B2ED}"/>
              </a:ext>
            </a:extLst>
          </p:cNvPr>
          <p:cNvCxnSpPr>
            <a:cxnSpLocks/>
          </p:cNvCxnSpPr>
          <p:nvPr/>
        </p:nvCxnSpPr>
        <p:spPr bwMode="auto">
          <a:xfrm>
            <a:off x="5219700" y="292100"/>
            <a:ext cx="647700" cy="0"/>
          </a:xfrm>
          <a:prstGeom prst="line">
            <a:avLst/>
          </a:prstGeom>
          <a:ln w="28575"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636EF7F-97BA-45BA-9E97-B244A54E2054}"/>
              </a:ext>
            </a:extLst>
          </p:cNvPr>
          <p:cNvCxnSpPr>
            <a:cxnSpLocks/>
          </p:cNvCxnSpPr>
          <p:nvPr/>
        </p:nvCxnSpPr>
        <p:spPr bwMode="auto">
          <a:xfrm>
            <a:off x="5846763" y="292100"/>
            <a:ext cx="3175" cy="2803525"/>
          </a:xfrm>
          <a:prstGeom prst="line">
            <a:avLst/>
          </a:prstGeom>
          <a:ln w="34925"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421569F-F8D7-4977-99C4-4C54EDE47978}"/>
              </a:ext>
            </a:extLst>
          </p:cNvPr>
          <p:cNvCxnSpPr>
            <a:cxnSpLocks/>
          </p:cNvCxnSpPr>
          <p:nvPr/>
        </p:nvCxnSpPr>
        <p:spPr bwMode="auto">
          <a:xfrm>
            <a:off x="5849938" y="3095625"/>
            <a:ext cx="593725" cy="0"/>
          </a:xfrm>
          <a:prstGeom prst="line">
            <a:avLst/>
          </a:prstGeom>
          <a:ln w="28575"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D38B949-D144-4993-A828-B87825D9421D}"/>
              </a:ext>
            </a:extLst>
          </p:cNvPr>
          <p:cNvCxnSpPr>
            <a:cxnSpLocks/>
          </p:cNvCxnSpPr>
          <p:nvPr/>
        </p:nvCxnSpPr>
        <p:spPr bwMode="auto">
          <a:xfrm>
            <a:off x="5219700" y="4978400"/>
            <a:ext cx="627063" cy="0"/>
          </a:xfrm>
          <a:prstGeom prst="line">
            <a:avLst/>
          </a:prstGeom>
          <a:ln w="28575">
            <a:solidFill>
              <a:srgbClr val="00B0F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12C36EA-69A0-4D87-B9AD-A5AE89827BC4}"/>
              </a:ext>
            </a:extLst>
          </p:cNvPr>
          <p:cNvCxnSpPr>
            <a:cxnSpLocks/>
          </p:cNvCxnSpPr>
          <p:nvPr/>
        </p:nvCxnSpPr>
        <p:spPr bwMode="auto">
          <a:xfrm>
            <a:off x="5835650" y="3213100"/>
            <a:ext cx="0" cy="1765300"/>
          </a:xfrm>
          <a:prstGeom prst="line">
            <a:avLst/>
          </a:prstGeom>
          <a:ln w="34925">
            <a:solidFill>
              <a:srgbClr val="00B0F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BB0EBE2-1166-4B38-AEBE-BDA22EB974C2}"/>
              </a:ext>
            </a:extLst>
          </p:cNvPr>
          <p:cNvCxnSpPr>
            <a:cxnSpLocks/>
          </p:cNvCxnSpPr>
          <p:nvPr/>
        </p:nvCxnSpPr>
        <p:spPr bwMode="auto">
          <a:xfrm>
            <a:off x="5835650" y="3225800"/>
            <a:ext cx="641350" cy="0"/>
          </a:xfrm>
          <a:prstGeom prst="line">
            <a:avLst/>
          </a:prstGeom>
          <a:ln w="28575">
            <a:solidFill>
              <a:srgbClr val="00B0F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0DC56683-9EFB-4091-9E42-3EC114D7F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818063"/>
            <a:ext cx="31511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56023EA7-2D8B-40AE-84D9-1DC47BF7B83D}"/>
              </a:ext>
            </a:extLst>
          </p:cNvPr>
          <p:cNvSpPr/>
          <p:nvPr/>
        </p:nvSpPr>
        <p:spPr bwMode="auto">
          <a:xfrm>
            <a:off x="107950" y="4724400"/>
            <a:ext cx="2890838" cy="360363"/>
          </a:xfrm>
          <a:prstGeom prst="rect">
            <a:avLst/>
          </a:prstGeom>
          <a:noFill/>
          <a:ln w="12700"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9BA831-B9A5-4D44-8500-3F15E39B8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88" y="5048250"/>
            <a:ext cx="1546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400" b="1">
                <a:solidFill>
                  <a:schemeClr val="accent1"/>
                </a:solidFill>
                <a:latin typeface="Courier"/>
                <a:ea typeface="宋体" panose="02010600030101010101" pitchFamily="2" charset="-122"/>
              </a:rPr>
              <a:t>Tag</a:t>
            </a:r>
            <a:r>
              <a:rPr kumimoji="0" lang="zh-CN" altLang="en-US" sz="1400" b="1">
                <a:solidFill>
                  <a:schemeClr val="accent1"/>
                </a:solidFill>
                <a:latin typeface="Courier"/>
                <a:ea typeface="宋体" panose="02010600030101010101" pitchFamily="2" charset="-122"/>
              </a:rPr>
              <a:t>：</a:t>
            </a:r>
            <a:r>
              <a:rPr kumimoji="0" lang="en-US" altLang="zh-CN" sz="1400" b="1">
                <a:solidFill>
                  <a:schemeClr val="accent1"/>
                </a:solidFill>
                <a:latin typeface="Courier"/>
                <a:ea typeface="宋体" panose="02010600030101010101" pitchFamily="2" charset="-122"/>
              </a:rPr>
              <a:t>0x3FFFFF</a:t>
            </a:r>
            <a:endParaRPr kumimoji="0" lang="zh-CN" altLang="en-US" sz="1400" b="1">
              <a:solidFill>
                <a:schemeClr val="accent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9F947B6-9463-4DA6-82DC-1F07F8E26EC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276600" y="4976813"/>
            <a:ext cx="503238" cy="15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9">
            <a:extLst>
              <a:ext uri="{FF2B5EF4-FFF2-40B4-BE49-F238E27FC236}">
                <a16:creationId xmlns:a16="http://schemas.microsoft.com/office/drawing/2014/main" id="{9871A447-19C9-48C5-9A9C-E78E4CB81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Associative Mapping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Address Structure</a:t>
            </a:r>
          </a:p>
        </p:txBody>
      </p:sp>
      <p:sp>
        <p:nvSpPr>
          <p:cNvPr id="105475" name="Rectangle 10">
            <a:extLst>
              <a:ext uri="{FF2B5EF4-FFF2-40B4-BE49-F238E27FC236}">
                <a16:creationId xmlns:a16="http://schemas.microsoft.com/office/drawing/2014/main" id="{21D6FA0B-DFDE-4B38-8CAF-09C7F9241B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859088"/>
            <a:ext cx="8178800" cy="38100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22 bit tag stored with each 32 bit block of data </a:t>
            </a:r>
            <a:r>
              <a:rPr lang="zh-CN" altLang="en-US" dirty="0">
                <a:ea typeface="宋体" panose="02010600030101010101" pitchFamily="2" charset="-122"/>
              </a:rPr>
              <a:t>（</a:t>
            </a:r>
            <a:r>
              <a:rPr lang="en-US" altLang="zh-CN" dirty="0">
                <a:ea typeface="宋体" panose="02010600030101010101" pitchFamily="2" charset="-122"/>
              </a:rPr>
              <a:t>1 by 1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Compare tag field with tag entry in cache to check for hit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Least significant 2 bits of address identify which 8-bit byte is required from 32 bit data block</a:t>
            </a:r>
          </a:p>
        </p:txBody>
      </p:sp>
      <p:pic>
        <p:nvPicPr>
          <p:cNvPr id="105476" name="图片 1">
            <a:extLst>
              <a:ext uri="{FF2B5EF4-FFF2-40B4-BE49-F238E27FC236}">
                <a16:creationId xmlns:a16="http://schemas.microsoft.com/office/drawing/2014/main" id="{5F31DC6B-FC4C-40A5-99D4-22F697E83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541463"/>
            <a:ext cx="6792912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4">
            <a:extLst>
              <a:ext uri="{FF2B5EF4-FFF2-40B4-BE49-F238E27FC236}">
                <a16:creationId xmlns:a16="http://schemas.microsoft.com/office/drawing/2014/main" id="{18306F2C-885E-4094-8365-77BAF2627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Associative Mapping Summary</a:t>
            </a:r>
          </a:p>
        </p:txBody>
      </p:sp>
      <p:sp>
        <p:nvSpPr>
          <p:cNvPr id="107523" name="Rectangle 5">
            <a:extLst>
              <a:ext uri="{FF2B5EF4-FFF2-40B4-BE49-F238E27FC236}">
                <a16:creationId xmlns:a16="http://schemas.microsoft.com/office/drawing/2014/main" id="{278BBE9D-E0C1-46FA-85D1-1E78489847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Address length = (</a:t>
            </a:r>
            <a:r>
              <a:rPr lang="en-GB" altLang="zh-CN" i="1">
                <a:ea typeface="宋体" panose="02010600030101010101" pitchFamily="2" charset="-122"/>
              </a:rPr>
              <a:t>s + w</a:t>
            </a:r>
            <a:r>
              <a:rPr lang="en-GB" altLang="zh-CN">
                <a:ea typeface="宋体" panose="02010600030101010101" pitchFamily="2" charset="-122"/>
              </a:rPr>
              <a:t>) bits</a:t>
            </a:r>
          </a:p>
          <a:p>
            <a:r>
              <a:rPr lang="en-GB" altLang="zh-CN">
                <a:ea typeface="宋体" panose="02010600030101010101" pitchFamily="2" charset="-122"/>
              </a:rPr>
              <a:t>Number of addressable units = 2</a:t>
            </a:r>
            <a:r>
              <a:rPr lang="en-GB" altLang="zh-CN" i="1" baseline="30000">
                <a:ea typeface="宋体" panose="02010600030101010101" pitchFamily="2" charset="-122"/>
              </a:rPr>
              <a:t>s+w</a:t>
            </a:r>
            <a:r>
              <a:rPr lang="en-GB" altLang="zh-CN">
                <a:ea typeface="宋体" panose="02010600030101010101" pitchFamily="2" charset="-122"/>
              </a:rPr>
              <a:t> words or bytes</a:t>
            </a:r>
          </a:p>
          <a:p>
            <a:r>
              <a:rPr lang="en-GB" altLang="zh-CN">
                <a:ea typeface="宋体" panose="02010600030101010101" pitchFamily="2" charset="-122"/>
              </a:rPr>
              <a:t>Block size = line size = 2</a:t>
            </a:r>
            <a:r>
              <a:rPr lang="en-GB" altLang="zh-CN" i="1" baseline="30000">
                <a:ea typeface="宋体" panose="02010600030101010101" pitchFamily="2" charset="-122"/>
              </a:rPr>
              <a:t>w</a:t>
            </a:r>
            <a:r>
              <a:rPr lang="en-GB" altLang="zh-CN">
                <a:ea typeface="宋体" panose="02010600030101010101" pitchFamily="2" charset="-122"/>
              </a:rPr>
              <a:t> words or bytes</a:t>
            </a:r>
          </a:p>
          <a:p>
            <a:r>
              <a:rPr lang="en-GB" altLang="zh-CN">
                <a:ea typeface="宋体" panose="02010600030101010101" pitchFamily="2" charset="-122"/>
              </a:rPr>
              <a:t>Number of blocks in main memory = 2</a:t>
            </a:r>
            <a:r>
              <a:rPr lang="en-GB" altLang="zh-CN" i="1" baseline="30000">
                <a:ea typeface="宋体" panose="02010600030101010101" pitchFamily="2" charset="-122"/>
              </a:rPr>
              <a:t>s+</a:t>
            </a:r>
            <a:r>
              <a:rPr lang="en-GB" altLang="zh-CN">
                <a:ea typeface="宋体" panose="02010600030101010101" pitchFamily="2" charset="-122"/>
              </a:rPr>
              <a:t> </a:t>
            </a:r>
            <a:r>
              <a:rPr lang="en-GB" altLang="zh-CN" i="1" baseline="30000">
                <a:ea typeface="宋体" panose="02010600030101010101" pitchFamily="2" charset="-122"/>
              </a:rPr>
              <a:t>w </a:t>
            </a:r>
            <a:r>
              <a:rPr lang="en-GB" altLang="zh-CN">
                <a:ea typeface="宋体" panose="02010600030101010101" pitchFamily="2" charset="-122"/>
              </a:rPr>
              <a:t>/2</a:t>
            </a:r>
            <a:r>
              <a:rPr lang="en-GB" altLang="zh-CN" i="1" baseline="30000">
                <a:ea typeface="宋体" panose="02010600030101010101" pitchFamily="2" charset="-122"/>
              </a:rPr>
              <a:t>w</a:t>
            </a:r>
            <a:r>
              <a:rPr lang="en-GB" altLang="zh-CN">
                <a:ea typeface="宋体" panose="02010600030101010101" pitchFamily="2" charset="-122"/>
              </a:rPr>
              <a:t> = 2</a:t>
            </a:r>
            <a:r>
              <a:rPr lang="en-GB" altLang="zh-CN" i="1" baseline="30000">
                <a:ea typeface="宋体" panose="02010600030101010101" pitchFamily="2" charset="-122"/>
              </a:rPr>
              <a:t>s</a:t>
            </a:r>
          </a:p>
          <a:p>
            <a:r>
              <a:rPr lang="en-GB" altLang="zh-CN">
                <a:ea typeface="宋体" panose="02010600030101010101" pitchFamily="2" charset="-122"/>
              </a:rPr>
              <a:t>Number of line in cache associated to main memory = </a:t>
            </a:r>
            <a:r>
              <a:rPr lang="en-GB" altLang="zh-CN">
                <a:solidFill>
                  <a:srgbClr val="FF0000"/>
                </a:solidFill>
                <a:ea typeface="宋体" panose="02010600030101010101" pitchFamily="2" charset="-122"/>
              </a:rPr>
              <a:t>undetermined</a:t>
            </a:r>
          </a:p>
          <a:p>
            <a:r>
              <a:rPr lang="en-GB" altLang="zh-CN">
                <a:ea typeface="宋体" panose="02010600030101010101" pitchFamily="2" charset="-122"/>
              </a:rPr>
              <a:t>Size of tag = </a:t>
            </a:r>
            <a:r>
              <a:rPr lang="en-GB" altLang="zh-CN" i="1">
                <a:ea typeface="宋体" panose="02010600030101010101" pitchFamily="2" charset="-122"/>
              </a:rPr>
              <a:t>s</a:t>
            </a:r>
            <a:r>
              <a:rPr lang="en-GB" altLang="zh-CN">
                <a:ea typeface="宋体" panose="02010600030101010101" pitchFamily="2" charset="-122"/>
              </a:rPr>
              <a:t> bits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B80051F9-59AE-4E52-996C-69F01ED9D8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Set Associative Mapping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4DFC7845-CDDF-4591-9B87-7536AF0A298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66800"/>
            <a:ext cx="7931150" cy="3225800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Cache is divided into a number of sets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Each set contains a number of lines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Lines-&gt;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sets</a:t>
            </a:r>
            <a:r>
              <a:rPr lang="en-US" altLang="zh-CN" sz="2000">
                <a:ea typeface="宋体" panose="02010600030101010101" pitchFamily="2" charset="-122"/>
              </a:rPr>
              <a:t>-&gt;cache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A given block maps to any 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line</a:t>
            </a:r>
            <a:r>
              <a:rPr lang="en-US" altLang="zh-CN" sz="2400">
                <a:ea typeface="宋体" panose="02010600030101010101" pitchFamily="2" charset="-122"/>
              </a:rPr>
              <a:t> in a given set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e.g. Block B can be in any line of set i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e.g. 2 lines per set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2 way associative mapping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A given block can be in one of 2 lines in only one set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8548" name="Text Box 8">
            <a:extLst>
              <a:ext uri="{FF2B5EF4-FFF2-40B4-BE49-F238E27FC236}">
                <a16:creationId xmlns:a16="http://schemas.microsoft.com/office/drawing/2014/main" id="{A17BE49A-1698-40D9-96FA-092F7395A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0" y="5033963"/>
            <a:ext cx="180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8549" name="Object 9">
            <a:extLst>
              <a:ext uri="{FF2B5EF4-FFF2-40B4-BE49-F238E27FC236}">
                <a16:creationId xmlns:a16="http://schemas.microsoft.com/office/drawing/2014/main" id="{0658FE30-8FEC-4CB3-AFC5-7D9538A4E79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331913" y="4868863"/>
          <a:ext cx="1657350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公式" r:id="rId4" imgW="698197" imgH="431613" progId="Equation.3">
                  <p:embed/>
                </p:oleObj>
              </mc:Choice>
              <mc:Fallback>
                <p:oleObj name="公式" r:id="rId4" imgW="698197" imgH="43161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868863"/>
                        <a:ext cx="1657350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0" name="Text Box 11">
            <a:extLst>
              <a:ext uri="{FF2B5EF4-FFF2-40B4-BE49-F238E27FC236}">
                <a16:creationId xmlns:a16="http://schemas.microsoft.com/office/drawing/2014/main" id="{A26F6906-D3BE-44E0-9D22-B24B0529E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938" y="4365625"/>
            <a:ext cx="4205287" cy="230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= cache set No.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j  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 main memory block No.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= number of lines in the cache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(Cache size in lines)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= number of sets in the cache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(Cache size in sets)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>
            <a:extLst>
              <a:ext uri="{FF2B5EF4-FFF2-40B4-BE49-F238E27FC236}">
                <a16:creationId xmlns:a16="http://schemas.microsoft.com/office/drawing/2014/main" id="{E1AE72AF-7D31-499D-9E57-4AC41CAFE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Set Associative Mapping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595" name="矩形 5">
            <a:extLst>
              <a:ext uri="{FF2B5EF4-FFF2-40B4-BE49-F238E27FC236}">
                <a16:creationId xmlns:a16="http://schemas.microsoft.com/office/drawing/2014/main" id="{7EDA7AE1-4A3B-49C5-93E3-43DE92918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09663"/>
            <a:ext cx="45545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0"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-way associative mapping (</a:t>
            </a:r>
            <a:r>
              <a:rPr kumimoji="0"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0"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=2, </a:t>
            </a:r>
            <a:r>
              <a:rPr kumimoji="0"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=4)</a:t>
            </a:r>
          </a:p>
        </p:txBody>
      </p:sp>
      <p:sp>
        <p:nvSpPr>
          <p:cNvPr id="110596" name="矩形 3">
            <a:extLst>
              <a:ext uri="{FF2B5EF4-FFF2-40B4-BE49-F238E27FC236}">
                <a16:creationId xmlns:a16="http://schemas.microsoft.com/office/drawing/2014/main" id="{E91EA3F6-74C1-48DC-BADA-71396EB58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5589588"/>
            <a:ext cx="46196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No. of lines in the cache:  </a:t>
            </a: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=8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No. of sets in the cache  :</a:t>
            </a: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  v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=4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Cache Set No.                :  </a:t>
            </a: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0"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mod 4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0597" name="图片 1">
            <a:extLst>
              <a:ext uri="{FF2B5EF4-FFF2-40B4-BE49-F238E27FC236}">
                <a16:creationId xmlns:a16="http://schemas.microsoft.com/office/drawing/2014/main" id="{2FA923C0-EAB8-493C-BB8D-B1749A659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1412875"/>
            <a:ext cx="9032875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598" name="图片 2">
            <a:extLst>
              <a:ext uri="{FF2B5EF4-FFF2-40B4-BE49-F238E27FC236}">
                <a16:creationId xmlns:a16="http://schemas.microsoft.com/office/drawing/2014/main" id="{E7C57757-A082-4BF7-A4F1-E06A1FCBD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5715000"/>
            <a:ext cx="3408363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C785B8CA-3109-48DC-96E4-9A0BB52269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Set Associative Mapping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Address Structure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E118D37D-E694-4F69-A644-91BD28B130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740025"/>
            <a:ext cx="8612188" cy="3965575"/>
          </a:xfrm>
        </p:spPr>
        <p:txBody>
          <a:bodyPr/>
          <a:lstStyle/>
          <a:p>
            <a:pPr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Use set field to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determine</a:t>
            </a:r>
            <a:r>
              <a:rPr lang="en-US" altLang="zh-CN" sz="2400" dirty="0">
                <a:ea typeface="宋体" panose="02010600030101010101" pitchFamily="2" charset="-122"/>
              </a:rPr>
              <a:t> cache set to look in</a:t>
            </a:r>
          </a:p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Compare</a:t>
            </a:r>
            <a:r>
              <a:rPr lang="en-US" altLang="zh-CN" sz="2400" dirty="0">
                <a:ea typeface="宋体" panose="02010600030101010101" pitchFamily="2" charset="-122"/>
              </a:rPr>
              <a:t> tag field to see if we have a hit</a:t>
            </a:r>
          </a:p>
          <a:p>
            <a:pPr>
              <a:defRPr/>
            </a:pPr>
            <a:r>
              <a:rPr lang="en-US" altLang="zh-CN" sz="2400" dirty="0" err="1">
                <a:ea typeface="宋体" panose="02010600030101010101" pitchFamily="2" charset="-122"/>
              </a:rPr>
              <a:t>e.g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en-US" altLang="zh-CN" dirty="0">
                <a:ea typeface="宋体" panose="02010600030101010101" pitchFamily="2" charset="-122"/>
              </a:rPr>
              <a:t>Address	Tag	Data		 Set number</a:t>
            </a:r>
          </a:p>
          <a:p>
            <a:pPr lvl="1">
              <a:defRPr/>
            </a:pP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0xFFFFFC </a:t>
            </a:r>
            <a:r>
              <a:rPr lang="en-US" altLang="zh-CN" dirty="0">
                <a:ea typeface="宋体" panose="02010600030101010101" pitchFamily="2" charset="-122"/>
              </a:rPr>
              <a:t>	1FF	12345678	 1FFF</a:t>
            </a:r>
          </a:p>
          <a:p>
            <a:pPr lvl="1">
              <a:defRPr/>
            </a:pP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0x00FFFC </a:t>
            </a:r>
            <a:r>
              <a:rPr lang="en-US" altLang="zh-CN" dirty="0">
                <a:ea typeface="宋体" panose="02010600030101010101" pitchFamily="2" charset="-122"/>
              </a:rPr>
              <a:t>	001	11223344	 1FFF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                                                                </a:t>
            </a:r>
          </a:p>
          <a:p>
            <a:pPr lvl="1">
              <a:defRPr/>
            </a:pPr>
            <a:r>
              <a:rPr lang="en-US" altLang="zh-CN" sz="2000" dirty="0">
                <a:solidFill>
                  <a:schemeClr val="accent1"/>
                </a:solidFill>
                <a:ea typeface="宋体" panose="02010600030101010101" pitchFamily="2" charset="-122"/>
              </a:rPr>
              <a:t>Address 0xFFFFFC</a:t>
            </a:r>
            <a:r>
              <a:rPr lang="zh-CN" altLang="en-US" sz="2000" dirty="0">
                <a:solidFill>
                  <a:schemeClr val="accent1"/>
                </a:solidFill>
                <a:ea typeface="宋体" panose="02010600030101010101" pitchFamily="2" charset="-122"/>
              </a:rPr>
              <a:t>：</a:t>
            </a:r>
            <a:r>
              <a:rPr lang="en-US" altLang="zh-CN" sz="2000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B0F0"/>
                </a:solidFill>
                <a:ea typeface="宋体" panose="02010600030101010101" pitchFamily="2" charset="-122"/>
              </a:rPr>
              <a:t>1111 1111 1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111 1111 1111 11</a:t>
            </a:r>
            <a:r>
              <a:rPr lang="en-US" altLang="zh-CN" sz="2000" dirty="0">
                <a:ea typeface="宋体" panose="02010600030101010101" pitchFamily="2" charset="-122"/>
              </a:rPr>
              <a:t>00</a:t>
            </a:r>
          </a:p>
          <a:p>
            <a:pPr lvl="1">
              <a:defRPr/>
            </a:pPr>
            <a:r>
              <a:rPr lang="en-US" altLang="zh-CN" sz="2000" dirty="0">
                <a:solidFill>
                  <a:schemeClr val="accent1"/>
                </a:solidFill>
                <a:ea typeface="宋体" panose="02010600030101010101" pitchFamily="2" charset="-122"/>
              </a:rPr>
              <a:t>Address 0x00FFFC</a:t>
            </a:r>
            <a:r>
              <a:rPr lang="zh-CN" altLang="en-US" sz="2000" dirty="0">
                <a:solidFill>
                  <a:schemeClr val="accent1"/>
                </a:solidFill>
                <a:ea typeface="宋体" panose="02010600030101010101" pitchFamily="2" charset="-122"/>
              </a:rPr>
              <a:t>：</a:t>
            </a:r>
            <a:r>
              <a:rPr lang="en-US" altLang="zh-CN" sz="2000" dirty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B0F0"/>
                </a:solidFill>
                <a:ea typeface="宋体" panose="02010600030101010101" pitchFamily="2" charset="-122"/>
              </a:rPr>
              <a:t>0000 0000 1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111 1111 1111 11</a:t>
            </a:r>
            <a:r>
              <a:rPr lang="en-US" altLang="zh-CN" sz="2000" dirty="0">
                <a:ea typeface="宋体" panose="02010600030101010101" pitchFamily="2" charset="-122"/>
              </a:rPr>
              <a:t>00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marL="457200" lvl="1" indent="0">
              <a:buFontTx/>
              <a:buNone/>
              <a:defRPr/>
            </a:pP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111620" name="矩形 1">
            <a:extLst>
              <a:ext uri="{FF2B5EF4-FFF2-40B4-BE49-F238E27FC236}">
                <a16:creationId xmlns:a16="http://schemas.microsoft.com/office/drawing/2014/main" id="{AC8FB8D4-0997-4CB9-B7EA-F8CE8C6A9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5867400"/>
            <a:ext cx="2376487" cy="369888"/>
          </a:xfrm>
          <a:prstGeom prst="rect">
            <a:avLst/>
          </a:prstGeom>
          <a:noFill/>
          <a:ln w="12700" algn="ctr">
            <a:solidFill>
              <a:schemeClr val="accent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1621" name="图片 2">
            <a:extLst>
              <a:ext uri="{FF2B5EF4-FFF2-40B4-BE49-F238E27FC236}">
                <a16:creationId xmlns:a16="http://schemas.microsoft.com/office/drawing/2014/main" id="{C8EB7099-FDCD-46FE-902F-80644EF04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957263"/>
            <a:ext cx="6264275" cy="175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B423276D-8460-47A3-9E1B-0E27BCFC9A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Set Associative Mapping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Example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F317C8AA-8506-4E19-AE64-273AFCE527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178800" cy="308228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13 bit set number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2 lines per set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Block number in main memory is modulo 2</a:t>
            </a:r>
            <a:r>
              <a:rPr lang="en-US" altLang="zh-CN" baseline="30000" dirty="0">
                <a:ea typeface="宋体" panose="02010600030101010101" pitchFamily="2" charset="-122"/>
              </a:rPr>
              <a:t>13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002000, 00A000, 012000, 01A000,… FF2000, FFA000 … map to same set 0800</a:t>
            </a:r>
          </a:p>
        </p:txBody>
      </p:sp>
      <p:sp>
        <p:nvSpPr>
          <p:cNvPr id="2" name="矩形 1"/>
          <p:cNvSpPr/>
          <p:nvPr/>
        </p:nvSpPr>
        <p:spPr>
          <a:xfrm>
            <a:off x="899592" y="4077072"/>
            <a:ext cx="62408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00A000H = </a:t>
            </a:r>
            <a:r>
              <a:rPr lang="en-US" altLang="zh-CN" b="1" dirty="0">
                <a:ea typeface="宋体" panose="02010600030101010101" pitchFamily="2" charset="-122"/>
              </a:rPr>
              <a:t>0000 0000 1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010 0000 0000 00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00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B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013011" y="4685529"/>
            <a:ext cx="6753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主存地址所在</a:t>
            </a:r>
            <a:r>
              <a:rPr lang="en-US" altLang="zh-CN" dirty="0">
                <a:ea typeface="宋体" panose="02010600030101010101" pitchFamily="2" charset="-122"/>
              </a:rPr>
              <a:t>block number = </a:t>
            </a:r>
            <a:r>
              <a:rPr lang="en-US" altLang="zh-CN" dirty="0"/>
              <a:t>00A000H/4 = 2800H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047963" y="5229200"/>
            <a:ext cx="657263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对应</a:t>
            </a:r>
            <a:r>
              <a:rPr lang="en-US" altLang="zh-CN" dirty="0">
                <a:ea typeface="宋体" panose="02010600030101010101" pitchFamily="2" charset="-122"/>
              </a:rPr>
              <a:t>cache set number= </a:t>
            </a:r>
            <a:r>
              <a:rPr lang="en-US" altLang="zh-CN" dirty="0"/>
              <a:t>2800H mod 2000H = </a:t>
            </a:r>
            <a:r>
              <a:rPr lang="en-US" altLang="zh-CN" dirty="0">
                <a:ea typeface="宋体" panose="02010600030101010101" pitchFamily="2" charset="-122"/>
              </a:rPr>
              <a:t>800H</a:t>
            </a:r>
          </a:p>
          <a:p>
            <a:r>
              <a:rPr lang="zh-CN" altLang="en-US" dirty="0">
                <a:ea typeface="宋体" panose="02010600030101010101" pitchFamily="2" charset="-122"/>
              </a:rPr>
              <a:t>对于</a:t>
            </a:r>
            <a:r>
              <a:rPr lang="en-US" altLang="zh-CN" dirty="0">
                <a:ea typeface="宋体" panose="02010600030101010101" pitchFamily="2" charset="-122"/>
              </a:rPr>
              <a:t>tag = 1 </a:t>
            </a:r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4" name="图片 1">
            <a:extLst>
              <a:ext uri="{FF2B5EF4-FFF2-40B4-BE49-F238E27FC236}">
                <a16:creationId xmlns:a16="http://schemas.microsoft.com/office/drawing/2014/main" id="{C51B061F-E10E-4FE3-BF7F-937FE38B4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981075"/>
            <a:ext cx="8466138" cy="583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5" name="标题 3">
            <a:extLst>
              <a:ext uri="{FF2B5EF4-FFF2-40B4-BE49-F238E27FC236}">
                <a16:creationId xmlns:a16="http://schemas.microsoft.com/office/drawing/2014/main" id="{8AE28EF4-3C59-4E8F-86B0-9899F12FF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400" y="-1588"/>
            <a:ext cx="8204200" cy="838201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Two-Way Set Associative Mapping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9F00F3-B400-40CF-9D84-694753C03A7A}"/>
              </a:ext>
            </a:extLst>
          </p:cNvPr>
          <p:cNvCxnSpPr>
            <a:cxnSpLocks/>
          </p:cNvCxnSpPr>
          <p:nvPr/>
        </p:nvCxnSpPr>
        <p:spPr bwMode="auto">
          <a:xfrm>
            <a:off x="2916238" y="1484313"/>
            <a:ext cx="0" cy="4537075"/>
          </a:xfrm>
          <a:prstGeom prst="line">
            <a:avLst/>
          </a:prstGeom>
          <a:ln w="6350"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717" name="矩形 2">
            <a:extLst>
              <a:ext uri="{FF2B5EF4-FFF2-40B4-BE49-F238E27FC236}">
                <a16:creationId xmlns:a16="http://schemas.microsoft.com/office/drawing/2014/main" id="{BE8EDA3F-8DF8-4FC0-BFA4-7D239AD0E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6021388"/>
            <a:ext cx="9826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1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0xFFFFFC</a:t>
            </a:r>
            <a:endParaRPr kumimoji="0" lang="zh-CN" altLang="en-US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15718" name="直接箭头连接符 4">
            <a:extLst>
              <a:ext uri="{FF2B5EF4-FFF2-40B4-BE49-F238E27FC236}">
                <a16:creationId xmlns:a16="http://schemas.microsoft.com/office/drawing/2014/main" id="{0F2C8C71-3317-4041-9D48-293EAD652D0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47763" y="6021388"/>
            <a:ext cx="687387" cy="1444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9A69E13A-9A9F-4F19-BDE4-B272D85121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K-Way Set Associative Cache Organization</a:t>
            </a:r>
          </a:p>
        </p:txBody>
      </p:sp>
      <p:pic>
        <p:nvPicPr>
          <p:cNvPr id="117763" name="图片 1">
            <a:extLst>
              <a:ext uri="{FF2B5EF4-FFF2-40B4-BE49-F238E27FC236}">
                <a16:creationId xmlns:a16="http://schemas.microsoft.com/office/drawing/2014/main" id="{B8F208CF-6812-49CC-BE66-961FFE7FF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019175"/>
            <a:ext cx="7780338" cy="579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4">
            <a:extLst>
              <a:ext uri="{FF2B5EF4-FFF2-40B4-BE49-F238E27FC236}">
                <a16:creationId xmlns:a16="http://schemas.microsoft.com/office/drawing/2014/main" id="{A1EE2E4A-7F86-444B-A382-07A26ACFD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Set Associative Mapping Summary</a:t>
            </a:r>
          </a:p>
        </p:txBody>
      </p:sp>
      <p:sp>
        <p:nvSpPr>
          <p:cNvPr id="119811" name="Rectangle 5">
            <a:extLst>
              <a:ext uri="{FF2B5EF4-FFF2-40B4-BE49-F238E27FC236}">
                <a16:creationId xmlns:a16="http://schemas.microsoft.com/office/drawing/2014/main" id="{1F632B01-0562-42FD-8C92-847D1633BE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178800" cy="5170488"/>
          </a:xfrm>
        </p:spPr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Address length = (</a:t>
            </a:r>
            <a:r>
              <a:rPr lang="en-GB" altLang="zh-CN" i="1">
                <a:ea typeface="宋体" panose="02010600030101010101" pitchFamily="2" charset="-122"/>
              </a:rPr>
              <a:t>s</a:t>
            </a:r>
            <a:r>
              <a:rPr lang="en-GB" altLang="zh-CN">
                <a:ea typeface="宋体" panose="02010600030101010101" pitchFamily="2" charset="-122"/>
              </a:rPr>
              <a:t> + </a:t>
            </a:r>
            <a:r>
              <a:rPr lang="en-GB" altLang="zh-CN" i="1">
                <a:ea typeface="宋体" panose="02010600030101010101" pitchFamily="2" charset="-122"/>
              </a:rPr>
              <a:t>w</a:t>
            </a:r>
            <a:r>
              <a:rPr lang="en-GB" altLang="zh-CN">
                <a:ea typeface="宋体" panose="02010600030101010101" pitchFamily="2" charset="-122"/>
              </a:rPr>
              <a:t>) bits</a:t>
            </a:r>
          </a:p>
          <a:p>
            <a:r>
              <a:rPr lang="en-GB" altLang="zh-CN">
                <a:ea typeface="宋体" panose="02010600030101010101" pitchFamily="2" charset="-122"/>
              </a:rPr>
              <a:t>Number of addressable units = 2</a:t>
            </a:r>
            <a:r>
              <a:rPr lang="en-GB" altLang="zh-CN" i="1" baseline="30000">
                <a:ea typeface="宋体" panose="02010600030101010101" pitchFamily="2" charset="-122"/>
              </a:rPr>
              <a:t>s+w</a:t>
            </a:r>
            <a:r>
              <a:rPr lang="en-GB" altLang="zh-CN">
                <a:ea typeface="宋体" panose="02010600030101010101" pitchFamily="2" charset="-122"/>
              </a:rPr>
              <a:t> words or bytes</a:t>
            </a:r>
          </a:p>
          <a:p>
            <a:r>
              <a:rPr lang="en-GB" altLang="zh-CN">
                <a:ea typeface="宋体" panose="02010600030101010101" pitchFamily="2" charset="-122"/>
              </a:rPr>
              <a:t>Block size = line size = 2</a:t>
            </a:r>
            <a:r>
              <a:rPr lang="en-GB" altLang="zh-CN" i="1" baseline="30000">
                <a:ea typeface="宋体" panose="02010600030101010101" pitchFamily="2" charset="-122"/>
              </a:rPr>
              <a:t>w</a:t>
            </a:r>
            <a:r>
              <a:rPr lang="en-GB" altLang="zh-CN">
                <a:ea typeface="宋体" panose="02010600030101010101" pitchFamily="2" charset="-122"/>
              </a:rPr>
              <a:t> words or bytes</a:t>
            </a:r>
          </a:p>
          <a:p>
            <a:r>
              <a:rPr lang="en-GB" altLang="zh-CN">
                <a:solidFill>
                  <a:srgbClr val="FF0000"/>
                </a:solidFill>
                <a:ea typeface="宋体" panose="02010600030101010101" pitchFamily="2" charset="-122"/>
              </a:rPr>
              <a:t>Number of blocks </a:t>
            </a:r>
            <a:r>
              <a:rPr lang="en-GB" altLang="zh-CN">
                <a:ea typeface="宋体" panose="02010600030101010101" pitchFamily="2" charset="-122"/>
              </a:rPr>
              <a:t>in main memory = 2</a:t>
            </a:r>
            <a:r>
              <a:rPr lang="en-GB" altLang="zh-CN" i="1" baseline="30000">
                <a:ea typeface="宋体" panose="02010600030101010101" pitchFamily="2" charset="-122"/>
              </a:rPr>
              <a:t>s</a:t>
            </a:r>
          </a:p>
          <a:p>
            <a:r>
              <a:rPr lang="en-GB" altLang="zh-CN">
                <a:ea typeface="宋体" panose="02010600030101010101" pitchFamily="2" charset="-122"/>
              </a:rPr>
              <a:t>Number of lines in </a:t>
            </a:r>
            <a:r>
              <a:rPr lang="en-US" altLang="zh-CN">
                <a:ea typeface="宋体" panose="02010600030101010101" pitchFamily="2" charset="-122"/>
              </a:rPr>
              <a:t>one </a:t>
            </a:r>
            <a:r>
              <a:rPr lang="en-GB" altLang="zh-CN">
                <a:ea typeface="宋体" panose="02010600030101010101" pitchFamily="2" charset="-122"/>
              </a:rPr>
              <a:t>set = </a:t>
            </a:r>
            <a:r>
              <a:rPr lang="en-GB" altLang="zh-CN" i="1">
                <a:ea typeface="宋体" panose="02010600030101010101" pitchFamily="2" charset="-122"/>
              </a:rPr>
              <a:t>k</a:t>
            </a:r>
          </a:p>
          <a:p>
            <a:r>
              <a:rPr lang="en-GB" altLang="zh-CN">
                <a:solidFill>
                  <a:srgbClr val="FF0000"/>
                </a:solidFill>
                <a:ea typeface="宋体" panose="02010600030101010101" pitchFamily="2" charset="-122"/>
              </a:rPr>
              <a:t>Number of sets </a:t>
            </a:r>
            <a:r>
              <a:rPr lang="en-GB" altLang="zh-CN">
                <a:ea typeface="宋体" panose="02010600030101010101" pitchFamily="2" charset="-122"/>
              </a:rPr>
              <a:t>= </a:t>
            </a:r>
            <a:r>
              <a:rPr lang="en-GB" altLang="zh-CN" i="1">
                <a:ea typeface="宋体" panose="02010600030101010101" pitchFamily="2" charset="-122"/>
              </a:rPr>
              <a:t>v</a:t>
            </a:r>
            <a:r>
              <a:rPr lang="en-GB" altLang="zh-CN">
                <a:ea typeface="宋体" panose="02010600030101010101" pitchFamily="2" charset="-122"/>
              </a:rPr>
              <a:t> = 2</a:t>
            </a:r>
            <a:r>
              <a:rPr lang="en-GB" altLang="zh-CN" i="1" baseline="30000">
                <a:ea typeface="宋体" panose="02010600030101010101" pitchFamily="2" charset="-122"/>
              </a:rPr>
              <a:t>d</a:t>
            </a:r>
          </a:p>
          <a:p>
            <a:r>
              <a:rPr lang="en-GB" altLang="zh-CN">
                <a:ea typeface="宋体" panose="02010600030101010101" pitchFamily="2" charset="-122"/>
              </a:rPr>
              <a:t>Number of lines in cache = </a:t>
            </a:r>
            <a:r>
              <a:rPr lang="en-GB" altLang="zh-CN" i="1">
                <a:ea typeface="宋体" panose="02010600030101010101" pitchFamily="2" charset="-122"/>
              </a:rPr>
              <a:t>kv</a:t>
            </a:r>
            <a:r>
              <a:rPr lang="en-GB" altLang="zh-CN">
                <a:ea typeface="宋体" panose="02010600030101010101" pitchFamily="2" charset="-122"/>
              </a:rPr>
              <a:t> = </a:t>
            </a:r>
            <a:r>
              <a:rPr lang="en-GB" altLang="zh-CN" i="1">
                <a:ea typeface="宋体" panose="02010600030101010101" pitchFamily="2" charset="-122"/>
              </a:rPr>
              <a:t>k</a:t>
            </a:r>
            <a:r>
              <a:rPr lang="en-GB" altLang="zh-CN">
                <a:ea typeface="宋体" panose="02010600030101010101" pitchFamily="2" charset="-122"/>
              </a:rPr>
              <a:t> * 2</a:t>
            </a:r>
            <a:r>
              <a:rPr lang="en-GB" altLang="zh-CN" i="1" baseline="30000">
                <a:ea typeface="宋体" panose="02010600030101010101" pitchFamily="2" charset="-122"/>
              </a:rPr>
              <a:t>d</a:t>
            </a:r>
          </a:p>
          <a:p>
            <a:r>
              <a:rPr lang="en-GB" altLang="zh-CN">
                <a:ea typeface="宋体" panose="02010600030101010101" pitchFamily="2" charset="-122"/>
              </a:rPr>
              <a:t>Size of tag = (</a:t>
            </a:r>
            <a:r>
              <a:rPr lang="en-GB" altLang="zh-CN" i="1">
                <a:ea typeface="宋体" panose="02010600030101010101" pitchFamily="2" charset="-122"/>
              </a:rPr>
              <a:t>s – d</a:t>
            </a:r>
            <a:r>
              <a:rPr lang="en-GB" altLang="zh-CN">
                <a:ea typeface="宋体" panose="02010600030101010101" pitchFamily="2" charset="-122"/>
              </a:rPr>
              <a:t>) bits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81C465D9-B640-48CE-9ADC-5D74D089D6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Relationships of mappings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1533290B-825D-40E4-B8ED-70483B0B73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178800" cy="5638800"/>
          </a:xfrm>
        </p:spPr>
        <p:txBody>
          <a:bodyPr/>
          <a:lstStyle/>
          <a:p>
            <a:r>
              <a:rPr lang="en-GB" altLang="zh-CN" dirty="0">
                <a:ea typeface="宋体" panose="02010600030101010101" pitchFamily="2" charset="-122"/>
              </a:rPr>
              <a:t>Set Associative Mapping </a:t>
            </a:r>
            <a:r>
              <a:rPr lang="en-GB" altLang="zh-CN" dirty="0">
                <a:ea typeface="宋体" panose="02010600030101010101" pitchFamily="2" charset="-122"/>
                <a:sym typeface="Wingdings" panose="05000000000000000000" pitchFamily="2" charset="2"/>
              </a:rPr>
              <a:t> Direct mapping </a:t>
            </a:r>
          </a:p>
          <a:p>
            <a:pPr marL="0" indent="0">
              <a:buNone/>
            </a:pPr>
            <a:r>
              <a:rPr lang="en-GB" altLang="zh-CN" dirty="0">
                <a:ea typeface="宋体" panose="02010600030101010101" pitchFamily="2" charset="-122"/>
                <a:sym typeface="Wingdings" panose="05000000000000000000" pitchFamily="2" charset="2"/>
              </a:rPr>
              <a:t>    when </a:t>
            </a:r>
            <a:r>
              <a:rPr lang="en-GB" altLang="zh-CN" i="1" dirty="0">
                <a:ea typeface="宋体" panose="02010600030101010101" pitchFamily="2" charset="-122"/>
                <a:sym typeface="Wingdings" panose="05000000000000000000" pitchFamily="2" charset="2"/>
              </a:rPr>
              <a:t>v=m</a:t>
            </a:r>
            <a:r>
              <a:rPr lang="en-GB" altLang="zh-CN" dirty="0">
                <a:ea typeface="宋体" panose="02010600030101010101" pitchFamily="2" charset="-122"/>
                <a:sym typeface="Wingdings" panose="05000000000000000000" pitchFamily="2" charset="2"/>
              </a:rPr>
              <a:t> and </a:t>
            </a:r>
            <a:r>
              <a:rPr lang="en-GB" altLang="zh-CN" i="1" dirty="0">
                <a:ea typeface="宋体" panose="02010600030101010101" pitchFamily="2" charset="-122"/>
                <a:sym typeface="Wingdings" panose="05000000000000000000" pitchFamily="2" charset="2"/>
              </a:rPr>
              <a:t>k=</a:t>
            </a:r>
            <a:r>
              <a:rPr lang="en-GB" altLang="zh-CN" dirty="0"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</a:p>
          <a:p>
            <a:pPr marL="0" indent="0">
              <a:buNone/>
            </a:pPr>
            <a:endParaRPr lang="en-GB" altLang="zh-CN" dirty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en-GB" altLang="zh-CN" dirty="0">
                <a:ea typeface="宋体" panose="02010600030101010101" pitchFamily="2" charset="-122"/>
              </a:rPr>
              <a:t>Set Associative Mapping </a:t>
            </a:r>
            <a:r>
              <a:rPr lang="en-GB" altLang="zh-CN" dirty="0"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en-GB" altLang="zh-CN" dirty="0">
                <a:ea typeface="宋体" panose="02010600030101010101" pitchFamily="2" charset="-122"/>
              </a:rPr>
              <a:t>Associative Mapping </a:t>
            </a:r>
          </a:p>
          <a:p>
            <a:pPr marL="0" indent="0">
              <a:buNone/>
            </a:pPr>
            <a:r>
              <a:rPr lang="en-GB" altLang="zh-CN" dirty="0">
                <a:ea typeface="宋体" panose="02010600030101010101" pitchFamily="2" charset="-122"/>
                <a:sym typeface="Wingdings" panose="05000000000000000000" pitchFamily="2" charset="2"/>
              </a:rPr>
              <a:t>   when </a:t>
            </a:r>
            <a:r>
              <a:rPr lang="en-GB" altLang="zh-CN" i="1" dirty="0">
                <a:ea typeface="宋体" panose="02010600030101010101" pitchFamily="2" charset="-122"/>
                <a:sym typeface="Wingdings" panose="05000000000000000000" pitchFamily="2" charset="2"/>
              </a:rPr>
              <a:t>v=</a:t>
            </a:r>
            <a:r>
              <a:rPr lang="en-GB" altLang="zh-CN" dirty="0">
                <a:ea typeface="宋体" panose="02010600030101010101" pitchFamily="2" charset="-122"/>
                <a:sym typeface="Wingdings" panose="05000000000000000000" pitchFamily="2" charset="2"/>
              </a:rPr>
              <a:t>1 and </a:t>
            </a:r>
            <a:r>
              <a:rPr lang="en-GB" altLang="zh-CN" i="1" dirty="0">
                <a:ea typeface="宋体" panose="02010600030101010101" pitchFamily="2" charset="-122"/>
                <a:sym typeface="Wingdings" panose="05000000000000000000" pitchFamily="2" charset="2"/>
              </a:rPr>
              <a:t>k=m</a:t>
            </a:r>
          </a:p>
          <a:p>
            <a:pPr marL="0" indent="0">
              <a:buNone/>
            </a:pPr>
            <a:endParaRPr lang="en-GB" altLang="zh-CN" i="1" dirty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zh-CN" i="1" dirty="0">
                <a:ea typeface="宋体" panose="02010600030101010101" pitchFamily="2" charset="-122"/>
                <a:sym typeface="Wingdings" panose="05000000000000000000" pitchFamily="2" charset="2"/>
              </a:rPr>
              <a:t>k-way</a:t>
            </a:r>
            <a:r>
              <a:rPr lang="zh-CN" altLang="en-US" i="1" dirty="0">
                <a:ea typeface="宋体" panose="02010600030101010101" pitchFamily="2" charset="-122"/>
                <a:sym typeface="Wingdings" panose="05000000000000000000" pitchFamily="2" charset="2"/>
              </a:rPr>
              <a:t>：</a:t>
            </a:r>
            <a:r>
              <a:rPr lang="en-US" altLang="zh-CN" i="1" dirty="0">
                <a:ea typeface="宋体" panose="02010600030101010101" pitchFamily="2" charset="-122"/>
                <a:sym typeface="Wingdings" panose="05000000000000000000" pitchFamily="2" charset="2"/>
              </a:rPr>
              <a:t>No. of lines in one set</a:t>
            </a:r>
            <a:endParaRPr lang="en-GB" altLang="zh-CN" i="1" dirty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GB" altLang="zh-CN" i="1" dirty="0">
                <a:ea typeface="宋体" panose="02010600030101010101" pitchFamily="2" charset="-122"/>
                <a:sym typeface="Wingdings" panose="05000000000000000000" pitchFamily="2" charset="2"/>
              </a:rPr>
              <a:t>v: No. of sets</a:t>
            </a:r>
          </a:p>
          <a:p>
            <a:pPr marL="0" indent="0">
              <a:buNone/>
            </a:pPr>
            <a:r>
              <a:rPr lang="en-GB" altLang="zh-CN" i="1" dirty="0">
                <a:ea typeface="宋体" panose="02010600030101010101" pitchFamily="2" charset="-122"/>
                <a:sym typeface="Wingdings" panose="05000000000000000000" pitchFamily="2" charset="2"/>
              </a:rPr>
              <a:t>m: No. of lines in the cache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71983745-EB7D-482B-A379-DD4E76982B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Relationships of mappings</a:t>
            </a:r>
          </a:p>
        </p:txBody>
      </p:sp>
      <p:pic>
        <p:nvPicPr>
          <p:cNvPr id="122883" name="内容占位符 3">
            <a:extLst>
              <a:ext uri="{FF2B5EF4-FFF2-40B4-BE49-F238E27FC236}">
                <a16:creationId xmlns:a16="http://schemas.microsoft.com/office/drawing/2014/main" id="{0A671C70-8237-4E5A-92E2-2486C3F29F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484313"/>
            <a:ext cx="9075738" cy="4824412"/>
          </a:xfr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8C675B6-28A3-4DCD-A095-CEA9EB7C2598}"/>
              </a:ext>
            </a:extLst>
          </p:cNvPr>
          <p:cNvCxnSpPr/>
          <p:nvPr/>
        </p:nvCxnSpPr>
        <p:spPr bwMode="auto">
          <a:xfrm flipV="1">
            <a:off x="2195513" y="2060575"/>
            <a:ext cx="3168650" cy="3603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A90809F-3A59-4AE6-8F05-CAB8BF449C04}"/>
              </a:ext>
            </a:extLst>
          </p:cNvPr>
          <p:cNvCxnSpPr/>
          <p:nvPr/>
        </p:nvCxnSpPr>
        <p:spPr bwMode="auto">
          <a:xfrm flipV="1">
            <a:off x="2187575" y="2276475"/>
            <a:ext cx="3168650" cy="3603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3261D88-5FFE-42D1-A834-72F7BC64F956}"/>
              </a:ext>
            </a:extLst>
          </p:cNvPr>
          <p:cNvCxnSpPr>
            <a:cxnSpLocks/>
          </p:cNvCxnSpPr>
          <p:nvPr/>
        </p:nvCxnSpPr>
        <p:spPr bwMode="auto">
          <a:xfrm flipV="1">
            <a:off x="2195513" y="2565400"/>
            <a:ext cx="3168650" cy="3492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153843C-D7A7-4802-8F31-F0F160F9D947}"/>
              </a:ext>
            </a:extLst>
          </p:cNvPr>
          <p:cNvCxnSpPr>
            <a:cxnSpLocks/>
          </p:cNvCxnSpPr>
          <p:nvPr/>
        </p:nvCxnSpPr>
        <p:spPr bwMode="auto">
          <a:xfrm flipV="1">
            <a:off x="2195513" y="2781300"/>
            <a:ext cx="3168650" cy="35718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2029A95-3618-4510-B6EE-53718032D0F7}"/>
              </a:ext>
            </a:extLst>
          </p:cNvPr>
          <p:cNvCxnSpPr>
            <a:cxnSpLocks/>
          </p:cNvCxnSpPr>
          <p:nvPr/>
        </p:nvCxnSpPr>
        <p:spPr bwMode="auto">
          <a:xfrm>
            <a:off x="2195513" y="3422650"/>
            <a:ext cx="2089150" cy="51117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弧形 16">
            <a:extLst>
              <a:ext uri="{FF2B5EF4-FFF2-40B4-BE49-F238E27FC236}">
                <a16:creationId xmlns:a16="http://schemas.microsoft.com/office/drawing/2014/main" id="{49EAFEC4-4606-4415-B4DC-931A0FC1EC0C}"/>
              </a:ext>
            </a:extLst>
          </p:cNvPr>
          <p:cNvSpPr/>
          <p:nvPr/>
        </p:nvSpPr>
        <p:spPr bwMode="auto">
          <a:xfrm>
            <a:off x="-828675" y="3422650"/>
            <a:ext cx="6337300" cy="869950"/>
          </a:xfrm>
          <a:prstGeom prst="arc">
            <a:avLst>
              <a:gd name="adj1" fmla="val 15284766"/>
              <a:gd name="adj2" fmla="val 0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lIns="90000" tIns="46800" rIns="90000" bIns="46800" anchor="ctr"/>
          <a:lstStyle/>
          <a:p>
            <a:pPr>
              <a:defRPr/>
            </a:pP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弧形 19">
            <a:extLst>
              <a:ext uri="{FF2B5EF4-FFF2-40B4-BE49-F238E27FC236}">
                <a16:creationId xmlns:a16="http://schemas.microsoft.com/office/drawing/2014/main" id="{31E6783D-5F29-441C-8B30-FC1A511A2CEF}"/>
              </a:ext>
            </a:extLst>
          </p:cNvPr>
          <p:cNvSpPr/>
          <p:nvPr/>
        </p:nvSpPr>
        <p:spPr bwMode="auto">
          <a:xfrm>
            <a:off x="-1331913" y="3429000"/>
            <a:ext cx="7991476" cy="871538"/>
          </a:xfrm>
          <a:prstGeom prst="arc">
            <a:avLst>
              <a:gd name="adj1" fmla="val 15284766"/>
              <a:gd name="adj2" fmla="val 0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lIns="90000" tIns="46800" rIns="90000" bIns="46800" anchor="ctr"/>
          <a:lstStyle/>
          <a:p>
            <a:pPr>
              <a:defRPr/>
            </a:pP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弧形 20">
            <a:extLst>
              <a:ext uri="{FF2B5EF4-FFF2-40B4-BE49-F238E27FC236}">
                <a16:creationId xmlns:a16="http://schemas.microsoft.com/office/drawing/2014/main" id="{F7126EBC-720E-4064-AD6F-0791D6B83042}"/>
              </a:ext>
            </a:extLst>
          </p:cNvPr>
          <p:cNvSpPr/>
          <p:nvPr/>
        </p:nvSpPr>
        <p:spPr bwMode="auto">
          <a:xfrm>
            <a:off x="-1116013" y="3429000"/>
            <a:ext cx="8928101" cy="871538"/>
          </a:xfrm>
          <a:prstGeom prst="arc">
            <a:avLst>
              <a:gd name="adj1" fmla="val 15284766"/>
              <a:gd name="adj2" fmla="val 0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lIns="90000" tIns="46800" rIns="90000" bIns="46800" anchor="ctr"/>
          <a:lstStyle/>
          <a:p>
            <a:pPr>
              <a:defRPr/>
            </a:pP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FCC56ED-F74D-4034-88CE-B1F327BD404A}"/>
              </a:ext>
            </a:extLst>
          </p:cNvPr>
          <p:cNvCxnSpPr/>
          <p:nvPr/>
        </p:nvCxnSpPr>
        <p:spPr bwMode="auto">
          <a:xfrm>
            <a:off x="2195513" y="2420938"/>
            <a:ext cx="2447925" cy="280828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7A0B81E4-F00A-452B-802A-7CE112BEADCA}"/>
              </a:ext>
            </a:extLst>
          </p:cNvPr>
          <p:cNvCxnSpPr>
            <a:cxnSpLocks/>
          </p:cNvCxnSpPr>
          <p:nvPr/>
        </p:nvCxnSpPr>
        <p:spPr bwMode="auto">
          <a:xfrm>
            <a:off x="2195513" y="2636838"/>
            <a:ext cx="2520950" cy="302418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弧形 23">
            <a:extLst>
              <a:ext uri="{FF2B5EF4-FFF2-40B4-BE49-F238E27FC236}">
                <a16:creationId xmlns:a16="http://schemas.microsoft.com/office/drawing/2014/main" id="{AE58A708-6D97-4C6F-9BBF-343AFB0D08C6}"/>
              </a:ext>
            </a:extLst>
          </p:cNvPr>
          <p:cNvSpPr/>
          <p:nvPr/>
        </p:nvSpPr>
        <p:spPr bwMode="auto">
          <a:xfrm>
            <a:off x="2555875" y="4797425"/>
            <a:ext cx="3455988" cy="863600"/>
          </a:xfrm>
          <a:prstGeom prst="arc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90000" tIns="46800" rIns="90000" bIns="46800" anchor="ctr"/>
          <a:lstStyle/>
          <a:p>
            <a:pPr>
              <a:defRPr/>
            </a:pPr>
            <a:endParaRPr lang="zh-CN" altLang="en-US">
              <a:latin typeface="Times New Roman" pitchFamily="18" charset="0"/>
            </a:endParaRPr>
          </a:p>
        </p:txBody>
      </p:sp>
      <p:sp>
        <p:nvSpPr>
          <p:cNvPr id="28" name="弧形 27">
            <a:extLst>
              <a:ext uri="{FF2B5EF4-FFF2-40B4-BE49-F238E27FC236}">
                <a16:creationId xmlns:a16="http://schemas.microsoft.com/office/drawing/2014/main" id="{24BAEE94-FEFE-418A-A509-B2912AAC2DE4}"/>
              </a:ext>
            </a:extLst>
          </p:cNvPr>
          <p:cNvSpPr/>
          <p:nvPr/>
        </p:nvSpPr>
        <p:spPr bwMode="auto">
          <a:xfrm>
            <a:off x="2843213" y="5308600"/>
            <a:ext cx="3168650" cy="712788"/>
          </a:xfrm>
          <a:prstGeom prst="arc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90000" tIns="46800" rIns="90000" bIns="46800" anchor="ctr"/>
          <a:lstStyle/>
          <a:p>
            <a:pPr>
              <a:defRPr/>
            </a:pPr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标题 1">
            <a:extLst>
              <a:ext uri="{FF2B5EF4-FFF2-40B4-BE49-F238E27FC236}">
                <a16:creationId xmlns:a16="http://schemas.microsoft.com/office/drawing/2014/main" id="{38B4A05E-0EE3-42D6-86C3-62D97C78A7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Varying Associativity over Cache Size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4931" name="内容占位符 2">
            <a:extLst>
              <a:ext uri="{FF2B5EF4-FFF2-40B4-BE49-F238E27FC236}">
                <a16:creationId xmlns:a16="http://schemas.microsoft.com/office/drawing/2014/main" id="{F715FFD1-C073-4CFB-A94F-B702662252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13668" name="图片 3">
            <a:extLst>
              <a:ext uri="{FF2B5EF4-FFF2-40B4-BE49-F238E27FC236}">
                <a16:creationId xmlns:a16="http://schemas.microsoft.com/office/drawing/2014/main" id="{4BE4A06D-8E3B-4196-AB9C-0A9D78D62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3" y="1162050"/>
            <a:ext cx="8029575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669" name="矩形 4">
            <a:extLst>
              <a:ext uri="{FF2B5EF4-FFF2-40B4-BE49-F238E27FC236}">
                <a16:creationId xmlns:a16="http://schemas.microsoft.com/office/drawing/2014/main" id="{1FE83F31-FB39-4808-BDDC-7BFBBDF94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5589240"/>
            <a:ext cx="58435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solidFill>
                  <a:srgbClr val="00B0F0"/>
                </a:solidFill>
                <a:latin typeface="TimesTen-Roman"/>
                <a:ea typeface="宋体" panose="02010600030101010101" pitchFamily="2" charset="-122"/>
              </a:rPr>
              <a:t>one simulation study </a:t>
            </a:r>
            <a:r>
              <a:rPr kumimoji="0" lang="en-US" altLang="zh-CN" sz="2400" dirty="0">
                <a:latin typeface="TimesTen-Roman"/>
                <a:ea typeface="宋体" panose="02010600030101010101" pitchFamily="2" charset="-122"/>
              </a:rPr>
              <a:t>of set-associative cache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TimesTen-Roman"/>
                <a:ea typeface="宋体" panose="02010600030101010101" pitchFamily="2" charset="-122"/>
              </a:rPr>
              <a:t>performance as a function of cache size</a:t>
            </a:r>
            <a:endParaRPr kumimoji="0"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70" name="矩形 1">
            <a:extLst>
              <a:ext uri="{FF2B5EF4-FFF2-40B4-BE49-F238E27FC236}">
                <a16:creationId xmlns:a16="http://schemas.microsoft.com/office/drawing/2014/main" id="{50005F6A-9FD8-4027-B4F6-ECA32B6BE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1085850"/>
            <a:ext cx="67389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K=</a:t>
            </a:r>
            <a:r>
              <a:rPr kumimoji="0" lang="en-GB" altLang="zh-CN" sz="160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2 is the most common set associative organization </a:t>
            </a:r>
            <a:r>
              <a:rPr kumimoji="0" lang="en-US" altLang="zh-CN" sz="160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=&gt; </a:t>
            </a:r>
            <a:r>
              <a:rPr kumimoji="0"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hit improvement</a:t>
            </a:r>
            <a:endParaRPr kumimoji="0" lang="en-GB" altLang="zh-CN" sz="16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GB" altLang="zh-CN" sz="1600" i="1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K=</a:t>
            </a:r>
            <a:r>
              <a:rPr kumimoji="0" lang="en-GB" altLang="zh-CN" sz="160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4 makes a modest additional improvement</a:t>
            </a:r>
            <a:endParaRPr kumimoji="0" lang="en-US" altLang="zh-CN" sz="1600"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B26DF7D-63C4-47E7-8A85-D5BAD6937CAC}"/>
              </a:ext>
            </a:extLst>
          </p:cNvPr>
          <p:cNvCxnSpPr>
            <a:cxnSpLocks/>
          </p:cNvCxnSpPr>
          <p:nvPr/>
        </p:nvCxnSpPr>
        <p:spPr bwMode="auto">
          <a:xfrm flipV="1">
            <a:off x="1720850" y="1663259"/>
            <a:ext cx="2995168" cy="162172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7782613-9719-4BC2-8013-23C60E7618E5}"/>
              </a:ext>
            </a:extLst>
          </p:cNvPr>
          <p:cNvCxnSpPr>
            <a:cxnSpLocks/>
          </p:cNvCxnSpPr>
          <p:nvPr/>
        </p:nvCxnSpPr>
        <p:spPr bwMode="auto">
          <a:xfrm flipV="1">
            <a:off x="4716018" y="1628801"/>
            <a:ext cx="3528390" cy="3445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439D249E-D084-4292-952C-BD62F5382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3141663"/>
            <a:ext cx="360363" cy="358775"/>
          </a:xfrm>
          <a:prstGeom prst="ellipse">
            <a:avLst/>
          </a:prstGeom>
          <a:noFill/>
          <a:ln w="9525" algn="ctr">
            <a:solidFill>
              <a:srgbClr val="C0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E98E3C7-9168-4F79-BE1B-F528DC63D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781300"/>
            <a:ext cx="358775" cy="360363"/>
          </a:xfrm>
          <a:prstGeom prst="ellipse">
            <a:avLst/>
          </a:prstGeom>
          <a:noFill/>
          <a:ln w="9525" algn="ctr">
            <a:solidFill>
              <a:srgbClr val="C0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BA981D4-E69E-4C7C-B041-703C510EB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0" y="2420938"/>
            <a:ext cx="358775" cy="360362"/>
          </a:xfrm>
          <a:prstGeom prst="ellipse">
            <a:avLst/>
          </a:prstGeom>
          <a:noFill/>
          <a:ln w="9525" algn="ctr">
            <a:solidFill>
              <a:srgbClr val="C0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1CA0208-7029-4F21-8013-71F55BA07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3" y="2071688"/>
            <a:ext cx="360362" cy="360362"/>
          </a:xfrm>
          <a:prstGeom prst="ellipse">
            <a:avLst/>
          </a:prstGeom>
          <a:noFill/>
          <a:ln w="9525" algn="ctr">
            <a:solidFill>
              <a:srgbClr val="C0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D7269-4654-4DFB-87E0-11256D70E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4475" y="1762125"/>
            <a:ext cx="358775" cy="360363"/>
          </a:xfrm>
          <a:prstGeom prst="ellipse">
            <a:avLst/>
          </a:prstGeom>
          <a:noFill/>
          <a:ln w="9525" algn="ctr">
            <a:solidFill>
              <a:srgbClr val="C0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5A34AA9-207C-4689-90B8-2E8C15EE7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1633538"/>
            <a:ext cx="360363" cy="360362"/>
          </a:xfrm>
          <a:prstGeom prst="ellipse">
            <a:avLst/>
          </a:prstGeom>
          <a:noFill/>
          <a:ln w="9525" algn="ctr">
            <a:solidFill>
              <a:srgbClr val="C0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9" grpId="0"/>
      <p:bldP spid="113670" grpId="0"/>
      <p:bldP spid="10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51241A4D-4AE0-4331-80B9-70A0FA720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Replacement Algorithms (1)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Direct mapping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38DF2CD0-9C58-4B38-BB7D-2596DCA52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Each block only maps to one line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Replace that line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No choice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4">
            <a:extLst>
              <a:ext uri="{FF2B5EF4-FFF2-40B4-BE49-F238E27FC236}">
                <a16:creationId xmlns:a16="http://schemas.microsoft.com/office/drawing/2014/main" id="{D614572D-F985-4891-8C81-514040824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Replacement Algorithms (2)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Associative &amp; Set Associative</a:t>
            </a:r>
          </a:p>
        </p:txBody>
      </p:sp>
      <p:sp>
        <p:nvSpPr>
          <p:cNvPr id="129027" name="Rectangle 5">
            <a:extLst>
              <a:ext uri="{FF2B5EF4-FFF2-40B4-BE49-F238E27FC236}">
                <a16:creationId xmlns:a16="http://schemas.microsoft.com/office/drawing/2014/main" id="{6075481A-0A45-48E1-BCD3-A528FA157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Least Recently used (LRU)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e.g. in 2 way set associative, Which of the 2 block is </a:t>
            </a:r>
            <a:r>
              <a:rPr lang="en-US" altLang="zh-CN" dirty="0" err="1">
                <a:ea typeface="宋体" panose="02010600030101010101" pitchFamily="2" charset="-122"/>
              </a:rPr>
              <a:t>lru</a:t>
            </a:r>
            <a:r>
              <a:rPr lang="en-US" altLang="zh-CN" dirty="0">
                <a:ea typeface="宋体" panose="02010600030101010101" pitchFamily="2" charset="-122"/>
              </a:rPr>
              <a:t>?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First in first out (FIFO)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replace block that has been in cache longest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Least frequently used(LFU)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replace block which has had fewest hits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Random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Slightly</a:t>
            </a:r>
            <a:r>
              <a:rPr lang="en-US" altLang="zh-CN" dirty="0">
                <a:ea typeface="宋体" panose="02010600030101010101" pitchFamily="2" charset="-122"/>
              </a:rPr>
              <a:t> inferior performance to usage based algorithms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标题 1">
            <a:extLst>
              <a:ext uri="{FF2B5EF4-FFF2-40B4-BE49-F238E27FC236}">
                <a16:creationId xmlns:a16="http://schemas.microsoft.com/office/drawing/2014/main" id="{888FDF17-8FBE-4D77-96F7-4589C74CB1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Replacement Algorithms (2)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Associative &amp; Set Associative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1075" name="矩形 7">
            <a:extLst>
              <a:ext uri="{FF2B5EF4-FFF2-40B4-BE49-F238E27FC236}">
                <a16:creationId xmlns:a16="http://schemas.microsoft.com/office/drawing/2014/main" id="{232EA5E5-8151-47B2-B1F6-C7AF6C036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6319838"/>
            <a:ext cx="800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LRU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1076" name="矩形 8">
            <a:extLst>
              <a:ext uri="{FF2B5EF4-FFF2-40B4-BE49-F238E27FC236}">
                <a16:creationId xmlns:a16="http://schemas.microsoft.com/office/drawing/2014/main" id="{53B61CF9-005B-4C21-8380-8F6F67799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6319838"/>
            <a:ext cx="8524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FIFO</a:t>
            </a: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31077" name="图片 9">
            <a:extLst>
              <a:ext uri="{FF2B5EF4-FFF2-40B4-BE49-F238E27FC236}">
                <a16:creationId xmlns:a16="http://schemas.microsoft.com/office/drawing/2014/main" id="{4CE42FD2-E137-438A-BEDE-F993C330F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173163"/>
            <a:ext cx="5905500" cy="517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8616A403-5987-4ABC-8B33-40141B65AB8F}"/>
              </a:ext>
            </a:extLst>
          </p:cNvPr>
          <p:cNvSpPr/>
          <p:nvPr/>
        </p:nvSpPr>
        <p:spPr bwMode="auto">
          <a:xfrm>
            <a:off x="3275856" y="4351040"/>
            <a:ext cx="1944216" cy="1296144"/>
          </a:xfrm>
          <a:prstGeom prst="ellipse">
            <a:avLst/>
          </a:prstGeom>
          <a:ln>
            <a:solidFill>
              <a:schemeClr val="tx2"/>
            </a:solidFill>
            <a:prstDash val="dash"/>
            <a:headEnd type="none" w="med" len="med"/>
            <a:tailEnd type="none" w="med" len="me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2101" name="Rectangle 2">
            <a:extLst>
              <a:ext uri="{FF2B5EF4-FFF2-40B4-BE49-F238E27FC236}">
                <a16:creationId xmlns:a16="http://schemas.microsoft.com/office/drawing/2014/main" id="{0E63CA3A-5E75-446F-AE98-E4C87F5B4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Write Policy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B2861FFA-5397-4877-A8A3-63FA5FD59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Must not overwrite a cache block unless main memory is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up to date</a:t>
            </a:r>
          </a:p>
          <a:p>
            <a:pPr marL="0" indent="0">
              <a:buFontTx/>
              <a:buNone/>
              <a:defRPr/>
            </a:pP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>
              <a:buFontTx/>
              <a:buNone/>
              <a:defRPr/>
            </a:pP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>
              <a:buFontTx/>
              <a:buNone/>
              <a:defRPr/>
            </a:pP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>
              <a:buFontTx/>
              <a:buNone/>
              <a:defRPr/>
            </a:pP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>
              <a:buFontTx/>
              <a:buNone/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2041254-D25E-4C03-B46B-CE54C94F7554}"/>
              </a:ext>
            </a:extLst>
          </p:cNvPr>
          <p:cNvSpPr/>
          <p:nvPr/>
        </p:nvSpPr>
        <p:spPr bwMode="auto">
          <a:xfrm>
            <a:off x="3275856" y="3068960"/>
            <a:ext cx="1944216" cy="1080120"/>
          </a:xfrm>
          <a:prstGeom prst="ellipse">
            <a:avLst/>
          </a:prstGeom>
          <a:ln>
            <a:solidFill>
              <a:schemeClr val="tx2"/>
            </a:solidFill>
            <a:prstDash val="dash"/>
            <a:headEnd type="none" w="med" len="med"/>
            <a:tailEnd type="none" w="med" len="me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2106" name="矩形 3">
            <a:extLst>
              <a:ext uri="{FF2B5EF4-FFF2-40B4-BE49-F238E27FC236}">
                <a16:creationId xmlns:a16="http://schemas.microsoft.com/office/drawing/2014/main" id="{C13F9339-B7DB-43F7-81B2-B93B97483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030413"/>
            <a:ext cx="72739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Two cases 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to be considered.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CPU wants to read a byte from </a:t>
            </a:r>
            <a:r>
              <a:rPr kumimoji="0"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0x0010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or </a:t>
            </a:r>
            <a:r>
              <a:rPr kumimoji="0"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0x0068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pic>
        <p:nvPicPr>
          <p:cNvPr id="132107" name="图片 4">
            <a:extLst>
              <a:ext uri="{FF2B5EF4-FFF2-40B4-BE49-F238E27FC236}">
                <a16:creationId xmlns:a16="http://schemas.microsoft.com/office/drawing/2014/main" id="{75BD917B-8735-4CEC-83D6-5C6FC6CD3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959100"/>
            <a:ext cx="6335712" cy="385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108" name="矩形 5">
            <a:extLst>
              <a:ext uri="{FF2B5EF4-FFF2-40B4-BE49-F238E27FC236}">
                <a16:creationId xmlns:a16="http://schemas.microsoft.com/office/drawing/2014/main" id="{47D08449-A716-403A-A7F3-E0DB75F31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206750"/>
            <a:ext cx="1108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0x0010</a:t>
            </a:r>
            <a:endParaRPr kumimoji="0" lang="zh-CN" altLang="en-US" sz="240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2109" name="矩形 9">
            <a:extLst>
              <a:ext uri="{FF2B5EF4-FFF2-40B4-BE49-F238E27FC236}">
                <a16:creationId xmlns:a16="http://schemas.microsoft.com/office/drawing/2014/main" id="{5B3A9DD4-9A9C-47F9-8566-338E94F53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8" y="5157788"/>
            <a:ext cx="1108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0x0068</a:t>
            </a:r>
            <a:endParaRPr kumimoji="0" lang="zh-CN" altLang="en-US" sz="240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21DA9FD3-CD37-4586-A100-674B057AB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Write Policy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B2861FFA-5397-4877-A8A3-63FA5FD59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Problems</a:t>
            </a:r>
            <a:r>
              <a:rPr lang="zh-CN" altLang="en-US" dirty="0">
                <a:ea typeface="宋体" panose="02010600030101010101" pitchFamily="2" charset="-122"/>
              </a:rPr>
              <a:t>：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I/O may address main memory directly.</a:t>
            </a: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More complex problems occurs when multiple CPUs may have individual caches</a:t>
            </a:r>
          </a:p>
          <a:p>
            <a:pPr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134148" name="图片 2">
            <a:extLst>
              <a:ext uri="{FF2B5EF4-FFF2-40B4-BE49-F238E27FC236}">
                <a16:creationId xmlns:a16="http://schemas.microsoft.com/office/drawing/2014/main" id="{FA491E10-4BEE-4510-B44E-5206DCE1E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435350"/>
            <a:ext cx="4137025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49" name="图片 3">
            <a:extLst>
              <a:ext uri="{FF2B5EF4-FFF2-40B4-BE49-F238E27FC236}">
                <a16:creationId xmlns:a16="http://schemas.microsoft.com/office/drawing/2014/main" id="{ABD25616-9FBF-43E0-BE8E-52F93E87D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225" y="3644900"/>
            <a:ext cx="4106863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839FE753-2E70-4B2A-A4FF-D1F90751F5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Write through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8E5EBC1C-07B8-4BC9-B858-7D2C92E7F5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All writes go to main memory as well as cache</a:t>
            </a: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Multiple CPUs can monitor main memory traffic to keep local (to CPU) cache up to date</a:t>
            </a:r>
          </a:p>
          <a:p>
            <a:pPr>
              <a:defRPr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Tx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-&gt;</a:t>
            </a:r>
            <a:r>
              <a:rPr lang="en-US" altLang="zh-CN" dirty="0" err="1">
                <a:ea typeface="宋体" panose="02010600030101010101" pitchFamily="2" charset="-122"/>
              </a:rPr>
              <a:t>Disadv</a:t>
            </a:r>
            <a:r>
              <a:rPr lang="zh-CN" altLang="en-US" dirty="0">
                <a:ea typeface="宋体" panose="02010600030101010101" pitchFamily="2" charset="-122"/>
              </a:rPr>
              <a:t>：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Lots of traffic</a:t>
            </a: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Slows down writes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C2637E07-78D2-46E1-A07A-CC2A87D8C7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Write back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6FEB958B-C786-4604-B6CB-4A7F38C17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Updates initially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made in cache only</a:t>
            </a: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Update bit for cache slot is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set</a:t>
            </a:r>
            <a:r>
              <a:rPr lang="en-US" altLang="zh-CN" dirty="0">
                <a:ea typeface="宋体" panose="02010600030101010101" pitchFamily="2" charset="-122"/>
              </a:rPr>
              <a:t> when update occurs</a:t>
            </a: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If block is to be replaced, write to main memory only if </a:t>
            </a:r>
            <a:r>
              <a:rPr lang="en-US" altLang="zh-CN" dirty="0">
                <a:solidFill>
                  <a:srgbClr val="00B0F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dirty</a:t>
            </a:r>
            <a:r>
              <a:rPr lang="en-US" altLang="zh-CN" dirty="0">
                <a:solidFill>
                  <a:srgbClr val="00B0F0"/>
                </a:solidFill>
                <a:ea typeface="宋体" panose="02010600030101010101" pitchFamily="2" charset="-122"/>
              </a:rPr>
              <a:t>/update bit </a:t>
            </a:r>
            <a:r>
              <a:rPr lang="en-US" altLang="zh-CN" dirty="0">
                <a:ea typeface="宋体" panose="02010600030101010101" pitchFamily="2" charset="-122"/>
              </a:rPr>
              <a:t>is set</a:t>
            </a: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I/O must access main memory through cache</a:t>
            </a:r>
          </a:p>
          <a:p>
            <a:pPr>
              <a:defRPr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-&gt; keep single cache &amp; main memory coherent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标题 1">
            <a:extLst>
              <a:ext uri="{FF2B5EF4-FFF2-40B4-BE49-F238E27FC236}">
                <a16:creationId xmlns:a16="http://schemas.microsoft.com/office/drawing/2014/main" id="{4A47D00C-9BD5-416E-B06B-7E0FB1E04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Write back example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40291" name="图片 4">
            <a:extLst>
              <a:ext uri="{FF2B5EF4-FFF2-40B4-BE49-F238E27FC236}">
                <a16:creationId xmlns:a16="http://schemas.microsoft.com/office/drawing/2014/main" id="{870EA7E0-2B18-4151-AF1A-EEE56023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8775"/>
            <a:ext cx="8702675" cy="51133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292" name="动作按钮: 帮助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E866D65-94CD-41BF-8546-0FF38DD3C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1628775"/>
            <a:ext cx="288925" cy="431800"/>
          </a:xfrm>
          <a:prstGeom prst="actionButtonHelp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0293" name="矩形 1">
            <a:extLst>
              <a:ext uri="{FF2B5EF4-FFF2-40B4-BE49-F238E27FC236}">
                <a16:creationId xmlns:a16="http://schemas.microsoft.com/office/drawing/2014/main" id="{68B55F31-AD22-47C8-A3C6-AD65B5940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55700"/>
            <a:ext cx="71294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CPU wants to read a byte from </a:t>
            </a:r>
            <a:r>
              <a:rPr kumimoji="0"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0x0000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. Cache miss.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EB3EE913-D799-4DE6-A565-4A1C2F0EA3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Cache coherency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2488E920-594D-4858-96A9-22C8D6CFDF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Bus watching with write through</a:t>
            </a:r>
          </a:p>
          <a:p>
            <a:pPr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Hardware transparency(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additional hardware </a:t>
            </a:r>
            <a:r>
              <a:rPr lang="en-US" altLang="zh-CN" sz="2400" dirty="0">
                <a:ea typeface="宋体" panose="02010600030101010101" pitchFamily="2" charset="-122"/>
              </a:rPr>
              <a:t>to keep caches &amp;main memory coherency)</a:t>
            </a:r>
          </a:p>
          <a:p>
            <a:pPr>
              <a:defRPr/>
            </a:pPr>
            <a:r>
              <a:rPr lang="en-US" altLang="zh-CN" sz="2400" dirty="0" err="1">
                <a:ea typeface="宋体" panose="02010600030101010101" pitchFamily="2" charset="-122"/>
              </a:rPr>
              <a:t>Noncacheable</a:t>
            </a:r>
            <a:r>
              <a:rPr lang="en-US" altLang="zh-CN" sz="2400" dirty="0">
                <a:ea typeface="宋体" panose="02010600030101010101" pitchFamily="2" charset="-122"/>
              </a:rPr>
              <a:t> memory</a:t>
            </a:r>
          </a:p>
          <a:p>
            <a:pPr marL="0" indent="0"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-&gt; keep multiple cache &amp; main memory coherent</a:t>
            </a:r>
          </a:p>
          <a:p>
            <a:pPr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141316" name="图片 3">
            <a:extLst>
              <a:ext uri="{FF2B5EF4-FFF2-40B4-BE49-F238E27FC236}">
                <a16:creationId xmlns:a16="http://schemas.microsoft.com/office/drawing/2014/main" id="{94BB4778-DBF3-429E-B581-76A6B2A78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4340225"/>
            <a:ext cx="4062412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1317" name="矩形 4">
            <a:extLst>
              <a:ext uri="{FF2B5EF4-FFF2-40B4-BE49-F238E27FC236}">
                <a16:creationId xmlns:a16="http://schemas.microsoft.com/office/drawing/2014/main" id="{A388AFFF-098F-4A27-9E57-5964D2528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6775" y="6089650"/>
            <a:ext cx="492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endParaRPr kumimoji="0" lang="zh-CN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318" name="矩形 5">
            <a:extLst>
              <a:ext uri="{FF2B5EF4-FFF2-40B4-BE49-F238E27FC236}">
                <a16:creationId xmlns:a16="http://schemas.microsoft.com/office/drawing/2014/main" id="{E4AF0F7E-791B-477A-9A9B-37164F644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941888"/>
            <a:ext cx="492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Char char="—"/>
              <a:defRPr kumimoji="1"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Char char="–"/>
              <a:defRPr kumimoji="1"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+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o"/>
              <a:defRPr kumimoj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endParaRPr kumimoji="0" lang="zh-CN" altLang="en-US" sz="2400" b="1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41319" name="图片 6">
            <a:extLst>
              <a:ext uri="{FF2B5EF4-FFF2-40B4-BE49-F238E27FC236}">
                <a16:creationId xmlns:a16="http://schemas.microsoft.com/office/drawing/2014/main" id="{DFDC827A-F809-4423-ABFC-CBE12D6AA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4213225"/>
            <a:ext cx="3860800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E3CB2A79-8676-4A59-AA4C-7B65987A3F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Line size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B8C44A3B-9872-427D-AA52-DF13B62676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As the block size increase, hit ratio increase first, then decrease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8-64 bytes seems reasonably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64 and 128 byte cache line sizes are most frequently used for HPC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9696A28B-30E9-44AE-867C-D6BC13F0C5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Number of caches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8706C09C-7412-4B3F-8439-DFD5277E0B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Multilevel caches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On chip cache speed up execution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Off chip cache is still desirable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Unified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versus</a:t>
            </a:r>
            <a:r>
              <a:rPr lang="en-US" altLang="zh-CN" dirty="0">
                <a:ea typeface="宋体" panose="02010600030101010101" pitchFamily="2" charset="-122"/>
              </a:rPr>
              <a:t> split caches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Unified cache: only one cache, balance the load between instruction and data fetches, 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Split cache: One dedicated to instructions and one dedicated to data, suitable for pipeline execution.</a:t>
            </a:r>
          </a:p>
          <a:p>
            <a:pPr lvl="1"/>
            <a:r>
              <a:rPr lang="en-US" altLang="zh-CN" dirty="0"/>
              <a:t>The trend is toward split caches at the L1 and unified caches for higher levels.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2DEBF-623E-4836-A6E1-E24E23DE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Number of caches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51F6CE-BC6B-4C1F-B445-48F39D9E1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L2 has little effect on the total number of cache hits until it is at least </a:t>
            </a:r>
            <a:r>
              <a:rPr lang="en-US" altLang="zh-CN" dirty="0">
                <a:solidFill>
                  <a:srgbClr val="FF0000"/>
                </a:solidFill>
              </a:rPr>
              <a:t>double</a:t>
            </a:r>
            <a:r>
              <a:rPr lang="en-US" altLang="zh-CN" dirty="0"/>
              <a:t> the L1 cache size.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D60D22-3EF3-4606-B1F5-D1449F540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2100961"/>
            <a:ext cx="5940152" cy="468083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7FE4101-0737-4B75-B3A4-FF27BF38A4C0}"/>
              </a:ext>
            </a:extLst>
          </p:cNvPr>
          <p:cNvSpPr/>
          <p:nvPr/>
        </p:nvSpPr>
        <p:spPr>
          <a:xfrm>
            <a:off x="611560" y="3056385"/>
            <a:ext cx="273630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Assume that both caches have the same line size.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9799409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6DBE42F8-2BA4-4B9C-9FC6-C6C264C2D0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Homework</a:t>
            </a:r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169A28DE-3B89-437F-99AB-989F463F63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1. Reading book 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2. Key Terms </a:t>
            </a:r>
            <a:r>
              <a:rPr lang="zh-CN" altLang="en-US" dirty="0">
                <a:ea typeface="宋体" panose="02010600030101010101" pitchFamily="2" charset="-122"/>
              </a:rPr>
              <a:t>翻译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3. Review Questions : 1,2,3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4. Problems: 5,6,7,8,11,22 </a:t>
            </a:r>
          </a:p>
          <a:p>
            <a:r>
              <a:rPr lang="en-US" altLang="zh-CN" dirty="0" err="1">
                <a:ea typeface="宋体" panose="02010600030101010101" pitchFamily="2" charset="-122"/>
              </a:rPr>
              <a:t>ps</a:t>
            </a:r>
            <a:r>
              <a:rPr lang="zh-CN" altLang="en-US" dirty="0">
                <a:ea typeface="宋体" panose="02010600030101010101" pitchFamily="2" charset="-122"/>
              </a:rPr>
              <a:t>：中文答题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llings COE7e">
  <a:themeElements>
    <a:clrScheme name="Stallings COE7e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Stallings COE7e">
      <a:majorFont>
        <a:latin typeface="Arial Black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allings COE7e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llings COE7e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COE7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COE7e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COE7e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llings COE7e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llings COE7e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Settings\Administrator\Application Data\Microsoft\Templates\Stallings COE7e.pot</Template>
  <TotalTime>12129</TotalTime>
  <Words>5444</Words>
  <Application>Microsoft Office PowerPoint</Application>
  <PresentationFormat>全屏显示(4:3)</PresentationFormat>
  <Paragraphs>901</Paragraphs>
  <Slides>78</Slides>
  <Notes>68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78</vt:i4>
      </vt:variant>
    </vt:vector>
  </HeadingPairs>
  <TitlesOfParts>
    <vt:vector size="95" baseType="lpstr">
      <vt:lpstr>Courier</vt:lpstr>
      <vt:lpstr>TimesTenLTStd-Bold</vt:lpstr>
      <vt:lpstr>TimesTenLTStd-Roman</vt:lpstr>
      <vt:lpstr>TimesTen-Roman</vt:lpstr>
      <vt:lpstr>宋体</vt:lpstr>
      <vt:lpstr>Arial</vt:lpstr>
      <vt:lpstr>Arial</vt:lpstr>
      <vt:lpstr>Arial Black</vt:lpstr>
      <vt:lpstr>Bradley Hand ITC</vt:lpstr>
      <vt:lpstr>Times</vt:lpstr>
      <vt:lpstr>Times New Roman</vt:lpstr>
      <vt:lpstr>Verdana</vt:lpstr>
      <vt:lpstr>Wingdings</vt:lpstr>
      <vt:lpstr>Stallings COE7e</vt:lpstr>
      <vt:lpstr>Bitmap Image</vt:lpstr>
      <vt:lpstr>公式</vt:lpstr>
      <vt:lpstr>Equation</vt:lpstr>
      <vt:lpstr>William Stallings  Computer Organization  and Architecture 10th Edition</vt:lpstr>
      <vt:lpstr>Review</vt:lpstr>
      <vt:lpstr>Review</vt:lpstr>
      <vt:lpstr>Consider from key points</vt:lpstr>
      <vt:lpstr>Key points</vt:lpstr>
      <vt:lpstr>4.1 Computer memory system overview</vt:lpstr>
      <vt:lpstr>Characteristics</vt:lpstr>
      <vt:lpstr>Location</vt:lpstr>
      <vt:lpstr>Capacity</vt:lpstr>
      <vt:lpstr>Addressable unit</vt:lpstr>
      <vt:lpstr>Unit of Transfer</vt:lpstr>
      <vt:lpstr>Access Methods (1)</vt:lpstr>
      <vt:lpstr>Access Methods (2)</vt:lpstr>
      <vt:lpstr>Performance</vt:lpstr>
      <vt:lpstr>Physical Types</vt:lpstr>
      <vt:lpstr>Physical Characteristics</vt:lpstr>
      <vt:lpstr>Memory design</vt:lpstr>
      <vt:lpstr>Memory Hierarchy</vt:lpstr>
      <vt:lpstr>Memory Hierarchy - Diagram</vt:lpstr>
      <vt:lpstr>Hierarchy List</vt:lpstr>
      <vt:lpstr>Performance of two-level memory</vt:lpstr>
      <vt:lpstr>Performance of two-level memory</vt:lpstr>
      <vt:lpstr>Performance of three-level memory</vt:lpstr>
      <vt:lpstr>Performance of three-level memory</vt:lpstr>
      <vt:lpstr>Locality of reference (Appendix 4A)</vt:lpstr>
      <vt:lpstr>Locality of reference (Appendix 4A)</vt:lpstr>
      <vt:lpstr>4.2 Cache memory principles</vt:lpstr>
      <vt:lpstr>Cache/Main Memory Structure</vt:lpstr>
      <vt:lpstr>Cache operation – overview</vt:lpstr>
      <vt:lpstr>Cache Read Operation - Flowchart</vt:lpstr>
      <vt:lpstr>Typical Cache Organization</vt:lpstr>
      <vt:lpstr>Typical Cache Organization</vt:lpstr>
      <vt:lpstr>4.3 Elements of Cache Design</vt:lpstr>
      <vt:lpstr>Cache Addresses</vt:lpstr>
      <vt:lpstr>Size does matter</vt:lpstr>
      <vt:lpstr>Comparison of Cache Sizes</vt:lpstr>
      <vt:lpstr>3D V cache-缓存垂直堆叠</vt:lpstr>
      <vt:lpstr>Mapping Function</vt:lpstr>
      <vt:lpstr>Mapping Function</vt:lpstr>
      <vt:lpstr>Mapping Function</vt:lpstr>
      <vt:lpstr>Mapping Function</vt:lpstr>
      <vt:lpstr>Mapping example</vt:lpstr>
      <vt:lpstr>Direct Mapping</vt:lpstr>
      <vt:lpstr>Direct Mapping Address Structure</vt:lpstr>
      <vt:lpstr>Direct Mapping function</vt:lpstr>
      <vt:lpstr>Direct Mapping  Cache Line Table</vt:lpstr>
      <vt:lpstr>Direct Mapping Cache Organization</vt:lpstr>
      <vt:lpstr>Direct Mapping  Example</vt:lpstr>
      <vt:lpstr>Direct Mapping Summary</vt:lpstr>
      <vt:lpstr>Advantages and disadvantages of Direct Mapping</vt:lpstr>
      <vt:lpstr>Associative Mapping</vt:lpstr>
      <vt:lpstr>Fully Associative Cache Organization</vt:lpstr>
      <vt:lpstr>Associative  Mapping Example</vt:lpstr>
      <vt:lpstr>Associative Mapping Address Structure</vt:lpstr>
      <vt:lpstr>Associative Mapping Summary</vt:lpstr>
      <vt:lpstr>Set Associative Mapping</vt:lpstr>
      <vt:lpstr>Set Associative Mapping</vt:lpstr>
      <vt:lpstr>Set Associative Mapping Address Structure</vt:lpstr>
      <vt:lpstr>Set Associative Mapping Example</vt:lpstr>
      <vt:lpstr>Two-Way Set Associative Mapping</vt:lpstr>
      <vt:lpstr>K-Way Set Associative Cache Organization</vt:lpstr>
      <vt:lpstr>Set Associative Mapping Summary</vt:lpstr>
      <vt:lpstr>Relationships of mappings</vt:lpstr>
      <vt:lpstr>Relationships of mappings</vt:lpstr>
      <vt:lpstr>Varying Associativity over Cache Size</vt:lpstr>
      <vt:lpstr>Replacement Algorithms (1) Direct mapping</vt:lpstr>
      <vt:lpstr>Replacement Algorithms (2) Associative &amp; Set Associative</vt:lpstr>
      <vt:lpstr>Replacement Algorithms (2) Associative &amp; Set Associative</vt:lpstr>
      <vt:lpstr>Write Policy</vt:lpstr>
      <vt:lpstr>Write Policy</vt:lpstr>
      <vt:lpstr>Write through</vt:lpstr>
      <vt:lpstr>Write back</vt:lpstr>
      <vt:lpstr>Write back example</vt:lpstr>
      <vt:lpstr>Cache coherency</vt:lpstr>
      <vt:lpstr>Line size</vt:lpstr>
      <vt:lpstr>Number of caches</vt:lpstr>
      <vt:lpstr>Number of caches</vt:lpstr>
      <vt:lpstr>Homework</vt:lpstr>
    </vt:vector>
  </TitlesOfParts>
  <Company>Liverpool Hope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 Cache Memory</dc:title>
  <dc:creator>Adrian J Pullin</dc:creator>
  <cp:lastModifiedBy>SEU</cp:lastModifiedBy>
  <cp:revision>511</cp:revision>
  <dcterms:created xsi:type="dcterms:W3CDTF">1998-09-09T13:12:25Z</dcterms:created>
  <dcterms:modified xsi:type="dcterms:W3CDTF">2026-05-11T07:40:13Z</dcterms:modified>
</cp:coreProperties>
</file>